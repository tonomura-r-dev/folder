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5"/>
  </p:notesMasterIdLst>
  <p:handoutMasterIdLst>
    <p:handoutMasterId r:id="rId46"/>
  </p:handoutMasterIdLst>
  <p:sldIdLst>
    <p:sldId id="2363" r:id="rId3"/>
    <p:sldId id="2971" r:id="rId4"/>
    <p:sldId id="3024" r:id="rId5"/>
    <p:sldId id="3023" r:id="rId6"/>
    <p:sldId id="3019" r:id="rId7"/>
    <p:sldId id="3025" r:id="rId8"/>
    <p:sldId id="3026" r:id="rId9"/>
    <p:sldId id="3027" r:id="rId10"/>
    <p:sldId id="3028" r:id="rId11"/>
    <p:sldId id="3029" r:id="rId12"/>
    <p:sldId id="3030" r:id="rId13"/>
    <p:sldId id="2988" r:id="rId14"/>
    <p:sldId id="2972" r:id="rId15"/>
    <p:sldId id="2989" r:id="rId16"/>
    <p:sldId id="2736" r:id="rId17"/>
    <p:sldId id="2979" r:id="rId18"/>
    <p:sldId id="2978" r:id="rId19"/>
    <p:sldId id="2981" r:id="rId20"/>
    <p:sldId id="256" r:id="rId21"/>
    <p:sldId id="257" r:id="rId22"/>
    <p:sldId id="258" r:id="rId23"/>
    <p:sldId id="259" r:id="rId24"/>
    <p:sldId id="2908" r:id="rId25"/>
    <p:sldId id="2966" r:id="rId26"/>
    <p:sldId id="3015" r:id="rId27"/>
    <p:sldId id="2737" r:id="rId28"/>
    <p:sldId id="2563" r:id="rId29"/>
    <p:sldId id="2970" r:id="rId30"/>
    <p:sldId id="2959" r:id="rId31"/>
    <p:sldId id="2639" r:id="rId32"/>
    <p:sldId id="3016" r:id="rId33"/>
    <p:sldId id="2968" r:id="rId34"/>
    <p:sldId id="2969" r:id="rId35"/>
    <p:sldId id="2957" r:id="rId36"/>
    <p:sldId id="2951" r:id="rId37"/>
    <p:sldId id="2841" r:id="rId38"/>
    <p:sldId id="2734" r:id="rId39"/>
    <p:sldId id="2595" r:id="rId40"/>
    <p:sldId id="2566" r:id="rId41"/>
    <p:sldId id="2915" r:id="rId42"/>
    <p:sldId id="2619" r:id="rId43"/>
    <p:sldId id="1169" r:id="rId44"/>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4061535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FCDCE-50A5-70B1-FB6B-F9980BFDCE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F851B08-6988-6A96-CCE4-26698C02776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895E581-E16C-3B03-E3A3-A8F7D4755EA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71AFF67-CB12-CED6-C84A-F660B0115E51}"/>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278087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105D0-45E7-4DC8-BF20-0465343B582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CF91FB9-321F-8276-24C4-BED0C6CB2C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88B62C8-FD8E-90C7-1366-590C2C0CDF9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402C5E-FE1D-AC92-2A1F-C733ABC917B2}"/>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1767001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974603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33726571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42520229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2222347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FF2DF-2549-03DE-BF99-3816DBF142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08DAE1-5EDB-4906-5B89-172988954E2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F08AA4-BBDC-950C-3480-F13DD87CF93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72BACB-FF67-5073-CAB4-B7DC30D31CAB}"/>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818231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61853-A06F-5F84-C9BD-FD3C831F10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8F11A9-3277-9CCC-6B16-F30C009E90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02EAD73-C8B8-7737-AAA7-B04564EA1A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D3FC8CC-7C65-1140-F528-0EC0756BD55C}"/>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2804944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40</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41</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42</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jpe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jpeg"/><Relationship Id="rId7" Type="http://schemas.openxmlformats.org/officeDocument/2006/relationships/image" Target="../media/image38.png"/><Relationship Id="rId2" Type="http://schemas.openxmlformats.org/officeDocument/2006/relationships/image" Target="../media/image33.jpeg"/><Relationship Id="rId1" Type="http://schemas.openxmlformats.org/officeDocument/2006/relationships/slideLayout" Target="../slideLayouts/slideLayout2.xml"/><Relationship Id="rId6" Type="http://schemas.openxmlformats.org/officeDocument/2006/relationships/image" Target="../media/image37.jpeg"/><Relationship Id="rId5" Type="http://schemas.openxmlformats.org/officeDocument/2006/relationships/image" Target="../media/image36.png"/><Relationship Id="rId10" Type="http://schemas.openxmlformats.org/officeDocument/2006/relationships/image" Target="../media/image41.jpeg"/><Relationship Id="rId4" Type="http://schemas.openxmlformats.org/officeDocument/2006/relationships/image" Target="../media/image35.png"/><Relationship Id="rId9"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3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png"/></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40.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71.jpeg"/><Relationship Id="rId3" Type="http://schemas.openxmlformats.org/officeDocument/2006/relationships/image" Target="../media/image3.emf"/><Relationship Id="rId7" Type="http://schemas.openxmlformats.org/officeDocument/2006/relationships/image" Target="../media/image70.jpe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69.jpeg"/><Relationship Id="rId5" Type="http://schemas.openxmlformats.org/officeDocument/2006/relationships/image" Target="../media/image68.jpeg"/><Relationship Id="rId4" Type="http://schemas.openxmlformats.org/officeDocument/2006/relationships/image" Target="../media/image6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rgbClr val="FF0000">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rgbClr val="FF0000"/>
                </a:solidFill>
                <a:latin typeface="メイリオ" panose="020B0604030504040204" pitchFamily="50" charset="-128"/>
                <a:ea typeface="メイリオ" panose="020B0604030504040204" pitchFamily="50" charset="-128"/>
              </a:rPr>
              <a:t>貴社ご提案用資料</a:t>
            </a:r>
          </a:p>
        </p:txBody>
      </p:sp>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ハウス食品グループ株式会社</a:t>
            </a: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御中</a:t>
            </a:r>
            <a:endParaRPr lang="ja-JP" altLang="en-US" sz="1050" dirty="0"/>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en-US" altLang="ja-JP" sz="1050" dirty="0">
                <a:latin typeface="メイリオ" panose="020B0604030504040204" pitchFamily="50" charset="-128"/>
                <a:ea typeface="メイリオ" panose="020B0604030504040204" pitchFamily="50" charset="-128"/>
              </a:rPr>
              <a:t>SEO</a:t>
            </a:r>
            <a:r>
              <a:rPr lang="ja-JP" altLang="en-US" sz="1050" dirty="0">
                <a:latin typeface="メイリオ" panose="020B0604030504040204" pitchFamily="50" charset="-128"/>
                <a:ea typeface="メイリオ" panose="020B0604030504040204" pitchFamily="50" charset="-128"/>
              </a:rPr>
              <a:t>、</a:t>
            </a:r>
            <a:r>
              <a:rPr lang="en-US" altLang="ja-JP" sz="1050" dirty="0">
                <a:latin typeface="メイリオ" panose="020B0604030504040204" pitchFamily="50" charset="-128"/>
                <a:ea typeface="メイリオ" panose="020B0604030504040204" pitchFamily="50" charset="-128"/>
              </a:rPr>
              <a:t>AIO</a:t>
            </a:r>
            <a:r>
              <a:rPr lang="ja-JP" altLang="en-US" sz="1050" dirty="0">
                <a:latin typeface="メイリオ" panose="020B0604030504040204" pitchFamily="50" charset="-128"/>
                <a:ea typeface="メイリオ" panose="020B0604030504040204" pitchFamily="50" charset="-128"/>
              </a:rPr>
              <a:t>の施策展開（コラム追加）</a:t>
            </a:r>
            <a:endParaRPr lang="en-US" altLang="ja-JP" sz="1050" dirty="0">
              <a:latin typeface="メイリオ" panose="020B0604030504040204" pitchFamily="50" charset="-128"/>
              <a:ea typeface="メイリオ" panose="020B0604030504040204" pitchFamily="50" charset="-128"/>
            </a:endParaRPr>
          </a:p>
          <a:p>
            <a:pPr algn="ctr"/>
            <a:r>
              <a:rPr lang="ja-JP" altLang="en-US" sz="1050" dirty="0">
                <a:latin typeface="メイリオ" panose="020B0604030504040204" pitchFamily="50" charset="-128"/>
                <a:ea typeface="メイリオ" panose="020B0604030504040204" pitchFamily="50" charset="-128"/>
              </a:rPr>
              <a:t>をご検討いただいている。</a:t>
            </a:r>
            <a:endParaRPr lang="en-US" altLang="ja-JP" sz="1050" dirty="0">
              <a:solidFill>
                <a:srgbClr val="FF0000"/>
              </a:solidFill>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en-US" altLang="ja-JP" sz="1050" dirty="0">
                <a:latin typeface="メイリオ" panose="020B0604030504040204" pitchFamily="50" charset="-128"/>
                <a:ea typeface="メイリオ" panose="020B0604030504040204" pitchFamily="50" charset="-128"/>
              </a:rPr>
              <a:t>LINE</a:t>
            </a:r>
            <a:r>
              <a:rPr lang="ja-JP" altLang="en-US" sz="1050" dirty="0">
                <a:latin typeface="メイリオ" panose="020B0604030504040204" pitchFamily="50" charset="-128"/>
                <a:ea typeface="メイリオ" panose="020B0604030504040204" pitchFamily="50" charset="-128"/>
              </a:rPr>
              <a:t>公式アカウントの保有はない。</a:t>
            </a:r>
            <a:endParaRPr lang="en-US" altLang="ja-JP" sz="1050" dirty="0">
              <a:latin typeface="メイリオ" panose="020B0604030504040204" pitchFamily="50" charset="-128"/>
              <a:ea typeface="メイリオ" panose="020B0604030504040204" pitchFamily="50" charset="-128"/>
            </a:endParaRPr>
          </a:p>
          <a:p>
            <a:pPr algn="ctr"/>
            <a:endParaRPr lang="en-US" altLang="ja-JP" sz="1050"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EB2DD2D7-F323-5565-89B7-F197B808D898}"/>
              </a:ext>
            </a:extLst>
          </p:cNvPr>
          <p:cNvSpPr txBox="1"/>
          <p:nvPr/>
        </p:nvSpPr>
        <p:spPr>
          <a:xfrm>
            <a:off x="5052929" y="3351808"/>
            <a:ext cx="1230966" cy="169277"/>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現状広告用アカウントとして存在</a:t>
            </a:r>
            <a:endParaRPr lang="en-US" altLang="ja-JP" sz="500" dirty="0">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をもとにした想定数値となります。</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うち広告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194,000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10</a:t>
            </a:r>
            <a:r>
              <a:rPr lang="ja-JP" altLang="en-US" sz="1000" b="1" dirty="0">
                <a:latin typeface="メイリオ" panose="020B0604030504040204" pitchFamily="50" charset="-128"/>
                <a:ea typeface="メイリオ" panose="020B0604030504040204" pitchFamily="50" charset="-128"/>
              </a:rPr>
              <a:t>％前後</a:t>
            </a:r>
            <a:r>
              <a:rPr lang="en-US" altLang="ja-JP" sz="1000" b="1" dirty="0">
                <a:latin typeface="メイリオ" panose="020B0604030504040204" pitchFamily="50" charset="-128"/>
                <a:ea typeface="メイリオ" panose="020B0604030504040204" pitchFamily="50" charset="-128"/>
              </a:rPr>
              <a:t>(?)</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不明</a:t>
            </a:r>
            <a:endParaRPr lang="en-US" altLang="ja-JP" sz="1000" b="1" dirty="0">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AD,SEO</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X</a:t>
            </a:r>
            <a:r>
              <a:rPr lang="ja-JP" altLang="en-US" sz="1000" b="1" dirty="0">
                <a:latin typeface="メイリオ" panose="020B0604030504040204" pitchFamily="50" charset="-128"/>
                <a:ea typeface="メイリオ" panose="020B0604030504040204" pitchFamily="50" charset="-128"/>
              </a:rPr>
              <a:t>、</a:t>
            </a:r>
            <a:r>
              <a:rPr lang="en-US" altLang="ja-JP" sz="1000" b="1" dirty="0">
                <a:latin typeface="メイリオ" panose="020B0604030504040204" pitchFamily="50" charset="-128"/>
                <a:ea typeface="メイリオ" panose="020B0604030504040204" pitchFamily="50" charset="-128"/>
              </a:rPr>
              <a:t>IG</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不明</a:t>
            </a:r>
            <a:endParaRPr lang="en-US" altLang="ja-JP" sz="1000" b="1" dirty="0">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不明</a:t>
            </a:r>
            <a:endParaRPr lang="en-US" altLang="ja-JP" sz="1000" b="1" dirty="0">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会員登録 → </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FF0000"/>
                </a:solidFill>
                <a:latin typeface="メイリオ" panose="020B0604030504040204" pitchFamily="50" charset="-128"/>
                <a:ea typeface="メイリオ" panose="020B0604030504040204" pitchFamily="50" charset="-128"/>
              </a:rPr>
              <a:t>なし</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pic>
        <p:nvPicPr>
          <p:cNvPr id="8" name="図 7">
            <a:extLst>
              <a:ext uri="{FF2B5EF4-FFF2-40B4-BE49-F238E27FC236}">
                <a16:creationId xmlns:a16="http://schemas.microsoft.com/office/drawing/2014/main" id="{DAF23F5E-CAC8-0701-EAC6-770186476EAA}"/>
              </a:ext>
            </a:extLst>
          </p:cNvPr>
          <p:cNvPicPr>
            <a:picLocks noChangeAspect="1"/>
          </p:cNvPicPr>
          <p:nvPr/>
        </p:nvPicPr>
        <p:blipFill>
          <a:blip r:embed="rId4"/>
          <a:stretch>
            <a:fillRect/>
          </a:stretch>
        </p:blipFill>
        <p:spPr>
          <a:xfrm>
            <a:off x="472683" y="1993931"/>
            <a:ext cx="1557206" cy="3162823"/>
          </a:xfrm>
          <a:prstGeom prst="rect">
            <a:avLst/>
          </a:prstGeom>
        </p:spPr>
      </p:pic>
      <p:sp>
        <p:nvSpPr>
          <p:cNvPr id="15" name="テキスト ボックス 14">
            <a:extLst>
              <a:ext uri="{FF2B5EF4-FFF2-40B4-BE49-F238E27FC236}">
                <a16:creationId xmlns:a16="http://schemas.microsoft.com/office/drawing/2014/main" id="{BB177A87-7773-8346-CEFA-2C429E80A917}"/>
              </a:ext>
            </a:extLst>
          </p:cNvPr>
          <p:cNvSpPr txBox="1"/>
          <p:nvPr/>
        </p:nvSpPr>
        <p:spPr>
          <a:xfrm>
            <a:off x="2134578" y="706058"/>
            <a:ext cx="6008497" cy="584775"/>
          </a:xfrm>
          <a:prstGeom prst="rect">
            <a:avLst/>
          </a:prstGeom>
          <a:noFill/>
        </p:spPr>
        <p:txBody>
          <a:bodyPr wrap="square">
            <a:spAutoFit/>
          </a:bodyPr>
          <a:lstStyle/>
          <a:p>
            <a:pPr algn="ctr"/>
            <a:r>
              <a:rPr lang="en-US" altLang="ja-JP" sz="1600" dirty="0">
                <a:latin typeface="メイリオ" panose="020B0604030504040204" pitchFamily="50" charset="-128"/>
                <a:ea typeface="メイリオ" panose="020B0604030504040204" pitchFamily="50" charset="-128"/>
              </a:rPr>
              <a:t>Come on House</a:t>
            </a:r>
            <a:r>
              <a:rPr lang="ja-JP" altLang="en-US" sz="1600" dirty="0">
                <a:latin typeface="メイリオ" panose="020B0604030504040204" pitchFamily="50" charset="-128"/>
                <a:ea typeface="メイリオ" panose="020B0604030504040204" pitchFamily="50" charset="-128"/>
              </a:rPr>
              <a:t>（カモンハウス）での対策を対象に</a:t>
            </a:r>
            <a:endParaRPr lang="en-US" altLang="ja-JP" sz="1600" dirty="0">
              <a:latin typeface="メイリオ" panose="020B0604030504040204" pitchFamily="50" charset="-128"/>
              <a:ea typeface="メイリオ" panose="020B0604030504040204" pitchFamily="50" charset="-128"/>
            </a:endParaRPr>
          </a:p>
          <a:p>
            <a:pPr algn="ctr"/>
            <a:r>
              <a:rPr lang="ja-JP" altLang="en-US" sz="1600" dirty="0">
                <a:latin typeface="メイリオ" panose="020B0604030504040204" pitchFamily="50" charset="-128"/>
                <a:ea typeface="メイリオ" panose="020B0604030504040204" pitchFamily="50" charset="-128"/>
              </a:rPr>
              <a:t>今回ご提案の内容は記載させていただいております。</a:t>
            </a:r>
            <a:endParaRPr lang="en-US" altLang="ja-JP" sz="16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28084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CAA32-C521-1051-7BB9-493BF85564C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C1AF7F1B-1615-8A8A-5AD0-19AB4D664DBF}"/>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86F686B-7122-EDAF-9993-92F1EB0ED436}"/>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CA81C6D-8558-7F64-AA4C-233195CE96E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D7747DE-898F-2B06-06DF-9880761030C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endParaRPr sz="1600" b="1" dirty="0">
              <a:solidFill>
                <a:srgbClr val="002060"/>
              </a:solidFill>
              <a:latin typeface="Meiryo"/>
              <a:ea typeface="Meiryo"/>
              <a:cs typeface="Meiryo"/>
              <a:sym typeface="Meiryo"/>
            </a:endParaRPr>
          </a:p>
        </p:txBody>
      </p:sp>
      <p:sp>
        <p:nvSpPr>
          <p:cNvPr id="15" name="テキスト ボックス 14">
            <a:extLst>
              <a:ext uri="{FF2B5EF4-FFF2-40B4-BE49-F238E27FC236}">
                <a16:creationId xmlns:a16="http://schemas.microsoft.com/office/drawing/2014/main" id="{BA67B03E-5C13-07B4-3FF5-75AA04D1DB5C}"/>
              </a:ext>
            </a:extLst>
          </p:cNvPr>
          <p:cNvSpPr txBox="1"/>
          <p:nvPr/>
        </p:nvSpPr>
        <p:spPr>
          <a:xfrm>
            <a:off x="2134578" y="706058"/>
            <a:ext cx="6008497" cy="523220"/>
          </a:xfrm>
          <a:prstGeom prst="rect">
            <a:avLst/>
          </a:prstGeom>
          <a:noFill/>
        </p:spPr>
        <p:txBody>
          <a:bodyPr wrap="square">
            <a:spAutoFit/>
          </a:bodyPr>
          <a:lstStyle/>
          <a:p>
            <a:pPr algn="ctr"/>
            <a:r>
              <a:rPr lang="en-US" altLang="ja-JP" sz="1400" dirty="0">
                <a:latin typeface="メイリオ" panose="020B0604030504040204" pitchFamily="50" charset="-128"/>
                <a:ea typeface="メイリオ" panose="020B0604030504040204" pitchFamily="50" charset="-128"/>
              </a:rPr>
              <a:t>Come on House</a:t>
            </a:r>
            <a:r>
              <a:rPr lang="ja-JP" altLang="en-US" sz="1400" dirty="0">
                <a:latin typeface="メイリオ" panose="020B0604030504040204" pitchFamily="50" charset="-128"/>
                <a:ea typeface="メイリオ" panose="020B0604030504040204" pitchFamily="50" charset="-128"/>
              </a:rPr>
              <a:t>（カモンハウス）での対策を対象に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今回ご提案の内容は記載させていただいております。</a:t>
            </a:r>
            <a:endParaRPr lang="en-US" altLang="ja-JP" sz="14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B2C3C874-CBF5-217B-629B-494B620A1B70}"/>
              </a:ext>
            </a:extLst>
          </p:cNvPr>
          <p:cNvSpPr txBox="1"/>
          <p:nvPr/>
        </p:nvSpPr>
        <p:spPr>
          <a:xfrm>
            <a:off x="548883" y="1595900"/>
            <a:ext cx="8744646"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ユーザー動線（カスタマージャーニーマップ）</a:t>
            </a:r>
            <a:endParaRPr lang="ja-JP" altLang="en-US" sz="1200" dirty="0">
              <a:solidFill>
                <a:schemeClr val="bg1"/>
              </a:solidFill>
            </a:endParaRPr>
          </a:p>
        </p:txBody>
      </p:sp>
      <p:pic>
        <p:nvPicPr>
          <p:cNvPr id="23" name="図 22">
            <a:extLst>
              <a:ext uri="{FF2B5EF4-FFF2-40B4-BE49-F238E27FC236}">
                <a16:creationId xmlns:a16="http://schemas.microsoft.com/office/drawing/2014/main" id="{37B65241-80D1-3E6F-EAA4-C4B6CD08EB47}"/>
              </a:ext>
            </a:extLst>
          </p:cNvPr>
          <p:cNvPicPr>
            <a:picLocks noChangeAspect="1"/>
          </p:cNvPicPr>
          <p:nvPr/>
        </p:nvPicPr>
        <p:blipFill>
          <a:blip r:embed="rId3"/>
          <a:stretch>
            <a:fillRect/>
          </a:stretch>
        </p:blipFill>
        <p:spPr>
          <a:xfrm>
            <a:off x="680016" y="2473378"/>
            <a:ext cx="1075862" cy="2185169"/>
          </a:xfrm>
          <a:prstGeom prst="rect">
            <a:avLst/>
          </a:prstGeom>
        </p:spPr>
      </p:pic>
      <p:pic>
        <p:nvPicPr>
          <p:cNvPr id="25" name="図 24">
            <a:extLst>
              <a:ext uri="{FF2B5EF4-FFF2-40B4-BE49-F238E27FC236}">
                <a16:creationId xmlns:a16="http://schemas.microsoft.com/office/drawing/2014/main" id="{461C2991-3370-0DC3-819E-46A2909F3463}"/>
              </a:ext>
            </a:extLst>
          </p:cNvPr>
          <p:cNvPicPr>
            <a:picLocks noChangeAspect="1"/>
          </p:cNvPicPr>
          <p:nvPr/>
        </p:nvPicPr>
        <p:blipFill>
          <a:blip r:embed="rId4"/>
          <a:stretch>
            <a:fillRect/>
          </a:stretch>
        </p:blipFill>
        <p:spPr>
          <a:xfrm>
            <a:off x="949982" y="4286480"/>
            <a:ext cx="1075862" cy="2185169"/>
          </a:xfrm>
          <a:prstGeom prst="rect">
            <a:avLst/>
          </a:prstGeom>
        </p:spPr>
      </p:pic>
      <p:pic>
        <p:nvPicPr>
          <p:cNvPr id="27" name="図 26">
            <a:extLst>
              <a:ext uri="{FF2B5EF4-FFF2-40B4-BE49-F238E27FC236}">
                <a16:creationId xmlns:a16="http://schemas.microsoft.com/office/drawing/2014/main" id="{D05FB957-57AF-F4CF-0F9E-45BCF7312B11}"/>
              </a:ext>
            </a:extLst>
          </p:cNvPr>
          <p:cNvPicPr>
            <a:picLocks noChangeAspect="1"/>
          </p:cNvPicPr>
          <p:nvPr/>
        </p:nvPicPr>
        <p:blipFill>
          <a:blip r:embed="rId5"/>
          <a:stretch>
            <a:fillRect/>
          </a:stretch>
        </p:blipFill>
        <p:spPr>
          <a:xfrm>
            <a:off x="2787045" y="2473378"/>
            <a:ext cx="1075862" cy="2185169"/>
          </a:xfrm>
          <a:prstGeom prst="rect">
            <a:avLst/>
          </a:prstGeom>
        </p:spPr>
      </p:pic>
      <p:pic>
        <p:nvPicPr>
          <p:cNvPr id="30" name="図 29">
            <a:extLst>
              <a:ext uri="{FF2B5EF4-FFF2-40B4-BE49-F238E27FC236}">
                <a16:creationId xmlns:a16="http://schemas.microsoft.com/office/drawing/2014/main" id="{8F6A35AF-F43B-7840-2D6C-1B6B2B42E230}"/>
              </a:ext>
            </a:extLst>
          </p:cNvPr>
          <p:cNvPicPr>
            <a:picLocks noChangeAspect="1"/>
          </p:cNvPicPr>
          <p:nvPr/>
        </p:nvPicPr>
        <p:blipFill>
          <a:blip r:embed="rId6"/>
          <a:stretch>
            <a:fillRect/>
          </a:stretch>
        </p:blipFill>
        <p:spPr>
          <a:xfrm>
            <a:off x="4642740" y="2473378"/>
            <a:ext cx="1075862" cy="2185169"/>
          </a:xfrm>
          <a:prstGeom prst="rect">
            <a:avLst/>
          </a:prstGeom>
        </p:spPr>
      </p:pic>
      <p:pic>
        <p:nvPicPr>
          <p:cNvPr id="33" name="図 32">
            <a:extLst>
              <a:ext uri="{FF2B5EF4-FFF2-40B4-BE49-F238E27FC236}">
                <a16:creationId xmlns:a16="http://schemas.microsoft.com/office/drawing/2014/main" id="{D40235FB-9583-1A5E-B72F-78E8634374F8}"/>
              </a:ext>
            </a:extLst>
          </p:cNvPr>
          <p:cNvPicPr>
            <a:picLocks noChangeAspect="1"/>
          </p:cNvPicPr>
          <p:nvPr/>
        </p:nvPicPr>
        <p:blipFill>
          <a:blip r:embed="rId7"/>
          <a:stretch>
            <a:fillRect/>
          </a:stretch>
        </p:blipFill>
        <p:spPr>
          <a:xfrm>
            <a:off x="4912706" y="4286481"/>
            <a:ext cx="1075862" cy="2185169"/>
          </a:xfrm>
          <a:prstGeom prst="rect">
            <a:avLst/>
          </a:prstGeom>
        </p:spPr>
      </p:pic>
      <p:pic>
        <p:nvPicPr>
          <p:cNvPr id="35" name="図 34" descr="ECイラスト｜無料イラスト・フリー素材なら「イラストAC」">
            <a:extLst>
              <a:ext uri="{FF2B5EF4-FFF2-40B4-BE49-F238E27FC236}">
                <a16:creationId xmlns:a16="http://schemas.microsoft.com/office/drawing/2014/main" id="{D49FDC36-0CE3-8C9D-C347-87E6A352FBA8}"/>
              </a:ext>
            </a:extLst>
          </p:cNvPr>
          <p:cNvPicPr>
            <a:picLocks noChangeAspect="1"/>
          </p:cNvPicPr>
          <p:nvPr/>
        </p:nvPicPr>
        <p:blipFill>
          <a:blip r:embed="rId8"/>
          <a:stretch>
            <a:fillRect/>
          </a:stretch>
        </p:blipFill>
        <p:spPr>
          <a:xfrm>
            <a:off x="6963331" y="2942929"/>
            <a:ext cx="939032" cy="704792"/>
          </a:xfrm>
          <a:prstGeom prst="rect">
            <a:avLst/>
          </a:prstGeom>
        </p:spPr>
      </p:pic>
      <p:pic>
        <p:nvPicPr>
          <p:cNvPr id="37" name="図 36">
            <a:extLst>
              <a:ext uri="{FF2B5EF4-FFF2-40B4-BE49-F238E27FC236}">
                <a16:creationId xmlns:a16="http://schemas.microsoft.com/office/drawing/2014/main" id="{F7BD15BF-B957-2E48-F4F7-8FC564AF0230}"/>
              </a:ext>
            </a:extLst>
          </p:cNvPr>
          <p:cNvPicPr>
            <a:picLocks noChangeAspect="1"/>
          </p:cNvPicPr>
          <p:nvPr/>
        </p:nvPicPr>
        <p:blipFill>
          <a:blip r:embed="rId9"/>
          <a:stretch>
            <a:fillRect/>
          </a:stretch>
        </p:blipFill>
        <p:spPr>
          <a:xfrm>
            <a:off x="7063740" y="3717556"/>
            <a:ext cx="738214" cy="738214"/>
          </a:xfrm>
          <a:prstGeom prst="rect">
            <a:avLst/>
          </a:prstGeom>
        </p:spPr>
      </p:pic>
      <p:pic>
        <p:nvPicPr>
          <p:cNvPr id="39" name="図 38">
            <a:extLst>
              <a:ext uri="{FF2B5EF4-FFF2-40B4-BE49-F238E27FC236}">
                <a16:creationId xmlns:a16="http://schemas.microsoft.com/office/drawing/2014/main" id="{44C1CDF5-821A-6829-FB1B-32BFD54CCF12}"/>
              </a:ext>
            </a:extLst>
          </p:cNvPr>
          <p:cNvPicPr>
            <a:picLocks noChangeAspect="1"/>
          </p:cNvPicPr>
          <p:nvPr/>
        </p:nvPicPr>
        <p:blipFill>
          <a:blip r:embed="rId10"/>
          <a:stretch>
            <a:fillRect/>
          </a:stretch>
        </p:blipFill>
        <p:spPr>
          <a:xfrm>
            <a:off x="8545500" y="2914186"/>
            <a:ext cx="865379" cy="852366"/>
          </a:xfrm>
          <a:prstGeom prst="rect">
            <a:avLst/>
          </a:prstGeom>
        </p:spPr>
      </p:pic>
      <p:sp>
        <p:nvSpPr>
          <p:cNvPr id="40" name="矢印: 五方向 39">
            <a:extLst>
              <a:ext uri="{FF2B5EF4-FFF2-40B4-BE49-F238E27FC236}">
                <a16:creationId xmlns:a16="http://schemas.microsoft.com/office/drawing/2014/main" id="{485842F5-8C0A-A110-CF3D-13BECB11ABA0}"/>
              </a:ext>
            </a:extLst>
          </p:cNvPr>
          <p:cNvSpPr/>
          <p:nvPr/>
        </p:nvSpPr>
        <p:spPr>
          <a:xfrm>
            <a:off x="235132" y="2029097"/>
            <a:ext cx="2081349" cy="387155"/>
          </a:xfrm>
          <a:prstGeom prst="homePlate">
            <a:avLst/>
          </a:prstGeom>
          <a:solidFill>
            <a:schemeClr val="bg1">
              <a:lumMod val="95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2"/>
                </a:solidFill>
                <a:latin typeface="メイリオ" panose="020B0604030504040204" pitchFamily="50" charset="-128"/>
                <a:ea typeface="メイリオ" panose="020B0604030504040204" pitchFamily="50" charset="-128"/>
              </a:rPr>
              <a:t>接触</a:t>
            </a:r>
          </a:p>
        </p:txBody>
      </p:sp>
      <p:sp>
        <p:nvSpPr>
          <p:cNvPr id="41" name="矢印: 山形 40">
            <a:extLst>
              <a:ext uri="{FF2B5EF4-FFF2-40B4-BE49-F238E27FC236}">
                <a16:creationId xmlns:a16="http://schemas.microsoft.com/office/drawing/2014/main" id="{ACD910E6-EFA1-B656-77A3-3A77BF066A98}"/>
              </a:ext>
            </a:extLst>
          </p:cNvPr>
          <p:cNvSpPr/>
          <p:nvPr/>
        </p:nvSpPr>
        <p:spPr>
          <a:xfrm>
            <a:off x="2276058" y="2029097"/>
            <a:ext cx="2081349" cy="387155"/>
          </a:xfrm>
          <a:prstGeom prst="chevron">
            <a:avLst/>
          </a:prstGeom>
          <a:solidFill>
            <a:schemeClr val="accent1">
              <a:lumMod val="20000"/>
              <a:lumOff val="8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2"/>
                </a:solidFill>
                <a:latin typeface="メイリオ" panose="020B0604030504040204" pitchFamily="50" charset="-128"/>
                <a:ea typeface="メイリオ" panose="020B0604030504040204" pitchFamily="50" charset="-128"/>
              </a:rPr>
              <a:t>登録（リード）</a:t>
            </a:r>
          </a:p>
        </p:txBody>
      </p:sp>
      <p:sp>
        <p:nvSpPr>
          <p:cNvPr id="44" name="矢印: 山形 43">
            <a:extLst>
              <a:ext uri="{FF2B5EF4-FFF2-40B4-BE49-F238E27FC236}">
                <a16:creationId xmlns:a16="http://schemas.microsoft.com/office/drawing/2014/main" id="{E48D7749-2B5D-F194-868C-A58D3CE730E1}"/>
              </a:ext>
            </a:extLst>
          </p:cNvPr>
          <p:cNvSpPr/>
          <p:nvPr/>
        </p:nvSpPr>
        <p:spPr>
          <a:xfrm>
            <a:off x="4316984" y="2025299"/>
            <a:ext cx="5237023" cy="387155"/>
          </a:xfrm>
          <a:prstGeom prst="chevron">
            <a:avLst/>
          </a:prstGeom>
          <a:solidFill>
            <a:schemeClr val="tx2">
              <a:lumMod val="20000"/>
              <a:lumOff val="8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2"/>
                </a:solidFill>
                <a:latin typeface="メイリオ" panose="020B0604030504040204" pitchFamily="50" charset="-128"/>
                <a:ea typeface="メイリオ" panose="020B0604030504040204" pitchFamily="50" charset="-128"/>
              </a:rPr>
              <a:t>利用（利用頻度改善）</a:t>
            </a:r>
          </a:p>
        </p:txBody>
      </p:sp>
      <p:sp>
        <p:nvSpPr>
          <p:cNvPr id="54" name="矢印: 山形 53">
            <a:extLst>
              <a:ext uri="{FF2B5EF4-FFF2-40B4-BE49-F238E27FC236}">
                <a16:creationId xmlns:a16="http://schemas.microsoft.com/office/drawing/2014/main" id="{85A8EAD7-0D27-E5F0-969F-C4BC15BBCE58}"/>
              </a:ext>
            </a:extLst>
          </p:cNvPr>
          <p:cNvSpPr/>
          <p:nvPr/>
        </p:nvSpPr>
        <p:spPr>
          <a:xfrm>
            <a:off x="6393445" y="2496246"/>
            <a:ext cx="2081349" cy="387155"/>
          </a:xfrm>
          <a:prstGeom prst="chevron">
            <a:avLst/>
          </a:prstGeom>
          <a:solidFill>
            <a:schemeClr val="accent1">
              <a:lumMod val="40000"/>
              <a:lumOff val="6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tx2"/>
                </a:solidFill>
                <a:latin typeface="メイリオ" panose="020B0604030504040204" pitchFamily="50" charset="-128"/>
                <a:ea typeface="メイリオ" panose="020B0604030504040204" pitchFamily="50" charset="-128"/>
              </a:rPr>
              <a:t>購入・購入頻度 ↑</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57" name="矢印: 山形 56">
            <a:extLst>
              <a:ext uri="{FF2B5EF4-FFF2-40B4-BE49-F238E27FC236}">
                <a16:creationId xmlns:a16="http://schemas.microsoft.com/office/drawing/2014/main" id="{05E10E9B-DE29-B3CC-F09B-7B2BC84D5964}"/>
              </a:ext>
            </a:extLst>
          </p:cNvPr>
          <p:cNvSpPr/>
          <p:nvPr/>
        </p:nvSpPr>
        <p:spPr>
          <a:xfrm>
            <a:off x="8434373" y="2500223"/>
            <a:ext cx="1119634" cy="387155"/>
          </a:xfrm>
          <a:prstGeom prst="chevron">
            <a:avLst/>
          </a:prstGeom>
          <a:solidFill>
            <a:schemeClr val="tx2">
              <a:lumMod val="60000"/>
              <a:lumOff val="4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2"/>
                </a:solidFill>
                <a:latin typeface="メイリオ" panose="020B0604030504040204" pitchFamily="50" charset="-128"/>
                <a:ea typeface="メイリオ" panose="020B0604030504040204" pitchFamily="50" charset="-128"/>
              </a:rPr>
              <a:t>ファン</a:t>
            </a:r>
          </a:p>
        </p:txBody>
      </p:sp>
      <p:cxnSp>
        <p:nvCxnSpPr>
          <p:cNvPr id="59" name="コネクタ: カギ線 58">
            <a:extLst>
              <a:ext uri="{FF2B5EF4-FFF2-40B4-BE49-F238E27FC236}">
                <a16:creationId xmlns:a16="http://schemas.microsoft.com/office/drawing/2014/main" id="{0AB48E7B-0D8A-9401-92AE-0F4206CD961F}"/>
              </a:ext>
            </a:extLst>
          </p:cNvPr>
          <p:cNvCxnSpPr/>
          <p:nvPr/>
        </p:nvCxnSpPr>
        <p:spPr>
          <a:xfrm>
            <a:off x="5913120" y="2412454"/>
            <a:ext cx="496389" cy="269786"/>
          </a:xfrm>
          <a:prstGeom prst="bentConnector3">
            <a:avLst>
              <a:gd name="adj1" fmla="val 877"/>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64" name="正方形/長方形 63">
            <a:extLst>
              <a:ext uri="{FF2B5EF4-FFF2-40B4-BE49-F238E27FC236}">
                <a16:creationId xmlns:a16="http://schemas.microsoft.com/office/drawing/2014/main" id="{6015D2A4-691F-8234-13B1-10F20CB050DB}"/>
              </a:ext>
            </a:extLst>
          </p:cNvPr>
          <p:cNvSpPr/>
          <p:nvPr/>
        </p:nvSpPr>
        <p:spPr>
          <a:xfrm>
            <a:off x="2427786" y="4358790"/>
            <a:ext cx="1777892" cy="442759"/>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2"/>
                </a:solidFill>
                <a:latin typeface="メイリオ" panose="020B0604030504040204" pitchFamily="50" charset="-128"/>
                <a:ea typeface="メイリオ" panose="020B0604030504040204" pitchFamily="50" charset="-128"/>
              </a:rPr>
              <a:t>アドレスによる取得</a:t>
            </a:r>
          </a:p>
        </p:txBody>
      </p:sp>
      <p:sp>
        <p:nvSpPr>
          <p:cNvPr id="68" name="正方形/長方形 67">
            <a:extLst>
              <a:ext uri="{FF2B5EF4-FFF2-40B4-BE49-F238E27FC236}">
                <a16:creationId xmlns:a16="http://schemas.microsoft.com/office/drawing/2014/main" id="{810E3B6E-4481-0EDC-992C-DA4E40014A55}"/>
              </a:ext>
            </a:extLst>
          </p:cNvPr>
          <p:cNvSpPr/>
          <p:nvPr/>
        </p:nvSpPr>
        <p:spPr>
          <a:xfrm>
            <a:off x="546896" y="3393967"/>
            <a:ext cx="1335756" cy="30241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2"/>
                </a:solidFill>
                <a:latin typeface="メイリオ" panose="020B0604030504040204" pitchFamily="50" charset="-128"/>
                <a:ea typeface="メイリオ" panose="020B0604030504040204" pitchFamily="50" charset="-128"/>
              </a:rPr>
              <a:t>TOP</a:t>
            </a:r>
            <a:endParaRPr kumimoji="1" lang="ja-JP" altLang="en-US" sz="1100" b="1" dirty="0">
              <a:solidFill>
                <a:schemeClr val="tx2"/>
              </a:solidFill>
              <a:latin typeface="メイリオ" panose="020B0604030504040204" pitchFamily="50" charset="-128"/>
              <a:ea typeface="メイリオ" panose="020B0604030504040204" pitchFamily="50" charset="-128"/>
            </a:endParaRPr>
          </a:p>
        </p:txBody>
      </p:sp>
      <p:sp>
        <p:nvSpPr>
          <p:cNvPr id="72" name="正方形/長方形 71">
            <a:extLst>
              <a:ext uri="{FF2B5EF4-FFF2-40B4-BE49-F238E27FC236}">
                <a16:creationId xmlns:a16="http://schemas.microsoft.com/office/drawing/2014/main" id="{4779DD2F-AACB-EA52-33C7-A02AE9F97EDE}"/>
              </a:ext>
            </a:extLst>
          </p:cNvPr>
          <p:cNvSpPr/>
          <p:nvPr/>
        </p:nvSpPr>
        <p:spPr>
          <a:xfrm>
            <a:off x="820035" y="5253099"/>
            <a:ext cx="1335756" cy="30241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2"/>
                </a:solidFill>
                <a:latin typeface="メイリオ" panose="020B0604030504040204" pitchFamily="50" charset="-128"/>
                <a:ea typeface="メイリオ" panose="020B0604030504040204" pitchFamily="50" charset="-128"/>
              </a:rPr>
              <a:t>コラム・企画</a:t>
            </a:r>
          </a:p>
        </p:txBody>
      </p:sp>
      <p:sp>
        <p:nvSpPr>
          <p:cNvPr id="77" name="正方形/長方形 76">
            <a:extLst>
              <a:ext uri="{FF2B5EF4-FFF2-40B4-BE49-F238E27FC236}">
                <a16:creationId xmlns:a16="http://schemas.microsoft.com/office/drawing/2014/main" id="{F2CF5E00-420D-446F-CBAF-3E83829B0B20}"/>
              </a:ext>
            </a:extLst>
          </p:cNvPr>
          <p:cNvSpPr/>
          <p:nvPr/>
        </p:nvSpPr>
        <p:spPr>
          <a:xfrm>
            <a:off x="4782759" y="5227859"/>
            <a:ext cx="1335756" cy="30241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2"/>
                </a:solidFill>
                <a:latin typeface="メイリオ" panose="020B0604030504040204" pitchFamily="50" charset="-128"/>
                <a:ea typeface="メイリオ" panose="020B0604030504040204" pitchFamily="50" charset="-128"/>
              </a:rPr>
              <a:t>イベント応募</a:t>
            </a:r>
          </a:p>
        </p:txBody>
      </p:sp>
      <p:sp>
        <p:nvSpPr>
          <p:cNvPr id="81" name="正方形/長方形 80">
            <a:extLst>
              <a:ext uri="{FF2B5EF4-FFF2-40B4-BE49-F238E27FC236}">
                <a16:creationId xmlns:a16="http://schemas.microsoft.com/office/drawing/2014/main" id="{DA2B1A87-D636-7EF7-347B-DAEE0436034C}"/>
              </a:ext>
            </a:extLst>
          </p:cNvPr>
          <p:cNvSpPr/>
          <p:nvPr/>
        </p:nvSpPr>
        <p:spPr>
          <a:xfrm>
            <a:off x="4935159" y="5380259"/>
            <a:ext cx="1335756" cy="30241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2"/>
                </a:solidFill>
                <a:latin typeface="メイリオ" panose="020B0604030504040204" pitchFamily="50" charset="-128"/>
                <a:ea typeface="メイリオ" panose="020B0604030504040204" pitchFamily="50" charset="-128"/>
              </a:rPr>
              <a:t>イベント応募</a:t>
            </a:r>
          </a:p>
        </p:txBody>
      </p:sp>
    </p:spTree>
    <p:extLst>
      <p:ext uri="{BB962C8B-B14F-4D97-AF65-F5344CB8AC3E}">
        <p14:creationId xmlns:p14="http://schemas.microsoft.com/office/powerpoint/2010/main" val="2875207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AC869-7B8C-FB48-7E66-2D80F0FAE3E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109005A5-A73F-A058-8D96-0CAFE8D7480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FCD0EE34-8EF5-99BE-6725-8862A708303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277284A-398D-1A38-2724-49C49199697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22723A6F-C1CA-81CD-D624-95FCF9D9ACB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endParaRPr sz="1600" b="1" dirty="0">
              <a:solidFill>
                <a:srgbClr val="002060"/>
              </a:solidFill>
              <a:latin typeface="Meiryo"/>
              <a:ea typeface="Meiryo"/>
              <a:cs typeface="Meiryo"/>
              <a:sym typeface="Meiryo"/>
            </a:endParaRPr>
          </a:p>
        </p:txBody>
      </p:sp>
      <p:sp>
        <p:nvSpPr>
          <p:cNvPr id="15" name="テキスト ボックス 14">
            <a:extLst>
              <a:ext uri="{FF2B5EF4-FFF2-40B4-BE49-F238E27FC236}">
                <a16:creationId xmlns:a16="http://schemas.microsoft.com/office/drawing/2014/main" id="{659482A1-D114-9212-88B0-CD596E5FE760}"/>
              </a:ext>
            </a:extLst>
          </p:cNvPr>
          <p:cNvSpPr txBox="1"/>
          <p:nvPr/>
        </p:nvSpPr>
        <p:spPr>
          <a:xfrm>
            <a:off x="1140171" y="706058"/>
            <a:ext cx="7997310" cy="523220"/>
          </a:xfrm>
          <a:prstGeom prst="rect">
            <a:avLst/>
          </a:prstGeom>
          <a:noFill/>
        </p:spPr>
        <p:txBody>
          <a:bodyPr wrap="square">
            <a:spAutoFit/>
          </a:bodyPr>
          <a:lstStyle/>
          <a:p>
            <a:pPr algn="ctr"/>
            <a:r>
              <a:rPr lang="ja-JP" altLang="en-US" sz="1400" dirty="0">
                <a:latin typeface="メイリオ" panose="020B0604030504040204" pitchFamily="50" charset="-128"/>
                <a:ea typeface="メイリオ" panose="020B0604030504040204" pitchFamily="50" charset="-128"/>
              </a:rPr>
              <a:t>月間流入は多いもののエンゲージメント率が低そうな状態で都度の新規流入が多いものと想定。</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課題は、</a:t>
            </a:r>
            <a:r>
              <a:rPr lang="ja-JP" altLang="en-US" sz="1400" b="1" dirty="0">
                <a:solidFill>
                  <a:srgbClr val="FF0000"/>
                </a:solidFill>
                <a:latin typeface="メイリオ" panose="020B0604030504040204" pitchFamily="50" charset="-128"/>
                <a:ea typeface="メイリオ" panose="020B0604030504040204" pitchFamily="50" charset="-128"/>
              </a:rPr>
              <a:t>メルマガ登録している既存ユーザーの流入をいかに取れる</a:t>
            </a:r>
            <a:r>
              <a:rPr lang="ja-JP" altLang="en-US" sz="1400" dirty="0">
                <a:solidFill>
                  <a:srgbClr val="FF0000"/>
                </a:solidFill>
                <a:latin typeface="メイリオ" panose="020B0604030504040204" pitchFamily="50" charset="-128"/>
                <a:ea typeface="メイリオ" panose="020B0604030504040204" pitchFamily="50" charset="-128"/>
              </a:rPr>
              <a:t>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0D7975ED-62F2-FBB9-F987-813C6F7314B9}"/>
              </a:ext>
            </a:extLst>
          </p:cNvPr>
          <p:cNvSpPr txBox="1"/>
          <p:nvPr/>
        </p:nvSpPr>
        <p:spPr>
          <a:xfrm>
            <a:off x="548883" y="1595900"/>
            <a:ext cx="8744646"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　</a:t>
            </a:r>
            <a:r>
              <a:rPr lang="en-US" altLang="ja-JP" sz="900" dirty="0">
                <a:solidFill>
                  <a:srgbClr val="FFFF00"/>
                </a:solidFill>
                <a:latin typeface="メイリオ" panose="020B0604030504040204" pitchFamily="50" charset="-128"/>
                <a:ea typeface="メイリオ" panose="020B0604030504040204" pitchFamily="50" charset="-128"/>
              </a:rPr>
              <a:t>※</a:t>
            </a:r>
            <a:r>
              <a:rPr lang="ja-JP" altLang="en-US" sz="900" dirty="0">
                <a:solidFill>
                  <a:srgbClr val="FFFF00"/>
                </a:solidFill>
                <a:latin typeface="メイリオ" panose="020B0604030504040204" pitchFamily="50" charset="-128"/>
                <a:ea typeface="メイリオ" panose="020B0604030504040204" pitchFamily="50" charset="-128"/>
              </a:rPr>
              <a:t>外部ツール</a:t>
            </a:r>
            <a:r>
              <a:rPr lang="en-US" altLang="ja-JP" sz="900" dirty="0">
                <a:solidFill>
                  <a:srgbClr val="FFFF00"/>
                </a:solidFill>
                <a:latin typeface="メイリオ" panose="020B0604030504040204" pitchFamily="50" charset="-128"/>
                <a:ea typeface="メイリオ" panose="020B0604030504040204" pitchFamily="50" charset="-128"/>
              </a:rPr>
              <a:t>Similar Web</a:t>
            </a:r>
            <a:r>
              <a:rPr lang="ja-JP" altLang="en-US" sz="900" dirty="0">
                <a:solidFill>
                  <a:srgbClr val="FFFF00"/>
                </a:solidFill>
                <a:latin typeface="メイリオ" panose="020B0604030504040204" pitchFamily="50" charset="-128"/>
                <a:ea typeface="メイリオ" panose="020B0604030504040204" pitchFamily="50" charset="-128"/>
              </a:rPr>
              <a:t>をもとに作成</a:t>
            </a:r>
            <a:endParaRPr lang="ja-JP" altLang="en-US" sz="1200" dirty="0">
              <a:solidFill>
                <a:srgbClr val="FFFF00"/>
              </a:solidFill>
            </a:endParaRPr>
          </a:p>
        </p:txBody>
      </p:sp>
      <p:pic>
        <p:nvPicPr>
          <p:cNvPr id="9" name="図 8">
            <a:extLst>
              <a:ext uri="{FF2B5EF4-FFF2-40B4-BE49-F238E27FC236}">
                <a16:creationId xmlns:a16="http://schemas.microsoft.com/office/drawing/2014/main" id="{4D3E8D3B-4D29-B1D6-12C9-57E468F8C05B}"/>
              </a:ext>
            </a:extLst>
          </p:cNvPr>
          <p:cNvPicPr>
            <a:picLocks noChangeAspect="1"/>
          </p:cNvPicPr>
          <p:nvPr/>
        </p:nvPicPr>
        <p:blipFill>
          <a:blip r:embed="rId3"/>
          <a:srcRect t="51009"/>
          <a:stretch>
            <a:fillRect/>
          </a:stretch>
        </p:blipFill>
        <p:spPr>
          <a:xfrm>
            <a:off x="1231737" y="1985554"/>
            <a:ext cx="7442525" cy="1692626"/>
          </a:xfrm>
          <a:prstGeom prst="rect">
            <a:avLst/>
          </a:prstGeom>
        </p:spPr>
      </p:pic>
      <p:pic>
        <p:nvPicPr>
          <p:cNvPr id="11" name="図 10">
            <a:extLst>
              <a:ext uri="{FF2B5EF4-FFF2-40B4-BE49-F238E27FC236}">
                <a16:creationId xmlns:a16="http://schemas.microsoft.com/office/drawing/2014/main" id="{2C4B8C7A-16F1-089A-3BED-6060F1843E54}"/>
              </a:ext>
            </a:extLst>
          </p:cNvPr>
          <p:cNvPicPr>
            <a:picLocks noChangeAspect="1"/>
          </p:cNvPicPr>
          <p:nvPr/>
        </p:nvPicPr>
        <p:blipFill>
          <a:blip r:embed="rId4"/>
          <a:stretch>
            <a:fillRect/>
          </a:stretch>
        </p:blipFill>
        <p:spPr>
          <a:xfrm>
            <a:off x="1239153" y="3678180"/>
            <a:ext cx="7442525" cy="2501012"/>
          </a:xfrm>
          <a:prstGeom prst="rect">
            <a:avLst/>
          </a:prstGeom>
        </p:spPr>
      </p:pic>
      <p:sp>
        <p:nvSpPr>
          <p:cNvPr id="12" name="正方形/長方形 11">
            <a:extLst>
              <a:ext uri="{FF2B5EF4-FFF2-40B4-BE49-F238E27FC236}">
                <a16:creationId xmlns:a16="http://schemas.microsoft.com/office/drawing/2014/main" id="{AF26425A-6431-14C6-E2E1-6311AD8C880D}"/>
              </a:ext>
            </a:extLst>
          </p:cNvPr>
          <p:cNvSpPr/>
          <p:nvPr/>
        </p:nvSpPr>
        <p:spPr>
          <a:xfrm>
            <a:off x="7498080" y="4511040"/>
            <a:ext cx="862149" cy="1219200"/>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288B28A1-EEE9-CB3D-1342-C5134D5CCFCA}"/>
              </a:ext>
            </a:extLst>
          </p:cNvPr>
          <p:cNvSpPr/>
          <p:nvPr/>
        </p:nvSpPr>
        <p:spPr>
          <a:xfrm>
            <a:off x="6265818" y="2529235"/>
            <a:ext cx="2415860" cy="353302"/>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AD83128C-4543-034E-FE5E-895F8C069BB1}"/>
              </a:ext>
            </a:extLst>
          </p:cNvPr>
          <p:cNvSpPr/>
          <p:nvPr/>
        </p:nvSpPr>
        <p:spPr>
          <a:xfrm>
            <a:off x="3815020" y="2891246"/>
            <a:ext cx="2415860" cy="353302"/>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FB84EFFF-33E1-25ED-828C-F76F9E3DF311}"/>
              </a:ext>
            </a:extLst>
          </p:cNvPr>
          <p:cNvSpPr/>
          <p:nvPr/>
        </p:nvSpPr>
        <p:spPr>
          <a:xfrm>
            <a:off x="6409508" y="3007408"/>
            <a:ext cx="3039291" cy="442759"/>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rgbClr val="FFC000"/>
                </a:solidFill>
                <a:latin typeface="メイリオ" panose="020B0604030504040204" pitchFamily="50" charset="-128"/>
                <a:ea typeface="メイリオ" panose="020B0604030504040204" pitchFamily="50" charset="-128"/>
              </a:rPr>
              <a:t>PV</a:t>
            </a:r>
            <a:r>
              <a:rPr kumimoji="1" lang="ja-JP" altLang="en-US" sz="1100" dirty="0">
                <a:solidFill>
                  <a:srgbClr val="FFC000"/>
                </a:solidFill>
                <a:latin typeface="メイリオ" panose="020B0604030504040204" pitchFamily="50" charset="-128"/>
                <a:ea typeface="メイリオ" panose="020B0604030504040204" pitchFamily="50" charset="-128"/>
              </a:rPr>
              <a:t>数が少なく滞在時間も短い状況。</a:t>
            </a:r>
          </a:p>
        </p:txBody>
      </p:sp>
      <p:sp>
        <p:nvSpPr>
          <p:cNvPr id="20" name="正方形/長方形 19">
            <a:extLst>
              <a:ext uri="{FF2B5EF4-FFF2-40B4-BE49-F238E27FC236}">
                <a16:creationId xmlns:a16="http://schemas.microsoft.com/office/drawing/2014/main" id="{A1401305-CE0A-8074-E73A-9BF24F6A0EF1}"/>
              </a:ext>
            </a:extLst>
          </p:cNvPr>
          <p:cNvSpPr/>
          <p:nvPr/>
        </p:nvSpPr>
        <p:spPr>
          <a:xfrm>
            <a:off x="5529943" y="4017046"/>
            <a:ext cx="4106093" cy="442759"/>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rgbClr val="FFC000"/>
                </a:solidFill>
                <a:latin typeface="メイリオ" panose="020B0604030504040204" pitchFamily="50" charset="-128"/>
                <a:ea typeface="メイリオ" panose="020B0604030504040204" pitchFamily="50" charset="-128"/>
              </a:rPr>
              <a:t>メールアドレス登録にもかかわらず、</a:t>
            </a:r>
            <a:r>
              <a:rPr lang="ja-JP" altLang="en-US" sz="1100" dirty="0">
                <a:solidFill>
                  <a:srgbClr val="FFC000"/>
                </a:solidFill>
                <a:latin typeface="メイリオ" panose="020B0604030504040204" pitchFamily="50" charset="-128"/>
                <a:ea typeface="メイリオ" panose="020B0604030504040204" pitchFamily="50" charset="-128"/>
              </a:rPr>
              <a:t>比率は</a:t>
            </a:r>
            <a:r>
              <a:rPr lang="en-US" altLang="ja-JP" sz="1100" dirty="0">
                <a:solidFill>
                  <a:srgbClr val="FFC000"/>
                </a:solidFill>
                <a:latin typeface="メイリオ" panose="020B0604030504040204" pitchFamily="50" charset="-128"/>
                <a:ea typeface="メイリオ" panose="020B0604030504040204" pitchFamily="50" charset="-128"/>
              </a:rPr>
              <a:t>15%</a:t>
            </a:r>
            <a:r>
              <a:rPr lang="ja-JP" altLang="en-US" sz="1100" dirty="0">
                <a:solidFill>
                  <a:srgbClr val="FFC000"/>
                </a:solidFill>
                <a:latin typeface="メイリオ" panose="020B0604030504040204" pitchFamily="50" charset="-128"/>
                <a:ea typeface="メイリオ" panose="020B0604030504040204" pitchFamily="50" charset="-128"/>
              </a:rPr>
              <a:t>と低い。</a:t>
            </a:r>
            <a:endParaRPr kumimoji="1" lang="en-US" altLang="ja-JP" sz="1100" dirty="0">
              <a:solidFill>
                <a:srgbClr val="FFC000"/>
              </a:solidFill>
              <a:latin typeface="メイリオ" panose="020B0604030504040204" pitchFamily="50" charset="-128"/>
              <a:ea typeface="メイリオ" panose="020B0604030504040204" pitchFamily="50" charset="-128"/>
            </a:endParaRPr>
          </a:p>
          <a:p>
            <a:pPr algn="ctr"/>
            <a:r>
              <a:rPr kumimoji="1" lang="ja-JP" altLang="en-US" sz="1100" dirty="0">
                <a:solidFill>
                  <a:srgbClr val="FFC000"/>
                </a:solidFill>
                <a:latin typeface="メイリオ" panose="020B0604030504040204" pitchFamily="50" charset="-128"/>
                <a:ea typeface="メイリオ" panose="020B0604030504040204" pitchFamily="50" charset="-128"/>
              </a:rPr>
              <a:t>一部を広告経由の流入に頼らないといけない状況。</a:t>
            </a:r>
          </a:p>
        </p:txBody>
      </p:sp>
      <p:sp>
        <p:nvSpPr>
          <p:cNvPr id="22" name="正方形/長方形 21">
            <a:extLst>
              <a:ext uri="{FF2B5EF4-FFF2-40B4-BE49-F238E27FC236}">
                <a16:creationId xmlns:a16="http://schemas.microsoft.com/office/drawing/2014/main" id="{4F7C9347-42BB-5470-0E52-D154083C26B3}"/>
              </a:ext>
            </a:extLst>
          </p:cNvPr>
          <p:cNvSpPr/>
          <p:nvPr/>
        </p:nvSpPr>
        <p:spPr>
          <a:xfrm>
            <a:off x="5043030" y="4511040"/>
            <a:ext cx="862149" cy="1219200"/>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62720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3B94D-09D9-3239-38EF-5B39FB422BE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FB93FD5-9FE7-0B38-8522-B613E524A2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9838AFE-B12B-5651-C60F-C11F087DFFDC}"/>
              </a:ext>
            </a:extLst>
          </p:cNvPr>
          <p:cNvSpPr/>
          <p:nvPr/>
        </p:nvSpPr>
        <p:spPr>
          <a:xfrm>
            <a:off x="2486640" y="3038203"/>
            <a:ext cx="4932761"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施策導入検討の背景</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497908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3840222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447681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2634601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商材平均で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000" dirty="0">
                <a:solidFill>
                  <a:srgbClr val="343434"/>
                </a:solidFill>
                <a:latin typeface="メイリオ" panose="020B0604030504040204" pitchFamily="50" charset="-128"/>
                <a:ea typeface="メイリオ" panose="020B0604030504040204" pitchFamily="50" charset="-128"/>
              </a:rPr>
              <a:t> </a:t>
            </a:r>
            <a:r>
              <a:rPr lang="en-US" altLang="ja-JP" sz="1000" dirty="0">
                <a:solidFill>
                  <a:srgbClr val="FFC000"/>
                </a:solidFill>
                <a:latin typeface="メイリオ" panose="020B0604030504040204" pitchFamily="50" charset="-128"/>
                <a:ea typeface="メイリオ" panose="020B0604030504040204" pitchFamily="50" charset="-128"/>
              </a:rPr>
              <a:t>※</a:t>
            </a:r>
            <a:r>
              <a:rPr lang="ja-JP" altLang="en-US" sz="1000" dirty="0">
                <a:solidFill>
                  <a:srgbClr val="FFC000"/>
                </a:solidFill>
                <a:latin typeface="メイリオ" panose="020B0604030504040204" pitchFamily="50" charset="-128"/>
                <a:ea typeface="メイリオ" panose="020B0604030504040204" pitchFamily="50" charset="-128"/>
              </a:rPr>
              <a:t>生涯</a:t>
            </a:r>
            <a:r>
              <a:rPr lang="en-US" altLang="ja-JP" sz="1000" dirty="0">
                <a:solidFill>
                  <a:srgbClr val="FFC000"/>
                </a:solidFill>
                <a:latin typeface="メイリオ" panose="020B0604030504040204" pitchFamily="50" charset="-128"/>
                <a:ea typeface="メイリオ" panose="020B0604030504040204" pitchFamily="50" charset="-128"/>
              </a:rPr>
              <a:t>CVR</a:t>
            </a:r>
            <a:r>
              <a:rPr lang="ja-JP" altLang="en-US" sz="1000" dirty="0">
                <a:solidFill>
                  <a:srgbClr val="FFC000"/>
                </a:solidFill>
                <a:latin typeface="メイリオ" panose="020B0604030504040204" pitchFamily="50" charset="-128"/>
                <a:ea typeface="メイリオ" panose="020B0604030504040204" pitchFamily="50" charset="-128"/>
              </a:rPr>
              <a:t> </a:t>
            </a:r>
            <a:r>
              <a:rPr lang="ja-JP" altLang="en-US" sz="1400" dirty="0">
                <a:solidFill>
                  <a:srgbClr val="343434"/>
                </a:solidFill>
                <a:latin typeface="メイリオ" panose="020B0604030504040204" pitchFamily="50" charset="-128"/>
                <a:ea typeface="メイリオ" panose="020B0604030504040204" pitchFamily="50" charset="-128"/>
              </a:rPr>
              <a:t>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6397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43648" y="778489"/>
            <a:ext cx="9357117" cy="584735"/>
          </a:xfrm>
          <a:prstGeom prst="rect">
            <a:avLst/>
          </a:prstGeom>
          <a:noFill/>
          <a:ln>
            <a:noFill/>
          </a:ln>
        </p:spPr>
        <p:txBody>
          <a:bodyPr spcFirstLastPara="1" wrap="square" lIns="91425" tIns="45700" rIns="91425" bIns="45700" anchor="ctr" anchorCtr="0">
            <a:spAutoFit/>
          </a:bodyPr>
          <a:lstStyle/>
          <a:p>
            <a:pPr algn="ct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日を境に大きくアクティブ率が下がる（ブロック率が上がる）為</a:t>
            </a:r>
            <a:endParaRPr lang="en-US" altLang="ja-JP" sz="1600" b="1" dirty="0">
              <a:latin typeface="メイリオ" panose="020B0604030504040204" pitchFamily="50" charset="-128"/>
              <a:ea typeface="メイリオ" panose="020B0604030504040204" pitchFamily="50" charset="-128"/>
              <a:cs typeface="Meiryo"/>
              <a:sym typeface="Meiryo"/>
            </a:endParaRPr>
          </a:p>
          <a:p>
            <a:pPr algn="ctr"/>
            <a:r>
              <a:rPr lang="ja-JP" altLang="en-US" sz="1600" b="1" dirty="0">
                <a:latin typeface="メイリオ" panose="020B0604030504040204" pitchFamily="50" charset="-128"/>
                <a:ea typeface="メイリオ" panose="020B0604030504040204" pitchFamily="50" charset="-128"/>
                <a:cs typeface="Meiryo"/>
                <a:sym typeface="Meiryo"/>
              </a:rPr>
              <a:t>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72678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施策における重要ポイントについて</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831316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現状ステータスの整理</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rPr>
              <a:t>メール登録</a:t>
            </a:r>
            <a:endParaRPr lang="en-US" altLang="ja-JP" sz="1100" dirty="0">
              <a:solidFill>
                <a:schemeClr val="bg1"/>
              </a:solidFill>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3640832" cy="261610"/>
          </a:xfrm>
          <a:prstGeom prst="rect">
            <a:avLst/>
          </a:prstGeom>
          <a:solidFill>
            <a:srgbClr val="FF0000"/>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rPr>
              <a:t>貴社ブランド商品購入率が改善</a:t>
            </a:r>
            <a:endParaRPr lang="en-US" altLang="ja-JP" sz="1100" dirty="0">
              <a:solidFill>
                <a:schemeClr val="bg1"/>
              </a:solidFill>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rPr>
              <a:t>&lt;</a:t>
            </a:r>
            <a:r>
              <a:rPr lang="ja-JP" altLang="en-US" sz="1050" b="1" dirty="0">
                <a:latin typeface="メイリオ" panose="020B0604030504040204" pitchFamily="50" charset="-128"/>
                <a:ea typeface="メイリオ" panose="020B0604030504040204" pitchFamily="50" charset="-128"/>
              </a:rPr>
              <a:t>貴社のユーザー動線イメージ</a:t>
            </a:r>
            <a:r>
              <a:rPr lang="en-US" altLang="ja-JP" sz="1050" b="1" dirty="0">
                <a:latin typeface="メイリオ" panose="020B0604030504040204" pitchFamily="50" charset="-128"/>
                <a:ea typeface="メイリオ" panose="020B0604030504040204" pitchFamily="50" charset="-128"/>
              </a:rPr>
              <a:t>&gt;</a:t>
            </a:r>
            <a:endParaRPr lang="ja-JP" altLang="en-US" sz="105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rPr>
              <a:t>サイト訪問数が拡大</a:t>
            </a:r>
            <a:endParaRPr lang="en-US" altLang="ja-JP" sz="1100" dirty="0">
              <a:solidFill>
                <a:schemeClr val="bg1"/>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33400"/>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rPr>
              <a:t>⑧</a:t>
            </a:r>
            <a:r>
              <a:rPr lang="en-US" altLang="ja-JP" sz="1100" dirty="0">
                <a:latin typeface="メイリオ" panose="020B0604030504040204" pitchFamily="50" charset="-128"/>
                <a:ea typeface="メイリオ" panose="020B0604030504040204" pitchFamily="50" charset="-128"/>
              </a:rPr>
              <a:t>LTV</a:t>
            </a:r>
            <a:r>
              <a:rPr lang="ja-JP" altLang="en-US" sz="1100" dirty="0">
                <a:latin typeface="メイリオ" panose="020B0604030504040204" pitchFamily="50" charset="-128"/>
                <a:ea typeface="メイリオ" panose="020B0604030504040204" pitchFamily="50" charset="-128"/>
              </a:rPr>
              <a:t>最大化（長期化）</a:t>
            </a:r>
            <a:endParaRPr lang="en-US" altLang="ja-JP" sz="1100" dirty="0">
              <a:latin typeface="メイリオ" panose="020B0604030504040204" pitchFamily="50" charset="-128"/>
              <a:ea typeface="メイリオ" panose="020B0604030504040204" pitchFamily="50" charset="-128"/>
            </a:endParaRPr>
          </a:p>
          <a:p>
            <a:pPr>
              <a:buNone/>
            </a:pPr>
            <a:endParaRPr lang="ja-JP" altLang="ja-JP" sz="900" dirty="0">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8" y="2236658"/>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rPr>
              <a:t>② サイト離脱</a:t>
            </a:r>
            <a:r>
              <a:rPr lang="ja-JP" altLang="en-US" sz="1100" dirty="0">
                <a:latin typeface="メイリオ" panose="020B0604030504040204" pitchFamily="50" charset="-128"/>
                <a:ea typeface="メイリオ" panose="020B0604030504040204" pitchFamily="50" charset="-128"/>
              </a:rPr>
              <a:t>（対策）</a:t>
            </a:r>
            <a:endParaRPr lang="ja-JP" altLang="ja-JP" sz="1100"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881344"/>
            <a:ext cx="9476706" cy="307777"/>
          </a:xfrm>
          <a:prstGeom prst="rect">
            <a:avLst/>
          </a:prstGeom>
          <a:noFill/>
        </p:spPr>
        <p:txBody>
          <a:bodyPr wrap="square">
            <a:spAutoFit/>
          </a:bodyPr>
          <a:lstStyle/>
          <a:p>
            <a:pPr marL="228600">
              <a:spcAft>
                <a:spcPts val="800"/>
              </a:spcAft>
              <a:buNone/>
            </a:pPr>
            <a:r>
              <a:rPr lang="ja-JP" altLang="ja-JP" sz="1400" b="1" dirty="0">
                <a:effectLst/>
                <a:latin typeface="Times New Roman" panose="02020603050405020304" pitchFamily="18" charset="0"/>
                <a:ea typeface="メイリオ" panose="020B0604030504040204" pitchFamily="50" charset="-128"/>
                <a:cs typeface="メイリオ" panose="020B0604030504040204" pitchFamily="50" charset="-128"/>
              </a:rPr>
              <a:t>接触</a:t>
            </a:r>
            <a:r>
              <a:rPr lang="en-US" altLang="ja-JP" sz="1400" b="1" dirty="0">
                <a:effectLst/>
                <a:latin typeface="Times New Roman" panose="02020603050405020304" pitchFamily="18" charset="0"/>
                <a:ea typeface="メイリオ" panose="020B0604030504040204" pitchFamily="50" charset="-128"/>
                <a:cs typeface="メイリオ" panose="020B0604030504040204" pitchFamily="50" charset="-128"/>
              </a:rPr>
              <a:t>~</a:t>
            </a:r>
            <a:r>
              <a:rPr lang="en-US" altLang="ja-JP" sz="1400" b="1" dirty="0">
                <a:latin typeface="Times New Roman" panose="02020603050405020304" pitchFamily="18" charset="0"/>
                <a:ea typeface="メイリオ" panose="020B0604030504040204" pitchFamily="50" charset="-128"/>
                <a:cs typeface="メイリオ" panose="020B0604030504040204" pitchFamily="50" charset="-128"/>
              </a:rPr>
              <a:t>LTV</a:t>
            </a:r>
            <a:r>
              <a:rPr lang="ja-JP" altLang="en-US" sz="1400" b="1" dirty="0">
                <a:latin typeface="Times New Roman" panose="02020603050405020304" pitchFamily="18" charset="0"/>
                <a:ea typeface="メイリオ" panose="020B0604030504040204" pitchFamily="50" charset="-128"/>
                <a:cs typeface="メイリオ" panose="020B0604030504040204" pitchFamily="50" charset="-128"/>
              </a:rPr>
              <a:t>の最大化（長期化）</a:t>
            </a:r>
            <a:r>
              <a:rPr lang="en-US" altLang="ja-JP" sz="1400" b="1" dirty="0">
                <a:effectLst/>
                <a:latin typeface="Times New Roman" panose="02020603050405020304" pitchFamily="18" charset="0"/>
                <a:ea typeface="メイリオ" panose="020B0604030504040204" pitchFamily="50" charset="-128"/>
                <a:cs typeface="メイリオ" panose="020B0604030504040204" pitchFamily="50" charset="-128"/>
              </a:rPr>
              <a:t>8</a:t>
            </a:r>
            <a:r>
              <a:rPr lang="ja-JP" altLang="ja-JP" sz="1400" b="1" dirty="0">
                <a:effectLst/>
                <a:latin typeface="Times New Roman" panose="02020603050405020304" pitchFamily="18" charset="0"/>
                <a:ea typeface="メイリオ" panose="020B0604030504040204" pitchFamily="50" charset="-128"/>
                <a:cs typeface="メイリオ" panose="020B0604030504040204" pitchFamily="50" charset="-128"/>
              </a:rPr>
              <a:t>フェーズの動線</a:t>
            </a:r>
            <a:r>
              <a:rPr lang="ja-JP" altLang="ja-JP" sz="1400" dirty="0">
                <a:effectLst/>
                <a:latin typeface="Times New Roman" panose="02020603050405020304" pitchFamily="18" charset="0"/>
                <a:ea typeface="メイリオ" panose="020B0604030504040204" pitchFamily="50" charset="-128"/>
                <a:cs typeface="メイリオ" panose="020B0604030504040204" pitchFamily="50" charset="-128"/>
              </a:rPr>
              <a:t>を可視化し、各フェーズ</a:t>
            </a:r>
            <a:r>
              <a:rPr lang="ja-JP" altLang="en-US" sz="1400" dirty="0">
                <a:effectLst/>
                <a:latin typeface="Times New Roman" panose="02020603050405020304" pitchFamily="18" charset="0"/>
                <a:ea typeface="メイリオ" panose="020B0604030504040204" pitchFamily="50" charset="-128"/>
                <a:cs typeface="メイリオ" panose="020B0604030504040204" pitchFamily="50" charset="-128"/>
              </a:rPr>
              <a:t>の</a:t>
            </a:r>
            <a:r>
              <a:rPr lang="ja-JP" altLang="ja-JP" sz="1400" dirty="0">
                <a:effectLst/>
                <a:latin typeface="Times New Roman" panose="02020603050405020304" pitchFamily="18" charset="0"/>
                <a:ea typeface="メイリオ" panose="020B0604030504040204" pitchFamily="50" charset="-128"/>
                <a:cs typeface="メイリオ" panose="020B0604030504040204" pitchFamily="50" charset="-128"/>
              </a:rPr>
              <a:t>離脱要因と</a:t>
            </a:r>
            <a:r>
              <a:rPr lang="en-US" altLang="ja-JP" sz="1400" dirty="0">
                <a:effectLst/>
                <a:latin typeface="Times New Roman" panose="02020603050405020304" pitchFamily="18" charset="0"/>
                <a:ea typeface="メイリオ" panose="020B0604030504040204" pitchFamily="50" charset="-128"/>
                <a:cs typeface="メイリオ" panose="020B0604030504040204" pitchFamily="50" charset="-128"/>
              </a:rPr>
              <a:t>LINE</a:t>
            </a:r>
            <a:r>
              <a:rPr lang="ja-JP" altLang="ja-JP" sz="1400" dirty="0">
                <a:effectLst/>
                <a:latin typeface="Times New Roman" panose="02020603050405020304" pitchFamily="18" charset="0"/>
                <a:ea typeface="メイリオ" panose="020B0604030504040204" pitchFamily="50" charset="-128"/>
                <a:cs typeface="メイリオ" panose="020B0604030504040204" pitchFamily="50" charset="-128"/>
              </a:rPr>
              <a:t>施策の打ち手を整理。</a:t>
            </a:r>
            <a:endParaRPr lang="ja-JP" altLang="ja-JP" sz="1100" dirty="0">
              <a:effectLst/>
              <a:latin typeface="Times New Roman" panose="02020603050405020304" pitchFamily="18" charset="0"/>
              <a:ea typeface="游明朝" panose="02020400000000000000" pitchFamily="18" charset="-128"/>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361902"/>
            <a:ext cx="9425943" cy="536703"/>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メイリオ" panose="020B0604030504040204" pitchFamily="50" charset="-128"/>
                <a:ea typeface="メイリオ" panose="020B0604030504040204" pitchFamily="50" charset="-128"/>
              </a:rPr>
              <a:t>・貴社商品を利用する・継続するユーザーを獲得、長期的な購読を促すため、</a:t>
            </a:r>
            <a:r>
              <a:rPr lang="ja-JP" altLang="en-US" sz="1400" b="1" dirty="0">
                <a:solidFill>
                  <a:srgbClr val="FF0000"/>
                </a:solidFill>
                <a:latin typeface="メイリオ" panose="020B0604030504040204" pitchFamily="50" charset="-128"/>
                <a:ea typeface="メイリオ" panose="020B0604030504040204" pitchFamily="50" charset="-128"/>
              </a:rPr>
              <a:t>中長期接点を持つこと</a:t>
            </a:r>
            <a:r>
              <a:rPr lang="ja-JP" altLang="en-US" sz="1400" b="1" dirty="0">
                <a:solidFill>
                  <a:schemeClr val="tx1"/>
                </a:solidFill>
                <a:latin typeface="メイリオ" panose="020B0604030504040204" pitchFamily="50" charset="-128"/>
                <a:ea typeface="メイリオ" panose="020B0604030504040204" pitchFamily="50" charset="-128"/>
              </a:rPr>
              <a:t>はメリットに。</a:t>
            </a:r>
            <a:endParaRPr lang="en-US" altLang="ja-JP" sz="1400" b="1" dirty="0">
              <a:solidFill>
                <a:schemeClr val="tx1"/>
              </a:solidFill>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C21501FB-A603-10BD-2C6C-D1B73705A291}"/>
              </a:ext>
            </a:extLst>
          </p:cNvPr>
          <p:cNvSpPr txBox="1"/>
          <p:nvPr/>
        </p:nvSpPr>
        <p:spPr>
          <a:xfrm>
            <a:off x="548883" y="5008631"/>
            <a:ext cx="4963884" cy="307777"/>
          </a:xfrm>
          <a:prstGeom prst="rect">
            <a:avLst/>
          </a:prstGeom>
          <a:noFill/>
        </p:spPr>
        <p:txBody>
          <a:bodyPr wrap="square">
            <a:spAutoFit/>
          </a:bodyPr>
          <a:lstStyle/>
          <a:p>
            <a:r>
              <a:rPr lang="en-US" altLang="ja-JP" sz="1400" b="1" dirty="0">
                <a:solidFill>
                  <a:schemeClr val="tx1"/>
                </a:solidFill>
                <a:latin typeface="メイリオ" panose="020B0604030504040204" pitchFamily="50" charset="-128"/>
                <a:ea typeface="メイリオ" panose="020B0604030504040204" pitchFamily="50" charset="-128"/>
              </a:rPr>
              <a:t>&lt;</a:t>
            </a:r>
            <a:r>
              <a:rPr lang="ja-JP" altLang="en-US" sz="1400" b="1" dirty="0">
                <a:solidFill>
                  <a:schemeClr val="tx1"/>
                </a:solidFill>
                <a:latin typeface="メイリオ" panose="020B0604030504040204" pitchFamily="50" charset="-128"/>
                <a:ea typeface="メイリオ" panose="020B0604030504040204" pitchFamily="50" charset="-128"/>
              </a:rPr>
              <a:t>想定導入機能</a:t>
            </a:r>
            <a:r>
              <a:rPr lang="en-US" altLang="ja-JP" sz="1400" b="1" dirty="0">
                <a:solidFill>
                  <a:schemeClr val="tx1"/>
                </a:solidFill>
                <a:latin typeface="メイリオ" panose="020B0604030504040204" pitchFamily="50" charset="-128"/>
                <a:ea typeface="メイリオ" panose="020B0604030504040204" pitchFamily="50" charset="-128"/>
              </a:rPr>
              <a:t>&gt;</a:t>
            </a:r>
            <a:endParaRPr lang="ja-JP" altLang="en-US" dirty="0"/>
          </a:p>
        </p:txBody>
      </p:sp>
      <p:sp>
        <p:nvSpPr>
          <p:cNvPr id="20" name="テキスト ボックス 19">
            <a:extLst>
              <a:ext uri="{FF2B5EF4-FFF2-40B4-BE49-F238E27FC236}">
                <a16:creationId xmlns:a16="http://schemas.microsoft.com/office/drawing/2014/main" id="{57F9A2A3-3989-9C86-3554-46A096DC83AD}"/>
              </a:ext>
            </a:extLst>
          </p:cNvPr>
          <p:cNvSpPr txBox="1"/>
          <p:nvPr/>
        </p:nvSpPr>
        <p:spPr>
          <a:xfrm>
            <a:off x="377494" y="5382083"/>
            <a:ext cx="4368677" cy="448732"/>
          </a:xfrm>
          <a:prstGeom prst="rect">
            <a:avLst/>
          </a:prstGeom>
          <a:solidFill>
            <a:schemeClr val="accent6">
              <a:lumMod val="20000"/>
              <a:lumOff val="80000"/>
            </a:schemeClr>
          </a:solidFill>
        </p:spPr>
        <p:txBody>
          <a:bodyPr wrap="square" anchor="ctr">
            <a:spAutoFit/>
          </a:bodyPr>
          <a:lstStyle/>
          <a:p>
            <a:r>
              <a:rPr lang="en-US" altLang="ja-JP" sz="1400" b="1" dirty="0">
                <a:solidFill>
                  <a:schemeClr val="tx1"/>
                </a:solidFill>
                <a:latin typeface="メイリオ" panose="020B0604030504040204" pitchFamily="50" charset="-128"/>
                <a:ea typeface="メイリオ" panose="020B0604030504040204" pitchFamily="50" charset="-128"/>
              </a:rPr>
              <a:t>1 </a:t>
            </a:r>
            <a:r>
              <a:rPr lang="ja-JP" altLang="en-US" sz="1400" b="1" dirty="0">
                <a:solidFill>
                  <a:schemeClr val="tx1"/>
                </a:solidFill>
                <a:latin typeface="メイリオ" panose="020B0604030504040204" pitchFamily="50" charset="-128"/>
                <a:ea typeface="メイリオ" panose="020B0604030504040204" pitchFamily="50" charset="-128"/>
              </a:rPr>
              <a:t>会員登録時にメルマガに加えて</a:t>
            </a:r>
            <a:r>
              <a:rPr lang="en-US" altLang="ja-JP" sz="1400" b="1" dirty="0">
                <a:solidFill>
                  <a:schemeClr val="tx1"/>
                </a:solidFill>
                <a:latin typeface="メイリオ" panose="020B0604030504040204" pitchFamily="50" charset="-128"/>
                <a:ea typeface="メイリオ" panose="020B0604030504040204" pitchFamily="50" charset="-128"/>
              </a:rPr>
              <a:t>LINE</a:t>
            </a:r>
            <a:r>
              <a:rPr lang="ja-JP" altLang="en-US" sz="1400" b="1" dirty="0">
                <a:solidFill>
                  <a:schemeClr val="tx1"/>
                </a:solidFill>
                <a:latin typeface="メイリオ" panose="020B0604030504040204" pitchFamily="50" charset="-128"/>
                <a:ea typeface="メイリオ" panose="020B0604030504040204" pitchFamily="50" charset="-128"/>
              </a:rPr>
              <a:t>追加を促進</a:t>
            </a:r>
            <a:endParaRPr lang="ja-JP" altLang="en-US" dirty="0"/>
          </a:p>
        </p:txBody>
      </p:sp>
      <p:sp>
        <p:nvSpPr>
          <p:cNvPr id="25" name="テキスト ボックス 24">
            <a:extLst>
              <a:ext uri="{FF2B5EF4-FFF2-40B4-BE49-F238E27FC236}">
                <a16:creationId xmlns:a16="http://schemas.microsoft.com/office/drawing/2014/main" id="{B64C572B-B222-3530-F911-91F8DAD27A0E}"/>
              </a:ext>
            </a:extLst>
          </p:cNvPr>
          <p:cNvSpPr txBox="1"/>
          <p:nvPr/>
        </p:nvSpPr>
        <p:spPr>
          <a:xfrm>
            <a:off x="377493" y="5888996"/>
            <a:ext cx="4368677" cy="495679"/>
          </a:xfrm>
          <a:prstGeom prst="rect">
            <a:avLst/>
          </a:prstGeom>
          <a:solidFill>
            <a:schemeClr val="accent6">
              <a:lumMod val="20000"/>
              <a:lumOff val="80000"/>
            </a:schemeClr>
          </a:solidFill>
        </p:spPr>
        <p:txBody>
          <a:bodyPr wrap="square" anchor="ctr">
            <a:spAutoFit/>
          </a:bodyPr>
          <a:lstStyle/>
          <a:p>
            <a:r>
              <a:rPr lang="en-US" altLang="ja-JP" sz="1400" b="1" dirty="0">
                <a:solidFill>
                  <a:schemeClr val="tx1"/>
                </a:solidFill>
                <a:latin typeface="メイリオ" panose="020B0604030504040204" pitchFamily="50" charset="-128"/>
                <a:ea typeface="メイリオ" panose="020B0604030504040204" pitchFamily="50" charset="-128"/>
              </a:rPr>
              <a:t>2 </a:t>
            </a:r>
            <a:r>
              <a:rPr lang="ja-JP" altLang="en-US" sz="1400" b="1" dirty="0">
                <a:solidFill>
                  <a:schemeClr val="tx1"/>
                </a:solidFill>
                <a:latin typeface="メイリオ" panose="020B0604030504040204" pitchFamily="50" charset="-128"/>
                <a:ea typeface="メイリオ" panose="020B0604030504040204" pitchFamily="50" charset="-128"/>
              </a:rPr>
              <a:t>メルマガ配信・コラム投稿に合わせて</a:t>
            </a:r>
            <a:r>
              <a:rPr lang="en-US" altLang="ja-JP" sz="1400" b="1" dirty="0">
                <a:solidFill>
                  <a:schemeClr val="tx1"/>
                </a:solidFill>
                <a:latin typeface="メイリオ" panose="020B0604030504040204" pitchFamily="50" charset="-128"/>
                <a:ea typeface="メイリオ" panose="020B0604030504040204" pitchFamily="50" charset="-128"/>
              </a:rPr>
              <a:t>LINE</a:t>
            </a:r>
            <a:r>
              <a:rPr lang="ja-JP" altLang="en-US" sz="1400" b="1" dirty="0">
                <a:solidFill>
                  <a:schemeClr val="tx1"/>
                </a:solidFill>
                <a:latin typeface="メイリオ" panose="020B0604030504040204" pitchFamily="50" charset="-128"/>
                <a:ea typeface="メイリオ" panose="020B0604030504040204" pitchFamily="50" charset="-128"/>
              </a:rPr>
              <a:t>展開</a:t>
            </a:r>
            <a:endParaRPr lang="ja-JP" altLang="en-US" dirty="0"/>
          </a:p>
        </p:txBody>
      </p:sp>
      <p:sp>
        <p:nvSpPr>
          <p:cNvPr id="27" name="テキスト ボックス 26">
            <a:extLst>
              <a:ext uri="{FF2B5EF4-FFF2-40B4-BE49-F238E27FC236}">
                <a16:creationId xmlns:a16="http://schemas.microsoft.com/office/drawing/2014/main" id="{7AF99EA9-1725-74D7-D950-7BF6B8B0ED92}"/>
              </a:ext>
            </a:extLst>
          </p:cNvPr>
          <p:cNvSpPr txBox="1"/>
          <p:nvPr/>
        </p:nvSpPr>
        <p:spPr>
          <a:xfrm>
            <a:off x="4830776" y="5470918"/>
            <a:ext cx="4963884" cy="307777"/>
          </a:xfrm>
          <a:prstGeom prst="rect">
            <a:avLst/>
          </a:prstGeom>
          <a:noFill/>
        </p:spPr>
        <p:txBody>
          <a:bodyPr wrap="square">
            <a:spAutoFit/>
          </a:bodyPr>
          <a:lstStyle/>
          <a:p>
            <a:r>
              <a:rPr lang="ja-JP" altLang="en-US" sz="1400" b="1" dirty="0">
                <a:solidFill>
                  <a:schemeClr val="tx1"/>
                </a:solidFill>
                <a:latin typeface="メイリオ" panose="020B0604030504040204" pitchFamily="50" charset="-128"/>
                <a:ea typeface="メイリオ" panose="020B0604030504040204" pitchFamily="50" charset="-128"/>
              </a:rPr>
              <a:t>サンクスページ → </a:t>
            </a:r>
            <a:r>
              <a:rPr lang="en-US" altLang="ja-JP" sz="1400" b="1" dirty="0">
                <a:solidFill>
                  <a:schemeClr val="tx1"/>
                </a:solidFill>
                <a:latin typeface="メイリオ" panose="020B0604030504040204" pitchFamily="50" charset="-128"/>
                <a:ea typeface="メイリオ" panose="020B0604030504040204" pitchFamily="50" charset="-128"/>
              </a:rPr>
              <a:t>LINE</a:t>
            </a:r>
            <a:r>
              <a:rPr lang="ja-JP" altLang="en-US" sz="1400" b="1" dirty="0">
                <a:solidFill>
                  <a:schemeClr val="tx1"/>
                </a:solidFill>
                <a:latin typeface="メイリオ" panose="020B0604030504040204" pitchFamily="50" charset="-128"/>
                <a:ea typeface="メイリオ" panose="020B0604030504040204" pitchFamily="50" charset="-128"/>
              </a:rPr>
              <a:t>への自動誘導を実現</a:t>
            </a:r>
            <a:endParaRPr lang="ja-JP" altLang="en-US" sz="1800" b="1" dirty="0"/>
          </a:p>
        </p:txBody>
      </p:sp>
      <p:sp>
        <p:nvSpPr>
          <p:cNvPr id="30" name="テキスト ボックス 29">
            <a:extLst>
              <a:ext uri="{FF2B5EF4-FFF2-40B4-BE49-F238E27FC236}">
                <a16:creationId xmlns:a16="http://schemas.microsoft.com/office/drawing/2014/main" id="{A1C4DAA1-0C1B-22B1-E5EC-85F7A2F35AAB}"/>
              </a:ext>
            </a:extLst>
          </p:cNvPr>
          <p:cNvSpPr txBox="1"/>
          <p:nvPr/>
        </p:nvSpPr>
        <p:spPr>
          <a:xfrm>
            <a:off x="4837444" y="5982946"/>
            <a:ext cx="4963884" cy="307777"/>
          </a:xfrm>
          <a:prstGeom prst="rect">
            <a:avLst/>
          </a:prstGeom>
          <a:noFill/>
        </p:spPr>
        <p:txBody>
          <a:bodyPr wrap="square">
            <a:spAutoFit/>
          </a:bodyPr>
          <a:lstStyle/>
          <a:p>
            <a:r>
              <a:rPr lang="ja-JP" altLang="en-US" sz="1400" b="1" dirty="0">
                <a:solidFill>
                  <a:schemeClr val="tx1"/>
                </a:solidFill>
                <a:latin typeface="メイリオ" panose="020B0604030504040204" pitchFamily="50" charset="-128"/>
                <a:ea typeface="メイリオ" panose="020B0604030504040204" pitchFamily="50" charset="-128"/>
              </a:rPr>
              <a:t>反応率の高い</a:t>
            </a:r>
            <a:r>
              <a:rPr lang="ja-JP" altLang="en-US" sz="1400" b="1" dirty="0">
                <a:latin typeface="メイリオ" panose="020B0604030504040204" pitchFamily="50" charset="-128"/>
                <a:ea typeface="メイリオ" panose="020B0604030504040204" pitchFamily="50" charset="-128"/>
              </a:rPr>
              <a:t>クリエイティブ制作＋投稿代行</a:t>
            </a:r>
            <a:endParaRPr lang="ja-JP" altLang="en-US" sz="1800" b="1" dirty="0"/>
          </a:p>
        </p:txBody>
      </p:sp>
    </p:spTree>
    <p:extLst>
      <p:ext uri="{BB962C8B-B14F-4D97-AF65-F5344CB8AC3E}">
        <p14:creationId xmlns:p14="http://schemas.microsoft.com/office/powerpoint/2010/main" val="1715909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rPr>
              <a:t>⑧</a:t>
            </a:r>
            <a:r>
              <a:rPr lang="en-US" altLang="ja-JP" sz="1100" dirty="0">
                <a:latin typeface="メイリオ" panose="020B0604030504040204" pitchFamily="50" charset="-128"/>
                <a:ea typeface="メイリオ" panose="020B0604030504040204" pitchFamily="50" charset="-128"/>
              </a:rPr>
              <a:t>LTV</a:t>
            </a:r>
            <a:r>
              <a:rPr lang="ja-JP" altLang="en-US" sz="1100" dirty="0">
                <a:latin typeface="メイリオ" panose="020B0604030504040204" pitchFamily="50" charset="-128"/>
                <a:ea typeface="メイリオ" panose="020B0604030504040204" pitchFamily="50" charset="-128"/>
              </a:rPr>
              <a:t>最大化・紹介</a:t>
            </a:r>
            <a:endParaRPr lang="en-US" altLang="ja-JP" sz="1100" dirty="0">
              <a:latin typeface="メイリオ" panose="020B0604030504040204" pitchFamily="50" charset="-128"/>
              <a:ea typeface="メイリオ" panose="020B0604030504040204" pitchFamily="50" charset="-128"/>
            </a:endParaRPr>
          </a:p>
          <a:p>
            <a:pPr>
              <a:buNone/>
            </a:pPr>
            <a:endParaRPr lang="ja-JP" altLang="ja-JP" sz="900"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rPr>
              <a:t>② サイト離脱</a:t>
            </a:r>
            <a:r>
              <a:rPr lang="ja-JP" altLang="en-US" sz="1100" dirty="0">
                <a:latin typeface="メイリオ" panose="020B0604030504040204" pitchFamily="50" charset="-128"/>
                <a:ea typeface="メイリオ" panose="020B0604030504040204" pitchFamily="50" charset="-128"/>
              </a:rPr>
              <a:t>（対策）</a:t>
            </a:r>
            <a:endParaRPr lang="ja-JP" altLang="ja-JP" sz="110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79976" y="3258501"/>
          <a:ext cx="9379248" cy="1500545"/>
        </p:xfrm>
        <a:graphic>
          <a:graphicData uri="http://schemas.openxmlformats.org/drawingml/2006/table">
            <a:tbl>
              <a:tblPr firstRow="1" bandRow="1">
                <a:tableStyleId>{5C22544A-7EE6-4342-B048-85BDC9FD1C3A}</a:tableStyleId>
              </a:tblPr>
              <a:tblGrid>
                <a:gridCol w="2344812">
                  <a:extLst>
                    <a:ext uri="{9D8B030D-6E8A-4147-A177-3AD203B41FA5}">
                      <a16:colId xmlns:a16="http://schemas.microsoft.com/office/drawing/2014/main" val="20000"/>
                    </a:ext>
                  </a:extLst>
                </a:gridCol>
                <a:gridCol w="2344812">
                  <a:extLst>
                    <a:ext uri="{9D8B030D-6E8A-4147-A177-3AD203B41FA5}">
                      <a16:colId xmlns:a16="http://schemas.microsoft.com/office/drawing/2014/main" val="20001"/>
                    </a:ext>
                  </a:extLst>
                </a:gridCol>
                <a:gridCol w="2344812">
                  <a:extLst>
                    <a:ext uri="{9D8B030D-6E8A-4147-A177-3AD203B41FA5}">
                      <a16:colId xmlns:a16="http://schemas.microsoft.com/office/drawing/2014/main" val="20002"/>
                    </a:ext>
                  </a:extLst>
                </a:gridCol>
                <a:gridCol w="2344812">
                  <a:extLst>
                    <a:ext uri="{9D8B030D-6E8A-4147-A177-3AD203B41FA5}">
                      <a16:colId xmlns:a16="http://schemas.microsoft.com/office/drawing/2014/main" val="20003"/>
                    </a:ext>
                  </a:extLst>
                </a:gridCol>
              </a:tblGrid>
              <a:tr h="300109">
                <a:tc>
                  <a:txBody>
                    <a:bodyPr/>
                    <a:lstStyle/>
                    <a:p>
                      <a:pPr algn="ctr"/>
                      <a:r>
                        <a:rPr sz="900" b="1" dirty="0" err="1">
                          <a:solidFill>
                            <a:srgbClr val="FFFFFF"/>
                          </a:solidFill>
                          <a:latin typeface="メイリオ"/>
                        </a:rPr>
                        <a:t>フェーズ</a:t>
                      </a:r>
                      <a:endParaRPr sz="900" b="1" dirty="0">
                        <a:solidFill>
                          <a:srgbClr val="FFFFFF"/>
                        </a:solidFill>
                        <a:latin typeface="メイリオ"/>
                      </a:endParaRPr>
                    </a:p>
                  </a:txBody>
                  <a:tcPr marT="37785" marB="37785">
                    <a:solidFill>
                      <a:srgbClr val="1F2A5C"/>
                    </a:solidFill>
                  </a:tcPr>
                </a:tc>
                <a:tc>
                  <a:txBody>
                    <a:bodyPr/>
                    <a:lstStyle/>
                    <a:p>
                      <a:pPr algn="ctr"/>
                      <a:r>
                        <a:rPr sz="900" b="1" dirty="0" err="1">
                          <a:solidFill>
                            <a:srgbClr val="FFFFFF"/>
                          </a:solidFill>
                          <a:latin typeface="メイリオ"/>
                        </a:rPr>
                        <a:t>ユーザー状態・心理</a:t>
                      </a:r>
                      <a:endParaRPr sz="900" b="1" dirty="0">
                        <a:solidFill>
                          <a:srgbClr val="FFFFFF"/>
                        </a:solidFill>
                        <a:latin typeface="メイリオ"/>
                      </a:endParaRPr>
                    </a:p>
                  </a:txBody>
                  <a:tcPr marT="37785" marB="37785">
                    <a:solidFill>
                      <a:srgbClr val="1F2A5C"/>
                    </a:solidFill>
                  </a:tcPr>
                </a:tc>
                <a:tc>
                  <a:txBody>
                    <a:bodyPr/>
                    <a:lstStyle/>
                    <a:p>
                      <a:pPr algn="ctr"/>
                      <a:r>
                        <a:rPr sz="900" b="1" dirty="0" err="1">
                          <a:solidFill>
                            <a:srgbClr val="FFFFFF"/>
                          </a:solidFill>
                          <a:latin typeface="メイリオ"/>
                        </a:rPr>
                        <a:t>離脱・停滞の課題</a:t>
                      </a:r>
                      <a:endParaRPr sz="900" b="1" dirty="0">
                        <a:solidFill>
                          <a:srgbClr val="FFFFFF"/>
                        </a:solidFill>
                        <a:latin typeface="メイリオ"/>
                      </a:endParaRPr>
                    </a:p>
                  </a:txBody>
                  <a:tcPr marT="37785" marB="37785">
                    <a:solidFill>
                      <a:srgbClr val="1F2A5C"/>
                    </a:solidFill>
                  </a:tcPr>
                </a:tc>
                <a:tc>
                  <a:txBody>
                    <a:bodyPr/>
                    <a:lstStyle/>
                    <a:p>
                      <a:pPr algn="ctr"/>
                      <a:r>
                        <a:rPr sz="900" b="1" dirty="0">
                          <a:solidFill>
                            <a:srgbClr val="FFFFFF"/>
                          </a:solidFill>
                          <a:latin typeface="メイリオ"/>
                        </a:rPr>
                        <a:t>LINE </a:t>
                      </a:r>
                      <a:r>
                        <a:rPr sz="900" b="1" dirty="0" err="1">
                          <a:solidFill>
                            <a:srgbClr val="FFFFFF"/>
                          </a:solidFill>
                          <a:latin typeface="メイリオ"/>
                        </a:rPr>
                        <a:t>OAの役割・施策</a:t>
                      </a:r>
                      <a:endParaRPr sz="900" b="1" dirty="0">
                        <a:solidFill>
                          <a:srgbClr val="FFFFFF"/>
                        </a:solidFill>
                        <a:latin typeface="メイリオ"/>
                      </a:endParaRPr>
                    </a:p>
                  </a:txBody>
                  <a:tcPr marT="37785" marB="37785">
                    <a:solidFill>
                      <a:srgbClr val="1F2A5C"/>
                    </a:solidFill>
                  </a:tcPr>
                </a:tc>
                <a:extLst>
                  <a:ext uri="{0D108BD9-81ED-4DB2-BD59-A6C34878D82A}">
                    <a16:rowId xmlns:a16="http://schemas.microsoft.com/office/drawing/2014/main" val="10000"/>
                  </a:ext>
                </a:extLst>
              </a:tr>
              <a:tr h="300109">
                <a:tc>
                  <a:txBody>
                    <a:bodyPr/>
                    <a:lstStyle/>
                    <a:p>
                      <a:pPr algn="l"/>
                      <a:r>
                        <a:rPr sz="800" b="1">
                          <a:solidFill>
                            <a:srgbClr val="333333"/>
                          </a:solidFill>
                          <a:latin typeface="メイリオ"/>
                        </a:rPr>
                        <a:t>①接触</a:t>
                      </a:r>
                    </a:p>
                  </a:txBody>
                  <a:tcPr marT="37785" marB="37785">
                    <a:solidFill>
                      <a:srgbClr val="FFFFFF"/>
                    </a:solidFill>
                  </a:tcPr>
                </a:tc>
                <a:tc>
                  <a:txBody>
                    <a:bodyPr/>
                    <a:lstStyle/>
                    <a:p>
                      <a:pPr algn="ctr"/>
                      <a:r>
                        <a:rPr sz="800" b="0" dirty="0" err="1">
                          <a:solidFill>
                            <a:srgbClr val="333333"/>
                          </a:solidFill>
                          <a:latin typeface="メイリオ"/>
                        </a:rPr>
                        <a:t>相場を知りたいが検討度は浅い</a:t>
                      </a:r>
                      <a:endParaRPr sz="800" b="0" dirty="0">
                        <a:solidFill>
                          <a:srgbClr val="333333"/>
                        </a:solidFill>
                        <a:latin typeface="メイリオ"/>
                      </a:endParaRPr>
                    </a:p>
                  </a:txBody>
                  <a:tcPr marT="37785" marB="37785">
                    <a:solidFill>
                      <a:srgbClr val="FFFFFF"/>
                    </a:solidFill>
                  </a:tcPr>
                </a:tc>
                <a:tc>
                  <a:txBody>
                    <a:bodyPr/>
                    <a:lstStyle/>
                    <a:p>
                      <a:pPr algn="ctr"/>
                      <a:r>
                        <a:rPr sz="800" b="0">
                          <a:solidFill>
                            <a:srgbClr val="333333"/>
                          </a:solidFill>
                          <a:latin typeface="メイリオ"/>
                        </a:rPr>
                        <a:t>フォーム入力の負担で離脱</a:t>
                      </a:r>
                    </a:p>
                  </a:txBody>
                  <a:tcPr marT="37785" marB="37785">
                    <a:solidFill>
                      <a:srgbClr val="FFFFFF"/>
                    </a:solidFill>
                  </a:tcPr>
                </a:tc>
                <a:tc>
                  <a:txBody>
                    <a:bodyPr/>
                    <a:lstStyle/>
                    <a:p>
                      <a:pPr algn="ctr"/>
                      <a:r>
                        <a:rPr sz="800" b="0">
                          <a:solidFill>
                            <a:srgbClr val="333333"/>
                          </a:solidFill>
                          <a:latin typeface="メイリオ"/>
                        </a:rPr>
                        <a:t>離脱防止ポップアップ（10秒簡易相場ガイド）</a:t>
                      </a:r>
                    </a:p>
                  </a:txBody>
                  <a:tcPr marT="37785" marB="37785">
                    <a:solidFill>
                      <a:srgbClr val="FFFFFF"/>
                    </a:solidFill>
                  </a:tcPr>
                </a:tc>
                <a:extLst>
                  <a:ext uri="{0D108BD9-81ED-4DB2-BD59-A6C34878D82A}">
                    <a16:rowId xmlns:a16="http://schemas.microsoft.com/office/drawing/2014/main" val="10001"/>
                  </a:ext>
                </a:extLst>
              </a:tr>
              <a:tr h="300109">
                <a:tc>
                  <a:txBody>
                    <a:bodyPr/>
                    <a:lstStyle/>
                    <a:p>
                      <a:pPr algn="l"/>
                      <a:r>
                        <a:rPr sz="800" b="1" dirty="0">
                          <a:solidFill>
                            <a:srgbClr val="333333"/>
                          </a:solidFill>
                          <a:latin typeface="メイリオ"/>
                        </a:rPr>
                        <a:t>②</a:t>
                      </a:r>
                      <a:r>
                        <a:rPr sz="800" b="1" dirty="0" err="1">
                          <a:solidFill>
                            <a:srgbClr val="333333"/>
                          </a:solidFill>
                          <a:latin typeface="メイリオ"/>
                        </a:rPr>
                        <a:t>サイト離脱</a:t>
                      </a:r>
                      <a:endParaRPr sz="800" b="1" dirty="0">
                        <a:solidFill>
                          <a:srgbClr val="333333"/>
                        </a:solidFill>
                        <a:latin typeface="メイリオ"/>
                      </a:endParaRPr>
                    </a:p>
                  </a:txBody>
                  <a:tcPr marT="37785" marB="37785">
                    <a:solidFill>
                      <a:srgbClr val="F5F7FA"/>
                    </a:solidFill>
                  </a:tcPr>
                </a:tc>
                <a:tc>
                  <a:txBody>
                    <a:bodyPr/>
                    <a:lstStyle/>
                    <a:p>
                      <a:pPr algn="ctr"/>
                      <a:r>
                        <a:rPr sz="800" b="0">
                          <a:solidFill>
                            <a:srgbClr val="333333"/>
                          </a:solidFill>
                          <a:latin typeface="メイリオ"/>
                        </a:rPr>
                        <a:t>まだ売ると決めていない</a:t>
                      </a:r>
                    </a:p>
                  </a:txBody>
                  <a:tcPr marT="37785" marB="37785">
                    <a:solidFill>
                      <a:srgbClr val="F5F7FA"/>
                    </a:solidFill>
                  </a:tcPr>
                </a:tc>
                <a:tc>
                  <a:txBody>
                    <a:bodyPr/>
                    <a:lstStyle/>
                    <a:p>
                      <a:pPr algn="ctr"/>
                      <a:r>
                        <a:rPr sz="800" b="0">
                          <a:solidFill>
                            <a:srgbClr val="333333"/>
                          </a:solidFill>
                          <a:latin typeface="メイリオ"/>
                        </a:rPr>
                        <a:t>再訪問のきっかけ喪失</a:t>
                      </a:r>
                    </a:p>
                  </a:txBody>
                  <a:tcPr marT="37785" marB="37785">
                    <a:solidFill>
                      <a:srgbClr val="F5F7FA"/>
                    </a:solidFill>
                  </a:tcPr>
                </a:tc>
                <a:tc>
                  <a:txBody>
                    <a:bodyPr/>
                    <a:lstStyle/>
                    <a:p>
                      <a:pPr algn="ctr"/>
                      <a:r>
                        <a:rPr sz="800" b="0">
                          <a:solidFill>
                            <a:srgbClr val="333333"/>
                          </a:solidFill>
                          <a:latin typeface="メイリオ"/>
                        </a:rPr>
                        <a:t>10秒アンケート特典でLINE友だち化</a:t>
                      </a:r>
                    </a:p>
                  </a:txBody>
                  <a:tcPr marT="37785" marB="37785">
                    <a:solidFill>
                      <a:srgbClr val="F5F7FA"/>
                    </a:solidFill>
                  </a:tcPr>
                </a:tc>
                <a:extLst>
                  <a:ext uri="{0D108BD9-81ED-4DB2-BD59-A6C34878D82A}">
                    <a16:rowId xmlns:a16="http://schemas.microsoft.com/office/drawing/2014/main" val="10002"/>
                  </a:ext>
                </a:extLst>
              </a:tr>
              <a:tr h="300109">
                <a:tc>
                  <a:txBody>
                    <a:bodyPr/>
                    <a:lstStyle/>
                    <a:p>
                      <a:pPr algn="l"/>
                      <a:r>
                        <a:rPr sz="800" b="1" dirty="0">
                          <a:solidFill>
                            <a:srgbClr val="333333"/>
                          </a:solidFill>
                          <a:latin typeface="メイリオ"/>
                        </a:rPr>
                        <a:t>③</a:t>
                      </a:r>
                      <a:r>
                        <a:rPr sz="800" b="1" dirty="0" err="1">
                          <a:solidFill>
                            <a:srgbClr val="333333"/>
                          </a:solidFill>
                          <a:latin typeface="メイリオ"/>
                        </a:rPr>
                        <a:t>育成追加直後</a:t>
                      </a:r>
                      <a:endParaRPr sz="800" b="1" dirty="0">
                        <a:solidFill>
                          <a:srgbClr val="333333"/>
                        </a:solidFill>
                        <a:latin typeface="メイリオ"/>
                      </a:endParaRPr>
                    </a:p>
                  </a:txBody>
                  <a:tcPr marT="37785" marB="37785">
                    <a:solidFill>
                      <a:srgbClr val="FFFFFF"/>
                    </a:solidFill>
                  </a:tcPr>
                </a:tc>
                <a:tc>
                  <a:txBody>
                    <a:bodyPr/>
                    <a:lstStyle/>
                    <a:p>
                      <a:pPr algn="ctr"/>
                      <a:r>
                        <a:rPr sz="800" b="0">
                          <a:solidFill>
                            <a:srgbClr val="333333"/>
                          </a:solidFill>
                          <a:latin typeface="メイリオ"/>
                        </a:rPr>
                        <a:t>しつこい営業への不安</a:t>
                      </a:r>
                    </a:p>
                  </a:txBody>
                  <a:tcPr marT="37785" marB="37785">
                    <a:solidFill>
                      <a:srgbClr val="FFFFFF"/>
                    </a:solidFill>
                  </a:tcPr>
                </a:tc>
                <a:tc>
                  <a:txBody>
                    <a:bodyPr/>
                    <a:lstStyle/>
                    <a:p>
                      <a:pPr algn="ctr"/>
                      <a:r>
                        <a:rPr sz="800" b="0">
                          <a:solidFill>
                            <a:srgbClr val="333333"/>
                          </a:solidFill>
                          <a:latin typeface="メイリオ"/>
                        </a:rPr>
                        <a:t>不信感による即ブロック</a:t>
                      </a:r>
                    </a:p>
                  </a:txBody>
                  <a:tcPr marT="37785" marB="37785">
                    <a:solidFill>
                      <a:srgbClr val="FFFFFF"/>
                    </a:solidFill>
                  </a:tcPr>
                </a:tc>
                <a:tc>
                  <a:txBody>
                    <a:bodyPr/>
                    <a:lstStyle/>
                    <a:p>
                      <a:pPr algn="ctr"/>
                      <a:r>
                        <a:rPr sz="800" b="0" dirty="0" err="1">
                          <a:solidFill>
                            <a:srgbClr val="333333"/>
                          </a:solidFill>
                          <a:latin typeface="メイリオ"/>
                        </a:rPr>
                        <a:t>実績等の信頼性訴求</a:t>
                      </a:r>
                      <a:endParaRPr sz="800" b="0" dirty="0">
                        <a:solidFill>
                          <a:srgbClr val="333333"/>
                        </a:solidFill>
                        <a:latin typeface="メイリオ"/>
                      </a:endParaRPr>
                    </a:p>
                  </a:txBody>
                  <a:tcPr marT="37785" marB="37785">
                    <a:solidFill>
                      <a:srgbClr val="FFFFFF"/>
                    </a:solidFill>
                  </a:tcPr>
                </a:tc>
                <a:extLst>
                  <a:ext uri="{0D108BD9-81ED-4DB2-BD59-A6C34878D82A}">
                    <a16:rowId xmlns:a16="http://schemas.microsoft.com/office/drawing/2014/main" val="10003"/>
                  </a:ext>
                </a:extLst>
              </a:tr>
              <a:tr h="300109">
                <a:tc>
                  <a:txBody>
                    <a:bodyPr/>
                    <a:lstStyle/>
                    <a:p>
                      <a:pPr algn="l"/>
                      <a:r>
                        <a:rPr sz="800" b="1" dirty="0">
                          <a:solidFill>
                            <a:srgbClr val="333333"/>
                          </a:solidFill>
                          <a:latin typeface="メイリオ"/>
                        </a:rPr>
                        <a:t>④</a:t>
                      </a:r>
                      <a:r>
                        <a:rPr sz="800" b="1" dirty="0" err="1">
                          <a:solidFill>
                            <a:srgbClr val="333333"/>
                          </a:solidFill>
                          <a:latin typeface="メイリオ"/>
                        </a:rPr>
                        <a:t>リード獲得</a:t>
                      </a:r>
                      <a:endParaRPr sz="800" b="1" dirty="0">
                        <a:solidFill>
                          <a:srgbClr val="333333"/>
                        </a:solidFill>
                        <a:latin typeface="メイリオ"/>
                      </a:endParaRPr>
                    </a:p>
                  </a:txBody>
                  <a:tcPr marT="37785" marB="37785">
                    <a:solidFill>
                      <a:srgbClr val="F5F7FA"/>
                    </a:solidFill>
                  </a:tcPr>
                </a:tc>
                <a:tc>
                  <a:txBody>
                    <a:bodyPr/>
                    <a:lstStyle/>
                    <a:p>
                      <a:pPr algn="ctr"/>
                      <a:r>
                        <a:rPr sz="800" b="0">
                          <a:solidFill>
                            <a:srgbClr val="333333"/>
                          </a:solidFill>
                          <a:latin typeface="メイリオ"/>
                        </a:rPr>
                        <a:t>自分に合う情報が欲しい</a:t>
                      </a:r>
                    </a:p>
                  </a:txBody>
                  <a:tcPr marT="37785" marB="37785">
                    <a:solidFill>
                      <a:srgbClr val="F5F7FA"/>
                    </a:solidFill>
                  </a:tcPr>
                </a:tc>
                <a:tc>
                  <a:txBody>
                    <a:bodyPr/>
                    <a:lstStyle/>
                    <a:p>
                      <a:pPr algn="ctr"/>
                      <a:r>
                        <a:rPr sz="800" b="0">
                          <a:solidFill>
                            <a:srgbClr val="333333"/>
                          </a:solidFill>
                          <a:latin typeface="メイリオ"/>
                        </a:rPr>
                        <a:t>手続きの煩雑さ</a:t>
                      </a:r>
                    </a:p>
                  </a:txBody>
                  <a:tcPr marT="37785" marB="37785">
                    <a:solidFill>
                      <a:srgbClr val="F5F7FA"/>
                    </a:solidFill>
                  </a:tcPr>
                </a:tc>
                <a:tc>
                  <a:txBody>
                    <a:bodyPr/>
                    <a:lstStyle/>
                    <a:p>
                      <a:pPr algn="ctr"/>
                      <a:r>
                        <a:rPr sz="800" b="0" dirty="0">
                          <a:solidFill>
                            <a:srgbClr val="333333"/>
                          </a:solidFill>
                          <a:latin typeface="メイリオ"/>
                        </a:rPr>
                        <a:t>3問タップ式アンケート（売却理由別）</a:t>
                      </a:r>
                    </a:p>
                  </a:txBody>
                  <a:tcPr marT="37785" marB="37785">
                    <a:solidFill>
                      <a:srgbClr val="F5F7FA"/>
                    </a:solidFill>
                  </a:tcPr>
                </a:tc>
                <a:extLst>
                  <a:ext uri="{0D108BD9-81ED-4DB2-BD59-A6C34878D82A}">
                    <a16:rowId xmlns:a16="http://schemas.microsoft.com/office/drawing/2014/main" val="10004"/>
                  </a:ext>
                </a:extLst>
              </a:tr>
            </a:tbl>
          </a:graphicData>
        </a:graphic>
      </p:graphicFrame>
      <p:graphicFrame>
        <p:nvGraphicFramePr>
          <p:cNvPr id="20" name="表 19">
            <a:extLst>
              <a:ext uri="{FF2B5EF4-FFF2-40B4-BE49-F238E27FC236}">
                <a16:creationId xmlns:a16="http://schemas.microsoft.com/office/drawing/2014/main" id="{F99FC55E-F86A-8534-0A69-D3D3F64ACAC5}"/>
              </a:ext>
            </a:extLst>
          </p:cNvPr>
          <p:cNvGraphicFramePr>
            <a:graphicFrameLocks noGrp="1"/>
          </p:cNvGraphicFramePr>
          <p:nvPr>
            <p:extLst>
              <p:ext uri="{D42A27DB-BD31-4B8C-83A1-F6EECF244321}">
                <p14:modId xmlns:p14="http://schemas.microsoft.com/office/powerpoint/2010/main" val="176684519"/>
              </p:ext>
            </p:extLst>
          </p:nvPr>
        </p:nvGraphicFramePr>
        <p:xfrm>
          <a:off x="379976" y="4831768"/>
          <a:ext cx="9379248" cy="1500545"/>
        </p:xfrm>
        <a:graphic>
          <a:graphicData uri="http://schemas.openxmlformats.org/drawingml/2006/table">
            <a:tbl>
              <a:tblPr firstRow="1" bandRow="1">
                <a:tableStyleId>{5C22544A-7EE6-4342-B048-85BDC9FD1C3A}</a:tableStyleId>
              </a:tblPr>
              <a:tblGrid>
                <a:gridCol w="2344812">
                  <a:extLst>
                    <a:ext uri="{9D8B030D-6E8A-4147-A177-3AD203B41FA5}">
                      <a16:colId xmlns:a16="http://schemas.microsoft.com/office/drawing/2014/main" val="628559368"/>
                    </a:ext>
                  </a:extLst>
                </a:gridCol>
                <a:gridCol w="2344812">
                  <a:extLst>
                    <a:ext uri="{9D8B030D-6E8A-4147-A177-3AD203B41FA5}">
                      <a16:colId xmlns:a16="http://schemas.microsoft.com/office/drawing/2014/main" val="912500275"/>
                    </a:ext>
                  </a:extLst>
                </a:gridCol>
                <a:gridCol w="2344812">
                  <a:extLst>
                    <a:ext uri="{9D8B030D-6E8A-4147-A177-3AD203B41FA5}">
                      <a16:colId xmlns:a16="http://schemas.microsoft.com/office/drawing/2014/main" val="1953274320"/>
                    </a:ext>
                  </a:extLst>
                </a:gridCol>
                <a:gridCol w="2344812">
                  <a:extLst>
                    <a:ext uri="{9D8B030D-6E8A-4147-A177-3AD203B41FA5}">
                      <a16:colId xmlns:a16="http://schemas.microsoft.com/office/drawing/2014/main" val="2467207296"/>
                    </a:ext>
                  </a:extLst>
                </a:gridCol>
              </a:tblGrid>
              <a:tr h="300109">
                <a:tc>
                  <a:txBody>
                    <a:bodyPr/>
                    <a:lstStyle/>
                    <a:p>
                      <a:pPr algn="ctr"/>
                      <a:r>
                        <a:rPr sz="1000" b="1" dirty="0" err="1">
                          <a:solidFill>
                            <a:srgbClr val="FFFFFF"/>
                          </a:solidFill>
                          <a:latin typeface="メイリオ"/>
                        </a:rPr>
                        <a:t>フェーズ</a:t>
                      </a:r>
                      <a:endParaRPr sz="1000" b="1" dirty="0">
                        <a:solidFill>
                          <a:srgbClr val="FFFFFF"/>
                        </a:solidFill>
                        <a:latin typeface="メイリオ"/>
                      </a:endParaRPr>
                    </a:p>
                  </a:txBody>
                  <a:tcPr marT="37785" marB="37785">
                    <a:solidFill>
                      <a:srgbClr val="173559"/>
                    </a:solidFill>
                  </a:tcPr>
                </a:tc>
                <a:tc>
                  <a:txBody>
                    <a:bodyPr/>
                    <a:lstStyle/>
                    <a:p>
                      <a:pPr algn="ctr"/>
                      <a:r>
                        <a:rPr sz="1000" b="1" dirty="0" err="1">
                          <a:solidFill>
                            <a:srgbClr val="FFFFFF"/>
                          </a:solidFill>
                          <a:latin typeface="メイリオ"/>
                        </a:rPr>
                        <a:t>ユーザー状態・心理</a:t>
                      </a:r>
                      <a:endParaRPr sz="1000" b="1" dirty="0">
                        <a:solidFill>
                          <a:srgbClr val="FFFFFF"/>
                        </a:solidFill>
                        <a:latin typeface="メイリオ"/>
                      </a:endParaRPr>
                    </a:p>
                  </a:txBody>
                  <a:tcPr marT="37785" marB="37785">
                    <a:solidFill>
                      <a:srgbClr val="173559"/>
                    </a:solidFill>
                  </a:tcPr>
                </a:tc>
                <a:tc>
                  <a:txBody>
                    <a:bodyPr/>
                    <a:lstStyle/>
                    <a:p>
                      <a:pPr algn="ctr"/>
                      <a:r>
                        <a:rPr sz="1000" b="1" dirty="0" err="1">
                          <a:solidFill>
                            <a:srgbClr val="FFFFFF"/>
                          </a:solidFill>
                          <a:latin typeface="メイリオ"/>
                        </a:rPr>
                        <a:t>離脱・停滞の課題</a:t>
                      </a:r>
                      <a:endParaRPr sz="1000" b="1" dirty="0">
                        <a:solidFill>
                          <a:srgbClr val="FFFFFF"/>
                        </a:solidFill>
                        <a:latin typeface="メイリオ"/>
                      </a:endParaRPr>
                    </a:p>
                  </a:txBody>
                  <a:tcPr marT="37785" marB="37785">
                    <a:solidFill>
                      <a:srgbClr val="173559"/>
                    </a:solidFill>
                  </a:tcPr>
                </a:tc>
                <a:tc>
                  <a:txBody>
                    <a:bodyPr/>
                    <a:lstStyle/>
                    <a:p>
                      <a:pPr algn="ctr"/>
                      <a:r>
                        <a:rPr sz="1000" b="1" dirty="0">
                          <a:solidFill>
                            <a:srgbClr val="FFFFFF"/>
                          </a:solidFill>
                          <a:latin typeface="メイリオ"/>
                        </a:rPr>
                        <a:t>LINE </a:t>
                      </a:r>
                      <a:r>
                        <a:rPr sz="1000" b="1" dirty="0" err="1">
                          <a:solidFill>
                            <a:srgbClr val="FFFFFF"/>
                          </a:solidFill>
                          <a:latin typeface="メイリオ"/>
                        </a:rPr>
                        <a:t>OAの役割・施策</a:t>
                      </a:r>
                      <a:endParaRPr sz="1000" b="1" dirty="0">
                        <a:solidFill>
                          <a:srgbClr val="FFFFFF"/>
                        </a:solidFill>
                        <a:latin typeface="メイリオ"/>
                      </a:endParaRPr>
                    </a:p>
                  </a:txBody>
                  <a:tcPr marT="37785" marB="37785">
                    <a:solidFill>
                      <a:srgbClr val="173559"/>
                    </a:solidFill>
                  </a:tcPr>
                </a:tc>
                <a:extLst>
                  <a:ext uri="{0D108BD9-81ED-4DB2-BD59-A6C34878D82A}">
                    <a16:rowId xmlns:a16="http://schemas.microsoft.com/office/drawing/2014/main" val="2874929456"/>
                  </a:ext>
                </a:extLst>
              </a:tr>
              <a:tr h="300109">
                <a:tc>
                  <a:txBody>
                    <a:bodyPr/>
                    <a:lstStyle/>
                    <a:p>
                      <a:pPr algn="l"/>
                      <a:r>
                        <a:rPr sz="900" b="1" dirty="0">
                          <a:solidFill>
                            <a:srgbClr val="333333"/>
                          </a:solidFill>
                          <a:latin typeface="メイリオ"/>
                        </a:rPr>
                        <a:t>⑤</a:t>
                      </a:r>
                      <a:r>
                        <a:rPr sz="900" b="1" dirty="0" err="1">
                          <a:solidFill>
                            <a:srgbClr val="333333"/>
                          </a:solidFill>
                          <a:latin typeface="メイリオ"/>
                        </a:rPr>
                        <a:t>リード有効化</a:t>
                      </a:r>
                      <a:endParaRPr sz="900" b="1" dirty="0">
                        <a:solidFill>
                          <a:srgbClr val="333333"/>
                        </a:solidFill>
                        <a:latin typeface="メイリオ"/>
                      </a:endParaRPr>
                    </a:p>
                  </a:txBody>
                  <a:tcPr marT="37785" marB="37785">
                    <a:solidFill>
                      <a:srgbClr val="FFFFFF"/>
                    </a:solidFill>
                  </a:tcPr>
                </a:tc>
                <a:tc>
                  <a:txBody>
                    <a:bodyPr/>
                    <a:lstStyle/>
                    <a:p>
                      <a:pPr algn="ctr"/>
                      <a:r>
                        <a:rPr sz="900" b="0" dirty="0" err="1">
                          <a:solidFill>
                            <a:srgbClr val="333333"/>
                          </a:solidFill>
                          <a:latin typeface="メイリオ"/>
                        </a:rPr>
                        <a:t>検討時期・ニーズが明確化</a:t>
                      </a:r>
                      <a:endParaRPr sz="900" b="0" dirty="0">
                        <a:solidFill>
                          <a:srgbClr val="333333"/>
                        </a:solidFill>
                        <a:latin typeface="メイリオ"/>
                      </a:endParaRPr>
                    </a:p>
                  </a:txBody>
                  <a:tcPr marT="37785" marB="37785">
                    <a:solidFill>
                      <a:srgbClr val="FFFFFF"/>
                    </a:solidFill>
                  </a:tcPr>
                </a:tc>
                <a:tc>
                  <a:txBody>
                    <a:bodyPr/>
                    <a:lstStyle/>
                    <a:p>
                      <a:pPr algn="ctr"/>
                      <a:r>
                        <a:rPr sz="900" b="0">
                          <a:solidFill>
                            <a:srgbClr val="333333"/>
                          </a:solidFill>
                          <a:latin typeface="メイリオ"/>
                        </a:rPr>
                        <a:t>一斉配信で自分事化されない</a:t>
                      </a:r>
                    </a:p>
                  </a:txBody>
                  <a:tcPr marT="37785" marB="37785">
                    <a:solidFill>
                      <a:srgbClr val="FFFFFF"/>
                    </a:solidFill>
                  </a:tcPr>
                </a:tc>
                <a:tc>
                  <a:txBody>
                    <a:bodyPr/>
                    <a:lstStyle/>
                    <a:p>
                      <a:pPr algn="ctr"/>
                      <a:r>
                        <a:rPr sz="900" b="0" dirty="0" err="1">
                          <a:solidFill>
                            <a:srgbClr val="333333"/>
                          </a:solidFill>
                          <a:latin typeface="メイリオ"/>
                        </a:rPr>
                        <a:t>売却理由別の自動セグメント分類</a:t>
                      </a:r>
                      <a:endParaRPr sz="900" b="0" dirty="0">
                        <a:solidFill>
                          <a:srgbClr val="333333"/>
                        </a:solidFill>
                        <a:latin typeface="メイリオ"/>
                      </a:endParaRPr>
                    </a:p>
                  </a:txBody>
                  <a:tcPr marT="37785" marB="37785">
                    <a:solidFill>
                      <a:srgbClr val="FFFFFF"/>
                    </a:solidFill>
                  </a:tcPr>
                </a:tc>
                <a:extLst>
                  <a:ext uri="{0D108BD9-81ED-4DB2-BD59-A6C34878D82A}">
                    <a16:rowId xmlns:a16="http://schemas.microsoft.com/office/drawing/2014/main" val="1911423498"/>
                  </a:ext>
                </a:extLst>
              </a:tr>
              <a:tr h="300109">
                <a:tc>
                  <a:txBody>
                    <a:bodyPr/>
                    <a:lstStyle/>
                    <a:p>
                      <a:pPr algn="l"/>
                      <a:r>
                        <a:rPr sz="900" b="1" dirty="0">
                          <a:solidFill>
                            <a:srgbClr val="333333"/>
                          </a:solidFill>
                          <a:latin typeface="メイリオ"/>
                        </a:rPr>
                        <a:t>⑥</a:t>
                      </a:r>
                      <a:r>
                        <a:rPr sz="900" b="1" dirty="0" err="1">
                          <a:solidFill>
                            <a:srgbClr val="333333"/>
                          </a:solidFill>
                          <a:latin typeface="メイリオ"/>
                        </a:rPr>
                        <a:t>再育成</a:t>
                      </a:r>
                      <a:endParaRPr sz="900" b="1" dirty="0">
                        <a:solidFill>
                          <a:srgbClr val="333333"/>
                        </a:solidFill>
                        <a:latin typeface="メイリオ"/>
                      </a:endParaRPr>
                    </a:p>
                  </a:txBody>
                  <a:tcPr marT="37785" marB="37785">
                    <a:solidFill>
                      <a:srgbClr val="F5F7FA"/>
                    </a:solidFill>
                  </a:tcPr>
                </a:tc>
                <a:tc>
                  <a:txBody>
                    <a:bodyPr/>
                    <a:lstStyle/>
                    <a:p>
                      <a:pPr algn="ctr"/>
                      <a:r>
                        <a:rPr sz="900" b="0" dirty="0" err="1">
                          <a:solidFill>
                            <a:srgbClr val="333333"/>
                          </a:solidFill>
                          <a:latin typeface="メイリオ"/>
                        </a:rPr>
                        <a:t>税金・諸費用の壁で検討停滞</a:t>
                      </a:r>
                      <a:endParaRPr sz="900" b="0" dirty="0">
                        <a:solidFill>
                          <a:srgbClr val="333333"/>
                        </a:solidFill>
                        <a:latin typeface="メイリオ"/>
                      </a:endParaRPr>
                    </a:p>
                  </a:txBody>
                  <a:tcPr marT="37785" marB="37785">
                    <a:solidFill>
                      <a:srgbClr val="F5F7FA"/>
                    </a:solidFill>
                  </a:tcPr>
                </a:tc>
                <a:tc>
                  <a:txBody>
                    <a:bodyPr/>
                    <a:lstStyle/>
                    <a:p>
                      <a:pPr algn="ctr"/>
                      <a:r>
                        <a:rPr sz="900" b="0">
                          <a:solidFill>
                            <a:srgbClr val="333333"/>
                          </a:solidFill>
                          <a:latin typeface="メイリオ"/>
                        </a:rPr>
                        <a:t>知識不足による意思決定遅延</a:t>
                      </a:r>
                    </a:p>
                  </a:txBody>
                  <a:tcPr marT="37785" marB="37785">
                    <a:solidFill>
                      <a:srgbClr val="F5F7FA"/>
                    </a:solidFill>
                  </a:tcPr>
                </a:tc>
                <a:tc>
                  <a:txBody>
                    <a:bodyPr/>
                    <a:lstStyle/>
                    <a:p>
                      <a:pPr algn="ctr"/>
                      <a:r>
                        <a:rPr sz="900" b="0" dirty="0">
                          <a:solidFill>
                            <a:srgbClr val="333333"/>
                          </a:solidFill>
                          <a:latin typeface="メイリオ"/>
                        </a:rPr>
                        <a:t>15〜30日ステップ配信</a:t>
                      </a:r>
                      <a:r>
                        <a:rPr sz="700" b="0" dirty="0">
                          <a:solidFill>
                            <a:srgbClr val="333333"/>
                          </a:solidFill>
                          <a:latin typeface="メイリオ"/>
                        </a:rPr>
                        <a:t>（控除・手順・事例）</a:t>
                      </a:r>
                      <a:endParaRPr sz="900" b="0" dirty="0">
                        <a:solidFill>
                          <a:srgbClr val="333333"/>
                        </a:solidFill>
                        <a:latin typeface="メイリオ"/>
                      </a:endParaRPr>
                    </a:p>
                  </a:txBody>
                  <a:tcPr marT="37785" marB="37785">
                    <a:solidFill>
                      <a:srgbClr val="F5F7FA"/>
                    </a:solidFill>
                  </a:tcPr>
                </a:tc>
                <a:extLst>
                  <a:ext uri="{0D108BD9-81ED-4DB2-BD59-A6C34878D82A}">
                    <a16:rowId xmlns:a16="http://schemas.microsoft.com/office/drawing/2014/main" val="2419379682"/>
                  </a:ext>
                </a:extLst>
              </a:tr>
              <a:tr h="300109">
                <a:tc>
                  <a:txBody>
                    <a:bodyPr/>
                    <a:lstStyle/>
                    <a:p>
                      <a:pPr algn="l"/>
                      <a:r>
                        <a:rPr sz="900" b="1" dirty="0">
                          <a:solidFill>
                            <a:srgbClr val="333333"/>
                          </a:solidFill>
                          <a:latin typeface="メイリオ"/>
                        </a:rPr>
                        <a:t>⑦</a:t>
                      </a:r>
                      <a:r>
                        <a:rPr sz="900" b="1" dirty="0" err="1">
                          <a:solidFill>
                            <a:srgbClr val="333333"/>
                          </a:solidFill>
                          <a:latin typeface="メイリオ"/>
                        </a:rPr>
                        <a:t>マネタイズ</a:t>
                      </a:r>
                      <a:endParaRPr sz="900" b="1" dirty="0">
                        <a:solidFill>
                          <a:srgbClr val="333333"/>
                        </a:solidFill>
                        <a:latin typeface="メイリオ"/>
                      </a:endParaRPr>
                    </a:p>
                  </a:txBody>
                  <a:tcPr marT="37785" marB="37785">
                    <a:solidFill>
                      <a:srgbClr val="FFFFFF"/>
                    </a:solidFill>
                  </a:tcPr>
                </a:tc>
                <a:tc>
                  <a:txBody>
                    <a:bodyPr/>
                    <a:lstStyle/>
                    <a:p>
                      <a:pPr algn="ctr"/>
                      <a:r>
                        <a:rPr sz="900" b="0">
                          <a:solidFill>
                            <a:srgbClr val="333333"/>
                          </a:solidFill>
                          <a:latin typeface="メイリオ"/>
                        </a:rPr>
                        <a:t>具体的な売却額を知りたい</a:t>
                      </a:r>
                    </a:p>
                  </a:txBody>
                  <a:tcPr marT="37785" marB="37785">
                    <a:solidFill>
                      <a:srgbClr val="FFFFFF"/>
                    </a:solidFill>
                  </a:tcPr>
                </a:tc>
                <a:tc>
                  <a:txBody>
                    <a:bodyPr/>
                    <a:lstStyle/>
                    <a:p>
                      <a:pPr algn="ctr"/>
                      <a:r>
                        <a:rPr sz="900" b="0" dirty="0" err="1">
                          <a:solidFill>
                            <a:srgbClr val="333333"/>
                          </a:solidFill>
                          <a:latin typeface="メイリオ"/>
                        </a:rPr>
                        <a:t>訪問査定への心理的ハードル</a:t>
                      </a:r>
                      <a:endParaRPr sz="900" b="0" dirty="0">
                        <a:solidFill>
                          <a:srgbClr val="333333"/>
                        </a:solidFill>
                        <a:latin typeface="メイリオ"/>
                      </a:endParaRPr>
                    </a:p>
                  </a:txBody>
                  <a:tcPr marT="37785" marB="37785">
                    <a:solidFill>
                      <a:srgbClr val="FFFFFF"/>
                    </a:solidFill>
                  </a:tcPr>
                </a:tc>
                <a:tc>
                  <a:txBody>
                    <a:bodyPr/>
                    <a:lstStyle/>
                    <a:p>
                      <a:pPr algn="ctr"/>
                      <a:r>
                        <a:rPr sz="900" b="0" dirty="0" err="1">
                          <a:solidFill>
                            <a:srgbClr val="333333"/>
                          </a:solidFill>
                          <a:latin typeface="メイリオ"/>
                        </a:rPr>
                        <a:t>無料訪問査定トリガ</a:t>
                      </a:r>
                      <a:r>
                        <a:rPr sz="900" b="0" dirty="0">
                          <a:solidFill>
                            <a:srgbClr val="333333"/>
                          </a:solidFill>
                          <a:latin typeface="メイリオ"/>
                        </a:rPr>
                        <a:t>ー</a:t>
                      </a:r>
                      <a:r>
                        <a:rPr sz="700" b="0" dirty="0">
                          <a:solidFill>
                            <a:srgbClr val="333333"/>
                          </a:solidFill>
                          <a:latin typeface="メイリオ"/>
                        </a:rPr>
                        <a:t>（</a:t>
                      </a:r>
                      <a:r>
                        <a:rPr sz="700" b="0" dirty="0" err="1">
                          <a:solidFill>
                            <a:srgbClr val="333333"/>
                          </a:solidFill>
                          <a:latin typeface="メイリオ"/>
                        </a:rPr>
                        <a:t>レポート・特典</a:t>
                      </a:r>
                      <a:r>
                        <a:rPr sz="700" b="0" dirty="0">
                          <a:solidFill>
                            <a:srgbClr val="333333"/>
                          </a:solidFill>
                          <a:latin typeface="メイリオ"/>
                        </a:rPr>
                        <a:t>）</a:t>
                      </a:r>
                      <a:endParaRPr sz="900" b="0" dirty="0">
                        <a:solidFill>
                          <a:srgbClr val="333333"/>
                        </a:solidFill>
                        <a:latin typeface="メイリオ"/>
                      </a:endParaRPr>
                    </a:p>
                  </a:txBody>
                  <a:tcPr marT="37785" marB="37785">
                    <a:solidFill>
                      <a:srgbClr val="FFFFFF"/>
                    </a:solidFill>
                  </a:tcPr>
                </a:tc>
                <a:extLst>
                  <a:ext uri="{0D108BD9-81ED-4DB2-BD59-A6C34878D82A}">
                    <a16:rowId xmlns:a16="http://schemas.microsoft.com/office/drawing/2014/main" val="250688175"/>
                  </a:ext>
                </a:extLst>
              </a:tr>
              <a:tr h="300109">
                <a:tc>
                  <a:txBody>
                    <a:bodyPr/>
                    <a:lstStyle/>
                    <a:p>
                      <a:pPr algn="l"/>
                      <a:r>
                        <a:rPr sz="900" b="0" dirty="0">
                          <a:solidFill>
                            <a:srgbClr val="333333"/>
                          </a:solidFill>
                          <a:latin typeface="メイリオ"/>
                        </a:rPr>
                        <a:t>⑧</a:t>
                      </a:r>
                      <a:r>
                        <a:rPr sz="900" b="0" dirty="0" err="1">
                          <a:solidFill>
                            <a:srgbClr val="333333"/>
                          </a:solidFill>
                          <a:latin typeface="メイリオ"/>
                        </a:rPr>
                        <a:t>ファン化</a:t>
                      </a:r>
                      <a:r>
                        <a:rPr sz="900" b="0" dirty="0">
                          <a:solidFill>
                            <a:srgbClr val="333333"/>
                          </a:solidFill>
                          <a:latin typeface="メイリオ"/>
                        </a:rPr>
                        <a:t>/</a:t>
                      </a:r>
                      <a:r>
                        <a:rPr sz="900" b="0" dirty="0" err="1">
                          <a:solidFill>
                            <a:srgbClr val="333333"/>
                          </a:solidFill>
                          <a:latin typeface="メイリオ"/>
                        </a:rPr>
                        <a:t>紹介</a:t>
                      </a:r>
                      <a:endParaRPr sz="900" b="0" dirty="0">
                        <a:solidFill>
                          <a:srgbClr val="333333"/>
                        </a:solidFill>
                        <a:latin typeface="メイリオ"/>
                      </a:endParaRPr>
                    </a:p>
                  </a:txBody>
                  <a:tcPr marT="37785" marB="37785">
                    <a:solidFill>
                      <a:schemeClr val="bg1">
                        <a:lumMod val="75000"/>
                      </a:schemeClr>
                    </a:solidFill>
                  </a:tcPr>
                </a:tc>
                <a:tc>
                  <a:txBody>
                    <a:bodyPr/>
                    <a:lstStyle/>
                    <a:p>
                      <a:pPr algn="ctr"/>
                      <a:r>
                        <a:rPr sz="900" b="0" dirty="0" err="1">
                          <a:solidFill>
                            <a:srgbClr val="333333"/>
                          </a:solidFill>
                          <a:latin typeface="メイリオ"/>
                        </a:rPr>
                        <a:t>媒介契約・成約完了</a:t>
                      </a:r>
                      <a:endParaRPr sz="900" b="0" dirty="0">
                        <a:solidFill>
                          <a:srgbClr val="333333"/>
                        </a:solidFill>
                        <a:latin typeface="メイリオ"/>
                      </a:endParaRPr>
                    </a:p>
                  </a:txBody>
                  <a:tcPr marT="37785" marB="37785">
                    <a:solidFill>
                      <a:schemeClr val="bg1">
                        <a:lumMod val="75000"/>
                      </a:schemeClr>
                    </a:solidFill>
                  </a:tcPr>
                </a:tc>
                <a:tc>
                  <a:txBody>
                    <a:bodyPr/>
                    <a:lstStyle/>
                    <a:p>
                      <a:pPr algn="ctr"/>
                      <a:r>
                        <a:rPr sz="900" b="0" dirty="0" err="1">
                          <a:solidFill>
                            <a:srgbClr val="333333"/>
                          </a:solidFill>
                          <a:latin typeface="メイリオ"/>
                        </a:rPr>
                        <a:t>売却後の接点喪失</a:t>
                      </a:r>
                      <a:endParaRPr sz="900" b="0" dirty="0">
                        <a:solidFill>
                          <a:srgbClr val="333333"/>
                        </a:solidFill>
                        <a:latin typeface="メイリオ"/>
                      </a:endParaRPr>
                    </a:p>
                  </a:txBody>
                  <a:tcPr marT="37785" marB="37785">
                    <a:solidFill>
                      <a:schemeClr val="bg1">
                        <a:lumMod val="75000"/>
                      </a:schemeClr>
                    </a:solidFill>
                  </a:tcPr>
                </a:tc>
                <a:tc>
                  <a:txBody>
                    <a:bodyPr/>
                    <a:lstStyle/>
                    <a:p>
                      <a:pPr algn="ctr"/>
                      <a:r>
                        <a:rPr lang="ja-JP" altLang="en-US" sz="900" b="0" dirty="0">
                          <a:solidFill>
                            <a:srgbClr val="333333"/>
                          </a:solidFill>
                          <a:latin typeface="メイリオ"/>
                        </a:rPr>
                        <a:t>口コミ投稿など</a:t>
                      </a:r>
                      <a:endParaRPr sz="900" b="0" dirty="0">
                        <a:solidFill>
                          <a:srgbClr val="333333"/>
                        </a:solidFill>
                        <a:latin typeface="メイリオ"/>
                      </a:endParaRPr>
                    </a:p>
                  </a:txBody>
                  <a:tcPr marT="37785" marB="37785">
                    <a:solidFill>
                      <a:schemeClr val="bg1">
                        <a:lumMod val="75000"/>
                      </a:schemeClr>
                    </a:solidFill>
                  </a:tcPr>
                </a:tc>
                <a:extLst>
                  <a:ext uri="{0D108BD9-81ED-4DB2-BD59-A6C34878D82A}">
                    <a16:rowId xmlns:a16="http://schemas.microsoft.com/office/drawing/2014/main" val="1510260062"/>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Times New Roman"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Times New Roman"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Times New Roman"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Times New Roman"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Times New Roman" panose="02020603050405020304" pitchFamily="18" charset="0"/>
              <a:ea typeface="游明朝" panose="02020400000000000000" pitchFamily="18" charset="-128"/>
            </a:endParaRPr>
          </a:p>
        </p:txBody>
      </p:sp>
    </p:spTree>
    <p:extLst>
      <p:ext uri="{BB962C8B-B14F-4D97-AF65-F5344CB8AC3E}">
        <p14:creationId xmlns:p14="http://schemas.microsoft.com/office/powerpoint/2010/main" val="3571272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SEO</a:t>
            </a:r>
            <a:r>
              <a:rPr lang="ja-JP" altLang="en-US"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a:t>
            </a:r>
            <a:r>
              <a:rPr lang="en-US" altLang="ja-JP"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AIO</a:t>
            </a:r>
            <a:r>
              <a:rPr lang="ja-JP" altLang="en-US"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施策に追加して最小コストで</a:t>
            </a:r>
            <a:r>
              <a:rPr lang="en-US" altLang="ja-JP"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登録数と</a:t>
            </a:r>
            <a:r>
              <a:rPr lang="en-US" altLang="ja-JP"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WEB</a:t>
            </a:r>
            <a:r>
              <a:rPr lang="ja-JP" altLang="en-US"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サイト</a:t>
            </a:r>
            <a:r>
              <a:rPr lang="en-US" altLang="ja-JP"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PV</a:t>
            </a:r>
            <a:r>
              <a:rPr lang="ja-JP" altLang="en-US"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を最大化</a:t>
            </a:r>
            <a:endParaRPr lang="en-US" altLang="ja-JP"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3761653"/>
            <a:ext cx="8898070" cy="2704296"/>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endParaRPr lang="ja-JP" altLang="en-US" sz="12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46" name="MainMessage">
            <a:extLst>
              <a:ext uri="{FF2B5EF4-FFF2-40B4-BE49-F238E27FC236}">
                <a16:creationId xmlns:a16="http://schemas.microsoft.com/office/drawing/2014/main" id="{B60D9D01-8FD5-9835-8DEB-82316620ED03}"/>
              </a:ext>
            </a:extLst>
          </p:cNvPr>
          <p:cNvSpPr txBox="1"/>
          <p:nvPr/>
        </p:nvSpPr>
        <p:spPr>
          <a:xfrm>
            <a:off x="503965" y="2120908"/>
            <a:ext cx="8898070" cy="750567"/>
          </a:xfrm>
          <a:prstGeom prst="rect">
            <a:avLst/>
          </a:prstGeom>
          <a:solidFill>
            <a:srgbClr val="F0F2F7"/>
          </a:solidFill>
          <a:ln w="9525">
            <a:solidFill>
              <a:srgbClr val="1F2A5C"/>
            </a:solidFill>
          </a:ln>
        </p:spPr>
        <p:txBody>
          <a:bodyPr wrap="square" lIns="91440" tIns="45720" rIns="91440" bIns="45720" anchor="t"/>
          <a:lstStyle/>
          <a:p>
            <a:pPr algn="ctr">
              <a:lnSpc>
                <a:spcPct val="140000"/>
              </a:lnSpc>
            </a:pPr>
            <a:r>
              <a:rPr lang="ja-JP" altLang="ja-JP" sz="2400" b="1" dirty="0">
                <a:solidFill>
                  <a:srgbClr val="1F2A5C"/>
                </a:solidFill>
                <a:latin typeface="メイリオ" panose="020B0604030504040204" pitchFamily="50" charset="-128"/>
                <a:ea typeface="メイリオ" panose="020B0604030504040204" pitchFamily="50" charset="-128"/>
              </a:rPr>
              <a:t>コンテンツ更新通知で</a:t>
            </a:r>
            <a:r>
              <a:rPr lang="ja-JP" altLang="en-US" sz="2400" b="1" dirty="0">
                <a:solidFill>
                  <a:srgbClr val="1F2A5C"/>
                </a:solidFill>
                <a:latin typeface="メイリオ" panose="020B0604030504040204" pitchFamily="50" charset="-128"/>
                <a:ea typeface="メイリオ" panose="020B0604030504040204" pitchFamily="50" charset="-128"/>
              </a:rPr>
              <a:t>サイト再訪問の促進と休眠層の活性化</a:t>
            </a:r>
            <a:endParaRPr lang="ja-JP" altLang="ja-JP" sz="2400" b="1" dirty="0">
              <a:solidFill>
                <a:srgbClr val="1F2A5C"/>
              </a:solidFill>
              <a:latin typeface="メイリオ" panose="020B0604030504040204" pitchFamily="50" charset="-128"/>
              <a:ea typeface="メイリオ" panose="020B0604030504040204" pitchFamily="50" charset="-128"/>
            </a:endParaRPr>
          </a:p>
        </p:txBody>
      </p:sp>
      <p:sp>
        <p:nvSpPr>
          <p:cNvPr id="62" name="二等辺三角形 61">
            <a:extLst>
              <a:ext uri="{FF2B5EF4-FFF2-40B4-BE49-F238E27FC236}">
                <a16:creationId xmlns:a16="http://schemas.microsoft.com/office/drawing/2014/main" id="{BDCBA122-1D1B-AA97-B52C-2A548E75BE5F}"/>
              </a:ext>
            </a:extLst>
          </p:cNvPr>
          <p:cNvSpPr/>
          <p:nvPr/>
        </p:nvSpPr>
        <p:spPr>
          <a:xfrm rot="10800000">
            <a:off x="1013700" y="2923543"/>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64" name="テキスト ボックス 4">
            <a:extLst>
              <a:ext uri="{FF2B5EF4-FFF2-40B4-BE49-F238E27FC236}">
                <a16:creationId xmlns:a16="http://schemas.microsoft.com/office/drawing/2014/main" id="{BF9B56DF-9875-62DA-48F0-98868F99F5FE}"/>
              </a:ext>
            </a:extLst>
          </p:cNvPr>
          <p:cNvSpPr txBox="1"/>
          <p:nvPr/>
        </p:nvSpPr>
        <p:spPr>
          <a:xfrm>
            <a:off x="3893204" y="2960246"/>
            <a:ext cx="223694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 name="テキスト ボックス 2">
            <a:extLst>
              <a:ext uri="{FF2B5EF4-FFF2-40B4-BE49-F238E27FC236}">
                <a16:creationId xmlns:a16="http://schemas.microsoft.com/office/drawing/2014/main" id="{45A431B3-A22F-1842-3FAA-6D07E1E96384}"/>
              </a:ext>
            </a:extLst>
          </p:cNvPr>
          <p:cNvSpPr txBox="1"/>
          <p:nvPr/>
        </p:nvSpPr>
        <p:spPr>
          <a:xfrm>
            <a:off x="966895" y="3855734"/>
            <a:ext cx="4963884" cy="307777"/>
          </a:xfrm>
          <a:prstGeom prst="rect">
            <a:avLst/>
          </a:prstGeom>
          <a:noFill/>
        </p:spPr>
        <p:txBody>
          <a:bodyPr wrap="square">
            <a:spAutoFit/>
          </a:bodyPr>
          <a:lstStyle/>
          <a:p>
            <a:r>
              <a:rPr lang="en-US" altLang="ja-JP" sz="1400" b="1" dirty="0">
                <a:solidFill>
                  <a:schemeClr val="tx1"/>
                </a:solidFill>
                <a:latin typeface="メイリオ" panose="020B0604030504040204" pitchFamily="50" charset="-128"/>
                <a:ea typeface="メイリオ" panose="020B0604030504040204" pitchFamily="50" charset="-128"/>
              </a:rPr>
              <a:t>&lt;</a:t>
            </a:r>
            <a:r>
              <a:rPr lang="ja-JP" altLang="en-US" sz="1400" b="1" dirty="0">
                <a:solidFill>
                  <a:schemeClr val="tx1"/>
                </a:solidFill>
                <a:latin typeface="メイリオ" panose="020B0604030504040204" pitchFamily="50" charset="-128"/>
                <a:ea typeface="メイリオ" panose="020B0604030504040204" pitchFamily="50" charset="-128"/>
              </a:rPr>
              <a:t>想定導入機能</a:t>
            </a:r>
            <a:r>
              <a:rPr lang="en-US" altLang="ja-JP" sz="1400" b="1" dirty="0">
                <a:solidFill>
                  <a:schemeClr val="tx1"/>
                </a:solidFill>
                <a:latin typeface="メイリオ" panose="020B0604030504040204" pitchFamily="50" charset="-128"/>
                <a:ea typeface="メイリオ" panose="020B0604030504040204" pitchFamily="50" charset="-128"/>
              </a:rPr>
              <a:t>&gt;</a:t>
            </a:r>
            <a:endParaRPr lang="ja-JP" altLang="en-US" dirty="0"/>
          </a:p>
        </p:txBody>
      </p:sp>
      <p:sp>
        <p:nvSpPr>
          <p:cNvPr id="6" name="テキスト ボックス 5">
            <a:extLst>
              <a:ext uri="{FF2B5EF4-FFF2-40B4-BE49-F238E27FC236}">
                <a16:creationId xmlns:a16="http://schemas.microsoft.com/office/drawing/2014/main" id="{A0AC7B2D-B3F4-508A-FD79-7523351C618B}"/>
              </a:ext>
            </a:extLst>
          </p:cNvPr>
          <p:cNvSpPr txBox="1"/>
          <p:nvPr/>
        </p:nvSpPr>
        <p:spPr>
          <a:xfrm>
            <a:off x="795506" y="4229186"/>
            <a:ext cx="4368677" cy="448732"/>
          </a:xfrm>
          <a:prstGeom prst="rect">
            <a:avLst/>
          </a:prstGeom>
          <a:solidFill>
            <a:schemeClr val="accent6">
              <a:lumMod val="20000"/>
              <a:lumOff val="80000"/>
            </a:schemeClr>
          </a:solidFill>
        </p:spPr>
        <p:txBody>
          <a:bodyPr wrap="square" anchor="ctr">
            <a:spAutoFit/>
          </a:bodyPr>
          <a:lstStyle/>
          <a:p>
            <a:r>
              <a:rPr lang="en-US" altLang="ja-JP" sz="1400" b="1" dirty="0">
                <a:solidFill>
                  <a:schemeClr val="tx1"/>
                </a:solidFill>
                <a:latin typeface="メイリオ" panose="020B0604030504040204" pitchFamily="50" charset="-128"/>
                <a:ea typeface="メイリオ" panose="020B0604030504040204" pitchFamily="50" charset="-128"/>
              </a:rPr>
              <a:t>1 </a:t>
            </a:r>
            <a:r>
              <a:rPr lang="ja-JP" altLang="en-US" sz="1400" b="1" dirty="0">
                <a:solidFill>
                  <a:schemeClr val="tx1"/>
                </a:solidFill>
                <a:latin typeface="メイリオ" panose="020B0604030504040204" pitchFamily="50" charset="-128"/>
                <a:ea typeface="メイリオ" panose="020B0604030504040204" pitchFamily="50" charset="-128"/>
              </a:rPr>
              <a:t>会員登録時にメルマガに加えて</a:t>
            </a:r>
            <a:r>
              <a:rPr lang="en-US" altLang="ja-JP" sz="1400" b="1" dirty="0">
                <a:solidFill>
                  <a:schemeClr val="tx1"/>
                </a:solidFill>
                <a:latin typeface="メイリオ" panose="020B0604030504040204" pitchFamily="50" charset="-128"/>
                <a:ea typeface="メイリオ" panose="020B0604030504040204" pitchFamily="50" charset="-128"/>
              </a:rPr>
              <a:t>LINE</a:t>
            </a:r>
            <a:r>
              <a:rPr lang="ja-JP" altLang="en-US" sz="1400" b="1" dirty="0">
                <a:solidFill>
                  <a:schemeClr val="tx1"/>
                </a:solidFill>
                <a:latin typeface="メイリオ" panose="020B0604030504040204" pitchFamily="50" charset="-128"/>
                <a:ea typeface="メイリオ" panose="020B0604030504040204" pitchFamily="50" charset="-128"/>
              </a:rPr>
              <a:t>追加を促進</a:t>
            </a:r>
            <a:endParaRPr lang="ja-JP" altLang="en-US" dirty="0"/>
          </a:p>
        </p:txBody>
      </p:sp>
      <p:sp>
        <p:nvSpPr>
          <p:cNvPr id="8" name="テキスト ボックス 7">
            <a:extLst>
              <a:ext uri="{FF2B5EF4-FFF2-40B4-BE49-F238E27FC236}">
                <a16:creationId xmlns:a16="http://schemas.microsoft.com/office/drawing/2014/main" id="{0EC53D85-B286-433F-25D2-139655AA42FA}"/>
              </a:ext>
            </a:extLst>
          </p:cNvPr>
          <p:cNvSpPr txBox="1"/>
          <p:nvPr/>
        </p:nvSpPr>
        <p:spPr>
          <a:xfrm>
            <a:off x="795505" y="4736099"/>
            <a:ext cx="4368677" cy="495679"/>
          </a:xfrm>
          <a:prstGeom prst="rect">
            <a:avLst/>
          </a:prstGeom>
          <a:solidFill>
            <a:schemeClr val="accent6">
              <a:lumMod val="20000"/>
              <a:lumOff val="80000"/>
            </a:schemeClr>
          </a:solidFill>
        </p:spPr>
        <p:txBody>
          <a:bodyPr wrap="square" anchor="ctr">
            <a:spAutoFit/>
          </a:bodyPr>
          <a:lstStyle/>
          <a:p>
            <a:r>
              <a:rPr lang="en-US" altLang="ja-JP" sz="1400" b="1" dirty="0">
                <a:solidFill>
                  <a:schemeClr val="tx1"/>
                </a:solidFill>
                <a:latin typeface="メイリオ" panose="020B0604030504040204" pitchFamily="50" charset="-128"/>
                <a:ea typeface="メイリオ" panose="020B0604030504040204" pitchFamily="50" charset="-128"/>
              </a:rPr>
              <a:t>2 </a:t>
            </a:r>
            <a:r>
              <a:rPr lang="ja-JP" altLang="en-US" sz="1400" b="1" dirty="0">
                <a:solidFill>
                  <a:schemeClr val="tx1"/>
                </a:solidFill>
                <a:latin typeface="メイリオ" panose="020B0604030504040204" pitchFamily="50" charset="-128"/>
                <a:ea typeface="メイリオ" panose="020B0604030504040204" pitchFamily="50" charset="-128"/>
              </a:rPr>
              <a:t>メルマガ配信・コラム投稿に合わせて</a:t>
            </a:r>
            <a:r>
              <a:rPr lang="en-US" altLang="ja-JP" sz="1400" b="1" dirty="0">
                <a:solidFill>
                  <a:schemeClr val="tx1"/>
                </a:solidFill>
                <a:latin typeface="メイリオ" panose="020B0604030504040204" pitchFamily="50" charset="-128"/>
                <a:ea typeface="メイリオ" panose="020B0604030504040204" pitchFamily="50" charset="-128"/>
              </a:rPr>
              <a:t>LINE</a:t>
            </a:r>
            <a:r>
              <a:rPr lang="ja-JP" altLang="en-US" sz="1400" b="1" dirty="0">
                <a:solidFill>
                  <a:schemeClr val="tx1"/>
                </a:solidFill>
                <a:latin typeface="メイリオ" panose="020B0604030504040204" pitchFamily="50" charset="-128"/>
                <a:ea typeface="メイリオ" panose="020B0604030504040204" pitchFamily="50" charset="-128"/>
              </a:rPr>
              <a:t>展開</a:t>
            </a:r>
            <a:endParaRPr lang="ja-JP" altLang="en-US" dirty="0"/>
          </a:p>
        </p:txBody>
      </p:sp>
      <p:sp>
        <p:nvSpPr>
          <p:cNvPr id="10" name="テキスト ボックス 9">
            <a:extLst>
              <a:ext uri="{FF2B5EF4-FFF2-40B4-BE49-F238E27FC236}">
                <a16:creationId xmlns:a16="http://schemas.microsoft.com/office/drawing/2014/main" id="{B440DED5-AA72-37EF-A146-AC2349BD2F63}"/>
              </a:ext>
            </a:extLst>
          </p:cNvPr>
          <p:cNvSpPr txBox="1"/>
          <p:nvPr/>
        </p:nvSpPr>
        <p:spPr>
          <a:xfrm>
            <a:off x="5248788" y="4318021"/>
            <a:ext cx="4963884" cy="307777"/>
          </a:xfrm>
          <a:prstGeom prst="rect">
            <a:avLst/>
          </a:prstGeom>
          <a:noFill/>
        </p:spPr>
        <p:txBody>
          <a:bodyPr wrap="square">
            <a:spAutoFit/>
          </a:bodyPr>
          <a:lstStyle/>
          <a:p>
            <a:r>
              <a:rPr lang="ja-JP" altLang="en-US" sz="1400" b="1" dirty="0">
                <a:solidFill>
                  <a:schemeClr val="tx1"/>
                </a:solidFill>
                <a:latin typeface="メイリオ" panose="020B0604030504040204" pitchFamily="50" charset="-128"/>
                <a:ea typeface="メイリオ" panose="020B0604030504040204" pitchFamily="50" charset="-128"/>
              </a:rPr>
              <a:t>サンクスページ → </a:t>
            </a:r>
            <a:r>
              <a:rPr lang="en-US" altLang="ja-JP" sz="1400" b="1" dirty="0">
                <a:solidFill>
                  <a:schemeClr val="tx1"/>
                </a:solidFill>
                <a:latin typeface="メイリオ" panose="020B0604030504040204" pitchFamily="50" charset="-128"/>
                <a:ea typeface="メイリオ" panose="020B0604030504040204" pitchFamily="50" charset="-128"/>
              </a:rPr>
              <a:t>LINE</a:t>
            </a:r>
            <a:r>
              <a:rPr lang="ja-JP" altLang="en-US" sz="1400" b="1" dirty="0">
                <a:solidFill>
                  <a:schemeClr val="tx1"/>
                </a:solidFill>
                <a:latin typeface="メイリオ" panose="020B0604030504040204" pitchFamily="50" charset="-128"/>
                <a:ea typeface="メイリオ" panose="020B0604030504040204" pitchFamily="50" charset="-128"/>
              </a:rPr>
              <a:t>への自動誘導を実現</a:t>
            </a:r>
            <a:endParaRPr lang="ja-JP" altLang="en-US" sz="1800" b="1" dirty="0"/>
          </a:p>
        </p:txBody>
      </p:sp>
      <p:sp>
        <p:nvSpPr>
          <p:cNvPr id="12" name="テキスト ボックス 11">
            <a:extLst>
              <a:ext uri="{FF2B5EF4-FFF2-40B4-BE49-F238E27FC236}">
                <a16:creationId xmlns:a16="http://schemas.microsoft.com/office/drawing/2014/main" id="{75688F14-B0BD-EF7E-3F50-DE8F91EFA178}"/>
              </a:ext>
            </a:extLst>
          </p:cNvPr>
          <p:cNvSpPr txBox="1"/>
          <p:nvPr/>
        </p:nvSpPr>
        <p:spPr>
          <a:xfrm>
            <a:off x="5255456" y="4830049"/>
            <a:ext cx="4963884" cy="307777"/>
          </a:xfrm>
          <a:prstGeom prst="rect">
            <a:avLst/>
          </a:prstGeom>
          <a:noFill/>
        </p:spPr>
        <p:txBody>
          <a:bodyPr wrap="square">
            <a:spAutoFit/>
          </a:bodyPr>
          <a:lstStyle/>
          <a:p>
            <a:r>
              <a:rPr lang="ja-JP" altLang="en-US" sz="1400" b="1" dirty="0">
                <a:solidFill>
                  <a:schemeClr val="tx1"/>
                </a:solidFill>
                <a:latin typeface="メイリオ" panose="020B0604030504040204" pitchFamily="50" charset="-128"/>
                <a:ea typeface="メイリオ" panose="020B0604030504040204" pitchFamily="50" charset="-128"/>
              </a:rPr>
              <a:t>反応率の高い</a:t>
            </a:r>
            <a:r>
              <a:rPr lang="ja-JP" altLang="en-US" sz="1400" b="1" dirty="0">
                <a:latin typeface="メイリオ" panose="020B0604030504040204" pitchFamily="50" charset="-128"/>
                <a:ea typeface="メイリオ" panose="020B0604030504040204" pitchFamily="50" charset="-128"/>
              </a:rPr>
              <a:t>クリエイティブ制作＋投稿代行</a:t>
            </a:r>
            <a:endParaRPr lang="ja-JP" altLang="en-US" sz="1800" b="1" dirty="0"/>
          </a:p>
        </p:txBody>
      </p:sp>
      <p:sp>
        <p:nvSpPr>
          <p:cNvPr id="14" name="テキスト ボックス 13">
            <a:extLst>
              <a:ext uri="{FF2B5EF4-FFF2-40B4-BE49-F238E27FC236}">
                <a16:creationId xmlns:a16="http://schemas.microsoft.com/office/drawing/2014/main" id="{FD485563-C218-9309-091E-15BBDF9E2759}"/>
              </a:ext>
            </a:extLst>
          </p:cNvPr>
          <p:cNvSpPr txBox="1"/>
          <p:nvPr/>
        </p:nvSpPr>
        <p:spPr>
          <a:xfrm>
            <a:off x="966894" y="5349008"/>
            <a:ext cx="4963884" cy="307777"/>
          </a:xfrm>
          <a:prstGeom prst="rect">
            <a:avLst/>
          </a:prstGeom>
          <a:noFill/>
        </p:spPr>
        <p:txBody>
          <a:bodyPr wrap="square">
            <a:spAutoFit/>
          </a:bodyPr>
          <a:lstStyle/>
          <a:p>
            <a:r>
              <a:rPr lang="en-US" altLang="ja-JP" sz="1400" b="1" dirty="0">
                <a:solidFill>
                  <a:schemeClr val="tx1"/>
                </a:solidFill>
                <a:latin typeface="メイリオ" panose="020B0604030504040204" pitchFamily="50" charset="-128"/>
                <a:ea typeface="メイリオ" panose="020B0604030504040204" pitchFamily="50" charset="-128"/>
              </a:rPr>
              <a:t>&lt;</a:t>
            </a:r>
            <a:r>
              <a:rPr lang="ja-JP" altLang="en-US" sz="1400" b="1" dirty="0">
                <a:latin typeface="メイリオ" panose="020B0604030504040204" pitchFamily="50" charset="-128"/>
                <a:ea typeface="メイリオ" panose="020B0604030504040204" pitchFamily="50" charset="-128"/>
              </a:rPr>
              <a:t>中長期的に追加する</a:t>
            </a:r>
            <a:r>
              <a:rPr lang="ja-JP" altLang="en-US" sz="1400" b="1" dirty="0">
                <a:solidFill>
                  <a:schemeClr val="tx1"/>
                </a:solidFill>
                <a:latin typeface="メイリオ" panose="020B0604030504040204" pitchFamily="50" charset="-128"/>
                <a:ea typeface="メイリオ" panose="020B0604030504040204" pitchFamily="50" charset="-128"/>
              </a:rPr>
              <a:t>機能</a:t>
            </a:r>
            <a:r>
              <a:rPr lang="en-US" altLang="ja-JP" sz="1400" b="1" dirty="0">
                <a:solidFill>
                  <a:schemeClr val="tx1"/>
                </a:solidFill>
                <a:latin typeface="メイリオ" panose="020B0604030504040204" pitchFamily="50" charset="-128"/>
                <a:ea typeface="メイリオ" panose="020B0604030504040204" pitchFamily="50" charset="-128"/>
              </a:rPr>
              <a:t>&gt;</a:t>
            </a:r>
            <a:endParaRPr lang="ja-JP" altLang="en-US" dirty="0"/>
          </a:p>
        </p:txBody>
      </p:sp>
      <p:sp>
        <p:nvSpPr>
          <p:cNvPr id="16" name="テキスト ボックス 15">
            <a:extLst>
              <a:ext uri="{FF2B5EF4-FFF2-40B4-BE49-F238E27FC236}">
                <a16:creationId xmlns:a16="http://schemas.microsoft.com/office/drawing/2014/main" id="{A592E942-DF1A-799E-07AA-6310C3A582CE}"/>
              </a:ext>
            </a:extLst>
          </p:cNvPr>
          <p:cNvSpPr txBox="1"/>
          <p:nvPr/>
        </p:nvSpPr>
        <p:spPr>
          <a:xfrm>
            <a:off x="795505" y="5698986"/>
            <a:ext cx="4368677" cy="495679"/>
          </a:xfrm>
          <a:prstGeom prst="rect">
            <a:avLst/>
          </a:prstGeom>
          <a:solidFill>
            <a:schemeClr val="bg1">
              <a:lumMod val="85000"/>
            </a:schemeClr>
          </a:solidFill>
        </p:spPr>
        <p:txBody>
          <a:bodyPr wrap="square" anchor="ctr">
            <a:spAutoFit/>
          </a:bodyPr>
          <a:lstStyle/>
          <a:p>
            <a:r>
              <a:rPr lang="en-US" altLang="ja-JP" sz="1400" b="1" dirty="0">
                <a:latin typeface="メイリオ" panose="020B0604030504040204" pitchFamily="50" charset="-128"/>
                <a:ea typeface="メイリオ" panose="020B0604030504040204" pitchFamily="50" charset="-128"/>
              </a:rPr>
              <a:t>3</a:t>
            </a:r>
            <a:r>
              <a:rPr lang="en-US" altLang="ja-JP" sz="1400" b="1" dirty="0">
                <a:solidFill>
                  <a:schemeClr val="tx1"/>
                </a:solidFill>
                <a:latin typeface="メイリオ" panose="020B0604030504040204" pitchFamily="50" charset="-128"/>
                <a:ea typeface="メイリオ" panose="020B0604030504040204" pitchFamily="50" charset="-128"/>
              </a:rPr>
              <a:t> </a:t>
            </a:r>
            <a:r>
              <a:rPr lang="ja-JP" altLang="en-US" sz="1400" b="1" dirty="0">
                <a:latin typeface="メイリオ" panose="020B0604030504040204" pitchFamily="50" charset="-128"/>
                <a:ea typeface="メイリオ" panose="020B0604030504040204" pitchFamily="50" charset="-128"/>
              </a:rPr>
              <a:t>キャンペーン運営</a:t>
            </a:r>
            <a:r>
              <a:rPr lang="ja-JP" altLang="en-US" sz="1100" b="1" dirty="0">
                <a:latin typeface="メイリオ" panose="020B0604030504040204" pitchFamily="50" charset="-128"/>
                <a:ea typeface="メイリオ" panose="020B0604030504040204" pitchFamily="50" charset="-128"/>
              </a:rPr>
              <a:t> 　　</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マストバイ </a:t>
            </a:r>
            <a:r>
              <a:rPr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イベント連携</a:t>
            </a:r>
            <a:endParaRPr lang="ja-JP" altLang="en-US" dirty="0"/>
          </a:p>
        </p:txBody>
      </p:sp>
      <p:sp>
        <p:nvSpPr>
          <p:cNvPr id="18" name="テキスト ボックス 17">
            <a:extLst>
              <a:ext uri="{FF2B5EF4-FFF2-40B4-BE49-F238E27FC236}">
                <a16:creationId xmlns:a16="http://schemas.microsoft.com/office/drawing/2014/main" id="{940D4DE0-AB75-CD41-25F0-34679D19B5D4}"/>
              </a:ext>
            </a:extLst>
          </p:cNvPr>
          <p:cNvSpPr txBox="1"/>
          <p:nvPr/>
        </p:nvSpPr>
        <p:spPr>
          <a:xfrm>
            <a:off x="5248787" y="5811295"/>
            <a:ext cx="4963884" cy="307777"/>
          </a:xfrm>
          <a:prstGeom prst="rect">
            <a:avLst/>
          </a:prstGeom>
          <a:noFill/>
        </p:spPr>
        <p:txBody>
          <a:bodyPr wrap="square">
            <a:spAutoFit/>
          </a:bodyPr>
          <a:lstStyle/>
          <a:p>
            <a:r>
              <a:rPr lang="ja-JP" altLang="en-US" sz="1400" b="1" dirty="0">
                <a:solidFill>
                  <a:schemeClr val="tx1"/>
                </a:solidFill>
                <a:latin typeface="メイリオ" panose="020B0604030504040204" pitchFamily="50" charset="-128"/>
                <a:ea typeface="メイリオ" panose="020B0604030504040204" pitchFamily="50" charset="-128"/>
              </a:rPr>
              <a:t>商品購入数や</a:t>
            </a:r>
            <a:r>
              <a:rPr lang="ja-JP" altLang="en-US" sz="1400" b="1" dirty="0">
                <a:latin typeface="メイリオ" panose="020B0604030504040204" pitchFamily="50" charset="-128"/>
                <a:ea typeface="メイリオ" panose="020B0604030504040204" pitchFamily="50" charset="-128"/>
              </a:rPr>
              <a:t>イベント、</a:t>
            </a:r>
            <a:r>
              <a:rPr lang="en-US" altLang="ja-JP" sz="1400" b="1" dirty="0">
                <a:latin typeface="メイリオ" panose="020B0604030504040204" pitchFamily="50" charset="-128"/>
                <a:ea typeface="メイリオ" panose="020B0604030504040204" pitchFamily="50" charset="-128"/>
              </a:rPr>
              <a:t>CP</a:t>
            </a:r>
            <a:r>
              <a:rPr lang="ja-JP" altLang="en-US" sz="1400" b="1" dirty="0">
                <a:latin typeface="メイリオ" panose="020B0604030504040204" pitchFamily="50" charset="-128"/>
                <a:ea typeface="メイリオ" panose="020B0604030504040204" pitchFamily="50" charset="-128"/>
              </a:rPr>
              <a:t>への継続的参加</a:t>
            </a:r>
            <a:endParaRPr lang="ja-JP" altLang="en-US" sz="1800" b="1" dirty="0"/>
          </a:p>
        </p:txBody>
      </p:sp>
    </p:spTree>
    <p:extLst>
      <p:ext uri="{BB962C8B-B14F-4D97-AF65-F5344CB8AC3E}">
        <p14:creationId xmlns:p14="http://schemas.microsoft.com/office/powerpoint/2010/main" val="3136620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5A3DF-C10C-8FE5-7F9E-31ABEE07B25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EE3F49-35DE-76F6-E16B-C5295151470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5F65FCA-9F11-3F13-D2F2-A6E61F22080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ED16010-4596-5D53-EEA4-CE60ADBA0ED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FAC7DBDD-AB66-4379-9061-7EE7673C8D36}"/>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57B12960-F95F-F815-42F4-98678B7CBC86}"/>
              </a:ext>
            </a:extLst>
          </p:cNvPr>
          <p:cNvSpPr/>
          <p:nvPr/>
        </p:nvSpPr>
        <p:spPr>
          <a:xfrm>
            <a:off x="261257"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初期</a:t>
            </a:r>
          </a:p>
        </p:txBody>
      </p:sp>
      <p:sp>
        <p:nvSpPr>
          <p:cNvPr id="7" name="正方形/長方形 6">
            <a:extLst>
              <a:ext uri="{FF2B5EF4-FFF2-40B4-BE49-F238E27FC236}">
                <a16:creationId xmlns:a16="http://schemas.microsoft.com/office/drawing/2014/main" id="{2D73F25E-11E1-6B69-BF72-02319EB2875A}"/>
              </a:ext>
            </a:extLst>
          </p:cNvPr>
          <p:cNvSpPr/>
          <p:nvPr/>
        </p:nvSpPr>
        <p:spPr>
          <a:xfrm>
            <a:off x="3337560"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月次</a:t>
            </a:r>
          </a:p>
        </p:txBody>
      </p:sp>
      <p:sp>
        <p:nvSpPr>
          <p:cNvPr id="8" name="正方形/長方形 7">
            <a:extLst>
              <a:ext uri="{FF2B5EF4-FFF2-40B4-BE49-F238E27FC236}">
                <a16:creationId xmlns:a16="http://schemas.microsoft.com/office/drawing/2014/main" id="{199847F9-D2D7-C50C-BB87-1E906E928D4B}"/>
              </a:ext>
            </a:extLst>
          </p:cNvPr>
          <p:cNvSpPr/>
          <p:nvPr/>
        </p:nvSpPr>
        <p:spPr>
          <a:xfrm>
            <a:off x="261257"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tx1"/>
                </a:solidFill>
                <a:latin typeface="メイリオ" panose="020B0604030504040204" pitchFamily="50" charset="-128"/>
                <a:ea typeface="メイリオ" panose="020B0604030504040204" pitchFamily="50" charset="-128"/>
              </a:rPr>
              <a:t>20</a:t>
            </a:r>
            <a:r>
              <a:rPr kumimoji="1" lang="ja-JP" altLang="en-US" sz="3200" b="1" dirty="0">
                <a:solidFill>
                  <a:schemeClr val="tx1"/>
                </a:solidFill>
                <a:latin typeface="メイリオ" panose="020B0604030504040204" pitchFamily="50" charset="-128"/>
                <a:ea typeface="メイリオ" panose="020B0604030504040204" pitchFamily="50" charset="-128"/>
              </a:rPr>
              <a:t>万円</a:t>
            </a:r>
          </a:p>
        </p:txBody>
      </p:sp>
      <p:sp>
        <p:nvSpPr>
          <p:cNvPr id="10" name="正方形/長方形 9">
            <a:extLst>
              <a:ext uri="{FF2B5EF4-FFF2-40B4-BE49-F238E27FC236}">
                <a16:creationId xmlns:a16="http://schemas.microsoft.com/office/drawing/2014/main" id="{63A7B228-99E2-EBCF-6198-F3D1FAD9898F}"/>
              </a:ext>
            </a:extLst>
          </p:cNvPr>
          <p:cNvSpPr/>
          <p:nvPr/>
        </p:nvSpPr>
        <p:spPr>
          <a:xfrm>
            <a:off x="3337560"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200" b="1" dirty="0">
                <a:solidFill>
                  <a:schemeClr val="tx1"/>
                </a:solidFill>
                <a:latin typeface="メイリオ" panose="020B0604030504040204" pitchFamily="50" charset="-128"/>
                <a:ea typeface="メイリオ" panose="020B0604030504040204" pitchFamily="50" charset="-128"/>
              </a:rPr>
              <a:t>20</a:t>
            </a:r>
            <a:r>
              <a:rPr kumimoji="1" lang="ja-JP" altLang="en-US" sz="3200" b="1" dirty="0">
                <a:solidFill>
                  <a:schemeClr val="tx1"/>
                </a:solidFill>
                <a:latin typeface="メイリオ" panose="020B0604030504040204" pitchFamily="50" charset="-128"/>
                <a:ea typeface="メイリオ" panose="020B0604030504040204" pitchFamily="50" charset="-128"/>
              </a:rPr>
              <a:t>万円</a:t>
            </a:r>
            <a:r>
              <a:rPr kumimoji="1" lang="ja-JP" altLang="en-US" sz="2000" b="1"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2000" b="1" dirty="0">
                <a:solidFill>
                  <a:schemeClr val="tx1">
                    <a:lumMod val="50000"/>
                    <a:lumOff val="50000"/>
                  </a:schemeClr>
                </a:solidFill>
                <a:latin typeface="メイリオ" panose="020B0604030504040204" pitchFamily="50" charset="-128"/>
                <a:ea typeface="メイリオ" panose="020B0604030504040204" pitchFamily="50" charset="-128"/>
              </a:rPr>
              <a:t>+α </a:t>
            </a:r>
            <a:endParaRPr kumimoji="1" lang="ja-JP" altLang="en-US" sz="3200" b="1"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5" name="矢印: 右 14">
            <a:extLst>
              <a:ext uri="{FF2B5EF4-FFF2-40B4-BE49-F238E27FC236}">
                <a16:creationId xmlns:a16="http://schemas.microsoft.com/office/drawing/2014/main" id="{C9D5333B-E781-F21F-8A3E-D6FE2FD21602}"/>
              </a:ext>
            </a:extLst>
          </p:cNvPr>
          <p:cNvSpPr/>
          <p:nvPr/>
        </p:nvSpPr>
        <p:spPr>
          <a:xfrm>
            <a:off x="6379031" y="2281645"/>
            <a:ext cx="365760" cy="2795449"/>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EEF41587-0DB5-E870-CE7C-9CC369CE0FEE}"/>
              </a:ext>
            </a:extLst>
          </p:cNvPr>
          <p:cNvSpPr/>
          <p:nvPr/>
        </p:nvSpPr>
        <p:spPr>
          <a:xfrm>
            <a:off x="6744791" y="1672044"/>
            <a:ext cx="2899952" cy="4093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メイリオ" panose="020B0604030504040204" pitchFamily="50" charset="-128"/>
                <a:ea typeface="メイリオ" panose="020B0604030504040204" pitchFamily="50" charset="-128"/>
              </a:rPr>
              <a:t>6</a:t>
            </a:r>
            <a:r>
              <a:rPr kumimoji="1" lang="ja-JP" altLang="en-US" sz="1200" dirty="0">
                <a:solidFill>
                  <a:schemeClr val="bg1"/>
                </a:solidFill>
                <a:latin typeface="メイリオ" panose="020B0604030504040204" pitchFamily="50" charset="-128"/>
                <a:ea typeface="メイリオ" panose="020B0604030504040204" pitchFamily="50" charset="-128"/>
              </a:rPr>
              <a:t>か月後</a:t>
            </a:r>
          </a:p>
        </p:txBody>
      </p:sp>
      <p:sp>
        <p:nvSpPr>
          <p:cNvPr id="19" name="テキスト ボックス 18">
            <a:extLst>
              <a:ext uri="{FF2B5EF4-FFF2-40B4-BE49-F238E27FC236}">
                <a16:creationId xmlns:a16="http://schemas.microsoft.com/office/drawing/2014/main" id="{310A0391-C27F-47EB-C4DA-F30ADEFF5697}"/>
              </a:ext>
            </a:extLst>
          </p:cNvPr>
          <p:cNvSpPr txBox="1"/>
          <p:nvPr/>
        </p:nvSpPr>
        <p:spPr>
          <a:xfrm>
            <a:off x="444137"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A604517E-5D11-7843-773C-E3FD1B8C7C60}"/>
              </a:ext>
            </a:extLst>
          </p:cNvPr>
          <p:cNvSpPr txBox="1"/>
          <p:nvPr/>
        </p:nvSpPr>
        <p:spPr>
          <a:xfrm>
            <a:off x="3503024"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C4A8FBD8-A5AF-984F-36F3-947AA6D25DE9}"/>
              </a:ext>
            </a:extLst>
          </p:cNvPr>
          <p:cNvSpPr/>
          <p:nvPr/>
        </p:nvSpPr>
        <p:spPr>
          <a:xfrm>
            <a:off x="332016"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rPr>
              <a:t>プロフ設定</a:t>
            </a:r>
          </a:p>
        </p:txBody>
      </p:sp>
      <p:sp>
        <p:nvSpPr>
          <p:cNvPr id="25" name="正方形/長方形 24">
            <a:extLst>
              <a:ext uri="{FF2B5EF4-FFF2-40B4-BE49-F238E27FC236}">
                <a16:creationId xmlns:a16="http://schemas.microsoft.com/office/drawing/2014/main" id="{873C1A32-DE1E-D85A-180C-1A75241C4F24}"/>
              </a:ext>
            </a:extLst>
          </p:cNvPr>
          <p:cNvSpPr/>
          <p:nvPr/>
        </p:nvSpPr>
        <p:spPr>
          <a:xfrm>
            <a:off x="3408319"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rPr>
              <a:t>月次投稿</a:t>
            </a:r>
          </a:p>
        </p:txBody>
      </p:sp>
      <p:sp>
        <p:nvSpPr>
          <p:cNvPr id="27" name="正方形/長方形 26">
            <a:extLst>
              <a:ext uri="{FF2B5EF4-FFF2-40B4-BE49-F238E27FC236}">
                <a16:creationId xmlns:a16="http://schemas.microsoft.com/office/drawing/2014/main" id="{C25D5024-5D6E-0D20-5084-D887C5FBCAB9}"/>
              </a:ext>
            </a:extLst>
          </p:cNvPr>
          <p:cNvSpPr/>
          <p:nvPr/>
        </p:nvSpPr>
        <p:spPr>
          <a:xfrm>
            <a:off x="1581160"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有</a:t>
            </a:r>
          </a:p>
        </p:txBody>
      </p:sp>
      <p:sp>
        <p:nvSpPr>
          <p:cNvPr id="29" name="正方形/長方形 28">
            <a:extLst>
              <a:ext uri="{FF2B5EF4-FFF2-40B4-BE49-F238E27FC236}">
                <a16:creationId xmlns:a16="http://schemas.microsoft.com/office/drawing/2014/main" id="{E77B38CC-6FB3-2601-37C4-A87B4DFC868D}"/>
              </a:ext>
            </a:extLst>
          </p:cNvPr>
          <p:cNvSpPr/>
          <p:nvPr/>
        </p:nvSpPr>
        <p:spPr>
          <a:xfrm>
            <a:off x="4657463"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コラムに準ずる</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115A9264-B39A-757E-8405-E65513F35674}"/>
              </a:ext>
            </a:extLst>
          </p:cNvPr>
          <p:cNvSpPr/>
          <p:nvPr/>
        </p:nvSpPr>
        <p:spPr>
          <a:xfrm>
            <a:off x="332016"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rPr>
              <a:t>挨拶メッセ</a:t>
            </a:r>
            <a:endParaRPr kumimoji="1" lang="ja-JP" altLang="en-US" sz="1050" dirty="0">
              <a:solidFill>
                <a:schemeClr val="bg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4B713AEE-1C5C-F6A9-5475-72211BDE4D2B}"/>
              </a:ext>
            </a:extLst>
          </p:cNvPr>
          <p:cNvSpPr/>
          <p:nvPr/>
        </p:nvSpPr>
        <p:spPr>
          <a:xfrm>
            <a:off x="3408319"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Step</a:t>
            </a:r>
            <a:r>
              <a:rPr lang="ja-JP" altLang="en-US" sz="1050" dirty="0">
                <a:solidFill>
                  <a:schemeClr val="bg1"/>
                </a:solidFill>
                <a:latin typeface="メイリオ" panose="020B0604030504040204" pitchFamily="50" charset="-128"/>
                <a:ea typeface="メイリオ" panose="020B0604030504040204" pitchFamily="50" charset="-128"/>
              </a:rPr>
              <a:t>修正</a:t>
            </a:r>
            <a:endParaRPr kumimoji="1" lang="ja-JP" altLang="en-US" sz="1050" dirty="0">
              <a:solidFill>
                <a:schemeClr val="bg1"/>
              </a:solidFill>
              <a:latin typeface="メイリオ" panose="020B0604030504040204" pitchFamily="50" charset="-128"/>
              <a:ea typeface="メイリオ" panose="020B0604030504040204" pitchFamily="50" charset="-128"/>
            </a:endParaRPr>
          </a:p>
        </p:txBody>
      </p:sp>
      <p:sp>
        <p:nvSpPr>
          <p:cNvPr id="35" name="正方形/長方形 34">
            <a:extLst>
              <a:ext uri="{FF2B5EF4-FFF2-40B4-BE49-F238E27FC236}">
                <a16:creationId xmlns:a16="http://schemas.microsoft.com/office/drawing/2014/main" id="{BCAB041C-BD21-54BB-4B86-45F9272A0766}"/>
              </a:ext>
            </a:extLst>
          </p:cNvPr>
          <p:cNvSpPr/>
          <p:nvPr/>
        </p:nvSpPr>
        <p:spPr>
          <a:xfrm>
            <a:off x="1581160"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有</a:t>
            </a:r>
          </a:p>
        </p:txBody>
      </p:sp>
      <p:sp>
        <p:nvSpPr>
          <p:cNvPr id="37" name="正方形/長方形 36">
            <a:extLst>
              <a:ext uri="{FF2B5EF4-FFF2-40B4-BE49-F238E27FC236}">
                <a16:creationId xmlns:a16="http://schemas.microsoft.com/office/drawing/2014/main" id="{421C035C-EA8F-E32B-4A4F-7F063B546AE6}"/>
              </a:ext>
            </a:extLst>
          </p:cNvPr>
          <p:cNvSpPr/>
          <p:nvPr/>
        </p:nvSpPr>
        <p:spPr>
          <a:xfrm>
            <a:off x="4657463"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随時</a:t>
            </a:r>
          </a:p>
        </p:txBody>
      </p:sp>
      <p:sp>
        <p:nvSpPr>
          <p:cNvPr id="39" name="正方形/長方形 38">
            <a:extLst>
              <a:ext uri="{FF2B5EF4-FFF2-40B4-BE49-F238E27FC236}">
                <a16:creationId xmlns:a16="http://schemas.microsoft.com/office/drawing/2014/main" id="{3F01B448-7A1E-6B78-D0F5-86106D6EACBD}"/>
              </a:ext>
            </a:extLst>
          </p:cNvPr>
          <p:cNvSpPr/>
          <p:nvPr/>
        </p:nvSpPr>
        <p:spPr>
          <a:xfrm>
            <a:off x="332016"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bg1"/>
                </a:solidFill>
                <a:latin typeface="メイリオ" panose="020B0604030504040204" pitchFamily="50" charset="-128"/>
                <a:ea typeface="メイリオ" panose="020B0604030504040204" pitchFamily="50" charset="-128"/>
              </a:rPr>
              <a:t>Step</a:t>
            </a:r>
            <a:r>
              <a:rPr lang="ja-JP" altLang="en-US" sz="1050" dirty="0">
                <a:solidFill>
                  <a:schemeClr val="bg1"/>
                </a:solidFill>
                <a:latin typeface="メイリオ" panose="020B0604030504040204" pitchFamily="50" charset="-128"/>
                <a:ea typeface="メイリオ" panose="020B0604030504040204" pitchFamily="50" charset="-128"/>
              </a:rPr>
              <a:t>配信</a:t>
            </a:r>
            <a:endParaRPr kumimoji="1" lang="ja-JP" altLang="en-US" sz="1050" dirty="0">
              <a:solidFill>
                <a:schemeClr val="bg1"/>
              </a:solidFill>
              <a:latin typeface="メイリオ" panose="020B0604030504040204" pitchFamily="50" charset="-128"/>
              <a:ea typeface="メイリオ" panose="020B0604030504040204" pitchFamily="50" charset="-128"/>
            </a:endParaRPr>
          </a:p>
        </p:txBody>
      </p:sp>
      <p:sp>
        <p:nvSpPr>
          <p:cNvPr id="41" name="正方形/長方形 40">
            <a:extLst>
              <a:ext uri="{FF2B5EF4-FFF2-40B4-BE49-F238E27FC236}">
                <a16:creationId xmlns:a16="http://schemas.microsoft.com/office/drawing/2014/main" id="{9BA75733-C506-7AAF-689C-0566D38B8516}"/>
              </a:ext>
            </a:extLst>
          </p:cNvPr>
          <p:cNvSpPr/>
          <p:nvPr/>
        </p:nvSpPr>
        <p:spPr>
          <a:xfrm>
            <a:off x="3408319"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rPr>
              <a:t>メニュー修正</a:t>
            </a:r>
          </a:p>
        </p:txBody>
      </p:sp>
      <p:sp>
        <p:nvSpPr>
          <p:cNvPr id="43" name="正方形/長方形 42">
            <a:extLst>
              <a:ext uri="{FF2B5EF4-FFF2-40B4-BE49-F238E27FC236}">
                <a16:creationId xmlns:a16="http://schemas.microsoft.com/office/drawing/2014/main" id="{CA10D951-0E85-C8B0-A660-1CFDD75944A1}"/>
              </a:ext>
            </a:extLst>
          </p:cNvPr>
          <p:cNvSpPr/>
          <p:nvPr/>
        </p:nvSpPr>
        <p:spPr>
          <a:xfrm>
            <a:off x="1581160"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有（</a:t>
            </a:r>
            <a:r>
              <a:rPr lang="en-US" altLang="ja-JP" sz="1050" b="1" dirty="0">
                <a:solidFill>
                  <a:schemeClr val="tx1"/>
                </a:solidFill>
                <a:latin typeface="メイリオ" panose="020B0604030504040204" pitchFamily="50" charset="-128"/>
                <a:ea typeface="メイリオ" panose="020B0604030504040204" pitchFamily="50" charset="-128"/>
              </a:rPr>
              <a:t>10</a:t>
            </a:r>
            <a:r>
              <a:rPr lang="ja-JP" altLang="en-US" sz="1050" b="1" dirty="0">
                <a:solidFill>
                  <a:schemeClr val="tx1"/>
                </a:solidFill>
                <a:latin typeface="メイリオ" panose="020B0604030504040204" pitchFamily="50" charset="-128"/>
                <a:ea typeface="メイリオ" panose="020B0604030504040204" pitchFamily="50" charset="-128"/>
              </a:rPr>
              <a:t>本程度想定）</a:t>
            </a:r>
          </a:p>
        </p:txBody>
      </p:sp>
      <p:sp>
        <p:nvSpPr>
          <p:cNvPr id="46" name="正方形/長方形 45">
            <a:extLst>
              <a:ext uri="{FF2B5EF4-FFF2-40B4-BE49-F238E27FC236}">
                <a16:creationId xmlns:a16="http://schemas.microsoft.com/office/drawing/2014/main" id="{5CB780A3-73E3-5BDA-9BFB-9390DF84F0D0}"/>
              </a:ext>
            </a:extLst>
          </p:cNvPr>
          <p:cNvSpPr/>
          <p:nvPr/>
        </p:nvSpPr>
        <p:spPr>
          <a:xfrm>
            <a:off x="4657463"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随時</a:t>
            </a:r>
          </a:p>
        </p:txBody>
      </p:sp>
      <p:sp>
        <p:nvSpPr>
          <p:cNvPr id="48" name="正方形/長方形 47">
            <a:extLst>
              <a:ext uri="{FF2B5EF4-FFF2-40B4-BE49-F238E27FC236}">
                <a16:creationId xmlns:a16="http://schemas.microsoft.com/office/drawing/2014/main" id="{E59FEFFB-8267-7E04-F67D-CEB5CB6CCE4A}"/>
              </a:ext>
            </a:extLst>
          </p:cNvPr>
          <p:cNvSpPr/>
          <p:nvPr/>
        </p:nvSpPr>
        <p:spPr>
          <a:xfrm>
            <a:off x="332016"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rPr>
              <a:t>リッチメニュー</a:t>
            </a:r>
          </a:p>
        </p:txBody>
      </p:sp>
      <p:sp>
        <p:nvSpPr>
          <p:cNvPr id="50" name="正方形/長方形 49">
            <a:extLst>
              <a:ext uri="{FF2B5EF4-FFF2-40B4-BE49-F238E27FC236}">
                <a16:creationId xmlns:a16="http://schemas.microsoft.com/office/drawing/2014/main" id="{9A17F9B0-0885-311C-7DC8-7C9FF52B6FF3}"/>
              </a:ext>
            </a:extLst>
          </p:cNvPr>
          <p:cNvSpPr/>
          <p:nvPr/>
        </p:nvSpPr>
        <p:spPr>
          <a:xfrm>
            <a:off x="3408319"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rPr>
              <a:t>ツール保守</a:t>
            </a:r>
          </a:p>
        </p:txBody>
      </p:sp>
      <p:sp>
        <p:nvSpPr>
          <p:cNvPr id="52" name="正方形/長方形 51">
            <a:extLst>
              <a:ext uri="{FF2B5EF4-FFF2-40B4-BE49-F238E27FC236}">
                <a16:creationId xmlns:a16="http://schemas.microsoft.com/office/drawing/2014/main" id="{F6370A2A-1C3A-FB9F-5AA2-1D633B4A8081}"/>
              </a:ext>
            </a:extLst>
          </p:cNvPr>
          <p:cNvSpPr/>
          <p:nvPr/>
        </p:nvSpPr>
        <p:spPr>
          <a:xfrm>
            <a:off x="1581160"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有</a:t>
            </a:r>
          </a:p>
        </p:txBody>
      </p:sp>
      <p:sp>
        <p:nvSpPr>
          <p:cNvPr id="54" name="正方形/長方形 53">
            <a:extLst>
              <a:ext uri="{FF2B5EF4-FFF2-40B4-BE49-F238E27FC236}">
                <a16:creationId xmlns:a16="http://schemas.microsoft.com/office/drawing/2014/main" id="{F4669313-6B42-E8D5-C8B6-A97BB8BC94F4}"/>
              </a:ext>
            </a:extLst>
          </p:cNvPr>
          <p:cNvSpPr/>
          <p:nvPr/>
        </p:nvSpPr>
        <p:spPr>
          <a:xfrm>
            <a:off x="4657463"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有</a:t>
            </a:r>
          </a:p>
        </p:txBody>
      </p:sp>
      <p:sp>
        <p:nvSpPr>
          <p:cNvPr id="56" name="正方形/長方形 55">
            <a:extLst>
              <a:ext uri="{FF2B5EF4-FFF2-40B4-BE49-F238E27FC236}">
                <a16:creationId xmlns:a16="http://schemas.microsoft.com/office/drawing/2014/main" id="{570C1A4B-626E-BC19-A80A-EBC829E90447}"/>
              </a:ext>
            </a:extLst>
          </p:cNvPr>
          <p:cNvSpPr/>
          <p:nvPr/>
        </p:nvSpPr>
        <p:spPr>
          <a:xfrm>
            <a:off x="332016"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rPr>
              <a:t>ツール契約</a:t>
            </a:r>
          </a:p>
        </p:txBody>
      </p:sp>
      <p:sp>
        <p:nvSpPr>
          <p:cNvPr id="58" name="正方形/長方形 57">
            <a:extLst>
              <a:ext uri="{FF2B5EF4-FFF2-40B4-BE49-F238E27FC236}">
                <a16:creationId xmlns:a16="http://schemas.microsoft.com/office/drawing/2014/main" id="{698C9C70-FB31-54F8-9443-6462495BED4A}"/>
              </a:ext>
            </a:extLst>
          </p:cNvPr>
          <p:cNvSpPr/>
          <p:nvPr/>
        </p:nvSpPr>
        <p:spPr>
          <a:xfrm>
            <a:off x="3408319"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rPr>
              <a:t>従量課金</a:t>
            </a:r>
          </a:p>
        </p:txBody>
      </p:sp>
      <p:sp>
        <p:nvSpPr>
          <p:cNvPr id="60" name="正方形/長方形 59">
            <a:extLst>
              <a:ext uri="{FF2B5EF4-FFF2-40B4-BE49-F238E27FC236}">
                <a16:creationId xmlns:a16="http://schemas.microsoft.com/office/drawing/2014/main" id="{DB72ABBD-91D1-F375-5833-50505F586EBE}"/>
              </a:ext>
            </a:extLst>
          </p:cNvPr>
          <p:cNvSpPr/>
          <p:nvPr/>
        </p:nvSpPr>
        <p:spPr>
          <a:xfrm>
            <a:off x="1581160"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有（代行）</a:t>
            </a:r>
          </a:p>
        </p:txBody>
      </p:sp>
      <p:sp>
        <p:nvSpPr>
          <p:cNvPr id="62" name="正方形/長方形 61">
            <a:extLst>
              <a:ext uri="{FF2B5EF4-FFF2-40B4-BE49-F238E27FC236}">
                <a16:creationId xmlns:a16="http://schemas.microsoft.com/office/drawing/2014/main" id="{45C7D931-8FBA-8147-09CA-92E32FE63F69}"/>
              </a:ext>
            </a:extLst>
          </p:cNvPr>
          <p:cNvSpPr/>
          <p:nvPr/>
        </p:nvSpPr>
        <p:spPr>
          <a:xfrm>
            <a:off x="4657463"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別途</a:t>
            </a:r>
          </a:p>
        </p:txBody>
      </p:sp>
      <p:sp>
        <p:nvSpPr>
          <p:cNvPr id="64" name="正方形/長方形 63">
            <a:extLst>
              <a:ext uri="{FF2B5EF4-FFF2-40B4-BE49-F238E27FC236}">
                <a16:creationId xmlns:a16="http://schemas.microsoft.com/office/drawing/2014/main" id="{2BD353F9-D019-DB64-0304-683FC1AECA74}"/>
              </a:ext>
            </a:extLst>
          </p:cNvPr>
          <p:cNvSpPr/>
          <p:nvPr/>
        </p:nvSpPr>
        <p:spPr>
          <a:xfrm>
            <a:off x="332016" y="5611884"/>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rPr>
              <a:t>タグ・</a:t>
            </a:r>
            <a:r>
              <a:rPr lang="en-US" altLang="ja-JP" sz="1050" dirty="0">
                <a:solidFill>
                  <a:schemeClr val="bg1"/>
                </a:solidFill>
                <a:latin typeface="メイリオ" panose="020B0604030504040204" pitchFamily="50" charset="-128"/>
                <a:ea typeface="メイリオ" panose="020B0604030504040204" pitchFamily="50" charset="-128"/>
              </a:rPr>
              <a:t>GA</a:t>
            </a:r>
            <a:r>
              <a:rPr lang="ja-JP" altLang="en-US" sz="1050" dirty="0">
                <a:solidFill>
                  <a:schemeClr val="bg1"/>
                </a:solidFill>
                <a:latin typeface="メイリオ" panose="020B0604030504040204" pitchFamily="50" charset="-128"/>
                <a:ea typeface="メイリオ" panose="020B0604030504040204" pitchFamily="50" charset="-128"/>
              </a:rPr>
              <a:t>設定</a:t>
            </a:r>
            <a:endParaRPr kumimoji="1" lang="ja-JP" altLang="en-US" sz="1050" dirty="0">
              <a:solidFill>
                <a:schemeClr val="bg1"/>
              </a:solidFill>
              <a:latin typeface="メイリオ" panose="020B0604030504040204" pitchFamily="50" charset="-128"/>
              <a:ea typeface="メイリオ" panose="020B0604030504040204" pitchFamily="50" charset="-128"/>
            </a:endParaRPr>
          </a:p>
        </p:txBody>
      </p:sp>
      <p:sp>
        <p:nvSpPr>
          <p:cNvPr id="66" name="正方形/長方形 65">
            <a:extLst>
              <a:ext uri="{FF2B5EF4-FFF2-40B4-BE49-F238E27FC236}">
                <a16:creationId xmlns:a16="http://schemas.microsoft.com/office/drawing/2014/main" id="{FE41AB20-AB68-BF5F-43C9-2A5086821C68}"/>
              </a:ext>
            </a:extLst>
          </p:cNvPr>
          <p:cNvSpPr/>
          <p:nvPr/>
        </p:nvSpPr>
        <p:spPr>
          <a:xfrm>
            <a:off x="3408319" y="5611884"/>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rPr>
              <a:t>個別チャット</a:t>
            </a:r>
          </a:p>
        </p:txBody>
      </p:sp>
      <p:sp>
        <p:nvSpPr>
          <p:cNvPr id="68" name="正方形/長方形 67">
            <a:extLst>
              <a:ext uri="{FF2B5EF4-FFF2-40B4-BE49-F238E27FC236}">
                <a16:creationId xmlns:a16="http://schemas.microsoft.com/office/drawing/2014/main" id="{0C362F7C-F32D-EBD7-B8B5-3AD580B3464A}"/>
              </a:ext>
            </a:extLst>
          </p:cNvPr>
          <p:cNvSpPr/>
          <p:nvPr/>
        </p:nvSpPr>
        <p:spPr>
          <a:xfrm>
            <a:off x="1581160"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有</a:t>
            </a:r>
          </a:p>
        </p:txBody>
      </p:sp>
      <p:sp>
        <p:nvSpPr>
          <p:cNvPr id="70" name="正方形/長方形 69">
            <a:extLst>
              <a:ext uri="{FF2B5EF4-FFF2-40B4-BE49-F238E27FC236}">
                <a16:creationId xmlns:a16="http://schemas.microsoft.com/office/drawing/2014/main" id="{F5281D63-B2A2-FEAB-75B0-2FFB9F84A7A2}"/>
              </a:ext>
            </a:extLst>
          </p:cNvPr>
          <p:cNvSpPr/>
          <p:nvPr/>
        </p:nvSpPr>
        <p:spPr>
          <a:xfrm>
            <a:off x="4657463"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0000"/>
                </a:solidFill>
                <a:latin typeface="メイリオ" panose="020B0604030504040204" pitchFamily="50" charset="-128"/>
                <a:ea typeface="メイリオ" panose="020B0604030504040204" pitchFamily="50" charset="-128"/>
              </a:rPr>
              <a:t>対応なし</a:t>
            </a:r>
            <a:r>
              <a:rPr kumimoji="1" lang="ja-JP" altLang="en-US" sz="1050" b="1" dirty="0">
                <a:solidFill>
                  <a:schemeClr val="tx1"/>
                </a:solidFill>
                <a:latin typeface="メイリオ" panose="020B0604030504040204" pitchFamily="50" charset="-128"/>
                <a:ea typeface="メイリオ" panose="020B0604030504040204" pitchFamily="50" charset="-128"/>
              </a:rPr>
              <a:t> </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貴社対応</a:t>
            </a:r>
            <a:endParaRPr kumimoji="1" lang="en-US" altLang="ja-JP" sz="1050" b="1" dirty="0">
              <a:solidFill>
                <a:schemeClr val="tx1"/>
              </a:solidFill>
              <a:latin typeface="メイリオ" panose="020B0604030504040204" pitchFamily="50" charset="-128"/>
              <a:ea typeface="メイリオ" panose="020B0604030504040204" pitchFamily="50" charset="-128"/>
            </a:endParaRPr>
          </a:p>
        </p:txBody>
      </p:sp>
      <p:sp>
        <p:nvSpPr>
          <p:cNvPr id="72" name="正方形/長方形 71">
            <a:extLst>
              <a:ext uri="{FF2B5EF4-FFF2-40B4-BE49-F238E27FC236}">
                <a16:creationId xmlns:a16="http://schemas.microsoft.com/office/drawing/2014/main" id="{41EA0EB1-4DF0-53BD-91A2-2862011C9F87}"/>
              </a:ext>
            </a:extLst>
          </p:cNvPr>
          <p:cNvSpPr/>
          <p:nvPr/>
        </p:nvSpPr>
        <p:spPr>
          <a:xfrm>
            <a:off x="332016" y="603852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rPr>
              <a:t>通知メッセ開発</a:t>
            </a:r>
          </a:p>
        </p:txBody>
      </p:sp>
      <p:sp>
        <p:nvSpPr>
          <p:cNvPr id="76" name="正方形/長方形 75">
            <a:extLst>
              <a:ext uri="{FF2B5EF4-FFF2-40B4-BE49-F238E27FC236}">
                <a16:creationId xmlns:a16="http://schemas.microsoft.com/office/drawing/2014/main" id="{5E4F37C9-A2B1-A6BD-C3F8-B77AD0EDEFFA}"/>
              </a:ext>
            </a:extLst>
          </p:cNvPr>
          <p:cNvSpPr/>
          <p:nvPr/>
        </p:nvSpPr>
        <p:spPr>
          <a:xfrm>
            <a:off x="1581160" y="603852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有</a:t>
            </a:r>
          </a:p>
        </p:txBody>
      </p:sp>
      <p:sp>
        <p:nvSpPr>
          <p:cNvPr id="80" name="正方形/長方形 79">
            <a:extLst>
              <a:ext uri="{FF2B5EF4-FFF2-40B4-BE49-F238E27FC236}">
                <a16:creationId xmlns:a16="http://schemas.microsoft.com/office/drawing/2014/main" id="{86997BA3-366F-8070-9874-EFC0BCA759C0}"/>
              </a:ext>
            </a:extLst>
          </p:cNvPr>
          <p:cNvSpPr/>
          <p:nvPr/>
        </p:nvSpPr>
        <p:spPr>
          <a:xfrm>
            <a:off x="6886308" y="2281645"/>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友だち数</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82" name="正方形/長方形 81">
            <a:extLst>
              <a:ext uri="{FF2B5EF4-FFF2-40B4-BE49-F238E27FC236}">
                <a16:creationId xmlns:a16="http://schemas.microsoft.com/office/drawing/2014/main" id="{C030D946-0A5B-51B8-4D2E-5BECA1C1AE9E}"/>
              </a:ext>
            </a:extLst>
          </p:cNvPr>
          <p:cNvSpPr/>
          <p:nvPr/>
        </p:nvSpPr>
        <p:spPr>
          <a:xfrm>
            <a:off x="6886308" y="2708282"/>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ブロック率</a:t>
            </a:r>
          </a:p>
        </p:txBody>
      </p:sp>
      <p:sp>
        <p:nvSpPr>
          <p:cNvPr id="84" name="正方形/長方形 83">
            <a:extLst>
              <a:ext uri="{FF2B5EF4-FFF2-40B4-BE49-F238E27FC236}">
                <a16:creationId xmlns:a16="http://schemas.microsoft.com/office/drawing/2014/main" id="{83345E18-97D5-E0ED-7743-080BEDECAE73}"/>
              </a:ext>
            </a:extLst>
          </p:cNvPr>
          <p:cNvSpPr/>
          <p:nvPr/>
        </p:nvSpPr>
        <p:spPr>
          <a:xfrm>
            <a:off x="6886308" y="3134919"/>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アクティブ数</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86" name="正方形/長方形 85">
            <a:extLst>
              <a:ext uri="{FF2B5EF4-FFF2-40B4-BE49-F238E27FC236}">
                <a16:creationId xmlns:a16="http://schemas.microsoft.com/office/drawing/2014/main" id="{C8115FEC-D115-724E-119C-CA4DA501F779}"/>
              </a:ext>
            </a:extLst>
          </p:cNvPr>
          <p:cNvSpPr/>
          <p:nvPr/>
        </p:nvSpPr>
        <p:spPr>
          <a:xfrm>
            <a:off x="6886308" y="3561556"/>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月次流入</a:t>
            </a:r>
          </a:p>
        </p:txBody>
      </p:sp>
      <p:sp>
        <p:nvSpPr>
          <p:cNvPr id="9" name="正方形/長方形 8">
            <a:extLst>
              <a:ext uri="{FF2B5EF4-FFF2-40B4-BE49-F238E27FC236}">
                <a16:creationId xmlns:a16="http://schemas.microsoft.com/office/drawing/2014/main" id="{2AA6A633-D9B9-B37F-7C1A-014FB813FA06}"/>
              </a:ext>
            </a:extLst>
          </p:cNvPr>
          <p:cNvSpPr/>
          <p:nvPr/>
        </p:nvSpPr>
        <p:spPr>
          <a:xfrm>
            <a:off x="8164301" y="2281645"/>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tx1"/>
                </a:solidFill>
                <a:latin typeface="メイリオ" panose="020B0604030504040204" pitchFamily="50" charset="-128"/>
                <a:ea typeface="メイリオ" panose="020B0604030504040204" pitchFamily="50" charset="-128"/>
              </a:rPr>
              <a:t>13,000</a:t>
            </a:r>
            <a:r>
              <a:rPr lang="ja-JP" altLang="en-US" sz="1050" dirty="0">
                <a:solidFill>
                  <a:schemeClr val="tx1"/>
                </a:solidFill>
                <a:latin typeface="メイリオ" panose="020B0604030504040204" pitchFamily="50" charset="-128"/>
                <a:ea typeface="メイリオ" panose="020B0604030504040204" pitchFamily="50" charset="-128"/>
              </a:rPr>
              <a:t>前後</a:t>
            </a:r>
            <a:endParaRPr kumimoji="1" lang="ja-JP" altLang="en-US" sz="1050"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CC94D28D-94E4-A4B2-0E17-AC880DFFC3F2}"/>
              </a:ext>
            </a:extLst>
          </p:cNvPr>
          <p:cNvSpPr/>
          <p:nvPr/>
        </p:nvSpPr>
        <p:spPr>
          <a:xfrm>
            <a:off x="8164301" y="2708282"/>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solidFill>
                <a:latin typeface="メイリオ" panose="020B0604030504040204" pitchFamily="50" charset="-128"/>
                <a:ea typeface="メイリオ" panose="020B0604030504040204" pitchFamily="50" charset="-128"/>
              </a:rPr>
              <a:t>30</a:t>
            </a:r>
            <a:r>
              <a:rPr kumimoji="1" lang="ja-JP" altLang="en-US" sz="1050" dirty="0">
                <a:solidFill>
                  <a:schemeClr val="tx1"/>
                </a:solidFill>
                <a:latin typeface="メイリオ" panose="020B0604030504040204" pitchFamily="50" charset="-128"/>
                <a:ea typeface="メイリオ" panose="020B0604030504040204" pitchFamily="50" charset="-128"/>
              </a:rPr>
              <a:t>％</a:t>
            </a:r>
          </a:p>
        </p:txBody>
      </p:sp>
      <p:sp>
        <p:nvSpPr>
          <p:cNvPr id="14" name="正方形/長方形 13">
            <a:extLst>
              <a:ext uri="{FF2B5EF4-FFF2-40B4-BE49-F238E27FC236}">
                <a16:creationId xmlns:a16="http://schemas.microsoft.com/office/drawing/2014/main" id="{FA9E580B-2203-AF06-37ED-22A323C4D7E0}"/>
              </a:ext>
            </a:extLst>
          </p:cNvPr>
          <p:cNvSpPr/>
          <p:nvPr/>
        </p:nvSpPr>
        <p:spPr>
          <a:xfrm>
            <a:off x="8164301" y="313491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solidFill>
                <a:latin typeface="メイリオ" panose="020B0604030504040204" pitchFamily="50" charset="-128"/>
                <a:ea typeface="メイリオ" panose="020B0604030504040204" pitchFamily="50" charset="-128"/>
              </a:rPr>
              <a:t>9,000</a:t>
            </a:r>
            <a:r>
              <a:rPr kumimoji="1" lang="ja-JP" altLang="en-US" sz="1050" dirty="0">
                <a:solidFill>
                  <a:schemeClr val="tx1"/>
                </a:solidFill>
                <a:latin typeface="メイリオ" panose="020B0604030504040204" pitchFamily="50" charset="-128"/>
                <a:ea typeface="メイリオ" panose="020B0604030504040204" pitchFamily="50" charset="-128"/>
              </a:rPr>
              <a:t>人程度</a:t>
            </a:r>
          </a:p>
        </p:txBody>
      </p:sp>
      <p:sp>
        <p:nvSpPr>
          <p:cNvPr id="18" name="正方形/長方形 17">
            <a:extLst>
              <a:ext uri="{FF2B5EF4-FFF2-40B4-BE49-F238E27FC236}">
                <a16:creationId xmlns:a16="http://schemas.microsoft.com/office/drawing/2014/main" id="{D8257CDF-9FD5-0F74-81D6-DB4083EEF9B6}"/>
              </a:ext>
            </a:extLst>
          </p:cNvPr>
          <p:cNvSpPr/>
          <p:nvPr/>
        </p:nvSpPr>
        <p:spPr>
          <a:xfrm>
            <a:off x="8164301" y="356155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tx1"/>
                </a:solidFill>
                <a:latin typeface="メイリオ" panose="020B0604030504040204" pitchFamily="50" charset="-128"/>
                <a:ea typeface="メイリオ" panose="020B0604030504040204" pitchFamily="50" charset="-128"/>
              </a:rPr>
              <a:t>1,</a:t>
            </a:r>
            <a:r>
              <a:rPr kumimoji="1" lang="en-US" altLang="ja-JP" sz="1050" dirty="0">
                <a:solidFill>
                  <a:schemeClr val="tx1"/>
                </a:solidFill>
                <a:latin typeface="メイリオ" panose="020B0604030504040204" pitchFamily="50" charset="-128"/>
                <a:ea typeface="メイリオ" panose="020B0604030504040204" pitchFamily="50" charset="-128"/>
              </a:rPr>
              <a:t>000</a:t>
            </a:r>
            <a:r>
              <a:rPr kumimoji="1" lang="ja-JP" altLang="en-US" sz="1050" dirty="0">
                <a:solidFill>
                  <a:schemeClr val="tx1"/>
                </a:solidFill>
                <a:latin typeface="メイリオ" panose="020B0604030504040204" pitchFamily="50" charset="-128"/>
                <a:ea typeface="メイリオ" panose="020B0604030504040204" pitchFamily="50" charset="-128"/>
              </a:rPr>
              <a:t>程度</a:t>
            </a:r>
          </a:p>
        </p:txBody>
      </p:sp>
      <p:sp>
        <p:nvSpPr>
          <p:cNvPr id="22" name="正方形/長方形 21">
            <a:extLst>
              <a:ext uri="{FF2B5EF4-FFF2-40B4-BE49-F238E27FC236}">
                <a16:creationId xmlns:a16="http://schemas.microsoft.com/office/drawing/2014/main" id="{E9D6EF79-2762-E3E7-C4FF-8ABEB3AF0D2E}"/>
              </a:ext>
            </a:extLst>
          </p:cNvPr>
          <p:cNvSpPr/>
          <p:nvPr/>
        </p:nvSpPr>
        <p:spPr>
          <a:xfrm>
            <a:off x="6886308" y="3988193"/>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月次</a:t>
            </a:r>
            <a:r>
              <a:rPr kumimoji="1" lang="en-US" altLang="ja-JP" sz="1200" b="1" dirty="0">
                <a:solidFill>
                  <a:schemeClr val="bg1"/>
                </a:solidFill>
                <a:latin typeface="メイリオ" panose="020B0604030504040204" pitchFamily="50" charset="-128"/>
                <a:ea typeface="メイリオ" panose="020B0604030504040204" pitchFamily="50" charset="-128"/>
              </a:rPr>
              <a:t>PV</a:t>
            </a:r>
            <a:r>
              <a:rPr kumimoji="1" lang="ja-JP" altLang="en-US" sz="1200" b="1" dirty="0">
                <a:solidFill>
                  <a:schemeClr val="bg1"/>
                </a:solidFill>
                <a:latin typeface="メイリオ" panose="020B0604030504040204" pitchFamily="50" charset="-128"/>
                <a:ea typeface="メイリオ" panose="020B0604030504040204" pitchFamily="50" charset="-128"/>
              </a:rPr>
              <a:t>増加</a:t>
            </a:r>
          </a:p>
        </p:txBody>
      </p:sp>
      <p:sp>
        <p:nvSpPr>
          <p:cNvPr id="26" name="正方形/長方形 25">
            <a:extLst>
              <a:ext uri="{FF2B5EF4-FFF2-40B4-BE49-F238E27FC236}">
                <a16:creationId xmlns:a16="http://schemas.microsoft.com/office/drawing/2014/main" id="{EBA283C4-73C8-787D-46CC-5D51614694C7}"/>
              </a:ext>
            </a:extLst>
          </p:cNvPr>
          <p:cNvSpPr/>
          <p:nvPr/>
        </p:nvSpPr>
        <p:spPr>
          <a:xfrm>
            <a:off x="8164301" y="398819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tx1"/>
                </a:solidFill>
                <a:latin typeface="メイリオ" panose="020B0604030504040204" pitchFamily="50" charset="-128"/>
                <a:ea typeface="メイリオ" panose="020B0604030504040204" pitchFamily="50" charset="-128"/>
              </a:rPr>
              <a:t>4</a:t>
            </a:r>
            <a:r>
              <a:rPr kumimoji="1" lang="en-US" altLang="ja-JP" sz="1050" dirty="0">
                <a:solidFill>
                  <a:schemeClr val="tx1"/>
                </a:solidFill>
                <a:latin typeface="メイリオ" panose="020B0604030504040204" pitchFamily="50" charset="-128"/>
                <a:ea typeface="メイリオ" panose="020B0604030504040204" pitchFamily="50" charset="-128"/>
              </a:rPr>
              <a:t>,000</a:t>
            </a:r>
            <a:r>
              <a:rPr kumimoji="1" lang="ja-JP" altLang="en-US" sz="1050" dirty="0">
                <a:solidFill>
                  <a:schemeClr val="tx1"/>
                </a:solidFill>
                <a:latin typeface="メイリオ" panose="020B0604030504040204" pitchFamily="50" charset="-128"/>
                <a:ea typeface="メイリオ" panose="020B0604030504040204" pitchFamily="50" charset="-128"/>
              </a:rPr>
              <a:t>件</a:t>
            </a:r>
          </a:p>
        </p:txBody>
      </p:sp>
      <p:sp>
        <p:nvSpPr>
          <p:cNvPr id="11" name="テキスト ボックス 10">
            <a:extLst>
              <a:ext uri="{FF2B5EF4-FFF2-40B4-BE49-F238E27FC236}">
                <a16:creationId xmlns:a16="http://schemas.microsoft.com/office/drawing/2014/main" id="{B929C50F-2665-3386-8189-7F9435CF5269}"/>
              </a:ext>
            </a:extLst>
          </p:cNvPr>
          <p:cNvSpPr txBox="1"/>
          <p:nvPr/>
        </p:nvSpPr>
        <p:spPr>
          <a:xfrm>
            <a:off x="3408319" y="6145757"/>
            <a:ext cx="2723057" cy="253916"/>
          </a:xfrm>
          <a:prstGeom prst="rect">
            <a:avLst/>
          </a:prstGeom>
          <a:noFill/>
        </p:spPr>
        <p:txBody>
          <a:bodyPr wrap="square">
            <a:spAutoFit/>
          </a:bodyPr>
          <a:lstStyle/>
          <a:p>
            <a:pPr algn="ct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媒体費については、ご相談の上で調整</a:t>
            </a:r>
          </a:p>
        </p:txBody>
      </p:sp>
    </p:spTree>
    <p:extLst>
      <p:ext uri="{BB962C8B-B14F-4D97-AF65-F5344CB8AC3E}">
        <p14:creationId xmlns:p14="http://schemas.microsoft.com/office/powerpoint/2010/main" val="32972215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94BEB-009A-B205-F056-C0A4A7EC74B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8B053BE-8B30-9364-6C34-EB1FF63BBC9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930D2F66-9C3F-E63B-8E95-4CC2E04B5A4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131B7CF5-2776-F770-3C36-63F4D43AD11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想定の費用対効果（詳細）</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E60BE6AA-B4D9-CEF6-2EB7-4D6A8F9D8FE2}"/>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EF605292-259C-008C-231D-F2C24748CB5F}"/>
              </a:ext>
            </a:extLst>
          </p:cNvPr>
          <p:cNvSpPr txBox="1"/>
          <p:nvPr/>
        </p:nvSpPr>
        <p:spPr>
          <a:xfrm>
            <a:off x="474859" y="1618534"/>
            <a:ext cx="6514857" cy="276959"/>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200" dirty="0">
                <a:solidFill>
                  <a:schemeClr val="tx2"/>
                </a:solidFill>
                <a:latin typeface="Meiryo"/>
                <a:ea typeface="Meiryo"/>
                <a:cs typeface="Meiryo"/>
                <a:sym typeface="Meiryo"/>
              </a:rPr>
              <a:t>想定の費用対効果（詳細）</a:t>
            </a:r>
            <a:endParaRPr sz="1200" dirty="0">
              <a:solidFill>
                <a:schemeClr val="tx2"/>
              </a:solidFill>
              <a:latin typeface="Meiryo"/>
              <a:ea typeface="Meiryo"/>
              <a:cs typeface="Meiryo"/>
              <a:sym typeface="Meiryo"/>
            </a:endParaRPr>
          </a:p>
        </p:txBody>
      </p:sp>
      <p:pic>
        <p:nvPicPr>
          <p:cNvPr id="7" name="図 6">
            <a:extLst>
              <a:ext uri="{FF2B5EF4-FFF2-40B4-BE49-F238E27FC236}">
                <a16:creationId xmlns:a16="http://schemas.microsoft.com/office/drawing/2014/main" id="{F2B315AB-676E-5A0A-6ED8-9C9741AA3EFC}"/>
              </a:ext>
            </a:extLst>
          </p:cNvPr>
          <p:cNvPicPr>
            <a:picLocks noChangeAspect="1"/>
          </p:cNvPicPr>
          <p:nvPr/>
        </p:nvPicPr>
        <p:blipFill>
          <a:blip r:embed="rId3"/>
          <a:stretch>
            <a:fillRect/>
          </a:stretch>
        </p:blipFill>
        <p:spPr>
          <a:xfrm>
            <a:off x="343745" y="2021542"/>
            <a:ext cx="9218511" cy="3706744"/>
          </a:xfrm>
          <a:prstGeom prst="rect">
            <a:avLst/>
          </a:prstGeom>
        </p:spPr>
      </p:pic>
    </p:spTree>
    <p:extLst>
      <p:ext uri="{BB962C8B-B14F-4D97-AF65-F5344CB8AC3E}">
        <p14:creationId xmlns:p14="http://schemas.microsoft.com/office/powerpoint/2010/main" val="38799512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841248"/>
            <a:ext cx="9052560" cy="261610"/>
          </a:xfrm>
          <a:prstGeom prst="rect">
            <a:avLst/>
          </a:prstGeom>
          <a:noFill/>
        </p:spPr>
        <p:txBody>
          <a:bodyPr wrap="square" lIns="0" tIns="0" rIns="0" bIns="0" anchor="t">
            <a:spAutoFit/>
          </a:bodyPr>
          <a:lstStyle/>
          <a:p>
            <a:pPr algn="l"/>
            <a:r>
              <a:rPr sz="1700" b="1">
                <a:solidFill>
                  <a:srgbClr val="23272E"/>
                </a:solidFill>
                <a:latin typeface="メイリオ" panose="020B0604030504040204" pitchFamily="50" charset="-128"/>
                <a:ea typeface="メイリオ" panose="020B0604030504040204" pitchFamily="50" charset="-128"/>
              </a:rPr>
              <a:t>公式LINEを“会員の定着装置”に － 登録者は休眠化しにくく、再訪率が高い</a:t>
            </a:r>
          </a:p>
        </p:txBody>
      </p:sp>
      <p:sp>
        <p:nvSpPr>
          <p:cNvPr id="4" name="TextBox 3"/>
          <p:cNvSpPr txBox="1"/>
          <p:nvPr/>
        </p:nvSpPr>
        <p:spPr>
          <a:xfrm>
            <a:off x="457200" y="1335024"/>
            <a:ext cx="9052560" cy="371640"/>
          </a:xfrm>
          <a:prstGeom prst="rect">
            <a:avLst/>
          </a:prstGeom>
          <a:noFill/>
        </p:spPr>
        <p:txBody>
          <a:bodyPr wrap="square" lIns="0" tIns="0" rIns="0" bIns="0" anchor="t">
            <a:spAutoFit/>
          </a:bodyPr>
          <a:lstStyle/>
          <a:p>
            <a:pPr algn="l">
              <a:lnSpc>
                <a:spcPct val="115000"/>
              </a:lnSpc>
            </a:pPr>
            <a:r>
              <a:rPr sz="1050" b="0">
                <a:solidFill>
                  <a:srgbClr val="33383F"/>
                </a:solidFill>
                <a:latin typeface="メイリオ" panose="020B0604030504040204" pitchFamily="50" charset="-128"/>
                <a:ea typeface="メイリオ" panose="020B0604030504040204" pitchFamily="50" charset="-128"/>
              </a:rPr>
              <a:t>AIO/SEO施策で拡充する参加型コンテンツ（アンケート・総選挙 等）を “届ける・連れ戻す” レイヤーとして公式LINEで補完。</a:t>
            </a:r>
          </a:p>
          <a:p>
            <a:pPr algn="l">
              <a:lnSpc>
                <a:spcPct val="115000"/>
              </a:lnSpc>
            </a:pPr>
            <a:r>
              <a:rPr sz="1050" b="0">
                <a:solidFill>
                  <a:srgbClr val="33383F"/>
                </a:solidFill>
                <a:latin typeface="メイリオ" panose="020B0604030504040204" pitchFamily="50" charset="-128"/>
                <a:ea typeface="メイリオ" panose="020B0604030504040204" pitchFamily="50" charset="-128"/>
              </a:rPr>
              <a:t>会員登録時のサンクスLINE ＋ コンテンツ更新通知で、登録直後の熱量を継続接点に変えます。</a:t>
            </a:r>
          </a:p>
        </p:txBody>
      </p:sp>
      <p:sp>
        <p:nvSpPr>
          <p:cNvPr id="5" name="Rounded Rectangle 4"/>
          <p:cNvSpPr/>
          <p:nvPr/>
        </p:nvSpPr>
        <p:spPr>
          <a:xfrm>
            <a:off x="457200" y="1975104"/>
            <a:ext cx="1024128" cy="347472"/>
          </a:xfrm>
          <a:prstGeom prst="round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6" name="TextBox 5"/>
          <p:cNvSpPr txBox="1"/>
          <p:nvPr/>
        </p:nvSpPr>
        <p:spPr>
          <a:xfrm>
            <a:off x="457200" y="2060354"/>
            <a:ext cx="1024128" cy="176972"/>
          </a:xfrm>
          <a:prstGeom prst="rect">
            <a:avLst/>
          </a:prstGeom>
          <a:noFill/>
        </p:spPr>
        <p:txBody>
          <a:bodyPr wrap="square" lIns="0" tIns="0" rIns="0" bIns="0" anchor="ctr">
            <a:spAutoFit/>
          </a:bodyPr>
          <a:lstStyle/>
          <a:p>
            <a:pPr algn="ctr"/>
            <a:r>
              <a:rPr sz="1150" b="1">
                <a:solidFill>
                  <a:srgbClr val="FFFFFF"/>
                </a:solidFill>
                <a:latin typeface="メイリオ" panose="020B0604030504040204" pitchFamily="50" charset="-128"/>
                <a:ea typeface="メイリオ" panose="020B0604030504040204" pitchFamily="50" charset="-128"/>
              </a:rPr>
              <a:t>POINT</a:t>
            </a:r>
          </a:p>
        </p:txBody>
      </p:sp>
      <p:sp>
        <p:nvSpPr>
          <p:cNvPr id="7" name="Oval 6"/>
          <p:cNvSpPr/>
          <p:nvPr/>
        </p:nvSpPr>
        <p:spPr>
          <a:xfrm>
            <a:off x="475488" y="2587751"/>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8" name="TextBox 7"/>
          <p:cNvSpPr txBox="1"/>
          <p:nvPr/>
        </p:nvSpPr>
        <p:spPr>
          <a:xfrm>
            <a:off x="731520" y="2542032"/>
            <a:ext cx="2788920" cy="192360"/>
          </a:xfrm>
          <a:prstGeom prst="rect">
            <a:avLst/>
          </a:prstGeom>
          <a:noFill/>
        </p:spPr>
        <p:txBody>
          <a:bodyPr wrap="square" lIns="0" tIns="0" rIns="0" bIns="0" anchor="t">
            <a:spAutoFit/>
          </a:bodyPr>
          <a:lstStyle/>
          <a:p>
            <a:pPr algn="l"/>
            <a:r>
              <a:rPr sz="1250" b="1">
                <a:solidFill>
                  <a:srgbClr val="23272E"/>
                </a:solidFill>
                <a:latin typeface="メイリオ" panose="020B0604030504040204" pitchFamily="50" charset="-128"/>
                <a:ea typeface="メイリオ" panose="020B0604030504040204" pitchFamily="50" charset="-128"/>
              </a:rPr>
              <a:t>サンクスLINE誘導</a:t>
            </a:r>
          </a:p>
        </p:txBody>
      </p:sp>
      <p:sp>
        <p:nvSpPr>
          <p:cNvPr id="9" name="TextBox 8"/>
          <p:cNvSpPr txBox="1"/>
          <p:nvPr/>
        </p:nvSpPr>
        <p:spPr>
          <a:xfrm>
            <a:off x="731520" y="2843784"/>
            <a:ext cx="2788920" cy="316753"/>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panose="020B0604030504040204" pitchFamily="50" charset="-128"/>
                <a:ea typeface="メイリオ" panose="020B0604030504040204" pitchFamily="50" charset="-128"/>
              </a:rPr>
              <a:t>登録直後・サイト訪問時に友だち化。初月に約7,100人（非広告UUの約12%）が移行。</a:t>
            </a:r>
          </a:p>
        </p:txBody>
      </p:sp>
      <p:sp>
        <p:nvSpPr>
          <p:cNvPr id="10" name="Oval 9"/>
          <p:cNvSpPr/>
          <p:nvPr/>
        </p:nvSpPr>
        <p:spPr>
          <a:xfrm>
            <a:off x="475488" y="3447287"/>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1" name="TextBox 10"/>
          <p:cNvSpPr txBox="1"/>
          <p:nvPr/>
        </p:nvSpPr>
        <p:spPr>
          <a:xfrm>
            <a:off x="731520" y="3401568"/>
            <a:ext cx="2788920" cy="192360"/>
          </a:xfrm>
          <a:prstGeom prst="rect">
            <a:avLst/>
          </a:prstGeom>
          <a:noFill/>
        </p:spPr>
        <p:txBody>
          <a:bodyPr wrap="square" lIns="0" tIns="0" rIns="0" bIns="0" anchor="t">
            <a:spAutoFit/>
          </a:bodyPr>
          <a:lstStyle/>
          <a:p>
            <a:pPr algn="l"/>
            <a:r>
              <a:rPr sz="1250" b="1">
                <a:solidFill>
                  <a:srgbClr val="23272E"/>
                </a:solidFill>
                <a:latin typeface="メイリオ" panose="020B0604030504040204" pitchFamily="50" charset="-128"/>
                <a:ea typeface="メイリオ" panose="020B0604030504040204" pitchFamily="50" charset="-128"/>
              </a:rPr>
              <a:t>コンテンツ更新通知</a:t>
            </a:r>
          </a:p>
        </p:txBody>
      </p:sp>
      <p:sp>
        <p:nvSpPr>
          <p:cNvPr id="12" name="TextBox 11"/>
          <p:cNvSpPr txBox="1"/>
          <p:nvPr/>
        </p:nvSpPr>
        <p:spPr>
          <a:xfrm>
            <a:off x="731520" y="3703320"/>
            <a:ext cx="2788920" cy="316753"/>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panose="020B0604030504040204" pitchFamily="50" charset="-128"/>
                <a:ea typeface="メイリオ" panose="020B0604030504040204" pitchFamily="50" charset="-128"/>
              </a:rPr>
              <a:t>月4回配信。到達層の約40%が毎月、企画コンテンツへ能動的に流入。</a:t>
            </a:r>
          </a:p>
        </p:txBody>
      </p:sp>
      <p:sp>
        <p:nvSpPr>
          <p:cNvPr id="13" name="Oval 12"/>
          <p:cNvSpPr/>
          <p:nvPr/>
        </p:nvSpPr>
        <p:spPr>
          <a:xfrm>
            <a:off x="3904487" y="2587751"/>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4" name="TextBox 13"/>
          <p:cNvSpPr txBox="1"/>
          <p:nvPr/>
        </p:nvSpPr>
        <p:spPr>
          <a:xfrm>
            <a:off x="4160520" y="2542032"/>
            <a:ext cx="2788920" cy="192360"/>
          </a:xfrm>
          <a:prstGeom prst="rect">
            <a:avLst/>
          </a:prstGeom>
          <a:noFill/>
        </p:spPr>
        <p:txBody>
          <a:bodyPr wrap="square" lIns="0" tIns="0" rIns="0" bIns="0" anchor="t">
            <a:spAutoFit/>
          </a:bodyPr>
          <a:lstStyle/>
          <a:p>
            <a:pPr algn="l"/>
            <a:r>
              <a:rPr sz="1250" b="1">
                <a:solidFill>
                  <a:srgbClr val="23272E"/>
                </a:solidFill>
                <a:latin typeface="メイリオ" panose="020B0604030504040204" pitchFamily="50" charset="-128"/>
                <a:ea typeface="メイリオ" panose="020B0604030504040204" pitchFamily="50" charset="-128"/>
              </a:rPr>
              <a:t>休眠化しにくい</a:t>
            </a:r>
          </a:p>
        </p:txBody>
      </p:sp>
      <p:sp>
        <p:nvSpPr>
          <p:cNvPr id="15" name="TextBox 14"/>
          <p:cNvSpPr txBox="1"/>
          <p:nvPr/>
        </p:nvSpPr>
        <p:spPr>
          <a:xfrm>
            <a:off x="4160520" y="2843784"/>
            <a:ext cx="2788920" cy="316753"/>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panose="020B0604030504040204" pitchFamily="50" charset="-128"/>
                <a:ea typeface="メイリオ" panose="020B0604030504040204" pitchFamily="50" charset="-128"/>
              </a:rPr>
              <a:t>ブロック率25〜27%と低位。再訪の起点が毎月あり、休眠に入りにくい。</a:t>
            </a:r>
          </a:p>
        </p:txBody>
      </p:sp>
      <p:sp>
        <p:nvSpPr>
          <p:cNvPr id="16" name="Oval 15"/>
          <p:cNvSpPr/>
          <p:nvPr/>
        </p:nvSpPr>
        <p:spPr>
          <a:xfrm>
            <a:off x="3904487" y="3447287"/>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7" name="TextBox 16"/>
          <p:cNvSpPr txBox="1"/>
          <p:nvPr/>
        </p:nvSpPr>
        <p:spPr>
          <a:xfrm>
            <a:off x="4160520" y="3401568"/>
            <a:ext cx="2788920" cy="192360"/>
          </a:xfrm>
          <a:prstGeom prst="rect">
            <a:avLst/>
          </a:prstGeom>
          <a:noFill/>
        </p:spPr>
        <p:txBody>
          <a:bodyPr wrap="square" lIns="0" tIns="0" rIns="0" bIns="0" anchor="t">
            <a:spAutoFit/>
          </a:bodyPr>
          <a:lstStyle/>
          <a:p>
            <a:pPr algn="l"/>
            <a:r>
              <a:rPr sz="1250" b="1">
                <a:solidFill>
                  <a:srgbClr val="23272E"/>
                </a:solidFill>
                <a:latin typeface="メイリオ" panose="020B0604030504040204" pitchFamily="50" charset="-128"/>
                <a:ea typeface="メイリオ" panose="020B0604030504040204" pitchFamily="50" charset="-128"/>
              </a:rPr>
              <a:t>積み上がる資産</a:t>
            </a:r>
          </a:p>
        </p:txBody>
      </p:sp>
      <p:sp>
        <p:nvSpPr>
          <p:cNvPr id="18" name="TextBox 17"/>
          <p:cNvSpPr txBox="1"/>
          <p:nvPr/>
        </p:nvSpPr>
        <p:spPr>
          <a:xfrm>
            <a:off x="4160520" y="3703320"/>
            <a:ext cx="2788920" cy="316753"/>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panose="020B0604030504040204" pitchFamily="50" charset="-128"/>
                <a:ea typeface="メイリオ" panose="020B0604030504040204" pitchFamily="50" charset="-128"/>
              </a:rPr>
              <a:t>翌月以降もサイト訪問数に応じ純増（月 +約1,200人）。6ヶ月で友だち約13,000人。</a:t>
            </a:r>
          </a:p>
        </p:txBody>
      </p:sp>
      <p:sp>
        <p:nvSpPr>
          <p:cNvPr id="30" name="Rounded Rectangle 29"/>
          <p:cNvSpPr/>
          <p:nvPr/>
        </p:nvSpPr>
        <p:spPr>
          <a:xfrm>
            <a:off x="457200" y="4370832"/>
            <a:ext cx="4416552" cy="1810512"/>
          </a:xfrm>
          <a:prstGeom prst="roundRect">
            <a:avLst/>
          </a:prstGeom>
          <a:solidFill>
            <a:srgbClr val="F7F7F9"/>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31" name="Rectangle 30"/>
          <p:cNvSpPr/>
          <p:nvPr/>
        </p:nvSpPr>
        <p:spPr>
          <a:xfrm>
            <a:off x="457200" y="4370832"/>
            <a:ext cx="4416552" cy="82296"/>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32" name="TextBox 31"/>
          <p:cNvSpPr txBox="1"/>
          <p:nvPr/>
        </p:nvSpPr>
        <p:spPr>
          <a:xfrm>
            <a:off x="594360" y="4535424"/>
            <a:ext cx="4142232" cy="192360"/>
          </a:xfrm>
          <a:prstGeom prst="rect">
            <a:avLst/>
          </a:prstGeom>
          <a:noFill/>
        </p:spPr>
        <p:txBody>
          <a:bodyPr wrap="square" lIns="0" tIns="0" rIns="0" bIns="0" anchor="t">
            <a:spAutoFit/>
          </a:bodyPr>
          <a:lstStyle/>
          <a:p>
            <a:pPr algn="ctr"/>
            <a:r>
              <a:rPr sz="1250" b="1">
                <a:solidFill>
                  <a:srgbClr val="06C755"/>
                </a:solidFill>
                <a:latin typeface="メイリオ" panose="020B0604030504040204" pitchFamily="50" charset="-128"/>
                <a:ea typeface="メイリオ" panose="020B0604030504040204" pitchFamily="50" charset="-128"/>
              </a:rPr>
              <a:t>6ヶ月後のLINE友だち</a:t>
            </a:r>
          </a:p>
        </p:txBody>
      </p:sp>
      <p:sp>
        <p:nvSpPr>
          <p:cNvPr id="33" name="Rounded Rectangle 32"/>
          <p:cNvSpPr/>
          <p:nvPr/>
        </p:nvSpPr>
        <p:spPr>
          <a:xfrm>
            <a:off x="713232" y="4901184"/>
            <a:ext cx="3904487" cy="640080"/>
          </a:xfrm>
          <a:prstGeom prst="roundRect">
            <a:avLst/>
          </a:prstGeom>
          <a:solidFill>
            <a:srgbClr val="E7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34" name="TextBox 33"/>
          <p:cNvSpPr txBox="1"/>
          <p:nvPr/>
        </p:nvSpPr>
        <p:spPr>
          <a:xfrm>
            <a:off x="1846341" y="5067335"/>
            <a:ext cx="1638269" cy="307777"/>
          </a:xfrm>
          <a:prstGeom prst="rect">
            <a:avLst/>
          </a:prstGeom>
          <a:noFill/>
        </p:spPr>
        <p:txBody>
          <a:bodyPr wrap="none" lIns="0" tIns="0" rIns="0" bIns="0" anchor="ctr">
            <a:spAutoFit/>
          </a:bodyPr>
          <a:lstStyle/>
          <a:p>
            <a:pPr algn="ctr"/>
            <a:r>
              <a:rPr sz="2000" b="1">
                <a:solidFill>
                  <a:srgbClr val="06C755"/>
                </a:solidFill>
                <a:latin typeface="メイリオ" panose="020B0604030504040204" pitchFamily="50" charset="-128"/>
                <a:ea typeface="メイリオ" panose="020B0604030504040204" pitchFamily="50" charset="-128"/>
              </a:rPr>
              <a:t>約 13,000 人</a:t>
            </a:r>
          </a:p>
        </p:txBody>
      </p:sp>
      <p:sp>
        <p:nvSpPr>
          <p:cNvPr id="35" name="TextBox 34"/>
          <p:cNvSpPr txBox="1"/>
          <p:nvPr/>
        </p:nvSpPr>
        <p:spPr>
          <a:xfrm>
            <a:off x="676656" y="5650992"/>
            <a:ext cx="4032504" cy="314830"/>
          </a:xfrm>
          <a:prstGeom prst="rect">
            <a:avLst/>
          </a:prstGeom>
          <a:noFill/>
        </p:spPr>
        <p:txBody>
          <a:bodyPr wrap="square" lIns="0" tIns="0" rIns="0" bIns="0" anchor="t">
            <a:spAutoFit/>
          </a:bodyPr>
          <a:lstStyle/>
          <a:p>
            <a:pPr algn="l">
              <a:lnSpc>
                <a:spcPct val="110000"/>
              </a:lnSpc>
            </a:pPr>
            <a:r>
              <a:rPr sz="930" b="0">
                <a:solidFill>
                  <a:srgbClr val="23272E"/>
                </a:solidFill>
                <a:latin typeface="メイリオ" panose="020B0604030504040204" pitchFamily="50" charset="-128"/>
                <a:ea typeface="メイリオ" panose="020B0604030504040204" pitchFamily="50" charset="-128"/>
              </a:rPr>
              <a:t>初月 約7,100人（サンクスLINE＋初期告知）→ サイト訪問数に応じ純増。ブロック率25〜27%と低く、定着しやすい会員プール。</a:t>
            </a:r>
          </a:p>
        </p:txBody>
      </p:sp>
      <p:sp>
        <p:nvSpPr>
          <p:cNvPr id="36" name="Rounded Rectangle 35"/>
          <p:cNvSpPr/>
          <p:nvPr/>
        </p:nvSpPr>
        <p:spPr>
          <a:xfrm>
            <a:off x="5093208" y="4370832"/>
            <a:ext cx="4416552" cy="1810512"/>
          </a:xfrm>
          <a:prstGeom prst="roundRect">
            <a:avLst/>
          </a:prstGeom>
          <a:solidFill>
            <a:srgbClr val="F7F7F9"/>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37" name="Rectangle 36"/>
          <p:cNvSpPr/>
          <p:nvPr/>
        </p:nvSpPr>
        <p:spPr>
          <a:xfrm>
            <a:off x="5093208" y="4370832"/>
            <a:ext cx="4416552" cy="82296"/>
          </a:xfrm>
          <a:prstGeom prst="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38" name="TextBox 37"/>
          <p:cNvSpPr txBox="1"/>
          <p:nvPr/>
        </p:nvSpPr>
        <p:spPr>
          <a:xfrm>
            <a:off x="5230368" y="4535424"/>
            <a:ext cx="4142232" cy="192360"/>
          </a:xfrm>
          <a:prstGeom prst="rect">
            <a:avLst/>
          </a:prstGeom>
          <a:noFill/>
        </p:spPr>
        <p:txBody>
          <a:bodyPr wrap="square" lIns="0" tIns="0" rIns="0" bIns="0" anchor="t">
            <a:spAutoFit/>
          </a:bodyPr>
          <a:lstStyle/>
          <a:p>
            <a:pPr algn="ctr"/>
            <a:r>
              <a:rPr sz="1250" b="1">
                <a:solidFill>
                  <a:srgbClr val="EE7A22"/>
                </a:solidFill>
                <a:latin typeface="メイリオ" panose="020B0604030504040204" pitchFamily="50" charset="-128"/>
                <a:ea typeface="メイリオ" panose="020B0604030504040204" pitchFamily="50" charset="-128"/>
              </a:rPr>
              <a:t>LINE経由の月次サイト流入</a:t>
            </a:r>
          </a:p>
        </p:txBody>
      </p:sp>
      <p:sp>
        <p:nvSpPr>
          <p:cNvPr id="39" name="Rounded Rectangle 38"/>
          <p:cNvSpPr/>
          <p:nvPr/>
        </p:nvSpPr>
        <p:spPr>
          <a:xfrm>
            <a:off x="5349240" y="4901184"/>
            <a:ext cx="3904487" cy="640080"/>
          </a:xfrm>
          <a:prstGeom prst="roundRect">
            <a:avLst/>
          </a:prstGeom>
          <a:solidFill>
            <a:srgbClr val="FB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40" name="TextBox 39"/>
          <p:cNvSpPr txBox="1"/>
          <p:nvPr/>
        </p:nvSpPr>
        <p:spPr>
          <a:xfrm>
            <a:off x="5935725" y="5067335"/>
            <a:ext cx="2731517" cy="307777"/>
          </a:xfrm>
          <a:prstGeom prst="rect">
            <a:avLst/>
          </a:prstGeom>
          <a:noFill/>
        </p:spPr>
        <p:txBody>
          <a:bodyPr wrap="none" lIns="0" tIns="0" rIns="0" bIns="0" anchor="ctr">
            <a:spAutoFit/>
          </a:bodyPr>
          <a:lstStyle/>
          <a:p>
            <a:pPr algn="ctr"/>
            <a:r>
              <a:rPr sz="2000" b="1">
                <a:solidFill>
                  <a:srgbClr val="EE7A22"/>
                </a:solidFill>
                <a:latin typeface="メイリオ" panose="020B0604030504040204" pitchFamily="50" charset="-128"/>
                <a:ea typeface="メイリオ" panose="020B0604030504040204" pitchFamily="50" charset="-128"/>
              </a:rPr>
              <a:t>6ヶ月後 約3,800件/月</a:t>
            </a:r>
          </a:p>
        </p:txBody>
      </p:sp>
      <p:sp>
        <p:nvSpPr>
          <p:cNvPr id="41" name="TextBox 40"/>
          <p:cNvSpPr txBox="1"/>
          <p:nvPr/>
        </p:nvSpPr>
        <p:spPr>
          <a:xfrm>
            <a:off x="5312664" y="5650992"/>
            <a:ext cx="4032504" cy="314830"/>
          </a:xfrm>
          <a:prstGeom prst="rect">
            <a:avLst/>
          </a:prstGeom>
          <a:noFill/>
        </p:spPr>
        <p:txBody>
          <a:bodyPr wrap="square" lIns="0" tIns="0" rIns="0" bIns="0" anchor="t">
            <a:spAutoFit/>
          </a:bodyPr>
          <a:lstStyle/>
          <a:p>
            <a:pPr algn="l">
              <a:lnSpc>
                <a:spcPct val="110000"/>
              </a:lnSpc>
            </a:pPr>
            <a:r>
              <a:rPr sz="930" b="0">
                <a:solidFill>
                  <a:srgbClr val="23272E"/>
                </a:solidFill>
                <a:latin typeface="メイリオ" panose="020B0604030504040204" pitchFamily="50" charset="-128"/>
                <a:ea typeface="メイリオ" panose="020B0604030504040204" pitchFamily="50" charset="-128"/>
              </a:rPr>
              <a:t>到達（配信可）約9,500人 × 反応率40%（SIM）。6ヶ月累計 約17,800件。※モデルケース</a:t>
            </a:r>
          </a:p>
        </p:txBody>
      </p:sp>
      <p:sp>
        <p:nvSpPr>
          <p:cNvPr id="42" name="TextBox 41"/>
          <p:cNvSpPr txBox="1"/>
          <p:nvPr/>
        </p:nvSpPr>
        <p:spPr>
          <a:xfrm>
            <a:off x="457200" y="6272784"/>
            <a:ext cx="8988552" cy="130805"/>
          </a:xfrm>
          <a:prstGeom prst="rect">
            <a:avLst/>
          </a:prstGeom>
          <a:noFill/>
        </p:spPr>
        <p:txBody>
          <a:bodyPr wrap="square" lIns="0" tIns="0" rIns="0" bIns="0" anchor="t">
            <a:spAutoFit/>
          </a:bodyPr>
          <a:lstStyle/>
          <a:p>
            <a:pPr algn="l"/>
            <a:r>
              <a:rPr sz="850" b="0">
                <a:solidFill>
                  <a:srgbClr val="6E7278"/>
                </a:solidFill>
                <a:latin typeface="メイリオ" panose="020B0604030504040204" pitchFamily="50" charset="-128"/>
                <a:ea typeface="メイリオ" panose="020B0604030504040204" pitchFamily="50" charset="-128"/>
              </a:rPr>
              <a:t>※数値はSIM決定版より。ブロック率・反応率は想定値。費用：初期15万円＋月額5万円（投稿代行）。</a:t>
            </a:r>
          </a:p>
        </p:txBody>
      </p:sp>
      <p:pic>
        <p:nvPicPr>
          <p:cNvPr id="44" name="図 43">
            <a:extLst>
              <a:ext uri="{FF2B5EF4-FFF2-40B4-BE49-F238E27FC236}">
                <a16:creationId xmlns:a16="http://schemas.microsoft.com/office/drawing/2014/main" id="{247D73C4-C5B1-5A1A-D303-C27A1D522F63}"/>
              </a:ext>
            </a:extLst>
          </p:cNvPr>
          <p:cNvPicPr>
            <a:picLocks noChangeAspect="1"/>
          </p:cNvPicPr>
          <p:nvPr/>
        </p:nvPicPr>
        <p:blipFill>
          <a:blip r:embed="rId2"/>
          <a:stretch>
            <a:fillRect/>
          </a:stretch>
        </p:blipFill>
        <p:spPr>
          <a:xfrm>
            <a:off x="7582352" y="1530841"/>
            <a:ext cx="1401453" cy="2805702"/>
          </a:xfrm>
          <a:prstGeom prst="rect">
            <a:avLst/>
          </a:prstGeom>
        </p:spPr>
      </p:pic>
      <p:sp>
        <p:nvSpPr>
          <p:cNvPr id="46" name="Rectangle 19">
            <a:extLst>
              <a:ext uri="{FF2B5EF4-FFF2-40B4-BE49-F238E27FC236}">
                <a16:creationId xmlns:a16="http://schemas.microsoft.com/office/drawing/2014/main" id="{CD68BDD1-A90E-9A11-1E7E-B0BC4232171B}"/>
              </a:ext>
            </a:extLst>
          </p:cNvPr>
          <p:cNvSpPr/>
          <p:nvPr/>
        </p:nvSpPr>
        <p:spPr>
          <a:xfrm>
            <a:off x="7660794" y="1722963"/>
            <a:ext cx="1283398" cy="229711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48" name="Rectangle 20">
            <a:extLst>
              <a:ext uri="{FF2B5EF4-FFF2-40B4-BE49-F238E27FC236}">
                <a16:creationId xmlns:a16="http://schemas.microsoft.com/office/drawing/2014/main" id="{1BEB7E8B-CDE4-3211-20FE-C2F445B5F840}"/>
              </a:ext>
            </a:extLst>
          </p:cNvPr>
          <p:cNvSpPr/>
          <p:nvPr/>
        </p:nvSpPr>
        <p:spPr>
          <a:xfrm>
            <a:off x="7660794" y="1714337"/>
            <a:ext cx="1283398" cy="321023"/>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50" name="TextBox 21">
            <a:extLst>
              <a:ext uri="{FF2B5EF4-FFF2-40B4-BE49-F238E27FC236}">
                <a16:creationId xmlns:a16="http://schemas.microsoft.com/office/drawing/2014/main" id="{EB07D357-970B-5F07-FFC5-44FB453C2E51}"/>
              </a:ext>
            </a:extLst>
          </p:cNvPr>
          <p:cNvSpPr txBox="1"/>
          <p:nvPr/>
        </p:nvSpPr>
        <p:spPr>
          <a:xfrm>
            <a:off x="7716838" y="1827037"/>
            <a:ext cx="1171310" cy="112874"/>
          </a:xfrm>
          <a:prstGeom prst="rect">
            <a:avLst/>
          </a:prstGeom>
          <a:noFill/>
        </p:spPr>
        <p:txBody>
          <a:bodyPr wrap="square" lIns="0" tIns="0" rIns="0" bIns="0" anchor="ctr">
            <a:spAutoFit/>
          </a:bodyPr>
          <a:lstStyle/>
          <a:p>
            <a:pPr algn="l"/>
            <a:r>
              <a:rPr lang="en-US" sz="700" b="1" dirty="0">
                <a:solidFill>
                  <a:srgbClr val="FFFFFF"/>
                </a:solidFill>
                <a:latin typeface="メイリオ" panose="020B0604030504040204" pitchFamily="50" charset="-128"/>
                <a:ea typeface="メイリオ" panose="020B0604030504040204" pitchFamily="50" charset="-128"/>
              </a:rPr>
              <a:t>Come on HOUSE</a:t>
            </a:r>
            <a:r>
              <a:rPr lang="en-US" altLang="ja-JP" sz="700" b="1" dirty="0">
                <a:solidFill>
                  <a:srgbClr val="FFFFFF"/>
                </a:solidFill>
                <a:latin typeface="メイリオ" panose="020B0604030504040204" pitchFamily="50" charset="-128"/>
                <a:ea typeface="メイリオ" panose="020B0604030504040204" pitchFamily="50" charset="-128"/>
              </a:rPr>
              <a:t>【</a:t>
            </a:r>
            <a:r>
              <a:rPr lang="ja-JP" altLang="en-US" sz="700" b="1" dirty="0">
                <a:solidFill>
                  <a:srgbClr val="FFFFFF"/>
                </a:solidFill>
                <a:latin typeface="メイリオ" panose="020B0604030504040204" pitchFamily="50" charset="-128"/>
                <a:ea typeface="メイリオ" panose="020B0604030504040204" pitchFamily="50" charset="-128"/>
              </a:rPr>
              <a:t>公式</a:t>
            </a:r>
            <a:r>
              <a:rPr lang="en-US" altLang="ja-JP" sz="700" b="1" dirty="0">
                <a:solidFill>
                  <a:srgbClr val="FFFFFF"/>
                </a:solidFill>
                <a:latin typeface="メイリオ" panose="020B0604030504040204" pitchFamily="50" charset="-128"/>
                <a:ea typeface="メイリオ" panose="020B0604030504040204" pitchFamily="50" charset="-128"/>
              </a:rPr>
              <a:t>】</a:t>
            </a:r>
            <a:endParaRPr sz="700" b="1" dirty="0">
              <a:solidFill>
                <a:srgbClr val="FFFFFF"/>
              </a:solidFill>
              <a:latin typeface="メイリオ" panose="020B0604030504040204" pitchFamily="50" charset="-128"/>
              <a:ea typeface="メイリオ" panose="020B0604030504040204" pitchFamily="50" charset="-128"/>
            </a:endParaRPr>
          </a:p>
        </p:txBody>
      </p:sp>
      <p:sp>
        <p:nvSpPr>
          <p:cNvPr id="52" name="Rounded Rectangle 22">
            <a:extLst>
              <a:ext uri="{FF2B5EF4-FFF2-40B4-BE49-F238E27FC236}">
                <a16:creationId xmlns:a16="http://schemas.microsoft.com/office/drawing/2014/main" id="{6C5FE7A3-4BDF-0442-A17D-7420A140C208}"/>
              </a:ext>
            </a:extLst>
          </p:cNvPr>
          <p:cNvSpPr/>
          <p:nvPr/>
        </p:nvSpPr>
        <p:spPr>
          <a:xfrm>
            <a:off x="7716838" y="2157288"/>
            <a:ext cx="795707" cy="283256"/>
          </a:xfrm>
          <a:prstGeom prst="round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54" name="Rounded Rectangle 23">
            <a:extLst>
              <a:ext uri="{FF2B5EF4-FFF2-40B4-BE49-F238E27FC236}">
                <a16:creationId xmlns:a16="http://schemas.microsoft.com/office/drawing/2014/main" id="{1D5DF30D-515B-881A-9A49-6B8C6D52177F}"/>
              </a:ext>
            </a:extLst>
          </p:cNvPr>
          <p:cNvSpPr/>
          <p:nvPr/>
        </p:nvSpPr>
        <p:spPr>
          <a:xfrm>
            <a:off x="7716838" y="2534963"/>
            <a:ext cx="641699" cy="283256"/>
          </a:xfrm>
          <a:prstGeom prst="round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56" name="Rounded Rectangle 24">
            <a:extLst>
              <a:ext uri="{FF2B5EF4-FFF2-40B4-BE49-F238E27FC236}">
                <a16:creationId xmlns:a16="http://schemas.microsoft.com/office/drawing/2014/main" id="{2AD2967F-02FA-B3B3-FA03-FD8088E728E6}"/>
              </a:ext>
            </a:extLst>
          </p:cNvPr>
          <p:cNvSpPr/>
          <p:nvPr/>
        </p:nvSpPr>
        <p:spPr>
          <a:xfrm>
            <a:off x="8182280" y="2912637"/>
            <a:ext cx="705868" cy="283256"/>
          </a:xfrm>
          <a:prstGeom prst="roundRect">
            <a:avLst/>
          </a:prstGeom>
          <a:solidFill>
            <a:srgbClr val="E7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58" name="Rounded Rectangle 25">
            <a:extLst>
              <a:ext uri="{FF2B5EF4-FFF2-40B4-BE49-F238E27FC236}">
                <a16:creationId xmlns:a16="http://schemas.microsoft.com/office/drawing/2014/main" id="{ABB117FE-06BC-14B1-F885-48723A84E998}"/>
              </a:ext>
            </a:extLst>
          </p:cNvPr>
          <p:cNvSpPr/>
          <p:nvPr/>
        </p:nvSpPr>
        <p:spPr>
          <a:xfrm>
            <a:off x="7716838" y="3035381"/>
            <a:ext cx="563237" cy="339907"/>
          </a:xfrm>
          <a:prstGeom prst="roundRect">
            <a:avLst/>
          </a:prstGeom>
          <a:solidFill>
            <a:srgbClr val="F2F4F6"/>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60" name="Rounded Rectangle 26">
            <a:extLst>
              <a:ext uri="{FF2B5EF4-FFF2-40B4-BE49-F238E27FC236}">
                <a16:creationId xmlns:a16="http://schemas.microsoft.com/office/drawing/2014/main" id="{1E8F4895-52AB-EDA8-1329-B173DFC6BAE0}"/>
              </a:ext>
            </a:extLst>
          </p:cNvPr>
          <p:cNvSpPr/>
          <p:nvPr/>
        </p:nvSpPr>
        <p:spPr>
          <a:xfrm>
            <a:off x="8324911" y="3035381"/>
            <a:ext cx="563237" cy="339907"/>
          </a:xfrm>
          <a:prstGeom prst="roundRect">
            <a:avLst/>
          </a:prstGeom>
          <a:solidFill>
            <a:srgbClr val="F2F4F6"/>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62" name="Rounded Rectangle 27">
            <a:extLst>
              <a:ext uri="{FF2B5EF4-FFF2-40B4-BE49-F238E27FC236}">
                <a16:creationId xmlns:a16="http://schemas.microsoft.com/office/drawing/2014/main" id="{3FE0AC34-8464-0C28-ED54-C4E14FDD5549}"/>
              </a:ext>
            </a:extLst>
          </p:cNvPr>
          <p:cNvSpPr/>
          <p:nvPr/>
        </p:nvSpPr>
        <p:spPr>
          <a:xfrm>
            <a:off x="7716838" y="3450823"/>
            <a:ext cx="563237" cy="339907"/>
          </a:xfrm>
          <a:prstGeom prst="roundRect">
            <a:avLst/>
          </a:prstGeom>
          <a:solidFill>
            <a:srgbClr val="F2F4F6"/>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64" name="Rounded Rectangle 28">
            <a:extLst>
              <a:ext uri="{FF2B5EF4-FFF2-40B4-BE49-F238E27FC236}">
                <a16:creationId xmlns:a16="http://schemas.microsoft.com/office/drawing/2014/main" id="{56A7C7DC-9F5D-FA7C-862A-4C4115B5102E}"/>
              </a:ext>
            </a:extLst>
          </p:cNvPr>
          <p:cNvSpPr/>
          <p:nvPr/>
        </p:nvSpPr>
        <p:spPr>
          <a:xfrm>
            <a:off x="8324911" y="3450823"/>
            <a:ext cx="563237" cy="339907"/>
          </a:xfrm>
          <a:prstGeom prst="roundRect">
            <a:avLst/>
          </a:prstGeom>
          <a:solidFill>
            <a:srgbClr val="F2F4F6"/>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20" name="テキスト ボックス 47">
            <a:extLst>
              <a:ext uri="{FF2B5EF4-FFF2-40B4-BE49-F238E27FC236}">
                <a16:creationId xmlns:a16="http://schemas.microsoft.com/office/drawing/2014/main" id="{D98D0CC7-068B-86CE-6670-C7C93999BB3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追加施策｜公式</a:t>
            </a:r>
            <a:r>
              <a:rPr lang="en-US" altLang="ja-JP" sz="1600" b="1" dirty="0">
                <a:solidFill>
                  <a:srgbClr val="1F2A5C"/>
                </a:solidFill>
                <a:latin typeface="メイリオ" panose="020B0604030504040204" pitchFamily="50" charset="-128"/>
                <a:ea typeface="メイリオ" panose="020B0604030504040204" pitchFamily="50" charset="-128"/>
              </a:rPr>
              <a:t>LINE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841248"/>
            <a:ext cx="9052560" cy="261610"/>
          </a:xfrm>
          <a:prstGeom prst="rect">
            <a:avLst/>
          </a:prstGeom>
          <a:noFill/>
        </p:spPr>
        <p:txBody>
          <a:bodyPr wrap="square" lIns="0" tIns="0" rIns="0" bIns="0" anchor="t">
            <a:spAutoFit/>
          </a:bodyPr>
          <a:lstStyle/>
          <a:p>
            <a:pPr algn="l"/>
            <a:r>
              <a:rPr sz="1700" b="1">
                <a:solidFill>
                  <a:srgbClr val="23272E"/>
                </a:solidFill>
                <a:latin typeface="メイリオ" panose="020B0604030504040204" pitchFamily="50" charset="-128"/>
                <a:ea typeface="メイリオ" panose="020B0604030504040204" pitchFamily="50" charset="-128"/>
              </a:rPr>
              <a:t>LINE友だちは“休眠会員化しにくい” － 毎月の通知接点が再訪を生む</a:t>
            </a:r>
          </a:p>
        </p:txBody>
      </p:sp>
      <p:sp>
        <p:nvSpPr>
          <p:cNvPr id="4" name="TextBox 3"/>
          <p:cNvSpPr txBox="1"/>
          <p:nvPr/>
        </p:nvSpPr>
        <p:spPr>
          <a:xfrm>
            <a:off x="457200" y="1335024"/>
            <a:ext cx="9052560" cy="371640"/>
          </a:xfrm>
          <a:prstGeom prst="rect">
            <a:avLst/>
          </a:prstGeom>
          <a:noFill/>
        </p:spPr>
        <p:txBody>
          <a:bodyPr wrap="square" lIns="0" tIns="0" rIns="0" bIns="0" anchor="t">
            <a:spAutoFit/>
          </a:bodyPr>
          <a:lstStyle/>
          <a:p>
            <a:pPr algn="l">
              <a:lnSpc>
                <a:spcPct val="115000"/>
              </a:lnSpc>
            </a:pPr>
            <a:r>
              <a:rPr sz="1050" b="0">
                <a:solidFill>
                  <a:srgbClr val="33383F"/>
                </a:solidFill>
                <a:latin typeface="メイリオ" panose="020B0604030504040204" pitchFamily="50" charset="-128"/>
                <a:ea typeface="メイリオ" panose="020B0604030504040204" pitchFamily="50" charset="-128"/>
              </a:rPr>
              <a:t>一般会員はキャンペーン後に再訪トリガーがなく休眠化（現行資料の課題）。</a:t>
            </a:r>
          </a:p>
          <a:p>
            <a:pPr algn="l">
              <a:lnSpc>
                <a:spcPct val="115000"/>
              </a:lnSpc>
            </a:pPr>
            <a:r>
              <a:rPr sz="1050" b="0">
                <a:solidFill>
                  <a:srgbClr val="33383F"/>
                </a:solidFill>
                <a:latin typeface="メイリオ" panose="020B0604030504040204" pitchFamily="50" charset="-128"/>
                <a:ea typeface="メイリオ" panose="020B0604030504040204" pitchFamily="50" charset="-128"/>
              </a:rPr>
              <a:t>LINE友だちは更新通知で毎月接触し、能動的な再訪が習慣化します。</a:t>
            </a:r>
          </a:p>
        </p:txBody>
      </p:sp>
      <p:sp>
        <p:nvSpPr>
          <p:cNvPr id="5" name="Rounded Rectangle 4"/>
          <p:cNvSpPr/>
          <p:nvPr/>
        </p:nvSpPr>
        <p:spPr>
          <a:xfrm>
            <a:off x="457200" y="1956816"/>
            <a:ext cx="1024128" cy="347472"/>
          </a:xfrm>
          <a:prstGeom prst="round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6" name="TextBox 5"/>
          <p:cNvSpPr txBox="1"/>
          <p:nvPr/>
        </p:nvSpPr>
        <p:spPr>
          <a:xfrm>
            <a:off x="457200" y="2042066"/>
            <a:ext cx="1024128" cy="176972"/>
          </a:xfrm>
          <a:prstGeom prst="rect">
            <a:avLst/>
          </a:prstGeom>
          <a:noFill/>
        </p:spPr>
        <p:txBody>
          <a:bodyPr wrap="square" lIns="0" tIns="0" rIns="0" bIns="0" anchor="ctr">
            <a:spAutoFit/>
          </a:bodyPr>
          <a:lstStyle/>
          <a:p>
            <a:pPr algn="ctr"/>
            <a:r>
              <a:rPr sz="1150" b="1">
                <a:solidFill>
                  <a:srgbClr val="FFFFFF"/>
                </a:solidFill>
                <a:latin typeface="メイリオ" panose="020B0604030504040204" pitchFamily="50" charset="-128"/>
                <a:ea typeface="メイリオ" panose="020B0604030504040204" pitchFamily="50" charset="-128"/>
              </a:rPr>
              <a:t>POINT</a:t>
            </a:r>
          </a:p>
        </p:txBody>
      </p:sp>
      <p:sp>
        <p:nvSpPr>
          <p:cNvPr id="7" name="Oval 6"/>
          <p:cNvSpPr/>
          <p:nvPr/>
        </p:nvSpPr>
        <p:spPr>
          <a:xfrm>
            <a:off x="475488" y="2532888"/>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8" name="TextBox 7"/>
          <p:cNvSpPr txBox="1"/>
          <p:nvPr/>
        </p:nvSpPr>
        <p:spPr>
          <a:xfrm>
            <a:off x="731520" y="2487168"/>
            <a:ext cx="3886200" cy="192360"/>
          </a:xfrm>
          <a:prstGeom prst="rect">
            <a:avLst/>
          </a:prstGeom>
          <a:noFill/>
        </p:spPr>
        <p:txBody>
          <a:bodyPr wrap="square" lIns="0" tIns="0" rIns="0" bIns="0" anchor="t">
            <a:spAutoFit/>
          </a:bodyPr>
          <a:lstStyle/>
          <a:p>
            <a:pPr algn="l"/>
            <a:r>
              <a:rPr sz="1250" b="1">
                <a:solidFill>
                  <a:srgbClr val="23272E"/>
                </a:solidFill>
                <a:latin typeface="メイリオ" panose="020B0604030504040204" pitchFamily="50" charset="-128"/>
                <a:ea typeface="メイリオ" panose="020B0604030504040204" pitchFamily="50" charset="-128"/>
              </a:rPr>
              <a:t>現状の課題</a:t>
            </a:r>
          </a:p>
        </p:txBody>
      </p:sp>
      <p:sp>
        <p:nvSpPr>
          <p:cNvPr id="9" name="TextBox 8"/>
          <p:cNvSpPr txBox="1"/>
          <p:nvPr/>
        </p:nvSpPr>
        <p:spPr>
          <a:xfrm>
            <a:off x="731520" y="2788920"/>
            <a:ext cx="3886200" cy="158377"/>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panose="020B0604030504040204" pitchFamily="50" charset="-128"/>
                <a:ea typeface="メイリオ" panose="020B0604030504040204" pitchFamily="50" charset="-128"/>
              </a:rPr>
              <a:t>登録直後の熱量を受け止める接点がなく、数週間〜数ヶ月で休眠化。</a:t>
            </a:r>
          </a:p>
        </p:txBody>
      </p:sp>
      <p:sp>
        <p:nvSpPr>
          <p:cNvPr id="10" name="Oval 9"/>
          <p:cNvSpPr/>
          <p:nvPr/>
        </p:nvSpPr>
        <p:spPr>
          <a:xfrm>
            <a:off x="475488" y="3337560"/>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1" name="TextBox 10"/>
          <p:cNvSpPr txBox="1"/>
          <p:nvPr/>
        </p:nvSpPr>
        <p:spPr>
          <a:xfrm>
            <a:off x="731520" y="3291840"/>
            <a:ext cx="3886200" cy="192360"/>
          </a:xfrm>
          <a:prstGeom prst="rect">
            <a:avLst/>
          </a:prstGeom>
          <a:noFill/>
        </p:spPr>
        <p:txBody>
          <a:bodyPr wrap="square" lIns="0" tIns="0" rIns="0" bIns="0" anchor="t">
            <a:spAutoFit/>
          </a:bodyPr>
          <a:lstStyle/>
          <a:p>
            <a:pPr algn="l"/>
            <a:r>
              <a:rPr sz="1250" b="1">
                <a:solidFill>
                  <a:srgbClr val="23272E"/>
                </a:solidFill>
                <a:latin typeface="メイリオ" panose="020B0604030504040204" pitchFamily="50" charset="-128"/>
                <a:ea typeface="メイリオ" panose="020B0604030504040204" pitchFamily="50" charset="-128"/>
              </a:rPr>
              <a:t>LINEの効果</a:t>
            </a:r>
          </a:p>
        </p:txBody>
      </p:sp>
      <p:sp>
        <p:nvSpPr>
          <p:cNvPr id="12" name="TextBox 11"/>
          <p:cNvSpPr txBox="1"/>
          <p:nvPr/>
        </p:nvSpPr>
        <p:spPr>
          <a:xfrm>
            <a:off x="731520" y="3593592"/>
            <a:ext cx="3886200" cy="316753"/>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panose="020B0604030504040204" pitchFamily="50" charset="-128"/>
                <a:ea typeface="メイリオ" panose="020B0604030504040204" pitchFamily="50" charset="-128"/>
              </a:rPr>
              <a:t>到達層の約40%が毎月、通知経由で能動的に再訪。ブロック率も25〜27%と低位。</a:t>
            </a:r>
          </a:p>
        </p:txBody>
      </p:sp>
      <p:sp>
        <p:nvSpPr>
          <p:cNvPr id="13" name="Oval 12"/>
          <p:cNvSpPr/>
          <p:nvPr/>
        </p:nvSpPr>
        <p:spPr>
          <a:xfrm>
            <a:off x="5047488" y="2532888"/>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4" name="TextBox 13"/>
          <p:cNvSpPr txBox="1"/>
          <p:nvPr/>
        </p:nvSpPr>
        <p:spPr>
          <a:xfrm>
            <a:off x="5303520" y="2487168"/>
            <a:ext cx="3886200" cy="192360"/>
          </a:xfrm>
          <a:prstGeom prst="rect">
            <a:avLst/>
          </a:prstGeom>
          <a:noFill/>
        </p:spPr>
        <p:txBody>
          <a:bodyPr wrap="square" lIns="0" tIns="0" rIns="0" bIns="0" anchor="t">
            <a:spAutoFit/>
          </a:bodyPr>
          <a:lstStyle/>
          <a:p>
            <a:pPr algn="l"/>
            <a:r>
              <a:rPr sz="1250" b="1">
                <a:solidFill>
                  <a:srgbClr val="23272E"/>
                </a:solidFill>
                <a:latin typeface="メイリオ" panose="020B0604030504040204" pitchFamily="50" charset="-128"/>
                <a:ea typeface="メイリオ" panose="020B0604030504040204" pitchFamily="50" charset="-128"/>
              </a:rPr>
              <a:t>積み上げ</a:t>
            </a:r>
          </a:p>
        </p:txBody>
      </p:sp>
      <p:sp>
        <p:nvSpPr>
          <p:cNvPr id="15" name="TextBox 14"/>
          <p:cNvSpPr txBox="1"/>
          <p:nvPr/>
        </p:nvSpPr>
        <p:spPr>
          <a:xfrm>
            <a:off x="5303520" y="2788920"/>
            <a:ext cx="3886200" cy="158377"/>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panose="020B0604030504040204" pitchFamily="50" charset="-128"/>
                <a:ea typeface="メイリオ" panose="020B0604030504040204" pitchFamily="50" charset="-128"/>
              </a:rPr>
              <a:t>友だち数はサイト訪問数に連動して純増。6ヶ月で約13,000人。</a:t>
            </a:r>
          </a:p>
        </p:txBody>
      </p:sp>
      <p:sp>
        <p:nvSpPr>
          <p:cNvPr id="16" name="Oval 15"/>
          <p:cNvSpPr/>
          <p:nvPr/>
        </p:nvSpPr>
        <p:spPr>
          <a:xfrm>
            <a:off x="5047488" y="3337560"/>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7" name="TextBox 16"/>
          <p:cNvSpPr txBox="1"/>
          <p:nvPr/>
        </p:nvSpPr>
        <p:spPr>
          <a:xfrm>
            <a:off x="5303520" y="3291840"/>
            <a:ext cx="3886200" cy="192360"/>
          </a:xfrm>
          <a:prstGeom prst="rect">
            <a:avLst/>
          </a:prstGeom>
          <a:noFill/>
        </p:spPr>
        <p:txBody>
          <a:bodyPr wrap="square" lIns="0" tIns="0" rIns="0" bIns="0" anchor="t">
            <a:spAutoFit/>
          </a:bodyPr>
          <a:lstStyle/>
          <a:p>
            <a:pPr algn="l"/>
            <a:r>
              <a:rPr sz="1250" b="1">
                <a:solidFill>
                  <a:srgbClr val="23272E"/>
                </a:solidFill>
                <a:latin typeface="メイリオ" panose="020B0604030504040204" pitchFamily="50" charset="-128"/>
                <a:ea typeface="メイリオ" panose="020B0604030504040204" pitchFamily="50" charset="-128"/>
              </a:rPr>
              <a:t>位置づけ</a:t>
            </a:r>
          </a:p>
        </p:txBody>
      </p:sp>
      <p:sp>
        <p:nvSpPr>
          <p:cNvPr id="18" name="TextBox 17"/>
          <p:cNvSpPr txBox="1"/>
          <p:nvPr/>
        </p:nvSpPr>
        <p:spPr>
          <a:xfrm>
            <a:off x="5303520" y="3593592"/>
            <a:ext cx="3886200" cy="316753"/>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panose="020B0604030504040204" pitchFamily="50" charset="-128"/>
                <a:ea typeface="メイリオ" panose="020B0604030504040204" pitchFamily="50" charset="-128"/>
              </a:rPr>
              <a:t>AIO/SEOで作るコンテンツの配信・再訪レイヤー。新規アカウントを開設。</a:t>
            </a:r>
          </a:p>
        </p:txBody>
      </p:sp>
      <p:graphicFrame>
        <p:nvGraphicFramePr>
          <p:cNvPr id="19" name="Table 18"/>
          <p:cNvGraphicFramePr>
            <a:graphicFrameLocks noGrp="1"/>
          </p:cNvGraphicFramePr>
          <p:nvPr/>
        </p:nvGraphicFramePr>
        <p:xfrm>
          <a:off x="457200" y="4160520"/>
          <a:ext cx="9052560" cy="1691640"/>
        </p:xfrm>
        <a:graphic>
          <a:graphicData uri="http://schemas.openxmlformats.org/drawingml/2006/table">
            <a:tbl>
              <a:tblPr>
                <a:tableStyleId>{5C22544A-7EE6-4342-B048-85BDC9FD1C3A}</a:tableStyleId>
              </a:tblPr>
              <a:tblGrid>
                <a:gridCol w="1691640">
                  <a:extLst>
                    <a:ext uri="{9D8B030D-6E8A-4147-A177-3AD203B41FA5}">
                      <a16:colId xmlns:a16="http://schemas.microsoft.com/office/drawing/2014/main" val="20000"/>
                    </a:ext>
                  </a:extLst>
                </a:gridCol>
                <a:gridCol w="1226820">
                  <a:extLst>
                    <a:ext uri="{9D8B030D-6E8A-4147-A177-3AD203B41FA5}">
                      <a16:colId xmlns:a16="http://schemas.microsoft.com/office/drawing/2014/main" val="20001"/>
                    </a:ext>
                  </a:extLst>
                </a:gridCol>
                <a:gridCol w="1226820">
                  <a:extLst>
                    <a:ext uri="{9D8B030D-6E8A-4147-A177-3AD203B41FA5}">
                      <a16:colId xmlns:a16="http://schemas.microsoft.com/office/drawing/2014/main" val="20002"/>
                    </a:ext>
                  </a:extLst>
                </a:gridCol>
                <a:gridCol w="1226820">
                  <a:extLst>
                    <a:ext uri="{9D8B030D-6E8A-4147-A177-3AD203B41FA5}">
                      <a16:colId xmlns:a16="http://schemas.microsoft.com/office/drawing/2014/main" val="20003"/>
                    </a:ext>
                  </a:extLst>
                </a:gridCol>
                <a:gridCol w="1226820">
                  <a:extLst>
                    <a:ext uri="{9D8B030D-6E8A-4147-A177-3AD203B41FA5}">
                      <a16:colId xmlns:a16="http://schemas.microsoft.com/office/drawing/2014/main" val="20004"/>
                    </a:ext>
                  </a:extLst>
                </a:gridCol>
                <a:gridCol w="1226820">
                  <a:extLst>
                    <a:ext uri="{9D8B030D-6E8A-4147-A177-3AD203B41FA5}">
                      <a16:colId xmlns:a16="http://schemas.microsoft.com/office/drawing/2014/main" val="20005"/>
                    </a:ext>
                  </a:extLst>
                </a:gridCol>
                <a:gridCol w="1226820">
                  <a:extLst>
                    <a:ext uri="{9D8B030D-6E8A-4147-A177-3AD203B41FA5}">
                      <a16:colId xmlns:a16="http://schemas.microsoft.com/office/drawing/2014/main" val="20006"/>
                    </a:ext>
                  </a:extLst>
                </a:gridCol>
              </a:tblGrid>
              <a:tr h="338328">
                <a:tc>
                  <a:txBody>
                    <a:bodyPr/>
                    <a:lstStyle/>
                    <a:p>
                      <a:pPr algn="ctr"/>
                      <a:endParaRPr dirty="0"/>
                    </a:p>
                  </a:txBody>
                  <a:tcPr marL="40000" marR="40000" marT="10000" marB="10000" anchor="ctr">
                    <a:solidFill>
                      <a:srgbClr val="002060"/>
                    </a:solidFill>
                  </a:tcPr>
                </a:tc>
                <a:tc>
                  <a:txBody>
                    <a:bodyPr/>
                    <a:lstStyle/>
                    <a:p>
                      <a:pPr algn="ctr"/>
                      <a:r>
                        <a:rPr sz="950" b="1">
                          <a:solidFill>
                            <a:srgbClr val="FFFFFF"/>
                          </a:solidFill>
                          <a:latin typeface="Meiryo"/>
                        </a:rPr>
                        <a:t>初月</a:t>
                      </a:r>
                    </a:p>
                  </a:txBody>
                  <a:tcPr marL="40000" marR="40000" marT="10000" marB="10000" anchor="ctr">
                    <a:solidFill>
                      <a:srgbClr val="002060"/>
                    </a:solidFill>
                  </a:tcPr>
                </a:tc>
                <a:tc>
                  <a:txBody>
                    <a:bodyPr/>
                    <a:lstStyle/>
                    <a:p>
                      <a:pPr algn="ctr"/>
                      <a:r>
                        <a:rPr sz="950" b="1">
                          <a:solidFill>
                            <a:srgbClr val="FFFFFF"/>
                          </a:solidFill>
                          <a:latin typeface="Meiryo"/>
                        </a:rPr>
                        <a:t>2ヶ月</a:t>
                      </a:r>
                    </a:p>
                  </a:txBody>
                  <a:tcPr marL="40000" marR="40000" marT="10000" marB="10000" anchor="ctr">
                    <a:solidFill>
                      <a:srgbClr val="002060"/>
                    </a:solidFill>
                  </a:tcPr>
                </a:tc>
                <a:tc>
                  <a:txBody>
                    <a:bodyPr/>
                    <a:lstStyle/>
                    <a:p>
                      <a:pPr algn="ctr"/>
                      <a:r>
                        <a:rPr sz="950" b="1">
                          <a:solidFill>
                            <a:srgbClr val="FFFFFF"/>
                          </a:solidFill>
                          <a:latin typeface="Meiryo"/>
                        </a:rPr>
                        <a:t>3ヶ月</a:t>
                      </a:r>
                    </a:p>
                  </a:txBody>
                  <a:tcPr marL="40000" marR="40000" marT="10000" marB="10000" anchor="ctr">
                    <a:solidFill>
                      <a:srgbClr val="002060"/>
                    </a:solidFill>
                  </a:tcPr>
                </a:tc>
                <a:tc>
                  <a:txBody>
                    <a:bodyPr/>
                    <a:lstStyle/>
                    <a:p>
                      <a:pPr algn="ctr"/>
                      <a:r>
                        <a:rPr sz="950" b="1">
                          <a:solidFill>
                            <a:srgbClr val="FFFFFF"/>
                          </a:solidFill>
                          <a:latin typeface="Meiryo"/>
                        </a:rPr>
                        <a:t>4ヶ月</a:t>
                      </a:r>
                    </a:p>
                  </a:txBody>
                  <a:tcPr marL="40000" marR="40000" marT="10000" marB="10000" anchor="ctr">
                    <a:solidFill>
                      <a:srgbClr val="002060"/>
                    </a:solidFill>
                  </a:tcPr>
                </a:tc>
                <a:tc>
                  <a:txBody>
                    <a:bodyPr/>
                    <a:lstStyle/>
                    <a:p>
                      <a:pPr algn="ctr"/>
                      <a:r>
                        <a:rPr sz="950" b="1">
                          <a:solidFill>
                            <a:srgbClr val="FFFFFF"/>
                          </a:solidFill>
                          <a:latin typeface="Meiryo"/>
                        </a:rPr>
                        <a:t>5ヶ月</a:t>
                      </a:r>
                    </a:p>
                  </a:txBody>
                  <a:tcPr marL="40000" marR="40000" marT="10000" marB="10000" anchor="ctr">
                    <a:solidFill>
                      <a:srgbClr val="002060"/>
                    </a:solidFill>
                  </a:tcPr>
                </a:tc>
                <a:tc>
                  <a:txBody>
                    <a:bodyPr/>
                    <a:lstStyle/>
                    <a:p>
                      <a:pPr algn="ctr"/>
                      <a:r>
                        <a:rPr sz="950" b="1">
                          <a:solidFill>
                            <a:srgbClr val="FFFFFF"/>
                          </a:solidFill>
                          <a:latin typeface="Meiryo"/>
                        </a:rPr>
                        <a:t>6ヶ月</a:t>
                      </a:r>
                    </a:p>
                  </a:txBody>
                  <a:tcPr marL="40000" marR="40000" marT="10000" marB="10000" anchor="ctr">
                    <a:solidFill>
                      <a:srgbClr val="002060"/>
                    </a:solidFill>
                  </a:tcPr>
                </a:tc>
                <a:extLst>
                  <a:ext uri="{0D108BD9-81ED-4DB2-BD59-A6C34878D82A}">
                    <a16:rowId xmlns:a16="http://schemas.microsoft.com/office/drawing/2014/main" val="10000"/>
                  </a:ext>
                </a:extLst>
              </a:tr>
              <a:tr h="338328">
                <a:tc>
                  <a:txBody>
                    <a:bodyPr/>
                    <a:lstStyle/>
                    <a:p>
                      <a:pPr algn="l"/>
                      <a:r>
                        <a:rPr sz="950" b="1">
                          <a:solidFill>
                            <a:srgbClr val="23272E"/>
                          </a:solidFill>
                          <a:latin typeface="Meiryo"/>
                        </a:rPr>
                        <a:t>LINE友だち数</a:t>
                      </a:r>
                    </a:p>
                  </a:txBody>
                  <a:tcPr marL="40000" marR="40000" marT="10000" marB="10000" anchor="ctr">
                    <a:solidFill>
                      <a:srgbClr val="FFFFFF"/>
                    </a:solidFill>
                  </a:tcPr>
                </a:tc>
                <a:tc>
                  <a:txBody>
                    <a:bodyPr/>
                    <a:lstStyle/>
                    <a:p>
                      <a:pPr algn="ctr"/>
                      <a:r>
                        <a:rPr sz="950" b="0">
                          <a:solidFill>
                            <a:srgbClr val="23272E"/>
                          </a:solidFill>
                          <a:latin typeface="Meiryo"/>
                        </a:rPr>
                        <a:t>7,113</a:t>
                      </a:r>
                    </a:p>
                  </a:txBody>
                  <a:tcPr marL="40000" marR="40000" marT="10000" marB="10000" anchor="ctr">
                    <a:solidFill>
                      <a:srgbClr val="FFFFFF"/>
                    </a:solidFill>
                  </a:tcPr>
                </a:tc>
                <a:tc>
                  <a:txBody>
                    <a:bodyPr/>
                    <a:lstStyle/>
                    <a:p>
                      <a:pPr algn="ctr"/>
                      <a:r>
                        <a:rPr sz="950" b="0">
                          <a:solidFill>
                            <a:srgbClr val="23272E"/>
                          </a:solidFill>
                          <a:latin typeface="Meiryo"/>
                        </a:rPr>
                        <a:t>8,272</a:t>
                      </a:r>
                    </a:p>
                  </a:txBody>
                  <a:tcPr marL="40000" marR="40000" marT="10000" marB="10000" anchor="ctr">
                    <a:solidFill>
                      <a:srgbClr val="FFFFFF"/>
                    </a:solidFill>
                  </a:tcPr>
                </a:tc>
                <a:tc>
                  <a:txBody>
                    <a:bodyPr/>
                    <a:lstStyle/>
                    <a:p>
                      <a:pPr algn="ctr"/>
                      <a:r>
                        <a:rPr sz="950" b="0">
                          <a:solidFill>
                            <a:srgbClr val="23272E"/>
                          </a:solidFill>
                          <a:latin typeface="Meiryo"/>
                        </a:rPr>
                        <a:t>9,438</a:t>
                      </a:r>
                    </a:p>
                  </a:txBody>
                  <a:tcPr marL="40000" marR="40000" marT="10000" marB="10000" anchor="ctr">
                    <a:solidFill>
                      <a:srgbClr val="FFFFFF"/>
                    </a:solidFill>
                  </a:tcPr>
                </a:tc>
                <a:tc>
                  <a:txBody>
                    <a:bodyPr/>
                    <a:lstStyle/>
                    <a:p>
                      <a:pPr algn="ctr"/>
                      <a:r>
                        <a:rPr sz="950" b="0">
                          <a:solidFill>
                            <a:srgbClr val="23272E"/>
                          </a:solidFill>
                          <a:latin typeface="Meiryo"/>
                        </a:rPr>
                        <a:t>10,612</a:t>
                      </a:r>
                    </a:p>
                  </a:txBody>
                  <a:tcPr marL="40000" marR="40000" marT="10000" marB="10000" anchor="ctr">
                    <a:solidFill>
                      <a:srgbClr val="FFFFFF"/>
                    </a:solidFill>
                  </a:tcPr>
                </a:tc>
                <a:tc>
                  <a:txBody>
                    <a:bodyPr/>
                    <a:lstStyle/>
                    <a:p>
                      <a:pPr algn="ctr"/>
                      <a:r>
                        <a:rPr sz="950" b="0">
                          <a:solidFill>
                            <a:srgbClr val="23272E"/>
                          </a:solidFill>
                          <a:latin typeface="Meiryo"/>
                        </a:rPr>
                        <a:t>11,793</a:t>
                      </a:r>
                    </a:p>
                  </a:txBody>
                  <a:tcPr marL="40000" marR="40000" marT="10000" marB="10000" anchor="ctr">
                    <a:solidFill>
                      <a:srgbClr val="FFFFFF"/>
                    </a:solidFill>
                  </a:tcPr>
                </a:tc>
                <a:tc>
                  <a:txBody>
                    <a:bodyPr/>
                    <a:lstStyle/>
                    <a:p>
                      <a:pPr algn="ctr"/>
                      <a:r>
                        <a:rPr sz="950" b="0">
                          <a:solidFill>
                            <a:srgbClr val="23272E"/>
                          </a:solidFill>
                          <a:latin typeface="Meiryo"/>
                        </a:rPr>
                        <a:t>12,983</a:t>
                      </a:r>
                    </a:p>
                  </a:txBody>
                  <a:tcPr marL="40000" marR="40000" marT="10000" marB="10000" anchor="ctr">
                    <a:solidFill>
                      <a:srgbClr val="FFFFFF"/>
                    </a:solidFill>
                  </a:tcPr>
                </a:tc>
                <a:extLst>
                  <a:ext uri="{0D108BD9-81ED-4DB2-BD59-A6C34878D82A}">
                    <a16:rowId xmlns:a16="http://schemas.microsoft.com/office/drawing/2014/main" val="10001"/>
                  </a:ext>
                </a:extLst>
              </a:tr>
              <a:tr h="338328">
                <a:tc>
                  <a:txBody>
                    <a:bodyPr/>
                    <a:lstStyle/>
                    <a:p>
                      <a:pPr algn="l"/>
                      <a:r>
                        <a:rPr sz="950" b="1">
                          <a:solidFill>
                            <a:srgbClr val="23272E"/>
                          </a:solidFill>
                          <a:latin typeface="Meiryo"/>
                        </a:rPr>
                        <a:t>ブロック率</a:t>
                      </a:r>
                    </a:p>
                  </a:txBody>
                  <a:tcPr marL="40000" marR="40000" marT="10000" marB="10000" anchor="ctr">
                    <a:solidFill>
                      <a:srgbClr val="F7F7F9"/>
                    </a:solidFill>
                  </a:tcPr>
                </a:tc>
                <a:tc>
                  <a:txBody>
                    <a:bodyPr/>
                    <a:lstStyle/>
                    <a:p>
                      <a:pPr algn="ctr"/>
                      <a:r>
                        <a:rPr sz="950" b="0">
                          <a:solidFill>
                            <a:srgbClr val="23272E"/>
                          </a:solidFill>
                          <a:latin typeface="Meiryo"/>
                        </a:rPr>
                        <a:t>25.0%</a:t>
                      </a:r>
                    </a:p>
                  </a:txBody>
                  <a:tcPr marL="40000" marR="40000" marT="10000" marB="10000" anchor="ctr">
                    <a:solidFill>
                      <a:srgbClr val="F7F7F9"/>
                    </a:solidFill>
                  </a:tcPr>
                </a:tc>
                <a:tc>
                  <a:txBody>
                    <a:bodyPr/>
                    <a:lstStyle/>
                    <a:p>
                      <a:pPr algn="ctr"/>
                      <a:r>
                        <a:rPr sz="950" b="0">
                          <a:solidFill>
                            <a:srgbClr val="23272E"/>
                          </a:solidFill>
                          <a:latin typeface="Meiryo"/>
                        </a:rPr>
                        <a:t>25.4%</a:t>
                      </a:r>
                    </a:p>
                  </a:txBody>
                  <a:tcPr marL="40000" marR="40000" marT="10000" marB="10000" anchor="ctr">
                    <a:solidFill>
                      <a:srgbClr val="F7F7F9"/>
                    </a:solidFill>
                  </a:tcPr>
                </a:tc>
                <a:tc>
                  <a:txBody>
                    <a:bodyPr/>
                    <a:lstStyle/>
                    <a:p>
                      <a:pPr algn="ctr"/>
                      <a:r>
                        <a:rPr sz="950" b="0">
                          <a:solidFill>
                            <a:srgbClr val="23272E"/>
                          </a:solidFill>
                          <a:latin typeface="Meiryo"/>
                        </a:rPr>
                        <a:t>25.8%</a:t>
                      </a:r>
                    </a:p>
                  </a:txBody>
                  <a:tcPr marL="40000" marR="40000" marT="10000" marB="10000" anchor="ctr">
                    <a:solidFill>
                      <a:srgbClr val="F7F7F9"/>
                    </a:solidFill>
                  </a:tcPr>
                </a:tc>
                <a:tc>
                  <a:txBody>
                    <a:bodyPr/>
                    <a:lstStyle/>
                    <a:p>
                      <a:pPr algn="ctr"/>
                      <a:r>
                        <a:rPr sz="950" b="0">
                          <a:solidFill>
                            <a:srgbClr val="23272E"/>
                          </a:solidFill>
                          <a:latin typeface="Meiryo"/>
                        </a:rPr>
                        <a:t>26.1%</a:t>
                      </a:r>
                    </a:p>
                  </a:txBody>
                  <a:tcPr marL="40000" marR="40000" marT="10000" marB="10000" anchor="ctr">
                    <a:solidFill>
                      <a:srgbClr val="F7F7F9"/>
                    </a:solidFill>
                  </a:tcPr>
                </a:tc>
                <a:tc>
                  <a:txBody>
                    <a:bodyPr/>
                    <a:lstStyle/>
                    <a:p>
                      <a:pPr algn="ctr"/>
                      <a:r>
                        <a:rPr sz="950" b="0">
                          <a:solidFill>
                            <a:srgbClr val="23272E"/>
                          </a:solidFill>
                          <a:latin typeface="Meiryo"/>
                        </a:rPr>
                        <a:t>26.5%</a:t>
                      </a:r>
                    </a:p>
                  </a:txBody>
                  <a:tcPr marL="40000" marR="40000" marT="10000" marB="10000" anchor="ctr">
                    <a:solidFill>
                      <a:srgbClr val="F7F7F9"/>
                    </a:solidFill>
                  </a:tcPr>
                </a:tc>
                <a:tc>
                  <a:txBody>
                    <a:bodyPr/>
                    <a:lstStyle/>
                    <a:p>
                      <a:pPr algn="ctr"/>
                      <a:r>
                        <a:rPr sz="950" b="0">
                          <a:solidFill>
                            <a:srgbClr val="23272E"/>
                          </a:solidFill>
                          <a:latin typeface="Meiryo"/>
                        </a:rPr>
                        <a:t>26.9%</a:t>
                      </a:r>
                    </a:p>
                  </a:txBody>
                  <a:tcPr marL="40000" marR="40000" marT="10000" marB="10000" anchor="ctr">
                    <a:solidFill>
                      <a:srgbClr val="F7F7F9"/>
                    </a:solidFill>
                  </a:tcPr>
                </a:tc>
                <a:extLst>
                  <a:ext uri="{0D108BD9-81ED-4DB2-BD59-A6C34878D82A}">
                    <a16:rowId xmlns:a16="http://schemas.microsoft.com/office/drawing/2014/main" val="10002"/>
                  </a:ext>
                </a:extLst>
              </a:tr>
              <a:tr h="338328">
                <a:tc>
                  <a:txBody>
                    <a:bodyPr/>
                    <a:lstStyle/>
                    <a:p>
                      <a:pPr algn="l"/>
                      <a:r>
                        <a:rPr sz="950" b="1">
                          <a:solidFill>
                            <a:srgbClr val="23272E"/>
                          </a:solidFill>
                          <a:latin typeface="Meiryo"/>
                        </a:rPr>
                        <a:t>到達（配信可）</a:t>
                      </a:r>
                    </a:p>
                  </a:txBody>
                  <a:tcPr marL="40000" marR="40000" marT="10000" marB="10000" anchor="ctr">
                    <a:solidFill>
                      <a:srgbClr val="FFFFFF"/>
                    </a:solidFill>
                  </a:tcPr>
                </a:tc>
                <a:tc>
                  <a:txBody>
                    <a:bodyPr/>
                    <a:lstStyle/>
                    <a:p>
                      <a:pPr algn="ctr"/>
                      <a:r>
                        <a:rPr sz="950" b="0">
                          <a:solidFill>
                            <a:srgbClr val="23272E"/>
                          </a:solidFill>
                          <a:latin typeface="Meiryo"/>
                        </a:rPr>
                        <a:t>5,335</a:t>
                      </a:r>
                    </a:p>
                  </a:txBody>
                  <a:tcPr marL="40000" marR="40000" marT="10000" marB="10000" anchor="ctr">
                    <a:solidFill>
                      <a:srgbClr val="FFFFFF"/>
                    </a:solidFill>
                  </a:tcPr>
                </a:tc>
                <a:tc>
                  <a:txBody>
                    <a:bodyPr/>
                    <a:lstStyle/>
                    <a:p>
                      <a:pPr algn="ctr"/>
                      <a:r>
                        <a:rPr sz="950" b="0">
                          <a:solidFill>
                            <a:srgbClr val="23272E"/>
                          </a:solidFill>
                          <a:latin typeface="Meiryo"/>
                        </a:rPr>
                        <a:t>6,173</a:t>
                      </a:r>
                    </a:p>
                  </a:txBody>
                  <a:tcPr marL="40000" marR="40000" marT="10000" marB="10000" anchor="ctr">
                    <a:solidFill>
                      <a:srgbClr val="FFFFFF"/>
                    </a:solidFill>
                  </a:tcPr>
                </a:tc>
                <a:tc>
                  <a:txBody>
                    <a:bodyPr/>
                    <a:lstStyle/>
                    <a:p>
                      <a:pPr algn="ctr"/>
                      <a:r>
                        <a:rPr sz="950" b="0">
                          <a:solidFill>
                            <a:srgbClr val="23272E"/>
                          </a:solidFill>
                          <a:latin typeface="Meiryo"/>
                        </a:rPr>
                        <a:t>7,007</a:t>
                      </a:r>
                    </a:p>
                  </a:txBody>
                  <a:tcPr marL="40000" marR="40000" marT="10000" marB="10000" anchor="ctr">
                    <a:solidFill>
                      <a:srgbClr val="FFFFFF"/>
                    </a:solidFill>
                  </a:tcPr>
                </a:tc>
                <a:tc>
                  <a:txBody>
                    <a:bodyPr/>
                    <a:lstStyle/>
                    <a:p>
                      <a:pPr algn="ctr"/>
                      <a:r>
                        <a:rPr sz="950" b="0">
                          <a:solidFill>
                            <a:srgbClr val="23272E"/>
                          </a:solidFill>
                          <a:latin typeface="Meiryo"/>
                        </a:rPr>
                        <a:t>7,838</a:t>
                      </a:r>
                    </a:p>
                  </a:txBody>
                  <a:tcPr marL="40000" marR="40000" marT="10000" marB="10000" anchor="ctr">
                    <a:solidFill>
                      <a:srgbClr val="FFFFFF"/>
                    </a:solidFill>
                  </a:tcPr>
                </a:tc>
                <a:tc>
                  <a:txBody>
                    <a:bodyPr/>
                    <a:lstStyle/>
                    <a:p>
                      <a:pPr algn="ctr"/>
                      <a:r>
                        <a:rPr sz="950" b="0">
                          <a:solidFill>
                            <a:srgbClr val="23272E"/>
                          </a:solidFill>
                          <a:latin typeface="Meiryo"/>
                        </a:rPr>
                        <a:t>8,664</a:t>
                      </a:r>
                    </a:p>
                  </a:txBody>
                  <a:tcPr marL="40000" marR="40000" marT="10000" marB="10000" anchor="ctr">
                    <a:solidFill>
                      <a:srgbClr val="FFFFFF"/>
                    </a:solidFill>
                  </a:tcPr>
                </a:tc>
                <a:tc>
                  <a:txBody>
                    <a:bodyPr/>
                    <a:lstStyle/>
                    <a:p>
                      <a:pPr algn="ctr"/>
                      <a:r>
                        <a:rPr sz="950" b="0">
                          <a:solidFill>
                            <a:srgbClr val="23272E"/>
                          </a:solidFill>
                          <a:latin typeface="Meiryo"/>
                        </a:rPr>
                        <a:t>9,487</a:t>
                      </a:r>
                    </a:p>
                  </a:txBody>
                  <a:tcPr marL="40000" marR="40000" marT="10000" marB="10000" anchor="ctr">
                    <a:solidFill>
                      <a:srgbClr val="FFFFFF"/>
                    </a:solidFill>
                  </a:tcPr>
                </a:tc>
                <a:extLst>
                  <a:ext uri="{0D108BD9-81ED-4DB2-BD59-A6C34878D82A}">
                    <a16:rowId xmlns:a16="http://schemas.microsoft.com/office/drawing/2014/main" val="10003"/>
                  </a:ext>
                </a:extLst>
              </a:tr>
              <a:tr h="338328">
                <a:tc>
                  <a:txBody>
                    <a:bodyPr/>
                    <a:lstStyle/>
                    <a:p>
                      <a:pPr algn="l"/>
                      <a:r>
                        <a:rPr sz="950" b="1">
                          <a:solidFill>
                            <a:srgbClr val="23272E"/>
                          </a:solidFill>
                          <a:latin typeface="Meiryo"/>
                        </a:rPr>
                        <a:t>LINE経由 サイト流入/月</a:t>
                      </a:r>
                    </a:p>
                  </a:txBody>
                  <a:tcPr marL="40000" marR="40000" marT="10000" marB="10000" anchor="ctr">
                    <a:solidFill>
                      <a:srgbClr val="F7F7F9"/>
                    </a:solidFill>
                  </a:tcPr>
                </a:tc>
                <a:tc>
                  <a:txBody>
                    <a:bodyPr/>
                    <a:lstStyle/>
                    <a:p>
                      <a:pPr algn="ctr"/>
                      <a:r>
                        <a:rPr sz="950" b="0">
                          <a:solidFill>
                            <a:srgbClr val="23272E"/>
                          </a:solidFill>
                          <a:latin typeface="Meiryo"/>
                        </a:rPr>
                        <a:t>2,134</a:t>
                      </a:r>
                    </a:p>
                  </a:txBody>
                  <a:tcPr marL="40000" marR="40000" marT="10000" marB="10000" anchor="ctr">
                    <a:solidFill>
                      <a:srgbClr val="F7F7F9"/>
                    </a:solidFill>
                  </a:tcPr>
                </a:tc>
                <a:tc>
                  <a:txBody>
                    <a:bodyPr/>
                    <a:lstStyle/>
                    <a:p>
                      <a:pPr algn="ctr"/>
                      <a:r>
                        <a:rPr sz="950" b="0">
                          <a:solidFill>
                            <a:srgbClr val="23272E"/>
                          </a:solidFill>
                          <a:latin typeface="Meiryo"/>
                        </a:rPr>
                        <a:t>2,469</a:t>
                      </a:r>
                    </a:p>
                  </a:txBody>
                  <a:tcPr marL="40000" marR="40000" marT="10000" marB="10000" anchor="ctr">
                    <a:solidFill>
                      <a:srgbClr val="F7F7F9"/>
                    </a:solidFill>
                  </a:tcPr>
                </a:tc>
                <a:tc>
                  <a:txBody>
                    <a:bodyPr/>
                    <a:lstStyle/>
                    <a:p>
                      <a:pPr algn="ctr"/>
                      <a:r>
                        <a:rPr sz="950" b="0">
                          <a:solidFill>
                            <a:srgbClr val="23272E"/>
                          </a:solidFill>
                          <a:latin typeface="Meiryo"/>
                        </a:rPr>
                        <a:t>2,803</a:t>
                      </a:r>
                    </a:p>
                  </a:txBody>
                  <a:tcPr marL="40000" marR="40000" marT="10000" marB="10000" anchor="ctr">
                    <a:solidFill>
                      <a:srgbClr val="F7F7F9"/>
                    </a:solidFill>
                  </a:tcPr>
                </a:tc>
                <a:tc>
                  <a:txBody>
                    <a:bodyPr/>
                    <a:lstStyle/>
                    <a:p>
                      <a:pPr algn="ctr"/>
                      <a:r>
                        <a:rPr sz="950" b="0">
                          <a:solidFill>
                            <a:srgbClr val="23272E"/>
                          </a:solidFill>
                          <a:latin typeface="Meiryo"/>
                        </a:rPr>
                        <a:t>3,135</a:t>
                      </a:r>
                    </a:p>
                  </a:txBody>
                  <a:tcPr marL="40000" marR="40000" marT="10000" marB="10000" anchor="ctr">
                    <a:solidFill>
                      <a:srgbClr val="F7F7F9"/>
                    </a:solidFill>
                  </a:tcPr>
                </a:tc>
                <a:tc>
                  <a:txBody>
                    <a:bodyPr/>
                    <a:lstStyle/>
                    <a:p>
                      <a:pPr algn="ctr"/>
                      <a:r>
                        <a:rPr sz="950" b="0">
                          <a:solidFill>
                            <a:srgbClr val="23272E"/>
                          </a:solidFill>
                          <a:latin typeface="Meiryo"/>
                        </a:rPr>
                        <a:t>3,466</a:t>
                      </a:r>
                    </a:p>
                  </a:txBody>
                  <a:tcPr marL="40000" marR="40000" marT="10000" marB="10000" anchor="ctr">
                    <a:solidFill>
                      <a:srgbClr val="F7F7F9"/>
                    </a:solidFill>
                  </a:tcPr>
                </a:tc>
                <a:tc>
                  <a:txBody>
                    <a:bodyPr/>
                    <a:lstStyle/>
                    <a:p>
                      <a:pPr algn="ctr"/>
                      <a:r>
                        <a:rPr sz="950" b="0" dirty="0">
                          <a:solidFill>
                            <a:srgbClr val="23272E"/>
                          </a:solidFill>
                          <a:latin typeface="Meiryo"/>
                        </a:rPr>
                        <a:t>3,795</a:t>
                      </a:r>
                    </a:p>
                  </a:txBody>
                  <a:tcPr marL="40000" marR="40000" marT="10000" marB="10000" anchor="ctr">
                    <a:solidFill>
                      <a:srgbClr val="F7F7F9"/>
                    </a:solidFill>
                  </a:tcPr>
                </a:tc>
                <a:extLst>
                  <a:ext uri="{0D108BD9-81ED-4DB2-BD59-A6C34878D82A}">
                    <a16:rowId xmlns:a16="http://schemas.microsoft.com/office/drawing/2014/main" val="10004"/>
                  </a:ext>
                </a:extLst>
              </a:tr>
            </a:tbl>
          </a:graphicData>
        </a:graphic>
      </p:graphicFrame>
      <p:sp>
        <p:nvSpPr>
          <p:cNvPr id="20" name="TextBox 19"/>
          <p:cNvSpPr txBox="1"/>
          <p:nvPr/>
        </p:nvSpPr>
        <p:spPr>
          <a:xfrm>
            <a:off x="457200" y="6272784"/>
            <a:ext cx="8988552" cy="130805"/>
          </a:xfrm>
          <a:prstGeom prst="rect">
            <a:avLst/>
          </a:prstGeom>
          <a:noFill/>
        </p:spPr>
        <p:txBody>
          <a:bodyPr wrap="square" lIns="0" tIns="0" rIns="0" bIns="0" anchor="t">
            <a:spAutoFit/>
          </a:bodyPr>
          <a:lstStyle/>
          <a:p>
            <a:pPr algn="l"/>
            <a:r>
              <a:rPr sz="850" b="0" dirty="0">
                <a:solidFill>
                  <a:srgbClr val="6E7278"/>
                </a:solidFill>
                <a:latin typeface="メイリオ" panose="020B0604030504040204" pitchFamily="50" charset="-128"/>
                <a:ea typeface="メイリオ" panose="020B0604030504040204" pitchFamily="50" charset="-128"/>
              </a:rPr>
              <a:t>※</a:t>
            </a:r>
            <a:r>
              <a:rPr sz="850" b="0" dirty="0" err="1">
                <a:solidFill>
                  <a:srgbClr val="6E7278"/>
                </a:solidFill>
                <a:latin typeface="メイリオ" panose="020B0604030504040204" pitchFamily="50" charset="-128"/>
                <a:ea typeface="メイリオ" panose="020B0604030504040204" pitchFamily="50" charset="-128"/>
              </a:rPr>
              <a:t>SIM決定版より。LINE経由</a:t>
            </a:r>
            <a:r>
              <a:rPr sz="850" b="0" dirty="0">
                <a:solidFill>
                  <a:srgbClr val="6E7278"/>
                </a:solidFill>
                <a:latin typeface="メイリオ" panose="020B0604030504040204" pitchFamily="50" charset="-128"/>
                <a:ea typeface="メイリオ" panose="020B0604030504040204" pitchFamily="50" charset="-128"/>
              </a:rPr>
              <a:t> </a:t>
            </a:r>
            <a:r>
              <a:rPr sz="850" b="0" dirty="0" err="1">
                <a:solidFill>
                  <a:srgbClr val="6E7278"/>
                </a:solidFill>
                <a:latin typeface="メイリオ" panose="020B0604030504040204" pitchFamily="50" charset="-128"/>
                <a:ea typeface="メイリオ" panose="020B0604030504040204" pitchFamily="50" charset="-128"/>
              </a:rPr>
              <a:t>サイト流入</a:t>
            </a:r>
            <a:r>
              <a:rPr sz="850" b="0" dirty="0">
                <a:solidFill>
                  <a:srgbClr val="6E7278"/>
                </a:solidFill>
                <a:latin typeface="メイリオ" panose="020B0604030504040204" pitchFamily="50" charset="-128"/>
                <a:ea typeface="メイリオ" panose="020B0604030504040204" pitchFamily="50" charset="-128"/>
              </a:rPr>
              <a:t>/月 ＝ </a:t>
            </a:r>
            <a:r>
              <a:rPr sz="850" b="0" dirty="0" err="1">
                <a:solidFill>
                  <a:srgbClr val="6E7278"/>
                </a:solidFill>
                <a:latin typeface="メイリオ" panose="020B0604030504040204" pitchFamily="50" charset="-128"/>
                <a:ea typeface="メイリオ" panose="020B0604030504040204" pitchFamily="50" charset="-128"/>
              </a:rPr>
              <a:t>到達数</a:t>
            </a:r>
            <a:r>
              <a:rPr sz="850" b="0" dirty="0">
                <a:solidFill>
                  <a:srgbClr val="6E7278"/>
                </a:solidFill>
                <a:latin typeface="メイリオ" panose="020B0604030504040204" pitchFamily="50" charset="-128"/>
                <a:ea typeface="メイリオ" panose="020B0604030504040204" pitchFamily="50" charset="-128"/>
              </a:rPr>
              <a:t> × 40%（</a:t>
            </a:r>
            <a:r>
              <a:rPr sz="850" b="0" dirty="0" err="1">
                <a:solidFill>
                  <a:srgbClr val="6E7278"/>
                </a:solidFill>
                <a:latin typeface="メイリオ" panose="020B0604030504040204" pitchFamily="50" charset="-128"/>
                <a:ea typeface="メイリオ" panose="020B0604030504040204" pitchFamily="50" charset="-128"/>
              </a:rPr>
              <a:t>企画投稿からの流入</a:t>
            </a:r>
            <a:r>
              <a:rPr sz="850" b="0" dirty="0">
                <a:solidFill>
                  <a:srgbClr val="6E7278"/>
                </a:solidFill>
                <a:latin typeface="メイリオ" panose="020B0604030504040204" pitchFamily="50" charset="-128"/>
                <a:ea typeface="メイリオ" panose="020B0604030504040204" pitchFamily="50" charset="-128"/>
              </a:rPr>
              <a:t>）。</a:t>
            </a:r>
            <a:r>
              <a:rPr sz="850" b="0" dirty="0" err="1">
                <a:solidFill>
                  <a:srgbClr val="6E7278"/>
                </a:solidFill>
                <a:latin typeface="メイリオ" panose="020B0604030504040204" pitchFamily="50" charset="-128"/>
                <a:ea typeface="メイリオ" panose="020B0604030504040204" pitchFamily="50" charset="-128"/>
              </a:rPr>
              <a:t>配信</a:t>
            </a:r>
            <a:r>
              <a:rPr sz="850" b="0" dirty="0">
                <a:solidFill>
                  <a:srgbClr val="6E7278"/>
                </a:solidFill>
                <a:latin typeface="メイリオ" panose="020B0604030504040204" pitchFamily="50" charset="-128"/>
                <a:ea typeface="メイリオ" panose="020B0604030504040204" pitchFamily="50" charset="-128"/>
              </a:rPr>
              <a:t> 月4回</a:t>
            </a:r>
            <a:r>
              <a:rPr lang="ja-JP" altLang="en-US" sz="850" b="0" dirty="0">
                <a:solidFill>
                  <a:srgbClr val="6E7278"/>
                </a:solidFill>
                <a:latin typeface="メイリオ" panose="020B0604030504040204" pitchFamily="50" charset="-128"/>
                <a:ea typeface="メイリオ" panose="020B0604030504040204" pitchFamily="50" charset="-128"/>
              </a:rPr>
              <a:t>想定</a:t>
            </a:r>
            <a:r>
              <a:rPr sz="850" b="0" dirty="0">
                <a:solidFill>
                  <a:srgbClr val="6E7278"/>
                </a:solidFill>
                <a:latin typeface="メイリオ" panose="020B0604030504040204" pitchFamily="50" charset="-128"/>
                <a:ea typeface="メイリオ" panose="020B0604030504040204" pitchFamily="50" charset="-128"/>
              </a:rPr>
              <a:t>。※</a:t>
            </a:r>
            <a:r>
              <a:rPr sz="850" b="0" dirty="0" err="1">
                <a:solidFill>
                  <a:srgbClr val="6E7278"/>
                </a:solidFill>
                <a:latin typeface="メイリオ" panose="020B0604030504040204" pitchFamily="50" charset="-128"/>
                <a:ea typeface="メイリオ" panose="020B0604030504040204" pitchFamily="50" charset="-128"/>
              </a:rPr>
              <a:t>モデルケース</a:t>
            </a:r>
            <a:endParaRPr sz="850" b="0" dirty="0">
              <a:solidFill>
                <a:srgbClr val="6E7278"/>
              </a:solidFill>
              <a:latin typeface="メイリオ" panose="020B0604030504040204" pitchFamily="50" charset="-128"/>
              <a:ea typeface="メイリオ" panose="020B0604030504040204" pitchFamily="50" charset="-128"/>
            </a:endParaRPr>
          </a:p>
        </p:txBody>
      </p:sp>
      <p:sp>
        <p:nvSpPr>
          <p:cNvPr id="22" name="テキスト ボックス 47">
            <a:extLst>
              <a:ext uri="{FF2B5EF4-FFF2-40B4-BE49-F238E27FC236}">
                <a16:creationId xmlns:a16="http://schemas.microsoft.com/office/drawing/2014/main" id="{8A39AE55-0E0F-A42A-7E43-52A7E81F8E3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追加施策｜公式</a:t>
            </a:r>
            <a:r>
              <a:rPr lang="en-US" altLang="ja-JP" sz="1600" b="1" dirty="0">
                <a:solidFill>
                  <a:srgbClr val="1F2A5C"/>
                </a:solidFill>
                <a:latin typeface="メイリオ" panose="020B0604030504040204" pitchFamily="50" charset="-128"/>
                <a:ea typeface="メイリオ" panose="020B0604030504040204" pitchFamily="50" charset="-128"/>
              </a:rPr>
              <a:t>LINE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841248"/>
            <a:ext cx="9052560" cy="261610"/>
          </a:xfrm>
          <a:prstGeom prst="rect">
            <a:avLst/>
          </a:prstGeom>
          <a:noFill/>
        </p:spPr>
        <p:txBody>
          <a:bodyPr wrap="square" lIns="0" tIns="0" rIns="0" bIns="0" anchor="t">
            <a:spAutoFit/>
          </a:bodyPr>
          <a:lstStyle/>
          <a:p>
            <a:pPr algn="l"/>
            <a:r>
              <a:rPr sz="1700" b="1">
                <a:solidFill>
                  <a:srgbClr val="23272E"/>
                </a:solidFill>
                <a:latin typeface="メイリオ" panose="020B0604030504040204" pitchFamily="50" charset="-128"/>
                <a:ea typeface="メイリオ" panose="020B0604030504040204" pitchFamily="50" charset="-128"/>
              </a:rPr>
              <a:t>中長期①：メッセージ配信と自動応答を高度化する</a:t>
            </a:r>
          </a:p>
        </p:txBody>
      </p:sp>
      <p:sp>
        <p:nvSpPr>
          <p:cNvPr id="4" name="TextBox 3"/>
          <p:cNvSpPr txBox="1"/>
          <p:nvPr/>
        </p:nvSpPr>
        <p:spPr>
          <a:xfrm>
            <a:off x="457200" y="1316736"/>
            <a:ext cx="9052560" cy="172355"/>
          </a:xfrm>
          <a:prstGeom prst="rect">
            <a:avLst/>
          </a:prstGeom>
          <a:noFill/>
        </p:spPr>
        <p:txBody>
          <a:bodyPr wrap="square" lIns="0" tIns="0" rIns="0" bIns="0" anchor="t">
            <a:spAutoFit/>
          </a:bodyPr>
          <a:lstStyle/>
          <a:p>
            <a:pPr algn="l">
              <a:lnSpc>
                <a:spcPct val="112000"/>
              </a:lnSpc>
            </a:pPr>
            <a:r>
              <a:rPr sz="1000" b="0">
                <a:solidFill>
                  <a:srgbClr val="33383F"/>
                </a:solidFill>
                <a:latin typeface="メイリオ" panose="020B0604030504040204" pitchFamily="50" charset="-128"/>
                <a:ea typeface="メイリオ" panose="020B0604030504040204" pitchFamily="50" charset="-128"/>
              </a:rPr>
              <a:t>初期は標準機能で運用を開始し、効果が見えた段階でAPI実装・外部ツール（Lステップ／Liny／MAAC／Kuzen 等）を追加。</a:t>
            </a:r>
          </a:p>
        </p:txBody>
      </p:sp>
      <p:sp>
        <p:nvSpPr>
          <p:cNvPr id="5" name="Rounded Rectangle 4"/>
          <p:cNvSpPr/>
          <p:nvPr/>
        </p:nvSpPr>
        <p:spPr>
          <a:xfrm>
            <a:off x="457200" y="1847088"/>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6" name="TextBox 5"/>
          <p:cNvSpPr txBox="1"/>
          <p:nvPr/>
        </p:nvSpPr>
        <p:spPr>
          <a:xfrm>
            <a:off x="457200" y="1884667"/>
            <a:ext cx="343814"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標準</a:t>
            </a:r>
          </a:p>
        </p:txBody>
      </p:sp>
      <p:sp>
        <p:nvSpPr>
          <p:cNvPr id="7" name="TextBox 6"/>
          <p:cNvSpPr txBox="1"/>
          <p:nvPr/>
        </p:nvSpPr>
        <p:spPr>
          <a:xfrm>
            <a:off x="874166" y="1876972"/>
            <a:ext cx="820738" cy="123111"/>
          </a:xfrm>
          <a:prstGeom prst="rect">
            <a:avLst/>
          </a:prstGeom>
          <a:noFill/>
        </p:spPr>
        <p:txBody>
          <a:bodyPr wrap="none" lIns="0" tIns="0" rIns="0" bIns="0" anchor="ctr">
            <a:spAutoFit/>
          </a:bodyPr>
          <a:lstStyle/>
          <a:p>
            <a:pPr algn="l"/>
            <a:r>
              <a:rPr sz="800" b="0">
                <a:solidFill>
                  <a:srgbClr val="6E7278"/>
                </a:solidFill>
                <a:latin typeface="メイリオ" panose="020B0604030504040204" pitchFamily="50" charset="-128"/>
                <a:ea typeface="メイリオ" panose="020B0604030504040204" pitchFamily="50" charset="-128"/>
              </a:rPr>
              <a:t>管理画面のみで可</a:t>
            </a:r>
          </a:p>
        </p:txBody>
      </p:sp>
      <p:sp>
        <p:nvSpPr>
          <p:cNvPr id="8" name="Rounded Rectangle 7"/>
          <p:cNvSpPr/>
          <p:nvPr/>
        </p:nvSpPr>
        <p:spPr>
          <a:xfrm>
            <a:off x="2099462" y="1847088"/>
            <a:ext cx="442569" cy="18288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9" name="TextBox 8"/>
          <p:cNvSpPr txBox="1"/>
          <p:nvPr/>
        </p:nvSpPr>
        <p:spPr>
          <a:xfrm>
            <a:off x="2099462" y="1884667"/>
            <a:ext cx="442569"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API</a:t>
            </a:r>
          </a:p>
        </p:txBody>
      </p:sp>
      <p:sp>
        <p:nvSpPr>
          <p:cNvPr id="10" name="TextBox 9"/>
          <p:cNvSpPr txBox="1"/>
          <p:nvPr/>
        </p:nvSpPr>
        <p:spPr>
          <a:xfrm>
            <a:off x="2615184" y="1876972"/>
            <a:ext cx="2471831" cy="123111"/>
          </a:xfrm>
          <a:prstGeom prst="rect">
            <a:avLst/>
          </a:prstGeom>
          <a:noFill/>
        </p:spPr>
        <p:txBody>
          <a:bodyPr wrap="none" lIns="0" tIns="0" rIns="0" bIns="0" anchor="ctr">
            <a:spAutoFit/>
          </a:bodyPr>
          <a:lstStyle/>
          <a:p>
            <a:pPr algn="l"/>
            <a:r>
              <a:rPr sz="800" b="0">
                <a:solidFill>
                  <a:srgbClr val="6E7278"/>
                </a:solidFill>
                <a:latin typeface="メイリオ" panose="020B0604030504040204" pitchFamily="50" charset="-128"/>
                <a:ea typeface="メイリオ" panose="020B0604030504040204" pitchFamily="50" charset="-128"/>
              </a:rPr>
              <a:t>Messaging API等の実装（無料枠あり・実装コスト）</a:t>
            </a:r>
          </a:p>
        </p:txBody>
      </p:sp>
      <p:sp>
        <p:nvSpPr>
          <p:cNvPr id="11" name="Rounded Rectangle 10"/>
          <p:cNvSpPr/>
          <p:nvPr/>
        </p:nvSpPr>
        <p:spPr>
          <a:xfrm>
            <a:off x="6355080" y="1847088"/>
            <a:ext cx="640080" cy="182880"/>
          </a:xfrm>
          <a:prstGeom prst="round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2" name="TextBox 11"/>
          <p:cNvSpPr txBox="1"/>
          <p:nvPr/>
        </p:nvSpPr>
        <p:spPr>
          <a:xfrm>
            <a:off x="6355080" y="1884667"/>
            <a:ext cx="640080"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外部ツール</a:t>
            </a:r>
          </a:p>
        </p:txBody>
      </p:sp>
      <p:sp>
        <p:nvSpPr>
          <p:cNvPr id="13" name="TextBox 12"/>
          <p:cNvSpPr txBox="1"/>
          <p:nvPr/>
        </p:nvSpPr>
        <p:spPr>
          <a:xfrm>
            <a:off x="7068312" y="1876972"/>
            <a:ext cx="2742739" cy="123111"/>
          </a:xfrm>
          <a:prstGeom prst="rect">
            <a:avLst/>
          </a:prstGeom>
          <a:noFill/>
        </p:spPr>
        <p:txBody>
          <a:bodyPr wrap="none" lIns="0" tIns="0" rIns="0" bIns="0" anchor="ctr">
            <a:spAutoFit/>
          </a:bodyPr>
          <a:lstStyle/>
          <a:p>
            <a:pPr algn="l"/>
            <a:r>
              <a:rPr sz="800" b="0">
                <a:solidFill>
                  <a:srgbClr val="6E7278"/>
                </a:solidFill>
                <a:latin typeface="メイリオ" panose="020B0604030504040204" pitchFamily="50" charset="-128"/>
                <a:ea typeface="メイリオ" panose="020B0604030504040204" pitchFamily="50" charset="-128"/>
              </a:rPr>
              <a:t>有料の拡張ツール（Lステップ／Liny／MAAC／Kuzen 等）</a:t>
            </a:r>
          </a:p>
        </p:txBody>
      </p:sp>
      <p:sp>
        <p:nvSpPr>
          <p:cNvPr id="14" name="Rectangle 13"/>
          <p:cNvSpPr/>
          <p:nvPr/>
        </p:nvSpPr>
        <p:spPr>
          <a:xfrm>
            <a:off x="457200" y="2249424"/>
            <a:ext cx="4357116"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5" name="TextBox 14"/>
          <p:cNvSpPr txBox="1"/>
          <p:nvPr/>
        </p:nvSpPr>
        <p:spPr>
          <a:xfrm>
            <a:off x="457200" y="2347665"/>
            <a:ext cx="4357116" cy="169277"/>
          </a:xfrm>
          <a:prstGeom prst="rect">
            <a:avLst/>
          </a:prstGeom>
          <a:noFill/>
        </p:spPr>
        <p:txBody>
          <a:bodyPr wrap="square" lIns="0" tIns="0" rIns="0" bIns="0" anchor="ctr">
            <a:spAutoFit/>
          </a:bodyPr>
          <a:lstStyle/>
          <a:p>
            <a:pPr algn="ctr"/>
            <a:r>
              <a:rPr sz="1100" b="1">
                <a:solidFill>
                  <a:srgbClr val="FFFFFF"/>
                </a:solidFill>
                <a:latin typeface="メイリオ" panose="020B0604030504040204" pitchFamily="50" charset="-128"/>
                <a:ea typeface="メイリオ" panose="020B0604030504040204" pitchFamily="50" charset="-128"/>
              </a:rPr>
              <a:t>メッセージ配信</a:t>
            </a:r>
          </a:p>
        </p:txBody>
      </p:sp>
      <p:sp>
        <p:nvSpPr>
          <p:cNvPr id="16" name="Rounded Rectangle 15"/>
          <p:cNvSpPr/>
          <p:nvPr/>
        </p:nvSpPr>
        <p:spPr>
          <a:xfrm>
            <a:off x="457200" y="2706624"/>
            <a:ext cx="4357116" cy="1072896"/>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7" name="Rectangle 16"/>
          <p:cNvSpPr/>
          <p:nvPr/>
        </p:nvSpPr>
        <p:spPr>
          <a:xfrm>
            <a:off x="457200" y="2706624"/>
            <a:ext cx="54864" cy="1072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8" name="TextBox 17"/>
          <p:cNvSpPr txBox="1"/>
          <p:nvPr/>
        </p:nvSpPr>
        <p:spPr>
          <a:xfrm>
            <a:off x="603504" y="2798064"/>
            <a:ext cx="1705595" cy="146194"/>
          </a:xfrm>
          <a:prstGeom prst="rect">
            <a:avLst/>
          </a:prstGeom>
          <a:noFill/>
        </p:spPr>
        <p:txBody>
          <a:bodyPr wrap="none" lIns="0" tIns="0" rIns="0" bIns="0" anchor="t">
            <a:spAutoFit/>
          </a:bodyPr>
          <a:lstStyle/>
          <a:p>
            <a:pPr algn="l"/>
            <a:r>
              <a:rPr sz="950" b="1">
                <a:solidFill>
                  <a:srgbClr val="23272E"/>
                </a:solidFill>
                <a:latin typeface="メイリオ" panose="020B0604030504040204" pitchFamily="50" charset="-128"/>
                <a:ea typeface="メイリオ" panose="020B0604030504040204" pitchFamily="50" charset="-128"/>
              </a:rPr>
              <a:t>オーディエンスで絞り込み配信</a:t>
            </a:r>
          </a:p>
        </p:txBody>
      </p:sp>
      <p:sp>
        <p:nvSpPr>
          <p:cNvPr id="19" name="Rounded Rectangle 18"/>
          <p:cNvSpPr/>
          <p:nvPr/>
        </p:nvSpPr>
        <p:spPr>
          <a:xfrm>
            <a:off x="603504" y="3026664"/>
            <a:ext cx="442569" cy="18288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20" name="TextBox 19"/>
          <p:cNvSpPr txBox="1"/>
          <p:nvPr/>
        </p:nvSpPr>
        <p:spPr>
          <a:xfrm>
            <a:off x="603504" y="3064243"/>
            <a:ext cx="442569"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API</a:t>
            </a:r>
          </a:p>
        </p:txBody>
      </p:sp>
      <p:sp>
        <p:nvSpPr>
          <p:cNvPr id="21" name="TextBox 20"/>
          <p:cNvSpPr txBox="1"/>
          <p:nvPr/>
        </p:nvSpPr>
        <p:spPr>
          <a:xfrm>
            <a:off x="603504" y="3273552"/>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panose="020B0604030504040204" pitchFamily="50" charset="-128"/>
                <a:ea typeface="メイリオ" panose="020B0604030504040204" pitchFamily="50" charset="-128"/>
              </a:rPr>
              <a:t>「総選挙に投票した人にだけ結果発表と次回企画を配信」など、興味・行動別に出し分けて開封率と再訪を高める。※LINE TagはWeb側の実装が必要</a:t>
            </a:r>
          </a:p>
        </p:txBody>
      </p:sp>
      <p:sp>
        <p:nvSpPr>
          <p:cNvPr id="22" name="Rounded Rectangle 21"/>
          <p:cNvSpPr/>
          <p:nvPr/>
        </p:nvSpPr>
        <p:spPr>
          <a:xfrm>
            <a:off x="457200" y="3925823"/>
            <a:ext cx="4357116" cy="1072896"/>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23" name="Rectangle 22"/>
          <p:cNvSpPr/>
          <p:nvPr/>
        </p:nvSpPr>
        <p:spPr>
          <a:xfrm>
            <a:off x="457200" y="3925823"/>
            <a:ext cx="54864" cy="1072896"/>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24" name="TextBox 23"/>
          <p:cNvSpPr txBox="1"/>
          <p:nvPr/>
        </p:nvSpPr>
        <p:spPr>
          <a:xfrm>
            <a:off x="603504" y="4017263"/>
            <a:ext cx="1340110" cy="146194"/>
          </a:xfrm>
          <a:prstGeom prst="rect">
            <a:avLst/>
          </a:prstGeom>
          <a:noFill/>
        </p:spPr>
        <p:txBody>
          <a:bodyPr wrap="none" lIns="0" tIns="0" rIns="0" bIns="0" anchor="t">
            <a:spAutoFit/>
          </a:bodyPr>
          <a:lstStyle/>
          <a:p>
            <a:pPr algn="l"/>
            <a:r>
              <a:rPr sz="950" b="1">
                <a:solidFill>
                  <a:srgbClr val="23272E"/>
                </a:solidFill>
                <a:latin typeface="メイリオ" panose="020B0604030504040204" pitchFamily="50" charset="-128"/>
                <a:ea typeface="メイリオ" panose="020B0604030504040204" pitchFamily="50" charset="-128"/>
              </a:rPr>
              <a:t>クイックリプライボタン</a:t>
            </a:r>
          </a:p>
        </p:txBody>
      </p:sp>
      <p:sp>
        <p:nvSpPr>
          <p:cNvPr id="25" name="Rounded Rectangle 24"/>
          <p:cNvSpPr/>
          <p:nvPr/>
        </p:nvSpPr>
        <p:spPr>
          <a:xfrm>
            <a:off x="603504" y="4245863"/>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26" name="TextBox 25"/>
          <p:cNvSpPr txBox="1"/>
          <p:nvPr/>
        </p:nvSpPr>
        <p:spPr>
          <a:xfrm>
            <a:off x="603504" y="4283442"/>
            <a:ext cx="343814"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標準</a:t>
            </a:r>
          </a:p>
        </p:txBody>
      </p:sp>
      <p:sp>
        <p:nvSpPr>
          <p:cNvPr id="27" name="TextBox 26"/>
          <p:cNvSpPr txBox="1"/>
          <p:nvPr/>
        </p:nvSpPr>
        <p:spPr>
          <a:xfrm>
            <a:off x="603504" y="4492752"/>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panose="020B0604030504040204" pitchFamily="50" charset="-128"/>
                <a:ea typeface="メイリオ" panose="020B0604030504040204" pitchFamily="50" charset="-128"/>
              </a:rPr>
              <a:t>「参加する／あとで」「どの商品が好き？（3択）」をタップするだけで、企画参加や簡易アンケートまで完結させる。</a:t>
            </a:r>
          </a:p>
        </p:txBody>
      </p:sp>
      <p:sp>
        <p:nvSpPr>
          <p:cNvPr id="28" name="Rounded Rectangle 27"/>
          <p:cNvSpPr/>
          <p:nvPr/>
        </p:nvSpPr>
        <p:spPr>
          <a:xfrm>
            <a:off x="457200" y="5145024"/>
            <a:ext cx="4357116" cy="1072896"/>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29" name="Rectangle 28"/>
          <p:cNvSpPr/>
          <p:nvPr/>
        </p:nvSpPr>
        <p:spPr>
          <a:xfrm>
            <a:off x="457200" y="5145024"/>
            <a:ext cx="54864" cy="1072896"/>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30" name="TextBox 29"/>
          <p:cNvSpPr txBox="1"/>
          <p:nvPr/>
        </p:nvSpPr>
        <p:spPr>
          <a:xfrm>
            <a:off x="603504" y="5236464"/>
            <a:ext cx="860813" cy="146194"/>
          </a:xfrm>
          <a:prstGeom prst="rect">
            <a:avLst/>
          </a:prstGeom>
          <a:noFill/>
        </p:spPr>
        <p:txBody>
          <a:bodyPr wrap="none" lIns="0" tIns="0" rIns="0" bIns="0" anchor="t">
            <a:spAutoFit/>
          </a:bodyPr>
          <a:lstStyle/>
          <a:p>
            <a:pPr algn="l"/>
            <a:r>
              <a:rPr sz="950" b="1">
                <a:solidFill>
                  <a:srgbClr val="23272E"/>
                </a:solidFill>
                <a:latin typeface="メイリオ" panose="020B0604030504040204" pitchFamily="50" charset="-128"/>
                <a:ea typeface="メイリオ" panose="020B0604030504040204" pitchFamily="50" charset="-128"/>
              </a:rPr>
              <a:t>Flex Message</a:t>
            </a:r>
          </a:p>
        </p:txBody>
      </p:sp>
      <p:sp>
        <p:nvSpPr>
          <p:cNvPr id="31" name="Rounded Rectangle 30"/>
          <p:cNvSpPr/>
          <p:nvPr/>
        </p:nvSpPr>
        <p:spPr>
          <a:xfrm>
            <a:off x="603504" y="5465064"/>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32" name="TextBox 31"/>
          <p:cNvSpPr txBox="1"/>
          <p:nvPr/>
        </p:nvSpPr>
        <p:spPr>
          <a:xfrm>
            <a:off x="603504" y="5502643"/>
            <a:ext cx="343814"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標準</a:t>
            </a:r>
          </a:p>
        </p:txBody>
      </p:sp>
      <p:sp>
        <p:nvSpPr>
          <p:cNvPr id="33" name="TextBox 32"/>
          <p:cNvSpPr txBox="1"/>
          <p:nvPr/>
        </p:nvSpPr>
        <p:spPr>
          <a:xfrm>
            <a:off x="603504" y="5711952"/>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panose="020B0604030504040204" pitchFamily="50" charset="-128"/>
                <a:ea typeface="メイリオ" panose="020B0604030504040204" pitchFamily="50" charset="-128"/>
              </a:rPr>
              <a:t>総選挙の順位表や新着企画を画像＋ボタンのカードで配信し、そのままLPへ誘導して回遊させる。</a:t>
            </a:r>
          </a:p>
        </p:txBody>
      </p:sp>
      <p:sp>
        <p:nvSpPr>
          <p:cNvPr id="34" name="Rectangle 33"/>
          <p:cNvSpPr/>
          <p:nvPr/>
        </p:nvSpPr>
        <p:spPr>
          <a:xfrm>
            <a:off x="5088636" y="2249424"/>
            <a:ext cx="4357116"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35" name="TextBox 34"/>
          <p:cNvSpPr txBox="1"/>
          <p:nvPr/>
        </p:nvSpPr>
        <p:spPr>
          <a:xfrm>
            <a:off x="5088636" y="2347665"/>
            <a:ext cx="4357116" cy="169277"/>
          </a:xfrm>
          <a:prstGeom prst="rect">
            <a:avLst/>
          </a:prstGeom>
          <a:noFill/>
        </p:spPr>
        <p:txBody>
          <a:bodyPr wrap="square" lIns="0" tIns="0" rIns="0" bIns="0" anchor="ctr">
            <a:spAutoFit/>
          </a:bodyPr>
          <a:lstStyle/>
          <a:p>
            <a:pPr algn="ctr"/>
            <a:r>
              <a:rPr sz="1100" b="1">
                <a:solidFill>
                  <a:srgbClr val="FFFFFF"/>
                </a:solidFill>
                <a:latin typeface="メイリオ" panose="020B0604030504040204" pitchFamily="50" charset="-128"/>
                <a:ea typeface="メイリオ" panose="020B0604030504040204" pitchFamily="50" charset="-128"/>
              </a:rPr>
              <a:t>自動応答・チャットボット</a:t>
            </a:r>
          </a:p>
        </p:txBody>
      </p:sp>
      <p:sp>
        <p:nvSpPr>
          <p:cNvPr id="36" name="Rounded Rectangle 35"/>
          <p:cNvSpPr/>
          <p:nvPr/>
        </p:nvSpPr>
        <p:spPr>
          <a:xfrm>
            <a:off x="5088636" y="2706624"/>
            <a:ext cx="4357116" cy="1072896"/>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37" name="Rectangle 36"/>
          <p:cNvSpPr/>
          <p:nvPr/>
        </p:nvSpPr>
        <p:spPr>
          <a:xfrm>
            <a:off x="5088636" y="2706624"/>
            <a:ext cx="54864" cy="1072896"/>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38" name="TextBox 37"/>
          <p:cNvSpPr txBox="1"/>
          <p:nvPr/>
        </p:nvSpPr>
        <p:spPr>
          <a:xfrm>
            <a:off x="5234940" y="2798064"/>
            <a:ext cx="1663917" cy="146194"/>
          </a:xfrm>
          <a:prstGeom prst="rect">
            <a:avLst/>
          </a:prstGeom>
          <a:noFill/>
        </p:spPr>
        <p:txBody>
          <a:bodyPr wrap="none" lIns="0" tIns="0" rIns="0" bIns="0" anchor="t">
            <a:spAutoFit/>
          </a:bodyPr>
          <a:lstStyle/>
          <a:p>
            <a:pPr algn="l"/>
            <a:r>
              <a:rPr sz="950" b="1">
                <a:solidFill>
                  <a:srgbClr val="23272E"/>
                </a:solidFill>
                <a:latin typeface="メイリオ" panose="020B0604030504040204" pitchFamily="50" charset="-128"/>
                <a:ea typeface="メイリオ" panose="020B0604030504040204" pitchFamily="50" charset="-128"/>
              </a:rPr>
              <a:t>キーワード応答 ／ 時間内応答</a:t>
            </a:r>
          </a:p>
        </p:txBody>
      </p:sp>
      <p:sp>
        <p:nvSpPr>
          <p:cNvPr id="39" name="Rounded Rectangle 38"/>
          <p:cNvSpPr/>
          <p:nvPr/>
        </p:nvSpPr>
        <p:spPr>
          <a:xfrm>
            <a:off x="5234940" y="3026664"/>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40" name="TextBox 39"/>
          <p:cNvSpPr txBox="1"/>
          <p:nvPr/>
        </p:nvSpPr>
        <p:spPr>
          <a:xfrm>
            <a:off x="5234940" y="3064243"/>
            <a:ext cx="343814"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標準</a:t>
            </a:r>
          </a:p>
        </p:txBody>
      </p:sp>
      <p:sp>
        <p:nvSpPr>
          <p:cNvPr id="41" name="TextBox 40"/>
          <p:cNvSpPr txBox="1"/>
          <p:nvPr/>
        </p:nvSpPr>
        <p:spPr>
          <a:xfrm>
            <a:off x="5234940" y="3273552"/>
            <a:ext cx="4137659" cy="139269"/>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panose="020B0604030504040204" pitchFamily="50" charset="-128"/>
                <a:ea typeface="メイリオ" panose="020B0604030504040204" pitchFamily="50" charset="-128"/>
              </a:rPr>
              <a:t>「応募方法は？」などの定型質問に即返信。営業時間外は自動、時間内は有人へ切り替える。</a:t>
            </a:r>
          </a:p>
        </p:txBody>
      </p:sp>
      <p:sp>
        <p:nvSpPr>
          <p:cNvPr id="42" name="Rounded Rectangle 41"/>
          <p:cNvSpPr/>
          <p:nvPr/>
        </p:nvSpPr>
        <p:spPr>
          <a:xfrm>
            <a:off x="5088636" y="3925823"/>
            <a:ext cx="4357116" cy="1072896"/>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43" name="Rectangle 42"/>
          <p:cNvSpPr/>
          <p:nvPr/>
        </p:nvSpPr>
        <p:spPr>
          <a:xfrm>
            <a:off x="5088636" y="3925823"/>
            <a:ext cx="54864" cy="1072896"/>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44" name="TextBox 43"/>
          <p:cNvSpPr txBox="1"/>
          <p:nvPr/>
        </p:nvSpPr>
        <p:spPr>
          <a:xfrm>
            <a:off x="5234940" y="4017263"/>
            <a:ext cx="1332096" cy="146194"/>
          </a:xfrm>
          <a:prstGeom prst="rect">
            <a:avLst/>
          </a:prstGeom>
          <a:noFill/>
        </p:spPr>
        <p:txBody>
          <a:bodyPr wrap="none" lIns="0" tIns="0" rIns="0" bIns="0" anchor="t">
            <a:spAutoFit/>
          </a:bodyPr>
          <a:lstStyle/>
          <a:p>
            <a:pPr algn="l"/>
            <a:r>
              <a:rPr sz="950" b="1">
                <a:solidFill>
                  <a:srgbClr val="23272E"/>
                </a:solidFill>
                <a:latin typeface="メイリオ" panose="020B0604030504040204" pitchFamily="50" charset="-128"/>
                <a:ea typeface="メイリオ" panose="020B0604030504040204" pitchFamily="50" charset="-128"/>
              </a:rPr>
              <a:t>AIチャットボット（β）</a:t>
            </a:r>
          </a:p>
        </p:txBody>
      </p:sp>
      <p:sp>
        <p:nvSpPr>
          <p:cNvPr id="45" name="Rounded Rectangle 44"/>
          <p:cNvSpPr/>
          <p:nvPr/>
        </p:nvSpPr>
        <p:spPr>
          <a:xfrm>
            <a:off x="5234940" y="4245863"/>
            <a:ext cx="640080"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46" name="TextBox 45"/>
          <p:cNvSpPr txBox="1"/>
          <p:nvPr/>
        </p:nvSpPr>
        <p:spPr>
          <a:xfrm>
            <a:off x="5234940" y="4283442"/>
            <a:ext cx="640080"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標準(β)</a:t>
            </a:r>
          </a:p>
        </p:txBody>
      </p:sp>
      <p:sp>
        <p:nvSpPr>
          <p:cNvPr id="47" name="TextBox 46"/>
          <p:cNvSpPr txBox="1"/>
          <p:nvPr/>
        </p:nvSpPr>
        <p:spPr>
          <a:xfrm>
            <a:off x="5234940" y="4492752"/>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panose="020B0604030504040204" pitchFamily="50" charset="-128"/>
                <a:ea typeface="メイリオ" panose="020B0604030504040204" pitchFamily="50" charset="-128"/>
              </a:rPr>
              <a:t>レシピの分量・アレルギー表示・応募方法などのFAQに24時間自動で回答し、運用の手間を減らす。※対象外業種あり</a:t>
            </a:r>
          </a:p>
        </p:txBody>
      </p:sp>
      <p:sp>
        <p:nvSpPr>
          <p:cNvPr id="48" name="Rounded Rectangle 47"/>
          <p:cNvSpPr/>
          <p:nvPr/>
        </p:nvSpPr>
        <p:spPr>
          <a:xfrm>
            <a:off x="5088636" y="5145024"/>
            <a:ext cx="4357116" cy="1072896"/>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49" name="Rectangle 48"/>
          <p:cNvSpPr/>
          <p:nvPr/>
        </p:nvSpPr>
        <p:spPr>
          <a:xfrm>
            <a:off x="5088636" y="5145024"/>
            <a:ext cx="54864" cy="1072896"/>
          </a:xfrm>
          <a:prstGeom prst="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50" name="TextBox 49"/>
          <p:cNvSpPr txBox="1"/>
          <p:nvPr/>
        </p:nvSpPr>
        <p:spPr>
          <a:xfrm>
            <a:off x="5234940" y="5236464"/>
            <a:ext cx="1705595" cy="146194"/>
          </a:xfrm>
          <a:prstGeom prst="rect">
            <a:avLst/>
          </a:prstGeom>
          <a:noFill/>
        </p:spPr>
        <p:txBody>
          <a:bodyPr wrap="none" lIns="0" tIns="0" rIns="0" bIns="0" anchor="t">
            <a:spAutoFit/>
          </a:bodyPr>
          <a:lstStyle/>
          <a:p>
            <a:pPr algn="l"/>
            <a:r>
              <a:rPr sz="950" b="1">
                <a:solidFill>
                  <a:srgbClr val="23272E"/>
                </a:solidFill>
                <a:latin typeface="メイリオ" panose="020B0604030504040204" pitchFamily="50" charset="-128"/>
                <a:ea typeface="メイリオ" panose="020B0604030504040204" pitchFamily="50" charset="-128"/>
              </a:rPr>
              <a:t>意図判定による高度な分岐応答</a:t>
            </a:r>
          </a:p>
        </p:txBody>
      </p:sp>
      <p:sp>
        <p:nvSpPr>
          <p:cNvPr id="51" name="Rounded Rectangle 50"/>
          <p:cNvSpPr/>
          <p:nvPr/>
        </p:nvSpPr>
        <p:spPr>
          <a:xfrm>
            <a:off x="5234940" y="5465064"/>
            <a:ext cx="640080" cy="182880"/>
          </a:xfrm>
          <a:prstGeom prst="round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52" name="TextBox 51"/>
          <p:cNvSpPr txBox="1"/>
          <p:nvPr/>
        </p:nvSpPr>
        <p:spPr>
          <a:xfrm>
            <a:off x="5234940" y="5502643"/>
            <a:ext cx="640080"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外部ツール</a:t>
            </a:r>
          </a:p>
        </p:txBody>
      </p:sp>
      <p:sp>
        <p:nvSpPr>
          <p:cNvPr id="53" name="TextBox 52"/>
          <p:cNvSpPr txBox="1"/>
          <p:nvPr/>
        </p:nvSpPr>
        <p:spPr>
          <a:xfrm>
            <a:off x="5234940" y="5711952"/>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panose="020B0604030504040204" pitchFamily="50" charset="-128"/>
                <a:ea typeface="メイリオ" panose="020B0604030504040204" pitchFamily="50" charset="-128"/>
              </a:rPr>
              <a:t>「辛すぎた時どうすれば？」のような自由文の相談にも、意図を汲んで対処法と関連情報を案内する。</a:t>
            </a:r>
          </a:p>
        </p:txBody>
      </p:sp>
      <p:sp>
        <p:nvSpPr>
          <p:cNvPr id="54" name="TextBox 53"/>
          <p:cNvSpPr txBox="1"/>
          <p:nvPr/>
        </p:nvSpPr>
        <p:spPr>
          <a:xfrm>
            <a:off x="457200" y="6272784"/>
            <a:ext cx="8988552" cy="130805"/>
          </a:xfrm>
          <a:prstGeom prst="rect">
            <a:avLst/>
          </a:prstGeom>
          <a:noFill/>
        </p:spPr>
        <p:txBody>
          <a:bodyPr wrap="square" lIns="0" tIns="0" rIns="0" bIns="0" anchor="t">
            <a:spAutoFit/>
          </a:bodyPr>
          <a:lstStyle/>
          <a:p>
            <a:pPr algn="l"/>
            <a:r>
              <a:rPr sz="850" b="0">
                <a:solidFill>
                  <a:srgbClr val="6E7278"/>
                </a:solidFill>
                <a:latin typeface="メイリオ" panose="020B0604030504040204" pitchFamily="50" charset="-128"/>
                <a:ea typeface="メイリオ" panose="020B0604030504040204" pitchFamily="50" charset="-128"/>
              </a:rPr>
              <a:t>※対象外業種・仕様は要確認。外部ツールは月額の利用料が別途発生。</a:t>
            </a:r>
          </a:p>
        </p:txBody>
      </p:sp>
      <p:sp>
        <p:nvSpPr>
          <p:cNvPr id="56" name="テキスト ボックス 47">
            <a:extLst>
              <a:ext uri="{FF2B5EF4-FFF2-40B4-BE49-F238E27FC236}">
                <a16:creationId xmlns:a16="http://schemas.microsoft.com/office/drawing/2014/main" id="{DFA5D49C-ABFE-6BD7-8803-D7599F1C242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中長期施策｜公式</a:t>
            </a:r>
            <a:r>
              <a:rPr lang="en-US" altLang="ja-JP" sz="1600" b="1" dirty="0">
                <a:solidFill>
                  <a:srgbClr val="1F2A5C"/>
                </a:solidFill>
                <a:latin typeface="メイリオ" panose="020B0604030504040204" pitchFamily="50" charset="-128"/>
                <a:ea typeface="メイリオ" panose="020B0604030504040204" pitchFamily="50" charset="-128"/>
              </a:rPr>
              <a:t>LINE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841248"/>
            <a:ext cx="9052560" cy="261610"/>
          </a:xfrm>
          <a:prstGeom prst="rect">
            <a:avLst/>
          </a:prstGeom>
          <a:noFill/>
        </p:spPr>
        <p:txBody>
          <a:bodyPr wrap="square" lIns="0" tIns="0" rIns="0" bIns="0" anchor="t">
            <a:spAutoFit/>
          </a:bodyPr>
          <a:lstStyle/>
          <a:p>
            <a:pPr algn="l"/>
            <a:r>
              <a:rPr sz="1700" b="1">
                <a:solidFill>
                  <a:srgbClr val="23272E"/>
                </a:solidFill>
                <a:latin typeface="メイリオ" panose="020B0604030504040204" pitchFamily="50" charset="-128"/>
                <a:ea typeface="メイリオ" panose="020B0604030504040204" pitchFamily="50" charset="-128"/>
              </a:rPr>
              <a:t>中長期②：コンテンツ機能と、会員データを貯めるキャンペーン</a:t>
            </a:r>
          </a:p>
        </p:txBody>
      </p:sp>
      <p:sp>
        <p:nvSpPr>
          <p:cNvPr id="4" name="TextBox 3"/>
          <p:cNvSpPr txBox="1"/>
          <p:nvPr/>
        </p:nvSpPr>
        <p:spPr>
          <a:xfrm>
            <a:off x="457200" y="1316736"/>
            <a:ext cx="9052560" cy="172355"/>
          </a:xfrm>
          <a:prstGeom prst="rect">
            <a:avLst/>
          </a:prstGeom>
          <a:noFill/>
        </p:spPr>
        <p:txBody>
          <a:bodyPr wrap="square" lIns="0" tIns="0" rIns="0" bIns="0" anchor="t">
            <a:spAutoFit/>
          </a:bodyPr>
          <a:lstStyle/>
          <a:p>
            <a:pPr algn="l">
              <a:lnSpc>
                <a:spcPct val="112000"/>
              </a:lnSpc>
            </a:pPr>
            <a:r>
              <a:rPr sz="1000" b="0">
                <a:solidFill>
                  <a:srgbClr val="33383F"/>
                </a:solidFill>
                <a:latin typeface="メイリオ" panose="020B0604030504040204" pitchFamily="50" charset="-128"/>
                <a:ea typeface="メイリオ" panose="020B0604030504040204" pitchFamily="50" charset="-128"/>
              </a:rPr>
              <a:t>LINE上で参加・回答・購買データを取得 → タグ化 → 絞り込み配信・レコメンドの精度を上げる。AIO資料の参加型コンテンツ戦略とデータ面で接続。</a:t>
            </a:r>
          </a:p>
        </p:txBody>
      </p:sp>
      <p:sp>
        <p:nvSpPr>
          <p:cNvPr id="5" name="Rectangle 4"/>
          <p:cNvSpPr/>
          <p:nvPr/>
        </p:nvSpPr>
        <p:spPr>
          <a:xfrm>
            <a:off x="457200" y="1847088"/>
            <a:ext cx="4357116"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6" name="TextBox 5"/>
          <p:cNvSpPr txBox="1"/>
          <p:nvPr/>
        </p:nvSpPr>
        <p:spPr>
          <a:xfrm>
            <a:off x="457200" y="1945329"/>
            <a:ext cx="4357116" cy="169277"/>
          </a:xfrm>
          <a:prstGeom prst="rect">
            <a:avLst/>
          </a:prstGeom>
          <a:noFill/>
        </p:spPr>
        <p:txBody>
          <a:bodyPr wrap="square" lIns="0" tIns="0" rIns="0" bIns="0" anchor="ctr">
            <a:spAutoFit/>
          </a:bodyPr>
          <a:lstStyle/>
          <a:p>
            <a:pPr algn="ctr"/>
            <a:r>
              <a:rPr sz="1100" b="1">
                <a:solidFill>
                  <a:srgbClr val="FFFFFF"/>
                </a:solidFill>
                <a:latin typeface="メイリオ" panose="020B0604030504040204" pitchFamily="50" charset="-128"/>
                <a:ea typeface="メイリオ" panose="020B0604030504040204" pitchFamily="50" charset="-128"/>
              </a:rPr>
              <a:t>コンテンツ・データ機能</a:t>
            </a:r>
          </a:p>
        </p:txBody>
      </p:sp>
      <p:sp>
        <p:nvSpPr>
          <p:cNvPr id="7" name="Rounded Rectangle 6"/>
          <p:cNvSpPr/>
          <p:nvPr/>
        </p:nvSpPr>
        <p:spPr>
          <a:xfrm>
            <a:off x="457200" y="2304288"/>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8" name="Rectangle 7"/>
          <p:cNvSpPr/>
          <p:nvPr/>
        </p:nvSpPr>
        <p:spPr>
          <a:xfrm>
            <a:off x="457200" y="2304288"/>
            <a:ext cx="54864"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9" name="TextBox 8"/>
          <p:cNvSpPr txBox="1"/>
          <p:nvPr/>
        </p:nvSpPr>
        <p:spPr>
          <a:xfrm>
            <a:off x="603504" y="2395728"/>
            <a:ext cx="1705595" cy="146194"/>
          </a:xfrm>
          <a:prstGeom prst="rect">
            <a:avLst/>
          </a:prstGeom>
          <a:noFill/>
        </p:spPr>
        <p:txBody>
          <a:bodyPr wrap="none" lIns="0" tIns="0" rIns="0" bIns="0" anchor="t">
            <a:spAutoFit/>
          </a:bodyPr>
          <a:lstStyle/>
          <a:p>
            <a:pPr algn="l"/>
            <a:r>
              <a:rPr sz="950" b="1">
                <a:solidFill>
                  <a:srgbClr val="23272E"/>
                </a:solidFill>
                <a:latin typeface="メイリオ" panose="020B0604030504040204" pitchFamily="50" charset="-128"/>
                <a:ea typeface="メイリオ" panose="020B0604030504040204" pitchFamily="50" charset="-128"/>
              </a:rPr>
              <a:t>リッチメニューの動的出し分け</a:t>
            </a:r>
          </a:p>
        </p:txBody>
      </p:sp>
      <p:sp>
        <p:nvSpPr>
          <p:cNvPr id="10" name="Rounded Rectangle 9"/>
          <p:cNvSpPr/>
          <p:nvPr/>
        </p:nvSpPr>
        <p:spPr>
          <a:xfrm>
            <a:off x="603504" y="2624328"/>
            <a:ext cx="442569" cy="18288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1" name="TextBox 10"/>
          <p:cNvSpPr txBox="1"/>
          <p:nvPr/>
        </p:nvSpPr>
        <p:spPr>
          <a:xfrm>
            <a:off x="603504" y="2661907"/>
            <a:ext cx="442569"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API</a:t>
            </a:r>
          </a:p>
        </p:txBody>
      </p:sp>
      <p:sp>
        <p:nvSpPr>
          <p:cNvPr id="12" name="Rounded Rectangle 11"/>
          <p:cNvSpPr/>
          <p:nvPr/>
        </p:nvSpPr>
        <p:spPr>
          <a:xfrm>
            <a:off x="1100937" y="2624328"/>
            <a:ext cx="640080" cy="182880"/>
          </a:xfrm>
          <a:prstGeom prst="round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3" name="TextBox 12"/>
          <p:cNvSpPr txBox="1"/>
          <p:nvPr/>
        </p:nvSpPr>
        <p:spPr>
          <a:xfrm>
            <a:off x="1100937" y="2661907"/>
            <a:ext cx="640080"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外部ツール</a:t>
            </a:r>
          </a:p>
        </p:txBody>
      </p:sp>
      <p:sp>
        <p:nvSpPr>
          <p:cNvPr id="14" name="TextBox 13"/>
          <p:cNvSpPr txBox="1"/>
          <p:nvPr/>
        </p:nvSpPr>
        <p:spPr>
          <a:xfrm>
            <a:off x="603504" y="2871216"/>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panose="020B0604030504040204" pitchFamily="50" charset="-128"/>
                <a:ea typeface="メイリオ" panose="020B0604030504040204" pitchFamily="50" charset="-128"/>
              </a:rPr>
              <a:t>新規会員には「参加できる企画」、休眠から戻った会員には「結果発表・新着」を出すなど、状態別にメニューを切り替える。</a:t>
            </a:r>
          </a:p>
        </p:txBody>
      </p:sp>
      <p:sp>
        <p:nvSpPr>
          <p:cNvPr id="15" name="Rounded Rectangle 14"/>
          <p:cNvSpPr/>
          <p:nvPr/>
        </p:nvSpPr>
        <p:spPr>
          <a:xfrm>
            <a:off x="457200" y="3319272"/>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6" name="Rectangle 15"/>
          <p:cNvSpPr/>
          <p:nvPr/>
        </p:nvSpPr>
        <p:spPr>
          <a:xfrm>
            <a:off x="457200" y="3319272"/>
            <a:ext cx="54864"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7" name="TextBox 16"/>
          <p:cNvSpPr txBox="1"/>
          <p:nvPr/>
        </p:nvSpPr>
        <p:spPr>
          <a:xfrm>
            <a:off x="603504" y="3410712"/>
            <a:ext cx="1729641" cy="146194"/>
          </a:xfrm>
          <a:prstGeom prst="rect">
            <a:avLst/>
          </a:prstGeom>
          <a:noFill/>
        </p:spPr>
        <p:txBody>
          <a:bodyPr wrap="none" lIns="0" tIns="0" rIns="0" bIns="0" anchor="t">
            <a:spAutoFit/>
          </a:bodyPr>
          <a:lstStyle/>
          <a:p>
            <a:pPr algn="l"/>
            <a:r>
              <a:rPr sz="950" b="1">
                <a:solidFill>
                  <a:srgbClr val="23272E"/>
                </a:solidFill>
                <a:latin typeface="メイリオ" panose="020B0604030504040204" pitchFamily="50" charset="-128"/>
                <a:ea typeface="メイリオ" panose="020B0604030504040204" pitchFamily="50" charset="-128"/>
              </a:rPr>
              <a:t>外部DB連携（予約・CRM 等）</a:t>
            </a:r>
          </a:p>
        </p:txBody>
      </p:sp>
      <p:sp>
        <p:nvSpPr>
          <p:cNvPr id="18" name="Rounded Rectangle 17"/>
          <p:cNvSpPr/>
          <p:nvPr/>
        </p:nvSpPr>
        <p:spPr>
          <a:xfrm>
            <a:off x="603504" y="3639312"/>
            <a:ext cx="442569" cy="18288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9" name="TextBox 18"/>
          <p:cNvSpPr txBox="1"/>
          <p:nvPr/>
        </p:nvSpPr>
        <p:spPr>
          <a:xfrm>
            <a:off x="603504" y="3676891"/>
            <a:ext cx="442569"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API</a:t>
            </a:r>
          </a:p>
        </p:txBody>
      </p:sp>
      <p:sp>
        <p:nvSpPr>
          <p:cNvPr id="20" name="Rounded Rectangle 19"/>
          <p:cNvSpPr/>
          <p:nvPr/>
        </p:nvSpPr>
        <p:spPr>
          <a:xfrm>
            <a:off x="1100937" y="3639312"/>
            <a:ext cx="640080" cy="182880"/>
          </a:xfrm>
          <a:prstGeom prst="round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21" name="TextBox 20"/>
          <p:cNvSpPr txBox="1"/>
          <p:nvPr/>
        </p:nvSpPr>
        <p:spPr>
          <a:xfrm>
            <a:off x="1100937" y="3676891"/>
            <a:ext cx="640080"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外部ツール</a:t>
            </a:r>
          </a:p>
        </p:txBody>
      </p:sp>
      <p:sp>
        <p:nvSpPr>
          <p:cNvPr id="22" name="TextBox 21"/>
          <p:cNvSpPr txBox="1"/>
          <p:nvPr/>
        </p:nvSpPr>
        <p:spPr>
          <a:xfrm>
            <a:off x="603504" y="3886200"/>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panose="020B0604030504040204" pitchFamily="50" charset="-128"/>
                <a:ea typeface="メイリオ" panose="020B0604030504040204" pitchFamily="50" charset="-128"/>
              </a:rPr>
              <a:t>会員IDや投稿・投票履歴とLINEを連携し、「あなたの投稿が記事になりました」など個別最適な通知を送る。</a:t>
            </a:r>
          </a:p>
        </p:txBody>
      </p:sp>
      <p:sp>
        <p:nvSpPr>
          <p:cNvPr id="23" name="Rounded Rectangle 22"/>
          <p:cNvSpPr/>
          <p:nvPr/>
        </p:nvSpPr>
        <p:spPr>
          <a:xfrm>
            <a:off x="457200" y="4334256"/>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24" name="Rectangle 23"/>
          <p:cNvSpPr/>
          <p:nvPr/>
        </p:nvSpPr>
        <p:spPr>
          <a:xfrm>
            <a:off x="457200" y="4334256"/>
            <a:ext cx="54864" cy="86868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25" name="TextBox 24"/>
          <p:cNvSpPr txBox="1"/>
          <p:nvPr/>
        </p:nvSpPr>
        <p:spPr>
          <a:xfrm>
            <a:off x="603504" y="4425696"/>
            <a:ext cx="1502014" cy="146194"/>
          </a:xfrm>
          <a:prstGeom prst="rect">
            <a:avLst/>
          </a:prstGeom>
          <a:noFill/>
        </p:spPr>
        <p:txBody>
          <a:bodyPr wrap="none" lIns="0" tIns="0" rIns="0" bIns="0" anchor="t">
            <a:spAutoFit/>
          </a:bodyPr>
          <a:lstStyle/>
          <a:p>
            <a:pPr algn="l"/>
            <a:r>
              <a:rPr sz="950" b="1">
                <a:solidFill>
                  <a:srgbClr val="23272E"/>
                </a:solidFill>
                <a:latin typeface="メイリオ" panose="020B0604030504040204" pitchFamily="50" charset="-128"/>
                <a:ea typeface="メイリオ" panose="020B0604030504040204" pitchFamily="50" charset="-128"/>
              </a:rPr>
              <a:t>クーポン 発行・配布・分析</a:t>
            </a:r>
          </a:p>
        </p:txBody>
      </p:sp>
      <p:sp>
        <p:nvSpPr>
          <p:cNvPr id="26" name="Rounded Rectangle 25"/>
          <p:cNvSpPr/>
          <p:nvPr/>
        </p:nvSpPr>
        <p:spPr>
          <a:xfrm>
            <a:off x="603504" y="4654296"/>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27" name="TextBox 26"/>
          <p:cNvSpPr txBox="1"/>
          <p:nvPr/>
        </p:nvSpPr>
        <p:spPr>
          <a:xfrm>
            <a:off x="603504" y="4691875"/>
            <a:ext cx="343814"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標準</a:t>
            </a:r>
          </a:p>
        </p:txBody>
      </p:sp>
      <p:sp>
        <p:nvSpPr>
          <p:cNvPr id="28" name="TextBox 27"/>
          <p:cNvSpPr txBox="1"/>
          <p:nvPr/>
        </p:nvSpPr>
        <p:spPr>
          <a:xfrm>
            <a:off x="603504" y="4901184"/>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panose="020B0604030504040204" pitchFamily="50" charset="-128"/>
                <a:ea typeface="メイリオ" panose="020B0604030504040204" pitchFamily="50" charset="-128"/>
              </a:rPr>
              <a:t>「アンケート回答で限定壁紙／対象商品クーポン」を配り、開封数・使用数で反応を測って次の企画に活かす。</a:t>
            </a:r>
          </a:p>
        </p:txBody>
      </p:sp>
      <p:sp>
        <p:nvSpPr>
          <p:cNvPr id="29" name="Rounded Rectangle 28"/>
          <p:cNvSpPr/>
          <p:nvPr/>
        </p:nvSpPr>
        <p:spPr>
          <a:xfrm>
            <a:off x="457200" y="5349240"/>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30" name="Rectangle 29"/>
          <p:cNvSpPr/>
          <p:nvPr/>
        </p:nvSpPr>
        <p:spPr>
          <a:xfrm>
            <a:off x="457200" y="5349240"/>
            <a:ext cx="54864" cy="86868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31" name="TextBox 30"/>
          <p:cNvSpPr txBox="1"/>
          <p:nvPr/>
        </p:nvSpPr>
        <p:spPr>
          <a:xfrm>
            <a:off x="603504" y="5440679"/>
            <a:ext cx="1583767" cy="146194"/>
          </a:xfrm>
          <a:prstGeom prst="rect">
            <a:avLst/>
          </a:prstGeom>
          <a:noFill/>
        </p:spPr>
        <p:txBody>
          <a:bodyPr wrap="none" lIns="0" tIns="0" rIns="0" bIns="0" anchor="t">
            <a:spAutoFit/>
          </a:bodyPr>
          <a:lstStyle/>
          <a:p>
            <a:pPr algn="l"/>
            <a:r>
              <a:rPr sz="950" b="1">
                <a:solidFill>
                  <a:srgbClr val="23272E"/>
                </a:solidFill>
                <a:latin typeface="メイリオ" panose="020B0604030504040204" pitchFamily="50" charset="-128"/>
                <a:ea typeface="メイリオ" panose="020B0604030504040204" pitchFamily="50" charset="-128"/>
              </a:rPr>
              <a:t>ショップカード（ポイント）</a:t>
            </a:r>
          </a:p>
        </p:txBody>
      </p:sp>
      <p:sp>
        <p:nvSpPr>
          <p:cNvPr id="32" name="Rounded Rectangle 31"/>
          <p:cNvSpPr/>
          <p:nvPr/>
        </p:nvSpPr>
        <p:spPr>
          <a:xfrm>
            <a:off x="603504" y="5669279"/>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33" name="TextBox 32"/>
          <p:cNvSpPr txBox="1"/>
          <p:nvPr/>
        </p:nvSpPr>
        <p:spPr>
          <a:xfrm>
            <a:off x="603504" y="5706858"/>
            <a:ext cx="343814"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標準</a:t>
            </a:r>
          </a:p>
        </p:txBody>
      </p:sp>
      <p:sp>
        <p:nvSpPr>
          <p:cNvPr id="34" name="TextBox 33"/>
          <p:cNvSpPr txBox="1"/>
          <p:nvPr/>
        </p:nvSpPr>
        <p:spPr>
          <a:xfrm>
            <a:off x="603504" y="5916168"/>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panose="020B0604030504040204" pitchFamily="50" charset="-128"/>
                <a:ea typeface="メイリオ" panose="020B0604030504040204" pitchFamily="50" charset="-128"/>
              </a:rPr>
              <a:t>企画参加や記事閲覧でスタンプが貯まる仕組みにして、「次も参加したい」という再訪動機をつくる。</a:t>
            </a:r>
          </a:p>
        </p:txBody>
      </p:sp>
      <p:sp>
        <p:nvSpPr>
          <p:cNvPr id="35" name="Rectangle 34"/>
          <p:cNvSpPr/>
          <p:nvPr/>
        </p:nvSpPr>
        <p:spPr>
          <a:xfrm>
            <a:off x="5088636" y="1847088"/>
            <a:ext cx="4357116"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36" name="TextBox 35"/>
          <p:cNvSpPr txBox="1"/>
          <p:nvPr/>
        </p:nvSpPr>
        <p:spPr>
          <a:xfrm>
            <a:off x="5088636" y="1945329"/>
            <a:ext cx="4357116" cy="169277"/>
          </a:xfrm>
          <a:prstGeom prst="rect">
            <a:avLst/>
          </a:prstGeom>
          <a:noFill/>
        </p:spPr>
        <p:txBody>
          <a:bodyPr wrap="square" lIns="0" tIns="0" rIns="0" bIns="0" anchor="ctr">
            <a:spAutoFit/>
          </a:bodyPr>
          <a:lstStyle/>
          <a:p>
            <a:pPr algn="ctr"/>
            <a:r>
              <a:rPr sz="1100" b="1">
                <a:solidFill>
                  <a:srgbClr val="FFFFFF"/>
                </a:solidFill>
                <a:latin typeface="メイリオ" panose="020B0604030504040204" pitchFamily="50" charset="-128"/>
                <a:ea typeface="メイリオ" panose="020B0604030504040204" pitchFamily="50" charset="-128"/>
              </a:rPr>
              <a:t>データ蓄積キャンペーン</a:t>
            </a:r>
          </a:p>
        </p:txBody>
      </p:sp>
      <p:sp>
        <p:nvSpPr>
          <p:cNvPr id="37" name="Rounded Rectangle 36"/>
          <p:cNvSpPr/>
          <p:nvPr/>
        </p:nvSpPr>
        <p:spPr>
          <a:xfrm>
            <a:off x="5088636" y="2304288"/>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38" name="Rectangle 37"/>
          <p:cNvSpPr/>
          <p:nvPr/>
        </p:nvSpPr>
        <p:spPr>
          <a:xfrm>
            <a:off x="5088636" y="2304288"/>
            <a:ext cx="54864" cy="868680"/>
          </a:xfrm>
          <a:prstGeom prst="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39" name="TextBox 38"/>
          <p:cNvSpPr txBox="1"/>
          <p:nvPr/>
        </p:nvSpPr>
        <p:spPr>
          <a:xfrm>
            <a:off x="5234940" y="2395728"/>
            <a:ext cx="2394886" cy="146194"/>
          </a:xfrm>
          <a:prstGeom prst="rect">
            <a:avLst/>
          </a:prstGeom>
          <a:noFill/>
        </p:spPr>
        <p:txBody>
          <a:bodyPr wrap="none" lIns="0" tIns="0" rIns="0" bIns="0" anchor="t">
            <a:spAutoFit/>
          </a:bodyPr>
          <a:lstStyle/>
          <a:p>
            <a:pPr algn="l"/>
            <a:r>
              <a:rPr sz="950" b="1">
                <a:solidFill>
                  <a:srgbClr val="23272E"/>
                </a:solidFill>
                <a:latin typeface="メイリオ" panose="020B0604030504040204" pitchFamily="50" charset="-128"/>
                <a:ea typeface="メイリオ" panose="020B0604030504040204" pitchFamily="50" charset="-128"/>
              </a:rPr>
              <a:t>MustBuyキャンペーン（レシート×OCR）</a:t>
            </a:r>
          </a:p>
        </p:txBody>
      </p:sp>
      <p:sp>
        <p:nvSpPr>
          <p:cNvPr id="40" name="Rounded Rectangle 39"/>
          <p:cNvSpPr/>
          <p:nvPr/>
        </p:nvSpPr>
        <p:spPr>
          <a:xfrm>
            <a:off x="5234940" y="2624328"/>
            <a:ext cx="640080" cy="182880"/>
          </a:xfrm>
          <a:prstGeom prst="round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41" name="TextBox 40"/>
          <p:cNvSpPr txBox="1"/>
          <p:nvPr/>
        </p:nvSpPr>
        <p:spPr>
          <a:xfrm>
            <a:off x="5234940" y="2661907"/>
            <a:ext cx="640080"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外部ツール</a:t>
            </a:r>
          </a:p>
        </p:txBody>
      </p:sp>
      <p:sp>
        <p:nvSpPr>
          <p:cNvPr id="42" name="TextBox 41"/>
          <p:cNvSpPr txBox="1"/>
          <p:nvPr/>
        </p:nvSpPr>
        <p:spPr>
          <a:xfrm>
            <a:off x="5234940" y="2871216"/>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panose="020B0604030504040204" pitchFamily="50" charset="-128"/>
                <a:ea typeface="メイリオ" panose="020B0604030504040204" pitchFamily="50" charset="-128"/>
              </a:rPr>
              <a:t>対象商品を買ってレシートを送ると応募完了。購入者のLINEと購買データが紐づき、購入実績ベースで追客できる。</a:t>
            </a:r>
          </a:p>
        </p:txBody>
      </p:sp>
      <p:sp>
        <p:nvSpPr>
          <p:cNvPr id="43" name="Rounded Rectangle 42"/>
          <p:cNvSpPr/>
          <p:nvPr/>
        </p:nvSpPr>
        <p:spPr>
          <a:xfrm>
            <a:off x="5088636" y="3319272"/>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44" name="Rectangle 43"/>
          <p:cNvSpPr/>
          <p:nvPr/>
        </p:nvSpPr>
        <p:spPr>
          <a:xfrm>
            <a:off x="5088636" y="3319272"/>
            <a:ext cx="54864" cy="86868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45" name="TextBox 44"/>
          <p:cNvSpPr txBox="1"/>
          <p:nvPr/>
        </p:nvSpPr>
        <p:spPr>
          <a:xfrm>
            <a:off x="5234940" y="3410712"/>
            <a:ext cx="1340110" cy="146194"/>
          </a:xfrm>
          <a:prstGeom prst="rect">
            <a:avLst/>
          </a:prstGeom>
          <a:noFill/>
        </p:spPr>
        <p:txBody>
          <a:bodyPr wrap="none" lIns="0" tIns="0" rIns="0" bIns="0" anchor="t">
            <a:spAutoFit/>
          </a:bodyPr>
          <a:lstStyle/>
          <a:p>
            <a:pPr algn="l"/>
            <a:r>
              <a:rPr sz="950" b="1">
                <a:solidFill>
                  <a:srgbClr val="23272E"/>
                </a:solidFill>
                <a:latin typeface="メイリオ" panose="020B0604030504040204" pitchFamily="50" charset="-128"/>
                <a:ea typeface="メイリオ" panose="020B0604030504040204" pitchFamily="50" charset="-128"/>
              </a:rPr>
              <a:t>プレゼントキャンペーン</a:t>
            </a:r>
          </a:p>
        </p:txBody>
      </p:sp>
      <p:sp>
        <p:nvSpPr>
          <p:cNvPr id="46" name="Rounded Rectangle 45"/>
          <p:cNvSpPr/>
          <p:nvPr/>
        </p:nvSpPr>
        <p:spPr>
          <a:xfrm>
            <a:off x="5234940" y="3639312"/>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47" name="TextBox 46"/>
          <p:cNvSpPr txBox="1"/>
          <p:nvPr/>
        </p:nvSpPr>
        <p:spPr>
          <a:xfrm>
            <a:off x="5234940" y="3676891"/>
            <a:ext cx="343814"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標準</a:t>
            </a:r>
          </a:p>
        </p:txBody>
      </p:sp>
      <p:sp>
        <p:nvSpPr>
          <p:cNvPr id="48" name="Rounded Rectangle 47"/>
          <p:cNvSpPr/>
          <p:nvPr/>
        </p:nvSpPr>
        <p:spPr>
          <a:xfrm>
            <a:off x="5633618" y="3639312"/>
            <a:ext cx="442569" cy="18288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49" name="TextBox 48"/>
          <p:cNvSpPr txBox="1"/>
          <p:nvPr/>
        </p:nvSpPr>
        <p:spPr>
          <a:xfrm>
            <a:off x="5633618" y="3676891"/>
            <a:ext cx="442569"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API</a:t>
            </a:r>
          </a:p>
        </p:txBody>
      </p:sp>
      <p:sp>
        <p:nvSpPr>
          <p:cNvPr id="50" name="TextBox 49"/>
          <p:cNvSpPr txBox="1"/>
          <p:nvPr/>
        </p:nvSpPr>
        <p:spPr>
          <a:xfrm>
            <a:off x="5234940" y="3886200"/>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panose="020B0604030504040204" pitchFamily="50" charset="-128"/>
                <a:ea typeface="メイリオ" panose="020B0604030504040204" pitchFamily="50" charset="-128"/>
              </a:rPr>
              <a:t>「友だち追加＋アンケート回答で抽選」を入口に、懸賞目的で登録した層をLINEへ取り込み、更新通知で関係を継続する。</a:t>
            </a:r>
          </a:p>
        </p:txBody>
      </p:sp>
      <p:sp>
        <p:nvSpPr>
          <p:cNvPr id="51" name="Rounded Rectangle 50"/>
          <p:cNvSpPr/>
          <p:nvPr/>
        </p:nvSpPr>
        <p:spPr>
          <a:xfrm>
            <a:off x="5088636" y="4334256"/>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52" name="Rectangle 51"/>
          <p:cNvSpPr/>
          <p:nvPr/>
        </p:nvSpPr>
        <p:spPr>
          <a:xfrm>
            <a:off x="5088636" y="4334256"/>
            <a:ext cx="54864" cy="86868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53" name="TextBox 52"/>
          <p:cNvSpPr txBox="1"/>
          <p:nvPr/>
        </p:nvSpPr>
        <p:spPr>
          <a:xfrm>
            <a:off x="5234940" y="4425696"/>
            <a:ext cx="1218282" cy="146194"/>
          </a:xfrm>
          <a:prstGeom prst="rect">
            <a:avLst/>
          </a:prstGeom>
          <a:noFill/>
        </p:spPr>
        <p:txBody>
          <a:bodyPr wrap="none" lIns="0" tIns="0" rIns="0" bIns="0" anchor="t">
            <a:spAutoFit/>
          </a:bodyPr>
          <a:lstStyle/>
          <a:p>
            <a:pPr algn="l"/>
            <a:r>
              <a:rPr sz="950" b="1">
                <a:solidFill>
                  <a:srgbClr val="23272E"/>
                </a:solidFill>
                <a:latin typeface="メイリオ" panose="020B0604030504040204" pitchFamily="50" charset="-128"/>
                <a:ea typeface="メイリオ" panose="020B0604030504040204" pitchFamily="50" charset="-128"/>
              </a:rPr>
              <a:t>利用満足度アンケート</a:t>
            </a:r>
          </a:p>
        </p:txBody>
      </p:sp>
      <p:sp>
        <p:nvSpPr>
          <p:cNvPr id="54" name="Rounded Rectangle 53"/>
          <p:cNvSpPr/>
          <p:nvPr/>
        </p:nvSpPr>
        <p:spPr>
          <a:xfrm>
            <a:off x="5234940" y="4654296"/>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55" name="TextBox 54"/>
          <p:cNvSpPr txBox="1"/>
          <p:nvPr/>
        </p:nvSpPr>
        <p:spPr>
          <a:xfrm>
            <a:off x="5234940" y="4691875"/>
            <a:ext cx="343814"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標準</a:t>
            </a:r>
          </a:p>
        </p:txBody>
      </p:sp>
      <p:sp>
        <p:nvSpPr>
          <p:cNvPr id="56" name="TextBox 55"/>
          <p:cNvSpPr txBox="1"/>
          <p:nvPr/>
        </p:nvSpPr>
        <p:spPr>
          <a:xfrm>
            <a:off x="5234940" y="4901184"/>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panose="020B0604030504040204" pitchFamily="50" charset="-128"/>
                <a:ea typeface="メイリオ" panose="020B0604030504040204" pitchFamily="50" charset="-128"/>
              </a:rPr>
              <a:t>企画やサイトへの満足度をLINEで定期取得し、低評価者にはお詫びと改善予告、高評価者には口コミ・シェアを依頼する。</a:t>
            </a:r>
          </a:p>
        </p:txBody>
      </p:sp>
      <p:sp>
        <p:nvSpPr>
          <p:cNvPr id="57" name="Rounded Rectangle 56"/>
          <p:cNvSpPr/>
          <p:nvPr/>
        </p:nvSpPr>
        <p:spPr>
          <a:xfrm>
            <a:off x="5088636" y="5349240"/>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58" name="Rectangle 57"/>
          <p:cNvSpPr/>
          <p:nvPr/>
        </p:nvSpPr>
        <p:spPr>
          <a:xfrm>
            <a:off x="5088636" y="5349240"/>
            <a:ext cx="54864" cy="86868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59" name="TextBox 58"/>
          <p:cNvSpPr txBox="1"/>
          <p:nvPr/>
        </p:nvSpPr>
        <p:spPr>
          <a:xfrm>
            <a:off x="5234940" y="5440679"/>
            <a:ext cx="1218282" cy="146194"/>
          </a:xfrm>
          <a:prstGeom prst="rect">
            <a:avLst/>
          </a:prstGeom>
          <a:noFill/>
        </p:spPr>
        <p:txBody>
          <a:bodyPr wrap="none" lIns="0" tIns="0" rIns="0" bIns="0" anchor="t">
            <a:spAutoFit/>
          </a:bodyPr>
          <a:lstStyle/>
          <a:p>
            <a:pPr algn="l"/>
            <a:r>
              <a:rPr sz="950" b="1">
                <a:solidFill>
                  <a:srgbClr val="23272E"/>
                </a:solidFill>
                <a:latin typeface="メイリオ" panose="020B0604030504040204" pitchFamily="50" charset="-128"/>
                <a:ea typeface="メイリオ" panose="020B0604030504040204" pitchFamily="50" charset="-128"/>
              </a:rPr>
              <a:t>コラム希望アンケート</a:t>
            </a:r>
          </a:p>
        </p:txBody>
      </p:sp>
      <p:sp>
        <p:nvSpPr>
          <p:cNvPr id="60" name="Rounded Rectangle 59"/>
          <p:cNvSpPr/>
          <p:nvPr/>
        </p:nvSpPr>
        <p:spPr>
          <a:xfrm>
            <a:off x="5234940" y="5669279"/>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61" name="TextBox 60"/>
          <p:cNvSpPr txBox="1"/>
          <p:nvPr/>
        </p:nvSpPr>
        <p:spPr>
          <a:xfrm>
            <a:off x="5234940" y="5706858"/>
            <a:ext cx="343814" cy="107722"/>
          </a:xfrm>
          <a:prstGeom prst="rect">
            <a:avLst/>
          </a:prstGeom>
          <a:noFill/>
        </p:spPr>
        <p:txBody>
          <a:bodyPr wrap="square" lIns="0" tIns="0" rIns="0" bIns="0" anchor="ctr">
            <a:spAutoFit/>
          </a:bodyPr>
          <a:lstStyle/>
          <a:p>
            <a:pPr algn="ctr"/>
            <a:r>
              <a:rPr sz="700" b="1">
                <a:solidFill>
                  <a:srgbClr val="FFFFFF"/>
                </a:solidFill>
                <a:latin typeface="メイリオ" panose="020B0604030504040204" pitchFamily="50" charset="-128"/>
                <a:ea typeface="メイリオ" panose="020B0604030504040204" pitchFamily="50" charset="-128"/>
              </a:rPr>
              <a:t>標準</a:t>
            </a:r>
          </a:p>
        </p:txBody>
      </p:sp>
      <p:sp>
        <p:nvSpPr>
          <p:cNvPr id="62" name="TextBox 61"/>
          <p:cNvSpPr txBox="1"/>
          <p:nvPr/>
        </p:nvSpPr>
        <p:spPr>
          <a:xfrm>
            <a:off x="5234940" y="5916168"/>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panose="020B0604030504040204" pitchFamily="50" charset="-128"/>
                <a:ea typeface="メイリオ" panose="020B0604030504040204" pitchFamily="50" charset="-128"/>
              </a:rPr>
              <a:t>「どんな記事・企画が読みたいか」を会員に聞き、企画の優先度を決めつつ、リクエストした人へ公開時に通知して再訪を促す。</a:t>
            </a:r>
          </a:p>
        </p:txBody>
      </p:sp>
      <p:sp>
        <p:nvSpPr>
          <p:cNvPr id="63" name="TextBox 62"/>
          <p:cNvSpPr txBox="1"/>
          <p:nvPr/>
        </p:nvSpPr>
        <p:spPr>
          <a:xfrm>
            <a:off x="457200" y="6272784"/>
            <a:ext cx="8988552" cy="130805"/>
          </a:xfrm>
          <a:prstGeom prst="rect">
            <a:avLst/>
          </a:prstGeom>
          <a:noFill/>
        </p:spPr>
        <p:txBody>
          <a:bodyPr wrap="square" lIns="0" tIns="0" rIns="0" bIns="0" anchor="t">
            <a:spAutoFit/>
          </a:bodyPr>
          <a:lstStyle/>
          <a:p>
            <a:pPr algn="l"/>
            <a:r>
              <a:rPr sz="850" b="0">
                <a:solidFill>
                  <a:srgbClr val="6E7278"/>
                </a:solidFill>
                <a:latin typeface="メイリオ" panose="020B0604030504040204" pitchFamily="50" charset="-128"/>
                <a:ea typeface="メイリオ" panose="020B0604030504040204" pitchFamily="50" charset="-128"/>
              </a:rPr>
              <a:t>※初期は標準機能＋簡易フォームで小さく開始し、反応を見て外部ツール／API連携へ投資判断。</a:t>
            </a:r>
          </a:p>
        </p:txBody>
      </p:sp>
      <p:sp>
        <p:nvSpPr>
          <p:cNvPr id="65" name="テキスト ボックス 47">
            <a:extLst>
              <a:ext uri="{FF2B5EF4-FFF2-40B4-BE49-F238E27FC236}">
                <a16:creationId xmlns:a16="http://schemas.microsoft.com/office/drawing/2014/main" id="{9E0C65C8-F736-33FE-DAF6-4F67D7EBC2B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中長期施策｜公式</a:t>
            </a:r>
            <a:r>
              <a:rPr lang="en-US" altLang="ja-JP" sz="1600" b="1" dirty="0">
                <a:solidFill>
                  <a:srgbClr val="1F2A5C"/>
                </a:solidFill>
                <a:latin typeface="メイリオ" panose="020B0604030504040204" pitchFamily="50" charset="-128"/>
                <a:ea typeface="メイリオ" panose="020B0604030504040204" pitchFamily="50" charset="-128"/>
              </a:rPr>
              <a:t>LINE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15</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日後</a:t>
            </a:r>
            <a:endParaRPr lang="ja-JP" altLang="en-US" sz="1200" dirty="0">
              <a:solidFill>
                <a:srgbClr val="FF0000"/>
              </a:solidFill>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有効化</a:t>
            </a:r>
            <a:endParaRPr lang="ja-JP" altLang="ja-JP" sz="1100" b="1"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  </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再育成</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 リード</a:t>
            </a:r>
            <a:endParaRPr lang="ja-JP" altLang="ja-JP" sz="1050" b="1" dirty="0">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rPr>
              <a:t>⑧ </a:t>
            </a:r>
            <a:r>
              <a:rPr lang="en-US" altLang="ja-JP" sz="1100" dirty="0">
                <a:latin typeface="メイリオ" panose="020B0604030504040204" pitchFamily="50" charset="-128"/>
                <a:ea typeface="メイリオ" panose="020B0604030504040204" pitchFamily="50" charset="-128"/>
              </a:rPr>
              <a:t>LTV</a:t>
            </a: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rPr>
              <a:t>② </a:t>
            </a:r>
            <a:r>
              <a:rPr lang="ja-JP" altLang="en-US" sz="1100" dirty="0">
                <a:latin typeface="メイリオ" panose="020B0604030504040204" pitchFamily="50" charset="-128"/>
                <a:ea typeface="メイリオ" panose="020B0604030504040204" pitchFamily="50" charset="-128"/>
              </a:rPr>
              <a:t>離脱</a:t>
            </a:r>
            <a:endParaRPr lang="ja-JP" altLang="ja-JP" sz="1100" dirty="0">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solidFill>
                  <a:schemeClr val="tx1"/>
                </a:solidFill>
                <a:latin typeface="メイリオ" panose="020B0604030504040204" pitchFamily="50" charset="-128"/>
                <a:ea typeface="メイリオ" panose="020B0604030504040204" pitchFamily="50" charset="-128"/>
              </a:rPr>
              <a:t>サイト内</a:t>
            </a:r>
            <a:endParaRPr kumimoji="1" lang="en-US" altLang="ja-JP" sz="800" b="1" dirty="0">
              <a:solidFill>
                <a:schemeClr val="tx1"/>
              </a:solidFill>
              <a:latin typeface="メイリオ" panose="020B0604030504040204" pitchFamily="50" charset="-128"/>
              <a:ea typeface="メイリオ" panose="020B0604030504040204" pitchFamily="50" charset="-128"/>
            </a:endParaRPr>
          </a:p>
          <a:p>
            <a:pPr algn="ctr"/>
            <a:r>
              <a:rPr lang="en-US" altLang="ja-JP" sz="800" b="1" dirty="0">
                <a:solidFill>
                  <a:schemeClr val="tx1"/>
                </a:solidFill>
                <a:latin typeface="メイリオ" panose="020B0604030504040204" pitchFamily="50" charset="-128"/>
                <a:ea typeface="メイリオ" panose="020B0604030504040204" pitchFamily="50" charset="-128"/>
              </a:rPr>
              <a:t>LINE</a:t>
            </a:r>
            <a:r>
              <a:rPr lang="ja-JP" altLang="en-US" sz="800" b="1" dirty="0">
                <a:solidFill>
                  <a:schemeClr val="tx1"/>
                </a:solidFill>
                <a:latin typeface="メイリオ" panose="020B0604030504040204" pitchFamily="50" charset="-128"/>
                <a:ea typeface="メイリオ" panose="020B0604030504040204" pitchFamily="50" charset="-128"/>
              </a:rPr>
              <a:t>動線</a:t>
            </a:r>
            <a:endParaRPr lang="en-US" altLang="ja-JP" sz="800" b="1" dirty="0">
              <a:solidFill>
                <a:schemeClr val="tx1"/>
              </a:solidFill>
              <a:latin typeface="メイリオ" panose="020B0604030504040204" pitchFamily="50" charset="-128"/>
              <a:ea typeface="メイリオ" panose="020B0604030504040204" pitchFamily="50" charset="-128"/>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rPr>
              <a:t>情報登録</a:t>
            </a:r>
            <a:endParaRPr lang="en-US" altLang="ja-JP" sz="1000" dirty="0">
              <a:solidFill>
                <a:schemeClr val="tx1"/>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rPr>
              <a:t>サンクス</a:t>
            </a:r>
            <a:endParaRPr lang="en-US" altLang="ja-JP" sz="1000" b="1" dirty="0">
              <a:solidFill>
                <a:schemeClr val="tx1"/>
              </a:solidFill>
              <a:latin typeface="メイリオ" panose="020B0604030504040204" pitchFamily="50" charset="-128"/>
              <a:ea typeface="メイリオ" panose="020B0604030504040204" pitchFamily="50" charset="-128"/>
            </a:endParaRPr>
          </a:p>
          <a:p>
            <a:pPr algn="ctr"/>
            <a:r>
              <a:rPr lang="en-US" altLang="ja-JP" sz="1000" b="1" dirty="0">
                <a:solidFill>
                  <a:schemeClr val="tx1"/>
                </a:solidFill>
                <a:latin typeface="メイリオ" panose="020B0604030504040204" pitchFamily="50" charset="-128"/>
                <a:ea typeface="メイリオ" panose="020B0604030504040204" pitchFamily="50" charset="-128"/>
              </a:rPr>
              <a:t>LINE</a:t>
            </a:r>
            <a:r>
              <a:rPr lang="ja-JP" altLang="en-US" sz="1000" b="1" dirty="0">
                <a:solidFill>
                  <a:schemeClr val="tx1"/>
                </a:solidFill>
                <a:latin typeface="メイリオ" panose="020B0604030504040204" pitchFamily="50" charset="-128"/>
                <a:ea typeface="メイリオ" panose="020B0604030504040204" pitchFamily="50" charset="-128"/>
              </a:rPr>
              <a:t>誘導</a:t>
            </a:r>
            <a:endParaRPr lang="en-US" altLang="ja-JP" sz="1000" b="1" dirty="0">
              <a:solidFill>
                <a:schemeClr val="tx1"/>
              </a:solidFill>
              <a:latin typeface="メイリオ" panose="020B0604030504040204" pitchFamily="50" charset="-128"/>
              <a:ea typeface="メイリオ" panose="020B0604030504040204" pitchFamily="50" charset="-128"/>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129612"/>
            <a:ext cx="1307291" cy="553998"/>
          </a:xfrm>
          <a:prstGeom prst="rect">
            <a:avLst/>
          </a:prstGeom>
          <a:noFill/>
        </p:spPr>
        <p:txBody>
          <a:bodyPr wrap="square">
            <a:spAutoFit/>
          </a:bodyPr>
          <a:lstStyle/>
          <a:p>
            <a:r>
              <a:rPr lang="ja-JP" altLang="en-US" sz="1000" b="1" dirty="0">
                <a:latin typeface="メイリオ" panose="020B0604030504040204" pitchFamily="50" charset="-128"/>
                <a:ea typeface="メイリオ" panose="020B0604030504040204" pitchFamily="50" charset="-128"/>
              </a:rPr>
              <a:t>・アンケート</a:t>
            </a:r>
            <a:endParaRPr lang="en-US" altLang="ja-JP" sz="1000" b="1" dirty="0">
              <a:solidFill>
                <a:schemeClr val="tx1"/>
              </a:solidFill>
              <a:latin typeface="メイリオ" panose="020B0604030504040204" pitchFamily="50" charset="-128"/>
              <a:ea typeface="メイリオ" panose="020B0604030504040204" pitchFamily="50" charset="-128"/>
            </a:endParaRPr>
          </a:p>
          <a:p>
            <a:r>
              <a:rPr lang="ja-JP" altLang="en-US" sz="1000" b="1" dirty="0">
                <a:solidFill>
                  <a:schemeClr val="tx1"/>
                </a:solidFill>
                <a:latin typeface="メイリオ" panose="020B0604030504040204" pitchFamily="50" charset="-128"/>
                <a:ea typeface="メイリオ" panose="020B0604030504040204" pitchFamily="50" charset="-128"/>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endParaRPr>
          </a:p>
          <a:p>
            <a:r>
              <a:rPr lang="ja-JP" altLang="en-US" sz="1000" b="1" dirty="0">
                <a:latin typeface="メイリオ" panose="020B0604030504040204" pitchFamily="50" charset="-128"/>
                <a:ea typeface="メイリオ" panose="020B0604030504040204" pitchFamily="50" charset="-128"/>
              </a:rPr>
              <a:t>・企画配信</a:t>
            </a:r>
            <a:endParaRPr lang="en-US" altLang="ja-JP" sz="1000" b="1" dirty="0">
              <a:latin typeface="メイリオ" panose="020B0604030504040204" pitchFamily="50" charset="-128"/>
              <a:ea typeface="メイリオ" panose="020B0604030504040204" pitchFamily="50" charset="-128"/>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FF0000"/>
                </a:solidFill>
                <a:latin typeface="メイリオ" panose="020B0604030504040204" pitchFamily="50" charset="-128"/>
                <a:ea typeface="メイリオ" panose="020B0604030504040204" pitchFamily="50" charset="-128"/>
              </a:rPr>
              <a:t>離脱</a:t>
            </a:r>
            <a:endParaRPr kumimoji="1" lang="en-US" altLang="ja-JP" sz="900" dirty="0">
              <a:solidFill>
                <a:srgbClr val="FF0000"/>
              </a:solidFill>
              <a:latin typeface="メイリオ" panose="020B0604030504040204" pitchFamily="50" charset="-128"/>
              <a:ea typeface="メイリオ" panose="020B0604030504040204" pitchFamily="50" charset="-128"/>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FF0000"/>
                </a:solidFill>
                <a:latin typeface="メイリオ" panose="020B0604030504040204" pitchFamily="50" charset="-128"/>
                <a:ea typeface="メイリオ" panose="020B0604030504040204" pitchFamily="50" charset="-128"/>
              </a:rPr>
              <a:t>離脱</a:t>
            </a:r>
            <a:endParaRPr kumimoji="1" lang="en-US" altLang="ja-JP" sz="900" dirty="0">
              <a:solidFill>
                <a:srgbClr val="FF0000"/>
              </a:solidFill>
              <a:latin typeface="メイリオ" panose="020B0604030504040204" pitchFamily="50" charset="-128"/>
              <a:ea typeface="メイリオ" panose="020B0604030504040204" pitchFamily="50" charset="-128"/>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情報登録</a:t>
            </a:r>
            <a:endParaRPr lang="en-US" altLang="ja-JP" sz="1000" dirty="0">
              <a:solidFill>
                <a:schemeClr val="tx1"/>
              </a:solidFill>
              <a:latin typeface="メイリオ" panose="020B0604030504040204" pitchFamily="50" charset="-128"/>
              <a:ea typeface="メイリオ" panose="020B0604030504040204" pitchFamily="50" charset="-128"/>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1991870"/>
            <a:ext cx="843512" cy="53996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rPr>
              <a:t>商品購入</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dirty="0">
                <a:solidFill>
                  <a:schemeClr val="bg1"/>
                </a:solidFill>
                <a:latin typeface="メイリオ" panose="020B0604030504040204" pitchFamily="50" charset="-128"/>
                <a:ea typeface="メイリオ" panose="020B0604030504040204" pitchFamily="50" charset="-128"/>
              </a:rPr>
              <a:t>等</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b="1" dirty="0">
                <a:solidFill>
                  <a:schemeClr val="bg1"/>
                </a:solidFill>
                <a:latin typeface="メイリオ" panose="020B0604030504040204" pitchFamily="50" charset="-128"/>
                <a:ea typeface="メイリオ" panose="020B0604030504040204" pitchFamily="50" charset="-128"/>
              </a:rPr>
              <a:t>WEB_PV</a:t>
            </a:r>
          </a:p>
        </p:txBody>
      </p: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lang="en-US" altLang="ja-JP" sz="1000" dirty="0">
                <a:solidFill>
                  <a:schemeClr val="tx1"/>
                </a:solidFill>
                <a:latin typeface="メイリオ" panose="020B0604030504040204" pitchFamily="50" charset="-128"/>
                <a:ea typeface="メイリオ" panose="020B0604030504040204" pitchFamily="50" charset="-128"/>
              </a:rPr>
              <a:t>SEO</a:t>
            </a:r>
          </a:p>
          <a:p>
            <a:pPr algn="ctr"/>
            <a:endParaRPr lang="en-US" altLang="ja-JP" sz="1000" dirty="0">
              <a:solidFill>
                <a:schemeClr val="tx1"/>
              </a:solidFill>
              <a:latin typeface="メイリオ" panose="020B0604030504040204" pitchFamily="50" charset="-128"/>
              <a:ea typeface="メイリオ" panose="020B0604030504040204" pitchFamily="50" charset="-128"/>
            </a:endParaRPr>
          </a:p>
          <a:p>
            <a:pPr algn="ctr"/>
            <a:r>
              <a:rPr lang="en-US" altLang="ja-JP" sz="1000" dirty="0">
                <a:solidFill>
                  <a:schemeClr val="tx1"/>
                </a:solidFill>
                <a:latin typeface="メイリオ" panose="020B0604030504040204" pitchFamily="50" charset="-128"/>
                <a:ea typeface="メイリオ" panose="020B0604030504040204" pitchFamily="50" charset="-128"/>
              </a:rPr>
              <a:t>SNS</a:t>
            </a:r>
          </a:p>
          <a:p>
            <a:pPr algn="ctr"/>
            <a:endParaRPr lang="en-US" altLang="ja-JP" sz="10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97114"/>
            <a:ext cx="3273814" cy="127495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●希望する企画のアンケート</a:t>
            </a:r>
            <a:endParaRPr kumimoji="1" lang="en-US" altLang="ja-JP" sz="1000" b="1" dirty="0">
              <a:solidFill>
                <a:schemeClr val="tx1"/>
              </a:solidFill>
              <a:latin typeface="メイリオ" panose="020B0604030504040204" pitchFamily="50" charset="-128"/>
              <a:ea typeface="メイリオ" panose="020B0604030504040204" pitchFamily="50" charset="-128"/>
            </a:endParaRPr>
          </a:p>
          <a:p>
            <a:pPr algn="ctr"/>
            <a:r>
              <a:rPr lang="ja-JP" altLang="en-US" sz="1000" b="1" dirty="0">
                <a:solidFill>
                  <a:schemeClr val="tx1"/>
                </a:solidFill>
                <a:latin typeface="メイリオ" panose="020B0604030504040204" pitchFamily="50" charset="-128"/>
                <a:ea typeface="メイリオ" panose="020B0604030504040204" pitchFamily="50" charset="-128"/>
              </a:rPr>
              <a:t>●イベント告知</a:t>
            </a:r>
            <a:endParaRPr lang="en-US" altLang="ja-JP" sz="1000" b="1" dirty="0">
              <a:solidFill>
                <a:schemeClr val="tx1"/>
              </a:solidFill>
              <a:latin typeface="メイリオ" panose="020B0604030504040204" pitchFamily="50" charset="-128"/>
              <a:ea typeface="メイリオ" panose="020B0604030504040204" pitchFamily="50" charset="-128"/>
            </a:endParaRPr>
          </a:p>
          <a:p>
            <a:pPr algn="ctr"/>
            <a:endParaRPr lang="en-US" altLang="ja-JP" sz="300" dirty="0">
              <a:solidFill>
                <a:schemeClr val="tx1"/>
              </a:solidFill>
              <a:latin typeface="メイリオ" panose="020B0604030504040204" pitchFamily="50" charset="-128"/>
              <a:ea typeface="メイリオ" panose="020B0604030504040204" pitchFamily="50" charset="-128"/>
            </a:endParaRPr>
          </a:p>
          <a:p>
            <a:pPr algn="ctr"/>
            <a:r>
              <a:rPr lang="ja-JP" altLang="en-US" sz="1000" dirty="0">
                <a:solidFill>
                  <a:schemeClr val="tx1"/>
                </a:solidFill>
                <a:latin typeface="メイリオ" panose="020B0604030504040204" pitchFamily="50" charset="-128"/>
                <a:ea typeface="メイリオ" panose="020B0604030504040204" pitchFamily="50" charset="-128"/>
              </a:rPr>
              <a:t>としての活用等も可能です</a:t>
            </a:r>
            <a:endParaRPr lang="en-US" altLang="ja-JP" sz="1000" dirty="0">
              <a:solidFill>
                <a:schemeClr val="tx1"/>
              </a:solidFill>
              <a:latin typeface="メイリオ" panose="020B0604030504040204" pitchFamily="50" charset="-128"/>
              <a:ea typeface="メイリオ" panose="020B0604030504040204" pitchFamily="50" charset="-128"/>
            </a:endParaRPr>
          </a:p>
          <a:p>
            <a:pPr algn="ctr"/>
            <a:endParaRPr lang="en-US" altLang="ja-JP" sz="1000" dirty="0">
              <a:solidFill>
                <a:schemeClr val="tx1"/>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個別チャット対応はしない方針</a:t>
            </a:r>
            <a:endParaRPr lang="en-US" altLang="ja-JP" sz="1000" dirty="0">
              <a:solidFill>
                <a:srgbClr val="FF0000"/>
              </a:solidFill>
              <a:latin typeface="メイリオ" panose="020B0604030504040204" pitchFamily="50" charset="-128"/>
              <a:ea typeface="メイリオ" panose="020B0604030504040204" pitchFamily="50" charset="-128"/>
            </a:endParaRPr>
          </a:p>
        </p:txBody>
      </p:sp>
      <p:cxnSp>
        <p:nvCxnSpPr>
          <p:cNvPr id="9" name="コネクタ: カギ線 8">
            <a:extLst>
              <a:ext uri="{FF2B5EF4-FFF2-40B4-BE49-F238E27FC236}">
                <a16:creationId xmlns:a16="http://schemas.microsoft.com/office/drawing/2014/main" id="{DBE113A0-4CAF-1547-032B-73C6F313592B}"/>
              </a:ext>
            </a:extLst>
          </p:cNvPr>
          <p:cNvCxnSpPr>
            <a:cxnSpLocks/>
          </p:cNvCxnSpPr>
          <p:nvPr/>
        </p:nvCxnSpPr>
        <p:spPr>
          <a:xfrm>
            <a:off x="3315796" y="2326817"/>
            <a:ext cx="238806" cy="1402161"/>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0F46C450-63A3-2BC2-4AB2-2A680EA3C6EF}"/>
              </a:ext>
            </a:extLst>
          </p:cNvPr>
          <p:cNvSpPr/>
          <p:nvPr/>
        </p:nvSpPr>
        <p:spPr>
          <a:xfrm>
            <a:off x="1265700" y="4786564"/>
            <a:ext cx="7529957" cy="1668546"/>
          </a:xfrm>
          <a:prstGeom prst="rect">
            <a:avLst/>
          </a:prstGeom>
          <a:solidFill>
            <a:srgbClr val="04FA0A">
              <a:alpha val="1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endParaRPr lang="en-US" altLang="ja-JP" sz="1000" b="1" dirty="0">
              <a:solidFill>
                <a:schemeClr val="tx1"/>
              </a:solidFill>
              <a:latin typeface="メイリオ" panose="020B0604030504040204" pitchFamily="50" charset="-128"/>
              <a:ea typeface="メイリオ" panose="020B0604030504040204" pitchFamily="50" charset="-128"/>
            </a:endParaRPr>
          </a:p>
        </p:txBody>
      </p:sp>
      <p:sp>
        <p:nvSpPr>
          <p:cNvPr id="23" name="左中かっこ 22">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endParaRPr>
          </a:p>
        </p:txBody>
      </p:sp>
      <p:sp>
        <p:nvSpPr>
          <p:cNvPr id="24" name="テキスト ボックス 23">
            <a:extLst>
              <a:ext uri="{FF2B5EF4-FFF2-40B4-BE49-F238E27FC236}">
                <a16:creationId xmlns:a16="http://schemas.microsoft.com/office/drawing/2014/main" id="{524DFC21-9336-5CCC-A46E-6B03A60F8CD8}"/>
              </a:ext>
            </a:extLst>
          </p:cNvPr>
          <p:cNvSpPr txBox="1"/>
          <p:nvPr/>
        </p:nvSpPr>
        <p:spPr>
          <a:xfrm>
            <a:off x="3454180" y="5527519"/>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rPr>
              <a:t>・アンケート</a:t>
            </a:r>
            <a:endParaRPr lang="en-US" altLang="ja-JP" sz="1000" b="1" dirty="0">
              <a:solidFill>
                <a:schemeClr val="tx1"/>
              </a:solidFill>
              <a:latin typeface="メイリオ" panose="020B0604030504040204" pitchFamily="50" charset="-128"/>
              <a:ea typeface="メイリオ" panose="020B0604030504040204" pitchFamily="50" charset="-128"/>
            </a:endParaRPr>
          </a:p>
          <a:p>
            <a:r>
              <a:rPr lang="ja-JP" altLang="en-US" sz="1000" b="1" dirty="0">
                <a:latin typeface="メイリオ" panose="020B0604030504040204" pitchFamily="50" charset="-128"/>
                <a:ea typeface="メイリオ" panose="020B0604030504040204" pitchFamily="50" charset="-128"/>
              </a:rPr>
              <a:t>・診断</a:t>
            </a:r>
            <a:endParaRPr lang="en-US" altLang="ja-JP" sz="1000" b="1" dirty="0">
              <a:solidFill>
                <a:schemeClr val="tx1"/>
              </a:solidFill>
              <a:latin typeface="メイリオ" panose="020B0604030504040204" pitchFamily="50" charset="-128"/>
              <a:ea typeface="メイリオ" panose="020B0604030504040204" pitchFamily="50" charset="-128"/>
            </a:endParaRPr>
          </a:p>
          <a:p>
            <a:r>
              <a:rPr lang="ja-JP" altLang="en-US" sz="1000" b="1" dirty="0">
                <a:solidFill>
                  <a:schemeClr val="tx1"/>
                </a:solidFill>
                <a:latin typeface="メイリオ" panose="020B0604030504040204" pitchFamily="50" charset="-128"/>
                <a:ea typeface="メイリオ" panose="020B0604030504040204" pitchFamily="50" charset="-128"/>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rPr>
              <a:t>長期施策の</a:t>
            </a:r>
            <a:endParaRPr lang="en-US" altLang="ja-JP" sz="1000" b="1" dirty="0">
              <a:solidFill>
                <a:schemeClr val="tx1"/>
              </a:solidFill>
              <a:latin typeface="メイリオ" panose="020B0604030504040204" pitchFamily="50" charset="-128"/>
              <a:ea typeface="メイリオ" panose="020B0604030504040204" pitchFamily="50" charset="-128"/>
            </a:endParaRPr>
          </a:p>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rPr>
              <a:t>期間展開 </a:t>
            </a:r>
            <a:endParaRPr lang="en-US" altLang="ja-JP" sz="1000" b="1" dirty="0">
              <a:solidFill>
                <a:schemeClr val="tx1"/>
              </a:solidFill>
              <a:latin typeface="メイリオ" panose="020B0604030504040204" pitchFamily="50" charset="-128"/>
              <a:ea typeface="メイリオ" panose="020B0604030504040204" pitchFamily="50" charset="-128"/>
            </a:endParaRPr>
          </a:p>
        </p:txBody>
      </p:sp>
      <p:cxnSp>
        <p:nvCxnSpPr>
          <p:cNvPr id="26" name="直線矢印コネクタ 25">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FF0000"/>
                </a:solidFill>
                <a:latin typeface="メイリオ" panose="020B0604030504040204" pitchFamily="50" charset="-128"/>
                <a:ea typeface="メイリオ" panose="020B0604030504040204" pitchFamily="50" charset="-128"/>
              </a:rPr>
              <a:t>離脱</a:t>
            </a:r>
            <a:endParaRPr kumimoji="1" lang="en-US" altLang="ja-JP" sz="900" dirty="0">
              <a:solidFill>
                <a:srgbClr val="FF0000"/>
              </a:solidFill>
              <a:latin typeface="メイリオ" panose="020B0604030504040204" pitchFamily="50" charset="-128"/>
              <a:ea typeface="メイリオ" panose="020B0604030504040204" pitchFamily="50" charset="-128"/>
            </a:endParaRPr>
          </a:p>
        </p:txBody>
      </p:sp>
      <p:pic>
        <p:nvPicPr>
          <p:cNvPr id="29" name="図 28">
            <a:extLst>
              <a:ext uri="{FF2B5EF4-FFF2-40B4-BE49-F238E27FC236}">
                <a16:creationId xmlns:a16="http://schemas.microsoft.com/office/drawing/2014/main" id="{E2FCFC59-ACFC-C861-0035-F4F95AB98F68}"/>
              </a:ext>
            </a:extLst>
          </p:cNvPr>
          <p:cNvPicPr>
            <a:picLocks noChangeAspect="1"/>
          </p:cNvPicPr>
          <p:nvPr/>
        </p:nvPicPr>
        <p:blipFill>
          <a:blip r:embed="rId2"/>
          <a:stretch>
            <a:fillRect/>
          </a:stretch>
        </p:blipFill>
        <p:spPr>
          <a:xfrm>
            <a:off x="8909914" y="5349218"/>
            <a:ext cx="582602" cy="543237"/>
          </a:xfrm>
          <a:prstGeom prst="rect">
            <a:avLst/>
          </a:prstGeom>
        </p:spPr>
      </p:pic>
    </p:spTree>
    <p:extLst>
      <p:ext uri="{BB962C8B-B14F-4D97-AF65-F5344CB8AC3E}">
        <p14:creationId xmlns:p14="http://schemas.microsoft.com/office/powerpoint/2010/main" val="39474872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bg1">
              <a:lumMod val="95000"/>
            </a:schemeClr>
          </a:solidFill>
          <a:ln w="25400" cap="flat" cmpd="sng" algn="ctr">
            <a:solidFill>
              <a:schemeClr val="bg1">
                <a:lumMod val="7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bg1">
              <a:lumMod val="95000"/>
            </a:schemeClr>
          </a:solidFill>
          <a:ln w="25400" cap="flat" cmpd="sng" algn="ctr">
            <a:solidFill>
              <a:schemeClr val="bg1">
                <a:lumMod val="7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b="1" dirty="0">
              <a:latin typeface="Meiryo"/>
              <a:ea typeface="Meiryo"/>
              <a:cs typeface="Meiryo"/>
              <a:sym typeface="Meiryo"/>
            </a:endParaRPr>
          </a:p>
          <a:p>
            <a:pPr lvl="0" algn="ctr">
              <a:buClr>
                <a:schemeClr val="dk1"/>
              </a:buClr>
              <a:buSzPts val="1500"/>
            </a:pPr>
            <a:r>
              <a:rPr lang="en-US" altLang="ja-JP" sz="1100" dirty="0">
                <a:solidFill>
                  <a:srgbClr val="FF0000"/>
                </a:solidFill>
                <a:latin typeface="Meiryo"/>
                <a:ea typeface="Meiryo"/>
                <a:cs typeface="Meiryo"/>
                <a:sym typeface="Meiryo"/>
              </a:rPr>
              <a:t>※</a:t>
            </a:r>
            <a:r>
              <a:rPr lang="ja-JP" altLang="en-US" sz="1100" dirty="0">
                <a:solidFill>
                  <a:srgbClr val="FF0000"/>
                </a:solidFill>
                <a:latin typeface="Meiryo"/>
                <a:ea typeface="Meiryo"/>
                <a:cs typeface="Meiryo"/>
                <a:sym typeface="Meiryo"/>
              </a:rPr>
              <a:t>実施想定の友だち追加動線について、★を記載しております。</a:t>
            </a:r>
            <a:endParaRPr lang="en-US" altLang="ja-JP" sz="1600" dirty="0">
              <a:solidFill>
                <a:srgbClr val="FF0000"/>
              </a:solidFill>
              <a:latin typeface="Meiryo"/>
              <a:ea typeface="Meiryo"/>
              <a:cs typeface="Meiryo"/>
              <a:sym typeface="Meiryo"/>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0001345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Meiryo"/>
                <a:ea typeface="Meiryo"/>
                <a:cs typeface="Meiryo"/>
                <a:sym typeface="Meiryo"/>
              </a:rPr>
              <a:t>↓</a:t>
            </a:r>
            <a:endParaRPr lang="en-US" altLang="ja-JP" sz="1000" b="1" dirty="0">
              <a:solidFill>
                <a:schemeClr val="bg1"/>
              </a:solidFill>
              <a:latin typeface="Meiryo"/>
              <a:ea typeface="Meiryo"/>
              <a:cs typeface="Meiryo"/>
              <a:sym typeface="Meiryo"/>
            </a:endParaRPr>
          </a:p>
          <a:p>
            <a:pPr algn="ctr"/>
            <a:r>
              <a:rPr lang="ja-JP" altLang="en-US" sz="1000" b="1" dirty="0">
                <a:solidFill>
                  <a:schemeClr val="bg1"/>
                </a:solidFill>
                <a:latin typeface="Meiryo"/>
                <a:ea typeface="Meiryo"/>
                <a:sym typeface="Meiryo"/>
              </a:rPr>
              <a:t>簡易</a:t>
            </a:r>
            <a:r>
              <a:rPr lang="en-US" altLang="ja-JP" sz="1000" b="1" dirty="0">
                <a:solidFill>
                  <a:schemeClr val="bg1"/>
                </a:solidFill>
                <a:latin typeface="Meiryo"/>
                <a:ea typeface="Meiryo"/>
                <a:sym typeface="Meiryo"/>
              </a:rPr>
              <a:t>SIM</a:t>
            </a:r>
            <a:r>
              <a:rPr lang="ja-JP" altLang="en-US" sz="1000" b="1" dirty="0">
                <a:solidFill>
                  <a:schemeClr val="bg1"/>
                </a:solidFill>
                <a:latin typeface="Meiryo"/>
                <a:ea typeface="Meiryo"/>
                <a:sym typeface="Meiryo"/>
              </a:rPr>
              <a:t>へ</a:t>
            </a:r>
            <a:endParaRPr lang="ja-JP" altLang="en-US" sz="1050" b="1" dirty="0">
              <a:solidFill>
                <a:schemeClr val="bg1"/>
              </a:solidFill>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Meiryo"/>
                <a:ea typeface="Meiryo"/>
                <a:cs typeface="Meiryo"/>
                <a:sym typeface="Meiryo"/>
              </a:rPr>
              <a:t>↓</a:t>
            </a:r>
            <a:endParaRPr lang="en-US" altLang="ja-JP" sz="1000" b="1" dirty="0">
              <a:solidFill>
                <a:schemeClr val="bg1"/>
              </a:solidFill>
              <a:latin typeface="Meiryo"/>
              <a:ea typeface="Meiryo"/>
              <a:cs typeface="Meiryo"/>
              <a:sym typeface="Meiryo"/>
            </a:endParaRPr>
          </a:p>
          <a:p>
            <a:pPr algn="ctr"/>
            <a:r>
              <a:rPr lang="en-US" altLang="ja-JP" sz="1000" b="1" dirty="0">
                <a:solidFill>
                  <a:schemeClr val="bg1"/>
                </a:solidFill>
                <a:latin typeface="Meiryo"/>
                <a:ea typeface="Meiryo"/>
                <a:sym typeface="Meiryo"/>
              </a:rPr>
              <a:t>LINE</a:t>
            </a:r>
            <a:r>
              <a:rPr lang="ja-JP" altLang="en-US" sz="1000" b="1" dirty="0">
                <a:solidFill>
                  <a:schemeClr val="bg1"/>
                </a:solidFill>
                <a:latin typeface="Meiryo"/>
                <a:ea typeface="Meiryo"/>
                <a:sym typeface="Meiryo"/>
              </a:rPr>
              <a:t>追加へ</a:t>
            </a:r>
            <a:endParaRPr lang="ja-JP" altLang="en-US" sz="1050" b="1" dirty="0">
              <a:solidFill>
                <a:schemeClr val="bg1"/>
              </a:solidFill>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0000"/>
                </a:solidFill>
                <a:latin typeface="Meiryo"/>
                <a:ea typeface="Meiryo"/>
                <a:cs typeface="Meiryo"/>
                <a:sym typeface="Meiryo"/>
              </a:rPr>
              <a:t>+</a:t>
            </a:r>
            <a:r>
              <a:rPr lang="ja-JP" altLang="en-US" sz="1050" b="1" dirty="0">
                <a:solidFill>
                  <a:srgbClr val="FF0000"/>
                </a:solidFill>
                <a:latin typeface="Meiryo"/>
                <a:ea typeface="Meiryo"/>
                <a:cs typeface="Meiryo"/>
                <a:sym typeface="Meiryo"/>
              </a:rPr>
              <a:t>設定地点追加</a:t>
            </a:r>
            <a:endParaRPr sz="1050" b="1" i="0" u="none" strike="noStrike" cap="none" dirty="0">
              <a:solidFill>
                <a:srgbClr val="FF00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252182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C6895-896B-9E00-CCE0-8FD2C532CBF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57325C46-C913-158A-F4D5-062E1EE9DA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3E47B791-F689-043A-D742-58F518AFE49A}"/>
              </a:ext>
            </a:extLst>
          </p:cNvPr>
          <p:cNvSpPr/>
          <p:nvPr/>
        </p:nvSpPr>
        <p:spPr>
          <a:xfrm>
            <a:off x="543399" y="1938056"/>
            <a:ext cx="4649626"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solidFill>
                <a:latin typeface="メイリオ" panose="020B0604030504040204" pitchFamily="50" charset="-128"/>
                <a:ea typeface="メイリオ" panose="020B0604030504040204" pitchFamily="50" charset="-128"/>
              </a:rPr>
              <a:t>WEB</a:t>
            </a:r>
            <a:r>
              <a:rPr kumimoji="1" lang="ja-JP" altLang="en-US" sz="1100" b="1" dirty="0">
                <a:solidFill>
                  <a:schemeClr val="tx1"/>
                </a:solidFill>
                <a:latin typeface="メイリオ" panose="020B0604030504040204" pitchFamily="50" charset="-128"/>
                <a:ea typeface="メイリオ" panose="020B0604030504040204" pitchFamily="50" charset="-128"/>
              </a:rPr>
              <a:t>サイト</a:t>
            </a:r>
          </a:p>
        </p:txBody>
      </p:sp>
      <p:sp>
        <p:nvSpPr>
          <p:cNvPr id="1026" name="テキスト ボックス 1025">
            <a:extLst>
              <a:ext uri="{FF2B5EF4-FFF2-40B4-BE49-F238E27FC236}">
                <a16:creationId xmlns:a16="http://schemas.microsoft.com/office/drawing/2014/main" id="{CC180508-A6F5-4077-668A-348F7DF4F354}"/>
              </a:ext>
            </a:extLst>
          </p:cNvPr>
          <p:cNvSpPr txBox="1"/>
          <p:nvPr/>
        </p:nvSpPr>
        <p:spPr>
          <a:xfrm>
            <a:off x="4893555" y="3926711"/>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99AB0048-465B-06EC-2698-828FB68C7B9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3586BF1-F8BC-5452-51F7-4513DF4B3FE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F3E849F1-4DB7-C5D3-786D-0D1AECEAE009}"/>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9" name="正方形/長方形 8">
            <a:extLst>
              <a:ext uri="{FF2B5EF4-FFF2-40B4-BE49-F238E27FC236}">
                <a16:creationId xmlns:a16="http://schemas.microsoft.com/office/drawing/2014/main" id="{59EFBEFD-6BC5-E2FD-1966-9BF5B3ACA1E2}"/>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B434BFFF-B81C-A758-D586-1D50BE3F94D1}"/>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6453884-60B1-5704-5C42-5665A429B1D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5F399775-D053-4999-7BF8-10B94CF4C6FE}"/>
              </a:ext>
            </a:extLst>
          </p:cNvPr>
          <p:cNvSpPr/>
          <p:nvPr/>
        </p:nvSpPr>
        <p:spPr>
          <a:xfrm>
            <a:off x="5341545" y="1938056"/>
            <a:ext cx="4216009"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8144D94-F2AB-9C06-BFEE-A0ACB1715302}"/>
              </a:ext>
            </a:extLst>
          </p:cNvPr>
          <p:cNvSpPr/>
          <p:nvPr/>
        </p:nvSpPr>
        <p:spPr>
          <a:xfrm>
            <a:off x="543399"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DEF16EFC-3EF0-A11F-C5A2-CCD96FC766C5}"/>
              </a:ext>
            </a:extLst>
          </p:cNvPr>
          <p:cNvSpPr/>
          <p:nvPr/>
        </p:nvSpPr>
        <p:spPr>
          <a:xfrm>
            <a:off x="2137897"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0000"/>
                </a:solidFill>
                <a:latin typeface="Meiryo"/>
                <a:ea typeface="Meiryo"/>
                <a:cs typeface="Meiryo"/>
                <a:sym typeface="Meiryo"/>
              </a:rPr>
              <a:t>+</a:t>
            </a:r>
            <a:r>
              <a:rPr lang="ja-JP" altLang="en-US" sz="1050" b="1" dirty="0">
                <a:solidFill>
                  <a:srgbClr val="FF0000"/>
                </a:solidFill>
                <a:latin typeface="Meiryo"/>
                <a:ea typeface="Meiryo"/>
                <a:cs typeface="Meiryo"/>
                <a:sym typeface="Meiryo"/>
              </a:rPr>
              <a:t>設定地点追加</a:t>
            </a:r>
            <a:endParaRPr sz="1050" b="1" i="0" u="none" strike="noStrike" cap="none" dirty="0">
              <a:solidFill>
                <a:srgbClr val="FF0000"/>
              </a:solidFill>
              <a:latin typeface="Meiryo"/>
              <a:ea typeface="Meiryo"/>
              <a:cs typeface="Meiryo"/>
              <a:sym typeface="Meiryo"/>
            </a:endParaRPr>
          </a:p>
        </p:txBody>
      </p:sp>
      <p:sp>
        <p:nvSpPr>
          <p:cNvPr id="31" name="正方形/長方形 30">
            <a:extLst>
              <a:ext uri="{FF2B5EF4-FFF2-40B4-BE49-F238E27FC236}">
                <a16:creationId xmlns:a16="http://schemas.microsoft.com/office/drawing/2014/main" id="{10BD4226-0F03-4184-B60F-A4B0D5C2A14C}"/>
              </a:ext>
            </a:extLst>
          </p:cNvPr>
          <p:cNvSpPr/>
          <p:nvPr/>
        </p:nvSpPr>
        <p:spPr>
          <a:xfrm>
            <a:off x="5500863" y="2551780"/>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a:extLst>
              <a:ext uri="{FF2B5EF4-FFF2-40B4-BE49-F238E27FC236}">
                <a16:creationId xmlns:a16="http://schemas.microsoft.com/office/drawing/2014/main" id="{18EBDCF6-438E-D689-6C13-7FD918CCDF3C}"/>
              </a:ext>
            </a:extLst>
          </p:cNvPr>
          <p:cNvSpPr/>
          <p:nvPr/>
        </p:nvSpPr>
        <p:spPr>
          <a:xfrm>
            <a:off x="5666814" y="2429705"/>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pic>
        <p:nvPicPr>
          <p:cNvPr id="33" name="図 32" descr="電卓の写真のスマートフォンのスクリーンショット&#10;&#10;AI 生成コンテンツは誤りを含む可能性があります。">
            <a:extLst>
              <a:ext uri="{FF2B5EF4-FFF2-40B4-BE49-F238E27FC236}">
                <a16:creationId xmlns:a16="http://schemas.microsoft.com/office/drawing/2014/main" id="{252A850A-DE67-1AAB-8E3B-575386215750}"/>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691800" y="2287863"/>
            <a:ext cx="1231081" cy="2085098"/>
          </a:xfrm>
          <a:prstGeom prst="rect">
            <a:avLst/>
          </a:prstGeom>
        </p:spPr>
      </p:pic>
      <p:sp>
        <p:nvSpPr>
          <p:cNvPr id="39" name="テキスト ボックス 38">
            <a:extLst>
              <a:ext uri="{FF2B5EF4-FFF2-40B4-BE49-F238E27FC236}">
                <a16:creationId xmlns:a16="http://schemas.microsoft.com/office/drawing/2014/main" id="{11A21BC1-BB4B-B5CB-0B1B-B0AEC0F6766A}"/>
              </a:ext>
            </a:extLst>
          </p:cNvPr>
          <p:cNvSpPr txBox="1"/>
          <p:nvPr/>
        </p:nvSpPr>
        <p:spPr>
          <a:xfrm>
            <a:off x="5664087" y="2877091"/>
            <a:ext cx="1859035" cy="1046440"/>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p:txBody>
      </p:sp>
      <p:pic>
        <p:nvPicPr>
          <p:cNvPr id="43" name="図 42">
            <a:extLst>
              <a:ext uri="{FF2B5EF4-FFF2-40B4-BE49-F238E27FC236}">
                <a16:creationId xmlns:a16="http://schemas.microsoft.com/office/drawing/2014/main" id="{5042697E-BCAB-283D-289B-8059CFFDE88F}"/>
              </a:ext>
            </a:extLst>
          </p:cNvPr>
          <p:cNvPicPr>
            <a:picLocks noChangeAspect="1"/>
          </p:cNvPicPr>
          <p:nvPr/>
        </p:nvPicPr>
        <p:blipFill>
          <a:blip r:embed="rId3"/>
          <a:stretch>
            <a:fillRect/>
          </a:stretch>
        </p:blipFill>
        <p:spPr>
          <a:xfrm>
            <a:off x="8088101" y="2284958"/>
            <a:ext cx="334412" cy="74315"/>
          </a:xfrm>
          <a:prstGeom prst="rect">
            <a:avLst/>
          </a:prstGeom>
        </p:spPr>
      </p:pic>
      <p:pic>
        <p:nvPicPr>
          <p:cNvPr id="44" name="図 43">
            <a:extLst>
              <a:ext uri="{FF2B5EF4-FFF2-40B4-BE49-F238E27FC236}">
                <a16:creationId xmlns:a16="http://schemas.microsoft.com/office/drawing/2014/main" id="{592C073E-FA0A-DF63-E2EF-2D654055CD06}"/>
              </a:ext>
            </a:extLst>
          </p:cNvPr>
          <p:cNvPicPr>
            <a:picLocks noChangeAspect="1"/>
          </p:cNvPicPr>
          <p:nvPr/>
        </p:nvPicPr>
        <p:blipFill>
          <a:blip r:embed="rId3"/>
          <a:stretch>
            <a:fillRect/>
          </a:stretch>
        </p:blipFill>
        <p:spPr>
          <a:xfrm>
            <a:off x="8240501" y="2437358"/>
            <a:ext cx="334412" cy="74315"/>
          </a:xfrm>
          <a:prstGeom prst="rect">
            <a:avLst/>
          </a:prstGeom>
        </p:spPr>
      </p:pic>
      <p:sp>
        <p:nvSpPr>
          <p:cNvPr id="51" name="正方形/長方形 50">
            <a:extLst>
              <a:ext uri="{FF2B5EF4-FFF2-40B4-BE49-F238E27FC236}">
                <a16:creationId xmlns:a16="http://schemas.microsoft.com/office/drawing/2014/main" id="{988A63FC-B094-5D0A-91B3-925316D9D3BD}"/>
              </a:ext>
            </a:extLst>
          </p:cNvPr>
          <p:cNvSpPr/>
          <p:nvPr/>
        </p:nvSpPr>
        <p:spPr>
          <a:xfrm>
            <a:off x="7939529" y="2665147"/>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a:extLst>
              <a:ext uri="{FF2B5EF4-FFF2-40B4-BE49-F238E27FC236}">
                <a16:creationId xmlns:a16="http://schemas.microsoft.com/office/drawing/2014/main" id="{8357B78E-00F3-6A09-133E-FA44D96E056A}"/>
              </a:ext>
            </a:extLst>
          </p:cNvPr>
          <p:cNvCxnSpPr>
            <a:cxnSpLocks/>
          </p:cNvCxnSpPr>
          <p:nvPr/>
        </p:nvCxnSpPr>
        <p:spPr>
          <a:xfrm flipV="1">
            <a:off x="7364945" y="3065322"/>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B3F147E1-85AD-880C-67E9-D8D7B09A8DA1}"/>
              </a:ext>
            </a:extLst>
          </p:cNvPr>
          <p:cNvSpPr txBox="1"/>
          <p:nvPr/>
        </p:nvSpPr>
        <p:spPr>
          <a:xfrm>
            <a:off x="5530932" y="4525127"/>
            <a:ext cx="3730896" cy="1269917"/>
          </a:xfrm>
          <a:prstGeom prst="rect">
            <a:avLst/>
          </a:prstGeom>
          <a:solidFill>
            <a:srgbClr val="FFFF00"/>
          </a:solidFill>
        </p:spPr>
        <p:txBody>
          <a:bodyPr wrap="square" anchor="ctr">
            <a:spAutoFit/>
          </a:bodyPr>
          <a:lstStyle/>
          <a:p>
            <a:pPr algn="ctr"/>
            <a:r>
              <a:rPr lang="ja-JP" altLang="en-US" sz="1400" b="1" dirty="0">
                <a:latin typeface="メイリオ" panose="020B0604030504040204" pitchFamily="50" charset="-128"/>
                <a:ea typeface="メイリオ" panose="020B0604030504040204" pitchFamily="50" charset="-128"/>
              </a:rPr>
              <a:t>非友だち　：　友だち追加</a:t>
            </a:r>
            <a:r>
              <a:rPr lang="en-US" altLang="ja-JP" sz="1400" b="1" dirty="0">
                <a:latin typeface="メイリオ" panose="020B0604030504040204" pitchFamily="50" charset="-128"/>
                <a:ea typeface="メイリオ" panose="020B0604030504040204" pitchFamily="50" charset="-128"/>
              </a:rPr>
              <a:t>CTA</a:t>
            </a:r>
          </a:p>
          <a:p>
            <a:pPr algn="ctr"/>
            <a:r>
              <a:rPr lang="ja-JP" altLang="en-US" sz="1400" b="1" dirty="0">
                <a:latin typeface="メイリオ" panose="020B0604030504040204" pitchFamily="50" charset="-128"/>
                <a:ea typeface="メイリオ" panose="020B0604030504040204" pitchFamily="50" charset="-128"/>
              </a:rPr>
              <a:t>友だち　：　入力項目</a:t>
            </a:r>
            <a:endParaRPr lang="en-US" altLang="ja-JP" sz="1400" b="1" dirty="0">
              <a:latin typeface="メイリオ" panose="020B0604030504040204" pitchFamily="50" charset="-128"/>
              <a:ea typeface="メイリオ" panose="020B0604030504040204" pitchFamily="50" charset="-128"/>
            </a:endParaRPr>
          </a:p>
          <a:p>
            <a:pPr algn="ctr"/>
            <a:r>
              <a:rPr lang="ja-JP" altLang="en-US" sz="1400" b="1" dirty="0">
                <a:latin typeface="メイリオ" panose="020B0604030504040204" pitchFamily="50" charset="-128"/>
                <a:ea typeface="メイリオ" panose="020B0604030504040204" pitchFamily="50" charset="-128"/>
              </a:rPr>
              <a:t>↓</a:t>
            </a:r>
            <a:endParaRPr lang="en-US" altLang="ja-JP" sz="1400" b="1" dirty="0">
              <a:latin typeface="メイリオ" panose="020B0604030504040204" pitchFamily="50" charset="-128"/>
              <a:ea typeface="メイリオ" panose="020B0604030504040204" pitchFamily="50" charset="-128"/>
            </a:endParaRPr>
          </a:p>
          <a:p>
            <a:pPr algn="ctr"/>
            <a:r>
              <a:rPr kumimoji="1" lang="ja-JP" altLang="en-US" sz="1400" b="1" dirty="0">
                <a:solidFill>
                  <a:srgbClr val="FF0000"/>
                </a:solidFill>
                <a:latin typeface="メイリオ" panose="020B0604030504040204" pitchFamily="50" charset="-128"/>
                <a:ea typeface="メイリオ" panose="020B0604030504040204" pitchFamily="50" charset="-128"/>
              </a:rPr>
              <a:t>配信セグメントとして活用</a:t>
            </a:r>
            <a:endParaRPr kumimoji="1" lang="en-US" altLang="ja-JP" sz="1400" b="1" dirty="0">
              <a:solidFill>
                <a:srgbClr val="FF0000"/>
              </a:solidFill>
              <a:latin typeface="メイリオ" panose="020B0604030504040204" pitchFamily="50" charset="-128"/>
              <a:ea typeface="メイリオ" panose="020B0604030504040204" pitchFamily="50" charset="-128"/>
            </a:endParaRPr>
          </a:p>
        </p:txBody>
      </p:sp>
      <p:sp>
        <p:nvSpPr>
          <p:cNvPr id="62" name="正方形/長方形 61">
            <a:extLst>
              <a:ext uri="{FF2B5EF4-FFF2-40B4-BE49-F238E27FC236}">
                <a16:creationId xmlns:a16="http://schemas.microsoft.com/office/drawing/2014/main" id="{C34094D4-4FAE-D245-6147-C35E71DD4CC8}"/>
              </a:ext>
            </a:extLst>
          </p:cNvPr>
          <p:cNvSpPr/>
          <p:nvPr/>
        </p:nvSpPr>
        <p:spPr>
          <a:xfrm>
            <a:off x="443011" y="2307629"/>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簡易</a:t>
            </a: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SIM</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⇨アンケ完了</a:t>
            </a:r>
          </a:p>
        </p:txBody>
      </p:sp>
      <p:sp>
        <p:nvSpPr>
          <p:cNvPr id="1025" name="正方形/長方形 1024">
            <a:extLst>
              <a:ext uri="{FF2B5EF4-FFF2-40B4-BE49-F238E27FC236}">
                <a16:creationId xmlns:a16="http://schemas.microsoft.com/office/drawing/2014/main" id="{5BF4A25A-82A2-0487-DB4D-8B89F895CBB0}"/>
              </a:ext>
            </a:extLst>
          </p:cNvPr>
          <p:cNvSpPr/>
          <p:nvPr/>
        </p:nvSpPr>
        <p:spPr>
          <a:xfrm>
            <a:off x="2891617" y="2307628"/>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査定依頼</a:t>
            </a:r>
          </a:p>
        </p:txBody>
      </p:sp>
      <p:pic>
        <p:nvPicPr>
          <p:cNvPr id="1028" name="図 1027">
            <a:extLst>
              <a:ext uri="{FF2B5EF4-FFF2-40B4-BE49-F238E27FC236}">
                <a16:creationId xmlns:a16="http://schemas.microsoft.com/office/drawing/2014/main" id="{2E97B7B8-72E9-0E0E-034B-77BCB03A4632}"/>
              </a:ext>
            </a:extLst>
          </p:cNvPr>
          <p:cNvPicPr>
            <a:picLocks noChangeAspect="1"/>
          </p:cNvPicPr>
          <p:nvPr/>
        </p:nvPicPr>
        <p:blipFill>
          <a:blip r:embed="rId4"/>
          <a:stretch>
            <a:fillRect/>
          </a:stretch>
        </p:blipFill>
        <p:spPr>
          <a:xfrm>
            <a:off x="598364" y="2610452"/>
            <a:ext cx="1075862" cy="2185169"/>
          </a:xfrm>
          <a:prstGeom prst="rect">
            <a:avLst/>
          </a:prstGeom>
        </p:spPr>
      </p:pic>
      <p:pic>
        <p:nvPicPr>
          <p:cNvPr id="1031" name="図 1030">
            <a:extLst>
              <a:ext uri="{FF2B5EF4-FFF2-40B4-BE49-F238E27FC236}">
                <a16:creationId xmlns:a16="http://schemas.microsoft.com/office/drawing/2014/main" id="{FF433959-F83A-2A51-0F17-31EBD778CB4A}"/>
              </a:ext>
            </a:extLst>
          </p:cNvPr>
          <p:cNvPicPr>
            <a:picLocks noChangeAspect="1"/>
          </p:cNvPicPr>
          <p:nvPr/>
        </p:nvPicPr>
        <p:blipFill>
          <a:blip r:embed="rId5"/>
          <a:stretch>
            <a:fillRect/>
          </a:stretch>
        </p:blipFill>
        <p:spPr>
          <a:xfrm>
            <a:off x="1682197" y="2851209"/>
            <a:ext cx="1075862" cy="2185169"/>
          </a:xfrm>
          <a:prstGeom prst="rect">
            <a:avLst/>
          </a:prstGeom>
        </p:spPr>
      </p:pic>
      <p:sp>
        <p:nvSpPr>
          <p:cNvPr id="1033" name="矢印: 下 1032">
            <a:extLst>
              <a:ext uri="{FF2B5EF4-FFF2-40B4-BE49-F238E27FC236}">
                <a16:creationId xmlns:a16="http://schemas.microsoft.com/office/drawing/2014/main" id="{3277AE2F-ADD2-3317-20C0-EEAE2FCBE973}"/>
              </a:ext>
            </a:extLst>
          </p:cNvPr>
          <p:cNvSpPr/>
          <p:nvPr/>
        </p:nvSpPr>
        <p:spPr>
          <a:xfrm>
            <a:off x="1144266" y="5160085"/>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7" name="矢印: 下 1036">
            <a:extLst>
              <a:ext uri="{FF2B5EF4-FFF2-40B4-BE49-F238E27FC236}">
                <a16:creationId xmlns:a16="http://schemas.microsoft.com/office/drawing/2014/main" id="{0C880EC7-0A21-CB31-B621-DEC827B415EF}"/>
              </a:ext>
            </a:extLst>
          </p:cNvPr>
          <p:cNvSpPr/>
          <p:nvPr/>
        </p:nvSpPr>
        <p:spPr>
          <a:xfrm>
            <a:off x="3553574" y="5160084"/>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5" name="正方形/長方形 1044">
            <a:extLst>
              <a:ext uri="{FF2B5EF4-FFF2-40B4-BE49-F238E27FC236}">
                <a16:creationId xmlns:a16="http://schemas.microsoft.com/office/drawing/2014/main" id="{FB7AE13E-85F8-C517-848B-5313A3CFA572}"/>
              </a:ext>
            </a:extLst>
          </p:cNvPr>
          <p:cNvSpPr/>
          <p:nvPr/>
        </p:nvSpPr>
        <p:spPr>
          <a:xfrm>
            <a:off x="443011" y="5505059"/>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シミュレーション結果</a:t>
            </a:r>
            <a:r>
              <a:rPr kumimoji="1"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アンケ回答</a:t>
            </a:r>
            <a:endParaRPr kumimoji="1"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に遷移</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ステップ配信が開始（パターン②）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047" name="正方形/長方形 1046">
            <a:extLst>
              <a:ext uri="{FF2B5EF4-FFF2-40B4-BE49-F238E27FC236}">
                <a16:creationId xmlns:a16="http://schemas.microsoft.com/office/drawing/2014/main" id="{F033AA41-B418-A490-2721-21F61A63D10C}"/>
              </a:ext>
            </a:extLst>
          </p:cNvPr>
          <p:cNvSpPr/>
          <p:nvPr/>
        </p:nvSpPr>
        <p:spPr>
          <a:xfrm>
            <a:off x="2891617" y="5505058"/>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依頼内容の登録</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に遷移</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ステップ配信が開始（パターン⓷）</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p:txBody>
      </p:sp>
      <p:pic>
        <p:nvPicPr>
          <p:cNvPr id="1049" name="図 1048">
            <a:extLst>
              <a:ext uri="{FF2B5EF4-FFF2-40B4-BE49-F238E27FC236}">
                <a16:creationId xmlns:a16="http://schemas.microsoft.com/office/drawing/2014/main" id="{3A5943E7-B0A7-24E2-6573-514EDECCA798}"/>
              </a:ext>
            </a:extLst>
          </p:cNvPr>
          <p:cNvPicPr>
            <a:picLocks noChangeAspect="1"/>
          </p:cNvPicPr>
          <p:nvPr/>
        </p:nvPicPr>
        <p:blipFill>
          <a:blip r:embed="rId6"/>
          <a:stretch>
            <a:fillRect/>
          </a:stretch>
        </p:blipFill>
        <p:spPr>
          <a:xfrm>
            <a:off x="3462796" y="2590927"/>
            <a:ext cx="1252807" cy="2544560"/>
          </a:xfrm>
          <a:prstGeom prst="rect">
            <a:avLst/>
          </a:prstGeom>
        </p:spPr>
      </p:pic>
    </p:spTree>
    <p:extLst>
      <p:ext uri="{BB962C8B-B14F-4D97-AF65-F5344CB8AC3E}">
        <p14:creationId xmlns:p14="http://schemas.microsoft.com/office/powerpoint/2010/main" val="4247600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転職ユーザーのカスタマージャーニー（8フェーズ）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接触〜リピートまでの動線設計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rPr>
              <a:t>～　　　 の修正・調整も</a:t>
            </a:r>
            <a:endParaRPr lang="en-US" altLang="ja-JP" sz="1400" b="1" dirty="0">
              <a:latin typeface="メイリオ" panose="020B0604030504040204" pitchFamily="50" charset="-128"/>
              <a:ea typeface="メイリオ" panose="020B0604030504040204" pitchFamily="50" charset="-128"/>
            </a:endParaRPr>
          </a:p>
          <a:p>
            <a:endParaRPr kumimoji="1" lang="en-US" altLang="ja-JP"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月次対応内に含んでおります。</a:t>
            </a:r>
            <a:endParaRPr kumimoji="1"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693530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の運用業務・</a:t>
            </a:r>
            <a:r>
              <a:rPr lang="en-US" altLang="ja-JP" sz="1600" b="1" dirty="0">
                <a:latin typeface="メイリオ" panose="020B0604030504040204" pitchFamily="50" charset="-128"/>
                <a:ea typeface="メイリオ" panose="020B0604030504040204" pitchFamily="50" charset="-128"/>
                <a:cs typeface="Meiryo"/>
                <a:sym typeface="Meiryo"/>
              </a:rPr>
              <a:t>CR</a:t>
            </a:r>
            <a:r>
              <a:rPr lang="ja-JP" altLang="en-US" sz="1600" b="1" dirty="0">
                <a:latin typeface="メイリオ" panose="020B0604030504040204" pitchFamily="50" charset="-128"/>
                <a:ea typeface="メイリオ" panose="020B0604030504040204" pitchFamily="50" charset="-128"/>
                <a:cs typeface="Meiryo"/>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sym typeface="Meiryo"/>
              </a:rPr>
              <a:t>※</a:t>
            </a:r>
            <a:r>
              <a:rPr lang="ja-JP" altLang="en-US" sz="900" dirty="0">
                <a:solidFill>
                  <a:srgbClr val="FF0000"/>
                </a:solidFill>
                <a:latin typeface="メイリオ" panose="020B0604030504040204" pitchFamily="50" charset="-128"/>
                <a:ea typeface="メイリオ" panose="020B0604030504040204" pitchFamily="50" charset="-128"/>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¥200,000~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sym typeface="Meiryo"/>
              </a:rPr>
              <a:t>貴社リソースの状況に応じて都度発注でのご依頼も各単価で受けさせていただきます。</a:t>
            </a:r>
            <a:endParaRPr lang="ja-JP" altLang="en-US" sz="1400" dirty="0"/>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80881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142629</TotalTime>
  <Words>4450</Words>
  <Application>Microsoft Office PowerPoint</Application>
  <PresentationFormat>A4 210 x 297 mm</PresentationFormat>
  <Paragraphs>1005</Paragraphs>
  <Slides>42</Slides>
  <Notes>17</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42</vt:i4>
      </vt:variant>
    </vt:vector>
  </HeadingPairs>
  <TitlesOfParts>
    <vt:vector size="50" baseType="lpstr">
      <vt:lpstr>メイリオ</vt:lpstr>
      <vt:lpstr>メイリオ</vt:lpstr>
      <vt:lpstr>Arial</vt:lpstr>
      <vt:lpstr>Calibri</vt:lpstr>
      <vt:lpstr>Century Gothic</vt:lpstr>
      <vt:lpstr>Times New Roman</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1964</cp:revision>
  <cp:lastPrinted>2022-11-01T11:38:14Z</cp:lastPrinted>
  <dcterms:created xsi:type="dcterms:W3CDTF">2015-09-04T09:21:15Z</dcterms:created>
  <dcterms:modified xsi:type="dcterms:W3CDTF">2026-09-04T06:48:59Z</dcterms:modified>
</cp:coreProperties>
</file>