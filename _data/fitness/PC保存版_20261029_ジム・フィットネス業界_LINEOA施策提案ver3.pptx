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3154" r:id="rId24"/>
    <p:sldId id="2983" r:id="rId25"/>
    <p:sldId id="2996" r:id="rId26"/>
    <p:sldId id="3143" r:id="rId27"/>
    <p:sldId id="3153" r:id="rId28"/>
    <p:sldId id="3144" r:id="rId29"/>
    <p:sldId id="3149" r:id="rId30"/>
    <p:sldId id="3145" r:id="rId31"/>
    <p:sldId id="3150" r:id="rId32"/>
    <p:sldId id="2984" r:id="rId33"/>
    <p:sldId id="2985" r:id="rId34"/>
    <p:sldId id="2962" r:id="rId35"/>
    <p:sldId id="2942" r:id="rId36"/>
    <p:sldId id="2941" r:id="rId37"/>
    <p:sldId id="2943" r:id="rId38"/>
    <p:sldId id="2944" r:id="rId39"/>
    <p:sldId id="3146" r:id="rId40"/>
    <p:sldId id="2990" r:id="rId41"/>
    <p:sldId id="2991" r:id="rId42"/>
    <p:sldId id="2967" r:id="rId43"/>
    <p:sldId id="3152" r:id="rId44"/>
    <p:sldId id="2946" r:id="rId45"/>
    <p:sldId id="2947" r:id="rId46"/>
    <p:sldId id="2948" r:id="rId47"/>
    <p:sldId id="2958"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47</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3.emf"/><Relationship Id="rId7"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A5C"/>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latin typeface="メイリオ"/>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latin typeface="メイリオ"/>
                <a:ea typeface="メイリオ"/>
              </a:rPr>
              <a:t>カーブス</a:t>
            </a:r>
            <a:r>
              <a:rPr lang="en-US" altLang="ja-JP" sz="1200" dirty="0">
                <a:solidFill>
                  <a:srgbClr val="1C2233"/>
                </a:solidFill>
                <a:latin typeface="メイリオ"/>
                <a:ea typeface="メイリオ"/>
              </a:rPr>
              <a:t>×1.6/</a:t>
            </a:r>
            <a:r>
              <a:rPr lang="ja-JP" altLang="en-US" sz="1200" dirty="0">
                <a:solidFill>
                  <a:srgbClr val="1C2233"/>
                </a:solidFill>
                <a:latin typeface="メイリオ"/>
                <a:ea typeface="メイリオ"/>
              </a:rPr>
              <a:t>年・ティップネス</a:t>
            </a:r>
            <a:r>
              <a:rPr lang="en-US" altLang="ja-JP" sz="1200" dirty="0">
                <a:solidFill>
                  <a:srgbClr val="1C2233"/>
                </a:solidFill>
                <a:latin typeface="メイリオ"/>
                <a:ea typeface="メイリオ"/>
              </a:rPr>
              <a:t>×1.5/</a:t>
            </a:r>
            <a:r>
              <a:rPr lang="ja-JP" altLang="en-US" sz="1200" dirty="0">
                <a:solidFill>
                  <a:srgbClr val="1C2233"/>
                </a:solidFill>
                <a:latin typeface="メイリオ"/>
                <a:ea typeface="メイリオ"/>
              </a:rPr>
              <a:t>年・フィットイージー</a:t>
            </a:r>
            <a:r>
              <a:rPr lang="en-US" altLang="ja-JP" sz="1200" dirty="0">
                <a:solidFill>
                  <a:srgbClr val="1C2233"/>
                </a:solidFill>
                <a:latin typeface="メイリオ"/>
                <a:ea typeface="メイリオ"/>
              </a:rPr>
              <a:t>×1.3/</a:t>
            </a:r>
            <a:r>
              <a:rPr lang="ja-JP" altLang="en-US" sz="1200" dirty="0">
                <a:solidFill>
                  <a:srgbClr val="1C2233"/>
                </a:solidFill>
                <a:latin typeface="メイリオ"/>
                <a:ea typeface="メイリオ"/>
              </a:rPr>
              <a:t>年</a:t>
            </a:r>
          </a:p>
          <a:p>
            <a:pPr>
              <a:spcBef>
                <a:spcPts val="200"/>
              </a:spcBef>
            </a:pPr>
            <a:r>
              <a:rPr lang="en-US" altLang="ja-JP" sz="1200" dirty="0">
                <a:solidFill>
                  <a:srgbClr val="1C2233"/>
                </a:solidFill>
                <a:latin typeface="メイリオ"/>
                <a:ea typeface="メイリオ"/>
              </a:rPr>
              <a:t>※カーブスの配信はP10・P11</a:t>
            </a:r>
            <a:endParaRPr sz="1200" b="0" dirty="0">
              <a:solidFill>
                <a:srgbClr val="1C2233"/>
              </a:solidFill>
              <a:latin typeface="メイリオ"/>
              <a:ea typeface="メイリオ"/>
            </a:endParaRPr>
          </a:p>
        </p:txBody>
      </p:sp>
      <p:sp>
        <p:nvSpPr>
          <p:cNvPr id="9" name="Rectangle 8"/>
          <p:cNvSpPr/>
          <p:nvPr/>
        </p:nvSpPr>
        <p:spPr>
          <a:xfrm>
            <a:off x="429768" y="5500096"/>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運用の参考事例｜カーブス</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友だち592万人。ジム・フィットネスでも最大級のLINE公式アカウントです。</a:t>
            </a:r>
          </a:p>
          <a:p>
            <a:r>
              <a:rPr sz="1500" b="0">
                <a:solidFill>
                  <a:srgbClr val="646C82"/>
                </a:solidFill>
                <a:latin typeface="メイリオ"/>
                <a:ea typeface="メイリオ"/>
              </a:rPr>
              <a:t>毎月「期限つきの無料体験」を、あいさつ・配信・リッチメニューで案内し続けています。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大規模でも、やっていることは「期限つきの無料体験」を毎月案内し続けるシンプルな型。</a:t>
            </a:r>
          </a:p>
        </p:txBody>
      </p:sp>
      <p:sp>
        <p:nvSpPr>
          <p:cNvPr id="8" name="TextBox 7"/>
          <p:cNvSpPr txBox="1"/>
          <p:nvPr/>
        </p:nvSpPr>
        <p:spPr>
          <a:xfrm>
            <a:off x="384048" y="616305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友だち数：page.line.me（LINEヤフー社公式ページ）2026/8/17実測・過去値は同ページの保存版（2024/8）。会員数：カーブスホールディングス 決算補足資料（2026年8月期 第3四半期・2026年5月末）。配信：弊社確認（2026年7〜10月）。</a:t>
            </a:r>
          </a:p>
        </p:txBody>
      </p:sp>
      <p:sp>
        <p:nvSpPr>
          <p:cNvPr id="9" name="Rounded Rectangle 8"/>
          <p:cNvSpPr/>
          <p:nvPr/>
        </p:nvSpPr>
        <p:spPr>
          <a:xfrm>
            <a:off x="384048"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592万人</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2026年8月の実測</a:t>
            </a:r>
            <a:endParaRPr lang="ja-JP" altLang="en-US" sz="1200" dirty="0"/>
          </a:p>
        </p:txBody>
      </p:sp>
      <p:sp>
        <p:nvSpPr>
          <p:cNvPr id="10" name="Rounded Rectangle 9"/>
          <p:cNvSpPr/>
          <p:nvPr/>
        </p:nvSpPr>
        <p:spPr>
          <a:xfrm>
            <a:off x="3511296"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2年での伸び</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×2.6</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2024年8月 約228万人 → 2026年8月</a:t>
            </a:r>
            <a:endParaRPr lang="ja-JP" altLang="en-US" sz="1200" dirty="0"/>
          </a:p>
        </p:txBody>
      </p:sp>
      <p:sp>
        <p:nvSpPr>
          <p:cNvPr id="11" name="Rounded Rectangle 10"/>
          <p:cNvSpPr/>
          <p:nvPr/>
        </p:nvSpPr>
        <p:spPr>
          <a:xfrm>
            <a:off x="6638544"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会員数に対する友だち数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約6.7倍</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会員 89.0万人（2026年5月末）に対して</a:t>
            </a:r>
            <a:endParaRPr lang="ja-JP" altLang="en-US" sz="1200" dirty="0"/>
          </a:p>
        </p:txBody>
      </p:sp>
      <p:sp>
        <p:nvSpPr>
          <p:cNvPr id="12" name="Rectangle 11"/>
          <p:cNvSpPr/>
          <p:nvPr/>
        </p:nvSpPr>
        <p:spPr>
          <a:xfrm>
            <a:off x="384048" y="2926080"/>
            <a:ext cx="9134856"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実際の配信の流れ（2026年7〜10月・弊社で確認）</a:t>
            </a:r>
            <a:endParaRPr lang="ja-JP" altLang="en-US" sz="1200" dirty="0"/>
          </a:p>
        </p:txBody>
      </p:sp>
      <p:sp>
        <p:nvSpPr>
          <p:cNvPr id="13" name="Rectangle 12"/>
          <p:cNvSpPr/>
          <p:nvPr/>
        </p:nvSpPr>
        <p:spPr>
          <a:xfrm>
            <a:off x="38404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5回無料体験の案内</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期限（7/31まで）と</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先着30名をバナーで</a:t>
            </a:r>
            <a:endParaRPr lang="ja-JP" altLang="en-US" sz="1000" dirty="0"/>
          </a:p>
        </p:txBody>
      </p:sp>
      <p:sp>
        <p:nvSpPr>
          <p:cNvPr id="14" name="Rectangle 13"/>
          <p:cNvSpPr/>
          <p:nvPr/>
        </p:nvSpPr>
        <p:spPr>
          <a:xfrm>
            <a:off x="38404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7/28｜あいさつ</a:t>
            </a:r>
            <a:endParaRPr lang="ja-JP" altLang="en-US" sz="950" dirty="0"/>
          </a:p>
        </p:txBody>
      </p:sp>
      <p:sp>
        <p:nvSpPr>
          <p:cNvPr id="15" name="Rectangle 14"/>
          <p:cNvSpPr/>
          <p:nvPr/>
        </p:nvSpPr>
        <p:spPr>
          <a:xfrm>
            <a:off x="1921764"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「半年で-6キロ」</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16" name="Rectangle 15"/>
          <p:cNvSpPr/>
          <p:nvPr/>
        </p:nvSpPr>
        <p:spPr>
          <a:xfrm>
            <a:off x="1921764"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7/28｜配信</a:t>
            </a:r>
            <a:endParaRPr lang="ja-JP" altLang="en-US" sz="950" dirty="0"/>
          </a:p>
        </p:txBody>
      </p:sp>
      <p:sp>
        <p:nvSpPr>
          <p:cNvPr id="17" name="Rectangle 16"/>
          <p:cNvSpPr/>
          <p:nvPr/>
        </p:nvSpPr>
        <p:spPr>
          <a:xfrm>
            <a:off x="3459480"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18" name="Rectangle 17"/>
          <p:cNvSpPr/>
          <p:nvPr/>
        </p:nvSpPr>
        <p:spPr>
          <a:xfrm>
            <a:off x="3459480"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7月下旬｜配信</a:t>
            </a:r>
            <a:endParaRPr lang="ja-JP" altLang="en-US" sz="950" dirty="0"/>
          </a:p>
        </p:txBody>
      </p:sp>
      <p:sp>
        <p:nvSpPr>
          <p:cNvPr id="19" name="Rectangle 18"/>
          <p:cNvSpPr/>
          <p:nvPr/>
        </p:nvSpPr>
        <p:spPr>
          <a:xfrm>
            <a:off x="4997196"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＋9月の特典</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1か月無料</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（9/30まで）</a:t>
            </a:r>
            <a:endParaRPr lang="ja-JP" altLang="en-US" sz="1000" dirty="0"/>
          </a:p>
        </p:txBody>
      </p:sp>
      <p:sp>
        <p:nvSpPr>
          <p:cNvPr id="20" name="Rectangle 19"/>
          <p:cNvSpPr/>
          <p:nvPr/>
        </p:nvSpPr>
        <p:spPr>
          <a:xfrm>
            <a:off x="4997196"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8/27｜配信</a:t>
            </a:r>
            <a:endParaRPr lang="ja-JP" altLang="en-US" sz="950" dirty="0"/>
          </a:p>
        </p:txBody>
      </p:sp>
      <p:sp>
        <p:nvSpPr>
          <p:cNvPr id="21" name="Rectangle 20"/>
          <p:cNvSpPr/>
          <p:nvPr/>
        </p:nvSpPr>
        <p:spPr>
          <a:xfrm>
            <a:off x="6534912"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PEANUTSとのコラボ</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22" name="Rectangle 21"/>
          <p:cNvSpPr/>
          <p:nvPr/>
        </p:nvSpPr>
        <p:spPr>
          <a:xfrm>
            <a:off x="6534912"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9/26｜配信</a:t>
            </a:r>
            <a:endParaRPr lang="ja-JP" altLang="en-US" sz="950" dirty="0"/>
          </a:p>
        </p:txBody>
      </p:sp>
      <p:sp>
        <p:nvSpPr>
          <p:cNvPr id="23" name="Rectangle 22"/>
          <p:cNvSpPr/>
          <p:nvPr/>
        </p:nvSpPr>
        <p:spPr>
          <a:xfrm>
            <a:off x="807262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10回無料体験</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（10/31まで）</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＋無料スタンプ配布</a:t>
            </a:r>
            <a:endParaRPr lang="ja-JP" altLang="en-US" sz="1000" dirty="0"/>
          </a:p>
        </p:txBody>
      </p:sp>
      <p:sp>
        <p:nvSpPr>
          <p:cNvPr id="24" name="Rectangle 23"/>
          <p:cNvSpPr/>
          <p:nvPr/>
        </p:nvSpPr>
        <p:spPr>
          <a:xfrm>
            <a:off x="807262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10月｜リッチメニュー</a:t>
            </a:r>
            <a:endParaRPr lang="ja-JP" altLang="en-US" sz="950" dirty="0"/>
          </a:p>
        </p:txBody>
      </p:sp>
      <p:sp>
        <p:nvSpPr>
          <p:cNvPr id="25" name="Rectangle 24"/>
          <p:cNvSpPr/>
          <p:nvPr/>
        </p:nvSpPr>
        <p:spPr>
          <a:xfrm>
            <a:off x="384048" y="5029200"/>
            <a:ext cx="9134856" cy="256032"/>
          </a:xfrm>
          <a:prstGeom prst="rect">
            <a:avLst/>
          </a:prstGeom>
          <a:noFill/>
          <a:ln>
            <a:noFill/>
          </a:ln>
        </p:spPr>
        <p:txBody>
          <a:bodyPr wrap="square" lIns="0" tIns="0" rIns="0" bIns="0" rtlCol="0" anchor="ctr">
            <a:noAutofit/>
          </a:bodyPr>
          <a:lstStyle/>
          <a:p>
            <a:pPr algn="l">
              <a:buNone/>
            </a:pPr>
            <a:r>
              <a:rPr lang="ja-JP" altLang="en-US" sz="950" b="0" dirty="0">
                <a:solidFill>
                  <a:srgbClr val="646C82"/>
                </a:solidFill>
                <a:latin typeface="メイリオ" panose="020B0604030504040204" pitchFamily="50" charset="-128"/>
                <a:ea typeface="メイリオ" panose="020B0604030504040204" pitchFamily="50" charset="-128"/>
              </a:rPr>
              <a:t>※ 特典は月ごとに替わる（7月＝5回無料／9月＝1か月無料／10月＝10回無料）。配信では毎回、期限と「見学だけでもOK」をセットにしている。</a:t>
            </a:r>
            <a:endParaRPr lang="ja-JP" altLang="en-US" sz="950" dirty="0"/>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カーブスの実際の画面</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あいさつで期限つきの無料体験を案内し、その後の配信で動画や締切前の告知を重ねています。</a:t>
            </a:r>
          </a:p>
          <a:p>
            <a:r>
              <a:rPr sz="1500" b="0">
                <a:solidFill>
                  <a:srgbClr val="646C82"/>
                </a:solidFill>
                <a:latin typeface="メイリオ"/>
                <a:ea typeface="メイリオ"/>
              </a:rPr>
              <a:t>リッチメニューにも、その月の特典を表示しています。</a:t>
            </a:r>
          </a:p>
        </p:txBody>
      </p:sp>
      <p:sp>
        <p:nvSpPr>
          <p:cNvPr id="22" name="TextBox 21"/>
          <p:cNvSpPr txBox="1"/>
          <p:nvPr/>
        </p:nvSpPr>
        <p:spPr>
          <a:xfrm>
            <a:off x="384048" y="621792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画面：カーブス LINE公式アカウント（2026年7〜10月 弊社確認）</a:t>
            </a:r>
          </a:p>
        </p:txBody>
      </p:sp>
      <p:sp>
        <p:nvSpPr>
          <p:cNvPr id="23" name="Rounded Rectangle 22"/>
          <p:cNvSpPr/>
          <p:nvPr/>
        </p:nvSpPr>
        <p:spPr>
          <a:xfrm>
            <a:off x="384048"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あいさつ（7/28）</a:t>
            </a:r>
            <a:endParaRPr lang="ja-JP" altLang="en-US" sz="1100" dirty="0"/>
          </a:p>
        </p:txBody>
      </p:sp>
      <p:pic>
        <p:nvPicPr>
          <p:cNvPr id="24" name="カーブス_いさつ（7/28）"/>
          <p:cNvPicPr>
            <a:picLocks noChangeAspect="1"/>
          </p:cNvPicPr>
          <p:nvPr/>
        </p:nvPicPr>
        <p:blipFill>
          <a:blip r:embed="rId2"/>
          <a:stretch>
            <a:fillRect/>
          </a:stretch>
        </p:blipFill>
        <p:spPr>
          <a:xfrm>
            <a:off x="570204" y="1792224"/>
            <a:ext cx="1730806" cy="3749039"/>
          </a:xfrm>
          <a:prstGeom prst="rect">
            <a:avLst/>
          </a:prstGeom>
          <a:ln w="9525">
            <a:solidFill>
              <a:srgbClr val="C6CADD"/>
            </a:solidFill>
          </a:ln>
        </p:spPr>
      </p:pic>
      <p:sp>
        <p:nvSpPr>
          <p:cNvPr id="25" name="Rectangle 24"/>
          <p:cNvSpPr/>
          <p:nvPr/>
        </p:nvSpPr>
        <p:spPr>
          <a:xfrm>
            <a:off x="384048"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友だち追加の直後に</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無料体験と期限のバナー</a:t>
            </a:r>
            <a:endParaRPr lang="ja-JP" altLang="en-US" sz="1000" dirty="0"/>
          </a:p>
        </p:txBody>
      </p:sp>
      <p:sp>
        <p:nvSpPr>
          <p:cNvPr id="26" name="Rounded Rectangle 25"/>
          <p:cNvSpPr/>
          <p:nvPr/>
        </p:nvSpPr>
        <p:spPr>
          <a:xfrm>
            <a:off x="2727960"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配信（7/28）</a:t>
            </a:r>
            <a:endParaRPr lang="ja-JP" altLang="en-US" sz="1100" dirty="0"/>
          </a:p>
        </p:txBody>
      </p:sp>
      <p:pic>
        <p:nvPicPr>
          <p:cNvPr id="27" name="カーブス_信（7/28）"/>
          <p:cNvPicPr>
            <a:picLocks noChangeAspect="1"/>
          </p:cNvPicPr>
          <p:nvPr/>
        </p:nvPicPr>
        <p:blipFill>
          <a:blip r:embed="rId3"/>
          <a:stretch>
            <a:fillRect/>
          </a:stretch>
        </p:blipFill>
        <p:spPr>
          <a:xfrm>
            <a:off x="2914116" y="1792224"/>
            <a:ext cx="1730806" cy="3749039"/>
          </a:xfrm>
          <a:prstGeom prst="rect">
            <a:avLst/>
          </a:prstGeom>
          <a:ln w="9525">
            <a:solidFill>
              <a:srgbClr val="C6CADD"/>
            </a:solidFill>
          </a:ln>
        </p:spPr>
      </p:pic>
      <p:sp>
        <p:nvSpPr>
          <p:cNvPr id="28" name="Rectangle 27"/>
          <p:cNvSpPr/>
          <p:nvPr/>
        </p:nvSpPr>
        <p:spPr>
          <a:xfrm>
            <a:off x="2727960"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29" name="Rounded Rectangle 28"/>
          <p:cNvSpPr/>
          <p:nvPr/>
        </p:nvSpPr>
        <p:spPr>
          <a:xfrm>
            <a:off x="5071872"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配信（9/26）</a:t>
            </a:r>
            <a:endParaRPr lang="ja-JP" altLang="en-US" sz="1100" dirty="0"/>
          </a:p>
        </p:txBody>
      </p:sp>
      <p:pic>
        <p:nvPicPr>
          <p:cNvPr id="30" name="カーブス_信（9/26）"/>
          <p:cNvPicPr>
            <a:picLocks noChangeAspect="1"/>
          </p:cNvPicPr>
          <p:nvPr/>
        </p:nvPicPr>
        <p:blipFill>
          <a:blip r:embed="rId4"/>
          <a:stretch>
            <a:fillRect/>
          </a:stretch>
        </p:blipFill>
        <p:spPr>
          <a:xfrm>
            <a:off x="5258028" y="1792224"/>
            <a:ext cx="1730806" cy="3749039"/>
          </a:xfrm>
          <a:prstGeom prst="rect">
            <a:avLst/>
          </a:prstGeom>
          <a:ln w="9525">
            <a:solidFill>
              <a:srgbClr val="C6CADD"/>
            </a:solidFill>
          </a:ln>
        </p:spPr>
      </p:pic>
      <p:sp>
        <p:nvSpPr>
          <p:cNvPr id="31" name="Rectangle 30"/>
          <p:cNvSpPr/>
          <p:nvPr/>
        </p:nvSpPr>
        <p:spPr>
          <a:xfrm>
            <a:off x="5071872"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動画＋カルーセル</a:t>
            </a:r>
            <a:endParaRPr lang="ja-JP" altLang="en-US" sz="1000" dirty="0"/>
          </a:p>
        </p:txBody>
      </p:sp>
      <p:sp>
        <p:nvSpPr>
          <p:cNvPr id="32" name="Rounded Rectangle 31"/>
          <p:cNvSpPr/>
          <p:nvPr/>
        </p:nvSpPr>
        <p:spPr>
          <a:xfrm>
            <a:off x="7415784"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リッチメニュー（10月）</a:t>
            </a:r>
            <a:endParaRPr lang="ja-JP" altLang="en-US" sz="1100" dirty="0"/>
          </a:p>
        </p:txBody>
      </p:sp>
      <p:pic>
        <p:nvPicPr>
          <p:cNvPr id="33" name="カーブス_ッチメニュー（10月）"/>
          <p:cNvPicPr>
            <a:picLocks noChangeAspect="1"/>
          </p:cNvPicPr>
          <p:nvPr/>
        </p:nvPicPr>
        <p:blipFill>
          <a:blip r:embed="rId5"/>
          <a:stretch>
            <a:fillRect/>
          </a:stretch>
        </p:blipFill>
        <p:spPr>
          <a:xfrm>
            <a:off x="7601940" y="1792224"/>
            <a:ext cx="1730806" cy="3749039"/>
          </a:xfrm>
          <a:prstGeom prst="rect">
            <a:avLst/>
          </a:prstGeom>
          <a:ln w="9525">
            <a:solidFill>
              <a:srgbClr val="C6CADD"/>
            </a:solidFill>
          </a:ln>
        </p:spPr>
      </p:pic>
      <p:sp>
        <p:nvSpPr>
          <p:cNvPr id="34" name="Rectangle 33"/>
          <p:cNvSpPr/>
          <p:nvPr/>
        </p:nvSpPr>
        <p:spPr>
          <a:xfrm>
            <a:off x="7415784"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その月の特典を表示</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＋無料スタンプの配布</a:t>
            </a:r>
            <a:endParaRPr lang="ja-JP" altLang="en-US" sz="1000" dirty="0"/>
          </a:p>
        </p:txBody>
      </p:sp>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a:ea typeface="メイリオ"/>
                <a:cs typeface="Meiryo"/>
                <a:sym typeface="Meiryo"/>
              </a:rPr>
              <a:t>一般的な</a:t>
            </a:r>
            <a:r>
              <a:rPr lang="en-US" altLang="ja-JP" sz="1600" b="1" dirty="0">
                <a:solidFill>
                  <a:srgbClr val="FF0000"/>
                </a:solidFill>
                <a:latin typeface="メイリオ"/>
                <a:ea typeface="メイリオ"/>
                <a:cs typeface="Meiryo"/>
                <a:sym typeface="Meiryo"/>
              </a:rPr>
              <a:t>8</a:t>
            </a:r>
            <a:r>
              <a:rPr lang="ja-JP" altLang="en-US" sz="1600" b="1" dirty="0">
                <a:solidFill>
                  <a:srgbClr val="FF0000"/>
                </a:solidFill>
                <a:latin typeface="メイリオ"/>
                <a:ea typeface="メイリオ"/>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メイリオ"/>
                <a:ea typeface="メイリオ"/>
              </a:rPr>
              <a:t>一般的な</a:t>
            </a:r>
            <a:r>
              <a:rPr lang="en-US" altLang="ja-JP" sz="1200" dirty="0">
                <a:latin typeface="メイリオ"/>
                <a:ea typeface="メイリオ"/>
              </a:rPr>
              <a:t>8</a:t>
            </a:r>
            <a:r>
              <a:rPr lang="ja-JP" altLang="en-US" sz="1200" dirty="0">
                <a:latin typeface="メイリオ"/>
                <a:ea typeface="メイリオ"/>
              </a:rPr>
              <a:t>フェーズを、ジム・フィットネスに置き換えるとこうなります。</a:t>
            </a:r>
          </a:p>
          <a:p>
            <a:r>
              <a:rPr lang="ja-JP" altLang="en-US" sz="1200" dirty="0">
                <a:latin typeface="メイリオ"/>
                <a:ea typeface="メイリオ"/>
              </a:rPr>
              <a:t>④体験予約 → ⑤来店 → ⑦ご入会 が、この業界の</a:t>
            </a:r>
            <a:r>
              <a:rPr lang="en-US" altLang="ja-JP" sz="1200" dirty="0">
                <a:latin typeface="メイリオ"/>
                <a:ea typeface="メイリオ"/>
              </a:rPr>
              <a:t>CV</a:t>
            </a:r>
            <a:r>
              <a:rPr lang="ja-JP" altLang="en-US" sz="1200" dirty="0">
                <a:latin typeface="メイリオ"/>
                <a:ea typeface="メイリオ"/>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latin typeface="メイリオ"/>
                <a:ea typeface="メイリオ"/>
              </a:rPr>
              <a:t>【</a:t>
            </a:r>
            <a:r>
              <a:rPr lang="ja-JP" altLang="en-US" sz="1200" dirty="0">
                <a:latin typeface="メイリオ"/>
                <a:ea typeface="メイリオ"/>
              </a:rPr>
              <a:t>平均</a:t>
            </a:r>
            <a:r>
              <a:rPr lang="en-US" altLang="ja-JP" sz="1200" dirty="0">
                <a:latin typeface="メイリオ"/>
                <a:ea typeface="メイリオ"/>
              </a:rPr>
              <a:t>CPC】</a:t>
            </a:r>
          </a:p>
          <a:p>
            <a:pPr algn="ctr"/>
            <a:r>
              <a:rPr lang="en-US" altLang="ja-JP" sz="1200" dirty="0">
                <a:latin typeface="メイリオ"/>
                <a:ea typeface="メイリオ"/>
              </a:rPr>
              <a:t>246</a:t>
            </a:r>
            <a:r>
              <a:rPr lang="ja-JP" altLang="en-US" sz="1200" dirty="0">
                <a:latin typeface="メイリオ"/>
                <a:ea typeface="メイリオ"/>
              </a:rPr>
              <a:t>円（</a:t>
            </a:r>
            <a:r>
              <a:rPr lang="en-US" altLang="ja-JP" sz="1200" dirty="0">
                <a:latin typeface="メイリオ"/>
                <a:ea typeface="メイリオ"/>
              </a:rPr>
              <a:t>150〜400</a:t>
            </a:r>
            <a:r>
              <a:rPr lang="ja-JP" altLang="en-US" sz="1200" dirty="0">
                <a:latin typeface="メイリオ"/>
                <a:ea typeface="メイリオ"/>
              </a:rPr>
              <a:t>円）</a:t>
            </a:r>
          </a:p>
          <a:p>
            <a:pPr algn="ctr"/>
            <a:r>
              <a:rPr lang="en-US" altLang="ja-JP" sz="1200" dirty="0">
                <a:latin typeface="メイリオ"/>
                <a:ea typeface="メイリオ"/>
              </a:rPr>
              <a:t>【</a:t>
            </a:r>
            <a:r>
              <a:rPr lang="ja-JP" altLang="en-US" sz="1200" dirty="0">
                <a:latin typeface="メイリオ"/>
                <a:ea typeface="メイリオ"/>
              </a:rPr>
              <a:t>最も高いアカウント</a:t>
            </a:r>
            <a:r>
              <a:rPr lang="en-US" altLang="ja-JP" sz="1200" dirty="0">
                <a:latin typeface="メイリオ"/>
                <a:ea typeface="メイリオ"/>
              </a:rPr>
              <a:t>】</a:t>
            </a:r>
          </a:p>
          <a:p>
            <a:pPr algn="ctr"/>
            <a:r>
              <a:rPr lang="ja-JP" altLang="en-US" sz="1200" dirty="0">
                <a:latin typeface="メイリオ"/>
                <a:ea typeface="メイリオ"/>
              </a:rPr>
              <a:t>最も安いアカウントの</a:t>
            </a:r>
            <a:r>
              <a:rPr lang="en-US" altLang="ja-JP" sz="1200" dirty="0">
                <a:latin typeface="メイリオ"/>
                <a:ea typeface="メイリオ"/>
              </a:rPr>
              <a:t>2.7</a:t>
            </a:r>
            <a:r>
              <a:rPr lang="ja-JP" altLang="en-US" sz="1200" dirty="0">
                <a:latin typeface="メイリオ"/>
                <a:ea typeface="メイリオ"/>
              </a:rPr>
              <a:t>倍</a:t>
            </a:r>
          </a:p>
          <a:p>
            <a:pPr algn="ctr"/>
            <a:r>
              <a:rPr lang="en-US" altLang="ja-JP" sz="1200" dirty="0">
                <a:latin typeface="メイリオ"/>
                <a:ea typeface="メイリオ"/>
              </a:rPr>
              <a:t>【</a:t>
            </a:r>
            <a:r>
              <a:rPr lang="ja-JP" altLang="en-US" sz="1200" dirty="0">
                <a:latin typeface="メイリオ"/>
                <a:ea typeface="メイリオ"/>
              </a:rPr>
              <a:t>ご入会</a:t>
            </a:r>
            <a:r>
              <a:rPr lang="en-US" altLang="ja-JP" sz="1200" dirty="0">
                <a:latin typeface="メイリオ"/>
                <a:ea typeface="メイリオ"/>
              </a:rPr>
              <a:t>1</a:t>
            </a:r>
            <a:r>
              <a:rPr lang="ja-JP" altLang="en-US" sz="1200" dirty="0">
                <a:latin typeface="メイリオ"/>
                <a:ea typeface="メイリオ"/>
              </a:rPr>
              <a:t>件あたり</a:t>
            </a:r>
            <a:r>
              <a:rPr lang="en-US" altLang="ja-JP" sz="1200" dirty="0">
                <a:latin typeface="メイリオ"/>
                <a:ea typeface="メイリオ"/>
              </a:rPr>
              <a:t>】</a:t>
            </a:r>
          </a:p>
          <a:p>
            <a:pPr algn="ctr"/>
            <a:r>
              <a:rPr lang="ja-JP" altLang="en-US" sz="1200" dirty="0">
                <a:latin typeface="メイリオ"/>
                <a:ea typeface="メイリオ"/>
              </a:rPr>
              <a:t>約</a:t>
            </a:r>
            <a:r>
              <a:rPr lang="en-US" altLang="ja-JP" sz="1200" dirty="0">
                <a:latin typeface="メイリオ"/>
                <a:ea typeface="メイリオ"/>
              </a:rPr>
              <a:t>24,600</a:t>
            </a:r>
            <a:r>
              <a:rPr lang="ja-JP" altLang="en-US" sz="1200" dirty="0">
                <a:latin typeface="メイリオ"/>
                <a:ea typeface="メイリオ"/>
              </a:rPr>
              <a:t>円</a:t>
            </a:r>
          </a:p>
          <a:p>
            <a:pPr algn="ctr"/>
            <a:r>
              <a:rPr lang="ja-JP" altLang="en-US" sz="1400" dirty="0">
                <a:latin typeface="メイリオ"/>
                <a:ea typeface="メイリオ"/>
              </a:rPr>
              <a:t>⇊</a:t>
            </a:r>
          </a:p>
          <a:p>
            <a:r>
              <a:rPr lang="en-US" altLang="ja-JP" sz="1400" dirty="0">
                <a:latin typeface="メイリオ"/>
                <a:ea typeface="メイリオ"/>
              </a:rPr>
              <a:t>1</a:t>
            </a:r>
            <a:r>
              <a:rPr lang="ja-JP" altLang="en-US" sz="1400" dirty="0">
                <a:latin typeface="メイリオ"/>
                <a:ea typeface="メイリオ"/>
              </a:rPr>
              <a:t>人を獲るのに</a:t>
            </a:r>
            <a:r>
              <a:rPr lang="en-US" altLang="ja-JP" sz="1400" dirty="0">
                <a:latin typeface="メイリオ"/>
                <a:ea typeface="メイリオ"/>
              </a:rPr>
              <a:t>2</a:t>
            </a:r>
            <a:r>
              <a:rPr lang="ja-JP" altLang="en-US" sz="1400" dirty="0">
                <a:latin typeface="メイリオ"/>
                <a:ea typeface="メイリオ"/>
              </a:rPr>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① 山は年2回ある</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dirty="0">
                <a:solidFill>
                  <a:srgbClr val="1F2A5C"/>
                </a:solidFill>
                <a:latin typeface="メイリオ"/>
                <a:ea typeface="メイリオ"/>
                <a:cs typeface="メイリオ"/>
              </a:rPr>
              <a:t>② 谷は11〜12月</a:t>
            </a:r>
            <a:endParaRPr lang="en-US" sz="1400" b="1" dirty="0">
              <a:solidFill>
                <a:srgbClr val="1F2A5C"/>
              </a:solidFill>
              <a:latin typeface="メイリオ"/>
              <a:ea typeface="メイリオ"/>
            </a:endParaRPr>
          </a:p>
          <a:p>
            <a:pPr algn="ctr"/>
            <a:r>
              <a:rPr sz="1400" b="1" dirty="0">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400" b="1">
                <a:solidFill>
                  <a:srgbClr val="1F2A5C"/>
                </a:solidFill>
                <a:latin typeface="メイリオ"/>
                <a:ea typeface="メイリオ"/>
                <a:cs typeface="メイリオ"/>
              </a:rPr>
              <a:t>③ 振れ幅は17ptだけ</a:t>
            </a:r>
            <a:endParaRPr lang="en-US" sz="1400" b="1" dirty="0">
              <a:solidFill>
                <a:srgbClr val="1F2A5C"/>
              </a:solidFill>
              <a:latin typeface="メイリオ"/>
              <a:ea typeface="メイリオ"/>
            </a:endParaRPr>
          </a:p>
          <a:p>
            <a:pPr algn="ctr"/>
            <a:r>
              <a:rPr sz="1400" b="1">
                <a:solidFill>
                  <a:srgbClr val="1F2A5C"/>
                </a:solidFill>
                <a:latin typeface="メイリオ"/>
                <a:ea typeface="メイリオ"/>
                <a:cs typeface="メイリオ"/>
              </a:rPr>
              <a:t>ジムの山と谷の差はわずか。1月にすべてが決まる業界ではない。</a:t>
            </a:r>
          </a:p>
        </p:txBody>
      </p:sp>
      <p:sp>
        <p:nvSpPr>
          <p:cNvPr id="8" name="Rectangle 7"/>
          <p:cNvSpPr/>
          <p:nvPr/>
        </p:nvSpPr>
        <p:spPr>
          <a:xfrm>
            <a:off x="438912" y="5606854"/>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1F2A5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9" name="Rectangle 8"/>
          <p:cNvSpPr/>
          <p:nvPr/>
        </p:nvSpPr>
        <p:spPr>
          <a:xfrm>
            <a:off x="429768" y="5648379"/>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3" name="Rectangle 492"/>
          <p:cNvSpPr/>
          <p:nvPr/>
        </p:nvSpPr>
        <p:spPr>
          <a:xfrm>
            <a:off x="431292" y="560832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カーブスの型を分解すると、3つの仕組み</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やっていることは3つ。どれも同じ型を、毎月くり返しています。</a:t>
            </a:r>
          </a:p>
          <a:p>
            <a:r>
              <a:rPr sz="1500" b="0">
                <a:solidFill>
                  <a:srgbClr val="646C82"/>
                </a:solidFill>
                <a:latin typeface="メイリオ"/>
                <a:ea typeface="メイリオ"/>
              </a:rPr>
              <a:t>この型を、このあとのステップ配信（P25）とあいさつ（P29〜P30）に取り入れます。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仕掛けを増やすより、同じ型を毎月くり返す。だから配信を止めずに続けられる。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弊社確認（カーブス LINE公式アカウント・2026年7〜10月の配信）。実際の画面はP11。</a:t>
            </a:r>
          </a:p>
        </p:txBody>
      </p:sp>
      <p:sp>
        <p:nvSpPr>
          <p:cNvPr id="9" name="Rounded Rectangle 8"/>
          <p:cNvSpPr/>
          <p:nvPr/>
        </p:nvSpPr>
        <p:spPr>
          <a:xfrm>
            <a:off x="384048"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① あいさつで、無料体験と期限を出す</a:t>
            </a:r>
            <a:endParaRPr lang="ja-JP" altLang="en-US" sz="1200" dirty="0"/>
          </a:p>
        </p:txBody>
      </p:sp>
      <p:sp>
        <p:nvSpPr>
          <p:cNvPr id="10" name="Rounded Rectangle 9"/>
          <p:cNvSpPr/>
          <p:nvPr/>
        </p:nvSpPr>
        <p:spPr>
          <a:xfrm>
            <a:off x="384048"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友だち追加の直後に、期限つきの無料体験をバナー画像で案内する。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「お急ぎください」と添えて、</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今すぐ始めたい人を逃さない。</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あいさつは、文章とバナー画像だけ</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（動画は使っていない）。</a:t>
            </a:r>
            <a:endParaRPr lang="ja-JP" altLang="en-US" sz="1150" dirty="0"/>
          </a:p>
        </p:txBody>
      </p:sp>
      <p:sp>
        <p:nvSpPr>
          <p:cNvPr id="11" name="Rounded Rectangle 10"/>
          <p:cNvSpPr/>
          <p:nvPr/>
        </p:nvSpPr>
        <p:spPr>
          <a:xfrm>
            <a:off x="384048"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 あいさつ</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5回無料体験・7/31まで・各店先着30名</a:t>
            </a:r>
            <a:endParaRPr lang="ja-JP" altLang="en-US" sz="1050" dirty="0"/>
          </a:p>
        </p:txBody>
      </p:sp>
      <p:sp>
        <p:nvSpPr>
          <p:cNvPr id="12" name="Rounded Rectangle 11"/>
          <p:cNvSpPr/>
          <p:nvPr/>
        </p:nvSpPr>
        <p:spPr>
          <a:xfrm>
            <a:off x="3511296"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② 配信で、動画を使うこともある</a:t>
            </a:r>
            <a:endParaRPr lang="ja-JP" altLang="en-US" sz="1200" dirty="0"/>
          </a:p>
        </p:txBody>
      </p:sp>
      <p:sp>
        <p:nvSpPr>
          <p:cNvPr id="13" name="Rounded Rectangle 12"/>
          <p:cNvSpPr/>
          <p:nvPr/>
        </p:nvSpPr>
        <p:spPr>
          <a:xfrm>
            <a:off x="3511296"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会員の声（「半年で-6キロ」など）の</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動画で、「自分にもできそう」と感じてもらう。</a:t>
            </a:r>
            <a:endParaRPr lang="ja-JP" altLang="en-US" sz="1150" dirty="0"/>
          </a:p>
          <a:p>
            <a:pPr algn="l">
              <a:lnSpc>
                <a:spcPct val="105000"/>
              </a:lnSpc>
              <a:spcAft>
                <a:spcPts val="400"/>
              </a:spcAft>
              <a:buNone/>
            </a:pPr>
            <a:r>
              <a:rPr lang="ja-JP" altLang="en-US" sz="1000" b="0" dirty="0">
                <a:solidFill>
                  <a:srgbClr val="646C82"/>
                </a:solidFill>
                <a:latin typeface="メイリオ" panose="020B0604030504040204" pitchFamily="50" charset="-128"/>
                <a:ea typeface="メイリオ" panose="020B0604030504040204" pitchFamily="50" charset="-128"/>
              </a:rPr>
              <a:t>※全員に送っているか、対象を絞って送っているかは、弊社の確認範囲では判別できない。</a:t>
            </a:r>
            <a:endParaRPr lang="ja-JP" altLang="en-US" sz="1150" dirty="0"/>
          </a:p>
        </p:txBody>
      </p:sp>
      <p:sp>
        <p:nvSpPr>
          <p:cNvPr id="14" name="Rounded Rectangle 13"/>
          <p:cNvSpPr/>
          <p:nvPr/>
        </p:nvSpPr>
        <p:spPr>
          <a:xfrm>
            <a:off x="3511296"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7/28・8/27：会員の声の動画</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7月下旬・9/26：締切前の告知にも動画</a:t>
            </a:r>
            <a:endParaRPr lang="ja-JP" altLang="en-US" sz="1050" dirty="0"/>
          </a:p>
        </p:txBody>
      </p:sp>
      <p:sp>
        <p:nvSpPr>
          <p:cNvPr id="15" name="Rounded Rectangle 14"/>
          <p:cNvSpPr/>
          <p:nvPr/>
        </p:nvSpPr>
        <p:spPr>
          <a:xfrm>
            <a:off x="6638544"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③ 特典を毎月替えて、締切前に告知</a:t>
            </a:r>
            <a:endParaRPr lang="ja-JP" altLang="en-US" sz="1200" dirty="0"/>
          </a:p>
        </p:txBody>
      </p:sp>
      <p:sp>
        <p:nvSpPr>
          <p:cNvPr id="16" name="Rounded Rectangle 15"/>
          <p:cNvSpPr/>
          <p:nvPr/>
        </p:nvSpPr>
        <p:spPr>
          <a:xfrm>
            <a:off x="6638544"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その月の特典に「期限・見学だけでもOK」をセットにして、締切の数日前に告知する。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文面は、毎月同じ型を使っている。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リッチメニューにも、その月の特典を</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表示。</a:t>
            </a:r>
            <a:endParaRPr lang="ja-JP" altLang="en-US" sz="1150" dirty="0"/>
          </a:p>
        </p:txBody>
      </p:sp>
      <p:sp>
        <p:nvSpPr>
          <p:cNvPr id="17" name="Rounded Rectangle 16"/>
          <p:cNvSpPr/>
          <p:nvPr/>
        </p:nvSpPr>
        <p:spPr>
          <a:xfrm>
            <a:off x="6638544"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7月＝5回無料／9月＝1か月無料</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10月＝10回無料（10/31まで）</a:t>
            </a:r>
            <a:endParaRPr lang="ja-JP" altLang="en-US" sz="1050" dirty="0"/>
          </a:p>
        </p:txBody>
      </p:sp>
    </p:spTree>
    <p:extLst>
      <p:ext uri="{BB962C8B-B14F-4D97-AF65-F5344CB8AC3E}">
        <p14:creationId xmlns:p14="http://schemas.microsoft.com/office/powerpoint/2010/main" val="12565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rgbClr val="1F2A5C">
              <a:alpha val="12000"/>
            </a:srgb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続かなかった過去がある</a:t>
            </a:r>
          </a:p>
          <a:p>
            <a:r>
              <a:rPr sz="1200">
                <a:solidFill>
                  <a:srgbClr val="1F2A5C"/>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匿名で聞けるなら動ける</a:t>
            </a:r>
          </a:p>
          <a:p>
            <a:r>
              <a:rPr sz="1200">
                <a:solidFill>
                  <a:srgbClr val="1F2A5C"/>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「迫りません」の一言で</a:t>
            </a:r>
          </a:p>
          <a:p>
            <a:r>
              <a:rPr sz="1200">
                <a:solidFill>
                  <a:srgbClr val="1F2A5C"/>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「見てもらえている感」が</a:t>
            </a:r>
          </a:p>
          <a:p>
            <a:r>
              <a:rPr sz="1200">
                <a:solidFill>
                  <a:srgbClr val="1F2A5C"/>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友だち追加から15日でアクティブ率が急落する。ジムの検討期間は数日〜2週間。</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この</a:t>
            </a:r>
            <a:r>
              <a:rPr sz="1400" dirty="0">
                <a:solidFill>
                  <a:srgbClr val="646C82"/>
                </a:solidFill>
                <a:latin typeface="メイリオ"/>
                <a:ea typeface="メイリオ"/>
              </a:rPr>
              <a:t>2つが重なるのが</a:t>
            </a:r>
            <a:r>
              <a:rPr sz="1400" b="1" dirty="0">
                <a:solidFill>
                  <a:srgbClr val="646C82"/>
                </a:solidFill>
                <a:latin typeface="メイリオ"/>
                <a:ea typeface="メイリオ"/>
              </a:rPr>
              <a:t>最初の14日。</a:t>
            </a: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36837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60466">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60466">
                <a:tc>
                  <a:txBody>
                    <a:bodyPr/>
                    <a:lstStyle/>
                    <a:p>
                      <a:pPr algn="l"/>
                      <a:r>
                        <a:rPr sz="1050" b="0">
                          <a:solidFill>
                            <a:srgbClr val="1C2233"/>
                          </a:solidFill>
                          <a:latin typeface="メイリオ"/>
                          <a:ea typeface="メイリオ"/>
                        </a:rPr>
                        <a:t>Day0</a:t>
                      </a:r>
                    </a:p>
                  </a:txBody>
                  <a:tcPr>
                    <a:solidFill>
                      <a:srgbClr val="FFFFFF"/>
                    </a:solidFill>
                  </a:tcPr>
                </a:tc>
                <a:tc>
                  <a:txBody>
                    <a:bodyPr/>
                    <a:lstStyle/>
                    <a:p>
                      <a:pPr algn="ctr"/>
                      <a:r>
                        <a:rPr sz="1050" b="0">
                          <a:solidFill>
                            <a:srgbClr val="1C2233"/>
                          </a:solidFill>
                          <a:latin typeface="メイリオ"/>
                          <a:ea typeface="メイリオ"/>
                        </a:rPr>
                        <a:t>体験の案内＋属性取得</a:t>
                      </a:r>
                    </a:p>
                  </a:txBody>
                  <a:tcPr>
                    <a:solidFill>
                      <a:srgbClr val="FFFFFF"/>
                    </a:solidFill>
                  </a:tcPr>
                </a:tc>
                <a:tc>
                  <a:txBody>
                    <a:bodyPr/>
                    <a:lstStyle/>
                    <a:p>
                      <a:pPr algn="ctr"/>
                      <a:r>
                        <a:rPr sz="1050" b="0">
                          <a:solidFill>
                            <a:srgbClr val="1C2233"/>
                          </a:solidFill>
                          <a:latin typeface="メイリオ"/>
                          <a:ea typeface="メイリオ"/>
                        </a:rPr>
                        <a:t>あいさつ＋無料体験（期限つき）のバナー＋30秒 体づくりタイプ診断</a:t>
                      </a:r>
                    </a:p>
                  </a:txBody>
                  <a:tcPr>
                    <a:solidFill>
                      <a:srgbClr val="FFFFFF"/>
                    </a:solidFill>
                  </a:tcPr>
                </a:tc>
                <a:tc>
                  <a:txBody>
                    <a:bodyPr/>
                    <a:lstStyle/>
                    <a:p>
                      <a:pPr algn="ctr"/>
                      <a:r>
                        <a:rPr sz="1050" b="0">
                          <a:solidFill>
                            <a:srgbClr val="1C2233"/>
                          </a:solidFill>
                          <a:latin typeface="メイリオ"/>
                          <a:ea typeface="メイリオ"/>
                        </a:rPr>
                        <a:t>体験予約／診断回答</a:t>
                      </a:r>
                    </a:p>
                  </a:txBody>
                  <a:tcPr>
                    <a:solidFill>
                      <a:srgbClr val="FFFFFF"/>
                    </a:solidFill>
                  </a:tcPr>
                </a:tc>
                <a:tc>
                  <a:txBody>
                    <a:bodyPr/>
                    <a:lstStyle/>
                    <a:p>
                      <a:pPr algn="ctr"/>
                      <a:r>
                        <a:rPr sz="1050" b="0">
                          <a:solidFill>
                            <a:srgbClr val="1C2233"/>
                          </a:solidFill>
                          <a:latin typeface="メイリオ"/>
                          <a:ea typeface="メイリオ"/>
                        </a:rPr>
                        <a:t>【〇月〇日まで】無料体験のご案内</a:t>
                      </a:r>
                    </a:p>
                  </a:txBody>
                  <a:tcPr>
                    <a:solidFill>
                      <a:srgbClr val="FFFFFF"/>
                    </a:solidFill>
                  </a:tcPr>
                </a:tc>
                <a:extLst>
                  <a:ext uri="{0D108BD9-81ED-4DB2-BD59-A6C34878D82A}">
                    <a16:rowId xmlns:a16="http://schemas.microsoft.com/office/drawing/2014/main" val="10001"/>
                  </a:ext>
                </a:extLst>
              </a:tr>
              <a:tr h="460466">
                <a:tc>
                  <a:txBody>
                    <a:bodyPr/>
                    <a:lstStyle/>
                    <a:p>
                      <a:pPr algn="l"/>
                      <a:r>
                        <a:rPr sz="1050" b="0">
                          <a:solidFill>
                            <a:srgbClr val="1C2233"/>
                          </a:solidFill>
                          <a:latin typeface="メイリオ"/>
                          <a:ea typeface="メイリオ"/>
                        </a:rPr>
                        <a:t>Day2</a:t>
                      </a:r>
                    </a:p>
                  </a:txBody>
                  <a:tcPr>
                    <a:solidFill>
                      <a:srgbClr val="EFF1F7"/>
                    </a:solidFill>
                  </a:tcPr>
                </a:tc>
                <a:tc>
                  <a:txBody>
                    <a:bodyPr/>
                    <a:lstStyle/>
                    <a:p>
                      <a:pPr algn="ctr"/>
                      <a:r>
                        <a:rPr sz="1050" b="0">
                          <a:solidFill>
                            <a:srgbClr val="1C2233"/>
                          </a:solidFill>
                          <a:latin typeface="メイリオ"/>
                          <a:ea typeface="メイリオ"/>
                        </a:rPr>
                        <a:t>初心者の不安</a:t>
                      </a:r>
                    </a:p>
                  </a:txBody>
                  <a:tcPr>
                    <a:solidFill>
                      <a:srgbClr val="EFF1F7"/>
                    </a:solidFill>
                  </a:tcPr>
                </a:tc>
                <a:tc>
                  <a:txBody>
                    <a:bodyPr/>
                    <a:lstStyle/>
                    <a:p>
                      <a:pPr algn="ctr"/>
                      <a:r>
                        <a:rPr sz="105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50" b="0">
                          <a:solidFill>
                            <a:srgbClr val="1C2233"/>
                          </a:solidFill>
                          <a:latin typeface="メイリオ"/>
                          <a:ea typeface="メイリオ"/>
                        </a:rPr>
                        <a:t>動画視聴</a:t>
                      </a:r>
                    </a:p>
                  </a:txBody>
                  <a:tcPr>
                    <a:solidFill>
                      <a:srgbClr val="EFF1F7"/>
                    </a:solidFill>
                  </a:tcPr>
                </a:tc>
                <a:tc>
                  <a:txBody>
                    <a:bodyPr/>
                    <a:lstStyle/>
                    <a:p>
                      <a:pPr algn="ctr"/>
                      <a:r>
                        <a:rPr sz="10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60466">
                <a:tc>
                  <a:txBody>
                    <a:bodyPr/>
                    <a:lstStyle/>
                    <a:p>
                      <a:pPr algn="l"/>
                      <a:r>
                        <a:rPr sz="1050" b="0">
                          <a:solidFill>
                            <a:srgbClr val="1C2233"/>
                          </a:solidFill>
                          <a:latin typeface="メイリオ"/>
                          <a:ea typeface="メイリオ"/>
                        </a:rPr>
                        <a:t>Day4</a:t>
                      </a:r>
                    </a:p>
                  </a:txBody>
                  <a:tcPr>
                    <a:solidFill>
                      <a:srgbClr val="FFFFFF"/>
                    </a:solidFill>
                  </a:tcPr>
                </a:tc>
                <a:tc>
                  <a:txBody>
                    <a:bodyPr/>
                    <a:lstStyle/>
                    <a:p>
                      <a:pPr algn="ctr"/>
                      <a:r>
                        <a:rPr sz="1050" b="0">
                          <a:solidFill>
                            <a:srgbClr val="1C2233"/>
                          </a:solidFill>
                          <a:latin typeface="メイリオ"/>
                          <a:ea typeface="メイリオ"/>
                        </a:rPr>
                        <a:t>費用の納得</a:t>
                      </a:r>
                    </a:p>
                  </a:txBody>
                  <a:tcPr>
                    <a:solidFill>
                      <a:srgbClr val="FFFFFF"/>
                    </a:solidFill>
                  </a:tcPr>
                </a:tc>
                <a:tc>
                  <a:txBody>
                    <a:bodyPr/>
                    <a:lstStyle/>
                    <a:p>
                      <a:pPr algn="ctr"/>
                      <a:r>
                        <a:rPr sz="105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50" b="0">
                          <a:solidFill>
                            <a:srgbClr val="1C2233"/>
                          </a:solidFill>
                          <a:latin typeface="メイリオ"/>
                          <a:ea typeface="メイリオ"/>
                        </a:rPr>
                        <a:t>料金診断</a:t>
                      </a:r>
                    </a:p>
                  </a:txBody>
                  <a:tcPr>
                    <a:solidFill>
                      <a:srgbClr val="FFFFFF"/>
                    </a:solidFill>
                  </a:tcPr>
                </a:tc>
                <a:tc>
                  <a:txBody>
                    <a:bodyPr/>
                    <a:lstStyle/>
                    <a:p>
                      <a:pPr algn="ctr"/>
                      <a:r>
                        <a:rPr sz="105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60466">
                <a:tc>
                  <a:txBody>
                    <a:bodyPr/>
                    <a:lstStyle/>
                    <a:p>
                      <a:pPr algn="l"/>
                      <a:r>
                        <a:rPr sz="1050" b="0">
                          <a:solidFill>
                            <a:srgbClr val="1C2233"/>
                          </a:solidFill>
                          <a:latin typeface="メイリオ"/>
                          <a:ea typeface="メイリオ"/>
                        </a:rPr>
                        <a:t>Day6</a:t>
                      </a:r>
                    </a:p>
                  </a:txBody>
                  <a:tcPr>
                    <a:solidFill>
                      <a:srgbClr val="EFF1F7"/>
                    </a:solidFill>
                  </a:tcPr>
                </a:tc>
                <a:tc>
                  <a:txBody>
                    <a:bodyPr/>
                    <a:lstStyle/>
                    <a:p>
                      <a:pPr algn="ctr"/>
                      <a:r>
                        <a:rPr sz="1050" b="0">
                          <a:solidFill>
                            <a:srgbClr val="1C2233"/>
                          </a:solidFill>
                          <a:latin typeface="メイリオ"/>
                          <a:ea typeface="メイリオ"/>
                        </a:rPr>
                        <a:t>2回目のオファー</a:t>
                      </a:r>
                    </a:p>
                  </a:txBody>
                  <a:tcPr>
                    <a:solidFill>
                      <a:srgbClr val="EFF1F7"/>
                    </a:solidFill>
                  </a:tcPr>
                </a:tc>
                <a:tc>
                  <a:txBody>
                    <a:bodyPr/>
                    <a:lstStyle/>
                    <a:p>
                      <a:pPr algn="ctr"/>
                      <a:r>
                        <a:rPr sz="105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50" b="1">
                          <a:solidFill>
                            <a:srgbClr val="FFFFFF"/>
                          </a:solidFill>
                          <a:latin typeface="メイリオ"/>
                          <a:ea typeface="メイリオ"/>
                        </a:rPr>
                        <a:t>体験予約 CV①</a:t>
                      </a:r>
                    </a:p>
                  </a:txBody>
                  <a:tcPr>
                    <a:solidFill>
                      <a:srgbClr val="1F2A5C"/>
                    </a:solidFill>
                  </a:tcPr>
                </a:tc>
                <a:tc>
                  <a:txBody>
                    <a:bodyPr/>
                    <a:lstStyle/>
                    <a:p>
                      <a:pPr algn="ctr"/>
                      <a:r>
                        <a:rPr sz="10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60466">
                <a:tc>
                  <a:txBody>
                    <a:bodyPr/>
                    <a:lstStyle/>
                    <a:p>
                      <a:pPr algn="l"/>
                      <a:r>
                        <a:rPr sz="1050" b="0">
                          <a:solidFill>
                            <a:srgbClr val="1C2233"/>
                          </a:solidFill>
                          <a:latin typeface="メイリオ"/>
                          <a:ea typeface="メイリオ"/>
                        </a:rPr>
                        <a:t>Day8</a:t>
                      </a:r>
                    </a:p>
                  </a:txBody>
                  <a:tcPr>
                    <a:solidFill>
                      <a:srgbClr val="FFFFFF"/>
                    </a:solidFill>
                  </a:tcPr>
                </a:tc>
                <a:tc>
                  <a:txBody>
                    <a:bodyPr/>
                    <a:lstStyle/>
                    <a:p>
                      <a:pPr algn="ctr"/>
                      <a:r>
                        <a:rPr sz="1050" b="0">
                          <a:solidFill>
                            <a:srgbClr val="1C2233"/>
                          </a:solidFill>
                          <a:latin typeface="メイリオ"/>
                          <a:ea typeface="メイリオ"/>
                        </a:rPr>
                        <a:t>社会的証明</a:t>
                      </a:r>
                    </a:p>
                  </a:txBody>
                  <a:tcPr>
                    <a:solidFill>
                      <a:srgbClr val="FFFFFF"/>
                    </a:solidFill>
                  </a:tcPr>
                </a:tc>
                <a:tc>
                  <a:txBody>
                    <a:bodyPr/>
                    <a:lstStyle/>
                    <a:p>
                      <a:pPr algn="ctr"/>
                      <a:r>
                        <a:rPr sz="1050" b="0">
                          <a:solidFill>
                            <a:srgbClr val="1C2233"/>
                          </a:solidFill>
                          <a:latin typeface="メイリオ"/>
                          <a:ea typeface="メイリオ"/>
                        </a:rPr>
                        <a:t>同年代・同目的の会員の声（動画など）／続いている人の共通点</a:t>
                      </a:r>
                    </a:p>
                  </a:txBody>
                  <a:tcPr>
                    <a:solidFill>
                      <a:srgbClr val="FFFFFF"/>
                    </a:solidFill>
                  </a:tcPr>
                </a:tc>
                <a:tc>
                  <a:txBody>
                    <a:bodyPr/>
                    <a:lstStyle/>
                    <a:p>
                      <a:pPr algn="ctr"/>
                      <a:r>
                        <a:rPr sz="1050" b="0">
                          <a:solidFill>
                            <a:srgbClr val="1C2233"/>
                          </a:solidFill>
                          <a:latin typeface="メイリオ"/>
                          <a:ea typeface="メイリオ"/>
                        </a:rPr>
                        <a:t>事例閲覧</a:t>
                      </a:r>
                    </a:p>
                  </a:txBody>
                  <a:tcPr>
                    <a:solidFill>
                      <a:srgbClr val="FFFFFF"/>
                    </a:solidFill>
                  </a:tcPr>
                </a:tc>
                <a:tc>
                  <a:txBody>
                    <a:bodyPr/>
                    <a:lstStyle/>
                    <a:p>
                      <a:pPr algn="ctr"/>
                      <a:r>
                        <a:rPr sz="105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60466">
                <a:tc>
                  <a:txBody>
                    <a:bodyPr/>
                    <a:lstStyle/>
                    <a:p>
                      <a:pPr algn="l"/>
                      <a:r>
                        <a:rPr sz="1050" b="0">
                          <a:solidFill>
                            <a:srgbClr val="1C2233"/>
                          </a:solidFill>
                          <a:latin typeface="メイリオ"/>
                          <a:ea typeface="メイリオ"/>
                        </a:rPr>
                        <a:t>Day11</a:t>
                      </a:r>
                    </a:p>
                  </a:txBody>
                  <a:tcPr>
                    <a:solidFill>
                      <a:srgbClr val="EFF1F7"/>
                    </a:solidFill>
                  </a:tcPr>
                </a:tc>
                <a:tc>
                  <a:txBody>
                    <a:bodyPr/>
                    <a:lstStyle/>
                    <a:p>
                      <a:pPr algn="ctr"/>
                      <a:r>
                        <a:rPr sz="1050" b="0">
                          <a:solidFill>
                            <a:srgbClr val="1C2233"/>
                          </a:solidFill>
                          <a:latin typeface="メイリオ"/>
                          <a:ea typeface="メイリオ"/>
                        </a:rPr>
                        <a:t>疑問の除去</a:t>
                      </a:r>
                    </a:p>
                  </a:txBody>
                  <a:tcPr>
                    <a:solidFill>
                      <a:srgbClr val="EFF1F7"/>
                    </a:solidFill>
                  </a:tcPr>
                </a:tc>
                <a:tc>
                  <a:txBody>
                    <a:bodyPr/>
                    <a:lstStyle/>
                    <a:p>
                      <a:pPr algn="ctr"/>
                      <a:r>
                        <a:rPr sz="105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50" b="0">
                          <a:solidFill>
                            <a:srgbClr val="1C2233"/>
                          </a:solidFill>
                          <a:latin typeface="メイリオ"/>
                          <a:ea typeface="メイリオ"/>
                        </a:rPr>
                        <a:t>チャット相談</a:t>
                      </a:r>
                    </a:p>
                  </a:txBody>
                  <a:tcPr>
                    <a:solidFill>
                      <a:srgbClr val="EFF1F7"/>
                    </a:solidFill>
                  </a:tcPr>
                </a:tc>
                <a:tc>
                  <a:txBody>
                    <a:bodyPr/>
                    <a:lstStyle/>
                    <a:p>
                      <a:pPr algn="ctr"/>
                      <a:r>
                        <a:rPr sz="105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60466">
                <a:tc>
                  <a:txBody>
                    <a:bodyPr/>
                    <a:lstStyle/>
                    <a:p>
                      <a:pPr algn="l"/>
                      <a:r>
                        <a:rPr sz="1050" b="0">
                          <a:solidFill>
                            <a:srgbClr val="1C2233"/>
                          </a:solidFill>
                          <a:latin typeface="メイリオ"/>
                          <a:ea typeface="メイリオ"/>
                        </a:rPr>
                        <a:t>Day14</a:t>
                      </a:r>
                    </a:p>
                  </a:txBody>
                  <a:tcPr>
                    <a:solidFill>
                      <a:srgbClr val="FFFFFF"/>
                    </a:solidFill>
                  </a:tcPr>
                </a:tc>
                <a:tc>
                  <a:txBody>
                    <a:bodyPr/>
                    <a:lstStyle/>
                    <a:p>
                      <a:pPr algn="ctr"/>
                      <a:r>
                        <a:rPr sz="1050" b="0">
                          <a:solidFill>
                            <a:srgbClr val="1C2233"/>
                          </a:solidFill>
                          <a:latin typeface="メイリオ"/>
                          <a:ea typeface="メイリオ"/>
                        </a:rPr>
                        <a:t>最終オファー</a:t>
                      </a:r>
                    </a:p>
                  </a:txBody>
                  <a:tcPr>
                    <a:solidFill>
                      <a:srgbClr val="FFFFFF"/>
                    </a:solidFill>
                  </a:tcPr>
                </a:tc>
                <a:tc>
                  <a:txBody>
                    <a:bodyPr/>
                    <a:lstStyle/>
                    <a:p>
                      <a:pPr algn="ctr"/>
                      <a:r>
                        <a:rPr sz="1050" b="0" dirty="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50" b="1">
                          <a:solidFill>
                            <a:srgbClr val="FFFFFF"/>
                          </a:solidFill>
                          <a:latin typeface="メイリオ"/>
                          <a:ea typeface="メイリオ"/>
                        </a:rPr>
                        <a:t>体験予約（再）</a:t>
                      </a:r>
                    </a:p>
                  </a:txBody>
                  <a:tcPr>
                    <a:solidFill>
                      <a:srgbClr val="1F2A5C"/>
                    </a:solidFill>
                  </a:tcPr>
                </a:tc>
                <a:tc>
                  <a:txBody>
                    <a:bodyPr/>
                    <a:lstStyle/>
                    <a:p>
                      <a:pPr algn="ctr"/>
                      <a:r>
                        <a:rPr sz="1050" b="0" dirty="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CV地点は1つ、オファーは3回</a:t>
            </a:r>
          </a:p>
          <a:p>
            <a:pPr algn="l">
              <a:spcBef>
                <a:spcPts val="200"/>
              </a:spcBef>
            </a:pPr>
            <a:r>
              <a:rPr sz="1100" b="0" dirty="0" err="1">
                <a:solidFill>
                  <a:srgbClr val="1C2233"/>
                </a:solidFill>
                <a:latin typeface="メイリオ"/>
                <a:ea typeface="メイリオ"/>
              </a:rPr>
              <a:t>CVは体験予約【CV</a:t>
            </a:r>
            <a:r>
              <a:rPr sz="1100" b="0" dirty="0">
                <a:solidFill>
                  <a:srgbClr val="1C2233"/>
                </a:solidFill>
                <a:latin typeface="メイリオ"/>
                <a:ea typeface="メイリオ"/>
              </a:rPr>
              <a:t>①】</a:t>
            </a:r>
            <a:r>
              <a:rPr sz="1100" b="0" dirty="0" err="1">
                <a:solidFill>
                  <a:srgbClr val="1C2233"/>
                </a:solidFill>
                <a:latin typeface="メイリオ"/>
                <a:ea typeface="メイリオ"/>
              </a:rPr>
              <a:t>のみ</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r>
              <a:rPr sz="1100" b="0" dirty="0">
                <a:solidFill>
                  <a:srgbClr val="1C2233"/>
                </a:solidFill>
                <a:latin typeface="メイリオ"/>
                <a:ea typeface="メイリオ"/>
              </a:rPr>
              <a:t>Day0・Day6・Day14の3回訴求し、1回で終わらせない。</a:t>
            </a:r>
          </a:p>
        </p:txBody>
      </p:sp>
      <p:sp>
        <p:nvSpPr>
          <p:cNvPr id="6" name="Rounded Rectangle 5"/>
          <p:cNvSpPr/>
          <p:nvPr/>
        </p:nvSpPr>
        <p:spPr>
          <a:xfrm>
            <a:off x="3383279"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Day6に「迫りません」と書く</a:t>
            </a:r>
          </a:p>
          <a:p>
            <a:pPr algn="l">
              <a:spcBef>
                <a:spcPts val="200"/>
              </a:spcBef>
            </a:pPr>
            <a:r>
              <a:rPr sz="1100" b="0" dirty="0" err="1">
                <a:solidFill>
                  <a:srgbClr val="1C2233"/>
                </a:solidFill>
                <a:latin typeface="メイリオ"/>
                <a:ea typeface="メイリオ"/>
              </a:rPr>
              <a:t>押し売り拒絶への直接回答</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p>
          <a:p>
            <a:pPr algn="l">
              <a:spcBef>
                <a:spcPts val="200"/>
              </a:spcBef>
            </a:pPr>
            <a:r>
              <a:rPr sz="1100" b="0" dirty="0" err="1">
                <a:solidFill>
                  <a:srgbClr val="1C2233"/>
                </a:solidFill>
                <a:latin typeface="メイリオ"/>
                <a:ea typeface="メイリオ"/>
              </a:rPr>
              <a:t>この業界の最重要コピ</a:t>
            </a:r>
            <a:r>
              <a:rPr sz="1100" b="0" dirty="0">
                <a:solidFill>
                  <a:srgbClr val="1C2233"/>
                </a:solidFill>
                <a:latin typeface="メイリオ"/>
                <a:ea typeface="メイリオ"/>
              </a:rPr>
              <a:t>ー。</a:t>
            </a:r>
          </a:p>
        </p:txBody>
      </p:sp>
      <p:sp>
        <p:nvSpPr>
          <p:cNvPr id="7" name="Rounded Rectangle 6"/>
          <p:cNvSpPr/>
          <p:nvPr/>
        </p:nvSpPr>
        <p:spPr>
          <a:xfrm>
            <a:off x="6382512"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Day11で自ら「解約」に触れる</a:t>
            </a:r>
          </a:p>
          <a:p>
            <a:pPr algn="l">
              <a:spcBef>
                <a:spcPts val="200"/>
              </a:spcBef>
            </a:pPr>
            <a:r>
              <a:rPr sz="1100" b="0" dirty="0" err="1">
                <a:solidFill>
                  <a:srgbClr val="1C2233"/>
                </a:solidFill>
                <a:latin typeface="メイリオ"/>
                <a:ea typeface="メイリオ"/>
              </a:rPr>
              <a:t>隠すより先に出したほうが信頼される</a:t>
            </a:r>
            <a:r>
              <a:rPr sz="1100" b="0" dirty="0">
                <a:solidFill>
                  <a:srgbClr val="1C2233"/>
                </a:solidFill>
                <a:latin typeface="メイリオ"/>
                <a:ea typeface="メイリオ"/>
              </a:rPr>
              <a:t>。</a:t>
            </a:r>
          </a:p>
        </p:txBody>
      </p:sp>
      <p:sp>
        <p:nvSpPr>
          <p:cNvPr id="8" name="TextBox 7"/>
          <p:cNvSpPr txBox="1"/>
          <p:nvPr/>
        </p:nvSpPr>
        <p:spPr>
          <a:xfrm>
            <a:off x="384048" y="6267995"/>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9" name="Rectangle 28"/>
          <p:cNvSpPr/>
          <p:nvPr/>
        </p:nvSpPr>
        <p:spPr>
          <a:xfrm>
            <a:off x="429768" y="5413247"/>
            <a:ext cx="9089136" cy="566929"/>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04687"/>
            <a:ext cx="8814816" cy="430887"/>
          </a:xfrm>
          <a:prstGeom prst="rect">
            <a:avLst/>
          </a:prstGeom>
          <a:noFill/>
        </p:spPr>
        <p:txBody>
          <a:bodyPr wrap="square" lIns="0" tIns="0" rIns="0" bIns="0">
            <a:spAutoFit/>
          </a:bodyPr>
          <a:lstStyle/>
          <a:p>
            <a:r>
              <a:rPr sz="1400" b="0" dirty="0">
                <a:solidFill>
                  <a:srgbClr val="1C2233"/>
                </a:solidFill>
                <a:latin typeface="メイリオ"/>
                <a:ea typeface="メイリオ"/>
              </a:rPr>
              <a:t>実装はLINEリッチメニュー大サイズ（2500×1686px）／3列×2行（1マス833×843px）。</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2" y="1234440"/>
            <a:ext cx="8849262" cy="398678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9" name="Rectangle 28"/>
          <p:cNvSpPr/>
          <p:nvPr/>
        </p:nvSpPr>
        <p:spPr>
          <a:xfrm>
            <a:off x="429768" y="5525392"/>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dirty="0">
                <a:solidFill>
                  <a:srgbClr val="1C2233"/>
                </a:solidFill>
                <a:latin typeface="メイリオ"/>
                <a:ea typeface="メイリオ"/>
              </a:rPr>
              <a:t>大サイズ2500×1686px／3列×2行（1マス833×843px）。</a:t>
            </a:r>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521928"/>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1通目で無料体験と期限を見せる。迷っている人には、30秒診断を用意する。</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2542032"/>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【〇〇フィットネス △△店】</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友だち追加ありがとうございます💪</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〇月〇日まで、無料体験を受付中です（見学だけでもOK）。</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「続けられるか不安」という方は、まずは</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30秒でわかる「体づくりタイプ診断」から。</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こちらから営業のお電話をすることはありません。</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ご質問はこのままトークで送ってください(10:00–20:00)</a:t>
            </a:r>
            <a:endParaRPr lang="ja-JP" altLang="en-US" sz="1100" dirty="0"/>
          </a:p>
        </p:txBody>
      </p:sp>
      <p:sp>
        <p:nvSpPr>
          <p:cNvPr id="6" name="Rounded Rectangle 5"/>
          <p:cNvSpPr/>
          <p:nvPr/>
        </p:nvSpPr>
        <p:spPr>
          <a:xfrm>
            <a:off x="38404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無料体験と期限は</a:t>
            </a:r>
          </a:p>
          <a:p>
            <a:pPr algn="ctr">
              <a:spcBef>
                <a:spcPts val="0"/>
              </a:spcBef>
            </a:pPr>
            <a:r>
              <a:rPr sz="1000" b="0">
                <a:solidFill>
                  <a:srgbClr val="646C82"/>
                </a:solidFill>
                <a:latin typeface="メイリオ"/>
                <a:ea typeface="メイリオ"/>
              </a:rPr>
              <a:t>バナーで見せる</a:t>
            </a:r>
          </a:p>
        </p:txBody>
      </p:sp>
      <p:sp>
        <p:nvSpPr>
          <p:cNvPr id="8" name="Rounded Rectangle 7"/>
          <p:cNvSpPr/>
          <p:nvPr/>
        </p:nvSpPr>
        <p:spPr>
          <a:xfrm>
            <a:off x="331012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E4E9F2"/>
          </a:solidFill>
          <a:ln w="9525">
            <a:solidFill>
              <a:srgbClr val="1F2A5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2" name="Rectangle 21"/>
          <p:cNvSpPr/>
          <p:nvPr/>
        </p:nvSpPr>
        <p:spPr>
          <a:xfrm>
            <a:off x="384048" y="4114800"/>
            <a:ext cx="4389120" cy="201168"/>
          </a:xfrm>
          <a:prstGeom prst="rect">
            <a:avLst/>
          </a:prstGeom>
          <a:noFill/>
          <a:ln>
            <a:noFill/>
          </a:ln>
        </p:spPr>
        <p:txBody>
          <a:bodyPr wrap="square" lIns="18288" tIns="0" rIns="0" bIns="0" rtlCol="0" anchor="ctr">
            <a:noAutofit/>
          </a:bodyPr>
          <a:lstStyle/>
          <a:p>
            <a:pPr algn="l">
              <a:buNone/>
            </a:pPr>
            <a:r>
              <a:rPr lang="ja-JP" altLang="en-US" sz="900" b="0" dirty="0">
                <a:solidFill>
                  <a:srgbClr val="646C82"/>
                </a:solidFill>
                <a:latin typeface="メイリオ" panose="020B0604030504040204" pitchFamily="50" charset="-128"/>
                <a:ea typeface="メイリオ" panose="020B0604030504040204" pitchFamily="50" charset="-128"/>
              </a:rPr>
              <a:t>▼ バナー画像（期限・特典は毎月替える）</a:t>
            </a:r>
            <a:endParaRPr lang="ja-JP" altLang="en-US" sz="900" dirty="0"/>
          </a:p>
        </p:txBody>
      </p:sp>
      <p:sp>
        <p:nvSpPr>
          <p:cNvPr id="23" name="Rounded Rectangle 22"/>
          <p:cNvSpPr/>
          <p:nvPr/>
        </p:nvSpPr>
        <p:spPr>
          <a:xfrm>
            <a:off x="384048" y="4325112"/>
            <a:ext cx="4389120" cy="713232"/>
          </a:xfrm>
          <a:prstGeom prst="roundRect">
            <a:avLst>
              <a:gd name="adj" fmla="val 10000"/>
            </a:avLst>
          </a:prstGeom>
          <a:solidFill>
            <a:srgbClr val="1F2A5C"/>
          </a:solidFill>
          <a:ln>
            <a:noFill/>
          </a:ln>
        </p:spPr>
        <p:txBody>
          <a:bodyPr wrap="square" lIns="128016" tIns="36576" rIns="1371600" bIns="36576" rtlCol="0" anchor="ctr">
            <a:noAutofit/>
          </a:bodyPr>
          <a:lstStyle/>
          <a:p>
            <a:pPr algn="l">
              <a:lnSpc>
                <a:spcPct val="105000"/>
              </a:lnSpc>
              <a:buNone/>
            </a:pPr>
            <a:r>
              <a:rPr lang="ja-JP" altLang="en-US" sz="1300" b="1" dirty="0">
                <a:solidFill>
                  <a:srgbClr val="FFFFFF"/>
                </a:solidFill>
                <a:latin typeface="メイリオ" panose="020B0604030504040204" pitchFamily="50" charset="-128"/>
                <a:ea typeface="メイリオ" panose="020B0604030504040204" pitchFamily="50" charset="-128"/>
              </a:rPr>
              <a:t>〇月〇日まで｜無料体験＋入会特典</a:t>
            </a:r>
            <a:endParaRPr lang="ja-JP" altLang="en-US" sz="1200" dirty="0"/>
          </a:p>
          <a:p>
            <a:pPr algn="l">
              <a:lnSpc>
                <a:spcPct val="105000"/>
              </a:lnSpc>
              <a:buNone/>
            </a:pPr>
            <a:r>
              <a:rPr lang="ja-JP" altLang="en-US" sz="1000" b="0" dirty="0">
                <a:solidFill>
                  <a:srgbClr val="FFFFFF"/>
                </a:solidFill>
                <a:latin typeface="メイリオ" panose="020B0604030504040204" pitchFamily="50" charset="-128"/>
                <a:ea typeface="メイリオ" panose="020B0604030504040204" pitchFamily="50" charset="-128"/>
              </a:rPr>
              <a:t>各店先着〇名・見学だけでもOK</a:t>
            </a:r>
            <a:endParaRPr lang="ja-JP" altLang="en-US" sz="1200" dirty="0"/>
          </a:p>
        </p:txBody>
      </p:sp>
      <p:sp>
        <p:nvSpPr>
          <p:cNvPr id="24" name="Rounded Rectangle 23"/>
          <p:cNvSpPr/>
          <p:nvPr/>
        </p:nvSpPr>
        <p:spPr>
          <a:xfrm>
            <a:off x="3456432" y="4498848"/>
            <a:ext cx="1170432" cy="365760"/>
          </a:xfrm>
          <a:prstGeom prst="roundRect">
            <a:avLst>
              <a:gd name="adj" fmla="val 30000"/>
            </a:avLst>
          </a:prstGeom>
          <a:solidFill>
            <a:srgbClr val="FFFFFF"/>
          </a:solidFill>
          <a:ln>
            <a:noFill/>
          </a:ln>
        </p:spPr>
        <p:txBody>
          <a:bodyPr wrap="square" lIns="18288" tIns="0" rIns="18288" bIns="0" rtlCol="0" anchor="ctr">
            <a:noAutofit/>
          </a:bodyPr>
          <a:lstStyle/>
          <a:p>
            <a:pPr algn="ctr">
              <a:buNone/>
            </a:pPr>
            <a:r>
              <a:rPr lang="ja-JP" altLang="en-US" sz="1100" b="1" dirty="0">
                <a:solidFill>
                  <a:srgbClr val="1F2A5C"/>
                </a:solidFill>
                <a:latin typeface="メイリオ" panose="020B0604030504040204" pitchFamily="50" charset="-128"/>
                <a:ea typeface="メイリオ" panose="020B0604030504040204" pitchFamily="50" charset="-128"/>
              </a:rPr>
              <a:t>予約する ▶</a:t>
            </a:r>
            <a:endParaRPr lang="ja-JP" altLang="en-US" sz="1100" dirty="0"/>
          </a:p>
        </p:txBody>
      </p:sp>
    </p:spTree>
    <p:extLst>
      <p:ext uri="{BB962C8B-B14F-4D97-AF65-F5344CB8AC3E}">
        <p14:creationId xmlns:p14="http://schemas.microsoft.com/office/powerpoint/2010/main" val="18893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あいさつメッセージ｜友だち追加の直後に届く1通目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1通目で無料体験と期限を見せる。迷っている人には、30秒診断を用意する。</a:t>
            </a:r>
          </a:p>
        </p:txBody>
      </p:sp>
      <p:sp>
        <p:nvSpPr>
          <p:cNvPr id="19" name="TextBox 18"/>
          <p:cNvSpPr txBox="1"/>
          <p:nvPr/>
        </p:nvSpPr>
        <p:spPr>
          <a:xfrm>
            <a:off x="704088" y="4900000"/>
            <a:ext cx="8503920"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文面・配色・診断の設問は貴社トーンに合わせて調整します。</a:t>
            </a:r>
          </a:p>
        </p:txBody>
      </p:sp>
      <p:sp>
        <p:nvSpPr>
          <p:cNvPr id="22" name="TextBox 21"/>
          <p:cNvSpPr txBox="1"/>
          <p:nvPr/>
        </p:nvSpPr>
        <p:spPr>
          <a:xfrm>
            <a:off x="704088" y="1500000"/>
            <a:ext cx="8503920"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704088" y="2650000"/>
            <a:ext cx="8503920"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無料体験と期限は、バナーで見せる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今すぐの人は、そのまま体験予約へ</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迷っている人には、4問の診断を用意します。</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704088" y="3800000"/>
            <a:ext cx="8503920"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ea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ea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ea typeface="メイリオ"/>
              </a:rPr>
              <a:t>LINEヤフー公式機能</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ea typeface="メイリオ"/>
              </a:rPr>
              <a:t>友だち化・再来店へ</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ea typeface="メイリオ"/>
              </a:rPr>
              <a:t>※ 通知メッセージは別途費用（初期20万円・月額60万円〜／</a:t>
            </a:r>
            <a:r>
              <a:rPr sz="1000" b="0" dirty="0" err="1">
                <a:solidFill>
                  <a:srgbClr val="646C82"/>
                </a:solidFill>
                <a:latin typeface="メイリオ"/>
                <a:ea typeface="メイリオ"/>
              </a:rPr>
              <a:t>社内料金表</a:t>
            </a:r>
            <a:r>
              <a:rPr sz="1000" b="0" dirty="0">
                <a:solidFill>
                  <a:srgbClr val="646C82"/>
                </a:solidFill>
                <a:latin typeface="メイリオ"/>
                <a:ea typeface="メイリオ"/>
              </a:rPr>
              <a:t>）。</a:t>
            </a:r>
            <a:r>
              <a:rPr sz="1000" b="0" dirty="0" err="1">
                <a:solidFill>
                  <a:srgbClr val="646C82"/>
                </a:solidFill>
                <a:latin typeface="メイリオ"/>
                <a:ea typeface="メイリオ"/>
              </a:rPr>
              <a:t>配信できる内容には要件・審査があります</a:t>
            </a:r>
            <a:r>
              <a:rPr sz="1000" b="0" dirty="0">
                <a:solidFill>
                  <a:srgbClr val="646C82"/>
                </a:solidFill>
                <a:latin typeface="メイリオ"/>
                <a:ea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無断キャンセルが課題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1F2A5C"/>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146289</TotalTime>
  <Words>8092</Words>
  <Application>Microsoft Office PowerPoint</Application>
  <PresentationFormat>A4 210 x 297 mm</PresentationFormat>
  <Paragraphs>1742</Paragraphs>
  <Slides>47</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47</vt:i4>
      </vt:variant>
    </vt:vector>
  </HeadingPairs>
  <TitlesOfParts>
    <vt:vector size="52"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1964</cp:revision>
  <cp:lastPrinted>2022-11-01T11:38:14Z</cp:lastPrinted>
  <dcterms:created xsi:type="dcterms:W3CDTF">2015-09-04T09:21:15Z</dcterms:created>
  <dcterms:modified xsi:type="dcterms:W3CDTF">2026-10-19T08:32:56Z</dcterms:modified>
</cp:coreProperties>
</file>