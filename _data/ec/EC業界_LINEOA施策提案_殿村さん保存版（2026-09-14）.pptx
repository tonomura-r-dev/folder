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36" r:id="rId4"/>
    <p:sldId id="2983" r:id="rId5"/>
    <p:sldId id="2972" r:id="rId6"/>
    <p:sldId id="2984" r:id="rId7"/>
    <p:sldId id="2935" r:id="rId8"/>
    <p:sldId id="2985" r:id="rId9"/>
    <p:sldId id="2908" r:id="rId10"/>
    <p:sldId id="2956" r:id="rId11"/>
    <p:sldId id="2988" r:id="rId12"/>
    <p:sldId id="2762" r:id="rId13"/>
    <p:sldId id="2950" r:id="rId14"/>
    <p:sldId id="2962" r:id="rId15"/>
    <p:sldId id="2937" r:id="rId16"/>
    <p:sldId id="2939" r:id="rId17"/>
    <p:sldId id="2966" r:id="rId18"/>
    <p:sldId id="2994" r:id="rId19"/>
    <p:sldId id="2977" r:id="rId20"/>
    <p:sldId id="2974" r:id="rId21"/>
    <p:sldId id="2986" r:id="rId22"/>
    <p:sldId id="2975" r:id="rId23"/>
    <p:sldId id="2987" r:id="rId24"/>
    <p:sldId id="2967" r:id="rId25"/>
    <p:sldId id="2942" r:id="rId26"/>
    <p:sldId id="2941" r:id="rId27"/>
    <p:sldId id="2943" r:id="rId28"/>
    <p:sldId id="2944" r:id="rId29"/>
    <p:sldId id="2995" r:id="rId30"/>
    <p:sldId id="2996" r:id="rId31"/>
    <p:sldId id="2997" r:id="rId32"/>
    <p:sldId id="2993" r:id="rId33"/>
    <p:sldId id="2946" r:id="rId34"/>
    <p:sldId id="2947" r:id="rId35"/>
    <p:sldId id="2948" r:id="rId36"/>
    <p:sldId id="2958" r:id="rId37"/>
    <p:sldId id="2989" r:id="rId38"/>
    <p:sldId id="2990" r:id="rId39"/>
    <p:sldId id="2991" r:id="rId40"/>
    <p:sldId id="2992" r:id="rId41"/>
    <p:sldId id="2954" r:id="rId42"/>
    <p:sldId id="2953" r:id="rId43"/>
    <p:sldId id="2955"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424" autoAdjust="0"/>
  </p:normalViewPr>
  <p:slideViewPr>
    <p:cSldViewPr snapToGrid="0">
      <p:cViewPr varScale="1">
        <p:scale>
          <a:sx n="110" d="100"/>
          <a:sy n="110" d="100"/>
        </p:scale>
        <p:origin x="141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2026/9/14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emf"/><Relationship Id="rId4" Type="http://schemas.openxmlformats.org/officeDocument/2006/relationships/image" Target="../media/image22.jpeg"/><Relationship Id="rId5" Type="http://schemas.openxmlformats.org/officeDocument/2006/relationships/image" Target="../media/image23.jpeg"/><Relationship Id="rId6" Type="http://schemas.openxmlformats.org/officeDocument/2006/relationships/image" Target="../media/image24.jpeg"/><Relationship Id="rId7" Type="http://schemas.openxmlformats.org/officeDocument/2006/relationships/image" Target="../media/image25.jpeg"/><Relationship Id="rId8"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a:t>
            </a:r>
            <a:r>
              <a:rPr lang="en-US" altLang="ja-JP" sz="1600" dirty="0">
                <a:solidFill>
                  <a:schemeClr val="tx1">
                    <a:lumMod val="50000"/>
                    <a:lumOff val="50000"/>
                  </a:schemeClr>
                </a:solidFill>
                <a:latin typeface="Meiryo" panose="020B0604030504040204" pitchFamily="34" charset="-128"/>
                <a:ea typeface="Meiryo" panose="020B0604030504040204" pitchFamily="34" charset="-128"/>
              </a:rPr>
              <a:t>LTV</a:t>
            </a: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向上に強い動線を構築する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59"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a:t>
            </a:r>
            <a:r>
              <a:rPr lang="en-US" altLang="ja-JP" sz="1400" b="1" dirty="0">
                <a:solidFill>
                  <a:schemeClr val="bg1"/>
                </a:solidFill>
                <a:latin typeface="メイリオ" panose="020B0604030504040204" pitchFamily="50" charset="-128"/>
                <a:ea typeface="メイリオ" panose="020B0604030504040204" pitchFamily="50" charset="-128"/>
              </a:rPr>
              <a:t>EC</a:t>
            </a:r>
            <a:endParaRPr kumimoji="1" lang="ja-JP" altLang="en-US" sz="14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5" name="TextBox 4"/>
          <p:cNvSpPr txBox="1"/>
          <p:nvPr/>
        </p:nvSpPr>
        <p:spPr>
          <a:xfrm>
            <a:off x="432000" y="648000"/>
            <a:ext cx="9036000" cy="760011"/>
          </a:xfrm>
          <a:prstGeom prst="rect">
            <a:avLst/>
          </a:prstGeom>
          <a:noFill/>
        </p:spPr>
        <p:txBody>
          <a:bodyPr wrap="square" lIns="50400" tIns="18000" rIns="50400" bIns="18000" anchor="t">
            <a:spAutoFit/>
          </a:bodyPr>
          <a:lstStyle/>
          <a:p>
            <a:pPr algn="ctr">
              <a:lnSpc>
                <a:spcPct val="135000"/>
              </a:lnSpc>
            </a:pPr>
            <a:r>
              <a:rPr dirty="0" err="1">
                <a:solidFill>
                  <a:srgbClr val="333333"/>
                </a:solidFill>
                <a:latin typeface="メイリオ"/>
                <a:ea typeface="メイリオ"/>
                <a:cs typeface="メイリオ"/>
              </a:rPr>
              <a:t>新規獲得の単価は上がり続けている</a:t>
            </a:r>
            <a:r>
              <a:rPr dirty="0">
                <a:solidFill>
                  <a:srgbClr val="333333"/>
                </a:solidFill>
                <a:latin typeface="メイリオ"/>
                <a:ea typeface="メイリオ"/>
                <a:cs typeface="メイリオ"/>
              </a:rPr>
              <a:t>。</a:t>
            </a:r>
            <a:endParaRPr lang="en-US" dirty="0">
              <a:solidFill>
                <a:srgbClr val="333333"/>
              </a:solidFill>
              <a:latin typeface="メイリオ"/>
              <a:ea typeface="メイリオ"/>
              <a:cs typeface="メイリオ"/>
            </a:endParaRPr>
          </a:p>
          <a:p>
            <a:pPr algn="ctr">
              <a:lnSpc>
                <a:spcPct val="135000"/>
              </a:lnSpc>
            </a:pPr>
            <a:r>
              <a:rPr dirty="0">
                <a:solidFill>
                  <a:srgbClr val="333333"/>
                </a:solidFill>
                <a:latin typeface="メイリオ"/>
                <a:ea typeface="メイリオ"/>
                <a:cs typeface="メイリオ"/>
              </a:rPr>
              <a:t>「</a:t>
            </a:r>
            <a:r>
              <a:rPr dirty="0" err="1">
                <a:solidFill>
                  <a:srgbClr val="333333"/>
                </a:solidFill>
                <a:latin typeface="メイリオ"/>
                <a:ea typeface="メイリオ"/>
                <a:cs typeface="メイリオ"/>
              </a:rPr>
              <a:t>集める</a:t>
            </a:r>
            <a:r>
              <a:rPr dirty="0">
                <a:solidFill>
                  <a:srgbClr val="333333"/>
                </a:solidFill>
                <a:latin typeface="メイリオ"/>
                <a:ea typeface="メイリオ"/>
                <a:cs typeface="メイリオ"/>
              </a:rPr>
              <a:t>」</a:t>
            </a:r>
            <a:r>
              <a:rPr lang="ja-JP" altLang="en-US" dirty="0">
                <a:solidFill>
                  <a:srgbClr val="333333"/>
                </a:solidFill>
                <a:latin typeface="メイリオ"/>
                <a:ea typeface="メイリオ"/>
                <a:cs typeface="メイリオ"/>
              </a:rPr>
              <a:t>⇒</a:t>
            </a:r>
            <a:r>
              <a:rPr lang="ja-JP" altLang="en-US" b="1" dirty="0">
                <a:solidFill>
                  <a:srgbClr val="333333"/>
                </a:solidFill>
                <a:latin typeface="メイリオ"/>
                <a:ea typeface="メイリオ"/>
                <a:cs typeface="メイリオ"/>
              </a:rPr>
              <a:t>「ファン化・囲い込み」</a:t>
            </a:r>
            <a:endParaRPr b="1" dirty="0">
              <a:solidFill>
                <a:srgbClr val="333333"/>
              </a:solidFill>
              <a:latin typeface="メイリオ"/>
              <a:ea typeface="メイリオ"/>
              <a:cs typeface="メイリオ"/>
            </a:endParaRPr>
          </a:p>
        </p:txBody>
      </p:sp>
      <p:sp>
        <p:nvSpPr>
          <p:cNvPr id="7" name="Rounded Rectangle 6"/>
          <p:cNvSpPr/>
          <p:nvPr/>
        </p:nvSpPr>
        <p:spPr>
          <a:xfrm>
            <a:off x="432000" y="1548000"/>
            <a:ext cx="9043200" cy="760011"/>
          </a:xfrm>
          <a:prstGeom prst="roundRect">
            <a:avLst/>
          </a:prstGeom>
          <a:solidFill>
            <a:srgbClr val="EEF2F9"/>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57999" y="1673998"/>
            <a:ext cx="666000" cy="551381"/>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2600" b="1">
                <a:solidFill>
                  <a:srgbClr val="FFFFFF"/>
                </a:solidFill>
                <a:latin typeface="メイリオ"/>
                <a:ea typeface="メイリオ"/>
                <a:cs typeface="メイリオ"/>
              </a:rPr>
              <a:t>1</a:t>
            </a:r>
          </a:p>
        </p:txBody>
      </p:sp>
      <p:sp>
        <p:nvSpPr>
          <p:cNvPr id="9" name="TextBox 8"/>
          <p:cNvSpPr txBox="1"/>
          <p:nvPr/>
        </p:nvSpPr>
        <p:spPr>
          <a:xfrm>
            <a:off x="1349998" y="1757622"/>
            <a:ext cx="2700000" cy="342000"/>
          </a:xfrm>
          <a:prstGeom prst="rect">
            <a:avLst/>
          </a:prstGeom>
          <a:noFill/>
        </p:spPr>
        <p:txBody>
          <a:bodyPr wrap="square" lIns="50400" tIns="18000" rIns="50400" bIns="18000" anchor="ctr">
            <a:spAutoFit/>
          </a:bodyPr>
          <a:lstStyle/>
          <a:p>
            <a:pPr algn="l"/>
            <a:r>
              <a:rPr sz="1800" b="1">
                <a:solidFill>
                  <a:srgbClr val="002060"/>
                </a:solidFill>
                <a:latin typeface="メイリオ"/>
                <a:ea typeface="メイリオ"/>
                <a:cs typeface="メイリオ"/>
              </a:rPr>
              <a:t>市場と実態</a:t>
            </a:r>
          </a:p>
        </p:txBody>
      </p:sp>
      <p:sp>
        <p:nvSpPr>
          <p:cNvPr id="11" name="TextBox 10"/>
          <p:cNvSpPr txBox="1"/>
          <p:nvPr/>
        </p:nvSpPr>
        <p:spPr>
          <a:xfrm>
            <a:off x="4256999" y="1673998"/>
            <a:ext cx="5011200" cy="522000"/>
          </a:xfrm>
          <a:prstGeom prst="rect">
            <a:avLst/>
          </a:prstGeom>
          <a:noFill/>
        </p:spPr>
        <p:txBody>
          <a:bodyPr wrap="square" lIns="50400" tIns="18000" rIns="50400" bIns="18000" anchor="ctr">
            <a:spAutoFit/>
          </a:bodyPr>
          <a:lstStyle/>
          <a:p>
            <a:pPr algn="l">
              <a:lnSpc>
                <a:spcPct val="135000"/>
              </a:lnSpc>
            </a:pPr>
            <a:r>
              <a:rPr sz="1600" dirty="0" err="1">
                <a:solidFill>
                  <a:srgbClr val="333333"/>
                </a:solidFill>
                <a:latin typeface="メイリオ"/>
                <a:ea typeface="メイリオ"/>
                <a:cs typeface="メイリオ"/>
              </a:rPr>
              <a:t>EC市場の規模 → 獲得単価の推移 → カゴ落ちの実態</a:t>
            </a:r>
          </a:p>
        </p:txBody>
      </p:sp>
      <p:sp>
        <p:nvSpPr>
          <p:cNvPr id="12" name="Rounded Rectangle 11"/>
          <p:cNvSpPr/>
          <p:nvPr/>
        </p:nvSpPr>
        <p:spPr>
          <a:xfrm>
            <a:off x="432000" y="2411999"/>
            <a:ext cx="9043200" cy="760011"/>
          </a:xfrm>
          <a:prstGeom prst="roundRect">
            <a:avLst/>
          </a:prstGeom>
          <a:solidFill>
            <a:srgbClr val="FFFFFF"/>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57999" y="2537999"/>
            <a:ext cx="666000" cy="551381"/>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2600" b="1">
                <a:solidFill>
                  <a:srgbClr val="FFFFFF"/>
                </a:solidFill>
                <a:latin typeface="メイリオ"/>
                <a:ea typeface="メイリオ"/>
                <a:cs typeface="メイリオ"/>
              </a:rPr>
              <a:t>2</a:t>
            </a:r>
          </a:p>
        </p:txBody>
      </p:sp>
      <p:sp>
        <p:nvSpPr>
          <p:cNvPr id="14" name="TextBox 13"/>
          <p:cNvSpPr txBox="1"/>
          <p:nvPr/>
        </p:nvSpPr>
        <p:spPr>
          <a:xfrm>
            <a:off x="1349998" y="2621623"/>
            <a:ext cx="2700000" cy="342000"/>
          </a:xfrm>
          <a:prstGeom prst="rect">
            <a:avLst/>
          </a:prstGeom>
          <a:noFill/>
        </p:spPr>
        <p:txBody>
          <a:bodyPr wrap="square" lIns="50400" tIns="18000" rIns="50400" bIns="18000" anchor="ctr">
            <a:spAutoFit/>
          </a:bodyPr>
          <a:lstStyle/>
          <a:p>
            <a:pPr algn="l"/>
            <a:r>
              <a:rPr sz="1800" b="1">
                <a:solidFill>
                  <a:srgbClr val="002060"/>
                </a:solidFill>
                <a:latin typeface="メイリオ"/>
                <a:ea typeface="メイリオ"/>
                <a:cs typeface="メイリオ"/>
              </a:rPr>
              <a:t>なぜLINEか</a:t>
            </a:r>
          </a:p>
        </p:txBody>
      </p:sp>
      <p:sp>
        <p:nvSpPr>
          <p:cNvPr id="16" name="TextBox 15"/>
          <p:cNvSpPr txBox="1"/>
          <p:nvPr/>
        </p:nvSpPr>
        <p:spPr>
          <a:xfrm>
            <a:off x="4256999" y="2537999"/>
            <a:ext cx="5011200" cy="522000"/>
          </a:xfrm>
          <a:prstGeom prst="rect">
            <a:avLst/>
          </a:prstGeom>
          <a:noFill/>
        </p:spPr>
        <p:txBody>
          <a:bodyPr wrap="square" lIns="50400" tIns="18000" rIns="50400" bIns="18000" anchor="ctr">
            <a:spAutoFit/>
          </a:bodyPr>
          <a:lstStyle/>
          <a:p>
            <a:pPr algn="l">
              <a:lnSpc>
                <a:spcPct val="135000"/>
              </a:lnSpc>
            </a:pPr>
            <a:r>
              <a:rPr sz="1600">
                <a:solidFill>
                  <a:srgbClr val="333333"/>
                </a:solidFill>
                <a:latin typeface="メイリオ"/>
                <a:ea typeface="メイリオ"/>
                <a:cs typeface="メイリオ"/>
              </a:rPr>
              <a:t>メール登録の壁・できること／できないこと・考え方</a:t>
            </a:r>
          </a:p>
        </p:txBody>
      </p:sp>
      <p:sp>
        <p:nvSpPr>
          <p:cNvPr id="17" name="Rounded Rectangle 16"/>
          <p:cNvSpPr/>
          <p:nvPr/>
        </p:nvSpPr>
        <p:spPr>
          <a:xfrm>
            <a:off x="432000" y="3276000"/>
            <a:ext cx="9043200" cy="760011"/>
          </a:xfrm>
          <a:prstGeom prst="roundRect">
            <a:avLst/>
          </a:prstGeom>
          <a:solidFill>
            <a:srgbClr val="EEF2F9"/>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57999" y="3401999"/>
            <a:ext cx="666000" cy="551381"/>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2600" b="1">
                <a:solidFill>
                  <a:srgbClr val="FFFFFF"/>
                </a:solidFill>
                <a:latin typeface="メイリオ"/>
                <a:ea typeface="メイリオ"/>
                <a:cs typeface="メイリオ"/>
              </a:rPr>
              <a:t>3</a:t>
            </a:r>
          </a:p>
        </p:txBody>
      </p:sp>
      <p:sp>
        <p:nvSpPr>
          <p:cNvPr id="19" name="TextBox 18"/>
          <p:cNvSpPr txBox="1"/>
          <p:nvPr/>
        </p:nvSpPr>
        <p:spPr>
          <a:xfrm>
            <a:off x="1349998" y="3485623"/>
            <a:ext cx="2700000" cy="342000"/>
          </a:xfrm>
          <a:prstGeom prst="rect">
            <a:avLst/>
          </a:prstGeom>
          <a:noFill/>
        </p:spPr>
        <p:txBody>
          <a:bodyPr wrap="square" lIns="50400" tIns="18000" rIns="50400" bIns="18000" anchor="ctr">
            <a:spAutoFit/>
          </a:bodyPr>
          <a:lstStyle/>
          <a:p>
            <a:pPr algn="l"/>
            <a:r>
              <a:rPr sz="1800" b="1">
                <a:solidFill>
                  <a:srgbClr val="002060"/>
                </a:solidFill>
                <a:latin typeface="メイリオ"/>
                <a:ea typeface="メイリオ"/>
                <a:cs typeface="メイリオ"/>
              </a:rPr>
              <a:t>全体設計</a:t>
            </a:r>
          </a:p>
        </p:txBody>
      </p:sp>
      <p:sp>
        <p:nvSpPr>
          <p:cNvPr id="21" name="TextBox 20"/>
          <p:cNvSpPr txBox="1"/>
          <p:nvPr/>
        </p:nvSpPr>
        <p:spPr>
          <a:xfrm>
            <a:off x="4256999" y="3401999"/>
            <a:ext cx="5011200" cy="522000"/>
          </a:xfrm>
          <a:prstGeom prst="rect">
            <a:avLst/>
          </a:prstGeom>
          <a:noFill/>
        </p:spPr>
        <p:txBody>
          <a:bodyPr wrap="square" lIns="50400" tIns="18000" rIns="50400" bIns="18000" anchor="ctr">
            <a:spAutoFit/>
          </a:bodyPr>
          <a:lstStyle/>
          <a:p>
            <a:pPr algn="l">
              <a:lnSpc>
                <a:spcPct val="135000"/>
              </a:lnSpc>
            </a:pPr>
            <a:r>
              <a:rPr sz="1600">
                <a:solidFill>
                  <a:srgbClr val="333333"/>
                </a:solidFill>
                <a:latin typeface="メイリオ"/>
                <a:ea typeface="メイリオ"/>
                <a:cs typeface="メイリオ"/>
              </a:rPr>
              <a:t>ジャーニー8フェーズ・対策領域・流入元別CV率</a:t>
            </a:r>
          </a:p>
        </p:txBody>
      </p:sp>
      <p:sp>
        <p:nvSpPr>
          <p:cNvPr id="22" name="Rounded Rectangle 21"/>
          <p:cNvSpPr/>
          <p:nvPr/>
        </p:nvSpPr>
        <p:spPr>
          <a:xfrm>
            <a:off x="432000" y="4140000"/>
            <a:ext cx="9043200" cy="760011"/>
          </a:xfrm>
          <a:prstGeom prst="round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57999" y="4266000"/>
            <a:ext cx="666000" cy="551381"/>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2600" b="1">
                <a:solidFill>
                  <a:srgbClr val="FFFFFF"/>
                </a:solidFill>
                <a:latin typeface="メイリオ"/>
                <a:ea typeface="メイリオ"/>
                <a:cs typeface="メイリオ"/>
              </a:rPr>
              <a:t>4</a:t>
            </a:r>
          </a:p>
        </p:txBody>
      </p:sp>
      <p:sp>
        <p:nvSpPr>
          <p:cNvPr id="24" name="TextBox 23"/>
          <p:cNvSpPr txBox="1"/>
          <p:nvPr/>
        </p:nvSpPr>
        <p:spPr>
          <a:xfrm>
            <a:off x="1349998" y="4349623"/>
            <a:ext cx="2700000" cy="342000"/>
          </a:xfrm>
          <a:prstGeom prst="rect">
            <a:avLst/>
          </a:prstGeom>
          <a:noFill/>
        </p:spPr>
        <p:txBody>
          <a:bodyPr wrap="square" lIns="50400" tIns="18000" rIns="50400" bIns="18000" anchor="ctr">
            <a:spAutoFit/>
          </a:bodyPr>
          <a:lstStyle/>
          <a:p>
            <a:pPr algn="l"/>
            <a:r>
              <a:rPr sz="1800" b="1">
                <a:solidFill>
                  <a:srgbClr val="002060"/>
                </a:solidFill>
                <a:latin typeface="メイリオ"/>
                <a:ea typeface="メイリオ"/>
                <a:cs typeface="メイリオ"/>
              </a:rPr>
              <a:t>構築の型</a:t>
            </a:r>
          </a:p>
        </p:txBody>
      </p:sp>
      <p:sp>
        <p:nvSpPr>
          <p:cNvPr id="26" name="TextBox 25"/>
          <p:cNvSpPr txBox="1"/>
          <p:nvPr/>
        </p:nvSpPr>
        <p:spPr>
          <a:xfrm>
            <a:off x="4256999" y="4265999"/>
            <a:ext cx="5011200" cy="522000"/>
          </a:xfrm>
          <a:prstGeom prst="rect">
            <a:avLst/>
          </a:prstGeom>
          <a:noFill/>
        </p:spPr>
        <p:txBody>
          <a:bodyPr wrap="square" lIns="50400" tIns="18000" rIns="50400" bIns="18000" anchor="ctr">
            <a:spAutoFit/>
          </a:bodyPr>
          <a:lstStyle/>
          <a:p>
            <a:pPr algn="l">
              <a:lnSpc>
                <a:spcPct val="135000"/>
              </a:lnSpc>
            </a:pPr>
            <a:r>
              <a:rPr lang="ja-JP" altLang="en-US" sz="1600" dirty="0">
                <a:solidFill>
                  <a:srgbClr val="333333"/>
                </a:solidFill>
                <a:latin typeface="メイリオ"/>
                <a:ea typeface="メイリオ"/>
                <a:cs typeface="メイリオ"/>
              </a:rPr>
              <a:t>展開図・2軸・追加後15日・画面イメージ</a:t>
            </a:r>
          </a:p>
        </p:txBody>
      </p:sp>
      <p:sp>
        <p:nvSpPr>
          <p:cNvPr id="27" name="TextBox 26"/>
          <p:cNvSpPr txBox="1"/>
          <p:nvPr/>
        </p:nvSpPr>
        <p:spPr>
          <a:xfrm>
            <a:off x="432000" y="6246000"/>
            <a:ext cx="9043200" cy="324000"/>
          </a:xfrm>
          <a:prstGeom prst="rect">
            <a:avLst/>
          </a:prstGeom>
          <a:noFill/>
        </p:spPr>
        <p:txBody>
          <a:bodyPr wrap="square" lIns="50400" tIns="18000" rIns="50400" bIns="18000" anchor="t">
            <a:spAutoFit/>
          </a:bodyPr>
          <a:lstStyle/>
          <a:p>
            <a:pPr algn="l">
              <a:lnSpc>
                <a:spcPct val="120000"/>
              </a:lnSpc>
            </a:pPr>
            <a:r>
              <a:rPr sz="800">
                <a:solidFill>
                  <a:srgbClr val="888888"/>
                </a:solidFill>
                <a:latin typeface="メイリオ"/>
                <a:ea typeface="メイリオ"/>
                <a:cs typeface="メイリオ"/>
              </a:rPr>
              <a:t>※後半（6 配信設計／7 具体施策／8 成果と体制／9 締め）はS23に記載</a:t>
            </a:r>
          </a:p>
        </p:txBody>
      </p:sp>
      <p:sp>
        <p:nvSpPr>
          <p:cNvPr id="2" name="Rounded Rectangle 21"/>
          <p:cNvSpPr/>
          <p:nvPr/>
        </p:nvSpPr>
        <p:spPr>
          <a:xfrm>
            <a:off x="432000" y="5004000"/>
            <a:ext cx="9043200" cy="760011"/>
          </a:xfrm>
          <a:prstGeom prst="round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2"/>
          <p:cNvSpPr/>
          <p:nvPr/>
        </p:nvSpPr>
        <p:spPr>
          <a:xfrm>
            <a:off x="557999" y="5130000"/>
            <a:ext cx="666000" cy="551381"/>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2600" b="1">
                <a:solidFill>
                  <a:srgbClr val="FFFFFF"/>
                </a:solidFill>
                <a:latin typeface="メイリオ"/>
                <a:ea typeface="メイリオ"/>
                <a:cs typeface="メイリオ"/>
              </a:rPr>
              <a:t>5</a:t>
            </a:r>
          </a:p>
        </p:txBody>
      </p:sp>
      <p:sp>
        <p:nvSpPr>
          <p:cNvPr id="6" name="TextBox 23"/>
          <p:cNvSpPr txBox="1"/>
          <p:nvPr/>
        </p:nvSpPr>
        <p:spPr>
          <a:xfrm>
            <a:off x="1349998" y="5213623"/>
            <a:ext cx="2700000" cy="342000"/>
          </a:xfrm>
          <a:prstGeom prst="rect">
            <a:avLst/>
          </a:prstGeom>
          <a:noFill/>
        </p:spPr>
        <p:txBody>
          <a:bodyPr wrap="square" lIns="50400" tIns="18000" rIns="50400" bIns="18000" anchor="ctr">
            <a:spAutoFit/>
          </a:bodyPr>
          <a:lstStyle/>
          <a:p>
            <a:pPr algn="l"/>
            <a:r>
              <a:rPr sz="1800" b="1">
                <a:solidFill>
                  <a:srgbClr val="002060"/>
                </a:solidFill>
                <a:latin typeface="メイリオ"/>
                <a:ea typeface="メイリオ"/>
                <a:cs typeface="メイリオ"/>
              </a:rPr>
              <a:t>ニーズ調査</a:t>
            </a:r>
          </a:p>
        </p:txBody>
      </p:sp>
      <p:sp>
        <p:nvSpPr>
          <p:cNvPr id="10" name="TextBox 25"/>
          <p:cNvSpPr txBox="1"/>
          <p:nvPr/>
        </p:nvSpPr>
        <p:spPr>
          <a:xfrm>
            <a:off x="4256999" y="5129999"/>
            <a:ext cx="5011200" cy="522000"/>
          </a:xfrm>
          <a:prstGeom prst="rect">
            <a:avLst/>
          </a:prstGeom>
          <a:noFill/>
        </p:spPr>
        <p:txBody>
          <a:bodyPr wrap="square" lIns="50400" tIns="18000" rIns="50400" bIns="18000" anchor="ctr">
            <a:spAutoFit/>
          </a:bodyPr>
          <a:lstStyle/>
          <a:p>
            <a:pPr algn="l">
              <a:lnSpc>
                <a:spcPct val="135000"/>
              </a:lnSpc>
            </a:pPr>
            <a:r>
              <a:rPr lang="ja-JP" altLang="en-US" sz="1600" dirty="0">
                <a:solidFill>
                  <a:srgbClr val="333333"/>
                </a:solidFill>
                <a:latin typeface="メイリオ"/>
                <a:ea typeface="メイリオ"/>
                <a:cs typeface="メイリオ"/>
              </a:rPr>
              <a:t>シーズナリティ・商戦・前後検索・★F2転換率</a:t>
            </a:r>
          </a:p>
        </p:txBody>
      </p:sp>
    </p:spTree>
    <p:extLst>
      <p:ext uri="{BB962C8B-B14F-4D97-AF65-F5344CB8AC3E}">
        <p14:creationId xmlns:p14="http://schemas.microsoft.com/office/powerpoint/2010/main" val="3112803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市場｜EC市場のニーズ全体図</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tIns="18000" rIns="50400" bIns="18000" anchor="t">
            <a:spAutoFit/>
          </a:bodyPr>
          <a:lstStyle/>
          <a:p>
            <a:pPr algn="l">
              <a:lnSpc>
                <a:spcPct val="135000"/>
              </a:lnSpc>
            </a:pPr>
            <a:r>
              <a:rPr sz="1400">
                <a:solidFill>
                  <a:srgbClr val="333333"/>
                </a:solidFill>
                <a:latin typeface="メイリオ"/>
                <a:ea typeface="メイリオ"/>
                <a:cs typeface="メイリオ"/>
              </a:rPr>
              <a:t>国内BtoC-EC市場は拡大を続けているが、物販系のEC化率はまだ1割弱。</a:t>
            </a:r>
          </a:p>
          <a:p>
            <a:pPr algn="l">
              <a:lnSpc>
                <a:spcPct val="135000"/>
              </a:lnSpc>
            </a:pPr>
            <a:r>
              <a:rPr sz="1400">
                <a:solidFill>
                  <a:srgbClr val="333333"/>
                </a:solidFill>
                <a:latin typeface="メイリオ"/>
                <a:ea typeface="メイリオ"/>
                <a:cs typeface="メイリオ"/>
              </a:rPr>
              <a:t>市場は伸びている。伸びていないのは、取りこぼしを回収する設計。</a:t>
            </a:r>
          </a:p>
        </p:txBody>
      </p:sp>
      <p:cxnSp>
        <p:nvCxnSpPr>
          <p:cNvPr id="47" name="Connector 46"/>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424800" y="1679264"/>
            <a:ext cx="2942400" cy="1655999"/>
          </a:xfrm>
          <a:prstGeom prst="roundRect">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24800" y="1787263"/>
            <a:ext cx="2942400" cy="288000"/>
          </a:xfrm>
          <a:prstGeom prst="rect">
            <a:avLst/>
          </a:prstGeom>
          <a:noFill/>
        </p:spPr>
        <p:txBody>
          <a:bodyPr wrap="square" lIns="50400" tIns="18000" rIns="50400" bIns="18000" anchor="ctr">
            <a:spAutoFit/>
          </a:bodyPr>
          <a:lstStyle/>
          <a:p>
            <a:pPr algn="ctr"/>
            <a:r>
              <a:rPr sz="1400" b="1">
                <a:solidFill>
                  <a:srgbClr val="1F285A"/>
                </a:solidFill>
                <a:latin typeface="メイリオ"/>
                <a:ea typeface="メイリオ"/>
                <a:cs typeface="メイリオ"/>
              </a:rPr>
              <a:t>BtoC-EC市場全体</a:t>
            </a:r>
          </a:p>
        </p:txBody>
      </p:sp>
      <p:sp>
        <p:nvSpPr>
          <p:cNvPr id="50" name="TextBox 49"/>
          <p:cNvSpPr txBox="1"/>
          <p:nvPr/>
        </p:nvSpPr>
        <p:spPr>
          <a:xfrm>
            <a:off x="424800" y="2129264"/>
            <a:ext cx="2942400" cy="612000"/>
          </a:xfrm>
          <a:prstGeom prst="rect">
            <a:avLst/>
          </a:prstGeom>
          <a:noFill/>
        </p:spPr>
        <p:txBody>
          <a:bodyPr wrap="square" lIns="50400" tIns="18000" rIns="50400" bIns="18000" anchor="ctr">
            <a:spAutoFit/>
          </a:bodyPr>
          <a:lstStyle/>
          <a:p>
            <a:pPr algn="ctr"/>
            <a:r>
              <a:rPr sz="3400" b="1">
                <a:solidFill>
                  <a:srgbClr val="1F285A"/>
                </a:solidFill>
                <a:latin typeface="メイリオ"/>
                <a:ea typeface="メイリオ"/>
                <a:cs typeface="メイリオ"/>
              </a:rPr>
              <a:t>26.1</a:t>
            </a:r>
            <a:r>
              <a:rPr sz="1600" b="1">
                <a:solidFill>
                  <a:srgbClr val="1F285A"/>
                </a:solidFill>
                <a:latin typeface="メイリオ"/>
                <a:ea typeface="メイリオ"/>
                <a:cs typeface="メイリオ"/>
              </a:rPr>
              <a:t> 兆円</a:t>
            </a:r>
          </a:p>
        </p:txBody>
      </p:sp>
      <p:sp>
        <p:nvSpPr>
          <p:cNvPr id="51" name="TextBox 50"/>
          <p:cNvSpPr txBox="1"/>
          <p:nvPr/>
        </p:nvSpPr>
        <p:spPr>
          <a:xfrm>
            <a:off x="532800" y="2831264"/>
            <a:ext cx="2726400" cy="396000"/>
          </a:xfrm>
          <a:prstGeom prst="rect">
            <a:avLst/>
          </a:prstGeom>
          <a:noFill/>
        </p:spPr>
        <p:txBody>
          <a:bodyPr wrap="square" lIns="50400" tIns="18000" rIns="50400" bIns="18000" anchor="ctr">
            <a:spAutoFit/>
          </a:bodyPr>
          <a:lstStyle/>
          <a:p>
            <a:pPr algn="ctr">
              <a:lnSpc>
                <a:spcPct val="125000"/>
              </a:lnSpc>
            </a:pPr>
            <a:r>
              <a:rPr sz="1200">
                <a:solidFill>
                  <a:srgbClr val="333333"/>
                </a:solidFill>
                <a:latin typeface="メイリオ"/>
                <a:ea typeface="メイリオ"/>
                <a:cs typeface="メイリオ"/>
              </a:rPr>
              <a:t>前年比 +5.1%（前年24.8兆円）</a:t>
            </a:r>
          </a:p>
        </p:txBody>
      </p:sp>
      <p:sp>
        <p:nvSpPr>
          <p:cNvPr id="52" name="Rounded Rectangle 51"/>
          <p:cNvSpPr/>
          <p:nvPr/>
        </p:nvSpPr>
        <p:spPr>
          <a:xfrm>
            <a:off x="3475200" y="1679264"/>
            <a:ext cx="2942400" cy="1655999"/>
          </a:xfrm>
          <a:prstGeom prst="roundRect">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475200" y="1787263"/>
            <a:ext cx="2942400" cy="288000"/>
          </a:xfrm>
          <a:prstGeom prst="rect">
            <a:avLst/>
          </a:prstGeom>
          <a:noFill/>
        </p:spPr>
        <p:txBody>
          <a:bodyPr wrap="square" lIns="50400" tIns="18000" rIns="50400" bIns="18000" anchor="ctr">
            <a:spAutoFit/>
          </a:bodyPr>
          <a:lstStyle/>
          <a:p>
            <a:pPr algn="ctr"/>
            <a:r>
              <a:rPr sz="1400" b="1">
                <a:solidFill>
                  <a:srgbClr val="1F285A"/>
                </a:solidFill>
                <a:latin typeface="メイリオ"/>
                <a:ea typeface="メイリオ"/>
                <a:cs typeface="メイリオ"/>
              </a:rPr>
              <a:t>物販系分野</a:t>
            </a:r>
          </a:p>
        </p:txBody>
      </p:sp>
      <p:sp>
        <p:nvSpPr>
          <p:cNvPr id="54" name="TextBox 53"/>
          <p:cNvSpPr txBox="1"/>
          <p:nvPr/>
        </p:nvSpPr>
        <p:spPr>
          <a:xfrm>
            <a:off x="3475200" y="2129264"/>
            <a:ext cx="2942400" cy="612000"/>
          </a:xfrm>
          <a:prstGeom prst="rect">
            <a:avLst/>
          </a:prstGeom>
          <a:noFill/>
        </p:spPr>
        <p:txBody>
          <a:bodyPr wrap="square" lIns="50400" tIns="18000" rIns="50400" bIns="18000" anchor="ctr">
            <a:spAutoFit/>
          </a:bodyPr>
          <a:lstStyle/>
          <a:p>
            <a:pPr algn="ctr"/>
            <a:r>
              <a:rPr sz="3400" b="1">
                <a:solidFill>
                  <a:srgbClr val="1F285A"/>
                </a:solidFill>
                <a:latin typeface="メイリオ"/>
                <a:ea typeface="メイリオ"/>
                <a:cs typeface="メイリオ"/>
              </a:rPr>
              <a:t>15.2</a:t>
            </a:r>
            <a:r>
              <a:rPr sz="1600" b="1">
                <a:solidFill>
                  <a:srgbClr val="1F285A"/>
                </a:solidFill>
                <a:latin typeface="メイリオ"/>
                <a:ea typeface="メイリオ"/>
                <a:cs typeface="メイリオ"/>
              </a:rPr>
              <a:t> 兆円</a:t>
            </a:r>
          </a:p>
        </p:txBody>
      </p:sp>
      <p:sp>
        <p:nvSpPr>
          <p:cNvPr id="55" name="TextBox 54"/>
          <p:cNvSpPr txBox="1"/>
          <p:nvPr/>
        </p:nvSpPr>
        <p:spPr>
          <a:xfrm>
            <a:off x="3583200" y="2831264"/>
            <a:ext cx="2726400" cy="396000"/>
          </a:xfrm>
          <a:prstGeom prst="rect">
            <a:avLst/>
          </a:prstGeom>
          <a:noFill/>
        </p:spPr>
        <p:txBody>
          <a:bodyPr wrap="square" lIns="50400" tIns="18000" rIns="50400" bIns="18000" anchor="ctr">
            <a:spAutoFit/>
          </a:bodyPr>
          <a:lstStyle/>
          <a:p>
            <a:pPr algn="ctr">
              <a:lnSpc>
                <a:spcPct val="125000"/>
              </a:lnSpc>
            </a:pPr>
            <a:r>
              <a:rPr sz="1200">
                <a:solidFill>
                  <a:srgbClr val="333333"/>
                </a:solidFill>
                <a:latin typeface="メイリオ"/>
                <a:ea typeface="メイリオ"/>
                <a:cs typeface="メイリオ"/>
              </a:rPr>
              <a:t>前年比 +3.70%（15兆2,194億円）</a:t>
            </a:r>
          </a:p>
        </p:txBody>
      </p:sp>
      <p:sp>
        <p:nvSpPr>
          <p:cNvPr id="56" name="Rounded Rectangle 55"/>
          <p:cNvSpPr/>
          <p:nvPr/>
        </p:nvSpPr>
        <p:spPr>
          <a:xfrm>
            <a:off x="6525600" y="1679264"/>
            <a:ext cx="2942400" cy="1655999"/>
          </a:xfrm>
          <a:prstGeom prst="roundRect">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525600" y="1787263"/>
            <a:ext cx="2942400" cy="288000"/>
          </a:xfrm>
          <a:prstGeom prst="rect">
            <a:avLst/>
          </a:prstGeom>
          <a:noFill/>
        </p:spPr>
        <p:txBody>
          <a:bodyPr wrap="square" lIns="50400" tIns="18000" rIns="50400" bIns="18000" anchor="ctr">
            <a:spAutoFit/>
          </a:bodyPr>
          <a:lstStyle/>
          <a:p>
            <a:pPr algn="ctr"/>
            <a:r>
              <a:rPr sz="1400" b="1">
                <a:solidFill>
                  <a:srgbClr val="ED7D31"/>
                </a:solidFill>
                <a:latin typeface="メイリオ"/>
                <a:ea typeface="メイリオ"/>
                <a:cs typeface="メイリオ"/>
              </a:rPr>
              <a:t>物販系のEC化率</a:t>
            </a:r>
          </a:p>
        </p:txBody>
      </p:sp>
      <p:sp>
        <p:nvSpPr>
          <p:cNvPr id="58" name="TextBox 57"/>
          <p:cNvSpPr txBox="1"/>
          <p:nvPr/>
        </p:nvSpPr>
        <p:spPr>
          <a:xfrm>
            <a:off x="6525600" y="2129264"/>
            <a:ext cx="2942400" cy="612000"/>
          </a:xfrm>
          <a:prstGeom prst="rect">
            <a:avLst/>
          </a:prstGeom>
          <a:noFill/>
        </p:spPr>
        <p:txBody>
          <a:bodyPr wrap="square" lIns="50400" tIns="18000" rIns="50400" bIns="18000" anchor="ctr">
            <a:spAutoFit/>
          </a:bodyPr>
          <a:lstStyle/>
          <a:p>
            <a:pPr algn="ctr"/>
            <a:r>
              <a:rPr sz="3400" b="1">
                <a:solidFill>
                  <a:srgbClr val="ED7D31"/>
                </a:solidFill>
                <a:latin typeface="メイリオ"/>
                <a:ea typeface="メイリオ"/>
                <a:cs typeface="メイリオ"/>
              </a:rPr>
              <a:t>9.78</a:t>
            </a:r>
            <a:r>
              <a:rPr sz="1600" b="1">
                <a:solidFill>
                  <a:srgbClr val="ED7D31"/>
                </a:solidFill>
                <a:latin typeface="メイリオ"/>
                <a:ea typeface="メイリオ"/>
                <a:cs typeface="メイリオ"/>
              </a:rPr>
              <a:t> %</a:t>
            </a:r>
          </a:p>
        </p:txBody>
      </p:sp>
      <p:sp>
        <p:nvSpPr>
          <p:cNvPr id="59" name="TextBox 58"/>
          <p:cNvSpPr txBox="1"/>
          <p:nvPr/>
        </p:nvSpPr>
        <p:spPr>
          <a:xfrm>
            <a:off x="6633600" y="2831264"/>
            <a:ext cx="2726400" cy="396000"/>
          </a:xfrm>
          <a:prstGeom prst="rect">
            <a:avLst/>
          </a:prstGeom>
          <a:noFill/>
        </p:spPr>
        <p:txBody>
          <a:bodyPr wrap="square" lIns="50400" tIns="18000" rIns="50400" bIns="18000" anchor="ctr">
            <a:spAutoFit/>
          </a:bodyPr>
          <a:lstStyle/>
          <a:p>
            <a:pPr algn="ctr">
              <a:lnSpc>
                <a:spcPct val="125000"/>
              </a:lnSpc>
            </a:pPr>
            <a:r>
              <a:rPr sz="1200">
                <a:solidFill>
                  <a:srgbClr val="333333"/>
                </a:solidFill>
                <a:latin typeface="メイリオ"/>
                <a:ea typeface="メイリオ"/>
                <a:cs typeface="メイリオ"/>
              </a:rPr>
              <a:t>前年比 +0.40pt</a:t>
            </a:r>
          </a:p>
        </p:txBody>
      </p:sp>
      <p:sp>
        <p:nvSpPr>
          <p:cNvPr id="60" name="Rounded Rectangle 59"/>
          <p:cNvSpPr/>
          <p:nvPr/>
        </p:nvSpPr>
        <p:spPr>
          <a:xfrm>
            <a:off x="424800" y="3515263"/>
            <a:ext cx="9043200" cy="413999"/>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800" b="1">
                <a:solidFill>
                  <a:srgbClr val="FFFFFF"/>
                </a:solidFill>
                <a:latin typeface="メイリオ"/>
                <a:ea typeface="メイリオ"/>
                <a:cs typeface="メイリオ"/>
              </a:rPr>
              <a:t>EC化率 9.78%　＝　まだ9割はオフライン。市場そのものはまだ伸びる</a:t>
            </a:r>
          </a:p>
        </p:txBody>
      </p:sp>
      <p:sp>
        <p:nvSpPr>
          <p:cNvPr id="61" name="TextBox 60"/>
          <p:cNvSpPr txBox="1"/>
          <p:nvPr/>
        </p:nvSpPr>
        <p:spPr>
          <a:xfrm>
            <a:off x="432000" y="4123507"/>
            <a:ext cx="9043200" cy="288000"/>
          </a:xfrm>
          <a:prstGeom prst="rect">
            <a:avLst/>
          </a:prstGeom>
          <a:noFill/>
        </p:spPr>
        <p:txBody>
          <a:bodyPr wrap="square" lIns="50400" tIns="18000" rIns="50400" bIns="18000" anchor="ctr">
            <a:spAutoFit/>
          </a:bodyPr>
          <a:lstStyle/>
          <a:p>
            <a:pPr algn="l"/>
            <a:r>
              <a:rPr sz="1400" b="1" dirty="0">
                <a:solidFill>
                  <a:srgbClr val="002060"/>
                </a:solidFill>
                <a:latin typeface="メイリオ"/>
                <a:ea typeface="メイリオ"/>
                <a:cs typeface="メイリオ"/>
              </a:rPr>
              <a:t>── それでも1社あたりの獲得効率は下がっている</a:t>
            </a:r>
          </a:p>
        </p:txBody>
      </p:sp>
      <p:sp>
        <p:nvSpPr>
          <p:cNvPr id="62" name="Rounded Rectangle 61"/>
          <p:cNvSpPr/>
          <p:nvPr/>
        </p:nvSpPr>
        <p:spPr>
          <a:xfrm>
            <a:off x="432000" y="4602736"/>
            <a:ext cx="2870400" cy="1152000"/>
          </a:xfrm>
          <a:prstGeom prst="roundRect">
            <a:avLst/>
          </a:prstGeom>
          <a:solidFill>
            <a:srgbClr val="EEF2F9"/>
          </a:solidFill>
          <a:ln w="15875">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22000" y="4719837"/>
            <a:ext cx="2690400" cy="251795"/>
          </a:xfrm>
          <a:prstGeom prst="rect">
            <a:avLst/>
          </a:prstGeom>
          <a:noFill/>
        </p:spPr>
        <p:txBody>
          <a:bodyPr wrap="square" lIns="50400" tIns="18000" rIns="50400" bIns="18000" anchor="ctr">
            <a:spAutoFit/>
          </a:bodyPr>
          <a:lstStyle/>
          <a:p>
            <a:pPr algn="ctr"/>
            <a:r>
              <a:rPr sz="1400" b="1" dirty="0" err="1">
                <a:solidFill>
                  <a:srgbClr val="888888"/>
                </a:solidFill>
                <a:latin typeface="メイリオ"/>
                <a:ea typeface="メイリオ"/>
                <a:cs typeface="メイリオ"/>
              </a:rPr>
              <a:t>流入は買える</a:t>
            </a:r>
            <a:endParaRPr sz="1400" b="1" dirty="0">
              <a:solidFill>
                <a:srgbClr val="888888"/>
              </a:solidFill>
              <a:latin typeface="メイリオ"/>
              <a:ea typeface="メイリオ"/>
              <a:cs typeface="メイリオ"/>
            </a:endParaRPr>
          </a:p>
        </p:txBody>
      </p:sp>
      <p:sp>
        <p:nvSpPr>
          <p:cNvPr id="64" name="TextBox 63"/>
          <p:cNvSpPr txBox="1"/>
          <p:nvPr/>
        </p:nvSpPr>
        <p:spPr>
          <a:xfrm>
            <a:off x="432000" y="5016736"/>
            <a:ext cx="2870400" cy="502633"/>
          </a:xfrm>
          <a:prstGeom prst="rect">
            <a:avLst/>
          </a:prstGeom>
          <a:noFill/>
        </p:spPr>
        <p:txBody>
          <a:bodyPr wrap="square" lIns="50400" tIns="18000" rIns="50400" bIns="18000" anchor="t">
            <a:spAutoFit/>
          </a:bodyPr>
          <a:lstStyle/>
          <a:p>
            <a:pPr algn="ctr">
              <a:lnSpc>
                <a:spcPct val="130000"/>
              </a:lnSpc>
            </a:pPr>
            <a:r>
              <a:rPr sz="1200">
                <a:solidFill>
                  <a:srgbClr val="333333"/>
                </a:solidFill>
                <a:latin typeface="メイリオ"/>
                <a:ea typeface="メイリオ"/>
                <a:cs typeface="メイリオ"/>
              </a:rPr>
              <a:t>広告予算を積めば人は連れてこられる。</a:t>
            </a:r>
          </a:p>
          <a:p>
            <a:pPr algn="ctr">
              <a:lnSpc>
                <a:spcPct val="130000"/>
              </a:lnSpc>
            </a:pPr>
            <a:r>
              <a:rPr sz="1200">
                <a:solidFill>
                  <a:srgbClr val="333333"/>
                </a:solidFill>
                <a:latin typeface="メイリオ"/>
                <a:ea typeface="メイリオ"/>
                <a:cs typeface="メイリオ"/>
              </a:rPr>
              <a:t>ただし単価は上がり続けている</a:t>
            </a:r>
          </a:p>
        </p:txBody>
      </p:sp>
      <p:sp>
        <p:nvSpPr>
          <p:cNvPr id="65" name="Right Arrow 64"/>
          <p:cNvSpPr/>
          <p:nvPr/>
        </p:nvSpPr>
        <p:spPr>
          <a:xfrm>
            <a:off x="3333583" y="5106736"/>
            <a:ext cx="153634" cy="19800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3518400" y="4602736"/>
            <a:ext cx="2870400" cy="1152000"/>
          </a:xfrm>
          <a:prstGeom prst="roundRect">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608400" y="4710735"/>
            <a:ext cx="2690400" cy="270000"/>
          </a:xfrm>
          <a:prstGeom prst="rect">
            <a:avLst/>
          </a:prstGeom>
          <a:noFill/>
        </p:spPr>
        <p:txBody>
          <a:bodyPr wrap="square" lIns="50400" tIns="18000" rIns="50400" bIns="18000" anchor="ctr">
            <a:spAutoFit/>
          </a:bodyPr>
          <a:lstStyle/>
          <a:p>
            <a:pPr algn="ctr"/>
            <a:r>
              <a:rPr sz="1400" b="1">
                <a:solidFill>
                  <a:srgbClr val="C00000"/>
                </a:solidFill>
                <a:latin typeface="メイリオ"/>
                <a:ea typeface="メイリオ"/>
                <a:cs typeface="メイリオ"/>
              </a:rPr>
              <a:t>しかし回収できていない</a:t>
            </a:r>
          </a:p>
        </p:txBody>
      </p:sp>
      <p:sp>
        <p:nvSpPr>
          <p:cNvPr id="68" name="TextBox 67"/>
          <p:cNvSpPr txBox="1"/>
          <p:nvPr/>
        </p:nvSpPr>
        <p:spPr>
          <a:xfrm>
            <a:off x="3518400" y="5016736"/>
            <a:ext cx="2870400" cy="502633"/>
          </a:xfrm>
          <a:prstGeom prst="rect">
            <a:avLst/>
          </a:prstGeom>
          <a:noFill/>
        </p:spPr>
        <p:txBody>
          <a:bodyPr wrap="square" lIns="50400" tIns="18000" rIns="50400" bIns="18000" anchor="t">
            <a:spAutoFit/>
          </a:bodyPr>
          <a:lstStyle/>
          <a:p>
            <a:pPr algn="ctr">
              <a:lnSpc>
                <a:spcPct val="130000"/>
              </a:lnSpc>
            </a:pPr>
            <a:r>
              <a:rPr sz="1200">
                <a:solidFill>
                  <a:srgbClr val="333333"/>
                </a:solidFill>
                <a:latin typeface="メイリオ"/>
                <a:ea typeface="メイリオ"/>
                <a:cs typeface="メイリオ"/>
              </a:rPr>
              <a:t>連れてきた人の6〜7割がカゴで消え、</a:t>
            </a:r>
          </a:p>
          <a:p>
            <a:pPr algn="ctr">
              <a:lnSpc>
                <a:spcPct val="130000"/>
              </a:lnSpc>
            </a:pPr>
            <a:r>
              <a:rPr sz="1200">
                <a:solidFill>
                  <a:srgbClr val="333333"/>
                </a:solidFill>
                <a:latin typeface="メイリオ"/>
                <a:ea typeface="メイリオ"/>
                <a:cs typeface="メイリオ"/>
              </a:rPr>
              <a:t>買った人の6〜7割が二度と戻らない</a:t>
            </a:r>
          </a:p>
        </p:txBody>
      </p:sp>
      <p:sp>
        <p:nvSpPr>
          <p:cNvPr id="69" name="Right Arrow 68"/>
          <p:cNvSpPr/>
          <p:nvPr/>
        </p:nvSpPr>
        <p:spPr>
          <a:xfrm>
            <a:off x="6419983" y="5106736"/>
            <a:ext cx="153634" cy="19800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6604800" y="4602736"/>
            <a:ext cx="2870400" cy="1152000"/>
          </a:xfrm>
          <a:prstGeom prst="roundRect">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694800" y="4710735"/>
            <a:ext cx="2690400" cy="270000"/>
          </a:xfrm>
          <a:prstGeom prst="rect">
            <a:avLst/>
          </a:prstGeom>
          <a:noFill/>
        </p:spPr>
        <p:txBody>
          <a:bodyPr wrap="square" lIns="50400" tIns="18000" rIns="50400" bIns="18000" anchor="ctr">
            <a:spAutoFit/>
          </a:bodyPr>
          <a:lstStyle/>
          <a:p>
            <a:pPr algn="ctr"/>
            <a:r>
              <a:rPr sz="1400" b="1">
                <a:solidFill>
                  <a:srgbClr val="ED7D31"/>
                </a:solidFill>
                <a:latin typeface="メイリオ"/>
                <a:ea typeface="メイリオ"/>
                <a:cs typeface="メイリオ"/>
              </a:rPr>
              <a:t>＝ 伸びしろは回収側</a:t>
            </a:r>
          </a:p>
        </p:txBody>
      </p:sp>
      <p:sp>
        <p:nvSpPr>
          <p:cNvPr id="72" name="TextBox 71"/>
          <p:cNvSpPr txBox="1"/>
          <p:nvPr/>
        </p:nvSpPr>
        <p:spPr>
          <a:xfrm>
            <a:off x="6604800" y="5016736"/>
            <a:ext cx="2870400" cy="502633"/>
          </a:xfrm>
          <a:prstGeom prst="rect">
            <a:avLst/>
          </a:prstGeom>
          <a:noFill/>
        </p:spPr>
        <p:txBody>
          <a:bodyPr wrap="square" lIns="50400" tIns="18000" rIns="50400" bIns="18000" anchor="t">
            <a:spAutoFit/>
          </a:bodyPr>
          <a:lstStyle/>
          <a:p>
            <a:pPr algn="ctr">
              <a:lnSpc>
                <a:spcPct val="130000"/>
              </a:lnSpc>
            </a:pPr>
            <a:r>
              <a:rPr sz="1200">
                <a:solidFill>
                  <a:srgbClr val="333333"/>
                </a:solidFill>
                <a:latin typeface="メイリオ"/>
                <a:ea typeface="メイリオ"/>
                <a:cs typeface="メイリオ"/>
              </a:rPr>
              <a:t>同じ流入のまま、</a:t>
            </a:r>
          </a:p>
          <a:p>
            <a:pPr algn="ctr">
              <a:lnSpc>
                <a:spcPct val="130000"/>
              </a:lnSpc>
            </a:pPr>
            <a:r>
              <a:rPr sz="1200">
                <a:solidFill>
                  <a:srgbClr val="333333"/>
                </a:solidFill>
                <a:latin typeface="メイリオ"/>
                <a:ea typeface="メイリオ"/>
                <a:cs typeface="メイリオ"/>
              </a:rPr>
              <a:t>取りこぼしを拾い直す余地がある</a:t>
            </a:r>
          </a:p>
        </p:txBody>
      </p:sp>
      <p:sp>
        <p:nvSpPr>
          <p:cNvPr id="73" name="TextBox 72"/>
          <p:cNvSpPr txBox="1"/>
          <p:nvPr/>
        </p:nvSpPr>
        <p:spPr>
          <a:xfrm>
            <a:off x="432000" y="6353192"/>
            <a:ext cx="9043200" cy="177929"/>
          </a:xfrm>
          <a:prstGeom prst="rect">
            <a:avLst/>
          </a:prstGeom>
          <a:noFill/>
        </p:spPr>
        <p:txBody>
          <a:bodyPr wrap="square" lIns="50400" tIns="18000" rIns="50400" bIns="18000" anchor="t">
            <a:spAutoFit/>
          </a:bodyPr>
          <a:lstStyle/>
          <a:p>
            <a:pPr algn="l">
              <a:lnSpc>
                <a:spcPct val="120000"/>
              </a:lnSpc>
            </a:pPr>
            <a:r>
              <a:rPr sz="800" dirty="0">
                <a:solidFill>
                  <a:srgbClr val="888888"/>
                </a:solidFill>
                <a:latin typeface="メイリオ"/>
                <a:ea typeface="メイリオ"/>
                <a:cs typeface="メイリオ"/>
              </a:rPr>
              <a:t>業界水準｜出典：経済産業省「令和6年度 電子商取引に関する市場調査」2025年8月26日公表。毎年8月末公表のため、提案時は最新年度（令和7年度）を確認すること</a:t>
            </a:r>
          </a:p>
        </p:txBody>
      </p:sp>
    </p:spTree>
    <p:extLst>
      <p:ext uri="{BB962C8B-B14F-4D97-AF65-F5344CB8AC3E}">
        <p14:creationId xmlns:p14="http://schemas.microsoft.com/office/powerpoint/2010/main" val="406932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市場｜獲得単価の推移</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tIns="18000" rIns="50400" bIns="18000" anchor="t">
            <a:spAutoFit/>
          </a:bodyPr>
          <a:lstStyle/>
          <a:p>
            <a:pPr algn="l">
              <a:lnSpc>
                <a:spcPct val="135000"/>
              </a:lnSpc>
            </a:pPr>
            <a:r>
              <a:rPr sz="1400">
                <a:solidFill>
                  <a:srgbClr val="333333"/>
                </a:solidFill>
                <a:latin typeface="メイリオ"/>
                <a:ea typeface="メイリオ"/>
                <a:cs typeface="メイリオ"/>
              </a:rPr>
              <a:t>ネット広告費は総広告費の50.2%と初の過半数。予算の半分以上が同じ枠に集中している。</a:t>
            </a:r>
          </a:p>
          <a:p>
            <a:pPr algn="l">
              <a:lnSpc>
                <a:spcPct val="135000"/>
              </a:lnSpc>
            </a:pPr>
            <a:r>
              <a:rPr sz="1400">
                <a:solidFill>
                  <a:srgbClr val="333333"/>
                </a:solidFill>
                <a:latin typeface="メイリオ"/>
                <a:ea typeface="メイリオ"/>
                <a:cs typeface="メイリオ"/>
              </a:rPr>
              <a:t>だから単価は下がらない。集める側の効率はもう上がりにくい。</a:t>
            </a:r>
          </a:p>
        </p:txBody>
      </p:sp>
      <p:sp>
        <p:nvSpPr>
          <p:cNvPr id="47" name="Rounded Rectangle 46"/>
          <p:cNvSpPr/>
          <p:nvPr/>
        </p:nvSpPr>
        <p:spPr>
          <a:xfrm>
            <a:off x="432000" y="1548000"/>
            <a:ext cx="2942400" cy="1655999"/>
          </a:xfrm>
          <a:prstGeom prst="round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2000" y="1655999"/>
            <a:ext cx="2942400" cy="288000"/>
          </a:xfrm>
          <a:prstGeom prst="rect">
            <a:avLst/>
          </a:prstGeom>
          <a:noFill/>
        </p:spPr>
        <p:txBody>
          <a:bodyPr wrap="square" lIns="50400" tIns="18000" rIns="50400" bIns="18000" anchor="ctr">
            <a:spAutoFit/>
          </a:bodyPr>
          <a:lstStyle/>
          <a:p>
            <a:pPr algn="ctr"/>
            <a:r>
              <a:rPr sz="1400" b="1">
                <a:solidFill>
                  <a:srgbClr val="C00000"/>
                </a:solidFill>
                <a:latin typeface="メイリオ"/>
                <a:ea typeface="メイリオ"/>
                <a:cs typeface="メイリオ"/>
              </a:rPr>
              <a:t>検索広告のCPC</a:t>
            </a:r>
          </a:p>
        </p:txBody>
      </p:sp>
      <p:sp>
        <p:nvSpPr>
          <p:cNvPr id="49" name="TextBox 48"/>
          <p:cNvSpPr txBox="1"/>
          <p:nvPr/>
        </p:nvSpPr>
        <p:spPr>
          <a:xfrm>
            <a:off x="432000" y="1998000"/>
            <a:ext cx="2942400" cy="612000"/>
          </a:xfrm>
          <a:prstGeom prst="rect">
            <a:avLst/>
          </a:prstGeom>
          <a:noFill/>
        </p:spPr>
        <p:txBody>
          <a:bodyPr wrap="square" lIns="50400" tIns="18000" rIns="50400" bIns="18000" anchor="ctr">
            <a:spAutoFit/>
          </a:bodyPr>
          <a:lstStyle/>
          <a:p>
            <a:pPr algn="ctr"/>
            <a:r>
              <a:rPr sz="3200" b="1">
                <a:solidFill>
                  <a:srgbClr val="C00000"/>
                </a:solidFill>
                <a:latin typeface="メイリオ"/>
                <a:ea typeface="メイリオ"/>
                <a:cs typeface="メイリオ"/>
              </a:rPr>
              <a:t>168</a:t>
            </a:r>
            <a:r>
              <a:rPr sz="1500" b="1">
                <a:solidFill>
                  <a:srgbClr val="C00000"/>
                </a:solidFill>
                <a:latin typeface="メイリオ"/>
                <a:ea typeface="メイリオ"/>
                <a:cs typeface="メイリオ"/>
              </a:rPr>
              <a:t> %</a:t>
            </a:r>
          </a:p>
        </p:txBody>
      </p:sp>
      <p:sp>
        <p:nvSpPr>
          <p:cNvPr id="50" name="TextBox 49"/>
          <p:cNvSpPr txBox="1"/>
          <p:nvPr/>
        </p:nvSpPr>
        <p:spPr>
          <a:xfrm>
            <a:off x="540000" y="2700000"/>
            <a:ext cx="2726400" cy="396000"/>
          </a:xfrm>
          <a:prstGeom prst="rect">
            <a:avLst/>
          </a:prstGeom>
          <a:noFill/>
        </p:spPr>
        <p:txBody>
          <a:bodyPr wrap="square" lIns="50400" tIns="18000" rIns="50400" bIns="18000" anchor="ctr">
            <a:spAutoFit/>
          </a:bodyPr>
          <a:lstStyle/>
          <a:p>
            <a:pPr algn="ctr">
              <a:lnSpc>
                <a:spcPct val="125000"/>
              </a:lnSpc>
            </a:pPr>
            <a:r>
              <a:rPr sz="1200">
                <a:solidFill>
                  <a:srgbClr val="333333"/>
                </a:solidFill>
                <a:latin typeface="メイリオ"/>
                <a:ea typeface="メイリオ"/>
                <a:cs typeface="メイリオ"/>
              </a:rPr>
              <a:t>10年前との比較（約1.7倍）</a:t>
            </a:r>
          </a:p>
        </p:txBody>
      </p:sp>
      <p:sp>
        <p:nvSpPr>
          <p:cNvPr id="51" name="Rounded Rectangle 50"/>
          <p:cNvSpPr/>
          <p:nvPr/>
        </p:nvSpPr>
        <p:spPr>
          <a:xfrm>
            <a:off x="3482400" y="1548000"/>
            <a:ext cx="2942400" cy="1655999"/>
          </a:xfrm>
          <a:prstGeom prst="roundRect">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482400" y="1655999"/>
            <a:ext cx="2942400" cy="288000"/>
          </a:xfrm>
          <a:prstGeom prst="rect">
            <a:avLst/>
          </a:prstGeom>
          <a:noFill/>
        </p:spPr>
        <p:txBody>
          <a:bodyPr wrap="square" lIns="50400" tIns="18000" rIns="50400" bIns="18000" anchor="ctr">
            <a:spAutoFit/>
          </a:bodyPr>
          <a:lstStyle/>
          <a:p>
            <a:pPr algn="ctr"/>
            <a:r>
              <a:rPr sz="1400" b="1">
                <a:solidFill>
                  <a:srgbClr val="1F285A"/>
                </a:solidFill>
                <a:latin typeface="メイリオ"/>
                <a:ea typeface="メイリオ"/>
                <a:cs typeface="メイリオ"/>
              </a:rPr>
              <a:t>インターネット広告費</a:t>
            </a:r>
          </a:p>
        </p:txBody>
      </p:sp>
      <p:sp>
        <p:nvSpPr>
          <p:cNvPr id="53" name="TextBox 52"/>
          <p:cNvSpPr txBox="1"/>
          <p:nvPr/>
        </p:nvSpPr>
        <p:spPr>
          <a:xfrm>
            <a:off x="3482400" y="1998000"/>
            <a:ext cx="2942400" cy="612000"/>
          </a:xfrm>
          <a:prstGeom prst="rect">
            <a:avLst/>
          </a:prstGeom>
          <a:noFill/>
        </p:spPr>
        <p:txBody>
          <a:bodyPr wrap="square" lIns="50400" tIns="18000" rIns="50400" bIns="18000" anchor="ctr">
            <a:spAutoFit/>
          </a:bodyPr>
          <a:lstStyle/>
          <a:p>
            <a:pPr algn="ctr"/>
            <a:r>
              <a:rPr sz="3200" b="1">
                <a:solidFill>
                  <a:srgbClr val="1F285A"/>
                </a:solidFill>
                <a:latin typeface="メイリオ"/>
                <a:ea typeface="メイリオ"/>
                <a:cs typeface="メイリオ"/>
              </a:rPr>
              <a:t>4兆459</a:t>
            </a:r>
            <a:r>
              <a:rPr sz="1500" b="1">
                <a:solidFill>
                  <a:srgbClr val="1F285A"/>
                </a:solidFill>
                <a:latin typeface="メイリオ"/>
                <a:ea typeface="メイリオ"/>
                <a:cs typeface="メイリオ"/>
              </a:rPr>
              <a:t> 億円</a:t>
            </a:r>
          </a:p>
        </p:txBody>
      </p:sp>
      <p:sp>
        <p:nvSpPr>
          <p:cNvPr id="54" name="TextBox 53"/>
          <p:cNvSpPr txBox="1"/>
          <p:nvPr/>
        </p:nvSpPr>
        <p:spPr>
          <a:xfrm>
            <a:off x="3590400" y="2700000"/>
            <a:ext cx="2726400" cy="396000"/>
          </a:xfrm>
          <a:prstGeom prst="rect">
            <a:avLst/>
          </a:prstGeom>
          <a:noFill/>
        </p:spPr>
        <p:txBody>
          <a:bodyPr wrap="square" lIns="50400" tIns="18000" rIns="50400" bIns="18000" anchor="ctr">
            <a:spAutoFit/>
          </a:bodyPr>
          <a:lstStyle/>
          <a:p>
            <a:pPr algn="ctr">
              <a:lnSpc>
                <a:spcPct val="125000"/>
              </a:lnSpc>
            </a:pPr>
            <a:r>
              <a:rPr sz="1200">
                <a:solidFill>
                  <a:srgbClr val="333333"/>
                </a:solidFill>
                <a:latin typeface="メイリオ"/>
                <a:ea typeface="メイリオ"/>
                <a:cs typeface="メイリオ"/>
              </a:rPr>
              <a:t>前年比 +10.8%／初の4兆円超</a:t>
            </a:r>
          </a:p>
        </p:txBody>
      </p:sp>
      <p:sp>
        <p:nvSpPr>
          <p:cNvPr id="55" name="Rounded Rectangle 54"/>
          <p:cNvSpPr/>
          <p:nvPr/>
        </p:nvSpPr>
        <p:spPr>
          <a:xfrm>
            <a:off x="6532800" y="1548000"/>
            <a:ext cx="2942400" cy="1655999"/>
          </a:xfrm>
          <a:prstGeom prst="roundRect">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32800" y="1655999"/>
            <a:ext cx="2942400" cy="288000"/>
          </a:xfrm>
          <a:prstGeom prst="rect">
            <a:avLst/>
          </a:prstGeom>
          <a:noFill/>
        </p:spPr>
        <p:txBody>
          <a:bodyPr wrap="square" lIns="50400" tIns="18000" rIns="50400" bIns="18000" anchor="ctr">
            <a:spAutoFit/>
          </a:bodyPr>
          <a:lstStyle/>
          <a:p>
            <a:pPr algn="ctr"/>
            <a:r>
              <a:rPr sz="1400" b="1">
                <a:solidFill>
                  <a:srgbClr val="ED7D31"/>
                </a:solidFill>
                <a:latin typeface="メイリオ"/>
                <a:ea typeface="メイリオ"/>
                <a:cs typeface="メイリオ"/>
              </a:rPr>
              <a:t>総広告費に占める構成比</a:t>
            </a:r>
          </a:p>
        </p:txBody>
      </p:sp>
      <p:sp>
        <p:nvSpPr>
          <p:cNvPr id="57" name="TextBox 56"/>
          <p:cNvSpPr txBox="1"/>
          <p:nvPr/>
        </p:nvSpPr>
        <p:spPr>
          <a:xfrm>
            <a:off x="6532800" y="1998000"/>
            <a:ext cx="2942400" cy="612000"/>
          </a:xfrm>
          <a:prstGeom prst="rect">
            <a:avLst/>
          </a:prstGeom>
          <a:noFill/>
        </p:spPr>
        <p:txBody>
          <a:bodyPr wrap="square" lIns="50400" tIns="18000" rIns="50400" bIns="18000" anchor="ctr">
            <a:spAutoFit/>
          </a:bodyPr>
          <a:lstStyle/>
          <a:p>
            <a:pPr algn="ctr"/>
            <a:r>
              <a:rPr sz="3200" b="1">
                <a:solidFill>
                  <a:srgbClr val="ED7D31"/>
                </a:solidFill>
                <a:latin typeface="メイリオ"/>
                <a:ea typeface="メイリオ"/>
                <a:cs typeface="メイリオ"/>
              </a:rPr>
              <a:t>50.2</a:t>
            </a:r>
            <a:r>
              <a:rPr sz="1500" b="1">
                <a:solidFill>
                  <a:srgbClr val="ED7D31"/>
                </a:solidFill>
                <a:latin typeface="メイリオ"/>
                <a:ea typeface="メイリオ"/>
                <a:cs typeface="メイリオ"/>
              </a:rPr>
              <a:t> %</a:t>
            </a:r>
          </a:p>
        </p:txBody>
      </p:sp>
      <p:sp>
        <p:nvSpPr>
          <p:cNvPr id="58" name="TextBox 57"/>
          <p:cNvSpPr txBox="1"/>
          <p:nvPr/>
        </p:nvSpPr>
        <p:spPr>
          <a:xfrm>
            <a:off x="6640800" y="2700000"/>
            <a:ext cx="2726400" cy="396000"/>
          </a:xfrm>
          <a:prstGeom prst="rect">
            <a:avLst/>
          </a:prstGeom>
          <a:noFill/>
        </p:spPr>
        <p:txBody>
          <a:bodyPr wrap="square" lIns="50400" tIns="18000" rIns="50400" bIns="18000" anchor="ctr">
            <a:spAutoFit/>
          </a:bodyPr>
          <a:lstStyle/>
          <a:p>
            <a:pPr algn="ctr">
              <a:lnSpc>
                <a:spcPct val="125000"/>
              </a:lnSpc>
            </a:pPr>
            <a:r>
              <a:rPr sz="1200">
                <a:solidFill>
                  <a:srgbClr val="333333"/>
                </a:solidFill>
                <a:latin typeface="メイリオ"/>
                <a:ea typeface="メイリオ"/>
                <a:cs typeface="メイリオ"/>
              </a:rPr>
              <a:t>初の過半数</a:t>
            </a:r>
          </a:p>
        </p:txBody>
      </p:sp>
      <p:sp>
        <p:nvSpPr>
          <p:cNvPr id="59" name="Rounded Rectangle 58"/>
          <p:cNvSpPr/>
          <p:nvPr/>
        </p:nvSpPr>
        <p:spPr>
          <a:xfrm>
            <a:off x="432000" y="3383999"/>
            <a:ext cx="9043200" cy="413999"/>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800" b="1">
                <a:solidFill>
                  <a:srgbClr val="FFFFFF"/>
                </a:solidFill>
                <a:latin typeface="メイリオ"/>
                <a:ea typeface="メイリオ"/>
                <a:cs typeface="メイリオ"/>
              </a:rPr>
              <a:t>広告予算の半分以上がネットに集中　＝　枠の奪い合い。単価は下がらない</a:t>
            </a:r>
          </a:p>
        </p:txBody>
      </p:sp>
      <p:sp>
        <p:nvSpPr>
          <p:cNvPr id="60" name="TextBox 59"/>
          <p:cNvSpPr txBox="1"/>
          <p:nvPr/>
        </p:nvSpPr>
        <p:spPr>
          <a:xfrm>
            <a:off x="432000" y="4019491"/>
            <a:ext cx="9043200" cy="288000"/>
          </a:xfrm>
          <a:prstGeom prst="rect">
            <a:avLst/>
          </a:prstGeom>
          <a:noFill/>
        </p:spPr>
        <p:txBody>
          <a:bodyPr wrap="square" lIns="50400" tIns="18000" rIns="50400" bIns="18000" anchor="ctr">
            <a:spAutoFit/>
          </a:bodyPr>
          <a:lstStyle/>
          <a:p>
            <a:pPr algn="l"/>
            <a:r>
              <a:rPr sz="1400" b="1" dirty="0">
                <a:solidFill>
                  <a:srgbClr val="002060"/>
                </a:solidFill>
                <a:latin typeface="メイリオ"/>
                <a:ea typeface="メイリオ"/>
                <a:cs typeface="メイリオ"/>
              </a:rPr>
              <a:t>── </a:t>
            </a:r>
            <a:r>
              <a:rPr sz="1400" b="1" dirty="0" err="1">
                <a:solidFill>
                  <a:srgbClr val="002060"/>
                </a:solidFill>
                <a:latin typeface="メイリオ"/>
                <a:ea typeface="メイリオ"/>
                <a:cs typeface="メイリオ"/>
              </a:rPr>
              <a:t>単価が上がり続けると、何が起きるか</a:t>
            </a:r>
            <a:endParaRPr sz="1400" b="1" dirty="0">
              <a:solidFill>
                <a:srgbClr val="002060"/>
              </a:solidFill>
              <a:latin typeface="メイリオ"/>
              <a:ea typeface="メイリオ"/>
              <a:cs typeface="メイリオ"/>
            </a:endParaRPr>
          </a:p>
        </p:txBody>
      </p:sp>
      <p:sp>
        <p:nvSpPr>
          <p:cNvPr id="61" name="Rounded Rectangle 60"/>
          <p:cNvSpPr/>
          <p:nvPr/>
        </p:nvSpPr>
        <p:spPr>
          <a:xfrm>
            <a:off x="432000" y="4528985"/>
            <a:ext cx="2870400" cy="1026000"/>
          </a:xfrm>
          <a:prstGeom prst="roundRect">
            <a:avLst/>
          </a:prstGeom>
          <a:solidFill>
            <a:srgbClr val="EEF2F9"/>
          </a:solidFill>
          <a:ln w="15875">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22000" y="4654985"/>
            <a:ext cx="2690400" cy="270000"/>
          </a:xfrm>
          <a:prstGeom prst="rect">
            <a:avLst/>
          </a:prstGeom>
          <a:noFill/>
        </p:spPr>
        <p:txBody>
          <a:bodyPr wrap="square" lIns="50400" tIns="18000" rIns="50400" bIns="18000" anchor="ctr">
            <a:spAutoFit/>
          </a:bodyPr>
          <a:lstStyle/>
          <a:p>
            <a:pPr algn="ctr"/>
            <a:r>
              <a:rPr sz="1300">
                <a:solidFill>
                  <a:srgbClr val="333333"/>
                </a:solidFill>
                <a:latin typeface="メイリオ"/>
                <a:ea typeface="メイリオ"/>
                <a:cs typeface="メイリオ"/>
              </a:rPr>
              <a:t>同じCV数を取るのに</a:t>
            </a:r>
          </a:p>
        </p:txBody>
      </p:sp>
      <p:sp>
        <p:nvSpPr>
          <p:cNvPr id="63" name="TextBox 62"/>
          <p:cNvSpPr txBox="1"/>
          <p:nvPr/>
        </p:nvSpPr>
        <p:spPr>
          <a:xfrm>
            <a:off x="522000" y="4994341"/>
            <a:ext cx="2690400" cy="365288"/>
          </a:xfrm>
          <a:prstGeom prst="rect">
            <a:avLst/>
          </a:prstGeom>
          <a:noFill/>
        </p:spPr>
        <p:txBody>
          <a:bodyPr wrap="square" lIns="50400" tIns="18000" rIns="50400" bIns="18000" anchor="ctr">
            <a:spAutoFit/>
          </a:bodyPr>
          <a:lstStyle/>
          <a:p>
            <a:pPr algn="ctr">
              <a:lnSpc>
                <a:spcPct val="125000"/>
              </a:lnSpc>
            </a:pPr>
            <a:r>
              <a:rPr b="1">
                <a:solidFill>
                  <a:srgbClr val="888888"/>
                </a:solidFill>
                <a:latin typeface="メイリオ"/>
                <a:ea typeface="メイリオ"/>
                <a:cs typeface="メイリオ"/>
              </a:rPr>
              <a:t>去年より多く払う</a:t>
            </a:r>
          </a:p>
        </p:txBody>
      </p:sp>
      <p:sp>
        <p:nvSpPr>
          <p:cNvPr id="64" name="Right Arrow 63"/>
          <p:cNvSpPr/>
          <p:nvPr/>
        </p:nvSpPr>
        <p:spPr>
          <a:xfrm>
            <a:off x="3338400" y="4960985"/>
            <a:ext cx="144000" cy="19800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5" name="Rounded Rectangle 64"/>
          <p:cNvSpPr/>
          <p:nvPr/>
        </p:nvSpPr>
        <p:spPr>
          <a:xfrm>
            <a:off x="3518400" y="4528985"/>
            <a:ext cx="2870400" cy="1026000"/>
          </a:xfrm>
          <a:prstGeom prst="roundRect">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608400" y="4654985"/>
            <a:ext cx="2690400" cy="270000"/>
          </a:xfrm>
          <a:prstGeom prst="rect">
            <a:avLst/>
          </a:prstGeom>
          <a:noFill/>
        </p:spPr>
        <p:txBody>
          <a:bodyPr wrap="square" lIns="50400" tIns="18000" rIns="50400" bIns="18000" anchor="ctr">
            <a:spAutoFit/>
          </a:bodyPr>
          <a:lstStyle/>
          <a:p>
            <a:pPr algn="ctr"/>
            <a:r>
              <a:rPr sz="1300">
                <a:solidFill>
                  <a:srgbClr val="333333"/>
                </a:solidFill>
                <a:latin typeface="メイリオ"/>
                <a:ea typeface="メイリオ"/>
                <a:cs typeface="メイリオ"/>
              </a:rPr>
              <a:t>予算を増やせないなら</a:t>
            </a:r>
          </a:p>
        </p:txBody>
      </p:sp>
      <p:sp>
        <p:nvSpPr>
          <p:cNvPr id="67" name="TextBox 66"/>
          <p:cNvSpPr txBox="1"/>
          <p:nvPr/>
        </p:nvSpPr>
        <p:spPr>
          <a:xfrm>
            <a:off x="3608400" y="4994341"/>
            <a:ext cx="2690400" cy="365288"/>
          </a:xfrm>
          <a:prstGeom prst="rect">
            <a:avLst/>
          </a:prstGeom>
          <a:noFill/>
        </p:spPr>
        <p:txBody>
          <a:bodyPr wrap="square" lIns="50400" tIns="18000" rIns="50400" bIns="18000" anchor="ctr">
            <a:spAutoFit/>
          </a:bodyPr>
          <a:lstStyle/>
          <a:p>
            <a:pPr algn="ctr">
              <a:lnSpc>
                <a:spcPct val="125000"/>
              </a:lnSpc>
            </a:pPr>
            <a:r>
              <a:rPr b="1">
                <a:solidFill>
                  <a:srgbClr val="C00000"/>
                </a:solidFill>
                <a:latin typeface="メイリオ"/>
                <a:ea typeface="メイリオ"/>
                <a:cs typeface="メイリオ"/>
              </a:rPr>
              <a:t>CV数が減る</a:t>
            </a:r>
          </a:p>
        </p:txBody>
      </p:sp>
      <p:sp>
        <p:nvSpPr>
          <p:cNvPr id="68" name="Right Arrow 67"/>
          <p:cNvSpPr/>
          <p:nvPr/>
        </p:nvSpPr>
        <p:spPr>
          <a:xfrm>
            <a:off x="6424800" y="4960985"/>
            <a:ext cx="144000" cy="19800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9" name="Rounded Rectangle 68"/>
          <p:cNvSpPr/>
          <p:nvPr/>
        </p:nvSpPr>
        <p:spPr>
          <a:xfrm>
            <a:off x="6604800" y="4528985"/>
            <a:ext cx="2870400" cy="1026000"/>
          </a:xfrm>
          <a:prstGeom prst="roundRect">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694800" y="4654985"/>
            <a:ext cx="2690400" cy="270000"/>
          </a:xfrm>
          <a:prstGeom prst="rect">
            <a:avLst/>
          </a:prstGeom>
          <a:noFill/>
        </p:spPr>
        <p:txBody>
          <a:bodyPr wrap="square" lIns="50400" tIns="18000" rIns="50400" bIns="18000" anchor="ctr">
            <a:spAutoFit/>
          </a:bodyPr>
          <a:lstStyle/>
          <a:p>
            <a:pPr algn="ctr"/>
            <a:r>
              <a:rPr sz="1300">
                <a:solidFill>
                  <a:srgbClr val="333333"/>
                </a:solidFill>
                <a:latin typeface="メイリオ"/>
                <a:ea typeface="メイリオ"/>
                <a:cs typeface="メイリオ"/>
              </a:rPr>
              <a:t>だから回収側に回す</a:t>
            </a:r>
          </a:p>
        </p:txBody>
      </p:sp>
      <p:sp>
        <p:nvSpPr>
          <p:cNvPr id="71" name="TextBox 70"/>
          <p:cNvSpPr txBox="1"/>
          <p:nvPr/>
        </p:nvSpPr>
        <p:spPr>
          <a:xfrm>
            <a:off x="6694800" y="4994341"/>
            <a:ext cx="2690400" cy="365288"/>
          </a:xfrm>
          <a:prstGeom prst="rect">
            <a:avLst/>
          </a:prstGeom>
          <a:noFill/>
        </p:spPr>
        <p:txBody>
          <a:bodyPr wrap="square" lIns="50400" tIns="18000" rIns="50400" bIns="18000" anchor="ctr">
            <a:spAutoFit/>
          </a:bodyPr>
          <a:lstStyle/>
          <a:p>
            <a:pPr algn="ctr">
              <a:lnSpc>
                <a:spcPct val="125000"/>
              </a:lnSpc>
            </a:pPr>
            <a:r>
              <a:rPr b="1">
                <a:solidFill>
                  <a:srgbClr val="ED7D31"/>
                </a:solidFill>
                <a:latin typeface="メイリオ"/>
                <a:ea typeface="メイリオ"/>
                <a:cs typeface="メイリオ"/>
              </a:rPr>
              <a:t>同じ流入から多く拾う</a:t>
            </a:r>
          </a:p>
        </p:txBody>
      </p:sp>
      <p:sp>
        <p:nvSpPr>
          <p:cNvPr id="72" name="TextBox 71"/>
          <p:cNvSpPr txBox="1"/>
          <p:nvPr/>
        </p:nvSpPr>
        <p:spPr>
          <a:xfrm>
            <a:off x="432000" y="6344645"/>
            <a:ext cx="9043200" cy="177929"/>
          </a:xfrm>
          <a:prstGeom prst="rect">
            <a:avLst/>
          </a:prstGeom>
          <a:noFill/>
        </p:spPr>
        <p:txBody>
          <a:bodyPr wrap="square" lIns="50400" tIns="18000" rIns="50400" bIns="18000" anchor="t">
            <a:spAutoFit/>
          </a:bodyPr>
          <a:lstStyle/>
          <a:p>
            <a:pPr algn="l">
              <a:lnSpc>
                <a:spcPct val="120000"/>
              </a:lnSpc>
            </a:pPr>
            <a:r>
              <a:rPr sz="800" dirty="0">
                <a:solidFill>
                  <a:srgbClr val="888888"/>
                </a:solidFill>
                <a:latin typeface="メイリオ"/>
                <a:ea typeface="メイリオ"/>
                <a:cs typeface="メイリオ"/>
              </a:rPr>
              <a:t>業界水準｜出典：電通「2025年 日本の広告費」2026年3月5日発表（総広告費8兆623億円）／</a:t>
            </a:r>
            <a:r>
              <a:rPr sz="800" dirty="0" err="1">
                <a:solidFill>
                  <a:srgbClr val="888888"/>
                </a:solidFill>
                <a:latin typeface="メイリオ"/>
                <a:ea typeface="メイリオ"/>
                <a:cs typeface="メイリオ"/>
              </a:rPr>
              <a:t>検索広告CPCはキーワードマーケティング調べ</a:t>
            </a:r>
            <a:endParaRPr sz="800" dirty="0">
              <a:solidFill>
                <a:srgbClr val="888888"/>
              </a:solidFill>
              <a:latin typeface="メイリオ"/>
              <a:ea typeface="メイリオ"/>
              <a:cs typeface="メイリオ"/>
            </a:endParaRPr>
          </a:p>
        </p:txBody>
      </p:sp>
      <p:cxnSp>
        <p:nvCxnSpPr>
          <p:cNvPr id="2" name="Connector 3">
            <a:extLst>
              <a:ext uri="{FF2B5EF4-FFF2-40B4-BE49-F238E27FC236}">
                <a16:creationId xmlns:a16="http://schemas.microsoft.com/office/drawing/2014/main" id="{B2DD0461-1B3D-E9C0-BCCA-C93017977332}"/>
              </a:ext>
            </a:extLst>
          </p:cNvPr>
          <p:cNvCxnSpPr/>
          <p:nvPr/>
        </p:nvCxnSpPr>
        <p:spPr>
          <a:xfrm>
            <a:off x="0" y="1372182"/>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7594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市場｜カゴ落ちの実態（EC購入者の心理）</a:t>
            </a:r>
            <a:endParaRPr sz="1600" b="1" dirty="0">
              <a:solidFill>
                <a:srgbClr val="002060"/>
              </a:solidFill>
              <a:latin typeface="Meiryo"/>
              <a:ea typeface="Meiryo"/>
              <a:cs typeface="Meiryo"/>
              <a:sym typeface="Meiryo"/>
            </a:endParaRPr>
          </a:p>
        </p:txBody>
      </p:sp>
      <p:sp>
        <p:nvSpPr>
          <p:cNvPr id="7" name="TextBox 6"/>
          <p:cNvSpPr txBox="1"/>
          <p:nvPr/>
        </p:nvSpPr>
        <p:spPr>
          <a:xfrm>
            <a:off x="432000" y="648000"/>
            <a:ext cx="9036000" cy="684000"/>
          </a:xfrm>
          <a:prstGeom prst="rect">
            <a:avLst/>
          </a:prstGeom>
          <a:noFill/>
        </p:spPr>
        <p:txBody>
          <a:bodyPr wrap="square" lIns="50400" tIns="18000" rIns="50400" bIns="18000" anchor="t">
            <a:spAutoFit/>
          </a:bodyPr>
          <a:lstStyle/>
          <a:p>
            <a:pPr algn="l">
              <a:lnSpc>
                <a:spcPct val="135000"/>
              </a:lnSpc>
            </a:pPr>
            <a:r>
              <a:rPr sz="1400">
                <a:solidFill>
                  <a:srgbClr val="333333"/>
                </a:solidFill>
                <a:latin typeface="メイリオ"/>
                <a:ea typeface="メイリオ"/>
                <a:cs typeface="メイリオ"/>
              </a:rPr>
              <a:t>広告費を払って連れてきた人が、カゴに入れたまま約7割消え、買ってくれた人も</a:t>
            </a:r>
          </a:p>
          <a:p>
            <a:pPr algn="l">
              <a:lnSpc>
                <a:spcPct val="135000"/>
              </a:lnSpc>
            </a:pPr>
            <a:r>
              <a:rPr sz="1400">
                <a:solidFill>
                  <a:srgbClr val="333333"/>
                </a:solidFill>
                <a:latin typeface="メイリオ"/>
                <a:ea typeface="メイリオ"/>
                <a:cs typeface="メイリオ"/>
              </a:rPr>
              <a:t>6〜7割が2回目を買わずに消えている。しかも全員、連絡先を残さないまま消えている。</a:t>
            </a:r>
          </a:p>
        </p:txBody>
      </p:sp>
      <p:cxnSp>
        <p:nvCxnSpPr>
          <p:cNvPr id="8" name="Connector 7"/>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2000" y="1548000"/>
            <a:ext cx="9043200" cy="972000"/>
          </a:xfrm>
          <a:prstGeom prst="roundRect">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000" y="1692000"/>
            <a:ext cx="8683200" cy="413999"/>
          </a:xfrm>
          <a:prstGeom prst="rect">
            <a:avLst/>
          </a:prstGeom>
          <a:noFill/>
        </p:spPr>
        <p:txBody>
          <a:bodyPr wrap="square" lIns="50400" tIns="18000" rIns="50400" bIns="18000" anchor="ctr">
            <a:spAutoFit/>
          </a:bodyPr>
          <a:lstStyle/>
          <a:p>
            <a:pPr algn="ctr"/>
            <a:r>
              <a:rPr sz="1800" b="1">
                <a:solidFill>
                  <a:srgbClr val="C00000"/>
                </a:solidFill>
                <a:latin typeface="メイリオ"/>
                <a:ea typeface="メイリオ"/>
                <a:cs typeface="メイリオ"/>
              </a:rPr>
              <a:t>カゴ落ち率　</a:t>
            </a:r>
            <a:r>
              <a:rPr sz="3400" b="1">
                <a:solidFill>
                  <a:srgbClr val="C00000"/>
                </a:solidFill>
                <a:latin typeface="メイリオ"/>
                <a:ea typeface="メイリオ"/>
                <a:cs typeface="メイリオ"/>
              </a:rPr>
              <a:t>60〜70</a:t>
            </a:r>
            <a:r>
              <a:rPr sz="2000" b="1">
                <a:solidFill>
                  <a:srgbClr val="C00000"/>
                </a:solidFill>
                <a:latin typeface="メイリオ"/>
                <a:ea typeface="メイリオ"/>
                <a:cs typeface="メイリオ"/>
              </a:rPr>
              <a:t> %</a:t>
            </a:r>
            <a:r>
              <a:rPr sz="1800" b="1">
                <a:solidFill>
                  <a:srgbClr val="C00000"/>
                </a:solidFill>
                <a:latin typeface="メイリオ"/>
                <a:ea typeface="メイリオ"/>
                <a:cs typeface="メイリオ"/>
              </a:rPr>
              <a:t>　前後</a:t>
            </a:r>
          </a:p>
        </p:txBody>
      </p:sp>
      <p:sp>
        <p:nvSpPr>
          <p:cNvPr id="11" name="TextBox 10"/>
          <p:cNvSpPr txBox="1"/>
          <p:nvPr/>
        </p:nvSpPr>
        <p:spPr>
          <a:xfrm>
            <a:off x="612000" y="2141999"/>
            <a:ext cx="8683200" cy="306000"/>
          </a:xfrm>
          <a:prstGeom prst="rect">
            <a:avLst/>
          </a:prstGeom>
          <a:noFill/>
        </p:spPr>
        <p:txBody>
          <a:bodyPr wrap="square" lIns="50400" tIns="18000" rIns="50400" bIns="18000" anchor="ctr">
            <a:spAutoFit/>
          </a:bodyPr>
          <a:lstStyle/>
          <a:p>
            <a:pPr algn="ctr"/>
            <a:r>
              <a:rPr sz="1200">
                <a:solidFill>
                  <a:srgbClr val="333333"/>
                </a:solidFill>
                <a:latin typeface="メイリオ"/>
                <a:ea typeface="メイリオ"/>
                <a:cs typeface="メイリオ"/>
              </a:rPr>
              <a:t>グローバル平均 約70.22%（Baymard Institute）／国内調査 約63.3%（イー・エージェンシー）</a:t>
            </a:r>
          </a:p>
        </p:txBody>
      </p:sp>
      <p:sp>
        <p:nvSpPr>
          <p:cNvPr id="12" name="TextBox 11"/>
          <p:cNvSpPr txBox="1"/>
          <p:nvPr/>
        </p:nvSpPr>
        <p:spPr>
          <a:xfrm>
            <a:off x="432000" y="2909605"/>
            <a:ext cx="9043200" cy="288000"/>
          </a:xfrm>
          <a:prstGeom prst="rect">
            <a:avLst/>
          </a:prstGeom>
          <a:noFill/>
        </p:spPr>
        <p:txBody>
          <a:bodyPr wrap="square" lIns="50400" tIns="18000" rIns="50400" bIns="18000" anchor="ctr">
            <a:spAutoFit/>
          </a:bodyPr>
          <a:lstStyle/>
          <a:p>
            <a:pPr algn="l"/>
            <a:r>
              <a:rPr sz="1400" b="1">
                <a:solidFill>
                  <a:srgbClr val="002060"/>
                </a:solidFill>
                <a:latin typeface="メイリオ"/>
                <a:ea typeface="メイリオ"/>
                <a:cs typeface="メイリオ"/>
              </a:rPr>
              <a:t>── なぜ、カゴに入れたのに買わないのか</a:t>
            </a:r>
          </a:p>
        </p:txBody>
      </p:sp>
      <p:sp>
        <p:nvSpPr>
          <p:cNvPr id="13" name="Rounded Rectangle 12"/>
          <p:cNvSpPr/>
          <p:nvPr/>
        </p:nvSpPr>
        <p:spPr>
          <a:xfrm>
            <a:off x="432000" y="3233606"/>
            <a:ext cx="2942400" cy="1800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0000" y="3305606"/>
            <a:ext cx="2726400" cy="486000"/>
          </a:xfrm>
          <a:prstGeom prst="rect">
            <a:avLst/>
          </a:prstGeom>
          <a:noFill/>
        </p:spPr>
        <p:txBody>
          <a:bodyPr wrap="square" lIns="50400" tIns="18000" rIns="50400" bIns="18000" anchor="t">
            <a:spAutoFit/>
          </a:bodyPr>
          <a:lstStyle/>
          <a:p>
            <a:pPr algn="l">
              <a:lnSpc>
                <a:spcPct val="125000"/>
              </a:lnSpc>
            </a:pPr>
            <a:r>
              <a:rPr sz="1400" b="1">
                <a:solidFill>
                  <a:srgbClr val="002060"/>
                </a:solidFill>
                <a:latin typeface="メイリオ"/>
                <a:ea typeface="メイリオ"/>
                <a:cs typeface="メイリオ"/>
              </a:rPr>
              <a:t>「まだ決めきれない」</a:t>
            </a:r>
          </a:p>
        </p:txBody>
      </p:sp>
      <p:sp>
        <p:nvSpPr>
          <p:cNvPr id="15" name="TextBox 14"/>
          <p:cNvSpPr txBox="1"/>
          <p:nvPr/>
        </p:nvSpPr>
        <p:spPr>
          <a:xfrm>
            <a:off x="432000" y="3755606"/>
            <a:ext cx="2942400" cy="503999"/>
          </a:xfrm>
          <a:prstGeom prst="rect">
            <a:avLst/>
          </a:prstGeom>
          <a:noFill/>
        </p:spPr>
        <p:txBody>
          <a:bodyPr wrap="square" lIns="50400" tIns="18000" rIns="50400" bIns="18000" anchor="ctr">
            <a:spAutoFit/>
          </a:bodyPr>
          <a:lstStyle/>
          <a:p>
            <a:pPr algn="ctr"/>
            <a:r>
              <a:rPr sz="3200" b="1">
                <a:solidFill>
                  <a:srgbClr val="ED7D31"/>
                </a:solidFill>
                <a:latin typeface="メイリオ"/>
                <a:ea typeface="メイリオ"/>
                <a:cs typeface="メイリオ"/>
              </a:rPr>
              <a:t>43</a:t>
            </a:r>
            <a:r>
              <a:rPr sz="1500" b="1">
                <a:solidFill>
                  <a:srgbClr val="ED7D31"/>
                </a:solidFill>
                <a:latin typeface="メイリオ"/>
                <a:ea typeface="メイリオ"/>
                <a:cs typeface="メイリオ"/>
              </a:rPr>
              <a:t> %</a:t>
            </a:r>
          </a:p>
        </p:txBody>
      </p:sp>
      <p:sp>
        <p:nvSpPr>
          <p:cNvPr id="16" name="TextBox 15"/>
          <p:cNvSpPr txBox="1"/>
          <p:nvPr/>
        </p:nvSpPr>
        <p:spPr>
          <a:xfrm>
            <a:off x="540000" y="4295606"/>
            <a:ext cx="2726400" cy="742699"/>
          </a:xfrm>
          <a:prstGeom prst="rect">
            <a:avLst/>
          </a:prstGeom>
          <a:noFill/>
        </p:spPr>
        <p:txBody>
          <a:bodyPr wrap="square" lIns="50400" tIns="18000" rIns="50400" bIns="18000" anchor="t">
            <a:spAutoFit/>
          </a:bodyPr>
          <a:lstStyle/>
          <a:p>
            <a:pPr algn="l">
              <a:lnSpc>
                <a:spcPct val="130000"/>
              </a:lnSpc>
            </a:pPr>
            <a:r>
              <a:rPr sz="1200" dirty="0">
                <a:solidFill>
                  <a:srgbClr val="333333"/>
                </a:solidFill>
                <a:latin typeface="メイリオ"/>
                <a:ea typeface="メイリオ"/>
                <a:cs typeface="メイリオ"/>
              </a:rPr>
              <a:t>カゴ落ち理由の約43%が</a:t>
            </a:r>
          </a:p>
          <a:p>
            <a:pPr marL="171450" indent="-171450" algn="l">
              <a:lnSpc>
                <a:spcPct val="130000"/>
              </a:lnSpc>
              <a:buFont typeface="Arial" panose="020B0604020202020204" pitchFamily="34" charset="0"/>
              <a:buChar char="•"/>
            </a:pPr>
            <a:r>
              <a:rPr sz="1200" dirty="0" err="1">
                <a:solidFill>
                  <a:srgbClr val="333333"/>
                </a:solidFill>
                <a:latin typeface="メイリオ"/>
                <a:ea typeface="メイリオ"/>
                <a:cs typeface="メイリオ"/>
              </a:rPr>
              <a:t>ただ見ていた</a:t>
            </a:r>
            <a:endParaRPr lang="en-US" sz="1200" dirty="0">
              <a:solidFill>
                <a:srgbClr val="333333"/>
              </a:solidFill>
              <a:latin typeface="メイリオ"/>
              <a:ea typeface="メイリオ"/>
              <a:cs typeface="メイリオ"/>
            </a:endParaRPr>
          </a:p>
          <a:p>
            <a:pPr marL="171450" indent="-171450" algn="l">
              <a:lnSpc>
                <a:spcPct val="130000"/>
              </a:lnSpc>
              <a:buFont typeface="Arial" panose="020B0604020202020204" pitchFamily="34" charset="0"/>
              <a:buChar char="•"/>
            </a:pPr>
            <a:r>
              <a:rPr sz="1200" dirty="0" err="1">
                <a:solidFill>
                  <a:srgbClr val="333333"/>
                </a:solidFill>
                <a:latin typeface="メイリオ"/>
                <a:ea typeface="メイリオ"/>
                <a:cs typeface="メイリオ"/>
              </a:rPr>
              <a:t>買う準備ができていない</a:t>
            </a:r>
            <a:endParaRPr sz="1200" dirty="0">
              <a:solidFill>
                <a:srgbClr val="333333"/>
              </a:solidFill>
              <a:latin typeface="メイリオ"/>
              <a:ea typeface="メイリオ"/>
              <a:cs typeface="メイリオ"/>
            </a:endParaRPr>
          </a:p>
        </p:txBody>
      </p:sp>
      <p:sp>
        <p:nvSpPr>
          <p:cNvPr id="17" name="Down Arrow 16"/>
          <p:cNvSpPr/>
          <p:nvPr/>
        </p:nvSpPr>
        <p:spPr>
          <a:xfrm>
            <a:off x="1824000" y="5087606"/>
            <a:ext cx="158400" cy="180000"/>
          </a:xfrm>
          <a:prstGeom prst="downArrow">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32000" y="5292000"/>
            <a:ext cx="2942400" cy="792000"/>
          </a:xfrm>
          <a:prstGeom prst="roundRect">
            <a:avLst/>
          </a:prstGeom>
          <a:solidFill>
            <a:srgbClr val="FFFFFF"/>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522000" y="5400000"/>
            <a:ext cx="2762400" cy="576000"/>
          </a:xfrm>
          <a:prstGeom prst="rect">
            <a:avLst/>
          </a:prstGeom>
          <a:noFill/>
        </p:spPr>
        <p:txBody>
          <a:bodyPr wrap="square" lIns="50400" tIns="18000" rIns="50400" bIns="18000" anchor="t">
            <a:spAutoFit/>
          </a:bodyPr>
          <a:lstStyle/>
          <a:p>
            <a:pPr algn="ctr"/>
            <a:r>
              <a:rPr sz="1200" b="1" dirty="0" err="1">
                <a:solidFill>
                  <a:srgbClr val="ED7D31"/>
                </a:solidFill>
                <a:latin typeface="メイリオ"/>
                <a:ea typeface="メイリオ"/>
                <a:cs typeface="メイリオ"/>
              </a:rPr>
              <a:t>LINEでの打ち手</a:t>
            </a:r>
            <a:endParaRPr sz="1200" b="1" dirty="0">
              <a:solidFill>
                <a:srgbClr val="ED7D31"/>
              </a:solidFill>
              <a:latin typeface="メイリオ"/>
              <a:ea typeface="メイリオ"/>
              <a:cs typeface="メイリオ"/>
            </a:endParaRPr>
          </a:p>
          <a:p>
            <a:pPr algn="ctr">
              <a:lnSpc>
                <a:spcPct val="125000"/>
              </a:lnSpc>
            </a:pPr>
            <a:r>
              <a:rPr sz="1400" b="1" dirty="0" err="1">
                <a:solidFill>
                  <a:srgbClr val="333333"/>
                </a:solidFill>
                <a:latin typeface="メイリオ"/>
                <a:ea typeface="メイリオ"/>
                <a:cs typeface="メイリオ"/>
              </a:rPr>
              <a:t>レビュー・使用例で迷いを消す（クーポンも可）</a:t>
            </a:r>
            <a:endParaRPr sz="1400" b="1" dirty="0">
              <a:solidFill>
                <a:srgbClr val="333333"/>
              </a:solidFill>
              <a:latin typeface="メイリオ"/>
              <a:ea typeface="メイリオ"/>
              <a:cs typeface="メイリオ"/>
            </a:endParaRPr>
          </a:p>
        </p:txBody>
      </p:sp>
      <p:sp>
        <p:nvSpPr>
          <p:cNvPr id="20" name="Rounded Rectangle 19"/>
          <p:cNvSpPr/>
          <p:nvPr/>
        </p:nvSpPr>
        <p:spPr>
          <a:xfrm>
            <a:off x="3482400" y="3233606"/>
            <a:ext cx="2942400" cy="1800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590400" y="3305606"/>
            <a:ext cx="2726400" cy="486000"/>
          </a:xfrm>
          <a:prstGeom prst="rect">
            <a:avLst/>
          </a:prstGeom>
          <a:noFill/>
        </p:spPr>
        <p:txBody>
          <a:bodyPr wrap="square" lIns="50400" tIns="18000" rIns="50400" bIns="18000" anchor="t">
            <a:spAutoFit/>
          </a:bodyPr>
          <a:lstStyle/>
          <a:p>
            <a:pPr algn="l">
              <a:lnSpc>
                <a:spcPct val="125000"/>
              </a:lnSpc>
            </a:pPr>
            <a:r>
              <a:rPr sz="1400" b="1">
                <a:solidFill>
                  <a:srgbClr val="002060"/>
                </a:solidFill>
                <a:latin typeface="メイリオ"/>
                <a:ea typeface="メイリオ"/>
                <a:cs typeface="メイリオ"/>
              </a:rPr>
              <a:t>「いくらになるか分からないのが怖い」</a:t>
            </a:r>
          </a:p>
        </p:txBody>
      </p:sp>
      <p:sp>
        <p:nvSpPr>
          <p:cNvPr id="22" name="TextBox 21"/>
          <p:cNvSpPr txBox="1"/>
          <p:nvPr/>
        </p:nvSpPr>
        <p:spPr>
          <a:xfrm>
            <a:off x="3482400" y="3755606"/>
            <a:ext cx="2942400" cy="503999"/>
          </a:xfrm>
          <a:prstGeom prst="rect">
            <a:avLst/>
          </a:prstGeom>
          <a:noFill/>
        </p:spPr>
        <p:txBody>
          <a:bodyPr wrap="square" lIns="50400" tIns="18000" rIns="50400" bIns="18000" anchor="ctr">
            <a:spAutoFit/>
          </a:bodyPr>
          <a:lstStyle/>
          <a:p>
            <a:pPr algn="ctr"/>
            <a:r>
              <a:rPr sz="3200" b="1">
                <a:solidFill>
                  <a:srgbClr val="C00000"/>
                </a:solidFill>
                <a:latin typeface="メイリオ"/>
                <a:ea typeface="メイリオ"/>
                <a:cs typeface="メイリオ"/>
              </a:rPr>
              <a:t>53</a:t>
            </a:r>
            <a:r>
              <a:rPr sz="1500" b="1">
                <a:solidFill>
                  <a:srgbClr val="C00000"/>
                </a:solidFill>
                <a:latin typeface="メイリオ"/>
                <a:ea typeface="メイリオ"/>
                <a:cs typeface="メイリオ"/>
              </a:rPr>
              <a:t> %</a:t>
            </a:r>
          </a:p>
        </p:txBody>
      </p:sp>
      <p:sp>
        <p:nvSpPr>
          <p:cNvPr id="23" name="TextBox 22"/>
          <p:cNvSpPr txBox="1"/>
          <p:nvPr/>
        </p:nvSpPr>
        <p:spPr>
          <a:xfrm>
            <a:off x="3590400" y="4295606"/>
            <a:ext cx="2726400" cy="820412"/>
          </a:xfrm>
          <a:prstGeom prst="rect">
            <a:avLst/>
          </a:prstGeom>
          <a:noFill/>
        </p:spPr>
        <p:txBody>
          <a:bodyPr wrap="square" lIns="50400" tIns="18000" rIns="50400" bIns="18000" anchor="t">
            <a:spAutoFit/>
          </a:bodyPr>
          <a:lstStyle/>
          <a:p>
            <a:pPr algn="l">
              <a:lnSpc>
                <a:spcPct val="130000"/>
              </a:lnSpc>
            </a:pPr>
            <a:r>
              <a:rPr sz="1200" dirty="0">
                <a:solidFill>
                  <a:srgbClr val="333333"/>
                </a:solidFill>
                <a:latin typeface="メイリオ"/>
                <a:ea typeface="メイリオ"/>
                <a:cs typeface="メイリオ"/>
              </a:rPr>
              <a:t>カゴ落ち理由1位（53%）が</a:t>
            </a:r>
          </a:p>
          <a:p>
            <a:pPr algn="ctr">
              <a:lnSpc>
                <a:spcPct val="130000"/>
              </a:lnSpc>
            </a:pPr>
            <a:r>
              <a:rPr sz="1400" dirty="0" err="1">
                <a:solidFill>
                  <a:srgbClr val="333333"/>
                </a:solidFill>
                <a:latin typeface="メイリオ"/>
                <a:ea typeface="メイリオ"/>
                <a:cs typeface="メイリオ"/>
              </a:rPr>
              <a:t>送料・税・手数料など</a:t>
            </a:r>
            <a:endParaRPr lang="en-US" sz="1400" dirty="0">
              <a:solidFill>
                <a:srgbClr val="333333"/>
              </a:solidFill>
              <a:latin typeface="メイリオ"/>
              <a:ea typeface="メイリオ"/>
              <a:cs typeface="メイリオ"/>
            </a:endParaRPr>
          </a:p>
          <a:p>
            <a:pPr algn="ctr">
              <a:lnSpc>
                <a:spcPct val="130000"/>
              </a:lnSpc>
            </a:pPr>
            <a:r>
              <a:rPr sz="1400" dirty="0" err="1">
                <a:solidFill>
                  <a:srgbClr val="333333"/>
                </a:solidFill>
                <a:latin typeface="メイリオ"/>
                <a:ea typeface="メイリオ"/>
                <a:cs typeface="メイリオ"/>
              </a:rPr>
              <a:t>追加コストの不透明さ</a:t>
            </a:r>
            <a:endParaRPr sz="1400" dirty="0">
              <a:solidFill>
                <a:srgbClr val="333333"/>
              </a:solidFill>
              <a:latin typeface="メイリオ"/>
              <a:ea typeface="メイリオ"/>
              <a:cs typeface="メイリオ"/>
            </a:endParaRPr>
          </a:p>
        </p:txBody>
      </p:sp>
      <p:sp>
        <p:nvSpPr>
          <p:cNvPr id="24" name="Down Arrow 23"/>
          <p:cNvSpPr/>
          <p:nvPr/>
        </p:nvSpPr>
        <p:spPr>
          <a:xfrm>
            <a:off x="4874400" y="5087606"/>
            <a:ext cx="158400" cy="180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482400" y="5292000"/>
            <a:ext cx="2942400" cy="79200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p:cNvSpPr txBox="1"/>
          <p:nvPr/>
        </p:nvSpPr>
        <p:spPr>
          <a:xfrm>
            <a:off x="3572400" y="5400000"/>
            <a:ext cx="2762400" cy="576000"/>
          </a:xfrm>
          <a:prstGeom prst="rect">
            <a:avLst/>
          </a:prstGeom>
          <a:noFill/>
        </p:spPr>
        <p:txBody>
          <a:bodyPr wrap="square" lIns="50400" tIns="18000" rIns="50400" bIns="18000" anchor="t">
            <a:spAutoFit/>
          </a:bodyPr>
          <a:lstStyle/>
          <a:p>
            <a:pPr algn="ctr"/>
            <a:r>
              <a:rPr sz="1200" b="1">
                <a:solidFill>
                  <a:srgbClr val="C00000"/>
                </a:solidFill>
                <a:latin typeface="メイリオ"/>
                <a:ea typeface="メイリオ"/>
                <a:cs typeface="メイリオ"/>
              </a:rPr>
              <a:t>LINEでの打ち手</a:t>
            </a:r>
          </a:p>
          <a:p>
            <a:pPr algn="ctr">
              <a:lnSpc>
                <a:spcPct val="125000"/>
              </a:lnSpc>
            </a:pPr>
            <a:r>
              <a:rPr sz="1400" b="1">
                <a:solidFill>
                  <a:srgbClr val="333333"/>
                </a:solidFill>
                <a:latin typeface="メイリオ"/>
                <a:ea typeface="メイリオ"/>
                <a:cs typeface="メイリオ"/>
              </a:rPr>
              <a:t>送料条件をあいさつで先出し</a:t>
            </a:r>
          </a:p>
        </p:txBody>
      </p:sp>
      <p:sp>
        <p:nvSpPr>
          <p:cNvPr id="27" name="Rounded Rectangle 26"/>
          <p:cNvSpPr/>
          <p:nvPr/>
        </p:nvSpPr>
        <p:spPr>
          <a:xfrm>
            <a:off x="6532800" y="3233606"/>
            <a:ext cx="2942400" cy="1800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40800" y="3305606"/>
            <a:ext cx="2726400" cy="486000"/>
          </a:xfrm>
          <a:prstGeom prst="rect">
            <a:avLst/>
          </a:prstGeom>
          <a:noFill/>
        </p:spPr>
        <p:txBody>
          <a:bodyPr wrap="square" lIns="50400" tIns="18000" rIns="50400" bIns="18000" anchor="t">
            <a:spAutoFit/>
          </a:bodyPr>
          <a:lstStyle/>
          <a:p>
            <a:pPr algn="l">
              <a:lnSpc>
                <a:spcPct val="125000"/>
              </a:lnSpc>
            </a:pPr>
            <a:r>
              <a:rPr sz="1400" b="1">
                <a:solidFill>
                  <a:srgbClr val="002060"/>
                </a:solidFill>
                <a:latin typeface="メイリオ"/>
                <a:ea typeface="メイリオ"/>
                <a:cs typeface="メイリオ"/>
              </a:rPr>
              <a:t>「メールは登録したくない」</a:t>
            </a:r>
          </a:p>
        </p:txBody>
      </p:sp>
      <p:sp>
        <p:nvSpPr>
          <p:cNvPr id="29" name="TextBox 28"/>
          <p:cNvSpPr txBox="1"/>
          <p:nvPr/>
        </p:nvSpPr>
        <p:spPr>
          <a:xfrm>
            <a:off x="6532800" y="3755606"/>
            <a:ext cx="2942400" cy="503999"/>
          </a:xfrm>
          <a:prstGeom prst="rect">
            <a:avLst/>
          </a:prstGeom>
          <a:noFill/>
        </p:spPr>
        <p:txBody>
          <a:bodyPr wrap="square" lIns="50400" tIns="18000" rIns="50400" bIns="18000" anchor="ctr">
            <a:spAutoFit/>
          </a:bodyPr>
          <a:lstStyle/>
          <a:p>
            <a:pPr algn="ctr"/>
            <a:r>
              <a:rPr sz="3200" b="1">
                <a:solidFill>
                  <a:srgbClr val="1F285A"/>
                </a:solidFill>
                <a:latin typeface="メイリオ"/>
                <a:ea typeface="メイリオ"/>
                <a:cs typeface="メイリオ"/>
              </a:rPr>
              <a:t>20</a:t>
            </a:r>
            <a:r>
              <a:rPr sz="1500" b="1">
                <a:solidFill>
                  <a:srgbClr val="1F285A"/>
                </a:solidFill>
                <a:latin typeface="メイリオ"/>
                <a:ea typeface="メイリオ"/>
                <a:cs typeface="メイリオ"/>
              </a:rPr>
              <a:t> %前後</a:t>
            </a:r>
          </a:p>
        </p:txBody>
      </p:sp>
      <p:sp>
        <p:nvSpPr>
          <p:cNvPr id="30" name="TextBox 29"/>
          <p:cNvSpPr txBox="1"/>
          <p:nvPr/>
        </p:nvSpPr>
        <p:spPr>
          <a:xfrm>
            <a:off x="6640800" y="4295606"/>
            <a:ext cx="2841216" cy="502633"/>
          </a:xfrm>
          <a:prstGeom prst="rect">
            <a:avLst/>
          </a:prstGeom>
          <a:noFill/>
        </p:spPr>
        <p:txBody>
          <a:bodyPr wrap="square" lIns="50400" tIns="18000" rIns="50400" bIns="18000" anchor="t">
            <a:spAutoFit/>
          </a:bodyPr>
          <a:lstStyle/>
          <a:p>
            <a:pPr algn="l">
              <a:lnSpc>
                <a:spcPct val="130000"/>
              </a:lnSpc>
            </a:pPr>
            <a:r>
              <a:rPr sz="1200" dirty="0">
                <a:solidFill>
                  <a:srgbClr val="333333"/>
                </a:solidFill>
                <a:latin typeface="メイリオ"/>
                <a:ea typeface="メイリオ"/>
                <a:cs typeface="メイリオ"/>
              </a:rPr>
              <a:t>国内ECのメルマガ開封率は20%前後。</a:t>
            </a:r>
          </a:p>
          <a:p>
            <a:pPr algn="l">
              <a:lnSpc>
                <a:spcPct val="130000"/>
              </a:lnSpc>
            </a:pPr>
            <a:r>
              <a:rPr sz="1200" dirty="0" err="1">
                <a:solidFill>
                  <a:srgbClr val="333333"/>
                </a:solidFill>
                <a:latin typeface="メイリオ"/>
                <a:ea typeface="メイリオ"/>
                <a:cs typeface="メイリオ"/>
              </a:rPr>
              <a:t>登録しても読まれていない</a:t>
            </a:r>
            <a:endParaRPr sz="1200" dirty="0">
              <a:solidFill>
                <a:srgbClr val="333333"/>
              </a:solidFill>
              <a:latin typeface="メイリオ"/>
              <a:ea typeface="メイリオ"/>
              <a:cs typeface="メイリオ"/>
            </a:endParaRPr>
          </a:p>
        </p:txBody>
      </p:sp>
      <p:sp>
        <p:nvSpPr>
          <p:cNvPr id="31" name="Down Arrow 30"/>
          <p:cNvSpPr/>
          <p:nvPr/>
        </p:nvSpPr>
        <p:spPr>
          <a:xfrm>
            <a:off x="7924800" y="5087606"/>
            <a:ext cx="158400" cy="180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532800" y="5292000"/>
            <a:ext cx="2942400" cy="792000"/>
          </a:xfrm>
          <a:prstGeom prst="round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TextBox 32"/>
          <p:cNvSpPr txBox="1"/>
          <p:nvPr/>
        </p:nvSpPr>
        <p:spPr>
          <a:xfrm>
            <a:off x="6622800" y="5400000"/>
            <a:ext cx="2762400" cy="576000"/>
          </a:xfrm>
          <a:prstGeom prst="rect">
            <a:avLst/>
          </a:prstGeom>
          <a:noFill/>
        </p:spPr>
        <p:txBody>
          <a:bodyPr wrap="square" lIns="50400" tIns="18000" rIns="50400" bIns="18000" anchor="t">
            <a:spAutoFit/>
          </a:bodyPr>
          <a:lstStyle/>
          <a:p>
            <a:pPr algn="ctr"/>
            <a:r>
              <a:rPr sz="1200" b="1">
                <a:solidFill>
                  <a:srgbClr val="1F285A"/>
                </a:solidFill>
                <a:latin typeface="メイリオ"/>
                <a:ea typeface="メイリオ"/>
                <a:cs typeface="メイリオ"/>
              </a:rPr>
              <a:t>LINEでの打ち手</a:t>
            </a:r>
          </a:p>
          <a:p>
            <a:pPr algn="ctr">
              <a:lnSpc>
                <a:spcPct val="125000"/>
              </a:lnSpc>
            </a:pPr>
            <a:r>
              <a:rPr sz="1400" b="1">
                <a:solidFill>
                  <a:srgbClr val="333333"/>
                </a:solidFill>
                <a:latin typeface="メイリオ"/>
                <a:ea typeface="メイリオ"/>
                <a:cs typeface="メイリオ"/>
              </a:rPr>
              <a:t>当日中に約8割が開封</a:t>
            </a:r>
          </a:p>
        </p:txBody>
      </p:sp>
      <p:sp>
        <p:nvSpPr>
          <p:cNvPr id="34" name="TextBox 33"/>
          <p:cNvSpPr txBox="1"/>
          <p:nvPr/>
        </p:nvSpPr>
        <p:spPr>
          <a:xfrm>
            <a:off x="438816" y="6359212"/>
            <a:ext cx="9043200" cy="177929"/>
          </a:xfrm>
          <a:prstGeom prst="rect">
            <a:avLst/>
          </a:prstGeom>
          <a:noFill/>
        </p:spPr>
        <p:txBody>
          <a:bodyPr wrap="square" lIns="50400" tIns="18000" rIns="50400" bIns="18000" anchor="t">
            <a:spAutoFit/>
          </a:bodyPr>
          <a:lstStyle/>
          <a:p>
            <a:pPr algn="l">
              <a:lnSpc>
                <a:spcPct val="120000"/>
              </a:lnSpc>
            </a:pPr>
            <a:r>
              <a:rPr sz="800">
                <a:solidFill>
                  <a:srgbClr val="888888"/>
                </a:solidFill>
                <a:latin typeface="メイリオ"/>
                <a:ea typeface="メイリオ"/>
                <a:cs typeface="メイリオ"/>
              </a:rPr>
              <a:t>業界水準｜出典：Baymard Institute（カゴ落ち理由）／国内ECメルマガ開封率一般値。LINEの開封はLINEヤフー公式値。倍率で語らず絶対値のみ使用</a:t>
            </a:r>
          </a:p>
        </p:txBody>
      </p:sp>
    </p:spTree>
    <p:extLst>
      <p:ext uri="{BB962C8B-B14F-4D97-AF65-F5344CB8AC3E}">
        <p14:creationId xmlns:p14="http://schemas.microsoft.com/office/powerpoint/2010/main" val="322507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メールアドレス登録・会員登録に対して、”ハードルが高く感じる”ユーザーが増えている状況。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カゴ落ち防止 &gt;&gt; 友だち追加 &gt;&gt; 購入 &gt;&gt; F2 &gt;&gt; 定期獲得・利用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なぜLINEか｜メール登録のハードルが上がっている</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定期購入者</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ファン化・LTV</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F2到達者</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初回購入者</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カゴ投入・未購入</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比較検討層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商品を知らない層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462270" y="4021150"/>
            <a:ext cx="2125679"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462272" y="4152765"/>
            <a:ext cx="2125679"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※購買データとLINE IDを連携</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462270" y="3320315"/>
            <a:ext cx="2125679"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462272" y="3376394"/>
            <a:ext cx="2125679"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カゴ落ち時のポップアップで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購入直前で離脱した人をLINEへ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462270" y="2257035"/>
            <a:ext cx="2125679"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462272" y="2299618"/>
            <a:ext cx="2125679"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商品ページ閲覧・カート投入</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の動線でLINE友だち追加を整備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462270" y="5725075"/>
            <a:ext cx="2125679"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462272" y="5785358"/>
            <a:ext cx="2125679"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への引き上げ動線を設計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462270" y="5183479"/>
            <a:ext cx="2125679"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462272" y="5290129"/>
            <a:ext cx="2125679" cy="3693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en-US" altLang="ja-JP" sz="900" b="1" dirty="0" err="1">
                <a:solidFill>
                  <a:schemeClr val="bg1"/>
                </a:solidFill>
                <a:latin typeface="メイリオ" panose="020B0604030504040204" pitchFamily="50" charset="-128"/>
                <a:ea typeface="メイリオ" panose="020B0604030504040204" pitchFamily="50" charset="-128"/>
              </a:rPr>
              <a:t>消費サイクルに合わせて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kumimoji="1" lang="en-US" altLang="ja-JP" sz="900" b="1" dirty="0">
                <a:solidFill>
                  <a:schemeClr val="bg1"/>
                </a:solidFill>
                <a:latin typeface="メイリオ" panose="020B0604030504040204" pitchFamily="50" charset="-128"/>
                <a:ea typeface="メイリオ" panose="020B0604030504040204" pitchFamily="50" charset="-128"/>
              </a:rPr>
              <a:t>F2オファー</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462270" y="4683085"/>
            <a:ext cx="2125679"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462272" y="4814700"/>
            <a:ext cx="2125679"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※診断・Q&amp;A → 初回購入</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30832"/>
          </a:xfrm>
          <a:prstGeom prst="rect">
            <a:avLst/>
          </a:prstGeom>
          <a:noFill/>
        </p:spPr>
        <p:txBody>
          <a:bodyPr wrap="square">
            <a:spAutoFit/>
          </a:bodyPr>
          <a:lstStyle/>
          <a:p>
            <a:pPr algn="ctr"/>
            <a:r>
              <a:rPr kumimoji="1" lang="en-US" altLang="ja-JP" sz="900" dirty="0">
                <a:solidFill>
                  <a:schemeClr val="bg1"/>
                </a:solidFill>
                <a:latin typeface="メイリオ" panose="020B0604030504040204" pitchFamily="50" charset="-128"/>
                <a:ea typeface="メイリオ" panose="020B0604030504040204" pitchFamily="50" charset="-128"/>
              </a:rPr>
              <a:t>※</a:t>
            </a:r>
            <a:r>
              <a:rPr kumimoji="1" lang="ja-JP" altLang="en-US" sz="9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22834" y="2565747"/>
            <a:ext cx="1826395" cy="603248"/>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LINEミニアプリ・会員証</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カゴ落ちポップアップ</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自社EC会員・CRM</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（LINE IDが軸）</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LINEログイン・ID連携</a:t>
            </a:r>
          </a:p>
        </p:txBody>
      </p:sp>
      <p:cxnSp>
        <p:nvCxnSpPr>
          <p:cNvPr id="28" name="Connector 3">
            <a:extLst>
              <a:ext uri="{FF2B5EF4-FFF2-40B4-BE49-F238E27FC236}">
                <a16:creationId xmlns:a16="http://schemas.microsoft.com/office/drawing/2014/main" id="{E8C787F7-F032-1E85-98B5-14A4DFC96218}"/>
              </a:ext>
            </a:extLst>
          </p:cNvPr>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384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なぜLINEか｜Webマーケで「できること／できないこと」</a:t>
            </a:r>
            <a:endParaRPr sz="1600" b="1" dirty="0">
              <a:solidFill>
                <a:srgbClr val="002060"/>
              </a:solidFill>
              <a:latin typeface="Meiryo"/>
              <a:ea typeface="Meiryo"/>
              <a:cs typeface="Meiryo"/>
              <a:sym typeface="Meiryo"/>
            </a:endParaRPr>
          </a:p>
        </p:txBody>
      </p:sp>
      <p:sp>
        <p:nvSpPr>
          <p:cNvPr id="7" name="TextBox 6"/>
          <p:cNvSpPr txBox="1"/>
          <p:nvPr/>
        </p:nvSpPr>
        <p:spPr>
          <a:xfrm>
            <a:off x="432000" y="648000"/>
            <a:ext cx="9036000" cy="684000"/>
          </a:xfrm>
          <a:prstGeom prst="rect">
            <a:avLst/>
          </a:prstGeom>
          <a:noFill/>
        </p:spPr>
        <p:txBody>
          <a:bodyPr wrap="square" lIns="50400" tIns="18000" rIns="50400" bIns="18000" anchor="t">
            <a:spAutoFit/>
          </a:bodyPr>
          <a:lstStyle/>
          <a:p>
            <a:pPr algn="l">
              <a:lnSpc>
                <a:spcPct val="135000"/>
              </a:lnSpc>
            </a:pPr>
            <a:r>
              <a:rPr sz="1400">
                <a:solidFill>
                  <a:srgbClr val="333333"/>
                </a:solidFill>
                <a:latin typeface="メイリオ"/>
                <a:ea typeface="メイリオ"/>
                <a:cs typeface="メイリオ"/>
              </a:rPr>
              <a:t>ここが本提案の誠実さであり、説得力の源。触るのは「カゴに入れた後」と</a:t>
            </a:r>
          </a:p>
          <a:p>
            <a:pPr algn="l">
              <a:lnSpc>
                <a:spcPct val="135000"/>
              </a:lnSpc>
            </a:pPr>
            <a:r>
              <a:rPr sz="1400">
                <a:solidFill>
                  <a:srgbClr val="333333"/>
                </a:solidFill>
                <a:latin typeface="メイリオ"/>
                <a:ea typeface="メイリオ"/>
                <a:cs typeface="メイリオ"/>
              </a:rPr>
              <a:t>「1回目を買った後」の2箇所だけ。広告費も流入もLPも触らない。</a:t>
            </a:r>
          </a:p>
        </p:txBody>
      </p:sp>
      <p:cxnSp>
        <p:nvCxnSpPr>
          <p:cNvPr id="8" name="Connector 7"/>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2000" y="1548000"/>
            <a:ext cx="3074688" cy="3096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00" y="1673999"/>
            <a:ext cx="2786688" cy="288000"/>
          </a:xfrm>
          <a:prstGeom prst="rect">
            <a:avLst/>
          </a:prstGeom>
          <a:noFill/>
        </p:spPr>
        <p:txBody>
          <a:bodyPr wrap="square" lIns="50400" tIns="18000" rIns="50400" bIns="18000" anchor="ctr">
            <a:spAutoFit/>
          </a:bodyPr>
          <a:lstStyle/>
          <a:p>
            <a:pPr algn="l"/>
            <a:r>
              <a:rPr sz="1600" b="1">
                <a:solidFill>
                  <a:srgbClr val="888888"/>
                </a:solidFill>
                <a:latin typeface="メイリオ"/>
                <a:ea typeface="メイリオ"/>
                <a:cs typeface="メイリオ"/>
              </a:rPr>
              <a:t>できないこと</a:t>
            </a:r>
          </a:p>
        </p:txBody>
      </p:sp>
      <p:sp>
        <p:nvSpPr>
          <p:cNvPr id="11" name="TextBox 10"/>
          <p:cNvSpPr txBox="1"/>
          <p:nvPr/>
        </p:nvSpPr>
        <p:spPr>
          <a:xfrm>
            <a:off x="576000" y="2088000"/>
            <a:ext cx="2786688" cy="558000"/>
          </a:xfrm>
          <a:prstGeom prst="rect">
            <a:avLst/>
          </a:prstGeom>
          <a:noFill/>
        </p:spPr>
        <p:txBody>
          <a:bodyPr wrap="square" lIns="50400" tIns="18000" rIns="50400" bIns="18000" anchor="t">
            <a:spAutoFit/>
          </a:bodyPr>
          <a:lstStyle/>
          <a:p>
            <a:pPr algn="l">
              <a:lnSpc>
                <a:spcPct val="130000"/>
              </a:lnSpc>
            </a:pPr>
            <a:r>
              <a:rPr sz="1300">
                <a:solidFill>
                  <a:srgbClr val="888888"/>
                </a:solidFill>
                <a:latin typeface="メイリオ"/>
                <a:ea typeface="メイリオ"/>
                <a:cs typeface="メイリオ"/>
              </a:rPr>
              <a:t>✕ 商品力・価格競争力</a:t>
            </a:r>
          </a:p>
        </p:txBody>
      </p:sp>
      <p:sp>
        <p:nvSpPr>
          <p:cNvPr id="12" name="TextBox 11"/>
          <p:cNvSpPr txBox="1"/>
          <p:nvPr/>
        </p:nvSpPr>
        <p:spPr>
          <a:xfrm>
            <a:off x="576000" y="2718000"/>
            <a:ext cx="2786688" cy="558000"/>
          </a:xfrm>
          <a:prstGeom prst="rect">
            <a:avLst/>
          </a:prstGeom>
          <a:noFill/>
        </p:spPr>
        <p:txBody>
          <a:bodyPr wrap="square" lIns="50400" tIns="18000" rIns="50400" bIns="18000" anchor="t">
            <a:spAutoFit/>
          </a:bodyPr>
          <a:lstStyle/>
          <a:p>
            <a:pPr algn="l">
              <a:lnSpc>
                <a:spcPct val="130000"/>
              </a:lnSpc>
            </a:pPr>
            <a:r>
              <a:rPr sz="1300">
                <a:solidFill>
                  <a:srgbClr val="888888"/>
                </a:solidFill>
                <a:latin typeface="メイリオ"/>
                <a:ea typeface="メイリオ"/>
                <a:cs typeface="メイリオ"/>
              </a:rPr>
              <a:t>✕ 送料・配送スピード・返品条件（物流）</a:t>
            </a:r>
          </a:p>
        </p:txBody>
      </p:sp>
      <p:sp>
        <p:nvSpPr>
          <p:cNvPr id="13" name="TextBox 12"/>
          <p:cNvSpPr txBox="1"/>
          <p:nvPr/>
        </p:nvSpPr>
        <p:spPr>
          <a:xfrm>
            <a:off x="576000" y="3348000"/>
            <a:ext cx="2786688" cy="558000"/>
          </a:xfrm>
          <a:prstGeom prst="rect">
            <a:avLst/>
          </a:prstGeom>
          <a:noFill/>
        </p:spPr>
        <p:txBody>
          <a:bodyPr wrap="square" lIns="50400" tIns="18000" rIns="50400" bIns="18000" anchor="t">
            <a:spAutoFit/>
          </a:bodyPr>
          <a:lstStyle/>
          <a:p>
            <a:pPr algn="l">
              <a:lnSpc>
                <a:spcPct val="130000"/>
              </a:lnSpc>
            </a:pPr>
            <a:r>
              <a:rPr sz="1300">
                <a:solidFill>
                  <a:srgbClr val="888888"/>
                </a:solidFill>
                <a:latin typeface="メイリオ"/>
                <a:ea typeface="メイリオ"/>
                <a:cs typeface="メイリオ"/>
              </a:rPr>
              <a:t>✕ モール手数料率（言い値）</a:t>
            </a:r>
          </a:p>
        </p:txBody>
      </p:sp>
      <p:sp>
        <p:nvSpPr>
          <p:cNvPr id="14" name="TextBox 13"/>
          <p:cNvSpPr txBox="1"/>
          <p:nvPr/>
        </p:nvSpPr>
        <p:spPr>
          <a:xfrm>
            <a:off x="576000" y="3978000"/>
            <a:ext cx="2786688" cy="558000"/>
          </a:xfrm>
          <a:prstGeom prst="rect">
            <a:avLst/>
          </a:prstGeom>
          <a:noFill/>
        </p:spPr>
        <p:txBody>
          <a:bodyPr wrap="square" lIns="50400" tIns="18000" rIns="50400" bIns="18000" anchor="t">
            <a:spAutoFit/>
          </a:bodyPr>
          <a:lstStyle/>
          <a:p>
            <a:pPr algn="l">
              <a:lnSpc>
                <a:spcPct val="130000"/>
              </a:lnSpc>
            </a:pPr>
            <a:r>
              <a:rPr sz="1300">
                <a:solidFill>
                  <a:srgbClr val="888888"/>
                </a:solidFill>
                <a:latin typeface="メイリオ"/>
                <a:ea typeface="メイリオ"/>
                <a:cs typeface="メイリオ"/>
              </a:rPr>
              <a:t>✕ 在庫・欠品</a:t>
            </a:r>
          </a:p>
        </p:txBody>
      </p:sp>
      <p:sp>
        <p:nvSpPr>
          <p:cNvPr id="15" name="Rounded Rectangle 14"/>
          <p:cNvSpPr/>
          <p:nvPr/>
        </p:nvSpPr>
        <p:spPr>
          <a:xfrm>
            <a:off x="3686688" y="1548000"/>
            <a:ext cx="5788512" cy="3096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3830688" y="1661324"/>
            <a:ext cx="5500512" cy="313350"/>
          </a:xfrm>
          <a:prstGeom prst="rect">
            <a:avLst/>
          </a:prstGeom>
          <a:noFill/>
        </p:spPr>
        <p:txBody>
          <a:bodyPr wrap="square" lIns="50400" tIns="18000" rIns="50400" bIns="18000" anchor="ctr">
            <a:spAutoFit/>
          </a:bodyPr>
          <a:lstStyle/>
          <a:p>
            <a:pPr algn="l"/>
            <a:r>
              <a:rPr b="1">
                <a:solidFill>
                  <a:srgbClr val="002060"/>
                </a:solidFill>
                <a:latin typeface="メイリオ"/>
                <a:ea typeface="メイリオ"/>
                <a:cs typeface="メイリオ"/>
              </a:rPr>
              <a:t>できること（＝本提案の範囲）</a:t>
            </a:r>
          </a:p>
        </p:txBody>
      </p:sp>
      <p:sp>
        <p:nvSpPr>
          <p:cNvPr id="17" name="TextBox 16"/>
          <p:cNvSpPr txBox="1"/>
          <p:nvPr/>
        </p:nvSpPr>
        <p:spPr>
          <a:xfrm>
            <a:off x="3830688" y="2112904"/>
            <a:ext cx="4132512" cy="292191"/>
          </a:xfrm>
          <a:prstGeom prst="rect">
            <a:avLst/>
          </a:prstGeom>
          <a:noFill/>
        </p:spPr>
        <p:txBody>
          <a:bodyPr wrap="square" lIns="50400" tIns="18000" rIns="50400" bIns="18000" anchor="ctr">
            <a:spAutoFit/>
          </a:bodyPr>
          <a:lstStyle/>
          <a:p>
            <a:pPr algn="l">
              <a:lnSpc>
                <a:spcPct val="125000"/>
              </a:lnSpc>
            </a:pPr>
            <a:r>
              <a:rPr sz="1400">
                <a:solidFill>
                  <a:srgbClr val="333333"/>
                </a:solidFill>
                <a:latin typeface="メイリオ"/>
                <a:ea typeface="メイリオ"/>
                <a:cs typeface="メイリオ"/>
              </a:rPr>
              <a:t>1. カゴ落ちを拾う</a:t>
            </a:r>
          </a:p>
        </p:txBody>
      </p:sp>
      <p:sp>
        <p:nvSpPr>
          <p:cNvPr id="18" name="Rounded Rectangle 17"/>
          <p:cNvSpPr/>
          <p:nvPr/>
        </p:nvSpPr>
        <p:spPr>
          <a:xfrm>
            <a:off x="8035200" y="2106000"/>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200" b="1">
                <a:solidFill>
                  <a:srgbClr val="ED7D31"/>
                </a:solidFill>
                <a:latin typeface="メイリオ"/>
                <a:ea typeface="メイリオ"/>
                <a:cs typeface="メイリオ"/>
              </a:rPr>
              <a:t>CPO</a:t>
            </a:r>
          </a:p>
        </p:txBody>
      </p:sp>
      <p:sp>
        <p:nvSpPr>
          <p:cNvPr id="19" name="TextBox 18"/>
          <p:cNvSpPr txBox="1"/>
          <p:nvPr/>
        </p:nvSpPr>
        <p:spPr>
          <a:xfrm>
            <a:off x="3830688" y="2403053"/>
            <a:ext cx="4132512" cy="561495"/>
          </a:xfrm>
          <a:prstGeom prst="rect">
            <a:avLst/>
          </a:prstGeom>
          <a:noFill/>
        </p:spPr>
        <p:txBody>
          <a:bodyPr wrap="square" lIns="50400" tIns="18000" rIns="50400" bIns="18000" anchor="ctr">
            <a:spAutoFit/>
          </a:bodyPr>
          <a:lstStyle/>
          <a:p>
            <a:pPr algn="l">
              <a:lnSpc>
                <a:spcPct val="125000"/>
              </a:lnSpc>
            </a:pPr>
            <a:r>
              <a:rPr sz="1400">
                <a:solidFill>
                  <a:srgbClr val="333333"/>
                </a:solidFill>
                <a:latin typeface="メイリオ"/>
                <a:ea typeface="メイリオ"/>
                <a:cs typeface="メイリオ"/>
              </a:rPr>
              <a:t>2. メールで届かない人に届ける（当日中に約8割開封）</a:t>
            </a:r>
          </a:p>
        </p:txBody>
      </p:sp>
      <p:sp>
        <p:nvSpPr>
          <p:cNvPr id="20" name="Rounded Rectangle 19"/>
          <p:cNvSpPr/>
          <p:nvPr/>
        </p:nvSpPr>
        <p:spPr>
          <a:xfrm>
            <a:off x="8035200" y="2530800"/>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200" b="1">
                <a:solidFill>
                  <a:srgbClr val="ED7D31"/>
                </a:solidFill>
                <a:latin typeface="メイリオ"/>
                <a:ea typeface="メイリオ"/>
                <a:cs typeface="メイリオ"/>
              </a:rPr>
              <a:t>全段</a:t>
            </a:r>
          </a:p>
        </p:txBody>
      </p:sp>
      <p:sp>
        <p:nvSpPr>
          <p:cNvPr id="21" name="TextBox 20"/>
          <p:cNvSpPr txBox="1"/>
          <p:nvPr/>
        </p:nvSpPr>
        <p:spPr>
          <a:xfrm>
            <a:off x="3830688" y="2962504"/>
            <a:ext cx="4132512" cy="292191"/>
          </a:xfrm>
          <a:prstGeom prst="rect">
            <a:avLst/>
          </a:prstGeom>
          <a:noFill/>
        </p:spPr>
        <p:txBody>
          <a:bodyPr wrap="square" lIns="50400" tIns="18000" rIns="50400" bIns="18000" anchor="ctr">
            <a:spAutoFit/>
          </a:bodyPr>
          <a:lstStyle/>
          <a:p>
            <a:pPr algn="l">
              <a:lnSpc>
                <a:spcPct val="125000"/>
              </a:lnSpc>
            </a:pPr>
            <a:r>
              <a:rPr sz="1400">
                <a:solidFill>
                  <a:srgbClr val="333333"/>
                </a:solidFill>
                <a:latin typeface="メイリオ"/>
                <a:ea typeface="メイリオ"/>
                <a:cs typeface="メイリオ"/>
              </a:rPr>
              <a:t>3. 初回購入の背中を押す</a:t>
            </a:r>
          </a:p>
        </p:txBody>
      </p:sp>
      <p:sp>
        <p:nvSpPr>
          <p:cNvPr id="22" name="Rounded Rectangle 21"/>
          <p:cNvSpPr/>
          <p:nvPr/>
        </p:nvSpPr>
        <p:spPr>
          <a:xfrm>
            <a:off x="8035200" y="2955599"/>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200" b="1">
                <a:solidFill>
                  <a:srgbClr val="ED7D31"/>
                </a:solidFill>
                <a:latin typeface="メイリオ"/>
                <a:ea typeface="メイリオ"/>
                <a:cs typeface="メイリオ"/>
              </a:rPr>
              <a:t>CPO</a:t>
            </a:r>
          </a:p>
        </p:txBody>
      </p:sp>
      <p:sp>
        <p:nvSpPr>
          <p:cNvPr id="23" name="TextBox 22"/>
          <p:cNvSpPr txBox="1"/>
          <p:nvPr/>
        </p:nvSpPr>
        <p:spPr>
          <a:xfrm>
            <a:off x="3830688" y="3387303"/>
            <a:ext cx="4132512" cy="292191"/>
          </a:xfrm>
          <a:prstGeom prst="rect">
            <a:avLst/>
          </a:prstGeom>
          <a:noFill/>
        </p:spPr>
        <p:txBody>
          <a:bodyPr wrap="square" lIns="50400" tIns="18000" rIns="50400" bIns="18000" anchor="ctr">
            <a:spAutoFit/>
          </a:bodyPr>
          <a:lstStyle/>
          <a:p>
            <a:pPr algn="l">
              <a:lnSpc>
                <a:spcPct val="125000"/>
              </a:lnSpc>
            </a:pPr>
            <a:r>
              <a:rPr sz="1400">
                <a:solidFill>
                  <a:srgbClr val="333333"/>
                </a:solidFill>
                <a:latin typeface="メイリオ"/>
                <a:ea typeface="メイリオ"/>
                <a:cs typeface="メイリオ"/>
              </a:rPr>
              <a:t>4. F2転換を自動化する</a:t>
            </a:r>
          </a:p>
        </p:txBody>
      </p:sp>
      <p:sp>
        <p:nvSpPr>
          <p:cNvPr id="24" name="Rounded Rectangle 23"/>
          <p:cNvSpPr/>
          <p:nvPr/>
        </p:nvSpPr>
        <p:spPr>
          <a:xfrm>
            <a:off x="8035200" y="3380399"/>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200" b="1">
                <a:solidFill>
                  <a:srgbClr val="ED7D31"/>
                </a:solidFill>
                <a:latin typeface="メイリオ"/>
                <a:ea typeface="メイリオ"/>
                <a:cs typeface="メイリオ"/>
              </a:rPr>
              <a:t>F2転換率・LTV</a:t>
            </a:r>
          </a:p>
        </p:txBody>
      </p:sp>
      <p:sp>
        <p:nvSpPr>
          <p:cNvPr id="25" name="TextBox 24"/>
          <p:cNvSpPr txBox="1"/>
          <p:nvPr/>
        </p:nvSpPr>
        <p:spPr>
          <a:xfrm>
            <a:off x="3830688" y="3812103"/>
            <a:ext cx="4132512" cy="292191"/>
          </a:xfrm>
          <a:prstGeom prst="rect">
            <a:avLst/>
          </a:prstGeom>
          <a:noFill/>
        </p:spPr>
        <p:txBody>
          <a:bodyPr wrap="square" lIns="50400" tIns="18000" rIns="50400" bIns="18000" anchor="ctr">
            <a:spAutoFit/>
          </a:bodyPr>
          <a:lstStyle/>
          <a:p>
            <a:pPr algn="l">
              <a:lnSpc>
                <a:spcPct val="125000"/>
              </a:lnSpc>
            </a:pPr>
            <a:r>
              <a:rPr sz="1400">
                <a:solidFill>
                  <a:srgbClr val="333333"/>
                </a:solidFill>
                <a:latin typeface="メイリオ"/>
                <a:ea typeface="メイリオ"/>
                <a:cs typeface="メイリオ"/>
              </a:rPr>
              <a:t>5. 定期の解約を止める／休眠を起こす</a:t>
            </a:r>
          </a:p>
        </p:txBody>
      </p:sp>
      <p:sp>
        <p:nvSpPr>
          <p:cNvPr id="26" name="Rounded Rectangle 25"/>
          <p:cNvSpPr/>
          <p:nvPr/>
        </p:nvSpPr>
        <p:spPr>
          <a:xfrm>
            <a:off x="8035200" y="3805199"/>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200" b="1">
                <a:solidFill>
                  <a:srgbClr val="ED7D31"/>
                </a:solidFill>
                <a:latin typeface="メイリオ"/>
                <a:ea typeface="メイリオ"/>
                <a:cs typeface="メイリオ"/>
              </a:rPr>
              <a:t>LTV</a:t>
            </a:r>
          </a:p>
        </p:txBody>
      </p:sp>
      <p:sp>
        <p:nvSpPr>
          <p:cNvPr id="27" name="TextBox 26"/>
          <p:cNvSpPr txBox="1"/>
          <p:nvPr/>
        </p:nvSpPr>
        <p:spPr>
          <a:xfrm>
            <a:off x="3830688" y="4236903"/>
            <a:ext cx="4132512" cy="292191"/>
          </a:xfrm>
          <a:prstGeom prst="rect">
            <a:avLst/>
          </a:prstGeom>
          <a:noFill/>
        </p:spPr>
        <p:txBody>
          <a:bodyPr wrap="square" lIns="50400" tIns="18000" rIns="50400" bIns="18000" anchor="ctr">
            <a:spAutoFit/>
          </a:bodyPr>
          <a:lstStyle/>
          <a:p>
            <a:pPr algn="l">
              <a:lnSpc>
                <a:spcPct val="125000"/>
              </a:lnSpc>
            </a:pPr>
            <a:r>
              <a:rPr sz="1400">
                <a:solidFill>
                  <a:srgbClr val="333333"/>
                </a:solidFill>
                <a:latin typeface="メイリオ"/>
                <a:ea typeface="メイリオ"/>
                <a:cs typeface="メイリオ"/>
              </a:rPr>
              <a:t>6. 1stパーティデータを持つ</a:t>
            </a:r>
          </a:p>
        </p:txBody>
      </p:sp>
      <p:sp>
        <p:nvSpPr>
          <p:cNvPr id="28" name="Rounded Rectangle 27"/>
          <p:cNvSpPr/>
          <p:nvPr/>
        </p:nvSpPr>
        <p:spPr>
          <a:xfrm>
            <a:off x="8035200" y="4229999"/>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200" b="1">
                <a:solidFill>
                  <a:srgbClr val="ED7D31"/>
                </a:solidFill>
                <a:latin typeface="メイリオ"/>
                <a:ea typeface="メイリオ"/>
                <a:cs typeface="メイリオ"/>
              </a:rPr>
              <a:t>翌期のCPO</a:t>
            </a:r>
          </a:p>
        </p:txBody>
      </p:sp>
      <p:sp>
        <p:nvSpPr>
          <p:cNvPr id="29" name="Rounded Rectangle 28"/>
          <p:cNvSpPr/>
          <p:nvPr/>
        </p:nvSpPr>
        <p:spPr>
          <a:xfrm>
            <a:off x="432000" y="4806000"/>
            <a:ext cx="9043200" cy="413999"/>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600" b="1" dirty="0">
                <a:solidFill>
                  <a:srgbClr val="FFFFFF"/>
                </a:solidFill>
                <a:latin typeface="メイリオ"/>
                <a:ea typeface="メイリオ"/>
                <a:cs typeface="メイリオ"/>
              </a:rPr>
              <a:t>触るのは「カゴに入れた後」と「1回目を買った後」の2箇所だけ。広告費も流入もLPも触らない</a:t>
            </a:r>
          </a:p>
        </p:txBody>
      </p:sp>
      <p:sp>
        <p:nvSpPr>
          <p:cNvPr id="30" name="TextBox 29"/>
          <p:cNvSpPr txBox="1"/>
          <p:nvPr/>
        </p:nvSpPr>
        <p:spPr>
          <a:xfrm>
            <a:off x="432000" y="5242973"/>
            <a:ext cx="9043200" cy="638055"/>
          </a:xfrm>
          <a:prstGeom prst="rect">
            <a:avLst/>
          </a:prstGeom>
          <a:noFill/>
        </p:spPr>
        <p:txBody>
          <a:bodyPr wrap="square" lIns="50400" tIns="18000" rIns="50400" bIns="18000" anchor="ctr">
            <a:spAutoFit/>
          </a:bodyPr>
          <a:lstStyle/>
          <a:p>
            <a:pPr algn="ctr">
              <a:lnSpc>
                <a:spcPct val="135000"/>
              </a:lnSpc>
            </a:pPr>
            <a:r>
              <a:rPr sz="1400" dirty="0">
                <a:solidFill>
                  <a:srgbClr val="333333"/>
                </a:solidFill>
                <a:latin typeface="メイリオ"/>
                <a:ea typeface="メイリオ"/>
                <a:cs typeface="メイリオ"/>
              </a:rPr>
              <a:t>「</a:t>
            </a:r>
            <a:r>
              <a:rPr sz="1400" dirty="0" err="1">
                <a:solidFill>
                  <a:srgbClr val="333333"/>
                </a:solidFill>
                <a:latin typeface="メイリオ"/>
                <a:ea typeface="メイリオ"/>
                <a:cs typeface="メイリオ"/>
              </a:rPr>
              <a:t>もっと広告を回しましょう」ではなく</a:t>
            </a:r>
            <a:r>
              <a:rPr sz="1400" dirty="0">
                <a:solidFill>
                  <a:srgbClr val="333333"/>
                </a:solidFill>
                <a:latin typeface="メイリオ"/>
                <a:ea typeface="メイリオ"/>
                <a:cs typeface="メイリオ"/>
              </a:rPr>
              <a:t>、</a:t>
            </a:r>
            <a:endParaRPr lang="en-US" sz="1400" dirty="0">
              <a:solidFill>
                <a:srgbClr val="333333"/>
              </a:solidFill>
              <a:latin typeface="メイリオ"/>
              <a:ea typeface="メイリオ"/>
              <a:cs typeface="メイリオ"/>
            </a:endParaRPr>
          </a:p>
          <a:p>
            <a:pPr algn="ctr">
              <a:lnSpc>
                <a:spcPct val="135000"/>
              </a:lnSpc>
            </a:pPr>
            <a:r>
              <a:rPr sz="1600" dirty="0">
                <a:solidFill>
                  <a:srgbClr val="333333"/>
                </a:solidFill>
                <a:latin typeface="メイリオ"/>
                <a:ea typeface="メイリオ"/>
                <a:cs typeface="メイリオ"/>
              </a:rPr>
              <a:t>上の6つを自動化して LTV ÷ CPO </a:t>
            </a:r>
            <a:r>
              <a:rPr sz="1600" dirty="0" err="1">
                <a:solidFill>
                  <a:srgbClr val="333333"/>
                </a:solidFill>
                <a:latin typeface="メイリオ"/>
                <a:ea typeface="メイリオ"/>
                <a:cs typeface="メイリオ"/>
              </a:rPr>
              <a:t>を上げる提案です</a:t>
            </a:r>
            <a:r>
              <a:rPr sz="1600" dirty="0">
                <a:solidFill>
                  <a:srgbClr val="333333"/>
                </a:solidFill>
                <a:latin typeface="メイリオ"/>
                <a:ea typeface="メイリオ"/>
                <a:cs typeface="メイリオ"/>
              </a:rPr>
              <a:t>。</a:t>
            </a:r>
          </a:p>
        </p:txBody>
      </p:sp>
      <p:sp>
        <p:nvSpPr>
          <p:cNvPr id="31" name="TextBox 30"/>
          <p:cNvSpPr txBox="1"/>
          <p:nvPr/>
        </p:nvSpPr>
        <p:spPr>
          <a:xfrm>
            <a:off x="432000" y="6359211"/>
            <a:ext cx="9043200" cy="177929"/>
          </a:xfrm>
          <a:prstGeom prst="rect">
            <a:avLst/>
          </a:prstGeom>
          <a:noFill/>
        </p:spPr>
        <p:txBody>
          <a:bodyPr wrap="square" lIns="50400" tIns="18000" rIns="50400" bIns="18000" anchor="t">
            <a:spAutoFit/>
          </a:bodyPr>
          <a:lstStyle/>
          <a:p>
            <a:pPr algn="l">
              <a:lnSpc>
                <a:spcPct val="120000"/>
              </a:lnSpc>
            </a:pPr>
            <a:r>
              <a:rPr sz="800" dirty="0">
                <a:solidFill>
                  <a:srgbClr val="888888"/>
                </a:solidFill>
                <a:latin typeface="メイリオ"/>
                <a:ea typeface="メイリオ"/>
                <a:cs typeface="メイリオ"/>
              </a:rPr>
              <a:t>本提案の対象範囲｜広告費・流入・LPには手を入れず、上の6項目に限定します</a:t>
            </a:r>
          </a:p>
        </p:txBody>
      </p:sp>
    </p:spTree>
    <p:extLst>
      <p:ext uri="{BB962C8B-B14F-4D97-AF65-F5344CB8AC3E}">
        <p14:creationId xmlns:p14="http://schemas.microsoft.com/office/powerpoint/2010/main" val="4224870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なぜLINEか｜LINE施策における重要な考え方</a:t>
            </a: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全体設計｜ECのカスタマージャーニー8フェーズ</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ECのカスタマージャーニーにあわせてLINE施策を配置。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※EC特有の山は⑤初回購入ではなく⑥F2。ここが本提案の主戦場。</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初回購入</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定期・リピート化</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F2（2回目購入）</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 LTV最大化・紹介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接触（広告・検索）</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カゴ落ち（対策）</a:t>
            </a: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比較検討</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友だち追加</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どう友だち追加させるか？（EC→LINE）</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どう友だちを購入に結びつけるか？（LINE→CV）</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商品ページ・カート動線の整備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既存の購入者リスト活用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SNS/メルマガ（開封20%前後）</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同梱物QR・納品書</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800" dirty="0">
                <a:solidFill>
                  <a:schemeClr val="bg1"/>
                </a:solidFill>
                <a:latin typeface="メイリオ" panose="020B0604030504040204" pitchFamily="50" charset="-128"/>
                <a:ea typeface="メイリオ" panose="020B0604030504040204" pitchFamily="50" charset="-128"/>
              </a:rPr>
              <a:t>購入前7日／購入後は消費サイクル連動</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全体設計｜フェーズ別のLINE施策マップ</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ECのカスタマージャーニーにあわせてLINE施策を配置。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※EC特有の山は⑤初回購入ではなく⑥F2。ここが本提案の主戦場。</a:t>
            </a:r>
          </a:p>
        </p:txBody>
      </p:sp>
      <p:cxnSp>
        <p:nvCxnSpPr>
          <p:cNvPr id="2" name="直線コネクタ 1">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972D4A84-F812-745D-8012-250B4552B997}"/>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44AC577-5EFA-CB60-B4CF-22AC71B2AE31}"/>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F10844F-FFBB-F47D-A888-4E74272E000D}"/>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7A83D6DE-2FDB-43D7-254C-963478133303}"/>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51F88B17-D24B-2FBF-DD4F-ACEDA2F1108B}"/>
              </a:ext>
            </a:extLst>
          </p:cNvPr>
          <p:cNvSpPr txBox="1"/>
          <p:nvPr/>
        </p:nvSpPr>
        <p:spPr>
          <a:xfrm>
            <a:off x="3542138" y="2124167"/>
            <a:ext cx="2676457"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初回購入</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13CCD889-9CB5-A25E-FF4C-285CF082C6EB}"/>
              </a:ext>
            </a:extLst>
          </p:cNvPr>
          <p:cNvSpPr txBox="1"/>
          <p:nvPr/>
        </p:nvSpPr>
        <p:spPr>
          <a:xfrm>
            <a:off x="6119412" y="2533325"/>
            <a:ext cx="2676457"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定期・リピート化</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752D241B-7DDC-C05A-C891-858C99F0C81E}"/>
              </a:ext>
            </a:extLst>
          </p:cNvPr>
          <p:cNvSpPr txBox="1"/>
          <p:nvPr/>
        </p:nvSpPr>
        <p:spPr>
          <a:xfrm>
            <a:off x="4830775" y="2328746"/>
            <a:ext cx="2676457"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F2（2回目購入）</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093F3B9E-1884-4283-7D47-92DF224DA02A}"/>
              </a:ext>
            </a:extLst>
          </p:cNvPr>
          <p:cNvSpPr txBox="1"/>
          <p:nvPr/>
        </p:nvSpPr>
        <p:spPr>
          <a:xfrm>
            <a:off x="7408050" y="2737904"/>
            <a:ext cx="2182012"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 LTV最大化・紹介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4B719D4F-60B6-01FD-6088-ACFD3B9EC8DD}"/>
              </a:ext>
            </a:extLst>
          </p:cNvPr>
          <p:cNvSpPr txBox="1"/>
          <p:nvPr/>
        </p:nvSpPr>
        <p:spPr>
          <a:xfrm>
            <a:off x="334303" y="2130251"/>
            <a:ext cx="2125639" cy="261610"/>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接触（広告・検索・SNS）</a:t>
            </a:r>
          </a:p>
        </p:txBody>
      </p:sp>
      <p:sp>
        <p:nvSpPr>
          <p:cNvPr id="19" name="テキスト ボックス 18">
            <a:extLst>
              <a:ext uri="{FF2B5EF4-FFF2-40B4-BE49-F238E27FC236}">
                <a16:creationId xmlns:a16="http://schemas.microsoft.com/office/drawing/2014/main" id="{71407A20-3836-331E-F2F0-E75DDCF73BA0}"/>
              </a:ext>
            </a:extLst>
          </p:cNvPr>
          <p:cNvSpPr txBox="1"/>
          <p:nvPr/>
        </p:nvSpPr>
        <p:spPr>
          <a:xfrm>
            <a:off x="1268358" y="2340913"/>
            <a:ext cx="2125639" cy="261610"/>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カゴ落ち（対策）</a:t>
            </a:r>
          </a:p>
        </p:txBody>
      </p:sp>
      <p:sp>
        <p:nvSpPr>
          <p:cNvPr id="20" name="テキスト ボックス 19">
            <a:extLst>
              <a:ext uri="{FF2B5EF4-FFF2-40B4-BE49-F238E27FC236}">
                <a16:creationId xmlns:a16="http://schemas.microsoft.com/office/drawing/2014/main" id="{F491CCB4-D02F-C3F5-CFB9-18B13F066C52}"/>
              </a:ext>
            </a:extLst>
          </p:cNvPr>
          <p:cNvSpPr txBox="1"/>
          <p:nvPr/>
        </p:nvSpPr>
        <p:spPr>
          <a:xfrm>
            <a:off x="2202413" y="2535023"/>
            <a:ext cx="2125639" cy="261610"/>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比較検討（不安つぶし）</a:t>
            </a:r>
          </a:p>
        </p:txBody>
      </p:sp>
      <p:sp>
        <p:nvSpPr>
          <p:cNvPr id="21" name="テキスト ボックス 20">
            <a:extLst>
              <a:ext uri="{FF2B5EF4-FFF2-40B4-BE49-F238E27FC236}">
                <a16:creationId xmlns:a16="http://schemas.microsoft.com/office/drawing/2014/main" id="{B68B9CA1-0E61-C60C-128F-E80096EDD924}"/>
              </a:ext>
            </a:extLst>
          </p:cNvPr>
          <p:cNvSpPr txBox="1"/>
          <p:nvPr/>
        </p:nvSpPr>
        <p:spPr>
          <a:xfrm>
            <a:off x="3136468" y="2731376"/>
            <a:ext cx="2125639" cy="261610"/>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友だち追加（web/LINE）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56D3FA3C-F4ED-9DF1-7620-D677AB1A2177}"/>
              </a:ext>
            </a:extLst>
          </p:cNvPr>
          <p:cNvCxnSpPr>
            <a:cxnSpLocks/>
            <a:stCxn id="21" idx="0"/>
            <a:endCxn id="14" idx="2"/>
          </p:cNvCxnSpPr>
          <p:nvPr/>
        </p:nvCxnSpPr>
        <p:spPr>
          <a:xfrm rot="5400000" flipH="1" flipV="1">
            <a:off x="4367028" y="2218038"/>
            <a:ext cx="345599" cy="681079"/>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59" name="テキスト ボックス 58">
            <a:extLst>
              <a:ext uri="{FF2B5EF4-FFF2-40B4-BE49-F238E27FC236}">
                <a16:creationId xmlns:a16="http://schemas.microsoft.com/office/drawing/2014/main" id="{BF3977E5-B33C-C6FC-10BA-8F52ECFB03CA}"/>
              </a:ext>
            </a:extLst>
          </p:cNvPr>
          <p:cNvSpPr txBox="1"/>
          <p:nvPr/>
        </p:nvSpPr>
        <p:spPr>
          <a:xfrm>
            <a:off x="3541821" y="4051926"/>
            <a:ext cx="2676457"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1" name="テキスト ボックス 60">
            <a:extLst>
              <a:ext uri="{FF2B5EF4-FFF2-40B4-BE49-F238E27FC236}">
                <a16:creationId xmlns:a16="http://schemas.microsoft.com/office/drawing/2014/main" id="{D6206F79-4BB4-7551-FF37-4057DB323042}"/>
              </a:ext>
            </a:extLst>
          </p:cNvPr>
          <p:cNvSpPr txBox="1"/>
          <p:nvPr/>
        </p:nvSpPr>
        <p:spPr>
          <a:xfrm>
            <a:off x="6119096" y="5110696"/>
            <a:ext cx="2446934"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2D803312-8977-E9CF-359E-78896D5177A7}"/>
              </a:ext>
            </a:extLst>
          </p:cNvPr>
          <p:cNvSpPr txBox="1"/>
          <p:nvPr/>
        </p:nvSpPr>
        <p:spPr>
          <a:xfrm>
            <a:off x="4830458" y="4581311"/>
            <a:ext cx="2676457"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EC4FAF12-FDAC-B48D-B571-CC028A01229C}"/>
              </a:ext>
            </a:extLst>
          </p:cNvPr>
          <p:cNvSpPr txBox="1"/>
          <p:nvPr/>
        </p:nvSpPr>
        <p:spPr>
          <a:xfrm>
            <a:off x="7408050" y="5640081"/>
            <a:ext cx="2182009"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69" name="テキスト ボックス 68">
            <a:extLst>
              <a:ext uri="{FF2B5EF4-FFF2-40B4-BE49-F238E27FC236}">
                <a16:creationId xmlns:a16="http://schemas.microsoft.com/office/drawing/2014/main" id="{78DCEB5B-FCE6-A4B7-134E-DC51AE101C96}"/>
              </a:ext>
            </a:extLst>
          </p:cNvPr>
          <p:cNvSpPr txBox="1"/>
          <p:nvPr/>
        </p:nvSpPr>
        <p:spPr>
          <a:xfrm>
            <a:off x="334303" y="3527824"/>
            <a:ext cx="2125639"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endParaRPr lang="en-US" altLang="ja-JP" sz="1100" b="1" dirty="0">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7489B5AC-E8EC-12A6-77B1-767D57C6C111}"/>
              </a:ext>
            </a:extLst>
          </p:cNvPr>
          <p:cNvSpPr txBox="1"/>
          <p:nvPr/>
        </p:nvSpPr>
        <p:spPr>
          <a:xfrm>
            <a:off x="1268358" y="4051926"/>
            <a:ext cx="2125639"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3C51428D-94BF-DEDC-89ED-6FC6DD5D8DDB}"/>
              </a:ext>
            </a:extLst>
          </p:cNvPr>
          <p:cNvSpPr txBox="1"/>
          <p:nvPr/>
        </p:nvSpPr>
        <p:spPr>
          <a:xfrm>
            <a:off x="2202413" y="4576028"/>
            <a:ext cx="2125639"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70A8450A-EBDB-52BF-A9C2-03CB7CC3C8E9}"/>
              </a:ext>
            </a:extLst>
          </p:cNvPr>
          <p:cNvSpPr txBox="1"/>
          <p:nvPr/>
        </p:nvSpPr>
        <p:spPr>
          <a:xfrm>
            <a:off x="3132447" y="5100131"/>
            <a:ext cx="2125639"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p>
        </p:txBody>
      </p:sp>
    </p:spTree>
    <p:extLst>
      <p:ext uri="{BB962C8B-B14F-4D97-AF65-F5344CB8AC3E}">
        <p14:creationId xmlns:p14="http://schemas.microsoft.com/office/powerpoint/2010/main" val="3509480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2ECE7535-75B5-FD71-5DE8-AB1B855FFED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全体設計｜LINEで対策できる領域</a:t>
            </a:r>
          </a:p>
        </p:txBody>
      </p:sp>
      <p:sp>
        <p:nvSpPr>
          <p:cNvPr id="4" name="正方形/長方形 3">
            <a:extLst>
              <a:ext uri="{FF2B5EF4-FFF2-40B4-BE49-F238E27FC236}">
                <a16:creationId xmlns:a16="http://schemas.microsoft.com/office/drawing/2014/main" id="{91D529F5-1969-8F22-8508-5967D82F7783}"/>
              </a:ext>
            </a:extLst>
          </p:cNvPr>
          <p:cNvSpPr/>
          <p:nvPr/>
        </p:nvSpPr>
        <p:spPr>
          <a:xfrm>
            <a:off x="379908" y="1835393"/>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379908" y="4397170"/>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C7E38EC2-DE76-A5FE-A6B8-3B48F7BD7B46}"/>
              </a:ext>
            </a:extLst>
          </p:cNvPr>
          <p:cNvSpPr txBox="1"/>
          <p:nvPr/>
        </p:nvSpPr>
        <p:spPr>
          <a:xfrm>
            <a:off x="379908" y="1527022"/>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テキスト ボックス 8">
            <a:extLst>
              <a:ext uri="{FF2B5EF4-FFF2-40B4-BE49-F238E27FC236}">
                <a16:creationId xmlns:a16="http://schemas.microsoft.com/office/drawing/2014/main" id="{315E4FD7-BF96-305B-4DFF-0204D305BAAE}"/>
              </a:ext>
            </a:extLst>
          </p:cNvPr>
          <p:cNvSpPr txBox="1"/>
          <p:nvPr/>
        </p:nvSpPr>
        <p:spPr>
          <a:xfrm>
            <a:off x="379908" y="4089393"/>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72450FBF-2EA8-4582-869E-9B2A7C4946D7}"/>
              </a:ext>
            </a:extLst>
          </p:cNvPr>
          <p:cNvSpPr/>
          <p:nvPr/>
        </p:nvSpPr>
        <p:spPr>
          <a:xfrm>
            <a:off x="548883" y="2060461"/>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6891C2D7-8AEF-98E4-337B-283DC4374AFC}"/>
              </a:ext>
            </a:extLst>
          </p:cNvPr>
          <p:cNvSpPr/>
          <p:nvPr/>
        </p:nvSpPr>
        <p:spPr>
          <a:xfrm>
            <a:off x="548883" y="2322497"/>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3670DE23-5EB2-C1E6-9ED3-6176C87DDEA9}"/>
              </a:ext>
            </a:extLst>
          </p:cNvPr>
          <p:cNvSpPr/>
          <p:nvPr/>
        </p:nvSpPr>
        <p:spPr>
          <a:xfrm>
            <a:off x="548883" y="2659935"/>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98C708B2-F546-DE85-AA3B-2C7B33013111}"/>
              </a:ext>
            </a:extLst>
          </p:cNvPr>
          <p:cNvSpPr/>
          <p:nvPr/>
        </p:nvSpPr>
        <p:spPr>
          <a:xfrm>
            <a:off x="548883" y="2997373"/>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7" name="正方形/長方形 16">
            <a:extLst>
              <a:ext uri="{FF2B5EF4-FFF2-40B4-BE49-F238E27FC236}">
                <a16:creationId xmlns:a16="http://schemas.microsoft.com/office/drawing/2014/main" id="{812C768D-D601-2E13-45FD-BFE5BA587BC6}"/>
              </a:ext>
            </a:extLst>
          </p:cNvPr>
          <p:cNvSpPr/>
          <p:nvPr/>
        </p:nvSpPr>
        <p:spPr>
          <a:xfrm>
            <a:off x="548883" y="3672249"/>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8" name="正方形/長方形 17">
            <a:extLst>
              <a:ext uri="{FF2B5EF4-FFF2-40B4-BE49-F238E27FC236}">
                <a16:creationId xmlns:a16="http://schemas.microsoft.com/office/drawing/2014/main" id="{13127993-BF51-568A-20FB-A9FB1DB6C913}"/>
              </a:ext>
            </a:extLst>
          </p:cNvPr>
          <p:cNvSpPr/>
          <p:nvPr/>
        </p:nvSpPr>
        <p:spPr>
          <a:xfrm>
            <a:off x="8170812" y="2408570"/>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2E81D74A-E79F-C90A-80AF-4F6BDF853777}"/>
              </a:ext>
            </a:extLst>
          </p:cNvPr>
          <p:cNvSpPr/>
          <p:nvPr/>
        </p:nvSpPr>
        <p:spPr>
          <a:xfrm>
            <a:off x="548883" y="3334811"/>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同梱物QR・納品書 ※デザイン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346217DB-3E59-DD17-6353-BB21863AB6A4}"/>
              </a:ext>
            </a:extLst>
          </p:cNvPr>
          <p:cNvSpPr/>
          <p:nvPr/>
        </p:nvSpPr>
        <p:spPr>
          <a:xfrm>
            <a:off x="1950234" y="2999032"/>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B73343-1515-8075-50D7-828D2C7D0482}"/>
              </a:ext>
            </a:extLst>
          </p:cNvPr>
          <p:cNvSpPr/>
          <p:nvPr/>
        </p:nvSpPr>
        <p:spPr>
          <a:xfrm>
            <a:off x="1939622" y="2149679"/>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panose="020B0604030504040204" pitchFamily="50" charset="-128"/>
                <a:ea typeface="メイリオ" panose="020B0604030504040204" pitchFamily="50" charset="-128"/>
              </a:rPr>
              <a:t>(カゴ落ちポップアップ)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2" name="コネクタ: カギ線 51">
            <a:extLst>
              <a:ext uri="{FF2B5EF4-FFF2-40B4-BE49-F238E27FC236}">
                <a16:creationId xmlns:a16="http://schemas.microsoft.com/office/drawing/2014/main" id="{10A164B9-404C-F131-0FB7-4A7EC00628C8}"/>
              </a:ext>
            </a:extLst>
          </p:cNvPr>
          <p:cNvCxnSpPr>
            <a:cxnSpLocks/>
            <a:stCxn id="14" idx="3"/>
          </p:cNvCxnSpPr>
          <p:nvPr/>
        </p:nvCxnSpPr>
        <p:spPr>
          <a:xfrm flipV="1">
            <a:off x="1904163" y="2540793"/>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AB39E10C-FA5C-42F3-51FF-A98C96D3A9FE}"/>
              </a:ext>
            </a:extLst>
          </p:cNvPr>
          <p:cNvSpPr/>
          <p:nvPr/>
        </p:nvSpPr>
        <p:spPr>
          <a:xfrm>
            <a:off x="8170812" y="2124073"/>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130" name="正方形/長方形 129">
            <a:extLst>
              <a:ext uri="{FF2B5EF4-FFF2-40B4-BE49-F238E27FC236}">
                <a16:creationId xmlns:a16="http://schemas.microsoft.com/office/drawing/2014/main" id="{68999E51-25BF-ABC0-E768-EB439414D6AA}"/>
              </a:ext>
            </a:extLst>
          </p:cNvPr>
          <p:cNvSpPr/>
          <p:nvPr/>
        </p:nvSpPr>
        <p:spPr>
          <a:xfrm>
            <a:off x="505077" y="606959"/>
            <a:ext cx="9005456" cy="653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dirty="0">
                <a:solidFill>
                  <a:schemeClr val="tx1"/>
                </a:solidFill>
                <a:latin typeface="メイリオ" panose="020B0604030504040204" pitchFamily="50" charset="-128"/>
                <a:ea typeface="メイリオ" panose="020B0604030504040204" pitchFamily="50" charset="-128"/>
              </a:rPr>
              <a:t>カゴ落ち→初回購入へ引上げ、購入者→F2・定期へ引上げ 等、</a:t>
            </a:r>
            <a:endParaRPr lang="en-US" altLang="ja-JP" sz="1600" dirty="0">
              <a:solidFill>
                <a:schemeClr val="tx1"/>
              </a:solidFill>
              <a:latin typeface="メイリオ" panose="020B0604030504040204" pitchFamily="50" charset="-128"/>
              <a:ea typeface="メイリオ" panose="020B0604030504040204" pitchFamily="50" charset="-128"/>
            </a:endParaRPr>
          </a:p>
          <a:p>
            <a:pPr algn="ctr"/>
            <a:r>
              <a:rPr lang="en-US" altLang="ja-JP" sz="1600" dirty="0">
                <a:solidFill>
                  <a:schemeClr val="tx1"/>
                </a:solidFill>
                <a:latin typeface="メイリオ" panose="020B0604030504040204" pitchFamily="50" charset="-128"/>
                <a:ea typeface="メイリオ" panose="020B0604030504040204" pitchFamily="50" charset="-128"/>
              </a:rPr>
              <a:t>LINE</a:t>
            </a:r>
            <a:r>
              <a:rPr lang="ja-JP" altLang="en-US" sz="1600" dirty="0">
                <a:solidFill>
                  <a:schemeClr val="tx1"/>
                </a:solidFill>
                <a:latin typeface="メイリオ" panose="020B0604030504040204" pitchFamily="50" charset="-128"/>
                <a:ea typeface="メイリオ" panose="020B0604030504040204" pitchFamily="50" charset="-128"/>
              </a:rPr>
              <a:t>公式アカウントで対策できるポイントが非常に多く、課題に応じた施策展開が可能。</a:t>
            </a:r>
            <a:endParaRPr lang="ja-JP" altLang="en-US" sz="1600" dirty="0">
              <a:solidFill>
                <a:srgbClr val="FF0000"/>
              </a:solidFill>
              <a:latin typeface="メイリオ" panose="020B0604030504040204" pitchFamily="50" charset="-128"/>
              <a:ea typeface="メイリオ" panose="020B0604030504040204" pitchFamily="50" charset="-128"/>
            </a:endParaRPr>
          </a:p>
        </p:txBody>
      </p:sp>
      <p:sp>
        <p:nvSpPr>
          <p:cNvPr id="133" name="正方形/長方形 132">
            <a:extLst>
              <a:ext uri="{FF2B5EF4-FFF2-40B4-BE49-F238E27FC236}">
                <a16:creationId xmlns:a16="http://schemas.microsoft.com/office/drawing/2014/main" id="{EF3EB03D-B886-80C5-4DDF-AD318BB1E8CB}"/>
              </a:ext>
            </a:extLst>
          </p:cNvPr>
          <p:cNvSpPr/>
          <p:nvPr/>
        </p:nvSpPr>
        <p:spPr>
          <a:xfrm>
            <a:off x="6444618" y="4938641"/>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134" name="正方形/長方形 133">
            <a:extLst>
              <a:ext uri="{FF2B5EF4-FFF2-40B4-BE49-F238E27FC236}">
                <a16:creationId xmlns:a16="http://schemas.microsoft.com/office/drawing/2014/main" id="{8185B158-D6FD-FC9A-D842-E0184FC04A2F}"/>
              </a:ext>
            </a:extLst>
          </p:cNvPr>
          <p:cNvSpPr/>
          <p:nvPr/>
        </p:nvSpPr>
        <p:spPr>
          <a:xfrm>
            <a:off x="6444618" y="5207075"/>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35" name="正方形/長方形 134">
            <a:extLst>
              <a:ext uri="{FF2B5EF4-FFF2-40B4-BE49-F238E27FC236}">
                <a16:creationId xmlns:a16="http://schemas.microsoft.com/office/drawing/2014/main" id="{CAF16DCF-7CE0-97CD-A1FD-09B08149FF7B}"/>
              </a:ext>
            </a:extLst>
          </p:cNvPr>
          <p:cNvSpPr/>
          <p:nvPr/>
        </p:nvSpPr>
        <p:spPr>
          <a:xfrm>
            <a:off x="6444617" y="5743943"/>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6" name="正方形/長方形 135">
            <a:extLst>
              <a:ext uri="{FF2B5EF4-FFF2-40B4-BE49-F238E27FC236}">
                <a16:creationId xmlns:a16="http://schemas.microsoft.com/office/drawing/2014/main" id="{DE164E19-C9CA-ADE8-FE9B-4A4096DD13BE}"/>
              </a:ext>
            </a:extLst>
          </p:cNvPr>
          <p:cNvSpPr/>
          <p:nvPr/>
        </p:nvSpPr>
        <p:spPr>
          <a:xfrm>
            <a:off x="6444617" y="5475509"/>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7" name="正方形/長方形 136">
            <a:extLst>
              <a:ext uri="{FF2B5EF4-FFF2-40B4-BE49-F238E27FC236}">
                <a16:creationId xmlns:a16="http://schemas.microsoft.com/office/drawing/2014/main" id="{FF9A810E-B53B-2631-3BD5-00395512E9C0}"/>
              </a:ext>
            </a:extLst>
          </p:cNvPr>
          <p:cNvSpPr/>
          <p:nvPr/>
        </p:nvSpPr>
        <p:spPr>
          <a:xfrm>
            <a:off x="6444617" y="6012377"/>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45" name="正方形/長方形 144">
            <a:extLst>
              <a:ext uri="{FF2B5EF4-FFF2-40B4-BE49-F238E27FC236}">
                <a16:creationId xmlns:a16="http://schemas.microsoft.com/office/drawing/2014/main" id="{1DF80BB2-F1C3-A39C-D441-B75E4795CC5B}"/>
              </a:ext>
            </a:extLst>
          </p:cNvPr>
          <p:cNvSpPr/>
          <p:nvPr/>
        </p:nvSpPr>
        <p:spPr>
          <a:xfrm>
            <a:off x="6444617" y="4746848"/>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49" name="正方形/長方形 48">
            <a:extLst>
              <a:ext uri="{FF2B5EF4-FFF2-40B4-BE49-F238E27FC236}">
                <a16:creationId xmlns:a16="http://schemas.microsoft.com/office/drawing/2014/main" id="{CABD8985-CFB7-BFB4-C5CA-334F6DD3C337}"/>
              </a:ext>
            </a:extLst>
          </p:cNvPr>
          <p:cNvSpPr/>
          <p:nvPr/>
        </p:nvSpPr>
        <p:spPr>
          <a:xfrm>
            <a:off x="3634802" y="1986633"/>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0" name="正方形/長方形 49">
            <a:extLst>
              <a:ext uri="{FF2B5EF4-FFF2-40B4-BE49-F238E27FC236}">
                <a16:creationId xmlns:a16="http://schemas.microsoft.com/office/drawing/2014/main" id="{498D1E1C-883A-4348-5898-29B2849E59E6}"/>
              </a:ext>
            </a:extLst>
          </p:cNvPr>
          <p:cNvSpPr/>
          <p:nvPr/>
        </p:nvSpPr>
        <p:spPr>
          <a:xfrm>
            <a:off x="3802223" y="2418821"/>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51" name="コネクタ: カギ線 50">
            <a:extLst>
              <a:ext uri="{FF2B5EF4-FFF2-40B4-BE49-F238E27FC236}">
                <a16:creationId xmlns:a16="http://schemas.microsoft.com/office/drawing/2014/main" id="{2981AEA5-C263-1A76-AF6F-7D4F94F3AC3F}"/>
              </a:ext>
            </a:extLst>
          </p:cNvPr>
          <p:cNvCxnSpPr>
            <a:cxnSpLocks/>
          </p:cNvCxnSpPr>
          <p:nvPr/>
        </p:nvCxnSpPr>
        <p:spPr>
          <a:xfrm flipV="1">
            <a:off x="3492137" y="2540793"/>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6898DA80-B20A-0E45-B382-62A8490927C1}"/>
              </a:ext>
            </a:extLst>
          </p:cNvPr>
          <p:cNvCxnSpPr>
            <a:cxnSpLocks/>
          </p:cNvCxnSpPr>
          <p:nvPr/>
        </p:nvCxnSpPr>
        <p:spPr>
          <a:xfrm flipV="1">
            <a:off x="3483428" y="2540793"/>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4194983F-AFC0-FB2F-1207-1AF108AFDA19}"/>
              </a:ext>
            </a:extLst>
          </p:cNvPr>
          <p:cNvCxnSpPr>
            <a:cxnSpLocks/>
          </p:cNvCxnSpPr>
          <p:nvPr/>
        </p:nvCxnSpPr>
        <p:spPr>
          <a:xfrm>
            <a:off x="3483428" y="2297265"/>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20DB094-045E-2E0D-7026-B0BFFA8F2374}"/>
              </a:ext>
            </a:extLst>
          </p:cNvPr>
          <p:cNvSpPr/>
          <p:nvPr/>
        </p:nvSpPr>
        <p:spPr>
          <a:xfrm>
            <a:off x="5319694" y="212207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56" name="正方形/長方形 55">
            <a:extLst>
              <a:ext uri="{FF2B5EF4-FFF2-40B4-BE49-F238E27FC236}">
                <a16:creationId xmlns:a16="http://schemas.microsoft.com/office/drawing/2014/main" id="{960DE889-CA21-9C03-FD30-9F8BA1C11BE0}"/>
              </a:ext>
            </a:extLst>
          </p:cNvPr>
          <p:cNvSpPr/>
          <p:nvPr/>
        </p:nvSpPr>
        <p:spPr>
          <a:xfrm>
            <a:off x="5319694" y="238767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64" name="正方形/長方形 63">
            <a:extLst>
              <a:ext uri="{FF2B5EF4-FFF2-40B4-BE49-F238E27FC236}">
                <a16:creationId xmlns:a16="http://schemas.microsoft.com/office/drawing/2014/main" id="{B0198902-7C67-1321-611C-A528F8B056D6}"/>
              </a:ext>
            </a:extLst>
          </p:cNvPr>
          <p:cNvSpPr/>
          <p:nvPr/>
        </p:nvSpPr>
        <p:spPr>
          <a:xfrm>
            <a:off x="5319694" y="265326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67" name="正方形/長方形 66">
            <a:extLst>
              <a:ext uri="{FF2B5EF4-FFF2-40B4-BE49-F238E27FC236}">
                <a16:creationId xmlns:a16="http://schemas.microsoft.com/office/drawing/2014/main" id="{EC9DC48F-C12B-8A2A-8E49-C82DF8C2398F}"/>
              </a:ext>
            </a:extLst>
          </p:cNvPr>
          <p:cNvSpPr/>
          <p:nvPr/>
        </p:nvSpPr>
        <p:spPr>
          <a:xfrm>
            <a:off x="3883318" y="2695245"/>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68" name="テキスト ボックス 67">
            <a:extLst>
              <a:ext uri="{FF2B5EF4-FFF2-40B4-BE49-F238E27FC236}">
                <a16:creationId xmlns:a16="http://schemas.microsoft.com/office/drawing/2014/main" id="{7FD4C92A-1BF4-DC29-74E5-5DDCAEC47D74}"/>
              </a:ext>
            </a:extLst>
          </p:cNvPr>
          <p:cNvSpPr txBox="1"/>
          <p:nvPr/>
        </p:nvSpPr>
        <p:spPr>
          <a:xfrm>
            <a:off x="3894226" y="2879422"/>
            <a:ext cx="1274185" cy="954107"/>
          </a:xfrm>
          <a:prstGeom prst="rect">
            <a:avLst/>
          </a:prstGeom>
          <a:noFill/>
        </p:spPr>
        <p:txBody>
          <a:bodyPr wrap="square">
            <a:spAutoFit/>
          </a:body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69" name="正方形/長方形 68">
            <a:extLst>
              <a:ext uri="{FF2B5EF4-FFF2-40B4-BE49-F238E27FC236}">
                <a16:creationId xmlns:a16="http://schemas.microsoft.com/office/drawing/2014/main" id="{3C7CD555-05D0-53EC-B6D5-ED734EBA27DF}"/>
              </a:ext>
            </a:extLst>
          </p:cNvPr>
          <p:cNvSpPr/>
          <p:nvPr/>
        </p:nvSpPr>
        <p:spPr>
          <a:xfrm>
            <a:off x="5326708" y="291886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74" name="正方形/長方形 73">
            <a:extLst>
              <a:ext uri="{FF2B5EF4-FFF2-40B4-BE49-F238E27FC236}">
                <a16:creationId xmlns:a16="http://schemas.microsoft.com/office/drawing/2014/main" id="{64296BD6-7E19-AF65-3C1F-3AA68F3DB296}"/>
              </a:ext>
            </a:extLst>
          </p:cNvPr>
          <p:cNvSpPr/>
          <p:nvPr/>
        </p:nvSpPr>
        <p:spPr>
          <a:xfrm>
            <a:off x="5326708" y="3450051"/>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75" name="正方形/長方形 74">
            <a:extLst>
              <a:ext uri="{FF2B5EF4-FFF2-40B4-BE49-F238E27FC236}">
                <a16:creationId xmlns:a16="http://schemas.microsoft.com/office/drawing/2014/main" id="{2B391CFB-A763-8F28-0B80-C4699C620787}"/>
              </a:ext>
            </a:extLst>
          </p:cNvPr>
          <p:cNvSpPr/>
          <p:nvPr/>
        </p:nvSpPr>
        <p:spPr>
          <a:xfrm>
            <a:off x="5326708" y="318445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78BE8892-FE50-BF73-B15E-567C1CFD9A8A}"/>
              </a:ext>
            </a:extLst>
          </p:cNvPr>
          <p:cNvSpPr/>
          <p:nvPr/>
        </p:nvSpPr>
        <p:spPr>
          <a:xfrm>
            <a:off x="6487455" y="265530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77" name="正方形/長方形 76">
            <a:extLst>
              <a:ext uri="{FF2B5EF4-FFF2-40B4-BE49-F238E27FC236}">
                <a16:creationId xmlns:a16="http://schemas.microsoft.com/office/drawing/2014/main" id="{5FB8C9E8-13C6-54AE-CC6C-E66EB44BEE66}"/>
              </a:ext>
            </a:extLst>
          </p:cNvPr>
          <p:cNvSpPr/>
          <p:nvPr/>
        </p:nvSpPr>
        <p:spPr>
          <a:xfrm>
            <a:off x="5319693" y="3715648"/>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78" name="コネクタ: カギ線 77">
            <a:extLst>
              <a:ext uri="{FF2B5EF4-FFF2-40B4-BE49-F238E27FC236}">
                <a16:creationId xmlns:a16="http://schemas.microsoft.com/office/drawing/2014/main" id="{A0B29E3B-5447-4104-E77E-C26EB1CB0F8A}"/>
              </a:ext>
            </a:extLst>
          </p:cNvPr>
          <p:cNvCxnSpPr>
            <a:cxnSpLocks/>
            <a:stCxn id="77" idx="3"/>
          </p:cNvCxnSpPr>
          <p:nvPr/>
        </p:nvCxnSpPr>
        <p:spPr>
          <a:xfrm flipV="1">
            <a:off x="7612378" y="2246045"/>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6F60DF78-AC16-9662-17BD-3EBCD4677BB3}"/>
              </a:ext>
            </a:extLst>
          </p:cNvPr>
          <p:cNvCxnSpPr>
            <a:cxnSpLocks/>
            <a:stCxn id="74" idx="3"/>
          </p:cNvCxnSpPr>
          <p:nvPr/>
        </p:nvCxnSpPr>
        <p:spPr>
          <a:xfrm flipV="1">
            <a:off x="7619393" y="2530542"/>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9ACE7516-910E-229D-8D61-02389EE1209F}"/>
              </a:ext>
            </a:extLst>
          </p:cNvPr>
          <p:cNvCxnSpPr>
            <a:cxnSpLocks/>
            <a:stCxn id="75" idx="3"/>
          </p:cNvCxnSpPr>
          <p:nvPr/>
        </p:nvCxnSpPr>
        <p:spPr>
          <a:xfrm flipV="1">
            <a:off x="7619393" y="2530542"/>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CFEF0AA5-73C6-3E02-7EDB-57BE374DCDBF}"/>
              </a:ext>
            </a:extLst>
          </p:cNvPr>
          <p:cNvCxnSpPr>
            <a:cxnSpLocks/>
            <a:stCxn id="69" idx="3"/>
          </p:cNvCxnSpPr>
          <p:nvPr/>
        </p:nvCxnSpPr>
        <p:spPr>
          <a:xfrm flipV="1">
            <a:off x="7619393" y="2530542"/>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994CBAF5-3A55-5F8D-2FE3-7E89A4D5C622}"/>
              </a:ext>
            </a:extLst>
          </p:cNvPr>
          <p:cNvCxnSpPr>
            <a:cxnSpLocks/>
            <a:stCxn id="76" idx="3"/>
          </p:cNvCxnSpPr>
          <p:nvPr/>
        </p:nvCxnSpPr>
        <p:spPr>
          <a:xfrm flipV="1">
            <a:off x="7612379" y="2530542"/>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95AFF09E-E9EC-B83D-758F-AB3E03B91C26}"/>
              </a:ext>
            </a:extLst>
          </p:cNvPr>
          <p:cNvCxnSpPr>
            <a:cxnSpLocks/>
            <a:stCxn id="56" idx="3"/>
          </p:cNvCxnSpPr>
          <p:nvPr/>
        </p:nvCxnSpPr>
        <p:spPr>
          <a:xfrm>
            <a:off x="7612379" y="2498555"/>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81E043B6-4E27-2700-F284-741B1F2B6E99}"/>
              </a:ext>
            </a:extLst>
          </p:cNvPr>
          <p:cNvCxnSpPr>
            <a:cxnSpLocks/>
            <a:stCxn id="55" idx="3"/>
          </p:cNvCxnSpPr>
          <p:nvPr/>
        </p:nvCxnSpPr>
        <p:spPr>
          <a:xfrm>
            <a:off x="7612379" y="2232960"/>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8" name="左中かっこ 87">
            <a:extLst>
              <a:ext uri="{FF2B5EF4-FFF2-40B4-BE49-F238E27FC236}">
                <a16:creationId xmlns:a16="http://schemas.microsoft.com/office/drawing/2014/main" id="{3EB6A587-08D7-7B0D-8BB4-704F3A9413A8}"/>
              </a:ext>
            </a:extLst>
          </p:cNvPr>
          <p:cNvSpPr/>
          <p:nvPr/>
        </p:nvSpPr>
        <p:spPr>
          <a:xfrm>
            <a:off x="5156221" y="2086266"/>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13F6801A-CC8C-370B-47CD-0E9A8F78DA92}"/>
              </a:ext>
            </a:extLst>
          </p:cNvPr>
          <p:cNvSpPr/>
          <p:nvPr/>
        </p:nvSpPr>
        <p:spPr>
          <a:xfrm>
            <a:off x="468899" y="4586771"/>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EBF6537D-D75B-DA5C-78EC-88D8F874BA82}"/>
              </a:ext>
            </a:extLst>
          </p:cNvPr>
          <p:cNvSpPr/>
          <p:nvPr/>
        </p:nvSpPr>
        <p:spPr>
          <a:xfrm>
            <a:off x="2207057" y="6002525"/>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93" name="正方形/長方形 92">
            <a:extLst>
              <a:ext uri="{FF2B5EF4-FFF2-40B4-BE49-F238E27FC236}">
                <a16:creationId xmlns:a16="http://schemas.microsoft.com/office/drawing/2014/main" id="{1A52527A-0CF0-029E-8E86-430BD9DEAAA1}"/>
              </a:ext>
            </a:extLst>
          </p:cNvPr>
          <p:cNvSpPr/>
          <p:nvPr/>
        </p:nvSpPr>
        <p:spPr>
          <a:xfrm>
            <a:off x="548883" y="4704947"/>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95" name="コネクタ: カギ線 94">
            <a:extLst>
              <a:ext uri="{FF2B5EF4-FFF2-40B4-BE49-F238E27FC236}">
                <a16:creationId xmlns:a16="http://schemas.microsoft.com/office/drawing/2014/main" id="{898B747D-663D-3118-8C11-74EB0324AD5C}"/>
              </a:ext>
            </a:extLst>
          </p:cNvPr>
          <p:cNvCxnSpPr>
            <a:stCxn id="93" idx="0"/>
          </p:cNvCxnSpPr>
          <p:nvPr/>
        </p:nvCxnSpPr>
        <p:spPr>
          <a:xfrm rot="5400000" flipH="1" flipV="1">
            <a:off x="3855271" y="-288234"/>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6" name="コネクタ: カギ線 95">
            <a:extLst>
              <a:ext uri="{FF2B5EF4-FFF2-40B4-BE49-F238E27FC236}">
                <a16:creationId xmlns:a16="http://schemas.microsoft.com/office/drawing/2014/main" id="{CA244CA5-B309-FA6E-284D-7CBC7CC2508F}"/>
              </a:ext>
            </a:extLst>
          </p:cNvPr>
          <p:cNvCxnSpPr>
            <a:cxnSpLocks/>
            <a:stCxn id="93" idx="2"/>
            <a:endCxn id="92" idx="1"/>
          </p:cNvCxnSpPr>
          <p:nvPr/>
        </p:nvCxnSpPr>
        <p:spPr>
          <a:xfrm rot="16200000" flipH="1">
            <a:off x="972986" y="4890426"/>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B6490177-CFF0-A875-7C56-F0FC8CA2C530}"/>
              </a:ext>
            </a:extLst>
          </p:cNvPr>
          <p:cNvSpPr/>
          <p:nvPr/>
        </p:nvSpPr>
        <p:spPr>
          <a:xfrm>
            <a:off x="562021" y="58195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99" name="正方形/長方形 98">
            <a:extLst>
              <a:ext uri="{FF2B5EF4-FFF2-40B4-BE49-F238E27FC236}">
                <a16:creationId xmlns:a16="http://schemas.microsoft.com/office/drawing/2014/main" id="{6D76C720-225A-6A92-8A49-A13770789615}"/>
              </a:ext>
            </a:extLst>
          </p:cNvPr>
          <p:cNvSpPr/>
          <p:nvPr/>
        </p:nvSpPr>
        <p:spPr>
          <a:xfrm>
            <a:off x="562021" y="6084246"/>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101" name="正方形/長方形 100">
            <a:extLst>
              <a:ext uri="{FF2B5EF4-FFF2-40B4-BE49-F238E27FC236}">
                <a16:creationId xmlns:a16="http://schemas.microsoft.com/office/drawing/2014/main" id="{9927067B-793F-D21C-B90A-7C7E46812D7F}"/>
              </a:ext>
            </a:extLst>
          </p:cNvPr>
          <p:cNvSpPr/>
          <p:nvPr/>
        </p:nvSpPr>
        <p:spPr>
          <a:xfrm>
            <a:off x="3713703" y="473132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102" name="正方形/長方形 101">
            <a:extLst>
              <a:ext uri="{FF2B5EF4-FFF2-40B4-BE49-F238E27FC236}">
                <a16:creationId xmlns:a16="http://schemas.microsoft.com/office/drawing/2014/main" id="{BD2E83D5-3372-C439-208D-783F428C9D84}"/>
              </a:ext>
            </a:extLst>
          </p:cNvPr>
          <p:cNvSpPr/>
          <p:nvPr/>
        </p:nvSpPr>
        <p:spPr>
          <a:xfrm>
            <a:off x="3713703" y="499691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クロスセル・まとめ買い配信</a:t>
            </a:r>
          </a:p>
        </p:txBody>
      </p:sp>
      <p:sp>
        <p:nvSpPr>
          <p:cNvPr id="104" name="正方形/長方形 103">
            <a:extLst>
              <a:ext uri="{FF2B5EF4-FFF2-40B4-BE49-F238E27FC236}">
                <a16:creationId xmlns:a16="http://schemas.microsoft.com/office/drawing/2014/main" id="{087D59E0-E0CE-3934-C1B4-0EF4D82E0B2E}"/>
              </a:ext>
            </a:extLst>
          </p:cNvPr>
          <p:cNvSpPr/>
          <p:nvPr/>
        </p:nvSpPr>
        <p:spPr>
          <a:xfrm>
            <a:off x="3713703" y="5203397"/>
            <a:ext cx="1124924" cy="280881"/>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solidFill>
                  <a:schemeClr val="bg1"/>
                </a:solidFill>
                <a:latin typeface="メイリオ" panose="020B0604030504040204" pitchFamily="50" charset="-128"/>
                <a:ea typeface="メイリオ" panose="020B0604030504040204" pitchFamily="50" charset="-128"/>
              </a:rPr>
              <a:t>初回購入</a:t>
            </a:r>
          </a:p>
        </p:txBody>
      </p:sp>
      <p:sp>
        <p:nvSpPr>
          <p:cNvPr id="105" name="正方形/長方形 104">
            <a:extLst>
              <a:ext uri="{FF2B5EF4-FFF2-40B4-BE49-F238E27FC236}">
                <a16:creationId xmlns:a16="http://schemas.microsoft.com/office/drawing/2014/main" id="{78BB80E0-2482-846A-E4FE-C1770384E88E}"/>
              </a:ext>
            </a:extLst>
          </p:cNvPr>
          <p:cNvSpPr/>
          <p:nvPr/>
        </p:nvSpPr>
        <p:spPr>
          <a:xfrm>
            <a:off x="3720717" y="552810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111" name="正方形/長方形 110">
            <a:extLst>
              <a:ext uri="{FF2B5EF4-FFF2-40B4-BE49-F238E27FC236}">
                <a16:creationId xmlns:a16="http://schemas.microsoft.com/office/drawing/2014/main" id="{C885333E-56CE-B011-72B9-07B332849355}"/>
              </a:ext>
            </a:extLst>
          </p:cNvPr>
          <p:cNvSpPr/>
          <p:nvPr/>
        </p:nvSpPr>
        <p:spPr>
          <a:xfrm>
            <a:off x="4881464" y="5216349"/>
            <a:ext cx="1124924" cy="269969"/>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solidFill>
                  <a:schemeClr val="bg1"/>
                </a:solidFill>
                <a:latin typeface="メイリオ" panose="020B0604030504040204" pitchFamily="50" charset="-128"/>
                <a:ea typeface="メイリオ" panose="020B0604030504040204" pitchFamily="50" charset="-128"/>
              </a:rPr>
              <a:t>F2・定期引上配信</a:t>
            </a:r>
          </a:p>
        </p:txBody>
      </p:sp>
      <p:cxnSp>
        <p:nvCxnSpPr>
          <p:cNvPr id="112" name="コネクタ: カギ線 111">
            <a:extLst>
              <a:ext uri="{FF2B5EF4-FFF2-40B4-BE49-F238E27FC236}">
                <a16:creationId xmlns:a16="http://schemas.microsoft.com/office/drawing/2014/main" id="{BDA83037-5C06-C2D0-EF8B-90AE0F4336B5}"/>
              </a:ext>
            </a:extLst>
          </p:cNvPr>
          <p:cNvCxnSpPr>
            <a:cxnSpLocks/>
            <a:stCxn id="93" idx="3"/>
            <a:endCxn id="101" idx="1"/>
          </p:cNvCxnSpPr>
          <p:nvPr/>
        </p:nvCxnSpPr>
        <p:spPr>
          <a:xfrm>
            <a:off x="1280160" y="4826919"/>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BA23D5BC-C7EC-06D4-215C-2852A68F0F9B}"/>
              </a:ext>
            </a:extLst>
          </p:cNvPr>
          <p:cNvCxnSpPr>
            <a:cxnSpLocks/>
            <a:stCxn id="93" idx="3"/>
            <a:endCxn id="102" idx="1"/>
          </p:cNvCxnSpPr>
          <p:nvPr/>
        </p:nvCxnSpPr>
        <p:spPr>
          <a:xfrm>
            <a:off x="1280160" y="4826919"/>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6" name="コネクタ: カギ線 115">
            <a:extLst>
              <a:ext uri="{FF2B5EF4-FFF2-40B4-BE49-F238E27FC236}">
                <a16:creationId xmlns:a16="http://schemas.microsoft.com/office/drawing/2014/main" id="{F8AA6994-29BC-2C26-DE5F-C0C21F502236}"/>
              </a:ext>
            </a:extLst>
          </p:cNvPr>
          <p:cNvCxnSpPr>
            <a:cxnSpLocks/>
            <a:stCxn id="93" idx="3"/>
            <a:endCxn id="104" idx="1"/>
          </p:cNvCxnSpPr>
          <p:nvPr/>
        </p:nvCxnSpPr>
        <p:spPr>
          <a:xfrm>
            <a:off x="1280160" y="4826919"/>
            <a:ext cx="2433543" cy="516919"/>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8" name="コネクタ: カギ線 117">
            <a:extLst>
              <a:ext uri="{FF2B5EF4-FFF2-40B4-BE49-F238E27FC236}">
                <a16:creationId xmlns:a16="http://schemas.microsoft.com/office/drawing/2014/main" id="{3AE4A3D0-6C1F-7BCD-3ED2-5F066684CE21}"/>
              </a:ext>
            </a:extLst>
          </p:cNvPr>
          <p:cNvCxnSpPr>
            <a:cxnSpLocks/>
            <a:stCxn id="93" idx="3"/>
            <a:endCxn id="105" idx="1"/>
          </p:cNvCxnSpPr>
          <p:nvPr/>
        </p:nvCxnSpPr>
        <p:spPr>
          <a:xfrm>
            <a:off x="1280160" y="4826919"/>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F922E2DE-5C74-6CAA-736C-BAC94D2952DF}"/>
              </a:ext>
            </a:extLst>
          </p:cNvPr>
          <p:cNvSpPr/>
          <p:nvPr/>
        </p:nvSpPr>
        <p:spPr>
          <a:xfrm>
            <a:off x="3713703" y="5792944"/>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1" name="正方形/長方形 120">
            <a:extLst>
              <a:ext uri="{FF2B5EF4-FFF2-40B4-BE49-F238E27FC236}">
                <a16:creationId xmlns:a16="http://schemas.microsoft.com/office/drawing/2014/main" id="{03175683-57AB-6FFA-0F27-7E81645CA47B}"/>
              </a:ext>
            </a:extLst>
          </p:cNvPr>
          <p:cNvSpPr/>
          <p:nvPr/>
        </p:nvSpPr>
        <p:spPr>
          <a:xfrm>
            <a:off x="3720717" y="6061629"/>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122" name="コネクタ: カギ線 121">
            <a:extLst>
              <a:ext uri="{FF2B5EF4-FFF2-40B4-BE49-F238E27FC236}">
                <a16:creationId xmlns:a16="http://schemas.microsoft.com/office/drawing/2014/main" id="{30FE3CED-649C-7946-1117-B1E2FD2D7F26}"/>
              </a:ext>
            </a:extLst>
          </p:cNvPr>
          <p:cNvCxnSpPr>
            <a:cxnSpLocks/>
          </p:cNvCxnSpPr>
          <p:nvPr/>
        </p:nvCxnSpPr>
        <p:spPr>
          <a:xfrm rot="5400000" flipH="1" flipV="1">
            <a:off x="1605206" y="3681433"/>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5EB01514-8877-C931-E7AA-81B28EB77681}"/>
              </a:ext>
            </a:extLst>
          </p:cNvPr>
          <p:cNvSpPr/>
          <p:nvPr/>
        </p:nvSpPr>
        <p:spPr>
          <a:xfrm>
            <a:off x="6986937" y="1517116"/>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cxnSp>
        <p:nvCxnSpPr>
          <p:cNvPr id="2" name="Connector 3">
            <a:extLst>
              <a:ext uri="{FF2B5EF4-FFF2-40B4-BE49-F238E27FC236}">
                <a16:creationId xmlns:a16="http://schemas.microsoft.com/office/drawing/2014/main" id="{A7342A42-1B26-2D3E-A8EC-6A2DB8BE9A83}"/>
              </a:ext>
            </a:extLst>
          </p:cNvPr>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4270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ECではカゴ落ち60〜70%・F2未達6〜7割が定説。ここを回収できれば伸びしろは大きい。</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貴社の課題に合わせてLINE公式アカウントを構築し、追加の広告費ゼロで回収効率を改善。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全体設計｜流入元別のCV率と、LINEで打てる施策</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メルマガ（開封20%前後）</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送料・返品条件の案内</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使い方・レビュー配信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ステップ配信（購入前7通）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初回購入への誘導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※弊社実績の想定値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0.3％</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0.2％</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0.6％</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0.6％</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0.5％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0.3％</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カゴ落ちリマインド</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F2転換シナリオ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2回目購入・定期引上</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（配送通知・再入荷で訴求）</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 name="Connector 3">
            <a:extLst>
              <a:ext uri="{FF2B5EF4-FFF2-40B4-BE49-F238E27FC236}">
                <a16:creationId xmlns:a16="http://schemas.microsoft.com/office/drawing/2014/main" id="{F6A344B9-B708-15F5-2EC8-CAD645E94EAD}"/>
              </a:ext>
            </a:extLst>
          </p:cNvPr>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11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構築｜施策の考え方（誰を、どのCVへ）</a:t>
            </a: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買った人だけをLINEに繋ぐか、離脱した人も拾うか。</a:t>
            </a:r>
          </a:p>
          <a:p>
            <a:r>
              <a:rPr lang="ja-JP" altLang="en-US" sz="1600" b="1" dirty="0">
                <a:latin typeface="メイリオ" panose="020B0604030504040204" pitchFamily="50" charset="-128"/>
                <a:ea typeface="メイリオ" panose="020B0604030504040204" pitchFamily="50" charset="-128"/>
                <a:cs typeface="Meiryo"/>
                <a:sym typeface="Meiryo"/>
              </a:rPr>
              <a:t>同じ流入でも、その後に追える人数が大きく変わる。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1" name="テキスト ボックス 10">
            <a:extLst>
              <a:ext uri="{FF2B5EF4-FFF2-40B4-BE49-F238E27FC236}">
                <a16:creationId xmlns:a16="http://schemas.microsoft.com/office/drawing/2014/main" id="{1CD1533E-1582-9E17-EE6F-EA2F4BE96D58}"/>
              </a:ext>
            </a:extLst>
          </p:cNvPr>
          <p:cNvSpPr txBox="1"/>
          <p:nvPr/>
        </p:nvSpPr>
        <p:spPr>
          <a:xfrm>
            <a:off x="422130"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接触（広告・検索）</a:t>
            </a:r>
          </a:p>
        </p:txBody>
      </p:sp>
      <p:sp>
        <p:nvSpPr>
          <p:cNvPr id="12" name="テキスト ボックス 11">
            <a:extLst>
              <a:ext uri="{FF2B5EF4-FFF2-40B4-BE49-F238E27FC236}">
                <a16:creationId xmlns:a16="http://schemas.microsoft.com/office/drawing/2014/main" id="{2C43BB1A-3D6A-04B9-F8ED-26CB7DCA3735}"/>
              </a:ext>
            </a:extLst>
          </p:cNvPr>
          <p:cNvSpPr txBox="1"/>
          <p:nvPr/>
        </p:nvSpPr>
        <p:spPr>
          <a:xfrm>
            <a:off x="422130"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比較検討</a:t>
            </a:r>
          </a:p>
        </p:txBody>
      </p:sp>
      <p:sp>
        <p:nvSpPr>
          <p:cNvPr id="15" name="テキスト ボックス 14">
            <a:extLst>
              <a:ext uri="{FF2B5EF4-FFF2-40B4-BE49-F238E27FC236}">
                <a16:creationId xmlns:a16="http://schemas.microsoft.com/office/drawing/2014/main" id="{BCB10DC8-82CD-0C69-034B-7642E1296837}"/>
              </a:ext>
            </a:extLst>
          </p:cNvPr>
          <p:cNvSpPr txBox="1"/>
          <p:nvPr/>
        </p:nvSpPr>
        <p:spPr>
          <a:xfrm>
            <a:off x="422130"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カゴ落ち（対策）</a:t>
            </a:r>
          </a:p>
        </p:txBody>
      </p:sp>
      <p:sp>
        <p:nvSpPr>
          <p:cNvPr id="16" name="テキスト ボックス 15">
            <a:extLst>
              <a:ext uri="{FF2B5EF4-FFF2-40B4-BE49-F238E27FC236}">
                <a16:creationId xmlns:a16="http://schemas.microsoft.com/office/drawing/2014/main" id="{015AFA19-CD5F-9379-AE26-44B78C354860}"/>
              </a:ext>
            </a:extLst>
          </p:cNvPr>
          <p:cNvSpPr txBox="1"/>
          <p:nvPr/>
        </p:nvSpPr>
        <p:spPr>
          <a:xfrm>
            <a:off x="422130" y="3467172"/>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 購入後のみ追加</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22062743-7DD1-C474-56DE-C86161967F49}"/>
              </a:ext>
            </a:extLst>
          </p:cNvPr>
          <p:cNvSpPr txBox="1"/>
          <p:nvPr/>
        </p:nvSpPr>
        <p:spPr>
          <a:xfrm>
            <a:off x="422130"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初回購入</a:t>
            </a:r>
            <a:endParaRPr lang="ja-JP" altLang="ja-JP" sz="12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B3F98235-7ECD-D5F4-08BE-76857355ABFA}"/>
              </a:ext>
            </a:extLst>
          </p:cNvPr>
          <p:cNvSpPr txBox="1"/>
          <p:nvPr/>
        </p:nvSpPr>
        <p:spPr>
          <a:xfrm>
            <a:off x="422130"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 定期・リピート化</a:t>
            </a:r>
            <a:endParaRPr lang="ja-JP"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999F747F-6C0D-0BDB-B5B7-8266514B8949}"/>
              </a:ext>
            </a:extLst>
          </p:cNvPr>
          <p:cNvSpPr txBox="1"/>
          <p:nvPr/>
        </p:nvSpPr>
        <p:spPr>
          <a:xfrm>
            <a:off x="422130"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F2（2回目購入）</a:t>
            </a:r>
            <a:endParaRPr lang="ja-JP" altLang="ja-JP" sz="12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A2277771-01BE-2A4E-C621-929D69C54177}"/>
              </a:ext>
            </a:extLst>
          </p:cNvPr>
          <p:cNvSpPr txBox="1"/>
          <p:nvPr/>
        </p:nvSpPr>
        <p:spPr>
          <a:xfrm>
            <a:off x="422130"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 LTV最大化・紹介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21" name="直線矢印コネクタ 20">
            <a:extLst>
              <a:ext uri="{FF2B5EF4-FFF2-40B4-BE49-F238E27FC236}">
                <a16:creationId xmlns:a16="http://schemas.microsoft.com/office/drawing/2014/main" id="{9CD79024-49B9-DF89-8EE9-633017761437}"/>
              </a:ext>
            </a:extLst>
          </p:cNvPr>
          <p:cNvCxnSpPr>
            <a:cxnSpLocks/>
          </p:cNvCxnSpPr>
          <p:nvPr/>
        </p:nvCxnSpPr>
        <p:spPr>
          <a:xfrm>
            <a:off x="725974"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3707324A-CA31-10C7-B6B8-E3A9A53CC3A2}"/>
              </a:ext>
            </a:extLst>
          </p:cNvPr>
          <p:cNvSpPr txBox="1"/>
          <p:nvPr/>
        </p:nvSpPr>
        <p:spPr>
          <a:xfrm>
            <a:off x="5143202"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接触（広告・検索）</a:t>
            </a:r>
          </a:p>
        </p:txBody>
      </p:sp>
      <p:sp>
        <p:nvSpPr>
          <p:cNvPr id="34" name="テキスト ボックス 33">
            <a:extLst>
              <a:ext uri="{FF2B5EF4-FFF2-40B4-BE49-F238E27FC236}">
                <a16:creationId xmlns:a16="http://schemas.microsoft.com/office/drawing/2014/main" id="{2ADFDD2E-A723-2916-4648-0F5E903278F3}"/>
              </a:ext>
            </a:extLst>
          </p:cNvPr>
          <p:cNvSpPr txBox="1"/>
          <p:nvPr/>
        </p:nvSpPr>
        <p:spPr>
          <a:xfrm>
            <a:off x="5143202"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比較検討</a:t>
            </a:r>
          </a:p>
        </p:txBody>
      </p:sp>
      <p:sp>
        <p:nvSpPr>
          <p:cNvPr id="35" name="テキスト ボックス 34">
            <a:extLst>
              <a:ext uri="{FF2B5EF4-FFF2-40B4-BE49-F238E27FC236}">
                <a16:creationId xmlns:a16="http://schemas.microsoft.com/office/drawing/2014/main" id="{B895B974-A656-2669-0CE1-C27F2B4B20BE}"/>
              </a:ext>
            </a:extLst>
          </p:cNvPr>
          <p:cNvSpPr txBox="1"/>
          <p:nvPr/>
        </p:nvSpPr>
        <p:spPr>
          <a:xfrm>
            <a:off x="5143202"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カゴ落ち（対策）</a:t>
            </a:r>
          </a:p>
        </p:txBody>
      </p:sp>
      <p:sp>
        <p:nvSpPr>
          <p:cNvPr id="36" name="テキスト ボックス 35">
            <a:extLst>
              <a:ext uri="{FF2B5EF4-FFF2-40B4-BE49-F238E27FC236}">
                <a16:creationId xmlns:a16="http://schemas.microsoft.com/office/drawing/2014/main" id="{A07117C9-502D-4C6F-AA2E-1C1E7CF7B4C6}"/>
              </a:ext>
            </a:extLst>
          </p:cNvPr>
          <p:cNvSpPr txBox="1"/>
          <p:nvPr/>
        </p:nvSpPr>
        <p:spPr>
          <a:xfrm>
            <a:off x="5143202" y="3467173"/>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 離脱時も追加</a:t>
            </a:r>
            <a:endParaRPr lang="ja-JP" altLang="ja-JP" sz="1100" b="1" dirty="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56761199-CD70-153F-E94B-20E5E833D7A7}"/>
              </a:ext>
            </a:extLst>
          </p:cNvPr>
          <p:cNvSpPr txBox="1"/>
          <p:nvPr/>
        </p:nvSpPr>
        <p:spPr>
          <a:xfrm>
            <a:off x="5143202"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初回購入</a:t>
            </a:r>
            <a:endParaRPr lang="ja-JP" altLang="ja-JP"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72CCB353-50A1-FF17-E933-B1158BEE91E4}"/>
              </a:ext>
            </a:extLst>
          </p:cNvPr>
          <p:cNvSpPr txBox="1"/>
          <p:nvPr/>
        </p:nvSpPr>
        <p:spPr>
          <a:xfrm>
            <a:off x="5143202"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 定期・リピート化</a:t>
            </a:r>
            <a:endParaRPr lang="ja-JP" altLang="ja-JP" sz="12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44A347FC-9BE7-316C-5F13-B7762E412092}"/>
              </a:ext>
            </a:extLst>
          </p:cNvPr>
          <p:cNvSpPr txBox="1"/>
          <p:nvPr/>
        </p:nvSpPr>
        <p:spPr>
          <a:xfrm>
            <a:off x="5143202"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F2（2回目購入）</a:t>
            </a:r>
            <a:endParaRPr lang="ja-JP" altLang="ja-JP" sz="12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31750602-2370-CB79-F23B-20E4B2FC9A45}"/>
              </a:ext>
            </a:extLst>
          </p:cNvPr>
          <p:cNvSpPr txBox="1"/>
          <p:nvPr/>
        </p:nvSpPr>
        <p:spPr>
          <a:xfrm>
            <a:off x="5143202"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 LTV最大化・紹介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46" name="直線矢印コネクタ 45">
            <a:extLst>
              <a:ext uri="{FF2B5EF4-FFF2-40B4-BE49-F238E27FC236}">
                <a16:creationId xmlns:a16="http://schemas.microsoft.com/office/drawing/2014/main" id="{7398214A-9BC3-94A2-1B44-ABFB6EF10A95}"/>
              </a:ext>
            </a:extLst>
          </p:cNvPr>
          <p:cNvCxnSpPr>
            <a:cxnSpLocks/>
          </p:cNvCxnSpPr>
          <p:nvPr/>
        </p:nvCxnSpPr>
        <p:spPr>
          <a:xfrm>
            <a:off x="5447046"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BC82B682-A1BD-AF78-6196-B1E02CC1F3FB}"/>
              </a:ext>
            </a:extLst>
          </p:cNvPr>
          <p:cNvPicPr>
            <a:picLocks noChangeAspect="1"/>
          </p:cNvPicPr>
          <p:nvPr/>
        </p:nvPicPr>
        <p:blipFill>
          <a:blip r:embed="rId2"/>
          <a:stretch>
            <a:fillRect/>
          </a:stretch>
        </p:blipFill>
        <p:spPr>
          <a:xfrm>
            <a:off x="2277117" y="3452400"/>
            <a:ext cx="481489" cy="448956"/>
          </a:xfrm>
          <a:prstGeom prst="rect">
            <a:avLst/>
          </a:prstGeom>
        </p:spPr>
      </p:pic>
      <p:pic>
        <p:nvPicPr>
          <p:cNvPr id="54" name="図 53">
            <a:extLst>
              <a:ext uri="{FF2B5EF4-FFF2-40B4-BE49-F238E27FC236}">
                <a16:creationId xmlns:a16="http://schemas.microsoft.com/office/drawing/2014/main" id="{13BFB52F-AE2C-2214-E223-63E053D9FE07}"/>
              </a:ext>
            </a:extLst>
          </p:cNvPr>
          <p:cNvPicPr>
            <a:picLocks noChangeAspect="1"/>
          </p:cNvPicPr>
          <p:nvPr/>
        </p:nvPicPr>
        <p:blipFill>
          <a:blip r:embed="rId2"/>
          <a:stretch>
            <a:fillRect/>
          </a:stretch>
        </p:blipFill>
        <p:spPr>
          <a:xfrm>
            <a:off x="7114089" y="3453958"/>
            <a:ext cx="481489" cy="448956"/>
          </a:xfrm>
          <a:prstGeom prst="rect">
            <a:avLst/>
          </a:prstGeom>
        </p:spPr>
      </p:pic>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パターン① 買った人だけLINEへ</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パターン② 離脱した人も拾う</a:t>
            </a:r>
          </a:p>
        </p:txBody>
      </p:sp>
      <p:pic>
        <p:nvPicPr>
          <p:cNvPr id="70" name="図 69">
            <a:extLst>
              <a:ext uri="{FF2B5EF4-FFF2-40B4-BE49-F238E27FC236}">
                <a16:creationId xmlns:a16="http://schemas.microsoft.com/office/drawing/2014/main" id="{B5C916EA-56BA-12E3-B0EE-D83A8EC90585}"/>
              </a:ext>
            </a:extLst>
          </p:cNvPr>
          <p:cNvPicPr>
            <a:picLocks noChangeAspect="1"/>
          </p:cNvPicPr>
          <p:nvPr/>
        </p:nvPicPr>
        <p:blipFill>
          <a:blip r:embed="rId3"/>
          <a:stretch>
            <a:fillRect/>
          </a:stretch>
        </p:blipFill>
        <p:spPr>
          <a:xfrm>
            <a:off x="7783467" y="3298969"/>
            <a:ext cx="1792611" cy="2688917"/>
          </a:xfrm>
          <a:prstGeom prst="rect">
            <a:avLst/>
          </a:prstGeom>
        </p:spPr>
      </p:pic>
      <p:pic>
        <p:nvPicPr>
          <p:cNvPr id="826" name="図 825">
            <a:extLst>
              <a:ext uri="{FF2B5EF4-FFF2-40B4-BE49-F238E27FC236}">
                <a16:creationId xmlns:a16="http://schemas.microsoft.com/office/drawing/2014/main" id="{2D4E7AC1-305D-07DC-9608-BFD7502EFD59}"/>
              </a:ext>
            </a:extLst>
          </p:cNvPr>
          <p:cNvPicPr>
            <a:picLocks noChangeAspect="1"/>
          </p:cNvPicPr>
          <p:nvPr/>
        </p:nvPicPr>
        <p:blipFill>
          <a:blip r:embed="rId4"/>
          <a:stretch>
            <a:fillRect/>
          </a:stretch>
        </p:blipFill>
        <p:spPr>
          <a:xfrm>
            <a:off x="3015308" y="3297600"/>
            <a:ext cx="1586218" cy="2379328"/>
          </a:xfrm>
          <a:prstGeom prst="rect">
            <a:avLst/>
          </a:prstGeom>
        </p:spPr>
      </p:pic>
    </p:spTree>
    <p:extLst>
      <p:ext uri="{BB962C8B-B14F-4D97-AF65-F5344CB8AC3E}">
        <p14:creationId xmlns:p14="http://schemas.microsoft.com/office/powerpoint/2010/main" val="2299358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構築｜施策展開図（初期・月次）</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カゴ落ち防止・ポップアップ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カート離脱時に、条件を満たすと</a:t>
            </a: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・商戦企画配信（BF・年末・母の日）</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・初回オファー／F2オファー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1335448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構築｜友だち追加と育成の2軸</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✓注文・配送の通知　✓送料・返品の条件</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✓LINEで再購入　✓LINEで相談</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✓ブラックフライデー、母の日にちなんだ…。</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年齢→ライフイベント、よくある悩み</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✓消費サイクルから再購入時期を設定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65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構築｜友だち追加後15日でアクティブ率が落ちる</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6556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7200" y="153517"/>
            <a:ext cx="7920000" cy="304965"/>
          </a:xfrm>
          <a:prstGeom prst="rect">
            <a:avLst/>
          </a:prstGeom>
          <a:noFill/>
        </p:spPr>
        <p:txBody>
          <a:bodyPr wrap="square" lIns="36000" tIns="10800" rIns="36000" bIns="10800" anchor="ctr">
            <a:spAutoFit/>
          </a:bodyPr>
          <a:lstStyle/>
          <a:p>
            <a:pPr algn="l">
              <a:lnSpc>
                <a:spcPct val="120000"/>
              </a:lnSpc>
            </a:pPr>
            <a:r>
              <a:rPr sz="1600" b="1" dirty="0" err="1">
                <a:solidFill>
                  <a:srgbClr val="002060"/>
                </a:solidFill>
                <a:latin typeface="メイリオ"/>
                <a:ea typeface="メイリオ"/>
                <a:cs typeface="メイリオ"/>
              </a:rPr>
              <a:t>構築｜画面イメージ（あいさつメッセージ・リッチメニュー）</a:t>
            </a:r>
          </a:p>
        </p:txBody>
      </p:sp>
      <p:sp>
        <p:nvSpPr>
          <p:cNvPr id="8" name="TextBox 7"/>
          <p:cNvSpPr txBox="1"/>
          <p:nvPr/>
        </p:nvSpPr>
        <p:spPr>
          <a:xfrm>
            <a:off x="261257" y="725948"/>
            <a:ext cx="9405257" cy="528103"/>
          </a:xfrm>
          <a:prstGeom prst="rect">
            <a:avLst/>
          </a:prstGeom>
          <a:noFill/>
        </p:spPr>
        <p:txBody>
          <a:bodyPr wrap="square" lIns="36000" tIns="10800" rIns="36000" bIns="10800" anchor="ctr">
            <a:spAutoFit/>
          </a:bodyPr>
          <a:lstStyle/>
          <a:p>
            <a:pPr algn="l">
              <a:lnSpc>
                <a:spcPct val="120000"/>
              </a:lnSpc>
            </a:pPr>
            <a:r>
              <a:rPr sz="1400" b="0" dirty="0">
                <a:solidFill>
                  <a:srgbClr val="333333"/>
                </a:solidFill>
                <a:latin typeface="メイリオ"/>
                <a:ea typeface="メイリオ"/>
                <a:cs typeface="メイリオ"/>
              </a:rPr>
              <a:t>友だち追加の直後に出る2つ。最初の1通で「何が届くか」を伝え、</a:t>
            </a:r>
            <a:r>
              <a:rPr lang="ja-JP" altLang="en-US" sz="1400" b="0" dirty="0">
                <a:solidFill>
                  <a:srgbClr val="333333"/>
                </a:solidFill>
                <a:latin typeface="メイリオ"/>
                <a:ea typeface="メイリオ"/>
                <a:cs typeface="メイリオ"/>
              </a:rPr>
              <a:t>リッチ</a:t>
            </a:r>
            <a:r>
              <a:rPr sz="1400" b="0" dirty="0" err="1">
                <a:solidFill>
                  <a:srgbClr val="333333"/>
                </a:solidFill>
                <a:latin typeface="メイリオ"/>
                <a:ea typeface="メイリオ"/>
                <a:cs typeface="メイリオ"/>
              </a:rPr>
              <a:t>メニューで「自分で動ける」状態にする</a:t>
            </a:r>
            <a:r>
              <a:rPr sz="1400" b="0" dirty="0">
                <a:solidFill>
                  <a:srgbClr val="333333"/>
                </a:solidFill>
                <a:latin typeface="メイリオ"/>
                <a:ea typeface="メイリオ"/>
                <a:cs typeface="メイリオ"/>
              </a:rPr>
              <a:t>。</a:t>
            </a:r>
          </a:p>
          <a:p>
            <a:pPr algn="l">
              <a:lnSpc>
                <a:spcPct val="120000"/>
              </a:lnSpc>
            </a:pPr>
            <a:r>
              <a:rPr sz="1400" b="0" dirty="0">
                <a:solidFill>
                  <a:srgbClr val="333333"/>
                </a:solidFill>
                <a:latin typeface="メイリオ"/>
                <a:ea typeface="メイリオ"/>
                <a:cs typeface="メイリオ"/>
              </a:rPr>
              <a:t>ここが弱いと、追加後15日のアクティブ率の落ち込みがそのまま起きる。</a:t>
            </a:r>
          </a:p>
        </p:txBody>
      </p:sp>
      <p:pic>
        <p:nvPicPr>
          <p:cNvPr id="9" name="Picture 8" descr="EC業界_トーク_あいさつメッセージ.png"/>
          <p:cNvPicPr>
            <a:picLocks noChangeAspect="1"/>
          </p:cNvPicPr>
          <p:nvPr/>
        </p:nvPicPr>
        <p:blipFill>
          <a:blip r:embed="rId2"/>
          <a:stretch>
            <a:fillRect/>
          </a:stretch>
        </p:blipFill>
        <p:spPr>
          <a:xfrm>
            <a:off x="503999" y="1530000"/>
            <a:ext cx="2736000" cy="4104000"/>
          </a:xfrm>
          <a:prstGeom prst="rect">
            <a:avLst/>
          </a:prstGeom>
        </p:spPr>
      </p:pic>
      <p:sp>
        <p:nvSpPr>
          <p:cNvPr id="10" name="TextBox 9"/>
          <p:cNvSpPr txBox="1"/>
          <p:nvPr/>
        </p:nvSpPr>
        <p:spPr>
          <a:xfrm>
            <a:off x="3330000" y="1530000"/>
            <a:ext cx="2015999" cy="251999"/>
          </a:xfrm>
          <a:prstGeom prst="rect">
            <a:avLst/>
          </a:prstGeom>
          <a:noFill/>
        </p:spPr>
        <p:txBody>
          <a:bodyPr wrap="square" lIns="36000" tIns="10800" rIns="36000" bIns="10800" anchor="ctr">
            <a:spAutoFit/>
          </a:bodyPr>
          <a:lstStyle/>
          <a:p>
            <a:pPr algn="l">
              <a:lnSpc>
                <a:spcPct val="120000"/>
              </a:lnSpc>
            </a:pPr>
            <a:r>
              <a:rPr sz="1400" b="1">
                <a:solidFill>
                  <a:srgbClr val="002060"/>
                </a:solidFill>
                <a:latin typeface="メイリオ"/>
                <a:ea typeface="メイリオ"/>
                <a:cs typeface="メイリオ"/>
              </a:rPr>
              <a:t>あいさつメッセージ</a:t>
            </a:r>
          </a:p>
        </p:txBody>
      </p:sp>
      <p:sp>
        <p:nvSpPr>
          <p:cNvPr id="11" name="TextBox 10"/>
          <p:cNvSpPr txBox="1"/>
          <p:nvPr/>
        </p:nvSpPr>
        <p:spPr>
          <a:xfrm>
            <a:off x="3239999" y="1818000"/>
            <a:ext cx="2160001" cy="2450937"/>
          </a:xfrm>
          <a:prstGeom prst="rect">
            <a:avLst/>
          </a:prstGeom>
          <a:noFill/>
        </p:spPr>
        <p:txBody>
          <a:bodyPr wrap="square" lIns="36000" tIns="10800" rIns="36000" bIns="10800" anchor="t">
            <a:spAutoFit/>
          </a:bodyPr>
          <a:lstStyle/>
          <a:p>
            <a:pPr algn="l">
              <a:lnSpc>
                <a:spcPct val="120000"/>
              </a:lnSpc>
            </a:pPr>
            <a:r>
              <a:rPr sz="1200" b="1" dirty="0">
                <a:solidFill>
                  <a:srgbClr val="333333"/>
                </a:solidFill>
                <a:latin typeface="メイリオ"/>
                <a:ea typeface="メイリオ"/>
                <a:cs typeface="メイリオ"/>
              </a:rPr>
              <a:t>① 届くものを3つで言う</a:t>
            </a:r>
          </a:p>
          <a:p>
            <a:pPr marL="171450" indent="-171450" algn="l">
              <a:lnSpc>
                <a:spcPct val="120000"/>
              </a:lnSpc>
              <a:buFont typeface="Arial" panose="020B0604020202020204" pitchFamily="34" charset="0"/>
              <a:buChar char="•"/>
            </a:pPr>
            <a:r>
              <a:rPr sz="1100" b="0" dirty="0" err="1">
                <a:solidFill>
                  <a:srgbClr val="333333"/>
                </a:solidFill>
                <a:latin typeface="メイリオ"/>
                <a:ea typeface="メイリオ"/>
                <a:cs typeface="メイリオ"/>
              </a:rPr>
              <a:t>注文・配送</a:t>
            </a:r>
            <a:endParaRPr lang="en-US" sz="1100" b="0" dirty="0">
              <a:solidFill>
                <a:srgbClr val="333333"/>
              </a:solidFill>
              <a:latin typeface="メイリオ"/>
              <a:ea typeface="メイリオ"/>
              <a:cs typeface="メイリオ"/>
            </a:endParaRPr>
          </a:p>
          <a:p>
            <a:pPr marL="171450" indent="-171450" algn="l">
              <a:lnSpc>
                <a:spcPct val="120000"/>
              </a:lnSpc>
              <a:buFont typeface="Arial" panose="020B0604020202020204" pitchFamily="34" charset="0"/>
              <a:buChar char="•"/>
            </a:pPr>
            <a:r>
              <a:rPr sz="1100" b="0" dirty="0" err="1">
                <a:solidFill>
                  <a:srgbClr val="333333"/>
                </a:solidFill>
                <a:latin typeface="メイリオ"/>
                <a:ea typeface="メイリオ"/>
                <a:cs typeface="メイリオ"/>
              </a:rPr>
              <a:t>再入荷・セール</a:t>
            </a:r>
            <a:endParaRPr lang="en-US" sz="1100" dirty="0">
              <a:solidFill>
                <a:srgbClr val="333333"/>
              </a:solidFill>
              <a:latin typeface="メイリオ"/>
              <a:ea typeface="メイリオ"/>
              <a:cs typeface="メイリオ"/>
            </a:endParaRPr>
          </a:p>
          <a:p>
            <a:pPr marL="171450" indent="-171450" algn="l">
              <a:lnSpc>
                <a:spcPct val="120000"/>
              </a:lnSpc>
              <a:buFont typeface="Arial" panose="020B0604020202020204" pitchFamily="34" charset="0"/>
              <a:buChar char="•"/>
            </a:pPr>
            <a:r>
              <a:rPr sz="1100" b="0" dirty="0" err="1">
                <a:solidFill>
                  <a:srgbClr val="333333"/>
                </a:solidFill>
                <a:latin typeface="メイリオ"/>
                <a:ea typeface="メイリオ"/>
                <a:cs typeface="メイリオ"/>
              </a:rPr>
              <a:t>新商品</a:t>
            </a:r>
            <a:endParaRPr lang="en-US" sz="1100" b="0" dirty="0">
              <a:solidFill>
                <a:srgbClr val="333333"/>
              </a:solidFill>
              <a:latin typeface="メイリオ"/>
              <a:ea typeface="メイリオ"/>
              <a:cs typeface="メイリオ"/>
            </a:endParaRPr>
          </a:p>
          <a:p>
            <a:pPr algn="l">
              <a:lnSpc>
                <a:spcPct val="120000"/>
              </a:lnSpc>
            </a:pPr>
            <a:endParaRPr sz="800" b="0" dirty="0">
              <a:solidFill>
                <a:srgbClr val="333333"/>
              </a:solidFill>
              <a:latin typeface="メイリオ"/>
              <a:ea typeface="メイリオ"/>
              <a:cs typeface="メイリオ"/>
            </a:endParaRPr>
          </a:p>
          <a:p>
            <a:pPr algn="l">
              <a:lnSpc>
                <a:spcPct val="120000"/>
              </a:lnSpc>
            </a:pPr>
            <a:r>
              <a:rPr sz="1200" b="1" dirty="0">
                <a:solidFill>
                  <a:srgbClr val="333333"/>
                </a:solidFill>
                <a:latin typeface="メイリオ"/>
                <a:ea typeface="メイリオ"/>
                <a:cs typeface="メイリオ"/>
              </a:rPr>
              <a:t>② 不安をその場で消す</a:t>
            </a:r>
          </a:p>
          <a:p>
            <a:pPr algn="l">
              <a:lnSpc>
                <a:spcPct val="120000"/>
              </a:lnSpc>
            </a:pPr>
            <a:r>
              <a:rPr sz="1100" b="0" dirty="0">
                <a:solidFill>
                  <a:srgbClr val="333333"/>
                </a:solidFill>
                <a:latin typeface="メイリオ"/>
                <a:ea typeface="メイリオ"/>
                <a:cs typeface="メイリオ"/>
              </a:rPr>
              <a:t>　送料・返品の条件</a:t>
            </a:r>
            <a:endParaRPr lang="en-US" sz="1100" b="0" dirty="0">
              <a:solidFill>
                <a:srgbClr val="333333"/>
              </a:solidFill>
              <a:latin typeface="メイリオ"/>
              <a:ea typeface="メイリオ"/>
              <a:cs typeface="メイリオ"/>
            </a:endParaRPr>
          </a:p>
          <a:p>
            <a:pPr algn="l">
              <a:lnSpc>
                <a:spcPct val="120000"/>
              </a:lnSpc>
            </a:pPr>
            <a:r>
              <a:rPr sz="1100" b="0" dirty="0">
                <a:solidFill>
                  <a:srgbClr val="333333"/>
                </a:solidFill>
                <a:latin typeface="メイリオ"/>
                <a:ea typeface="メイリオ"/>
                <a:cs typeface="メイリオ"/>
              </a:rPr>
              <a:t>→ カゴ落ちの理由を先に外す</a:t>
            </a:r>
            <a:endParaRPr lang="en-US" sz="1100" b="0" dirty="0">
              <a:solidFill>
                <a:srgbClr val="333333"/>
              </a:solidFill>
              <a:latin typeface="メイリオ"/>
              <a:ea typeface="メイリオ"/>
              <a:cs typeface="メイリオ"/>
            </a:endParaRPr>
          </a:p>
          <a:p>
            <a:pPr algn="l">
              <a:lnSpc>
                <a:spcPct val="120000"/>
              </a:lnSpc>
            </a:pPr>
            <a:endParaRPr sz="800" b="0" dirty="0">
              <a:solidFill>
                <a:srgbClr val="333333"/>
              </a:solidFill>
              <a:latin typeface="メイリオ"/>
              <a:ea typeface="メイリオ"/>
              <a:cs typeface="メイリオ"/>
            </a:endParaRPr>
          </a:p>
          <a:p>
            <a:pPr algn="l">
              <a:lnSpc>
                <a:spcPct val="120000"/>
              </a:lnSpc>
            </a:pPr>
            <a:r>
              <a:rPr sz="1200" b="1" dirty="0">
                <a:solidFill>
                  <a:srgbClr val="333333"/>
                </a:solidFill>
                <a:latin typeface="メイリオ"/>
                <a:ea typeface="メイリオ"/>
                <a:cs typeface="メイリオ"/>
              </a:rPr>
              <a:t>③ </a:t>
            </a:r>
            <a:r>
              <a:rPr sz="1200" b="1" dirty="0" err="1">
                <a:solidFill>
                  <a:srgbClr val="333333"/>
                </a:solidFill>
                <a:latin typeface="メイリオ"/>
                <a:ea typeface="メイリオ"/>
                <a:cs typeface="メイリオ"/>
              </a:rPr>
              <a:t>停止の逃げ道を先に見せる</a:t>
            </a:r>
            <a:endParaRPr sz="1200" b="1" dirty="0">
              <a:solidFill>
                <a:srgbClr val="333333"/>
              </a:solidFill>
              <a:latin typeface="メイリオ"/>
              <a:ea typeface="メイリオ"/>
              <a:cs typeface="メイリオ"/>
            </a:endParaRPr>
          </a:p>
          <a:p>
            <a:pPr algn="l">
              <a:lnSpc>
                <a:spcPct val="120000"/>
              </a:lnSpc>
            </a:pPr>
            <a:r>
              <a:rPr sz="1100" b="0" dirty="0">
                <a:solidFill>
                  <a:srgbClr val="333333"/>
                </a:solidFill>
                <a:latin typeface="メイリオ"/>
                <a:ea typeface="メイリオ"/>
                <a:cs typeface="メイリオ"/>
              </a:rPr>
              <a:t>　</a:t>
            </a:r>
            <a:r>
              <a:rPr sz="1100" b="0" dirty="0" err="1">
                <a:solidFill>
                  <a:srgbClr val="333333"/>
                </a:solidFill>
                <a:latin typeface="メイリオ"/>
                <a:ea typeface="メイリオ"/>
                <a:cs typeface="メイリオ"/>
              </a:rPr>
              <a:t>ブロックの代わりに</a:t>
            </a:r>
            <a:endParaRPr lang="en-US" sz="1100" b="0" dirty="0">
              <a:solidFill>
                <a:srgbClr val="333333"/>
              </a:solidFill>
              <a:latin typeface="メイリオ"/>
              <a:ea typeface="メイリオ"/>
              <a:cs typeface="メイリオ"/>
            </a:endParaRPr>
          </a:p>
          <a:p>
            <a:pPr algn="l">
              <a:lnSpc>
                <a:spcPct val="120000"/>
              </a:lnSpc>
            </a:pPr>
            <a:r>
              <a:rPr lang="ja-JP" altLang="en-US" sz="1100" dirty="0">
                <a:solidFill>
                  <a:srgbClr val="333333"/>
                </a:solidFill>
                <a:latin typeface="メイリオ"/>
                <a:ea typeface="メイリオ"/>
                <a:cs typeface="メイリオ"/>
              </a:rPr>
              <a:t>　　</a:t>
            </a:r>
            <a:r>
              <a:rPr sz="1100" b="0" dirty="0" err="1">
                <a:solidFill>
                  <a:srgbClr val="333333"/>
                </a:solidFill>
                <a:latin typeface="メイリオ"/>
                <a:ea typeface="メイリオ"/>
                <a:cs typeface="メイリオ"/>
              </a:rPr>
              <a:t>停止を選べる</a:t>
            </a:r>
            <a:endParaRPr sz="1100" b="0" dirty="0">
              <a:solidFill>
                <a:srgbClr val="333333"/>
              </a:solidFill>
              <a:latin typeface="メイリオ"/>
              <a:ea typeface="メイリオ"/>
              <a:cs typeface="メイリオ"/>
            </a:endParaRPr>
          </a:p>
        </p:txBody>
      </p:sp>
      <p:sp>
        <p:nvSpPr>
          <p:cNvPr id="12" name="TextBox 11"/>
          <p:cNvSpPr txBox="1"/>
          <p:nvPr/>
        </p:nvSpPr>
        <p:spPr>
          <a:xfrm>
            <a:off x="5400000" y="1530000"/>
            <a:ext cx="4140000" cy="251999"/>
          </a:xfrm>
          <a:prstGeom prst="rect">
            <a:avLst/>
          </a:prstGeom>
          <a:noFill/>
        </p:spPr>
        <p:txBody>
          <a:bodyPr wrap="square" lIns="36000" tIns="10800" rIns="36000" bIns="10800" anchor="ctr">
            <a:spAutoFit/>
          </a:bodyPr>
          <a:lstStyle/>
          <a:p>
            <a:pPr algn="l">
              <a:lnSpc>
                <a:spcPct val="120000"/>
              </a:lnSpc>
            </a:pPr>
            <a:r>
              <a:rPr sz="1400" b="1">
                <a:solidFill>
                  <a:srgbClr val="002060"/>
                </a:solidFill>
                <a:latin typeface="メイリオ"/>
                <a:ea typeface="メイリオ"/>
                <a:cs typeface="メイリオ"/>
              </a:rPr>
              <a:t>リッチメニュー（6分割）</a:t>
            </a:r>
          </a:p>
        </p:txBody>
      </p:sp>
      <p:pic>
        <p:nvPicPr>
          <p:cNvPr id="13" name="Picture 12" descr="EC業界_リッチメニュー6分割.png"/>
          <p:cNvPicPr>
            <a:picLocks noChangeAspect="1"/>
          </p:cNvPicPr>
          <p:nvPr/>
        </p:nvPicPr>
        <p:blipFill>
          <a:blip r:embed="rId3"/>
          <a:stretch>
            <a:fillRect/>
          </a:stretch>
        </p:blipFill>
        <p:spPr>
          <a:xfrm>
            <a:off x="5472000" y="1818000"/>
            <a:ext cx="4068000" cy="2710800"/>
          </a:xfrm>
          <a:prstGeom prst="rect">
            <a:avLst/>
          </a:prstGeom>
        </p:spPr>
      </p:pic>
      <p:sp>
        <p:nvSpPr>
          <p:cNvPr id="14" name="TextBox 13"/>
          <p:cNvSpPr txBox="1"/>
          <p:nvPr/>
        </p:nvSpPr>
        <p:spPr>
          <a:xfrm>
            <a:off x="5808618" y="4564801"/>
            <a:ext cx="3308468" cy="1028625"/>
          </a:xfrm>
          <a:prstGeom prst="rect">
            <a:avLst/>
          </a:prstGeom>
          <a:noFill/>
        </p:spPr>
        <p:txBody>
          <a:bodyPr wrap="square" lIns="36000" tIns="10800" rIns="36000" bIns="10800" anchor="t">
            <a:spAutoFit/>
          </a:bodyPr>
          <a:lstStyle/>
          <a:p>
            <a:pPr algn="ctr">
              <a:lnSpc>
                <a:spcPct val="120000"/>
              </a:lnSpc>
            </a:pPr>
            <a:r>
              <a:rPr sz="1200" b="0" dirty="0" err="1">
                <a:solidFill>
                  <a:srgbClr val="333333"/>
                </a:solidFill>
                <a:latin typeface="メイリオ"/>
                <a:ea typeface="メイリオ"/>
                <a:cs typeface="メイリオ"/>
              </a:rPr>
              <a:t>商品を探す／カートを見る／注文・配送状況</a:t>
            </a:r>
            <a:endParaRPr lang="en-US" sz="1200" b="0" dirty="0">
              <a:solidFill>
                <a:srgbClr val="333333"/>
              </a:solidFill>
              <a:latin typeface="メイリオ"/>
              <a:ea typeface="メイリオ"/>
              <a:cs typeface="メイリオ"/>
            </a:endParaRPr>
          </a:p>
          <a:p>
            <a:pPr algn="ctr">
              <a:lnSpc>
                <a:spcPct val="120000"/>
              </a:lnSpc>
            </a:pPr>
            <a:r>
              <a:rPr sz="1200" b="0" dirty="0" err="1">
                <a:solidFill>
                  <a:srgbClr val="333333"/>
                </a:solidFill>
                <a:latin typeface="メイリオ"/>
                <a:ea typeface="メイリオ"/>
                <a:cs typeface="メイリオ"/>
              </a:rPr>
              <a:t>クーポン／よくある質問／お問い合わせ</a:t>
            </a:r>
            <a:endParaRPr lang="en-US" sz="1200" b="0" dirty="0">
              <a:solidFill>
                <a:srgbClr val="333333"/>
              </a:solidFill>
              <a:latin typeface="メイリオ"/>
              <a:ea typeface="メイリオ"/>
              <a:cs typeface="メイリオ"/>
            </a:endParaRPr>
          </a:p>
          <a:p>
            <a:pPr algn="ctr">
              <a:lnSpc>
                <a:spcPct val="120000"/>
              </a:lnSpc>
            </a:pPr>
            <a:endParaRPr sz="800" b="0" dirty="0">
              <a:solidFill>
                <a:srgbClr val="333333"/>
              </a:solidFill>
              <a:latin typeface="メイリオ"/>
              <a:ea typeface="メイリオ"/>
              <a:cs typeface="メイリオ"/>
            </a:endParaRPr>
          </a:p>
          <a:p>
            <a:pPr>
              <a:lnSpc>
                <a:spcPct val="120000"/>
              </a:lnSpc>
            </a:pPr>
            <a:r>
              <a:rPr lang="ja-JP" altLang="en-US" sz="1150" b="1" dirty="0">
                <a:solidFill>
                  <a:srgbClr val="C00000"/>
                </a:solidFill>
                <a:latin typeface="メイリオ"/>
                <a:ea typeface="メイリオ"/>
                <a:cs typeface="メイリオ"/>
              </a:rPr>
              <a:t>★ </a:t>
            </a:r>
            <a:r>
              <a:rPr lang="en-US" altLang="ja-JP" sz="1150" b="1" dirty="0">
                <a:solidFill>
                  <a:srgbClr val="C00000"/>
                </a:solidFill>
                <a:latin typeface="メイリオ"/>
                <a:ea typeface="メイリオ"/>
                <a:cs typeface="メイリオ"/>
              </a:rPr>
              <a:t>EC</a:t>
            </a:r>
            <a:r>
              <a:rPr lang="ja-JP" altLang="en-US" sz="1150" b="1" dirty="0">
                <a:solidFill>
                  <a:srgbClr val="C00000"/>
                </a:solidFill>
                <a:latin typeface="メイリオ"/>
                <a:ea typeface="メイリオ"/>
                <a:cs typeface="メイリオ"/>
              </a:rPr>
              <a:t>で購入時に問い合わせが多いものを</a:t>
            </a:r>
            <a:endParaRPr lang="en-US" altLang="ja-JP" sz="1150" b="1" dirty="0">
              <a:solidFill>
                <a:srgbClr val="C00000"/>
              </a:solidFill>
              <a:latin typeface="メイリオ"/>
              <a:ea typeface="メイリオ"/>
              <a:cs typeface="メイリオ"/>
            </a:endParaRPr>
          </a:p>
          <a:p>
            <a:pPr>
              <a:lnSpc>
                <a:spcPct val="120000"/>
              </a:lnSpc>
            </a:pPr>
            <a:r>
              <a:rPr lang="ja-JP" altLang="en-US" sz="1150" b="1" dirty="0">
                <a:solidFill>
                  <a:srgbClr val="C00000"/>
                </a:solidFill>
                <a:latin typeface="メイリオ"/>
                <a:ea typeface="メイリオ"/>
                <a:cs typeface="メイリオ"/>
              </a:rPr>
              <a:t>リッチメニューに表示</a:t>
            </a:r>
          </a:p>
        </p:txBody>
      </p:sp>
      <p:sp>
        <p:nvSpPr>
          <p:cNvPr id="15" name="TextBox 14"/>
          <p:cNvSpPr txBox="1"/>
          <p:nvPr/>
        </p:nvSpPr>
        <p:spPr>
          <a:xfrm>
            <a:off x="432000" y="6246000"/>
            <a:ext cx="9043200" cy="324000"/>
          </a:xfrm>
          <a:prstGeom prst="rect">
            <a:avLst/>
          </a:prstGeom>
          <a:noFill/>
        </p:spPr>
        <p:txBody>
          <a:bodyPr wrap="square" lIns="36000" tIns="10800" rIns="36000" bIns="10800" anchor="ctr">
            <a:spAutoFit/>
          </a:bodyPr>
          <a:lstStyle/>
          <a:p>
            <a:pPr algn="l">
              <a:lnSpc>
                <a:spcPct val="120000"/>
              </a:lnSpc>
            </a:pPr>
            <a:r>
              <a:rPr sz="800" b="0">
                <a:solidFill>
                  <a:srgbClr val="888888"/>
                </a:solidFill>
                <a:latin typeface="メイリオ"/>
                <a:ea typeface="メイリオ"/>
                <a:cs typeface="メイリオ"/>
              </a:rPr>
              <a:t>※ 画面はイメージです。文言・デザインは構築時に貴社と確定します</a:t>
            </a:r>
          </a:p>
        </p:txBody>
      </p:sp>
      <p:cxnSp>
        <p:nvCxnSpPr>
          <p:cNvPr id="2" name="Connector 3">
            <a:extLst>
              <a:ext uri="{FF2B5EF4-FFF2-40B4-BE49-F238E27FC236}">
                <a16:creationId xmlns:a16="http://schemas.microsoft.com/office/drawing/2014/main" id="{51B65697-FE94-380B-18F9-94F72C868B5B}"/>
              </a:ext>
            </a:extLst>
          </p:cNvPr>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DC709EF-8F36-5A87-7829-DD298A28008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39EB113-7B09-7996-7FBB-B34C856CBCC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実態調査｜広告実績（CV地点別）</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tIns="18000" rIns="50400" bIns="18000" anchor="t">
            <a:spAutoFit/>
          </a:bodyPr>
          <a:lstStyle/>
          <a:p>
            <a:pPr algn="l">
              <a:lnSpc>
                <a:spcPct val="135000"/>
              </a:lnSpc>
            </a:pPr>
            <a:r>
              <a:rPr sz="1400">
                <a:solidFill>
                  <a:srgbClr val="333333"/>
                </a:solidFill>
                <a:latin typeface="メイリオ"/>
                <a:ea typeface="メイリオ"/>
                <a:cs typeface="メイリオ"/>
              </a:rPr>
              <a:t>ECは軽いCVも重いCVも取れる。だからCVRは「どの地点か」を明記しないと比較できない。</a:t>
            </a:r>
          </a:p>
          <a:p>
            <a:pPr algn="l">
              <a:lnSpc>
                <a:spcPct val="135000"/>
              </a:lnSpc>
            </a:pPr>
            <a:r>
              <a:rPr sz="1400">
                <a:solidFill>
                  <a:srgbClr val="333333"/>
                </a:solidFill>
                <a:latin typeface="メイリオ"/>
                <a:ea typeface="メイリオ"/>
                <a:cs typeface="メイリオ"/>
              </a:rPr>
              <a:t>弊社実績はCV地点別に把握しており、提案時に実数をお出しする。</a:t>
            </a:r>
          </a:p>
        </p:txBody>
      </p:sp>
      <p:sp>
        <p:nvSpPr>
          <p:cNvPr id="47" name="Rounded Rectangle 46"/>
          <p:cNvSpPr/>
          <p:nvPr/>
        </p:nvSpPr>
        <p:spPr>
          <a:xfrm>
            <a:off x="432000" y="1548000"/>
            <a:ext cx="2942400" cy="1764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03999" y="1655999"/>
            <a:ext cx="2798400" cy="306000"/>
          </a:xfrm>
          <a:prstGeom prst="rect">
            <a:avLst/>
          </a:prstGeom>
          <a:noFill/>
        </p:spPr>
        <p:txBody>
          <a:bodyPr wrap="square" lIns="50400" tIns="18000" rIns="50400" bIns="18000" anchor="ctr">
            <a:spAutoFit/>
          </a:bodyPr>
          <a:lstStyle/>
          <a:p>
            <a:pPr algn="ctr"/>
            <a:r>
              <a:rPr sz="1500" b="1">
                <a:solidFill>
                  <a:srgbClr val="333333"/>
                </a:solidFill>
                <a:latin typeface="メイリオ"/>
                <a:ea typeface="メイリオ"/>
                <a:cs typeface="メイリオ"/>
              </a:rPr>
              <a:t>① カート投入　</a:t>
            </a:r>
            <a:r>
              <a:rPr sz="1300" b="1">
                <a:solidFill>
                  <a:srgbClr val="ED7D31"/>
                </a:solidFill>
                <a:latin typeface="メイリオ"/>
                <a:ea typeface="メイリオ"/>
                <a:cs typeface="メイリオ"/>
              </a:rPr>
              <a:t>軽CV</a:t>
            </a:r>
          </a:p>
        </p:txBody>
      </p:sp>
      <p:sp>
        <p:nvSpPr>
          <p:cNvPr id="49" name="TextBox 48"/>
          <p:cNvSpPr txBox="1"/>
          <p:nvPr/>
        </p:nvSpPr>
        <p:spPr>
          <a:xfrm>
            <a:off x="540000" y="2034000"/>
            <a:ext cx="2726400" cy="720000"/>
          </a:xfrm>
          <a:prstGeom prst="rect">
            <a:avLst/>
          </a:prstGeom>
          <a:noFill/>
        </p:spPr>
        <p:txBody>
          <a:bodyPr wrap="square" lIns="50400" tIns="18000" rIns="50400" bIns="18000" anchor="t">
            <a:spAutoFit/>
          </a:bodyPr>
          <a:lstStyle/>
          <a:p>
            <a:pPr algn="ctr">
              <a:lnSpc>
                <a:spcPct val="135000"/>
              </a:lnSpc>
            </a:pPr>
            <a:r>
              <a:rPr sz="1300">
                <a:solidFill>
                  <a:srgbClr val="333333"/>
                </a:solidFill>
                <a:latin typeface="メイリオ"/>
                <a:ea typeface="メイリオ"/>
                <a:cs typeface="メイリオ"/>
              </a:rPr>
              <a:t>商品をカートに入れた時点。</a:t>
            </a:r>
          </a:p>
          <a:p>
            <a:pPr algn="ctr">
              <a:lnSpc>
                <a:spcPct val="135000"/>
              </a:lnSpc>
            </a:pPr>
            <a:r>
              <a:rPr sz="1300">
                <a:solidFill>
                  <a:srgbClr val="333333"/>
                </a:solidFill>
                <a:latin typeface="メイリオ"/>
                <a:ea typeface="メイリオ"/>
                <a:cs typeface="メイリオ"/>
              </a:rPr>
              <a:t>最も母数が大きく、ここから6〜7割が落ちる</a:t>
            </a:r>
          </a:p>
        </p:txBody>
      </p:sp>
      <p:sp>
        <p:nvSpPr>
          <p:cNvPr id="50" name="Rounded Rectangle 49"/>
          <p:cNvSpPr/>
          <p:nvPr/>
        </p:nvSpPr>
        <p:spPr>
          <a:xfrm>
            <a:off x="557999" y="2808000"/>
            <a:ext cx="2690400" cy="396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57999" y="2808000"/>
            <a:ext cx="2690400" cy="396000"/>
          </a:xfrm>
          <a:prstGeom prst="rect">
            <a:avLst/>
          </a:prstGeom>
          <a:noFill/>
        </p:spPr>
        <p:txBody>
          <a:bodyPr wrap="square" lIns="50400" tIns="18000" rIns="50400" bIns="18000" anchor="ctr">
            <a:spAutoFit/>
          </a:bodyPr>
          <a:lstStyle/>
          <a:p>
            <a:pPr algn="ctr"/>
            <a:r>
              <a:rPr sz="1300" b="1">
                <a:solidFill>
                  <a:srgbClr val="ED7D31"/>
                </a:solidFill>
                <a:latin typeface="メイリオ"/>
                <a:ea typeface="メイリオ"/>
                <a:cs typeface="メイリオ"/>
              </a:rPr>
              <a:t>カート → 購入　CVR 30〜40%</a:t>
            </a:r>
          </a:p>
        </p:txBody>
      </p:sp>
      <p:sp>
        <p:nvSpPr>
          <p:cNvPr id="52" name="Rounded Rectangle 51"/>
          <p:cNvSpPr/>
          <p:nvPr/>
        </p:nvSpPr>
        <p:spPr>
          <a:xfrm>
            <a:off x="3482400" y="1548000"/>
            <a:ext cx="2942400" cy="1764000"/>
          </a:xfrm>
          <a:prstGeom prst="roundRect">
            <a:avLst/>
          </a:prstGeom>
          <a:solidFill>
            <a:srgbClr val="EEF2F9"/>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554400" y="1655999"/>
            <a:ext cx="2798400" cy="306000"/>
          </a:xfrm>
          <a:prstGeom prst="rect">
            <a:avLst/>
          </a:prstGeom>
          <a:noFill/>
        </p:spPr>
        <p:txBody>
          <a:bodyPr wrap="square" lIns="50400" tIns="18000" rIns="50400" bIns="18000" anchor="ctr">
            <a:spAutoFit/>
          </a:bodyPr>
          <a:lstStyle/>
          <a:p>
            <a:pPr algn="ctr"/>
            <a:r>
              <a:rPr sz="1500" b="1">
                <a:solidFill>
                  <a:srgbClr val="333333"/>
                </a:solidFill>
                <a:latin typeface="メイリオ"/>
                <a:ea typeface="メイリオ"/>
                <a:cs typeface="メイリオ"/>
              </a:rPr>
              <a:t>② 初回購入　</a:t>
            </a:r>
            <a:r>
              <a:rPr sz="1300" b="1">
                <a:solidFill>
                  <a:srgbClr val="1F285A"/>
                </a:solidFill>
                <a:latin typeface="メイリオ"/>
                <a:ea typeface="メイリオ"/>
                <a:cs typeface="メイリオ"/>
              </a:rPr>
              <a:t>主CV</a:t>
            </a:r>
          </a:p>
        </p:txBody>
      </p:sp>
      <p:sp>
        <p:nvSpPr>
          <p:cNvPr id="54" name="TextBox 53"/>
          <p:cNvSpPr txBox="1"/>
          <p:nvPr/>
        </p:nvSpPr>
        <p:spPr>
          <a:xfrm>
            <a:off x="3590400" y="2034000"/>
            <a:ext cx="2726400" cy="720000"/>
          </a:xfrm>
          <a:prstGeom prst="rect">
            <a:avLst/>
          </a:prstGeom>
          <a:noFill/>
        </p:spPr>
        <p:txBody>
          <a:bodyPr wrap="square" lIns="50400" tIns="18000" rIns="50400" bIns="18000" anchor="t">
            <a:spAutoFit/>
          </a:bodyPr>
          <a:lstStyle/>
          <a:p>
            <a:pPr algn="ctr">
              <a:lnSpc>
                <a:spcPct val="135000"/>
              </a:lnSpc>
            </a:pPr>
            <a:r>
              <a:rPr sz="1300">
                <a:solidFill>
                  <a:srgbClr val="333333"/>
                </a:solidFill>
                <a:latin typeface="メイリオ"/>
                <a:ea typeface="メイリオ"/>
                <a:cs typeface="メイリオ"/>
              </a:rPr>
              <a:t>ここでは赤字でよい。</a:t>
            </a:r>
          </a:p>
          <a:p>
            <a:pPr algn="ctr">
              <a:lnSpc>
                <a:spcPct val="135000"/>
              </a:lnSpc>
            </a:pPr>
            <a:r>
              <a:rPr sz="1300">
                <a:solidFill>
                  <a:srgbClr val="333333"/>
                </a:solidFill>
                <a:latin typeface="メイリオ"/>
                <a:ea typeface="メイリオ"/>
                <a:cs typeface="メイリオ"/>
              </a:rPr>
              <a:t>広告のCPOはこの地点で測る</a:t>
            </a:r>
          </a:p>
        </p:txBody>
      </p:sp>
      <p:sp>
        <p:nvSpPr>
          <p:cNvPr id="55" name="Rounded Rectangle 54"/>
          <p:cNvSpPr/>
          <p:nvPr/>
        </p:nvSpPr>
        <p:spPr>
          <a:xfrm>
            <a:off x="3608400" y="2808000"/>
            <a:ext cx="2690400" cy="396000"/>
          </a:xfrm>
          <a:prstGeom prst="roundRect">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608400" y="2808000"/>
            <a:ext cx="2690400" cy="396000"/>
          </a:xfrm>
          <a:prstGeom prst="rect">
            <a:avLst/>
          </a:prstGeom>
          <a:noFill/>
        </p:spPr>
        <p:txBody>
          <a:bodyPr wrap="square" lIns="50400" tIns="18000" rIns="50400" bIns="18000" anchor="ctr">
            <a:spAutoFit/>
          </a:bodyPr>
          <a:lstStyle/>
          <a:p>
            <a:pPr algn="ctr"/>
            <a:r>
              <a:rPr sz="1300" b="1">
                <a:solidFill>
                  <a:srgbClr val="1F285A"/>
                </a:solidFill>
                <a:latin typeface="メイリオ"/>
                <a:ea typeface="メイリオ"/>
                <a:cs typeface="メイリオ"/>
              </a:rPr>
              <a:t>弊社実績　CPA ¥1,373〜1,902</a:t>
            </a:r>
          </a:p>
        </p:txBody>
      </p:sp>
      <p:sp>
        <p:nvSpPr>
          <p:cNvPr id="57" name="Rounded Rectangle 56"/>
          <p:cNvSpPr/>
          <p:nvPr/>
        </p:nvSpPr>
        <p:spPr>
          <a:xfrm>
            <a:off x="6532800" y="1548000"/>
            <a:ext cx="2942400" cy="1764000"/>
          </a:xfrm>
          <a:prstGeom prst="roundRect">
            <a:avLst/>
          </a:prstGeom>
          <a:solidFill>
            <a:srgbClr val="FD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604800" y="1655999"/>
            <a:ext cx="2798400" cy="306000"/>
          </a:xfrm>
          <a:prstGeom prst="rect">
            <a:avLst/>
          </a:prstGeom>
          <a:noFill/>
        </p:spPr>
        <p:txBody>
          <a:bodyPr wrap="square" lIns="50400" tIns="18000" rIns="50400" bIns="18000" anchor="ctr">
            <a:spAutoFit/>
          </a:bodyPr>
          <a:lstStyle/>
          <a:p>
            <a:pPr algn="ctr"/>
            <a:r>
              <a:rPr sz="1500" b="1">
                <a:solidFill>
                  <a:srgbClr val="333333"/>
                </a:solidFill>
                <a:latin typeface="メイリオ"/>
                <a:ea typeface="メイリオ"/>
                <a:cs typeface="メイリオ"/>
              </a:rPr>
              <a:t>③ 定期引上・F2　</a:t>
            </a:r>
            <a:r>
              <a:rPr sz="1300" b="1">
                <a:solidFill>
                  <a:srgbClr val="C00000"/>
                </a:solidFill>
                <a:latin typeface="メイリオ"/>
                <a:ea typeface="メイリオ"/>
                <a:cs typeface="メイリオ"/>
              </a:rPr>
              <a:t>最終CV</a:t>
            </a:r>
          </a:p>
        </p:txBody>
      </p:sp>
      <p:sp>
        <p:nvSpPr>
          <p:cNvPr id="59" name="TextBox 58"/>
          <p:cNvSpPr txBox="1"/>
          <p:nvPr/>
        </p:nvSpPr>
        <p:spPr>
          <a:xfrm>
            <a:off x="6640800" y="2034000"/>
            <a:ext cx="2726400" cy="720000"/>
          </a:xfrm>
          <a:prstGeom prst="rect">
            <a:avLst/>
          </a:prstGeom>
          <a:noFill/>
        </p:spPr>
        <p:txBody>
          <a:bodyPr wrap="square" lIns="50400" tIns="18000" rIns="50400" bIns="18000" anchor="t">
            <a:spAutoFit/>
          </a:bodyPr>
          <a:lstStyle/>
          <a:p>
            <a:pPr algn="ctr">
              <a:lnSpc>
                <a:spcPct val="135000"/>
              </a:lnSpc>
            </a:pPr>
            <a:r>
              <a:rPr sz="1300">
                <a:solidFill>
                  <a:srgbClr val="333333"/>
                </a:solidFill>
                <a:latin typeface="メイリオ"/>
                <a:ea typeface="メイリオ"/>
                <a:cs typeface="メイリオ"/>
              </a:rPr>
              <a:t>ここで初めて黒字。</a:t>
            </a:r>
          </a:p>
          <a:p>
            <a:pPr algn="ctr">
              <a:lnSpc>
                <a:spcPct val="135000"/>
              </a:lnSpc>
            </a:pPr>
            <a:r>
              <a:rPr sz="1300">
                <a:solidFill>
                  <a:srgbClr val="333333"/>
                </a:solidFill>
                <a:latin typeface="メイリオ"/>
                <a:ea typeface="メイリオ"/>
                <a:cs typeface="メイリオ"/>
              </a:rPr>
              <a:t>本提案の主戦場</a:t>
            </a:r>
          </a:p>
        </p:txBody>
      </p:sp>
      <p:sp>
        <p:nvSpPr>
          <p:cNvPr id="60" name="Rounded Rectangle 59"/>
          <p:cNvSpPr/>
          <p:nvPr/>
        </p:nvSpPr>
        <p:spPr>
          <a:xfrm>
            <a:off x="6658800" y="2808000"/>
            <a:ext cx="2690400" cy="396000"/>
          </a:xfrm>
          <a:prstGeom prst="roundRect">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658800" y="2808000"/>
            <a:ext cx="2690400" cy="396000"/>
          </a:xfrm>
          <a:prstGeom prst="rect">
            <a:avLst/>
          </a:prstGeom>
          <a:noFill/>
        </p:spPr>
        <p:txBody>
          <a:bodyPr wrap="square" lIns="50400" tIns="18000" rIns="50400" bIns="18000" anchor="ctr">
            <a:spAutoFit/>
          </a:bodyPr>
          <a:lstStyle/>
          <a:p>
            <a:pPr algn="ctr"/>
            <a:r>
              <a:rPr sz="1300" b="1">
                <a:solidFill>
                  <a:srgbClr val="C00000"/>
                </a:solidFill>
                <a:latin typeface="メイリオ"/>
                <a:ea typeface="メイリオ"/>
                <a:cs typeface="メイリオ"/>
              </a:rPr>
              <a:t>初回 → 定期　引上率 約20%</a:t>
            </a:r>
          </a:p>
        </p:txBody>
      </p:sp>
      <p:sp>
        <p:nvSpPr>
          <p:cNvPr id="63" name="Rounded Rectangle 62"/>
          <p:cNvSpPr/>
          <p:nvPr/>
        </p:nvSpPr>
        <p:spPr>
          <a:xfrm>
            <a:off x="432000" y="5166000"/>
            <a:ext cx="9043200" cy="413999"/>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600" b="1">
                <a:solidFill>
                  <a:srgbClr val="FFFFFF"/>
                </a:solidFill>
                <a:latin typeface="メイリオ"/>
                <a:ea typeface="メイリオ"/>
                <a:cs typeface="メイリオ"/>
              </a:rPr>
              <a:t>CPAもCVRも、「どの地点で測ったか」を書かないと意味を持たない</a:t>
            </a:r>
          </a:p>
        </p:txBody>
      </p:sp>
      <p:sp>
        <p:nvSpPr>
          <p:cNvPr id="64" name="TextBox 63"/>
          <p:cNvSpPr txBox="1"/>
          <p:nvPr/>
        </p:nvSpPr>
        <p:spPr>
          <a:xfrm>
            <a:off x="432000" y="6246000"/>
            <a:ext cx="9043200" cy="324000"/>
          </a:xfrm>
          <a:prstGeom prst="rect">
            <a:avLst/>
          </a:prstGeom>
          <a:noFill/>
        </p:spPr>
        <p:txBody>
          <a:bodyPr wrap="square" lIns="50400" tIns="18000" rIns="50400" bIns="18000" anchor="t">
            <a:spAutoFit/>
          </a:bodyPr>
          <a:lstStyle/>
          <a:p>
            <a:pPr algn="l">
              <a:lnSpc>
                <a:spcPct val="120000"/>
              </a:lnSpc>
            </a:pPr>
            <a:r>
              <a:rPr sz="800">
                <a:solidFill>
                  <a:srgbClr val="888888"/>
                </a:solidFill>
                <a:latin typeface="メイリオ"/>
                <a:ea typeface="メイリオ"/>
                <a:cs typeface="メイリオ"/>
              </a:rPr>
              <a:t>弊社実績｜DYM のEC配信実績より。CV地点＝初回購入　／　業界水準｜カート→購入CVR・定期引上率は単品通販の水準</a:t>
            </a:r>
          </a:p>
        </p:txBody>
      </p:sp>
      <p:sp>
        <p:nvSpPr>
          <p:cNvPr id="65" name="TextBox 64"/>
          <p:cNvSpPr txBox="1"/>
          <p:nvPr/>
        </p:nvSpPr>
        <p:spPr>
          <a:xfrm>
            <a:off x="432000" y="3376800"/>
            <a:ext cx="9043200" cy="201600"/>
          </a:xfrm>
          <a:prstGeom prst="rect">
            <a:avLst/>
          </a:prstGeom>
          <a:noFill/>
        </p:spPr>
        <p:txBody>
          <a:bodyPr wrap="square" lIns="36000" tIns="7200" rIns="36000" bIns="7200" anchor="ctr">
            <a:spAutoFit/>
          </a:bodyPr>
          <a:lstStyle/>
          <a:p>
            <a:pPr algn="l">
              <a:lnSpc>
                <a:spcPct val="122000"/>
              </a:lnSpc>
            </a:pPr>
            <a:r>
              <a:rPr sz="1400" b="1">
                <a:solidFill>
                  <a:srgbClr val="002060"/>
                </a:solidFill>
                <a:latin typeface="メイリオ"/>
                <a:ea typeface="メイリオ"/>
                <a:cs typeface="メイリオ"/>
              </a:rPr>
              <a:t>── 弊社のEC配信実績（いずれも CV地点＝② 初回購入）</a:t>
            </a:r>
          </a:p>
        </p:txBody>
      </p:sp>
      <p:sp>
        <p:nvSpPr>
          <p:cNvPr id="66" name="Rectangle 65"/>
          <p:cNvSpPr/>
          <p:nvPr/>
        </p:nvSpPr>
        <p:spPr>
          <a:xfrm>
            <a:off x="432000" y="3571200"/>
            <a:ext cx="2941200" cy="1458000"/>
          </a:xfrm>
          <a:prstGeom prst="rect">
            <a:avLst/>
          </a:prstGeom>
          <a:solidFill>
            <a:srgbClr val="FFFFFF"/>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22000" y="3621600"/>
            <a:ext cx="2761200" cy="223200"/>
          </a:xfrm>
          <a:prstGeom prst="rect">
            <a:avLst/>
          </a:prstGeom>
          <a:noFill/>
        </p:spPr>
        <p:txBody>
          <a:bodyPr wrap="square" lIns="36000" tIns="7200" rIns="36000" bIns="7200" anchor="ctr">
            <a:spAutoFit/>
          </a:bodyPr>
          <a:lstStyle/>
          <a:p>
            <a:pPr algn="l">
              <a:lnSpc>
                <a:spcPct val="122000"/>
              </a:lnSpc>
            </a:pPr>
            <a:r>
              <a:rPr sz="1400" b="1">
                <a:solidFill>
                  <a:srgbClr val="ED7D31"/>
                </a:solidFill>
                <a:latin typeface="メイリオ"/>
                <a:ea typeface="メイリオ"/>
                <a:cs typeface="メイリオ"/>
              </a:rPr>
              <a:t>総合スーパー ネット通販</a:t>
            </a:r>
          </a:p>
        </p:txBody>
      </p:sp>
      <p:sp>
        <p:nvSpPr>
          <p:cNvPr id="68" name="TextBox 67"/>
          <p:cNvSpPr txBox="1"/>
          <p:nvPr/>
        </p:nvSpPr>
        <p:spPr>
          <a:xfrm>
            <a:off x="522000" y="3837600"/>
            <a:ext cx="2761200" cy="172800"/>
          </a:xfrm>
          <a:prstGeom prst="rect">
            <a:avLst/>
          </a:prstGeom>
          <a:noFill/>
        </p:spPr>
        <p:txBody>
          <a:bodyPr wrap="square" lIns="36000" tIns="7200" rIns="36000" bIns="7200" anchor="ctr">
            <a:spAutoFit/>
          </a:bodyPr>
          <a:lstStyle/>
          <a:p>
            <a:pPr algn="l">
              <a:lnSpc>
                <a:spcPct val="122000"/>
              </a:lnSpc>
            </a:pPr>
            <a:r>
              <a:rPr sz="1100" b="0">
                <a:solidFill>
                  <a:srgbClr val="888888"/>
                </a:solidFill>
                <a:latin typeface="メイリオ"/>
                <a:ea typeface="メイリオ"/>
                <a:cs typeface="メイリオ"/>
              </a:rPr>
              <a:t>リスティング（Yahoo!）</a:t>
            </a:r>
          </a:p>
        </p:txBody>
      </p:sp>
      <p:sp>
        <p:nvSpPr>
          <p:cNvPr id="69" name="Rectangle 68"/>
          <p:cNvSpPr/>
          <p:nvPr/>
        </p:nvSpPr>
        <p:spPr>
          <a:xfrm>
            <a:off x="522000" y="4031999"/>
            <a:ext cx="2761200" cy="439200"/>
          </a:xfrm>
          <a:prstGeom prst="rect">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22000" y="4031999"/>
            <a:ext cx="2761200" cy="439200"/>
          </a:xfrm>
          <a:prstGeom prst="rect">
            <a:avLst/>
          </a:prstGeom>
          <a:noFill/>
        </p:spPr>
        <p:txBody>
          <a:bodyPr wrap="square" lIns="36000" tIns="7200" rIns="36000" bIns="7200" anchor="ctr">
            <a:spAutoFit/>
          </a:bodyPr>
          <a:lstStyle/>
          <a:p>
            <a:pPr algn="ctr">
              <a:lnSpc>
                <a:spcPct val="122000"/>
              </a:lnSpc>
            </a:pPr>
            <a:r>
              <a:rPr sz="1300" b="1">
                <a:solidFill>
                  <a:srgbClr val="ED7D31"/>
                </a:solidFill>
                <a:latin typeface="メイリオ"/>
                <a:ea typeface="メイリオ"/>
                <a:cs typeface="メイリオ"/>
              </a:rPr>
              <a:t>CPA </a:t>
            </a:r>
            <a:r>
              <a:rPr sz="2400" b="1">
                <a:solidFill>
                  <a:srgbClr val="ED7D31"/>
                </a:solidFill>
                <a:latin typeface="メイリオ"/>
                <a:ea typeface="メイリオ"/>
                <a:cs typeface="メイリオ"/>
              </a:rPr>
              <a:t>¥1,902</a:t>
            </a:r>
          </a:p>
        </p:txBody>
      </p:sp>
      <p:sp>
        <p:nvSpPr>
          <p:cNvPr id="71" name="TextBox 70"/>
          <p:cNvSpPr txBox="1"/>
          <p:nvPr/>
        </p:nvSpPr>
        <p:spPr>
          <a:xfrm>
            <a:off x="522000" y="4507200"/>
            <a:ext cx="2761200" cy="468000"/>
          </a:xfrm>
          <a:prstGeom prst="rect">
            <a:avLst/>
          </a:prstGeom>
          <a:noFill/>
        </p:spPr>
        <p:txBody>
          <a:bodyPr wrap="square" lIns="36000" tIns="7200" rIns="36000" bIns="7200" anchor="t">
            <a:spAutoFit/>
          </a:bodyPr>
          <a:lstStyle/>
          <a:p>
            <a:pPr algn="l">
              <a:lnSpc>
                <a:spcPct val="122000"/>
              </a:lnSpc>
            </a:pPr>
            <a:r>
              <a:rPr sz="1400" b="1">
                <a:solidFill>
                  <a:srgbClr val="333333"/>
                </a:solidFill>
                <a:latin typeface="メイリオ"/>
                <a:ea typeface="メイリオ"/>
                <a:cs typeface="メイリオ"/>
              </a:rPr>
              <a:t>ROAS 413%</a:t>
            </a:r>
          </a:p>
          <a:p>
            <a:pPr algn="l">
              <a:lnSpc>
                <a:spcPct val="122000"/>
              </a:lnSpc>
            </a:pPr>
            <a:r>
              <a:rPr sz="1100" b="0">
                <a:solidFill>
                  <a:srgbClr val="333333"/>
                </a:solidFill>
                <a:latin typeface="メイリオ"/>
                <a:ea typeface="メイリオ"/>
                <a:cs typeface="メイリオ"/>
              </a:rPr>
              <a:t>CV 5,069件／投下 ¥9,641,382</a:t>
            </a:r>
          </a:p>
        </p:txBody>
      </p:sp>
      <p:sp>
        <p:nvSpPr>
          <p:cNvPr id="72" name="Rectangle 71"/>
          <p:cNvSpPr/>
          <p:nvPr/>
        </p:nvSpPr>
        <p:spPr>
          <a:xfrm>
            <a:off x="3481200" y="3571200"/>
            <a:ext cx="2941200" cy="1458000"/>
          </a:xfrm>
          <a:prstGeom prst="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571200" y="3621600"/>
            <a:ext cx="2761200" cy="223200"/>
          </a:xfrm>
          <a:prstGeom prst="rect">
            <a:avLst/>
          </a:prstGeom>
          <a:noFill/>
        </p:spPr>
        <p:txBody>
          <a:bodyPr wrap="square" lIns="36000" tIns="7200" rIns="36000" bIns="7200" anchor="ctr">
            <a:spAutoFit/>
          </a:bodyPr>
          <a:lstStyle/>
          <a:p>
            <a:pPr algn="l">
              <a:lnSpc>
                <a:spcPct val="122000"/>
              </a:lnSpc>
            </a:pPr>
            <a:r>
              <a:rPr sz="1400" b="1">
                <a:solidFill>
                  <a:srgbClr val="1F285A"/>
                </a:solidFill>
                <a:latin typeface="メイリオ"/>
                <a:ea typeface="メイリオ"/>
                <a:cs typeface="メイリオ"/>
              </a:rPr>
              <a:t>鮮魚通販</a:t>
            </a:r>
          </a:p>
        </p:txBody>
      </p:sp>
      <p:sp>
        <p:nvSpPr>
          <p:cNvPr id="74" name="TextBox 73"/>
          <p:cNvSpPr txBox="1"/>
          <p:nvPr/>
        </p:nvSpPr>
        <p:spPr>
          <a:xfrm>
            <a:off x="3571200" y="3837600"/>
            <a:ext cx="2761200" cy="172800"/>
          </a:xfrm>
          <a:prstGeom prst="rect">
            <a:avLst/>
          </a:prstGeom>
          <a:noFill/>
        </p:spPr>
        <p:txBody>
          <a:bodyPr wrap="square" lIns="36000" tIns="7200" rIns="36000" bIns="7200" anchor="ctr">
            <a:spAutoFit/>
          </a:bodyPr>
          <a:lstStyle/>
          <a:p>
            <a:pPr algn="l">
              <a:lnSpc>
                <a:spcPct val="122000"/>
              </a:lnSpc>
            </a:pPr>
            <a:r>
              <a:rPr sz="1100" b="0">
                <a:solidFill>
                  <a:srgbClr val="888888"/>
                </a:solidFill>
                <a:latin typeface="メイリオ"/>
                <a:ea typeface="メイリオ"/>
                <a:cs typeface="メイリオ"/>
              </a:rPr>
              <a:t>ショッピング（Google）</a:t>
            </a:r>
          </a:p>
        </p:txBody>
      </p:sp>
      <p:sp>
        <p:nvSpPr>
          <p:cNvPr id="75" name="Rectangle 74"/>
          <p:cNvSpPr/>
          <p:nvPr/>
        </p:nvSpPr>
        <p:spPr>
          <a:xfrm>
            <a:off x="3571200" y="4031999"/>
            <a:ext cx="2761200" cy="439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571200" y="4031999"/>
            <a:ext cx="2761200" cy="439200"/>
          </a:xfrm>
          <a:prstGeom prst="rect">
            <a:avLst/>
          </a:prstGeom>
          <a:noFill/>
        </p:spPr>
        <p:txBody>
          <a:bodyPr wrap="square" lIns="36000" tIns="7200" rIns="36000" bIns="7200" anchor="ctr">
            <a:spAutoFit/>
          </a:bodyPr>
          <a:lstStyle/>
          <a:p>
            <a:pPr algn="ctr">
              <a:lnSpc>
                <a:spcPct val="122000"/>
              </a:lnSpc>
            </a:pPr>
            <a:r>
              <a:rPr sz="1300" b="1">
                <a:solidFill>
                  <a:srgbClr val="1F285A"/>
                </a:solidFill>
                <a:latin typeface="メイリオ"/>
                <a:ea typeface="メイリオ"/>
                <a:cs typeface="メイリオ"/>
              </a:rPr>
              <a:t>CPA </a:t>
            </a:r>
            <a:r>
              <a:rPr sz="2400" b="1">
                <a:solidFill>
                  <a:srgbClr val="1F285A"/>
                </a:solidFill>
                <a:latin typeface="メイリオ"/>
                <a:ea typeface="メイリオ"/>
                <a:cs typeface="メイリオ"/>
              </a:rPr>
              <a:t>¥1,373</a:t>
            </a:r>
          </a:p>
        </p:txBody>
      </p:sp>
      <p:sp>
        <p:nvSpPr>
          <p:cNvPr id="77" name="TextBox 76"/>
          <p:cNvSpPr txBox="1"/>
          <p:nvPr/>
        </p:nvSpPr>
        <p:spPr>
          <a:xfrm>
            <a:off x="3571200" y="4507200"/>
            <a:ext cx="2761200" cy="468000"/>
          </a:xfrm>
          <a:prstGeom prst="rect">
            <a:avLst/>
          </a:prstGeom>
          <a:noFill/>
        </p:spPr>
        <p:txBody>
          <a:bodyPr wrap="square" lIns="36000" tIns="7200" rIns="36000" bIns="7200" anchor="t">
            <a:spAutoFit/>
          </a:bodyPr>
          <a:lstStyle/>
          <a:p>
            <a:pPr algn="l">
              <a:lnSpc>
                <a:spcPct val="122000"/>
              </a:lnSpc>
            </a:pPr>
            <a:r>
              <a:rPr sz="1400" b="1">
                <a:solidFill>
                  <a:srgbClr val="333333"/>
                </a:solidFill>
                <a:latin typeface="メイリオ"/>
                <a:ea typeface="メイリオ"/>
                <a:cs typeface="メイリオ"/>
              </a:rPr>
              <a:t>ROAS 1,226%</a:t>
            </a:r>
          </a:p>
          <a:p>
            <a:pPr algn="l">
              <a:lnSpc>
                <a:spcPct val="122000"/>
              </a:lnSpc>
            </a:pPr>
            <a:r>
              <a:rPr sz="1100" b="0">
                <a:solidFill>
                  <a:srgbClr val="333333"/>
                </a:solidFill>
                <a:latin typeface="メイリオ"/>
                <a:ea typeface="メイリオ"/>
                <a:cs typeface="メイリオ"/>
              </a:rPr>
              <a:t>CV 1,544件／投下 ¥2,120,000</a:t>
            </a:r>
          </a:p>
        </p:txBody>
      </p:sp>
      <p:sp>
        <p:nvSpPr>
          <p:cNvPr id="78" name="Rectangle 77"/>
          <p:cNvSpPr/>
          <p:nvPr/>
        </p:nvSpPr>
        <p:spPr>
          <a:xfrm>
            <a:off x="6533999" y="3571200"/>
            <a:ext cx="2941200" cy="145800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623999" y="3621600"/>
            <a:ext cx="2761200" cy="223200"/>
          </a:xfrm>
          <a:prstGeom prst="rect">
            <a:avLst/>
          </a:prstGeom>
          <a:noFill/>
        </p:spPr>
        <p:txBody>
          <a:bodyPr wrap="square" lIns="36000" tIns="7200" rIns="36000" bIns="7200" anchor="ctr">
            <a:spAutoFit/>
          </a:bodyPr>
          <a:lstStyle/>
          <a:p>
            <a:pPr algn="l">
              <a:lnSpc>
                <a:spcPct val="122000"/>
              </a:lnSpc>
            </a:pPr>
            <a:r>
              <a:rPr sz="1400" b="1">
                <a:solidFill>
                  <a:srgbClr val="C00000"/>
                </a:solidFill>
                <a:latin typeface="メイリオ"/>
                <a:ea typeface="メイリオ"/>
                <a:cs typeface="メイリオ"/>
              </a:rPr>
              <a:t>アパレル通販</a:t>
            </a:r>
          </a:p>
        </p:txBody>
      </p:sp>
      <p:sp>
        <p:nvSpPr>
          <p:cNvPr id="80" name="TextBox 79"/>
          <p:cNvSpPr txBox="1"/>
          <p:nvPr/>
        </p:nvSpPr>
        <p:spPr>
          <a:xfrm>
            <a:off x="6623999" y="3837600"/>
            <a:ext cx="2761200" cy="172800"/>
          </a:xfrm>
          <a:prstGeom prst="rect">
            <a:avLst/>
          </a:prstGeom>
          <a:noFill/>
        </p:spPr>
        <p:txBody>
          <a:bodyPr wrap="square" lIns="36000" tIns="7200" rIns="36000" bIns="7200" anchor="ctr">
            <a:spAutoFit/>
          </a:bodyPr>
          <a:lstStyle/>
          <a:p>
            <a:pPr algn="l">
              <a:lnSpc>
                <a:spcPct val="122000"/>
              </a:lnSpc>
            </a:pPr>
            <a:r>
              <a:rPr sz="1100" b="0">
                <a:solidFill>
                  <a:srgbClr val="888888"/>
                </a:solidFill>
                <a:latin typeface="メイリオ"/>
                <a:ea typeface="メイリオ"/>
                <a:cs typeface="メイリオ"/>
              </a:rPr>
              <a:t>Criteo</a:t>
            </a:r>
          </a:p>
        </p:txBody>
      </p:sp>
      <p:sp>
        <p:nvSpPr>
          <p:cNvPr id="81" name="Rectangle 80"/>
          <p:cNvSpPr/>
          <p:nvPr/>
        </p:nvSpPr>
        <p:spPr>
          <a:xfrm>
            <a:off x="6623999" y="4031999"/>
            <a:ext cx="2761200" cy="439200"/>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623999" y="4031999"/>
            <a:ext cx="2761200" cy="439200"/>
          </a:xfrm>
          <a:prstGeom prst="rect">
            <a:avLst/>
          </a:prstGeom>
          <a:noFill/>
        </p:spPr>
        <p:txBody>
          <a:bodyPr wrap="square" lIns="36000" tIns="7200" rIns="36000" bIns="7200" anchor="ctr">
            <a:spAutoFit/>
          </a:bodyPr>
          <a:lstStyle/>
          <a:p>
            <a:pPr algn="ctr">
              <a:lnSpc>
                <a:spcPct val="122000"/>
              </a:lnSpc>
            </a:pPr>
            <a:r>
              <a:rPr sz="1300" b="1">
                <a:solidFill>
                  <a:srgbClr val="C00000"/>
                </a:solidFill>
                <a:latin typeface="メイリオ"/>
                <a:ea typeface="メイリオ"/>
                <a:cs typeface="メイリオ"/>
              </a:rPr>
              <a:t>CPA </a:t>
            </a:r>
            <a:r>
              <a:rPr sz="2400" b="1">
                <a:solidFill>
                  <a:srgbClr val="C00000"/>
                </a:solidFill>
                <a:latin typeface="メイリオ"/>
                <a:ea typeface="メイリオ"/>
                <a:cs typeface="メイリオ"/>
              </a:rPr>
              <a:t>¥1,840</a:t>
            </a:r>
          </a:p>
        </p:txBody>
      </p:sp>
      <p:sp>
        <p:nvSpPr>
          <p:cNvPr id="83" name="TextBox 82"/>
          <p:cNvSpPr txBox="1"/>
          <p:nvPr/>
        </p:nvSpPr>
        <p:spPr>
          <a:xfrm>
            <a:off x="6623999" y="4507200"/>
            <a:ext cx="2761200" cy="468000"/>
          </a:xfrm>
          <a:prstGeom prst="rect">
            <a:avLst/>
          </a:prstGeom>
          <a:noFill/>
        </p:spPr>
        <p:txBody>
          <a:bodyPr wrap="square" lIns="36000" tIns="7200" rIns="36000" bIns="7200" anchor="t">
            <a:spAutoFit/>
          </a:bodyPr>
          <a:lstStyle/>
          <a:p>
            <a:pPr algn="l">
              <a:lnSpc>
                <a:spcPct val="122000"/>
              </a:lnSpc>
            </a:pPr>
            <a:r>
              <a:rPr sz="1400" b="1">
                <a:solidFill>
                  <a:srgbClr val="333333"/>
                </a:solidFill>
                <a:latin typeface="メイリオ"/>
                <a:ea typeface="メイリオ"/>
                <a:cs typeface="メイリオ"/>
              </a:rPr>
              <a:t>ROAS 682%</a:t>
            </a:r>
          </a:p>
          <a:p>
            <a:pPr algn="l">
              <a:lnSpc>
                <a:spcPct val="122000"/>
              </a:lnSpc>
            </a:pPr>
            <a:r>
              <a:rPr sz="1100" b="0">
                <a:solidFill>
                  <a:srgbClr val="333333"/>
                </a:solidFill>
                <a:latin typeface="メイリオ"/>
                <a:ea typeface="メイリオ"/>
                <a:cs typeface="メイリオ"/>
              </a:rPr>
              <a:t>CV 163件／投下 ¥240,618</a:t>
            </a:r>
          </a:p>
        </p:txBody>
      </p:sp>
    </p:spTree>
    <p:extLst>
      <p:ext uri="{BB962C8B-B14F-4D97-AF65-F5344CB8AC3E}">
        <p14:creationId xmlns:p14="http://schemas.microsoft.com/office/powerpoint/2010/main" val="466478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ニーズ調査｜シーズナリティ</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tIns="18000" rIns="50400" bIns="18000" anchor="t">
            <a:spAutoFit/>
          </a:bodyPr>
          <a:lstStyle/>
          <a:p>
            <a:pPr algn="l">
              <a:lnSpc>
                <a:spcPct val="135000"/>
              </a:lnSpc>
            </a:pPr>
            <a:r>
              <a:rPr sz="1400">
                <a:solidFill>
                  <a:srgbClr val="333333"/>
                </a:solidFill>
                <a:latin typeface="メイリオ"/>
                <a:ea typeface="メイリオ"/>
                <a:cs typeface="メイリオ"/>
              </a:rPr>
              <a:t>年間の山は3つ。5月の母の日、11月のブラックフライデー、12月の福袋。</a:t>
            </a:r>
          </a:p>
          <a:p>
            <a:pPr algn="l">
              <a:lnSpc>
                <a:spcPct val="135000"/>
              </a:lnSpc>
            </a:pPr>
            <a:r>
              <a:rPr sz="1400">
                <a:solidFill>
                  <a:srgbClr val="333333"/>
                </a:solidFill>
                <a:latin typeface="メイリオ"/>
                <a:ea typeface="メイリオ"/>
                <a:cs typeface="メイリオ"/>
              </a:rPr>
              <a:t>検索が動き出すのは10月の最終週。そこから逆算して企画を仕込む。</a:t>
            </a:r>
          </a:p>
        </p:txBody>
      </p:sp>
      <p:sp>
        <p:nvSpPr>
          <p:cNvPr id="47" name="Rectangle 46"/>
          <p:cNvSpPr/>
          <p:nvPr/>
        </p:nvSpPr>
        <p:spPr>
          <a:xfrm>
            <a:off x="432000" y="1907999"/>
            <a:ext cx="661200" cy="1656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78000"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1月</a:t>
            </a:r>
          </a:p>
        </p:txBody>
      </p:sp>
      <p:sp>
        <p:nvSpPr>
          <p:cNvPr id="49" name="TextBox 48"/>
          <p:cNvSpPr txBox="1"/>
          <p:nvPr/>
        </p:nvSpPr>
        <p:spPr>
          <a:xfrm>
            <a:off x="323999"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初売り・福袋</a:t>
            </a:r>
          </a:p>
        </p:txBody>
      </p:sp>
      <p:sp>
        <p:nvSpPr>
          <p:cNvPr id="50" name="Rectangle 49"/>
          <p:cNvSpPr/>
          <p:nvPr/>
        </p:nvSpPr>
        <p:spPr>
          <a:xfrm>
            <a:off x="1194000" y="2879999"/>
            <a:ext cx="661200" cy="684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140000"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2月</a:t>
            </a:r>
          </a:p>
        </p:txBody>
      </p:sp>
      <p:sp>
        <p:nvSpPr>
          <p:cNvPr id="52" name="TextBox 51"/>
          <p:cNvSpPr txBox="1"/>
          <p:nvPr/>
        </p:nvSpPr>
        <p:spPr>
          <a:xfrm>
            <a:off x="1086000"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バレンタイン</a:t>
            </a:r>
          </a:p>
        </p:txBody>
      </p:sp>
      <p:sp>
        <p:nvSpPr>
          <p:cNvPr id="53" name="Rectangle 52"/>
          <p:cNvSpPr/>
          <p:nvPr/>
        </p:nvSpPr>
        <p:spPr>
          <a:xfrm>
            <a:off x="1956000" y="2393999"/>
            <a:ext cx="661200" cy="1170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902000"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3月</a:t>
            </a:r>
          </a:p>
        </p:txBody>
      </p:sp>
      <p:sp>
        <p:nvSpPr>
          <p:cNvPr id="55" name="TextBox 54"/>
          <p:cNvSpPr txBox="1"/>
          <p:nvPr/>
        </p:nvSpPr>
        <p:spPr>
          <a:xfrm>
            <a:off x="1848000"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楽天SS／新生活</a:t>
            </a:r>
          </a:p>
        </p:txBody>
      </p:sp>
      <p:sp>
        <p:nvSpPr>
          <p:cNvPr id="56" name="Rectangle 55"/>
          <p:cNvSpPr/>
          <p:nvPr/>
        </p:nvSpPr>
        <p:spPr>
          <a:xfrm>
            <a:off x="2718000" y="2879999"/>
            <a:ext cx="661200" cy="684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664000"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4月</a:t>
            </a:r>
          </a:p>
        </p:txBody>
      </p:sp>
      <p:sp>
        <p:nvSpPr>
          <p:cNvPr id="58" name="TextBox 57"/>
          <p:cNvSpPr txBox="1"/>
          <p:nvPr/>
        </p:nvSpPr>
        <p:spPr>
          <a:xfrm>
            <a:off x="2610000"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新生活後半</a:t>
            </a:r>
          </a:p>
        </p:txBody>
      </p:sp>
      <p:sp>
        <p:nvSpPr>
          <p:cNvPr id="59" name="Rectangle 58"/>
          <p:cNvSpPr/>
          <p:nvPr/>
        </p:nvSpPr>
        <p:spPr>
          <a:xfrm>
            <a:off x="3480000" y="2393999"/>
            <a:ext cx="661200" cy="1170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425999"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5月</a:t>
            </a:r>
          </a:p>
        </p:txBody>
      </p:sp>
      <p:sp>
        <p:nvSpPr>
          <p:cNvPr id="61" name="TextBox 60"/>
          <p:cNvSpPr txBox="1"/>
          <p:nvPr/>
        </p:nvSpPr>
        <p:spPr>
          <a:xfrm>
            <a:off x="3371999"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母の日</a:t>
            </a:r>
          </a:p>
        </p:txBody>
      </p:sp>
      <p:sp>
        <p:nvSpPr>
          <p:cNvPr id="62" name="Rectangle 61"/>
          <p:cNvSpPr/>
          <p:nvPr/>
        </p:nvSpPr>
        <p:spPr>
          <a:xfrm>
            <a:off x="4242000" y="2393999"/>
            <a:ext cx="661200" cy="1170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188000"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6月</a:t>
            </a:r>
          </a:p>
        </p:txBody>
      </p:sp>
      <p:sp>
        <p:nvSpPr>
          <p:cNvPr id="64" name="TextBox 63"/>
          <p:cNvSpPr txBox="1"/>
          <p:nvPr/>
        </p:nvSpPr>
        <p:spPr>
          <a:xfrm>
            <a:off x="4133999"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楽天SS／父の日</a:t>
            </a:r>
          </a:p>
        </p:txBody>
      </p:sp>
      <p:sp>
        <p:nvSpPr>
          <p:cNvPr id="65" name="Rectangle 64"/>
          <p:cNvSpPr/>
          <p:nvPr/>
        </p:nvSpPr>
        <p:spPr>
          <a:xfrm>
            <a:off x="5003999" y="2393999"/>
            <a:ext cx="661200" cy="1170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949999"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7月</a:t>
            </a:r>
          </a:p>
        </p:txBody>
      </p:sp>
      <p:sp>
        <p:nvSpPr>
          <p:cNvPr id="67" name="TextBox 66"/>
          <p:cNvSpPr txBox="1"/>
          <p:nvPr/>
        </p:nvSpPr>
        <p:spPr>
          <a:xfrm>
            <a:off x="4895999"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プライムデー</a:t>
            </a:r>
          </a:p>
        </p:txBody>
      </p:sp>
      <p:sp>
        <p:nvSpPr>
          <p:cNvPr id="68" name="Rectangle 67"/>
          <p:cNvSpPr/>
          <p:nvPr/>
        </p:nvSpPr>
        <p:spPr>
          <a:xfrm>
            <a:off x="5766000" y="3365999"/>
            <a:ext cx="661200" cy="19800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711999"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8月</a:t>
            </a:r>
          </a:p>
        </p:txBody>
      </p:sp>
      <p:sp>
        <p:nvSpPr>
          <p:cNvPr id="70" name="TextBox 69"/>
          <p:cNvSpPr txBox="1"/>
          <p:nvPr/>
        </p:nvSpPr>
        <p:spPr>
          <a:xfrm>
            <a:off x="5657999"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仕込み月</a:t>
            </a:r>
          </a:p>
        </p:txBody>
      </p:sp>
      <p:sp>
        <p:nvSpPr>
          <p:cNvPr id="71" name="Rectangle 70"/>
          <p:cNvSpPr/>
          <p:nvPr/>
        </p:nvSpPr>
        <p:spPr>
          <a:xfrm>
            <a:off x="6528000" y="2879999"/>
            <a:ext cx="661200" cy="684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474000"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9月</a:t>
            </a:r>
          </a:p>
        </p:txBody>
      </p:sp>
      <p:sp>
        <p:nvSpPr>
          <p:cNvPr id="73" name="TextBox 72"/>
          <p:cNvSpPr txBox="1"/>
          <p:nvPr/>
        </p:nvSpPr>
        <p:spPr>
          <a:xfrm>
            <a:off x="6420000"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楽天SS</a:t>
            </a:r>
          </a:p>
        </p:txBody>
      </p:sp>
      <p:sp>
        <p:nvSpPr>
          <p:cNvPr id="74" name="Rectangle 73"/>
          <p:cNvSpPr/>
          <p:nvPr/>
        </p:nvSpPr>
        <p:spPr>
          <a:xfrm>
            <a:off x="7290000" y="2879999"/>
            <a:ext cx="661200" cy="684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236000"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10月</a:t>
            </a:r>
          </a:p>
        </p:txBody>
      </p:sp>
      <p:sp>
        <p:nvSpPr>
          <p:cNvPr id="76" name="TextBox 75"/>
          <p:cNvSpPr txBox="1"/>
          <p:nvPr/>
        </p:nvSpPr>
        <p:spPr>
          <a:xfrm>
            <a:off x="7182000"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ハロウィン</a:t>
            </a:r>
          </a:p>
        </p:txBody>
      </p:sp>
      <p:sp>
        <p:nvSpPr>
          <p:cNvPr id="77" name="Rectangle 76"/>
          <p:cNvSpPr/>
          <p:nvPr/>
        </p:nvSpPr>
        <p:spPr>
          <a:xfrm>
            <a:off x="8052000" y="1907999"/>
            <a:ext cx="661200" cy="1656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998000"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11月</a:t>
            </a:r>
          </a:p>
        </p:txBody>
      </p:sp>
      <p:sp>
        <p:nvSpPr>
          <p:cNvPr id="79" name="TextBox 78"/>
          <p:cNvSpPr txBox="1"/>
          <p:nvPr/>
        </p:nvSpPr>
        <p:spPr>
          <a:xfrm>
            <a:off x="7944000"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ブラックフライデー</a:t>
            </a:r>
          </a:p>
        </p:txBody>
      </p:sp>
      <p:sp>
        <p:nvSpPr>
          <p:cNvPr id="80" name="Rectangle 79"/>
          <p:cNvSpPr/>
          <p:nvPr/>
        </p:nvSpPr>
        <p:spPr>
          <a:xfrm>
            <a:off x="8814000" y="1907999"/>
            <a:ext cx="661200" cy="1656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760000" y="3607199"/>
            <a:ext cx="769200" cy="234000"/>
          </a:xfrm>
          <a:prstGeom prst="rect">
            <a:avLst/>
          </a:prstGeom>
          <a:noFill/>
        </p:spPr>
        <p:txBody>
          <a:bodyPr wrap="square" lIns="50400" tIns="18000" rIns="50400" bIns="18000" anchor="ctr">
            <a:spAutoFit/>
          </a:bodyPr>
          <a:lstStyle/>
          <a:p>
            <a:pPr algn="ctr"/>
            <a:r>
              <a:rPr sz="1300" b="1">
                <a:solidFill>
                  <a:srgbClr val="333333"/>
                </a:solidFill>
                <a:latin typeface="メイリオ"/>
                <a:ea typeface="メイリオ"/>
                <a:cs typeface="メイリオ"/>
              </a:rPr>
              <a:t>12月</a:t>
            </a:r>
          </a:p>
        </p:txBody>
      </p:sp>
      <p:sp>
        <p:nvSpPr>
          <p:cNvPr id="82" name="TextBox 81"/>
          <p:cNvSpPr txBox="1"/>
          <p:nvPr/>
        </p:nvSpPr>
        <p:spPr>
          <a:xfrm>
            <a:off x="8706000" y="3851999"/>
            <a:ext cx="877200" cy="612000"/>
          </a:xfrm>
          <a:prstGeom prst="rect">
            <a:avLst/>
          </a:prstGeom>
          <a:noFill/>
        </p:spPr>
        <p:txBody>
          <a:bodyPr wrap="square" lIns="50400" tIns="18000" rIns="50400" bIns="18000" anchor="t">
            <a:spAutoFit/>
          </a:bodyPr>
          <a:lstStyle/>
          <a:p>
            <a:pPr algn="ctr">
              <a:lnSpc>
                <a:spcPct val="125000"/>
              </a:lnSpc>
            </a:pPr>
            <a:r>
              <a:rPr sz="1100">
                <a:solidFill>
                  <a:srgbClr val="333333"/>
                </a:solidFill>
                <a:latin typeface="メイリオ"/>
                <a:ea typeface="メイリオ"/>
                <a:cs typeface="メイリオ"/>
              </a:rPr>
              <a:t>大感謝祭・年末</a:t>
            </a:r>
          </a:p>
        </p:txBody>
      </p:sp>
      <p:sp>
        <p:nvSpPr>
          <p:cNvPr id="83" name="Rounded Rectangle 82"/>
          <p:cNvSpPr/>
          <p:nvPr/>
        </p:nvSpPr>
        <p:spPr>
          <a:xfrm>
            <a:off x="432000" y="4643999"/>
            <a:ext cx="9043200" cy="413999"/>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800" b="1">
                <a:solidFill>
                  <a:srgbClr val="FFFFFF"/>
                </a:solidFill>
                <a:latin typeface="メイリオ"/>
                <a:ea typeface="メイリオ"/>
                <a:cs typeface="メイリオ"/>
              </a:rPr>
              <a:t>11月ブラックフライデー（69）＋ 12月福袋（88）　＝　年間最大の山が2つ続く</a:t>
            </a:r>
          </a:p>
        </p:txBody>
      </p:sp>
      <p:sp>
        <p:nvSpPr>
          <p:cNvPr id="84" name="TextBox 83"/>
          <p:cNvSpPr txBox="1"/>
          <p:nvPr/>
        </p:nvSpPr>
        <p:spPr>
          <a:xfrm>
            <a:off x="432000" y="5166000"/>
            <a:ext cx="9043200" cy="684000"/>
          </a:xfrm>
          <a:prstGeom prst="rect">
            <a:avLst/>
          </a:prstGeom>
          <a:noFill/>
        </p:spPr>
        <p:txBody>
          <a:bodyPr wrap="square" lIns="50400" tIns="18000" rIns="50400" bIns="18000" anchor="t">
            <a:spAutoFit/>
          </a:bodyPr>
          <a:lstStyle/>
          <a:p>
            <a:pPr algn="l">
              <a:lnSpc>
                <a:spcPct val="140000"/>
              </a:lnSpc>
            </a:pPr>
            <a:r>
              <a:rPr sz="1400">
                <a:solidFill>
                  <a:srgbClr val="333333"/>
                </a:solidFill>
                <a:latin typeface="メイリオ"/>
                <a:ea typeface="メイリオ"/>
                <a:cs typeface="メイリオ"/>
              </a:rPr>
              <a:t>● 検索が動き出すのは10月の最終週。配信の仕込みはその2〜3週前、10月上旬までに終える。</a:t>
            </a:r>
          </a:p>
          <a:p>
            <a:pPr algn="l">
              <a:lnSpc>
                <a:spcPct val="140000"/>
              </a:lnSpc>
            </a:pPr>
            <a:r>
              <a:rPr sz="1400">
                <a:solidFill>
                  <a:srgbClr val="333333"/>
                </a:solidFill>
                <a:latin typeface="メイリオ"/>
                <a:ea typeface="メイリオ"/>
                <a:cs typeface="メイリオ"/>
              </a:rPr>
              <a:t>● 「セール」は通年26〜42でフラット。山を持たないので、平常月の受け皿として使える。</a:t>
            </a:r>
          </a:p>
        </p:txBody>
      </p:sp>
      <p:sp>
        <p:nvSpPr>
          <p:cNvPr id="85" name="TextBox 84"/>
          <p:cNvSpPr txBox="1"/>
          <p:nvPr/>
        </p:nvSpPr>
        <p:spPr>
          <a:xfrm>
            <a:off x="432000" y="6246000"/>
            <a:ext cx="9043200" cy="324000"/>
          </a:xfrm>
          <a:prstGeom prst="rect">
            <a:avLst/>
          </a:prstGeom>
          <a:noFill/>
        </p:spPr>
        <p:txBody>
          <a:bodyPr wrap="square" lIns="50400" tIns="18000" rIns="50400" bIns="18000" anchor="t">
            <a:spAutoFit/>
          </a:bodyPr>
          <a:lstStyle/>
          <a:p>
            <a:pPr algn="l">
              <a:lnSpc>
                <a:spcPct val="120000"/>
              </a:lnSpc>
            </a:pPr>
            <a:r>
              <a:rPr sz="800">
                <a:solidFill>
                  <a:srgbClr val="888888"/>
                </a:solidFill>
                <a:latin typeface="メイリオ"/>
                <a:ea typeface="メイリオ"/>
                <a:cs typeface="メイリオ"/>
              </a:rPr>
              <a:t>出典｜Googleトレンド（福袋／ブラックフライデー／セール／母の日・日本）。左＝2021年9月〜2026年9月の月次を月別に平均／右＝2025年9月〜12月の週次。数値は期間内最大を100とした相対値</a:t>
            </a:r>
          </a:p>
        </p:txBody>
      </p:sp>
      <p:pic>
        <p:nvPicPr>
          <p:cNvPr id="86" name="Picture 85" descr="EC業界_トレンド_年間シーズナリティ.png"/>
          <p:cNvPicPr>
            <a:picLocks noChangeAspect="1"/>
          </p:cNvPicPr>
          <p:nvPr/>
        </p:nvPicPr>
        <p:blipFill>
          <a:blip r:embed="rId3"/>
          <a:stretch>
            <a:fillRect/>
          </a:stretch>
        </p:blipFill>
        <p:spPr>
          <a:xfrm>
            <a:off x="432000" y="1512000"/>
            <a:ext cx="4464000" cy="1990703"/>
          </a:xfrm>
          <a:prstGeom prst="rect">
            <a:avLst/>
          </a:prstGeom>
        </p:spPr>
      </p:pic>
      <p:pic>
        <p:nvPicPr>
          <p:cNvPr id="87" name="Picture 86" descr="EC業界_トレンド_秋冬の立ち上がり.png"/>
          <p:cNvPicPr>
            <a:picLocks noChangeAspect="1"/>
          </p:cNvPicPr>
          <p:nvPr/>
        </p:nvPicPr>
        <p:blipFill>
          <a:blip r:embed="rId4"/>
          <a:stretch>
            <a:fillRect/>
          </a:stretch>
        </p:blipFill>
        <p:spPr>
          <a:xfrm>
            <a:off x="5022000" y="1512000"/>
            <a:ext cx="4464000" cy="1990703"/>
          </a:xfrm>
          <a:prstGeom prst="rect">
            <a:avLst/>
          </a:prstGeom>
        </p:spPr>
      </p:pic>
      <p:cxnSp>
        <p:nvCxnSpPr>
          <p:cNvPr id="2" name="Connector 3">
            <a:extLst>
              <a:ext uri="{FF2B5EF4-FFF2-40B4-BE49-F238E27FC236}">
                <a16:creationId xmlns:a16="http://schemas.microsoft.com/office/drawing/2014/main" id="{3093C9B4-43CA-9025-7668-88E61ABD1B78}"/>
              </a:ext>
            </a:extLst>
          </p:cNvPr>
          <p:cNvCxnSpPr/>
          <p:nvPr/>
        </p:nvCxnSpPr>
        <p:spPr>
          <a:xfrm>
            <a:off x="0" y="1363473"/>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908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ニーズ調査｜年間商戦カレンダー × 月別の配信企画</a:t>
            </a:r>
            <a:endParaRPr sz="1600" b="1" dirty="0">
              <a:solidFill>
                <a:srgbClr val="002060"/>
              </a:solidFill>
              <a:latin typeface="Meiryo"/>
              <a:ea typeface="Meiryo"/>
              <a:cs typeface="Meiryo"/>
              <a:sym typeface="Meiryo"/>
            </a:endParaRPr>
          </a:p>
        </p:txBody>
      </p:sp>
      <p:cxnSp>
        <p:nvCxnSpPr>
          <p:cNvPr id="47" name="Connector 46"/>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32000" y="648000"/>
            <a:ext cx="9036000" cy="684000"/>
          </a:xfrm>
          <a:prstGeom prst="rect">
            <a:avLst/>
          </a:prstGeom>
          <a:noFill/>
        </p:spPr>
        <p:txBody>
          <a:bodyPr wrap="square" lIns="36000" tIns="10800" rIns="36000" bIns="10800" anchor="ctr">
            <a:spAutoFit/>
          </a:bodyPr>
          <a:lstStyle/>
          <a:p>
            <a:pPr algn="l">
              <a:lnSpc>
                <a:spcPct val="115000"/>
              </a:lnSpc>
            </a:pPr>
            <a:r>
              <a:rPr sz="1400" b="0">
                <a:solidFill>
                  <a:srgbClr val="333333"/>
                </a:solidFill>
                <a:latin typeface="メイリオ"/>
                <a:ea typeface="メイリオ"/>
                <a:cs typeface="メイリオ"/>
              </a:rPr>
              <a:t>月ごとに「商戦」と「その月にLINEで出す企画」を1対1で置く。企画は山の2〜3週前に仕込む。</a:t>
            </a:r>
          </a:p>
          <a:p>
            <a:pPr algn="l">
              <a:lnSpc>
                <a:spcPct val="115000"/>
              </a:lnSpc>
            </a:pPr>
            <a:r>
              <a:rPr sz="1400" b="0">
                <a:solidFill>
                  <a:srgbClr val="333333"/>
                </a:solidFill>
                <a:latin typeface="メイリオ"/>
                <a:ea typeface="メイリオ"/>
                <a:cs typeface="メイリオ"/>
              </a:rPr>
              <a:t>11月BFの購入者に、12月の福袋・1月の初売りをそのまま出す（前後検索の結果）。</a:t>
            </a:r>
          </a:p>
        </p:txBody>
      </p:sp>
      <p:sp>
        <p:nvSpPr>
          <p:cNvPr id="49" name="Rounded Rectangle 48"/>
          <p:cNvSpPr/>
          <p:nvPr/>
        </p:nvSpPr>
        <p:spPr>
          <a:xfrm>
            <a:off x="432000" y="1548000"/>
            <a:ext cx="2167200" cy="917999"/>
          </a:xfrm>
          <a:prstGeom prst="roundRect">
            <a:avLst>
              <a:gd name="adj" fmla="val 8000"/>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85999" y="1583999"/>
            <a:ext cx="558000" cy="251999"/>
          </a:xfrm>
          <a:prstGeom prst="rect">
            <a:avLst/>
          </a:prstGeom>
          <a:noFill/>
        </p:spPr>
        <p:txBody>
          <a:bodyPr wrap="square" lIns="36000" tIns="10800" rIns="36000" bIns="10800" anchor="ctr">
            <a:spAutoFit/>
          </a:bodyPr>
          <a:lstStyle/>
          <a:p>
            <a:pPr algn="l">
              <a:lnSpc>
                <a:spcPct val="115000"/>
              </a:lnSpc>
            </a:pPr>
            <a:r>
              <a:rPr sz="1300" b="1">
                <a:solidFill>
                  <a:srgbClr val="ED7D31"/>
                </a:solidFill>
                <a:latin typeface="メイリオ"/>
                <a:ea typeface="メイリオ"/>
                <a:cs typeface="メイリオ"/>
              </a:rPr>
              <a:t>1月</a:t>
            </a:r>
          </a:p>
        </p:txBody>
      </p:sp>
      <p:sp>
        <p:nvSpPr>
          <p:cNvPr id="51" name="TextBox 50"/>
          <p:cNvSpPr txBox="1"/>
          <p:nvPr/>
        </p:nvSpPr>
        <p:spPr>
          <a:xfrm>
            <a:off x="1025999" y="1583999"/>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初売り・福袋</a:t>
            </a:r>
          </a:p>
        </p:txBody>
      </p:sp>
      <p:sp>
        <p:nvSpPr>
          <p:cNvPr id="52" name="TextBox 51"/>
          <p:cNvSpPr txBox="1"/>
          <p:nvPr/>
        </p:nvSpPr>
        <p:spPr>
          <a:xfrm>
            <a:off x="485999" y="1853999"/>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福袋の中身を先出し → 残数配信</a:t>
            </a:r>
          </a:p>
          <a:p>
            <a:pPr algn="l">
              <a:lnSpc>
                <a:spcPct val="115000"/>
              </a:lnSpc>
            </a:pPr>
            <a:r>
              <a:rPr sz="1050" b="0">
                <a:solidFill>
                  <a:srgbClr val="333333"/>
                </a:solidFill>
                <a:latin typeface="メイリオ"/>
                <a:ea typeface="メイリオ"/>
                <a:cs typeface="メイリオ"/>
              </a:rPr>
              <a:t>年始クーポン（BF購入者優先）</a:t>
            </a:r>
          </a:p>
        </p:txBody>
      </p:sp>
      <p:sp>
        <p:nvSpPr>
          <p:cNvPr id="53" name="Rounded Rectangle 52"/>
          <p:cNvSpPr/>
          <p:nvPr/>
        </p:nvSpPr>
        <p:spPr>
          <a:xfrm>
            <a:off x="2725200" y="1548000"/>
            <a:ext cx="2167200" cy="917999"/>
          </a:xfrm>
          <a:prstGeom prst="roundRect">
            <a:avLst>
              <a:gd name="adj" fmla="val 8000"/>
            </a:avLst>
          </a:prstGeom>
          <a:solidFill>
            <a:srgbClr val="F4F4F6"/>
          </a:solidFill>
          <a:ln w="952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779200" y="1583999"/>
            <a:ext cx="558000" cy="251999"/>
          </a:xfrm>
          <a:prstGeom prst="rect">
            <a:avLst/>
          </a:prstGeom>
          <a:noFill/>
        </p:spPr>
        <p:txBody>
          <a:bodyPr wrap="square" lIns="36000" tIns="10800" rIns="36000" bIns="10800" anchor="ctr">
            <a:spAutoFit/>
          </a:bodyPr>
          <a:lstStyle/>
          <a:p>
            <a:pPr algn="l">
              <a:lnSpc>
                <a:spcPct val="115000"/>
              </a:lnSpc>
            </a:pPr>
            <a:r>
              <a:rPr sz="1300" b="1">
                <a:solidFill>
                  <a:srgbClr val="888888"/>
                </a:solidFill>
                <a:latin typeface="メイリオ"/>
                <a:ea typeface="メイリオ"/>
                <a:cs typeface="メイリオ"/>
              </a:rPr>
              <a:t>2月</a:t>
            </a:r>
          </a:p>
        </p:txBody>
      </p:sp>
      <p:sp>
        <p:nvSpPr>
          <p:cNvPr id="55" name="TextBox 54"/>
          <p:cNvSpPr txBox="1"/>
          <p:nvPr/>
        </p:nvSpPr>
        <p:spPr>
          <a:xfrm>
            <a:off x="3319199" y="1583999"/>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バレンタイン</a:t>
            </a:r>
          </a:p>
        </p:txBody>
      </p:sp>
      <p:sp>
        <p:nvSpPr>
          <p:cNvPr id="56" name="TextBox 55"/>
          <p:cNvSpPr txBox="1"/>
          <p:nvPr/>
        </p:nvSpPr>
        <p:spPr>
          <a:xfrm>
            <a:off x="2779200" y="1853999"/>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ギフト特集（自分用も可）</a:t>
            </a:r>
          </a:p>
          <a:p>
            <a:pPr algn="l">
              <a:lnSpc>
                <a:spcPct val="115000"/>
              </a:lnSpc>
            </a:pPr>
            <a:r>
              <a:rPr sz="1050" b="0">
                <a:solidFill>
                  <a:srgbClr val="333333"/>
                </a:solidFill>
                <a:latin typeface="メイリオ"/>
                <a:ea typeface="メイリオ"/>
                <a:cs typeface="メイリオ"/>
              </a:rPr>
              <a:t>送料無料ラインの案内</a:t>
            </a:r>
          </a:p>
        </p:txBody>
      </p:sp>
      <p:sp>
        <p:nvSpPr>
          <p:cNvPr id="57" name="Rounded Rectangle 56"/>
          <p:cNvSpPr/>
          <p:nvPr/>
        </p:nvSpPr>
        <p:spPr>
          <a:xfrm>
            <a:off x="5018399" y="1548000"/>
            <a:ext cx="2167200" cy="917999"/>
          </a:xfrm>
          <a:prstGeom prst="roundRect">
            <a:avLst>
              <a:gd name="adj" fmla="val 8000"/>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072399" y="1583999"/>
            <a:ext cx="558000" cy="251999"/>
          </a:xfrm>
          <a:prstGeom prst="rect">
            <a:avLst/>
          </a:prstGeom>
          <a:noFill/>
        </p:spPr>
        <p:txBody>
          <a:bodyPr wrap="square" lIns="36000" tIns="10800" rIns="36000" bIns="10800" anchor="ctr">
            <a:spAutoFit/>
          </a:bodyPr>
          <a:lstStyle/>
          <a:p>
            <a:pPr algn="l">
              <a:lnSpc>
                <a:spcPct val="115000"/>
              </a:lnSpc>
            </a:pPr>
            <a:r>
              <a:rPr sz="1300" b="1">
                <a:solidFill>
                  <a:srgbClr val="ED7D31"/>
                </a:solidFill>
                <a:latin typeface="メイリオ"/>
                <a:ea typeface="メイリオ"/>
                <a:cs typeface="メイリオ"/>
              </a:rPr>
              <a:t>3月</a:t>
            </a:r>
          </a:p>
        </p:txBody>
      </p:sp>
      <p:sp>
        <p:nvSpPr>
          <p:cNvPr id="59" name="TextBox 58"/>
          <p:cNvSpPr txBox="1"/>
          <p:nvPr/>
        </p:nvSpPr>
        <p:spPr>
          <a:xfrm>
            <a:off x="5612399" y="1583999"/>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楽天SS／新生活</a:t>
            </a:r>
          </a:p>
        </p:txBody>
      </p:sp>
      <p:sp>
        <p:nvSpPr>
          <p:cNvPr id="60" name="TextBox 59"/>
          <p:cNvSpPr txBox="1"/>
          <p:nvPr/>
        </p:nvSpPr>
        <p:spPr>
          <a:xfrm>
            <a:off x="5072399" y="1853999"/>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新生活のまとめ買い提案</a:t>
            </a:r>
          </a:p>
          <a:p>
            <a:pPr algn="l">
              <a:lnSpc>
                <a:spcPct val="115000"/>
              </a:lnSpc>
            </a:pPr>
            <a:r>
              <a:rPr sz="1050" b="0">
                <a:solidFill>
                  <a:srgbClr val="333333"/>
                </a:solidFill>
                <a:latin typeface="メイリオ"/>
                <a:ea typeface="メイリオ"/>
                <a:cs typeface="メイリオ"/>
              </a:rPr>
              <a:t>SS前日に「明日開始」通知</a:t>
            </a:r>
          </a:p>
        </p:txBody>
      </p:sp>
      <p:sp>
        <p:nvSpPr>
          <p:cNvPr id="61" name="Rounded Rectangle 60"/>
          <p:cNvSpPr/>
          <p:nvPr/>
        </p:nvSpPr>
        <p:spPr>
          <a:xfrm>
            <a:off x="7311600" y="1548000"/>
            <a:ext cx="2167200" cy="917999"/>
          </a:xfrm>
          <a:prstGeom prst="roundRect">
            <a:avLst>
              <a:gd name="adj" fmla="val 8000"/>
            </a:avLst>
          </a:prstGeom>
          <a:solidFill>
            <a:srgbClr val="F4F4F6"/>
          </a:solidFill>
          <a:ln w="952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65599" y="1583999"/>
            <a:ext cx="558000" cy="251999"/>
          </a:xfrm>
          <a:prstGeom prst="rect">
            <a:avLst/>
          </a:prstGeom>
          <a:noFill/>
        </p:spPr>
        <p:txBody>
          <a:bodyPr wrap="square" lIns="36000" tIns="10800" rIns="36000" bIns="10800" anchor="ctr">
            <a:spAutoFit/>
          </a:bodyPr>
          <a:lstStyle/>
          <a:p>
            <a:pPr algn="l">
              <a:lnSpc>
                <a:spcPct val="115000"/>
              </a:lnSpc>
            </a:pPr>
            <a:r>
              <a:rPr sz="1300" b="1">
                <a:solidFill>
                  <a:srgbClr val="888888"/>
                </a:solidFill>
                <a:latin typeface="メイリオ"/>
                <a:ea typeface="メイリオ"/>
                <a:cs typeface="メイリオ"/>
              </a:rPr>
              <a:t>4月</a:t>
            </a:r>
          </a:p>
        </p:txBody>
      </p:sp>
      <p:sp>
        <p:nvSpPr>
          <p:cNvPr id="63" name="TextBox 62"/>
          <p:cNvSpPr txBox="1"/>
          <p:nvPr/>
        </p:nvSpPr>
        <p:spPr>
          <a:xfrm>
            <a:off x="7905599" y="1583999"/>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新生活後半</a:t>
            </a:r>
          </a:p>
        </p:txBody>
      </p:sp>
      <p:sp>
        <p:nvSpPr>
          <p:cNvPr id="64" name="TextBox 63"/>
          <p:cNvSpPr txBox="1"/>
          <p:nvPr/>
        </p:nvSpPr>
        <p:spPr>
          <a:xfrm>
            <a:off x="7365599" y="1853999"/>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初回購入者へ「買い足し」提案</a:t>
            </a:r>
          </a:p>
          <a:p>
            <a:pPr algn="l">
              <a:lnSpc>
                <a:spcPct val="115000"/>
              </a:lnSpc>
            </a:pPr>
            <a:r>
              <a:rPr sz="1050" b="0">
                <a:solidFill>
                  <a:srgbClr val="333333"/>
                </a:solidFill>
                <a:latin typeface="メイリオ"/>
                <a:ea typeface="メイリオ"/>
                <a:cs typeface="メイリオ"/>
              </a:rPr>
              <a:t>（F2の起点）</a:t>
            </a:r>
          </a:p>
        </p:txBody>
      </p:sp>
      <p:sp>
        <p:nvSpPr>
          <p:cNvPr id="65" name="Rounded Rectangle 64"/>
          <p:cNvSpPr/>
          <p:nvPr/>
        </p:nvSpPr>
        <p:spPr>
          <a:xfrm>
            <a:off x="432000" y="2566800"/>
            <a:ext cx="2167200" cy="917999"/>
          </a:xfrm>
          <a:prstGeom prst="roundRect">
            <a:avLst>
              <a:gd name="adj" fmla="val 8000"/>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85999" y="2602800"/>
            <a:ext cx="558000" cy="251999"/>
          </a:xfrm>
          <a:prstGeom prst="rect">
            <a:avLst/>
          </a:prstGeom>
          <a:noFill/>
        </p:spPr>
        <p:txBody>
          <a:bodyPr wrap="square" lIns="36000" tIns="10800" rIns="36000" bIns="10800" anchor="ctr">
            <a:spAutoFit/>
          </a:bodyPr>
          <a:lstStyle/>
          <a:p>
            <a:pPr algn="l">
              <a:lnSpc>
                <a:spcPct val="115000"/>
              </a:lnSpc>
            </a:pPr>
            <a:r>
              <a:rPr sz="1300" b="1">
                <a:solidFill>
                  <a:srgbClr val="ED7D31"/>
                </a:solidFill>
                <a:latin typeface="メイリオ"/>
                <a:ea typeface="メイリオ"/>
                <a:cs typeface="メイリオ"/>
              </a:rPr>
              <a:t>5月</a:t>
            </a:r>
          </a:p>
        </p:txBody>
      </p:sp>
      <p:sp>
        <p:nvSpPr>
          <p:cNvPr id="67" name="TextBox 66"/>
          <p:cNvSpPr txBox="1"/>
          <p:nvPr/>
        </p:nvSpPr>
        <p:spPr>
          <a:xfrm>
            <a:off x="1025999" y="2602800"/>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母の日</a:t>
            </a:r>
          </a:p>
        </p:txBody>
      </p:sp>
      <p:sp>
        <p:nvSpPr>
          <p:cNvPr id="68" name="TextBox 67"/>
          <p:cNvSpPr txBox="1"/>
          <p:nvPr/>
        </p:nvSpPr>
        <p:spPr>
          <a:xfrm>
            <a:off x="485999" y="2872800"/>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ギフト早割 → 締切3日前に通知</a:t>
            </a:r>
          </a:p>
        </p:txBody>
      </p:sp>
      <p:sp>
        <p:nvSpPr>
          <p:cNvPr id="69" name="Rounded Rectangle 68"/>
          <p:cNvSpPr/>
          <p:nvPr/>
        </p:nvSpPr>
        <p:spPr>
          <a:xfrm>
            <a:off x="2725200" y="2566800"/>
            <a:ext cx="2167200" cy="917999"/>
          </a:xfrm>
          <a:prstGeom prst="roundRect">
            <a:avLst>
              <a:gd name="adj" fmla="val 8000"/>
            </a:avLst>
          </a:prstGeom>
          <a:solidFill>
            <a:srgbClr val="F4F4F6"/>
          </a:solidFill>
          <a:ln w="952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779200" y="2602800"/>
            <a:ext cx="558000" cy="251999"/>
          </a:xfrm>
          <a:prstGeom prst="rect">
            <a:avLst/>
          </a:prstGeom>
          <a:noFill/>
        </p:spPr>
        <p:txBody>
          <a:bodyPr wrap="square" lIns="36000" tIns="10800" rIns="36000" bIns="10800" anchor="ctr">
            <a:spAutoFit/>
          </a:bodyPr>
          <a:lstStyle/>
          <a:p>
            <a:pPr algn="l">
              <a:lnSpc>
                <a:spcPct val="115000"/>
              </a:lnSpc>
            </a:pPr>
            <a:r>
              <a:rPr sz="1300" b="1">
                <a:solidFill>
                  <a:srgbClr val="888888"/>
                </a:solidFill>
                <a:latin typeface="メイリオ"/>
                <a:ea typeface="メイリオ"/>
                <a:cs typeface="メイリオ"/>
              </a:rPr>
              <a:t>6月</a:t>
            </a:r>
          </a:p>
        </p:txBody>
      </p:sp>
      <p:sp>
        <p:nvSpPr>
          <p:cNvPr id="71" name="TextBox 70"/>
          <p:cNvSpPr txBox="1"/>
          <p:nvPr/>
        </p:nvSpPr>
        <p:spPr>
          <a:xfrm>
            <a:off x="3319199" y="2602800"/>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SS／父の日／お中元</a:t>
            </a:r>
          </a:p>
        </p:txBody>
      </p:sp>
      <p:sp>
        <p:nvSpPr>
          <p:cNvPr id="72" name="TextBox 71"/>
          <p:cNvSpPr txBox="1"/>
          <p:nvPr/>
        </p:nvSpPr>
        <p:spPr>
          <a:xfrm>
            <a:off x="2779200" y="2872800"/>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お中元の早期予約</a:t>
            </a:r>
          </a:p>
          <a:p>
            <a:pPr algn="l">
              <a:lnSpc>
                <a:spcPct val="115000"/>
              </a:lnSpc>
            </a:pPr>
            <a:r>
              <a:rPr sz="1050" b="0">
                <a:solidFill>
                  <a:srgbClr val="333333"/>
                </a:solidFill>
                <a:latin typeface="メイリオ"/>
                <a:ea typeface="メイリオ"/>
                <a:cs typeface="メイリオ"/>
              </a:rPr>
              <a:t>父の日はギフト包装の案内</a:t>
            </a:r>
          </a:p>
        </p:txBody>
      </p:sp>
      <p:sp>
        <p:nvSpPr>
          <p:cNvPr id="73" name="Rounded Rectangle 72"/>
          <p:cNvSpPr/>
          <p:nvPr/>
        </p:nvSpPr>
        <p:spPr>
          <a:xfrm>
            <a:off x="5018399" y="2566800"/>
            <a:ext cx="2167200" cy="917999"/>
          </a:xfrm>
          <a:prstGeom prst="roundRect">
            <a:avLst>
              <a:gd name="adj" fmla="val 8000"/>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072399" y="2602800"/>
            <a:ext cx="558000" cy="251999"/>
          </a:xfrm>
          <a:prstGeom prst="rect">
            <a:avLst/>
          </a:prstGeom>
          <a:noFill/>
        </p:spPr>
        <p:txBody>
          <a:bodyPr wrap="square" lIns="36000" tIns="10800" rIns="36000" bIns="10800" anchor="ctr">
            <a:spAutoFit/>
          </a:bodyPr>
          <a:lstStyle/>
          <a:p>
            <a:pPr algn="l">
              <a:lnSpc>
                <a:spcPct val="115000"/>
              </a:lnSpc>
            </a:pPr>
            <a:r>
              <a:rPr sz="1300" b="1">
                <a:solidFill>
                  <a:srgbClr val="ED7D31"/>
                </a:solidFill>
                <a:latin typeface="メイリオ"/>
                <a:ea typeface="メイリオ"/>
                <a:cs typeface="メイリオ"/>
              </a:rPr>
              <a:t>7月</a:t>
            </a:r>
          </a:p>
        </p:txBody>
      </p:sp>
      <p:sp>
        <p:nvSpPr>
          <p:cNvPr id="75" name="TextBox 74"/>
          <p:cNvSpPr txBox="1"/>
          <p:nvPr/>
        </p:nvSpPr>
        <p:spPr>
          <a:xfrm>
            <a:off x="5612399" y="2602800"/>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Amazonプライムデー</a:t>
            </a:r>
          </a:p>
        </p:txBody>
      </p:sp>
      <p:sp>
        <p:nvSpPr>
          <p:cNvPr id="76" name="TextBox 75"/>
          <p:cNvSpPr txBox="1"/>
          <p:nvPr/>
        </p:nvSpPr>
        <p:spPr>
          <a:xfrm>
            <a:off x="5072399" y="2872800"/>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会員限定の先行セール</a:t>
            </a:r>
          </a:p>
          <a:p>
            <a:pPr algn="l">
              <a:lnSpc>
                <a:spcPct val="115000"/>
              </a:lnSpc>
            </a:pPr>
            <a:r>
              <a:rPr sz="1050" b="0">
                <a:solidFill>
                  <a:srgbClr val="333333"/>
                </a:solidFill>
                <a:latin typeface="メイリオ"/>
                <a:ea typeface="メイリオ"/>
                <a:cs typeface="メイリオ"/>
              </a:rPr>
              <a:t>（対抗ではなく先回り）</a:t>
            </a:r>
          </a:p>
        </p:txBody>
      </p:sp>
      <p:sp>
        <p:nvSpPr>
          <p:cNvPr id="77" name="Rounded Rectangle 76"/>
          <p:cNvSpPr/>
          <p:nvPr/>
        </p:nvSpPr>
        <p:spPr>
          <a:xfrm>
            <a:off x="7311600" y="2566800"/>
            <a:ext cx="2167200" cy="917999"/>
          </a:xfrm>
          <a:prstGeom prst="roundRect">
            <a:avLst>
              <a:gd name="adj" fmla="val 8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365599" y="2602800"/>
            <a:ext cx="558000" cy="251999"/>
          </a:xfrm>
          <a:prstGeom prst="rect">
            <a:avLst/>
          </a:prstGeom>
          <a:noFill/>
        </p:spPr>
        <p:txBody>
          <a:bodyPr wrap="square" lIns="36000" tIns="10800" rIns="36000" bIns="10800" anchor="ctr">
            <a:spAutoFit/>
          </a:bodyPr>
          <a:lstStyle/>
          <a:p>
            <a:pPr algn="l">
              <a:lnSpc>
                <a:spcPct val="115000"/>
              </a:lnSpc>
            </a:pPr>
            <a:r>
              <a:rPr sz="1300" b="1">
                <a:solidFill>
                  <a:srgbClr val="C00000"/>
                </a:solidFill>
                <a:latin typeface="メイリオ"/>
                <a:ea typeface="メイリオ"/>
                <a:cs typeface="メイリオ"/>
              </a:rPr>
              <a:t>8月</a:t>
            </a:r>
          </a:p>
        </p:txBody>
      </p:sp>
      <p:sp>
        <p:nvSpPr>
          <p:cNvPr id="79" name="TextBox 78"/>
          <p:cNvSpPr txBox="1"/>
          <p:nvPr/>
        </p:nvSpPr>
        <p:spPr>
          <a:xfrm>
            <a:off x="7905599" y="2602800"/>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仕込み月</a:t>
            </a:r>
          </a:p>
        </p:txBody>
      </p:sp>
      <p:sp>
        <p:nvSpPr>
          <p:cNvPr id="80" name="TextBox 79"/>
          <p:cNvSpPr txBox="1"/>
          <p:nvPr/>
        </p:nvSpPr>
        <p:spPr>
          <a:xfrm>
            <a:off x="7365599" y="2872800"/>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友だち追加キャンペーン</a:t>
            </a:r>
          </a:p>
          <a:p>
            <a:pPr algn="l">
              <a:lnSpc>
                <a:spcPct val="115000"/>
              </a:lnSpc>
            </a:pPr>
            <a:r>
              <a:rPr sz="1050" b="0">
                <a:solidFill>
                  <a:srgbClr val="333333"/>
                </a:solidFill>
                <a:latin typeface="メイリオ"/>
                <a:ea typeface="メイリオ"/>
                <a:cs typeface="メイリオ"/>
              </a:rPr>
              <a:t>レビュー依頼（秋商戦の材料）</a:t>
            </a:r>
          </a:p>
        </p:txBody>
      </p:sp>
      <p:sp>
        <p:nvSpPr>
          <p:cNvPr id="81" name="Rounded Rectangle 80"/>
          <p:cNvSpPr/>
          <p:nvPr/>
        </p:nvSpPr>
        <p:spPr>
          <a:xfrm>
            <a:off x="432000" y="3585600"/>
            <a:ext cx="2167200" cy="917999"/>
          </a:xfrm>
          <a:prstGeom prst="roundRect">
            <a:avLst>
              <a:gd name="adj" fmla="val 8000"/>
            </a:avLst>
          </a:prstGeom>
          <a:solidFill>
            <a:srgbClr val="F4F4F6"/>
          </a:solidFill>
          <a:ln w="952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85999" y="3621600"/>
            <a:ext cx="558000" cy="251999"/>
          </a:xfrm>
          <a:prstGeom prst="rect">
            <a:avLst/>
          </a:prstGeom>
          <a:noFill/>
        </p:spPr>
        <p:txBody>
          <a:bodyPr wrap="square" lIns="36000" tIns="10800" rIns="36000" bIns="10800" anchor="ctr">
            <a:spAutoFit/>
          </a:bodyPr>
          <a:lstStyle/>
          <a:p>
            <a:pPr algn="l">
              <a:lnSpc>
                <a:spcPct val="115000"/>
              </a:lnSpc>
            </a:pPr>
            <a:r>
              <a:rPr sz="1300" b="1">
                <a:solidFill>
                  <a:srgbClr val="888888"/>
                </a:solidFill>
                <a:latin typeface="メイリオ"/>
                <a:ea typeface="メイリオ"/>
                <a:cs typeface="メイリオ"/>
              </a:rPr>
              <a:t>9月</a:t>
            </a:r>
          </a:p>
        </p:txBody>
      </p:sp>
      <p:sp>
        <p:nvSpPr>
          <p:cNvPr id="83" name="TextBox 82"/>
          <p:cNvSpPr txBox="1"/>
          <p:nvPr/>
        </p:nvSpPr>
        <p:spPr>
          <a:xfrm>
            <a:off x="1025999" y="3621600"/>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楽天SS</a:t>
            </a:r>
          </a:p>
        </p:txBody>
      </p:sp>
      <p:sp>
        <p:nvSpPr>
          <p:cNvPr id="84" name="TextBox 83"/>
          <p:cNvSpPr txBox="1"/>
          <p:nvPr/>
        </p:nvSpPr>
        <p:spPr>
          <a:xfrm>
            <a:off x="485999" y="3891600"/>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秋物の先行案内</a:t>
            </a:r>
          </a:p>
          <a:p>
            <a:pPr algn="l">
              <a:lnSpc>
                <a:spcPct val="115000"/>
              </a:lnSpc>
            </a:pPr>
            <a:r>
              <a:rPr sz="1050" b="0">
                <a:solidFill>
                  <a:srgbClr val="333333"/>
                </a:solidFill>
                <a:latin typeface="メイリオ"/>
              </a:rPr>
              <a:t>敬老の日ギフト</a:t>
            </a:r>
          </a:p>
        </p:txBody>
      </p:sp>
      <p:sp>
        <p:nvSpPr>
          <p:cNvPr id="85" name="Rounded Rectangle 84"/>
          <p:cNvSpPr/>
          <p:nvPr/>
        </p:nvSpPr>
        <p:spPr>
          <a:xfrm>
            <a:off x="2725200" y="3585600"/>
            <a:ext cx="2167200" cy="917999"/>
          </a:xfrm>
          <a:prstGeom prst="roundRect">
            <a:avLst>
              <a:gd name="adj" fmla="val 8000"/>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2779200" y="3621600"/>
            <a:ext cx="558000" cy="251999"/>
          </a:xfrm>
          <a:prstGeom prst="rect">
            <a:avLst/>
          </a:prstGeom>
          <a:noFill/>
        </p:spPr>
        <p:txBody>
          <a:bodyPr wrap="square" lIns="36000" tIns="10800" rIns="36000" bIns="10800" anchor="ctr">
            <a:spAutoFit/>
          </a:bodyPr>
          <a:lstStyle/>
          <a:p>
            <a:pPr algn="l">
              <a:lnSpc>
                <a:spcPct val="115000"/>
              </a:lnSpc>
            </a:pPr>
            <a:r>
              <a:rPr sz="1300" b="1">
                <a:solidFill>
                  <a:srgbClr val="ED7D31"/>
                </a:solidFill>
                <a:latin typeface="メイリオ"/>
                <a:ea typeface="メイリオ"/>
                <a:cs typeface="メイリオ"/>
              </a:rPr>
              <a:t>10月</a:t>
            </a:r>
          </a:p>
        </p:txBody>
      </p:sp>
      <p:sp>
        <p:nvSpPr>
          <p:cNvPr id="87" name="TextBox 86"/>
          <p:cNvSpPr txBox="1"/>
          <p:nvPr/>
        </p:nvSpPr>
        <p:spPr>
          <a:xfrm>
            <a:off x="3319199" y="3621600"/>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ハロウィン</a:t>
            </a:r>
          </a:p>
        </p:txBody>
      </p:sp>
      <p:sp>
        <p:nvSpPr>
          <p:cNvPr id="88" name="TextBox 87"/>
          <p:cNvSpPr txBox="1"/>
          <p:nvPr/>
        </p:nvSpPr>
        <p:spPr>
          <a:xfrm>
            <a:off x="2779200" y="3891600"/>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★BF「事前登録」で先回り</a:t>
            </a:r>
          </a:p>
          <a:p>
            <a:pPr algn="l">
              <a:lnSpc>
                <a:spcPct val="115000"/>
              </a:lnSpc>
            </a:pPr>
            <a:r>
              <a:rPr sz="1050" b="0">
                <a:solidFill>
                  <a:srgbClr val="333333"/>
                </a:solidFill>
                <a:latin typeface="メイリオ"/>
                <a:ea typeface="メイリオ"/>
                <a:cs typeface="メイリオ"/>
              </a:rPr>
              <a:t>（BFは事前検索が無い）</a:t>
            </a:r>
          </a:p>
        </p:txBody>
      </p:sp>
      <p:sp>
        <p:nvSpPr>
          <p:cNvPr id="89" name="Rounded Rectangle 88"/>
          <p:cNvSpPr/>
          <p:nvPr/>
        </p:nvSpPr>
        <p:spPr>
          <a:xfrm>
            <a:off x="5018399" y="3585600"/>
            <a:ext cx="2167200" cy="917999"/>
          </a:xfrm>
          <a:prstGeom prst="roundRect">
            <a:avLst>
              <a:gd name="adj" fmla="val 8000"/>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5072399" y="3621600"/>
            <a:ext cx="558000" cy="251999"/>
          </a:xfrm>
          <a:prstGeom prst="rect">
            <a:avLst/>
          </a:prstGeom>
          <a:noFill/>
        </p:spPr>
        <p:txBody>
          <a:bodyPr wrap="square" lIns="36000" tIns="10800" rIns="36000" bIns="10800" anchor="ctr">
            <a:spAutoFit/>
          </a:bodyPr>
          <a:lstStyle/>
          <a:p>
            <a:pPr algn="l">
              <a:lnSpc>
                <a:spcPct val="115000"/>
              </a:lnSpc>
            </a:pPr>
            <a:r>
              <a:rPr sz="1300" b="1">
                <a:solidFill>
                  <a:srgbClr val="ED7D31"/>
                </a:solidFill>
                <a:latin typeface="メイリオ"/>
                <a:ea typeface="メイリオ"/>
                <a:cs typeface="メイリオ"/>
              </a:rPr>
              <a:t>11月</a:t>
            </a:r>
          </a:p>
        </p:txBody>
      </p:sp>
      <p:sp>
        <p:nvSpPr>
          <p:cNvPr id="91" name="TextBox 90"/>
          <p:cNvSpPr txBox="1"/>
          <p:nvPr/>
        </p:nvSpPr>
        <p:spPr>
          <a:xfrm>
            <a:off x="5612399" y="3621600"/>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ブラックフライデー</a:t>
            </a:r>
          </a:p>
        </p:txBody>
      </p:sp>
      <p:sp>
        <p:nvSpPr>
          <p:cNvPr id="92" name="TextBox 91"/>
          <p:cNvSpPr txBox="1"/>
          <p:nvPr/>
        </p:nvSpPr>
        <p:spPr>
          <a:xfrm>
            <a:off x="5072399" y="3891600"/>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開始通知 → カゴ落ち即回収</a:t>
            </a:r>
          </a:p>
          <a:p>
            <a:pPr algn="l">
              <a:lnSpc>
                <a:spcPct val="115000"/>
              </a:lnSpc>
            </a:pPr>
            <a:r>
              <a:rPr sz="1050" b="0">
                <a:solidFill>
                  <a:srgbClr val="333333"/>
                </a:solidFill>
                <a:latin typeface="メイリオ"/>
                <a:ea typeface="メイリオ"/>
                <a:cs typeface="メイリオ"/>
              </a:rPr>
              <a:t>会員限定の先行アクセス</a:t>
            </a:r>
          </a:p>
        </p:txBody>
      </p:sp>
      <p:sp>
        <p:nvSpPr>
          <p:cNvPr id="93" name="Rounded Rectangle 92"/>
          <p:cNvSpPr/>
          <p:nvPr/>
        </p:nvSpPr>
        <p:spPr>
          <a:xfrm>
            <a:off x="7311600" y="3585600"/>
            <a:ext cx="2167200" cy="917999"/>
          </a:xfrm>
          <a:prstGeom prst="roundRect">
            <a:avLst>
              <a:gd name="adj" fmla="val 8000"/>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7365599" y="3621600"/>
            <a:ext cx="558000" cy="251999"/>
          </a:xfrm>
          <a:prstGeom prst="rect">
            <a:avLst/>
          </a:prstGeom>
          <a:noFill/>
        </p:spPr>
        <p:txBody>
          <a:bodyPr wrap="square" lIns="36000" tIns="10800" rIns="36000" bIns="10800" anchor="ctr">
            <a:spAutoFit/>
          </a:bodyPr>
          <a:lstStyle/>
          <a:p>
            <a:pPr algn="l">
              <a:lnSpc>
                <a:spcPct val="115000"/>
              </a:lnSpc>
            </a:pPr>
            <a:r>
              <a:rPr sz="1300" b="1">
                <a:solidFill>
                  <a:srgbClr val="ED7D31"/>
                </a:solidFill>
                <a:latin typeface="メイリオ"/>
                <a:ea typeface="メイリオ"/>
                <a:cs typeface="メイリオ"/>
              </a:rPr>
              <a:t>12月</a:t>
            </a:r>
          </a:p>
        </p:txBody>
      </p:sp>
      <p:sp>
        <p:nvSpPr>
          <p:cNvPr id="95" name="TextBox 94"/>
          <p:cNvSpPr txBox="1"/>
          <p:nvPr/>
        </p:nvSpPr>
        <p:spPr>
          <a:xfrm>
            <a:off x="7905599" y="3621600"/>
            <a:ext cx="1519200" cy="251999"/>
          </a:xfrm>
          <a:prstGeom prst="rect">
            <a:avLst/>
          </a:prstGeom>
          <a:noFill/>
        </p:spPr>
        <p:txBody>
          <a:bodyPr wrap="square" lIns="36000" tIns="10800" rIns="36000" bIns="10800" anchor="ctr">
            <a:spAutoFit/>
          </a:bodyPr>
          <a:lstStyle/>
          <a:p>
            <a:pPr algn="l">
              <a:lnSpc>
                <a:spcPct val="115000"/>
              </a:lnSpc>
            </a:pPr>
            <a:r>
              <a:rPr sz="1050" b="1">
                <a:solidFill>
                  <a:srgbClr val="333333"/>
                </a:solidFill>
                <a:latin typeface="メイリオ"/>
                <a:ea typeface="メイリオ"/>
                <a:cs typeface="メイリオ"/>
              </a:rPr>
              <a:t>楽天大感謝祭／年末</a:t>
            </a:r>
          </a:p>
        </p:txBody>
      </p:sp>
      <p:sp>
        <p:nvSpPr>
          <p:cNvPr id="96" name="TextBox 95"/>
          <p:cNvSpPr txBox="1"/>
          <p:nvPr/>
        </p:nvSpPr>
        <p:spPr>
          <a:xfrm>
            <a:off x="7365599" y="3891600"/>
            <a:ext cx="2059200" cy="576000"/>
          </a:xfrm>
          <a:prstGeom prst="rect">
            <a:avLst/>
          </a:prstGeom>
          <a:noFill/>
        </p:spPr>
        <p:txBody>
          <a:bodyPr wrap="square" lIns="36000" tIns="10800" rIns="36000" bIns="10800" anchor="t">
            <a:spAutoFit/>
          </a:bodyPr>
          <a:lstStyle/>
          <a:p>
            <a:pPr algn="l">
              <a:lnSpc>
                <a:spcPct val="115000"/>
              </a:lnSpc>
            </a:pPr>
            <a:r>
              <a:rPr sz="1050" b="0">
                <a:solidFill>
                  <a:srgbClr val="333333"/>
                </a:solidFill>
                <a:latin typeface="メイリオ"/>
                <a:ea typeface="メイリオ"/>
                <a:cs typeface="メイリオ"/>
              </a:rPr>
              <a:t>福袋予約・お歳暮</a:t>
            </a:r>
          </a:p>
          <a:p>
            <a:pPr algn="l">
              <a:lnSpc>
                <a:spcPct val="115000"/>
              </a:lnSpc>
            </a:pPr>
            <a:r>
              <a:rPr sz="1050" b="0">
                <a:solidFill>
                  <a:srgbClr val="333333"/>
                </a:solidFill>
                <a:latin typeface="メイリオ"/>
                <a:ea typeface="メイリオ"/>
                <a:cs typeface="メイリオ"/>
              </a:rPr>
              <a:t>年内配送の締切リマインド</a:t>
            </a:r>
          </a:p>
        </p:txBody>
      </p:sp>
      <p:sp>
        <p:nvSpPr>
          <p:cNvPr id="97" name="Rectangle 96"/>
          <p:cNvSpPr/>
          <p:nvPr/>
        </p:nvSpPr>
        <p:spPr>
          <a:xfrm>
            <a:off x="432000" y="4622400"/>
            <a:ext cx="198000" cy="144000"/>
          </a:xfrm>
          <a:prstGeom prst="rect">
            <a:avLst/>
          </a:prstGeom>
          <a:solidFill>
            <a:srgbClr val="FDF1E9"/>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666000" y="4593600"/>
            <a:ext cx="1800000" cy="201600"/>
          </a:xfrm>
          <a:prstGeom prst="rect">
            <a:avLst/>
          </a:prstGeom>
          <a:noFill/>
        </p:spPr>
        <p:txBody>
          <a:bodyPr wrap="square" lIns="36000" tIns="10800" rIns="36000" bIns="10800" anchor="ctr">
            <a:spAutoFit/>
          </a:bodyPr>
          <a:lstStyle/>
          <a:p>
            <a:pPr algn="l">
              <a:lnSpc>
                <a:spcPct val="115000"/>
              </a:lnSpc>
            </a:pPr>
            <a:r>
              <a:rPr sz="1000" b="0">
                <a:solidFill>
                  <a:srgbClr val="333333"/>
                </a:solidFill>
                <a:latin typeface="メイリオ"/>
                <a:ea typeface="メイリオ"/>
                <a:cs typeface="メイリオ"/>
              </a:rPr>
              <a:t>需要の山（刈り取り）</a:t>
            </a:r>
          </a:p>
        </p:txBody>
      </p:sp>
      <p:sp>
        <p:nvSpPr>
          <p:cNvPr id="99" name="Rectangle 98"/>
          <p:cNvSpPr/>
          <p:nvPr/>
        </p:nvSpPr>
        <p:spPr>
          <a:xfrm>
            <a:off x="2520000" y="4622400"/>
            <a:ext cx="198000" cy="144000"/>
          </a:xfrm>
          <a:prstGeom prst="rect">
            <a:avLst/>
          </a:prstGeom>
          <a:solidFill>
            <a:srgbClr val="FDF2F2"/>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2754000" y="4593600"/>
            <a:ext cx="1800000" cy="201600"/>
          </a:xfrm>
          <a:prstGeom prst="rect">
            <a:avLst/>
          </a:prstGeom>
          <a:noFill/>
        </p:spPr>
        <p:txBody>
          <a:bodyPr wrap="square" lIns="36000" tIns="10800" rIns="36000" bIns="10800" anchor="ctr">
            <a:spAutoFit/>
          </a:bodyPr>
          <a:lstStyle/>
          <a:p>
            <a:pPr algn="l">
              <a:lnSpc>
                <a:spcPct val="115000"/>
              </a:lnSpc>
            </a:pPr>
            <a:r>
              <a:rPr sz="1000" b="0">
                <a:solidFill>
                  <a:srgbClr val="333333"/>
                </a:solidFill>
                <a:latin typeface="メイリオ"/>
                <a:ea typeface="メイリオ"/>
                <a:cs typeface="メイリオ"/>
              </a:rPr>
              <a:t>仕込み月（リスト作り）</a:t>
            </a:r>
          </a:p>
        </p:txBody>
      </p:sp>
      <p:sp>
        <p:nvSpPr>
          <p:cNvPr id="101" name="Rectangle 100"/>
          <p:cNvSpPr/>
          <p:nvPr/>
        </p:nvSpPr>
        <p:spPr>
          <a:xfrm>
            <a:off x="4608000" y="4622400"/>
            <a:ext cx="198000" cy="144000"/>
          </a:xfrm>
          <a:prstGeom prst="rect">
            <a:avLst/>
          </a:prstGeom>
          <a:solidFill>
            <a:srgbClr val="F4F4F6"/>
          </a:solidFill>
          <a:ln w="952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4842000" y="4593600"/>
            <a:ext cx="2160000" cy="201600"/>
          </a:xfrm>
          <a:prstGeom prst="rect">
            <a:avLst/>
          </a:prstGeom>
          <a:noFill/>
        </p:spPr>
        <p:txBody>
          <a:bodyPr wrap="square" lIns="36000" tIns="10800" rIns="36000" bIns="10800" anchor="ctr">
            <a:spAutoFit/>
          </a:bodyPr>
          <a:lstStyle/>
          <a:p>
            <a:pPr algn="l">
              <a:lnSpc>
                <a:spcPct val="115000"/>
              </a:lnSpc>
            </a:pPr>
            <a:r>
              <a:rPr sz="1000" b="0">
                <a:solidFill>
                  <a:srgbClr val="333333"/>
                </a:solidFill>
                <a:latin typeface="メイリオ"/>
                <a:ea typeface="メイリオ"/>
                <a:cs typeface="メイリオ"/>
              </a:rPr>
              <a:t>平常月（F2・関係づくり）</a:t>
            </a:r>
          </a:p>
        </p:txBody>
      </p:sp>
      <p:sp>
        <p:nvSpPr>
          <p:cNvPr id="103" name="Rectangle 102"/>
          <p:cNvSpPr/>
          <p:nvPr/>
        </p:nvSpPr>
        <p:spPr>
          <a:xfrm>
            <a:off x="432000" y="4878000"/>
            <a:ext cx="9043200" cy="396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432000" y="4878000"/>
            <a:ext cx="9043200" cy="396000"/>
          </a:xfrm>
          <a:prstGeom prst="rect">
            <a:avLst/>
          </a:prstGeom>
          <a:noFill/>
        </p:spPr>
        <p:txBody>
          <a:bodyPr wrap="square" lIns="36000" tIns="10800" rIns="36000" bIns="10800" anchor="ctr">
            <a:spAutoFit/>
          </a:bodyPr>
          <a:lstStyle/>
          <a:p>
            <a:pPr algn="ctr">
              <a:lnSpc>
                <a:spcPct val="115000"/>
              </a:lnSpc>
            </a:pPr>
            <a:r>
              <a:rPr sz="1500" b="1">
                <a:solidFill>
                  <a:srgbClr val="FFFFFF"/>
                </a:solidFill>
                <a:latin typeface="メイリオ"/>
                <a:ea typeface="メイリオ"/>
                <a:cs typeface="メイリオ"/>
              </a:rPr>
              <a:t>山の2〜3週前に仕込み、山の最中に刈り取り、直後に次の山へつなぐ。11月→12月→1月は1本の流れ</a:t>
            </a:r>
          </a:p>
        </p:txBody>
      </p:sp>
      <p:sp>
        <p:nvSpPr>
          <p:cNvPr id="105" name="TextBox 104"/>
          <p:cNvSpPr txBox="1"/>
          <p:nvPr/>
        </p:nvSpPr>
        <p:spPr>
          <a:xfrm>
            <a:off x="432000" y="5382000"/>
            <a:ext cx="9043200" cy="792000"/>
          </a:xfrm>
          <a:prstGeom prst="rect">
            <a:avLst/>
          </a:prstGeom>
          <a:noFill/>
        </p:spPr>
        <p:txBody>
          <a:bodyPr wrap="square" lIns="36000" tIns="10800" rIns="36000" bIns="10800" anchor="t">
            <a:spAutoFit/>
          </a:bodyPr>
          <a:lstStyle/>
          <a:p>
            <a:pPr algn="l">
              <a:lnSpc>
                <a:spcPct val="115000"/>
              </a:lnSpc>
            </a:pPr>
            <a:r>
              <a:rPr sz="1100" b="0">
                <a:solidFill>
                  <a:srgbClr val="333333"/>
                </a:solidFill>
                <a:latin typeface="メイリオ"/>
                <a:ea typeface="メイリオ"/>
                <a:cs typeface="メイリオ"/>
              </a:rPr>
              <a:t>● 常設：楽天お買い物マラソン（毎月）／5と0のつく日／Amazonタイムセール祭り → 通知メッセージではなく企画配信で扱う</a:t>
            </a:r>
          </a:p>
          <a:p>
            <a:pPr algn="l">
              <a:lnSpc>
                <a:spcPct val="115000"/>
              </a:lnSpc>
            </a:pPr>
            <a:r>
              <a:rPr sz="1100" b="0">
                <a:solidFill>
                  <a:srgbClr val="333333"/>
                </a:solidFill>
                <a:latin typeface="メイリオ"/>
                <a:ea typeface="メイリオ"/>
                <a:cs typeface="メイリオ"/>
              </a:rPr>
              <a:t>● 企画は「1通1テーマ」。セール告知だけを毎月送ると開封率が落ちるので、平常月はレビュー・使い方・買い足しを挟む</a:t>
            </a:r>
          </a:p>
        </p:txBody>
      </p:sp>
      <p:sp>
        <p:nvSpPr>
          <p:cNvPr id="106" name="TextBox 105"/>
          <p:cNvSpPr txBox="1"/>
          <p:nvPr/>
        </p:nvSpPr>
        <p:spPr>
          <a:xfrm>
            <a:off x="432000" y="6246000"/>
            <a:ext cx="9043200" cy="324000"/>
          </a:xfrm>
          <a:prstGeom prst="rect">
            <a:avLst/>
          </a:prstGeom>
          <a:noFill/>
        </p:spPr>
        <p:txBody>
          <a:bodyPr wrap="square" lIns="36000" tIns="10800" rIns="36000" bIns="10800" anchor="ctr">
            <a:spAutoFit/>
          </a:bodyPr>
          <a:lstStyle/>
          <a:p>
            <a:pPr algn="l">
              <a:lnSpc>
                <a:spcPct val="115000"/>
              </a:lnSpc>
            </a:pPr>
            <a:r>
              <a:rPr sz="800" b="0">
                <a:solidFill>
                  <a:srgbClr val="888888"/>
                </a:solidFill>
                <a:latin typeface="メイリオ"/>
                <a:ea typeface="メイリオ"/>
                <a:cs typeface="メイリオ"/>
              </a:rPr>
              <a:t>業界水準｜主要ECモールの年間商戦。企画は業界汎用の案（貴社の商材・消費サイクルで置き換える）。★Googleトレンド（福袋／BF／セール／母の日）は未取得</a:t>
            </a:r>
          </a:p>
        </p:txBody>
      </p:sp>
    </p:spTree>
    <p:extLst>
      <p:ext uri="{BB962C8B-B14F-4D97-AF65-F5344CB8AC3E}">
        <p14:creationId xmlns:p14="http://schemas.microsoft.com/office/powerpoint/2010/main" val="1772806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ニーズ調査｜前後検索（ブラックフライデー）</a:t>
            </a:r>
            <a:endParaRPr sz="1600" b="1" dirty="0">
              <a:solidFill>
                <a:srgbClr val="002060"/>
              </a:solidFill>
              <a:latin typeface="Meiryo"/>
              <a:ea typeface="Meiryo"/>
              <a:cs typeface="Meiryo"/>
              <a:sym typeface="Meiryo"/>
            </a:endParaRPr>
          </a:p>
        </p:txBody>
      </p:sp>
      <p:sp>
        <p:nvSpPr>
          <p:cNvPr id="46" name="TextBox 45"/>
          <p:cNvSpPr txBox="1"/>
          <p:nvPr/>
        </p:nvSpPr>
        <p:spPr>
          <a:xfrm>
            <a:off x="432000" y="595472"/>
            <a:ext cx="9036000" cy="684000"/>
          </a:xfrm>
          <a:prstGeom prst="rect">
            <a:avLst/>
          </a:prstGeom>
          <a:noFill/>
        </p:spPr>
        <p:txBody>
          <a:bodyPr wrap="square" lIns="28800" tIns="7200" rIns="28800" bIns="7200" anchor="ctr">
            <a:spAutoFit/>
          </a:bodyPr>
          <a:lstStyle/>
          <a:p>
            <a:pPr algn="l">
              <a:lnSpc>
                <a:spcPct val="118000"/>
              </a:lnSpc>
            </a:pPr>
            <a:r>
              <a:rPr sz="1400" b="0" dirty="0" err="1">
                <a:solidFill>
                  <a:srgbClr val="333333"/>
                </a:solidFill>
                <a:latin typeface="メイリオ"/>
                <a:ea typeface="メイリオ"/>
                <a:cs typeface="メイリオ"/>
              </a:rPr>
              <a:t>ブラックフライデーは「前」に共通する検索がない。買う前に身構えていない</a:t>
            </a:r>
            <a:r>
              <a:rPr sz="1400" b="0" dirty="0">
                <a:solidFill>
                  <a:srgbClr val="333333"/>
                </a:solidFill>
                <a:latin typeface="メイリオ"/>
                <a:ea typeface="メイリオ"/>
                <a:cs typeface="メイリオ"/>
              </a:rPr>
              <a:t>。</a:t>
            </a:r>
          </a:p>
          <a:p>
            <a:pPr algn="l">
              <a:lnSpc>
                <a:spcPct val="118000"/>
              </a:lnSpc>
            </a:pPr>
            <a:r>
              <a:rPr sz="1400" b="0" dirty="0">
                <a:solidFill>
                  <a:srgbClr val="333333"/>
                </a:solidFill>
                <a:latin typeface="メイリオ"/>
                <a:ea typeface="メイリオ"/>
                <a:cs typeface="メイリオ"/>
              </a:rPr>
              <a:t>「後」は他社セール・年末年始へ検索がつながる。11月の購入者は、12〜1月の見込み客。</a:t>
            </a:r>
          </a:p>
        </p:txBody>
      </p:sp>
      <p:sp>
        <p:nvSpPr>
          <p:cNvPr id="47" name="Rectangle 46"/>
          <p:cNvSpPr/>
          <p:nvPr/>
        </p:nvSpPr>
        <p:spPr>
          <a:xfrm>
            <a:off x="432000" y="1458000"/>
            <a:ext cx="1655999" cy="237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32000" y="1458000"/>
            <a:ext cx="1655999" cy="237600"/>
          </a:xfrm>
          <a:prstGeom prst="rect">
            <a:avLst/>
          </a:prstGeom>
          <a:noFill/>
        </p:spPr>
        <p:txBody>
          <a:bodyPr wrap="square" lIns="28800" tIns="7200" rIns="28800" bIns="7200" anchor="ctr">
            <a:spAutoFit/>
          </a:bodyPr>
          <a:lstStyle/>
          <a:p>
            <a:pPr algn="ctr">
              <a:lnSpc>
                <a:spcPct val="118000"/>
              </a:lnSpc>
            </a:pPr>
            <a:r>
              <a:rPr sz="1150" b="1">
                <a:solidFill>
                  <a:srgbClr val="FFFFFF"/>
                </a:solidFill>
                <a:latin typeface="メイリオ"/>
                <a:ea typeface="メイリオ"/>
                <a:cs typeface="メイリオ"/>
              </a:rPr>
              <a:t>ブラックフライデー</a:t>
            </a:r>
          </a:p>
        </p:txBody>
      </p:sp>
      <p:sp>
        <p:nvSpPr>
          <p:cNvPr id="49" name="TextBox 48"/>
          <p:cNvSpPr txBox="1"/>
          <p:nvPr/>
        </p:nvSpPr>
        <p:spPr>
          <a:xfrm>
            <a:off x="2160000" y="1458000"/>
            <a:ext cx="2880000" cy="237600"/>
          </a:xfrm>
          <a:prstGeom prst="rect">
            <a:avLst/>
          </a:prstGeom>
          <a:noFill/>
        </p:spPr>
        <p:txBody>
          <a:bodyPr wrap="square" lIns="28800" tIns="7200" rIns="28800" bIns="7200" anchor="ctr">
            <a:spAutoFit/>
          </a:bodyPr>
          <a:lstStyle/>
          <a:p>
            <a:pPr algn="l">
              <a:lnSpc>
                <a:spcPct val="118000"/>
              </a:lnSpc>
            </a:pPr>
            <a:r>
              <a:rPr sz="1100" b="1">
                <a:solidFill>
                  <a:srgbClr val="333333"/>
                </a:solidFill>
                <a:latin typeface="メイリオ"/>
                <a:ea typeface="メイリオ"/>
                <a:cs typeface="メイリオ"/>
              </a:rPr>
              <a:t>を検索した人の、前後の検索（2022年商戦期）</a:t>
            </a:r>
          </a:p>
        </p:txBody>
      </p:sp>
      <p:pic>
        <p:nvPicPr>
          <p:cNvPr id="50" name="Picture 49" descr="image.png"/>
          <p:cNvPicPr>
            <a:picLocks noChangeAspect="1"/>
          </p:cNvPicPr>
          <p:nvPr/>
        </p:nvPicPr>
        <p:blipFill>
          <a:blip r:embed="rId3"/>
          <a:stretch>
            <a:fillRect/>
          </a:stretch>
        </p:blipFill>
        <p:spPr>
          <a:xfrm>
            <a:off x="432000" y="1728000"/>
            <a:ext cx="5976000" cy="3484800"/>
          </a:xfrm>
          <a:prstGeom prst="rect">
            <a:avLst/>
          </a:prstGeom>
        </p:spPr>
      </p:pic>
      <p:sp>
        <p:nvSpPr>
          <p:cNvPr id="51" name="Rectangle 50"/>
          <p:cNvSpPr/>
          <p:nvPr/>
        </p:nvSpPr>
        <p:spPr>
          <a:xfrm>
            <a:off x="432000" y="5256000"/>
            <a:ext cx="2934000" cy="223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32000" y="5256000"/>
            <a:ext cx="2934000" cy="223200"/>
          </a:xfrm>
          <a:prstGeom prst="rect">
            <a:avLst/>
          </a:prstGeom>
          <a:noFill/>
        </p:spPr>
        <p:txBody>
          <a:bodyPr wrap="square" lIns="28800" tIns="7200" rIns="28800" bIns="7200" anchor="ctr">
            <a:spAutoFit/>
          </a:bodyPr>
          <a:lstStyle/>
          <a:p>
            <a:pPr algn="ctr">
              <a:lnSpc>
                <a:spcPct val="118000"/>
              </a:lnSpc>
            </a:pPr>
            <a:r>
              <a:rPr sz="1050" b="1">
                <a:solidFill>
                  <a:srgbClr val="333333"/>
                </a:solidFill>
                <a:latin typeface="メイリオ"/>
                <a:ea typeface="メイリオ"/>
                <a:cs typeface="メイリオ"/>
              </a:rPr>
              <a:t>検索の“前”（〜255日）</a:t>
            </a:r>
          </a:p>
        </p:txBody>
      </p:sp>
      <p:sp>
        <p:nvSpPr>
          <p:cNvPr id="53" name="Rectangle 52"/>
          <p:cNvSpPr/>
          <p:nvPr/>
        </p:nvSpPr>
        <p:spPr>
          <a:xfrm>
            <a:off x="3474000" y="5256000"/>
            <a:ext cx="2934000" cy="223200"/>
          </a:xfrm>
          <a:prstGeom prst="rect">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474000" y="5256000"/>
            <a:ext cx="2934000" cy="223200"/>
          </a:xfrm>
          <a:prstGeom prst="rect">
            <a:avLst/>
          </a:prstGeom>
          <a:noFill/>
        </p:spPr>
        <p:txBody>
          <a:bodyPr wrap="square" lIns="28800" tIns="7200" rIns="28800" bIns="7200" anchor="ctr">
            <a:spAutoFit/>
          </a:bodyPr>
          <a:lstStyle/>
          <a:p>
            <a:pPr algn="ctr">
              <a:lnSpc>
                <a:spcPct val="118000"/>
              </a:lnSpc>
            </a:pPr>
            <a:r>
              <a:rPr sz="1050" b="1">
                <a:solidFill>
                  <a:srgbClr val="333333"/>
                </a:solidFill>
                <a:latin typeface="メイリオ"/>
                <a:ea typeface="メイリオ"/>
                <a:cs typeface="メイリオ"/>
              </a:rPr>
              <a:t>検索の“後”（〜255日）</a:t>
            </a:r>
          </a:p>
        </p:txBody>
      </p:sp>
      <p:sp>
        <p:nvSpPr>
          <p:cNvPr id="55" name="TextBox 54"/>
          <p:cNvSpPr txBox="1"/>
          <p:nvPr/>
        </p:nvSpPr>
        <p:spPr>
          <a:xfrm>
            <a:off x="6623999" y="1458000"/>
            <a:ext cx="2851200" cy="223200"/>
          </a:xfrm>
          <a:prstGeom prst="rect">
            <a:avLst/>
          </a:prstGeom>
          <a:noFill/>
        </p:spPr>
        <p:txBody>
          <a:bodyPr wrap="square" lIns="28800" tIns="7200" rIns="28800" bIns="7200" anchor="ctr">
            <a:spAutoFit/>
          </a:bodyPr>
          <a:lstStyle/>
          <a:p>
            <a:pPr algn="l">
              <a:lnSpc>
                <a:spcPct val="118000"/>
              </a:lnSpc>
            </a:pPr>
            <a:r>
              <a:rPr sz="1150" b="1">
                <a:solidFill>
                  <a:srgbClr val="002060"/>
                </a:solidFill>
                <a:latin typeface="メイリオ"/>
                <a:ea typeface="メイリオ"/>
                <a:cs typeface="メイリオ"/>
              </a:rPr>
              <a:t>検索で分かること　→　LINEで打つ手</a:t>
            </a:r>
          </a:p>
        </p:txBody>
      </p:sp>
      <p:sp>
        <p:nvSpPr>
          <p:cNvPr id="56" name="Rounded Rectangle 55"/>
          <p:cNvSpPr/>
          <p:nvPr/>
        </p:nvSpPr>
        <p:spPr>
          <a:xfrm>
            <a:off x="6623999" y="1728000"/>
            <a:ext cx="2851200" cy="846000"/>
          </a:xfrm>
          <a:prstGeom prst="roundRect">
            <a:avLst>
              <a:gd name="adj" fmla="val 10000"/>
            </a:avLst>
          </a:prstGeom>
          <a:solidFill>
            <a:srgbClr val="F4EDFA"/>
          </a:solidFill>
          <a:ln w="12700">
            <a:solidFill>
              <a:srgbClr val="8E4E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623999" y="1728000"/>
            <a:ext cx="64800" cy="846000"/>
          </a:xfrm>
          <a:prstGeom prst="rect">
            <a:avLst/>
          </a:prstGeom>
          <a:solidFill>
            <a:srgbClr val="8E4E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750000" y="1742400"/>
            <a:ext cx="2653200" cy="187200"/>
          </a:xfrm>
          <a:prstGeom prst="rect">
            <a:avLst/>
          </a:prstGeom>
          <a:noFill/>
        </p:spPr>
        <p:txBody>
          <a:bodyPr wrap="square" lIns="28800" tIns="7200" rIns="28800" bIns="7200" anchor="ctr">
            <a:spAutoFit/>
          </a:bodyPr>
          <a:lstStyle/>
          <a:p>
            <a:pPr algn="l">
              <a:lnSpc>
                <a:spcPct val="118000"/>
              </a:lnSpc>
            </a:pPr>
            <a:r>
              <a:rPr sz="1150" b="1">
                <a:solidFill>
                  <a:srgbClr val="8E4EC6"/>
                </a:solidFill>
                <a:latin typeface="メイリオ"/>
                <a:ea typeface="メイリオ"/>
                <a:cs typeface="メイリオ"/>
              </a:rPr>
              <a:t>BFを知る（0日に集中）</a:t>
            </a:r>
          </a:p>
        </p:txBody>
      </p:sp>
      <p:sp>
        <p:nvSpPr>
          <p:cNvPr id="59" name="TextBox 58"/>
          <p:cNvSpPr txBox="1"/>
          <p:nvPr/>
        </p:nvSpPr>
        <p:spPr>
          <a:xfrm>
            <a:off x="6750000" y="1933200"/>
            <a:ext cx="2653200" cy="194400"/>
          </a:xfrm>
          <a:prstGeom prst="rect">
            <a:avLst/>
          </a:prstGeom>
          <a:noFill/>
        </p:spPr>
        <p:txBody>
          <a:bodyPr wrap="square" lIns="28800" tIns="7200" rIns="28800" bIns="7200" anchor="t">
            <a:spAutoFit/>
          </a:bodyPr>
          <a:lstStyle/>
          <a:p>
            <a:pPr algn="l">
              <a:lnSpc>
                <a:spcPct val="118000"/>
              </a:lnSpc>
            </a:pPr>
            <a:r>
              <a:rPr sz="1000" b="0">
                <a:solidFill>
                  <a:srgbClr val="333333"/>
                </a:solidFill>
                <a:latin typeface="メイリオ"/>
                <a:ea typeface="メイリオ"/>
                <a:cs typeface="メイリオ"/>
              </a:rPr>
              <a:t>「とは」「いつ」＝日付を知りたい層がいる</a:t>
            </a:r>
          </a:p>
        </p:txBody>
      </p:sp>
      <p:sp>
        <p:nvSpPr>
          <p:cNvPr id="60" name="TextBox 59"/>
          <p:cNvSpPr txBox="1"/>
          <p:nvPr/>
        </p:nvSpPr>
        <p:spPr>
          <a:xfrm>
            <a:off x="6750000" y="2134800"/>
            <a:ext cx="2653200" cy="413999"/>
          </a:xfrm>
          <a:prstGeom prst="rect">
            <a:avLst/>
          </a:prstGeom>
          <a:noFill/>
        </p:spPr>
        <p:txBody>
          <a:bodyPr wrap="square" lIns="28800" tIns="7200" rIns="28800" bIns="7200" anchor="t">
            <a:spAutoFit/>
          </a:bodyPr>
          <a:lstStyle/>
          <a:p>
            <a:pPr algn="l">
              <a:lnSpc>
                <a:spcPct val="118000"/>
              </a:lnSpc>
            </a:pPr>
            <a:r>
              <a:rPr sz="1050" b="1">
                <a:solidFill>
                  <a:srgbClr val="8E4EC6"/>
                </a:solidFill>
                <a:latin typeface="メイリオ"/>
                <a:ea typeface="メイリオ"/>
                <a:cs typeface="メイリオ"/>
              </a:rPr>
              <a:t>→ 開始前に「◯月◯日から」を告知</a:t>
            </a:r>
          </a:p>
        </p:txBody>
      </p:sp>
      <p:sp>
        <p:nvSpPr>
          <p:cNvPr id="61" name="Rounded Rectangle 60"/>
          <p:cNvSpPr/>
          <p:nvPr/>
        </p:nvSpPr>
        <p:spPr>
          <a:xfrm>
            <a:off x="6623999" y="2624400"/>
            <a:ext cx="2851200" cy="846000"/>
          </a:xfrm>
          <a:prstGeom prst="roundRect">
            <a:avLst>
              <a:gd name="adj" fmla="val 10000"/>
            </a:avLst>
          </a:prstGeom>
          <a:solidFill>
            <a:srgbClr val="EBF1F9"/>
          </a:solidFill>
          <a:ln w="12700">
            <a:solidFill>
              <a:srgbClr val="3467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6623999" y="2624400"/>
            <a:ext cx="64800" cy="846000"/>
          </a:xfrm>
          <a:prstGeom prst="rect">
            <a:avLst/>
          </a:prstGeom>
          <a:solidFill>
            <a:srgbClr val="3467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750000" y="2638800"/>
            <a:ext cx="2653200" cy="187200"/>
          </a:xfrm>
          <a:prstGeom prst="rect">
            <a:avLst/>
          </a:prstGeom>
          <a:noFill/>
        </p:spPr>
        <p:txBody>
          <a:bodyPr wrap="square" lIns="28800" tIns="7200" rIns="28800" bIns="7200" anchor="ctr">
            <a:spAutoFit/>
          </a:bodyPr>
          <a:lstStyle/>
          <a:p>
            <a:pPr algn="l">
              <a:lnSpc>
                <a:spcPct val="118000"/>
              </a:lnSpc>
            </a:pPr>
            <a:r>
              <a:rPr sz="1150" b="1">
                <a:solidFill>
                  <a:srgbClr val="3467B2"/>
                </a:solidFill>
                <a:latin typeface="メイリオ"/>
                <a:ea typeface="メイリオ"/>
                <a:cs typeface="メイリオ"/>
              </a:rPr>
              <a:t>どこで買うか（0〜7日）</a:t>
            </a:r>
          </a:p>
        </p:txBody>
      </p:sp>
      <p:sp>
        <p:nvSpPr>
          <p:cNvPr id="64" name="TextBox 63"/>
          <p:cNvSpPr txBox="1"/>
          <p:nvPr/>
        </p:nvSpPr>
        <p:spPr>
          <a:xfrm>
            <a:off x="6750000" y="2829600"/>
            <a:ext cx="2653200" cy="194400"/>
          </a:xfrm>
          <a:prstGeom prst="rect">
            <a:avLst/>
          </a:prstGeom>
          <a:noFill/>
        </p:spPr>
        <p:txBody>
          <a:bodyPr wrap="square" lIns="28800" tIns="7200" rIns="28800" bIns="7200" anchor="t">
            <a:spAutoFit/>
          </a:bodyPr>
          <a:lstStyle/>
          <a:p>
            <a:pPr algn="l">
              <a:lnSpc>
                <a:spcPct val="118000"/>
              </a:lnSpc>
            </a:pPr>
            <a:r>
              <a:rPr sz="1000" b="0">
                <a:solidFill>
                  <a:srgbClr val="333333"/>
                </a:solidFill>
                <a:latin typeface="メイリオ"/>
                <a:ea typeface="メイリオ"/>
                <a:cs typeface="メイリオ"/>
              </a:rPr>
              <a:t>店名×BFで比較している最中</a:t>
            </a:r>
          </a:p>
        </p:txBody>
      </p:sp>
      <p:sp>
        <p:nvSpPr>
          <p:cNvPr id="65" name="TextBox 64"/>
          <p:cNvSpPr txBox="1"/>
          <p:nvPr/>
        </p:nvSpPr>
        <p:spPr>
          <a:xfrm>
            <a:off x="6750000" y="3031200"/>
            <a:ext cx="2653200" cy="413999"/>
          </a:xfrm>
          <a:prstGeom prst="rect">
            <a:avLst/>
          </a:prstGeom>
          <a:noFill/>
        </p:spPr>
        <p:txBody>
          <a:bodyPr wrap="square" lIns="28800" tIns="7200" rIns="28800" bIns="7200" anchor="t">
            <a:spAutoFit/>
          </a:bodyPr>
          <a:lstStyle/>
          <a:p>
            <a:pPr algn="l">
              <a:lnSpc>
                <a:spcPct val="118000"/>
              </a:lnSpc>
            </a:pPr>
            <a:r>
              <a:rPr sz="1050" b="1">
                <a:solidFill>
                  <a:srgbClr val="3467B2"/>
                </a:solidFill>
                <a:latin typeface="メイリオ"/>
                <a:ea typeface="メイリオ"/>
                <a:cs typeface="メイリオ"/>
              </a:rPr>
              <a:t>→ カゴ落ちが最も出る7日。1時間後にリマインド</a:t>
            </a:r>
          </a:p>
        </p:txBody>
      </p:sp>
      <p:sp>
        <p:nvSpPr>
          <p:cNvPr id="66" name="Rounded Rectangle 65"/>
          <p:cNvSpPr/>
          <p:nvPr/>
        </p:nvSpPr>
        <p:spPr>
          <a:xfrm>
            <a:off x="6623999" y="3520800"/>
            <a:ext cx="2851200" cy="846000"/>
          </a:xfrm>
          <a:prstGeom prst="roundRect">
            <a:avLst>
              <a:gd name="adj" fmla="val 10000"/>
            </a:avLst>
          </a:prstGeom>
          <a:solidFill>
            <a:srgbClr val="E6F4F2"/>
          </a:solidFill>
          <a:ln w="12700">
            <a:solidFill>
              <a:srgbClr val="0089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623999" y="3520800"/>
            <a:ext cx="64800" cy="8460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750000" y="3535200"/>
            <a:ext cx="2653200" cy="187200"/>
          </a:xfrm>
          <a:prstGeom prst="rect">
            <a:avLst/>
          </a:prstGeom>
          <a:noFill/>
        </p:spPr>
        <p:txBody>
          <a:bodyPr wrap="square" lIns="28800" tIns="7200" rIns="28800" bIns="7200" anchor="ctr">
            <a:spAutoFit/>
          </a:bodyPr>
          <a:lstStyle/>
          <a:p>
            <a:pPr algn="l">
              <a:lnSpc>
                <a:spcPct val="118000"/>
              </a:lnSpc>
            </a:pPr>
            <a:r>
              <a:rPr sz="1150" b="1">
                <a:solidFill>
                  <a:srgbClr val="00897B"/>
                </a:solidFill>
                <a:latin typeface="メイリオ"/>
                <a:ea typeface="メイリオ"/>
                <a:cs typeface="メイリオ"/>
              </a:rPr>
              <a:t>次の商戦へ（15日〜）</a:t>
            </a:r>
          </a:p>
        </p:txBody>
      </p:sp>
      <p:sp>
        <p:nvSpPr>
          <p:cNvPr id="69" name="TextBox 68"/>
          <p:cNvSpPr txBox="1"/>
          <p:nvPr/>
        </p:nvSpPr>
        <p:spPr>
          <a:xfrm>
            <a:off x="6750000" y="3726000"/>
            <a:ext cx="2653200" cy="194400"/>
          </a:xfrm>
          <a:prstGeom prst="rect">
            <a:avLst/>
          </a:prstGeom>
          <a:noFill/>
        </p:spPr>
        <p:txBody>
          <a:bodyPr wrap="square" lIns="28800" tIns="7200" rIns="28800" bIns="7200" anchor="t">
            <a:spAutoFit/>
          </a:bodyPr>
          <a:lstStyle/>
          <a:p>
            <a:pPr algn="l">
              <a:lnSpc>
                <a:spcPct val="118000"/>
              </a:lnSpc>
            </a:pPr>
            <a:r>
              <a:rPr sz="1000" b="0">
                <a:solidFill>
                  <a:srgbClr val="333333"/>
                </a:solidFill>
                <a:latin typeface="メイリオ"/>
                <a:ea typeface="メイリオ"/>
                <a:cs typeface="メイリオ"/>
              </a:rPr>
              <a:t>福袋・初売りをもう調べ始めている</a:t>
            </a:r>
          </a:p>
        </p:txBody>
      </p:sp>
      <p:sp>
        <p:nvSpPr>
          <p:cNvPr id="70" name="TextBox 69"/>
          <p:cNvSpPr txBox="1"/>
          <p:nvPr/>
        </p:nvSpPr>
        <p:spPr>
          <a:xfrm>
            <a:off x="6750000" y="3927600"/>
            <a:ext cx="2653200" cy="413999"/>
          </a:xfrm>
          <a:prstGeom prst="rect">
            <a:avLst/>
          </a:prstGeom>
          <a:noFill/>
        </p:spPr>
        <p:txBody>
          <a:bodyPr wrap="square" lIns="28800" tIns="7200" rIns="28800" bIns="7200" anchor="t">
            <a:spAutoFit/>
          </a:bodyPr>
          <a:lstStyle/>
          <a:p>
            <a:pPr algn="l">
              <a:lnSpc>
                <a:spcPct val="118000"/>
              </a:lnSpc>
            </a:pPr>
            <a:r>
              <a:rPr sz="1050" b="1">
                <a:solidFill>
                  <a:srgbClr val="00897B"/>
                </a:solidFill>
                <a:latin typeface="メイリオ"/>
                <a:ea typeface="メイリオ"/>
                <a:cs typeface="メイリオ"/>
              </a:rPr>
              <a:t>→ 12月の企画を先に案内。未定なら「最大◯％OFF」まで</a:t>
            </a:r>
          </a:p>
        </p:txBody>
      </p:sp>
      <p:sp>
        <p:nvSpPr>
          <p:cNvPr id="71" name="Rounded Rectangle 70"/>
          <p:cNvSpPr/>
          <p:nvPr/>
        </p:nvSpPr>
        <p:spPr>
          <a:xfrm>
            <a:off x="6623999" y="4417200"/>
            <a:ext cx="2851200" cy="846000"/>
          </a:xfrm>
          <a:prstGeom prst="roundRect">
            <a:avLst>
              <a:gd name="adj" fmla="val 10000"/>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6623999" y="4417200"/>
            <a:ext cx="64800" cy="846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750000" y="4431600"/>
            <a:ext cx="2653200" cy="187200"/>
          </a:xfrm>
          <a:prstGeom prst="rect">
            <a:avLst/>
          </a:prstGeom>
          <a:noFill/>
        </p:spPr>
        <p:txBody>
          <a:bodyPr wrap="square" lIns="28800" tIns="7200" rIns="28800" bIns="7200" anchor="ctr">
            <a:spAutoFit/>
          </a:bodyPr>
          <a:lstStyle/>
          <a:p>
            <a:pPr algn="l">
              <a:lnSpc>
                <a:spcPct val="118000"/>
              </a:lnSpc>
            </a:pPr>
            <a:r>
              <a:rPr sz="1150" b="1">
                <a:solidFill>
                  <a:srgbClr val="C00000"/>
                </a:solidFill>
                <a:latin typeface="メイリオ"/>
                <a:ea typeface="メイリオ"/>
                <a:cs typeface="メイリオ"/>
              </a:rPr>
              <a:t>セール全般へ（15日〜）</a:t>
            </a:r>
          </a:p>
        </p:txBody>
      </p:sp>
      <p:sp>
        <p:nvSpPr>
          <p:cNvPr id="74" name="TextBox 73"/>
          <p:cNvSpPr txBox="1"/>
          <p:nvPr/>
        </p:nvSpPr>
        <p:spPr>
          <a:xfrm>
            <a:off x="6750000" y="4622400"/>
            <a:ext cx="2653200" cy="194400"/>
          </a:xfrm>
          <a:prstGeom prst="rect">
            <a:avLst/>
          </a:prstGeom>
          <a:noFill/>
        </p:spPr>
        <p:txBody>
          <a:bodyPr wrap="square" lIns="28800" tIns="7200" rIns="28800" bIns="7200" anchor="t">
            <a:spAutoFit/>
          </a:bodyPr>
          <a:lstStyle/>
          <a:p>
            <a:pPr algn="l">
              <a:lnSpc>
                <a:spcPct val="118000"/>
              </a:lnSpc>
            </a:pPr>
            <a:r>
              <a:rPr sz="1000" b="0">
                <a:solidFill>
                  <a:srgbClr val="333333"/>
                </a:solidFill>
                <a:latin typeface="メイリオ"/>
                <a:ea typeface="メイリオ"/>
                <a:cs typeface="メイリオ"/>
              </a:rPr>
              <a:t>他社のセールにも反応する層と分かる</a:t>
            </a:r>
          </a:p>
        </p:txBody>
      </p:sp>
      <p:sp>
        <p:nvSpPr>
          <p:cNvPr id="75" name="TextBox 74"/>
          <p:cNvSpPr txBox="1"/>
          <p:nvPr/>
        </p:nvSpPr>
        <p:spPr>
          <a:xfrm>
            <a:off x="6750000" y="4823999"/>
            <a:ext cx="2653200" cy="413999"/>
          </a:xfrm>
          <a:prstGeom prst="rect">
            <a:avLst/>
          </a:prstGeom>
          <a:noFill/>
        </p:spPr>
        <p:txBody>
          <a:bodyPr wrap="square" lIns="28800" tIns="7200" rIns="28800" bIns="7200" anchor="t">
            <a:spAutoFit/>
          </a:bodyPr>
          <a:lstStyle/>
          <a:p>
            <a:pPr algn="l">
              <a:lnSpc>
                <a:spcPct val="118000"/>
              </a:lnSpc>
            </a:pPr>
            <a:r>
              <a:rPr sz="1050" b="1">
                <a:solidFill>
                  <a:srgbClr val="C00000"/>
                </a:solidFill>
                <a:latin typeface="メイリオ"/>
                <a:ea typeface="メイリオ"/>
                <a:cs typeface="メイリオ"/>
              </a:rPr>
              <a:t>→「セール反応」タグで次のセールだけに配信</a:t>
            </a:r>
          </a:p>
        </p:txBody>
      </p:sp>
      <p:sp>
        <p:nvSpPr>
          <p:cNvPr id="76" name="Rectangle 75"/>
          <p:cNvSpPr/>
          <p:nvPr/>
        </p:nvSpPr>
        <p:spPr>
          <a:xfrm>
            <a:off x="432000" y="5598000"/>
            <a:ext cx="9043200" cy="37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32000" y="5598000"/>
            <a:ext cx="9043200" cy="378000"/>
          </a:xfrm>
          <a:prstGeom prst="rect">
            <a:avLst/>
          </a:prstGeom>
          <a:noFill/>
        </p:spPr>
        <p:txBody>
          <a:bodyPr wrap="square" lIns="28800" tIns="7200" rIns="28800" bIns="7200" anchor="ctr">
            <a:spAutoFit/>
          </a:bodyPr>
          <a:lstStyle/>
          <a:p>
            <a:pPr algn="ctr">
              <a:lnSpc>
                <a:spcPct val="118000"/>
              </a:lnSpc>
            </a:pPr>
            <a:r>
              <a:rPr sz="1400" b="1">
                <a:solidFill>
                  <a:srgbClr val="FFFFFF"/>
                </a:solidFill>
                <a:latin typeface="メイリオ"/>
                <a:ea typeface="メイリオ"/>
                <a:cs typeface="メイリオ"/>
              </a:rPr>
              <a:t>「前」に検索がない＝広告では先回りできない。日付は自分から告知し、買った人を次の山へ運ぶ</a:t>
            </a:r>
          </a:p>
        </p:txBody>
      </p:sp>
      <p:sp>
        <p:nvSpPr>
          <p:cNvPr id="78" name="TextBox 77"/>
          <p:cNvSpPr txBox="1"/>
          <p:nvPr/>
        </p:nvSpPr>
        <p:spPr>
          <a:xfrm>
            <a:off x="432000" y="6246000"/>
            <a:ext cx="9043200" cy="324000"/>
          </a:xfrm>
          <a:prstGeom prst="rect">
            <a:avLst/>
          </a:prstGeom>
          <a:noFill/>
        </p:spPr>
        <p:txBody>
          <a:bodyPr wrap="square" lIns="28800" tIns="7200" rIns="28800" bIns="7200" anchor="ctr">
            <a:spAutoFit/>
          </a:bodyPr>
          <a:lstStyle/>
          <a:p>
            <a:pPr algn="l">
              <a:lnSpc>
                <a:spcPct val="118000"/>
              </a:lnSpc>
            </a:pPr>
            <a:r>
              <a:rPr sz="800" b="0">
                <a:solidFill>
                  <a:srgbClr val="888888"/>
                </a:solidFill>
                <a:latin typeface="メイリオ"/>
                <a:ea typeface="メイリオ"/>
                <a:cs typeface="メイリオ"/>
              </a:rPr>
              <a:t>出典｜LINEヤフー 媒体データ（検索の前後行動）。弊社EC配信実績資料より（2022年の商戦期に取得）。縦軸＝UU数（対数）、横軸＝検索日からの日数。色分けは弊社</a:t>
            </a:r>
          </a:p>
        </p:txBody>
      </p:sp>
      <p:cxnSp>
        <p:nvCxnSpPr>
          <p:cNvPr id="2" name="Connector 3">
            <a:extLst>
              <a:ext uri="{FF2B5EF4-FFF2-40B4-BE49-F238E27FC236}">
                <a16:creationId xmlns:a16="http://schemas.microsoft.com/office/drawing/2014/main" id="{F6DB8235-1B3C-1CC2-A4F1-EA39848BDC7C}"/>
              </a:ext>
            </a:extLst>
          </p:cNvPr>
          <p:cNvCxnSpPr/>
          <p:nvPr/>
        </p:nvCxnSpPr>
        <p:spPr>
          <a:xfrm>
            <a:off x="0" y="1302515"/>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8123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E14AE26-F8C1-7865-A740-4BAA994EBC3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C793F7A-4100-45A7-A3E8-6393EB275D3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7C5AF52-0BA5-9D3C-0D00-E524B190A51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歩留まり｜F2転換率の改善</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tIns="18000" rIns="50400" bIns="18000" anchor="t">
            <a:spAutoFit/>
          </a:bodyPr>
          <a:lstStyle/>
          <a:p>
            <a:pPr algn="l">
              <a:lnSpc>
                <a:spcPct val="135000"/>
              </a:lnSpc>
            </a:pPr>
            <a:r>
              <a:rPr sz="1400">
                <a:solidFill>
                  <a:srgbClr val="333333"/>
                </a:solidFill>
                <a:latin typeface="メイリオ"/>
                <a:ea typeface="メイリオ"/>
                <a:cs typeface="メイリオ"/>
              </a:rPr>
              <a:t>初回購入者の6〜7割は2回目を買わない。ここを動かすのがEC最大のレバー。</a:t>
            </a:r>
          </a:p>
          <a:p>
            <a:pPr algn="l">
              <a:lnSpc>
                <a:spcPct val="135000"/>
              </a:lnSpc>
            </a:pPr>
            <a:r>
              <a:rPr sz="1400">
                <a:solidFill>
                  <a:srgbClr val="333333"/>
                </a:solidFill>
                <a:latin typeface="メイリオ"/>
                <a:ea typeface="メイリオ"/>
                <a:cs typeface="メイリオ"/>
              </a:rPr>
              <a:t>ECの主戦場は「初回購入」ではなく「F2（2回目購入）」にある。</a:t>
            </a:r>
          </a:p>
        </p:txBody>
      </p:sp>
      <p:cxnSp>
        <p:nvCxnSpPr>
          <p:cNvPr id="47" name="Connector 46"/>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432000" y="1548000"/>
            <a:ext cx="9043200" cy="1116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2000" y="1710000"/>
            <a:ext cx="8683200" cy="468000"/>
          </a:xfrm>
          <a:prstGeom prst="rect">
            <a:avLst/>
          </a:prstGeom>
          <a:noFill/>
        </p:spPr>
        <p:txBody>
          <a:bodyPr wrap="square" lIns="50400" tIns="18000" rIns="50400" bIns="18000" anchor="ctr">
            <a:spAutoFit/>
          </a:bodyPr>
          <a:lstStyle/>
          <a:p>
            <a:pPr algn="ctr"/>
            <a:r>
              <a:rPr sz="1800" b="1">
                <a:solidFill>
                  <a:srgbClr val="ED7D31"/>
                </a:solidFill>
                <a:latin typeface="メイリオ"/>
                <a:ea typeface="メイリオ"/>
                <a:cs typeface="メイリオ"/>
              </a:rPr>
              <a:t>F2転換率　</a:t>
            </a:r>
            <a:r>
              <a:rPr sz="3400" b="1">
                <a:solidFill>
                  <a:srgbClr val="ED7D31"/>
                </a:solidFill>
                <a:latin typeface="メイリオ"/>
                <a:ea typeface="メイリオ"/>
                <a:cs typeface="メイリオ"/>
              </a:rPr>
              <a:t>30〜40</a:t>
            </a:r>
            <a:r>
              <a:rPr sz="2000" b="1">
                <a:solidFill>
                  <a:srgbClr val="ED7D31"/>
                </a:solidFill>
                <a:latin typeface="メイリオ"/>
                <a:ea typeface="メイリオ"/>
                <a:cs typeface="メイリオ"/>
              </a:rPr>
              <a:t> %</a:t>
            </a:r>
          </a:p>
        </p:txBody>
      </p:sp>
      <p:sp>
        <p:nvSpPr>
          <p:cNvPr id="50" name="TextBox 49"/>
          <p:cNvSpPr txBox="1"/>
          <p:nvPr/>
        </p:nvSpPr>
        <p:spPr>
          <a:xfrm>
            <a:off x="612000" y="2250000"/>
            <a:ext cx="8683200" cy="324000"/>
          </a:xfrm>
          <a:prstGeom prst="rect">
            <a:avLst/>
          </a:prstGeom>
          <a:noFill/>
        </p:spPr>
        <p:txBody>
          <a:bodyPr wrap="square" lIns="50400" tIns="18000" rIns="50400" bIns="18000" anchor="ctr">
            <a:spAutoFit/>
          </a:bodyPr>
          <a:lstStyle/>
          <a:p>
            <a:pPr algn="ctr"/>
            <a:r>
              <a:rPr sz="1600" b="1">
                <a:solidFill>
                  <a:srgbClr val="002060"/>
                </a:solidFill>
                <a:latin typeface="メイリオ"/>
                <a:ea typeface="メイリオ"/>
                <a:cs typeface="メイリオ"/>
              </a:rPr>
              <a:t>＝ 初回購入者の6〜7割は、2回目を買わない</a:t>
            </a:r>
          </a:p>
        </p:txBody>
      </p:sp>
      <p:sp>
        <p:nvSpPr>
          <p:cNvPr id="51" name="TextBox 50"/>
          <p:cNvSpPr txBox="1"/>
          <p:nvPr/>
        </p:nvSpPr>
        <p:spPr>
          <a:xfrm>
            <a:off x="432000" y="2826000"/>
            <a:ext cx="9043200" cy="288000"/>
          </a:xfrm>
          <a:prstGeom prst="rect">
            <a:avLst/>
          </a:prstGeom>
          <a:noFill/>
        </p:spPr>
        <p:txBody>
          <a:bodyPr wrap="square" lIns="50400" tIns="18000" rIns="50400" bIns="18000" anchor="ctr">
            <a:spAutoFit/>
          </a:bodyPr>
          <a:lstStyle/>
          <a:p>
            <a:pPr algn="l"/>
            <a:r>
              <a:rPr sz="1400" b="1">
                <a:solidFill>
                  <a:srgbClr val="002060"/>
                </a:solidFill>
                <a:latin typeface="メイリオ"/>
                <a:ea typeface="メイリオ"/>
                <a:cs typeface="メイリオ"/>
              </a:rPr>
              <a:t>── F2を動かす3つの施策</a:t>
            </a:r>
          </a:p>
        </p:txBody>
      </p:sp>
      <p:sp>
        <p:nvSpPr>
          <p:cNvPr id="52" name="Rounded Rectangle 51"/>
          <p:cNvSpPr/>
          <p:nvPr/>
        </p:nvSpPr>
        <p:spPr>
          <a:xfrm>
            <a:off x="432000" y="3150000"/>
            <a:ext cx="2942400" cy="1908000"/>
          </a:xfrm>
          <a:prstGeom prst="roundRect">
            <a:avLst/>
          </a:prstGeom>
          <a:solidFill>
            <a:srgbClr val="FFFFFF"/>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22000" y="3258000"/>
            <a:ext cx="2762400" cy="324000"/>
          </a:xfrm>
          <a:prstGeom prst="rect">
            <a:avLst/>
          </a:prstGeom>
          <a:noFill/>
        </p:spPr>
        <p:txBody>
          <a:bodyPr wrap="square" lIns="50400" tIns="18000" rIns="50400" bIns="18000" anchor="ctr">
            <a:spAutoFit/>
          </a:bodyPr>
          <a:lstStyle/>
          <a:p>
            <a:pPr algn="ctr">
              <a:lnSpc>
                <a:spcPct val="120000"/>
              </a:lnSpc>
            </a:pPr>
            <a:r>
              <a:rPr sz="1500" b="1">
                <a:solidFill>
                  <a:srgbClr val="ED7D31"/>
                </a:solidFill>
                <a:latin typeface="メイリオ"/>
                <a:ea typeface="メイリオ"/>
                <a:cs typeface="メイリオ"/>
              </a:rPr>
              <a:t>消費サイクル連動の配信</a:t>
            </a:r>
          </a:p>
        </p:txBody>
      </p:sp>
      <p:sp>
        <p:nvSpPr>
          <p:cNvPr id="54" name="TextBox 53"/>
          <p:cNvSpPr txBox="1"/>
          <p:nvPr/>
        </p:nvSpPr>
        <p:spPr>
          <a:xfrm>
            <a:off x="540000" y="3671999"/>
            <a:ext cx="2726400" cy="720000"/>
          </a:xfrm>
          <a:prstGeom prst="rect">
            <a:avLst/>
          </a:prstGeom>
          <a:noFill/>
        </p:spPr>
        <p:txBody>
          <a:bodyPr wrap="square" lIns="50400" tIns="18000" rIns="50400" bIns="18000" anchor="t">
            <a:spAutoFit/>
          </a:bodyPr>
          <a:lstStyle/>
          <a:p>
            <a:pPr algn="ctr">
              <a:lnSpc>
                <a:spcPct val="135000"/>
              </a:lnSpc>
            </a:pPr>
            <a:r>
              <a:rPr sz="1300">
                <a:solidFill>
                  <a:srgbClr val="333333"/>
                </a:solidFill>
                <a:latin typeface="メイリオ"/>
                <a:ea typeface="メイリオ"/>
                <a:cs typeface="メイリオ"/>
              </a:rPr>
              <a:t>「そろそろ無くなる頃」を</a:t>
            </a:r>
          </a:p>
          <a:p>
            <a:pPr algn="ctr">
              <a:lnSpc>
                <a:spcPct val="135000"/>
              </a:lnSpc>
            </a:pPr>
            <a:r>
              <a:rPr sz="1300">
                <a:solidFill>
                  <a:srgbClr val="333333"/>
                </a:solidFill>
                <a:latin typeface="メイリオ"/>
                <a:ea typeface="メイリオ"/>
                <a:cs typeface="メイリオ"/>
              </a:rPr>
              <a:t>内容量 ÷ 1日使用量 で逆算して配信</a:t>
            </a:r>
          </a:p>
        </p:txBody>
      </p:sp>
      <p:sp>
        <p:nvSpPr>
          <p:cNvPr id="55" name="Rounded Rectangle 54"/>
          <p:cNvSpPr/>
          <p:nvPr/>
        </p:nvSpPr>
        <p:spPr>
          <a:xfrm>
            <a:off x="540000" y="4482000"/>
            <a:ext cx="2726400" cy="468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94000" y="4553999"/>
            <a:ext cx="2618400" cy="342000"/>
          </a:xfrm>
          <a:prstGeom prst="rect">
            <a:avLst/>
          </a:prstGeom>
          <a:noFill/>
        </p:spPr>
        <p:txBody>
          <a:bodyPr wrap="square" lIns="50400" tIns="18000" rIns="50400" bIns="18000" anchor="ctr">
            <a:spAutoFit/>
          </a:bodyPr>
          <a:lstStyle/>
          <a:p>
            <a:pPr algn="ctr">
              <a:lnSpc>
                <a:spcPct val="125000"/>
              </a:lnSpc>
            </a:pPr>
            <a:r>
              <a:rPr sz="1100">
                <a:solidFill>
                  <a:srgbClr val="333333"/>
                </a:solidFill>
                <a:latin typeface="メイリオ"/>
                <a:ea typeface="メイリオ"/>
                <a:cs typeface="メイリオ"/>
              </a:rPr>
              <a:t>最大の山。日数を固定にしない</a:t>
            </a:r>
          </a:p>
        </p:txBody>
      </p:sp>
      <p:sp>
        <p:nvSpPr>
          <p:cNvPr id="57" name="Rounded Rectangle 56"/>
          <p:cNvSpPr/>
          <p:nvPr/>
        </p:nvSpPr>
        <p:spPr>
          <a:xfrm>
            <a:off x="3482400" y="3150000"/>
            <a:ext cx="2942400" cy="1908000"/>
          </a:xfrm>
          <a:prstGeom prst="round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572400" y="3258000"/>
            <a:ext cx="2762400" cy="324000"/>
          </a:xfrm>
          <a:prstGeom prst="rect">
            <a:avLst/>
          </a:prstGeom>
          <a:noFill/>
        </p:spPr>
        <p:txBody>
          <a:bodyPr wrap="square" lIns="50400" tIns="18000" rIns="50400" bIns="18000" anchor="ctr">
            <a:spAutoFit/>
          </a:bodyPr>
          <a:lstStyle/>
          <a:p>
            <a:pPr algn="ctr">
              <a:lnSpc>
                <a:spcPct val="120000"/>
              </a:lnSpc>
            </a:pPr>
            <a:r>
              <a:rPr sz="1500" b="1">
                <a:solidFill>
                  <a:srgbClr val="1F285A"/>
                </a:solidFill>
                <a:latin typeface="メイリオ"/>
                <a:ea typeface="メイリオ"/>
                <a:cs typeface="メイリオ"/>
              </a:rPr>
              <a:t>定期引上</a:t>
            </a:r>
          </a:p>
        </p:txBody>
      </p:sp>
      <p:sp>
        <p:nvSpPr>
          <p:cNvPr id="59" name="TextBox 58"/>
          <p:cNvSpPr txBox="1"/>
          <p:nvPr/>
        </p:nvSpPr>
        <p:spPr>
          <a:xfrm>
            <a:off x="3590400" y="3671999"/>
            <a:ext cx="2726400" cy="720000"/>
          </a:xfrm>
          <a:prstGeom prst="rect">
            <a:avLst/>
          </a:prstGeom>
          <a:noFill/>
        </p:spPr>
        <p:txBody>
          <a:bodyPr wrap="square" lIns="50400" tIns="18000" rIns="50400" bIns="18000" anchor="t">
            <a:spAutoFit/>
          </a:bodyPr>
          <a:lstStyle/>
          <a:p>
            <a:pPr algn="ctr">
              <a:lnSpc>
                <a:spcPct val="135000"/>
              </a:lnSpc>
            </a:pPr>
            <a:r>
              <a:rPr sz="1300">
                <a:solidFill>
                  <a:srgbClr val="333333"/>
                </a:solidFill>
                <a:latin typeface="メイリオ"/>
                <a:ea typeface="メイリオ"/>
                <a:cs typeface="メイリオ"/>
              </a:rPr>
              <a:t>初回お試し → 定期購入への</a:t>
            </a:r>
          </a:p>
          <a:p>
            <a:pPr algn="ctr">
              <a:lnSpc>
                <a:spcPct val="135000"/>
              </a:lnSpc>
            </a:pPr>
            <a:r>
              <a:rPr sz="1300">
                <a:solidFill>
                  <a:srgbClr val="333333"/>
                </a:solidFill>
                <a:latin typeface="メイリオ"/>
                <a:ea typeface="メイリオ"/>
                <a:cs typeface="メイリオ"/>
              </a:rPr>
              <a:t>引き上げ導線を設計</a:t>
            </a:r>
          </a:p>
        </p:txBody>
      </p:sp>
      <p:sp>
        <p:nvSpPr>
          <p:cNvPr id="60" name="Rounded Rectangle 59"/>
          <p:cNvSpPr/>
          <p:nvPr/>
        </p:nvSpPr>
        <p:spPr>
          <a:xfrm>
            <a:off x="3590400" y="4482000"/>
            <a:ext cx="2726400" cy="468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644400" y="4553999"/>
            <a:ext cx="2618400" cy="342000"/>
          </a:xfrm>
          <a:prstGeom prst="rect">
            <a:avLst/>
          </a:prstGeom>
          <a:noFill/>
        </p:spPr>
        <p:txBody>
          <a:bodyPr wrap="square" lIns="50400" tIns="18000" rIns="50400" bIns="18000" anchor="ctr">
            <a:spAutoFit/>
          </a:bodyPr>
          <a:lstStyle/>
          <a:p>
            <a:pPr algn="ctr">
              <a:lnSpc>
                <a:spcPct val="125000"/>
              </a:lnSpc>
            </a:pPr>
            <a:r>
              <a:rPr sz="1100">
                <a:solidFill>
                  <a:srgbClr val="333333"/>
                </a:solidFill>
                <a:latin typeface="メイリオ"/>
                <a:ea typeface="メイリオ"/>
                <a:cs typeface="メイリオ"/>
              </a:rPr>
              <a:t>業界水準の引上率は約20%</a:t>
            </a:r>
          </a:p>
        </p:txBody>
      </p:sp>
      <p:sp>
        <p:nvSpPr>
          <p:cNvPr id="62" name="Rounded Rectangle 61"/>
          <p:cNvSpPr/>
          <p:nvPr/>
        </p:nvSpPr>
        <p:spPr>
          <a:xfrm>
            <a:off x="6532800" y="3150000"/>
            <a:ext cx="2942400" cy="1908000"/>
          </a:xfrm>
          <a:prstGeom prst="roundRect">
            <a:avLst/>
          </a:prstGeom>
          <a:solidFill>
            <a:srgbClr val="FFFFFF"/>
          </a:solidFill>
          <a:ln w="15875">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622800" y="3258000"/>
            <a:ext cx="2762400" cy="324000"/>
          </a:xfrm>
          <a:prstGeom prst="rect">
            <a:avLst/>
          </a:prstGeom>
          <a:noFill/>
        </p:spPr>
        <p:txBody>
          <a:bodyPr wrap="square" lIns="50400" tIns="18000" rIns="50400" bIns="18000" anchor="ctr">
            <a:spAutoFit/>
          </a:bodyPr>
          <a:lstStyle/>
          <a:p>
            <a:pPr algn="ctr">
              <a:lnSpc>
                <a:spcPct val="120000"/>
              </a:lnSpc>
            </a:pPr>
            <a:r>
              <a:rPr sz="1500" b="1">
                <a:solidFill>
                  <a:srgbClr val="888888"/>
                </a:solidFill>
                <a:latin typeface="メイリオ"/>
                <a:ea typeface="メイリオ"/>
                <a:cs typeface="メイリオ"/>
              </a:rPr>
              <a:t>休眠掘り起こし</a:t>
            </a:r>
          </a:p>
        </p:txBody>
      </p:sp>
      <p:sp>
        <p:nvSpPr>
          <p:cNvPr id="64" name="TextBox 63"/>
          <p:cNvSpPr txBox="1"/>
          <p:nvPr/>
        </p:nvSpPr>
        <p:spPr>
          <a:xfrm>
            <a:off x="6640800" y="3671999"/>
            <a:ext cx="2726400" cy="720000"/>
          </a:xfrm>
          <a:prstGeom prst="rect">
            <a:avLst/>
          </a:prstGeom>
          <a:noFill/>
        </p:spPr>
        <p:txBody>
          <a:bodyPr wrap="square" lIns="50400" tIns="18000" rIns="50400" bIns="18000" anchor="t">
            <a:spAutoFit/>
          </a:bodyPr>
          <a:lstStyle/>
          <a:p>
            <a:pPr algn="ctr">
              <a:lnSpc>
                <a:spcPct val="135000"/>
              </a:lnSpc>
            </a:pPr>
            <a:r>
              <a:rPr sz="1300">
                <a:solidFill>
                  <a:srgbClr val="333333"/>
                </a:solidFill>
                <a:latin typeface="メイリオ"/>
                <a:ea typeface="メイリオ"/>
                <a:cs typeface="メイリオ"/>
              </a:rPr>
              <a:t>F2化しなかった層への</a:t>
            </a:r>
          </a:p>
          <a:p>
            <a:pPr algn="ctr">
              <a:lnSpc>
                <a:spcPct val="135000"/>
              </a:lnSpc>
            </a:pPr>
            <a:r>
              <a:rPr sz="1300">
                <a:solidFill>
                  <a:srgbClr val="333333"/>
                </a:solidFill>
                <a:latin typeface="メイリオ"/>
                <a:ea typeface="メイリオ"/>
                <a:cs typeface="メイリオ"/>
              </a:rPr>
              <a:t>再アプローチ・使い方の再提案</a:t>
            </a:r>
          </a:p>
        </p:txBody>
      </p:sp>
      <p:sp>
        <p:nvSpPr>
          <p:cNvPr id="65" name="Rounded Rectangle 64"/>
          <p:cNvSpPr/>
          <p:nvPr/>
        </p:nvSpPr>
        <p:spPr>
          <a:xfrm>
            <a:off x="6640800" y="4482000"/>
            <a:ext cx="2726400" cy="468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694800" y="4553999"/>
            <a:ext cx="2618400" cy="342000"/>
          </a:xfrm>
          <a:prstGeom prst="rect">
            <a:avLst/>
          </a:prstGeom>
          <a:noFill/>
        </p:spPr>
        <p:txBody>
          <a:bodyPr wrap="square" lIns="50400" tIns="18000" rIns="50400" bIns="18000" anchor="ctr">
            <a:spAutoFit/>
          </a:bodyPr>
          <a:lstStyle/>
          <a:p>
            <a:pPr algn="ctr">
              <a:lnSpc>
                <a:spcPct val="125000"/>
              </a:lnSpc>
            </a:pPr>
            <a:r>
              <a:rPr sz="1100">
                <a:solidFill>
                  <a:srgbClr val="333333"/>
                </a:solidFill>
                <a:latin typeface="メイリオ"/>
                <a:ea typeface="メイリオ"/>
                <a:cs typeface="メイリオ"/>
              </a:rPr>
              <a:t>最終購入からの経過日数でセグメント</a:t>
            </a:r>
          </a:p>
        </p:txBody>
      </p:sp>
      <p:sp>
        <p:nvSpPr>
          <p:cNvPr id="67" name="Rounded Rectangle 66"/>
          <p:cNvSpPr/>
          <p:nvPr/>
        </p:nvSpPr>
        <p:spPr>
          <a:xfrm>
            <a:off x="432000" y="5166000"/>
            <a:ext cx="9043200" cy="413999"/>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1600" b="1">
                <a:solidFill>
                  <a:srgbClr val="FFFFFF"/>
                </a:solidFill>
                <a:latin typeface="メイリオ"/>
                <a:ea typeface="メイリオ"/>
                <a:cs typeface="メイリオ"/>
              </a:rPr>
              <a:t>初回で赤字でも、F2と定期で回収する。ECのユニットエコノミクスはここで決まる</a:t>
            </a:r>
          </a:p>
        </p:txBody>
      </p:sp>
      <p:sp>
        <p:nvSpPr>
          <p:cNvPr id="68" name="TextBox 67"/>
          <p:cNvSpPr txBox="1"/>
          <p:nvPr/>
        </p:nvSpPr>
        <p:spPr>
          <a:xfrm>
            <a:off x="432000" y="6246000"/>
            <a:ext cx="9043200" cy="324000"/>
          </a:xfrm>
          <a:prstGeom prst="rect">
            <a:avLst/>
          </a:prstGeom>
          <a:noFill/>
        </p:spPr>
        <p:txBody>
          <a:bodyPr wrap="square" lIns="50400" tIns="18000" rIns="50400" bIns="18000" anchor="t">
            <a:spAutoFit/>
          </a:bodyPr>
          <a:lstStyle/>
          <a:p>
            <a:pPr algn="l">
              <a:lnSpc>
                <a:spcPct val="120000"/>
              </a:lnSpc>
            </a:pPr>
            <a:r>
              <a:rPr sz="800">
                <a:solidFill>
                  <a:srgbClr val="888888"/>
                </a:solidFill>
                <a:latin typeface="メイリオ"/>
                <a:ea typeface="メイリオ"/>
                <a:cs typeface="メイリオ"/>
              </a:rPr>
              <a:t>業界水準｜F2転換率（化粧品）25〜35%／（化粧品・健康食品などの単品通販）30〜40%／定期引上率（初回→定期）約20%</a:t>
            </a:r>
          </a:p>
        </p:txBody>
      </p:sp>
    </p:spTree>
    <p:extLst>
      <p:ext uri="{BB962C8B-B14F-4D97-AF65-F5344CB8AC3E}">
        <p14:creationId xmlns:p14="http://schemas.microsoft.com/office/powerpoint/2010/main" val="4260980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5" name="TextBox 4"/>
          <p:cNvSpPr txBox="1"/>
          <p:nvPr/>
        </p:nvSpPr>
        <p:spPr>
          <a:xfrm>
            <a:off x="432000" y="648000"/>
            <a:ext cx="9036000" cy="684000"/>
          </a:xfrm>
          <a:prstGeom prst="rect">
            <a:avLst/>
          </a:prstGeom>
          <a:noFill/>
        </p:spPr>
        <p:txBody>
          <a:bodyPr wrap="square" lIns="50400" tIns="18000" rIns="50400" bIns="18000" anchor="t">
            <a:spAutoFit/>
          </a:bodyPr>
          <a:lstStyle/>
          <a:p>
            <a:pPr algn="l">
              <a:lnSpc>
                <a:spcPct val="135000"/>
              </a:lnSpc>
            </a:pPr>
            <a:r>
              <a:rPr sz="1400">
                <a:solidFill>
                  <a:srgbClr val="333333"/>
                </a:solidFill>
                <a:latin typeface="メイリオ"/>
                <a:ea typeface="メイリオ"/>
                <a:cs typeface="メイリオ"/>
              </a:rPr>
              <a:t>ここからは「何を、いつ、どう配信するか」の具体。</a:t>
            </a:r>
          </a:p>
          <a:p>
            <a:pPr algn="l">
              <a:lnSpc>
                <a:spcPct val="135000"/>
              </a:lnSpc>
            </a:pPr>
            <a:r>
              <a:rPr sz="1400">
                <a:solidFill>
                  <a:srgbClr val="333333"/>
                </a:solidFill>
                <a:latin typeface="メイリオ"/>
                <a:ea typeface="メイリオ"/>
                <a:cs typeface="メイリオ"/>
              </a:rPr>
              <a:t>主KPIは CPO ＋ F2転換率の2本立て。締めは LTV ÷ CPO。</a:t>
            </a:r>
          </a:p>
        </p:txBody>
      </p:sp>
      <p:sp>
        <p:nvSpPr>
          <p:cNvPr id="6" name="TextBox 5"/>
          <p:cNvSpPr txBox="1"/>
          <p:nvPr/>
        </p:nvSpPr>
        <p:spPr>
          <a:xfrm>
            <a:off x="432000" y="648000"/>
            <a:ext cx="9036000" cy="684000"/>
          </a:xfrm>
          <a:prstGeom prst="rect">
            <a:avLst/>
          </a:prstGeom>
          <a:noFill/>
        </p:spPr>
        <p:txBody>
          <a:bodyPr wrap="square" lIns="50400" tIns="18000" rIns="50400" bIns="18000" anchor="t">
            <a:spAutoFit/>
          </a:bodyPr>
          <a:lstStyle/>
          <a:p>
            <a:pPr algn="l">
              <a:lnSpc>
                <a:spcPct val="135000"/>
              </a:lnSpc>
            </a:pPr>
            <a:r>
              <a:rPr sz="1400">
                <a:solidFill>
                  <a:srgbClr val="333333"/>
                </a:solidFill>
                <a:latin typeface="メイリオ"/>
                <a:ea typeface="メイリオ"/>
                <a:cs typeface="メイリオ"/>
              </a:rPr>
              <a:t>ここからは「何を、いつ、どう配信するか」の具体。</a:t>
            </a:r>
          </a:p>
          <a:p>
            <a:pPr algn="l">
              <a:lnSpc>
                <a:spcPct val="135000"/>
              </a:lnSpc>
            </a:pPr>
            <a:r>
              <a:rPr sz="1400">
                <a:solidFill>
                  <a:srgbClr val="333333"/>
                </a:solidFill>
                <a:latin typeface="メイリオ"/>
                <a:ea typeface="メイリオ"/>
                <a:cs typeface="メイリオ"/>
              </a:rPr>
              <a:t>主KPIは CPO ＋ F2転換率の2本立て。締めは LTV ÷ CPO。</a:t>
            </a:r>
          </a:p>
        </p:txBody>
      </p:sp>
      <p:sp>
        <p:nvSpPr>
          <p:cNvPr id="7" name="Rounded Rectangle 6"/>
          <p:cNvSpPr/>
          <p:nvPr/>
        </p:nvSpPr>
        <p:spPr>
          <a:xfrm>
            <a:off x="432000" y="1548000"/>
            <a:ext cx="9043200" cy="917999"/>
          </a:xfrm>
          <a:prstGeom prst="roundRect">
            <a:avLst/>
          </a:prstGeom>
          <a:solidFill>
            <a:srgbClr val="EEF2F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57999" y="1673999"/>
            <a:ext cx="666000" cy="66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2600" b="1">
                <a:solidFill>
                  <a:srgbClr val="FFFFFF"/>
                </a:solidFill>
                <a:latin typeface="メイリオ"/>
                <a:ea typeface="メイリオ"/>
                <a:cs typeface="メイリオ"/>
              </a:rPr>
              <a:t>6</a:t>
            </a:r>
          </a:p>
        </p:txBody>
      </p:sp>
      <p:sp>
        <p:nvSpPr>
          <p:cNvPr id="9" name="TextBox 8"/>
          <p:cNvSpPr txBox="1"/>
          <p:nvPr/>
        </p:nvSpPr>
        <p:spPr>
          <a:xfrm>
            <a:off x="1350000" y="1692000"/>
            <a:ext cx="2700000" cy="342000"/>
          </a:xfrm>
          <a:prstGeom prst="rect">
            <a:avLst/>
          </a:prstGeom>
          <a:noFill/>
        </p:spPr>
        <p:txBody>
          <a:bodyPr wrap="square" lIns="50400" tIns="18000" rIns="50400" bIns="18000" anchor="ctr">
            <a:spAutoFit/>
          </a:bodyPr>
          <a:lstStyle/>
          <a:p>
            <a:pPr algn="l"/>
            <a:r>
              <a:rPr sz="1800" b="1">
                <a:solidFill>
                  <a:srgbClr val="002060"/>
                </a:solidFill>
                <a:latin typeface="メイリオ"/>
                <a:ea typeface="メイリオ"/>
                <a:cs typeface="メイリオ"/>
              </a:rPr>
              <a:t>配信設計</a:t>
            </a:r>
          </a:p>
        </p:txBody>
      </p:sp>
      <p:sp>
        <p:nvSpPr>
          <p:cNvPr id="10" name="TextBox 9"/>
          <p:cNvSpPr txBox="1"/>
          <p:nvPr/>
        </p:nvSpPr>
        <p:spPr>
          <a:xfrm>
            <a:off x="1350000" y="2034000"/>
            <a:ext cx="2700000" cy="288000"/>
          </a:xfrm>
          <a:prstGeom prst="rect">
            <a:avLst/>
          </a:prstGeom>
          <a:noFill/>
        </p:spPr>
        <p:txBody>
          <a:bodyPr wrap="square" lIns="50400" tIns="18000" rIns="50400" bIns="18000" anchor="ctr">
            <a:spAutoFit/>
          </a:bodyPr>
          <a:lstStyle/>
          <a:p>
            <a:pPr algn="l"/>
            <a:r>
              <a:rPr sz="1300">
                <a:solidFill>
                  <a:srgbClr val="888888"/>
                </a:solidFill>
                <a:latin typeface="メイリオ"/>
                <a:ea typeface="メイリオ"/>
                <a:cs typeface="メイリオ"/>
              </a:rPr>
              <a:t>S24-30</a:t>
            </a:r>
          </a:p>
        </p:txBody>
      </p:sp>
      <p:sp>
        <p:nvSpPr>
          <p:cNvPr id="11" name="TextBox 10"/>
          <p:cNvSpPr txBox="1"/>
          <p:nvPr/>
        </p:nvSpPr>
        <p:spPr>
          <a:xfrm>
            <a:off x="4212000" y="1745999"/>
            <a:ext cx="5011200" cy="521999"/>
          </a:xfrm>
          <a:prstGeom prst="rect">
            <a:avLst/>
          </a:prstGeom>
          <a:noFill/>
        </p:spPr>
        <p:txBody>
          <a:bodyPr wrap="square" lIns="50400" tIns="18000" rIns="50400" bIns="18000" anchor="ctr">
            <a:spAutoFit/>
          </a:bodyPr>
          <a:lstStyle/>
          <a:p>
            <a:pPr algn="l">
              <a:lnSpc>
                <a:spcPct val="135000"/>
              </a:lnSpc>
            </a:pPr>
            <a:r>
              <a:rPr sz="1400">
                <a:solidFill>
                  <a:srgbClr val="333333"/>
                </a:solidFill>
                <a:latin typeface="メイリオ"/>
                <a:ea typeface="メイリオ"/>
                <a:cs typeface="メイリオ"/>
              </a:rPr>
              <a:t>改善モデル①〜④・画面イメージ・通知メッセージ</a:t>
            </a:r>
          </a:p>
        </p:txBody>
      </p:sp>
      <p:sp>
        <p:nvSpPr>
          <p:cNvPr id="12" name="Rounded Rectangle 11"/>
          <p:cNvSpPr/>
          <p:nvPr/>
        </p:nvSpPr>
        <p:spPr>
          <a:xfrm>
            <a:off x="432000" y="2591999"/>
            <a:ext cx="9043200" cy="917999"/>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57999" y="2717999"/>
            <a:ext cx="666000" cy="66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2600" b="1">
                <a:solidFill>
                  <a:srgbClr val="FFFFFF"/>
                </a:solidFill>
                <a:latin typeface="メイリオ"/>
                <a:ea typeface="メイリオ"/>
                <a:cs typeface="メイリオ"/>
              </a:rPr>
              <a:t>7</a:t>
            </a:r>
          </a:p>
        </p:txBody>
      </p:sp>
      <p:sp>
        <p:nvSpPr>
          <p:cNvPr id="14" name="TextBox 13"/>
          <p:cNvSpPr txBox="1"/>
          <p:nvPr/>
        </p:nvSpPr>
        <p:spPr>
          <a:xfrm>
            <a:off x="1350000" y="2736000"/>
            <a:ext cx="2700000" cy="342000"/>
          </a:xfrm>
          <a:prstGeom prst="rect">
            <a:avLst/>
          </a:prstGeom>
          <a:noFill/>
        </p:spPr>
        <p:txBody>
          <a:bodyPr wrap="square" lIns="50400" tIns="18000" rIns="50400" bIns="18000" anchor="ctr">
            <a:spAutoFit/>
          </a:bodyPr>
          <a:lstStyle/>
          <a:p>
            <a:pPr algn="l"/>
            <a:r>
              <a:rPr sz="1800" b="1">
                <a:solidFill>
                  <a:srgbClr val="002060"/>
                </a:solidFill>
                <a:latin typeface="メイリオ"/>
                <a:ea typeface="メイリオ"/>
                <a:cs typeface="メイリオ"/>
              </a:rPr>
              <a:t>具体施策</a:t>
            </a:r>
          </a:p>
        </p:txBody>
      </p:sp>
      <p:sp>
        <p:nvSpPr>
          <p:cNvPr id="15" name="TextBox 14"/>
          <p:cNvSpPr txBox="1"/>
          <p:nvPr/>
        </p:nvSpPr>
        <p:spPr>
          <a:xfrm>
            <a:off x="1350000" y="3077999"/>
            <a:ext cx="2700000" cy="288000"/>
          </a:xfrm>
          <a:prstGeom prst="rect">
            <a:avLst/>
          </a:prstGeom>
          <a:noFill/>
        </p:spPr>
        <p:txBody>
          <a:bodyPr wrap="square" lIns="50400" tIns="18000" rIns="50400" bIns="18000" anchor="ctr">
            <a:spAutoFit/>
          </a:bodyPr>
          <a:lstStyle/>
          <a:p>
            <a:pPr algn="l"/>
            <a:r>
              <a:rPr sz="1300">
                <a:solidFill>
                  <a:srgbClr val="888888"/>
                </a:solidFill>
                <a:latin typeface="メイリオ"/>
                <a:ea typeface="メイリオ"/>
                <a:cs typeface="メイリオ"/>
              </a:rPr>
              <a:t>S31</a:t>
            </a:r>
          </a:p>
        </p:txBody>
      </p:sp>
      <p:sp>
        <p:nvSpPr>
          <p:cNvPr id="16" name="TextBox 15"/>
          <p:cNvSpPr txBox="1"/>
          <p:nvPr/>
        </p:nvSpPr>
        <p:spPr>
          <a:xfrm>
            <a:off x="4212000" y="2789999"/>
            <a:ext cx="5011200" cy="521999"/>
          </a:xfrm>
          <a:prstGeom prst="rect">
            <a:avLst/>
          </a:prstGeom>
          <a:noFill/>
        </p:spPr>
        <p:txBody>
          <a:bodyPr wrap="square" lIns="50400" tIns="18000" rIns="50400" bIns="18000" anchor="ctr">
            <a:spAutoFit/>
          </a:bodyPr>
          <a:lstStyle/>
          <a:p>
            <a:pPr algn="l">
              <a:lnSpc>
                <a:spcPct val="135000"/>
              </a:lnSpc>
            </a:pPr>
            <a:r>
              <a:rPr sz="1400">
                <a:solidFill>
                  <a:srgbClr val="333333"/>
                </a:solidFill>
                <a:latin typeface="メイリオ"/>
                <a:ea typeface="メイリオ"/>
                <a:cs typeface="メイリオ"/>
              </a:rPr>
              <a:t>18の施策をジャーニー上に配置</a:t>
            </a:r>
          </a:p>
        </p:txBody>
      </p:sp>
      <p:sp>
        <p:nvSpPr>
          <p:cNvPr id="17" name="Rounded Rectangle 16"/>
          <p:cNvSpPr/>
          <p:nvPr/>
        </p:nvSpPr>
        <p:spPr>
          <a:xfrm>
            <a:off x="432000" y="3636000"/>
            <a:ext cx="9043200" cy="917999"/>
          </a:xfrm>
          <a:prstGeom prst="roundRect">
            <a:avLst/>
          </a:prstGeom>
          <a:solidFill>
            <a:srgbClr val="EEF2F9"/>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57999" y="3761999"/>
            <a:ext cx="666000" cy="666000"/>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2600" b="1">
                <a:solidFill>
                  <a:srgbClr val="FFFFFF"/>
                </a:solidFill>
                <a:latin typeface="メイリオ"/>
                <a:ea typeface="メイリオ"/>
                <a:cs typeface="メイリオ"/>
              </a:rPr>
              <a:t>8</a:t>
            </a:r>
          </a:p>
        </p:txBody>
      </p:sp>
      <p:sp>
        <p:nvSpPr>
          <p:cNvPr id="19" name="TextBox 18"/>
          <p:cNvSpPr txBox="1"/>
          <p:nvPr/>
        </p:nvSpPr>
        <p:spPr>
          <a:xfrm>
            <a:off x="1350000" y="3780000"/>
            <a:ext cx="2700000" cy="342000"/>
          </a:xfrm>
          <a:prstGeom prst="rect">
            <a:avLst/>
          </a:prstGeom>
          <a:noFill/>
        </p:spPr>
        <p:txBody>
          <a:bodyPr wrap="square" lIns="50400" tIns="18000" rIns="50400" bIns="18000" anchor="ctr">
            <a:spAutoFit/>
          </a:bodyPr>
          <a:lstStyle/>
          <a:p>
            <a:pPr algn="l"/>
            <a:r>
              <a:rPr sz="1800" b="1">
                <a:solidFill>
                  <a:srgbClr val="002060"/>
                </a:solidFill>
                <a:latin typeface="メイリオ"/>
                <a:ea typeface="メイリオ"/>
                <a:cs typeface="メイリオ"/>
              </a:rPr>
              <a:t>成果と体制</a:t>
            </a:r>
          </a:p>
        </p:txBody>
      </p:sp>
      <p:sp>
        <p:nvSpPr>
          <p:cNvPr id="20" name="TextBox 19"/>
          <p:cNvSpPr txBox="1"/>
          <p:nvPr/>
        </p:nvSpPr>
        <p:spPr>
          <a:xfrm>
            <a:off x="1350000" y="4121999"/>
            <a:ext cx="2700000" cy="288000"/>
          </a:xfrm>
          <a:prstGeom prst="rect">
            <a:avLst/>
          </a:prstGeom>
          <a:noFill/>
        </p:spPr>
        <p:txBody>
          <a:bodyPr wrap="square" lIns="50400" tIns="18000" rIns="50400" bIns="18000" anchor="ctr">
            <a:spAutoFit/>
          </a:bodyPr>
          <a:lstStyle/>
          <a:p>
            <a:pPr algn="l"/>
            <a:r>
              <a:rPr sz="1300">
                <a:solidFill>
                  <a:srgbClr val="888888"/>
                </a:solidFill>
                <a:latin typeface="メイリオ"/>
                <a:ea typeface="メイリオ"/>
                <a:cs typeface="メイリオ"/>
              </a:rPr>
              <a:t>S36-39</a:t>
            </a:r>
          </a:p>
        </p:txBody>
      </p:sp>
      <p:sp>
        <p:nvSpPr>
          <p:cNvPr id="21" name="TextBox 20"/>
          <p:cNvSpPr txBox="1"/>
          <p:nvPr/>
        </p:nvSpPr>
        <p:spPr>
          <a:xfrm>
            <a:off x="4212000" y="3834000"/>
            <a:ext cx="5011200" cy="521999"/>
          </a:xfrm>
          <a:prstGeom prst="rect">
            <a:avLst/>
          </a:prstGeom>
          <a:noFill/>
        </p:spPr>
        <p:txBody>
          <a:bodyPr wrap="square" lIns="50400" tIns="18000" rIns="50400" bIns="18000" anchor="ctr">
            <a:spAutoFit/>
          </a:bodyPr>
          <a:lstStyle/>
          <a:p>
            <a:pPr algn="l">
              <a:lnSpc>
                <a:spcPct val="135000"/>
              </a:lnSpc>
            </a:pPr>
            <a:r>
              <a:rPr sz="1400">
                <a:solidFill>
                  <a:srgbClr val="333333"/>
                </a:solidFill>
                <a:latin typeface="メイリオ"/>
                <a:ea typeface="メイリオ"/>
                <a:cs typeface="メイリオ"/>
              </a:rPr>
              <a:t>効果測定・費用プラン・運用スケジュール・サポート体制</a:t>
            </a:r>
          </a:p>
        </p:txBody>
      </p:sp>
      <p:sp>
        <p:nvSpPr>
          <p:cNvPr id="22" name="Rounded Rectangle 21"/>
          <p:cNvSpPr/>
          <p:nvPr/>
        </p:nvSpPr>
        <p:spPr>
          <a:xfrm>
            <a:off x="432000" y="4680000"/>
            <a:ext cx="9043200" cy="917999"/>
          </a:xfrm>
          <a:prstGeom prst="round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57999" y="4806000"/>
            <a:ext cx="666000" cy="666000"/>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50400" tIns="18000" rIns="50400" bIns="18000" rtlCol="0" anchor="ctr"/>
          <a:lstStyle/>
          <a:p>
            <a:pPr algn="ctr"/>
            <a:r>
              <a:rPr sz="2600" b="1">
                <a:solidFill>
                  <a:srgbClr val="FFFFFF"/>
                </a:solidFill>
                <a:latin typeface="メイリオ"/>
                <a:ea typeface="メイリオ"/>
                <a:cs typeface="メイリオ"/>
              </a:rPr>
              <a:t>9</a:t>
            </a:r>
          </a:p>
        </p:txBody>
      </p:sp>
      <p:sp>
        <p:nvSpPr>
          <p:cNvPr id="24" name="TextBox 23"/>
          <p:cNvSpPr txBox="1"/>
          <p:nvPr/>
        </p:nvSpPr>
        <p:spPr>
          <a:xfrm>
            <a:off x="1350000" y="4824000"/>
            <a:ext cx="2700000" cy="342000"/>
          </a:xfrm>
          <a:prstGeom prst="rect">
            <a:avLst/>
          </a:prstGeom>
          <a:noFill/>
        </p:spPr>
        <p:txBody>
          <a:bodyPr wrap="square" lIns="50400" tIns="18000" rIns="50400" bIns="18000" anchor="ctr">
            <a:spAutoFit/>
          </a:bodyPr>
          <a:lstStyle/>
          <a:p>
            <a:pPr algn="l"/>
            <a:r>
              <a:rPr sz="1800" b="1">
                <a:solidFill>
                  <a:srgbClr val="002060"/>
                </a:solidFill>
                <a:latin typeface="メイリオ"/>
                <a:ea typeface="メイリオ"/>
                <a:cs typeface="メイリオ"/>
              </a:rPr>
              <a:t>締め</a:t>
            </a:r>
          </a:p>
        </p:txBody>
      </p:sp>
      <p:sp>
        <p:nvSpPr>
          <p:cNvPr id="25" name="TextBox 24"/>
          <p:cNvSpPr txBox="1"/>
          <p:nvPr/>
        </p:nvSpPr>
        <p:spPr>
          <a:xfrm>
            <a:off x="1350000" y="5166000"/>
            <a:ext cx="2700000" cy="288000"/>
          </a:xfrm>
          <a:prstGeom prst="rect">
            <a:avLst/>
          </a:prstGeom>
          <a:noFill/>
        </p:spPr>
        <p:txBody>
          <a:bodyPr wrap="square" lIns="50400" tIns="18000" rIns="50400" bIns="18000" anchor="ctr">
            <a:spAutoFit/>
          </a:bodyPr>
          <a:lstStyle/>
          <a:p>
            <a:pPr algn="l"/>
            <a:r>
              <a:rPr sz="1300">
                <a:solidFill>
                  <a:srgbClr val="888888"/>
                </a:solidFill>
                <a:latin typeface="メイリオ"/>
                <a:ea typeface="メイリオ"/>
                <a:cs typeface="メイリオ"/>
              </a:rPr>
              <a:t>S43</a:t>
            </a:r>
          </a:p>
        </p:txBody>
      </p:sp>
      <p:sp>
        <p:nvSpPr>
          <p:cNvPr id="26" name="TextBox 25"/>
          <p:cNvSpPr txBox="1"/>
          <p:nvPr/>
        </p:nvSpPr>
        <p:spPr>
          <a:xfrm>
            <a:off x="4212000" y="4878000"/>
            <a:ext cx="5011200" cy="521999"/>
          </a:xfrm>
          <a:prstGeom prst="rect">
            <a:avLst/>
          </a:prstGeom>
          <a:noFill/>
        </p:spPr>
        <p:txBody>
          <a:bodyPr wrap="square" lIns="50400" tIns="18000" rIns="50400" bIns="18000" anchor="ctr">
            <a:spAutoFit/>
          </a:bodyPr>
          <a:lstStyle/>
          <a:p>
            <a:pPr algn="l">
              <a:lnSpc>
                <a:spcPct val="135000"/>
              </a:lnSpc>
            </a:pPr>
            <a:r>
              <a:rPr sz="1400">
                <a:solidFill>
                  <a:srgbClr val="333333"/>
                </a:solidFill>
                <a:latin typeface="メイリオ"/>
                <a:ea typeface="メイリオ"/>
                <a:cs typeface="メイリオ"/>
              </a:rPr>
              <a:t>貴社の明るい未来</a:t>
            </a:r>
          </a:p>
        </p:txBody>
      </p:sp>
      <p:sp>
        <p:nvSpPr>
          <p:cNvPr id="27" name="TextBox 26"/>
          <p:cNvSpPr txBox="1"/>
          <p:nvPr/>
        </p:nvSpPr>
        <p:spPr>
          <a:xfrm>
            <a:off x="432000" y="6246000"/>
            <a:ext cx="9043200" cy="324000"/>
          </a:xfrm>
          <a:prstGeom prst="rect">
            <a:avLst/>
          </a:prstGeom>
          <a:noFill/>
        </p:spPr>
        <p:txBody>
          <a:bodyPr wrap="square" lIns="50400" tIns="18000" rIns="50400" bIns="18000" anchor="t">
            <a:spAutoFit/>
          </a:bodyPr>
          <a:lstStyle/>
          <a:p>
            <a:pPr algn="l">
              <a:lnSpc>
                <a:spcPct val="120000"/>
              </a:lnSpc>
            </a:pPr>
            <a:r>
              <a:rPr sz="800">
                <a:solidFill>
                  <a:srgbClr val="888888"/>
                </a:solidFill>
                <a:latin typeface="メイリオ"/>
                <a:ea typeface="メイリオ"/>
                <a:cs typeface="メイリオ"/>
              </a:rPr>
              <a:t>※主KPI＝CPO（取りこぼしの回収）＋F2転換率（1回きりの解消）。締めは LTV ÷ CPO</a:t>
            </a:r>
          </a:p>
        </p:txBody>
      </p:sp>
      <p:cxnSp>
        <p:nvCxnSpPr>
          <p:cNvPr id="2" name="Connector 3">
            <a:extLst>
              <a:ext uri="{FF2B5EF4-FFF2-40B4-BE49-F238E27FC236}">
                <a16:creationId xmlns:a16="http://schemas.microsoft.com/office/drawing/2014/main" id="{7C3BC30A-8552-D88E-3039-96FC3CB6B79E}"/>
              </a:ext>
            </a:extLst>
          </p:cNvPr>
          <p:cNvCxnSpPr/>
          <p:nvPr/>
        </p:nvCxnSpPr>
        <p:spPr>
          <a:xfrm>
            <a:off x="0" y="1398309"/>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812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配信設計｜改善モデル① カゴ落ちの回収</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配信設計</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カートに入れたまま消える6〜7割を、LINEで拾い直す。</a:t>
            </a: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接触（広告・検索）</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rgbClr val="2080FF"/>
          </a:solidFill>
        </p:spPr>
        <p:txBody>
          <a:bodyPr wrap="square">
            <a:spAutoFit/>
          </a:bodyPr>
          <a:lstStyle/>
          <a:p>
            <a:pPr>
              <a:buNone/>
            </a:pPr>
            <a:r>
              <a:rPr lang="ja-JP" altLang="ja-JP" sz="1100" b="1" dirty="0">
                <a:solidFill>
                  <a:schemeClr val="bg1"/>
                </a:solidFill>
                <a:latin typeface="メイリオ" panose="020B0604030504040204" pitchFamily="50" charset="-128"/>
                <a:ea typeface="メイリオ" panose="020B0604030504040204" pitchFamily="50" charset="-128"/>
              </a:rPr>
              <a:t>② カゴ落ち（対策）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比較検討</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初回購入</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定期・リピート化</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F2（2回目購入）</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 LTV最大化・紹介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友だち追加</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離脱した瞬間に、LINEへ繋ぐ</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離脱した後に、追いかける</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リマインド</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1時間後・24時間後の2段でリマインド</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友だち追加した人に、カートの中身をそのまま送る。1時間後に「カートに残っています」、</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翌日に「在庫が少なくなっています」。値引きではなく、状況の通知として届ける。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1時間後が最も戻る。値引きは最後の手段にする。</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1時間後に1通目</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商品画像をそのまま</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翌日に2通目</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在庫・価格の変化を添える</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カートへ戻る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クーポンは任意</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Q&amp;A自動応答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離脱の理由をその場で消す</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「送料はいくら」「返品できる」をキーワード自動応答で即返す。</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カゴ落ち理由の1位は追加コストの不透明さ。人を介さず24時間対応する。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質問を受信</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送料・返品・納期</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自動で即返信</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スタッフの対応は不要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カートへ戻る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そのまま購入へ</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通知メッセージ</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友だちでない離脱者にも届ける</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過去に購入があり電話番号がわかっている人は、友だちでなくても通知メッセージが届く。カート放置の通知と同時に、友だち追加ボタンを置く。</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電話番号で照合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友だちでなくても届く</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通知メッセージ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用件として届くので開封される</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友だち化</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次回から通常配信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ポップアップ</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カート離脱の瞬間にポップアップでLINEへ</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カートに商品を入れたまま離脱しようとした瞬間に、ポップアップでLINE友だち追加へ誘導。</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メールアドレスの入力を求めないので、離脱の直前でもハードルが低い。</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カート投入</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商品はカートに残る</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離脱の検知</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タブを閉じる直前に表示</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LINE友だち追加</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連絡先が残る</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57158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配信設計｜改善モデル② 初回購入の後押し</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接触（広告・検索）</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カゴ落ち（対策）</a:t>
            </a: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比較検討</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友だち追加</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定期・リピート化</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 LTV最大化・紹介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配信設計</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友だちにはなったが、まだ買っていない人を動かす。押すのではなく、迷いを外す。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初回購入</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F2（2回目購入）</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短期：迷っている理由を1つずつ外す</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長期：今すぐ買わない層と、接点を保つ</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購入前7通のステップ配信で不安を外す</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Day0あいさつ→Day1送料・返品条件→Day3使い方→Day5レビュー→Day7よくある質問。売り込みは最後まで置かない。7通かけて「買わない理由」を順に消していく。</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あいさつ</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届くものを先に伝える</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Day3 使い方</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使用イメージを持たせる</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Day7 Q&amp;A</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特典は任意</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アンケート</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3問アンケートで迷いどころを特定する</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「気になっている点は？」を3問で聞く。「価格」「サイズ」「使い方」のどれを選んだかで、次に送る内容を自動で変える。全員に同じ配信をしない。</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回答は3問まで。多いと途中で止まる。</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3問で聞く</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回答でタグ付け</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迷いどころを特定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内容を出し分け</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800" dirty="0">
                <a:solidFill>
                  <a:srgbClr val="D0E8FF"/>
                </a:solidFill>
                <a:latin typeface="メイリオ" panose="020B0604030504040204" pitchFamily="50" charset="-128"/>
                <a:ea typeface="メイリオ" panose="020B0604030504040204" pitchFamily="50" charset="-128"/>
                <a:cs typeface="Calibri" pitchFamily="34" charset="-120"/>
              </a:rPr>
              <a:t>配信の精度が上がる</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商戦カレンダーに合わせて再接触する</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ブラックフライデー・年末・母の日など、買う理由が立つ時期の2〜3週前に案内する。「セールです」ではなく「◯月◯日から始まります」という日付の通知として届ける。</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商戦を特定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2〜3週前に予告</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日付の告知として</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開始日に通知</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前後検索で裏づけ</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再アプローチ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買わなかった人に、3か月後もう一度出す</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友だち追加から3か月買っていない人に、別の切り口で出し直す。価格で止まった人には少量サイズ、使い方で止まった人にはレビュー。同じ訴求を繰り返さない。</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3か月動きなし</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80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理由で分岐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少量サイズ／レビュー</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別の切り口で</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D0E8FF"/>
                </a:solidFill>
                <a:latin typeface="メイリオ" panose="020B0604030504040204" pitchFamily="50" charset="-128"/>
                <a:ea typeface="メイリオ" panose="020B0604030504040204" pitchFamily="50" charset="-128"/>
                <a:cs typeface="Calibri" pitchFamily="34" charset="-120"/>
              </a:rPr>
              <a:t>広告費はかからない</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5682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配信設計｜改善モデル③ F2転換の自動化</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接触（広告・検索）</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カゴ落ち（対策）</a:t>
            </a: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比較検討</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友だち追加</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初回購入</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F2（2回目購入）</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 LTV最大化・紹介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配信設計</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初回購入者の6〜7割は2回目を買わない。買った直後から、2回目の準備を始める。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定期・リピート化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買った直後に、次の接点を作る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使い切る少し前に、もう一度出す</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購入直後</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購入完了の通知に友だち追加を置く</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購入完了・発送完了の通知は最も読まれる。ここに友だち追加ボタンを置くと追加率が最も高い。同梱物のQR・納品書と合わせて、買った人を確実にLINEへ繋ぐ。</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購入完了</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最も開封される通知</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発送通知に追加</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同梱物QRと併用</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LINEで受け取る</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追加率が最も高い場所</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使い方フォロー</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届いた直後に使い方を送る</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商品が届く頃に「使い方」を1通送る。使い切れずに終わると2回目は来ない。売り込みは入れず、使い方とよくある質問だけを届ける。</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到着の頃に配信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売り込みは入れない</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使い方とQ&amp;A</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写真・動画で示す</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使い切ってもらう</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D0E8FF"/>
                </a:solidFill>
                <a:latin typeface="メイリオ" panose="020B0604030504040204" pitchFamily="50" charset="-128"/>
                <a:ea typeface="メイリオ" panose="020B0604030504040204" pitchFamily="50" charset="-128"/>
                <a:cs typeface="Calibri" pitchFamily="34" charset="-120"/>
              </a:rPr>
              <a:t>2回目の前提になる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消費サイクル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内容量÷1日使用量で、なくなる日を逆算</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1日2回使う商品が60回分なら、30日で切れる。その数日前に「そろそろ無くなる頃です」を送る。日数を固定にせず商品ごとに逆算する。ここがF2で最も効くレバー。</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サイクル算出</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内容量÷1日使用量</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切れる数日前</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日数は商品ごとに変える</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2回目の購入</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値引きなしで動く</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定期引上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2回目を買った人に、定期便を出す</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定期便の提案は、初回ではなく2回目の購入後に出す。一度リピートした人は続ける確率が高い。「買い忘れがなくなる」を理由にする。業界水準の引上率は約20%。</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2回目の購入後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初回では出さない</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定期便を提案</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800" dirty="0">
                <a:solidFill>
                  <a:srgbClr val="4A4A6A"/>
                </a:solidFill>
                <a:latin typeface="メイリオ" panose="020B0604030504040204" pitchFamily="50" charset="-128"/>
                <a:ea typeface="メイリオ" panose="020B0604030504040204" pitchFamily="50" charset="-128"/>
                <a:cs typeface="Calibri" pitchFamily="34" charset="-120"/>
              </a:rPr>
              <a:t>買い忘れ防止が理由</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継続購入へ</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D0E8FF"/>
                </a:solidFill>
                <a:latin typeface="メイリオ" panose="020B0604030504040204" pitchFamily="50" charset="-128"/>
                <a:ea typeface="メイリオ" panose="020B0604030504040204" pitchFamily="50" charset="-128"/>
                <a:cs typeface="Calibri" pitchFamily="34" charset="-120"/>
              </a:rPr>
              <a:t>引上率は約20%</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74396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配信設計｜改善モデル④ 定期引上と休眠復活</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配信設計</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買い続けている人の客単価を上げ、止まった人を呼び戻す。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初回購入</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 定期・リピート化</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F2（2回目購入）</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接触（広告・検索）</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カゴ落ち（対策）</a:t>
            </a: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比較検討</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友だち追加</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 LTV最大化・紹介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買っている人に、2品目を出す</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止まった人と、もう一度つながる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同じ属性の人が一緒に買う商品を出す</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購入時に付けたタグ（年代・悩み・購入商品）をもとに、同じタグの人がよく一緒に買っている商品を出す。「売る」のではなく「同じ人が選んだ」を見せる。</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購入時にタグ付与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年代・悩み・購入商品</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併売を抽出</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「同じ肌質の方に」</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1通1商品で提案</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客単価が上がる</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まとめ買い</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使用頻度が高い人に、大容量を出す</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消費サイクルが短い人＝よく使っている人。その層に大容量サイズやまとめ買いを提案する。単価を上げるのではなく、1回あたりの購入量を増やす。</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サイクルで抽出</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800" dirty="0">
                <a:solidFill>
                  <a:srgbClr val="4A4A6A"/>
                </a:solidFill>
                <a:latin typeface="メイリオ" panose="020B0604030504040204" pitchFamily="50" charset="-128"/>
                <a:ea typeface="メイリオ" panose="020B0604030504040204" pitchFamily="50" charset="-128"/>
                <a:cs typeface="Calibri" pitchFamily="34" charset="-120"/>
              </a:rPr>
              <a:t>よく使う層だけに出す</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大容量を提案</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値引きではなく量で</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購入量が増える</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D0E8FF"/>
                </a:solidFill>
                <a:latin typeface="メイリオ" panose="020B0604030504040204" pitchFamily="50" charset="-128"/>
                <a:ea typeface="メイリオ" panose="020B0604030504040204" pitchFamily="50" charset="-128"/>
                <a:cs typeface="Calibri" pitchFamily="34" charset="-120"/>
              </a:rPr>
              <a:t>客単価に直結する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休眠復活</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6か月止まった人には、情報から入る</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6か月アクションがない人に、いきなり買わせない。使い方や季節の情報から入り、特典を出すとしても最後に1回だけにする。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先に情報・あとで提案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反応が戻る</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ブロックされにくい</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そこで初めて提案</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急ぐとブロックされる</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記念日配信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初回購入日を記念日として持っておく</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初回購入から1年の日に「使い始めて1年になります」を送る。特典を付けるかは任意。覚えられている、という体験そのものが次の購入理由になる。</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初回購入日を記録</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初回購入日・誕生日</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1年後に自動配信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4A4A6A"/>
                </a:solidFill>
                <a:latin typeface="メイリオ" panose="020B0604030504040204" pitchFamily="50" charset="-128"/>
                <a:ea typeface="メイリオ" panose="020B0604030504040204" pitchFamily="50" charset="-128"/>
                <a:cs typeface="Calibri" pitchFamily="34" charset="-120"/>
              </a:rPr>
              <a:t>完全自動・人手ゼロ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次の購入理由に</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800" dirty="0" err="1">
                <a:solidFill>
                  <a:srgbClr val="D0E8FF"/>
                </a:solidFill>
                <a:latin typeface="メイリオ" panose="020B0604030504040204" pitchFamily="50" charset="-128"/>
                <a:ea typeface="メイリオ" panose="020B0604030504040204" pitchFamily="50" charset="-128"/>
                <a:cs typeface="Calibri" pitchFamily="34" charset="-120"/>
              </a:rPr>
              <a:t>特典は任意</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7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7200" y="136800"/>
            <a:ext cx="7920000" cy="338400"/>
          </a:xfrm>
          <a:prstGeom prst="rect">
            <a:avLst/>
          </a:prstGeom>
          <a:noFill/>
        </p:spPr>
        <p:txBody>
          <a:bodyPr wrap="square" lIns="36000" tIns="10800" rIns="36000" bIns="10800" anchor="ctr">
            <a:spAutoFit/>
          </a:bodyPr>
          <a:lstStyle/>
          <a:p>
            <a:pPr algn="l">
              <a:lnSpc>
                <a:spcPct val="120000"/>
              </a:lnSpc>
            </a:pPr>
            <a:r>
              <a:rPr sz="1600" b="1">
                <a:solidFill>
                  <a:srgbClr val="002060"/>
                </a:solidFill>
                <a:latin typeface="メイリオ"/>
                <a:ea typeface="メイリオ"/>
                <a:cs typeface="メイリオ"/>
              </a:rPr>
              <a:t>配信設計｜画面イメージ（改善モデル①〜④）</a:t>
            </a:r>
          </a:p>
        </p:txBody>
      </p:sp>
      <p:sp>
        <p:nvSpPr>
          <p:cNvPr id="8" name="TextBox 7"/>
          <p:cNvSpPr txBox="1"/>
          <p:nvPr/>
        </p:nvSpPr>
        <p:spPr>
          <a:xfrm>
            <a:off x="432000" y="648000"/>
            <a:ext cx="9036000" cy="684000"/>
          </a:xfrm>
          <a:prstGeom prst="rect">
            <a:avLst/>
          </a:prstGeom>
          <a:noFill/>
        </p:spPr>
        <p:txBody>
          <a:bodyPr wrap="square" lIns="36000" tIns="10800" rIns="36000" bIns="10800" anchor="ctr">
            <a:spAutoFit/>
          </a:bodyPr>
          <a:lstStyle/>
          <a:p>
            <a:pPr algn="l">
              <a:lnSpc>
                <a:spcPct val="120000"/>
              </a:lnSpc>
            </a:pPr>
            <a:r>
              <a:rPr sz="1400" b="0">
                <a:solidFill>
                  <a:srgbClr val="333333"/>
                </a:solidFill>
                <a:latin typeface="メイリオ"/>
                <a:ea typeface="メイリオ"/>
                <a:cs typeface="メイリオ"/>
              </a:rPr>
              <a:t>4本とも自動配信。トリガー（きっかけ）だけ決めれば、あとは人が動かない。</a:t>
            </a:r>
          </a:p>
          <a:p>
            <a:pPr algn="l">
              <a:lnSpc>
                <a:spcPct val="120000"/>
              </a:lnSpc>
            </a:pPr>
            <a:r>
              <a:rPr sz="1400" b="0">
                <a:solidFill>
                  <a:srgbClr val="333333"/>
                </a:solidFill>
                <a:latin typeface="メイリオ"/>
                <a:ea typeface="メイリオ"/>
                <a:cs typeface="メイリオ"/>
              </a:rPr>
              <a:t>人が動くのは、返信が来たときだけ（③④は返信を想定していない）。</a:t>
            </a:r>
          </a:p>
        </p:txBody>
      </p:sp>
      <p:sp>
        <p:nvSpPr>
          <p:cNvPr id="9" name="Rectangle 8"/>
          <p:cNvSpPr/>
          <p:nvPr/>
        </p:nvSpPr>
        <p:spPr>
          <a:xfrm>
            <a:off x="432000" y="1512000"/>
            <a:ext cx="2088000" cy="259200"/>
          </a:xfrm>
          <a:prstGeom prst="rect">
            <a:avLst/>
          </a:prstGeom>
          <a:solidFill>
            <a:srgbClr val="FDF1E9"/>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2000" y="1512000"/>
            <a:ext cx="2088000" cy="259200"/>
          </a:xfrm>
          <a:prstGeom prst="rect">
            <a:avLst/>
          </a:prstGeom>
          <a:noFill/>
        </p:spPr>
        <p:txBody>
          <a:bodyPr wrap="square" lIns="36000" tIns="10800" rIns="36000" bIns="10800" anchor="ctr">
            <a:spAutoFit/>
          </a:bodyPr>
          <a:lstStyle/>
          <a:p>
            <a:pPr algn="ctr">
              <a:lnSpc>
                <a:spcPct val="120000"/>
              </a:lnSpc>
            </a:pPr>
            <a:r>
              <a:rPr sz="1200" b="1">
                <a:solidFill>
                  <a:srgbClr val="ED7D31"/>
                </a:solidFill>
                <a:latin typeface="メイリオ"/>
                <a:ea typeface="メイリオ"/>
                <a:cs typeface="メイリオ"/>
              </a:rPr>
              <a:t>① カゴ落ちの回収</a:t>
            </a:r>
          </a:p>
        </p:txBody>
      </p:sp>
      <p:pic>
        <p:nvPicPr>
          <p:cNvPr id="11" name="Picture 10" descr="EC業界_トーク_カゴ落ちリマインド.png"/>
          <p:cNvPicPr>
            <a:picLocks noChangeAspect="1"/>
          </p:cNvPicPr>
          <p:nvPr/>
        </p:nvPicPr>
        <p:blipFill>
          <a:blip r:embed="rId2"/>
          <a:stretch>
            <a:fillRect/>
          </a:stretch>
        </p:blipFill>
        <p:spPr>
          <a:xfrm>
            <a:off x="432000" y="1818000"/>
            <a:ext cx="2088000" cy="3131999"/>
          </a:xfrm>
          <a:prstGeom prst="rect">
            <a:avLst/>
          </a:prstGeom>
        </p:spPr>
      </p:pic>
      <p:sp>
        <p:nvSpPr>
          <p:cNvPr id="12" name="TextBox 11"/>
          <p:cNvSpPr txBox="1"/>
          <p:nvPr/>
        </p:nvSpPr>
        <p:spPr>
          <a:xfrm>
            <a:off x="432000" y="4986000"/>
            <a:ext cx="2088000" cy="270000"/>
          </a:xfrm>
          <a:prstGeom prst="rect">
            <a:avLst/>
          </a:prstGeom>
          <a:noFill/>
        </p:spPr>
        <p:txBody>
          <a:bodyPr wrap="square" lIns="36000" tIns="10800" rIns="36000" bIns="10800" anchor="ctr">
            <a:spAutoFit/>
          </a:bodyPr>
          <a:lstStyle/>
          <a:p>
            <a:pPr algn="ctr">
              <a:lnSpc>
                <a:spcPct val="120000"/>
              </a:lnSpc>
            </a:pPr>
            <a:r>
              <a:rPr sz="1050" b="0">
                <a:solidFill>
                  <a:srgbClr val="333333"/>
                </a:solidFill>
                <a:latin typeface="メイリオ"/>
                <a:ea typeface="メイリオ"/>
                <a:cs typeface="メイリオ"/>
              </a:rPr>
              <a:t>トリガー：カート放置から1時間</a:t>
            </a:r>
          </a:p>
        </p:txBody>
      </p:sp>
      <p:sp>
        <p:nvSpPr>
          <p:cNvPr id="13" name="Rectangle 12"/>
          <p:cNvSpPr/>
          <p:nvPr/>
        </p:nvSpPr>
        <p:spPr>
          <a:xfrm>
            <a:off x="2750400" y="1512000"/>
            <a:ext cx="2088000" cy="259200"/>
          </a:xfrm>
          <a:prstGeom prst="rect">
            <a:avLst/>
          </a:prstGeom>
          <a:solidFill>
            <a:srgbClr val="EEF2F9"/>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50400" y="1512000"/>
            <a:ext cx="2088000" cy="259200"/>
          </a:xfrm>
          <a:prstGeom prst="rect">
            <a:avLst/>
          </a:prstGeom>
          <a:noFill/>
        </p:spPr>
        <p:txBody>
          <a:bodyPr wrap="square" lIns="36000" tIns="10800" rIns="36000" bIns="10800" anchor="ctr">
            <a:spAutoFit/>
          </a:bodyPr>
          <a:lstStyle/>
          <a:p>
            <a:pPr algn="ctr">
              <a:lnSpc>
                <a:spcPct val="120000"/>
              </a:lnSpc>
            </a:pPr>
            <a:r>
              <a:rPr sz="1200" b="1">
                <a:solidFill>
                  <a:srgbClr val="1F285A"/>
                </a:solidFill>
                <a:latin typeface="メイリオ"/>
                <a:ea typeface="メイリオ"/>
                <a:cs typeface="メイリオ"/>
              </a:rPr>
              <a:t>② 初回購入の後押し</a:t>
            </a:r>
          </a:p>
        </p:txBody>
      </p:sp>
      <p:pic>
        <p:nvPicPr>
          <p:cNvPr id="15" name="Picture 14" descr="EC業界_トーク_初回購入の後押し.png"/>
          <p:cNvPicPr>
            <a:picLocks noChangeAspect="1"/>
          </p:cNvPicPr>
          <p:nvPr/>
        </p:nvPicPr>
        <p:blipFill>
          <a:blip r:embed="rId3"/>
          <a:stretch>
            <a:fillRect/>
          </a:stretch>
        </p:blipFill>
        <p:spPr>
          <a:xfrm>
            <a:off x="2750400" y="1818000"/>
            <a:ext cx="2088000" cy="3131999"/>
          </a:xfrm>
          <a:prstGeom prst="rect">
            <a:avLst/>
          </a:prstGeom>
        </p:spPr>
      </p:pic>
      <p:sp>
        <p:nvSpPr>
          <p:cNvPr id="16" name="TextBox 15"/>
          <p:cNvSpPr txBox="1"/>
          <p:nvPr/>
        </p:nvSpPr>
        <p:spPr>
          <a:xfrm>
            <a:off x="2750400" y="4986000"/>
            <a:ext cx="2088000" cy="270000"/>
          </a:xfrm>
          <a:prstGeom prst="rect">
            <a:avLst/>
          </a:prstGeom>
          <a:noFill/>
        </p:spPr>
        <p:txBody>
          <a:bodyPr wrap="square" lIns="36000" tIns="10800" rIns="36000" bIns="10800" anchor="ctr">
            <a:spAutoFit/>
          </a:bodyPr>
          <a:lstStyle/>
          <a:p>
            <a:pPr algn="ctr">
              <a:lnSpc>
                <a:spcPct val="120000"/>
              </a:lnSpc>
            </a:pPr>
            <a:r>
              <a:rPr sz="1050" b="0">
                <a:solidFill>
                  <a:srgbClr val="333333"/>
                </a:solidFill>
                <a:latin typeface="メイリオ"/>
                <a:ea typeface="メイリオ"/>
                <a:cs typeface="メイリオ"/>
              </a:rPr>
              <a:t>トリガー：初回LPの複数回閲覧</a:t>
            </a:r>
          </a:p>
        </p:txBody>
      </p:sp>
      <p:sp>
        <p:nvSpPr>
          <p:cNvPr id="17" name="Rectangle 16"/>
          <p:cNvSpPr/>
          <p:nvPr/>
        </p:nvSpPr>
        <p:spPr>
          <a:xfrm>
            <a:off x="5068799" y="1512000"/>
            <a:ext cx="2088000" cy="259200"/>
          </a:xfrm>
          <a:prstGeom prst="rect">
            <a:avLst/>
          </a:prstGeom>
          <a:solidFill>
            <a:srgbClr val="FDF2F2"/>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68799" y="1512000"/>
            <a:ext cx="2088000" cy="259200"/>
          </a:xfrm>
          <a:prstGeom prst="rect">
            <a:avLst/>
          </a:prstGeom>
          <a:noFill/>
        </p:spPr>
        <p:txBody>
          <a:bodyPr wrap="square" lIns="36000" tIns="10800" rIns="36000" bIns="10800" anchor="ctr">
            <a:spAutoFit/>
          </a:bodyPr>
          <a:lstStyle/>
          <a:p>
            <a:pPr algn="ctr">
              <a:lnSpc>
                <a:spcPct val="120000"/>
              </a:lnSpc>
            </a:pPr>
            <a:r>
              <a:rPr sz="1200" b="1">
                <a:solidFill>
                  <a:srgbClr val="C00000"/>
                </a:solidFill>
                <a:latin typeface="メイリオ"/>
                <a:ea typeface="メイリオ"/>
                <a:cs typeface="メイリオ"/>
              </a:rPr>
              <a:t>③ F2転換（消費サイクル）</a:t>
            </a:r>
          </a:p>
        </p:txBody>
      </p:sp>
      <p:pic>
        <p:nvPicPr>
          <p:cNvPr id="19" name="Picture 18" descr="EC業界_トーク_F2消費サイクル連動.png"/>
          <p:cNvPicPr>
            <a:picLocks noChangeAspect="1"/>
          </p:cNvPicPr>
          <p:nvPr/>
        </p:nvPicPr>
        <p:blipFill>
          <a:blip r:embed="rId4"/>
          <a:stretch>
            <a:fillRect/>
          </a:stretch>
        </p:blipFill>
        <p:spPr>
          <a:xfrm>
            <a:off x="5068799" y="1818000"/>
            <a:ext cx="2088000" cy="3131999"/>
          </a:xfrm>
          <a:prstGeom prst="rect">
            <a:avLst/>
          </a:prstGeom>
        </p:spPr>
      </p:pic>
      <p:sp>
        <p:nvSpPr>
          <p:cNvPr id="20" name="TextBox 19"/>
          <p:cNvSpPr txBox="1"/>
          <p:nvPr/>
        </p:nvSpPr>
        <p:spPr>
          <a:xfrm>
            <a:off x="5068799" y="4986000"/>
            <a:ext cx="2088000" cy="270000"/>
          </a:xfrm>
          <a:prstGeom prst="rect">
            <a:avLst/>
          </a:prstGeom>
          <a:noFill/>
        </p:spPr>
        <p:txBody>
          <a:bodyPr wrap="square" lIns="36000" tIns="10800" rIns="36000" bIns="10800" anchor="ctr">
            <a:spAutoFit/>
          </a:bodyPr>
          <a:lstStyle/>
          <a:p>
            <a:pPr algn="ctr">
              <a:lnSpc>
                <a:spcPct val="120000"/>
              </a:lnSpc>
            </a:pPr>
            <a:r>
              <a:rPr sz="1050" b="0">
                <a:solidFill>
                  <a:srgbClr val="333333"/>
                </a:solidFill>
                <a:latin typeface="メイリオ"/>
                <a:ea typeface="メイリオ"/>
                <a:cs typeface="メイリオ"/>
              </a:rPr>
              <a:t>トリガー：前回購入から40日</a:t>
            </a:r>
          </a:p>
        </p:txBody>
      </p:sp>
      <p:sp>
        <p:nvSpPr>
          <p:cNvPr id="21" name="Rectangle 20"/>
          <p:cNvSpPr/>
          <p:nvPr/>
        </p:nvSpPr>
        <p:spPr>
          <a:xfrm>
            <a:off x="7387200" y="1512000"/>
            <a:ext cx="2088000" cy="259200"/>
          </a:xfrm>
          <a:prstGeom prst="rect">
            <a:avLst/>
          </a:prstGeom>
          <a:solidFill>
            <a:srgbClr val="F2F2F2"/>
          </a:solid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87200" y="1512000"/>
            <a:ext cx="2088000" cy="259200"/>
          </a:xfrm>
          <a:prstGeom prst="rect">
            <a:avLst/>
          </a:prstGeom>
          <a:noFill/>
        </p:spPr>
        <p:txBody>
          <a:bodyPr wrap="square" lIns="36000" tIns="10800" rIns="36000" bIns="10800" anchor="ctr">
            <a:spAutoFit/>
          </a:bodyPr>
          <a:lstStyle/>
          <a:p>
            <a:pPr algn="ctr">
              <a:lnSpc>
                <a:spcPct val="120000"/>
              </a:lnSpc>
            </a:pPr>
            <a:r>
              <a:rPr sz="1200" b="1">
                <a:solidFill>
                  <a:srgbClr val="888888"/>
                </a:solidFill>
                <a:latin typeface="メイリオ"/>
                <a:ea typeface="メイリオ"/>
                <a:cs typeface="メイリオ"/>
              </a:rPr>
              <a:t>④ 休眠復活</a:t>
            </a:r>
          </a:p>
        </p:txBody>
      </p:sp>
      <p:pic>
        <p:nvPicPr>
          <p:cNvPr id="23" name="Picture 22" descr="EC業界_トーク_休眠復活.png"/>
          <p:cNvPicPr>
            <a:picLocks noChangeAspect="1"/>
          </p:cNvPicPr>
          <p:nvPr/>
        </p:nvPicPr>
        <p:blipFill>
          <a:blip r:embed="rId5"/>
          <a:stretch>
            <a:fillRect/>
          </a:stretch>
        </p:blipFill>
        <p:spPr>
          <a:xfrm>
            <a:off x="7387200" y="1818000"/>
            <a:ext cx="2088000" cy="3131999"/>
          </a:xfrm>
          <a:prstGeom prst="rect">
            <a:avLst/>
          </a:prstGeom>
        </p:spPr>
      </p:pic>
      <p:sp>
        <p:nvSpPr>
          <p:cNvPr id="24" name="TextBox 23"/>
          <p:cNvSpPr txBox="1"/>
          <p:nvPr/>
        </p:nvSpPr>
        <p:spPr>
          <a:xfrm>
            <a:off x="7387200" y="4986000"/>
            <a:ext cx="2088000" cy="270000"/>
          </a:xfrm>
          <a:prstGeom prst="rect">
            <a:avLst/>
          </a:prstGeom>
          <a:noFill/>
        </p:spPr>
        <p:txBody>
          <a:bodyPr wrap="square" lIns="36000" tIns="10800" rIns="36000" bIns="10800" anchor="ctr">
            <a:spAutoFit/>
          </a:bodyPr>
          <a:lstStyle/>
          <a:p>
            <a:pPr algn="ctr">
              <a:lnSpc>
                <a:spcPct val="120000"/>
              </a:lnSpc>
            </a:pPr>
            <a:r>
              <a:rPr sz="1050" b="0">
                <a:solidFill>
                  <a:srgbClr val="333333"/>
                </a:solidFill>
                <a:latin typeface="メイリオ"/>
                <a:ea typeface="メイリオ"/>
                <a:cs typeface="メイリオ"/>
              </a:rPr>
              <a:t>トリガー：6か月アクションなし</a:t>
            </a:r>
          </a:p>
        </p:txBody>
      </p:sp>
      <p:sp>
        <p:nvSpPr>
          <p:cNvPr id="25" name="Rectangle 24"/>
          <p:cNvSpPr/>
          <p:nvPr/>
        </p:nvSpPr>
        <p:spPr>
          <a:xfrm>
            <a:off x="432000" y="5436000"/>
            <a:ext cx="9043200" cy="37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2000" y="5436000"/>
            <a:ext cx="9043200" cy="378000"/>
          </a:xfrm>
          <a:prstGeom prst="rect">
            <a:avLst/>
          </a:prstGeom>
          <a:noFill/>
        </p:spPr>
        <p:txBody>
          <a:bodyPr wrap="square" lIns="36000" tIns="10800" rIns="36000" bIns="10800" anchor="ctr">
            <a:spAutoFit/>
          </a:bodyPr>
          <a:lstStyle/>
          <a:p>
            <a:pPr algn="ctr">
              <a:lnSpc>
                <a:spcPct val="120000"/>
              </a:lnSpc>
            </a:pPr>
            <a:r>
              <a:rPr sz="1600" b="1">
                <a:solidFill>
                  <a:srgbClr val="FFFFFF"/>
                </a:solidFill>
                <a:latin typeface="メイリオ"/>
                <a:ea typeface="メイリオ"/>
                <a:cs typeface="メイリオ"/>
              </a:rPr>
              <a:t>配信の中身より、トリガーの設計で成果が決まる</a:t>
            </a:r>
          </a:p>
        </p:txBody>
      </p:sp>
      <p:sp>
        <p:nvSpPr>
          <p:cNvPr id="27" name="TextBox 26"/>
          <p:cNvSpPr txBox="1"/>
          <p:nvPr/>
        </p:nvSpPr>
        <p:spPr>
          <a:xfrm>
            <a:off x="432000" y="6246000"/>
            <a:ext cx="9043200" cy="324000"/>
          </a:xfrm>
          <a:prstGeom prst="rect">
            <a:avLst/>
          </a:prstGeom>
          <a:noFill/>
        </p:spPr>
        <p:txBody>
          <a:bodyPr wrap="square" lIns="36000" tIns="10800" rIns="36000" bIns="10800" anchor="ctr">
            <a:spAutoFit/>
          </a:bodyPr>
          <a:lstStyle/>
          <a:p>
            <a:pPr algn="l">
              <a:lnSpc>
                <a:spcPct val="120000"/>
              </a:lnSpc>
            </a:pPr>
            <a:r>
              <a:rPr sz="800" b="0">
                <a:solidFill>
                  <a:srgbClr val="888888"/>
                </a:solidFill>
                <a:latin typeface="メイリオ"/>
                <a:ea typeface="メイリオ"/>
                <a:cs typeface="メイリオ"/>
              </a:rPr>
              <a:t>※ 画面はイメージです。商品名・価格・日数は例。トリガーの日数は貴社の消費サイクル（内容量÷1日使用量）から逆算します</a:t>
            </a:r>
          </a:p>
        </p:txBody>
      </p:sp>
      <p:cxnSp>
        <p:nvCxnSpPr>
          <p:cNvPr id="2" name="Connector 3">
            <a:extLst>
              <a:ext uri="{FF2B5EF4-FFF2-40B4-BE49-F238E27FC236}">
                <a16:creationId xmlns:a16="http://schemas.microsoft.com/office/drawing/2014/main" id="{1E8176E3-7E8B-9723-B19C-26B614A0BEDD}"/>
              </a:ext>
            </a:extLst>
          </p:cNvPr>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7" name="TextBox 6"/>
          <p:cNvSpPr txBox="1"/>
          <p:nvPr/>
        </p:nvSpPr>
        <p:spPr>
          <a:xfrm>
            <a:off x="547200" y="136800"/>
            <a:ext cx="7920000" cy="338400"/>
          </a:xfrm>
          <a:prstGeom prst="rect">
            <a:avLst/>
          </a:prstGeom>
          <a:noFill/>
        </p:spPr>
        <p:txBody>
          <a:bodyPr wrap="square" lIns="36000" tIns="10800" rIns="36000" bIns="10800" anchor="ctr">
            <a:spAutoFit/>
          </a:bodyPr>
          <a:lstStyle/>
          <a:p>
            <a:pPr algn="l">
              <a:lnSpc>
                <a:spcPct val="120000"/>
              </a:lnSpc>
            </a:pPr>
            <a:r>
              <a:rPr sz="1600" b="1">
                <a:solidFill>
                  <a:srgbClr val="002060"/>
                </a:solidFill>
                <a:latin typeface="メイリオ"/>
                <a:ea typeface="メイリオ"/>
                <a:cs typeface="メイリオ"/>
              </a:rPr>
              <a:t>配信設計｜通知メッセージ（友だちでなくても届く）</a:t>
            </a:r>
          </a:p>
        </p:txBody>
      </p:sp>
      <p:sp>
        <p:nvSpPr>
          <p:cNvPr id="8" name="TextBox 7"/>
          <p:cNvSpPr txBox="1"/>
          <p:nvPr/>
        </p:nvSpPr>
        <p:spPr>
          <a:xfrm>
            <a:off x="432000" y="648000"/>
            <a:ext cx="9036000" cy="684000"/>
          </a:xfrm>
          <a:prstGeom prst="rect">
            <a:avLst/>
          </a:prstGeom>
          <a:noFill/>
        </p:spPr>
        <p:txBody>
          <a:bodyPr wrap="square" lIns="36000" tIns="10800" rIns="36000" bIns="10800" anchor="ctr">
            <a:spAutoFit/>
          </a:bodyPr>
          <a:lstStyle/>
          <a:p>
            <a:pPr algn="l">
              <a:lnSpc>
                <a:spcPct val="120000"/>
              </a:lnSpc>
            </a:pPr>
            <a:r>
              <a:rPr sz="1400" b="0">
                <a:solidFill>
                  <a:srgbClr val="333333"/>
                </a:solidFill>
                <a:latin typeface="メイリオ"/>
                <a:ea typeface="メイリオ"/>
                <a:cs typeface="メイリオ"/>
              </a:rPr>
              <a:t>電話番号をキーに届く。友だちになっていない購入者にも、購入直後から接点が作れる。</a:t>
            </a:r>
          </a:p>
          <a:p>
            <a:pPr algn="l">
              <a:lnSpc>
                <a:spcPct val="120000"/>
              </a:lnSpc>
            </a:pPr>
            <a:r>
              <a:rPr sz="1400" b="0">
                <a:solidFill>
                  <a:srgbClr val="333333"/>
                </a:solidFill>
                <a:latin typeface="メイリオ"/>
                <a:ea typeface="メイリオ"/>
                <a:cs typeface="メイリオ"/>
              </a:rPr>
              <a:t>「売り込み」ではなく「用件」として届くので、開封されやすくブロックされにくい。</a:t>
            </a:r>
          </a:p>
        </p:txBody>
      </p:sp>
      <p:sp>
        <p:nvSpPr>
          <p:cNvPr id="9" name="Rectangle 8"/>
          <p:cNvSpPr/>
          <p:nvPr/>
        </p:nvSpPr>
        <p:spPr>
          <a:xfrm>
            <a:off x="432000" y="1548000"/>
            <a:ext cx="5868000" cy="558000"/>
          </a:xfrm>
          <a:prstGeom prst="rect">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2000" y="1548000"/>
            <a:ext cx="2015999" cy="558000"/>
          </a:xfrm>
          <a:prstGeom prst="rect">
            <a:avLst/>
          </a:prstGeom>
          <a:noFill/>
        </p:spPr>
        <p:txBody>
          <a:bodyPr wrap="square" lIns="36000" tIns="10800" rIns="36000" bIns="10800" anchor="ctr">
            <a:spAutoFit/>
          </a:bodyPr>
          <a:lstStyle/>
          <a:p>
            <a:pPr algn="l">
              <a:lnSpc>
                <a:spcPct val="120000"/>
              </a:lnSpc>
            </a:pPr>
            <a:r>
              <a:rPr sz="1250" b="1">
                <a:solidFill>
                  <a:srgbClr val="ED7D31"/>
                </a:solidFill>
                <a:latin typeface="メイリオ"/>
                <a:ea typeface="メイリオ"/>
                <a:cs typeface="メイリオ"/>
              </a:rPr>
              <a:t>★ 購入完了・発送完了</a:t>
            </a:r>
          </a:p>
        </p:txBody>
      </p:sp>
      <p:sp>
        <p:nvSpPr>
          <p:cNvPr id="11" name="TextBox 10"/>
          <p:cNvSpPr txBox="1"/>
          <p:nvPr/>
        </p:nvSpPr>
        <p:spPr>
          <a:xfrm>
            <a:off x="2556000" y="1548000"/>
            <a:ext cx="3671999" cy="558000"/>
          </a:xfrm>
          <a:prstGeom prst="rect">
            <a:avLst/>
          </a:prstGeom>
          <a:noFill/>
        </p:spPr>
        <p:txBody>
          <a:bodyPr wrap="square" lIns="36000" tIns="10800" rIns="36000" bIns="10800" anchor="ctr">
            <a:spAutoFit/>
          </a:bodyPr>
          <a:lstStyle/>
          <a:p>
            <a:pPr algn="l">
              <a:lnSpc>
                <a:spcPct val="120000"/>
              </a:lnSpc>
            </a:pPr>
            <a:r>
              <a:rPr sz="1050" b="0">
                <a:solidFill>
                  <a:srgbClr val="333333"/>
                </a:solidFill>
                <a:latin typeface="メイリオ"/>
                <a:ea typeface="メイリオ"/>
                <a:cs typeface="メイリオ"/>
              </a:rPr>
              <a:t>一番読まれる通知。「友だち追加」ボタンを置く場所として最も追加率が高い</a:t>
            </a:r>
          </a:p>
        </p:txBody>
      </p:sp>
      <p:sp>
        <p:nvSpPr>
          <p:cNvPr id="12" name="Rectangle 11"/>
          <p:cNvSpPr/>
          <p:nvPr/>
        </p:nvSpPr>
        <p:spPr>
          <a:xfrm>
            <a:off x="432000" y="2185200"/>
            <a:ext cx="5868000" cy="55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2000" y="2185200"/>
            <a:ext cx="2015999" cy="558000"/>
          </a:xfrm>
          <a:prstGeom prst="rect">
            <a:avLst/>
          </a:prstGeom>
          <a:noFill/>
        </p:spPr>
        <p:txBody>
          <a:bodyPr wrap="square" lIns="36000" tIns="10800" rIns="36000" bIns="10800" anchor="ctr">
            <a:spAutoFit/>
          </a:bodyPr>
          <a:lstStyle/>
          <a:p>
            <a:pPr algn="l">
              <a:lnSpc>
                <a:spcPct val="120000"/>
              </a:lnSpc>
            </a:pPr>
            <a:r>
              <a:rPr sz="1250" b="1">
                <a:solidFill>
                  <a:srgbClr val="002060"/>
                </a:solidFill>
                <a:latin typeface="メイリオ"/>
                <a:ea typeface="メイリオ"/>
                <a:cs typeface="メイリオ"/>
              </a:rPr>
              <a:t>クーポンの残期間</a:t>
            </a:r>
          </a:p>
        </p:txBody>
      </p:sp>
      <p:sp>
        <p:nvSpPr>
          <p:cNvPr id="14" name="TextBox 13"/>
          <p:cNvSpPr txBox="1"/>
          <p:nvPr/>
        </p:nvSpPr>
        <p:spPr>
          <a:xfrm>
            <a:off x="2556000" y="2185200"/>
            <a:ext cx="3671999" cy="558000"/>
          </a:xfrm>
          <a:prstGeom prst="rect">
            <a:avLst/>
          </a:prstGeom>
          <a:noFill/>
        </p:spPr>
        <p:txBody>
          <a:bodyPr wrap="square" lIns="36000" tIns="10800" rIns="36000" bIns="10800" anchor="ctr">
            <a:spAutoFit/>
          </a:bodyPr>
          <a:lstStyle/>
          <a:p>
            <a:pPr algn="l">
              <a:lnSpc>
                <a:spcPct val="120000"/>
              </a:lnSpc>
            </a:pPr>
            <a:r>
              <a:rPr sz="1050" b="0">
                <a:solidFill>
                  <a:srgbClr val="333333"/>
                </a:solidFill>
                <a:latin typeface="メイリオ"/>
                <a:ea typeface="メイリオ"/>
                <a:cs typeface="メイリオ"/>
              </a:rPr>
              <a:t>「あと3日で失効します」を届ける。使われずに消えるクーポンが減り、2回目の購入が前倒しになる</a:t>
            </a:r>
          </a:p>
        </p:txBody>
      </p:sp>
      <p:sp>
        <p:nvSpPr>
          <p:cNvPr id="15" name="Rectangle 14"/>
          <p:cNvSpPr/>
          <p:nvPr/>
        </p:nvSpPr>
        <p:spPr>
          <a:xfrm>
            <a:off x="432000" y="2822400"/>
            <a:ext cx="5868000" cy="558000"/>
          </a:xfrm>
          <a:prstGeom prst="rect">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2000" y="2822400"/>
            <a:ext cx="2015999" cy="558000"/>
          </a:xfrm>
          <a:prstGeom prst="rect">
            <a:avLst/>
          </a:prstGeom>
          <a:noFill/>
        </p:spPr>
        <p:txBody>
          <a:bodyPr wrap="square" lIns="36000" tIns="10800" rIns="36000" bIns="10800" anchor="ctr">
            <a:spAutoFit/>
          </a:bodyPr>
          <a:lstStyle/>
          <a:p>
            <a:pPr algn="l">
              <a:lnSpc>
                <a:spcPct val="120000"/>
              </a:lnSpc>
            </a:pPr>
            <a:r>
              <a:rPr sz="1250" b="1">
                <a:solidFill>
                  <a:srgbClr val="ED7D31"/>
                </a:solidFill>
                <a:latin typeface="メイリオ"/>
                <a:ea typeface="メイリオ"/>
                <a:cs typeface="メイリオ"/>
              </a:rPr>
              <a:t>★ 再入荷・欠品のお詫び</a:t>
            </a:r>
          </a:p>
        </p:txBody>
      </p:sp>
      <p:sp>
        <p:nvSpPr>
          <p:cNvPr id="17" name="TextBox 16"/>
          <p:cNvSpPr txBox="1"/>
          <p:nvPr/>
        </p:nvSpPr>
        <p:spPr>
          <a:xfrm>
            <a:off x="2556000" y="2822400"/>
            <a:ext cx="3671999" cy="558000"/>
          </a:xfrm>
          <a:prstGeom prst="rect">
            <a:avLst/>
          </a:prstGeom>
          <a:noFill/>
        </p:spPr>
        <p:txBody>
          <a:bodyPr wrap="square" lIns="36000" tIns="10800" rIns="36000" bIns="10800" anchor="ctr">
            <a:spAutoFit/>
          </a:bodyPr>
          <a:lstStyle/>
          <a:p>
            <a:pPr algn="l">
              <a:lnSpc>
                <a:spcPct val="120000"/>
              </a:lnSpc>
            </a:pPr>
            <a:r>
              <a:rPr sz="1050" b="0">
                <a:solidFill>
                  <a:srgbClr val="333333"/>
                </a:solidFill>
                <a:latin typeface="メイリオ"/>
                <a:ea typeface="メイリオ"/>
                <a:cs typeface="メイリオ"/>
              </a:rPr>
              <a:t>待っている人にだけ届く。欠品で失った注文を、入荷と同時に取り戻す</a:t>
            </a:r>
          </a:p>
        </p:txBody>
      </p:sp>
      <p:sp>
        <p:nvSpPr>
          <p:cNvPr id="18" name="Rectangle 17"/>
          <p:cNvSpPr/>
          <p:nvPr/>
        </p:nvSpPr>
        <p:spPr>
          <a:xfrm>
            <a:off x="432000" y="3459600"/>
            <a:ext cx="5868000" cy="558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2000" y="3459600"/>
            <a:ext cx="2015999" cy="558000"/>
          </a:xfrm>
          <a:prstGeom prst="rect">
            <a:avLst/>
          </a:prstGeom>
          <a:noFill/>
        </p:spPr>
        <p:txBody>
          <a:bodyPr wrap="square" lIns="36000" tIns="10800" rIns="36000" bIns="10800" anchor="ctr">
            <a:spAutoFit/>
          </a:bodyPr>
          <a:lstStyle/>
          <a:p>
            <a:pPr algn="l">
              <a:lnSpc>
                <a:spcPct val="120000"/>
              </a:lnSpc>
            </a:pPr>
            <a:r>
              <a:rPr sz="1250" b="1">
                <a:solidFill>
                  <a:srgbClr val="002060"/>
                </a:solidFill>
                <a:latin typeface="メイリオ"/>
                <a:ea typeface="メイリオ"/>
                <a:cs typeface="メイリオ"/>
              </a:rPr>
              <a:t>決済エラー</a:t>
            </a:r>
          </a:p>
        </p:txBody>
      </p:sp>
      <p:sp>
        <p:nvSpPr>
          <p:cNvPr id="20" name="TextBox 19"/>
          <p:cNvSpPr txBox="1"/>
          <p:nvPr/>
        </p:nvSpPr>
        <p:spPr>
          <a:xfrm>
            <a:off x="2556000" y="3459600"/>
            <a:ext cx="3671999" cy="558000"/>
          </a:xfrm>
          <a:prstGeom prst="rect">
            <a:avLst/>
          </a:prstGeom>
          <a:noFill/>
        </p:spPr>
        <p:txBody>
          <a:bodyPr wrap="square" lIns="36000" tIns="10800" rIns="36000" bIns="10800" anchor="ctr">
            <a:spAutoFit/>
          </a:bodyPr>
          <a:lstStyle/>
          <a:p>
            <a:pPr algn="l">
              <a:lnSpc>
                <a:spcPct val="120000"/>
              </a:lnSpc>
            </a:pPr>
            <a:r>
              <a:rPr sz="1050" b="0">
                <a:solidFill>
                  <a:srgbClr val="333333"/>
                </a:solidFill>
                <a:latin typeface="メイリオ"/>
                <a:ea typeface="メイリオ"/>
                <a:cs typeface="メイリオ"/>
              </a:rPr>
              <a:t>カード期限切れ等。放置すると注文がそのまま消える</a:t>
            </a:r>
          </a:p>
        </p:txBody>
      </p:sp>
      <p:pic>
        <p:nvPicPr>
          <p:cNvPr id="21" name="Picture 20" descr="EC業界_通知メッセージ_発送.png"/>
          <p:cNvPicPr>
            <a:picLocks noChangeAspect="1"/>
          </p:cNvPicPr>
          <p:nvPr/>
        </p:nvPicPr>
        <p:blipFill>
          <a:blip r:embed="rId2"/>
          <a:stretch>
            <a:fillRect/>
          </a:stretch>
        </p:blipFill>
        <p:spPr>
          <a:xfrm>
            <a:off x="6588000" y="1530000"/>
            <a:ext cx="2736000" cy="4104000"/>
          </a:xfrm>
          <a:prstGeom prst="rect">
            <a:avLst/>
          </a:prstGeom>
        </p:spPr>
      </p:pic>
      <p:sp>
        <p:nvSpPr>
          <p:cNvPr id="22" name="Rectangle 21"/>
          <p:cNvSpPr/>
          <p:nvPr/>
        </p:nvSpPr>
        <p:spPr>
          <a:xfrm>
            <a:off x="432000" y="4132799"/>
            <a:ext cx="5868000" cy="936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0000" y="4186799"/>
            <a:ext cx="5652000" cy="827999"/>
          </a:xfrm>
          <a:prstGeom prst="rect">
            <a:avLst/>
          </a:prstGeom>
          <a:noFill/>
        </p:spPr>
        <p:txBody>
          <a:bodyPr wrap="square" lIns="36000" tIns="10800" rIns="36000" bIns="10800" anchor="t">
            <a:spAutoFit/>
          </a:bodyPr>
          <a:lstStyle/>
          <a:p>
            <a:pPr algn="l">
              <a:lnSpc>
                <a:spcPct val="120000"/>
              </a:lnSpc>
            </a:pPr>
            <a:r>
              <a:rPr sz="1300" b="1">
                <a:solidFill>
                  <a:srgbClr val="FFFFFF"/>
                </a:solidFill>
                <a:latin typeface="メイリオ"/>
                <a:ea typeface="メイリオ"/>
                <a:cs typeface="メイリオ"/>
              </a:rPr>
              <a:t>★ 発送・再入荷の通知は「売り込み」ではなく「用件」</a:t>
            </a:r>
          </a:p>
          <a:p>
            <a:pPr algn="l">
              <a:lnSpc>
                <a:spcPct val="120000"/>
              </a:lnSpc>
            </a:pPr>
            <a:r>
              <a:rPr sz="1150" b="0">
                <a:solidFill>
                  <a:srgbClr val="FFFFFF"/>
                </a:solidFill>
                <a:latin typeface="メイリオ"/>
                <a:ea typeface="メイリオ"/>
                <a:cs typeface="メイリオ"/>
              </a:rPr>
              <a:t>特典を出さなくても接点が作れる。発送通知は最も読まれるので、友だち追加ボタンの置き場に最も向いている。</a:t>
            </a:r>
          </a:p>
        </p:txBody>
      </p:sp>
      <p:sp>
        <p:nvSpPr>
          <p:cNvPr id="24" name="TextBox 23"/>
          <p:cNvSpPr txBox="1"/>
          <p:nvPr/>
        </p:nvSpPr>
        <p:spPr>
          <a:xfrm>
            <a:off x="432000" y="6246000"/>
            <a:ext cx="9043200" cy="324000"/>
          </a:xfrm>
          <a:prstGeom prst="rect">
            <a:avLst/>
          </a:prstGeom>
          <a:noFill/>
        </p:spPr>
        <p:txBody>
          <a:bodyPr wrap="square" lIns="36000" tIns="10800" rIns="36000" bIns="10800" anchor="ctr">
            <a:spAutoFit/>
          </a:bodyPr>
          <a:lstStyle/>
          <a:p>
            <a:pPr algn="l">
              <a:lnSpc>
                <a:spcPct val="120000"/>
              </a:lnSpc>
            </a:pPr>
            <a:r>
              <a:rPr sz="800" b="0">
                <a:solidFill>
                  <a:srgbClr val="888888"/>
                </a:solidFill>
                <a:latin typeface="メイリオ"/>
                <a:ea typeface="メイリオ"/>
                <a:cs typeface="メイリオ"/>
              </a:rPr>
              <a:t>※ 通知メッセージはLINEヤフー所定の申請・要件確認が必要。配信できる用件は規定の範囲に限られます</a:t>
            </a:r>
          </a:p>
        </p:txBody>
      </p:sp>
      <p:sp>
        <p:nvSpPr>
          <p:cNvPr id="2" name="Rectangle 21"/>
          <p:cNvSpPr/>
          <p:nvPr/>
        </p:nvSpPr>
        <p:spPr>
          <a:xfrm>
            <a:off x="432000" y="5166000"/>
            <a:ext cx="5868000" cy="827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2"/>
          <p:cNvSpPr txBox="1"/>
          <p:nvPr/>
        </p:nvSpPr>
        <p:spPr>
          <a:xfrm>
            <a:off x="540000" y="5227200"/>
            <a:ext cx="5652000" cy="705600"/>
          </a:xfrm>
          <a:prstGeom prst="rect">
            <a:avLst/>
          </a:prstGeom>
          <a:noFill/>
        </p:spPr>
        <p:txBody>
          <a:bodyPr wrap="square" lIns="36000" tIns="10800" rIns="36000" bIns="10800" anchor="t">
            <a:spAutoFit/>
          </a:bodyPr>
          <a:lstStyle/>
          <a:p>
            <a:pPr algn="l">
              <a:lnSpc>
                <a:spcPct val="120000"/>
              </a:lnSpc>
            </a:pPr>
            <a:r>
              <a:rPr sz="1300" b="1">
                <a:solidFill>
                  <a:srgbClr val="FFFFFF"/>
                </a:solidFill>
                <a:latin typeface="メイリオ"/>
                <a:ea typeface="メイリオ"/>
                <a:cs typeface="メイリオ"/>
              </a:rPr>
              <a:t>別途費用　初期 10万円 ／ 月額 8万円〜 ＋ 通数単価 7円</a:t>
            </a:r>
          </a:p>
          <a:p>
            <a:pPr algn="l">
              <a:lnSpc>
                <a:spcPct val="120000"/>
              </a:lnSpc>
            </a:pPr>
            <a:r>
              <a:rPr sz="1150" b="0">
                <a:solidFill>
                  <a:srgbClr val="FFFFFF"/>
                </a:solidFill>
                <a:latin typeface="メイリオ"/>
                <a:ea typeface="メイリオ"/>
                <a:cs typeface="メイリオ"/>
              </a:rPr>
              <a:t>Sales Partner・Tech Partner 限定公開のAPIを使用。料金プランにより通数単価・利用可能機能が異なります。</a:t>
            </a:r>
          </a:p>
        </p:txBody>
      </p:sp>
      <p:cxnSp>
        <p:nvCxnSpPr>
          <p:cNvPr id="5" name="Connector 3">
            <a:extLst>
              <a:ext uri="{FF2B5EF4-FFF2-40B4-BE49-F238E27FC236}">
                <a16:creationId xmlns:a16="http://schemas.microsoft.com/office/drawing/2014/main" id="{34C5A925-D702-AC77-9709-98A52CCBD032}"/>
              </a:ext>
            </a:extLst>
          </p:cNvPr>
          <p:cNvCxnSpPr/>
          <p:nvPr/>
        </p:nvCxnSpPr>
        <p:spPr>
          <a:xfrm>
            <a:off x="-1200" y="1337351"/>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7" name="TextBox 6"/>
          <p:cNvSpPr txBox="1"/>
          <p:nvPr/>
        </p:nvSpPr>
        <p:spPr>
          <a:xfrm>
            <a:off x="547200" y="136800"/>
            <a:ext cx="7920000" cy="338400"/>
          </a:xfrm>
          <a:prstGeom prst="rect">
            <a:avLst/>
          </a:prstGeom>
          <a:noFill/>
        </p:spPr>
        <p:txBody>
          <a:bodyPr wrap="square" lIns="36000" tIns="10800" rIns="36000" bIns="10800" anchor="ctr">
            <a:spAutoFit/>
          </a:bodyPr>
          <a:lstStyle/>
          <a:p>
            <a:pPr algn="l">
              <a:lnSpc>
                <a:spcPct val="120000"/>
              </a:lnSpc>
            </a:pPr>
            <a:r>
              <a:rPr sz="1600" b="1">
                <a:solidFill>
                  <a:srgbClr val="002060"/>
                </a:solidFill>
                <a:latin typeface="メイリオ"/>
                <a:ea typeface="メイリオ"/>
                <a:cs typeface="メイリオ"/>
              </a:rPr>
              <a:t>配信設計｜看板商品（初回CV）→ クロスセルの動線</a:t>
            </a:r>
          </a:p>
        </p:txBody>
      </p:sp>
      <p:sp>
        <p:nvSpPr>
          <p:cNvPr id="8" name="TextBox 7"/>
          <p:cNvSpPr txBox="1"/>
          <p:nvPr/>
        </p:nvSpPr>
        <p:spPr>
          <a:xfrm>
            <a:off x="432000" y="648000"/>
            <a:ext cx="9036000" cy="684000"/>
          </a:xfrm>
          <a:prstGeom prst="rect">
            <a:avLst/>
          </a:prstGeom>
          <a:noFill/>
        </p:spPr>
        <p:txBody>
          <a:bodyPr wrap="square" lIns="36000" tIns="10800" rIns="36000" bIns="10800" anchor="ctr">
            <a:spAutoFit/>
          </a:bodyPr>
          <a:lstStyle/>
          <a:p>
            <a:pPr algn="l">
              <a:lnSpc>
                <a:spcPct val="120000"/>
              </a:lnSpc>
            </a:pPr>
            <a:r>
              <a:rPr sz="1400" b="0">
                <a:solidFill>
                  <a:srgbClr val="333333"/>
                </a:solidFill>
                <a:latin typeface="メイリオ"/>
                <a:ea typeface="メイリオ"/>
                <a:cs typeface="メイリオ"/>
              </a:rPr>
              <a:t>最初に売るのは看板商品1つ。買った後に「同じ属性の人が＋αで買っている商品」を出す。</a:t>
            </a:r>
          </a:p>
          <a:p>
            <a:pPr algn="l">
              <a:lnSpc>
                <a:spcPct val="120000"/>
              </a:lnSpc>
            </a:pPr>
            <a:r>
              <a:rPr sz="1400" b="0">
                <a:solidFill>
                  <a:srgbClr val="333333"/>
                </a:solidFill>
                <a:latin typeface="メイリオ"/>
                <a:ea typeface="メイリオ"/>
                <a:cs typeface="メイリオ"/>
              </a:rPr>
              <a:t>客単価を上げるのは値上げではなく2品目。看板商品の後ろにクロスセルを置く。</a:t>
            </a:r>
          </a:p>
        </p:txBody>
      </p:sp>
      <p:sp>
        <p:nvSpPr>
          <p:cNvPr id="9" name="Rounded Rectangle 8"/>
          <p:cNvSpPr/>
          <p:nvPr/>
        </p:nvSpPr>
        <p:spPr>
          <a:xfrm>
            <a:off x="432000" y="1584000"/>
            <a:ext cx="2772000" cy="1296000"/>
          </a:xfrm>
          <a:prstGeom prst="roundRect">
            <a:avLst>
              <a:gd name="adj" fmla="val 0"/>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2000" y="1584000"/>
            <a:ext cx="2772000" cy="306000"/>
          </a:xfrm>
          <a:prstGeom prst="rect">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2000" y="1611063"/>
            <a:ext cx="2772000" cy="251874"/>
          </a:xfrm>
          <a:prstGeom prst="rect">
            <a:avLst/>
          </a:prstGeom>
          <a:noFill/>
        </p:spPr>
        <p:txBody>
          <a:bodyPr wrap="square" lIns="36000" tIns="10800" rIns="36000" bIns="10800" anchor="ctr">
            <a:spAutoFit/>
          </a:bodyPr>
          <a:lstStyle/>
          <a:p>
            <a:pPr algn="ctr">
              <a:lnSpc>
                <a:spcPct val="120000"/>
              </a:lnSpc>
            </a:pPr>
            <a:r>
              <a:rPr sz="1300" b="1">
                <a:solidFill>
                  <a:srgbClr val="ED7D31"/>
                </a:solidFill>
                <a:latin typeface="メイリオ"/>
                <a:ea typeface="メイリオ"/>
                <a:cs typeface="メイリオ"/>
              </a:rPr>
              <a:t>① 看板商品で初回CV</a:t>
            </a:r>
          </a:p>
        </p:txBody>
      </p:sp>
      <p:sp>
        <p:nvSpPr>
          <p:cNvPr id="12" name="TextBox 11"/>
          <p:cNvSpPr txBox="1"/>
          <p:nvPr/>
        </p:nvSpPr>
        <p:spPr>
          <a:xfrm>
            <a:off x="522000" y="1926000"/>
            <a:ext cx="2592000" cy="622745"/>
          </a:xfrm>
          <a:prstGeom prst="rect">
            <a:avLst/>
          </a:prstGeom>
          <a:noFill/>
        </p:spPr>
        <p:txBody>
          <a:bodyPr wrap="square" lIns="36000" tIns="10800" rIns="36000" bIns="10800" anchor="t">
            <a:spAutoFit/>
          </a:bodyPr>
          <a:lstStyle/>
          <a:p>
            <a:pPr algn="ctr">
              <a:lnSpc>
                <a:spcPct val="120000"/>
              </a:lnSpc>
            </a:pPr>
            <a:r>
              <a:rPr sz="1100" b="0" dirty="0" err="1">
                <a:solidFill>
                  <a:srgbClr val="333333"/>
                </a:solidFill>
                <a:latin typeface="メイリオ"/>
                <a:ea typeface="メイリオ"/>
                <a:cs typeface="メイリオ"/>
              </a:rPr>
              <a:t>広告</a:t>
            </a:r>
            <a:r>
              <a:rPr sz="1100" b="0" dirty="0">
                <a:solidFill>
                  <a:srgbClr val="333333"/>
                </a:solidFill>
                <a:latin typeface="メイリオ"/>
                <a:ea typeface="メイリオ"/>
                <a:cs typeface="メイリオ"/>
              </a:rPr>
              <a:t> → LP → </a:t>
            </a:r>
            <a:r>
              <a:rPr sz="1100" b="0" dirty="0" err="1">
                <a:solidFill>
                  <a:srgbClr val="333333"/>
                </a:solidFill>
                <a:latin typeface="メイリオ"/>
                <a:ea typeface="メイリオ"/>
                <a:cs typeface="メイリオ"/>
              </a:rPr>
              <a:t>購入</a:t>
            </a:r>
            <a:r>
              <a:rPr sz="1100" b="0" dirty="0">
                <a:solidFill>
                  <a:srgbClr val="333333"/>
                </a:solidFill>
                <a:latin typeface="メイリオ"/>
                <a:ea typeface="メイリオ"/>
                <a:cs typeface="メイリオ"/>
              </a:rPr>
              <a:t>。</a:t>
            </a:r>
            <a:endParaRPr lang="en-US" sz="1100" b="0" dirty="0">
              <a:solidFill>
                <a:srgbClr val="333333"/>
              </a:solidFill>
              <a:latin typeface="メイリオ"/>
              <a:ea typeface="メイリオ"/>
              <a:cs typeface="メイリオ"/>
            </a:endParaRPr>
          </a:p>
          <a:p>
            <a:pPr algn="ctr">
              <a:lnSpc>
                <a:spcPct val="120000"/>
              </a:lnSpc>
            </a:pPr>
            <a:r>
              <a:rPr sz="1100" b="0" dirty="0">
                <a:solidFill>
                  <a:srgbClr val="333333"/>
                </a:solidFill>
                <a:latin typeface="メイリオ"/>
                <a:ea typeface="メイリオ"/>
                <a:cs typeface="メイリオ"/>
              </a:rPr>
              <a:t>入口は1商品。</a:t>
            </a:r>
          </a:p>
          <a:p>
            <a:pPr algn="ctr">
              <a:lnSpc>
                <a:spcPct val="120000"/>
              </a:lnSpc>
            </a:pPr>
            <a:r>
              <a:rPr sz="1100" b="0" dirty="0" err="1">
                <a:solidFill>
                  <a:srgbClr val="333333"/>
                </a:solidFill>
                <a:latin typeface="メイリオ"/>
                <a:ea typeface="メイリオ"/>
                <a:cs typeface="メイリオ"/>
              </a:rPr>
              <a:t>迷わせない</a:t>
            </a:r>
            <a:r>
              <a:rPr sz="1100" b="0" dirty="0">
                <a:solidFill>
                  <a:srgbClr val="333333"/>
                </a:solidFill>
                <a:latin typeface="メイリオ"/>
                <a:ea typeface="メイリオ"/>
                <a:cs typeface="メイリオ"/>
              </a:rPr>
              <a:t>。</a:t>
            </a:r>
          </a:p>
        </p:txBody>
      </p:sp>
      <p:sp>
        <p:nvSpPr>
          <p:cNvPr id="13" name="Right Arrow 12"/>
          <p:cNvSpPr/>
          <p:nvPr/>
        </p:nvSpPr>
        <p:spPr>
          <a:xfrm>
            <a:off x="3267000" y="2139565"/>
            <a:ext cx="251999" cy="324000"/>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563999" y="1584000"/>
            <a:ext cx="2772000" cy="1296000"/>
          </a:xfrm>
          <a:prstGeom prst="roundRect">
            <a:avLst>
              <a:gd name="adj" fmla="val 0"/>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563999" y="1584000"/>
            <a:ext cx="2772000" cy="306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63999" y="1584000"/>
            <a:ext cx="2772000" cy="306000"/>
          </a:xfrm>
          <a:prstGeom prst="rect">
            <a:avLst/>
          </a:prstGeom>
          <a:noFill/>
        </p:spPr>
        <p:txBody>
          <a:bodyPr wrap="square" lIns="36000" tIns="10800" rIns="36000" bIns="10800" anchor="ctr">
            <a:spAutoFit/>
          </a:bodyPr>
          <a:lstStyle/>
          <a:p>
            <a:pPr algn="ctr">
              <a:lnSpc>
                <a:spcPct val="120000"/>
              </a:lnSpc>
            </a:pPr>
            <a:r>
              <a:rPr sz="1300" b="1">
                <a:solidFill>
                  <a:srgbClr val="1F285A"/>
                </a:solidFill>
                <a:latin typeface="メイリオ"/>
                <a:ea typeface="メイリオ"/>
                <a:cs typeface="メイリオ"/>
              </a:rPr>
              <a:t>② 購入と同時にタグ付け</a:t>
            </a:r>
          </a:p>
        </p:txBody>
      </p:sp>
      <p:sp>
        <p:nvSpPr>
          <p:cNvPr id="17" name="TextBox 16"/>
          <p:cNvSpPr txBox="1"/>
          <p:nvPr/>
        </p:nvSpPr>
        <p:spPr>
          <a:xfrm>
            <a:off x="3653999" y="1926000"/>
            <a:ext cx="2592000" cy="622745"/>
          </a:xfrm>
          <a:prstGeom prst="rect">
            <a:avLst/>
          </a:prstGeom>
          <a:noFill/>
        </p:spPr>
        <p:txBody>
          <a:bodyPr wrap="square" lIns="36000" tIns="10800" rIns="36000" bIns="10800" anchor="t">
            <a:spAutoFit/>
          </a:bodyPr>
          <a:lstStyle/>
          <a:p>
            <a:pPr algn="ctr">
              <a:lnSpc>
                <a:spcPct val="120000"/>
              </a:lnSpc>
            </a:pPr>
            <a:r>
              <a:rPr sz="1100" b="0" dirty="0" err="1">
                <a:solidFill>
                  <a:srgbClr val="333333"/>
                </a:solidFill>
                <a:latin typeface="メイリオ"/>
                <a:ea typeface="メイリオ"/>
                <a:cs typeface="メイリオ"/>
              </a:rPr>
              <a:t>買った商品と、買う人の属性</a:t>
            </a:r>
            <a:endParaRPr lang="en-US" sz="1100" b="0" dirty="0">
              <a:solidFill>
                <a:srgbClr val="333333"/>
              </a:solidFill>
              <a:latin typeface="メイリオ"/>
              <a:ea typeface="メイリオ"/>
              <a:cs typeface="メイリオ"/>
            </a:endParaRPr>
          </a:p>
          <a:p>
            <a:pPr algn="ctr">
              <a:lnSpc>
                <a:spcPct val="120000"/>
              </a:lnSpc>
            </a:pPr>
            <a:r>
              <a:rPr sz="1100" b="0" dirty="0">
                <a:solidFill>
                  <a:srgbClr val="333333"/>
                </a:solidFill>
                <a:latin typeface="メイリオ"/>
                <a:ea typeface="メイリオ"/>
                <a:cs typeface="メイリオ"/>
              </a:rPr>
              <a:t>（</a:t>
            </a:r>
            <a:r>
              <a:rPr sz="1100" b="0" dirty="0" err="1">
                <a:solidFill>
                  <a:srgbClr val="333333"/>
                </a:solidFill>
                <a:latin typeface="メイリオ"/>
                <a:ea typeface="メイリオ"/>
                <a:cs typeface="メイリオ"/>
              </a:rPr>
              <a:t>年代・悩み）を</a:t>
            </a:r>
            <a:endParaRPr sz="1100" b="0" dirty="0">
              <a:solidFill>
                <a:srgbClr val="333333"/>
              </a:solidFill>
              <a:latin typeface="メイリオ"/>
              <a:ea typeface="メイリオ"/>
              <a:cs typeface="メイリオ"/>
            </a:endParaRPr>
          </a:p>
          <a:p>
            <a:pPr algn="ctr">
              <a:lnSpc>
                <a:spcPct val="120000"/>
              </a:lnSpc>
            </a:pPr>
            <a:r>
              <a:rPr sz="1100" b="0" dirty="0" err="1">
                <a:solidFill>
                  <a:srgbClr val="333333"/>
                </a:solidFill>
                <a:latin typeface="メイリオ"/>
                <a:ea typeface="メイリオ"/>
                <a:cs typeface="メイリオ"/>
              </a:rPr>
              <a:t>ID連携で自動付与。人手ゼロ</a:t>
            </a:r>
            <a:endParaRPr sz="1100" b="0" dirty="0">
              <a:solidFill>
                <a:srgbClr val="333333"/>
              </a:solidFill>
              <a:latin typeface="メイリオ"/>
              <a:ea typeface="メイリオ"/>
              <a:cs typeface="メイリオ"/>
            </a:endParaRPr>
          </a:p>
        </p:txBody>
      </p:sp>
      <p:sp>
        <p:nvSpPr>
          <p:cNvPr id="18" name="Right Arrow 17"/>
          <p:cNvSpPr/>
          <p:nvPr/>
        </p:nvSpPr>
        <p:spPr>
          <a:xfrm>
            <a:off x="6389999" y="2142090"/>
            <a:ext cx="251999" cy="324000"/>
          </a:xfrm>
          <a:prstGeom prst="rightArrow">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695999" y="1584000"/>
            <a:ext cx="2772000" cy="1296000"/>
          </a:xfrm>
          <a:prstGeom prst="roundRect">
            <a:avLst>
              <a:gd name="adj" fmla="val 0"/>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695999" y="1584000"/>
            <a:ext cx="2772000" cy="306000"/>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95999" y="1584000"/>
            <a:ext cx="2772000" cy="306000"/>
          </a:xfrm>
          <a:prstGeom prst="rect">
            <a:avLst/>
          </a:prstGeom>
          <a:noFill/>
        </p:spPr>
        <p:txBody>
          <a:bodyPr wrap="square" lIns="36000" tIns="10800" rIns="36000" bIns="10800" anchor="ctr">
            <a:spAutoFit/>
          </a:bodyPr>
          <a:lstStyle/>
          <a:p>
            <a:pPr algn="ctr">
              <a:lnSpc>
                <a:spcPct val="120000"/>
              </a:lnSpc>
            </a:pPr>
            <a:r>
              <a:rPr sz="1300" b="1">
                <a:solidFill>
                  <a:srgbClr val="C00000"/>
                </a:solidFill>
                <a:latin typeface="メイリオ"/>
                <a:ea typeface="メイリオ"/>
                <a:cs typeface="メイリオ"/>
              </a:rPr>
              <a:t>③ 同属性の「＋α」を提案</a:t>
            </a:r>
          </a:p>
        </p:txBody>
      </p:sp>
      <p:sp>
        <p:nvSpPr>
          <p:cNvPr id="22" name="TextBox 21"/>
          <p:cNvSpPr txBox="1"/>
          <p:nvPr/>
        </p:nvSpPr>
        <p:spPr>
          <a:xfrm>
            <a:off x="6785999" y="1926000"/>
            <a:ext cx="2592000" cy="419612"/>
          </a:xfrm>
          <a:prstGeom prst="rect">
            <a:avLst/>
          </a:prstGeom>
          <a:noFill/>
        </p:spPr>
        <p:txBody>
          <a:bodyPr wrap="square" lIns="36000" tIns="10800" rIns="36000" bIns="10800" anchor="t">
            <a:spAutoFit/>
          </a:bodyPr>
          <a:lstStyle/>
          <a:p>
            <a:pPr algn="ctr">
              <a:lnSpc>
                <a:spcPct val="120000"/>
              </a:lnSpc>
            </a:pPr>
            <a:r>
              <a:rPr sz="1100" b="0" dirty="0" err="1">
                <a:solidFill>
                  <a:srgbClr val="333333"/>
                </a:solidFill>
                <a:latin typeface="メイリオ"/>
                <a:ea typeface="メイリオ"/>
                <a:cs typeface="メイリオ"/>
              </a:rPr>
              <a:t>同じタグの人がよく一緒に買う商品を</a:t>
            </a:r>
            <a:r>
              <a:rPr sz="1100" b="0" dirty="0">
                <a:solidFill>
                  <a:srgbClr val="333333"/>
                </a:solidFill>
                <a:latin typeface="メイリオ"/>
                <a:ea typeface="メイリオ"/>
                <a:cs typeface="メイリオ"/>
              </a:rPr>
              <a:t>、</a:t>
            </a:r>
          </a:p>
          <a:p>
            <a:pPr algn="ctr">
              <a:lnSpc>
                <a:spcPct val="120000"/>
              </a:lnSpc>
            </a:pPr>
            <a:r>
              <a:rPr sz="1100" b="0" dirty="0" err="1">
                <a:solidFill>
                  <a:srgbClr val="333333"/>
                </a:solidFill>
                <a:latin typeface="メイリオ"/>
                <a:ea typeface="メイリオ"/>
                <a:cs typeface="メイリオ"/>
              </a:rPr>
              <a:t>消費サイクルに合わせて配信</a:t>
            </a:r>
            <a:endParaRPr sz="1100" b="0" dirty="0">
              <a:solidFill>
                <a:srgbClr val="333333"/>
              </a:solidFill>
              <a:latin typeface="メイリオ"/>
              <a:ea typeface="メイリオ"/>
              <a:cs typeface="メイリオ"/>
            </a:endParaRPr>
          </a:p>
        </p:txBody>
      </p:sp>
      <p:sp>
        <p:nvSpPr>
          <p:cNvPr id="23" name="TextBox 22"/>
          <p:cNvSpPr txBox="1"/>
          <p:nvPr/>
        </p:nvSpPr>
        <p:spPr>
          <a:xfrm>
            <a:off x="432000" y="3096000"/>
            <a:ext cx="9036000" cy="216000"/>
          </a:xfrm>
          <a:prstGeom prst="rect">
            <a:avLst/>
          </a:prstGeom>
          <a:noFill/>
        </p:spPr>
        <p:txBody>
          <a:bodyPr wrap="square" lIns="36000" tIns="10800" rIns="36000" bIns="10800" anchor="ctr">
            <a:spAutoFit/>
          </a:bodyPr>
          <a:lstStyle/>
          <a:p>
            <a:pPr algn="l">
              <a:lnSpc>
                <a:spcPct val="120000"/>
              </a:lnSpc>
            </a:pPr>
            <a:r>
              <a:rPr sz="1200" b="1">
                <a:solidFill>
                  <a:srgbClr val="002060"/>
                </a:solidFill>
                <a:latin typeface="メイリオ"/>
                <a:ea typeface="メイリオ"/>
                <a:cs typeface="メイリオ"/>
              </a:rPr>
              <a:t>── 例：化粧品ECの場合</a:t>
            </a:r>
          </a:p>
        </p:txBody>
      </p:sp>
      <p:sp>
        <p:nvSpPr>
          <p:cNvPr id="24" name="Rectangle 23"/>
          <p:cNvSpPr/>
          <p:nvPr/>
        </p:nvSpPr>
        <p:spPr>
          <a:xfrm>
            <a:off x="432000" y="3347999"/>
            <a:ext cx="2772000" cy="917999"/>
          </a:xfrm>
          <a:prstGeom prst="rect">
            <a:avLst/>
          </a:prstGeom>
          <a:solidFill>
            <a:srgbClr val="F7F8FB"/>
          </a:solidFill>
          <a:ln w="952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2000" y="3376799"/>
            <a:ext cx="2592000" cy="216000"/>
          </a:xfrm>
          <a:prstGeom prst="rect">
            <a:avLst/>
          </a:prstGeom>
          <a:noFill/>
        </p:spPr>
        <p:txBody>
          <a:bodyPr wrap="square" lIns="36000" tIns="10800" rIns="36000" bIns="10800" anchor="ctr">
            <a:spAutoFit/>
          </a:bodyPr>
          <a:lstStyle/>
          <a:p>
            <a:pPr algn="l">
              <a:lnSpc>
                <a:spcPct val="120000"/>
              </a:lnSpc>
            </a:pPr>
            <a:r>
              <a:rPr sz="1100" b="1">
                <a:solidFill>
                  <a:srgbClr val="ED7D31"/>
                </a:solidFill>
                <a:latin typeface="メイリオ"/>
                <a:ea typeface="メイリオ"/>
                <a:cs typeface="メイリオ"/>
              </a:rPr>
              <a:t>看板商品</a:t>
            </a:r>
          </a:p>
        </p:txBody>
      </p:sp>
      <p:sp>
        <p:nvSpPr>
          <p:cNvPr id="26" name="TextBox 25"/>
          <p:cNvSpPr txBox="1"/>
          <p:nvPr/>
        </p:nvSpPr>
        <p:spPr>
          <a:xfrm>
            <a:off x="522000" y="3581999"/>
            <a:ext cx="2592000" cy="648000"/>
          </a:xfrm>
          <a:prstGeom prst="rect">
            <a:avLst/>
          </a:prstGeom>
          <a:noFill/>
        </p:spPr>
        <p:txBody>
          <a:bodyPr wrap="square" lIns="36000" tIns="10800" rIns="36000" bIns="10800" anchor="t">
            <a:spAutoFit/>
          </a:bodyPr>
          <a:lstStyle/>
          <a:p>
            <a:pPr algn="l">
              <a:lnSpc>
                <a:spcPct val="120000"/>
              </a:lnSpc>
            </a:pPr>
            <a:r>
              <a:rPr sz="1100" b="0">
                <a:solidFill>
                  <a:srgbClr val="333333"/>
                </a:solidFill>
                <a:latin typeface="メイリオ"/>
                <a:ea typeface="メイリオ"/>
                <a:cs typeface="メイリオ"/>
              </a:rPr>
              <a:t>オーガニック化粧水</a:t>
            </a:r>
          </a:p>
          <a:p>
            <a:pPr algn="l">
              <a:lnSpc>
                <a:spcPct val="120000"/>
              </a:lnSpc>
            </a:pPr>
            <a:r>
              <a:rPr sz="1100" b="0">
                <a:solidFill>
                  <a:srgbClr val="333333"/>
                </a:solidFill>
                <a:latin typeface="メイリオ"/>
                <a:ea typeface="メイリオ"/>
                <a:cs typeface="メイリオ"/>
              </a:rPr>
              <a:t>（入口はこの1商品）</a:t>
            </a:r>
          </a:p>
        </p:txBody>
      </p:sp>
      <p:sp>
        <p:nvSpPr>
          <p:cNvPr id="27" name="Right Arrow 26"/>
          <p:cNvSpPr/>
          <p:nvPr/>
        </p:nvSpPr>
        <p:spPr>
          <a:xfrm>
            <a:off x="3258000" y="3654000"/>
            <a:ext cx="251999" cy="288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563999" y="3347999"/>
            <a:ext cx="2772000" cy="917999"/>
          </a:xfrm>
          <a:prstGeom prst="rect">
            <a:avLst/>
          </a:prstGeom>
          <a:solidFill>
            <a:srgbClr val="F7F8FB"/>
          </a:solidFill>
          <a:ln w="952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3999" y="3376799"/>
            <a:ext cx="2592000" cy="216000"/>
          </a:xfrm>
          <a:prstGeom prst="rect">
            <a:avLst/>
          </a:prstGeom>
          <a:noFill/>
        </p:spPr>
        <p:txBody>
          <a:bodyPr wrap="square" lIns="36000" tIns="10800" rIns="36000" bIns="10800" anchor="ctr">
            <a:spAutoFit/>
          </a:bodyPr>
          <a:lstStyle/>
          <a:p>
            <a:pPr algn="l">
              <a:lnSpc>
                <a:spcPct val="120000"/>
              </a:lnSpc>
            </a:pPr>
            <a:r>
              <a:rPr sz="1100" b="1">
                <a:solidFill>
                  <a:srgbClr val="1F285A"/>
                </a:solidFill>
                <a:latin typeface="メイリオ"/>
                <a:ea typeface="メイリオ"/>
                <a:cs typeface="メイリオ"/>
              </a:rPr>
              <a:t>付くタグ</a:t>
            </a:r>
          </a:p>
        </p:txBody>
      </p:sp>
      <p:sp>
        <p:nvSpPr>
          <p:cNvPr id="30" name="TextBox 29"/>
          <p:cNvSpPr txBox="1"/>
          <p:nvPr/>
        </p:nvSpPr>
        <p:spPr>
          <a:xfrm>
            <a:off x="3653999" y="3581999"/>
            <a:ext cx="2592000" cy="648000"/>
          </a:xfrm>
          <a:prstGeom prst="rect">
            <a:avLst/>
          </a:prstGeom>
          <a:noFill/>
        </p:spPr>
        <p:txBody>
          <a:bodyPr wrap="square" lIns="36000" tIns="10800" rIns="36000" bIns="10800" anchor="t">
            <a:spAutoFit/>
          </a:bodyPr>
          <a:lstStyle/>
          <a:p>
            <a:pPr algn="l">
              <a:lnSpc>
                <a:spcPct val="120000"/>
              </a:lnSpc>
            </a:pPr>
            <a:r>
              <a:rPr sz="1100" b="0" dirty="0">
                <a:solidFill>
                  <a:srgbClr val="333333"/>
                </a:solidFill>
                <a:latin typeface="メイリオ"/>
                <a:ea typeface="メイリオ"/>
                <a:cs typeface="メイリオ"/>
              </a:rPr>
              <a:t>乾燥肌／30代／初回購入日</a:t>
            </a:r>
          </a:p>
          <a:p>
            <a:pPr algn="l">
              <a:lnSpc>
                <a:spcPct val="120000"/>
              </a:lnSpc>
            </a:pPr>
            <a:r>
              <a:rPr sz="1100" b="0" dirty="0">
                <a:solidFill>
                  <a:srgbClr val="333333"/>
                </a:solidFill>
                <a:latin typeface="メイリオ"/>
                <a:ea typeface="メイリオ"/>
                <a:cs typeface="メイリオ"/>
              </a:rPr>
              <a:t>／使用量：1日2回</a:t>
            </a:r>
          </a:p>
        </p:txBody>
      </p:sp>
      <p:sp>
        <p:nvSpPr>
          <p:cNvPr id="31" name="Right Arrow 30"/>
          <p:cNvSpPr/>
          <p:nvPr/>
        </p:nvSpPr>
        <p:spPr>
          <a:xfrm>
            <a:off x="6389999" y="3654000"/>
            <a:ext cx="251999" cy="288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695999" y="3347999"/>
            <a:ext cx="2772000" cy="917999"/>
          </a:xfrm>
          <a:prstGeom prst="rect">
            <a:avLst/>
          </a:prstGeom>
          <a:solidFill>
            <a:srgbClr val="F7F8FB"/>
          </a:solidFill>
          <a:ln w="9525">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85999" y="3376799"/>
            <a:ext cx="2592000" cy="216000"/>
          </a:xfrm>
          <a:prstGeom prst="rect">
            <a:avLst/>
          </a:prstGeom>
          <a:noFill/>
        </p:spPr>
        <p:txBody>
          <a:bodyPr wrap="square" lIns="36000" tIns="10800" rIns="36000" bIns="10800" anchor="ctr">
            <a:spAutoFit/>
          </a:bodyPr>
          <a:lstStyle/>
          <a:p>
            <a:pPr algn="l">
              <a:lnSpc>
                <a:spcPct val="120000"/>
              </a:lnSpc>
            </a:pPr>
            <a:r>
              <a:rPr sz="1100" b="1">
                <a:solidFill>
                  <a:srgbClr val="C00000"/>
                </a:solidFill>
                <a:latin typeface="メイリオ"/>
                <a:ea typeface="メイリオ"/>
                <a:cs typeface="メイリオ"/>
              </a:rPr>
              <a:t>＋αの提案</a:t>
            </a:r>
          </a:p>
        </p:txBody>
      </p:sp>
      <p:sp>
        <p:nvSpPr>
          <p:cNvPr id="34" name="TextBox 33"/>
          <p:cNvSpPr txBox="1"/>
          <p:nvPr/>
        </p:nvSpPr>
        <p:spPr>
          <a:xfrm>
            <a:off x="6785999" y="3581999"/>
            <a:ext cx="2592000" cy="648000"/>
          </a:xfrm>
          <a:prstGeom prst="rect">
            <a:avLst/>
          </a:prstGeom>
          <a:noFill/>
        </p:spPr>
        <p:txBody>
          <a:bodyPr wrap="square" lIns="36000" tIns="10800" rIns="36000" bIns="10800" anchor="t">
            <a:spAutoFit/>
          </a:bodyPr>
          <a:lstStyle/>
          <a:p>
            <a:pPr algn="l">
              <a:lnSpc>
                <a:spcPct val="120000"/>
              </a:lnSpc>
            </a:pPr>
            <a:r>
              <a:rPr sz="1100" b="0">
                <a:solidFill>
                  <a:srgbClr val="333333"/>
                </a:solidFill>
                <a:latin typeface="メイリオ"/>
                <a:ea typeface="メイリオ"/>
                <a:cs typeface="メイリオ"/>
              </a:rPr>
              <a:t>同じ「乾燥肌」タグの人が</a:t>
            </a:r>
          </a:p>
          <a:p>
            <a:pPr algn="l">
              <a:lnSpc>
                <a:spcPct val="120000"/>
              </a:lnSpc>
            </a:pPr>
            <a:r>
              <a:rPr sz="1100" b="0">
                <a:solidFill>
                  <a:srgbClr val="333333"/>
                </a:solidFill>
                <a:latin typeface="メイリオ"/>
                <a:ea typeface="メイリオ"/>
                <a:cs typeface="メイリオ"/>
              </a:rPr>
              <a:t>一緒に買っている保湿クリーム</a:t>
            </a:r>
          </a:p>
        </p:txBody>
      </p:sp>
      <p:sp>
        <p:nvSpPr>
          <p:cNvPr id="35" name="TextBox 34"/>
          <p:cNvSpPr txBox="1"/>
          <p:nvPr/>
        </p:nvSpPr>
        <p:spPr>
          <a:xfrm>
            <a:off x="432000" y="4374000"/>
            <a:ext cx="9036000" cy="216000"/>
          </a:xfrm>
          <a:prstGeom prst="rect">
            <a:avLst/>
          </a:prstGeom>
          <a:noFill/>
        </p:spPr>
        <p:txBody>
          <a:bodyPr wrap="square" lIns="36000" tIns="10800" rIns="36000" bIns="10800" anchor="ctr">
            <a:spAutoFit/>
          </a:bodyPr>
          <a:lstStyle/>
          <a:p>
            <a:pPr algn="l">
              <a:lnSpc>
                <a:spcPct val="120000"/>
              </a:lnSpc>
            </a:pPr>
            <a:r>
              <a:rPr sz="1200" b="1">
                <a:solidFill>
                  <a:srgbClr val="002060"/>
                </a:solidFill>
                <a:latin typeface="メイリオ"/>
                <a:ea typeface="メイリオ"/>
                <a:cs typeface="メイリオ"/>
              </a:rPr>
              <a:t>── 出すタイミング</a:t>
            </a:r>
          </a:p>
        </p:txBody>
      </p:sp>
      <p:sp>
        <p:nvSpPr>
          <p:cNvPr id="36" name="TextBox 35"/>
          <p:cNvSpPr txBox="1"/>
          <p:nvPr/>
        </p:nvSpPr>
        <p:spPr>
          <a:xfrm>
            <a:off x="522000" y="4590000"/>
            <a:ext cx="8928000" cy="522000"/>
          </a:xfrm>
          <a:prstGeom prst="rect">
            <a:avLst/>
          </a:prstGeom>
          <a:noFill/>
        </p:spPr>
        <p:txBody>
          <a:bodyPr wrap="square" lIns="36000" tIns="10800" rIns="36000" bIns="10800" anchor="t">
            <a:spAutoFit/>
          </a:bodyPr>
          <a:lstStyle/>
          <a:p>
            <a:pPr algn="l">
              <a:lnSpc>
                <a:spcPct val="120000"/>
              </a:lnSpc>
            </a:pPr>
            <a:r>
              <a:rPr sz="1150" b="0">
                <a:solidFill>
                  <a:srgbClr val="333333"/>
                </a:solidFill>
                <a:latin typeface="メイリオ"/>
                <a:ea typeface="メイリオ"/>
                <a:cs typeface="メイリオ"/>
              </a:rPr>
              <a:t>購入直後は「使い方」だけ。＋αは 使い切る少し前（消費サイクル連動）に出す。売り込みが早いとブロックされる。</a:t>
            </a:r>
          </a:p>
          <a:p>
            <a:pPr algn="l">
              <a:lnSpc>
                <a:spcPct val="120000"/>
              </a:lnSpc>
            </a:pPr>
            <a:r>
              <a:rPr sz="1150" b="0">
                <a:solidFill>
                  <a:srgbClr val="333333"/>
                </a:solidFill>
                <a:latin typeface="メイリオ"/>
                <a:ea typeface="メイリオ"/>
                <a:cs typeface="メイリオ"/>
              </a:rPr>
              <a:t>提案は1通1商品。「あなたと同じ肌質の方に選ばれています」の1行で、選ぶ理由を先に渡す。</a:t>
            </a:r>
          </a:p>
        </p:txBody>
      </p:sp>
      <p:sp>
        <p:nvSpPr>
          <p:cNvPr id="37" name="Rectangle 36"/>
          <p:cNvSpPr/>
          <p:nvPr/>
        </p:nvSpPr>
        <p:spPr>
          <a:xfrm>
            <a:off x="432000" y="5238000"/>
            <a:ext cx="90432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32000" y="5238000"/>
            <a:ext cx="9043200" cy="413999"/>
          </a:xfrm>
          <a:prstGeom prst="rect">
            <a:avLst/>
          </a:prstGeom>
          <a:noFill/>
        </p:spPr>
        <p:txBody>
          <a:bodyPr wrap="square" lIns="36000" tIns="10800" rIns="36000" bIns="10800" anchor="ctr">
            <a:spAutoFit/>
          </a:bodyPr>
          <a:lstStyle/>
          <a:p>
            <a:pPr algn="ctr">
              <a:lnSpc>
                <a:spcPct val="120000"/>
              </a:lnSpc>
            </a:pPr>
            <a:r>
              <a:rPr sz="1600" b="1">
                <a:solidFill>
                  <a:srgbClr val="FFFFFF"/>
                </a:solidFill>
                <a:latin typeface="メイリオ"/>
                <a:ea typeface="メイリオ"/>
                <a:cs typeface="メイリオ"/>
              </a:rPr>
              <a:t>2品目は「売る」のではなく「同じ人が選んだ」を見せる。属性タグがあれば自動で回る</a:t>
            </a:r>
          </a:p>
        </p:txBody>
      </p:sp>
      <p:sp>
        <p:nvSpPr>
          <p:cNvPr id="39" name="TextBox 38"/>
          <p:cNvSpPr txBox="1"/>
          <p:nvPr/>
        </p:nvSpPr>
        <p:spPr>
          <a:xfrm>
            <a:off x="432000" y="6246000"/>
            <a:ext cx="9043200" cy="324000"/>
          </a:xfrm>
          <a:prstGeom prst="rect">
            <a:avLst/>
          </a:prstGeom>
          <a:noFill/>
        </p:spPr>
        <p:txBody>
          <a:bodyPr wrap="square" lIns="36000" tIns="10800" rIns="36000" bIns="10800" anchor="ctr">
            <a:spAutoFit/>
          </a:bodyPr>
          <a:lstStyle/>
          <a:p>
            <a:pPr algn="l">
              <a:lnSpc>
                <a:spcPct val="120000"/>
              </a:lnSpc>
            </a:pPr>
            <a:r>
              <a:rPr sz="800" b="0">
                <a:solidFill>
                  <a:srgbClr val="888888"/>
                </a:solidFill>
                <a:latin typeface="メイリオ"/>
                <a:ea typeface="メイリオ"/>
                <a:cs typeface="メイリオ"/>
              </a:rPr>
              <a:t>※ タグ付与はID連携（LINE IDと会員IDの紐づけ）が前提です。連携できない場合は、友だち追加直後のアンケート回答でタグを付ける方法に切り替えます</a:t>
            </a:r>
          </a:p>
        </p:txBody>
      </p:sp>
      <p:cxnSp>
        <p:nvCxnSpPr>
          <p:cNvPr id="5" name="Connector 3">
            <a:extLst>
              <a:ext uri="{FF2B5EF4-FFF2-40B4-BE49-F238E27FC236}">
                <a16:creationId xmlns:a16="http://schemas.microsoft.com/office/drawing/2014/main" id="{FC554143-336A-719F-41DE-9474434699F6}"/>
              </a:ext>
            </a:extLst>
          </p:cNvPr>
          <p:cNvCxnSpPr/>
          <p:nvPr/>
        </p:nvCxnSpPr>
        <p:spPr>
          <a:xfrm>
            <a:off x="-1200" y="1393346"/>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002060"/>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36000" tIns="10800" rIns="36000" bIns="10800" rtlCol="0" anchor="ctr"/>
          <a:lstStyle/>
          <a:p>
            <a:pPr algn="ctr">
              <a:lnSpc>
                <a:spcPct val="115000"/>
              </a:lnSpc>
            </a:pPr>
            <a:r>
              <a:rPr sz="1400" b="1">
                <a:solidFill>
                  <a:srgbClr val="FFFFFF"/>
                </a:solidFill>
                <a:latin typeface="メイリオ"/>
                <a:ea typeface="メイリオ"/>
                <a:cs typeface="メイリオ"/>
              </a:rPr>
              <a:t>具体施策</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sp>
        <p:nvSpPr>
          <p:cNvPr id="14" name="テキスト ボックス 13">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初回購入</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定期・リピート化</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F2（2回目購入）</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 LTV最大化・紹介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接触（広告・検索）</a:t>
            </a:r>
          </a:p>
        </p:txBody>
      </p:sp>
      <p:sp>
        <p:nvSpPr>
          <p:cNvPr id="19" name="テキスト ボックス 18">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カゴ落ち（対策）</a:t>
            </a:r>
          </a:p>
        </p:txBody>
      </p:sp>
      <p:sp>
        <p:nvSpPr>
          <p:cNvPr id="20" name="テキスト ボックス 1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比較検討</a:t>
            </a:r>
          </a:p>
        </p:txBody>
      </p:sp>
      <p:sp>
        <p:nvSpPr>
          <p:cNvPr id="21" name="テキスト ボックス 20">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友だち追加</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56D3FA3C-F4ED-9DF1-7620-D677AB1A2177}"/>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258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258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5531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5531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5531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5531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5531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5531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診断・お役立ちコンテンツ</a:t>
            </a:r>
          </a:p>
        </p:txBody>
      </p:sp>
      <p:sp>
        <p:nvSpPr>
          <p:cNvPr id="40" name="Rounded Rectangle 39"/>
          <p:cNvSpPr/>
          <p:nvPr/>
        </p:nvSpPr>
        <p:spPr>
          <a:xfrm>
            <a:off x="396000" y="38915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38915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2" name="Rounded Rectangle 41"/>
          <p:cNvSpPr/>
          <p:nvPr/>
        </p:nvSpPr>
        <p:spPr>
          <a:xfrm>
            <a:off x="2743199" y="38915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38915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サンクスページLINE誘導</a:t>
            </a:r>
          </a:p>
        </p:txBody>
      </p:sp>
      <p:sp>
        <p:nvSpPr>
          <p:cNvPr id="44" name="Rounded Rectangle 43"/>
          <p:cNvSpPr/>
          <p:nvPr/>
        </p:nvSpPr>
        <p:spPr>
          <a:xfrm>
            <a:off x="5090400" y="38915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38915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同梱物QR・納品書</a:t>
            </a:r>
          </a:p>
        </p:txBody>
      </p:sp>
      <p:sp>
        <p:nvSpPr>
          <p:cNvPr id="46" name="TextBox 45"/>
          <p:cNvSpPr txBox="1"/>
          <p:nvPr/>
        </p:nvSpPr>
        <p:spPr>
          <a:xfrm>
            <a:off x="7416000" y="3553199"/>
            <a:ext cx="2232000" cy="6336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入口は1つに絞らない。</a:t>
            </a:r>
          </a:p>
          <a:p>
            <a:pPr algn="l">
              <a:lnSpc>
                <a:spcPct val="115000"/>
              </a:lnSpc>
            </a:pPr>
            <a:r>
              <a:rPr sz="1100" b="0">
                <a:solidFill>
                  <a:srgbClr val="1A1A2E"/>
                </a:solidFill>
                <a:latin typeface="メイリオ"/>
                <a:ea typeface="メイリオ"/>
                <a:cs typeface="メイリオ"/>
              </a:rPr>
              <a:t>購入前・購入後の両方に</a:t>
            </a:r>
          </a:p>
          <a:p>
            <a:pPr algn="l">
              <a:lnSpc>
                <a:spcPct val="115000"/>
              </a:lnSpc>
            </a:pPr>
            <a:r>
              <a:rPr sz="1100" b="0">
                <a:solidFill>
                  <a:srgbClr val="1A1A2E"/>
                </a:solidFill>
                <a:latin typeface="メイリオ"/>
                <a:ea typeface="メイリオ"/>
                <a:cs typeface="メイリオ"/>
              </a:rPr>
              <a:t>受け皿を置く。</a:t>
            </a:r>
          </a:p>
        </p:txBody>
      </p:sp>
      <p:sp>
        <p:nvSpPr>
          <p:cNvPr id="47" name="Rectangle 46"/>
          <p:cNvSpPr/>
          <p:nvPr/>
        </p:nvSpPr>
        <p:spPr>
          <a:xfrm>
            <a:off x="316800" y="4302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302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どう友だちを購入に結びつけるか？　（⑤ 〜 ⑧）</a:t>
            </a:r>
          </a:p>
        </p:txBody>
      </p:sp>
      <p:sp>
        <p:nvSpPr>
          <p:cNvPr id="49" name="Rounded Rectangle 48"/>
          <p:cNvSpPr/>
          <p:nvPr/>
        </p:nvSpPr>
        <p:spPr>
          <a:xfrm>
            <a:off x="396000" y="4597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597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カゴ落ちリマインド</a:t>
            </a:r>
          </a:p>
        </p:txBody>
      </p:sp>
      <p:sp>
        <p:nvSpPr>
          <p:cNvPr id="51" name="Rounded Rectangle 50"/>
          <p:cNvSpPr/>
          <p:nvPr/>
        </p:nvSpPr>
        <p:spPr>
          <a:xfrm>
            <a:off x="2743199" y="4597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597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CV前プッシュ（未購入）</a:t>
            </a:r>
          </a:p>
        </p:txBody>
      </p:sp>
      <p:sp>
        <p:nvSpPr>
          <p:cNvPr id="53" name="Rounded Rectangle 52"/>
          <p:cNvSpPr/>
          <p:nvPr/>
        </p:nvSpPr>
        <p:spPr>
          <a:xfrm>
            <a:off x="5090400" y="4597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597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KW自動応答・Q&amp;Aメニュー</a:t>
            </a:r>
          </a:p>
        </p:txBody>
      </p:sp>
      <p:sp>
        <p:nvSpPr>
          <p:cNvPr id="55" name="Rounded Rectangle 54"/>
          <p:cNvSpPr/>
          <p:nvPr/>
        </p:nvSpPr>
        <p:spPr>
          <a:xfrm>
            <a:off x="7437600" y="4597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597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消費サイクル連動の配信</a:t>
            </a:r>
          </a:p>
        </p:txBody>
      </p:sp>
      <p:sp>
        <p:nvSpPr>
          <p:cNvPr id="57" name="Rounded Rectangle 56"/>
          <p:cNvSpPr/>
          <p:nvPr/>
        </p:nvSpPr>
        <p:spPr>
          <a:xfrm>
            <a:off x="396000" y="4935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4935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状況確認アンケート→分岐</a:t>
            </a:r>
          </a:p>
        </p:txBody>
      </p:sp>
      <p:sp>
        <p:nvSpPr>
          <p:cNvPr id="59" name="Rounded Rectangle 58"/>
          <p:cNvSpPr/>
          <p:nvPr/>
        </p:nvSpPr>
        <p:spPr>
          <a:xfrm>
            <a:off x="2743199" y="4935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4935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4935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4935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モーメント配信（商戦連動）</a:t>
            </a:r>
          </a:p>
        </p:txBody>
      </p:sp>
      <p:sp>
        <p:nvSpPr>
          <p:cNvPr id="63" name="Rounded Rectangle 62"/>
          <p:cNvSpPr/>
          <p:nvPr/>
        </p:nvSpPr>
        <p:spPr>
          <a:xfrm>
            <a:off x="7437600" y="4935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4935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定期便・まとめ買い提案</a:t>
            </a:r>
          </a:p>
        </p:txBody>
      </p:sp>
      <p:sp>
        <p:nvSpPr>
          <p:cNvPr id="65" name="Rounded Rectangle 64"/>
          <p:cNvSpPr/>
          <p:nvPr/>
        </p:nvSpPr>
        <p:spPr>
          <a:xfrm>
            <a:off x="396000" y="52739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2739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記念日配信</a:t>
            </a:r>
          </a:p>
        </p:txBody>
      </p:sp>
      <p:sp>
        <p:nvSpPr>
          <p:cNvPr id="67" name="Rounded Rectangle 66"/>
          <p:cNvSpPr/>
          <p:nvPr/>
        </p:nvSpPr>
        <p:spPr>
          <a:xfrm>
            <a:off x="2743199" y="52739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2739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長期離脱層へ再提案</a:t>
            </a:r>
          </a:p>
        </p:txBody>
      </p:sp>
      <p:sp>
        <p:nvSpPr>
          <p:cNvPr id="69" name="Rounded Rectangle 68"/>
          <p:cNvSpPr/>
          <p:nvPr/>
        </p:nvSpPr>
        <p:spPr>
          <a:xfrm>
            <a:off x="5090400" y="52739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2739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1" name="Rounded Rectangle 70"/>
          <p:cNvSpPr/>
          <p:nvPr/>
        </p:nvSpPr>
        <p:spPr>
          <a:xfrm>
            <a:off x="7437600" y="52739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2739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紹介キャンペーン</a:t>
            </a:r>
          </a:p>
        </p:txBody>
      </p:sp>
      <p:sp>
        <p:nvSpPr>
          <p:cNvPr id="73" name="TextBox 72"/>
          <p:cNvSpPr txBox="1"/>
          <p:nvPr/>
        </p:nvSpPr>
        <p:spPr>
          <a:xfrm>
            <a:off x="316800" y="56700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施策は購入の後ろに多い。集めることより、買った後をどう扱うかで差がつく。</a:t>
            </a:r>
          </a:p>
        </p:txBody>
      </p:sp>
      <p:sp>
        <p:nvSpPr>
          <p:cNvPr id="74" name="TextBox 73"/>
          <p:cNvSpPr txBox="1"/>
          <p:nvPr/>
        </p:nvSpPr>
        <p:spPr>
          <a:xfrm>
            <a:off x="432000" y="6246000"/>
            <a:ext cx="9043200" cy="324000"/>
          </a:xfrm>
          <a:prstGeom prst="rect">
            <a:avLst/>
          </a:prstGeom>
          <a:noFill/>
        </p:spPr>
        <p:txBody>
          <a:bodyPr wrap="square" lIns="0" tIns="10800" rIns="0" bIns="10800" anchor="ctr">
            <a:spAutoFit/>
          </a:bodyPr>
          <a:lstStyle/>
          <a:p>
            <a:pPr algn="l">
              <a:lnSpc>
                <a:spcPct val="115000"/>
              </a:lnSpc>
            </a:pPr>
            <a:r>
              <a:rPr sz="800" b="0">
                <a:solidFill>
                  <a:srgbClr val="888888"/>
                </a:solidFill>
                <a:latin typeface="メイリオ"/>
                <a:ea typeface="メイリオ"/>
                <a:cs typeface="メイリオ"/>
              </a:rPr>
              <a:t>※ 各施策の詳細は、ご要望に応じて個別にご説明します</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具体施策①｜低ハードルCVでリードを大量獲得</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a:t>
            </a:r>
          </a:p>
        </p:txBody>
      </p:sp>
      <p:sp>
        <p:nvSpPr>
          <p:cNvPr id="245" name="Shape 8">
            <a:extLst>
              <a:ext uri="{FF2B5EF4-FFF2-40B4-BE49-F238E27FC236}">
                <a16:creationId xmlns:a16="http://schemas.microsoft.com/office/drawing/2014/main" id="{50B34EBB-32AA-4AD8-2936-6751081DDE7C}"/>
              </a:ext>
            </a:extLst>
          </p:cNvPr>
          <p:cNvSpPr/>
          <p:nvPr/>
        </p:nvSpPr>
        <p:spPr>
          <a:xfrm>
            <a:off x="603747"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96773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518388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518388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「あなたに合う商品診断」でゲーム感覚の登録動線を設計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「あなたの肌タイプ診断」など自分に関係する情報を得られる診断コンテンツをLINE登録の特典に設定。結果表示→そのまま育成配信へ移行。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518388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5183886"/>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98470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984709"/>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52282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98470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52282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522829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99385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5226218"/>
            <a:ext cx="859536" cy="201168"/>
          </a:xfrm>
          <a:prstGeom prst="rect">
            <a:avLst/>
          </a:prstGeom>
          <a:solidFill>
            <a:schemeClr val="tx2"/>
          </a:solidFill>
          <a:ln/>
        </p:spPr>
        <p:txBody>
          <a:bodyPr wrap="square" lIns="0" tIns="0" rIns="0" bIns="0" rtlCol="0" anchor="ctr"/>
          <a:lstStyle/>
          <a:p>
            <a:pPr marL="0" indent="0" algn="ctr">
              <a:buNone/>
            </a:pP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流入</a:t>
            </a:r>
            <a:r>
              <a:rPr lang="en-US" altLang="ja-JP" sz="700" dirty="0">
                <a:solidFill>
                  <a:srgbClr val="FDFDFD"/>
                </a:solidFill>
                <a:latin typeface="メイリオ" panose="020B0604030504040204" pitchFamily="50" charset="-128"/>
                <a:ea typeface="メイリオ" panose="020B0604030504040204" pitchFamily="50" charset="-128"/>
              </a:rPr>
              <a:t>/</a:t>
            </a:r>
            <a:r>
              <a:rPr lang="ja-JP" altLang="en-US" sz="7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具体施策②｜保有リストの再活性化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2224556"/>
            <a:ext cx="1669123"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2224556"/>
            <a:ext cx="1669123" cy="182880"/>
          </a:xfrm>
          <a:prstGeom prst="rect">
            <a:avLst/>
          </a:prstGeom>
          <a:noFill/>
          <a:ln/>
        </p:spPr>
        <p:txBody>
          <a:bodyPr wrap="square" lIns="0" tIns="0" rIns="0" bIns="0" rtlCol="0" anchor="ctr"/>
          <a:lstStyle/>
          <a:p>
            <a:pPr marL="0" indent="0">
              <a:buNone/>
            </a:pPr>
            <a:r>
              <a:rPr lang="ja-JP" altLang="en-US" sz="7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7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271369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3390349"/>
            <a:ext cx="1274064" cy="329184"/>
          </a:xfrm>
          <a:prstGeom prst="rect">
            <a:avLst/>
          </a:prstGeom>
          <a:noFill/>
          <a:ln/>
        </p:spPr>
        <p:txBody>
          <a:bodyPr wrap="square" lIns="0" tIns="0" rIns="0" bIns="0" rtlCol="0" anchor="ctr"/>
          <a:lstStyle/>
          <a:p>
            <a:pPr marL="0" indent="0" algn="ctr">
              <a:lnSpc>
                <a:spcPct val="115000"/>
              </a:lnSpc>
              <a:buNone/>
            </a:pPr>
            <a:r>
              <a:rPr lang="en-US" sz="60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97632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400375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400375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976327"/>
            <a:ext cx="2907792"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5238961"/>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52663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2741125"/>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2713693"/>
            <a:ext cx="3017520"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976327"/>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400375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97632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523896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52663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5266393"/>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915617"/>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401290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5264318"/>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具体施策③｜リピート・クロスセルの計画実行</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2704549"/>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3381205"/>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90647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2704549"/>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利用状況タグを活用して「よく使っている層」にまとめ買い・定期便の提案を自動配信。「今のプランより月1,000円で〇〇が使い放題に」という具体的メリット提示がCVRを高める。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64383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具体施策④｜チャット対応の簡略化・自動化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0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7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0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874674"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7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273931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79235" y="273931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271188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0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6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70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3388538"/>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70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3388538"/>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70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31763"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31763" y="39745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79235" y="400194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79235" y="400194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1993635"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0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6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651172"/>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70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651172"/>
            <a:ext cx="1274064" cy="329184"/>
          </a:xfrm>
          <a:prstGeom prst="rect">
            <a:avLst/>
          </a:prstGeom>
          <a:noFill/>
          <a:ln>
            <a:noFill/>
          </a:ln>
        </p:spPr>
        <p:txBody>
          <a:bodyPr wrap="square" lIns="0" tIns="0" rIns="0" bIns="0" rtlCol="0" anchor="ctr"/>
          <a:lstStyle/>
          <a:p>
            <a:pPr marL="0" indent="0" algn="ctr">
              <a:lnSpc>
                <a:spcPct val="115000"/>
              </a:lnSpc>
              <a:buNone/>
            </a:pPr>
            <a:r>
              <a:rPr lang="en-US" sz="8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8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70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31763"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31763"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79235" y="526458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5264582"/>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93635" y="5237150"/>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0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6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7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7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913806"/>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7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273931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523219" y="2739314"/>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2711882"/>
            <a:ext cx="298094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高スコアユーザーを自動でスタッフにアラート通知</a:t>
            </a:r>
            <a:endParaRPr lang="en-US" sz="10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6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3388538"/>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70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70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スタッフにアラート</a:t>
            </a:r>
            <a:endParaRPr lang="en-US" altLang="ja-JP" sz="70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75747"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75747" y="397451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23219" y="4001948"/>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523219" y="4001948"/>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37619"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BOT初期対応→温度感に応じて人に切り替える</a:t>
            </a:r>
            <a:endParaRPr lang="en-US" sz="10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6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70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70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70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75747"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75747"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23219" y="5264582"/>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23219" y="5264582"/>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7619" y="5237150"/>
            <a:ext cx="305472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0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6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7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7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7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cxnSp>
        <p:nvCxnSpPr>
          <p:cNvPr id="3" name="Connector 3">
            <a:extLst>
              <a:ext uri="{FF2B5EF4-FFF2-40B4-BE49-F238E27FC236}">
                <a16:creationId xmlns:a16="http://schemas.microsoft.com/office/drawing/2014/main" id="{983B4800-41CD-7707-BAF5-C93418EF70A9}"/>
              </a:ext>
            </a:extLst>
          </p:cNvPr>
          <p:cNvCxnSpPr/>
          <p:nvPr/>
        </p:nvCxnSpPr>
        <p:spPr>
          <a:xfrm>
            <a:off x="-1200" y="1258973"/>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27790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成果｜効果測定の設計</a:t>
            </a:r>
          </a:p>
        </p:txBody>
      </p:sp>
      <p:sp>
        <p:nvSpPr>
          <p:cNvPr id="3" name="TextBox 2"/>
          <p:cNvSpPr txBox="1"/>
          <p:nvPr/>
        </p:nvSpPr>
        <p:spPr>
          <a:xfrm>
            <a:off x="432000" y="648000"/>
            <a:ext cx="9036000" cy="684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握る指標と、その先の指標を分ける。LTVは6ヶ月では動ききらないので約束しない。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200" cy="1152720"/>
        </p:xfrm>
        <a:graphic>
          <a:graphicData uri="http://schemas.openxmlformats.org/drawingml/2006/table">
            <a:tbl>
              <a:tblPr firstRow="1" bandRow="1">
                <a:tableStyleId>{5C22544A-7EE6-4342-B048-85BDC9FD1C3A}</a:tableStyleId>
              </a:tblPr>
              <a:tblGrid>
                <a:gridCol w="1152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2304000">
                  <a:extLst>
                    <a:ext uri="{9D8B030D-6E8A-4147-A177-3AD203B41FA5}">
                      <a16:colId xmlns:a16="http://schemas.microsoft.com/office/drawing/2014/main" val="20002"/>
                    </a:ext>
                  </a:extLst>
                </a:gridCol>
                <a:gridCol w="2347200">
                  <a:extLst>
                    <a:ext uri="{9D8B030D-6E8A-4147-A177-3AD203B41FA5}">
                      <a16:colId xmlns:a16="http://schemas.microsoft.com/office/drawing/2014/main" val="20003"/>
                    </a:ext>
                  </a:extLst>
                </a:gridCol>
              </a:tblGrid>
              <a:tr h="280800">
                <a:tc>
                  <a:txBody>
                    <a:bodyPr/>
                    <a:lstStyle/>
                    <a:p>
                      <a:pPr algn="ctr"/>
                      <a:endParaRPr/>
                    </a:p>
                  </a:txBody>
                  <a:tcPr marL="43200" marR="43200" marT="18000" marB="18000" anchor="ctr">
                    <a:solidFill>
                      <a:srgbClr val="1F285A"/>
                    </a:solidFill>
                  </a:tcPr>
                </a:tc>
                <a:tc>
                  <a:txBody>
                    <a:bodyPr/>
                    <a:lstStyle/>
                    <a:p>
                      <a:pPr algn="l"/>
                      <a:r>
                        <a:rPr sz="900" b="1">
                          <a:solidFill>
                            <a:srgbClr val="FFFFFF"/>
                          </a:solidFill>
                          <a:latin typeface="メイリオ"/>
                          <a:ea typeface="メイリオ"/>
                          <a:cs typeface="メイリオ"/>
                        </a:rPr>
                        <a:t>指標</a:t>
                      </a:r>
                    </a:p>
                  </a:txBody>
                  <a:tcPr marL="43200" marR="43200" marT="18000" marB="18000" anchor="ctr">
                    <a:solidFill>
                      <a:srgbClr val="1F285A"/>
                    </a:solidFill>
                  </a:tcPr>
                </a:tc>
                <a:tc>
                  <a:txBody>
                    <a:bodyPr/>
                    <a:lstStyle/>
                    <a:p>
                      <a:pPr algn="l"/>
                      <a:r>
                        <a:rPr sz="900" b="1">
                          <a:solidFill>
                            <a:srgbClr val="FFFFFF"/>
                          </a:solidFill>
                          <a:latin typeface="メイリオ"/>
                          <a:ea typeface="メイリオ"/>
                          <a:cs typeface="メイリオ"/>
                        </a:rPr>
                        <a:t>測れる時期</a:t>
                      </a:r>
                    </a:p>
                  </a:txBody>
                  <a:tcPr marL="43200" marR="43200" marT="18000" marB="18000" anchor="ctr">
                    <a:solidFill>
                      <a:srgbClr val="1F285A"/>
                    </a:solidFill>
                  </a:tcPr>
                </a:tc>
                <a:tc>
                  <a:txBody>
                    <a:bodyPr/>
                    <a:lstStyle/>
                    <a:p>
                      <a:pPr algn="l"/>
                      <a:r>
                        <a:rPr sz="900" b="1">
                          <a:solidFill>
                            <a:srgbClr val="FFFFFF"/>
                          </a:solidFill>
                          <a:latin typeface="メイリオ"/>
                          <a:ea typeface="メイリオ"/>
                          <a:cs typeface="メイリオ"/>
                        </a:rPr>
                        <a:t>扱い</a:t>
                      </a:r>
                    </a:p>
                  </a:txBody>
                  <a:tcPr marL="43200" marR="43200" marT="18000" marB="18000" anchor="ctr">
                    <a:solidFill>
                      <a:srgbClr val="1F285A"/>
                    </a:solidFill>
                  </a:tcPr>
                </a:tc>
                <a:extLst>
                  <a:ext uri="{0D108BD9-81ED-4DB2-BD59-A6C34878D82A}">
                    <a16:rowId xmlns:a16="http://schemas.microsoft.com/office/drawing/2014/main" val="10000"/>
                  </a:ext>
                </a:extLst>
              </a:tr>
              <a:tr h="280800">
                <a:tc>
                  <a:txBody>
                    <a:bodyPr/>
                    <a:lstStyle/>
                    <a:p>
                      <a:pPr algn="ctr"/>
                      <a:r>
                        <a:rPr sz="850">
                          <a:solidFill>
                            <a:srgbClr val="333333"/>
                          </a:solidFill>
                          <a:latin typeface="メイリオ"/>
                          <a:ea typeface="メイリオ"/>
                          <a:cs typeface="メイリオ"/>
                        </a:rPr>
                        <a:t>握る</a:t>
                      </a:r>
                    </a:p>
                  </a:txBody>
                  <a:tcPr anchor="ctr">
                    <a:solidFill>
                      <a:srgbClr val="FFFFFF"/>
                    </a:solidFill>
                  </a:tcPr>
                </a:tc>
                <a:tc>
                  <a:txBody>
                    <a:bodyPr/>
                    <a:lstStyle/>
                    <a:p>
                      <a:pPr algn="l"/>
                      <a:r>
                        <a:rPr sz="850">
                          <a:solidFill>
                            <a:srgbClr val="333333"/>
                          </a:solidFill>
                          <a:latin typeface="メイリオ"/>
                          <a:ea typeface="メイリオ"/>
                          <a:cs typeface="メイリオ"/>
                        </a:rPr>
                        <a:t>カゴ落ち回収率（カート投入 → 購入）</a:t>
                      </a:r>
                    </a:p>
                  </a:txBody>
                  <a:tcPr anchor="ctr">
                    <a:solidFill>
                      <a:srgbClr val="FFFFFF"/>
                    </a:solidFill>
                  </a:tcPr>
                </a:tc>
                <a:tc>
                  <a:txBody>
                    <a:bodyPr/>
                    <a:lstStyle/>
                    <a:p>
                      <a:pPr algn="l"/>
                      <a:r>
                        <a:rPr sz="850">
                          <a:solidFill>
                            <a:srgbClr val="333333"/>
                          </a:solidFill>
                          <a:latin typeface="メイリオ"/>
                          <a:ea typeface="メイリオ"/>
                          <a:cs typeface="メイリオ"/>
                        </a:rPr>
                        <a:t>数日で動く</a:t>
                      </a:r>
                    </a:p>
                  </a:txBody>
                  <a:tcPr anchor="ctr">
                    <a:solidFill>
                      <a:srgbClr val="FFFFFF"/>
                    </a:solidFill>
                  </a:tcPr>
                </a:tc>
                <a:tc>
                  <a:txBody>
                    <a:bodyPr/>
                    <a:lstStyle/>
                    <a:p>
                      <a:pPr algn="l"/>
                      <a:r>
                        <a:rPr sz="850">
                          <a:solidFill>
                            <a:srgbClr val="333333"/>
                          </a:solidFill>
                          <a:latin typeface="メイリオ"/>
                          <a:ea typeface="メイリオ"/>
                          <a:cs typeface="メイリオ"/>
                        </a:rPr>
                        <a:t>成果指標</a:t>
                      </a:r>
                    </a:p>
                  </a:txBody>
                  <a:tcPr anchor="ctr">
                    <a:solidFill>
                      <a:srgbClr val="FFFFFF"/>
                    </a:solidFill>
                  </a:tcPr>
                </a:tc>
                <a:extLst>
                  <a:ext uri="{0D108BD9-81ED-4DB2-BD59-A6C34878D82A}">
                    <a16:rowId xmlns:a16="http://schemas.microsoft.com/office/drawing/2014/main" val="10001"/>
                  </a:ext>
                </a:extLst>
              </a:tr>
              <a:tr h="280800">
                <a:tc>
                  <a:txBody>
                    <a:bodyPr/>
                    <a:lstStyle/>
                    <a:p>
                      <a:pPr algn="ctr"/>
                      <a:r>
                        <a:rPr sz="850">
                          <a:solidFill>
                            <a:srgbClr val="333333"/>
                          </a:solidFill>
                          <a:latin typeface="メイリオ"/>
                          <a:ea typeface="メイリオ"/>
                          <a:cs typeface="メイリオ"/>
                        </a:rPr>
                        <a:t>握る</a:t>
                      </a:r>
                    </a:p>
                  </a:txBody>
                  <a:tcPr anchor="ctr">
                    <a:solidFill>
                      <a:srgbClr val="F4F7FF"/>
                    </a:solidFill>
                  </a:tcPr>
                </a:tc>
                <a:tc>
                  <a:txBody>
                    <a:bodyPr/>
                    <a:lstStyle/>
                    <a:p>
                      <a:pPr algn="l"/>
                      <a:r>
                        <a:rPr sz="850">
                          <a:solidFill>
                            <a:srgbClr val="333333"/>
                          </a:solidFill>
                          <a:latin typeface="メイリオ"/>
                          <a:ea typeface="メイリオ"/>
                          <a:cs typeface="メイリオ"/>
                        </a:rPr>
                        <a:t>F2転換率（2回目購入）</a:t>
                      </a:r>
                    </a:p>
                  </a:txBody>
                  <a:tcPr anchor="ctr">
                    <a:solidFill>
                      <a:srgbClr val="F4F7FF"/>
                    </a:solidFill>
                  </a:tcPr>
                </a:tc>
                <a:tc>
                  <a:txBody>
                    <a:bodyPr/>
                    <a:lstStyle/>
                    <a:p>
                      <a:pPr algn="l"/>
                      <a:r>
                        <a:rPr sz="850">
                          <a:solidFill>
                            <a:srgbClr val="333333"/>
                          </a:solidFill>
                          <a:latin typeface="メイリオ"/>
                          <a:ea typeface="メイリオ"/>
                          <a:cs typeface="メイリオ"/>
                        </a:rPr>
                        <a:t>1〜2ヶ月で動く</a:t>
                      </a:r>
                    </a:p>
                  </a:txBody>
                  <a:tcPr anchor="ctr">
                    <a:solidFill>
                      <a:srgbClr val="F4F7FF"/>
                    </a:solidFill>
                  </a:tcPr>
                </a:tc>
                <a:tc>
                  <a:txBody>
                    <a:bodyPr/>
                    <a:lstStyle/>
                    <a:p>
                      <a:pPr algn="l"/>
                      <a:r>
                        <a:rPr sz="850">
                          <a:solidFill>
                            <a:srgbClr val="333333"/>
                          </a:solidFill>
                          <a:latin typeface="メイリオ"/>
                          <a:ea typeface="メイリオ"/>
                          <a:cs typeface="メイリオ"/>
                        </a:rPr>
                        <a:t>成果指標</a:t>
                      </a:r>
                    </a:p>
                  </a:txBody>
                  <a:tcPr anchor="ctr">
                    <a:solidFill>
                      <a:srgbClr val="F4F7FF"/>
                    </a:solidFill>
                  </a:tcPr>
                </a:tc>
                <a:extLst>
                  <a:ext uri="{0D108BD9-81ED-4DB2-BD59-A6C34878D82A}">
                    <a16:rowId xmlns:a16="http://schemas.microsoft.com/office/drawing/2014/main" val="10002"/>
                  </a:ext>
                </a:extLst>
              </a:tr>
              <a:tr h="280800">
                <a:tc>
                  <a:txBody>
                    <a:bodyPr/>
                    <a:lstStyle/>
                    <a:p>
                      <a:pPr algn="ctr"/>
                      <a:r>
                        <a:rPr sz="850">
                          <a:solidFill>
                            <a:srgbClr val="333333"/>
                          </a:solidFill>
                          <a:latin typeface="メイリオ"/>
                          <a:ea typeface="メイリオ"/>
                          <a:cs typeface="メイリオ"/>
                        </a:rPr>
                        <a:t>その先</a:t>
                      </a:r>
                    </a:p>
                  </a:txBody>
                  <a:tcPr anchor="ctr">
                    <a:solidFill>
                      <a:srgbClr val="FFFFFF"/>
                    </a:solidFill>
                  </a:tcPr>
                </a:tc>
                <a:tc>
                  <a:txBody>
                    <a:bodyPr/>
                    <a:lstStyle/>
                    <a:p>
                      <a:pPr algn="l"/>
                      <a:r>
                        <a:rPr sz="850">
                          <a:solidFill>
                            <a:srgbClr val="333333"/>
                          </a:solidFill>
                          <a:latin typeface="メイリオ"/>
                          <a:ea typeface="メイリオ"/>
                          <a:cs typeface="メイリオ"/>
                        </a:rPr>
                        <a:t>LTV ÷ CPO</a:t>
                      </a:r>
                    </a:p>
                  </a:txBody>
                  <a:tcPr anchor="ctr">
                    <a:solidFill>
                      <a:srgbClr val="FFFFFF"/>
                    </a:solidFill>
                  </a:tcPr>
                </a:tc>
                <a:tc>
                  <a:txBody>
                    <a:bodyPr/>
                    <a:lstStyle/>
                    <a:p>
                      <a:pPr algn="l"/>
                      <a:r>
                        <a:rPr sz="850">
                          <a:solidFill>
                            <a:srgbClr val="333333"/>
                          </a:solidFill>
                          <a:latin typeface="メイリオ"/>
                          <a:ea typeface="メイリオ"/>
                          <a:cs typeface="メイリオ"/>
                        </a:rPr>
                        <a:t>12ヶ月以上</a:t>
                      </a:r>
                    </a:p>
                  </a:txBody>
                  <a:tcPr anchor="ctr">
                    <a:solidFill>
                      <a:srgbClr val="FFFFFF"/>
                    </a:solidFill>
                  </a:tcPr>
                </a:tc>
                <a:tc>
                  <a:txBody>
                    <a:bodyPr/>
                    <a:lstStyle/>
                    <a:p>
                      <a:pPr algn="l"/>
                      <a:r>
                        <a:rPr sz="850">
                          <a:solidFill>
                            <a:srgbClr val="333333"/>
                          </a:solidFill>
                          <a:latin typeface="メイリオ"/>
                          <a:ea typeface="メイリオ"/>
                          <a:cs typeface="メイリオ"/>
                        </a:rPr>
                        <a:t>構造で示すだけ。約束しない</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432000" y="2988000"/>
            <a:ext cx="90432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3060000"/>
            <a:ext cx="8611200" cy="1368000"/>
          </a:xfrm>
          <a:prstGeom prst="rect">
            <a:avLst/>
          </a:prstGeom>
          <a:noFill/>
        </p:spPr>
        <p:txBody>
          <a:bodyPr wrap="square" lIns="50400" tIns="21600" rIns="50400" bIns="21600" anchor="ctr">
            <a:spAutoFit/>
          </a:bodyPr>
          <a:lstStyle/>
          <a:p>
            <a:pPr algn="l">
              <a:spcAft>
                <a:spcPts val="300"/>
              </a:spcAft>
            </a:pPr>
            <a:r>
              <a:rPr sz="1200" b="1">
                <a:solidFill>
                  <a:srgbClr val="7F7F7F"/>
                </a:solidFill>
                <a:latin typeface="メイリオ"/>
                <a:ea typeface="メイリオ"/>
                <a:cs typeface="メイリオ"/>
              </a:rPr>
              <a:t>Before（広告のみ）</a:t>
            </a:r>
          </a:p>
          <a:p>
            <a:pPr algn="l">
              <a:lnSpc>
                <a:spcPct val="130000"/>
              </a:lnSpc>
              <a:spcAft>
                <a:spcPts val="600"/>
              </a:spcAft>
            </a:pPr>
            <a:r>
              <a:rPr sz="1050">
                <a:solidFill>
                  <a:srgbClr val="333333"/>
                </a:solidFill>
                <a:latin typeface="メイリオ"/>
                <a:ea typeface="メイリオ"/>
                <a:cs typeface="メイリオ"/>
              </a:rPr>
              <a:t>カートに入れたまま消える／1回買って終わる　→　LTVが伸びない　→　限界CPOが低い　→　広告で勝てる範囲が狭い</a:t>
            </a:r>
          </a:p>
          <a:p>
            <a:pPr algn="l">
              <a:spcAft>
                <a:spcPts val="300"/>
              </a:spcAft>
            </a:pPr>
            <a:r>
              <a:rPr sz="1200" b="1">
                <a:solidFill>
                  <a:srgbClr val="1F285A"/>
                </a:solidFill>
                <a:latin typeface="メイリオ"/>
                <a:ea typeface="メイリオ"/>
                <a:cs typeface="メイリオ"/>
              </a:rPr>
              <a:t>After（広告 × LINE）── 広告費も新規獲得数も据え置き</a:t>
            </a:r>
          </a:p>
          <a:p>
            <a:pPr algn="l">
              <a:lnSpc>
                <a:spcPct val="130000"/>
              </a:lnSpc>
              <a:spcAft>
                <a:spcPts val="200"/>
              </a:spcAft>
            </a:pPr>
            <a:r>
              <a:rPr sz="1050">
                <a:solidFill>
                  <a:srgbClr val="333333"/>
                </a:solidFill>
                <a:latin typeface="メイリオ"/>
                <a:ea typeface="メイリオ"/>
                <a:cs typeface="メイリオ"/>
              </a:rPr>
              <a:t>① カゴ落ちの回収　→　同じ流入から初回購入が増える</a:t>
            </a:r>
          </a:p>
          <a:p>
            <a:pPr algn="l">
              <a:lnSpc>
                <a:spcPct val="130000"/>
              </a:lnSpc>
              <a:spcAft>
                <a:spcPts val="200"/>
              </a:spcAft>
            </a:pPr>
            <a:r>
              <a:rPr sz="1050">
                <a:solidFill>
                  <a:srgbClr val="333333"/>
                </a:solidFill>
                <a:latin typeface="メイリオ"/>
                <a:ea typeface="メイリオ"/>
                <a:cs typeface="メイリオ"/>
              </a:rPr>
              <a:t>② 消費サイクル連動のF2オファー　→　平均購入回数が増える</a:t>
            </a:r>
          </a:p>
          <a:p>
            <a:pPr algn="l">
              <a:lnSpc>
                <a:spcPct val="130000"/>
              </a:lnSpc>
            </a:pPr>
            <a:r>
              <a:rPr sz="1050" b="1">
                <a:solidFill>
                  <a:srgbClr val="ED7D31"/>
                </a:solidFill>
                <a:latin typeface="メイリオ"/>
                <a:ea typeface="メイリオ"/>
                <a:cs typeface="メイリオ"/>
              </a:rPr>
              <a:t>③ ①②の結果　→　LTVが上がる　→　限界CPOが上がる　→　同じ広告枠でも勝てる範囲が広がる</a:t>
            </a:r>
          </a:p>
        </p:txBody>
      </p:sp>
      <p:sp>
        <p:nvSpPr>
          <p:cNvPr id="8" name="Rounded Rectangle 7"/>
          <p:cNvSpPr/>
          <p:nvPr/>
        </p:nvSpPr>
        <p:spPr>
          <a:xfrm>
            <a:off x="432000" y="4643999"/>
            <a:ext cx="9043200" cy="1007999"/>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99" y="4716000"/>
            <a:ext cx="8611200" cy="864000"/>
          </a:xfrm>
          <a:prstGeom prst="rect">
            <a:avLst/>
          </a:prstGeom>
          <a:noFill/>
        </p:spPr>
        <p:txBody>
          <a:bodyPr wrap="square" lIns="50400" tIns="21600" rIns="50400" bIns="21600" anchor="ctr">
            <a:spAutoFit/>
          </a:bodyPr>
          <a:lstStyle/>
          <a:p>
            <a:pPr algn="l">
              <a:spcAft>
                <a:spcPts val="400"/>
              </a:spcAft>
            </a:pPr>
            <a:r>
              <a:rPr sz="1250" b="1">
                <a:solidFill>
                  <a:srgbClr val="FFFFFF"/>
                </a:solidFill>
                <a:latin typeface="メイリオ"/>
                <a:ea typeface="メイリオ"/>
                <a:cs typeface="メイリオ"/>
              </a:rPr>
              <a:t>本資料では、具体的な数値シミュレーションは載せていません。</a:t>
            </a:r>
          </a:p>
          <a:p>
            <a:pPr algn="l">
              <a:lnSpc>
                <a:spcPct val="130000"/>
              </a:lnSpc>
            </a:pPr>
            <a:r>
              <a:rPr sz="1150">
                <a:solidFill>
                  <a:srgbClr val="FFFFFF"/>
                </a:solidFill>
                <a:latin typeface="メイリオ"/>
                <a:ea typeface="メイリオ"/>
                <a:cs typeface="メイリオ"/>
              </a:rPr>
              <a:t>御社の実績値（月間流入・カート投入率・初回購入数・F2転換率・客単価・利益率）をいただければ、貴社専用のシミュレーションを作成します。</a:t>
            </a:r>
          </a:p>
        </p:txBody>
      </p: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限界CPO ＝ 年間LTV −（広告費を除く年間の総費用 ÷ 顧客総数）</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費用プラン（6ヶ月〜／税抜）</a:t>
            </a:r>
          </a:p>
        </p:txBody>
      </p:sp>
      <p:sp>
        <p:nvSpPr>
          <p:cNvPr id="3" name="TextBox 2"/>
          <p:cNvSpPr txBox="1"/>
          <p:nvPr/>
        </p:nvSpPr>
        <p:spPr>
          <a:xfrm>
            <a:off x="432000" y="819206"/>
            <a:ext cx="9036000" cy="341589"/>
          </a:xfrm>
          <a:prstGeom prst="rect">
            <a:avLst/>
          </a:prstGeom>
          <a:noFill/>
        </p:spPr>
        <p:txBody>
          <a:bodyPr wrap="square" lIns="0" tIns="21600" rIns="0" bIns="21600" anchor="ctr">
            <a:spAutoFit/>
          </a:bodyPr>
          <a:lstStyle/>
          <a:p>
            <a:pPr algn="l">
              <a:lnSpc>
                <a:spcPct val="128000"/>
              </a:lnSpc>
            </a:pPr>
            <a:r>
              <a:rPr sz="1600" b="1" dirty="0" err="1">
                <a:solidFill>
                  <a:srgbClr val="333333"/>
                </a:solidFill>
                <a:latin typeface="メイリオ"/>
                <a:ea typeface="メイリオ"/>
                <a:cs typeface="メイリオ"/>
              </a:rPr>
              <a:t>初期費用と月額を分けて記載。継続費は複数箇所に明記している</a:t>
            </a:r>
            <a:r>
              <a:rPr sz="1600" b="1" dirty="0">
                <a:solidFill>
                  <a:srgbClr val="333333"/>
                </a:solidFill>
                <a:latin typeface="メイリオ"/>
                <a:ea typeface="メイリオ"/>
                <a:cs typeface="メイリオ"/>
              </a:rPr>
              <a:t>。</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200" cy="15840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20000"/>
                    </a:ext>
                  </a:extLst>
                </a:gridCol>
                <a:gridCol w="1584000">
                  <a:extLst>
                    <a:ext uri="{9D8B030D-6E8A-4147-A177-3AD203B41FA5}">
                      <a16:colId xmlns:a16="http://schemas.microsoft.com/office/drawing/2014/main" val="20001"/>
                    </a:ext>
                  </a:extLst>
                </a:gridCol>
                <a:gridCol w="2232000">
                  <a:extLst>
                    <a:ext uri="{9D8B030D-6E8A-4147-A177-3AD203B41FA5}">
                      <a16:colId xmlns:a16="http://schemas.microsoft.com/office/drawing/2014/main" val="20002"/>
                    </a:ext>
                  </a:extLst>
                </a:gridCol>
                <a:gridCol w="3067200">
                  <a:extLst>
                    <a:ext uri="{9D8B030D-6E8A-4147-A177-3AD203B41FA5}">
                      <a16:colId xmlns:a16="http://schemas.microsoft.com/office/drawing/2014/main" val="20003"/>
                    </a:ext>
                  </a:extLst>
                </a:gridCol>
              </a:tblGrid>
              <a:tr h="316800">
                <a:tc>
                  <a:txBody>
                    <a:bodyPr/>
                    <a:lstStyle/>
                    <a:p>
                      <a:pPr algn="l"/>
                      <a:r>
                        <a:rPr sz="900" b="1">
                          <a:solidFill>
                            <a:srgbClr val="FFFFFF"/>
                          </a:solidFill>
                          <a:latin typeface="メイリオ"/>
                          <a:ea typeface="メイリオ"/>
                          <a:cs typeface="メイリオ"/>
                        </a:rPr>
                        <a:t>プラン</a:t>
                      </a:r>
                    </a:p>
                  </a:txBody>
                  <a:tcPr marL="43200" marR="43200" marT="18000" marB="18000" anchor="ctr">
                    <a:solidFill>
                      <a:srgbClr val="1F285A"/>
                    </a:solidFill>
                  </a:tcPr>
                </a:tc>
                <a:tc>
                  <a:txBody>
                    <a:bodyPr/>
                    <a:lstStyle/>
                    <a:p>
                      <a:pPr algn="ctr"/>
                      <a:r>
                        <a:rPr sz="900" b="1">
                          <a:solidFill>
                            <a:srgbClr val="FFFFFF"/>
                          </a:solidFill>
                          <a:latin typeface="メイリオ"/>
                          <a:ea typeface="メイリオ"/>
                          <a:cs typeface="メイリオ"/>
                        </a:rPr>
                        <a:t>初期費用</a:t>
                      </a:r>
                    </a:p>
                  </a:txBody>
                  <a:tcPr marL="43200" marR="43200" marT="18000" marB="18000" anchor="ctr">
                    <a:solidFill>
                      <a:srgbClr val="1F285A"/>
                    </a:solidFill>
                  </a:tcPr>
                </a:tc>
                <a:tc>
                  <a:txBody>
                    <a:bodyPr/>
                    <a:lstStyle/>
                    <a:p>
                      <a:pPr algn="ctr"/>
                      <a:r>
                        <a:rPr sz="900" b="1">
                          <a:solidFill>
                            <a:srgbClr val="FFFFFF"/>
                          </a:solidFill>
                          <a:latin typeface="メイリオ"/>
                          <a:ea typeface="メイリオ"/>
                          <a:cs typeface="メイリオ"/>
                        </a:rPr>
                        <a:t>月額</a:t>
                      </a:r>
                    </a:p>
                  </a:txBody>
                  <a:tcPr marL="43200" marR="43200" marT="18000" marB="18000" anchor="ctr">
                    <a:solidFill>
                      <a:srgbClr val="1F285A"/>
                    </a:solidFill>
                  </a:tcPr>
                </a:tc>
                <a:tc>
                  <a:txBody>
                    <a:bodyPr/>
                    <a:lstStyle/>
                    <a:p>
                      <a:pPr algn="l"/>
                      <a:r>
                        <a:rPr sz="900" b="1">
                          <a:solidFill>
                            <a:srgbClr val="FFFFFF"/>
                          </a:solidFill>
                          <a:latin typeface="メイリオ"/>
                          <a:ea typeface="メイリオ"/>
                          <a:cs typeface="メイリオ"/>
                        </a:rPr>
                        <a:t>内容</a:t>
                      </a:r>
                    </a:p>
                  </a:txBody>
                  <a:tcPr marL="43200" marR="43200" marT="18000" marB="18000" anchor="ctr">
                    <a:solidFill>
                      <a:srgbClr val="1F285A"/>
                    </a:solidFill>
                  </a:tcPr>
                </a:tc>
                <a:extLst>
                  <a:ext uri="{0D108BD9-81ED-4DB2-BD59-A6C34878D82A}">
                    <a16:rowId xmlns:a16="http://schemas.microsoft.com/office/drawing/2014/main" val="10000"/>
                  </a:ext>
                </a:extLst>
              </a:tr>
              <a:tr h="316800">
                <a:tc>
                  <a:txBody>
                    <a:bodyPr/>
                    <a:lstStyle/>
                    <a:p>
                      <a:pPr algn="l"/>
                      <a:r>
                        <a:rPr sz="850">
                          <a:solidFill>
                            <a:srgbClr val="333333"/>
                          </a:solidFill>
                          <a:latin typeface="メイリオ"/>
                          <a:ea typeface="メイリオ"/>
                          <a:cs typeface="メイリオ"/>
                        </a:rPr>
                        <a:t>① コンサル基本</a:t>
                      </a:r>
                    </a:p>
                  </a:txBody>
                  <a:tcPr anchor="ctr">
                    <a:solidFill>
                      <a:srgbClr val="FFFFFF"/>
                    </a:solidFill>
                  </a:tcPr>
                </a:tc>
                <a:tc>
                  <a:txBody>
                    <a:bodyPr/>
                    <a:lstStyle/>
                    <a:p>
                      <a:pPr algn="ctr"/>
                      <a:r>
                        <a:rPr sz="850">
                          <a:solidFill>
                            <a:srgbClr val="333333"/>
                          </a:solidFill>
                          <a:latin typeface="メイリオ"/>
                          <a:ea typeface="メイリオ"/>
                          <a:cs typeface="メイリオ"/>
                        </a:rPr>
                        <a:t>10万円〜</a:t>
                      </a:r>
                    </a:p>
                  </a:txBody>
                  <a:tcPr anchor="ctr">
                    <a:solidFill>
                      <a:srgbClr val="FFFFFF"/>
                    </a:solidFill>
                  </a:tcPr>
                </a:tc>
                <a:tc>
                  <a:txBody>
                    <a:bodyPr/>
                    <a:lstStyle/>
                    <a:p>
                      <a:pPr algn="ctr"/>
                      <a:r>
                        <a:rPr sz="850">
                          <a:solidFill>
                            <a:srgbClr val="333333"/>
                          </a:solidFill>
                          <a:latin typeface="メイリオ"/>
                          <a:ea typeface="メイリオ"/>
                          <a:cs typeface="メイリオ"/>
                        </a:rPr>
                        <a:t>20万／30万／50万</a:t>
                      </a:r>
                    </a:p>
                  </a:txBody>
                  <a:tcPr anchor="ctr">
                    <a:solidFill>
                      <a:srgbClr val="FFFFFF"/>
                    </a:solidFill>
                  </a:tcPr>
                </a:tc>
                <a:tc>
                  <a:txBody>
                    <a:bodyPr/>
                    <a:lstStyle/>
                    <a:p>
                      <a:pPr algn="l"/>
                      <a:r>
                        <a:rPr sz="850">
                          <a:solidFill>
                            <a:srgbClr val="333333"/>
                          </a:solidFill>
                          <a:latin typeface="メイリオ"/>
                          <a:ea typeface="メイリオ"/>
                          <a:cs typeface="メイリオ"/>
                        </a:rPr>
                        <a:t>月3投稿／5投稿／9投稿。設計から運用まで伴走</a:t>
                      </a:r>
                    </a:p>
                  </a:txBody>
                  <a:tcPr anchor="ctr">
                    <a:solidFill>
                      <a:srgbClr val="FFFFFF"/>
                    </a:solidFill>
                  </a:tcPr>
                </a:tc>
                <a:extLst>
                  <a:ext uri="{0D108BD9-81ED-4DB2-BD59-A6C34878D82A}">
                    <a16:rowId xmlns:a16="http://schemas.microsoft.com/office/drawing/2014/main" val="10001"/>
                  </a:ext>
                </a:extLst>
              </a:tr>
              <a:tr h="316800">
                <a:tc>
                  <a:txBody>
                    <a:bodyPr/>
                    <a:lstStyle/>
                    <a:p>
                      <a:pPr algn="l"/>
                      <a:r>
                        <a:rPr sz="850">
                          <a:solidFill>
                            <a:srgbClr val="333333"/>
                          </a:solidFill>
                          <a:latin typeface="メイリオ"/>
                          <a:ea typeface="メイリオ"/>
                          <a:cs typeface="メイリオ"/>
                        </a:rPr>
                        <a:t>② 初動設計＋運用</a:t>
                      </a:r>
                    </a:p>
                  </a:txBody>
                  <a:tcPr anchor="ctr">
                    <a:solidFill>
                      <a:srgbClr val="F4F7FF"/>
                    </a:solidFill>
                  </a:tcPr>
                </a:tc>
                <a:tc>
                  <a:txBody>
                    <a:bodyPr/>
                    <a:lstStyle/>
                    <a:p>
                      <a:pPr algn="ctr"/>
                      <a:r>
                        <a:rPr sz="850">
                          <a:solidFill>
                            <a:srgbClr val="333333"/>
                          </a:solidFill>
                          <a:latin typeface="メイリオ"/>
                          <a:ea typeface="メイリオ"/>
                          <a:cs typeface="メイリオ"/>
                        </a:rPr>
                        <a:t>10万円〜</a:t>
                      </a:r>
                    </a:p>
                  </a:txBody>
                  <a:tcPr anchor="ctr">
                    <a:solidFill>
                      <a:srgbClr val="F4F7FF"/>
                    </a:solidFill>
                  </a:tcPr>
                </a:tc>
                <a:tc>
                  <a:txBody>
                    <a:bodyPr/>
                    <a:lstStyle/>
                    <a:p>
                      <a:pPr algn="ctr"/>
                      <a:r>
                        <a:rPr sz="850">
                          <a:solidFill>
                            <a:srgbClr val="333333"/>
                          </a:solidFill>
                          <a:latin typeface="メイリオ"/>
                          <a:ea typeface="メイリオ"/>
                          <a:cs typeface="メイリオ"/>
                        </a:rPr>
                        <a:t>5万円〜</a:t>
                      </a:r>
                    </a:p>
                  </a:txBody>
                  <a:tcPr anchor="ctr">
                    <a:solidFill>
                      <a:srgbClr val="F4F7FF"/>
                    </a:solidFill>
                  </a:tcPr>
                </a:tc>
                <a:tc>
                  <a:txBody>
                    <a:bodyPr/>
                    <a:lstStyle/>
                    <a:p>
                      <a:pPr algn="l"/>
                      <a:r>
                        <a:rPr sz="850">
                          <a:solidFill>
                            <a:srgbClr val="333333"/>
                          </a:solidFill>
                          <a:latin typeface="メイリオ"/>
                          <a:ea typeface="メイリオ"/>
                          <a:cs typeface="メイリオ"/>
                        </a:rPr>
                        <a:t>構築を中心に、運用は最小限</a:t>
                      </a:r>
                    </a:p>
                  </a:txBody>
                  <a:tcPr anchor="ctr">
                    <a:solidFill>
                      <a:srgbClr val="F4F7FF"/>
                    </a:solidFill>
                  </a:tcPr>
                </a:tc>
                <a:extLst>
                  <a:ext uri="{0D108BD9-81ED-4DB2-BD59-A6C34878D82A}">
                    <a16:rowId xmlns:a16="http://schemas.microsoft.com/office/drawing/2014/main" val="10002"/>
                  </a:ext>
                </a:extLst>
              </a:tr>
              <a:tr h="316800">
                <a:tc>
                  <a:txBody>
                    <a:bodyPr/>
                    <a:lstStyle/>
                    <a:p>
                      <a:pPr algn="l"/>
                      <a:r>
                        <a:rPr sz="850">
                          <a:solidFill>
                            <a:srgbClr val="333333"/>
                          </a:solidFill>
                          <a:latin typeface="メイリオ"/>
                          <a:ea typeface="メイリオ"/>
                          <a:cs typeface="メイリオ"/>
                        </a:rPr>
                        <a:t>③ 運用代行・効率改善</a:t>
                      </a:r>
                    </a:p>
                  </a:txBody>
                  <a:tcPr anchor="ctr">
                    <a:solidFill>
                      <a:srgbClr val="FFFFFF"/>
                    </a:solidFill>
                  </a:tcPr>
                </a:tc>
                <a:tc>
                  <a:txBody>
                    <a:bodyPr/>
                    <a:lstStyle/>
                    <a:p>
                      <a:pPr algn="ctr"/>
                      <a:r>
                        <a:rPr sz="850">
                          <a:solidFill>
                            <a:srgbClr val="333333"/>
                          </a:solidFill>
                          <a:latin typeface="メイリオ"/>
                          <a:ea typeface="メイリオ"/>
                          <a:cs typeface="メイリオ"/>
                        </a:rPr>
                        <a:t>10万円〜</a:t>
                      </a:r>
                    </a:p>
                  </a:txBody>
                  <a:tcPr anchor="ctr">
                    <a:solidFill>
                      <a:srgbClr val="FFFFFF"/>
                    </a:solidFill>
                  </a:tcPr>
                </a:tc>
                <a:tc>
                  <a:txBody>
                    <a:bodyPr/>
                    <a:lstStyle/>
                    <a:p>
                      <a:pPr algn="ctr"/>
                      <a:r>
                        <a:rPr sz="850">
                          <a:solidFill>
                            <a:srgbClr val="333333"/>
                          </a:solidFill>
                          <a:latin typeface="メイリオ"/>
                          <a:ea typeface="メイリオ"/>
                          <a:cs typeface="メイリオ"/>
                        </a:rPr>
                        <a:t>0万円〜</a:t>
                      </a:r>
                    </a:p>
                  </a:txBody>
                  <a:tcPr anchor="ctr">
                    <a:solidFill>
                      <a:srgbClr val="FFFFFF"/>
                    </a:solidFill>
                  </a:tcPr>
                </a:tc>
                <a:tc>
                  <a:txBody>
                    <a:bodyPr/>
                    <a:lstStyle/>
                    <a:p>
                      <a:pPr algn="l"/>
                      <a:r>
                        <a:rPr sz="850">
                          <a:solidFill>
                            <a:srgbClr val="333333"/>
                          </a:solidFill>
                          <a:latin typeface="メイリオ"/>
                          <a:ea typeface="メイリオ"/>
                          <a:cs typeface="メイリオ"/>
                        </a:rPr>
                        <a:t>アカウント費のみ。既存運用の改善</a:t>
                      </a:r>
                    </a:p>
                  </a:txBody>
                  <a:tcPr anchor="ctr">
                    <a:solidFill>
                      <a:srgbClr val="FFFFFF"/>
                    </a:solidFill>
                  </a:tcPr>
                </a:tc>
                <a:extLst>
                  <a:ext uri="{0D108BD9-81ED-4DB2-BD59-A6C34878D82A}">
                    <a16:rowId xmlns:a16="http://schemas.microsoft.com/office/drawing/2014/main" val="10003"/>
                  </a:ext>
                </a:extLst>
              </a:tr>
              <a:tr h="316800">
                <a:tc>
                  <a:txBody>
                    <a:bodyPr/>
                    <a:lstStyle/>
                    <a:p>
                      <a:pPr algn="l"/>
                      <a:r>
                        <a:rPr sz="850">
                          <a:solidFill>
                            <a:srgbClr val="333333"/>
                          </a:solidFill>
                          <a:latin typeface="メイリオ"/>
                          <a:ea typeface="メイリオ"/>
                          <a:cs typeface="メイリオ"/>
                        </a:rPr>
                        <a:t>④ 成果報酬型</a:t>
                      </a:r>
                    </a:p>
                  </a:txBody>
                  <a:tcPr anchor="ctr">
                    <a:solidFill>
                      <a:srgbClr val="F4F7FF"/>
                    </a:solidFill>
                  </a:tcPr>
                </a:tc>
                <a:tc>
                  <a:txBody>
                    <a:bodyPr/>
                    <a:lstStyle/>
                    <a:p>
                      <a:pPr algn="ctr"/>
                      <a:r>
                        <a:rPr sz="850">
                          <a:solidFill>
                            <a:srgbClr val="333333"/>
                          </a:solidFill>
                          <a:latin typeface="メイリオ"/>
                          <a:ea typeface="メイリオ"/>
                          <a:cs typeface="メイリオ"/>
                        </a:rPr>
                        <a:t>5万円〜</a:t>
                      </a:r>
                    </a:p>
                  </a:txBody>
                  <a:tcPr anchor="ctr">
                    <a:solidFill>
                      <a:srgbClr val="F4F7FF"/>
                    </a:solidFill>
                  </a:tcPr>
                </a:tc>
                <a:tc>
                  <a:txBody>
                    <a:bodyPr/>
                    <a:lstStyle/>
                    <a:p>
                      <a:pPr algn="ctr"/>
                      <a:r>
                        <a:rPr sz="850">
                          <a:solidFill>
                            <a:srgbClr val="333333"/>
                          </a:solidFill>
                          <a:latin typeface="メイリオ"/>
                          <a:ea typeface="メイリオ"/>
                          <a:cs typeface="メイリオ"/>
                        </a:rPr>
                        <a:t>単価×成果数＋固定費</a:t>
                      </a:r>
                    </a:p>
                  </a:txBody>
                  <a:tcPr anchor="ctr">
                    <a:solidFill>
                      <a:srgbClr val="F4F7FF"/>
                    </a:solidFill>
                  </a:tcPr>
                </a:tc>
                <a:tc>
                  <a:txBody>
                    <a:bodyPr/>
                    <a:lstStyle/>
                    <a:p>
                      <a:pPr algn="l"/>
                      <a:r>
                        <a:rPr sz="850">
                          <a:solidFill>
                            <a:srgbClr val="333333"/>
                          </a:solidFill>
                          <a:latin typeface="メイリオ"/>
                          <a:ea typeface="メイリオ"/>
                          <a:cs typeface="メイリオ"/>
                        </a:rPr>
                        <a:t>成果地点を合意のうえ設定</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32000" y="3383999"/>
            <a:ext cx="4521600" cy="122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57999" y="3576612"/>
            <a:ext cx="4269600" cy="838776"/>
          </a:xfrm>
          <a:prstGeom prst="rect">
            <a:avLst/>
          </a:prstGeom>
          <a:noFill/>
        </p:spPr>
        <p:txBody>
          <a:bodyPr wrap="square" lIns="50400" tIns="21600" rIns="50400" bIns="21600" anchor="ctr">
            <a:spAutoFit/>
          </a:bodyPr>
          <a:lstStyle/>
          <a:p>
            <a:pPr algn="l">
              <a:spcAft>
                <a:spcPts val="400"/>
              </a:spcAft>
            </a:pPr>
            <a:r>
              <a:rPr sz="1200" b="1" dirty="0" err="1">
                <a:solidFill>
                  <a:srgbClr val="1F285A"/>
                </a:solidFill>
                <a:latin typeface="メイリオ"/>
                <a:ea typeface="メイリオ"/>
                <a:cs typeface="メイリオ"/>
              </a:rPr>
              <a:t>無償で付帯するもの</a:t>
            </a:r>
            <a:endParaRPr sz="1200" b="1" dirty="0">
              <a:solidFill>
                <a:srgbClr val="1F285A"/>
              </a:solidFill>
              <a:latin typeface="メイリオ"/>
              <a:ea typeface="メイリオ"/>
              <a:cs typeface="メイリオ"/>
            </a:endParaRPr>
          </a:p>
          <a:p>
            <a:pPr algn="l">
              <a:lnSpc>
                <a:spcPct val="130000"/>
              </a:lnSpc>
            </a:pPr>
            <a:r>
              <a:rPr sz="950" dirty="0" err="1">
                <a:solidFill>
                  <a:srgbClr val="333333"/>
                </a:solidFill>
                <a:latin typeface="メイリオ"/>
                <a:ea typeface="メイリオ"/>
                <a:cs typeface="メイリオ"/>
              </a:rPr>
              <a:t>プロフィール／リッチメニュ</a:t>
            </a:r>
            <a:r>
              <a:rPr sz="950" dirty="0">
                <a:solidFill>
                  <a:srgbClr val="333333"/>
                </a:solidFill>
                <a:latin typeface="メイリオ"/>
                <a:ea typeface="メイリオ"/>
                <a:cs typeface="メイリオ"/>
              </a:rPr>
              <a:t>ー／あいさつメッセージ／初期アンケート／キーワード自動応答／ステップ配信／セグメント配信／タグ管理／GAレポート連携／クリエイティブ／定例会</a:t>
            </a:r>
          </a:p>
        </p:txBody>
      </p:sp>
      <p:sp>
        <p:nvSpPr>
          <p:cNvPr id="8" name="Rounded Rectangle 7"/>
          <p:cNvSpPr/>
          <p:nvPr/>
        </p:nvSpPr>
        <p:spPr>
          <a:xfrm>
            <a:off x="5061600" y="3383999"/>
            <a:ext cx="4413600" cy="1224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87600" y="3557376"/>
            <a:ext cx="4179600" cy="877248"/>
          </a:xfrm>
          <a:prstGeom prst="rect">
            <a:avLst/>
          </a:prstGeom>
          <a:noFill/>
        </p:spPr>
        <p:txBody>
          <a:bodyPr wrap="square" lIns="50400" tIns="21600" rIns="50400" bIns="21600" anchor="ctr">
            <a:spAutoFit/>
          </a:bodyPr>
          <a:lstStyle/>
          <a:p>
            <a:pPr algn="l">
              <a:spcAft>
                <a:spcPts val="400"/>
              </a:spcAft>
            </a:pPr>
            <a:r>
              <a:rPr sz="1200" b="1" dirty="0" err="1">
                <a:solidFill>
                  <a:srgbClr val="333333"/>
                </a:solidFill>
                <a:latin typeface="メイリオ"/>
                <a:ea typeface="メイリオ"/>
                <a:cs typeface="メイリオ"/>
              </a:rPr>
              <a:t>別途費用がかかるもの</a:t>
            </a:r>
            <a:endParaRPr sz="1200" b="1" dirty="0">
              <a:solidFill>
                <a:srgbClr val="333333"/>
              </a:solidFill>
              <a:latin typeface="メイリオ"/>
              <a:ea typeface="メイリオ"/>
              <a:cs typeface="メイリオ"/>
            </a:endParaRPr>
          </a:p>
          <a:p>
            <a:pPr>
              <a:lnSpc>
                <a:spcPct val="130000"/>
              </a:lnSpc>
              <a:spcAft>
                <a:spcPts val="300"/>
              </a:spcAft>
            </a:pPr>
            <a:r>
              <a:rPr sz="950" dirty="0">
                <a:solidFill>
                  <a:srgbClr val="333333"/>
                </a:solidFill>
                <a:latin typeface="メイリオ"/>
                <a:ea typeface="メイリオ"/>
                <a:cs typeface="メイリオ"/>
              </a:rPr>
              <a:t>アカウント開設 初期1万（成果報酬型は3万）／ポップアップ（離脱防止）初期1.5万＋月3万／通知メッセージ 初期10万＋月8万〜＋通数7円／サンクスLINE誘導 初期10万＋月3万〜</a:t>
            </a:r>
          </a:p>
          <a:p>
            <a:pPr algn="l">
              <a:lnSpc>
                <a:spcPct val="130000"/>
              </a:lnSpc>
            </a:pPr>
            <a:r>
              <a:rPr sz="950" dirty="0">
                <a:solidFill>
                  <a:srgbClr val="7F7F7F"/>
                </a:solidFill>
                <a:latin typeface="メイリオ"/>
                <a:ea typeface="メイリオ"/>
                <a:cs typeface="メイリオ"/>
              </a:rPr>
              <a:t>※API連携・配信ツール利用料は別途。配信ツールは1種を選定します</a:t>
            </a:r>
          </a:p>
        </p:txBody>
      </p:sp>
      <p:sp>
        <p:nvSpPr>
          <p:cNvPr id="10" name="Rounded Rectangle 9"/>
          <p:cNvSpPr/>
          <p:nvPr/>
        </p:nvSpPr>
        <p:spPr>
          <a:xfrm>
            <a:off x="432000" y="4788000"/>
            <a:ext cx="9043200" cy="864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999" y="4860000"/>
            <a:ext cx="8611200" cy="720000"/>
          </a:xfrm>
          <a:prstGeom prst="rect">
            <a:avLst/>
          </a:prstGeom>
          <a:noFill/>
        </p:spPr>
        <p:txBody>
          <a:bodyPr wrap="square" lIns="50400" tIns="21600" rIns="50400" bIns="21600" anchor="ctr">
            <a:spAutoFit/>
          </a:bodyPr>
          <a:lstStyle/>
          <a:p>
            <a:pPr algn="l">
              <a:spcAft>
                <a:spcPts val="400"/>
              </a:spcAft>
            </a:pPr>
            <a:r>
              <a:rPr sz="1200" b="1">
                <a:solidFill>
                  <a:srgbClr val="ED7D31"/>
                </a:solidFill>
                <a:latin typeface="メイリオ"/>
                <a:ea typeface="メイリオ"/>
                <a:cs typeface="メイリオ"/>
              </a:rPr>
              <a:t>継続費のご確認</a:t>
            </a:r>
          </a:p>
          <a:p>
            <a:pPr algn="l">
              <a:lnSpc>
                <a:spcPct val="130000"/>
              </a:lnSpc>
            </a:pPr>
            <a:r>
              <a:rPr sz="1100">
                <a:solidFill>
                  <a:srgbClr val="333333"/>
                </a:solidFill>
                <a:latin typeface="メイリオ"/>
                <a:ea typeface="メイリオ"/>
                <a:cs typeface="メイリオ"/>
              </a:rPr>
              <a:t>初期費用は初月のみ。2ヶ月目以降は月額のみが継続してかかります。契約期間は6ヶ月〜。7ヶ月目以降も同額の月額が継続します。</a:t>
            </a:r>
          </a:p>
        </p:txBody>
      </p: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すべて税抜。契約期間・成果地点は個別のご要望に応じて調整します</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運用スケジュール（6ヶ月）</a:t>
            </a:r>
          </a:p>
        </p:txBody>
      </p:sp>
      <p:sp>
        <p:nvSpPr>
          <p:cNvPr id="3" name="TextBox 2"/>
          <p:cNvSpPr txBox="1"/>
          <p:nvPr/>
        </p:nvSpPr>
        <p:spPr>
          <a:xfrm>
            <a:off x="432000" y="648000"/>
            <a:ext cx="9036000" cy="684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1〜2ヶ月目でID連携の可否を確認します。取れない場合は、連携が不要な施策から先に立ち上げます。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1447200" cy="3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620000"/>
            <a:ext cx="1447200" cy="324000"/>
          </a:xfrm>
          <a:prstGeom prst="rect">
            <a:avLst/>
          </a:prstGeom>
          <a:noFill/>
        </p:spPr>
        <p:txBody>
          <a:bodyPr wrap="square" lIns="18000" tIns="21600" rIns="18000" bIns="21600" anchor="ctr">
            <a:spAutoFit/>
          </a:bodyPr>
          <a:lstStyle/>
          <a:p>
            <a:pPr algn="ctr"/>
            <a:r>
              <a:rPr sz="1100" b="1">
                <a:solidFill>
                  <a:srgbClr val="FFFFFF"/>
                </a:solidFill>
                <a:latin typeface="メイリオ"/>
                <a:ea typeface="メイリオ"/>
                <a:cs typeface="メイリオ"/>
              </a:rPr>
              <a:t>1ヶ月目</a:t>
            </a:r>
          </a:p>
        </p:txBody>
      </p:sp>
      <p:sp>
        <p:nvSpPr>
          <p:cNvPr id="7" name="Rounded Rectangle 6"/>
          <p:cNvSpPr/>
          <p:nvPr/>
        </p:nvSpPr>
        <p:spPr>
          <a:xfrm>
            <a:off x="432000" y="1980000"/>
            <a:ext cx="1447200" cy="194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9599" y="2051999"/>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キックオフ・要件確認</a:t>
            </a:r>
          </a:p>
        </p:txBody>
      </p:sp>
      <p:sp>
        <p:nvSpPr>
          <p:cNvPr id="9" name="TextBox 8"/>
          <p:cNvSpPr txBox="1"/>
          <p:nvPr/>
        </p:nvSpPr>
        <p:spPr>
          <a:xfrm>
            <a:off x="489599" y="2664000"/>
            <a:ext cx="1332000" cy="576000"/>
          </a:xfrm>
          <a:prstGeom prst="rect">
            <a:avLst/>
          </a:prstGeom>
          <a:noFill/>
        </p:spPr>
        <p:txBody>
          <a:bodyPr wrap="square" lIns="50400" tIns="21600" rIns="50400" bIns="21600" anchor="t">
            <a:spAutoFit/>
          </a:bodyPr>
          <a:lstStyle/>
          <a:p>
            <a:pPr algn="l">
              <a:lnSpc>
                <a:spcPct val="128000"/>
              </a:lnSpc>
            </a:pPr>
            <a:r>
              <a:rPr sz="950" b="1">
                <a:solidFill>
                  <a:srgbClr val="ED7D31"/>
                </a:solidFill>
                <a:latin typeface="メイリオ"/>
                <a:ea typeface="メイリオ"/>
                <a:cs typeface="メイリオ"/>
              </a:rPr>
              <a:t>★ID連携の可否確認と設計</a:t>
            </a:r>
          </a:p>
        </p:txBody>
      </p:sp>
      <p:sp>
        <p:nvSpPr>
          <p:cNvPr id="10" name="TextBox 9"/>
          <p:cNvSpPr txBox="1"/>
          <p:nvPr/>
        </p:nvSpPr>
        <p:spPr>
          <a:xfrm>
            <a:off x="489599" y="3276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アカウント開設・プロフィール</a:t>
            </a:r>
          </a:p>
        </p:txBody>
      </p:sp>
      <p:sp>
        <p:nvSpPr>
          <p:cNvPr id="11" name="Rounded Rectangle 10"/>
          <p:cNvSpPr/>
          <p:nvPr/>
        </p:nvSpPr>
        <p:spPr>
          <a:xfrm>
            <a:off x="1951200" y="1620000"/>
            <a:ext cx="1447200" cy="3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51200" y="1620000"/>
            <a:ext cx="1447200" cy="324000"/>
          </a:xfrm>
          <a:prstGeom prst="rect">
            <a:avLst/>
          </a:prstGeom>
          <a:noFill/>
        </p:spPr>
        <p:txBody>
          <a:bodyPr wrap="square" lIns="18000" tIns="21600" rIns="18000" bIns="21600" anchor="ctr">
            <a:spAutoFit/>
          </a:bodyPr>
          <a:lstStyle/>
          <a:p>
            <a:pPr algn="ctr"/>
            <a:r>
              <a:rPr sz="1100" b="1">
                <a:solidFill>
                  <a:srgbClr val="FFFFFF"/>
                </a:solidFill>
                <a:latin typeface="メイリオ"/>
                <a:ea typeface="メイリオ"/>
                <a:cs typeface="メイリオ"/>
              </a:rPr>
              <a:t>2ヶ月目</a:t>
            </a:r>
          </a:p>
        </p:txBody>
      </p:sp>
      <p:sp>
        <p:nvSpPr>
          <p:cNvPr id="13" name="Rounded Rectangle 12"/>
          <p:cNvSpPr/>
          <p:nvPr/>
        </p:nvSpPr>
        <p:spPr>
          <a:xfrm>
            <a:off x="1951200" y="1980000"/>
            <a:ext cx="1447200" cy="194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08800" y="2051999"/>
            <a:ext cx="1332000" cy="576000"/>
          </a:xfrm>
          <a:prstGeom prst="rect">
            <a:avLst/>
          </a:prstGeom>
          <a:noFill/>
        </p:spPr>
        <p:txBody>
          <a:bodyPr wrap="square" lIns="50400" tIns="21600" rIns="50400" bIns="21600" anchor="t">
            <a:spAutoFit/>
          </a:bodyPr>
          <a:lstStyle/>
          <a:p>
            <a:pPr algn="l">
              <a:lnSpc>
                <a:spcPct val="128000"/>
              </a:lnSpc>
            </a:pPr>
            <a:r>
              <a:rPr sz="950" b="1">
                <a:solidFill>
                  <a:srgbClr val="ED7D31"/>
                </a:solidFill>
                <a:latin typeface="メイリオ"/>
                <a:ea typeface="メイリオ"/>
                <a:cs typeface="メイリオ"/>
              </a:rPr>
              <a:t>★ID連携の実装</a:t>
            </a:r>
          </a:p>
        </p:txBody>
      </p:sp>
      <p:sp>
        <p:nvSpPr>
          <p:cNvPr id="15" name="TextBox 14"/>
          <p:cNvSpPr txBox="1"/>
          <p:nvPr/>
        </p:nvSpPr>
        <p:spPr>
          <a:xfrm>
            <a:off x="2008800" y="2664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購入完了画面・同梱物QRの導線</a:t>
            </a:r>
          </a:p>
        </p:txBody>
      </p:sp>
      <p:sp>
        <p:nvSpPr>
          <p:cNvPr id="16" name="TextBox 15"/>
          <p:cNvSpPr txBox="1"/>
          <p:nvPr/>
        </p:nvSpPr>
        <p:spPr>
          <a:xfrm>
            <a:off x="2008800" y="3276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あいさつ／初期アンケート／リッチメニュー</a:t>
            </a:r>
          </a:p>
        </p:txBody>
      </p:sp>
      <p:sp>
        <p:nvSpPr>
          <p:cNvPr id="17" name="Rounded Rectangle 16"/>
          <p:cNvSpPr/>
          <p:nvPr/>
        </p:nvSpPr>
        <p:spPr>
          <a:xfrm>
            <a:off x="34704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70400" y="1620000"/>
            <a:ext cx="1447200" cy="324000"/>
          </a:xfrm>
          <a:prstGeom prst="rect">
            <a:avLst/>
          </a:prstGeom>
          <a:noFill/>
        </p:spPr>
        <p:txBody>
          <a:bodyPr wrap="square" lIns="18000" tIns="21600" rIns="18000" bIns="21600" anchor="ctr">
            <a:spAutoFit/>
          </a:bodyPr>
          <a:lstStyle/>
          <a:p>
            <a:pPr algn="ctr"/>
            <a:r>
              <a:rPr sz="1100" b="1">
                <a:solidFill>
                  <a:srgbClr val="FFFFFF"/>
                </a:solidFill>
                <a:latin typeface="メイリオ"/>
                <a:ea typeface="メイリオ"/>
                <a:cs typeface="メイリオ"/>
              </a:rPr>
              <a:t>3ヶ月目</a:t>
            </a:r>
          </a:p>
        </p:txBody>
      </p:sp>
      <p:sp>
        <p:nvSpPr>
          <p:cNvPr id="19" name="Rounded Rectangle 18"/>
          <p:cNvSpPr/>
          <p:nvPr/>
        </p:nvSpPr>
        <p:spPr>
          <a:xfrm>
            <a:off x="34704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528000" y="2051999"/>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改善モデル①②の実装（カゴ落ち・初回購入）</a:t>
            </a:r>
          </a:p>
        </p:txBody>
      </p:sp>
      <p:sp>
        <p:nvSpPr>
          <p:cNvPr id="21" name="TextBox 20"/>
          <p:cNvSpPr txBox="1"/>
          <p:nvPr/>
        </p:nvSpPr>
        <p:spPr>
          <a:xfrm>
            <a:off x="3528000" y="2664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通知メッセージの申請・設定</a:t>
            </a:r>
          </a:p>
        </p:txBody>
      </p:sp>
      <p:sp>
        <p:nvSpPr>
          <p:cNvPr id="22" name="TextBox 21"/>
          <p:cNvSpPr txBox="1"/>
          <p:nvPr/>
        </p:nvSpPr>
        <p:spPr>
          <a:xfrm>
            <a:off x="3528000" y="3276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配信開始</a:t>
            </a:r>
          </a:p>
        </p:txBody>
      </p:sp>
      <p:sp>
        <p:nvSpPr>
          <p:cNvPr id="23" name="Rounded Rectangle 22"/>
          <p:cNvSpPr/>
          <p:nvPr/>
        </p:nvSpPr>
        <p:spPr>
          <a:xfrm>
            <a:off x="49896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89600" y="1620000"/>
            <a:ext cx="1447200" cy="324000"/>
          </a:xfrm>
          <a:prstGeom prst="rect">
            <a:avLst/>
          </a:prstGeom>
          <a:noFill/>
        </p:spPr>
        <p:txBody>
          <a:bodyPr wrap="square" lIns="18000" tIns="21600" rIns="18000" bIns="21600" anchor="ctr">
            <a:spAutoFit/>
          </a:bodyPr>
          <a:lstStyle/>
          <a:p>
            <a:pPr algn="ctr"/>
            <a:r>
              <a:rPr sz="1100" b="1">
                <a:solidFill>
                  <a:srgbClr val="FFFFFF"/>
                </a:solidFill>
                <a:latin typeface="メイリオ"/>
                <a:ea typeface="メイリオ"/>
                <a:cs typeface="メイリオ"/>
              </a:rPr>
              <a:t>4ヶ月目</a:t>
            </a:r>
          </a:p>
        </p:txBody>
      </p:sp>
      <p:sp>
        <p:nvSpPr>
          <p:cNvPr id="25" name="Rounded Rectangle 24"/>
          <p:cNvSpPr/>
          <p:nvPr/>
        </p:nvSpPr>
        <p:spPr>
          <a:xfrm>
            <a:off x="49896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47200" y="2051999"/>
            <a:ext cx="1332000" cy="576000"/>
          </a:xfrm>
          <a:prstGeom prst="rect">
            <a:avLst/>
          </a:prstGeom>
          <a:noFill/>
        </p:spPr>
        <p:txBody>
          <a:bodyPr wrap="square" lIns="50400" tIns="21600" rIns="50400" bIns="21600" anchor="t">
            <a:spAutoFit/>
          </a:bodyPr>
          <a:lstStyle/>
          <a:p>
            <a:pPr algn="l">
              <a:lnSpc>
                <a:spcPct val="128000"/>
              </a:lnSpc>
            </a:pPr>
            <a:r>
              <a:rPr sz="950" b="1">
                <a:solidFill>
                  <a:srgbClr val="ED7D31"/>
                </a:solidFill>
                <a:latin typeface="メイリオ"/>
                <a:ea typeface="メイリオ"/>
                <a:cs typeface="メイリオ"/>
              </a:rPr>
              <a:t>★改善モデル③（F2転換）の実装</a:t>
            </a:r>
          </a:p>
        </p:txBody>
      </p:sp>
      <p:sp>
        <p:nvSpPr>
          <p:cNvPr id="27" name="TextBox 26"/>
          <p:cNvSpPr txBox="1"/>
          <p:nvPr/>
        </p:nvSpPr>
        <p:spPr>
          <a:xfrm>
            <a:off x="5047200" y="2664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企画投稿の開始（商戦カレンダー連動）</a:t>
            </a:r>
          </a:p>
        </p:txBody>
      </p:sp>
      <p:sp>
        <p:nvSpPr>
          <p:cNvPr id="28" name="TextBox 27"/>
          <p:cNvSpPr txBox="1"/>
          <p:nvPr/>
        </p:nvSpPr>
        <p:spPr>
          <a:xfrm>
            <a:off x="5047200" y="3276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カゴ落ち回収率の初回レビュー</a:t>
            </a:r>
          </a:p>
        </p:txBody>
      </p:sp>
      <p:sp>
        <p:nvSpPr>
          <p:cNvPr id="29" name="Rounded Rectangle 28"/>
          <p:cNvSpPr/>
          <p:nvPr/>
        </p:nvSpPr>
        <p:spPr>
          <a:xfrm>
            <a:off x="65088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08800" y="1620000"/>
            <a:ext cx="1447200" cy="324000"/>
          </a:xfrm>
          <a:prstGeom prst="rect">
            <a:avLst/>
          </a:prstGeom>
          <a:noFill/>
        </p:spPr>
        <p:txBody>
          <a:bodyPr wrap="square" lIns="18000" tIns="21600" rIns="18000" bIns="21600" anchor="ctr">
            <a:spAutoFit/>
          </a:bodyPr>
          <a:lstStyle/>
          <a:p>
            <a:pPr algn="ctr"/>
            <a:r>
              <a:rPr sz="1100" b="1">
                <a:solidFill>
                  <a:srgbClr val="FFFFFF"/>
                </a:solidFill>
                <a:latin typeface="メイリオ"/>
                <a:ea typeface="メイリオ"/>
                <a:cs typeface="メイリオ"/>
              </a:rPr>
              <a:t>5ヶ月目</a:t>
            </a:r>
          </a:p>
        </p:txBody>
      </p:sp>
      <p:sp>
        <p:nvSpPr>
          <p:cNvPr id="31" name="Rounded Rectangle 30"/>
          <p:cNvSpPr/>
          <p:nvPr/>
        </p:nvSpPr>
        <p:spPr>
          <a:xfrm>
            <a:off x="65088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66400" y="2051999"/>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改善モデル④（定期引上・休眠）の実装</a:t>
            </a:r>
          </a:p>
        </p:txBody>
      </p:sp>
      <p:sp>
        <p:nvSpPr>
          <p:cNvPr id="33" name="TextBox 32"/>
          <p:cNvSpPr txBox="1"/>
          <p:nvPr/>
        </p:nvSpPr>
        <p:spPr>
          <a:xfrm>
            <a:off x="6566400" y="2664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オファーの改善</a:t>
            </a:r>
          </a:p>
        </p:txBody>
      </p:sp>
      <p:sp>
        <p:nvSpPr>
          <p:cNvPr id="34" name="TextBox 33"/>
          <p:cNvSpPr txBox="1"/>
          <p:nvPr/>
        </p:nvSpPr>
        <p:spPr>
          <a:xfrm>
            <a:off x="6566400" y="3276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セグメント配信の追加</a:t>
            </a:r>
          </a:p>
        </p:txBody>
      </p:sp>
      <p:sp>
        <p:nvSpPr>
          <p:cNvPr id="35" name="Rounded Rectangle 34"/>
          <p:cNvSpPr/>
          <p:nvPr/>
        </p:nvSpPr>
        <p:spPr>
          <a:xfrm>
            <a:off x="80280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28000" y="1620000"/>
            <a:ext cx="1447200" cy="324000"/>
          </a:xfrm>
          <a:prstGeom prst="rect">
            <a:avLst/>
          </a:prstGeom>
          <a:noFill/>
        </p:spPr>
        <p:txBody>
          <a:bodyPr wrap="square" lIns="18000" tIns="21600" rIns="18000" bIns="21600" anchor="ctr">
            <a:spAutoFit/>
          </a:bodyPr>
          <a:lstStyle/>
          <a:p>
            <a:pPr algn="ctr"/>
            <a:r>
              <a:rPr sz="1100" b="1">
                <a:solidFill>
                  <a:srgbClr val="FFFFFF"/>
                </a:solidFill>
                <a:latin typeface="メイリオ"/>
                <a:ea typeface="メイリオ"/>
                <a:cs typeface="メイリオ"/>
              </a:rPr>
              <a:t>6ヶ月目</a:t>
            </a:r>
          </a:p>
        </p:txBody>
      </p:sp>
      <p:sp>
        <p:nvSpPr>
          <p:cNvPr id="37" name="Rounded Rectangle 36"/>
          <p:cNvSpPr/>
          <p:nvPr/>
        </p:nvSpPr>
        <p:spPr>
          <a:xfrm>
            <a:off x="80280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85600" y="2051999"/>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F2転換率のレビュー</a:t>
            </a:r>
          </a:p>
        </p:txBody>
      </p:sp>
      <p:sp>
        <p:nvSpPr>
          <p:cNvPr id="39" name="TextBox 38"/>
          <p:cNvSpPr txBox="1"/>
          <p:nvPr/>
        </p:nvSpPr>
        <p:spPr>
          <a:xfrm>
            <a:off x="8085600" y="2664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半期の振り返り</a:t>
            </a:r>
          </a:p>
        </p:txBody>
      </p:sp>
      <p:sp>
        <p:nvSpPr>
          <p:cNvPr id="40" name="TextBox 39"/>
          <p:cNvSpPr txBox="1"/>
          <p:nvPr/>
        </p:nvSpPr>
        <p:spPr>
          <a:xfrm>
            <a:off x="8085600" y="3276000"/>
            <a:ext cx="1332000" cy="576000"/>
          </a:xfrm>
          <a:prstGeom prst="rect">
            <a:avLst/>
          </a:prstGeom>
          <a:noFill/>
        </p:spPr>
        <p:txBody>
          <a:bodyPr wrap="square" lIns="50400" tIns="21600" rIns="50400" bIns="21600" anchor="t">
            <a:spAutoFit/>
          </a:bodyPr>
          <a:lstStyle/>
          <a:p>
            <a:pPr algn="l">
              <a:lnSpc>
                <a:spcPct val="128000"/>
              </a:lnSpc>
            </a:pPr>
            <a:r>
              <a:rPr sz="950">
                <a:solidFill>
                  <a:srgbClr val="333333"/>
                </a:solidFill>
                <a:latin typeface="メイリオ"/>
                <a:ea typeface="メイリオ"/>
                <a:cs typeface="メイリオ"/>
              </a:rPr>
              <a:t>次期の設計（11〜12月商戦へ）</a:t>
            </a:r>
          </a:p>
        </p:txBody>
      </p:sp>
      <p:sp>
        <p:nvSpPr>
          <p:cNvPr id="41" name="Rounded Rectangle 40"/>
          <p:cNvSpPr/>
          <p:nvPr/>
        </p:nvSpPr>
        <p:spPr>
          <a:xfrm>
            <a:off x="432000" y="4212000"/>
            <a:ext cx="9043200" cy="144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7999" y="4283999"/>
            <a:ext cx="8611200" cy="1296000"/>
          </a:xfrm>
          <a:prstGeom prst="rect">
            <a:avLst/>
          </a:prstGeom>
          <a:noFill/>
        </p:spPr>
        <p:txBody>
          <a:bodyPr wrap="square" lIns="50400" tIns="21600" rIns="50400" bIns="21600" anchor="ctr">
            <a:spAutoFit/>
          </a:bodyPr>
          <a:lstStyle/>
          <a:p>
            <a:pPr algn="l">
              <a:spcAft>
                <a:spcPts val="500"/>
              </a:spcAft>
            </a:pPr>
            <a:r>
              <a:rPr sz="1250" b="1">
                <a:solidFill>
                  <a:srgbClr val="ED7D31"/>
                </a:solidFill>
                <a:latin typeface="メイリオ"/>
                <a:ea typeface="メイリオ"/>
                <a:cs typeface="メイリオ"/>
              </a:rPr>
              <a:t>★改善モデル③（F2転換）は4ヶ月目に置いている</a:t>
            </a:r>
          </a:p>
          <a:p>
            <a:pPr algn="l">
              <a:lnSpc>
                <a:spcPct val="132000"/>
              </a:lnSpc>
              <a:spcAft>
                <a:spcPts val="400"/>
              </a:spcAft>
            </a:pPr>
            <a:r>
              <a:rPr sz="1150">
                <a:solidFill>
                  <a:srgbClr val="FFFFFF"/>
                </a:solidFill>
                <a:latin typeface="メイリオ"/>
                <a:ea typeface="メイリオ"/>
                <a:cs typeface="メイリオ"/>
              </a:rPr>
              <a:t>先に「カゴ落ちの回収」（①）と「初回購入の後押し」（②）を回して初回購入の母数を増やしてから、F2オファーを実装する。</a:t>
            </a:r>
          </a:p>
          <a:p>
            <a:pPr algn="l">
              <a:lnSpc>
                <a:spcPct val="132000"/>
              </a:lnSpc>
            </a:pPr>
            <a:r>
              <a:rPr sz="1150" b="1">
                <a:solidFill>
                  <a:srgbClr val="FFFFFF"/>
                </a:solidFill>
                <a:latin typeface="メイリオ"/>
                <a:ea typeface="メイリオ"/>
                <a:cs typeface="メイリオ"/>
              </a:rPr>
              <a:t>順番を逆にすると、F2オファーを送る相手がいない。</a:t>
            </a:r>
          </a:p>
        </p:txBody>
      </p:sp>
      <p:sp>
        <p:nvSpPr>
          <p:cNvPr id="43" name="TextBox 4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 ID連携・カゴ落ち検知はカートシステム側の仕様によります。対応できない場合は、連携が不要な施策（あいさつ・ステップ配信・企画配信・通知メッセージ・同梱物QR）だけで立ち上げ、連携が整い次第、カゴ落ち回収とF2の消費サイクル連動を追加します</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サポート体制</a:t>
            </a:r>
          </a:p>
        </p:txBody>
      </p:sp>
      <p:sp>
        <p:nvSpPr>
          <p:cNvPr id="3" name="TextBox 2"/>
          <p:cNvSpPr txBox="1"/>
          <p:nvPr/>
        </p:nvSpPr>
        <p:spPr>
          <a:xfrm>
            <a:off x="432000" y="648000"/>
            <a:ext cx="9036000" cy="684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配信を作る人と、計測・連携を見る人を分ける。ECはカゴ落ち検知とID連携がないと始まらない。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00" y="1674000"/>
            <a:ext cx="2304000" cy="648000"/>
          </a:xfrm>
          <a:prstGeom prst="rect">
            <a:avLst/>
          </a:prstGeom>
          <a:noFill/>
        </p:spPr>
        <p:txBody>
          <a:bodyPr wrap="square" lIns="50400" tIns="21600" rIns="50400" bIns="21600" anchor="ctr">
            <a:spAutoFit/>
          </a:bodyPr>
          <a:lstStyle/>
          <a:p>
            <a:pPr algn="l"/>
            <a:r>
              <a:rPr sz="1300" b="1">
                <a:solidFill>
                  <a:srgbClr val="1F285A"/>
                </a:solidFill>
                <a:latin typeface="メイリオ"/>
                <a:ea typeface="メイリオ"/>
                <a:cs typeface="メイリオ"/>
              </a:rPr>
              <a:t>戦略・設計</a:t>
            </a:r>
          </a:p>
        </p:txBody>
      </p:sp>
      <p:sp>
        <p:nvSpPr>
          <p:cNvPr id="7" name="TextBox 6"/>
          <p:cNvSpPr txBox="1"/>
          <p:nvPr/>
        </p:nvSpPr>
        <p:spPr>
          <a:xfrm>
            <a:off x="3024000" y="1674000"/>
            <a:ext cx="6307200" cy="648000"/>
          </a:xfrm>
          <a:prstGeom prst="rect">
            <a:avLst/>
          </a:prstGeom>
          <a:noFill/>
        </p:spPr>
        <p:txBody>
          <a:bodyPr wrap="square" lIns="50400" tIns="21600" rIns="50400" bIns="21600" anchor="ctr">
            <a:spAutoFit/>
          </a:bodyPr>
          <a:lstStyle/>
          <a:p>
            <a:pPr algn="l">
              <a:lnSpc>
                <a:spcPct val="130000"/>
              </a:lnSpc>
            </a:pPr>
            <a:r>
              <a:rPr sz="1100">
                <a:solidFill>
                  <a:srgbClr val="333333"/>
                </a:solidFill>
                <a:latin typeface="メイリオ"/>
                <a:ea typeface="メイリオ"/>
                <a:cs typeface="メイリオ"/>
              </a:rPr>
              <a:t>シナリオ設計／KPI設計／定例会。カゴ落ち回収率とF2転換率の推移を追う</a:t>
            </a:r>
          </a:p>
        </p:txBody>
      </p:sp>
      <p:sp>
        <p:nvSpPr>
          <p:cNvPr id="8" name="Rounded Rectangle 7"/>
          <p:cNvSpPr/>
          <p:nvPr/>
        </p:nvSpPr>
        <p:spPr>
          <a:xfrm>
            <a:off x="432000" y="2484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2538000"/>
            <a:ext cx="2304000" cy="648000"/>
          </a:xfrm>
          <a:prstGeom prst="rect">
            <a:avLst/>
          </a:prstGeom>
          <a:noFill/>
        </p:spPr>
        <p:txBody>
          <a:bodyPr wrap="square" lIns="50400" tIns="21600" rIns="50400" bIns="21600" anchor="ctr">
            <a:spAutoFit/>
          </a:bodyPr>
          <a:lstStyle/>
          <a:p>
            <a:pPr algn="l"/>
            <a:r>
              <a:rPr sz="1300" b="1">
                <a:solidFill>
                  <a:srgbClr val="1F285A"/>
                </a:solidFill>
                <a:latin typeface="メイリオ"/>
                <a:ea typeface="メイリオ"/>
                <a:cs typeface="メイリオ"/>
              </a:rPr>
              <a:t>配信制作</a:t>
            </a:r>
          </a:p>
        </p:txBody>
      </p:sp>
      <p:sp>
        <p:nvSpPr>
          <p:cNvPr id="10" name="TextBox 9"/>
          <p:cNvSpPr txBox="1"/>
          <p:nvPr/>
        </p:nvSpPr>
        <p:spPr>
          <a:xfrm>
            <a:off x="3024000" y="2538000"/>
            <a:ext cx="6307200" cy="648000"/>
          </a:xfrm>
          <a:prstGeom prst="rect">
            <a:avLst/>
          </a:prstGeom>
          <a:noFill/>
        </p:spPr>
        <p:txBody>
          <a:bodyPr wrap="square" lIns="50400" tIns="21600" rIns="50400" bIns="21600" anchor="ctr">
            <a:spAutoFit/>
          </a:bodyPr>
          <a:lstStyle/>
          <a:p>
            <a:pPr algn="l">
              <a:lnSpc>
                <a:spcPct val="130000"/>
              </a:lnSpc>
            </a:pPr>
            <a:r>
              <a:rPr sz="1100">
                <a:solidFill>
                  <a:srgbClr val="333333"/>
                </a:solidFill>
                <a:latin typeface="メイリオ"/>
                <a:ea typeface="メイリオ"/>
                <a:cs typeface="メイリオ"/>
              </a:rPr>
              <a:t>文面・クリエイティブ制作／リッチメニュー更新／商戦カレンダー連動の企画投稿</a:t>
            </a:r>
          </a:p>
        </p:txBody>
      </p:sp>
      <p:sp>
        <p:nvSpPr>
          <p:cNvPr id="11" name="Rounded Rectangle 10"/>
          <p:cNvSpPr/>
          <p:nvPr/>
        </p:nvSpPr>
        <p:spPr>
          <a:xfrm>
            <a:off x="432000" y="3348000"/>
            <a:ext cx="9043200" cy="75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00" y="3402000"/>
            <a:ext cx="2304000" cy="648000"/>
          </a:xfrm>
          <a:prstGeom prst="rect">
            <a:avLst/>
          </a:prstGeom>
          <a:noFill/>
        </p:spPr>
        <p:txBody>
          <a:bodyPr wrap="square" lIns="50400" tIns="21600" rIns="50400" bIns="21600" anchor="ctr">
            <a:spAutoFit/>
          </a:bodyPr>
          <a:lstStyle/>
          <a:p>
            <a:pPr algn="l"/>
            <a:r>
              <a:rPr sz="1300" b="1">
                <a:solidFill>
                  <a:srgbClr val="ED7D31"/>
                </a:solidFill>
                <a:latin typeface="メイリオ"/>
                <a:ea typeface="メイリオ"/>
                <a:cs typeface="メイリオ"/>
              </a:rPr>
              <a:t>★法令チェック</a:t>
            </a:r>
          </a:p>
        </p:txBody>
      </p:sp>
      <p:sp>
        <p:nvSpPr>
          <p:cNvPr id="13" name="TextBox 12"/>
          <p:cNvSpPr txBox="1"/>
          <p:nvPr/>
        </p:nvSpPr>
        <p:spPr>
          <a:xfrm>
            <a:off x="3024000" y="3402000"/>
            <a:ext cx="6307200" cy="648000"/>
          </a:xfrm>
          <a:prstGeom prst="rect">
            <a:avLst/>
          </a:prstGeom>
          <a:noFill/>
        </p:spPr>
        <p:txBody>
          <a:bodyPr wrap="square" lIns="50400" tIns="21600" rIns="50400" bIns="21600" anchor="ctr">
            <a:spAutoFit/>
          </a:bodyPr>
          <a:lstStyle/>
          <a:p>
            <a:pPr algn="l">
              <a:lnSpc>
                <a:spcPct val="130000"/>
              </a:lnSpc>
            </a:pPr>
            <a:r>
              <a:rPr sz="1100">
                <a:solidFill>
                  <a:srgbClr val="333333"/>
                </a:solidFill>
                <a:latin typeface="メイリオ"/>
                <a:ea typeface="メイリオ"/>
                <a:cs typeface="メイリオ"/>
              </a:rPr>
              <a:t>景表法（セール表記・二重価格）・薬機法（効能表現）の観点で配信文面を確認</a:t>
            </a:r>
          </a:p>
        </p:txBody>
      </p:sp>
      <p:sp>
        <p:nvSpPr>
          <p:cNvPr id="14" name="Rounded Rectangle 13"/>
          <p:cNvSpPr/>
          <p:nvPr/>
        </p:nvSpPr>
        <p:spPr>
          <a:xfrm>
            <a:off x="432000" y="4212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6000" y="4266000"/>
            <a:ext cx="2304000" cy="648000"/>
          </a:xfrm>
          <a:prstGeom prst="rect">
            <a:avLst/>
          </a:prstGeom>
          <a:noFill/>
        </p:spPr>
        <p:txBody>
          <a:bodyPr wrap="square" lIns="50400" tIns="21600" rIns="50400" bIns="21600" anchor="ctr">
            <a:spAutoFit/>
          </a:bodyPr>
          <a:lstStyle/>
          <a:p>
            <a:pPr algn="l"/>
            <a:r>
              <a:rPr sz="1300" b="1">
                <a:solidFill>
                  <a:srgbClr val="1F285A"/>
                </a:solidFill>
                <a:latin typeface="メイリオ"/>
                <a:ea typeface="メイリオ"/>
                <a:cs typeface="メイリオ"/>
              </a:rPr>
              <a:t>技術・連携</a:t>
            </a:r>
          </a:p>
        </p:txBody>
      </p:sp>
      <p:sp>
        <p:nvSpPr>
          <p:cNvPr id="16" name="TextBox 15"/>
          <p:cNvSpPr txBox="1"/>
          <p:nvPr/>
        </p:nvSpPr>
        <p:spPr>
          <a:xfrm>
            <a:off x="3024000" y="4266000"/>
            <a:ext cx="6307200" cy="648000"/>
          </a:xfrm>
          <a:prstGeom prst="rect">
            <a:avLst/>
          </a:prstGeom>
          <a:noFill/>
        </p:spPr>
        <p:txBody>
          <a:bodyPr wrap="square" lIns="50400" tIns="21600" rIns="50400" bIns="21600" anchor="ctr">
            <a:spAutoFit/>
          </a:bodyPr>
          <a:lstStyle/>
          <a:p>
            <a:pPr algn="l">
              <a:lnSpc>
                <a:spcPct val="130000"/>
              </a:lnSpc>
            </a:pPr>
            <a:r>
              <a:rPr sz="1100">
                <a:solidFill>
                  <a:srgbClr val="333333"/>
                </a:solidFill>
                <a:latin typeface="メイリオ"/>
                <a:ea typeface="メイリオ"/>
                <a:cs typeface="メイリオ"/>
              </a:rPr>
              <a:t>ID連携／カゴ落ち検知／通知メッセージ／API／計測環境の構築と保守</a:t>
            </a:r>
          </a:p>
        </p:txBody>
      </p:sp>
      <p:sp>
        <p:nvSpPr>
          <p:cNvPr id="17" name="Rounded Rectangle 16"/>
          <p:cNvSpPr/>
          <p:nvPr/>
        </p:nvSpPr>
        <p:spPr>
          <a:xfrm>
            <a:off x="432000" y="5112000"/>
            <a:ext cx="9043200" cy="54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999" y="5130000"/>
            <a:ext cx="8611200" cy="503999"/>
          </a:xfrm>
          <a:prstGeom prst="rect">
            <a:avLst/>
          </a:prstGeom>
          <a:noFill/>
        </p:spPr>
        <p:txBody>
          <a:bodyPr wrap="square" lIns="50400" tIns="21600" rIns="50400" bIns="21600" anchor="ctr">
            <a:spAutoFit/>
          </a:bodyPr>
          <a:lstStyle/>
          <a:p>
            <a:pPr algn="l"/>
            <a:r>
              <a:rPr sz="1150" b="1">
                <a:solidFill>
                  <a:srgbClr val="333333"/>
                </a:solidFill>
                <a:latin typeface="メイリオ"/>
                <a:ea typeface="メイリオ"/>
                <a:cs typeface="メイリオ"/>
              </a:rPr>
              <a:t>定例会は月1回。カゴ落ち回収率・F2転換率・商戦ごとのCPOを定点で見ます。</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 ID連携とカゴ落ち検知はLINE側だけでは完結せず、カートシステム側の対応が必要です。対応可否は初回のお打ち合わせで確認します</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5E6F5D8-69FF-EC49-F89A-79FBF097914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EC業界の例①｜友だち追加直後の短期施策</a:t>
            </a:r>
          </a:p>
        </p:txBody>
      </p:sp>
      <p:sp>
        <p:nvSpPr>
          <p:cNvPr id="2" name="Google Shape;752;p28">
            <a:extLst>
              <a:ext uri="{FF2B5EF4-FFF2-40B4-BE49-F238E27FC236}">
                <a16:creationId xmlns:a16="http://schemas.microsoft.com/office/drawing/2014/main" id="{8DA9D746-57D8-A7F9-7048-09DA5704460D}"/>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友だち追加直後の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直近利用・契約可能性が高い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とされるユーザーに対しては</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トリガーとなる不安の払拭、条件面の精査を</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15-30</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日で設定しタッチポイントを増やす</a:t>
            </a:r>
          </a:p>
        </p:txBody>
      </p:sp>
      <p:sp>
        <p:nvSpPr>
          <p:cNvPr id="41" name="Shape 2">
            <a:extLst>
              <a:ext uri="{FF2B5EF4-FFF2-40B4-BE49-F238E27FC236}">
                <a16:creationId xmlns:a16="http://schemas.microsoft.com/office/drawing/2014/main" id="{72992F6A-FF2A-7ECF-0D33-F6529A528B57}"/>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Text 3">
            <a:extLst>
              <a:ext uri="{FF2B5EF4-FFF2-40B4-BE49-F238E27FC236}">
                <a16:creationId xmlns:a16="http://schemas.microsoft.com/office/drawing/2014/main" id="{190E6A1A-C1DD-4C8E-3197-5AD6F8426871}"/>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目的：登録直後の本気度スクリーニング → 即アプローチ対象（⑤リード有効化）の特定</a:t>
            </a:r>
            <a:endParaRPr lang="en-US" sz="1100" dirty="0">
              <a:latin typeface="メイリオ" panose="020B0604030504040204" pitchFamily="50" charset="-128"/>
              <a:ea typeface="メイリオ" panose="020B0604030504040204" pitchFamily="50" charset="-128"/>
            </a:endParaRPr>
          </a:p>
        </p:txBody>
      </p:sp>
      <p:sp>
        <p:nvSpPr>
          <p:cNvPr id="43" name="Shape 4">
            <a:extLst>
              <a:ext uri="{FF2B5EF4-FFF2-40B4-BE49-F238E27FC236}">
                <a16:creationId xmlns:a16="http://schemas.microsoft.com/office/drawing/2014/main" id="{D015C19B-5468-998D-251F-6B1B6959CE07}"/>
              </a:ext>
            </a:extLst>
          </p:cNvPr>
          <p:cNvSpPr/>
          <p:nvPr/>
        </p:nvSpPr>
        <p:spPr>
          <a:xfrm>
            <a:off x="775063" y="26047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5">
            <a:extLst>
              <a:ext uri="{FF2B5EF4-FFF2-40B4-BE49-F238E27FC236}">
                <a16:creationId xmlns:a16="http://schemas.microsoft.com/office/drawing/2014/main" id="{414FEA14-8392-6B62-876D-80318C415543}"/>
              </a:ext>
            </a:extLst>
          </p:cNvPr>
          <p:cNvSpPr/>
          <p:nvPr/>
        </p:nvSpPr>
        <p:spPr>
          <a:xfrm>
            <a:off x="848215" y="27144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6">
            <a:extLst>
              <a:ext uri="{FF2B5EF4-FFF2-40B4-BE49-F238E27FC236}">
                <a16:creationId xmlns:a16="http://schemas.microsoft.com/office/drawing/2014/main" id="{F75BBB7C-7CE8-CD05-76B4-8EAB532092DA}"/>
              </a:ext>
            </a:extLst>
          </p:cNvPr>
          <p:cNvSpPr/>
          <p:nvPr/>
        </p:nvSpPr>
        <p:spPr>
          <a:xfrm>
            <a:off x="848215" y="27144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6" name="Text 7">
            <a:extLst>
              <a:ext uri="{FF2B5EF4-FFF2-40B4-BE49-F238E27FC236}">
                <a16:creationId xmlns:a16="http://schemas.microsoft.com/office/drawing/2014/main" id="{1A4AA2AA-6FF8-3D30-B16C-44EC5F2961CD}"/>
              </a:ext>
            </a:extLst>
          </p:cNvPr>
          <p:cNvSpPr/>
          <p:nvPr/>
        </p:nvSpPr>
        <p:spPr>
          <a:xfrm>
            <a:off x="1250551" y="26504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Q1. 転職を検討し始めた理由は？</a:t>
            </a:r>
            <a:endParaRPr lang="en-US" sz="1100" dirty="0">
              <a:latin typeface="メイリオ" panose="020B0604030504040204" pitchFamily="50" charset="-128"/>
              <a:ea typeface="メイリオ" panose="020B0604030504040204" pitchFamily="50" charset="-128"/>
            </a:endParaRPr>
          </a:p>
        </p:txBody>
      </p:sp>
      <p:sp>
        <p:nvSpPr>
          <p:cNvPr id="47" name="Text 8">
            <a:extLst>
              <a:ext uri="{FF2B5EF4-FFF2-40B4-BE49-F238E27FC236}">
                <a16:creationId xmlns:a16="http://schemas.microsoft.com/office/drawing/2014/main" id="{7A1F59F1-0B49-73D0-38BD-9948F9A63985}"/>
              </a:ext>
            </a:extLst>
          </p:cNvPr>
          <p:cNvSpPr/>
          <p:nvPr/>
        </p:nvSpPr>
        <p:spPr>
          <a:xfrm>
            <a:off x="1250551" y="29156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年収アップ　B) 人間関係　C) キャリアアップ　D) 会社の将来性　E) ライフスタイル変化</a:t>
            </a:r>
            <a:endParaRPr lang="en-US" sz="850" dirty="0">
              <a:latin typeface="メイリオ" panose="020B0604030504040204" pitchFamily="50" charset="-128"/>
              <a:ea typeface="メイリオ" panose="020B0604030504040204" pitchFamily="50" charset="-128"/>
            </a:endParaRPr>
          </a:p>
        </p:txBody>
      </p:sp>
      <p:sp>
        <p:nvSpPr>
          <p:cNvPr id="48" name="Shape 9">
            <a:extLst>
              <a:ext uri="{FF2B5EF4-FFF2-40B4-BE49-F238E27FC236}">
                <a16:creationId xmlns:a16="http://schemas.microsoft.com/office/drawing/2014/main" id="{03F3B165-CA3D-3804-AA50-7C78C7C7EB79}"/>
              </a:ext>
            </a:extLst>
          </p:cNvPr>
          <p:cNvSpPr/>
          <p:nvPr/>
        </p:nvSpPr>
        <p:spPr>
          <a:xfrm>
            <a:off x="6444343" y="26778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9" name="Text 10">
            <a:extLst>
              <a:ext uri="{FF2B5EF4-FFF2-40B4-BE49-F238E27FC236}">
                <a16:creationId xmlns:a16="http://schemas.microsoft.com/office/drawing/2014/main" id="{DF68B239-8CBC-8341-BA16-8510179A4777}"/>
              </a:ext>
            </a:extLst>
          </p:cNvPr>
          <p:cNvSpPr/>
          <p:nvPr/>
        </p:nvSpPr>
        <p:spPr>
          <a:xfrm>
            <a:off x="6490063" y="26778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セグメント分けの最重要設問。回答別に配信内容を変える</a:t>
            </a:r>
            <a:endParaRPr lang="en-US" sz="850" dirty="0">
              <a:latin typeface="メイリオ" panose="020B0604030504040204" pitchFamily="50" charset="-128"/>
              <a:ea typeface="メイリオ" panose="020B0604030504040204" pitchFamily="50" charset="-128"/>
            </a:endParaRPr>
          </a:p>
        </p:txBody>
      </p:sp>
      <p:sp>
        <p:nvSpPr>
          <p:cNvPr id="50" name="Shape 11">
            <a:extLst>
              <a:ext uri="{FF2B5EF4-FFF2-40B4-BE49-F238E27FC236}">
                <a16:creationId xmlns:a16="http://schemas.microsoft.com/office/drawing/2014/main" id="{CEC57A7B-58B4-1F60-CC69-2D9C22413BEF}"/>
              </a:ext>
            </a:extLst>
          </p:cNvPr>
          <p:cNvSpPr/>
          <p:nvPr/>
        </p:nvSpPr>
        <p:spPr>
          <a:xfrm>
            <a:off x="775063" y="32905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1" name="Shape 12">
            <a:extLst>
              <a:ext uri="{FF2B5EF4-FFF2-40B4-BE49-F238E27FC236}">
                <a16:creationId xmlns:a16="http://schemas.microsoft.com/office/drawing/2014/main" id="{0FF9816E-5F43-9459-6349-51431111FD45}"/>
              </a:ext>
            </a:extLst>
          </p:cNvPr>
          <p:cNvSpPr/>
          <p:nvPr/>
        </p:nvSpPr>
        <p:spPr>
          <a:xfrm>
            <a:off x="848215" y="34002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13">
            <a:extLst>
              <a:ext uri="{FF2B5EF4-FFF2-40B4-BE49-F238E27FC236}">
                <a16:creationId xmlns:a16="http://schemas.microsoft.com/office/drawing/2014/main" id="{2BF8E88C-4FC5-B1C2-A8E8-D33029A55D78}"/>
              </a:ext>
            </a:extLst>
          </p:cNvPr>
          <p:cNvSpPr/>
          <p:nvPr/>
        </p:nvSpPr>
        <p:spPr>
          <a:xfrm>
            <a:off x="848215" y="34002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3" name="Text 14">
            <a:extLst>
              <a:ext uri="{FF2B5EF4-FFF2-40B4-BE49-F238E27FC236}">
                <a16:creationId xmlns:a16="http://schemas.microsoft.com/office/drawing/2014/main" id="{4AB095EB-AFFB-C1EB-53C1-4C882C450F66}"/>
              </a:ext>
            </a:extLst>
          </p:cNvPr>
          <p:cNvSpPr/>
          <p:nvPr/>
        </p:nvSpPr>
        <p:spPr>
          <a:xfrm>
            <a:off x="1250551" y="33362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Q2. 転職希望時期はいつ頃ですか？</a:t>
            </a:r>
            <a:endParaRPr lang="en-US" sz="1100" dirty="0">
              <a:latin typeface="メイリオ" panose="020B0604030504040204" pitchFamily="50" charset="-128"/>
              <a:ea typeface="メイリオ" panose="020B0604030504040204" pitchFamily="50" charset="-128"/>
            </a:endParaRPr>
          </a:p>
        </p:txBody>
      </p:sp>
      <p:sp>
        <p:nvSpPr>
          <p:cNvPr id="54" name="Text 15">
            <a:extLst>
              <a:ext uri="{FF2B5EF4-FFF2-40B4-BE49-F238E27FC236}">
                <a16:creationId xmlns:a16="http://schemas.microsoft.com/office/drawing/2014/main" id="{C6FBF75D-9A2C-AB9C-797C-A65992057C82}"/>
              </a:ext>
            </a:extLst>
          </p:cNvPr>
          <p:cNvSpPr/>
          <p:nvPr/>
        </p:nvSpPr>
        <p:spPr>
          <a:xfrm>
            <a:off x="1250551" y="36014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1ヶ月以内　B) 3ヶ月以内　C) 半年以内　D) まだ決めていない</a:t>
            </a:r>
            <a:endParaRPr lang="en-US" sz="850" dirty="0">
              <a:latin typeface="メイリオ" panose="020B0604030504040204" pitchFamily="50" charset="-128"/>
              <a:ea typeface="メイリオ" panose="020B0604030504040204" pitchFamily="50" charset="-128"/>
            </a:endParaRPr>
          </a:p>
        </p:txBody>
      </p:sp>
      <p:sp>
        <p:nvSpPr>
          <p:cNvPr id="55" name="Shape 16">
            <a:extLst>
              <a:ext uri="{FF2B5EF4-FFF2-40B4-BE49-F238E27FC236}">
                <a16:creationId xmlns:a16="http://schemas.microsoft.com/office/drawing/2014/main" id="{8B4031C1-8F8E-5381-AAC9-77A14A56B7F6}"/>
              </a:ext>
            </a:extLst>
          </p:cNvPr>
          <p:cNvSpPr/>
          <p:nvPr/>
        </p:nvSpPr>
        <p:spPr>
          <a:xfrm>
            <a:off x="6444343" y="33636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6" name="Text 17">
            <a:extLst>
              <a:ext uri="{FF2B5EF4-FFF2-40B4-BE49-F238E27FC236}">
                <a16:creationId xmlns:a16="http://schemas.microsoft.com/office/drawing/2014/main" id="{35FE734F-4C1A-3B7B-8AA4-C2546973E56B}"/>
              </a:ext>
            </a:extLst>
          </p:cNvPr>
          <p:cNvSpPr/>
          <p:nvPr/>
        </p:nvSpPr>
        <p:spPr>
          <a:xfrm>
            <a:off x="6490063" y="33636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「1〜3ヶ月以内」をホットリードとして即面談オファー対象に</a:t>
            </a:r>
            <a:endParaRPr lang="en-US" sz="850" dirty="0">
              <a:latin typeface="メイリオ" panose="020B0604030504040204" pitchFamily="50" charset="-128"/>
              <a:ea typeface="メイリオ" panose="020B0604030504040204" pitchFamily="50" charset="-128"/>
            </a:endParaRPr>
          </a:p>
        </p:txBody>
      </p:sp>
      <p:sp>
        <p:nvSpPr>
          <p:cNvPr id="57" name="Shape 18">
            <a:extLst>
              <a:ext uri="{FF2B5EF4-FFF2-40B4-BE49-F238E27FC236}">
                <a16:creationId xmlns:a16="http://schemas.microsoft.com/office/drawing/2014/main" id="{77F0529F-1B78-5C45-07C3-2B6DD4A77258}"/>
              </a:ext>
            </a:extLst>
          </p:cNvPr>
          <p:cNvSpPr/>
          <p:nvPr/>
        </p:nvSpPr>
        <p:spPr>
          <a:xfrm>
            <a:off x="775063" y="39763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8" name="Shape 19">
            <a:extLst>
              <a:ext uri="{FF2B5EF4-FFF2-40B4-BE49-F238E27FC236}">
                <a16:creationId xmlns:a16="http://schemas.microsoft.com/office/drawing/2014/main" id="{5CB9124D-3C60-302E-AD9D-68ADA9CED3C8}"/>
              </a:ext>
            </a:extLst>
          </p:cNvPr>
          <p:cNvSpPr/>
          <p:nvPr/>
        </p:nvSpPr>
        <p:spPr>
          <a:xfrm>
            <a:off x="848215" y="40860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9" name="Text 20">
            <a:extLst>
              <a:ext uri="{FF2B5EF4-FFF2-40B4-BE49-F238E27FC236}">
                <a16:creationId xmlns:a16="http://schemas.microsoft.com/office/drawing/2014/main" id="{DD06F576-0404-24E3-3484-9A5F77A77D7A}"/>
              </a:ext>
            </a:extLst>
          </p:cNvPr>
          <p:cNvSpPr/>
          <p:nvPr/>
        </p:nvSpPr>
        <p:spPr>
          <a:xfrm>
            <a:off x="848215" y="40860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0" name="Text 21">
            <a:extLst>
              <a:ext uri="{FF2B5EF4-FFF2-40B4-BE49-F238E27FC236}">
                <a16:creationId xmlns:a16="http://schemas.microsoft.com/office/drawing/2014/main" id="{362B56FE-0308-5ACA-794F-33A473A74E16}"/>
              </a:ext>
            </a:extLst>
          </p:cNvPr>
          <p:cNvSpPr/>
          <p:nvPr/>
        </p:nvSpPr>
        <p:spPr>
          <a:xfrm>
            <a:off x="1250551" y="40220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Q3. 現在の年収（税込）を教えてください</a:t>
            </a:r>
            <a:endParaRPr lang="en-US" sz="1100" dirty="0">
              <a:latin typeface="メイリオ" panose="020B0604030504040204" pitchFamily="50" charset="-128"/>
              <a:ea typeface="メイリオ" panose="020B0604030504040204" pitchFamily="50" charset="-128"/>
            </a:endParaRPr>
          </a:p>
        </p:txBody>
      </p:sp>
      <p:sp>
        <p:nvSpPr>
          <p:cNvPr id="61" name="Text 22">
            <a:extLst>
              <a:ext uri="{FF2B5EF4-FFF2-40B4-BE49-F238E27FC236}">
                <a16:creationId xmlns:a16="http://schemas.microsoft.com/office/drawing/2014/main" id="{CECF4E63-76E9-FEA5-7805-491752940936}"/>
              </a:ext>
            </a:extLst>
          </p:cNvPr>
          <p:cNvSpPr/>
          <p:nvPr/>
        </p:nvSpPr>
        <p:spPr>
          <a:xfrm>
            <a:off x="1250551" y="42872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〜300万　B) 300〜500万　C) 500〜700万　D) 700万〜</a:t>
            </a:r>
            <a:endParaRPr lang="en-US" sz="850" dirty="0">
              <a:latin typeface="メイリオ" panose="020B0604030504040204" pitchFamily="50" charset="-128"/>
              <a:ea typeface="メイリオ" panose="020B0604030504040204" pitchFamily="50" charset="-128"/>
            </a:endParaRPr>
          </a:p>
        </p:txBody>
      </p:sp>
      <p:sp>
        <p:nvSpPr>
          <p:cNvPr id="62" name="Shape 23">
            <a:extLst>
              <a:ext uri="{FF2B5EF4-FFF2-40B4-BE49-F238E27FC236}">
                <a16:creationId xmlns:a16="http://schemas.microsoft.com/office/drawing/2014/main" id="{DBA9622A-FDA2-1DDD-FBA3-73C50D3AB695}"/>
              </a:ext>
            </a:extLst>
          </p:cNvPr>
          <p:cNvSpPr/>
          <p:nvPr/>
        </p:nvSpPr>
        <p:spPr>
          <a:xfrm>
            <a:off x="6444343" y="40494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3" name="Text 24">
            <a:extLst>
              <a:ext uri="{FF2B5EF4-FFF2-40B4-BE49-F238E27FC236}">
                <a16:creationId xmlns:a16="http://schemas.microsoft.com/office/drawing/2014/main" id="{C60B9780-970F-8551-EE91-8044786C7B7C}"/>
              </a:ext>
            </a:extLst>
          </p:cNvPr>
          <p:cNvSpPr/>
          <p:nvPr/>
        </p:nvSpPr>
        <p:spPr>
          <a:xfrm>
            <a:off x="6490063" y="40494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サービス対象層の絞り込みと、訴求する年収UP幅の設定に活用</a:t>
            </a:r>
            <a:endParaRPr lang="en-US" sz="850" dirty="0">
              <a:latin typeface="メイリオ" panose="020B0604030504040204" pitchFamily="50" charset="-128"/>
              <a:ea typeface="メイリオ" panose="020B0604030504040204" pitchFamily="50" charset="-128"/>
            </a:endParaRPr>
          </a:p>
        </p:txBody>
      </p:sp>
      <p:sp>
        <p:nvSpPr>
          <p:cNvPr id="64" name="Shape 25">
            <a:extLst>
              <a:ext uri="{FF2B5EF4-FFF2-40B4-BE49-F238E27FC236}">
                <a16:creationId xmlns:a16="http://schemas.microsoft.com/office/drawing/2014/main" id="{E6646D0D-AC17-9974-8BF6-E0C26901E16D}"/>
              </a:ext>
            </a:extLst>
          </p:cNvPr>
          <p:cNvSpPr/>
          <p:nvPr/>
        </p:nvSpPr>
        <p:spPr>
          <a:xfrm>
            <a:off x="775063" y="46621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5" name="Shape 26">
            <a:extLst>
              <a:ext uri="{FF2B5EF4-FFF2-40B4-BE49-F238E27FC236}">
                <a16:creationId xmlns:a16="http://schemas.microsoft.com/office/drawing/2014/main" id="{86330F7C-C512-505C-521A-A5D1453510E6}"/>
              </a:ext>
            </a:extLst>
          </p:cNvPr>
          <p:cNvSpPr/>
          <p:nvPr/>
        </p:nvSpPr>
        <p:spPr>
          <a:xfrm>
            <a:off x="848215" y="47718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6" name="Text 27">
            <a:extLst>
              <a:ext uri="{FF2B5EF4-FFF2-40B4-BE49-F238E27FC236}">
                <a16:creationId xmlns:a16="http://schemas.microsoft.com/office/drawing/2014/main" id="{8A40057C-798D-FCB7-8B6B-C2507589C664}"/>
              </a:ext>
            </a:extLst>
          </p:cNvPr>
          <p:cNvSpPr/>
          <p:nvPr/>
        </p:nvSpPr>
        <p:spPr>
          <a:xfrm>
            <a:off x="848215" y="47718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67" name="Text 28">
            <a:extLst>
              <a:ext uri="{FF2B5EF4-FFF2-40B4-BE49-F238E27FC236}">
                <a16:creationId xmlns:a16="http://schemas.microsoft.com/office/drawing/2014/main" id="{FB185C3E-B3C3-8368-764A-0E889BE9E1DC}"/>
              </a:ext>
            </a:extLst>
          </p:cNvPr>
          <p:cNvSpPr/>
          <p:nvPr/>
        </p:nvSpPr>
        <p:spPr>
          <a:xfrm>
            <a:off x="1250551" y="47078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Q4. 今、転職活動で一番困っていることは？</a:t>
            </a:r>
            <a:endParaRPr lang="en-US" sz="1100" dirty="0">
              <a:latin typeface="メイリオ" panose="020B0604030504040204" pitchFamily="50" charset="-128"/>
              <a:ea typeface="メイリオ" panose="020B0604030504040204" pitchFamily="50" charset="-128"/>
            </a:endParaRPr>
          </a:p>
        </p:txBody>
      </p:sp>
      <p:sp>
        <p:nvSpPr>
          <p:cNvPr id="68" name="Text 29">
            <a:extLst>
              <a:ext uri="{FF2B5EF4-FFF2-40B4-BE49-F238E27FC236}">
                <a16:creationId xmlns:a16="http://schemas.microsoft.com/office/drawing/2014/main" id="{83A0111B-6C16-924D-2F24-F3322312058F}"/>
              </a:ext>
            </a:extLst>
          </p:cNvPr>
          <p:cNvSpPr/>
          <p:nvPr/>
        </p:nvSpPr>
        <p:spPr>
          <a:xfrm>
            <a:off x="1250551" y="49730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求人の探し方がわからない　B) 職務経歴書の書き方　C) 面接が不安　D) 年収交渉が怖い</a:t>
            </a:r>
            <a:endParaRPr lang="en-US" sz="850" dirty="0">
              <a:latin typeface="メイリオ" panose="020B0604030504040204" pitchFamily="50" charset="-128"/>
              <a:ea typeface="メイリオ" panose="020B0604030504040204" pitchFamily="50" charset="-128"/>
            </a:endParaRPr>
          </a:p>
        </p:txBody>
      </p:sp>
      <p:sp>
        <p:nvSpPr>
          <p:cNvPr id="69" name="Shape 30">
            <a:extLst>
              <a:ext uri="{FF2B5EF4-FFF2-40B4-BE49-F238E27FC236}">
                <a16:creationId xmlns:a16="http://schemas.microsoft.com/office/drawing/2014/main" id="{B12A9147-2862-DE3E-8AA5-154403D7E2E5}"/>
              </a:ext>
            </a:extLst>
          </p:cNvPr>
          <p:cNvSpPr/>
          <p:nvPr/>
        </p:nvSpPr>
        <p:spPr>
          <a:xfrm>
            <a:off x="6444343" y="47352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Text 31">
            <a:extLst>
              <a:ext uri="{FF2B5EF4-FFF2-40B4-BE49-F238E27FC236}">
                <a16:creationId xmlns:a16="http://schemas.microsoft.com/office/drawing/2014/main" id="{B1610132-9C94-4121-0174-5C4B56C1E9C4}"/>
              </a:ext>
            </a:extLst>
          </p:cNvPr>
          <p:cNvSpPr/>
          <p:nvPr/>
        </p:nvSpPr>
        <p:spPr>
          <a:xfrm>
            <a:off x="6490063" y="47352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ナーチャリングコンテンツの優先順位を決める設問</a:t>
            </a:r>
            <a:endParaRPr lang="en-US" sz="850" dirty="0">
              <a:latin typeface="メイリオ" panose="020B0604030504040204" pitchFamily="50" charset="-128"/>
              <a:ea typeface="メイリオ" panose="020B0604030504040204" pitchFamily="50" charset="-128"/>
            </a:endParaRPr>
          </a:p>
        </p:txBody>
      </p:sp>
      <p:sp>
        <p:nvSpPr>
          <p:cNvPr id="71" name="Shape 32">
            <a:extLst>
              <a:ext uri="{FF2B5EF4-FFF2-40B4-BE49-F238E27FC236}">
                <a16:creationId xmlns:a16="http://schemas.microsoft.com/office/drawing/2014/main" id="{5E0CF565-2E70-3594-94E3-B92DBA09CE1D}"/>
              </a:ext>
            </a:extLst>
          </p:cNvPr>
          <p:cNvSpPr/>
          <p:nvPr/>
        </p:nvSpPr>
        <p:spPr>
          <a:xfrm>
            <a:off x="775063" y="53479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Shape 33">
            <a:extLst>
              <a:ext uri="{FF2B5EF4-FFF2-40B4-BE49-F238E27FC236}">
                <a16:creationId xmlns:a16="http://schemas.microsoft.com/office/drawing/2014/main" id="{C3888C1F-7E31-5CB5-DB8C-6376B4A23075}"/>
              </a:ext>
            </a:extLst>
          </p:cNvPr>
          <p:cNvSpPr/>
          <p:nvPr/>
        </p:nvSpPr>
        <p:spPr>
          <a:xfrm>
            <a:off x="848215" y="54576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3" name="Text 34">
            <a:extLst>
              <a:ext uri="{FF2B5EF4-FFF2-40B4-BE49-F238E27FC236}">
                <a16:creationId xmlns:a16="http://schemas.microsoft.com/office/drawing/2014/main" id="{59588FF7-10F6-8141-4359-836B851E5424}"/>
              </a:ext>
            </a:extLst>
          </p:cNvPr>
          <p:cNvSpPr/>
          <p:nvPr/>
        </p:nvSpPr>
        <p:spPr>
          <a:xfrm>
            <a:off x="848215" y="54576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5</a:t>
            </a:r>
            <a:endParaRPr lang="en-US" sz="1100" dirty="0">
              <a:latin typeface="メイリオ" panose="020B0604030504040204" pitchFamily="50" charset="-128"/>
              <a:ea typeface="メイリオ" panose="020B0604030504040204" pitchFamily="50" charset="-128"/>
            </a:endParaRPr>
          </a:p>
        </p:txBody>
      </p:sp>
      <p:sp>
        <p:nvSpPr>
          <p:cNvPr id="74" name="Text 35">
            <a:extLst>
              <a:ext uri="{FF2B5EF4-FFF2-40B4-BE49-F238E27FC236}">
                <a16:creationId xmlns:a16="http://schemas.microsoft.com/office/drawing/2014/main" id="{C5CFC561-6A8F-BACD-E02C-A277E8A3063E}"/>
              </a:ext>
            </a:extLst>
          </p:cNvPr>
          <p:cNvSpPr/>
          <p:nvPr/>
        </p:nvSpPr>
        <p:spPr>
          <a:xfrm>
            <a:off x="1250551" y="53936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Q5. 転職エージェントの利用経験はありますか？</a:t>
            </a:r>
            <a:endParaRPr lang="en-US" sz="1100" dirty="0">
              <a:latin typeface="メイリオ" panose="020B0604030504040204" pitchFamily="50" charset="-128"/>
              <a:ea typeface="メイリオ" panose="020B0604030504040204" pitchFamily="50" charset="-128"/>
            </a:endParaRPr>
          </a:p>
        </p:txBody>
      </p:sp>
      <p:sp>
        <p:nvSpPr>
          <p:cNvPr id="75" name="Text 36">
            <a:extLst>
              <a:ext uri="{FF2B5EF4-FFF2-40B4-BE49-F238E27FC236}">
                <a16:creationId xmlns:a16="http://schemas.microsoft.com/office/drawing/2014/main" id="{BE1F2F6E-238F-21D4-40A5-BD1CB63C8953}"/>
              </a:ext>
            </a:extLst>
          </p:cNvPr>
          <p:cNvSpPr/>
          <p:nvPr/>
        </p:nvSpPr>
        <p:spPr>
          <a:xfrm>
            <a:off x="1250551" y="56588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はじめて　B) 使ったことがある（満足）　C) 使ったことがある（不満）</a:t>
            </a:r>
            <a:endParaRPr lang="en-US" sz="850" dirty="0">
              <a:latin typeface="メイリオ" panose="020B0604030504040204" pitchFamily="50" charset="-128"/>
              <a:ea typeface="メイリオ" panose="020B0604030504040204" pitchFamily="50" charset="-128"/>
            </a:endParaRPr>
          </a:p>
        </p:txBody>
      </p:sp>
      <p:sp>
        <p:nvSpPr>
          <p:cNvPr id="76" name="Shape 37">
            <a:extLst>
              <a:ext uri="{FF2B5EF4-FFF2-40B4-BE49-F238E27FC236}">
                <a16:creationId xmlns:a16="http://schemas.microsoft.com/office/drawing/2014/main" id="{E835EF93-AE65-C080-A583-076B9485CC6B}"/>
              </a:ext>
            </a:extLst>
          </p:cNvPr>
          <p:cNvSpPr/>
          <p:nvPr/>
        </p:nvSpPr>
        <p:spPr>
          <a:xfrm>
            <a:off x="6444343" y="54210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7" name="Text 38">
            <a:extLst>
              <a:ext uri="{FF2B5EF4-FFF2-40B4-BE49-F238E27FC236}">
                <a16:creationId xmlns:a16="http://schemas.microsoft.com/office/drawing/2014/main" id="{4E76941A-97E1-A80A-F7B6-9B05D68E1AA2}"/>
              </a:ext>
            </a:extLst>
          </p:cNvPr>
          <p:cNvSpPr/>
          <p:nvPr/>
        </p:nvSpPr>
        <p:spPr>
          <a:xfrm>
            <a:off x="6490063" y="54210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「不満あり」層には競合差別化コンテンツを優先配信</a:t>
            </a:r>
            <a:endParaRPr lang="en-US" sz="85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080DFA3-5E6A-7CB9-A83C-9D87074C7C62}"/>
              </a:ext>
            </a:extLst>
          </p:cNvPr>
          <p:cNvSpPr/>
          <p:nvPr/>
        </p:nvSpPr>
        <p:spPr>
          <a:xfrm>
            <a:off x="167640" y="1572768"/>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DC81EE9-FE25-DEA2-3BE6-5D4BC6729956}"/>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EC（総合EC・D2C）業界の例</a:t>
            </a:r>
          </a:p>
        </p:txBody>
      </p:sp>
    </p:spTree>
    <p:extLst>
      <p:ext uri="{BB962C8B-B14F-4D97-AF65-F5344CB8AC3E}">
        <p14:creationId xmlns:p14="http://schemas.microsoft.com/office/powerpoint/2010/main" val="9010635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CD327D4-877A-97BF-5A3D-BA2BFF89C5D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EC業界の例②｜商戦カレンダー連動の企画配信</a:t>
            </a:r>
          </a:p>
        </p:txBody>
      </p:sp>
      <p:sp>
        <p:nvSpPr>
          <p:cNvPr id="2" name="Google Shape;752;p28">
            <a:extLst>
              <a:ext uri="{FF2B5EF4-FFF2-40B4-BE49-F238E27FC236}">
                <a16:creationId xmlns:a16="http://schemas.microsoft.com/office/drawing/2014/main" id="{344F9C81-17B8-CD75-7943-C74785EA9326}"/>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想定：検索ボリューム推移などの情報からスケジューリング。運用実績案件ベースで</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「ブラックフライデー」「母の日」「セール期」など購買が活発化する期間を抽出し企画作成。</a:t>
            </a:r>
          </a:p>
        </p:txBody>
      </p:sp>
      <p:sp>
        <p:nvSpPr>
          <p:cNvPr id="3" name="Shape 2">
            <a:extLst>
              <a:ext uri="{FF2B5EF4-FFF2-40B4-BE49-F238E27FC236}">
                <a16:creationId xmlns:a16="http://schemas.microsoft.com/office/drawing/2014/main" id="{C60A8489-6BE4-3B93-2131-E11F42129098}"/>
              </a:ext>
            </a:extLst>
          </p:cNvPr>
          <p:cNvSpPr/>
          <p:nvPr/>
        </p:nvSpPr>
        <p:spPr>
          <a:xfrm>
            <a:off x="683623" y="2438404"/>
            <a:ext cx="4206240" cy="1920240"/>
          </a:xfrm>
          <a:prstGeom prst="roundRect">
            <a:avLst>
              <a:gd name="adj" fmla="val 5714"/>
            </a:avLst>
          </a:prstGeom>
          <a:solidFill>
            <a:srgbClr val="FFFFFF"/>
          </a:solidFill>
          <a:ln w="12700">
            <a:solidFill>
              <a:srgbClr val="4A90D9"/>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 name="Shape 3">
            <a:extLst>
              <a:ext uri="{FF2B5EF4-FFF2-40B4-BE49-F238E27FC236}">
                <a16:creationId xmlns:a16="http://schemas.microsoft.com/office/drawing/2014/main" id="{D946CD2D-A79C-A7B7-15A1-A1837415507A}"/>
              </a:ext>
            </a:extLst>
          </p:cNvPr>
          <p:cNvSpPr/>
          <p:nvPr/>
        </p:nvSpPr>
        <p:spPr>
          <a:xfrm>
            <a:off x="793351" y="2529844"/>
            <a:ext cx="658368" cy="292608"/>
          </a:xfrm>
          <a:prstGeom prst="roundRect">
            <a:avLst>
              <a:gd name="adj" fmla="val 18750"/>
            </a:avLst>
          </a:prstGeom>
          <a:solidFill>
            <a:srgbClr val="4A90D9"/>
          </a:solidFill>
          <a:ln w="12700">
            <a:solidFill>
              <a:srgbClr val="4A90D9"/>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 name="Text 4">
            <a:extLst>
              <a:ext uri="{FF2B5EF4-FFF2-40B4-BE49-F238E27FC236}">
                <a16:creationId xmlns:a16="http://schemas.microsoft.com/office/drawing/2014/main" id="{AB03F4F1-34EC-318B-44DB-813F9A260ADC}"/>
              </a:ext>
            </a:extLst>
          </p:cNvPr>
          <p:cNvSpPr/>
          <p:nvPr/>
        </p:nvSpPr>
        <p:spPr>
          <a:xfrm>
            <a:off x="79335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1-3月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 name="Shape 5">
            <a:extLst>
              <a:ext uri="{FF2B5EF4-FFF2-40B4-BE49-F238E27FC236}">
                <a16:creationId xmlns:a16="http://schemas.microsoft.com/office/drawing/2014/main" id="{C1B56B7E-2C3F-30E8-B262-184104348BC9}"/>
              </a:ext>
            </a:extLst>
          </p:cNvPr>
          <p:cNvSpPr/>
          <p:nvPr/>
        </p:nvSpPr>
        <p:spPr>
          <a:xfrm>
            <a:off x="150658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 name="Text 6">
            <a:extLst>
              <a:ext uri="{FF2B5EF4-FFF2-40B4-BE49-F238E27FC236}">
                <a16:creationId xmlns:a16="http://schemas.microsoft.com/office/drawing/2014/main" id="{A84711DF-BA77-8F0A-2104-C18090ED3CC4}"/>
              </a:ext>
            </a:extLst>
          </p:cNvPr>
          <p:cNvSpPr/>
          <p:nvPr/>
        </p:nvSpPr>
        <p:spPr>
          <a:xfrm>
            <a:off x="150658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転職最繁忙期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 name="Text 7">
            <a:extLst>
              <a:ext uri="{FF2B5EF4-FFF2-40B4-BE49-F238E27FC236}">
                <a16:creationId xmlns:a16="http://schemas.microsoft.com/office/drawing/2014/main" id="{F76CECB1-59BF-1E7A-094C-226743CD5D1F}"/>
              </a:ext>
            </a:extLst>
          </p:cNvPr>
          <p:cNvSpPr/>
          <p:nvPr/>
        </p:nvSpPr>
        <p:spPr>
          <a:xfrm>
            <a:off x="79335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「年度末キャリア見直しキャンペーン」</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 name="Text 8">
            <a:extLst>
              <a:ext uri="{FF2B5EF4-FFF2-40B4-BE49-F238E27FC236}">
                <a16:creationId xmlns:a16="http://schemas.microsoft.com/office/drawing/2014/main" id="{E9330544-7DE3-4156-FDB0-0068C25C7D92}"/>
              </a:ext>
            </a:extLst>
          </p:cNvPr>
          <p:cNvSpPr/>
          <p:nvPr/>
        </p:nvSpPr>
        <p:spPr>
          <a:xfrm>
            <a:off x="79335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1月〜3月は転職相談数が最大化する時期。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「3月末退職→4月入社」を目指す層が急増。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施策：無料個別面談の枠を期間限定で倍増。LINEで「残り○名」のカウントダウン配信。</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 name="Shape 9">
            <a:extLst>
              <a:ext uri="{FF2B5EF4-FFF2-40B4-BE49-F238E27FC236}">
                <a16:creationId xmlns:a16="http://schemas.microsoft.com/office/drawing/2014/main" id="{6C89C044-CC81-F526-4C28-8C8818A84AC8}"/>
              </a:ext>
            </a:extLst>
          </p:cNvPr>
          <p:cNvSpPr/>
          <p:nvPr/>
        </p:nvSpPr>
        <p:spPr>
          <a:xfrm>
            <a:off x="79335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 name="Text 10">
            <a:extLst>
              <a:ext uri="{FF2B5EF4-FFF2-40B4-BE49-F238E27FC236}">
                <a16:creationId xmlns:a16="http://schemas.microsoft.com/office/drawing/2014/main" id="{EBB9FD63-B2E1-8ED6-289B-17E75D53D0CF}"/>
              </a:ext>
            </a:extLst>
          </p:cNvPr>
          <p:cNvSpPr/>
          <p:nvPr/>
        </p:nvSpPr>
        <p:spPr>
          <a:xfrm>
            <a:off x="79335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KPI目標：面談予約率 +30% 目標</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13" name="Shape 11">
            <a:extLst>
              <a:ext uri="{FF2B5EF4-FFF2-40B4-BE49-F238E27FC236}">
                <a16:creationId xmlns:a16="http://schemas.microsoft.com/office/drawing/2014/main" id="{718FE43C-F46C-BAA4-F102-48BC91B9077E}"/>
              </a:ext>
            </a:extLst>
          </p:cNvPr>
          <p:cNvSpPr/>
          <p:nvPr/>
        </p:nvSpPr>
        <p:spPr>
          <a:xfrm>
            <a:off x="5118463" y="2438404"/>
            <a:ext cx="4206240" cy="1920240"/>
          </a:xfrm>
          <a:prstGeom prst="roundRect">
            <a:avLst>
              <a:gd name="adj" fmla="val 5714"/>
            </a:avLst>
          </a:prstGeom>
          <a:solidFill>
            <a:srgbClr val="FFFFFF"/>
          </a:solidFill>
          <a:ln w="12700">
            <a:solidFill>
              <a:schemeClr val="accent1">
                <a:lumMod val="60000"/>
                <a:lumOff val="4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 name="Shape 12">
            <a:extLst>
              <a:ext uri="{FF2B5EF4-FFF2-40B4-BE49-F238E27FC236}">
                <a16:creationId xmlns:a16="http://schemas.microsoft.com/office/drawing/2014/main" id="{BCFAF28F-3A41-62B7-ED14-2C88314DE693}"/>
              </a:ext>
            </a:extLst>
          </p:cNvPr>
          <p:cNvSpPr/>
          <p:nvPr/>
        </p:nvSpPr>
        <p:spPr>
          <a:xfrm>
            <a:off x="5228191" y="2529844"/>
            <a:ext cx="658368" cy="292608"/>
          </a:xfrm>
          <a:prstGeom prst="roundRect">
            <a:avLst>
              <a:gd name="adj" fmla="val 18750"/>
            </a:avLst>
          </a:prstGeom>
          <a:solidFill>
            <a:schemeClr val="accent1">
              <a:lumMod val="40000"/>
              <a:lumOff val="6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 name="Text 13">
            <a:extLst>
              <a:ext uri="{FF2B5EF4-FFF2-40B4-BE49-F238E27FC236}">
                <a16:creationId xmlns:a16="http://schemas.microsoft.com/office/drawing/2014/main" id="{5636307B-10AB-ADC3-1727-AB8FC5831143}"/>
              </a:ext>
            </a:extLst>
          </p:cNvPr>
          <p:cNvSpPr/>
          <p:nvPr/>
        </p:nvSpPr>
        <p:spPr>
          <a:xfrm>
            <a:off x="522819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4-5月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 name="Shape 14">
            <a:extLst>
              <a:ext uri="{FF2B5EF4-FFF2-40B4-BE49-F238E27FC236}">
                <a16:creationId xmlns:a16="http://schemas.microsoft.com/office/drawing/2014/main" id="{4D4B9A45-FCB5-6DB2-B02F-57FFE5D56691}"/>
              </a:ext>
            </a:extLst>
          </p:cNvPr>
          <p:cNvSpPr/>
          <p:nvPr/>
        </p:nvSpPr>
        <p:spPr>
          <a:xfrm>
            <a:off x="594142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 name="Text 15">
            <a:extLst>
              <a:ext uri="{FF2B5EF4-FFF2-40B4-BE49-F238E27FC236}">
                <a16:creationId xmlns:a16="http://schemas.microsoft.com/office/drawing/2014/main" id="{5AB9A477-5190-5925-BA00-7C28E41E2AE9}"/>
              </a:ext>
            </a:extLst>
          </p:cNvPr>
          <p:cNvSpPr/>
          <p:nvPr/>
        </p:nvSpPr>
        <p:spPr>
          <a:xfrm>
            <a:off x="594142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GW前後</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 name="Text 16">
            <a:extLst>
              <a:ext uri="{FF2B5EF4-FFF2-40B4-BE49-F238E27FC236}">
                <a16:creationId xmlns:a16="http://schemas.microsoft.com/office/drawing/2014/main" id="{F0DF4241-0F34-404F-9C8A-0C5C0B3F7B0B}"/>
              </a:ext>
            </a:extLst>
          </p:cNvPr>
          <p:cNvSpPr/>
          <p:nvPr/>
        </p:nvSpPr>
        <p:spPr>
          <a:xfrm>
            <a:off x="522819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「GW中に転職活動を始めよう」</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 name="Text 17">
            <a:extLst>
              <a:ext uri="{FF2B5EF4-FFF2-40B4-BE49-F238E27FC236}">
                <a16:creationId xmlns:a16="http://schemas.microsoft.com/office/drawing/2014/main" id="{2F5CBA0E-C68D-2D85-8F64-5D9ED46DE52D}"/>
              </a:ext>
            </a:extLst>
          </p:cNvPr>
          <p:cNvSpPr/>
          <p:nvPr/>
        </p:nvSpPr>
        <p:spPr>
          <a:xfrm>
            <a:off x="522819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連休中に将来を考えるホワイトカラーが多い</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暇×焦りが転職意欲を高める時期</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施策：GW前にLINE配信「休み中に読む転職マニュアル」PDF特典を展開。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 name="Shape 18">
            <a:extLst>
              <a:ext uri="{FF2B5EF4-FFF2-40B4-BE49-F238E27FC236}">
                <a16:creationId xmlns:a16="http://schemas.microsoft.com/office/drawing/2014/main" id="{7EF6A367-39C2-356A-9B47-3D3671D8D918}"/>
              </a:ext>
            </a:extLst>
          </p:cNvPr>
          <p:cNvSpPr/>
          <p:nvPr/>
        </p:nvSpPr>
        <p:spPr>
          <a:xfrm>
            <a:off x="522819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Text 19">
            <a:extLst>
              <a:ext uri="{FF2B5EF4-FFF2-40B4-BE49-F238E27FC236}">
                <a16:creationId xmlns:a16="http://schemas.microsoft.com/office/drawing/2014/main" id="{5E166AEE-8473-61AD-BC51-7204C60ECFE2}"/>
              </a:ext>
            </a:extLst>
          </p:cNvPr>
          <p:cNvSpPr/>
          <p:nvPr/>
        </p:nvSpPr>
        <p:spPr>
          <a:xfrm>
            <a:off x="522819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KPI目標：LINE登録数 ピーク月比 +20%</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22" name="Shape 20">
            <a:extLst>
              <a:ext uri="{FF2B5EF4-FFF2-40B4-BE49-F238E27FC236}">
                <a16:creationId xmlns:a16="http://schemas.microsoft.com/office/drawing/2014/main" id="{487B2061-6B88-0A18-0E57-12185B834CCF}"/>
              </a:ext>
            </a:extLst>
          </p:cNvPr>
          <p:cNvSpPr/>
          <p:nvPr/>
        </p:nvSpPr>
        <p:spPr>
          <a:xfrm>
            <a:off x="683623" y="4495804"/>
            <a:ext cx="4206240" cy="1920240"/>
          </a:xfrm>
          <a:prstGeom prst="roundRect">
            <a:avLst>
              <a:gd name="adj" fmla="val 5714"/>
            </a:avLst>
          </a:prstGeom>
          <a:solidFill>
            <a:srgbClr val="FFFFFF"/>
          </a:solidFill>
          <a:ln w="12700">
            <a:solidFill>
              <a:schemeClr val="accent1"/>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 name="Shape 21">
            <a:extLst>
              <a:ext uri="{FF2B5EF4-FFF2-40B4-BE49-F238E27FC236}">
                <a16:creationId xmlns:a16="http://schemas.microsoft.com/office/drawing/2014/main" id="{D80051DD-55DD-DDC4-1C20-FA43FB837AEB}"/>
              </a:ext>
            </a:extLst>
          </p:cNvPr>
          <p:cNvSpPr/>
          <p:nvPr/>
        </p:nvSpPr>
        <p:spPr>
          <a:xfrm>
            <a:off x="793351" y="4587244"/>
            <a:ext cx="658368" cy="292608"/>
          </a:xfrm>
          <a:prstGeom prst="roundRect">
            <a:avLst>
              <a:gd name="adj" fmla="val 18750"/>
            </a:avLst>
          </a:prstGeom>
          <a:solidFill>
            <a:schemeClr val="accent1"/>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 name="Text 22">
            <a:extLst>
              <a:ext uri="{FF2B5EF4-FFF2-40B4-BE49-F238E27FC236}">
                <a16:creationId xmlns:a16="http://schemas.microsoft.com/office/drawing/2014/main" id="{166D040C-5E3C-D384-1752-F340D729E508}"/>
              </a:ext>
            </a:extLst>
          </p:cNvPr>
          <p:cNvSpPr/>
          <p:nvPr/>
        </p:nvSpPr>
        <p:spPr>
          <a:xfrm>
            <a:off x="79335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9-10月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 name="Shape 23">
            <a:extLst>
              <a:ext uri="{FF2B5EF4-FFF2-40B4-BE49-F238E27FC236}">
                <a16:creationId xmlns:a16="http://schemas.microsoft.com/office/drawing/2014/main" id="{E1D75AA6-DC2D-C974-1F8F-EA3764B5E2B1}"/>
              </a:ext>
            </a:extLst>
          </p:cNvPr>
          <p:cNvSpPr/>
          <p:nvPr/>
        </p:nvSpPr>
        <p:spPr>
          <a:xfrm>
            <a:off x="150658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 name="Text 24">
            <a:extLst>
              <a:ext uri="{FF2B5EF4-FFF2-40B4-BE49-F238E27FC236}">
                <a16:creationId xmlns:a16="http://schemas.microsoft.com/office/drawing/2014/main" id="{2C81E4D3-7404-C45A-3360-2888B2C16CEC}"/>
              </a:ext>
            </a:extLst>
          </p:cNvPr>
          <p:cNvSpPr/>
          <p:nvPr/>
        </p:nvSpPr>
        <p:spPr>
          <a:xfrm>
            <a:off x="150658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秋の転職期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 name="Text 25">
            <a:extLst>
              <a:ext uri="{FF2B5EF4-FFF2-40B4-BE49-F238E27FC236}">
                <a16:creationId xmlns:a16="http://schemas.microsoft.com/office/drawing/2014/main" id="{D74753E2-5389-A4C0-99DF-F1EBD9F21486}"/>
              </a:ext>
            </a:extLst>
          </p:cNvPr>
          <p:cNvSpPr/>
          <p:nvPr/>
        </p:nvSpPr>
        <p:spPr>
          <a:xfrm>
            <a:off x="79335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「下半期スタートダッシュ転職フェア」</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 name="Text 26">
            <a:extLst>
              <a:ext uri="{FF2B5EF4-FFF2-40B4-BE49-F238E27FC236}">
                <a16:creationId xmlns:a16="http://schemas.microsoft.com/office/drawing/2014/main" id="{15421AF9-EA34-4D6D-A17B-353040384108}"/>
              </a:ext>
            </a:extLst>
          </p:cNvPr>
          <p:cNvSpPr/>
          <p:nvPr/>
        </p:nvSpPr>
        <p:spPr>
          <a:xfrm>
            <a:off x="79335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9月は企業の採用活動が再活性化する時期。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求人数が増えるため転職成功率も上がる</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施策：「秋限定・非公開求人100件公開」をLINEで先行案内。希少性で友だち追加を促進。</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 name="Shape 27">
            <a:extLst>
              <a:ext uri="{FF2B5EF4-FFF2-40B4-BE49-F238E27FC236}">
                <a16:creationId xmlns:a16="http://schemas.microsoft.com/office/drawing/2014/main" id="{5BE67E13-AD4F-4228-9F1A-8B4E0CCBEBBE}"/>
              </a:ext>
            </a:extLst>
          </p:cNvPr>
          <p:cNvSpPr/>
          <p:nvPr/>
        </p:nvSpPr>
        <p:spPr>
          <a:xfrm>
            <a:off x="79335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0" name="Text 28">
            <a:extLst>
              <a:ext uri="{FF2B5EF4-FFF2-40B4-BE49-F238E27FC236}">
                <a16:creationId xmlns:a16="http://schemas.microsoft.com/office/drawing/2014/main" id="{9E653D90-A148-4540-DAAB-BDE1AE7D11F9}"/>
              </a:ext>
            </a:extLst>
          </p:cNvPr>
          <p:cNvSpPr/>
          <p:nvPr/>
        </p:nvSpPr>
        <p:spPr>
          <a:xfrm>
            <a:off x="79335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KPI目標：非公開求人経由成約率 計測開始</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31" name="Shape 29">
            <a:extLst>
              <a:ext uri="{FF2B5EF4-FFF2-40B4-BE49-F238E27FC236}">
                <a16:creationId xmlns:a16="http://schemas.microsoft.com/office/drawing/2014/main" id="{9A903725-E0FA-B7ED-BE7F-3E870C011999}"/>
              </a:ext>
            </a:extLst>
          </p:cNvPr>
          <p:cNvSpPr/>
          <p:nvPr/>
        </p:nvSpPr>
        <p:spPr>
          <a:xfrm>
            <a:off x="5118463" y="4495804"/>
            <a:ext cx="4206240" cy="1920240"/>
          </a:xfrm>
          <a:prstGeom prst="roundRect">
            <a:avLst>
              <a:gd name="adj" fmla="val 5714"/>
            </a:avLst>
          </a:prstGeom>
          <a:solidFill>
            <a:srgbClr val="FFFFFF"/>
          </a:solidFill>
          <a:ln w="12700">
            <a:solidFill>
              <a:schemeClr val="tx2">
                <a:lumMod val="5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 name="Shape 30">
            <a:extLst>
              <a:ext uri="{FF2B5EF4-FFF2-40B4-BE49-F238E27FC236}">
                <a16:creationId xmlns:a16="http://schemas.microsoft.com/office/drawing/2014/main" id="{E560804C-2AD2-34CF-80F2-47723D89B9EE}"/>
              </a:ext>
            </a:extLst>
          </p:cNvPr>
          <p:cNvSpPr/>
          <p:nvPr/>
        </p:nvSpPr>
        <p:spPr>
          <a:xfrm>
            <a:off x="5228191" y="4587244"/>
            <a:ext cx="658368" cy="292608"/>
          </a:xfrm>
          <a:prstGeom prst="roundRect">
            <a:avLst>
              <a:gd name="adj" fmla="val 18750"/>
            </a:avLst>
          </a:prstGeom>
          <a:solidFill>
            <a:schemeClr val="tx2">
              <a:lumMod val="5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 name="Text 31">
            <a:extLst>
              <a:ext uri="{FF2B5EF4-FFF2-40B4-BE49-F238E27FC236}">
                <a16:creationId xmlns:a16="http://schemas.microsoft.com/office/drawing/2014/main" id="{0D3AA494-1CCC-455B-FD0B-69A03482B0B2}"/>
              </a:ext>
            </a:extLst>
          </p:cNvPr>
          <p:cNvSpPr/>
          <p:nvPr/>
        </p:nvSpPr>
        <p:spPr>
          <a:xfrm>
            <a:off x="522819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12月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 name="Shape 32">
            <a:extLst>
              <a:ext uri="{FF2B5EF4-FFF2-40B4-BE49-F238E27FC236}">
                <a16:creationId xmlns:a16="http://schemas.microsoft.com/office/drawing/2014/main" id="{7CE7A172-10BE-1E65-8E12-21F725E375E4}"/>
              </a:ext>
            </a:extLst>
          </p:cNvPr>
          <p:cNvSpPr/>
          <p:nvPr/>
        </p:nvSpPr>
        <p:spPr>
          <a:xfrm>
            <a:off x="594142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 name="Text 33">
            <a:extLst>
              <a:ext uri="{FF2B5EF4-FFF2-40B4-BE49-F238E27FC236}">
                <a16:creationId xmlns:a16="http://schemas.microsoft.com/office/drawing/2014/main" id="{6FF1A96D-D52E-0E30-532A-ECE831BE9605}"/>
              </a:ext>
            </a:extLst>
          </p:cNvPr>
          <p:cNvSpPr/>
          <p:nvPr/>
        </p:nvSpPr>
        <p:spPr>
          <a:xfrm>
            <a:off x="594142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年末</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 name="Text 34">
            <a:extLst>
              <a:ext uri="{FF2B5EF4-FFF2-40B4-BE49-F238E27FC236}">
                <a16:creationId xmlns:a16="http://schemas.microsoft.com/office/drawing/2014/main" id="{6B191EBD-ED99-BB14-8C62-5B0BA0590745}"/>
              </a:ext>
            </a:extLst>
          </p:cNvPr>
          <p:cNvSpPr/>
          <p:nvPr/>
        </p:nvSpPr>
        <p:spPr>
          <a:xfrm>
            <a:off x="522819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「来年こそ転職を決める人へ」」</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 name="Text 35">
            <a:extLst>
              <a:ext uri="{FF2B5EF4-FFF2-40B4-BE49-F238E27FC236}">
                <a16:creationId xmlns:a16="http://schemas.microsoft.com/office/drawing/2014/main" id="{13B90534-5D2F-7E51-02AE-C33CF568ED2E}"/>
              </a:ext>
            </a:extLst>
          </p:cNvPr>
          <p:cNvSpPr/>
          <p:nvPr/>
        </p:nvSpPr>
        <p:spPr>
          <a:xfrm>
            <a:off x="522819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年末は「来年こそ」という決意が高まるタイミング</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競合が少なく広告効率が良い穴場期間</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施策：LINE配信「2026年転職市場予測レポート」先行配布。年明けの面談予約を先に獲得。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 name="Shape 36">
            <a:extLst>
              <a:ext uri="{FF2B5EF4-FFF2-40B4-BE49-F238E27FC236}">
                <a16:creationId xmlns:a16="http://schemas.microsoft.com/office/drawing/2014/main" id="{985D5473-A6B2-6E6C-69A6-536638C669C1}"/>
              </a:ext>
            </a:extLst>
          </p:cNvPr>
          <p:cNvSpPr/>
          <p:nvPr/>
        </p:nvSpPr>
        <p:spPr>
          <a:xfrm>
            <a:off x="522819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 name="Text 37">
            <a:extLst>
              <a:ext uri="{FF2B5EF4-FFF2-40B4-BE49-F238E27FC236}">
                <a16:creationId xmlns:a16="http://schemas.microsoft.com/office/drawing/2014/main" id="{665AB6CB-040B-F5AE-5EDC-FD4A6C6C841A}"/>
              </a:ext>
            </a:extLst>
          </p:cNvPr>
          <p:cNvSpPr/>
          <p:nvPr/>
        </p:nvSpPr>
        <p:spPr>
          <a:xfrm>
            <a:off x="522819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KPI目標：1月面談予約の先行獲得率</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42" name="Shape 2">
            <a:extLst>
              <a:ext uri="{FF2B5EF4-FFF2-40B4-BE49-F238E27FC236}">
                <a16:creationId xmlns:a16="http://schemas.microsoft.com/office/drawing/2014/main" id="{22BE1ADA-BF01-A520-0D77-972E7821FCE2}"/>
              </a:ext>
            </a:extLst>
          </p:cNvPr>
          <p:cNvSpPr/>
          <p:nvPr/>
        </p:nvSpPr>
        <p:spPr>
          <a:xfrm>
            <a:off x="683623" y="1900213"/>
            <a:ext cx="864616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Text 3">
            <a:extLst>
              <a:ext uri="{FF2B5EF4-FFF2-40B4-BE49-F238E27FC236}">
                <a16:creationId xmlns:a16="http://schemas.microsoft.com/office/drawing/2014/main" id="{F90B8BB4-8425-50C4-639B-16BEF90627DF}"/>
              </a:ext>
            </a:extLst>
          </p:cNvPr>
          <p:cNvSpPr/>
          <p:nvPr/>
        </p:nvSpPr>
        <p:spPr>
          <a:xfrm>
            <a:off x="866503" y="1900213"/>
            <a:ext cx="8458200" cy="457200"/>
          </a:xfrm>
          <a:prstGeom prst="rect">
            <a:avLst/>
          </a:prstGeom>
          <a:noFill/>
          <a:ln/>
        </p:spPr>
        <p:txBody>
          <a:bodyPr wrap="square" rtlCol="0" anchor="ctr"/>
          <a:lstStyle/>
          <a:p>
            <a:pPr marL="0" indent="0">
              <a:buNone/>
            </a:pP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よくある</a:t>
            </a: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・季節・年齢などのデータから、各ユーザー層に反応率の高い投稿クリエイティブを、企画～設計～運用。</a:t>
            </a:r>
            <a:endParaRPr lang="en-US" sz="1100" dirty="0">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17C2D8-2B96-60F6-B4C8-41F2D3663705}"/>
              </a:ext>
            </a:extLst>
          </p:cNvPr>
          <p:cNvSpPr/>
          <p:nvPr/>
        </p:nvSpPr>
        <p:spPr>
          <a:xfrm>
            <a:off x="139337" y="1733006"/>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F12EE9E2-9122-74C3-0A3B-F81EEC972BBE}"/>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EC（総合EC・D2C）業界の例</a:t>
            </a:r>
          </a:p>
        </p:txBody>
      </p:sp>
    </p:spTree>
    <p:extLst>
      <p:ext uri="{BB962C8B-B14F-4D97-AF65-F5344CB8AC3E}">
        <p14:creationId xmlns:p14="http://schemas.microsoft.com/office/powerpoint/2010/main" val="21853059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B77D6B5-FA2F-ED51-FB47-E8DC14B8ADE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EC業界の例③｜すぐ買わない層への長期育成</a:t>
            </a:r>
          </a:p>
        </p:txBody>
      </p:sp>
      <p:sp>
        <p:nvSpPr>
          <p:cNvPr id="2" name="Google Shape;752;p28">
            <a:extLst>
              <a:ext uri="{FF2B5EF4-FFF2-40B4-BE49-F238E27FC236}">
                <a16:creationId xmlns:a16="http://schemas.microsoft.com/office/drawing/2014/main" id="{A8DDF192-E20B-6A12-DAA4-2904850388D2}"/>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友だち追加からすぐ</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しないユーザーに対しては、最適な</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MSG</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配信を実現するため、</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心理ハードルの低い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性格診断</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“経験談アンケート</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等を通じて追客施策の強弱を決定。</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80" name="Text 3">
            <a:extLst>
              <a:ext uri="{FF2B5EF4-FFF2-40B4-BE49-F238E27FC236}">
                <a16:creationId xmlns:a16="http://schemas.microsoft.com/office/drawing/2014/main" id="{2F1CF158-D3B8-740E-7BB9-7BA2711D5A86}"/>
              </a:ext>
            </a:extLst>
          </p:cNvPr>
          <p:cNvSpPr/>
          <p:nvPr/>
        </p:nvSpPr>
        <p:spPr>
          <a:xfrm>
            <a:off x="430467" y="2806337"/>
            <a:ext cx="3997841"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診断設問（4問・各5択）</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1" name="Shape 4">
            <a:extLst>
              <a:ext uri="{FF2B5EF4-FFF2-40B4-BE49-F238E27FC236}">
                <a16:creationId xmlns:a16="http://schemas.microsoft.com/office/drawing/2014/main" id="{D0D52073-224A-0961-D46B-A0D0A35577C1}"/>
              </a:ext>
            </a:extLst>
          </p:cNvPr>
          <p:cNvSpPr/>
          <p:nvPr/>
        </p:nvSpPr>
        <p:spPr>
          <a:xfrm>
            <a:off x="404949" y="314466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5">
            <a:extLst>
              <a:ext uri="{FF2B5EF4-FFF2-40B4-BE49-F238E27FC236}">
                <a16:creationId xmlns:a16="http://schemas.microsoft.com/office/drawing/2014/main" id="{45D645B7-F48E-7853-EBC0-8E0C5EF81708}"/>
              </a:ext>
            </a:extLst>
          </p:cNvPr>
          <p:cNvSpPr/>
          <p:nvPr/>
        </p:nvSpPr>
        <p:spPr>
          <a:xfrm>
            <a:off x="559121" y="314466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Q1  「仕事のことを考えると、日曜の夜に憂鬱になりますか？」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3" name="Shape 6">
            <a:extLst>
              <a:ext uri="{FF2B5EF4-FFF2-40B4-BE49-F238E27FC236}">
                <a16:creationId xmlns:a16="http://schemas.microsoft.com/office/drawing/2014/main" id="{6791C392-1A7B-7AE0-A33F-16F51A18C75D}"/>
              </a:ext>
            </a:extLst>
          </p:cNvPr>
          <p:cNvSpPr/>
          <p:nvPr/>
        </p:nvSpPr>
        <p:spPr>
          <a:xfrm>
            <a:off x="404949" y="351042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4" name="Text 7">
            <a:extLst>
              <a:ext uri="{FF2B5EF4-FFF2-40B4-BE49-F238E27FC236}">
                <a16:creationId xmlns:a16="http://schemas.microsoft.com/office/drawing/2014/main" id="{E67E7D97-92DF-6373-F0A3-CF953F46FBAE}"/>
              </a:ext>
            </a:extLst>
          </p:cNvPr>
          <p:cNvSpPr/>
          <p:nvPr/>
        </p:nvSpPr>
        <p:spPr>
          <a:xfrm>
            <a:off x="559121" y="351042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Q2  「給与明細を見て『こんなものか』と思ったことがありますか？」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5" name="Shape 8">
            <a:extLst>
              <a:ext uri="{FF2B5EF4-FFF2-40B4-BE49-F238E27FC236}">
                <a16:creationId xmlns:a16="http://schemas.microsoft.com/office/drawing/2014/main" id="{1EEAB261-7048-6C4C-10D7-6CA60C396F31}"/>
              </a:ext>
            </a:extLst>
          </p:cNvPr>
          <p:cNvSpPr/>
          <p:nvPr/>
        </p:nvSpPr>
        <p:spPr>
          <a:xfrm>
            <a:off x="404949" y="387618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6" name="Text 9">
            <a:extLst>
              <a:ext uri="{FF2B5EF4-FFF2-40B4-BE49-F238E27FC236}">
                <a16:creationId xmlns:a16="http://schemas.microsoft.com/office/drawing/2014/main" id="{D0B754F8-CEA6-0F61-4B75-EC0D7AB0BBDC}"/>
              </a:ext>
            </a:extLst>
          </p:cNvPr>
          <p:cNvSpPr/>
          <p:nvPr/>
        </p:nvSpPr>
        <p:spPr>
          <a:xfrm>
            <a:off x="559121" y="387618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Q3  「5年後、今の会社にいる自分の姿が想像できますか？」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7" name="Shape 10">
            <a:extLst>
              <a:ext uri="{FF2B5EF4-FFF2-40B4-BE49-F238E27FC236}">
                <a16:creationId xmlns:a16="http://schemas.microsoft.com/office/drawing/2014/main" id="{FF427501-423E-6CDF-014B-ED232F961BFB}"/>
              </a:ext>
            </a:extLst>
          </p:cNvPr>
          <p:cNvSpPr/>
          <p:nvPr/>
        </p:nvSpPr>
        <p:spPr>
          <a:xfrm>
            <a:off x="404949" y="424194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Text 11">
            <a:extLst>
              <a:ext uri="{FF2B5EF4-FFF2-40B4-BE49-F238E27FC236}">
                <a16:creationId xmlns:a16="http://schemas.microsoft.com/office/drawing/2014/main" id="{DB910A08-DF58-32FA-2432-5C0AF3C83C53}"/>
              </a:ext>
            </a:extLst>
          </p:cNvPr>
          <p:cNvSpPr/>
          <p:nvPr/>
        </p:nvSpPr>
        <p:spPr>
          <a:xfrm>
            <a:off x="559121" y="424194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Q4  「上司・同僚と話す際に本音を言えていると感じますか？」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9" name="Text 12">
            <a:extLst>
              <a:ext uri="{FF2B5EF4-FFF2-40B4-BE49-F238E27FC236}">
                <a16:creationId xmlns:a16="http://schemas.microsoft.com/office/drawing/2014/main" id="{49C9DDEC-B91F-B9F3-D8EE-6DA3BF2758CE}"/>
              </a:ext>
            </a:extLst>
          </p:cNvPr>
          <p:cNvSpPr/>
          <p:nvPr/>
        </p:nvSpPr>
        <p:spPr>
          <a:xfrm>
            <a:off x="5177853" y="2810806"/>
            <a:ext cx="4297680"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診断結果 4パターン＋追客方針</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0" name="Shape 13">
            <a:extLst>
              <a:ext uri="{FF2B5EF4-FFF2-40B4-BE49-F238E27FC236}">
                <a16:creationId xmlns:a16="http://schemas.microsoft.com/office/drawing/2014/main" id="{7D9279AB-DA4C-865E-1BFC-B99D3C6C3C3F}"/>
              </a:ext>
            </a:extLst>
          </p:cNvPr>
          <p:cNvSpPr/>
          <p:nvPr/>
        </p:nvSpPr>
        <p:spPr>
          <a:xfrm>
            <a:off x="5177853" y="31491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1" name="Shape 14">
            <a:extLst>
              <a:ext uri="{FF2B5EF4-FFF2-40B4-BE49-F238E27FC236}">
                <a16:creationId xmlns:a16="http://schemas.microsoft.com/office/drawing/2014/main" id="{FE25EE99-D7D8-85CF-09FC-6465111BFB2C}"/>
              </a:ext>
            </a:extLst>
          </p:cNvPr>
          <p:cNvSpPr/>
          <p:nvPr/>
        </p:nvSpPr>
        <p:spPr>
          <a:xfrm>
            <a:off x="5251005" y="3222286"/>
            <a:ext cx="1005840" cy="256032"/>
          </a:xfrm>
          <a:prstGeom prst="roundRect">
            <a:avLst>
              <a:gd name="adj" fmla="val 14286"/>
            </a:avLst>
          </a:prstGeom>
          <a:solidFill>
            <a:schemeClr val="tx2">
              <a:lumMod val="75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2" name="Text 15">
            <a:extLst>
              <a:ext uri="{FF2B5EF4-FFF2-40B4-BE49-F238E27FC236}">
                <a16:creationId xmlns:a16="http://schemas.microsoft.com/office/drawing/2014/main" id="{F2BB4149-C773-D448-ED22-0664FCDF9177}"/>
              </a:ext>
            </a:extLst>
          </p:cNvPr>
          <p:cNvSpPr/>
          <p:nvPr/>
        </p:nvSpPr>
        <p:spPr>
          <a:xfrm>
            <a:off x="5251005" y="32222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即転職型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3" name="Shape 16">
            <a:extLst>
              <a:ext uri="{FF2B5EF4-FFF2-40B4-BE49-F238E27FC236}">
                <a16:creationId xmlns:a16="http://schemas.microsoft.com/office/drawing/2014/main" id="{95E60EE8-0A0B-1609-55AE-E84B1C214243}"/>
              </a:ext>
            </a:extLst>
          </p:cNvPr>
          <p:cNvSpPr/>
          <p:nvPr/>
        </p:nvSpPr>
        <p:spPr>
          <a:xfrm>
            <a:off x="6320853" y="32405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4" name="Text 17">
            <a:extLst>
              <a:ext uri="{FF2B5EF4-FFF2-40B4-BE49-F238E27FC236}">
                <a16:creationId xmlns:a16="http://schemas.microsoft.com/office/drawing/2014/main" id="{72D5F163-FCBF-2136-41BC-77594BF1877E}"/>
              </a:ext>
            </a:extLst>
          </p:cNvPr>
          <p:cNvSpPr/>
          <p:nvPr/>
        </p:nvSpPr>
        <p:spPr>
          <a:xfrm>
            <a:off x="6320853" y="32405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5" name="Text 18">
            <a:extLst>
              <a:ext uri="{FF2B5EF4-FFF2-40B4-BE49-F238E27FC236}">
                <a16:creationId xmlns:a16="http://schemas.microsoft.com/office/drawing/2014/main" id="{10AA3820-1E64-09EE-B24B-B91B9B0E3954}"/>
              </a:ext>
            </a:extLst>
          </p:cNvPr>
          <p:cNvSpPr/>
          <p:nvPr/>
        </p:nvSpPr>
        <p:spPr>
          <a:xfrm>
            <a:off x="7207821" y="32405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05A5A"/>
                </a:solidFill>
                <a:effectLst/>
                <a:uLnTx/>
                <a:uFillTx/>
                <a:latin typeface="メイリオ" panose="020B0604030504040204" pitchFamily="50" charset="-128"/>
                <a:ea typeface="メイリオ" panose="020B0604030504040204" pitchFamily="50" charset="-128"/>
                <a:cs typeface="Calibri" pitchFamily="34" charset="-120"/>
              </a:rPr>
              <a:t>→ ホットリスト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6" name="Text 19">
            <a:extLst>
              <a:ext uri="{FF2B5EF4-FFF2-40B4-BE49-F238E27FC236}">
                <a16:creationId xmlns:a16="http://schemas.microsoft.com/office/drawing/2014/main" id="{3DDA72DF-D996-0751-2316-45B75A6606C6}"/>
              </a:ext>
            </a:extLst>
          </p:cNvPr>
          <p:cNvSpPr/>
          <p:nvPr/>
        </p:nvSpPr>
        <p:spPr>
          <a:xfrm>
            <a:off x="5251005" y="34966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面談オファーを即座に配信。限定枠・期限を明示したクロージングメッセージ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7" name="Shape 20">
            <a:extLst>
              <a:ext uri="{FF2B5EF4-FFF2-40B4-BE49-F238E27FC236}">
                <a16:creationId xmlns:a16="http://schemas.microsoft.com/office/drawing/2014/main" id="{011CB3D1-C7A5-7956-3BAA-69C2CB905B6A}"/>
              </a:ext>
            </a:extLst>
          </p:cNvPr>
          <p:cNvSpPr/>
          <p:nvPr/>
        </p:nvSpPr>
        <p:spPr>
          <a:xfrm>
            <a:off x="5177853" y="38349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8" name="Shape 21">
            <a:extLst>
              <a:ext uri="{FF2B5EF4-FFF2-40B4-BE49-F238E27FC236}">
                <a16:creationId xmlns:a16="http://schemas.microsoft.com/office/drawing/2014/main" id="{4C69AF05-15A8-3F8C-8F51-AD3439C14622}"/>
              </a:ext>
            </a:extLst>
          </p:cNvPr>
          <p:cNvSpPr/>
          <p:nvPr/>
        </p:nvSpPr>
        <p:spPr>
          <a:xfrm>
            <a:off x="5251005" y="3908086"/>
            <a:ext cx="1005840" cy="256032"/>
          </a:xfrm>
          <a:prstGeom prst="roundRect">
            <a:avLst>
              <a:gd name="adj" fmla="val 14286"/>
            </a:avLst>
          </a:prstGeom>
          <a:solidFill>
            <a:schemeClr val="tx2"/>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9" name="Text 22">
            <a:extLst>
              <a:ext uri="{FF2B5EF4-FFF2-40B4-BE49-F238E27FC236}">
                <a16:creationId xmlns:a16="http://schemas.microsoft.com/office/drawing/2014/main" id="{FF31A922-59CE-9653-E310-5F8646A1A6DD}"/>
              </a:ext>
            </a:extLst>
          </p:cNvPr>
          <p:cNvSpPr/>
          <p:nvPr/>
        </p:nvSpPr>
        <p:spPr>
          <a:xfrm>
            <a:off x="5251005" y="39080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慎重検討型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0" name="Shape 23">
            <a:extLst>
              <a:ext uri="{FF2B5EF4-FFF2-40B4-BE49-F238E27FC236}">
                <a16:creationId xmlns:a16="http://schemas.microsoft.com/office/drawing/2014/main" id="{BF532CBE-24FC-8551-A3EA-4F3D1688FA51}"/>
              </a:ext>
            </a:extLst>
          </p:cNvPr>
          <p:cNvSpPr/>
          <p:nvPr/>
        </p:nvSpPr>
        <p:spPr>
          <a:xfrm>
            <a:off x="6320853" y="39263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1" name="Text 24">
            <a:extLst>
              <a:ext uri="{FF2B5EF4-FFF2-40B4-BE49-F238E27FC236}">
                <a16:creationId xmlns:a16="http://schemas.microsoft.com/office/drawing/2014/main" id="{6B81A3BF-2D14-0A6E-58E2-41F6C95FFF9D}"/>
              </a:ext>
            </a:extLst>
          </p:cNvPr>
          <p:cNvSpPr/>
          <p:nvPr/>
        </p:nvSpPr>
        <p:spPr>
          <a:xfrm>
            <a:off x="6320853" y="39263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2" name="Text 25">
            <a:extLst>
              <a:ext uri="{FF2B5EF4-FFF2-40B4-BE49-F238E27FC236}">
                <a16:creationId xmlns:a16="http://schemas.microsoft.com/office/drawing/2014/main" id="{A7F23C91-1AC9-92C8-0444-0C2A7B7900FB}"/>
              </a:ext>
            </a:extLst>
          </p:cNvPr>
          <p:cNvSpPr/>
          <p:nvPr/>
        </p:nvSpPr>
        <p:spPr>
          <a:xfrm>
            <a:off x="7207821" y="39263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8A838"/>
                </a:solidFill>
                <a:effectLst/>
                <a:uLnTx/>
                <a:uFillTx/>
                <a:latin typeface="メイリオ" panose="020B0604030504040204" pitchFamily="50" charset="-128"/>
                <a:ea typeface="メイリオ" panose="020B0604030504040204" pitchFamily="50" charset="-128"/>
                <a:cs typeface="Calibri" pitchFamily="34" charset="-120"/>
              </a:rPr>
              <a:t>→ ウォームリスト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3" name="Text 26">
            <a:extLst>
              <a:ext uri="{FF2B5EF4-FFF2-40B4-BE49-F238E27FC236}">
                <a16:creationId xmlns:a16="http://schemas.microsoft.com/office/drawing/2014/main" id="{4901DF11-6A92-B335-2D97-90FF2A2F3B7E}"/>
              </a:ext>
            </a:extLst>
          </p:cNvPr>
          <p:cNvSpPr/>
          <p:nvPr/>
        </p:nvSpPr>
        <p:spPr>
          <a:xfrm>
            <a:off x="5251005" y="41824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転職成功事例・年収比較データを週1配信。3〜4週間かけて温める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Shape 27">
            <a:extLst>
              <a:ext uri="{FF2B5EF4-FFF2-40B4-BE49-F238E27FC236}">
                <a16:creationId xmlns:a16="http://schemas.microsoft.com/office/drawing/2014/main" id="{20D444BB-26DB-74C1-2095-C4CECE5DD870}"/>
              </a:ext>
            </a:extLst>
          </p:cNvPr>
          <p:cNvSpPr/>
          <p:nvPr/>
        </p:nvSpPr>
        <p:spPr>
          <a:xfrm>
            <a:off x="5177853" y="45207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5" name="Shape 28">
            <a:extLst>
              <a:ext uri="{FF2B5EF4-FFF2-40B4-BE49-F238E27FC236}">
                <a16:creationId xmlns:a16="http://schemas.microsoft.com/office/drawing/2014/main" id="{B7739C89-3CB4-FFD4-5878-8E37F4F17031}"/>
              </a:ext>
            </a:extLst>
          </p:cNvPr>
          <p:cNvSpPr/>
          <p:nvPr/>
        </p:nvSpPr>
        <p:spPr>
          <a:xfrm>
            <a:off x="5251005" y="4593886"/>
            <a:ext cx="1005840" cy="256032"/>
          </a:xfrm>
          <a:prstGeom prst="roundRect">
            <a:avLst>
              <a:gd name="adj" fmla="val 14286"/>
            </a:avLst>
          </a:prstGeom>
          <a:solidFill>
            <a:schemeClr val="tx2">
              <a:lumMod val="60000"/>
              <a:lumOff val="4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6" name="Text 29">
            <a:extLst>
              <a:ext uri="{FF2B5EF4-FFF2-40B4-BE49-F238E27FC236}">
                <a16:creationId xmlns:a16="http://schemas.microsoft.com/office/drawing/2014/main" id="{86C5CCD4-DADF-8B0D-5331-4D81B5C903BC}"/>
              </a:ext>
            </a:extLst>
          </p:cNvPr>
          <p:cNvSpPr/>
          <p:nvPr/>
        </p:nvSpPr>
        <p:spPr>
          <a:xfrm>
            <a:off x="5251005" y="45938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情報収集型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7" name="Shape 30">
            <a:extLst>
              <a:ext uri="{FF2B5EF4-FFF2-40B4-BE49-F238E27FC236}">
                <a16:creationId xmlns:a16="http://schemas.microsoft.com/office/drawing/2014/main" id="{4F2323BE-47BE-D53C-98B3-4B403E562891}"/>
              </a:ext>
            </a:extLst>
          </p:cNvPr>
          <p:cNvSpPr/>
          <p:nvPr/>
        </p:nvSpPr>
        <p:spPr>
          <a:xfrm>
            <a:off x="6320853" y="46121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8" name="Text 31">
            <a:extLst>
              <a:ext uri="{FF2B5EF4-FFF2-40B4-BE49-F238E27FC236}">
                <a16:creationId xmlns:a16="http://schemas.microsoft.com/office/drawing/2014/main" id="{5812A64F-2CCF-7FF6-0B3F-E39A36A21562}"/>
              </a:ext>
            </a:extLst>
          </p:cNvPr>
          <p:cNvSpPr/>
          <p:nvPr/>
        </p:nvSpPr>
        <p:spPr>
          <a:xfrm>
            <a:off x="6320853" y="46121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9" name="Text 32">
            <a:extLst>
              <a:ext uri="{FF2B5EF4-FFF2-40B4-BE49-F238E27FC236}">
                <a16:creationId xmlns:a16="http://schemas.microsoft.com/office/drawing/2014/main" id="{E0F8F83C-84BB-D4BE-225A-E9D41ECDEA76}"/>
              </a:ext>
            </a:extLst>
          </p:cNvPr>
          <p:cNvSpPr/>
          <p:nvPr/>
        </p:nvSpPr>
        <p:spPr>
          <a:xfrm>
            <a:off x="7207821" y="46121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0D9488"/>
                </a:solidFill>
                <a:effectLst/>
                <a:uLnTx/>
                <a:uFillTx/>
                <a:latin typeface="メイリオ" panose="020B0604030504040204" pitchFamily="50" charset="-128"/>
                <a:ea typeface="メイリオ" panose="020B0604030504040204" pitchFamily="50" charset="-128"/>
                <a:cs typeface="Calibri" pitchFamily="34" charset="-120"/>
              </a:rPr>
              <a:t>→ ミドルリスト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Text 33">
            <a:extLst>
              <a:ext uri="{FF2B5EF4-FFF2-40B4-BE49-F238E27FC236}">
                <a16:creationId xmlns:a16="http://schemas.microsoft.com/office/drawing/2014/main" id="{88DC7D4E-3340-9B35-991E-96ED00531893}"/>
              </a:ext>
            </a:extLst>
          </p:cNvPr>
          <p:cNvSpPr/>
          <p:nvPr/>
        </p:nvSpPr>
        <p:spPr>
          <a:xfrm>
            <a:off x="5251005" y="48682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業界動向・スキルアップ情報を提供。半年スパンで関係構築</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1" name="Shape 34">
            <a:extLst>
              <a:ext uri="{FF2B5EF4-FFF2-40B4-BE49-F238E27FC236}">
                <a16:creationId xmlns:a16="http://schemas.microsoft.com/office/drawing/2014/main" id="{966CBC37-CF13-58B0-5CD8-1E77836F7F29}"/>
              </a:ext>
            </a:extLst>
          </p:cNvPr>
          <p:cNvSpPr/>
          <p:nvPr/>
        </p:nvSpPr>
        <p:spPr>
          <a:xfrm>
            <a:off x="5177853" y="52065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35">
            <a:extLst>
              <a:ext uri="{FF2B5EF4-FFF2-40B4-BE49-F238E27FC236}">
                <a16:creationId xmlns:a16="http://schemas.microsoft.com/office/drawing/2014/main" id="{100CDE3F-E390-202C-287F-515D436D1ADB}"/>
              </a:ext>
            </a:extLst>
          </p:cNvPr>
          <p:cNvSpPr/>
          <p:nvPr/>
        </p:nvSpPr>
        <p:spPr>
          <a:xfrm>
            <a:off x="5251005" y="5279686"/>
            <a:ext cx="1005840" cy="256032"/>
          </a:xfrm>
          <a:prstGeom prst="roundRect">
            <a:avLst>
              <a:gd name="adj" fmla="val 14286"/>
            </a:avLst>
          </a:prstGeom>
          <a:solidFill>
            <a:schemeClr val="tx2">
              <a:lumMod val="20000"/>
              <a:lumOff val="8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3" name="Text 36">
            <a:extLst>
              <a:ext uri="{FF2B5EF4-FFF2-40B4-BE49-F238E27FC236}">
                <a16:creationId xmlns:a16="http://schemas.microsoft.com/office/drawing/2014/main" id="{0D886FBA-D1FA-1F1D-4774-F731872AEE33}"/>
              </a:ext>
            </a:extLst>
          </p:cNvPr>
          <p:cNvSpPr/>
          <p:nvPr/>
        </p:nvSpPr>
        <p:spPr>
          <a:xfrm>
            <a:off x="5251005" y="52796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現状維持型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4" name="Shape 37">
            <a:extLst>
              <a:ext uri="{FF2B5EF4-FFF2-40B4-BE49-F238E27FC236}">
                <a16:creationId xmlns:a16="http://schemas.microsoft.com/office/drawing/2014/main" id="{0A8BE876-C3E9-5C00-CA0A-659FF0188ECF}"/>
              </a:ext>
            </a:extLst>
          </p:cNvPr>
          <p:cNvSpPr/>
          <p:nvPr/>
        </p:nvSpPr>
        <p:spPr>
          <a:xfrm>
            <a:off x="6320853" y="52979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5" name="Text 38">
            <a:extLst>
              <a:ext uri="{FF2B5EF4-FFF2-40B4-BE49-F238E27FC236}">
                <a16:creationId xmlns:a16="http://schemas.microsoft.com/office/drawing/2014/main" id="{BB5CADDA-DE23-AF11-67EE-438A0E4F573B}"/>
              </a:ext>
            </a:extLst>
          </p:cNvPr>
          <p:cNvSpPr/>
          <p:nvPr/>
        </p:nvSpPr>
        <p:spPr>
          <a:xfrm>
            <a:off x="6320853" y="52979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低スコア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39">
            <a:extLst>
              <a:ext uri="{FF2B5EF4-FFF2-40B4-BE49-F238E27FC236}">
                <a16:creationId xmlns:a16="http://schemas.microsoft.com/office/drawing/2014/main" id="{CDEDD963-E8C1-C16E-2022-546114A75A76}"/>
              </a:ext>
            </a:extLst>
          </p:cNvPr>
          <p:cNvSpPr/>
          <p:nvPr/>
        </p:nvSpPr>
        <p:spPr>
          <a:xfrm>
            <a:off x="7207821" y="52979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 コールドリスト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7" name="Text 40">
            <a:extLst>
              <a:ext uri="{FF2B5EF4-FFF2-40B4-BE49-F238E27FC236}">
                <a16:creationId xmlns:a16="http://schemas.microsoft.com/office/drawing/2014/main" id="{00198631-8657-65B3-0A0A-7C5220C5C5A7}"/>
              </a:ext>
            </a:extLst>
          </p:cNvPr>
          <p:cNvSpPr/>
          <p:nvPr/>
        </p:nvSpPr>
        <p:spPr>
          <a:xfrm>
            <a:off x="5251005" y="55540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無理にアプローチせず月1配信。「環境変化」で再燃を待つ長期戦略</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8" name="Shape 2">
            <a:extLst>
              <a:ext uri="{FF2B5EF4-FFF2-40B4-BE49-F238E27FC236}">
                <a16:creationId xmlns:a16="http://schemas.microsoft.com/office/drawing/2014/main" id="{EED969DB-6090-3801-B39E-93C24360A11A}"/>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9" name="Text 3">
            <a:extLst>
              <a:ext uri="{FF2B5EF4-FFF2-40B4-BE49-F238E27FC236}">
                <a16:creationId xmlns:a16="http://schemas.microsoft.com/office/drawing/2014/main" id="{4BD93F70-A1A4-6B20-298D-BE3F4D258BE9}"/>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登録から時間がかかったユーザーに対して、あなたの診断（ハードル：低）→現状可視化→セグメント追客を実施</a:t>
            </a:r>
            <a:endParaRPr lang="en-US" sz="110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DC8374B-5F7F-A61F-169C-C54DCD7D51C0}"/>
              </a:ext>
            </a:extLst>
          </p:cNvPr>
          <p:cNvSpPr/>
          <p:nvPr/>
        </p:nvSpPr>
        <p:spPr>
          <a:xfrm>
            <a:off x="195943" y="1649952"/>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EEE7D10-E257-A9D8-F6D6-AF0A9A41DDC4}"/>
              </a:ext>
            </a:extLst>
          </p:cNvPr>
          <p:cNvSpPr txBox="1"/>
          <p:nvPr/>
        </p:nvSpPr>
        <p:spPr>
          <a:xfrm>
            <a:off x="3872439" y="1317985"/>
            <a:ext cx="5767950" cy="230832"/>
          </a:xfrm>
          <a:prstGeom prst="rect">
            <a:avLst/>
          </a:prstGeom>
          <a:noFill/>
        </p:spPr>
        <p:txBody>
          <a:bodyPr wrap="square">
            <a:spAutoFit/>
          </a:bodyPr>
          <a:lstStyle/>
          <a:p>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サービス説明に繋げられるけど、サービスの直接的な宣伝は忌避される</a:t>
            </a:r>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 </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ユーザー層のセグメント化に活用</a:t>
            </a:r>
            <a:endParaRPr lang="ja-JP" altLang="en-US" sz="900" dirty="0">
              <a:solidFill>
                <a:schemeClr val="bg1">
                  <a:lumMod val="50000"/>
                </a:schemeClr>
              </a:solidFill>
            </a:endParaRPr>
          </a:p>
        </p:txBody>
      </p:sp>
      <p:sp>
        <p:nvSpPr>
          <p:cNvPr id="5" name="矢印: 右 4">
            <a:extLst>
              <a:ext uri="{FF2B5EF4-FFF2-40B4-BE49-F238E27FC236}">
                <a16:creationId xmlns:a16="http://schemas.microsoft.com/office/drawing/2014/main" id="{31E96465-A2D8-BAD2-908E-13EA6B2BA2F0}"/>
              </a:ext>
            </a:extLst>
          </p:cNvPr>
          <p:cNvSpPr/>
          <p:nvPr/>
        </p:nvSpPr>
        <p:spPr>
          <a:xfrm>
            <a:off x="4769313" y="3151795"/>
            <a:ext cx="375557" cy="5302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22173E9D-47C1-7D4E-1D0D-EC3756179319}"/>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EC（総合EC・D2C）業界の例</a:t>
            </a:r>
          </a:p>
        </p:txBody>
      </p:sp>
    </p:spTree>
    <p:extLst>
      <p:ext uri="{BB962C8B-B14F-4D97-AF65-F5344CB8AC3E}">
        <p14:creationId xmlns:p14="http://schemas.microsoft.com/office/powerpoint/2010/main" val="1932664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141781</TotalTime>
  <Words>7022</Words>
  <Application>Microsoft Office PowerPoint</Application>
  <PresentationFormat>A4 210 x 297 mm</PresentationFormat>
  <Paragraphs>1555</Paragraphs>
  <Slides>43</Slides>
  <Notes>12</Notes>
  <HiddenSlides>9</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1926</cp:revision>
  <cp:lastPrinted>2022-11-01T11:38:14Z</cp:lastPrinted>
  <dcterms:created xsi:type="dcterms:W3CDTF">2015-09-04T09:21:15Z</dcterms:created>
  <dcterms:modified xsi:type="dcterms:W3CDTF">2026-09-14T05:00:50Z</dcterms:modified>
</cp:coreProperties>
</file>