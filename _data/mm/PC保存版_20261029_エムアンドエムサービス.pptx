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36"/>
  </p:notesMasterIdLst>
  <p:sldIdLst>
    <p:sldId id="256" r:id="rId2"/>
    <p:sldId id="2721" r:id="rId3"/>
    <p:sldId id="2724" r:id="rId4"/>
    <p:sldId id="2714" r:id="rId5"/>
    <p:sldId id="257"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734" r:id="rId28"/>
    <p:sldId id="2595" r:id="rId29"/>
    <p:sldId id="2566" r:id="rId30"/>
    <p:sldId id="2569" r:id="rId31"/>
    <p:sldId id="2915" r:id="rId32"/>
    <p:sldId id="2619" r:id="rId33"/>
    <p:sldId id="2913" r:id="rId34"/>
    <p:sldId id="1169" r:id="rId35"/>
  </p:sldIdLst>
  <p:sldSz cx="9906000" cy="6858000" type="A4"/>
  <p:notesSz cx="6807200" cy="9939338"/>
  <p:embeddedFontLst>
    <p:embeddedFont>
      <p:font typeface="Century Gothic" panose="020B0502020202020204" pitchFamily="34" charset="0"/>
      <p:regular r:id="rId37"/>
      <p:bold r:id="rId38"/>
      <p:italic r:id="rId39"/>
      <p:boldItalic r:id="rId40"/>
    </p:embeddedFont>
    <p:embeddedFont>
      <p:font typeface="メイリオ" panose="020B0604030504040204" pitchFamily="50" charset="-128"/>
      <p:regular r:id="rId41"/>
      <p:bold r:id="rId42"/>
      <p:italic r:id="rId43"/>
      <p:boldItalic r:id="rId44"/>
    </p:embeddedFont>
    <p:embeddedFont>
      <p:font typeface="メイリオ" panose="020B0604030504040204" pitchFamily="50" charset="-128"/>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guide id="3" orient="horz" pos="3475">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5" roundtripDataSignature="AMtx7miZGwmVzhSrNF3mIomHliXJQjFO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032D"/>
    <a:srgbClr val="FFFFFF"/>
    <a:srgbClr val="3D4647"/>
    <a:srgbClr val="C00000"/>
    <a:srgbClr val="DBEEF4"/>
    <a:srgbClr val="FD0D2C"/>
    <a:srgbClr val="0000FF"/>
    <a:srgbClr val="FFFF99"/>
    <a:srgbClr val="A6A6A6"/>
    <a:srgbClr val="F59A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819C4C-175D-492D-BAEF-4A6233BE45D2}">
  <a:tblStyle styleId="{00819C4C-175D-492D-BAEF-4A6233BE45D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76" autoAdjust="0"/>
    <p:restoredTop sz="95320" autoAdjust="0"/>
  </p:normalViewPr>
  <p:slideViewPr>
    <p:cSldViewPr snapToGrid="0">
      <p:cViewPr varScale="1">
        <p:scale>
          <a:sx n="110" d="100"/>
          <a:sy n="110" d="100"/>
        </p:scale>
        <p:origin x="1644" y="102"/>
      </p:cViewPr>
      <p:guideLst>
        <p:guide orient="horz" pos="2160"/>
        <p:guide pos="3120"/>
        <p:guide orient="horz" pos="34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12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12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2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12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12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0"/>
    <c:plotArea>
      <c:layout/>
      <c:barChart>
        <c:barDir val="col"/>
        <c:grouping val="stacked"/>
        <c:varyColors val="1"/>
        <c:ser>
          <c:idx val="0"/>
          <c:order val="0"/>
          <c:tx>
            <c:strRef>
              <c:f>Sheet1!$B$1</c:f>
              <c:strCache>
                <c:ptCount val="1"/>
                <c:pt idx="0">
                  <c:v>休眠の掘り起こし</c:v>
                </c:pt>
              </c:strCache>
            </c:strRef>
          </c:tx>
          <c:spPr>
            <a:solidFill>
              <a:srgbClr val="24345A"/>
            </a:solidFill>
          </c:spPr>
          <c:invertIfNegative val="1"/>
          <c:dLbls>
            <c:numFmt formatCode="0.0" sourceLinked="0"/>
            <c:spPr>
              <a:noFill/>
              <a:ln>
                <a:noFill/>
              </a:ln>
              <a:effectLst/>
            </c:spPr>
            <c:txPr>
              <a:bodyPr/>
              <a:lstStyle/>
              <a:p>
                <a:pPr>
                  <a:defRPr sz="900">
                    <a:solidFill>
                      <a:srgbClr val="FFFFFF"/>
                    </a:solidFil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12月</c:v>
                </c:pt>
                <c:pt idx="1">
                  <c:v>1月</c:v>
                </c:pt>
                <c:pt idx="2">
                  <c:v>2月</c:v>
                </c:pt>
                <c:pt idx="3">
                  <c:v>3月</c:v>
                </c:pt>
                <c:pt idx="4">
                  <c:v>4月</c:v>
                </c:pt>
                <c:pt idx="5">
                  <c:v>5月</c:v>
                </c:pt>
              </c:strCache>
            </c:strRef>
          </c:cat>
          <c:val>
            <c:numRef>
              <c:f>Sheet1!$B$2:$B$7</c:f>
              <c:numCache>
                <c:formatCode>General</c:formatCode>
                <c:ptCount val="6"/>
                <c:pt idx="0">
                  <c:v>2.8</c:v>
                </c:pt>
                <c:pt idx="1">
                  <c:v>4.0999999999999996</c:v>
                </c:pt>
                <c:pt idx="2">
                  <c:v>5</c:v>
                </c:pt>
                <c:pt idx="3">
                  <c:v>6.5</c:v>
                </c:pt>
                <c:pt idx="4">
                  <c:v>6</c:v>
                </c:pt>
                <c:pt idx="5">
                  <c:v>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96A-4A3B-B144-9C6543CFC3B8}"/>
            </c:ext>
          </c:extLst>
        </c:ser>
        <c:ser>
          <c:idx val="1"/>
          <c:order val="1"/>
          <c:tx>
            <c:strRef>
              <c:f>Sheet1!$C$1</c:f>
              <c:strCache>
                <c:ptCount val="1"/>
                <c:pt idx="0">
                  <c:v>新規（ステップ配信）</c:v>
                </c:pt>
              </c:strCache>
            </c:strRef>
          </c:tx>
          <c:spPr>
            <a:solidFill>
              <a:srgbClr val="06C755"/>
            </a:solidFill>
          </c:spPr>
          <c:invertIfNegative val="1"/>
          <c:dLbls>
            <c:numFmt formatCode="0.0" sourceLinked="0"/>
            <c:spPr>
              <a:noFill/>
              <a:ln>
                <a:noFill/>
              </a:ln>
              <a:effectLst/>
            </c:spPr>
            <c:txPr>
              <a:bodyPr/>
              <a:lstStyle/>
              <a:p>
                <a:pPr>
                  <a:defRPr sz="900">
                    <a:solidFill>
                      <a:srgbClr val="FFFFFF"/>
                    </a:solidFill>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12月</c:v>
                </c:pt>
                <c:pt idx="1">
                  <c:v>1月</c:v>
                </c:pt>
                <c:pt idx="2">
                  <c:v>2月</c:v>
                </c:pt>
                <c:pt idx="3">
                  <c:v>3月</c:v>
                </c:pt>
                <c:pt idx="4">
                  <c:v>4月</c:v>
                </c:pt>
                <c:pt idx="5">
                  <c:v>5月</c:v>
                </c:pt>
              </c:strCache>
            </c:strRef>
          </c:cat>
          <c:val>
            <c:numRef>
              <c:f>Sheet1!$C$2:$C$7</c:f>
              <c:numCache>
                <c:formatCode>General</c:formatCode>
                <c:ptCount val="6"/>
                <c:pt idx="0">
                  <c:v>1.9</c:v>
                </c:pt>
                <c:pt idx="1">
                  <c:v>2.7</c:v>
                </c:pt>
                <c:pt idx="2">
                  <c:v>3.3</c:v>
                </c:pt>
                <c:pt idx="3">
                  <c:v>4.3</c:v>
                </c:pt>
                <c:pt idx="4">
                  <c:v>4</c:v>
                </c:pt>
                <c:pt idx="5">
                  <c:v>3.7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96A-4A3B-B144-9C6543CFC3B8}"/>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pPr>
            <a:endParaRPr lang="ja-JP"/>
          </a:p>
        </c:txPr>
        <c:crossAx val="-2113994440"/>
        <c:crosses val="autoZero"/>
        <c:auto val="1"/>
        <c:lblAlgn val="ctr"/>
        <c:lblOffset val="100"/>
        <c:noMultiLvlLbl val="0"/>
      </c:catAx>
      <c:valAx>
        <c:axId val="-2113994440"/>
        <c:scaling>
          <c:orientation val="minMax"/>
        </c:scaling>
        <c:delete val="0"/>
        <c:axPos val="l"/>
        <c:majorGridlines>
          <c:spPr>
            <a:ln>
              <a:solidFill>
                <a:srgbClr val="E3E6EC"/>
              </a:solidFill>
            </a:ln>
          </c:spPr>
        </c:majorGridlines>
        <c:numFmt formatCode="General" sourceLinked="1"/>
        <c:majorTickMark val="out"/>
        <c:minorTickMark val="none"/>
        <c:tickLblPos val="nextTo"/>
        <c:txPr>
          <a:bodyPr/>
          <a:lstStyle/>
          <a:p>
            <a:pPr>
              <a:defRPr sz="900"/>
            </a:pPr>
            <a:endParaRPr lang="ja-JP"/>
          </a:p>
        </c:txPr>
        <c:crossAx val="-2068027336"/>
        <c:crosses val="autoZero"/>
        <c:crossBetween val="between"/>
      </c:valAx>
    </c:plotArea>
    <c:legend>
      <c:legendPos val="b"/>
      <c:overlay val="0"/>
      <c:txPr>
        <a:bodyPr/>
        <a:lstStyle/>
        <a:p>
          <a:pPr>
            <a:defRPr sz="1000"/>
          </a:pPr>
          <a:endParaRPr lang="ja-JP"/>
        </a:p>
      </c:txPr>
    </c:legend>
    <c:plotVisOnly val="1"/>
    <c:dispBlanksAs val="gap"/>
    <c:showDLblsOverMax val="1"/>
  </c:chart>
  <c:txPr>
    <a:bodyPr/>
    <a:lstStyle/>
    <a:p>
      <a:pPr>
        <a:defRPr sz="1800">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49533" cy="496428"/>
          </a:xfrm>
          <a:prstGeom prst="rect">
            <a:avLst/>
          </a:prstGeom>
          <a:noFill/>
          <a:ln>
            <a:noFill/>
          </a:ln>
        </p:spPr>
        <p:txBody>
          <a:bodyPr spcFirstLastPara="1" wrap="square" lIns="88271" tIns="44123" rIns="88271" bIns="44123"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6148" y="0"/>
            <a:ext cx="2949532" cy="496428"/>
          </a:xfrm>
          <a:prstGeom prst="rect">
            <a:avLst/>
          </a:prstGeom>
          <a:noFill/>
          <a:ln>
            <a:noFill/>
          </a:ln>
        </p:spPr>
        <p:txBody>
          <a:bodyPr spcFirstLastPara="1" wrap="square" lIns="88271" tIns="44123" rIns="88271" bIns="44123"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1200" y="744538"/>
            <a:ext cx="5384800" cy="37290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1481" y="4720685"/>
            <a:ext cx="5445760" cy="4472471"/>
          </a:xfrm>
          <a:prstGeom prst="rect">
            <a:avLst/>
          </a:prstGeom>
          <a:noFill/>
          <a:ln>
            <a:noFill/>
          </a:ln>
        </p:spPr>
        <p:txBody>
          <a:bodyPr spcFirstLastPara="1" wrap="square" lIns="88271" tIns="44123" rIns="88271" bIns="44123"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441368"/>
            <a:ext cx="2949533" cy="496428"/>
          </a:xfrm>
          <a:prstGeom prst="rect">
            <a:avLst/>
          </a:prstGeom>
          <a:noFill/>
          <a:ln>
            <a:noFill/>
          </a:ln>
        </p:spPr>
        <p:txBody>
          <a:bodyPr spcFirstLastPara="1" wrap="square" lIns="88271" tIns="44123" rIns="88271" bIns="44123"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6148" y="9441368"/>
            <a:ext cx="2949532" cy="496428"/>
          </a:xfrm>
          <a:prstGeom prst="rect">
            <a:avLst/>
          </a:prstGeom>
          <a:noFill/>
          <a:ln>
            <a:noFill/>
          </a:ln>
        </p:spPr>
        <p:txBody>
          <a:bodyPr spcFirstLastPara="1" wrap="square" lIns="88271" tIns="44123" rIns="88271" bIns="44123" anchor="b" anchorCtr="0">
            <a:noAutofit/>
          </a:bodyPr>
          <a:lstStyle/>
          <a:p>
            <a:pPr algn="r"/>
            <a:fld id="{00000000-1234-1234-1234-123412341234}" type="slidenum">
              <a:rPr lang="en-US" altLang="ja-JP" sz="1200" smtClean="0">
                <a:solidFill>
                  <a:schemeClr val="dk1"/>
                </a:solidFill>
                <a:latin typeface="Calibri"/>
                <a:ea typeface="Calibri"/>
                <a:cs typeface="Calibri"/>
                <a:sym typeface="Calibri"/>
              </a:rPr>
              <a:pPr algn="r"/>
              <a:t>‹#›</a:t>
            </a:fld>
            <a:endParaRPr lang="en-US" sz="12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29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25021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4_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14393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52179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56"/>
          <p:cNvSpPr/>
          <p:nvPr/>
        </p:nvSpPr>
        <p:spPr>
          <a:xfrm>
            <a:off x="0" y="6552728"/>
            <a:ext cx="9906000" cy="332656"/>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 name="Google Shape;17;p56"/>
          <p:cNvSpPr txBox="1"/>
          <p:nvPr/>
        </p:nvSpPr>
        <p:spPr>
          <a:xfrm>
            <a:off x="116569" y="6597932"/>
            <a:ext cx="366630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800" b="1">
                <a:solidFill>
                  <a:schemeClr val="lt1"/>
                </a:solidFill>
                <a:latin typeface="Meiryo"/>
                <a:ea typeface="Meiryo"/>
                <a:cs typeface="Meiryo"/>
                <a:sym typeface="Meiryo"/>
              </a:rPr>
              <a:t>Copyright(c) DYM Co., Ltd.All Rights Reserved.</a:t>
            </a:r>
            <a:endParaRPr/>
          </a:p>
        </p:txBody>
      </p:sp>
      <p:sp>
        <p:nvSpPr>
          <p:cNvPr id="18" name="Google Shape;18;p56"/>
          <p:cNvSpPr/>
          <p:nvPr/>
        </p:nvSpPr>
        <p:spPr>
          <a:xfrm>
            <a:off x="0" y="0"/>
            <a:ext cx="416496" cy="54868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9" name="Google Shape;19;p56"/>
          <p:cNvCxnSpPr/>
          <p:nvPr/>
        </p:nvCxnSpPr>
        <p:spPr>
          <a:xfrm>
            <a:off x="0" y="548680"/>
            <a:ext cx="9906000" cy="0"/>
          </a:xfrm>
          <a:prstGeom prst="straightConnector1">
            <a:avLst/>
          </a:prstGeom>
          <a:noFill/>
          <a:ln w="25400" cap="flat" cmpd="sng">
            <a:solidFill>
              <a:srgbClr val="002060"/>
            </a:solidFill>
            <a:prstDash val="solid"/>
            <a:round/>
            <a:headEnd type="none" w="sm" len="sm"/>
            <a:tailEnd type="none" w="sm" len="sm"/>
          </a:ln>
        </p:spPr>
      </p:cxnSp>
      <p:pic>
        <p:nvPicPr>
          <p:cNvPr id="20" name="Google Shape;20;p56"/>
          <p:cNvPicPr preferRelativeResize="0"/>
          <p:nvPr/>
        </p:nvPicPr>
        <p:blipFill rotWithShape="1">
          <a:blip r:embed="rId4">
            <a:alphaModFix/>
          </a:blip>
          <a:srcRect l="-1647" r="-11170"/>
          <a:stretch/>
        </p:blipFill>
        <p:spPr>
          <a:xfrm>
            <a:off x="8619408" y="161057"/>
            <a:ext cx="1192729" cy="263314"/>
          </a:xfrm>
          <a:prstGeom prst="rect">
            <a:avLst/>
          </a:prstGeom>
          <a:noFill/>
          <a:ln>
            <a:noFill/>
          </a:ln>
        </p:spPr>
      </p:pic>
      <p:sp>
        <p:nvSpPr>
          <p:cNvPr id="21" name="Google Shape;21;p56"/>
          <p:cNvSpPr txBox="1"/>
          <p:nvPr/>
        </p:nvSpPr>
        <p:spPr>
          <a:xfrm>
            <a:off x="7545288" y="6571255"/>
            <a:ext cx="2133600" cy="216000"/>
          </a:xfrm>
          <a:prstGeom prst="rect">
            <a:avLst/>
          </a:prstGeom>
          <a:noFill/>
          <a:ln>
            <a:noFill/>
          </a:ln>
        </p:spPr>
        <p:txBody>
          <a:bodyPr spcFirstLastPara="1" wrap="square" lIns="91425" tIns="25200" rIns="91425" bIns="45700" anchor="t" anchorCtr="0">
            <a:noAutofit/>
          </a:bodyPr>
          <a:lstStyle/>
          <a:p>
            <a:pPr marL="0" marR="0" lvl="0" indent="0" algn="r" rtl="0">
              <a:spcBef>
                <a:spcPts val="0"/>
              </a:spcBef>
              <a:spcAft>
                <a:spcPts val="0"/>
              </a:spcAft>
              <a:buNone/>
            </a:pPr>
            <a:fld id="{00000000-1234-1234-1234-123412341234}" type="slidenum">
              <a:rPr lang="ja-JP" sz="1400" i="1">
                <a:solidFill>
                  <a:schemeClr val="lt1"/>
                </a:solidFill>
                <a:latin typeface="Century Gothic"/>
                <a:ea typeface="Century Gothic"/>
                <a:cs typeface="Century Gothic"/>
                <a:sym typeface="Century Gothic"/>
              </a:rPr>
              <a:t>‹#›</a:t>
            </a:fld>
            <a:endParaRPr sz="1400" i="1">
              <a:solidFill>
                <a:schemeClr val="lt1"/>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jpeg"/></Relationships>
</file>

<file path=ppt/slides/_rels/slide3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7.emf"/><Relationship Id="rId7" Type="http://schemas.openxmlformats.org/officeDocument/2006/relationships/image" Target="../media/image41.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580000" cy="575000"/>
          </a:xfrm>
          <a:prstGeom prst="rect">
            <a:avLst/>
          </a:prstGeom>
          <a:solidFill>
            <a:srgbClr val="FFFFFF"/>
          </a:solidFill>
          <a:ln>
            <a:noFill/>
          </a:ln>
          <a:effectLst/>
        </p:spPr>
        <p:txBody>
          <a:bodyPr rtlCol="0" anchor="ctr"/>
          <a:lstStyle/>
          <a:p>
            <a:pPr algn="ctr"/>
            <a:endParaRPr/>
          </a:p>
        </p:txBody>
      </p:sp>
      <p:sp>
        <p:nvSpPr>
          <p:cNvPr id="3" name="TextBox 2"/>
          <p:cNvSpPr txBox="1"/>
          <p:nvPr/>
        </p:nvSpPr>
        <p:spPr>
          <a:xfrm>
            <a:off x="384048" y="2390538"/>
            <a:ext cx="9134856" cy="318924"/>
          </a:xfrm>
          <a:prstGeom prst="rect">
            <a:avLst/>
          </a:prstGeom>
          <a:noFill/>
        </p:spPr>
        <p:txBody>
          <a:bodyPr wrap="square" lIns="72000" tIns="36000" rIns="72000" bIns="36000" anchor="ctr">
            <a:spAutoFit/>
          </a:bodyPr>
          <a:lstStyle/>
          <a:p>
            <a:pPr algn="ctr"/>
            <a:r>
              <a:rPr lang="ja-JP" altLang="en-US" sz="1600" b="0" dirty="0">
                <a:solidFill>
                  <a:srgbClr val="7F7F7F"/>
                </a:solidFill>
                <a:latin typeface="メイリオ"/>
                <a:ea typeface="メイリオ"/>
                <a:cs typeface="メイリオ"/>
              </a:rPr>
              <a:t>「</a:t>
            </a:r>
            <a:r>
              <a:rPr sz="1600" b="0" dirty="0" err="1">
                <a:solidFill>
                  <a:srgbClr val="7F7F7F"/>
                </a:solidFill>
                <a:latin typeface="メイリオ"/>
                <a:ea typeface="メイリオ"/>
                <a:cs typeface="メイリオ"/>
              </a:rPr>
              <a:t>友だちを集める」から「予約に変える」へ</a:t>
            </a:r>
            <a:endParaRPr sz="1600" b="0" dirty="0">
              <a:solidFill>
                <a:srgbClr val="7F7F7F"/>
              </a:solidFill>
              <a:latin typeface="メイリオ"/>
              <a:ea typeface="メイリオ"/>
              <a:cs typeface="メイリオ"/>
            </a:endParaRPr>
          </a:p>
        </p:txBody>
      </p:sp>
      <p:sp>
        <p:nvSpPr>
          <p:cNvPr id="4" name="TextBox 3"/>
          <p:cNvSpPr txBox="1"/>
          <p:nvPr/>
        </p:nvSpPr>
        <p:spPr>
          <a:xfrm>
            <a:off x="384048" y="2850000"/>
            <a:ext cx="9134856" cy="8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LINE公式アカウント運用のご提案</a:t>
            </a:r>
          </a:p>
        </p:txBody>
      </p:sp>
      <p:cxnSp>
        <p:nvCxnSpPr>
          <p:cNvPr id="5" name="Connector 4"/>
          <p:cNvCxnSpPr/>
          <p:nvPr/>
        </p:nvCxnSpPr>
        <p:spPr>
          <a:xfrm>
            <a:off x="1337175" y="3705064"/>
            <a:ext cx="7231660" cy="0"/>
          </a:xfrm>
          <a:prstGeom prst="line">
            <a:avLst/>
          </a:prstGeom>
          <a:ln w="19050">
            <a:solidFill>
              <a:srgbClr val="7F7F7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3905628" y="3900000"/>
            <a:ext cx="2094755" cy="380000"/>
          </a:xfrm>
          <a:prstGeom prst="rect">
            <a:avLst/>
          </a:prstGeom>
          <a:solidFill>
            <a:srgbClr val="F2F2F2"/>
          </a:solidFill>
          <a:ln>
            <a:noFill/>
          </a:ln>
          <a:effectLst/>
        </p:spPr>
        <p:txBody>
          <a:bodyPr wrap="square" lIns="72000" tIns="36000" rIns="72000" bIns="36000" rtlCol="0" anchor="ctr"/>
          <a:lstStyle/>
          <a:p>
            <a:pPr algn="ctr"/>
            <a:r>
              <a:rPr sz="1200" b="0">
                <a:solidFill>
                  <a:srgbClr val="404040"/>
                </a:solidFill>
                <a:latin typeface="メイリオ"/>
                <a:ea typeface="メイリオ"/>
                <a:cs typeface="メイリオ"/>
              </a:rPr>
              <a:t>- 2026年10月 -</a:t>
            </a:r>
          </a:p>
        </p:txBody>
      </p:sp>
      <p:sp>
        <p:nvSpPr>
          <p:cNvPr id="7" name="Rectangle 6"/>
          <p:cNvSpPr/>
          <p:nvPr/>
        </p:nvSpPr>
        <p:spPr>
          <a:xfrm>
            <a:off x="2483345" y="4330000"/>
            <a:ext cx="4939321" cy="440000"/>
          </a:xfrm>
          <a:prstGeom prst="rect">
            <a:avLst/>
          </a:prstGeom>
          <a:solidFill>
            <a:srgbClr val="C5D7EF"/>
          </a:solidFill>
          <a:ln>
            <a:noFill/>
          </a:ln>
          <a:effectLst/>
        </p:spPr>
        <p:txBody>
          <a:bodyPr wrap="square" lIns="72000" tIns="36000" rIns="72000" bIns="36000" rtlCol="0" anchor="ctr"/>
          <a:lstStyle/>
          <a:p>
            <a:pPr algn="ctr"/>
            <a:r>
              <a:rPr sz="1400" b="1">
                <a:solidFill>
                  <a:srgbClr val="FFFFFF"/>
                </a:solidFill>
                <a:latin typeface="メイリオ"/>
                <a:ea typeface="メイリオ"/>
                <a:cs typeface="メイリオ"/>
              </a:rPr>
              <a:t>株式会社エムアンドエムサービス 御中（お宿ねっと様）</a:t>
            </a:r>
          </a:p>
        </p:txBody>
      </p:sp>
      <p:sp>
        <p:nvSpPr>
          <p:cNvPr id="8" name="TextBox 7"/>
          <p:cNvSpPr txBox="1"/>
          <p:nvPr/>
        </p:nvSpPr>
        <p:spPr>
          <a:xfrm>
            <a:off x="384048" y="5300000"/>
            <a:ext cx="9134856" cy="300000"/>
          </a:xfrm>
          <a:prstGeom prst="rect">
            <a:avLst/>
          </a:prstGeom>
          <a:noFill/>
        </p:spPr>
        <p:txBody>
          <a:bodyPr wrap="square" lIns="72000" tIns="36000" rIns="72000" bIns="36000" anchor="ctr">
            <a:spAutoFit/>
          </a:bodyPr>
          <a:lstStyle/>
          <a:p>
            <a:pPr algn="ctr"/>
            <a:r>
              <a:rPr sz="1200" b="0">
                <a:solidFill>
                  <a:srgbClr val="7F7F7F"/>
                </a:solidFill>
                <a:latin typeface="メイリオ"/>
                <a:ea typeface="メイリオ"/>
                <a:cs typeface="メイリオ"/>
              </a:rPr>
              <a:t>DYM株式会社 Web事業部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spTree>
    <p:extLst>
      <p:ext uri="{BB962C8B-B14F-4D97-AF65-F5344CB8AC3E}">
        <p14:creationId xmlns:p14="http://schemas.microsoft.com/office/powerpoint/2010/main" val="3014222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181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6" b="22252"/>
          <a:stretch>
            <a:fillRect/>
          </a:stretch>
        </p:blipFill>
        <p:spPr>
          <a:xfrm>
            <a:off x="295975" y="1723516"/>
            <a:ext cx="9387073" cy="3876095"/>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164570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月額は今と同じ20万円のまま、集めた友だちを予約に変える仕組みを作ります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本日のご提案（サマリー）</a:t>
            </a:r>
          </a:p>
        </p:txBody>
      </p:sp>
      <p:sp>
        <p:nvSpPr>
          <p:cNvPr id="904" name="Rounded Rectangle 903"/>
          <p:cNvSpPr/>
          <p:nvPr/>
        </p:nvSpPr>
        <p:spPr>
          <a:xfrm>
            <a:off x="384048" y="1530000"/>
            <a:ext cx="9134856" cy="6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結論：</a:t>
            </a:r>
            <a:r>
              <a:rPr sz="1300" b="0">
                <a:solidFill>
                  <a:srgbClr val="FFFFFF"/>
                </a:solidFill>
                <a:latin typeface="メイリオ"/>
                <a:ea typeface="メイリオ"/>
                <a:cs typeface="メイリオ"/>
              </a:rPr>
              <a:t>CPF広告を20万円→10万円に組み替え、残り10万円で「ステップ配信」と「月1企画投稿」を回す</a:t>
            </a:r>
          </a:p>
        </p:txBody>
      </p:sp>
      <p:sp>
        <p:nvSpPr>
          <p:cNvPr id="905" name="Rounded Rectangle 904"/>
          <p:cNvSpPr/>
          <p:nvPr/>
        </p:nvSpPr>
        <p:spPr>
          <a:xfrm>
            <a:off x="384048" y="23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6" name="Rounded Rectangle 905"/>
          <p:cNvSpPr/>
          <p:nvPr/>
        </p:nvSpPr>
        <p:spPr>
          <a:xfrm>
            <a:off x="384048" y="23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① 予算は同額</a:t>
            </a:r>
          </a:p>
        </p:txBody>
      </p:sp>
      <p:sp>
        <p:nvSpPr>
          <p:cNvPr id="907" name="TextBox 906"/>
          <p:cNvSpPr txBox="1"/>
          <p:nvPr/>
        </p:nvSpPr>
        <p:spPr>
          <a:xfrm>
            <a:off x="444048" y="2780000"/>
            <a:ext cx="2729880" cy="1810000"/>
          </a:xfrm>
          <a:prstGeom prst="rect">
            <a:avLst/>
          </a:prstGeom>
          <a:noFill/>
        </p:spPr>
        <p:txBody>
          <a:bodyPr wrap="square" lIns="72000" tIns="36000" rIns="72000" bIns="36000" anchor="t">
            <a:spAutoFit/>
          </a:bodyPr>
          <a:lstStyle/>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月額合計は現状と同じ20万円</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CPFは10万円残すので、友だちの増加は止めない</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初期構築25万円（一回）</a:t>
            </a:r>
          </a:p>
        </p:txBody>
      </p:sp>
      <p:sp>
        <p:nvSpPr>
          <p:cNvPr id="908" name="Rounded Rectangle 907"/>
          <p:cNvSpPr/>
          <p:nvPr/>
        </p:nvSpPr>
        <p:spPr>
          <a:xfrm>
            <a:off x="3526536" y="23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3526536" y="2330000"/>
            <a:ext cx="2849880" cy="40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② 施策は2本柱</a:t>
            </a:r>
          </a:p>
        </p:txBody>
      </p:sp>
      <p:sp>
        <p:nvSpPr>
          <p:cNvPr id="910" name="TextBox 909"/>
          <p:cNvSpPr txBox="1"/>
          <p:nvPr/>
        </p:nvSpPr>
        <p:spPr>
          <a:xfrm>
            <a:off x="3586536" y="2780000"/>
            <a:ext cx="2729880" cy="1810000"/>
          </a:xfrm>
          <a:prstGeom prst="rect">
            <a:avLst/>
          </a:prstGeom>
          <a:noFill/>
        </p:spPr>
        <p:txBody>
          <a:bodyPr wrap="square" lIns="72000" tIns="36000" rIns="72000" bIns="36000" anchor="t">
            <a:spAutoFit/>
          </a:bodyPr>
          <a:lstStyle/>
          <a:p>
            <a:pPr algn="l">
              <a:spcAft>
                <a:spcPts val="400"/>
              </a:spcAft>
            </a:pPr>
            <a:r>
              <a:rPr sz="950" b="0">
                <a:solidFill>
                  <a:srgbClr val="06C755"/>
                </a:solidFill>
                <a:latin typeface="メイリオ"/>
                <a:ea typeface="メイリオ"/>
                <a:cs typeface="メイリオ"/>
              </a:rPr>
              <a:t>● </a:t>
            </a:r>
            <a:r>
              <a:rPr sz="1250" b="0">
                <a:solidFill>
                  <a:srgbClr val="333333"/>
                </a:solidFill>
                <a:latin typeface="メイリオ"/>
                <a:ea typeface="メイリオ"/>
                <a:cs typeface="メイリオ"/>
              </a:rPr>
              <a:t>ステップ配信：友だち追加から30日・6通で初回予約へ</a:t>
            </a:r>
          </a:p>
          <a:p>
            <a:pPr algn="l">
              <a:spcAft>
                <a:spcPts val="400"/>
              </a:spcAft>
            </a:pPr>
            <a:r>
              <a:rPr sz="950" b="0">
                <a:solidFill>
                  <a:srgbClr val="06C755"/>
                </a:solidFill>
                <a:latin typeface="メイリオ"/>
                <a:ea typeface="メイリオ"/>
                <a:cs typeface="メイリオ"/>
              </a:rPr>
              <a:t>● </a:t>
            </a:r>
            <a:r>
              <a:rPr sz="1250" b="0">
                <a:solidFill>
                  <a:srgbClr val="333333"/>
                </a:solidFill>
                <a:latin typeface="メイリオ"/>
                <a:ea typeface="メイリオ"/>
                <a:cs typeface="メイリオ"/>
              </a:rPr>
              <a:t>月1企画投稿：季節ごとに「行く理由」を届ける</a:t>
            </a:r>
          </a:p>
          <a:p>
            <a:pPr algn="l">
              <a:spcAft>
                <a:spcPts val="400"/>
              </a:spcAft>
            </a:pPr>
            <a:r>
              <a:rPr sz="950" b="0">
                <a:solidFill>
                  <a:srgbClr val="06C755"/>
                </a:solidFill>
                <a:latin typeface="メイリオ"/>
                <a:ea typeface="メイリオ"/>
                <a:cs typeface="メイリオ"/>
              </a:rPr>
              <a:t>● </a:t>
            </a:r>
            <a:r>
              <a:rPr sz="1250" b="0">
                <a:solidFill>
                  <a:srgbClr val="333333"/>
                </a:solidFill>
                <a:latin typeface="メイリオ"/>
                <a:ea typeface="メイリオ"/>
                <a:cs typeface="メイリオ"/>
              </a:rPr>
              <a:t>ツールは導入済みのtunaとLINE標準機能のみ</a:t>
            </a:r>
          </a:p>
        </p:txBody>
      </p:sp>
      <p:sp>
        <p:nvSpPr>
          <p:cNvPr id="911" name="Rounded Rectangle 910"/>
          <p:cNvSpPr/>
          <p:nvPr/>
        </p:nvSpPr>
        <p:spPr>
          <a:xfrm>
            <a:off x="6669024" y="23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2" name="Rounded Rectangle 911"/>
          <p:cNvSpPr/>
          <p:nvPr/>
        </p:nvSpPr>
        <p:spPr>
          <a:xfrm>
            <a:off x="6669024" y="23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③ 半年でCV約50件</a:t>
            </a:r>
          </a:p>
        </p:txBody>
      </p:sp>
      <p:sp>
        <p:nvSpPr>
          <p:cNvPr id="913" name="TextBox 912"/>
          <p:cNvSpPr txBox="1"/>
          <p:nvPr/>
        </p:nvSpPr>
        <p:spPr>
          <a:xfrm>
            <a:off x="6729024" y="2780000"/>
            <a:ext cx="2729880" cy="1810000"/>
          </a:xfrm>
          <a:prstGeom prst="rect">
            <a:avLst/>
          </a:prstGeom>
          <a:noFill/>
        </p:spPr>
        <p:txBody>
          <a:bodyPr wrap="square" lIns="72000" tIns="36000" rIns="72000" bIns="36000" anchor="t">
            <a:spAutoFit/>
          </a:bodyPr>
          <a:lstStyle/>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12月スタート・6ヶ月の試算（中位ケース）</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休眠の掘り起こし約30件＋新規約20件</a:t>
            </a:r>
          </a:p>
          <a:p>
            <a:pPr algn="l">
              <a:spcAft>
                <a:spcPts val="400"/>
              </a:spcAft>
            </a:pPr>
            <a:r>
              <a:rPr sz="950" b="0">
                <a:solidFill>
                  <a:srgbClr val="1F3A5F"/>
                </a:solidFill>
                <a:latin typeface="メイリオ"/>
                <a:ea typeface="メイリオ"/>
                <a:cs typeface="メイリオ"/>
              </a:rPr>
              <a:t>● </a:t>
            </a:r>
            <a:r>
              <a:rPr sz="1250" b="0">
                <a:solidFill>
                  <a:srgbClr val="333333"/>
                </a:solidFill>
                <a:latin typeface="メイリオ"/>
                <a:ea typeface="メイリオ"/>
                <a:cs typeface="メイリオ"/>
              </a:rPr>
              <a:t>低39件〜高60件のレンジ</a:t>
            </a:r>
          </a:p>
        </p:txBody>
      </p:sp>
      <p:sp>
        <p:nvSpPr>
          <p:cNvPr id="914" name="TextBox 913"/>
          <p:cNvSpPr txBox="1"/>
          <p:nvPr/>
        </p:nvSpPr>
        <p:spPr>
          <a:xfrm>
            <a:off x="384048" y="478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※CV数は仮置きの前提による試算です。実数をいただいて精緻化します（P.27）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1</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現状と課題</a:t>
            </a:r>
          </a:p>
        </p:txBody>
      </p:sp>
      <p:sp>
        <p:nvSpPr>
          <p:cNvPr id="5" name="TextBox 4"/>
          <p:cNvSpPr txBox="1"/>
          <p:nvPr/>
        </p:nvSpPr>
        <p:spPr>
          <a:xfrm>
            <a:off x="384048" y="3563621"/>
            <a:ext cx="9134856" cy="272758"/>
          </a:xfrm>
          <a:prstGeom prst="rect">
            <a:avLst/>
          </a:prstGeom>
          <a:noFill/>
        </p:spPr>
        <p:txBody>
          <a:bodyPr wrap="square" lIns="72000" tIns="36000" rIns="72000" bIns="36000" anchor="ctr">
            <a:spAutoFit/>
          </a:bodyPr>
          <a:lstStyle/>
          <a:p>
            <a:pPr algn="ctr"/>
            <a:r>
              <a:rPr lang="en-US" altLang="ja-JP" sz="1300" b="0" dirty="0">
                <a:solidFill>
                  <a:srgbClr val="7F7F7F"/>
                </a:solidFill>
                <a:latin typeface="メイリオ"/>
                <a:ea typeface="メイリオ"/>
                <a:cs typeface="メイリオ"/>
              </a:rPr>
              <a:t>CPF</a:t>
            </a:r>
            <a:r>
              <a:rPr lang="ja-JP" altLang="en-US" sz="1300" b="0" dirty="0">
                <a:solidFill>
                  <a:srgbClr val="7F7F7F"/>
                </a:solidFill>
                <a:latin typeface="メイリオ"/>
                <a:ea typeface="メイリオ"/>
                <a:cs typeface="メイリオ"/>
              </a:rPr>
              <a:t>で集めたともだちを有効リードへ引き上げる</a:t>
            </a:r>
            <a:r>
              <a:rPr sz="1300" b="0" dirty="0">
                <a:solidFill>
                  <a:srgbClr val="7F7F7F"/>
                </a:solidFill>
                <a:latin typeface="メイリオ"/>
                <a:ea typeface="メイリオ"/>
                <a:cs typeface="メイリオ"/>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友だち・会員制度・ツール・集客導線はすでにある。足りないのは「中身の設計」です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現状：LINEの資産はすでに揃っている</a:t>
            </a:r>
          </a:p>
        </p:txBody>
      </p:sp>
      <p:sp>
        <p:nvSpPr>
          <p:cNvPr id="904" name="Rounded Rectangle 903"/>
          <p:cNvSpPr/>
          <p:nvPr/>
        </p:nvSpPr>
        <p:spPr>
          <a:xfrm>
            <a:off x="384048"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5" name="Rounded Rectangle 904"/>
          <p:cNvSpPr/>
          <p:nvPr/>
        </p:nvSpPr>
        <p:spPr>
          <a:xfrm>
            <a:off x="384048"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友だち数</a:t>
            </a:r>
          </a:p>
        </p:txBody>
      </p:sp>
      <p:sp>
        <p:nvSpPr>
          <p:cNvPr id="906" name="TextBox 905"/>
          <p:cNvSpPr txBox="1"/>
          <p:nvPr/>
        </p:nvSpPr>
        <p:spPr>
          <a:xfrm>
            <a:off x="384048"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35,154人</a:t>
            </a:r>
          </a:p>
        </p:txBody>
      </p:sp>
      <p:sp>
        <p:nvSpPr>
          <p:cNvPr id="907" name="TextBox 906"/>
          <p:cNvSpPr txBox="1"/>
          <p:nvPr/>
        </p:nvSpPr>
        <p:spPr>
          <a:xfrm>
            <a:off x="464048"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（2026年10月20日時点）</a:t>
            </a:r>
          </a:p>
          <a:p>
            <a:pPr algn="ctr"/>
            <a:r>
              <a:rPr sz="1100" b="0">
                <a:solidFill>
                  <a:srgbClr val="333333"/>
                </a:solidFill>
                <a:latin typeface="メイリオ"/>
                <a:ea typeface="メイリオ"/>
                <a:cs typeface="メイリオ"/>
              </a:rPr>
              <a:t>サイトの全ページバナーから継続的に流入</a:t>
            </a:r>
          </a:p>
        </p:txBody>
      </p:sp>
      <p:sp>
        <p:nvSpPr>
          <p:cNvPr id="908" name="Rounded Rectangle 907"/>
          <p:cNvSpPr/>
          <p:nvPr/>
        </p:nvSpPr>
        <p:spPr>
          <a:xfrm>
            <a:off x="2712333"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2712333"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会員制度</a:t>
            </a:r>
          </a:p>
        </p:txBody>
      </p:sp>
      <p:sp>
        <p:nvSpPr>
          <p:cNvPr id="910" name="TextBox 909"/>
          <p:cNvSpPr txBox="1"/>
          <p:nvPr/>
        </p:nvSpPr>
        <p:spPr>
          <a:xfrm>
            <a:off x="2712333"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倶楽部メンバーズ</a:t>
            </a:r>
          </a:p>
        </p:txBody>
      </p:sp>
      <p:sp>
        <p:nvSpPr>
          <p:cNvPr id="911" name="TextBox 910"/>
          <p:cNvSpPr txBox="1"/>
          <p:nvPr/>
        </p:nvSpPr>
        <p:spPr>
          <a:xfrm>
            <a:off x="2792333"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LINEから会員登録</a:t>
            </a:r>
          </a:p>
          <a:p>
            <a:pPr algn="ctr"/>
            <a:r>
              <a:rPr sz="1100" b="0">
                <a:solidFill>
                  <a:srgbClr val="333333"/>
                </a:solidFill>
                <a:latin typeface="メイリオ"/>
                <a:ea typeface="メイリオ"/>
                <a:cs typeface="メイリオ"/>
              </a:rPr>
              <a:t>最大12,000円OFFクーポン、スタンプ、</a:t>
            </a:r>
          </a:p>
          <a:p>
            <a:pPr algn="ctr"/>
            <a:r>
              <a:rPr sz="1100" b="0">
                <a:solidFill>
                  <a:srgbClr val="333333"/>
                </a:solidFill>
                <a:latin typeface="メイリオ"/>
                <a:ea typeface="メイリオ"/>
                <a:cs typeface="メイリオ"/>
              </a:rPr>
              <a:t>シークレットプランなど</a:t>
            </a:r>
          </a:p>
        </p:txBody>
      </p:sp>
      <p:sp>
        <p:nvSpPr>
          <p:cNvPr id="912" name="Rounded Rectangle 911"/>
          <p:cNvSpPr/>
          <p:nvPr/>
        </p:nvSpPr>
        <p:spPr>
          <a:xfrm>
            <a:off x="5040618"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5040618"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ツール</a:t>
            </a:r>
          </a:p>
        </p:txBody>
      </p:sp>
      <p:sp>
        <p:nvSpPr>
          <p:cNvPr id="914" name="TextBox 913"/>
          <p:cNvSpPr txBox="1"/>
          <p:nvPr/>
        </p:nvSpPr>
        <p:spPr>
          <a:xfrm>
            <a:off x="5040618"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tuna 導入済み</a:t>
            </a:r>
          </a:p>
        </p:txBody>
      </p:sp>
      <p:sp>
        <p:nvSpPr>
          <p:cNvPr id="915" name="TextBox 914"/>
          <p:cNvSpPr txBox="1"/>
          <p:nvPr/>
        </p:nvSpPr>
        <p:spPr>
          <a:xfrm>
            <a:off x="5120618"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予約情報とLINE IDの紐付け、</a:t>
            </a:r>
          </a:p>
          <a:p>
            <a:pPr algn="ctr"/>
            <a:r>
              <a:rPr sz="1100" b="0">
                <a:solidFill>
                  <a:srgbClr val="333333"/>
                </a:solidFill>
                <a:latin typeface="メイリオ"/>
                <a:ea typeface="メイリオ"/>
                <a:cs typeface="メイリオ"/>
              </a:rPr>
              <a:t>ラベル管理、旅後の配信、企画ページ作成</a:t>
            </a:r>
          </a:p>
        </p:txBody>
      </p:sp>
      <p:sp>
        <p:nvSpPr>
          <p:cNvPr id="916" name="Rounded Rectangle 915"/>
          <p:cNvSpPr/>
          <p:nvPr/>
        </p:nvSpPr>
        <p:spPr>
          <a:xfrm>
            <a:off x="7368903" y="1630000"/>
            <a:ext cx="2150000" cy="28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7" name="Rounded Rectangle 916"/>
          <p:cNvSpPr/>
          <p:nvPr/>
        </p:nvSpPr>
        <p:spPr>
          <a:xfrm>
            <a:off x="7368903" y="1630000"/>
            <a:ext cx="215000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集客投資</a:t>
            </a:r>
          </a:p>
        </p:txBody>
      </p:sp>
      <p:sp>
        <p:nvSpPr>
          <p:cNvPr id="918" name="TextBox 917"/>
          <p:cNvSpPr txBox="1"/>
          <p:nvPr/>
        </p:nvSpPr>
        <p:spPr>
          <a:xfrm>
            <a:off x="7368903" y="2330000"/>
            <a:ext cx="2150000" cy="600000"/>
          </a:xfrm>
          <a:prstGeom prst="rect">
            <a:avLst/>
          </a:prstGeom>
          <a:noFill/>
        </p:spPr>
        <p:txBody>
          <a:bodyPr wrap="square" lIns="72000" tIns="36000" rIns="72000" bIns="36000" anchor="ctr">
            <a:spAutoFit/>
          </a:bodyPr>
          <a:lstStyle/>
          <a:p>
            <a:pPr algn="ctr"/>
            <a:r>
              <a:rPr sz="1900" b="1">
                <a:solidFill>
                  <a:srgbClr val="C00000"/>
                </a:solidFill>
                <a:latin typeface="メイリオ"/>
                <a:ea typeface="メイリオ"/>
                <a:cs typeface="メイリオ"/>
              </a:rPr>
              <a:t>CPF 月20万円</a:t>
            </a:r>
          </a:p>
        </p:txBody>
      </p:sp>
      <p:sp>
        <p:nvSpPr>
          <p:cNvPr id="919" name="TextBox 918"/>
          <p:cNvSpPr txBox="1"/>
          <p:nvPr/>
        </p:nvSpPr>
        <p:spPr>
          <a:xfrm>
            <a:off x="7448903" y="3130000"/>
            <a:ext cx="1990000" cy="1600000"/>
          </a:xfrm>
          <a:prstGeom prst="rect">
            <a:avLst/>
          </a:prstGeom>
          <a:noFill/>
        </p:spPr>
        <p:txBody>
          <a:bodyPr wrap="square" lIns="72000" tIns="36000" rIns="72000" bIns="36000" anchor="t">
            <a:spAutoFit/>
          </a:bodyPr>
          <a:lstStyle/>
          <a:p>
            <a:pPr algn="ctr"/>
            <a:r>
              <a:rPr sz="1100" b="0">
                <a:solidFill>
                  <a:srgbClr val="333333"/>
                </a:solidFill>
                <a:latin typeface="メイリオ"/>
                <a:ea typeface="メイリオ"/>
                <a:cs typeface="メイリオ"/>
              </a:rPr>
              <a:t>友だち追加広告で新規の友だちを</a:t>
            </a:r>
          </a:p>
          <a:p>
            <a:pPr algn="ctr"/>
            <a:r>
              <a:rPr sz="1100" b="0">
                <a:solidFill>
                  <a:srgbClr val="333333"/>
                </a:solidFill>
                <a:latin typeface="メイリオ"/>
                <a:ea typeface="メイリオ"/>
                <a:cs typeface="メイリオ"/>
              </a:rPr>
              <a:t>毎月獲得している</a:t>
            </a:r>
          </a:p>
        </p:txBody>
      </p:sp>
      <p:sp>
        <p:nvSpPr>
          <p:cNvPr id="920" name="Rounded Rectangle 919"/>
          <p:cNvSpPr/>
          <p:nvPr/>
        </p:nvSpPr>
        <p:spPr>
          <a:xfrm>
            <a:off x="384048" y="4680000"/>
            <a:ext cx="9134856" cy="6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集客の仕組みは整っている。次の打ち手は「集めた友だちを予約に変える」こと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検証用アカウントで友だち追加したところ、7日間で予約につながる接点は0回でした</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現状：友だち追加後7日間の体験</a:t>
            </a:r>
          </a:p>
        </p:txBody>
      </p:sp>
      <p:sp>
        <p:nvSpPr>
          <p:cNvPr id="906" name="TextBox 905"/>
          <p:cNvSpPr txBox="1"/>
          <p:nvPr/>
        </p:nvSpPr>
        <p:spPr>
          <a:xfrm>
            <a:off x="384048" y="4860000"/>
            <a:ext cx="3800000"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友だち追加直後に届いたメッセージ（10/20 17:59）※氏名は伏せています</a:t>
            </a:r>
          </a:p>
        </p:txBody>
      </p:sp>
      <p:sp>
        <p:nvSpPr>
          <p:cNvPr id="907" name="TextBox 906"/>
          <p:cNvSpPr txBox="1"/>
          <p:nvPr/>
        </p:nvSpPr>
        <p:spPr>
          <a:xfrm>
            <a:off x="4400000" y="1530000"/>
            <a:ext cx="5118904" cy="33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友だち追加後のタイムライン</a:t>
            </a:r>
          </a:p>
        </p:txBody>
      </p:sp>
      <p:sp>
        <p:nvSpPr>
          <p:cNvPr id="908" name="Rounded Rectangle 907"/>
          <p:cNvSpPr/>
          <p:nvPr/>
        </p:nvSpPr>
        <p:spPr>
          <a:xfrm>
            <a:off x="4400000" y="1950000"/>
            <a:ext cx="1050000" cy="620000"/>
          </a:xfrm>
          <a:prstGeom prst="roundRect">
            <a:avLst>
              <a:gd name="adj" fmla="val 15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0日目</a:t>
            </a:r>
          </a:p>
        </p:txBody>
      </p:sp>
      <p:sp>
        <p:nvSpPr>
          <p:cNvPr id="909" name="TextBox 908"/>
          <p:cNvSpPr txBox="1"/>
          <p:nvPr/>
        </p:nvSpPr>
        <p:spPr>
          <a:xfrm>
            <a:off x="5550000" y="1950000"/>
            <a:ext cx="3968904" cy="620000"/>
          </a:xfrm>
          <a:prstGeom prst="rect">
            <a:avLst/>
          </a:prstGeom>
          <a:noFill/>
        </p:spPr>
        <p:txBody>
          <a:bodyPr wrap="square" lIns="72000" tIns="36000" rIns="72000" bIns="36000" anchor="ctr">
            <a:spAutoFit/>
          </a:bodyPr>
          <a:lstStyle/>
          <a:p>
            <a:pPr algn="l"/>
            <a:r>
              <a:rPr sz="1100" b="0">
                <a:solidFill>
                  <a:srgbClr val="333333"/>
                </a:solidFill>
                <a:latin typeface="メイリオ"/>
                <a:ea typeface="メイリオ"/>
                <a:cs typeface="メイリオ"/>
              </a:rPr>
              <a:t>あいさつ文（長文）</a:t>
            </a:r>
          </a:p>
          <a:p>
            <a:pPr algn="l"/>
            <a:r>
              <a:rPr sz="1100" b="0">
                <a:solidFill>
                  <a:srgbClr val="333333"/>
                </a:solidFill>
                <a:latin typeface="メイリオ"/>
                <a:ea typeface="メイリオ"/>
                <a:cs typeface="メイリオ"/>
              </a:rPr>
              <a:t>ECショップのカード</a:t>
            </a:r>
          </a:p>
          <a:p>
            <a:pPr algn="l"/>
            <a:r>
              <a:rPr sz="1100" b="0">
                <a:solidFill>
                  <a:srgbClr val="333333"/>
                </a:solidFill>
                <a:latin typeface="メイリオ"/>
                <a:ea typeface="メイリオ"/>
                <a:cs typeface="メイリオ"/>
              </a:rPr>
              <a:t>サイトのカルーセル</a:t>
            </a:r>
          </a:p>
        </p:txBody>
      </p:sp>
      <p:sp>
        <p:nvSpPr>
          <p:cNvPr id="910" name="Rounded Rectangle 909"/>
          <p:cNvSpPr/>
          <p:nvPr/>
        </p:nvSpPr>
        <p:spPr>
          <a:xfrm>
            <a:off x="4400000" y="2670000"/>
            <a:ext cx="1050000" cy="420000"/>
          </a:xfrm>
          <a:prstGeom prst="roundRect">
            <a:avLst>
              <a:gd name="adj" fmla="val 15000"/>
            </a:avLst>
          </a:prstGeom>
          <a:solidFill>
            <a:srgbClr val="9AA3B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1〜3日目</a:t>
            </a:r>
          </a:p>
        </p:txBody>
      </p:sp>
      <p:sp>
        <p:nvSpPr>
          <p:cNvPr id="911" name="TextBox 910"/>
          <p:cNvSpPr txBox="1"/>
          <p:nvPr/>
        </p:nvSpPr>
        <p:spPr>
          <a:xfrm>
            <a:off x="5550000" y="2670000"/>
            <a:ext cx="3968904" cy="420000"/>
          </a:xfrm>
          <a:prstGeom prst="rect">
            <a:avLst/>
          </a:prstGeom>
          <a:noFill/>
        </p:spPr>
        <p:txBody>
          <a:bodyPr wrap="square" lIns="72000" tIns="36000" rIns="72000" bIns="36000" anchor="ctr">
            <a:spAutoFit/>
          </a:bodyPr>
          <a:lstStyle/>
          <a:p>
            <a:pPr algn="l"/>
            <a:r>
              <a:rPr sz="1100" b="0">
                <a:solidFill>
                  <a:srgbClr val="555555"/>
                </a:solidFill>
                <a:latin typeface="メイリオ"/>
                <a:ea typeface="メイリオ"/>
                <a:cs typeface="メイリオ"/>
              </a:rPr>
              <a:t>配信なし</a:t>
            </a:r>
          </a:p>
        </p:txBody>
      </p:sp>
      <p:sp>
        <p:nvSpPr>
          <p:cNvPr id="912" name="Rounded Rectangle 911"/>
          <p:cNvSpPr/>
          <p:nvPr/>
        </p:nvSpPr>
        <p:spPr>
          <a:xfrm>
            <a:off x="4400000" y="3170000"/>
            <a:ext cx="1050000" cy="420000"/>
          </a:xfrm>
          <a:prstGeom prst="roundRect">
            <a:avLst>
              <a:gd name="adj" fmla="val 15000"/>
            </a:avLst>
          </a:prstGeom>
          <a:solidFill>
            <a:srgbClr val="9AA3B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4〜7日目</a:t>
            </a:r>
          </a:p>
        </p:txBody>
      </p:sp>
      <p:sp>
        <p:nvSpPr>
          <p:cNvPr id="913" name="TextBox 912"/>
          <p:cNvSpPr txBox="1"/>
          <p:nvPr/>
        </p:nvSpPr>
        <p:spPr>
          <a:xfrm>
            <a:off x="5550000" y="3170000"/>
            <a:ext cx="3968904" cy="420000"/>
          </a:xfrm>
          <a:prstGeom prst="rect">
            <a:avLst/>
          </a:prstGeom>
          <a:noFill/>
        </p:spPr>
        <p:txBody>
          <a:bodyPr wrap="square" lIns="72000" tIns="36000" rIns="72000" bIns="36000" anchor="ctr">
            <a:spAutoFit/>
          </a:bodyPr>
          <a:lstStyle/>
          <a:p>
            <a:pPr algn="l"/>
            <a:r>
              <a:rPr sz="1100" b="0">
                <a:solidFill>
                  <a:srgbClr val="555555"/>
                </a:solidFill>
                <a:latin typeface="メイリオ"/>
                <a:ea typeface="メイリオ"/>
                <a:cs typeface="メイリオ"/>
              </a:rPr>
              <a:t>配信なし</a:t>
            </a:r>
          </a:p>
        </p:txBody>
      </p:sp>
      <p:sp>
        <p:nvSpPr>
          <p:cNvPr id="914" name="Rounded Rectangle 913"/>
          <p:cNvSpPr/>
          <p:nvPr/>
        </p:nvSpPr>
        <p:spPr>
          <a:xfrm>
            <a:off x="4400000" y="3750000"/>
            <a:ext cx="5118904" cy="10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5" name="TextBox 914"/>
          <p:cNvSpPr txBox="1"/>
          <p:nvPr/>
        </p:nvSpPr>
        <p:spPr>
          <a:xfrm>
            <a:off x="4500000" y="3790000"/>
            <a:ext cx="4918904" cy="400000"/>
          </a:xfrm>
          <a:prstGeom prst="rect">
            <a:avLst/>
          </a:prstGeom>
          <a:noFill/>
        </p:spPr>
        <p:txBody>
          <a:bodyPr wrap="square" lIns="72000" tIns="36000" rIns="72000" bIns="36000" anchor="t">
            <a:spAutoFit/>
          </a:bodyPr>
          <a:lstStyle/>
          <a:p>
            <a:pPr algn="l"/>
            <a:r>
              <a:rPr sz="1100" b="1">
                <a:solidFill>
                  <a:srgbClr val="1F3A5F"/>
                </a:solidFill>
                <a:latin typeface="メイリオ"/>
                <a:ea typeface="メイリオ"/>
                <a:cs typeface="メイリオ"/>
              </a:rPr>
              <a:t>7日間の接点数（予約につながるもの）</a:t>
            </a:r>
          </a:p>
        </p:txBody>
      </p:sp>
      <p:sp>
        <p:nvSpPr>
          <p:cNvPr id="916" name="TextBox 915"/>
          <p:cNvSpPr txBox="1"/>
          <p:nvPr/>
        </p:nvSpPr>
        <p:spPr>
          <a:xfrm>
            <a:off x="4500000" y="4150000"/>
            <a:ext cx="4918904" cy="5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0</a:t>
            </a:r>
            <a:r>
              <a:rPr sz="1400" b="1">
                <a:solidFill>
                  <a:srgbClr val="C00000"/>
                </a:solidFill>
                <a:latin typeface="メイリオ"/>
                <a:ea typeface="メイリオ"/>
                <a:cs typeface="メイリオ"/>
              </a:rPr>
              <a:t> 回</a:t>
            </a:r>
          </a:p>
        </p:txBody>
      </p:sp>
      <p:sp>
        <p:nvSpPr>
          <p:cNvPr id="917" name="Rounded Rectangle 916"/>
          <p:cNvSpPr/>
          <p:nvPr/>
        </p:nvSpPr>
        <p:spPr>
          <a:xfrm>
            <a:off x="384048" y="5280000"/>
            <a:ext cx="9134856" cy="56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CPFでお金をかけて集めた見込み客も、追加後は何も届かない状態です</a:t>
            </a:r>
          </a:p>
        </p:txBody>
      </p:sp>
      <p:pic>
        <p:nvPicPr>
          <p:cNvPr id="3" name="図 2">
            <a:extLst>
              <a:ext uri="{FF2B5EF4-FFF2-40B4-BE49-F238E27FC236}">
                <a16:creationId xmlns:a16="http://schemas.microsoft.com/office/drawing/2014/main" id="{F853E845-3D46-4DC5-5052-F38DBE837BEE}"/>
              </a:ext>
            </a:extLst>
          </p:cNvPr>
          <p:cNvPicPr>
            <a:picLocks noChangeAspect="1"/>
          </p:cNvPicPr>
          <p:nvPr/>
        </p:nvPicPr>
        <p:blipFill>
          <a:blip r:embed="rId2"/>
          <a:stretch>
            <a:fillRect/>
          </a:stretch>
        </p:blipFill>
        <p:spPr>
          <a:xfrm>
            <a:off x="599709" y="1676881"/>
            <a:ext cx="1495870" cy="3086215"/>
          </a:xfrm>
          <a:prstGeom prst="rect">
            <a:avLst/>
          </a:prstGeom>
        </p:spPr>
      </p:pic>
      <p:pic>
        <p:nvPicPr>
          <p:cNvPr id="5" name="図 4">
            <a:extLst>
              <a:ext uri="{FF2B5EF4-FFF2-40B4-BE49-F238E27FC236}">
                <a16:creationId xmlns:a16="http://schemas.microsoft.com/office/drawing/2014/main" id="{78B4E70F-D794-94FD-7D3E-8D48980F411A}"/>
              </a:ext>
            </a:extLst>
          </p:cNvPr>
          <p:cNvPicPr>
            <a:picLocks noChangeAspect="1"/>
          </p:cNvPicPr>
          <p:nvPr/>
        </p:nvPicPr>
        <p:blipFill>
          <a:blip r:embed="rId2"/>
          <a:stretch>
            <a:fillRect/>
          </a:stretch>
        </p:blipFill>
        <p:spPr>
          <a:xfrm>
            <a:off x="2541727" y="1676881"/>
            <a:ext cx="1495870" cy="3086215"/>
          </a:xfrm>
          <a:prstGeom prst="rect">
            <a:avLst/>
          </a:prstGeom>
        </p:spPr>
      </p:pic>
      <p:pic>
        <p:nvPicPr>
          <p:cNvPr id="904" name="Picture 903" descr="shot_greet.jpg"/>
          <p:cNvPicPr>
            <a:picLocks noChangeAspect="1"/>
          </p:cNvPicPr>
          <p:nvPr/>
        </p:nvPicPr>
        <p:blipFill>
          <a:blip r:embed="rId3"/>
          <a:stretch>
            <a:fillRect/>
          </a:stretch>
        </p:blipFill>
        <p:spPr>
          <a:xfrm>
            <a:off x="660148" y="1949204"/>
            <a:ext cx="1352882" cy="2322241"/>
          </a:xfrm>
          <a:prstGeom prst="rect">
            <a:avLst/>
          </a:prstGeom>
        </p:spPr>
      </p:pic>
      <p:pic>
        <p:nvPicPr>
          <p:cNvPr id="905" name="Picture 904" descr="shot_cards.jpg"/>
          <p:cNvPicPr>
            <a:picLocks noChangeAspect="1"/>
          </p:cNvPicPr>
          <p:nvPr/>
        </p:nvPicPr>
        <p:blipFill>
          <a:blip r:embed="rId4"/>
          <a:stretch>
            <a:fillRect/>
          </a:stretch>
        </p:blipFill>
        <p:spPr>
          <a:xfrm>
            <a:off x="2610148" y="1949204"/>
            <a:ext cx="1352882" cy="23222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集客は太いのに、友だち追加の後が細い。CPF広告の効果もここで目減りしています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課題整理：入口で取りこぼしている</a:t>
            </a:r>
          </a:p>
        </p:txBody>
      </p:sp>
      <p:sp>
        <p:nvSpPr>
          <p:cNvPr id="904" name="Rectangle 903"/>
          <p:cNvSpPr/>
          <p:nvPr/>
        </p:nvSpPr>
        <p:spPr>
          <a:xfrm>
            <a:off x="384048" y="2030598"/>
            <a:ext cx="3500000" cy="640000"/>
          </a:xfrm>
          <a:prstGeom prst="rect">
            <a:avLst/>
          </a:prstGeom>
          <a:solidFill>
            <a:srgbClr val="24345A"/>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CPF・サイトバナーで友だち追加</a:t>
            </a:r>
          </a:p>
        </p:txBody>
      </p:sp>
      <p:sp>
        <p:nvSpPr>
          <p:cNvPr id="905" name="Rectangle 904"/>
          <p:cNvSpPr/>
          <p:nvPr/>
        </p:nvSpPr>
        <p:spPr>
          <a:xfrm>
            <a:off x="684048" y="2790598"/>
            <a:ext cx="2900000" cy="640000"/>
          </a:xfrm>
          <a:prstGeom prst="rect">
            <a:avLst/>
          </a:prstGeom>
          <a:solidFill>
            <a:srgbClr val="4A5A7E"/>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あいさつで「何が得か」が伝わる</a:t>
            </a:r>
          </a:p>
        </p:txBody>
      </p:sp>
      <p:sp>
        <p:nvSpPr>
          <p:cNvPr id="906" name="Rectangle 905"/>
          <p:cNvSpPr/>
          <p:nvPr/>
        </p:nvSpPr>
        <p:spPr>
          <a:xfrm>
            <a:off x="984048" y="3550598"/>
            <a:ext cx="2300000" cy="640000"/>
          </a:xfrm>
          <a:prstGeom prst="rect">
            <a:avLst/>
          </a:prstGeom>
          <a:solidFill>
            <a:srgbClr val="7F8896"/>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会員登録・興味の喚起</a:t>
            </a:r>
          </a:p>
        </p:txBody>
      </p:sp>
      <p:sp>
        <p:nvSpPr>
          <p:cNvPr id="907" name="Rectangle 906"/>
          <p:cNvSpPr/>
          <p:nvPr/>
        </p:nvSpPr>
        <p:spPr>
          <a:xfrm>
            <a:off x="1284048" y="4310598"/>
            <a:ext cx="1700000" cy="640000"/>
          </a:xfrm>
          <a:prstGeom prst="rect">
            <a:avLst/>
          </a:prstGeom>
          <a:solidFill>
            <a:srgbClr val="06C755"/>
          </a:solidFill>
          <a:ln>
            <a:noFill/>
          </a:ln>
          <a:effectLst/>
        </p:spPr>
        <p:txBody>
          <a:bodyPr wrap="square" lIns="72000" tIns="36000" rIns="72000" bIns="36000" rtlCol="0" anchor="ctr"/>
          <a:lstStyle/>
          <a:p>
            <a:pPr algn="ctr"/>
            <a:r>
              <a:rPr sz="1100" b="1">
                <a:solidFill>
                  <a:srgbClr val="FFFFFF"/>
                </a:solidFill>
                <a:latin typeface="メイリオ"/>
                <a:ea typeface="メイリオ"/>
                <a:cs typeface="メイリオ"/>
              </a:rPr>
              <a:t>初回予約</a:t>
            </a:r>
          </a:p>
        </p:txBody>
      </p:sp>
      <p:sp>
        <p:nvSpPr>
          <p:cNvPr id="908" name="TextBox 907"/>
          <p:cNvSpPr txBox="1"/>
          <p:nvPr/>
        </p:nvSpPr>
        <p:spPr>
          <a:xfrm>
            <a:off x="384048" y="5070598"/>
            <a:ext cx="3500000" cy="500000"/>
          </a:xfrm>
          <a:prstGeom prst="rect">
            <a:avLst/>
          </a:prstGeom>
          <a:noFill/>
        </p:spPr>
        <p:txBody>
          <a:bodyPr wrap="square" lIns="72000" tIns="36000" rIns="72000" bIns="36000" anchor="t">
            <a:spAutoFit/>
          </a:bodyPr>
          <a:lstStyle/>
          <a:p>
            <a:pPr algn="ctr"/>
            <a:r>
              <a:rPr sz="1000" b="1">
                <a:solidFill>
                  <a:srgbClr val="06C755"/>
                </a:solidFill>
                <a:latin typeface="メイリオ"/>
                <a:ea typeface="メイリオ"/>
                <a:cs typeface="メイリオ"/>
              </a:rPr>
              <a:t>▲ 2段目以降をLINEの設計で太くする</a:t>
            </a:r>
          </a:p>
        </p:txBody>
      </p:sp>
      <p:sp>
        <p:nvSpPr>
          <p:cNvPr id="909" name="Rounded Rectangle 908"/>
          <p:cNvSpPr/>
          <p:nvPr/>
        </p:nvSpPr>
        <p:spPr>
          <a:xfrm>
            <a:off x="4184048" y="203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0" name="Oval 909"/>
          <p:cNvSpPr/>
          <p:nvPr/>
        </p:nvSpPr>
        <p:spPr>
          <a:xfrm>
            <a:off x="4304048" y="227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1</a:t>
            </a:r>
          </a:p>
        </p:txBody>
      </p:sp>
      <p:sp>
        <p:nvSpPr>
          <p:cNvPr id="911" name="TextBox 910"/>
          <p:cNvSpPr txBox="1"/>
          <p:nvPr/>
        </p:nvSpPr>
        <p:spPr>
          <a:xfrm>
            <a:off x="4744048" y="209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あいさつ文が読まれにくい</a:t>
            </a:r>
          </a:p>
          <a:p>
            <a:pPr algn="l"/>
            <a:r>
              <a:rPr sz="1100" b="0">
                <a:solidFill>
                  <a:srgbClr val="333333"/>
                </a:solidFill>
                <a:latin typeface="メイリオ"/>
                <a:ea typeface="メイリオ"/>
                <a:cs typeface="メイリオ"/>
              </a:rPr>
              <a:t>3パターンの説明を1通の長文に詰め込み、ボタンもない</a:t>
            </a:r>
          </a:p>
        </p:txBody>
      </p:sp>
      <p:sp>
        <p:nvSpPr>
          <p:cNvPr id="912" name="Rounded Rectangle 911"/>
          <p:cNvSpPr/>
          <p:nvPr/>
        </p:nvSpPr>
        <p:spPr>
          <a:xfrm>
            <a:off x="4184048" y="295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3" name="Oval 912"/>
          <p:cNvSpPr/>
          <p:nvPr/>
        </p:nvSpPr>
        <p:spPr>
          <a:xfrm>
            <a:off x="4304048" y="319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2</a:t>
            </a:r>
          </a:p>
        </p:txBody>
      </p:sp>
      <p:sp>
        <p:nvSpPr>
          <p:cNvPr id="914" name="TextBox 913"/>
          <p:cNvSpPr txBox="1"/>
          <p:nvPr/>
        </p:nvSpPr>
        <p:spPr>
          <a:xfrm>
            <a:off x="4744048" y="301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優先順位が逆</a:t>
            </a:r>
          </a:p>
          <a:p>
            <a:pPr algn="l"/>
            <a:r>
              <a:rPr sz="1100" b="0">
                <a:solidFill>
                  <a:srgbClr val="333333"/>
                </a:solidFill>
                <a:latin typeface="メイリオ"/>
                <a:ea typeface="メイリオ"/>
                <a:cs typeface="メイリオ"/>
              </a:rPr>
              <a:t>あいさつの2番目がECショップ。宿の予約・会員登録が後回し</a:t>
            </a:r>
          </a:p>
        </p:txBody>
      </p:sp>
      <p:sp>
        <p:nvSpPr>
          <p:cNvPr id="915" name="Rounded Rectangle 914"/>
          <p:cNvSpPr/>
          <p:nvPr/>
        </p:nvSpPr>
        <p:spPr>
          <a:xfrm>
            <a:off x="4184048" y="387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6" name="Oval 915"/>
          <p:cNvSpPr/>
          <p:nvPr/>
        </p:nvSpPr>
        <p:spPr>
          <a:xfrm>
            <a:off x="4304048" y="411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3</a:t>
            </a:r>
          </a:p>
        </p:txBody>
      </p:sp>
      <p:sp>
        <p:nvSpPr>
          <p:cNvPr id="917" name="TextBox 916"/>
          <p:cNvSpPr txBox="1"/>
          <p:nvPr/>
        </p:nvSpPr>
        <p:spPr>
          <a:xfrm>
            <a:off x="4744048" y="393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期待値のずれ</a:t>
            </a:r>
          </a:p>
          <a:p>
            <a:pPr algn="l"/>
            <a:r>
              <a:rPr sz="1100" b="0">
                <a:solidFill>
                  <a:srgbClr val="333333"/>
                </a:solidFill>
                <a:latin typeface="メイリオ"/>
                <a:ea typeface="メイリオ"/>
                <a:cs typeface="メイリオ"/>
              </a:rPr>
              <a:t>バナーの「12,000円off」に、あいさつで触れていない</a:t>
            </a:r>
          </a:p>
        </p:txBody>
      </p:sp>
      <p:sp>
        <p:nvSpPr>
          <p:cNvPr id="918" name="Rounded Rectangle 917"/>
          <p:cNvSpPr/>
          <p:nvPr/>
        </p:nvSpPr>
        <p:spPr>
          <a:xfrm>
            <a:off x="4184048" y="4790598"/>
            <a:ext cx="5334856"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19" name="Oval 918"/>
          <p:cNvSpPr/>
          <p:nvPr/>
        </p:nvSpPr>
        <p:spPr>
          <a:xfrm>
            <a:off x="4304048" y="5030598"/>
            <a:ext cx="340000" cy="34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4</a:t>
            </a:r>
          </a:p>
        </p:txBody>
      </p:sp>
      <p:sp>
        <p:nvSpPr>
          <p:cNvPr id="920" name="TextBox 919"/>
          <p:cNvSpPr txBox="1"/>
          <p:nvPr/>
        </p:nvSpPr>
        <p:spPr>
          <a:xfrm>
            <a:off x="4744048" y="4850598"/>
            <a:ext cx="4694856" cy="72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追客がない</a:t>
            </a:r>
          </a:p>
          <a:p>
            <a:pPr algn="l"/>
            <a:r>
              <a:rPr sz="1100" b="0">
                <a:solidFill>
                  <a:srgbClr val="333333"/>
                </a:solidFill>
                <a:latin typeface="メイリオ"/>
                <a:ea typeface="メイリオ"/>
                <a:cs typeface="メイリオ"/>
              </a:rPr>
              <a:t>友だち追加の後、予約に向けた配信が届かない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予約サイト・宿泊チェーンは、連携の即時特典や宿泊前の案内で「登録する理由」を作っています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400" b="1">
                <a:solidFill>
                  <a:srgbClr val="002060"/>
                </a:solidFill>
                <a:latin typeface="メイリオ"/>
                <a:ea typeface="メイリオ"/>
                <a:cs typeface="メイリオ"/>
              </a:rPr>
              <a:t>競合比較：友だちになった瞬間に「得」か「便利」を返している</a:t>
            </a:r>
          </a:p>
        </p:txBody>
      </p:sp>
      <p:graphicFrame>
        <p:nvGraphicFramePr>
          <p:cNvPr id="904" name="Table 903"/>
          <p:cNvGraphicFramePr>
            <a:graphicFrameLocks noGrp="1"/>
          </p:cNvGraphicFramePr>
          <p:nvPr/>
        </p:nvGraphicFramePr>
        <p:xfrm>
          <a:off x="384048" y="1530000"/>
          <a:ext cx="9134853" cy="3760000"/>
        </p:xfrm>
        <a:graphic>
          <a:graphicData uri="http://schemas.openxmlformats.org/drawingml/2006/table">
            <a:tbl>
              <a:tblPr>
                <a:tableStyleId>{5940675A-B579-460E-94D1-54222C63F5DA}</a:tableStyleId>
              </a:tblPr>
              <a:tblGrid>
                <a:gridCol w="1182157">
                  <a:extLst>
                    <a:ext uri="{9D8B030D-6E8A-4147-A177-3AD203B41FA5}">
                      <a16:colId xmlns:a16="http://schemas.microsoft.com/office/drawing/2014/main" val="20000"/>
                    </a:ext>
                  </a:extLst>
                </a:gridCol>
                <a:gridCol w="2041908">
                  <a:extLst>
                    <a:ext uri="{9D8B030D-6E8A-4147-A177-3AD203B41FA5}">
                      <a16:colId xmlns:a16="http://schemas.microsoft.com/office/drawing/2014/main" val="20001"/>
                    </a:ext>
                  </a:extLst>
                </a:gridCol>
                <a:gridCol w="3439004">
                  <a:extLst>
                    <a:ext uri="{9D8B030D-6E8A-4147-A177-3AD203B41FA5}">
                      <a16:colId xmlns:a16="http://schemas.microsoft.com/office/drawing/2014/main" val="20002"/>
                    </a:ext>
                  </a:extLst>
                </a:gridCol>
                <a:gridCol w="2471784">
                  <a:extLst>
                    <a:ext uri="{9D8B030D-6E8A-4147-A177-3AD203B41FA5}">
                      <a16:colId xmlns:a16="http://schemas.microsoft.com/office/drawing/2014/main" val="20003"/>
                    </a:ext>
                  </a:extLst>
                </a:gridCol>
              </a:tblGrid>
              <a:tr h="470000">
                <a:tc>
                  <a:txBody>
                    <a:bodyPr/>
                    <a:lstStyle/>
                    <a:p>
                      <a:pPr algn="l"/>
                      <a:r>
                        <a:rPr sz="950" b="1">
                          <a:solidFill>
                            <a:srgbClr val="FFFFFF"/>
                          </a:solidFill>
                          <a:latin typeface="メイリオ"/>
                          <a:ea typeface="メイリオ"/>
                          <a:cs typeface="メイリオ"/>
                        </a:rPr>
                        <a:t>企業</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業態</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LINEでの主な打ち手</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お宿ねっとへの示唆</a:t>
                      </a:r>
                    </a:p>
                  </a:txBody>
                  <a:tcPr marR="72000" marT="30000" marB="30000" anchor="ctr">
                    <a:solidFill>
                      <a:srgbClr val="24345A"/>
                    </a:solidFill>
                  </a:tcPr>
                </a:tc>
                <a:extLst>
                  <a:ext uri="{0D108BD9-81ED-4DB2-BD59-A6C34878D82A}">
                    <a16:rowId xmlns:a16="http://schemas.microsoft.com/office/drawing/2014/main" val="10000"/>
                  </a:ext>
                </a:extLst>
              </a:tr>
              <a:tr h="470000">
                <a:tc>
                  <a:txBody>
                    <a:bodyPr/>
                    <a:lstStyle/>
                    <a:p>
                      <a:pPr algn="l"/>
                      <a:r>
                        <a:rPr sz="950" b="1">
                          <a:solidFill>
                            <a:srgbClr val="1F3A5F"/>
                          </a:solidFill>
                          <a:latin typeface="メイリオ"/>
                          <a:ea typeface="メイリオ"/>
                          <a:cs typeface="メイリオ"/>
                        </a:rPr>
                        <a:t>ゆこゆこ</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温泉宿の予約サイト（友だち約53万）</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友だち限定キャンペーン、地域・宿限定クーポン、季節・エリアの読み物</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「お得情報＋季節の読み物」の2本立て</a:t>
                      </a:r>
                    </a:p>
                  </a:txBody>
                  <a:tcPr marR="72000" marT="30000" marB="30000" anchor="ctr">
                    <a:solidFill>
                      <a:srgbClr val="FFFFFF"/>
                    </a:solidFill>
                  </a:tcPr>
                </a:tc>
                <a:extLst>
                  <a:ext uri="{0D108BD9-81ED-4DB2-BD59-A6C34878D82A}">
                    <a16:rowId xmlns:a16="http://schemas.microsoft.com/office/drawing/2014/main" val="10001"/>
                  </a:ext>
                </a:extLst>
              </a:tr>
              <a:tr h="470000">
                <a:tc>
                  <a:txBody>
                    <a:bodyPr/>
                    <a:lstStyle/>
                    <a:p>
                      <a:pPr algn="l"/>
                      <a:r>
                        <a:rPr sz="950" b="1">
                          <a:solidFill>
                            <a:srgbClr val="1F3A5F"/>
                          </a:solidFill>
                          <a:latin typeface="メイリオ"/>
                          <a:ea typeface="メイリオ"/>
                          <a:cs typeface="メイリオ"/>
                        </a:rPr>
                        <a:t>ゆめやど</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厳選温泉宿の予約（友だち約4万）</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目的別・エリア別の特集、季節セール・早割</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業態・規模が最も近い比較対象</a:t>
                      </a:r>
                    </a:p>
                  </a:txBody>
                  <a:tcPr marR="72000" marT="30000" marB="30000" anchor="ctr">
                    <a:solidFill>
                      <a:srgbClr val="F2F5F9"/>
                    </a:solidFill>
                  </a:tcPr>
                </a:tc>
                <a:extLst>
                  <a:ext uri="{0D108BD9-81ED-4DB2-BD59-A6C34878D82A}">
                    <a16:rowId xmlns:a16="http://schemas.microsoft.com/office/drawing/2014/main" val="10002"/>
                  </a:ext>
                </a:extLst>
              </a:tr>
              <a:tr h="470000">
                <a:tc>
                  <a:txBody>
                    <a:bodyPr/>
                    <a:lstStyle/>
                    <a:p>
                      <a:pPr algn="l"/>
                      <a:r>
                        <a:rPr sz="950" b="1">
                          <a:solidFill>
                            <a:srgbClr val="1F3A5F"/>
                          </a:solidFill>
                          <a:latin typeface="メイリオ"/>
                          <a:ea typeface="メイリオ"/>
                          <a:cs typeface="メイリオ"/>
                        </a:rPr>
                        <a:t>Relux</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厳選宿の予約サイト</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SNS限定クーポン、LINEでの宿相談、誕生日クーポン</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LINE相談で平日日中以外の窓口に</a:t>
                      </a:r>
                    </a:p>
                  </a:txBody>
                  <a:tcPr marR="72000" marT="30000" marB="30000" anchor="ctr">
                    <a:solidFill>
                      <a:srgbClr val="FFFFFF"/>
                    </a:solidFill>
                  </a:tcPr>
                </a:tc>
                <a:extLst>
                  <a:ext uri="{0D108BD9-81ED-4DB2-BD59-A6C34878D82A}">
                    <a16:rowId xmlns:a16="http://schemas.microsoft.com/office/drawing/2014/main" val="10003"/>
                  </a:ext>
                </a:extLst>
              </a:tr>
              <a:tr h="470000">
                <a:tc>
                  <a:txBody>
                    <a:bodyPr/>
                    <a:lstStyle/>
                    <a:p>
                      <a:pPr algn="l"/>
                      <a:r>
                        <a:rPr sz="950" b="1">
                          <a:solidFill>
                            <a:srgbClr val="1F3A5F"/>
                          </a:solidFill>
                          <a:latin typeface="メイリオ"/>
                          <a:ea typeface="メイリオ"/>
                          <a:cs typeface="メイリオ"/>
                        </a:rPr>
                        <a:t>一休.com</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高級宿の予約サイト</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LINE連携で「宿泊前のお知らせ」をLINEに配信</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連携する理由を実用面で作る</a:t>
                      </a:r>
                    </a:p>
                  </a:txBody>
                  <a:tcPr marR="72000" marT="30000" marB="30000" anchor="ctr">
                    <a:solidFill>
                      <a:srgbClr val="F2F5F9"/>
                    </a:solidFill>
                  </a:tcPr>
                </a:tc>
                <a:extLst>
                  <a:ext uri="{0D108BD9-81ED-4DB2-BD59-A6C34878D82A}">
                    <a16:rowId xmlns:a16="http://schemas.microsoft.com/office/drawing/2014/main" val="10004"/>
                  </a:ext>
                </a:extLst>
              </a:tr>
              <a:tr h="470000">
                <a:tc>
                  <a:txBody>
                    <a:bodyPr/>
                    <a:lstStyle/>
                    <a:p>
                      <a:pPr algn="l"/>
                      <a:r>
                        <a:rPr sz="950" b="1">
                          <a:solidFill>
                            <a:srgbClr val="1F3A5F"/>
                          </a:solidFill>
                          <a:latin typeface="メイリオ"/>
                          <a:ea typeface="メイリオ"/>
                          <a:cs typeface="メイリオ"/>
                        </a:rPr>
                        <a:t>日本旅行</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旅行会社</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LINE連携で500円クーポン＋出発前の旅先情報</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連携の即時特典</a:t>
                      </a:r>
                    </a:p>
                  </a:txBody>
                  <a:tcPr marR="72000" marT="30000" marB="30000" anchor="ctr">
                    <a:solidFill>
                      <a:srgbClr val="FFFFFF"/>
                    </a:solidFill>
                  </a:tcPr>
                </a:tc>
                <a:extLst>
                  <a:ext uri="{0D108BD9-81ED-4DB2-BD59-A6C34878D82A}">
                    <a16:rowId xmlns:a16="http://schemas.microsoft.com/office/drawing/2014/main" val="10005"/>
                  </a:ext>
                </a:extLst>
              </a:tr>
              <a:tr h="470000">
                <a:tc>
                  <a:txBody>
                    <a:bodyPr/>
                    <a:lstStyle/>
                    <a:p>
                      <a:pPr algn="l"/>
                      <a:r>
                        <a:rPr sz="950" b="1">
                          <a:solidFill>
                            <a:srgbClr val="1F3A5F"/>
                          </a:solidFill>
                          <a:latin typeface="メイリオ"/>
                          <a:ea typeface="メイリオ"/>
                          <a:cs typeface="メイリオ"/>
                        </a:rPr>
                        <a:t>大江戸温泉物語</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温泉宿チェーン（友だち約44万）</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LINEログイン連携で500円クーポン、宿泊実績による会員ランク</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即時特典＋リピートの仕組み</a:t>
                      </a:r>
                    </a:p>
                  </a:txBody>
                  <a:tcPr marR="72000" marT="30000" marB="30000" anchor="ctr">
                    <a:solidFill>
                      <a:srgbClr val="F2F5F9"/>
                    </a:solidFill>
                  </a:tcPr>
                </a:tc>
                <a:extLst>
                  <a:ext uri="{0D108BD9-81ED-4DB2-BD59-A6C34878D82A}">
                    <a16:rowId xmlns:a16="http://schemas.microsoft.com/office/drawing/2014/main" val="10006"/>
                  </a:ext>
                </a:extLst>
              </a:tr>
              <a:tr h="470000">
                <a:tc>
                  <a:txBody>
                    <a:bodyPr/>
                    <a:lstStyle/>
                    <a:p>
                      <a:pPr algn="l"/>
                      <a:r>
                        <a:rPr sz="950" b="1">
                          <a:solidFill>
                            <a:srgbClr val="06C755"/>
                          </a:solidFill>
                          <a:latin typeface="メイリオ"/>
                          <a:ea typeface="メイリオ"/>
                          <a:cs typeface="メイリオ"/>
                        </a:rPr>
                        <a:t>お宿ねっと</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厳選宿のポータル（友だち約3.5万）</a:t>
                      </a:r>
                    </a:p>
                  </a:txBody>
                  <a:tcPr marR="72000" marT="30000" marB="30000" anchor="ctr">
                    <a:solidFill>
                      <a:srgbClr val="FFFFFF"/>
                    </a:solidFill>
                  </a:tcPr>
                </a:tc>
                <a:tc>
                  <a:txBody>
                    <a:bodyPr/>
                    <a:lstStyle/>
                    <a:p>
                      <a:pPr algn="l"/>
                      <a:r>
                        <a:rPr sz="950" b="1">
                          <a:solidFill>
                            <a:srgbClr val="C00000"/>
                          </a:solidFill>
                          <a:latin typeface="メイリオ"/>
                          <a:ea typeface="メイリオ"/>
                          <a:cs typeface="メイリオ"/>
                        </a:rPr>
                        <a:t>会員登録の案内のみ。特典は次回宿泊から</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a:t>
                      </a:r>
                    </a:p>
                  </a:txBody>
                  <a:tcPr marR="72000" marT="30000" marB="30000" anchor="ctr">
                    <a:solidFill>
                      <a:srgbClr val="FFFFFF"/>
                    </a:solidFill>
                  </a:tcPr>
                </a:tc>
                <a:extLst>
                  <a:ext uri="{0D108BD9-81ED-4DB2-BD59-A6C34878D82A}">
                    <a16:rowId xmlns:a16="http://schemas.microsoft.com/office/drawing/2014/main" val="10007"/>
                  </a:ext>
                </a:extLst>
              </a:tr>
            </a:tbl>
          </a:graphicData>
        </a:graphic>
      </p:graphicFrame>
      <p:sp>
        <p:nvSpPr>
          <p:cNvPr id="905" name="Rounded Rectangle 904"/>
          <p:cNvSpPr/>
          <p:nvPr/>
        </p:nvSpPr>
        <p:spPr>
          <a:xfrm>
            <a:off x="384048" y="5410000"/>
            <a:ext cx="9134856" cy="5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お宿ねっとの勝ち筋は「お得さの量」ではなく、16施設の厳選と「まるごとおもてなし®」＝この宿に行く理由</a:t>
            </a:r>
          </a:p>
        </p:txBody>
      </p:sp>
      <p:sp>
        <p:nvSpPr>
          <p:cNvPr id="906" name="TextBox 905"/>
          <p:cNvSpPr txBox="1"/>
          <p:nvPr/>
        </p:nvSpPr>
        <p:spPr>
          <a:xfrm>
            <a:off x="384048" y="6200000"/>
            <a:ext cx="9134856" cy="25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※友だち数は各社LINE公式アカウントのプロフィール（2026年10月時点）、施策は各社公開情報より</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2</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ご提案</a:t>
            </a: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予算配分・初期構築・ステップ配信・月1企画投稿</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予算を「集める」だけに使う形から、「予約に変える」にも配分します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提案方針：穴を塞いでから、水を注ぐ</a:t>
            </a:r>
          </a:p>
        </p:txBody>
      </p:sp>
      <p:sp>
        <p:nvSpPr>
          <p:cNvPr id="904" name="Rounded Rectangle 903"/>
          <p:cNvSpPr/>
          <p:nvPr/>
        </p:nvSpPr>
        <p:spPr>
          <a:xfrm>
            <a:off x="384048" y="17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5" name="Rounded Rectangle 904"/>
          <p:cNvSpPr/>
          <p:nvPr/>
        </p:nvSpPr>
        <p:spPr>
          <a:xfrm>
            <a:off x="384048" y="17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現状</a:t>
            </a:r>
          </a:p>
        </p:txBody>
      </p:sp>
      <p:sp>
        <p:nvSpPr>
          <p:cNvPr id="906" name="TextBox 905"/>
          <p:cNvSpPr txBox="1"/>
          <p:nvPr/>
        </p:nvSpPr>
        <p:spPr>
          <a:xfrm>
            <a:off x="444048" y="2180000"/>
            <a:ext cx="2729880" cy="1483346"/>
          </a:xfrm>
          <a:prstGeom prst="rect">
            <a:avLst/>
          </a:prstGeom>
          <a:noFill/>
        </p:spPr>
        <p:txBody>
          <a:bodyPr wrap="square" lIns="72000" tIns="36000" rIns="72000" bIns="36000" anchor="t">
            <a:spAutoFit/>
          </a:bodyPr>
          <a:lstStyle/>
          <a:p>
            <a:pPr algn="l">
              <a:spcAft>
                <a:spcPts val="400"/>
              </a:spcAft>
            </a:pPr>
            <a:r>
              <a:rPr sz="950" b="0" dirty="0">
                <a:solidFill>
                  <a:srgbClr val="1F3A5F"/>
                </a:solidFill>
                <a:latin typeface="メイリオ"/>
                <a:ea typeface="メイリオ"/>
                <a:cs typeface="メイリオ"/>
              </a:rPr>
              <a:t>● </a:t>
            </a:r>
            <a:r>
              <a:rPr sz="1250" b="0" dirty="0">
                <a:solidFill>
                  <a:srgbClr val="333333"/>
                </a:solidFill>
                <a:latin typeface="メイリオ"/>
                <a:ea typeface="メイリオ"/>
                <a:cs typeface="メイリオ"/>
              </a:rPr>
              <a:t>CPF20万円で友だちを集める</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あいさつの後は配信なし</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集めた友だちが予約に変わらない</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p:txBody>
      </p:sp>
      <p:sp>
        <p:nvSpPr>
          <p:cNvPr id="907" name="Right Arrow 906"/>
          <p:cNvSpPr/>
          <p:nvPr/>
        </p:nvSpPr>
        <p:spPr>
          <a:xfrm>
            <a:off x="3248928" y="2730000"/>
            <a:ext cx="260000" cy="300000"/>
          </a:xfrm>
          <a:prstGeom prst="rightArrow">
            <a:avLst/>
          </a:prstGeom>
          <a:solidFill>
            <a:srgbClr val="24345A"/>
          </a:solidFill>
          <a:ln>
            <a:noFill/>
          </a:ln>
          <a:effectLst/>
        </p:spPr>
        <p:txBody>
          <a:bodyPr rtlCol="0" anchor="ctr"/>
          <a:lstStyle/>
          <a:p>
            <a:pPr algn="ctr"/>
            <a:endParaRPr/>
          </a:p>
        </p:txBody>
      </p:sp>
      <p:sp>
        <p:nvSpPr>
          <p:cNvPr id="908" name="Rounded Rectangle 907"/>
          <p:cNvSpPr/>
          <p:nvPr/>
        </p:nvSpPr>
        <p:spPr>
          <a:xfrm>
            <a:off x="3526536" y="17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3526536" y="1730000"/>
            <a:ext cx="2849880" cy="40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LINEの仕組み</a:t>
            </a:r>
          </a:p>
        </p:txBody>
      </p:sp>
      <p:sp>
        <p:nvSpPr>
          <p:cNvPr id="910" name="TextBox 909"/>
          <p:cNvSpPr txBox="1"/>
          <p:nvPr/>
        </p:nvSpPr>
        <p:spPr>
          <a:xfrm>
            <a:off x="3586536" y="2180000"/>
            <a:ext cx="2729880" cy="1624410"/>
          </a:xfrm>
          <a:prstGeom prst="rect">
            <a:avLst/>
          </a:prstGeom>
          <a:noFill/>
        </p:spPr>
        <p:txBody>
          <a:bodyPr wrap="square" lIns="72000" tIns="36000" rIns="72000" bIns="36000" anchor="t">
            <a:spAutoFit/>
          </a:bodyPr>
          <a:lstStyle/>
          <a:p>
            <a:pPr algn="l">
              <a:spcAft>
                <a:spcPts val="400"/>
              </a:spcAft>
            </a:pPr>
            <a:r>
              <a:rPr sz="950" b="0" dirty="0">
                <a:solidFill>
                  <a:srgbClr val="06C755"/>
                </a:solidFill>
                <a:latin typeface="メイリオ"/>
                <a:ea typeface="メイリオ"/>
                <a:cs typeface="メイリオ"/>
              </a:rPr>
              <a:t>● </a:t>
            </a:r>
            <a:r>
              <a:rPr sz="1250" b="0" dirty="0" err="1">
                <a:solidFill>
                  <a:srgbClr val="333333"/>
                </a:solidFill>
                <a:latin typeface="メイリオ"/>
                <a:ea typeface="メイリオ"/>
                <a:cs typeface="メイリオ"/>
              </a:rPr>
              <a:t>あいさつで「何が得か」を伝える</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06C755"/>
                </a:solidFill>
                <a:latin typeface="メイリオ"/>
                <a:ea typeface="メイリオ"/>
                <a:cs typeface="メイリオ"/>
              </a:rPr>
              <a:t>● </a:t>
            </a:r>
            <a:r>
              <a:rPr sz="1250" b="0" dirty="0">
                <a:solidFill>
                  <a:srgbClr val="333333"/>
                </a:solidFill>
                <a:latin typeface="メイリオ"/>
                <a:ea typeface="メイリオ"/>
                <a:cs typeface="メイリオ"/>
              </a:rPr>
              <a:t>30日間のステップ配信で初回予約へ</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06C755"/>
                </a:solidFill>
                <a:latin typeface="メイリオ"/>
                <a:ea typeface="メイリオ"/>
                <a:cs typeface="メイリオ"/>
              </a:rPr>
              <a:t>● </a:t>
            </a:r>
            <a:r>
              <a:rPr sz="1250" b="0" dirty="0">
                <a:solidFill>
                  <a:srgbClr val="333333"/>
                </a:solidFill>
                <a:latin typeface="メイリオ"/>
                <a:ea typeface="メイリオ"/>
                <a:cs typeface="メイリオ"/>
              </a:rPr>
              <a:t>月1企画で既存3.5万人を掘り起こす</a:t>
            </a:r>
          </a:p>
        </p:txBody>
      </p:sp>
      <p:sp>
        <p:nvSpPr>
          <p:cNvPr id="911" name="Right Arrow 910"/>
          <p:cNvSpPr/>
          <p:nvPr/>
        </p:nvSpPr>
        <p:spPr>
          <a:xfrm>
            <a:off x="6391416" y="2730000"/>
            <a:ext cx="260000" cy="300000"/>
          </a:xfrm>
          <a:prstGeom prst="rightArrow">
            <a:avLst/>
          </a:prstGeom>
          <a:solidFill>
            <a:srgbClr val="24345A"/>
          </a:solidFill>
          <a:ln>
            <a:noFill/>
          </a:ln>
          <a:effectLst/>
        </p:spPr>
        <p:txBody>
          <a:bodyPr rtlCol="0" anchor="ctr"/>
          <a:lstStyle/>
          <a:p>
            <a:pPr algn="ctr"/>
            <a:endParaRPr/>
          </a:p>
        </p:txBody>
      </p:sp>
      <p:sp>
        <p:nvSpPr>
          <p:cNvPr id="912" name="Rounded Rectangle 911"/>
          <p:cNvSpPr/>
          <p:nvPr/>
        </p:nvSpPr>
        <p:spPr>
          <a:xfrm>
            <a:off x="6669024" y="1730000"/>
            <a:ext cx="2849880" cy="23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6669024" y="1730000"/>
            <a:ext cx="2849880"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効果</a:t>
            </a:r>
          </a:p>
        </p:txBody>
      </p:sp>
      <p:sp>
        <p:nvSpPr>
          <p:cNvPr id="914" name="TextBox 913"/>
          <p:cNvSpPr txBox="1"/>
          <p:nvPr/>
        </p:nvSpPr>
        <p:spPr>
          <a:xfrm>
            <a:off x="6729024" y="2180000"/>
            <a:ext cx="2729880" cy="1239689"/>
          </a:xfrm>
          <a:prstGeom prst="rect">
            <a:avLst/>
          </a:prstGeom>
          <a:noFill/>
        </p:spPr>
        <p:txBody>
          <a:bodyPr wrap="square" lIns="72000" tIns="36000" rIns="72000" bIns="36000" anchor="t">
            <a:spAutoFit/>
          </a:bodyPr>
          <a:lstStyle/>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新規の友だちが予約に変わる</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err="1">
                <a:solidFill>
                  <a:srgbClr val="333333"/>
                </a:solidFill>
                <a:latin typeface="メイリオ"/>
                <a:ea typeface="メイリオ"/>
                <a:cs typeface="メイリオ"/>
              </a:rPr>
              <a:t>眠っている既存の友だちが動く</a:t>
            </a:r>
            <a:endParaRPr lang="en-US" sz="1250" b="0" dirty="0">
              <a:solidFill>
                <a:srgbClr val="333333"/>
              </a:solidFill>
              <a:latin typeface="メイリオ"/>
              <a:ea typeface="メイリオ"/>
              <a:cs typeface="メイリオ"/>
            </a:endParaRPr>
          </a:p>
          <a:p>
            <a:pPr algn="l">
              <a:spcAft>
                <a:spcPts val="400"/>
              </a:spcAft>
            </a:pPr>
            <a:endParaRPr sz="1250" b="0" dirty="0">
              <a:solidFill>
                <a:srgbClr val="333333"/>
              </a:solidFill>
              <a:latin typeface="メイリオ"/>
              <a:ea typeface="メイリオ"/>
              <a:cs typeface="メイリオ"/>
            </a:endParaRPr>
          </a:p>
          <a:p>
            <a:pPr algn="l">
              <a:spcAft>
                <a:spcPts val="400"/>
              </a:spcAft>
            </a:pPr>
            <a:r>
              <a:rPr sz="950" b="0" dirty="0">
                <a:solidFill>
                  <a:srgbClr val="1F3A5F"/>
                </a:solidFill>
                <a:latin typeface="メイリオ"/>
                <a:ea typeface="メイリオ"/>
                <a:cs typeface="メイリオ"/>
              </a:rPr>
              <a:t>● </a:t>
            </a:r>
            <a:r>
              <a:rPr sz="1250" b="0" dirty="0">
                <a:solidFill>
                  <a:srgbClr val="333333"/>
                </a:solidFill>
                <a:latin typeface="メイリオ"/>
                <a:ea typeface="メイリオ"/>
                <a:cs typeface="メイリオ"/>
              </a:rPr>
              <a:t>半年でCV約50件の見込み</a:t>
            </a:r>
          </a:p>
        </p:txBody>
      </p:sp>
      <p:sp>
        <p:nvSpPr>
          <p:cNvPr id="915" name="Rounded Rectangle 914"/>
          <p:cNvSpPr/>
          <p:nvPr/>
        </p:nvSpPr>
        <p:spPr>
          <a:xfrm>
            <a:off x="384048" y="4280000"/>
            <a:ext cx="9134856" cy="80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CPFはやめずに半分残す。友だちの増加は止めずに、受け皿を作る</a:t>
            </a:r>
          </a:p>
          <a:p>
            <a:pPr algn="ctr"/>
            <a:r>
              <a:rPr sz="1200" b="0">
                <a:solidFill>
                  <a:srgbClr val="FFFFFF"/>
                </a:solidFill>
                <a:latin typeface="メイリオ"/>
                <a:ea typeface="メイリオ"/>
                <a:cs typeface="メイリオ"/>
              </a:rPr>
              <a:t>受け皿ができたら、友だち1人あたりのCVを見てCPFの増額を判断します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CPFを20万円→10万円に組み替え、残り10万円を「予約に変える運用」に充てます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予算配分：月額は今と同じ20万円</a:t>
            </a:r>
          </a:p>
        </p:txBody>
      </p:sp>
      <p:sp>
        <p:nvSpPr>
          <p:cNvPr id="904" name="Rectangle 903"/>
          <p:cNvSpPr/>
          <p:nvPr/>
        </p:nvSpPr>
        <p:spPr>
          <a:xfrm>
            <a:off x="684048" y="2130000"/>
            <a:ext cx="1300000" cy="3000000"/>
          </a:xfrm>
          <a:prstGeom prst="rect">
            <a:avLst/>
          </a:prstGeom>
          <a:solidFill>
            <a:srgbClr val="9AA3B5"/>
          </a:solidFill>
          <a:ln w="12700">
            <a:solidFill>
              <a:srgbClr val="FFFFFF"/>
            </a:solid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CPF 20万</a:t>
            </a:r>
          </a:p>
        </p:txBody>
      </p:sp>
      <p:sp>
        <p:nvSpPr>
          <p:cNvPr id="905" name="TextBox 904"/>
          <p:cNvSpPr txBox="1"/>
          <p:nvPr/>
        </p:nvSpPr>
        <p:spPr>
          <a:xfrm>
            <a:off x="484048" y="5190000"/>
            <a:ext cx="1700000" cy="300000"/>
          </a:xfrm>
          <a:prstGeom prst="rect">
            <a:avLst/>
          </a:prstGeom>
          <a:noFill/>
        </p:spPr>
        <p:txBody>
          <a:bodyPr wrap="square" lIns="72000" tIns="36000" rIns="72000" bIns="36000" anchor="t">
            <a:spAutoFit/>
          </a:bodyPr>
          <a:lstStyle/>
          <a:p>
            <a:pPr algn="ctr"/>
            <a:r>
              <a:rPr sz="1200" b="1">
                <a:solidFill>
                  <a:srgbClr val="1F3A5F"/>
                </a:solidFill>
                <a:latin typeface="メイリオ"/>
                <a:ea typeface="メイリオ"/>
                <a:cs typeface="メイリオ"/>
              </a:rPr>
              <a:t>現状</a:t>
            </a:r>
          </a:p>
        </p:txBody>
      </p:sp>
      <p:sp>
        <p:nvSpPr>
          <p:cNvPr id="906" name="Rectangle 905"/>
          <p:cNvSpPr/>
          <p:nvPr/>
        </p:nvSpPr>
        <p:spPr>
          <a:xfrm>
            <a:off x="2684048" y="3630000"/>
            <a:ext cx="1300000" cy="1500000"/>
          </a:xfrm>
          <a:prstGeom prst="rect">
            <a:avLst/>
          </a:prstGeom>
          <a:solidFill>
            <a:srgbClr val="9AA3B5"/>
          </a:solidFill>
          <a:ln w="12700">
            <a:solidFill>
              <a:srgbClr val="FFFFFF"/>
            </a:solid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CPF 10万</a:t>
            </a:r>
          </a:p>
        </p:txBody>
      </p:sp>
      <p:sp>
        <p:nvSpPr>
          <p:cNvPr id="907" name="Rectangle 906"/>
          <p:cNvSpPr/>
          <p:nvPr/>
        </p:nvSpPr>
        <p:spPr>
          <a:xfrm>
            <a:off x="2684048" y="2130000"/>
            <a:ext cx="1300000" cy="1500000"/>
          </a:xfrm>
          <a:prstGeom prst="rect">
            <a:avLst/>
          </a:prstGeom>
          <a:solidFill>
            <a:srgbClr val="06C755"/>
          </a:solidFill>
          <a:ln w="12700">
            <a:solidFill>
              <a:srgbClr val="FFFFFF"/>
            </a:solid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運用 10万</a:t>
            </a:r>
          </a:p>
        </p:txBody>
      </p:sp>
      <p:sp>
        <p:nvSpPr>
          <p:cNvPr id="908" name="TextBox 907"/>
          <p:cNvSpPr txBox="1"/>
          <p:nvPr/>
        </p:nvSpPr>
        <p:spPr>
          <a:xfrm>
            <a:off x="2484048" y="5190000"/>
            <a:ext cx="1700000" cy="300000"/>
          </a:xfrm>
          <a:prstGeom prst="rect">
            <a:avLst/>
          </a:prstGeom>
          <a:noFill/>
        </p:spPr>
        <p:txBody>
          <a:bodyPr wrap="square" lIns="72000" tIns="36000" rIns="72000" bIns="36000" anchor="t">
            <a:spAutoFit/>
          </a:bodyPr>
          <a:lstStyle/>
          <a:p>
            <a:pPr algn="ctr"/>
            <a:r>
              <a:rPr sz="1200" b="1">
                <a:solidFill>
                  <a:srgbClr val="1F3A5F"/>
                </a:solidFill>
                <a:latin typeface="メイリオ"/>
                <a:ea typeface="メイリオ"/>
                <a:cs typeface="メイリオ"/>
              </a:rPr>
              <a:t>ご提案</a:t>
            </a:r>
          </a:p>
        </p:txBody>
      </p:sp>
      <p:sp>
        <p:nvSpPr>
          <p:cNvPr id="909" name="Right Arrow 908"/>
          <p:cNvSpPr/>
          <p:nvPr/>
        </p:nvSpPr>
        <p:spPr>
          <a:xfrm>
            <a:off x="2084048" y="3430000"/>
            <a:ext cx="450000" cy="380000"/>
          </a:xfrm>
          <a:prstGeom prst="rightArrow">
            <a:avLst/>
          </a:prstGeom>
          <a:solidFill>
            <a:srgbClr val="24345A"/>
          </a:solidFill>
          <a:ln>
            <a:noFill/>
          </a:ln>
          <a:effectLst/>
        </p:spPr>
        <p:txBody>
          <a:bodyPr rtlCol="0" anchor="ctr"/>
          <a:lstStyle/>
          <a:p>
            <a:pPr algn="ctr"/>
            <a:endParaRPr/>
          </a:p>
        </p:txBody>
      </p:sp>
      <p:graphicFrame>
        <p:nvGraphicFramePr>
          <p:cNvPr id="910" name="Table 909"/>
          <p:cNvGraphicFramePr>
            <a:graphicFrameLocks noGrp="1"/>
          </p:cNvGraphicFramePr>
          <p:nvPr/>
        </p:nvGraphicFramePr>
        <p:xfrm>
          <a:off x="4984048" y="1730000"/>
          <a:ext cx="4534855" cy="2600000"/>
        </p:xfrm>
        <a:graphic>
          <a:graphicData uri="http://schemas.openxmlformats.org/drawingml/2006/table">
            <a:tbl>
              <a:tblPr>
                <a:tableStyleId>{5940675A-B579-460E-94D1-54222C63F5DA}</a:tableStyleId>
              </a:tblPr>
              <a:tblGrid>
                <a:gridCol w="2473557">
                  <a:extLst>
                    <a:ext uri="{9D8B030D-6E8A-4147-A177-3AD203B41FA5}">
                      <a16:colId xmlns:a16="http://schemas.microsoft.com/office/drawing/2014/main" val="20000"/>
                    </a:ext>
                  </a:extLst>
                </a:gridCol>
                <a:gridCol w="1030649">
                  <a:extLst>
                    <a:ext uri="{9D8B030D-6E8A-4147-A177-3AD203B41FA5}">
                      <a16:colId xmlns:a16="http://schemas.microsoft.com/office/drawing/2014/main" val="20001"/>
                    </a:ext>
                  </a:extLst>
                </a:gridCol>
                <a:gridCol w="1030649">
                  <a:extLst>
                    <a:ext uri="{9D8B030D-6E8A-4147-A177-3AD203B41FA5}">
                      <a16:colId xmlns:a16="http://schemas.microsoft.com/office/drawing/2014/main" val="20002"/>
                    </a:ext>
                  </a:extLst>
                </a:gridCol>
              </a:tblGrid>
              <a:tr h="520000">
                <a:tc>
                  <a:txBody>
                    <a:bodyPr/>
                    <a:lstStyle/>
                    <a:p>
                      <a:pPr algn="l"/>
                      <a:r>
                        <a:rPr sz="1100" b="1">
                          <a:solidFill>
                            <a:srgbClr val="FFFFFF"/>
                          </a:solidFill>
                          <a:latin typeface="メイリオ"/>
                          <a:ea typeface="メイリオ"/>
                          <a:cs typeface="メイリオ"/>
                        </a:rPr>
                        <a:t>項目</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現状</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ご提案</a:t>
                      </a:r>
                    </a:p>
                  </a:txBody>
                  <a:tcPr marR="72000" marT="30000" marB="30000" anchor="ctr">
                    <a:solidFill>
                      <a:srgbClr val="24345A"/>
                    </a:solidFill>
                  </a:tcPr>
                </a:tc>
                <a:extLst>
                  <a:ext uri="{0D108BD9-81ED-4DB2-BD59-A6C34878D82A}">
                    <a16:rowId xmlns:a16="http://schemas.microsoft.com/office/drawing/2014/main" val="10000"/>
                  </a:ext>
                </a:extLst>
              </a:tr>
              <a:tr h="520000">
                <a:tc>
                  <a:txBody>
                    <a:bodyPr/>
                    <a:lstStyle/>
                    <a:p>
                      <a:pPr algn="l"/>
                      <a:r>
                        <a:rPr sz="1100" b="1">
                          <a:solidFill>
                            <a:srgbClr val="1F3A5F"/>
                          </a:solidFill>
                          <a:latin typeface="メイリオ"/>
                          <a:ea typeface="メイリオ"/>
                          <a:cs typeface="メイリオ"/>
                        </a:rPr>
                        <a:t>CPF（友だち追加広告）</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20万円/月</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10万円/月</a:t>
                      </a:r>
                    </a:p>
                  </a:txBody>
                  <a:tcPr marR="72000" marT="30000" marB="30000" anchor="ctr">
                    <a:solidFill>
                      <a:srgbClr val="FFFFFF"/>
                    </a:solidFill>
                  </a:tcPr>
                </a:tc>
                <a:extLst>
                  <a:ext uri="{0D108BD9-81ED-4DB2-BD59-A6C34878D82A}">
                    <a16:rowId xmlns:a16="http://schemas.microsoft.com/office/drawing/2014/main" val="10001"/>
                  </a:ext>
                </a:extLst>
              </a:tr>
              <a:tr h="520000">
                <a:tc>
                  <a:txBody>
                    <a:bodyPr/>
                    <a:lstStyle/>
                    <a:p>
                      <a:pPr algn="l"/>
                      <a:r>
                        <a:rPr sz="1100" b="1">
                          <a:solidFill>
                            <a:srgbClr val="1F3A5F"/>
                          </a:solidFill>
                          <a:latin typeface="メイリオ"/>
                          <a:ea typeface="メイリオ"/>
                          <a:cs typeface="メイリオ"/>
                        </a:rPr>
                        <a:t>運用（ステップ配信・月1企画・レポート）</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10万円/月</a:t>
                      </a:r>
                    </a:p>
                  </a:txBody>
                  <a:tcPr marR="72000" marT="30000" marB="30000" anchor="ctr">
                    <a:solidFill>
                      <a:srgbClr val="F2F5F9"/>
                    </a:solidFill>
                  </a:tcPr>
                </a:tc>
                <a:extLst>
                  <a:ext uri="{0D108BD9-81ED-4DB2-BD59-A6C34878D82A}">
                    <a16:rowId xmlns:a16="http://schemas.microsoft.com/office/drawing/2014/main" val="10002"/>
                  </a:ext>
                </a:extLst>
              </a:tr>
              <a:tr h="520000">
                <a:tc>
                  <a:txBody>
                    <a:bodyPr/>
                    <a:lstStyle/>
                    <a:p>
                      <a:pPr algn="l"/>
                      <a:r>
                        <a:rPr sz="1100" b="1">
                          <a:solidFill>
                            <a:srgbClr val="1F3A5F"/>
                          </a:solidFill>
                          <a:latin typeface="メイリオ"/>
                          <a:ea typeface="メイリオ"/>
                          <a:cs typeface="メイリオ"/>
                        </a:rPr>
                        <a:t>月額合計</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20万円</a:t>
                      </a:r>
                    </a:p>
                  </a:txBody>
                  <a:tcPr marR="72000" marT="30000" marB="30000" anchor="ctr">
                    <a:solidFill>
                      <a:srgbClr val="FFFFFF"/>
                    </a:solidFill>
                  </a:tcPr>
                </a:tc>
                <a:tc>
                  <a:txBody>
                    <a:bodyPr/>
                    <a:lstStyle/>
                    <a:p>
                      <a:pPr algn="l"/>
                      <a:r>
                        <a:rPr sz="1100" b="1">
                          <a:solidFill>
                            <a:srgbClr val="C00000"/>
                          </a:solidFill>
                          <a:latin typeface="メイリオ"/>
                          <a:ea typeface="メイリオ"/>
                          <a:cs typeface="メイリオ"/>
                        </a:rPr>
                        <a:t>20万円</a:t>
                      </a:r>
                    </a:p>
                  </a:txBody>
                  <a:tcPr marR="72000" marT="30000" marB="30000" anchor="ctr">
                    <a:solidFill>
                      <a:srgbClr val="FFFFFF"/>
                    </a:solidFill>
                  </a:tcPr>
                </a:tc>
                <a:extLst>
                  <a:ext uri="{0D108BD9-81ED-4DB2-BD59-A6C34878D82A}">
                    <a16:rowId xmlns:a16="http://schemas.microsoft.com/office/drawing/2014/main" val="10003"/>
                  </a:ext>
                </a:extLst>
              </a:tr>
              <a:tr h="520000">
                <a:tc>
                  <a:txBody>
                    <a:bodyPr/>
                    <a:lstStyle/>
                    <a:p>
                      <a:pPr algn="l"/>
                      <a:r>
                        <a:rPr sz="1100" b="1">
                          <a:solidFill>
                            <a:srgbClr val="1F3A5F"/>
                          </a:solidFill>
                          <a:latin typeface="メイリオ"/>
                          <a:ea typeface="メイリオ"/>
                          <a:cs typeface="メイリオ"/>
                        </a:rPr>
                        <a:t>初期構築（一回）</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a:t>
                      </a:r>
                    </a:p>
                  </a:txBody>
                  <a:tcPr marR="72000" marT="30000" marB="30000" anchor="ctr">
                    <a:solidFill>
                      <a:srgbClr val="F2F5F9"/>
                    </a:solidFill>
                  </a:tcPr>
                </a:tc>
                <a:tc>
                  <a:txBody>
                    <a:bodyPr/>
                    <a:lstStyle/>
                    <a:p>
                      <a:pPr algn="l"/>
                      <a:r>
                        <a:rPr sz="1100" b="1">
                          <a:solidFill>
                            <a:srgbClr val="C00000"/>
                          </a:solidFill>
                          <a:latin typeface="メイリオ"/>
                          <a:ea typeface="メイリオ"/>
                          <a:cs typeface="メイリオ"/>
                        </a:rPr>
                        <a:t>25万円</a:t>
                      </a:r>
                    </a:p>
                  </a:txBody>
                  <a:tcPr marR="72000" marT="30000" marB="30000" anchor="ctr">
                    <a:solidFill>
                      <a:srgbClr val="F2F5F9"/>
                    </a:solidFill>
                  </a:tcPr>
                </a:tc>
                <a:extLst>
                  <a:ext uri="{0D108BD9-81ED-4DB2-BD59-A6C34878D82A}">
                    <a16:rowId xmlns:a16="http://schemas.microsoft.com/office/drawing/2014/main" val="10004"/>
                  </a:ext>
                </a:extLst>
              </a:tr>
            </a:tbl>
          </a:graphicData>
        </a:graphic>
      </p:graphicFrame>
      <p:sp>
        <p:nvSpPr>
          <p:cNvPr id="911" name="TextBox 910"/>
          <p:cNvSpPr txBox="1"/>
          <p:nvPr/>
        </p:nvSpPr>
        <p:spPr>
          <a:xfrm>
            <a:off x="384048" y="563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※金額はすべて税別。CPFは広告費（媒体費）です</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導入済みのtunaとLINE公式アカウントの標準機能だけで実現します。ツールの追加費用はありません</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初期構築の内容（25万円）</a:t>
            </a:r>
          </a:p>
        </p:txBody>
      </p:sp>
      <p:sp>
        <p:nvSpPr>
          <p:cNvPr id="904" name="Rounded Rectangle 903"/>
          <p:cNvSpPr/>
          <p:nvPr/>
        </p:nvSpPr>
        <p:spPr>
          <a:xfrm>
            <a:off x="384048" y="16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5" name="Oval 904"/>
          <p:cNvSpPr/>
          <p:nvPr/>
        </p:nvSpPr>
        <p:spPr>
          <a:xfrm>
            <a:off x="484048" y="17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1</a:t>
            </a:r>
          </a:p>
        </p:txBody>
      </p:sp>
      <p:sp>
        <p:nvSpPr>
          <p:cNvPr id="906" name="TextBox 905"/>
          <p:cNvSpPr txBox="1"/>
          <p:nvPr/>
        </p:nvSpPr>
        <p:spPr>
          <a:xfrm>
            <a:off x="864048" y="17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あいさつメッセージの作り直し</a:t>
            </a:r>
          </a:p>
        </p:txBody>
      </p:sp>
      <p:sp>
        <p:nvSpPr>
          <p:cNvPr id="907" name="TextBox 906"/>
          <p:cNvSpPr txBox="1"/>
          <p:nvPr/>
        </p:nvSpPr>
        <p:spPr>
          <a:xfrm>
            <a:off x="484048" y="21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「何が得か」と「次に何をするか」が分かる3吹き出しに</a:t>
            </a:r>
          </a:p>
        </p:txBody>
      </p:sp>
      <p:sp>
        <p:nvSpPr>
          <p:cNvPr id="908" name="Rounded Rectangle 907"/>
          <p:cNvSpPr/>
          <p:nvPr/>
        </p:nvSpPr>
        <p:spPr>
          <a:xfrm>
            <a:off x="484048" y="27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使う機能：管理画面</a:t>
            </a:r>
          </a:p>
        </p:txBody>
      </p:sp>
      <p:sp>
        <p:nvSpPr>
          <p:cNvPr id="909" name="Rounded Rectangle 908"/>
          <p:cNvSpPr/>
          <p:nvPr/>
        </p:nvSpPr>
        <p:spPr>
          <a:xfrm>
            <a:off x="3526536" y="16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0" name="Oval 909"/>
          <p:cNvSpPr/>
          <p:nvPr/>
        </p:nvSpPr>
        <p:spPr>
          <a:xfrm>
            <a:off x="3626536" y="17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2</a:t>
            </a:r>
          </a:p>
        </p:txBody>
      </p:sp>
      <p:sp>
        <p:nvSpPr>
          <p:cNvPr id="911" name="TextBox 910"/>
          <p:cNvSpPr txBox="1"/>
          <p:nvPr/>
        </p:nvSpPr>
        <p:spPr>
          <a:xfrm>
            <a:off x="4006536" y="17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ステップ配信の設計・設定</a:t>
            </a:r>
          </a:p>
        </p:txBody>
      </p:sp>
      <p:sp>
        <p:nvSpPr>
          <p:cNvPr id="912" name="TextBox 911"/>
          <p:cNvSpPr txBox="1"/>
          <p:nvPr/>
        </p:nvSpPr>
        <p:spPr>
          <a:xfrm>
            <a:off x="3626536" y="21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友だち追加から30日間・6通で初回予約へ</a:t>
            </a:r>
          </a:p>
        </p:txBody>
      </p:sp>
      <p:sp>
        <p:nvSpPr>
          <p:cNvPr id="913" name="Rounded Rectangle 912"/>
          <p:cNvSpPr/>
          <p:nvPr/>
        </p:nvSpPr>
        <p:spPr>
          <a:xfrm>
            <a:off x="3626536" y="27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使う機能：管理画面</a:t>
            </a:r>
          </a:p>
        </p:txBody>
      </p:sp>
      <p:sp>
        <p:nvSpPr>
          <p:cNvPr id="914" name="Rounded Rectangle 913"/>
          <p:cNvSpPr/>
          <p:nvPr/>
        </p:nvSpPr>
        <p:spPr>
          <a:xfrm>
            <a:off x="6669024" y="16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5" name="Oval 914"/>
          <p:cNvSpPr/>
          <p:nvPr/>
        </p:nvSpPr>
        <p:spPr>
          <a:xfrm>
            <a:off x="6769024" y="17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3</a:t>
            </a:r>
          </a:p>
        </p:txBody>
      </p:sp>
      <p:sp>
        <p:nvSpPr>
          <p:cNvPr id="916" name="TextBox 915"/>
          <p:cNvSpPr txBox="1"/>
          <p:nvPr/>
        </p:nvSpPr>
        <p:spPr>
          <a:xfrm>
            <a:off x="7149024" y="17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リッチメニューの作り直し</a:t>
            </a:r>
          </a:p>
        </p:txBody>
      </p:sp>
      <p:sp>
        <p:nvSpPr>
          <p:cNvPr id="917" name="TextBox 916"/>
          <p:cNvSpPr txBox="1"/>
          <p:nvPr/>
        </p:nvSpPr>
        <p:spPr>
          <a:xfrm>
            <a:off x="6769024" y="21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サイトの「探す」軸（目的・同行者・エリア）に揃える</a:t>
            </a:r>
          </a:p>
        </p:txBody>
      </p:sp>
      <p:sp>
        <p:nvSpPr>
          <p:cNvPr id="918" name="Rounded Rectangle 917"/>
          <p:cNvSpPr/>
          <p:nvPr/>
        </p:nvSpPr>
        <p:spPr>
          <a:xfrm>
            <a:off x="6769024" y="27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使う機能：管理画面／tuna</a:t>
            </a:r>
          </a:p>
        </p:txBody>
      </p:sp>
      <p:sp>
        <p:nvSpPr>
          <p:cNvPr id="919" name="Rounded Rectangle 918"/>
          <p:cNvSpPr/>
          <p:nvPr/>
        </p:nvSpPr>
        <p:spPr>
          <a:xfrm>
            <a:off x="384048" y="33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0" name="Oval 919"/>
          <p:cNvSpPr/>
          <p:nvPr/>
        </p:nvSpPr>
        <p:spPr>
          <a:xfrm>
            <a:off x="484048" y="34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4</a:t>
            </a:r>
          </a:p>
        </p:txBody>
      </p:sp>
      <p:sp>
        <p:nvSpPr>
          <p:cNvPr id="921" name="TextBox 920"/>
          <p:cNvSpPr txBox="1"/>
          <p:nvPr/>
        </p:nvSpPr>
        <p:spPr>
          <a:xfrm>
            <a:off x="864048" y="34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tunaのラベル設計</a:t>
            </a:r>
          </a:p>
        </p:txBody>
      </p:sp>
      <p:sp>
        <p:nvSpPr>
          <p:cNvPr id="922" name="TextBox 921"/>
          <p:cNvSpPr txBox="1"/>
          <p:nvPr/>
        </p:nvSpPr>
        <p:spPr>
          <a:xfrm>
            <a:off x="484048" y="38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会員・非会員、予約済み、宿泊済みなどで出し分け</a:t>
            </a:r>
          </a:p>
        </p:txBody>
      </p:sp>
      <p:sp>
        <p:nvSpPr>
          <p:cNvPr id="923" name="Rounded Rectangle 922"/>
          <p:cNvSpPr/>
          <p:nvPr/>
        </p:nvSpPr>
        <p:spPr>
          <a:xfrm>
            <a:off x="484048" y="44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使う機能：tuna</a:t>
            </a:r>
          </a:p>
        </p:txBody>
      </p:sp>
      <p:sp>
        <p:nvSpPr>
          <p:cNvPr id="924" name="Rounded Rectangle 923"/>
          <p:cNvSpPr/>
          <p:nvPr/>
        </p:nvSpPr>
        <p:spPr>
          <a:xfrm>
            <a:off x="3526536" y="33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5" name="Oval 924"/>
          <p:cNvSpPr/>
          <p:nvPr/>
        </p:nvSpPr>
        <p:spPr>
          <a:xfrm>
            <a:off x="3626536" y="34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5</a:t>
            </a:r>
          </a:p>
        </p:txBody>
      </p:sp>
      <p:sp>
        <p:nvSpPr>
          <p:cNvPr id="926" name="TextBox 925"/>
          <p:cNvSpPr txBox="1"/>
          <p:nvPr/>
        </p:nvSpPr>
        <p:spPr>
          <a:xfrm>
            <a:off x="4006536" y="34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宿泊後の配信設定</a:t>
            </a:r>
          </a:p>
        </p:txBody>
      </p:sp>
      <p:sp>
        <p:nvSpPr>
          <p:cNvPr id="927" name="TextBox 926"/>
          <p:cNvSpPr txBox="1"/>
          <p:nvPr/>
        </p:nvSpPr>
        <p:spPr>
          <a:xfrm>
            <a:off x="3626536" y="38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お礼メッセージ、リピーター特典、別施設のご提案</a:t>
            </a:r>
          </a:p>
        </p:txBody>
      </p:sp>
      <p:sp>
        <p:nvSpPr>
          <p:cNvPr id="928" name="Rounded Rectangle 927"/>
          <p:cNvSpPr/>
          <p:nvPr/>
        </p:nvSpPr>
        <p:spPr>
          <a:xfrm>
            <a:off x="3626536" y="44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使う機能：tuna</a:t>
            </a:r>
          </a:p>
        </p:txBody>
      </p:sp>
      <p:sp>
        <p:nvSpPr>
          <p:cNvPr id="929" name="Rounded Rectangle 928"/>
          <p:cNvSpPr/>
          <p:nvPr/>
        </p:nvSpPr>
        <p:spPr>
          <a:xfrm>
            <a:off x="6669024" y="3330000"/>
            <a:ext cx="2849880" cy="15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30" name="Oval 929"/>
          <p:cNvSpPr/>
          <p:nvPr/>
        </p:nvSpPr>
        <p:spPr>
          <a:xfrm>
            <a:off x="6769024" y="3450000"/>
            <a:ext cx="330000" cy="330000"/>
          </a:xfrm>
          <a:prstGeom prst="ellipse">
            <a:avLst/>
          </a:prstGeom>
          <a:solidFill>
            <a:srgbClr val="24345A"/>
          </a:solidFill>
          <a:ln>
            <a:noFill/>
          </a:ln>
          <a:effectLst/>
        </p:spPr>
        <p:txBody>
          <a:bodyPr wrap="square" lIns="0" tIns="0" rIns="0" bIns="0" rtlCol="0" anchor="ctr"/>
          <a:lstStyle/>
          <a:p>
            <a:pPr algn="ctr"/>
            <a:r>
              <a:rPr sz="1300" b="1">
                <a:solidFill>
                  <a:srgbClr val="FFFFFF"/>
                </a:solidFill>
                <a:latin typeface="メイリオ"/>
                <a:ea typeface="メイリオ"/>
                <a:cs typeface="メイリオ"/>
              </a:rPr>
              <a:t>6</a:t>
            </a:r>
          </a:p>
        </p:txBody>
      </p:sp>
      <p:sp>
        <p:nvSpPr>
          <p:cNvPr id="931" name="TextBox 930"/>
          <p:cNvSpPr txBox="1"/>
          <p:nvPr/>
        </p:nvSpPr>
        <p:spPr>
          <a:xfrm>
            <a:off x="7149024" y="3420000"/>
            <a:ext cx="2309880" cy="400000"/>
          </a:xfrm>
          <a:prstGeom prst="rect">
            <a:avLst/>
          </a:prstGeom>
          <a:noFill/>
        </p:spPr>
        <p:txBody>
          <a:bodyPr wrap="square" lIns="72000" tIns="36000" rIns="72000" bIns="36000" anchor="ctr">
            <a:spAutoFit/>
          </a:bodyPr>
          <a:lstStyle/>
          <a:p>
            <a:pPr algn="l"/>
            <a:r>
              <a:rPr sz="1200" b="1">
                <a:solidFill>
                  <a:srgbClr val="1F3A5F"/>
                </a:solidFill>
                <a:latin typeface="メイリオ"/>
                <a:ea typeface="メイリオ"/>
                <a:cs typeface="メイリオ"/>
              </a:rPr>
              <a:t>会員登録カードの作り直し</a:t>
            </a:r>
          </a:p>
        </p:txBody>
      </p:sp>
      <p:sp>
        <p:nvSpPr>
          <p:cNvPr id="932" name="TextBox 931"/>
          <p:cNvSpPr txBox="1"/>
          <p:nvPr/>
        </p:nvSpPr>
        <p:spPr>
          <a:xfrm>
            <a:off x="6769024" y="3890000"/>
            <a:ext cx="2649880" cy="560000"/>
          </a:xfrm>
          <a:prstGeom prst="rect">
            <a:avLst/>
          </a:prstGeom>
          <a:noFill/>
        </p:spPr>
        <p:txBody>
          <a:bodyPr wrap="square" lIns="72000" tIns="36000" rIns="72000" bIns="36000" anchor="t">
            <a:spAutoFit/>
          </a:bodyPr>
          <a:lstStyle/>
          <a:p>
            <a:pPr algn="l"/>
            <a:r>
              <a:rPr sz="1100" b="0">
                <a:solidFill>
                  <a:srgbClr val="333333"/>
                </a:solidFill>
                <a:latin typeface="メイリオ"/>
                <a:ea typeface="メイリオ"/>
                <a:cs typeface="メイリオ"/>
              </a:rPr>
              <a:t>「会員登録はこちら」→登録すると得られる特典が伝わる文言へ</a:t>
            </a:r>
          </a:p>
        </p:txBody>
      </p:sp>
      <p:sp>
        <p:nvSpPr>
          <p:cNvPr id="933" name="Rounded Rectangle 932"/>
          <p:cNvSpPr/>
          <p:nvPr/>
        </p:nvSpPr>
        <p:spPr>
          <a:xfrm>
            <a:off x="6769024" y="4450000"/>
            <a:ext cx="1800000" cy="280000"/>
          </a:xfrm>
          <a:prstGeom prst="roundRect">
            <a:avLst>
              <a:gd name="adj" fmla="val 30000"/>
            </a:avLst>
          </a:prstGeom>
          <a:solidFill>
            <a:srgbClr val="FFFFFF"/>
          </a:solidFill>
          <a:ln w="12700">
            <a:solidFill>
              <a:srgbClr val="B0B4CC"/>
            </a:solidFill>
          </a:ln>
          <a:effectLst/>
        </p:spPr>
        <p:txBody>
          <a:bodyPr wrap="square" lIns="72000" tIns="36000" rIns="72000" bIns="36000" rtlCol="0" anchor="ctr"/>
          <a:lstStyle/>
          <a:p>
            <a:pPr algn="ctr"/>
            <a:r>
              <a:rPr sz="900" b="0">
                <a:solidFill>
                  <a:srgbClr val="1F3A5F"/>
                </a:solidFill>
                <a:latin typeface="メイリオ"/>
                <a:ea typeface="メイリオ"/>
                <a:cs typeface="メイリオ"/>
              </a:rPr>
              <a:t>使う機能：tuna</a:t>
            </a:r>
          </a:p>
        </p:txBody>
      </p:sp>
      <p:sp>
        <p:nvSpPr>
          <p:cNvPr id="934" name="TextBox 933"/>
          <p:cNvSpPr txBox="1"/>
          <p:nvPr/>
        </p:nvSpPr>
        <p:spPr>
          <a:xfrm>
            <a:off x="384048" y="5180000"/>
            <a:ext cx="9134856" cy="5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※tunaの機能範囲（ステップ配信・自動ラベル付け・リッチメニューの出し分け）は提供元に確認中です。tunaでできない場合はLINE公式アカウントの標準機能で実装します</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最初の3つの吹き出しで「何が得か」と「次に何をするか」が分かる形にします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あいさつメッセージの改善</a:t>
            </a:r>
          </a:p>
        </p:txBody>
      </p:sp>
      <p:pic>
        <p:nvPicPr>
          <p:cNvPr id="904" name="Picture 903" descr="shot_greet.jpg"/>
          <p:cNvPicPr>
            <a:picLocks noChangeAspect="1"/>
          </p:cNvPicPr>
          <p:nvPr/>
        </p:nvPicPr>
        <p:blipFill>
          <a:blip r:embed="rId2"/>
          <a:stretch>
            <a:fillRect/>
          </a:stretch>
        </p:blipFill>
        <p:spPr>
          <a:xfrm>
            <a:off x="584048" y="1930000"/>
            <a:ext cx="2039015" cy="3500000"/>
          </a:xfrm>
          <a:prstGeom prst="rect">
            <a:avLst/>
          </a:prstGeom>
        </p:spPr>
      </p:pic>
      <p:sp>
        <p:nvSpPr>
          <p:cNvPr id="905" name="Rounded Rectangle 904"/>
          <p:cNvSpPr/>
          <p:nvPr/>
        </p:nvSpPr>
        <p:spPr>
          <a:xfrm>
            <a:off x="384048" y="1530000"/>
            <a:ext cx="2400000" cy="330000"/>
          </a:xfrm>
          <a:prstGeom prst="roundRect">
            <a:avLst>
              <a:gd name="adj" fmla="val 20000"/>
            </a:avLst>
          </a:prstGeom>
          <a:solidFill>
            <a:srgbClr val="9AA3B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現状</a:t>
            </a:r>
          </a:p>
        </p:txBody>
      </p:sp>
      <p:sp>
        <p:nvSpPr>
          <p:cNvPr id="906" name="Right Arrow 905"/>
          <p:cNvSpPr/>
          <p:nvPr/>
        </p:nvSpPr>
        <p:spPr>
          <a:xfrm>
            <a:off x="3084048" y="3430000"/>
            <a:ext cx="420000" cy="380000"/>
          </a:xfrm>
          <a:prstGeom prst="rightArrow">
            <a:avLst/>
          </a:prstGeom>
          <a:solidFill>
            <a:srgbClr val="24345A"/>
          </a:solidFill>
          <a:ln>
            <a:noFill/>
          </a:ln>
          <a:effectLst/>
        </p:spPr>
        <p:txBody>
          <a:bodyPr rtlCol="0" anchor="ctr"/>
          <a:lstStyle/>
          <a:p>
            <a:pPr algn="ctr"/>
            <a:endParaRPr/>
          </a:p>
        </p:txBody>
      </p:sp>
      <p:sp>
        <p:nvSpPr>
          <p:cNvPr id="907" name="Rounded Rectangle 906"/>
          <p:cNvSpPr/>
          <p:nvPr/>
        </p:nvSpPr>
        <p:spPr>
          <a:xfrm>
            <a:off x="3734048" y="1530000"/>
            <a:ext cx="5784856" cy="33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改善後</a:t>
            </a:r>
          </a:p>
        </p:txBody>
      </p:sp>
      <p:sp>
        <p:nvSpPr>
          <p:cNvPr id="908" name="Rounded Rectangle 907"/>
          <p:cNvSpPr/>
          <p:nvPr/>
        </p:nvSpPr>
        <p:spPr>
          <a:xfrm>
            <a:off x="3734048" y="1960000"/>
            <a:ext cx="5784856" cy="108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9" name="TextBox 908"/>
          <p:cNvSpPr txBox="1"/>
          <p:nvPr/>
        </p:nvSpPr>
        <p:spPr>
          <a:xfrm>
            <a:off x="3814048" y="2000000"/>
            <a:ext cx="5624856" cy="110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吹き出し①　紹介と特典</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全国16の厳選宿に、会員特典付きで泊まれる「お宿ねっと」です</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特典3つを条件付きで正直に（スタンプ5個で5,000円OFF／シークレットプラン／記念日のデザート）</a:t>
            </a:r>
          </a:p>
        </p:txBody>
      </p:sp>
      <p:sp>
        <p:nvSpPr>
          <p:cNvPr id="910" name="Rounded Rectangle 909"/>
          <p:cNvSpPr/>
          <p:nvPr/>
        </p:nvSpPr>
        <p:spPr>
          <a:xfrm>
            <a:off x="3734048" y="3120000"/>
            <a:ext cx="5784856" cy="108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1" name="TextBox 910"/>
          <p:cNvSpPr txBox="1"/>
          <p:nvPr/>
        </p:nvSpPr>
        <p:spPr>
          <a:xfrm>
            <a:off x="3814048" y="3160000"/>
            <a:ext cx="5624856" cy="110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吹き出し②　ボタンで分岐</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［宿を探す］［会員登録（1分）］［予約済みの方はこちら］</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電話番号の送付は「予約済み」を押した人にだけ案内</a:t>
            </a:r>
          </a:p>
        </p:txBody>
      </p:sp>
      <p:sp>
        <p:nvSpPr>
          <p:cNvPr id="912" name="Rounded Rectangle 911"/>
          <p:cNvSpPr/>
          <p:nvPr/>
        </p:nvSpPr>
        <p:spPr>
          <a:xfrm>
            <a:off x="3734048" y="4280000"/>
            <a:ext cx="5784856" cy="108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3" name="TextBox 912"/>
          <p:cNvSpPr txBox="1"/>
          <p:nvPr/>
        </p:nvSpPr>
        <p:spPr>
          <a:xfrm>
            <a:off x="3814048" y="4320000"/>
            <a:ext cx="5624856" cy="1100000"/>
          </a:xfrm>
          <a:prstGeom prst="rect">
            <a:avLst/>
          </a:prstGeom>
          <a:noFill/>
        </p:spPr>
        <p:txBody>
          <a:bodyPr wrap="square" lIns="72000" tIns="36000" rIns="72000" bIns="36000" anchor="t">
            <a:spAutoFit/>
          </a:bodyPr>
          <a:lstStyle/>
          <a:p>
            <a:pPr algn="l"/>
            <a:r>
              <a:rPr sz="1200" b="1">
                <a:solidFill>
                  <a:srgbClr val="1F3A5F"/>
                </a:solidFill>
                <a:latin typeface="メイリオ"/>
                <a:ea typeface="メイリオ"/>
                <a:cs typeface="メイリオ"/>
              </a:rPr>
              <a:t>吹き出し③　会員登録カード</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「会員登録はこちら」→「登録で使える特典を受け取る」など、中身が伝わる文言に</a:t>
            </a:r>
          </a:p>
          <a:p>
            <a:pPr algn="l">
              <a:spcAft>
                <a:spcPts val="2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ECショップのカードはステップ配信の後半へ移動</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現状「7日間で0回」の接点を、30日間で6回に。初回予約まで段階的に運びます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ステップ配信の設計（友だち追加から30日間）</a:t>
            </a:r>
          </a:p>
        </p:txBody>
      </p:sp>
      <p:sp>
        <p:nvSpPr>
          <p:cNvPr id="904" name="Pentagon 903"/>
          <p:cNvSpPr/>
          <p:nvPr/>
        </p:nvSpPr>
        <p:spPr>
          <a:xfrm>
            <a:off x="384048" y="1630000"/>
            <a:ext cx="1582476" cy="480000"/>
          </a:xfrm>
          <a:prstGeom prst="homePlate">
            <a:avLst>
              <a:gd name="adj" fmla="val 30000"/>
            </a:avLst>
          </a:prstGeom>
          <a:solidFill>
            <a:srgbClr val="D0D7E3"/>
          </a:solidFill>
          <a:ln>
            <a:noFill/>
          </a:ln>
          <a:effectLst/>
        </p:spPr>
        <p:txBody>
          <a:bodyPr wrap="square" lIns="72000" tIns="36000" rIns="72000" bIns="36000" rtlCol="0" anchor="ctr"/>
          <a:lstStyle/>
          <a:p>
            <a:pPr algn="ctr"/>
            <a:r>
              <a:rPr sz="1200" b="1">
                <a:solidFill>
                  <a:srgbClr val="1F3A5F"/>
                </a:solidFill>
                <a:latin typeface="メイリオ"/>
                <a:ea typeface="メイリオ"/>
                <a:cs typeface="メイリオ"/>
              </a:rPr>
              <a:t>0日目</a:t>
            </a:r>
          </a:p>
        </p:txBody>
      </p:sp>
      <p:sp>
        <p:nvSpPr>
          <p:cNvPr id="905" name="Rounded Rectangle 904"/>
          <p:cNvSpPr/>
          <p:nvPr/>
        </p:nvSpPr>
        <p:spPr>
          <a:xfrm>
            <a:off x="414048"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6" name="TextBox 905"/>
          <p:cNvSpPr txBox="1"/>
          <p:nvPr/>
        </p:nvSpPr>
        <p:spPr>
          <a:xfrm>
            <a:off x="424048"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あいさつ</a:t>
            </a:r>
          </a:p>
          <a:p>
            <a:pPr algn="ctr"/>
            <a:r>
              <a:rPr sz="1050" b="0">
                <a:solidFill>
                  <a:srgbClr val="333333"/>
                </a:solidFill>
                <a:latin typeface="メイリオ"/>
                <a:ea typeface="メイリオ"/>
                <a:cs typeface="メイリオ"/>
              </a:rPr>
              <a:t>＋ボタン分岐</a:t>
            </a:r>
          </a:p>
        </p:txBody>
      </p:sp>
      <p:sp>
        <p:nvSpPr>
          <p:cNvPr id="907" name="Rounded Rectangle 906"/>
          <p:cNvSpPr/>
          <p:nvPr/>
        </p:nvSpPr>
        <p:spPr>
          <a:xfrm>
            <a:off x="414048"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08" name="TextBox 907"/>
          <p:cNvSpPr txBox="1"/>
          <p:nvPr/>
        </p:nvSpPr>
        <p:spPr>
          <a:xfrm>
            <a:off x="424048"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自分ごと化と</a:t>
            </a:r>
          </a:p>
          <a:p>
            <a:pPr algn="ctr"/>
            <a:r>
              <a:rPr sz="1000" b="1">
                <a:solidFill>
                  <a:srgbClr val="1F3A5F"/>
                </a:solidFill>
                <a:latin typeface="メイリオ"/>
                <a:ea typeface="メイリオ"/>
                <a:cs typeface="メイリオ"/>
              </a:rPr>
              <a:t>会員登録</a:t>
            </a:r>
          </a:p>
        </p:txBody>
      </p:sp>
      <p:sp>
        <p:nvSpPr>
          <p:cNvPr id="909" name="Chevron 908"/>
          <p:cNvSpPr/>
          <p:nvPr/>
        </p:nvSpPr>
        <p:spPr>
          <a:xfrm>
            <a:off x="1906524" y="1630000"/>
            <a:ext cx="1582476" cy="480000"/>
          </a:xfrm>
          <a:prstGeom prst="chevron">
            <a:avLst>
              <a:gd name="adj" fmla="val 30000"/>
            </a:avLst>
          </a:prstGeom>
          <a:solidFill>
            <a:srgbClr val="B9C3D3"/>
          </a:solidFill>
          <a:ln>
            <a:noFill/>
          </a:ln>
          <a:effectLst/>
        </p:spPr>
        <p:txBody>
          <a:bodyPr wrap="square" lIns="72000" tIns="36000" rIns="72000" bIns="36000" rtlCol="0" anchor="ctr"/>
          <a:lstStyle/>
          <a:p>
            <a:pPr algn="ctr"/>
            <a:r>
              <a:rPr sz="1200" b="1">
                <a:solidFill>
                  <a:srgbClr val="1F3A5F"/>
                </a:solidFill>
                <a:latin typeface="メイリオ"/>
                <a:ea typeface="メイリオ"/>
                <a:cs typeface="メイリオ"/>
              </a:rPr>
              <a:t>1日目</a:t>
            </a:r>
          </a:p>
        </p:txBody>
      </p:sp>
      <p:sp>
        <p:nvSpPr>
          <p:cNvPr id="910" name="Rounded Rectangle 909"/>
          <p:cNvSpPr/>
          <p:nvPr/>
        </p:nvSpPr>
        <p:spPr>
          <a:xfrm>
            <a:off x="1936524"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1" name="TextBox 910"/>
          <p:cNvSpPr txBox="1"/>
          <p:nvPr/>
        </p:nvSpPr>
        <p:spPr>
          <a:xfrm>
            <a:off x="1946524"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会員特典の使い方</a:t>
            </a:r>
          </a:p>
          <a:p>
            <a:pPr algn="ctr"/>
            <a:r>
              <a:rPr sz="1050" b="0">
                <a:solidFill>
                  <a:srgbClr val="333333"/>
                </a:solidFill>
                <a:latin typeface="メイリオ"/>
                <a:ea typeface="メイリオ"/>
                <a:cs typeface="メイリオ"/>
              </a:rPr>
              <a:t>（クーポン条件の早見表）</a:t>
            </a:r>
          </a:p>
        </p:txBody>
      </p:sp>
      <p:sp>
        <p:nvSpPr>
          <p:cNvPr id="912" name="Rounded Rectangle 911"/>
          <p:cNvSpPr/>
          <p:nvPr/>
        </p:nvSpPr>
        <p:spPr>
          <a:xfrm>
            <a:off x="1936524"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13" name="TextBox 912"/>
          <p:cNvSpPr txBox="1"/>
          <p:nvPr/>
        </p:nvSpPr>
        <p:spPr>
          <a:xfrm>
            <a:off x="1946524"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期待値のずれを防ぐ</a:t>
            </a:r>
          </a:p>
        </p:txBody>
      </p:sp>
      <p:sp>
        <p:nvSpPr>
          <p:cNvPr id="914" name="Chevron 913"/>
          <p:cNvSpPr/>
          <p:nvPr/>
        </p:nvSpPr>
        <p:spPr>
          <a:xfrm>
            <a:off x="3429000" y="1630000"/>
            <a:ext cx="1582476" cy="480000"/>
          </a:xfrm>
          <a:prstGeom prst="chevron">
            <a:avLst>
              <a:gd name="adj" fmla="val 30000"/>
            </a:avLst>
          </a:prstGeom>
          <a:solidFill>
            <a:srgbClr val="A7B3C7"/>
          </a:solidFill>
          <a:ln>
            <a:noFill/>
          </a:ln>
          <a:effectLst/>
        </p:spPr>
        <p:txBody>
          <a:bodyPr wrap="square" lIns="72000" tIns="36000" rIns="72000" bIns="36000" rtlCol="0" anchor="ctr"/>
          <a:lstStyle/>
          <a:p>
            <a:pPr algn="ctr"/>
            <a:r>
              <a:rPr sz="1200" b="1">
                <a:solidFill>
                  <a:srgbClr val="1F3A5F"/>
                </a:solidFill>
                <a:latin typeface="メイリオ"/>
                <a:ea typeface="メイリオ"/>
                <a:cs typeface="メイリオ"/>
              </a:rPr>
              <a:t>3日目</a:t>
            </a:r>
          </a:p>
        </p:txBody>
      </p:sp>
      <p:sp>
        <p:nvSpPr>
          <p:cNvPr id="915" name="Rounded Rectangle 914"/>
          <p:cNvSpPr/>
          <p:nvPr/>
        </p:nvSpPr>
        <p:spPr>
          <a:xfrm>
            <a:off x="3459000"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6" name="TextBox 915"/>
          <p:cNvSpPr txBox="1"/>
          <p:nvPr/>
        </p:nvSpPr>
        <p:spPr>
          <a:xfrm>
            <a:off x="3469000"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目的別のおすすめ宿</a:t>
            </a:r>
          </a:p>
          <a:p>
            <a:pPr algn="ctr"/>
            <a:r>
              <a:rPr sz="1050" b="0">
                <a:solidFill>
                  <a:srgbClr val="333333"/>
                </a:solidFill>
                <a:latin typeface="メイリオ"/>
                <a:ea typeface="メイリオ"/>
                <a:cs typeface="メイリオ"/>
              </a:rPr>
              <a:t>（温泉・グルメ・記念日・家族）</a:t>
            </a:r>
          </a:p>
        </p:txBody>
      </p:sp>
      <p:sp>
        <p:nvSpPr>
          <p:cNvPr id="917" name="Rounded Rectangle 916"/>
          <p:cNvSpPr/>
          <p:nvPr/>
        </p:nvSpPr>
        <p:spPr>
          <a:xfrm>
            <a:off x="3459000"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18" name="TextBox 917"/>
          <p:cNvSpPr txBox="1"/>
          <p:nvPr/>
        </p:nvSpPr>
        <p:spPr>
          <a:xfrm>
            <a:off x="3469000"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行きたい宿を</a:t>
            </a:r>
          </a:p>
          <a:p>
            <a:pPr algn="ctr"/>
            <a:r>
              <a:rPr sz="1000" b="1">
                <a:solidFill>
                  <a:srgbClr val="1F3A5F"/>
                </a:solidFill>
                <a:latin typeface="メイリオ"/>
                <a:ea typeface="メイリオ"/>
                <a:cs typeface="メイリオ"/>
              </a:rPr>
              <a:t>見つけてもらう</a:t>
            </a:r>
          </a:p>
        </p:txBody>
      </p:sp>
      <p:sp>
        <p:nvSpPr>
          <p:cNvPr id="919" name="Chevron 918"/>
          <p:cNvSpPr/>
          <p:nvPr/>
        </p:nvSpPr>
        <p:spPr>
          <a:xfrm>
            <a:off x="4951476" y="1630000"/>
            <a:ext cx="1582476" cy="480000"/>
          </a:xfrm>
          <a:prstGeom prst="chevron">
            <a:avLst>
              <a:gd name="adj" fmla="val 30000"/>
            </a:avLst>
          </a:prstGeom>
          <a:solidFill>
            <a:srgbClr val="8E99AE"/>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7日目</a:t>
            </a:r>
          </a:p>
        </p:txBody>
      </p:sp>
      <p:sp>
        <p:nvSpPr>
          <p:cNvPr id="920" name="Rounded Rectangle 919"/>
          <p:cNvSpPr/>
          <p:nvPr/>
        </p:nvSpPr>
        <p:spPr>
          <a:xfrm>
            <a:off x="4981476"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1" name="TextBox 920"/>
          <p:cNvSpPr txBox="1"/>
          <p:nvPr/>
        </p:nvSpPr>
        <p:spPr>
          <a:xfrm>
            <a:off x="4991476"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まるごとおもてなし®</a:t>
            </a:r>
          </a:p>
          <a:p>
            <a:pPr algn="ctr"/>
            <a:r>
              <a:rPr sz="1050" b="0">
                <a:solidFill>
                  <a:srgbClr val="333333"/>
                </a:solidFill>
                <a:latin typeface="メイリオ"/>
                <a:ea typeface="メイリオ"/>
                <a:cs typeface="メイリオ"/>
              </a:rPr>
              <a:t>特集＋宿泊体験談</a:t>
            </a:r>
          </a:p>
        </p:txBody>
      </p:sp>
      <p:sp>
        <p:nvSpPr>
          <p:cNvPr id="922" name="Rounded Rectangle 921"/>
          <p:cNvSpPr/>
          <p:nvPr/>
        </p:nvSpPr>
        <p:spPr>
          <a:xfrm>
            <a:off x="4981476"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23" name="TextBox 922"/>
          <p:cNvSpPr txBox="1"/>
          <p:nvPr/>
        </p:nvSpPr>
        <p:spPr>
          <a:xfrm>
            <a:off x="4991476"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独自の強みで</a:t>
            </a:r>
          </a:p>
          <a:p>
            <a:pPr algn="ctr"/>
            <a:r>
              <a:rPr sz="1000" b="1">
                <a:solidFill>
                  <a:srgbClr val="1F3A5F"/>
                </a:solidFill>
                <a:latin typeface="メイリオ"/>
                <a:ea typeface="メイリオ"/>
                <a:cs typeface="メイリオ"/>
              </a:rPr>
              <a:t>差別化</a:t>
            </a:r>
          </a:p>
        </p:txBody>
      </p:sp>
      <p:sp>
        <p:nvSpPr>
          <p:cNvPr id="924" name="Chevron 923"/>
          <p:cNvSpPr/>
          <p:nvPr/>
        </p:nvSpPr>
        <p:spPr>
          <a:xfrm>
            <a:off x="6473952" y="1630000"/>
            <a:ext cx="1582476" cy="480000"/>
          </a:xfrm>
          <a:prstGeom prst="chevron">
            <a:avLst>
              <a:gd name="adj" fmla="val 30000"/>
            </a:avLst>
          </a:prstGeom>
          <a:solidFill>
            <a:srgbClr val="7F8896"/>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14日目</a:t>
            </a:r>
          </a:p>
        </p:txBody>
      </p:sp>
      <p:sp>
        <p:nvSpPr>
          <p:cNvPr id="925" name="Rounded Rectangle 924"/>
          <p:cNvSpPr/>
          <p:nvPr/>
        </p:nvSpPr>
        <p:spPr>
          <a:xfrm>
            <a:off x="6503952"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6" name="TextBox 925"/>
          <p:cNvSpPr txBox="1"/>
          <p:nvPr/>
        </p:nvSpPr>
        <p:spPr>
          <a:xfrm>
            <a:off x="6513952"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早割・シークレットプラン</a:t>
            </a:r>
          </a:p>
          <a:p>
            <a:pPr algn="ctr"/>
            <a:r>
              <a:rPr sz="1050" b="0">
                <a:solidFill>
                  <a:srgbClr val="333333"/>
                </a:solidFill>
                <a:latin typeface="メイリオ"/>
                <a:ea typeface="メイリオ"/>
                <a:cs typeface="メイリオ"/>
              </a:rPr>
              <a:t>＋記念日の登録案内</a:t>
            </a:r>
          </a:p>
        </p:txBody>
      </p:sp>
      <p:sp>
        <p:nvSpPr>
          <p:cNvPr id="927" name="Rounded Rectangle 926"/>
          <p:cNvSpPr/>
          <p:nvPr/>
        </p:nvSpPr>
        <p:spPr>
          <a:xfrm>
            <a:off x="6503952"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28" name="TextBox 927"/>
          <p:cNvSpPr txBox="1"/>
          <p:nvPr/>
        </p:nvSpPr>
        <p:spPr>
          <a:xfrm>
            <a:off x="6513952"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1F3A5F"/>
                </a:solidFill>
                <a:latin typeface="メイリオ"/>
                <a:ea typeface="メイリオ"/>
                <a:cs typeface="メイリオ"/>
              </a:rPr>
              <a:t>初回予約の後押し</a:t>
            </a:r>
          </a:p>
        </p:txBody>
      </p:sp>
      <p:sp>
        <p:nvSpPr>
          <p:cNvPr id="929" name="Chevron 928"/>
          <p:cNvSpPr/>
          <p:nvPr/>
        </p:nvSpPr>
        <p:spPr>
          <a:xfrm>
            <a:off x="7996428" y="1630000"/>
            <a:ext cx="1582476" cy="480000"/>
          </a:xfrm>
          <a:prstGeom prst="chevron">
            <a:avLst>
              <a:gd name="adj" fmla="val 3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30日目</a:t>
            </a:r>
          </a:p>
        </p:txBody>
      </p:sp>
      <p:sp>
        <p:nvSpPr>
          <p:cNvPr id="930" name="Rounded Rectangle 929"/>
          <p:cNvSpPr/>
          <p:nvPr/>
        </p:nvSpPr>
        <p:spPr>
          <a:xfrm>
            <a:off x="8026428" y="2250000"/>
            <a:ext cx="1462476" cy="170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31" name="TextBox 930"/>
          <p:cNvSpPr txBox="1"/>
          <p:nvPr/>
        </p:nvSpPr>
        <p:spPr>
          <a:xfrm>
            <a:off x="8036428" y="2290000"/>
            <a:ext cx="1442476" cy="162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クーポン期限の</a:t>
            </a:r>
          </a:p>
          <a:p>
            <a:pPr algn="ctr"/>
            <a:r>
              <a:rPr sz="1050" b="0">
                <a:solidFill>
                  <a:srgbClr val="333333"/>
                </a:solidFill>
                <a:latin typeface="メイリオ"/>
                <a:ea typeface="メイリオ"/>
                <a:cs typeface="メイリオ"/>
              </a:rPr>
              <a:t>リマインド＋EC案内</a:t>
            </a:r>
          </a:p>
        </p:txBody>
      </p:sp>
      <p:sp>
        <p:nvSpPr>
          <p:cNvPr id="932" name="Rounded Rectangle 931"/>
          <p:cNvSpPr/>
          <p:nvPr/>
        </p:nvSpPr>
        <p:spPr>
          <a:xfrm>
            <a:off x="8026428" y="4050000"/>
            <a:ext cx="1462476" cy="780000"/>
          </a:xfrm>
          <a:prstGeom prst="roundRect">
            <a:avLst>
              <a:gd name="adj" fmla="val 10000"/>
            </a:avLst>
          </a:prstGeom>
          <a:solidFill>
            <a:srgbClr val="FFFFFF"/>
          </a:solidFill>
          <a:ln w="12700">
            <a:solidFill>
              <a:srgbClr val="B0B4CC"/>
            </a:solidFill>
          </a:ln>
          <a:effectLst/>
        </p:spPr>
        <p:txBody>
          <a:bodyPr rtlCol="0" anchor="ctr"/>
          <a:lstStyle/>
          <a:p>
            <a:pPr algn="ctr"/>
            <a:endParaRPr/>
          </a:p>
        </p:txBody>
      </p:sp>
      <p:sp>
        <p:nvSpPr>
          <p:cNvPr id="933" name="TextBox 932"/>
          <p:cNvSpPr txBox="1"/>
          <p:nvPr/>
        </p:nvSpPr>
        <p:spPr>
          <a:xfrm>
            <a:off x="8036428" y="4070000"/>
            <a:ext cx="1442476" cy="740000"/>
          </a:xfrm>
          <a:prstGeom prst="rect">
            <a:avLst/>
          </a:prstGeom>
          <a:noFill/>
        </p:spPr>
        <p:txBody>
          <a:bodyPr wrap="square" lIns="72000" tIns="36000" rIns="72000" bIns="36000" anchor="ctr">
            <a:spAutoFit/>
          </a:bodyPr>
          <a:lstStyle/>
          <a:p>
            <a:pPr algn="ctr"/>
            <a:r>
              <a:rPr sz="900" b="0">
                <a:solidFill>
                  <a:srgbClr val="555555"/>
                </a:solidFill>
                <a:latin typeface="メイリオ"/>
                <a:ea typeface="メイリオ"/>
                <a:cs typeface="メイリオ"/>
              </a:rPr>
              <a:t>狙い</a:t>
            </a:r>
          </a:p>
          <a:p>
            <a:pPr algn="ctr"/>
            <a:r>
              <a:rPr sz="1000" b="1">
                <a:solidFill>
                  <a:srgbClr val="06C755"/>
                </a:solidFill>
                <a:latin typeface="メイリオ"/>
                <a:ea typeface="メイリオ"/>
                <a:cs typeface="メイリオ"/>
              </a:rPr>
              <a:t>迷っている人の</a:t>
            </a:r>
          </a:p>
          <a:p>
            <a:pPr algn="ctr"/>
            <a:r>
              <a:rPr sz="1000" b="1">
                <a:solidFill>
                  <a:srgbClr val="06C755"/>
                </a:solidFill>
                <a:latin typeface="メイリオ"/>
                <a:ea typeface="メイリオ"/>
                <a:cs typeface="メイリオ"/>
              </a:rPr>
              <a:t>刈り取り</a:t>
            </a:r>
          </a:p>
        </p:txBody>
      </p:sp>
      <p:sp>
        <p:nvSpPr>
          <p:cNvPr id="934" name="Rounded Rectangle 933"/>
          <p:cNvSpPr/>
          <p:nvPr/>
        </p:nvSpPr>
        <p:spPr>
          <a:xfrm>
            <a:off x="384048" y="5030000"/>
            <a:ext cx="9134856" cy="65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30日を過ぎた友だちは「月1企画投稿」に合流し、季節ごとに予約のきっかけを届け続けます</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宿泊時期の約1.5ヶ月前に、季節の「行く理由」を届けます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月1企画投稿（ご契約6ヶ月分）</a:t>
            </a:r>
          </a:p>
        </p:txBody>
      </p:sp>
      <p:sp>
        <p:nvSpPr>
          <p:cNvPr id="904" name="Rounded Rectangle 903"/>
          <p:cNvSpPr/>
          <p:nvPr/>
        </p:nvSpPr>
        <p:spPr>
          <a:xfrm>
            <a:off x="384048"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12月配信</a:t>
            </a:r>
          </a:p>
        </p:txBody>
      </p:sp>
      <p:sp>
        <p:nvSpPr>
          <p:cNvPr id="905" name="Rounded Rectangle 904"/>
          <p:cNvSpPr/>
          <p:nvPr/>
        </p:nvSpPr>
        <p:spPr>
          <a:xfrm>
            <a:off x="384048"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6" name="TextBox 905"/>
          <p:cNvSpPr txBox="1"/>
          <p:nvPr/>
        </p:nvSpPr>
        <p:spPr>
          <a:xfrm>
            <a:off x="434048"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1〜2月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新春・冬の温泉</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閑散期の平日シークレットプラン</a:t>
            </a:r>
          </a:p>
        </p:txBody>
      </p:sp>
      <p:sp>
        <p:nvSpPr>
          <p:cNvPr id="907" name="Rounded Rectangle 906"/>
          <p:cNvSpPr/>
          <p:nvPr/>
        </p:nvSpPr>
        <p:spPr>
          <a:xfrm>
            <a:off x="1921524"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1月配信</a:t>
            </a:r>
          </a:p>
        </p:txBody>
      </p:sp>
      <p:sp>
        <p:nvSpPr>
          <p:cNvPr id="908" name="Rounded Rectangle 907"/>
          <p:cNvSpPr/>
          <p:nvPr/>
        </p:nvSpPr>
        <p:spPr>
          <a:xfrm>
            <a:off x="1921524"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9" name="TextBox 908"/>
          <p:cNvSpPr txBox="1"/>
          <p:nvPr/>
        </p:nvSpPr>
        <p:spPr>
          <a:xfrm>
            <a:off x="1971524"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2〜3月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天然温泉特集・記念日旅</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記念日タグ向けにデザートプレート特典</a:t>
            </a:r>
          </a:p>
        </p:txBody>
      </p:sp>
      <p:sp>
        <p:nvSpPr>
          <p:cNvPr id="910" name="Rounded Rectangle 909"/>
          <p:cNvSpPr/>
          <p:nvPr/>
        </p:nvSpPr>
        <p:spPr>
          <a:xfrm>
            <a:off x="3459000"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2月配信</a:t>
            </a:r>
          </a:p>
        </p:txBody>
      </p:sp>
      <p:sp>
        <p:nvSpPr>
          <p:cNvPr id="911" name="Rounded Rectangle 910"/>
          <p:cNvSpPr/>
          <p:nvPr/>
        </p:nvSpPr>
        <p:spPr>
          <a:xfrm>
            <a:off x="3459000"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2" name="TextBox 911"/>
          <p:cNvSpPr txBox="1"/>
          <p:nvPr/>
        </p:nvSpPr>
        <p:spPr>
          <a:xfrm>
            <a:off x="3509000"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3〜4月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春休みの家族旅</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家族タグ向け＋GW早割の予告</a:t>
            </a:r>
          </a:p>
        </p:txBody>
      </p:sp>
      <p:sp>
        <p:nvSpPr>
          <p:cNvPr id="913" name="Rounded Rectangle 912"/>
          <p:cNvSpPr/>
          <p:nvPr/>
        </p:nvSpPr>
        <p:spPr>
          <a:xfrm>
            <a:off x="4996476" y="1580000"/>
            <a:ext cx="1447476" cy="42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3月配信</a:t>
            </a:r>
          </a:p>
        </p:txBody>
      </p:sp>
      <p:sp>
        <p:nvSpPr>
          <p:cNvPr id="914" name="Rounded Rectangle 913"/>
          <p:cNvSpPr/>
          <p:nvPr/>
        </p:nvSpPr>
        <p:spPr>
          <a:xfrm>
            <a:off x="4996476"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5" name="TextBox 914"/>
          <p:cNvSpPr txBox="1"/>
          <p:nvPr/>
        </p:nvSpPr>
        <p:spPr>
          <a:xfrm>
            <a:off x="5046476"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4〜5月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06C755"/>
                </a:solidFill>
                <a:latin typeface="メイリオ"/>
                <a:ea typeface="メイリオ"/>
                <a:cs typeface="メイリオ"/>
              </a:rPr>
              <a:t>GW直前・桜</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GW予約のピーク。空室案内</a:t>
            </a:r>
          </a:p>
        </p:txBody>
      </p:sp>
      <p:sp>
        <p:nvSpPr>
          <p:cNvPr id="916" name="Rounded Rectangle 915"/>
          <p:cNvSpPr/>
          <p:nvPr/>
        </p:nvSpPr>
        <p:spPr>
          <a:xfrm>
            <a:off x="6533952" y="1580000"/>
            <a:ext cx="1447476" cy="42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4月配信</a:t>
            </a:r>
          </a:p>
        </p:txBody>
      </p:sp>
      <p:sp>
        <p:nvSpPr>
          <p:cNvPr id="917" name="Rounded Rectangle 916"/>
          <p:cNvSpPr/>
          <p:nvPr/>
        </p:nvSpPr>
        <p:spPr>
          <a:xfrm>
            <a:off x="6533952"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18" name="TextBox 917"/>
          <p:cNvSpPr txBox="1"/>
          <p:nvPr/>
        </p:nvSpPr>
        <p:spPr>
          <a:xfrm>
            <a:off x="6583952"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5〜6月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06C755"/>
                </a:solidFill>
                <a:latin typeface="メイリオ"/>
                <a:ea typeface="メイリオ"/>
                <a:cs typeface="メイリオ"/>
              </a:rPr>
              <a:t>母の日・父の日</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宿泊ギフト、会員限定ECとの連動</a:t>
            </a:r>
          </a:p>
        </p:txBody>
      </p:sp>
      <p:sp>
        <p:nvSpPr>
          <p:cNvPr id="919" name="Rounded Rectangle 918"/>
          <p:cNvSpPr/>
          <p:nvPr/>
        </p:nvSpPr>
        <p:spPr>
          <a:xfrm>
            <a:off x="8071428" y="1580000"/>
            <a:ext cx="1447476" cy="42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5月配信</a:t>
            </a:r>
          </a:p>
        </p:txBody>
      </p:sp>
      <p:sp>
        <p:nvSpPr>
          <p:cNvPr id="920" name="Rounded Rectangle 919"/>
          <p:cNvSpPr/>
          <p:nvPr/>
        </p:nvSpPr>
        <p:spPr>
          <a:xfrm>
            <a:off x="8071428" y="2100000"/>
            <a:ext cx="1447476" cy="21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21" name="TextBox 920"/>
          <p:cNvSpPr txBox="1"/>
          <p:nvPr/>
        </p:nvSpPr>
        <p:spPr>
          <a:xfrm>
            <a:off x="8121428" y="2150000"/>
            <a:ext cx="1347476" cy="2400000"/>
          </a:xfrm>
          <a:prstGeom prst="rect">
            <a:avLst/>
          </a:prstGeom>
          <a:noFill/>
        </p:spPr>
        <p:txBody>
          <a:bodyPr wrap="square" lIns="72000" tIns="36000" rIns="72000" bIns="36000" anchor="t">
            <a:spAutoFit/>
          </a:bodyPr>
          <a:lstStyle/>
          <a:p>
            <a:pPr algn="ctr"/>
            <a:r>
              <a:rPr sz="900" b="0">
                <a:solidFill>
                  <a:srgbClr val="555555"/>
                </a:solidFill>
                <a:latin typeface="メイリオ"/>
                <a:ea typeface="メイリオ"/>
                <a:cs typeface="メイリオ"/>
              </a:rPr>
              <a:t>宿泊時期</a:t>
            </a:r>
          </a:p>
          <a:p>
            <a:pPr algn="ctr">
              <a:spcAft>
                <a:spcPts val="800"/>
              </a:spcAft>
            </a:pPr>
            <a:r>
              <a:rPr sz="1200" b="1">
                <a:solidFill>
                  <a:srgbClr val="1F3A5F"/>
                </a:solidFill>
                <a:latin typeface="メイリオ"/>
                <a:ea typeface="メイリオ"/>
                <a:cs typeface="メイリオ"/>
              </a:rPr>
              <a:t>6〜7月</a:t>
            </a:r>
          </a:p>
          <a:p>
            <a:pPr algn="ctr"/>
            <a:r>
              <a:rPr sz="900" b="0">
                <a:solidFill>
                  <a:srgbClr val="555555"/>
                </a:solidFill>
                <a:latin typeface="メイリオ"/>
                <a:ea typeface="メイリオ"/>
                <a:cs typeface="メイリオ"/>
              </a:rPr>
              <a:t>テーマ</a:t>
            </a:r>
          </a:p>
          <a:p>
            <a:pPr algn="ctr">
              <a:spcAft>
                <a:spcPts val="800"/>
              </a:spcAft>
            </a:pPr>
            <a:r>
              <a:rPr sz="1150" b="1">
                <a:solidFill>
                  <a:srgbClr val="1F3A5F"/>
                </a:solidFill>
                <a:latin typeface="メイリオ"/>
                <a:ea typeface="メイリオ"/>
                <a:cs typeface="メイリオ"/>
              </a:rPr>
              <a:t>夏休み早割</a:t>
            </a:r>
          </a:p>
          <a:p>
            <a:pPr algn="ctr"/>
            <a:r>
              <a:rPr sz="900" b="0">
                <a:solidFill>
                  <a:srgbClr val="555555"/>
                </a:solidFill>
                <a:latin typeface="メイリオ"/>
                <a:ea typeface="メイリオ"/>
                <a:cs typeface="メイリオ"/>
              </a:rPr>
              <a:t>内容</a:t>
            </a:r>
          </a:p>
          <a:p>
            <a:pPr algn="ctr"/>
            <a:r>
              <a:rPr sz="1050" b="0">
                <a:solidFill>
                  <a:srgbClr val="333333"/>
                </a:solidFill>
                <a:latin typeface="メイリオ"/>
                <a:ea typeface="メイリオ"/>
                <a:cs typeface="メイリオ"/>
              </a:rPr>
              <a:t>繁忙期（7/19〜）の前に早割を告知</a:t>
            </a:r>
          </a:p>
        </p:txBody>
      </p:sp>
      <p:sp>
        <p:nvSpPr>
          <p:cNvPr id="922" name="Rounded Rectangle 921"/>
          <p:cNvSpPr/>
          <p:nvPr/>
        </p:nvSpPr>
        <p:spPr>
          <a:xfrm>
            <a:off x="384048" y="4430000"/>
            <a:ext cx="2849880" cy="11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3" name="Rounded Rectangle 922"/>
          <p:cNvSpPr/>
          <p:nvPr/>
        </p:nvSpPr>
        <p:spPr>
          <a:xfrm>
            <a:off x="384048" y="4430000"/>
            <a:ext cx="2849880" cy="33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毎月やること</a:t>
            </a:r>
          </a:p>
        </p:txBody>
      </p:sp>
      <p:sp>
        <p:nvSpPr>
          <p:cNvPr id="924" name="TextBox 923"/>
          <p:cNvSpPr txBox="1"/>
          <p:nvPr/>
        </p:nvSpPr>
        <p:spPr>
          <a:xfrm>
            <a:off x="444048" y="4810000"/>
            <a:ext cx="2729880" cy="680000"/>
          </a:xfrm>
          <a:prstGeom prst="rect">
            <a:avLst/>
          </a:prstGeom>
          <a:noFill/>
        </p:spPr>
        <p:txBody>
          <a:bodyPr wrap="square" lIns="72000" tIns="36000" rIns="72000" bIns="36000" anchor="t">
            <a:spAutoFit/>
          </a:bodyPr>
          <a:lstStyle/>
          <a:p>
            <a:pPr algn="l">
              <a:spcAft>
                <a:spcPts val="400"/>
              </a:spcAft>
            </a:pPr>
            <a:r>
              <a:rPr sz="1050" b="0">
                <a:solidFill>
                  <a:srgbClr val="333333"/>
                </a:solidFill>
                <a:latin typeface="メイリオ"/>
                <a:ea typeface="メイリオ"/>
                <a:cs typeface="メイリオ"/>
              </a:rPr>
              <a:t>企画立案・クリエイティブ1点・tunaで受け皿ページ作成・配信設定</a:t>
            </a:r>
          </a:p>
        </p:txBody>
      </p:sp>
      <p:sp>
        <p:nvSpPr>
          <p:cNvPr id="925" name="Rounded Rectangle 924"/>
          <p:cNvSpPr/>
          <p:nvPr/>
        </p:nvSpPr>
        <p:spPr>
          <a:xfrm>
            <a:off x="3526536" y="4430000"/>
            <a:ext cx="2849880" cy="11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6" name="Rounded Rectangle 925"/>
          <p:cNvSpPr/>
          <p:nvPr/>
        </p:nvSpPr>
        <p:spPr>
          <a:xfrm>
            <a:off x="3526536" y="4430000"/>
            <a:ext cx="2849880" cy="33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送る相手</a:t>
            </a:r>
          </a:p>
        </p:txBody>
      </p:sp>
      <p:sp>
        <p:nvSpPr>
          <p:cNvPr id="927" name="TextBox 926"/>
          <p:cNvSpPr txBox="1"/>
          <p:nvPr/>
        </p:nvSpPr>
        <p:spPr>
          <a:xfrm>
            <a:off x="3586536" y="4810000"/>
            <a:ext cx="2729880" cy="680000"/>
          </a:xfrm>
          <a:prstGeom prst="rect">
            <a:avLst/>
          </a:prstGeom>
          <a:noFill/>
        </p:spPr>
        <p:txBody>
          <a:bodyPr wrap="square" lIns="72000" tIns="36000" rIns="72000" bIns="36000" anchor="t">
            <a:spAutoFit/>
          </a:bodyPr>
          <a:lstStyle/>
          <a:p>
            <a:pPr algn="l">
              <a:spcAft>
                <a:spcPts val="400"/>
              </a:spcAft>
            </a:pPr>
            <a:r>
              <a:rPr sz="1050" b="0">
                <a:solidFill>
                  <a:srgbClr val="333333"/>
                </a:solidFill>
                <a:latin typeface="メイリオ"/>
                <a:ea typeface="メイリオ"/>
                <a:cs typeface="メイリオ"/>
              </a:rPr>
              <a:t>tunaのラベルで出し分け（家族・記念日・エリアなど）</a:t>
            </a:r>
          </a:p>
        </p:txBody>
      </p:sp>
      <p:sp>
        <p:nvSpPr>
          <p:cNvPr id="928" name="Rounded Rectangle 927"/>
          <p:cNvSpPr/>
          <p:nvPr/>
        </p:nvSpPr>
        <p:spPr>
          <a:xfrm>
            <a:off x="6669024" y="4430000"/>
            <a:ext cx="2849880" cy="11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9" name="Rounded Rectangle 928"/>
          <p:cNvSpPr/>
          <p:nvPr/>
        </p:nvSpPr>
        <p:spPr>
          <a:xfrm>
            <a:off x="6669024" y="4430000"/>
            <a:ext cx="2849880" cy="33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通数の抑制</a:t>
            </a:r>
          </a:p>
        </p:txBody>
      </p:sp>
      <p:sp>
        <p:nvSpPr>
          <p:cNvPr id="930" name="TextBox 929"/>
          <p:cNvSpPr txBox="1"/>
          <p:nvPr/>
        </p:nvSpPr>
        <p:spPr>
          <a:xfrm>
            <a:off x="6729024" y="4810000"/>
            <a:ext cx="2729880" cy="680000"/>
          </a:xfrm>
          <a:prstGeom prst="rect">
            <a:avLst/>
          </a:prstGeom>
          <a:noFill/>
        </p:spPr>
        <p:txBody>
          <a:bodyPr wrap="square" lIns="72000" tIns="36000" rIns="72000" bIns="36000" anchor="t">
            <a:spAutoFit/>
          </a:bodyPr>
          <a:lstStyle/>
          <a:p>
            <a:pPr algn="l">
              <a:spcAft>
                <a:spcPts val="400"/>
              </a:spcAft>
            </a:pPr>
            <a:r>
              <a:rPr sz="1050" b="0">
                <a:solidFill>
                  <a:srgbClr val="333333"/>
                </a:solidFill>
                <a:latin typeface="メイリオ"/>
                <a:ea typeface="メイリオ"/>
                <a:cs typeface="メイリオ"/>
              </a:rPr>
              <a:t>全員一斉ではなく、絞り込みで配信通数のコストを抑える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3</a:t>
            </a:r>
          </a:p>
        </p:txBody>
      </p:sp>
      <p:sp>
        <p:nvSpPr>
          <p:cNvPr id="4" name="TextBox 3"/>
          <p:cNvSpPr txBox="1"/>
          <p:nvPr/>
        </p:nvSpPr>
        <p:spPr>
          <a:xfrm>
            <a:off x="384048" y="2817427"/>
            <a:ext cx="9134856" cy="565146"/>
          </a:xfrm>
          <a:prstGeom prst="rect">
            <a:avLst/>
          </a:prstGeom>
          <a:noFill/>
        </p:spPr>
        <p:txBody>
          <a:bodyPr wrap="square" lIns="72000" tIns="36000" rIns="72000" bIns="36000" anchor="ctr">
            <a:spAutoFit/>
          </a:bodyPr>
          <a:lstStyle/>
          <a:p>
            <a:pPr algn="ctr"/>
            <a:r>
              <a:rPr lang="ja-JP" altLang="en-US" sz="3200" b="1" dirty="0">
                <a:solidFill>
                  <a:srgbClr val="404040"/>
                </a:solidFill>
                <a:latin typeface="メイリオ"/>
                <a:ea typeface="メイリオ"/>
                <a:cs typeface="メイリオ"/>
              </a:rPr>
              <a:t>シミュレーション</a:t>
            </a:r>
            <a:endParaRPr sz="3200" b="1" dirty="0">
              <a:solidFill>
                <a:srgbClr val="404040"/>
              </a:solidFill>
              <a:latin typeface="メイリオ"/>
              <a:ea typeface="メイリオ"/>
              <a:cs typeface="メイリオ"/>
            </a:endParaRP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12月スタート・6ヶ月の見込み</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固い部分（休眠の掘り起こし）と上振れ部分（新規）に分けて試算しています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試算の前提</a:t>
            </a:r>
          </a:p>
        </p:txBody>
      </p:sp>
      <p:graphicFrame>
        <p:nvGraphicFramePr>
          <p:cNvPr id="904" name="Table 903"/>
          <p:cNvGraphicFramePr>
            <a:graphicFrameLocks noGrp="1"/>
          </p:cNvGraphicFramePr>
          <p:nvPr/>
        </p:nvGraphicFramePr>
        <p:xfrm>
          <a:off x="384048" y="1530000"/>
          <a:ext cx="9134854" cy="3010000"/>
        </p:xfrm>
        <a:graphic>
          <a:graphicData uri="http://schemas.openxmlformats.org/drawingml/2006/table">
            <a:tbl>
              <a:tblPr>
                <a:tableStyleId>{5940675A-B579-460E-94D1-54222C63F5DA}</a:tableStyleId>
              </a:tblPr>
              <a:tblGrid>
                <a:gridCol w="1998249">
                  <a:extLst>
                    <a:ext uri="{9D8B030D-6E8A-4147-A177-3AD203B41FA5}">
                      <a16:colId xmlns:a16="http://schemas.microsoft.com/office/drawing/2014/main" val="20000"/>
                    </a:ext>
                  </a:extLst>
                </a:gridCol>
                <a:gridCol w="1998249">
                  <a:extLst>
                    <a:ext uri="{9D8B030D-6E8A-4147-A177-3AD203B41FA5}">
                      <a16:colId xmlns:a16="http://schemas.microsoft.com/office/drawing/2014/main" val="20001"/>
                    </a:ext>
                  </a:extLst>
                </a:gridCol>
                <a:gridCol w="5138356">
                  <a:extLst>
                    <a:ext uri="{9D8B030D-6E8A-4147-A177-3AD203B41FA5}">
                      <a16:colId xmlns:a16="http://schemas.microsoft.com/office/drawing/2014/main" val="20002"/>
                    </a:ext>
                  </a:extLst>
                </a:gridCol>
              </a:tblGrid>
              <a:tr h="430000">
                <a:tc>
                  <a:txBody>
                    <a:bodyPr/>
                    <a:lstStyle/>
                    <a:p>
                      <a:pPr algn="l"/>
                      <a:r>
                        <a:rPr sz="1100" b="1">
                          <a:solidFill>
                            <a:srgbClr val="FFFFFF"/>
                          </a:solidFill>
                          <a:latin typeface="メイリオ"/>
                          <a:ea typeface="メイリオ"/>
                          <a:cs typeface="メイリオ"/>
                        </a:rPr>
                        <a:t>項目</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前提（中位ケース）</a:t>
                      </a:r>
                    </a:p>
                  </a:txBody>
                  <a:tcPr marR="72000" marT="30000" marB="30000" anchor="ctr">
                    <a:solidFill>
                      <a:srgbClr val="24345A"/>
                    </a:solidFill>
                  </a:tcPr>
                </a:tc>
                <a:tc>
                  <a:txBody>
                    <a:bodyPr/>
                    <a:lstStyle/>
                    <a:p>
                      <a:pPr algn="l"/>
                      <a:r>
                        <a:rPr sz="1100" b="1">
                          <a:solidFill>
                            <a:srgbClr val="FFFFFF"/>
                          </a:solidFill>
                          <a:latin typeface="メイリオ"/>
                          <a:ea typeface="メイリオ"/>
                          <a:cs typeface="メイリオ"/>
                        </a:rPr>
                        <a:t>考え方</a:t>
                      </a:r>
                    </a:p>
                  </a:txBody>
                  <a:tcPr marR="72000" marT="30000" marB="30000" anchor="ctr">
                    <a:solidFill>
                      <a:srgbClr val="24345A"/>
                    </a:solidFill>
                  </a:tcPr>
                </a:tc>
                <a:extLst>
                  <a:ext uri="{0D108BD9-81ED-4DB2-BD59-A6C34878D82A}">
                    <a16:rowId xmlns:a16="http://schemas.microsoft.com/office/drawing/2014/main" val="10000"/>
                  </a:ext>
                </a:extLst>
              </a:tr>
              <a:tr h="430000">
                <a:tc>
                  <a:txBody>
                    <a:bodyPr/>
                    <a:lstStyle/>
                    <a:p>
                      <a:pPr algn="l"/>
                      <a:r>
                        <a:rPr sz="1100" b="1">
                          <a:solidFill>
                            <a:srgbClr val="1F3A5F"/>
                          </a:solidFill>
                          <a:latin typeface="メイリオ"/>
                          <a:ea typeface="メイリオ"/>
                          <a:cs typeface="メイリオ"/>
                        </a:rPr>
                        <a:t>CPF予算</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月10万円</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ご提案の配分</a:t>
                      </a:r>
                    </a:p>
                  </a:txBody>
                  <a:tcPr marR="72000" marT="30000" marB="30000" anchor="ctr">
                    <a:solidFill>
                      <a:srgbClr val="FFFFFF"/>
                    </a:solidFill>
                  </a:tcPr>
                </a:tc>
                <a:extLst>
                  <a:ext uri="{0D108BD9-81ED-4DB2-BD59-A6C34878D82A}">
                    <a16:rowId xmlns:a16="http://schemas.microsoft.com/office/drawing/2014/main" val="10001"/>
                  </a:ext>
                </a:extLst>
              </a:tr>
              <a:tr h="430000">
                <a:tc>
                  <a:txBody>
                    <a:bodyPr/>
                    <a:lstStyle/>
                    <a:p>
                      <a:pPr algn="l"/>
                      <a:r>
                        <a:rPr sz="1100" b="1">
                          <a:solidFill>
                            <a:srgbClr val="1F3A5F"/>
                          </a:solidFill>
                          <a:latin typeface="メイリオ"/>
                          <a:ea typeface="メイリオ"/>
                          <a:cs typeface="メイリオ"/>
                        </a:rPr>
                        <a:t>CPF単価</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300円</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低400円／高200円の3パターンで試算</a:t>
                      </a:r>
                    </a:p>
                  </a:txBody>
                  <a:tcPr marR="72000" marT="30000" marB="30000" anchor="ctr">
                    <a:solidFill>
                      <a:srgbClr val="F2F5F9"/>
                    </a:solidFill>
                  </a:tcPr>
                </a:tc>
                <a:extLst>
                  <a:ext uri="{0D108BD9-81ED-4DB2-BD59-A6C34878D82A}">
                    <a16:rowId xmlns:a16="http://schemas.microsoft.com/office/drawing/2014/main" val="10002"/>
                  </a:ext>
                </a:extLst>
              </a:tr>
              <a:tr h="430000">
                <a:tc>
                  <a:txBody>
                    <a:bodyPr/>
                    <a:lstStyle/>
                    <a:p>
                      <a:pPr algn="l"/>
                      <a:r>
                        <a:rPr sz="1100" b="1">
                          <a:solidFill>
                            <a:srgbClr val="1F3A5F"/>
                          </a:solidFill>
                          <a:latin typeface="メイリオ"/>
                          <a:ea typeface="メイリオ"/>
                          <a:cs typeface="メイリオ"/>
                        </a:rPr>
                        <a:t>新規友だち</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約333人/月</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10万円 ÷ 300円</a:t>
                      </a:r>
                    </a:p>
                  </a:txBody>
                  <a:tcPr marR="72000" marT="30000" marB="30000" anchor="ctr">
                    <a:solidFill>
                      <a:srgbClr val="FFFFFF"/>
                    </a:solidFill>
                  </a:tcPr>
                </a:tc>
                <a:extLst>
                  <a:ext uri="{0D108BD9-81ED-4DB2-BD59-A6C34878D82A}">
                    <a16:rowId xmlns:a16="http://schemas.microsoft.com/office/drawing/2014/main" val="10003"/>
                  </a:ext>
                </a:extLst>
              </a:tr>
              <a:tr h="430000">
                <a:tc>
                  <a:txBody>
                    <a:bodyPr/>
                    <a:lstStyle/>
                    <a:p>
                      <a:pPr algn="l"/>
                      <a:r>
                        <a:rPr sz="1100" b="1">
                          <a:solidFill>
                            <a:srgbClr val="1F3A5F"/>
                          </a:solidFill>
                          <a:latin typeface="メイリオ"/>
                          <a:ea typeface="メイリオ"/>
                          <a:cs typeface="メイリオ"/>
                        </a:rPr>
                        <a:t>反応率</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20%</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30日間で1回以上タップした人の割合</a:t>
                      </a:r>
                    </a:p>
                  </a:txBody>
                  <a:tcPr marR="72000" marT="30000" marB="30000" anchor="ctr">
                    <a:solidFill>
                      <a:srgbClr val="F2F5F9"/>
                    </a:solidFill>
                  </a:tcPr>
                </a:tc>
                <a:extLst>
                  <a:ext uri="{0D108BD9-81ED-4DB2-BD59-A6C34878D82A}">
                    <a16:rowId xmlns:a16="http://schemas.microsoft.com/office/drawing/2014/main" val="10004"/>
                  </a:ext>
                </a:extLst>
              </a:tr>
              <a:tr h="430000">
                <a:tc>
                  <a:txBody>
                    <a:bodyPr/>
                    <a:lstStyle/>
                    <a:p>
                      <a:pPr algn="l"/>
                      <a:r>
                        <a:rPr sz="1100" b="1">
                          <a:solidFill>
                            <a:srgbClr val="1F3A5F"/>
                          </a:solidFill>
                          <a:latin typeface="メイリオ"/>
                          <a:ea typeface="メイリオ"/>
                          <a:cs typeface="メイリオ"/>
                        </a:rPr>
                        <a:t>引き上げ率</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5%</a:t>
                      </a:r>
                    </a:p>
                  </a:txBody>
                  <a:tcPr marR="72000" marT="30000" marB="30000" anchor="ctr">
                    <a:solidFill>
                      <a:srgbClr val="FFFFFF"/>
                    </a:solidFill>
                  </a:tcPr>
                </a:tc>
                <a:tc>
                  <a:txBody>
                    <a:bodyPr/>
                    <a:lstStyle/>
                    <a:p>
                      <a:pPr algn="l"/>
                      <a:r>
                        <a:rPr sz="1100" b="0">
                          <a:solidFill>
                            <a:srgbClr val="555555"/>
                          </a:solidFill>
                          <a:latin typeface="メイリオ"/>
                          <a:ea typeface="メイリオ"/>
                          <a:cs typeface="メイリオ"/>
                        </a:rPr>
                        <a:t>反応した人のうち予約した人の割合</a:t>
                      </a:r>
                    </a:p>
                  </a:txBody>
                  <a:tcPr marR="72000" marT="30000" marB="30000" anchor="ctr">
                    <a:solidFill>
                      <a:srgbClr val="FFFFFF"/>
                    </a:solidFill>
                  </a:tcPr>
                </a:tc>
                <a:extLst>
                  <a:ext uri="{0D108BD9-81ED-4DB2-BD59-A6C34878D82A}">
                    <a16:rowId xmlns:a16="http://schemas.microsoft.com/office/drawing/2014/main" val="10005"/>
                  </a:ext>
                </a:extLst>
              </a:tr>
              <a:tr h="430000">
                <a:tc>
                  <a:txBody>
                    <a:bodyPr/>
                    <a:lstStyle/>
                    <a:p>
                      <a:pPr algn="l"/>
                      <a:r>
                        <a:rPr sz="1100" b="1">
                          <a:solidFill>
                            <a:srgbClr val="1F3A5F"/>
                          </a:solidFill>
                          <a:latin typeface="メイリオ"/>
                          <a:ea typeface="メイリオ"/>
                          <a:cs typeface="メイリオ"/>
                        </a:rPr>
                        <a:t>休眠の掘り起こし</a:t>
                      </a:r>
                    </a:p>
                  </a:txBody>
                  <a:tcPr marR="72000" marT="30000" marB="30000" anchor="ctr">
                    <a:solidFill>
                      <a:srgbClr val="F2F5F9"/>
                    </a:solidFill>
                  </a:tcPr>
                </a:tc>
                <a:tc>
                  <a:txBody>
                    <a:bodyPr/>
                    <a:lstStyle/>
                    <a:p>
                      <a:pPr algn="l"/>
                      <a:r>
                        <a:rPr sz="1100" b="1">
                          <a:solidFill>
                            <a:srgbClr val="C00000"/>
                          </a:solidFill>
                          <a:latin typeface="メイリオ"/>
                          <a:ea typeface="メイリオ"/>
                          <a:cs typeface="メイリオ"/>
                        </a:rPr>
                        <a:t>月5件</a:t>
                      </a:r>
                    </a:p>
                  </a:txBody>
                  <a:tcPr marR="72000" marT="30000" marB="30000" anchor="ctr">
                    <a:solidFill>
                      <a:srgbClr val="F2F5F9"/>
                    </a:solidFill>
                  </a:tcPr>
                </a:tc>
                <a:tc>
                  <a:txBody>
                    <a:bodyPr/>
                    <a:lstStyle/>
                    <a:p>
                      <a:pPr algn="l"/>
                      <a:r>
                        <a:rPr sz="1100" b="0">
                          <a:solidFill>
                            <a:srgbClr val="555555"/>
                          </a:solidFill>
                          <a:latin typeface="メイリオ"/>
                          <a:ea typeface="メイリオ"/>
                          <a:cs typeface="メイリオ"/>
                        </a:rPr>
                        <a:t>既存3.5万人のうち約0.014%。かなり控えめな置き方</a:t>
                      </a:r>
                    </a:p>
                  </a:txBody>
                  <a:tcPr marR="72000" marT="30000" marB="30000" anchor="ctr">
                    <a:solidFill>
                      <a:srgbClr val="F2F5F9"/>
                    </a:solidFill>
                  </a:tcPr>
                </a:tc>
                <a:extLst>
                  <a:ext uri="{0D108BD9-81ED-4DB2-BD59-A6C34878D82A}">
                    <a16:rowId xmlns:a16="http://schemas.microsoft.com/office/drawing/2014/main" val="10006"/>
                  </a:ext>
                </a:extLst>
              </a:tr>
            </a:tbl>
          </a:graphicData>
        </a:graphic>
      </p:graphicFrame>
      <p:sp>
        <p:nvSpPr>
          <p:cNvPr id="905" name="Rounded Rectangle 904"/>
          <p:cNvSpPr/>
          <p:nvPr/>
        </p:nvSpPr>
        <p:spPr>
          <a:xfrm>
            <a:off x="384048" y="4740000"/>
            <a:ext cx="9134856" cy="100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月あたりのCV ＝ 新規友だち × 反応率 × 引き上げ率 ＋ 休眠の掘り起こし</a:t>
            </a:r>
          </a:p>
          <a:p>
            <a:pPr algn="ctr"/>
            <a:r>
              <a:rPr sz="1200" b="0">
                <a:solidFill>
                  <a:srgbClr val="FFFFFF"/>
                </a:solidFill>
                <a:latin typeface="メイリオ"/>
                <a:ea typeface="メイリオ"/>
                <a:cs typeface="メイリオ"/>
              </a:rPr>
              <a:t>＝ 333人 × 20% × 5% ＋ 5件 ＝ 約8.3件（季節性を入れる前の基準値）</a:t>
            </a:r>
          </a:p>
        </p:txBody>
      </p:sp>
      <p:sp>
        <p:nvSpPr>
          <p:cNvPr id="906" name="TextBox 905"/>
          <p:cNvSpPr txBox="1"/>
          <p:nvPr/>
        </p:nvSpPr>
        <p:spPr>
          <a:xfrm>
            <a:off x="384048" y="610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※すべて仮置きです。CPF単価・月別の直予約数などの実数をいただき精緻化します。宿泊後のリピート予約は含めていません</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12〜1月は仕込み期間、3〜4月のGW予約で刈り取り。半年で約50件の見込みです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月別CV数の見込み（季節性込み）</a:t>
            </a:r>
          </a:p>
        </p:txBody>
      </p:sp>
      <p:graphicFrame>
        <p:nvGraphicFramePr>
          <p:cNvPr id="904" name="Chart 903"/>
          <p:cNvGraphicFramePr>
            <a:graphicFrameLocks noGrp="1"/>
          </p:cNvGraphicFramePr>
          <p:nvPr/>
        </p:nvGraphicFramePr>
        <p:xfrm>
          <a:off x="384048" y="1530000"/>
          <a:ext cx="5600000" cy="3500000"/>
        </p:xfrm>
        <a:graphic>
          <a:graphicData uri="http://schemas.openxmlformats.org/drawingml/2006/chart">
            <c:chart xmlns:c="http://schemas.openxmlformats.org/drawingml/2006/chart" xmlns:r="http://schemas.openxmlformats.org/officeDocument/2006/relationships" r:id="rId2"/>
          </a:graphicData>
        </a:graphic>
      </p:graphicFrame>
      <p:sp>
        <p:nvSpPr>
          <p:cNvPr id="905" name="TextBox 904"/>
          <p:cNvSpPr txBox="1"/>
          <p:nvPr/>
        </p:nvSpPr>
        <p:spPr>
          <a:xfrm>
            <a:off x="384048" y="5050000"/>
            <a:ext cx="5600000" cy="300000"/>
          </a:xfrm>
          <a:prstGeom prst="rect">
            <a:avLst/>
          </a:prstGeom>
          <a:noFill/>
        </p:spPr>
        <p:txBody>
          <a:bodyPr wrap="square" lIns="72000" tIns="36000" rIns="72000" bIns="36000" anchor="t">
            <a:spAutoFit/>
          </a:bodyPr>
          <a:lstStyle/>
          <a:p>
            <a:pPr algn="ctr"/>
            <a:r>
              <a:rPr sz="950" b="0">
                <a:solidFill>
                  <a:srgbClr val="555555"/>
                </a:solidFill>
                <a:latin typeface="メイリオ"/>
                <a:ea typeface="メイリオ"/>
                <a:cs typeface="メイリオ"/>
              </a:rPr>
              <a:t>合計CV：12月 4.7件　1月 6.8件　2月 8.3件　3月 10.8件　4月 10.0件　5月 9.2件</a:t>
            </a:r>
          </a:p>
        </p:txBody>
      </p:sp>
      <p:sp>
        <p:nvSpPr>
          <p:cNvPr id="906" name="Rounded Rectangle 905"/>
          <p:cNvSpPr/>
          <p:nvPr/>
        </p:nvSpPr>
        <p:spPr>
          <a:xfrm>
            <a:off x="6184048" y="1530000"/>
            <a:ext cx="3334856" cy="1350000"/>
          </a:xfrm>
          <a:prstGeom prst="roundRect">
            <a:avLst>
              <a:gd name="adj" fmla="val 6000"/>
            </a:avLst>
          </a:prstGeom>
          <a:solidFill>
            <a:srgbClr val="EEF1F5"/>
          </a:solidFill>
          <a:ln w="12700">
            <a:solidFill>
              <a:srgbClr val="7F8896"/>
            </a:solidFill>
          </a:ln>
          <a:effectLst/>
        </p:spPr>
        <p:txBody>
          <a:bodyPr rtlCol="0" anchor="ctr"/>
          <a:lstStyle/>
          <a:p>
            <a:pPr algn="ctr"/>
            <a:endParaRPr/>
          </a:p>
        </p:txBody>
      </p:sp>
      <p:sp>
        <p:nvSpPr>
          <p:cNvPr id="907" name="TextBox 906"/>
          <p:cNvSpPr txBox="1"/>
          <p:nvPr/>
        </p:nvSpPr>
        <p:spPr>
          <a:xfrm>
            <a:off x="6184048" y="1610000"/>
            <a:ext cx="3334856" cy="1200000"/>
          </a:xfrm>
          <a:prstGeom prst="rect">
            <a:avLst/>
          </a:prstGeom>
          <a:noFill/>
        </p:spPr>
        <p:txBody>
          <a:bodyPr wrap="square" lIns="72000" tIns="36000" rIns="72000" bIns="36000" anchor="ctr">
            <a:spAutoFit/>
          </a:bodyPr>
          <a:lstStyle/>
          <a:p>
            <a:pPr algn="ctr"/>
            <a:r>
              <a:rPr sz="1200" b="1">
                <a:solidFill>
                  <a:srgbClr val="1F3A5F"/>
                </a:solidFill>
                <a:latin typeface="メイリオ"/>
                <a:ea typeface="メイリオ"/>
                <a:cs typeface="メイリオ"/>
              </a:rPr>
              <a:t>6ヶ月合計（中位ケース）</a:t>
            </a:r>
          </a:p>
          <a:p>
            <a:pPr algn="ctr"/>
            <a:r>
              <a:rPr sz="1400" b="1">
                <a:solidFill>
                  <a:srgbClr val="C00000"/>
                </a:solidFill>
                <a:latin typeface="メイリオ"/>
                <a:ea typeface="メイリオ"/>
                <a:cs typeface="メイリオ"/>
              </a:rPr>
              <a:t>約</a:t>
            </a:r>
            <a:r>
              <a:rPr sz="3000" b="1">
                <a:solidFill>
                  <a:srgbClr val="C00000"/>
                </a:solidFill>
                <a:latin typeface="メイリオ"/>
                <a:ea typeface="メイリオ"/>
                <a:cs typeface="メイリオ"/>
              </a:rPr>
              <a:t>50</a:t>
            </a:r>
            <a:r>
              <a:rPr sz="1400" b="1">
                <a:solidFill>
                  <a:srgbClr val="C00000"/>
                </a:solidFill>
                <a:latin typeface="メイリオ"/>
                <a:ea typeface="メイリオ"/>
                <a:cs typeface="メイリオ"/>
              </a:rPr>
              <a:t>件</a:t>
            </a:r>
          </a:p>
          <a:p>
            <a:pPr algn="ctr"/>
            <a:r>
              <a:rPr sz="1050" b="0">
                <a:solidFill>
                  <a:srgbClr val="333333"/>
                </a:solidFill>
                <a:latin typeface="メイリオ"/>
                <a:ea typeface="メイリオ"/>
                <a:cs typeface="メイリオ"/>
              </a:rPr>
              <a:t>休眠 約30件＋新規 約20件</a:t>
            </a:r>
          </a:p>
        </p:txBody>
      </p:sp>
      <p:graphicFrame>
        <p:nvGraphicFramePr>
          <p:cNvPr id="908" name="Table 907"/>
          <p:cNvGraphicFramePr>
            <a:graphicFrameLocks noGrp="1"/>
          </p:cNvGraphicFramePr>
          <p:nvPr/>
        </p:nvGraphicFramePr>
        <p:xfrm>
          <a:off x="6184048" y="3030000"/>
          <a:ext cx="3334854" cy="1520000"/>
        </p:xfrm>
        <a:graphic>
          <a:graphicData uri="http://schemas.openxmlformats.org/drawingml/2006/table">
            <a:tbl>
              <a:tblPr>
                <a:tableStyleId>{5940675A-B579-460E-94D1-54222C63F5DA}</a:tableStyleId>
              </a:tblPr>
              <a:tblGrid>
                <a:gridCol w="650703">
                  <a:extLst>
                    <a:ext uri="{9D8B030D-6E8A-4147-A177-3AD203B41FA5}">
                      <a16:colId xmlns:a16="http://schemas.microsoft.com/office/drawing/2014/main" val="20000"/>
                    </a:ext>
                  </a:extLst>
                </a:gridCol>
                <a:gridCol w="1789434">
                  <a:extLst>
                    <a:ext uri="{9D8B030D-6E8A-4147-A177-3AD203B41FA5}">
                      <a16:colId xmlns:a16="http://schemas.microsoft.com/office/drawing/2014/main" val="20001"/>
                    </a:ext>
                  </a:extLst>
                </a:gridCol>
                <a:gridCol w="894717">
                  <a:extLst>
                    <a:ext uri="{9D8B030D-6E8A-4147-A177-3AD203B41FA5}">
                      <a16:colId xmlns:a16="http://schemas.microsoft.com/office/drawing/2014/main" val="20002"/>
                    </a:ext>
                  </a:extLst>
                </a:gridCol>
              </a:tblGrid>
              <a:tr h="380000">
                <a:tc>
                  <a:txBody>
                    <a:bodyPr/>
                    <a:lstStyle/>
                    <a:p>
                      <a:pPr algn="l"/>
                      <a:r>
                        <a:rPr sz="950" b="1">
                          <a:solidFill>
                            <a:srgbClr val="FFFFFF"/>
                          </a:solidFill>
                          <a:latin typeface="メイリオ"/>
                          <a:ea typeface="メイリオ"/>
                          <a:cs typeface="メイリオ"/>
                        </a:rPr>
                        <a:t>パターン</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前提</a:t>
                      </a:r>
                    </a:p>
                  </a:txBody>
                  <a:tcPr marR="72000" marT="30000" marB="30000" anchor="ctr">
                    <a:solidFill>
                      <a:srgbClr val="24345A"/>
                    </a:solidFill>
                  </a:tcPr>
                </a:tc>
                <a:tc>
                  <a:txBody>
                    <a:bodyPr/>
                    <a:lstStyle/>
                    <a:p>
                      <a:pPr algn="l"/>
                      <a:r>
                        <a:rPr sz="950" b="1">
                          <a:solidFill>
                            <a:srgbClr val="FFFFFF"/>
                          </a:solidFill>
                          <a:latin typeface="メイリオ"/>
                          <a:ea typeface="メイリオ"/>
                          <a:cs typeface="メイリオ"/>
                        </a:rPr>
                        <a:t>6ヶ月計</a:t>
                      </a:r>
                    </a:p>
                  </a:txBody>
                  <a:tcPr marR="72000" marT="30000" marB="30000" anchor="ctr">
                    <a:solidFill>
                      <a:srgbClr val="24345A"/>
                    </a:solidFill>
                  </a:tcPr>
                </a:tc>
                <a:extLst>
                  <a:ext uri="{0D108BD9-81ED-4DB2-BD59-A6C34878D82A}">
                    <a16:rowId xmlns:a16="http://schemas.microsoft.com/office/drawing/2014/main" val="10000"/>
                  </a:ext>
                </a:extLst>
              </a:tr>
              <a:tr h="380000">
                <a:tc>
                  <a:txBody>
                    <a:bodyPr/>
                    <a:lstStyle/>
                    <a:p>
                      <a:pPr algn="l"/>
                      <a:r>
                        <a:rPr sz="950" b="1">
                          <a:solidFill>
                            <a:srgbClr val="1F3A5F"/>
                          </a:solidFill>
                          <a:latin typeface="メイリオ"/>
                          <a:ea typeface="メイリオ"/>
                          <a:cs typeface="メイリオ"/>
                        </a:rPr>
                        <a:t>低</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単価400円・引上げ3%</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約39件</a:t>
                      </a:r>
                    </a:p>
                  </a:txBody>
                  <a:tcPr marR="72000" marT="30000" marB="30000" anchor="ctr">
                    <a:solidFill>
                      <a:srgbClr val="FFFFFF"/>
                    </a:solidFill>
                  </a:tcPr>
                </a:tc>
                <a:extLst>
                  <a:ext uri="{0D108BD9-81ED-4DB2-BD59-A6C34878D82A}">
                    <a16:rowId xmlns:a16="http://schemas.microsoft.com/office/drawing/2014/main" val="10001"/>
                  </a:ext>
                </a:extLst>
              </a:tr>
              <a:tr h="380000">
                <a:tc>
                  <a:txBody>
                    <a:bodyPr/>
                    <a:lstStyle/>
                    <a:p>
                      <a:pPr algn="l"/>
                      <a:r>
                        <a:rPr sz="950" b="1">
                          <a:solidFill>
                            <a:srgbClr val="1F3A5F"/>
                          </a:solidFill>
                          <a:latin typeface="メイリオ"/>
                          <a:ea typeface="メイリオ"/>
                          <a:cs typeface="メイリオ"/>
                        </a:rPr>
                        <a:t>中</a:t>
                      </a:r>
                    </a:p>
                  </a:txBody>
                  <a:tcPr marR="72000" marT="30000" marB="30000" anchor="ctr">
                    <a:solidFill>
                      <a:srgbClr val="F2F5F9"/>
                    </a:solidFill>
                  </a:tcPr>
                </a:tc>
                <a:tc>
                  <a:txBody>
                    <a:bodyPr/>
                    <a:lstStyle/>
                    <a:p>
                      <a:pPr algn="l"/>
                      <a:r>
                        <a:rPr sz="950" b="0">
                          <a:solidFill>
                            <a:srgbClr val="555555"/>
                          </a:solidFill>
                          <a:latin typeface="メイリオ"/>
                          <a:ea typeface="メイリオ"/>
                          <a:cs typeface="メイリオ"/>
                        </a:rPr>
                        <a:t>単価300円・引上げ5%</a:t>
                      </a:r>
                    </a:p>
                  </a:txBody>
                  <a:tcPr marR="72000" marT="30000" marB="30000" anchor="ctr">
                    <a:solidFill>
                      <a:srgbClr val="F2F5F9"/>
                    </a:solidFill>
                  </a:tcPr>
                </a:tc>
                <a:tc>
                  <a:txBody>
                    <a:bodyPr/>
                    <a:lstStyle/>
                    <a:p>
                      <a:pPr algn="l"/>
                      <a:r>
                        <a:rPr sz="950" b="1">
                          <a:solidFill>
                            <a:srgbClr val="C00000"/>
                          </a:solidFill>
                          <a:latin typeface="メイリオ"/>
                          <a:ea typeface="メイリオ"/>
                          <a:cs typeface="メイリオ"/>
                        </a:rPr>
                        <a:t>約50件</a:t>
                      </a:r>
                    </a:p>
                  </a:txBody>
                  <a:tcPr marR="72000" marT="30000" marB="30000" anchor="ctr">
                    <a:solidFill>
                      <a:srgbClr val="F2F5F9"/>
                    </a:solidFill>
                  </a:tcPr>
                </a:tc>
                <a:extLst>
                  <a:ext uri="{0D108BD9-81ED-4DB2-BD59-A6C34878D82A}">
                    <a16:rowId xmlns:a16="http://schemas.microsoft.com/office/drawing/2014/main" val="10002"/>
                  </a:ext>
                </a:extLst>
              </a:tr>
              <a:tr h="380000">
                <a:tc>
                  <a:txBody>
                    <a:bodyPr/>
                    <a:lstStyle/>
                    <a:p>
                      <a:pPr algn="l"/>
                      <a:r>
                        <a:rPr sz="950" b="1">
                          <a:solidFill>
                            <a:srgbClr val="1F3A5F"/>
                          </a:solidFill>
                          <a:latin typeface="メイリオ"/>
                          <a:ea typeface="メイリオ"/>
                          <a:cs typeface="メイリオ"/>
                        </a:rPr>
                        <a:t>高</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単価200円・引上げ5%</a:t>
                      </a:r>
                    </a:p>
                  </a:txBody>
                  <a:tcPr marR="72000" marT="30000" marB="30000" anchor="ctr">
                    <a:solidFill>
                      <a:srgbClr val="FFFFFF"/>
                    </a:solidFill>
                  </a:tcPr>
                </a:tc>
                <a:tc>
                  <a:txBody>
                    <a:bodyPr/>
                    <a:lstStyle/>
                    <a:p>
                      <a:pPr algn="l"/>
                      <a:r>
                        <a:rPr sz="950" b="0">
                          <a:solidFill>
                            <a:srgbClr val="555555"/>
                          </a:solidFill>
                          <a:latin typeface="メイリオ"/>
                          <a:ea typeface="メイリオ"/>
                          <a:cs typeface="メイリオ"/>
                        </a:rPr>
                        <a:t>約60件</a:t>
                      </a:r>
                    </a:p>
                  </a:txBody>
                  <a:tcPr marR="72000" marT="30000" marB="30000" anchor="ctr">
                    <a:solidFill>
                      <a:srgbClr val="FFFFFF"/>
                    </a:solidFill>
                  </a:tcPr>
                </a:tc>
                <a:extLst>
                  <a:ext uri="{0D108BD9-81ED-4DB2-BD59-A6C34878D82A}">
                    <a16:rowId xmlns:a16="http://schemas.microsoft.com/office/drawing/2014/main" val="10003"/>
                  </a:ext>
                </a:extLst>
              </a:tr>
            </a:tbl>
          </a:graphicData>
        </a:graphic>
      </p:graphicFrame>
      <p:sp>
        <p:nvSpPr>
          <p:cNvPr id="909" name="TextBox 908"/>
          <p:cNvSpPr txBox="1"/>
          <p:nvPr/>
        </p:nvSpPr>
        <p:spPr>
          <a:xfrm>
            <a:off x="6184048" y="4630000"/>
            <a:ext cx="3334856" cy="9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季節係数：12月0.8／1月0.9／2月1.0／3月1.3／4月1.2／5月1.1</a:t>
            </a:r>
          </a:p>
          <a:p>
            <a:pPr algn="l"/>
            <a:r>
              <a:rPr sz="900" b="0">
                <a:solidFill>
                  <a:srgbClr val="555555"/>
                </a:solidFill>
                <a:latin typeface="メイリオ"/>
                <a:ea typeface="メイリオ"/>
                <a:cs typeface="メイリオ"/>
              </a:rPr>
              <a:t>立ち上がり係数：12月0.7／1月0.9／2月以降1.0</a:t>
            </a:r>
          </a:p>
          <a:p>
            <a:pPr algn="l"/>
            <a:r>
              <a:rPr sz="900" b="0">
                <a:solidFill>
                  <a:srgbClr val="555555"/>
                </a:solidFill>
                <a:latin typeface="メイリオ"/>
                <a:ea typeface="メイリオ"/>
                <a:cs typeface="メイリオ"/>
              </a:rPr>
              <a:t>（根拠はP.30）</a:t>
            </a:r>
          </a:p>
        </p:txBody>
      </p:sp>
      <p:sp>
        <p:nvSpPr>
          <p:cNvPr id="910" name="Rounded Rectangle 909"/>
          <p:cNvSpPr/>
          <p:nvPr/>
        </p:nvSpPr>
        <p:spPr>
          <a:xfrm>
            <a:off x="384048" y="5530000"/>
            <a:ext cx="9134856" cy="45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0">
                <a:solidFill>
                  <a:srgbClr val="FFFFFF"/>
                </a:solidFill>
                <a:latin typeface="メイリオ"/>
                <a:ea typeface="メイリオ"/>
                <a:cs typeface="メイリオ"/>
              </a:rPr>
              <a:t>12月に入った友だちが、GWの予約で回収される流れです</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4</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サポート体制</a:t>
            </a: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体制・報告と連絡・スケジュール</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窓口を一本化し、広告運用・LINE運用・制作の担当がチームで対応します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体制図（イメージ）</a:t>
            </a:r>
          </a:p>
        </p:txBody>
      </p:sp>
      <p:sp>
        <p:nvSpPr>
          <p:cNvPr id="904" name="Rounded Rectangle 903"/>
          <p:cNvSpPr/>
          <p:nvPr/>
        </p:nvSpPr>
        <p:spPr>
          <a:xfrm>
            <a:off x="3351476" y="1530000"/>
            <a:ext cx="3200000" cy="52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お宿ねっと様（ご担当者様）</a:t>
            </a:r>
          </a:p>
        </p:txBody>
      </p:sp>
      <p:sp>
        <p:nvSpPr>
          <p:cNvPr id="905" name="Down Arrow 904"/>
          <p:cNvSpPr/>
          <p:nvPr/>
        </p:nvSpPr>
        <p:spPr>
          <a:xfrm>
            <a:off x="4801476" y="2090000"/>
            <a:ext cx="300000" cy="220000"/>
          </a:xfrm>
          <a:prstGeom prst="downArrow">
            <a:avLst/>
          </a:prstGeom>
          <a:solidFill>
            <a:srgbClr val="24345A"/>
          </a:solidFill>
          <a:ln>
            <a:noFill/>
          </a:ln>
          <a:effectLst/>
        </p:spPr>
        <p:txBody>
          <a:bodyPr rtlCol="0" anchor="ctr"/>
          <a:lstStyle/>
          <a:p>
            <a:pPr algn="ctr"/>
            <a:endParaRPr/>
          </a:p>
        </p:txBody>
      </p:sp>
      <p:sp>
        <p:nvSpPr>
          <p:cNvPr id="906" name="Rounded Rectangle 905"/>
          <p:cNvSpPr/>
          <p:nvPr/>
        </p:nvSpPr>
        <p:spPr>
          <a:xfrm>
            <a:off x="2951476" y="2350000"/>
            <a:ext cx="4000000" cy="820000"/>
          </a:xfrm>
          <a:prstGeom prst="roundRect">
            <a:avLst>
              <a:gd name="adj" fmla="val 8000"/>
            </a:avLst>
          </a:prstGeom>
          <a:solidFill>
            <a:srgbClr val="EEF1F5"/>
          </a:solidFill>
          <a:ln w="12700">
            <a:solidFill>
              <a:srgbClr val="7F8896"/>
            </a:solidFill>
          </a:ln>
          <a:effectLst/>
        </p:spPr>
        <p:txBody>
          <a:bodyPr rtlCol="0" anchor="ctr"/>
          <a:lstStyle/>
          <a:p>
            <a:pPr algn="ctr"/>
            <a:endParaRPr/>
          </a:p>
        </p:txBody>
      </p:sp>
      <p:sp>
        <p:nvSpPr>
          <p:cNvPr id="907" name="Rounded Rectangle 906"/>
          <p:cNvSpPr/>
          <p:nvPr/>
        </p:nvSpPr>
        <p:spPr>
          <a:xfrm>
            <a:off x="2951476" y="2350000"/>
            <a:ext cx="4000000" cy="33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営業・フロント（窓口）</a:t>
            </a:r>
          </a:p>
        </p:txBody>
      </p:sp>
      <p:sp>
        <p:nvSpPr>
          <p:cNvPr id="908" name="TextBox 907"/>
          <p:cNvSpPr txBox="1"/>
          <p:nvPr/>
        </p:nvSpPr>
        <p:spPr>
          <a:xfrm>
            <a:off x="3001476" y="2700000"/>
            <a:ext cx="3900000" cy="440000"/>
          </a:xfrm>
          <a:prstGeom prst="rect">
            <a:avLst/>
          </a:prstGeom>
          <a:noFill/>
        </p:spPr>
        <p:txBody>
          <a:bodyPr wrap="square" lIns="72000" tIns="36000" rIns="72000" bIns="36000" anchor="ctr">
            <a:spAutoFit/>
          </a:bodyPr>
          <a:lstStyle/>
          <a:p>
            <a:pPr algn="ctr"/>
            <a:r>
              <a:rPr sz="1050" b="0">
                <a:solidFill>
                  <a:srgbClr val="333333"/>
                </a:solidFill>
                <a:latin typeface="メイリオ"/>
                <a:ea typeface="メイリオ"/>
                <a:cs typeface="メイリオ"/>
              </a:rPr>
              <a:t>ご提案・ご契約、定例・レポートのご説明、ご要望の取りまとめ</a:t>
            </a:r>
          </a:p>
        </p:txBody>
      </p:sp>
      <p:cxnSp>
        <p:nvCxnSpPr>
          <p:cNvPr id="909" name="Connector 908"/>
          <p:cNvCxnSpPr/>
          <p:nvPr/>
        </p:nvCxnSpPr>
        <p:spPr>
          <a:xfrm>
            <a:off x="4951476" y="3170000"/>
            <a:ext cx="0" cy="21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cxnSp>
        <p:nvCxnSpPr>
          <p:cNvPr id="910" name="Connector 909"/>
          <p:cNvCxnSpPr/>
          <p:nvPr/>
        </p:nvCxnSpPr>
        <p:spPr>
          <a:xfrm>
            <a:off x="1808988" y="3380000"/>
            <a:ext cx="6284976" cy="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cxnSp>
        <p:nvCxnSpPr>
          <p:cNvPr id="911" name="Connector 910"/>
          <p:cNvCxnSpPr/>
          <p:nvPr/>
        </p:nvCxnSpPr>
        <p:spPr>
          <a:xfrm>
            <a:off x="1808988" y="3380000"/>
            <a:ext cx="0" cy="20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sp>
        <p:nvSpPr>
          <p:cNvPr id="912" name="Rounded Rectangle 911"/>
          <p:cNvSpPr/>
          <p:nvPr/>
        </p:nvSpPr>
        <p:spPr>
          <a:xfrm>
            <a:off x="384048" y="3580000"/>
            <a:ext cx="2849880" cy="14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384048" y="3580000"/>
            <a:ext cx="2849880" cy="36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広告運用</a:t>
            </a:r>
          </a:p>
        </p:txBody>
      </p:sp>
      <p:sp>
        <p:nvSpPr>
          <p:cNvPr id="914" name="TextBox 913"/>
          <p:cNvSpPr txBox="1"/>
          <p:nvPr/>
        </p:nvSpPr>
        <p:spPr>
          <a:xfrm>
            <a:off x="444048" y="3990000"/>
            <a:ext cx="2729880" cy="1000000"/>
          </a:xfrm>
          <a:prstGeom prst="rect">
            <a:avLst/>
          </a:prstGeom>
          <a:noFill/>
        </p:spPr>
        <p:txBody>
          <a:bodyPr wrap="square" lIns="72000" tIns="36000" rIns="72000" bIns="36000" anchor="t">
            <a:spAutoFit/>
          </a:bodyPr>
          <a:lstStyle/>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CPF広告の配信・入札・クリエイティブの調整</a:t>
            </a:r>
          </a:p>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友だち追加単価の管理</a:t>
            </a:r>
          </a:p>
        </p:txBody>
      </p:sp>
      <p:cxnSp>
        <p:nvCxnSpPr>
          <p:cNvPr id="915" name="Connector 914"/>
          <p:cNvCxnSpPr/>
          <p:nvPr/>
        </p:nvCxnSpPr>
        <p:spPr>
          <a:xfrm>
            <a:off x="4951476" y="3380000"/>
            <a:ext cx="0" cy="20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sp>
        <p:nvSpPr>
          <p:cNvPr id="916" name="Rounded Rectangle 915"/>
          <p:cNvSpPr/>
          <p:nvPr/>
        </p:nvSpPr>
        <p:spPr>
          <a:xfrm>
            <a:off x="3526536" y="3580000"/>
            <a:ext cx="2849880" cy="14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7" name="Rounded Rectangle 916"/>
          <p:cNvSpPr/>
          <p:nvPr/>
        </p:nvSpPr>
        <p:spPr>
          <a:xfrm>
            <a:off x="3526536" y="3580000"/>
            <a:ext cx="2849880" cy="36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LINE運用ディレクター</a:t>
            </a:r>
          </a:p>
        </p:txBody>
      </p:sp>
      <p:sp>
        <p:nvSpPr>
          <p:cNvPr id="918" name="TextBox 917"/>
          <p:cNvSpPr txBox="1"/>
          <p:nvPr/>
        </p:nvSpPr>
        <p:spPr>
          <a:xfrm>
            <a:off x="3586536" y="3990000"/>
            <a:ext cx="2729880" cy="1000000"/>
          </a:xfrm>
          <a:prstGeom prst="rect">
            <a:avLst/>
          </a:prstGeom>
          <a:noFill/>
        </p:spPr>
        <p:txBody>
          <a:bodyPr wrap="square" lIns="72000" tIns="36000" rIns="72000" bIns="36000" anchor="t">
            <a:spAutoFit/>
          </a:bodyPr>
          <a:lstStyle/>
          <a:p>
            <a:pPr algn="l">
              <a:spcAft>
                <a:spcPts val="4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ステップ配信・月1企画の設計</a:t>
            </a:r>
          </a:p>
          <a:p>
            <a:pPr algn="l">
              <a:spcAft>
                <a:spcPts val="400"/>
              </a:spcAft>
            </a:pPr>
            <a:r>
              <a:rPr sz="750" b="0">
                <a:solidFill>
                  <a:srgbClr val="06C755"/>
                </a:solidFill>
                <a:latin typeface="メイリオ"/>
                <a:ea typeface="メイリオ"/>
                <a:cs typeface="メイリオ"/>
              </a:rPr>
              <a:t>● </a:t>
            </a:r>
            <a:r>
              <a:rPr sz="1050" b="0">
                <a:solidFill>
                  <a:srgbClr val="333333"/>
                </a:solidFill>
                <a:latin typeface="メイリオ"/>
                <a:ea typeface="メイリオ"/>
                <a:cs typeface="メイリオ"/>
              </a:rPr>
              <a:t>tunaと管理画面の設定、数値分析</a:t>
            </a:r>
          </a:p>
        </p:txBody>
      </p:sp>
      <p:cxnSp>
        <p:nvCxnSpPr>
          <p:cNvPr id="919" name="Connector 918"/>
          <p:cNvCxnSpPr/>
          <p:nvPr/>
        </p:nvCxnSpPr>
        <p:spPr>
          <a:xfrm>
            <a:off x="8093964" y="3380000"/>
            <a:ext cx="0" cy="200000"/>
          </a:xfrm>
          <a:prstGeom prst="line">
            <a:avLst/>
          </a:prstGeom>
          <a:ln w="19050">
            <a:solidFill>
              <a:srgbClr val="24345A"/>
            </a:solidFill>
          </a:ln>
        </p:spPr>
        <p:style>
          <a:lnRef idx="2">
            <a:schemeClr val="accent1"/>
          </a:lnRef>
          <a:fillRef idx="0">
            <a:schemeClr val="accent1"/>
          </a:fillRef>
          <a:effectRef idx="1">
            <a:schemeClr val="accent1"/>
          </a:effectRef>
          <a:fontRef idx="minor">
            <a:schemeClr val="tx1"/>
          </a:fontRef>
        </p:style>
      </p:cxnSp>
      <p:sp>
        <p:nvSpPr>
          <p:cNvPr id="920" name="Rounded Rectangle 919"/>
          <p:cNvSpPr/>
          <p:nvPr/>
        </p:nvSpPr>
        <p:spPr>
          <a:xfrm>
            <a:off x="6669024" y="3580000"/>
            <a:ext cx="2849880" cy="14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21" name="Rounded Rectangle 920"/>
          <p:cNvSpPr/>
          <p:nvPr/>
        </p:nvSpPr>
        <p:spPr>
          <a:xfrm>
            <a:off x="6669024" y="3580000"/>
            <a:ext cx="2849880" cy="36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クリエイティブ制作</a:t>
            </a:r>
          </a:p>
        </p:txBody>
      </p:sp>
      <p:sp>
        <p:nvSpPr>
          <p:cNvPr id="922" name="TextBox 921"/>
          <p:cNvSpPr txBox="1"/>
          <p:nvPr/>
        </p:nvSpPr>
        <p:spPr>
          <a:xfrm>
            <a:off x="6729024" y="3990000"/>
            <a:ext cx="2729880" cy="1000000"/>
          </a:xfrm>
          <a:prstGeom prst="rect">
            <a:avLst/>
          </a:prstGeom>
          <a:noFill/>
        </p:spPr>
        <p:txBody>
          <a:bodyPr wrap="square" lIns="72000" tIns="36000" rIns="72000" bIns="36000" anchor="t">
            <a:spAutoFit/>
          </a:bodyPr>
          <a:lstStyle/>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配信画像・リッチメニュー・バナー</a:t>
            </a:r>
          </a:p>
          <a:p>
            <a:pPr algn="l">
              <a:spcAft>
                <a:spcPts val="400"/>
              </a:spcAft>
            </a:pPr>
            <a:r>
              <a:rPr sz="750" b="0">
                <a:solidFill>
                  <a:srgbClr val="1F3A5F"/>
                </a:solidFill>
                <a:latin typeface="メイリオ"/>
                <a:ea typeface="メイリオ"/>
                <a:cs typeface="メイリオ"/>
              </a:rPr>
              <a:t>● </a:t>
            </a:r>
            <a:r>
              <a:rPr sz="1050" b="0">
                <a:solidFill>
                  <a:srgbClr val="333333"/>
                </a:solidFill>
                <a:latin typeface="メイリオ"/>
                <a:ea typeface="メイリオ"/>
                <a:cs typeface="メイリオ"/>
              </a:rPr>
              <a:t>企画ページの制作</a:t>
            </a:r>
          </a:p>
        </p:txBody>
      </p:sp>
      <p:sp>
        <p:nvSpPr>
          <p:cNvPr id="923" name="Rounded Rectangle 922"/>
          <p:cNvSpPr/>
          <p:nvPr/>
        </p:nvSpPr>
        <p:spPr>
          <a:xfrm>
            <a:off x="384048" y="5230000"/>
            <a:ext cx="9134856" cy="600000"/>
          </a:xfrm>
          <a:prstGeom prst="roundRect">
            <a:avLst>
              <a:gd name="adj" fmla="val 15000"/>
            </a:avLst>
          </a:prstGeom>
          <a:solidFill>
            <a:srgbClr val="FFFFFF"/>
          </a:solidFill>
          <a:ln w="12700">
            <a:solidFill>
              <a:srgbClr val="7F8896"/>
            </a:solidFill>
          </a:ln>
          <a:effectLst/>
        </p:spPr>
        <p:txBody>
          <a:bodyPr wrap="square" lIns="72000" tIns="36000" rIns="72000" bIns="36000" rtlCol="0" anchor="ctr"/>
          <a:lstStyle/>
          <a:p>
            <a:pPr algn="ctr"/>
            <a:r>
              <a:rPr sz="1100" b="1">
                <a:solidFill>
                  <a:srgbClr val="1F3A5F"/>
                </a:solidFill>
                <a:latin typeface="メイリオ"/>
                <a:ea typeface="メイリオ"/>
                <a:cs typeface="メイリオ"/>
              </a:rPr>
              <a:t>連携先　</a:t>
            </a:r>
            <a:r>
              <a:rPr sz="1100" b="0">
                <a:solidFill>
                  <a:srgbClr val="333333"/>
                </a:solidFill>
                <a:latin typeface="メイリオ"/>
                <a:ea typeface="メイリオ"/>
                <a:cs typeface="メイリオ"/>
              </a:rPr>
              <a:t>tuna（株式会社7garden）：仕様の確認・設定の相談はDYMが窓口となって行います</a:t>
            </a:r>
          </a:p>
        </p:txBody>
      </p:sp>
      <p:sp>
        <p:nvSpPr>
          <p:cNvPr id="924" name="TextBox 923"/>
          <p:cNvSpPr txBox="1"/>
          <p:nvPr/>
        </p:nvSpPr>
        <p:spPr>
          <a:xfrm>
            <a:off x="384048" y="5880000"/>
            <a:ext cx="9134856" cy="25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※担当者名はご契約時にご案内します</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毎月の企画は事前にご確認いただき、結果は月次レポートでご報告します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報告・連絡体制</a:t>
            </a:r>
          </a:p>
        </p:txBody>
      </p:sp>
      <p:sp>
        <p:nvSpPr>
          <p:cNvPr id="904" name="Pentagon 903"/>
          <p:cNvSpPr/>
          <p:nvPr/>
        </p:nvSpPr>
        <p:spPr>
          <a:xfrm>
            <a:off x="384048" y="1530000"/>
            <a:ext cx="1886971" cy="460000"/>
          </a:xfrm>
          <a:prstGeom prst="homePlate">
            <a:avLst>
              <a:gd name="adj" fmla="val 30000"/>
            </a:avLst>
          </a:prstGeom>
          <a:solidFill>
            <a:srgbClr val="D0D7E3"/>
          </a:solidFill>
          <a:ln>
            <a:noFill/>
          </a:ln>
          <a:effectLst/>
        </p:spPr>
        <p:txBody>
          <a:bodyPr wrap="square" lIns="72000" tIns="36000" rIns="72000" bIns="36000" rtlCol="0" anchor="ctr"/>
          <a:lstStyle/>
          <a:p>
            <a:pPr algn="ctr"/>
            <a:r>
              <a:rPr sz="1150" b="1">
                <a:solidFill>
                  <a:srgbClr val="1F3A5F"/>
                </a:solidFill>
                <a:latin typeface="メイリオ"/>
                <a:ea typeface="メイリオ"/>
                <a:cs typeface="メイリオ"/>
              </a:rPr>
              <a:t>企画のご提案</a:t>
            </a:r>
          </a:p>
        </p:txBody>
      </p:sp>
      <p:sp>
        <p:nvSpPr>
          <p:cNvPr id="905" name="TextBox 904"/>
          <p:cNvSpPr txBox="1"/>
          <p:nvPr/>
        </p:nvSpPr>
        <p:spPr>
          <a:xfrm>
            <a:off x="424048"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翌月の企画案を</a:t>
            </a:r>
          </a:p>
          <a:p>
            <a:pPr algn="ctr"/>
            <a:r>
              <a:rPr sz="1050" b="0">
                <a:solidFill>
                  <a:srgbClr val="333333"/>
                </a:solidFill>
                <a:latin typeface="メイリオ"/>
                <a:ea typeface="メイリオ"/>
                <a:cs typeface="メイリオ"/>
              </a:rPr>
              <a:t>前月中旬にご提出</a:t>
            </a:r>
          </a:p>
        </p:txBody>
      </p:sp>
      <p:sp>
        <p:nvSpPr>
          <p:cNvPr id="906" name="Chevron 905"/>
          <p:cNvSpPr/>
          <p:nvPr/>
        </p:nvSpPr>
        <p:spPr>
          <a:xfrm>
            <a:off x="2211019" y="1530000"/>
            <a:ext cx="1886971" cy="460000"/>
          </a:xfrm>
          <a:prstGeom prst="chevron">
            <a:avLst>
              <a:gd name="adj" fmla="val 30000"/>
            </a:avLst>
          </a:prstGeom>
          <a:solidFill>
            <a:srgbClr val="B9C3D3"/>
          </a:solidFill>
          <a:ln>
            <a:noFill/>
          </a:ln>
          <a:effectLst/>
        </p:spPr>
        <p:txBody>
          <a:bodyPr wrap="square" lIns="72000" tIns="36000" rIns="72000" bIns="36000" rtlCol="0" anchor="ctr"/>
          <a:lstStyle/>
          <a:p>
            <a:pPr algn="ctr"/>
            <a:r>
              <a:rPr sz="1150" b="1">
                <a:solidFill>
                  <a:srgbClr val="1F3A5F"/>
                </a:solidFill>
                <a:latin typeface="メイリオ"/>
                <a:ea typeface="メイリオ"/>
                <a:cs typeface="メイリオ"/>
              </a:rPr>
              <a:t>ご確認</a:t>
            </a:r>
          </a:p>
        </p:txBody>
      </p:sp>
      <p:sp>
        <p:nvSpPr>
          <p:cNvPr id="907" name="TextBox 906"/>
          <p:cNvSpPr txBox="1"/>
          <p:nvPr/>
        </p:nvSpPr>
        <p:spPr>
          <a:xfrm>
            <a:off x="2251019"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内容・特典・</a:t>
            </a:r>
          </a:p>
          <a:p>
            <a:pPr algn="ctr"/>
            <a:r>
              <a:rPr sz="1050" b="0">
                <a:solidFill>
                  <a:srgbClr val="333333"/>
                </a:solidFill>
                <a:latin typeface="メイリオ"/>
                <a:ea typeface="メイリオ"/>
                <a:cs typeface="メイリオ"/>
              </a:rPr>
              <a:t>配信対象のご確認</a:t>
            </a:r>
          </a:p>
        </p:txBody>
      </p:sp>
      <p:sp>
        <p:nvSpPr>
          <p:cNvPr id="908" name="Chevron 907"/>
          <p:cNvSpPr/>
          <p:nvPr/>
        </p:nvSpPr>
        <p:spPr>
          <a:xfrm>
            <a:off x="4037990" y="1530000"/>
            <a:ext cx="1886971" cy="460000"/>
          </a:xfrm>
          <a:prstGeom prst="chevron">
            <a:avLst>
              <a:gd name="adj" fmla="val 30000"/>
            </a:avLst>
          </a:prstGeom>
          <a:solidFill>
            <a:srgbClr val="A7B3C7"/>
          </a:solidFill>
          <a:ln>
            <a:noFill/>
          </a:ln>
          <a:effectLst/>
        </p:spPr>
        <p:txBody>
          <a:bodyPr wrap="square" lIns="72000" tIns="36000" rIns="72000" bIns="36000" rtlCol="0" anchor="ctr"/>
          <a:lstStyle/>
          <a:p>
            <a:pPr algn="ctr"/>
            <a:r>
              <a:rPr sz="1150" b="1">
                <a:solidFill>
                  <a:srgbClr val="1F3A5F"/>
                </a:solidFill>
                <a:latin typeface="メイリオ"/>
                <a:ea typeface="メイリオ"/>
                <a:cs typeface="メイリオ"/>
              </a:rPr>
              <a:t>制作・設定</a:t>
            </a:r>
          </a:p>
        </p:txBody>
      </p:sp>
      <p:sp>
        <p:nvSpPr>
          <p:cNvPr id="909" name="TextBox 908"/>
          <p:cNvSpPr txBox="1"/>
          <p:nvPr/>
        </p:nvSpPr>
        <p:spPr>
          <a:xfrm>
            <a:off x="4077990"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画像・文言・</a:t>
            </a:r>
          </a:p>
          <a:p>
            <a:pPr algn="ctr"/>
            <a:r>
              <a:rPr sz="1050" b="0">
                <a:solidFill>
                  <a:srgbClr val="333333"/>
                </a:solidFill>
                <a:latin typeface="メイリオ"/>
                <a:ea typeface="メイリオ"/>
                <a:cs typeface="メイリオ"/>
              </a:rPr>
              <a:t>受け皿ページを制作</a:t>
            </a:r>
          </a:p>
        </p:txBody>
      </p:sp>
      <p:sp>
        <p:nvSpPr>
          <p:cNvPr id="910" name="Chevron 909"/>
          <p:cNvSpPr/>
          <p:nvPr/>
        </p:nvSpPr>
        <p:spPr>
          <a:xfrm>
            <a:off x="5864961" y="1530000"/>
            <a:ext cx="1886971" cy="460000"/>
          </a:xfrm>
          <a:prstGeom prst="chevron">
            <a:avLst>
              <a:gd name="adj" fmla="val 30000"/>
            </a:avLst>
          </a:prstGeom>
          <a:solidFill>
            <a:srgbClr val="7F8896"/>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最終確認</a:t>
            </a:r>
          </a:p>
        </p:txBody>
      </p:sp>
      <p:sp>
        <p:nvSpPr>
          <p:cNvPr id="911" name="TextBox 910"/>
          <p:cNvSpPr txBox="1"/>
          <p:nvPr/>
        </p:nvSpPr>
        <p:spPr>
          <a:xfrm>
            <a:off x="5904961"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配信前に</a:t>
            </a:r>
          </a:p>
          <a:p>
            <a:pPr algn="ctr"/>
            <a:r>
              <a:rPr sz="1050" b="0">
                <a:solidFill>
                  <a:srgbClr val="333333"/>
                </a:solidFill>
                <a:latin typeface="メイリオ"/>
                <a:ea typeface="メイリオ"/>
                <a:cs typeface="メイリオ"/>
              </a:rPr>
              <a:t>プレビューでご確認</a:t>
            </a:r>
          </a:p>
        </p:txBody>
      </p:sp>
      <p:sp>
        <p:nvSpPr>
          <p:cNvPr id="912" name="Chevron 911"/>
          <p:cNvSpPr/>
          <p:nvPr/>
        </p:nvSpPr>
        <p:spPr>
          <a:xfrm>
            <a:off x="7691932" y="1530000"/>
            <a:ext cx="1886971" cy="460000"/>
          </a:xfrm>
          <a:prstGeom prst="chevron">
            <a:avLst>
              <a:gd name="adj" fmla="val 30000"/>
            </a:avLst>
          </a:prstGeom>
          <a:solidFill>
            <a:srgbClr val="06C755"/>
          </a:solidFill>
          <a:ln>
            <a:noFill/>
          </a:ln>
          <a:effectLst/>
        </p:spPr>
        <p:txBody>
          <a:bodyPr wrap="square" lIns="72000" tIns="36000" rIns="72000" bIns="36000" rtlCol="0" anchor="ctr"/>
          <a:lstStyle/>
          <a:p>
            <a:pPr algn="ctr"/>
            <a:r>
              <a:rPr sz="1150" b="1">
                <a:solidFill>
                  <a:srgbClr val="FFFFFF"/>
                </a:solidFill>
                <a:latin typeface="メイリオ"/>
                <a:ea typeface="メイリオ"/>
                <a:cs typeface="メイリオ"/>
              </a:rPr>
              <a:t>配信</a:t>
            </a:r>
          </a:p>
        </p:txBody>
      </p:sp>
      <p:sp>
        <p:nvSpPr>
          <p:cNvPr id="913" name="TextBox 912"/>
          <p:cNvSpPr txBox="1"/>
          <p:nvPr/>
        </p:nvSpPr>
        <p:spPr>
          <a:xfrm>
            <a:off x="7731932" y="2050000"/>
            <a:ext cx="1746971" cy="600000"/>
          </a:xfrm>
          <a:prstGeom prst="rect">
            <a:avLst/>
          </a:prstGeom>
          <a:noFill/>
        </p:spPr>
        <p:txBody>
          <a:bodyPr wrap="square" lIns="72000" tIns="36000" rIns="72000" bIns="36000" anchor="t">
            <a:spAutoFit/>
          </a:bodyPr>
          <a:lstStyle/>
          <a:p>
            <a:pPr algn="ctr"/>
            <a:r>
              <a:rPr sz="1050" b="0">
                <a:solidFill>
                  <a:srgbClr val="333333"/>
                </a:solidFill>
                <a:latin typeface="メイリオ"/>
                <a:ea typeface="メイリオ"/>
                <a:cs typeface="メイリオ"/>
              </a:rPr>
              <a:t>ラベルで出し分けて</a:t>
            </a:r>
          </a:p>
          <a:p>
            <a:pPr algn="ctr"/>
            <a:r>
              <a:rPr sz="1050" b="0">
                <a:solidFill>
                  <a:srgbClr val="333333"/>
                </a:solidFill>
                <a:latin typeface="メイリオ"/>
                <a:ea typeface="メイリオ"/>
                <a:cs typeface="メイリオ"/>
              </a:rPr>
              <a:t>配信</a:t>
            </a:r>
          </a:p>
        </p:txBody>
      </p:sp>
      <p:sp>
        <p:nvSpPr>
          <p:cNvPr id="914" name="Rounded Rectangle 913"/>
          <p:cNvSpPr/>
          <p:nvPr/>
        </p:nvSpPr>
        <p:spPr>
          <a:xfrm>
            <a:off x="384048" y="2880000"/>
            <a:ext cx="4467428" cy="23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5" name="Rounded Rectangle 914"/>
          <p:cNvSpPr/>
          <p:nvPr/>
        </p:nvSpPr>
        <p:spPr>
          <a:xfrm>
            <a:off x="384048" y="2880000"/>
            <a:ext cx="4467428" cy="40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月次レポートの項目</a:t>
            </a:r>
          </a:p>
        </p:txBody>
      </p:sp>
      <p:sp>
        <p:nvSpPr>
          <p:cNvPr id="916" name="TextBox 915"/>
          <p:cNvSpPr txBox="1"/>
          <p:nvPr/>
        </p:nvSpPr>
        <p:spPr>
          <a:xfrm>
            <a:off x="444048" y="3330000"/>
            <a:ext cx="4347428" cy="1860000"/>
          </a:xfrm>
          <a:prstGeom prst="rect">
            <a:avLst/>
          </a:prstGeom>
          <a:noFill/>
        </p:spPr>
        <p:txBody>
          <a:bodyPr wrap="square" lIns="72000" tIns="36000" rIns="72000" bIns="36000" anchor="t">
            <a:spAutoFit/>
          </a:bodyPr>
          <a:lstStyle/>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友だち数の推移・ブロック率</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配信ごとの開封・クリック</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ステップ配信の各通の反応</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クーポン利用数・LINE経由の予約数</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CPF広告の獲得数・単価</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翌月の改善点とご提案</a:t>
            </a:r>
          </a:p>
        </p:txBody>
      </p:sp>
      <p:sp>
        <p:nvSpPr>
          <p:cNvPr id="917" name="Rounded Rectangle 916"/>
          <p:cNvSpPr/>
          <p:nvPr/>
        </p:nvSpPr>
        <p:spPr>
          <a:xfrm>
            <a:off x="5051476" y="2880000"/>
            <a:ext cx="4467428" cy="235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8" name="Rounded Rectangle 917"/>
          <p:cNvSpPr/>
          <p:nvPr/>
        </p:nvSpPr>
        <p:spPr>
          <a:xfrm>
            <a:off x="5051476" y="2880000"/>
            <a:ext cx="4467428" cy="40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ご連絡・お打ち合わせ</a:t>
            </a:r>
          </a:p>
        </p:txBody>
      </p:sp>
      <p:sp>
        <p:nvSpPr>
          <p:cNvPr id="919" name="TextBox 918"/>
          <p:cNvSpPr txBox="1"/>
          <p:nvPr/>
        </p:nvSpPr>
        <p:spPr>
          <a:xfrm>
            <a:off x="5111476" y="3330000"/>
            <a:ext cx="4347428" cy="1860000"/>
          </a:xfrm>
          <a:prstGeom prst="rect">
            <a:avLst/>
          </a:prstGeom>
          <a:noFill/>
        </p:spPr>
        <p:txBody>
          <a:bodyPr wrap="square" lIns="72000" tIns="36000" rIns="72000" bIns="36000" anchor="t">
            <a:spAutoFit/>
          </a:bodyPr>
          <a:lstStyle/>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日常のご連絡：チャットまたはメール（御社のご希望のツールに合わせます）</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月次レポート：毎月、前月分をご提出</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定例ミーティング：オプション（ご希望に応じて）</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急ぎの配信停止・修正もご連絡いただければ対応します</a:t>
            </a:r>
          </a:p>
        </p:txBody>
      </p:sp>
      <p:sp>
        <p:nvSpPr>
          <p:cNvPr id="920" name="Rounded Rectangle 919"/>
          <p:cNvSpPr/>
          <p:nvPr/>
        </p:nvSpPr>
        <p:spPr>
          <a:xfrm>
            <a:off x="384048" y="5430000"/>
            <a:ext cx="9134856" cy="45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御社のご担当者様の作業は「企画と配信前のご確認」が中心です</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11月に構築を終え、12月から配信を開始。6ヶ月目に振り返りと次期のご提案を行います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スケジュール（11月構築・12月スタート）</a:t>
            </a:r>
          </a:p>
        </p:txBody>
      </p:sp>
      <p:sp>
        <p:nvSpPr>
          <p:cNvPr id="904" name="Rounded Rectangle 903"/>
          <p:cNvSpPr/>
          <p:nvPr/>
        </p:nvSpPr>
        <p:spPr>
          <a:xfrm>
            <a:off x="2499048"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11月</a:t>
            </a:r>
          </a:p>
        </p:txBody>
      </p:sp>
      <p:sp>
        <p:nvSpPr>
          <p:cNvPr id="905" name="Rounded Rectangle 904"/>
          <p:cNvSpPr/>
          <p:nvPr/>
        </p:nvSpPr>
        <p:spPr>
          <a:xfrm>
            <a:off x="3504027"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12月</a:t>
            </a:r>
          </a:p>
        </p:txBody>
      </p:sp>
      <p:sp>
        <p:nvSpPr>
          <p:cNvPr id="906" name="Rounded Rectangle 905"/>
          <p:cNvSpPr/>
          <p:nvPr/>
        </p:nvSpPr>
        <p:spPr>
          <a:xfrm>
            <a:off x="4509006"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1月</a:t>
            </a:r>
          </a:p>
        </p:txBody>
      </p:sp>
      <p:sp>
        <p:nvSpPr>
          <p:cNvPr id="907" name="Rounded Rectangle 906"/>
          <p:cNvSpPr/>
          <p:nvPr/>
        </p:nvSpPr>
        <p:spPr>
          <a:xfrm>
            <a:off x="5513985"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2月</a:t>
            </a:r>
          </a:p>
        </p:txBody>
      </p:sp>
      <p:sp>
        <p:nvSpPr>
          <p:cNvPr id="908" name="Rounded Rectangle 907"/>
          <p:cNvSpPr/>
          <p:nvPr/>
        </p:nvSpPr>
        <p:spPr>
          <a:xfrm>
            <a:off x="6518964" y="1530000"/>
            <a:ext cx="974979" cy="38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3月</a:t>
            </a:r>
          </a:p>
        </p:txBody>
      </p:sp>
      <p:sp>
        <p:nvSpPr>
          <p:cNvPr id="909" name="Rounded Rectangle 908"/>
          <p:cNvSpPr/>
          <p:nvPr/>
        </p:nvSpPr>
        <p:spPr>
          <a:xfrm>
            <a:off x="7523943" y="1530000"/>
            <a:ext cx="974979" cy="380000"/>
          </a:xfrm>
          <a:prstGeom prst="roundRect">
            <a:avLst>
              <a:gd name="adj" fmla="val 30000"/>
            </a:avLst>
          </a:prstGeom>
          <a:solidFill>
            <a:srgbClr val="06C755"/>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4月</a:t>
            </a:r>
          </a:p>
        </p:txBody>
      </p:sp>
      <p:sp>
        <p:nvSpPr>
          <p:cNvPr id="910" name="Rounded Rectangle 909"/>
          <p:cNvSpPr/>
          <p:nvPr/>
        </p:nvSpPr>
        <p:spPr>
          <a:xfrm>
            <a:off x="8528922" y="1530000"/>
            <a:ext cx="974979" cy="380000"/>
          </a:xfrm>
          <a:prstGeom prst="roundRect">
            <a:avLst>
              <a:gd name="adj" fmla="val 30000"/>
            </a:avLst>
          </a:prstGeom>
          <a:solidFill>
            <a:srgbClr val="1F3A5F"/>
          </a:solidFill>
          <a:ln>
            <a:noFill/>
          </a:ln>
          <a:effectLst/>
        </p:spPr>
        <p:txBody>
          <a:bodyPr wrap="square" lIns="72000" tIns="36000" rIns="72000" bIns="36000" rtlCol="0" anchor="ctr"/>
          <a:lstStyle/>
          <a:p>
            <a:pPr algn="ctr"/>
            <a:r>
              <a:rPr sz="1200" b="1">
                <a:solidFill>
                  <a:srgbClr val="FFFFFF"/>
                </a:solidFill>
                <a:latin typeface="メイリオ"/>
                <a:ea typeface="メイリオ"/>
                <a:cs typeface="メイリオ"/>
              </a:rPr>
              <a:t>5月</a:t>
            </a:r>
          </a:p>
        </p:txBody>
      </p:sp>
      <p:sp>
        <p:nvSpPr>
          <p:cNvPr id="911" name="Rectangle 910"/>
          <p:cNvSpPr/>
          <p:nvPr/>
        </p:nvSpPr>
        <p:spPr>
          <a:xfrm>
            <a:off x="384048" y="2050000"/>
            <a:ext cx="9134856" cy="560000"/>
          </a:xfrm>
          <a:prstGeom prst="rect">
            <a:avLst/>
          </a:prstGeom>
          <a:solidFill>
            <a:srgbClr val="F2F5F9"/>
          </a:solidFill>
          <a:ln>
            <a:noFill/>
          </a:ln>
          <a:effectLst/>
        </p:spPr>
        <p:txBody>
          <a:bodyPr rtlCol="0" anchor="ctr"/>
          <a:lstStyle/>
          <a:p>
            <a:pPr algn="ctr"/>
            <a:endParaRPr/>
          </a:p>
        </p:txBody>
      </p:sp>
      <p:sp>
        <p:nvSpPr>
          <p:cNvPr id="912" name="TextBox 911"/>
          <p:cNvSpPr txBox="1"/>
          <p:nvPr/>
        </p:nvSpPr>
        <p:spPr>
          <a:xfrm>
            <a:off x="384048" y="20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ご契約・現状診断</a:t>
            </a:r>
          </a:p>
        </p:txBody>
      </p:sp>
      <p:sp>
        <p:nvSpPr>
          <p:cNvPr id="913" name="Rounded Rectangle 912"/>
          <p:cNvSpPr/>
          <p:nvPr/>
        </p:nvSpPr>
        <p:spPr>
          <a:xfrm>
            <a:off x="2514048" y="2160000"/>
            <a:ext cx="944979" cy="340000"/>
          </a:xfrm>
          <a:prstGeom prst="roundRect">
            <a:avLst>
              <a:gd name="adj" fmla="val 40000"/>
            </a:avLst>
          </a:prstGeom>
          <a:solidFill>
            <a:srgbClr val="24345A"/>
          </a:solidFill>
          <a:ln>
            <a:noFill/>
          </a:ln>
          <a:effectLst/>
        </p:spPr>
        <p:txBody>
          <a:bodyPr wrap="square" lIns="72000" tIns="36000" rIns="72000" bIns="36000" rtlCol="0" anchor="ctr"/>
          <a:lstStyle/>
          <a:p>
            <a:pPr algn="ctr"/>
            <a:endParaRPr/>
          </a:p>
        </p:txBody>
      </p:sp>
      <p:sp>
        <p:nvSpPr>
          <p:cNvPr id="914" name="TextBox 913"/>
          <p:cNvSpPr txBox="1"/>
          <p:nvPr/>
        </p:nvSpPr>
        <p:spPr>
          <a:xfrm>
            <a:off x="3529027" y="2050000"/>
            <a:ext cx="3014937" cy="560000"/>
          </a:xfrm>
          <a:prstGeom prst="rect">
            <a:avLst/>
          </a:prstGeom>
          <a:noFill/>
        </p:spPr>
        <p:txBody>
          <a:bodyPr wrap="square" lIns="72000" tIns="36000" rIns="72000" bIns="36000" anchor="ctr">
            <a:spAutoFit/>
          </a:bodyPr>
          <a:lstStyle/>
          <a:p>
            <a:pPr algn="l"/>
            <a:r>
              <a:rPr sz="950" b="0">
                <a:solidFill>
                  <a:srgbClr val="555555"/>
                </a:solidFill>
                <a:latin typeface="メイリオ"/>
                <a:ea typeface="メイリオ"/>
                <a:cs typeface="メイリオ"/>
              </a:rPr>
              <a:t>tunaと管理画面のデータ確認</a:t>
            </a:r>
          </a:p>
        </p:txBody>
      </p:sp>
      <p:sp>
        <p:nvSpPr>
          <p:cNvPr id="915" name="Rectangle 914"/>
          <p:cNvSpPr/>
          <p:nvPr/>
        </p:nvSpPr>
        <p:spPr>
          <a:xfrm>
            <a:off x="384048" y="2650000"/>
            <a:ext cx="9134856" cy="560000"/>
          </a:xfrm>
          <a:prstGeom prst="rect">
            <a:avLst/>
          </a:prstGeom>
          <a:solidFill>
            <a:srgbClr val="FFFFFF"/>
          </a:solidFill>
          <a:ln>
            <a:noFill/>
          </a:ln>
          <a:effectLst/>
        </p:spPr>
        <p:txBody>
          <a:bodyPr rtlCol="0" anchor="ctr"/>
          <a:lstStyle/>
          <a:p>
            <a:pPr algn="ctr"/>
            <a:endParaRPr/>
          </a:p>
        </p:txBody>
      </p:sp>
      <p:sp>
        <p:nvSpPr>
          <p:cNvPr id="916" name="TextBox 915"/>
          <p:cNvSpPr txBox="1"/>
          <p:nvPr/>
        </p:nvSpPr>
        <p:spPr>
          <a:xfrm>
            <a:off x="384048" y="26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設計・制作・設定</a:t>
            </a:r>
          </a:p>
        </p:txBody>
      </p:sp>
      <p:sp>
        <p:nvSpPr>
          <p:cNvPr id="917" name="Rounded Rectangle 916"/>
          <p:cNvSpPr/>
          <p:nvPr/>
        </p:nvSpPr>
        <p:spPr>
          <a:xfrm>
            <a:off x="2514048" y="2760000"/>
            <a:ext cx="944979" cy="340000"/>
          </a:xfrm>
          <a:prstGeom prst="roundRect">
            <a:avLst>
              <a:gd name="adj" fmla="val 40000"/>
            </a:avLst>
          </a:prstGeom>
          <a:solidFill>
            <a:srgbClr val="24345A"/>
          </a:solidFill>
          <a:ln>
            <a:noFill/>
          </a:ln>
          <a:effectLst/>
        </p:spPr>
        <p:txBody>
          <a:bodyPr wrap="square" lIns="72000" tIns="36000" rIns="72000" bIns="36000" rtlCol="0" anchor="ctr"/>
          <a:lstStyle/>
          <a:p>
            <a:pPr algn="ctr"/>
            <a:endParaRPr/>
          </a:p>
        </p:txBody>
      </p:sp>
      <p:sp>
        <p:nvSpPr>
          <p:cNvPr id="918" name="TextBox 917"/>
          <p:cNvSpPr txBox="1"/>
          <p:nvPr/>
        </p:nvSpPr>
        <p:spPr>
          <a:xfrm>
            <a:off x="3529027" y="2650000"/>
            <a:ext cx="3014937" cy="560000"/>
          </a:xfrm>
          <a:prstGeom prst="rect">
            <a:avLst/>
          </a:prstGeom>
          <a:noFill/>
        </p:spPr>
        <p:txBody>
          <a:bodyPr wrap="square" lIns="72000" tIns="36000" rIns="72000" bIns="36000" anchor="ctr">
            <a:spAutoFit/>
          </a:bodyPr>
          <a:lstStyle/>
          <a:p>
            <a:pPr algn="l"/>
            <a:r>
              <a:rPr sz="950" b="0">
                <a:solidFill>
                  <a:srgbClr val="555555"/>
                </a:solidFill>
                <a:latin typeface="メイリオ"/>
                <a:ea typeface="メイリオ"/>
                <a:cs typeface="メイリオ"/>
              </a:rPr>
              <a:t>あいさつ・ステップ・リッチメニュー</a:t>
            </a:r>
          </a:p>
        </p:txBody>
      </p:sp>
      <p:sp>
        <p:nvSpPr>
          <p:cNvPr id="919" name="Rectangle 918"/>
          <p:cNvSpPr/>
          <p:nvPr/>
        </p:nvSpPr>
        <p:spPr>
          <a:xfrm>
            <a:off x="384048" y="3250000"/>
            <a:ext cx="9134856" cy="560000"/>
          </a:xfrm>
          <a:prstGeom prst="rect">
            <a:avLst/>
          </a:prstGeom>
          <a:solidFill>
            <a:srgbClr val="F2F5F9"/>
          </a:solidFill>
          <a:ln>
            <a:noFill/>
          </a:ln>
          <a:effectLst/>
        </p:spPr>
        <p:txBody>
          <a:bodyPr rtlCol="0" anchor="ctr"/>
          <a:lstStyle/>
          <a:p>
            <a:pPr algn="ctr"/>
            <a:endParaRPr/>
          </a:p>
        </p:txBody>
      </p:sp>
      <p:sp>
        <p:nvSpPr>
          <p:cNvPr id="920" name="TextBox 919"/>
          <p:cNvSpPr txBox="1"/>
          <p:nvPr/>
        </p:nvSpPr>
        <p:spPr>
          <a:xfrm>
            <a:off x="384048" y="32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ステップ配信の公開</a:t>
            </a:r>
          </a:p>
        </p:txBody>
      </p:sp>
      <p:sp>
        <p:nvSpPr>
          <p:cNvPr id="921" name="Rounded Rectangle 920"/>
          <p:cNvSpPr/>
          <p:nvPr/>
        </p:nvSpPr>
        <p:spPr>
          <a:xfrm>
            <a:off x="3519027" y="3360000"/>
            <a:ext cx="5969874" cy="340000"/>
          </a:xfrm>
          <a:prstGeom prst="roundRect">
            <a:avLst>
              <a:gd name="adj" fmla="val 40000"/>
            </a:avLst>
          </a:prstGeom>
          <a:solidFill>
            <a:srgbClr val="24345A"/>
          </a:solidFill>
          <a:ln>
            <a:noFill/>
          </a:ln>
          <a:effectLst/>
        </p:spPr>
        <p:txBody>
          <a:bodyPr wrap="square" lIns="72000" tIns="36000" rIns="72000" bIns="36000" rtlCol="0" anchor="ctr"/>
          <a:lstStyle/>
          <a:p>
            <a:pPr algn="ctr"/>
            <a:r>
              <a:rPr sz="950" b="0">
                <a:solidFill>
                  <a:srgbClr val="FFFFFF"/>
                </a:solidFill>
                <a:latin typeface="メイリオ"/>
                <a:ea typeface="メイリオ"/>
                <a:cs typeface="メイリオ"/>
              </a:rPr>
              <a:t>公開後は月1回の改善</a:t>
            </a:r>
          </a:p>
        </p:txBody>
      </p:sp>
      <p:sp>
        <p:nvSpPr>
          <p:cNvPr id="922" name="Rectangle 921"/>
          <p:cNvSpPr/>
          <p:nvPr/>
        </p:nvSpPr>
        <p:spPr>
          <a:xfrm>
            <a:off x="384048" y="3850000"/>
            <a:ext cx="9134856" cy="560000"/>
          </a:xfrm>
          <a:prstGeom prst="rect">
            <a:avLst/>
          </a:prstGeom>
          <a:solidFill>
            <a:srgbClr val="FFFFFF"/>
          </a:solidFill>
          <a:ln>
            <a:noFill/>
          </a:ln>
          <a:effectLst/>
        </p:spPr>
        <p:txBody>
          <a:bodyPr rtlCol="0" anchor="ctr"/>
          <a:lstStyle/>
          <a:p>
            <a:pPr algn="ctr"/>
            <a:endParaRPr/>
          </a:p>
        </p:txBody>
      </p:sp>
      <p:sp>
        <p:nvSpPr>
          <p:cNvPr id="923" name="TextBox 922"/>
          <p:cNvSpPr txBox="1"/>
          <p:nvPr/>
        </p:nvSpPr>
        <p:spPr>
          <a:xfrm>
            <a:off x="384048" y="38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月1企画投稿</a:t>
            </a:r>
          </a:p>
        </p:txBody>
      </p:sp>
      <p:sp>
        <p:nvSpPr>
          <p:cNvPr id="924" name="Rounded Rectangle 923"/>
          <p:cNvSpPr/>
          <p:nvPr/>
        </p:nvSpPr>
        <p:spPr>
          <a:xfrm>
            <a:off x="3519027" y="3960000"/>
            <a:ext cx="5969874" cy="340000"/>
          </a:xfrm>
          <a:prstGeom prst="roundRect">
            <a:avLst>
              <a:gd name="adj" fmla="val 40000"/>
            </a:avLst>
          </a:prstGeom>
          <a:solidFill>
            <a:srgbClr val="06C755"/>
          </a:solidFill>
          <a:ln>
            <a:noFill/>
          </a:ln>
          <a:effectLst/>
        </p:spPr>
        <p:txBody>
          <a:bodyPr wrap="square" lIns="72000" tIns="36000" rIns="72000" bIns="36000" rtlCol="0" anchor="ctr"/>
          <a:lstStyle/>
          <a:p>
            <a:pPr algn="ctr"/>
            <a:r>
              <a:rPr sz="950" b="0">
                <a:solidFill>
                  <a:srgbClr val="FFFFFF"/>
                </a:solidFill>
                <a:latin typeface="メイリオ"/>
                <a:ea typeface="メイリオ"/>
                <a:cs typeface="メイリオ"/>
              </a:rPr>
              <a:t>毎月1本</a:t>
            </a:r>
          </a:p>
        </p:txBody>
      </p:sp>
      <p:sp>
        <p:nvSpPr>
          <p:cNvPr id="925" name="Rectangle 924"/>
          <p:cNvSpPr/>
          <p:nvPr/>
        </p:nvSpPr>
        <p:spPr>
          <a:xfrm>
            <a:off x="384048" y="4450000"/>
            <a:ext cx="9134856" cy="560000"/>
          </a:xfrm>
          <a:prstGeom prst="rect">
            <a:avLst/>
          </a:prstGeom>
          <a:solidFill>
            <a:srgbClr val="F2F5F9"/>
          </a:solidFill>
          <a:ln>
            <a:noFill/>
          </a:ln>
          <a:effectLst/>
        </p:spPr>
        <p:txBody>
          <a:bodyPr rtlCol="0" anchor="ctr"/>
          <a:lstStyle/>
          <a:p>
            <a:pPr algn="ctr"/>
            <a:endParaRPr/>
          </a:p>
        </p:txBody>
      </p:sp>
      <p:sp>
        <p:nvSpPr>
          <p:cNvPr id="926" name="TextBox 925"/>
          <p:cNvSpPr txBox="1"/>
          <p:nvPr/>
        </p:nvSpPr>
        <p:spPr>
          <a:xfrm>
            <a:off x="384048" y="44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月次レポート</a:t>
            </a:r>
          </a:p>
        </p:txBody>
      </p:sp>
      <p:sp>
        <p:nvSpPr>
          <p:cNvPr id="927" name="Rounded Rectangle 926"/>
          <p:cNvSpPr/>
          <p:nvPr/>
        </p:nvSpPr>
        <p:spPr>
          <a:xfrm>
            <a:off x="4524006" y="4560000"/>
            <a:ext cx="4964895" cy="340000"/>
          </a:xfrm>
          <a:prstGeom prst="roundRect">
            <a:avLst>
              <a:gd name="adj" fmla="val 40000"/>
            </a:avLst>
          </a:prstGeom>
          <a:solidFill>
            <a:srgbClr val="24345A"/>
          </a:solidFill>
          <a:ln>
            <a:noFill/>
          </a:ln>
          <a:effectLst/>
        </p:spPr>
        <p:txBody>
          <a:bodyPr wrap="square" lIns="72000" tIns="36000" rIns="72000" bIns="36000" rtlCol="0" anchor="ctr"/>
          <a:lstStyle/>
          <a:p>
            <a:pPr algn="ctr"/>
            <a:r>
              <a:rPr sz="950" b="0">
                <a:solidFill>
                  <a:srgbClr val="FFFFFF"/>
                </a:solidFill>
                <a:latin typeface="メイリオ"/>
                <a:ea typeface="メイリオ"/>
                <a:cs typeface="メイリオ"/>
              </a:rPr>
              <a:t>前月分を毎月ご報告</a:t>
            </a:r>
          </a:p>
        </p:txBody>
      </p:sp>
      <p:sp>
        <p:nvSpPr>
          <p:cNvPr id="928" name="Rectangle 927"/>
          <p:cNvSpPr/>
          <p:nvPr/>
        </p:nvSpPr>
        <p:spPr>
          <a:xfrm>
            <a:off x="384048" y="5050000"/>
            <a:ext cx="9134856" cy="560000"/>
          </a:xfrm>
          <a:prstGeom prst="rect">
            <a:avLst/>
          </a:prstGeom>
          <a:solidFill>
            <a:srgbClr val="FFFFFF"/>
          </a:solidFill>
          <a:ln>
            <a:noFill/>
          </a:ln>
          <a:effectLst/>
        </p:spPr>
        <p:txBody>
          <a:bodyPr rtlCol="0" anchor="ctr"/>
          <a:lstStyle/>
          <a:p>
            <a:pPr algn="ctr"/>
            <a:endParaRPr/>
          </a:p>
        </p:txBody>
      </p:sp>
      <p:sp>
        <p:nvSpPr>
          <p:cNvPr id="929" name="TextBox 928"/>
          <p:cNvSpPr txBox="1"/>
          <p:nvPr/>
        </p:nvSpPr>
        <p:spPr>
          <a:xfrm>
            <a:off x="384048" y="5050000"/>
            <a:ext cx="2100000" cy="560000"/>
          </a:xfrm>
          <a:prstGeom prst="rect">
            <a:avLst/>
          </a:prstGeom>
          <a:noFill/>
        </p:spPr>
        <p:txBody>
          <a:bodyPr wrap="square" lIns="72000" tIns="36000" rIns="72000" bIns="36000" anchor="ctr">
            <a:spAutoFit/>
          </a:bodyPr>
          <a:lstStyle/>
          <a:p>
            <a:pPr algn="l"/>
            <a:r>
              <a:rPr sz="1100" b="1">
                <a:solidFill>
                  <a:srgbClr val="1F3A5F"/>
                </a:solidFill>
                <a:latin typeface="メイリオ"/>
                <a:ea typeface="メイリオ"/>
                <a:cs typeface="メイリオ"/>
              </a:rPr>
              <a:t>振り返り・次期ご提案</a:t>
            </a:r>
          </a:p>
        </p:txBody>
      </p:sp>
      <p:sp>
        <p:nvSpPr>
          <p:cNvPr id="930" name="Rounded Rectangle 929"/>
          <p:cNvSpPr/>
          <p:nvPr/>
        </p:nvSpPr>
        <p:spPr>
          <a:xfrm>
            <a:off x="8543922" y="5160000"/>
            <a:ext cx="944979" cy="340000"/>
          </a:xfrm>
          <a:prstGeom prst="roundRect">
            <a:avLst>
              <a:gd name="adj" fmla="val 40000"/>
            </a:avLst>
          </a:prstGeom>
          <a:solidFill>
            <a:srgbClr val="24345A"/>
          </a:solidFill>
          <a:ln>
            <a:noFill/>
          </a:ln>
          <a:effectLst/>
        </p:spPr>
        <p:txBody>
          <a:bodyPr wrap="square" lIns="72000" tIns="36000" rIns="72000" bIns="36000" rtlCol="0" anchor="ctr"/>
          <a:lstStyle/>
          <a:p>
            <a:pPr algn="ctr"/>
            <a:endParaRPr/>
          </a:p>
        </p:txBody>
      </p:sp>
      <p:sp>
        <p:nvSpPr>
          <p:cNvPr id="931" name="TextBox 930"/>
          <p:cNvSpPr txBox="1"/>
          <p:nvPr/>
        </p:nvSpPr>
        <p:spPr>
          <a:xfrm>
            <a:off x="2514048" y="5050000"/>
            <a:ext cx="5969874" cy="560000"/>
          </a:xfrm>
          <a:prstGeom prst="rect">
            <a:avLst/>
          </a:prstGeom>
          <a:noFill/>
        </p:spPr>
        <p:txBody>
          <a:bodyPr wrap="square" lIns="72000" tIns="36000" rIns="72000" bIns="36000" anchor="ctr">
            <a:spAutoFit/>
          </a:bodyPr>
          <a:lstStyle/>
          <a:p>
            <a:pPr algn="r"/>
            <a:r>
              <a:rPr sz="950" b="0">
                <a:solidFill>
                  <a:srgbClr val="555555"/>
                </a:solidFill>
                <a:latin typeface="メイリオ"/>
                <a:ea typeface="メイリオ"/>
                <a:cs typeface="メイリオ"/>
              </a:rPr>
              <a:t>半年の成果と次の打ち手</a:t>
            </a:r>
          </a:p>
        </p:txBody>
      </p:sp>
      <p:sp>
        <p:nvSpPr>
          <p:cNvPr id="932" name="TextBox 931"/>
          <p:cNvSpPr txBox="1"/>
          <p:nvPr/>
        </p:nvSpPr>
        <p:spPr>
          <a:xfrm>
            <a:off x="384048" y="5730000"/>
            <a:ext cx="9134856" cy="30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※緑の月（3〜4月）はGW予約のピーク。CPFの配分を寄せるオプションもご提案できます</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384048" y="2350000"/>
            <a:ext cx="9134856" cy="360000"/>
          </a:xfrm>
          <a:prstGeom prst="rect">
            <a:avLst/>
          </a:prstGeom>
          <a:noFill/>
        </p:spPr>
        <p:txBody>
          <a:bodyPr wrap="square" lIns="72000" tIns="36000" rIns="72000" bIns="36000" anchor="ctr">
            <a:spAutoFit/>
          </a:bodyPr>
          <a:lstStyle/>
          <a:p>
            <a:pPr algn="ctr"/>
            <a:r>
              <a:rPr sz="1200" b="1">
                <a:solidFill>
                  <a:srgbClr val="7F8896"/>
                </a:solidFill>
                <a:latin typeface="メイリオ"/>
                <a:ea typeface="メイリオ"/>
                <a:cs typeface="メイリオ"/>
              </a:rPr>
              <a:t>SECTION 5</a:t>
            </a:r>
          </a:p>
        </p:txBody>
      </p:sp>
      <p:sp>
        <p:nvSpPr>
          <p:cNvPr id="4" name="TextBox 3"/>
          <p:cNvSpPr txBox="1"/>
          <p:nvPr/>
        </p:nvSpPr>
        <p:spPr>
          <a:xfrm>
            <a:off x="384048" y="2750000"/>
            <a:ext cx="9134856" cy="700000"/>
          </a:xfrm>
          <a:prstGeom prst="rect">
            <a:avLst/>
          </a:prstGeom>
          <a:noFill/>
        </p:spPr>
        <p:txBody>
          <a:bodyPr wrap="square" lIns="72000" tIns="36000" rIns="72000" bIns="36000" anchor="ctr">
            <a:spAutoFit/>
          </a:bodyPr>
          <a:lstStyle/>
          <a:p>
            <a:pPr algn="ctr"/>
            <a:r>
              <a:rPr sz="3200" b="1">
                <a:solidFill>
                  <a:srgbClr val="404040"/>
                </a:solidFill>
                <a:latin typeface="メイリオ"/>
                <a:ea typeface="メイリオ"/>
                <a:cs typeface="メイリオ"/>
              </a:rPr>
              <a:t>費用・次のステップ</a:t>
            </a:r>
          </a:p>
        </p:txBody>
      </p:sp>
      <p:sp>
        <p:nvSpPr>
          <p:cNvPr id="5" name="TextBox 4"/>
          <p:cNvSpPr txBox="1"/>
          <p:nvPr/>
        </p:nvSpPr>
        <p:spPr>
          <a:xfrm>
            <a:off x="384048" y="3500000"/>
            <a:ext cx="9134856" cy="400000"/>
          </a:xfrm>
          <a:prstGeom prst="rect">
            <a:avLst/>
          </a:prstGeom>
          <a:noFill/>
        </p:spPr>
        <p:txBody>
          <a:bodyPr wrap="square" lIns="72000" tIns="36000" rIns="72000" bIns="36000" anchor="ctr">
            <a:spAutoFit/>
          </a:bodyPr>
          <a:lstStyle/>
          <a:p>
            <a:pPr algn="ctr"/>
            <a:r>
              <a:rPr sz="1300" b="0">
                <a:solidFill>
                  <a:srgbClr val="7F7F7F"/>
                </a:solidFill>
                <a:latin typeface="メイリオ"/>
                <a:ea typeface="メイリオ"/>
                <a:cs typeface="メイリオ"/>
              </a:rPr>
              <a:t>初期構築25万円＋月額20万円（現状と同額）</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LeadBand"/>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endParaRPr lang="ja-JP"/>
          </a:p>
        </p:txBody>
      </p:sp>
      <p:cxnSp>
        <p:nvCxnSpPr>
          <p:cNvPr id="901" name="LeadBandLine"/>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902" name="TextBox 901"/>
          <p:cNvSpPr txBox="1"/>
          <p:nvPr/>
        </p:nvSpPr>
        <p:spPr>
          <a:xfrm>
            <a:off x="379976" y="635062"/>
            <a:ext cx="9160881" cy="698492"/>
          </a:xfrm>
          <a:prstGeom prst="rect">
            <a:avLst/>
          </a:prstGeom>
          <a:noFill/>
        </p:spPr>
        <p:txBody>
          <a:bodyPr wrap="square" lIns="72000" tIns="36000" rIns="72000" bIns="36000" anchor="ctr">
            <a:spAutoFit/>
          </a:bodyPr>
          <a:lstStyle/>
          <a:p>
            <a:pPr algn="ctr"/>
            <a:r>
              <a:rPr sz="1200" b="0">
                <a:solidFill>
                  <a:srgbClr val="333333"/>
                </a:solidFill>
                <a:latin typeface="メイリオ"/>
                <a:ea typeface="メイリオ"/>
                <a:cs typeface="メイリオ"/>
              </a:rPr>
              <a:t>初期構築25万円（一回）と、月額20万円（運用10万円＋CPF10万円）です</a:t>
            </a:r>
          </a:p>
        </p:txBody>
      </p:sp>
      <p:sp>
        <p:nvSpPr>
          <p:cNvPr id="903" name="TextBox 902"/>
          <p:cNvSpPr txBox="1"/>
          <p:nvPr/>
        </p:nvSpPr>
        <p:spPr>
          <a:xfrm>
            <a:off x="548883" y="138118"/>
            <a:ext cx="7900000" cy="338554"/>
          </a:xfrm>
          <a:prstGeom prst="rect">
            <a:avLst/>
          </a:prstGeom>
          <a:noFill/>
        </p:spPr>
        <p:txBody>
          <a:bodyPr wrap="square" lIns="72000" tIns="0" rIns="72000" bIns="0" anchor="ctr">
            <a:spAutoFit/>
          </a:bodyPr>
          <a:lstStyle/>
          <a:p>
            <a:pPr algn="l"/>
            <a:r>
              <a:rPr sz="1600" b="1">
                <a:solidFill>
                  <a:srgbClr val="002060"/>
                </a:solidFill>
                <a:latin typeface="メイリオ"/>
                <a:ea typeface="メイリオ"/>
                <a:cs typeface="メイリオ"/>
              </a:rPr>
              <a:t>費用</a:t>
            </a:r>
          </a:p>
        </p:txBody>
      </p:sp>
      <p:sp>
        <p:nvSpPr>
          <p:cNvPr id="904" name="Rounded Rectangle 903"/>
          <p:cNvSpPr/>
          <p:nvPr/>
        </p:nvSpPr>
        <p:spPr>
          <a:xfrm>
            <a:off x="384048" y="1630000"/>
            <a:ext cx="2849880" cy="27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5" name="Rounded Rectangle 904"/>
          <p:cNvSpPr/>
          <p:nvPr/>
        </p:nvSpPr>
        <p:spPr>
          <a:xfrm>
            <a:off x="384048" y="1630000"/>
            <a:ext cx="2849880" cy="42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初期構築（一回）</a:t>
            </a:r>
          </a:p>
        </p:txBody>
      </p:sp>
      <p:sp>
        <p:nvSpPr>
          <p:cNvPr id="906" name="TextBox 905"/>
          <p:cNvSpPr txBox="1"/>
          <p:nvPr/>
        </p:nvSpPr>
        <p:spPr>
          <a:xfrm>
            <a:off x="384048" y="2180000"/>
            <a:ext cx="2849880" cy="7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25</a:t>
            </a:r>
            <a:r>
              <a:rPr sz="1400" b="1">
                <a:solidFill>
                  <a:srgbClr val="C00000"/>
                </a:solidFill>
                <a:latin typeface="メイリオ"/>
                <a:ea typeface="メイリオ"/>
                <a:cs typeface="メイリオ"/>
              </a:rPr>
              <a:t>万円</a:t>
            </a:r>
          </a:p>
        </p:txBody>
      </p:sp>
      <p:sp>
        <p:nvSpPr>
          <p:cNvPr id="907" name="TextBox 906"/>
          <p:cNvSpPr txBox="1"/>
          <p:nvPr/>
        </p:nvSpPr>
        <p:spPr>
          <a:xfrm>
            <a:off x="504048" y="3030000"/>
            <a:ext cx="2609880" cy="1800000"/>
          </a:xfrm>
          <a:prstGeom prst="rect">
            <a:avLst/>
          </a:prstGeom>
          <a:noFill/>
        </p:spPr>
        <p:txBody>
          <a:bodyPr wrap="square" lIns="72000" tIns="36000" rIns="72000" bIns="36000" anchor="t">
            <a:spAutoFit/>
          </a:bodyPr>
          <a:lstStyle/>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あいさつ・ステップ配信・リッチメニュー</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tunaのラベル設計・宿泊後の配信</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会員登録カードの作り直し</a:t>
            </a:r>
          </a:p>
        </p:txBody>
      </p:sp>
      <p:sp>
        <p:nvSpPr>
          <p:cNvPr id="908" name="Rounded Rectangle 907"/>
          <p:cNvSpPr/>
          <p:nvPr/>
        </p:nvSpPr>
        <p:spPr>
          <a:xfrm>
            <a:off x="3526536" y="1630000"/>
            <a:ext cx="2849880" cy="27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09" name="Rounded Rectangle 908"/>
          <p:cNvSpPr/>
          <p:nvPr/>
        </p:nvSpPr>
        <p:spPr>
          <a:xfrm>
            <a:off x="3526536" y="1630000"/>
            <a:ext cx="2849880" cy="420000"/>
          </a:xfrm>
          <a:prstGeom prst="roundRect">
            <a:avLst>
              <a:gd name="adj" fmla="val 20000"/>
            </a:avLst>
          </a:prstGeom>
          <a:solidFill>
            <a:srgbClr val="06C755"/>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運用（月額）</a:t>
            </a:r>
          </a:p>
        </p:txBody>
      </p:sp>
      <p:sp>
        <p:nvSpPr>
          <p:cNvPr id="910" name="TextBox 909"/>
          <p:cNvSpPr txBox="1"/>
          <p:nvPr/>
        </p:nvSpPr>
        <p:spPr>
          <a:xfrm>
            <a:off x="3526536" y="2180000"/>
            <a:ext cx="2849880" cy="7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10</a:t>
            </a:r>
            <a:r>
              <a:rPr sz="1400" b="1">
                <a:solidFill>
                  <a:srgbClr val="C00000"/>
                </a:solidFill>
                <a:latin typeface="メイリオ"/>
                <a:ea typeface="メイリオ"/>
                <a:cs typeface="メイリオ"/>
              </a:rPr>
              <a:t>万円</a:t>
            </a:r>
          </a:p>
        </p:txBody>
      </p:sp>
      <p:sp>
        <p:nvSpPr>
          <p:cNvPr id="911" name="TextBox 910"/>
          <p:cNvSpPr txBox="1"/>
          <p:nvPr/>
        </p:nvSpPr>
        <p:spPr>
          <a:xfrm>
            <a:off x="3646536" y="3030000"/>
            <a:ext cx="2609880" cy="1800000"/>
          </a:xfrm>
          <a:prstGeom prst="rect">
            <a:avLst/>
          </a:prstGeom>
          <a:noFill/>
        </p:spPr>
        <p:txBody>
          <a:bodyPr wrap="square" lIns="72000" tIns="36000" rIns="72000" bIns="36000" anchor="t">
            <a:spAutoFit/>
          </a:bodyPr>
          <a:lstStyle/>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月1企画（クリエイティブ1点）</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ステップ配信の改善</a:t>
            </a:r>
          </a:p>
          <a:p>
            <a:pPr algn="l">
              <a:spcAft>
                <a:spcPts val="400"/>
              </a:spcAft>
            </a:pPr>
            <a:r>
              <a:rPr sz="800" b="0">
                <a:solidFill>
                  <a:srgbClr val="06C755"/>
                </a:solidFill>
                <a:latin typeface="メイリオ"/>
                <a:ea typeface="メイリオ"/>
                <a:cs typeface="メイリオ"/>
              </a:rPr>
              <a:t>● </a:t>
            </a:r>
            <a:r>
              <a:rPr sz="1100" b="0">
                <a:solidFill>
                  <a:srgbClr val="333333"/>
                </a:solidFill>
                <a:latin typeface="メイリオ"/>
                <a:ea typeface="メイリオ"/>
                <a:cs typeface="メイリオ"/>
              </a:rPr>
              <a:t>月次レポート</a:t>
            </a:r>
          </a:p>
        </p:txBody>
      </p:sp>
      <p:sp>
        <p:nvSpPr>
          <p:cNvPr id="912" name="Rounded Rectangle 911"/>
          <p:cNvSpPr/>
          <p:nvPr/>
        </p:nvSpPr>
        <p:spPr>
          <a:xfrm>
            <a:off x="6669024" y="1630000"/>
            <a:ext cx="2849880" cy="2700000"/>
          </a:xfrm>
          <a:prstGeom prst="roundRect">
            <a:avLst>
              <a:gd name="adj" fmla="val 5000"/>
            </a:avLst>
          </a:prstGeom>
          <a:solidFill>
            <a:srgbClr val="EEF1F5"/>
          </a:solidFill>
          <a:ln w="12700">
            <a:solidFill>
              <a:srgbClr val="7F8896"/>
            </a:solidFill>
          </a:ln>
          <a:effectLst/>
        </p:spPr>
        <p:txBody>
          <a:bodyPr rtlCol="0" anchor="ctr"/>
          <a:lstStyle/>
          <a:p>
            <a:pPr algn="ctr"/>
            <a:endParaRPr/>
          </a:p>
        </p:txBody>
      </p:sp>
      <p:sp>
        <p:nvSpPr>
          <p:cNvPr id="913" name="Rounded Rectangle 912"/>
          <p:cNvSpPr/>
          <p:nvPr/>
        </p:nvSpPr>
        <p:spPr>
          <a:xfrm>
            <a:off x="6669024" y="1630000"/>
            <a:ext cx="2849880" cy="420000"/>
          </a:xfrm>
          <a:prstGeom prst="roundRect">
            <a:avLst>
              <a:gd name="adj" fmla="val 20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CPF（月額・広告費）</a:t>
            </a:r>
          </a:p>
        </p:txBody>
      </p:sp>
      <p:sp>
        <p:nvSpPr>
          <p:cNvPr id="914" name="TextBox 913"/>
          <p:cNvSpPr txBox="1"/>
          <p:nvPr/>
        </p:nvSpPr>
        <p:spPr>
          <a:xfrm>
            <a:off x="6669024" y="2180000"/>
            <a:ext cx="2849880" cy="700000"/>
          </a:xfrm>
          <a:prstGeom prst="rect">
            <a:avLst/>
          </a:prstGeom>
          <a:noFill/>
        </p:spPr>
        <p:txBody>
          <a:bodyPr wrap="square" lIns="72000" tIns="36000" rIns="72000" bIns="36000" anchor="ctr">
            <a:spAutoFit/>
          </a:bodyPr>
          <a:lstStyle/>
          <a:p>
            <a:pPr algn="ctr"/>
            <a:r>
              <a:rPr sz="2800" b="1">
                <a:solidFill>
                  <a:srgbClr val="C00000"/>
                </a:solidFill>
                <a:latin typeface="メイリオ"/>
                <a:ea typeface="メイリオ"/>
                <a:cs typeface="メイリオ"/>
              </a:rPr>
              <a:t>10</a:t>
            </a:r>
            <a:r>
              <a:rPr sz="1400" b="1">
                <a:solidFill>
                  <a:srgbClr val="C00000"/>
                </a:solidFill>
                <a:latin typeface="メイリオ"/>
                <a:ea typeface="メイリオ"/>
                <a:cs typeface="メイリオ"/>
              </a:rPr>
              <a:t>万円</a:t>
            </a:r>
          </a:p>
        </p:txBody>
      </p:sp>
      <p:sp>
        <p:nvSpPr>
          <p:cNvPr id="915" name="TextBox 914"/>
          <p:cNvSpPr txBox="1"/>
          <p:nvPr/>
        </p:nvSpPr>
        <p:spPr>
          <a:xfrm>
            <a:off x="6789024" y="3030000"/>
            <a:ext cx="2609880" cy="1800000"/>
          </a:xfrm>
          <a:prstGeom prst="rect">
            <a:avLst/>
          </a:prstGeom>
          <a:noFill/>
        </p:spPr>
        <p:txBody>
          <a:bodyPr wrap="square" lIns="72000" tIns="36000" rIns="72000" bIns="36000" anchor="t">
            <a:spAutoFit/>
          </a:bodyPr>
          <a:lstStyle/>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友だち追加広告</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現状の20万円から組み替え</a:t>
            </a:r>
          </a:p>
          <a:p>
            <a:pPr algn="l">
              <a:spcAft>
                <a:spcPts val="400"/>
              </a:spcAft>
            </a:pPr>
            <a:r>
              <a:rPr sz="800" b="0">
                <a:solidFill>
                  <a:srgbClr val="1F3A5F"/>
                </a:solidFill>
                <a:latin typeface="メイリオ"/>
                <a:ea typeface="メイリオ"/>
                <a:cs typeface="メイリオ"/>
              </a:rPr>
              <a:t>● </a:t>
            </a:r>
            <a:r>
              <a:rPr sz="1100" b="0">
                <a:solidFill>
                  <a:srgbClr val="333333"/>
                </a:solidFill>
                <a:latin typeface="メイリオ"/>
                <a:ea typeface="メイリオ"/>
                <a:cs typeface="メイリオ"/>
              </a:rPr>
              <a:t>媒体費として別途</a:t>
            </a:r>
          </a:p>
        </p:txBody>
      </p:sp>
      <p:sp>
        <p:nvSpPr>
          <p:cNvPr id="916" name="Rounded Rectangle 915"/>
          <p:cNvSpPr/>
          <p:nvPr/>
        </p:nvSpPr>
        <p:spPr>
          <a:xfrm>
            <a:off x="384048" y="4530000"/>
            <a:ext cx="9134856" cy="560000"/>
          </a:xfrm>
          <a:prstGeom prst="roundRect">
            <a:avLst>
              <a:gd name="adj" fmla="val 12000"/>
            </a:avLst>
          </a:prstGeom>
          <a:solidFill>
            <a:srgbClr val="24345A"/>
          </a:solidFill>
          <a:ln>
            <a:noFill/>
          </a:ln>
          <a:effectLst/>
        </p:spPr>
        <p:txBody>
          <a:bodyPr wrap="square" lIns="72000" tIns="36000" rIns="72000" bIns="36000" rtlCol="0" anchor="ctr"/>
          <a:lstStyle/>
          <a:p>
            <a:pPr algn="ctr"/>
            <a:r>
              <a:rPr sz="1300" b="1">
                <a:solidFill>
                  <a:srgbClr val="FFFFFF"/>
                </a:solidFill>
                <a:latin typeface="メイリオ"/>
                <a:ea typeface="メイリオ"/>
                <a:cs typeface="メイリオ"/>
              </a:rPr>
              <a:t>月額合計20万円（現状と同額）＋初期構築25万円　ご契約期間：6ヶ月</a:t>
            </a:r>
          </a:p>
        </p:txBody>
      </p:sp>
      <p:sp>
        <p:nvSpPr>
          <p:cNvPr id="917" name="TextBox 916"/>
          <p:cNvSpPr txBox="1"/>
          <p:nvPr/>
        </p:nvSpPr>
        <p:spPr>
          <a:xfrm>
            <a:off x="384048" y="5180000"/>
            <a:ext cx="9134856" cy="250000"/>
          </a:xfrm>
          <a:prstGeom prst="rect">
            <a:avLst/>
          </a:prstGeom>
          <a:noFill/>
        </p:spPr>
        <p:txBody>
          <a:bodyPr wrap="square" lIns="72000" tIns="36000" rIns="72000" bIns="36000" anchor="t">
            <a:spAutoFit/>
          </a:bodyPr>
          <a:lstStyle/>
          <a:p>
            <a:pPr algn="l"/>
            <a:r>
              <a:rPr sz="900" b="0">
                <a:solidFill>
                  <a:srgbClr val="555555"/>
                </a:solidFill>
                <a:latin typeface="メイリオ"/>
                <a:ea typeface="メイリオ"/>
                <a:cs typeface="メイリオ"/>
              </a:rPr>
              <a:t>※金額はすべて税別。LINE公式アカウントの月額費用・配信通数の費用、tunaの利用料は含みません</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4"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5"/>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7"/>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2994634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21978396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DYMJAPA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97329</TotalTime>
  <Words>3443</Words>
  <Application>Microsoft Office PowerPoint</Application>
  <PresentationFormat>A4 210 x 297 mm</PresentationFormat>
  <Paragraphs>808</Paragraphs>
  <Slides>34</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34</vt:i4>
      </vt:variant>
    </vt:vector>
  </HeadingPairs>
  <TitlesOfParts>
    <vt:vector size="40" baseType="lpstr">
      <vt:lpstr>Arial</vt:lpstr>
      <vt:lpstr>Calibri</vt:lpstr>
      <vt:lpstr>メイリオ</vt:lpstr>
      <vt:lpstr>Century Gothic</vt:lpstr>
      <vt:lpstr>メイリオ</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torii-t</dc:creator>
  <cp:lastModifiedBy>竹田 虎大朗</cp:lastModifiedBy>
  <cp:revision>873</cp:revision>
  <dcterms:created xsi:type="dcterms:W3CDTF">2016-11-22T16:06:03Z</dcterms:created>
  <dcterms:modified xsi:type="dcterms:W3CDTF">2026-10-29T01:12:24Z</dcterms:modified>
</cp:coreProperties>
</file>