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8" r:id="rId15"/>
    <p:sldId id="279" r:id="rId16"/>
    <p:sldId id="302" r:id="rId17"/>
    <p:sldId id="303" r:id="rId18"/>
    <p:sldId id="269" r:id="rId19"/>
    <p:sldId id="270" r:id="rId20"/>
    <p:sldId id="271" r:id="rId21"/>
    <p:sldId id="272" r:id="rId22"/>
    <p:sldId id="273" r:id="rId23"/>
    <p:sldId id="274" r:id="rId24"/>
    <p:sldId id="275" r:id="rId25"/>
    <p:sldId id="276" r:id="rId26"/>
    <p:sldId id="277"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7" name="PlaceHolder 1"/>
          <p:cNvSpPr>
            <a:spLocks noGrp="1" noRot="1" noChangeAspect="1"/>
          </p:cNvSpPr>
          <p:nvPr>
            <p:ph type="sldImg"/>
          </p:nvPr>
        </p:nvSpPr>
        <p:spPr>
          <a:xfrm>
            <a:off x="981000" y="1243080"/>
            <a:ext cx="4844520" cy="3354120"/>
          </a:xfrm>
          <a:prstGeom prst="rect">
            <a:avLst/>
          </a:prstGeom>
          <a:ln w="0">
            <a:noFill/>
          </a:ln>
        </p:spPr>
      </p:sp>
      <p:sp>
        <p:nvSpPr>
          <p:cNvPr id="108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89" name="PlaceHolder 3"/>
          <p:cNvSpPr>
            <a:spLocks noGrp="1"/>
          </p:cNvSpPr>
          <p:nvPr>
            <p:ph type="sldNum" idx="4"/>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938330-FE6F-42FA-888B-54BA75BDCD09}"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 name="PlaceHolder 1"/>
          <p:cNvSpPr>
            <a:spLocks noGrp="1" noRot="1" noChangeAspect="1"/>
          </p:cNvSpPr>
          <p:nvPr>
            <p:ph type="sldImg"/>
          </p:nvPr>
        </p:nvSpPr>
        <p:spPr>
          <a:xfrm>
            <a:off x="981075" y="1243013"/>
            <a:ext cx="4845050" cy="3354387"/>
          </a:xfrm>
          <a:prstGeom prst="rect">
            <a:avLst/>
          </a:prstGeom>
          <a:ln w="0">
            <a:noFill/>
          </a:ln>
        </p:spPr>
      </p:sp>
      <p:sp>
        <p:nvSpPr>
          <p:cNvPr id="1091"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2" name="PlaceHolder 3"/>
          <p:cNvSpPr>
            <a:spLocks noGrp="1"/>
          </p:cNvSpPr>
          <p:nvPr>
            <p:ph type="sldNum" idx="5"/>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2CECCF-8D73-40E8-8240-AEEE2AEC60DD}"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 name="PlaceHolder 1"/>
          <p:cNvSpPr>
            <a:spLocks noGrp="1" noRot="1" noChangeAspect="1"/>
          </p:cNvSpPr>
          <p:nvPr>
            <p:ph type="sldImg"/>
          </p:nvPr>
        </p:nvSpPr>
        <p:spPr>
          <a:xfrm>
            <a:off x="981075" y="1243013"/>
            <a:ext cx="4845050" cy="3354387"/>
          </a:xfrm>
          <a:prstGeom prst="rect">
            <a:avLst/>
          </a:prstGeom>
          <a:ln w="0">
            <a:noFill/>
          </a:ln>
        </p:spPr>
      </p:sp>
      <p:sp>
        <p:nvSpPr>
          <p:cNvPr id="1094"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5" name="PlaceHolder 3"/>
          <p:cNvSpPr>
            <a:spLocks noGrp="1"/>
          </p:cNvSpPr>
          <p:nvPr>
            <p:ph type="sldNum" idx="6"/>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5B8CF54-B312-4BD2-B800-F249C15D9311}"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 name="PlaceHolder 1"/>
          <p:cNvSpPr>
            <a:spLocks noGrp="1" noRot="1" noChangeAspect="1"/>
          </p:cNvSpPr>
          <p:nvPr>
            <p:ph type="sldImg"/>
          </p:nvPr>
        </p:nvSpPr>
        <p:spPr>
          <a:xfrm>
            <a:off x="981075" y="1243013"/>
            <a:ext cx="4845050" cy="3354387"/>
          </a:xfrm>
          <a:prstGeom prst="rect">
            <a:avLst/>
          </a:prstGeom>
          <a:ln w="0">
            <a:noFill/>
          </a:ln>
        </p:spPr>
      </p:sp>
      <p:sp>
        <p:nvSpPr>
          <p:cNvPr id="1097"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8" name="PlaceHolder 3"/>
          <p:cNvSpPr>
            <a:spLocks noGrp="1"/>
          </p:cNvSpPr>
          <p:nvPr>
            <p:ph type="sldNum" idx="7"/>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32F5AC-944B-4DEB-AD69-07423CA7CF4C}"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981000" y="1243080"/>
            <a:ext cx="4844520" cy="3354120"/>
          </a:xfrm>
          <a:prstGeom prst="rect">
            <a:avLst/>
          </a:prstGeom>
          <a:ln w="0">
            <a:noFill/>
          </a:ln>
        </p:spPr>
      </p:sp>
      <p:sp>
        <p:nvSpPr>
          <p:cNvPr id="1100"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1" name="PlaceHolder 3"/>
          <p:cNvSpPr>
            <a:spLocks noGrp="1"/>
          </p:cNvSpPr>
          <p:nvPr>
            <p:ph type="sldNum" idx="8"/>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D115F2-B34B-42E8-9697-2D9FA63D644A}"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 name="PlaceHolder 1"/>
          <p:cNvSpPr>
            <a:spLocks noGrp="1" noRot="1" noChangeAspect="1"/>
          </p:cNvSpPr>
          <p:nvPr>
            <p:ph type="sldImg"/>
          </p:nvPr>
        </p:nvSpPr>
        <p:spPr>
          <a:xfrm>
            <a:off x="981000" y="1243080"/>
            <a:ext cx="4844520" cy="3354120"/>
          </a:xfrm>
          <a:prstGeom prst="rect">
            <a:avLst/>
          </a:prstGeom>
          <a:ln w="0">
            <a:noFill/>
          </a:ln>
        </p:spPr>
      </p:sp>
      <p:sp>
        <p:nvSpPr>
          <p:cNvPr id="1103"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4" name="PlaceHolder 3"/>
          <p:cNvSpPr>
            <a:spLocks noGrp="1"/>
          </p:cNvSpPr>
          <p:nvPr>
            <p:ph type="sldNum" idx="9"/>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9F940E-30FD-4A61-A80D-C863CD0E5A38}"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 name="PlaceHolder 1"/>
          <p:cNvSpPr>
            <a:spLocks noGrp="1" noRot="1" noChangeAspect="1"/>
          </p:cNvSpPr>
          <p:nvPr>
            <p:ph type="sldImg"/>
          </p:nvPr>
        </p:nvSpPr>
        <p:spPr>
          <a:xfrm>
            <a:off x="981075" y="1243013"/>
            <a:ext cx="4845050" cy="3354387"/>
          </a:xfrm>
          <a:prstGeom prst="rect">
            <a:avLst/>
          </a:prstGeom>
          <a:ln w="0">
            <a:noFill/>
          </a:ln>
        </p:spPr>
      </p:sp>
      <p:sp>
        <p:nvSpPr>
          <p:cNvPr id="1106"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7" name="PlaceHolder 3"/>
          <p:cNvSpPr>
            <a:spLocks noGrp="1"/>
          </p:cNvSpPr>
          <p:nvPr>
            <p:ph type="sldNum" idx="10"/>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689BB4-1D02-4AD1-84CD-933C367E541C}"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 name="PlaceHolder 1"/>
          <p:cNvSpPr>
            <a:spLocks noGrp="1" noRot="1" noChangeAspect="1"/>
          </p:cNvSpPr>
          <p:nvPr>
            <p:ph type="sldImg"/>
          </p:nvPr>
        </p:nvSpPr>
        <p:spPr>
          <a:xfrm>
            <a:off x="981000" y="1243080"/>
            <a:ext cx="4844520" cy="3354120"/>
          </a:xfrm>
          <a:prstGeom prst="rect">
            <a:avLst/>
          </a:prstGeom>
          <a:ln w="0">
            <a:noFill/>
          </a:ln>
        </p:spPr>
      </p:sp>
      <p:sp>
        <p:nvSpPr>
          <p:cNvPr id="1109"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0" name="PlaceHolder 3"/>
          <p:cNvSpPr>
            <a:spLocks noGrp="1"/>
          </p:cNvSpPr>
          <p:nvPr>
            <p:ph type="sldNum" idx="11"/>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79F29F5-2099-45DD-85A7-18C6DA959F49}"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 name="PlaceHolder 1"/>
          <p:cNvSpPr>
            <a:spLocks noGrp="1" noRot="1" noChangeAspect="1"/>
          </p:cNvSpPr>
          <p:nvPr>
            <p:ph type="sldImg"/>
          </p:nvPr>
        </p:nvSpPr>
        <p:spPr>
          <a:xfrm>
            <a:off x="981000" y="1243080"/>
            <a:ext cx="4844520" cy="3354120"/>
          </a:xfrm>
          <a:prstGeom prst="rect">
            <a:avLst/>
          </a:prstGeom>
          <a:ln w="0">
            <a:noFill/>
          </a:ln>
        </p:spPr>
      </p:sp>
      <p:sp>
        <p:nvSpPr>
          <p:cNvPr id="1112"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3" name="PlaceHolder 3"/>
          <p:cNvSpPr>
            <a:spLocks noGrp="1"/>
          </p:cNvSpPr>
          <p:nvPr>
            <p:ph type="sldNum" idx="12"/>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DC23C4-4477-4D06-BA81-990A47EB9AE8}"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 name="PlaceHolder 1"/>
          <p:cNvSpPr>
            <a:spLocks noGrp="1" noRot="1" noChangeAspect="1"/>
          </p:cNvSpPr>
          <p:nvPr>
            <p:ph type="sldImg"/>
          </p:nvPr>
        </p:nvSpPr>
        <p:spPr>
          <a:xfrm>
            <a:off x="981000" y="1243080"/>
            <a:ext cx="4844520" cy="3354120"/>
          </a:xfrm>
          <a:prstGeom prst="rect">
            <a:avLst/>
          </a:prstGeom>
          <a:ln w="0">
            <a:noFill/>
          </a:ln>
        </p:spPr>
      </p:sp>
      <p:sp>
        <p:nvSpPr>
          <p:cNvPr id="1115"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6" name="PlaceHolder 3"/>
          <p:cNvSpPr>
            <a:spLocks noGrp="1"/>
          </p:cNvSpPr>
          <p:nvPr>
            <p:ph type="sldNum" idx="13"/>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62333C0-0849-43BA-AADF-C797DCFA3F6E}"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 name="PlaceHolder 1"/>
          <p:cNvSpPr>
            <a:spLocks noGrp="1" noRot="1" noChangeAspect="1"/>
          </p:cNvSpPr>
          <p:nvPr>
            <p:ph type="sldImg"/>
          </p:nvPr>
        </p:nvSpPr>
        <p:spPr>
          <a:xfrm>
            <a:off x="981000" y="1243080"/>
            <a:ext cx="4844520" cy="3354120"/>
          </a:xfrm>
          <a:prstGeom prst="rect">
            <a:avLst/>
          </a:prstGeom>
          <a:ln w="0">
            <a:noFill/>
          </a:ln>
        </p:spPr>
      </p:sp>
      <p:sp>
        <p:nvSpPr>
          <p:cNvPr id="111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9" name="PlaceHolder 3"/>
          <p:cNvSpPr>
            <a:spLocks noGrp="1"/>
          </p:cNvSpPr>
          <p:nvPr>
            <p:ph type="sldNum" idx="14"/>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E0B0EE4-FF2D-44E5-B451-33122B239543}"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 name="PlaceHolder 1"/>
          <p:cNvSpPr>
            <a:spLocks noGrp="1" noRot="1" noChangeAspect="1"/>
          </p:cNvSpPr>
          <p:nvPr>
            <p:ph type="sldImg"/>
          </p:nvPr>
        </p:nvSpPr>
        <p:spPr>
          <a:xfrm>
            <a:off x="981000" y="1243080"/>
            <a:ext cx="4844520" cy="3354120"/>
          </a:xfrm>
          <a:prstGeom prst="rect">
            <a:avLst/>
          </a:prstGeom>
          <a:ln w="0">
            <a:noFill/>
          </a:ln>
        </p:spPr>
      </p:sp>
      <p:sp>
        <p:nvSpPr>
          <p:cNvPr id="1121"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2" name="PlaceHolder 3"/>
          <p:cNvSpPr>
            <a:spLocks noGrp="1"/>
          </p:cNvSpPr>
          <p:nvPr>
            <p:ph type="sldNum" idx="15"/>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C55CA5-E2E8-42D3-912A-CF5480C31C26}"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 name="PlaceHolder 1"/>
          <p:cNvSpPr>
            <a:spLocks noGrp="1" noRot="1" noChangeAspect="1"/>
          </p:cNvSpPr>
          <p:nvPr>
            <p:ph type="sldImg"/>
          </p:nvPr>
        </p:nvSpPr>
        <p:spPr>
          <a:xfrm>
            <a:off x="981000" y="1243080"/>
            <a:ext cx="4844520" cy="3354120"/>
          </a:xfrm>
          <a:prstGeom prst="rect">
            <a:avLst/>
          </a:prstGeom>
          <a:ln w="0">
            <a:noFill/>
          </a:ln>
        </p:spPr>
      </p:sp>
      <p:sp>
        <p:nvSpPr>
          <p:cNvPr id="1124"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5" name="PlaceHolder 3"/>
          <p:cNvSpPr>
            <a:spLocks noGrp="1"/>
          </p:cNvSpPr>
          <p:nvPr>
            <p:ph type="sldNum" idx="16"/>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53DC02-905B-4247-A366-DADF4CE12DC0}"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 name="PlaceHolder 1"/>
          <p:cNvSpPr>
            <a:spLocks noGrp="1" noRot="1" noChangeAspect="1"/>
          </p:cNvSpPr>
          <p:nvPr>
            <p:ph type="sldImg"/>
          </p:nvPr>
        </p:nvSpPr>
        <p:spPr>
          <a:xfrm>
            <a:off x="981000" y="1243080"/>
            <a:ext cx="4844520" cy="3354120"/>
          </a:xfrm>
          <a:prstGeom prst="rect">
            <a:avLst/>
          </a:prstGeom>
          <a:ln w="0">
            <a:noFill/>
          </a:ln>
        </p:spPr>
      </p:sp>
      <p:sp>
        <p:nvSpPr>
          <p:cNvPr id="1127"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8" name="PlaceHolder 3"/>
          <p:cNvSpPr>
            <a:spLocks noGrp="1"/>
          </p:cNvSpPr>
          <p:nvPr>
            <p:ph type="sldNum" idx="17"/>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DDEF33-39B9-48FA-8D37-8603A0BDD786}"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 name="PlaceHolder 1"/>
          <p:cNvSpPr>
            <a:spLocks noGrp="1" noRot="1" noChangeAspect="1"/>
          </p:cNvSpPr>
          <p:nvPr>
            <p:ph type="sldImg"/>
          </p:nvPr>
        </p:nvSpPr>
        <p:spPr>
          <a:xfrm>
            <a:off x="981000" y="1243080"/>
            <a:ext cx="4844520" cy="3354120"/>
          </a:xfrm>
          <a:prstGeom prst="rect">
            <a:avLst/>
          </a:prstGeom>
          <a:ln w="0">
            <a:noFill/>
          </a:ln>
        </p:spPr>
      </p:sp>
      <p:sp>
        <p:nvSpPr>
          <p:cNvPr id="1130"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1" name="PlaceHolder 3"/>
          <p:cNvSpPr>
            <a:spLocks noGrp="1"/>
          </p:cNvSpPr>
          <p:nvPr>
            <p:ph type="sldNum" idx="18"/>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64E7FB-01D1-4560-BBC6-6095E96E79FC}"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 name="PlaceHolder 1"/>
          <p:cNvSpPr>
            <a:spLocks noGrp="1" noRot="1" noChangeAspect="1"/>
          </p:cNvSpPr>
          <p:nvPr>
            <p:ph type="sldImg"/>
          </p:nvPr>
        </p:nvSpPr>
        <p:spPr>
          <a:xfrm>
            <a:off x="981000" y="1243080"/>
            <a:ext cx="4844520" cy="3354120"/>
          </a:xfrm>
          <a:prstGeom prst="rect">
            <a:avLst/>
          </a:prstGeom>
          <a:ln w="0">
            <a:noFill/>
          </a:ln>
        </p:spPr>
      </p:sp>
      <p:sp>
        <p:nvSpPr>
          <p:cNvPr id="1133"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4" name="PlaceHolder 3"/>
          <p:cNvSpPr>
            <a:spLocks noGrp="1"/>
          </p:cNvSpPr>
          <p:nvPr>
            <p:ph type="sldNum" idx="19"/>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A0801F-0C43-46B0-A05F-EB5ADB79D6B6}"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 name="PlaceHolder 1"/>
          <p:cNvSpPr>
            <a:spLocks noGrp="1" noRot="1" noChangeAspect="1"/>
          </p:cNvSpPr>
          <p:nvPr>
            <p:ph type="sldImg"/>
          </p:nvPr>
        </p:nvSpPr>
        <p:spPr>
          <a:xfrm>
            <a:off x="981000" y="1243080"/>
            <a:ext cx="4844520" cy="3354120"/>
          </a:xfrm>
          <a:prstGeom prst="rect">
            <a:avLst/>
          </a:prstGeom>
          <a:ln w="0">
            <a:noFill/>
          </a:ln>
        </p:spPr>
      </p:sp>
      <p:sp>
        <p:nvSpPr>
          <p:cNvPr id="1136"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7" name="PlaceHolder 3"/>
          <p:cNvSpPr>
            <a:spLocks noGrp="1"/>
          </p:cNvSpPr>
          <p:nvPr>
            <p:ph type="sldNum" idx="20"/>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6DC7076-5EC0-4FC8-B9B3-24E0D19B2E3E}"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8" name="PlaceHolder 1"/>
          <p:cNvSpPr>
            <a:spLocks noGrp="1" noRot="1" noChangeAspect="1"/>
          </p:cNvSpPr>
          <p:nvPr>
            <p:ph type="sldImg"/>
          </p:nvPr>
        </p:nvSpPr>
        <p:spPr>
          <a:xfrm>
            <a:off x="981000" y="1243080"/>
            <a:ext cx="4844520" cy="3354120"/>
          </a:xfrm>
          <a:prstGeom prst="rect">
            <a:avLst/>
          </a:prstGeom>
          <a:ln w="0">
            <a:noFill/>
          </a:ln>
        </p:spPr>
      </p:sp>
      <p:sp>
        <p:nvSpPr>
          <p:cNvPr id="1139"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0" name="PlaceHolder 3"/>
          <p:cNvSpPr>
            <a:spLocks noGrp="1"/>
          </p:cNvSpPr>
          <p:nvPr>
            <p:ph type="sldNum" idx="21"/>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A252D6-971A-4F45-B2E5-AC163838B5AD}"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1" name="PlaceHolder 1"/>
          <p:cNvSpPr>
            <a:spLocks noGrp="1" noRot="1" noChangeAspect="1"/>
          </p:cNvSpPr>
          <p:nvPr>
            <p:ph type="sldImg"/>
          </p:nvPr>
        </p:nvSpPr>
        <p:spPr>
          <a:xfrm>
            <a:off x="981000" y="1243080"/>
            <a:ext cx="4844520" cy="3354120"/>
          </a:xfrm>
          <a:prstGeom prst="rect">
            <a:avLst/>
          </a:prstGeom>
          <a:ln w="0">
            <a:noFill/>
          </a:ln>
        </p:spPr>
      </p:sp>
      <p:sp>
        <p:nvSpPr>
          <p:cNvPr id="1142"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3" name="PlaceHolder 3"/>
          <p:cNvSpPr>
            <a:spLocks noGrp="1"/>
          </p:cNvSpPr>
          <p:nvPr>
            <p:ph type="sldNum" idx="22"/>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62F9013-9F67-4705-AD62-8B4D61EBEBE2}" type="slidenum">
              <a:rPr lang="en-US" sz="1200" b="0" u="none" strike="noStrike">
                <a:solidFill>
                  <a:schemeClr val="dk1"/>
                </a:solidFill>
                <a:effectLst/>
                <a:uFillTx/>
                <a:latin typeface="+mn-lt"/>
                <a:ea typeface="+mn-ea"/>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 name="PlaceHolder 1"/>
          <p:cNvSpPr>
            <a:spLocks noGrp="1" noRot="1" noChangeAspect="1"/>
          </p:cNvSpPr>
          <p:nvPr>
            <p:ph type="sldImg"/>
          </p:nvPr>
        </p:nvSpPr>
        <p:spPr>
          <a:xfrm>
            <a:off x="981000" y="1243080"/>
            <a:ext cx="4844520" cy="3354120"/>
          </a:xfrm>
          <a:prstGeom prst="rect">
            <a:avLst/>
          </a:prstGeom>
          <a:ln w="0">
            <a:noFill/>
          </a:ln>
        </p:spPr>
      </p:sp>
      <p:sp>
        <p:nvSpPr>
          <p:cNvPr id="1145"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6" name="PlaceHolder 3"/>
          <p:cNvSpPr>
            <a:spLocks noGrp="1"/>
          </p:cNvSpPr>
          <p:nvPr>
            <p:ph type="sldNum" idx="23"/>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FB36D4-2F7A-48E6-BFB4-9BF92A34CF28}"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48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png"/><Relationship Id="rId10" Type="http://schemas.openxmlformats.org/officeDocument/2006/relationships/image" Target="../media/image32.jpeg"/><Relationship Id="rId4" Type="http://schemas.openxmlformats.org/officeDocument/2006/relationships/image" Target="../media/image26.png"/><Relationship Id="rId9"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8.xml.rels><?xml version="1.0" encoding="UTF-8" standalone="yes"?>
<Relationships xmlns="http://schemas.openxmlformats.org/package/2006/relationships"><Relationship Id="rId8" Type="http://schemas.openxmlformats.org/officeDocument/2006/relationships/image" Target="../media/image73.jpeg"/><Relationship Id="rId3" Type="http://schemas.openxmlformats.org/officeDocument/2006/relationships/image" Target="../media/image68.emf"/><Relationship Id="rId7" Type="http://schemas.openxmlformats.org/officeDocument/2006/relationships/image" Target="../media/image72.jpe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71.jpeg"/><Relationship Id="rId5" Type="http://schemas.openxmlformats.org/officeDocument/2006/relationships/image" Target="../media/image70.jpeg"/><Relationship Id="rId4" Type="http://schemas.openxmlformats.org/officeDocument/2006/relationships/image" Target="../media/image6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762139"/>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a:t>
            </a:r>
            <a:r>
              <a:rPr lang="ja-JP" sz="3200" b="1" u="none" strike="noStrike" dirty="0">
                <a:solidFill>
                  <a:schemeClr val="dk1">
                    <a:lumMod val="75000"/>
                    <a:lumOff val="25000"/>
                  </a:schemeClr>
                </a:solidFill>
                <a:effectLst/>
                <a:uFillTx/>
                <a:latin typeface="メイリオ"/>
                <a:ea typeface="メイリオ"/>
              </a:rPr>
              <a:t>公式アカウント運用のご提案</a:t>
            </a:r>
            <a:endParaRPr lang="en-US" sz="3200" b="0" u="none" strike="noStrike" dirty="0">
              <a:solidFill>
                <a:srgbClr val="000000"/>
              </a:solidFill>
              <a:effectLst/>
              <a:uFillTx/>
              <a:latin typeface="Arial"/>
            </a:endParaRPr>
          </a:p>
        </p:txBody>
      </p:sp>
      <p:sp>
        <p:nvSpPr>
          <p:cNvPr id="27" name="正方形/長方形 5"/>
          <p:cNvSpPr/>
          <p:nvPr/>
        </p:nvSpPr>
        <p:spPr>
          <a:xfrm>
            <a:off x="1336792" y="1746938"/>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Meiryo"/>
                <a:ea typeface="Meiryo"/>
              </a:rPr>
              <a:t>LINEへの流入と友だち追加後の導線を整備し、</a:t>
            </a:r>
          </a:p>
          <a:p>
            <a:pPr algn="ctr"/>
            <a:r>
              <a:rPr lang="ja-JP" sz="1600" b="0" u="none" strike="noStrike" dirty="0">
                <a:solidFill>
                  <a:schemeClr val="dk1">
                    <a:lumMod val="50000"/>
                    <a:lumOff val="50000"/>
                  </a:schemeClr>
                </a:solidFill>
                <a:effectLst/>
                <a:uFillTx/>
                <a:latin typeface="Meiryo"/>
                <a:ea typeface="Meiryo"/>
              </a:rPr>
              <a:t>物件問い合わせの増加を実現する</a:t>
            </a:r>
          </a:p>
        </p:txBody>
      </p:sp>
      <p:cxnSp>
        <p:nvCxnSpPr>
          <p:cNvPr id="28" name="直線コネクタ 4"/>
          <p:cNvCxnSpPr/>
          <p:nvPr/>
        </p:nvCxnSpPr>
        <p:spPr>
          <a:xfrm>
            <a:off x="1336980" y="3429000"/>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Meiryo"/>
                <a:ea typeface="Meiryo"/>
              </a:rPr>
              <a:t>株式会社あらうち 御中</a:t>
            </a:r>
            <a:endParaRPr lang="en-US" sz="16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3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3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現状把握</a:t>
            </a:r>
            <a:endParaRPr lang="en-US" sz="1600" b="0" u="none" strike="noStrike">
              <a:solidFill>
                <a:srgbClr val="000000"/>
              </a:solidFill>
              <a:effectLst/>
              <a:uFillTx/>
              <a:latin typeface="Arial"/>
            </a:endParaRPr>
          </a:p>
        </p:txBody>
      </p:sp>
      <p:sp>
        <p:nvSpPr>
          <p:cNvPr id="36" name="テキスト ボックス 28"/>
          <p:cNvSpPr/>
          <p:nvPr/>
        </p:nvSpPr>
        <p:spPr>
          <a:xfrm>
            <a:off x="4983480" y="1499760"/>
            <a:ext cx="4498560" cy="347040"/>
          </a:xfrm>
          <a:prstGeom prst="rect">
            <a:avLst/>
          </a:prstGeom>
          <a:solidFill>
            <a:srgbClr val="04FA0A"/>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LINE</a:t>
            </a:r>
            <a:r>
              <a:rPr lang="ja-JP" sz="1400" b="1" u="none" strike="noStrike">
                <a:solidFill>
                  <a:schemeClr val="lt1"/>
                </a:solidFill>
                <a:effectLst/>
                <a:uFillTx/>
                <a:latin typeface="メイリオ"/>
                <a:ea typeface="メイリオ"/>
              </a:rPr>
              <a:t>ステータス</a:t>
            </a:r>
            <a:endParaRPr lang="en-US" sz="1400" b="0" u="none" strike="noStrike">
              <a:solidFill>
                <a:srgbClr val="000000"/>
              </a:solidFill>
              <a:effectLst/>
              <a:uFillTx/>
              <a:latin typeface="Arial"/>
            </a:endParaRPr>
          </a:p>
        </p:txBody>
      </p:sp>
      <p:sp>
        <p:nvSpPr>
          <p:cNvPr id="37" name="テキスト ボックス 30"/>
          <p:cNvSpPr/>
          <p:nvPr/>
        </p:nvSpPr>
        <p:spPr>
          <a:xfrm>
            <a:off x="365760" y="1499760"/>
            <a:ext cx="4388760" cy="34704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WEB</a:t>
            </a:r>
            <a:r>
              <a:rPr lang="ja-JP" sz="1400" b="0" u="none" strike="noStrike">
                <a:solidFill>
                  <a:schemeClr val="lt1"/>
                </a:solidFill>
                <a:effectLst/>
                <a:uFillTx/>
                <a:latin typeface="メイリオ"/>
                <a:ea typeface="メイリオ"/>
              </a:rPr>
              <a:t>サイトステータス</a:t>
            </a:r>
            <a:endParaRPr lang="en-US" sz="1400" b="0" u="none" strike="noStrike">
              <a:solidFill>
                <a:srgbClr val="FFFFFF"/>
              </a:solidFill>
              <a:effectLst/>
              <a:uFillTx/>
              <a:latin typeface="Arial"/>
            </a:endParaRPr>
          </a:p>
        </p:txBody>
      </p:sp>
      <p:sp>
        <p:nvSpPr>
          <p:cNvPr id="38" name="テキスト ボックス 42"/>
          <p:cNvSpPr/>
          <p:nvPr/>
        </p:nvSpPr>
        <p:spPr>
          <a:xfrm>
            <a:off x="365760" y="5660280"/>
            <a:ext cx="43887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dk1"/>
                </a:solidFill>
                <a:effectLst/>
                <a:uFillTx/>
                <a:latin typeface="メイリオ"/>
                <a:ea typeface="メイリオ"/>
              </a:rPr>
              <a:t>全ページに「</a:t>
            </a:r>
            <a:r>
              <a:rPr lang="en-US" sz="1200" b="0" u="none" strike="noStrike">
                <a:solidFill>
                  <a:schemeClr val="dk1"/>
                </a:solidFill>
                <a:effectLst/>
                <a:uFillTx/>
                <a:latin typeface="メイリオ"/>
                <a:ea typeface="メイリオ"/>
              </a:rPr>
              <a:t>LINE</a:t>
            </a:r>
            <a:r>
              <a:rPr lang="ja-JP" sz="1200" b="0" u="none" strike="noStrike">
                <a:solidFill>
                  <a:schemeClr val="dk1"/>
                </a:solidFill>
                <a:effectLst/>
                <a:uFillTx/>
                <a:latin typeface="メイリオ"/>
                <a:ea typeface="メイリオ"/>
              </a:rPr>
              <a:t>でお問い合わせ」ボタンを設置。</a:t>
            </a:r>
            <a:endParaRPr lang="en-US" sz="1200" b="0" u="none" strike="noStrike">
              <a:solidFill>
                <a:srgbClr val="000000"/>
              </a:solidFill>
              <a:effectLst/>
              <a:uFillTx/>
              <a:latin typeface="Arial"/>
            </a:endParaRPr>
          </a:p>
          <a:p>
            <a:pPr algn="ctr" defTabSz="914400">
              <a:lnSpc>
                <a:spcPct val="100000"/>
              </a:lnSpc>
            </a:pPr>
            <a:r>
              <a:rPr lang="en-US" sz="1200" b="1" u="none" strike="noStrike">
                <a:solidFill>
                  <a:schemeClr val="dk1"/>
                </a:solidFill>
                <a:effectLst/>
                <a:uFillTx/>
                <a:latin typeface="メイリオ"/>
                <a:ea typeface="メイリオ"/>
              </a:rPr>
              <a:t>100</a:t>
            </a:r>
            <a:r>
              <a:rPr lang="ja-JP" sz="1200" b="1" u="none" strike="noStrike">
                <a:solidFill>
                  <a:schemeClr val="dk1"/>
                </a:solidFill>
                <a:effectLst/>
                <a:uFillTx/>
                <a:latin typeface="メイリオ"/>
                <a:ea typeface="メイリオ"/>
              </a:rPr>
              <a:t>円チェッカー・内見依頼</a:t>
            </a:r>
            <a:r>
              <a:rPr lang="ja-JP" sz="1200" b="0" u="none" strike="noStrike">
                <a:solidFill>
                  <a:schemeClr val="dk1"/>
                </a:solidFill>
                <a:effectLst/>
                <a:uFillTx/>
                <a:latin typeface="メイリオ"/>
                <a:ea typeface="メイリオ"/>
              </a:rPr>
              <a:t>など、問い合わせ入口を整備。</a:t>
            </a:r>
            <a:endParaRPr lang="en-US" sz="1200" b="0" u="none" strike="noStrike">
              <a:solidFill>
                <a:srgbClr val="000000"/>
              </a:solidFill>
              <a:effectLst/>
              <a:uFillTx/>
              <a:latin typeface="Arial"/>
            </a:endParaRPr>
          </a:p>
        </p:txBody>
      </p:sp>
      <p:sp>
        <p:nvSpPr>
          <p:cNvPr id="39" name="テキスト ボックス 52"/>
          <p:cNvSpPr/>
          <p:nvPr/>
        </p:nvSpPr>
        <p:spPr>
          <a:xfrm>
            <a:off x="4983480" y="5660280"/>
            <a:ext cx="44985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リッチメニュー未設置・あいさつにボタンなし。</a:t>
            </a:r>
            <a:br>
              <a:rPr sz="1200"/>
            </a:br>
            <a:r>
              <a:rPr lang="ja-JP" sz="1200" b="1" u="none" strike="noStrike">
                <a:solidFill>
                  <a:schemeClr val="dk1"/>
                </a:solidFill>
                <a:effectLst/>
                <a:uFillTx/>
                <a:latin typeface="メイリオ"/>
                <a:ea typeface="メイリオ"/>
              </a:rPr>
              <a:t>改善の余地あり。</a:t>
            </a:r>
            <a:endParaRPr lang="en-US" sz="1200" b="0" u="none" strike="noStrike">
              <a:solidFill>
                <a:srgbClr val="000000"/>
              </a:solidFill>
              <a:effectLst/>
              <a:uFillTx/>
              <a:latin typeface="Arial"/>
            </a:endParaRPr>
          </a:p>
        </p:txBody>
      </p:sp>
      <p:pic>
        <p:nvPicPr>
          <p:cNvPr id="40" name="図 54"/>
          <p:cNvPicPr/>
          <p:nvPr/>
        </p:nvPicPr>
        <p:blipFill>
          <a:blip r:embed="rId3"/>
          <a:stretch/>
        </p:blipFill>
        <p:spPr>
          <a:xfrm>
            <a:off x="4983480" y="1920240"/>
            <a:ext cx="1420560" cy="2885400"/>
          </a:xfrm>
          <a:prstGeom prst="rect">
            <a:avLst/>
          </a:prstGeom>
          <a:noFill/>
          <a:ln w="0">
            <a:noFill/>
          </a:ln>
        </p:spPr>
      </p:pic>
      <p:sp>
        <p:nvSpPr>
          <p:cNvPr id="41" name="テキスト ボックス 60"/>
          <p:cNvSpPr/>
          <p:nvPr/>
        </p:nvSpPr>
        <p:spPr>
          <a:xfrm>
            <a:off x="5058000" y="2134800"/>
            <a:ext cx="1265400" cy="234684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sp>
        <p:nvSpPr>
          <p:cNvPr id="42" name="テキスト ボックス 64"/>
          <p:cNvSpPr/>
          <p:nvPr/>
        </p:nvSpPr>
        <p:spPr>
          <a:xfrm>
            <a:off x="1783080" y="19202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サイト</a:t>
            </a:r>
            <a:r>
              <a:rPr lang="en-US" sz="1200" b="0" u="none" strike="noStrike">
                <a:solidFill>
                  <a:schemeClr val="lt1"/>
                </a:solidFill>
                <a:effectLst/>
                <a:uFillTx/>
                <a:latin typeface="メイリオ"/>
                <a:ea typeface="メイリオ"/>
              </a:rPr>
              <a:t>UU</a:t>
            </a:r>
            <a:endParaRPr lang="en-US" sz="1200" b="0" u="none" strike="noStrike">
              <a:solidFill>
                <a:srgbClr val="FFFFFF"/>
              </a:solidFill>
              <a:effectLst/>
              <a:uFillTx/>
              <a:latin typeface="Arial"/>
            </a:endParaRPr>
          </a:p>
        </p:txBody>
      </p:sp>
      <p:sp>
        <p:nvSpPr>
          <p:cNvPr id="43" name="テキスト ボックス 66"/>
          <p:cNvSpPr/>
          <p:nvPr/>
        </p:nvSpPr>
        <p:spPr>
          <a:xfrm>
            <a:off x="1783080" y="5180040"/>
            <a:ext cx="2971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100" b="0" u="none" strike="noStrike">
                <a:solidFill>
                  <a:srgbClr val="595959"/>
                </a:solidFill>
                <a:effectLst/>
                <a:uFillTx/>
                <a:latin typeface="メイリオ"/>
                <a:ea typeface="メイリオ"/>
              </a:rPr>
              <a:t>※いずれも貴社ヒヤリング、外部計測</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　をもとにした想定。（仮）は仮置き。</a:t>
            </a:r>
            <a:endParaRPr lang="en-US" sz="1100" b="0" u="none" strike="noStrike">
              <a:solidFill>
                <a:srgbClr val="000000"/>
              </a:solidFill>
              <a:effectLst/>
              <a:uFillTx/>
              <a:latin typeface="Arial"/>
            </a:endParaRPr>
          </a:p>
        </p:txBody>
      </p:sp>
      <p:sp>
        <p:nvSpPr>
          <p:cNvPr id="44" name="テキスト ボックス 68"/>
          <p:cNvSpPr/>
          <p:nvPr/>
        </p:nvSpPr>
        <p:spPr>
          <a:xfrm>
            <a:off x="1783080" y="22449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a:t>
            </a:r>
            <a:r>
              <a:rPr lang="en-US" sz="1200" b="0" u="none" strike="noStrike">
                <a:solidFill>
                  <a:schemeClr val="lt1"/>
                </a:solidFill>
                <a:effectLst/>
                <a:uFillTx/>
                <a:latin typeface="メイリオ"/>
                <a:ea typeface="メイリオ"/>
              </a:rPr>
              <a:t>UU</a:t>
            </a:r>
            <a:endParaRPr lang="en-US" sz="1200" b="0" u="none" strike="noStrike">
              <a:solidFill>
                <a:srgbClr val="FFFFFF"/>
              </a:solidFill>
              <a:effectLst/>
              <a:uFillTx/>
              <a:latin typeface="Arial"/>
            </a:endParaRPr>
          </a:p>
        </p:txBody>
      </p:sp>
      <p:sp>
        <p:nvSpPr>
          <p:cNvPr id="45" name="テキスト ボックス 70"/>
          <p:cNvSpPr/>
          <p:nvPr/>
        </p:nvSpPr>
        <p:spPr>
          <a:xfrm>
            <a:off x="1783080" y="256932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広告費用</a:t>
            </a:r>
            <a:endParaRPr lang="en-US" sz="1200" b="0" u="none" strike="noStrike">
              <a:solidFill>
                <a:srgbClr val="FFFFFF"/>
              </a:solidFill>
              <a:effectLst/>
              <a:uFillTx/>
              <a:latin typeface="Arial"/>
            </a:endParaRPr>
          </a:p>
        </p:txBody>
      </p:sp>
      <p:sp>
        <p:nvSpPr>
          <p:cNvPr id="46" name="テキスト ボックス 72"/>
          <p:cNvSpPr/>
          <p:nvPr/>
        </p:nvSpPr>
        <p:spPr>
          <a:xfrm>
            <a:off x="1783080" y="48416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メイン流入元</a:t>
            </a:r>
            <a:endParaRPr lang="en-US" sz="1200" b="0" u="none" strike="noStrike">
              <a:solidFill>
                <a:srgbClr val="FFFFFF"/>
              </a:solidFill>
              <a:effectLst/>
              <a:uFillTx/>
              <a:latin typeface="Arial"/>
            </a:endParaRPr>
          </a:p>
        </p:txBody>
      </p:sp>
      <p:sp>
        <p:nvSpPr>
          <p:cNvPr id="47" name="テキスト ボックス 74"/>
          <p:cNvSpPr/>
          <p:nvPr/>
        </p:nvSpPr>
        <p:spPr>
          <a:xfrm>
            <a:off x="1783080" y="45172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他</a:t>
            </a:r>
            <a:r>
              <a:rPr lang="en-US" sz="1200" b="0" u="none" strike="noStrike">
                <a:solidFill>
                  <a:schemeClr val="lt1"/>
                </a:solidFill>
                <a:effectLst/>
                <a:uFillTx/>
                <a:latin typeface="メイリオ"/>
                <a:ea typeface="メイリオ"/>
              </a:rPr>
              <a:t>SNS</a:t>
            </a:r>
            <a:endParaRPr lang="en-US" sz="1200" b="0" u="none" strike="noStrike">
              <a:solidFill>
                <a:srgbClr val="FFFFFF"/>
              </a:solidFill>
              <a:effectLst/>
              <a:uFillTx/>
              <a:latin typeface="Arial"/>
            </a:endParaRPr>
          </a:p>
        </p:txBody>
      </p:sp>
      <p:sp>
        <p:nvSpPr>
          <p:cNvPr id="48" name="テキスト ボックス 75"/>
          <p:cNvSpPr/>
          <p:nvPr/>
        </p:nvSpPr>
        <p:spPr>
          <a:xfrm>
            <a:off x="1783080" y="41925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リード保有数</a:t>
            </a:r>
            <a:endParaRPr lang="en-US" sz="1200" b="0" u="none" strike="noStrike">
              <a:solidFill>
                <a:srgbClr val="FFFFFF"/>
              </a:solidFill>
              <a:effectLst/>
              <a:uFillTx/>
              <a:latin typeface="Arial"/>
            </a:endParaRPr>
          </a:p>
        </p:txBody>
      </p:sp>
      <p:sp>
        <p:nvSpPr>
          <p:cNvPr id="49" name="テキスト ボックス 77"/>
          <p:cNvSpPr/>
          <p:nvPr/>
        </p:nvSpPr>
        <p:spPr>
          <a:xfrm>
            <a:off x="1783080" y="28940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月間</a:t>
            </a:r>
            <a:r>
              <a:rPr lang="en-US" sz="1200" b="0" u="none" strike="noStrike">
                <a:solidFill>
                  <a:schemeClr val="lt1"/>
                </a:solidFill>
                <a:effectLst/>
                <a:uFillTx/>
                <a:latin typeface="メイリオ"/>
                <a:ea typeface="メイリオ"/>
              </a:rPr>
              <a:t>CV</a:t>
            </a:r>
            <a:r>
              <a:rPr lang="ja-JP" sz="1200" b="0" u="none" strike="noStrike">
                <a:solidFill>
                  <a:schemeClr val="lt1"/>
                </a:solidFill>
                <a:effectLst/>
                <a:uFillTx/>
                <a:latin typeface="メイリオ"/>
                <a:ea typeface="メイリオ"/>
              </a:rPr>
              <a:t>数</a:t>
            </a:r>
            <a:endParaRPr lang="en-US" sz="1200" b="0" u="none" strike="noStrike">
              <a:solidFill>
                <a:srgbClr val="FFFFFF"/>
              </a:solidFill>
              <a:effectLst/>
              <a:uFillTx/>
              <a:latin typeface="Arial"/>
            </a:endParaRPr>
          </a:p>
        </p:txBody>
      </p:sp>
      <p:sp>
        <p:nvSpPr>
          <p:cNvPr id="50" name="テキスト ボックス 79"/>
          <p:cNvSpPr/>
          <p:nvPr/>
        </p:nvSpPr>
        <p:spPr>
          <a:xfrm>
            <a:off x="1783080" y="32187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rPr>
              <a:t>CV</a:t>
            </a:r>
            <a:r>
              <a:rPr lang="ja-JP" sz="1200" b="0" u="none" strike="noStrike">
                <a:solidFill>
                  <a:schemeClr val="lt1"/>
                </a:solidFill>
                <a:effectLst/>
                <a:uFillTx/>
                <a:latin typeface="メイリオ"/>
                <a:ea typeface="メイリオ"/>
              </a:rPr>
              <a:t>地点</a:t>
            </a:r>
            <a:endParaRPr lang="en-US" sz="1200" b="0" u="none" strike="noStrike">
              <a:solidFill>
                <a:srgbClr val="FFFFFF"/>
              </a:solidFill>
              <a:effectLst/>
              <a:uFillTx/>
              <a:latin typeface="Arial"/>
            </a:endParaRPr>
          </a:p>
        </p:txBody>
      </p:sp>
      <p:sp>
        <p:nvSpPr>
          <p:cNvPr id="51" name="テキスト ボックス 81"/>
          <p:cNvSpPr/>
          <p:nvPr/>
        </p:nvSpPr>
        <p:spPr>
          <a:xfrm>
            <a:off x="1783080" y="35434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rPr>
              <a:t>LINE</a:t>
            </a:r>
            <a:r>
              <a:rPr lang="ja-JP" sz="1200" b="0" u="none" strike="noStrike">
                <a:solidFill>
                  <a:schemeClr val="lt1"/>
                </a:solidFill>
                <a:effectLst/>
                <a:uFillTx/>
                <a:latin typeface="メイリオ"/>
                <a:ea typeface="メイリオ"/>
              </a:rPr>
              <a:t>動線</a:t>
            </a:r>
            <a:endParaRPr lang="en-US" sz="1200" b="0" u="none" strike="noStrike">
              <a:solidFill>
                <a:srgbClr val="FFFFFF"/>
              </a:solidFill>
              <a:effectLst/>
              <a:uFillTx/>
              <a:latin typeface="Arial"/>
            </a:endParaRPr>
          </a:p>
        </p:txBody>
      </p:sp>
      <p:sp>
        <p:nvSpPr>
          <p:cNvPr id="52" name="テキスト ボックス 83"/>
          <p:cNvSpPr/>
          <p:nvPr/>
        </p:nvSpPr>
        <p:spPr>
          <a:xfrm>
            <a:off x="1783080" y="38678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広告比率</a:t>
            </a:r>
            <a:endParaRPr lang="en-US" sz="1200" b="0" u="none" strike="noStrike">
              <a:solidFill>
                <a:srgbClr val="FFFFFF"/>
              </a:solidFill>
              <a:effectLst/>
              <a:uFillTx/>
              <a:latin typeface="Arial"/>
            </a:endParaRPr>
          </a:p>
        </p:txBody>
      </p:sp>
      <p:sp>
        <p:nvSpPr>
          <p:cNvPr id="53" name="テキスト ボックス 85"/>
          <p:cNvSpPr/>
          <p:nvPr/>
        </p:nvSpPr>
        <p:spPr>
          <a:xfrm>
            <a:off x="6510600" y="19202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友だち数</a:t>
            </a:r>
            <a:endParaRPr lang="en-US" sz="1200" b="0" u="none" strike="noStrike">
              <a:solidFill>
                <a:srgbClr val="FFFFFF"/>
              </a:solidFill>
              <a:effectLst/>
              <a:uFillTx/>
              <a:latin typeface="Arial"/>
            </a:endParaRPr>
          </a:p>
        </p:txBody>
      </p:sp>
      <p:sp>
        <p:nvSpPr>
          <p:cNvPr id="54" name="テキスト ボックス 87"/>
          <p:cNvSpPr/>
          <p:nvPr/>
        </p:nvSpPr>
        <p:spPr>
          <a:xfrm>
            <a:off x="6510600" y="22449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アクティブ数</a:t>
            </a:r>
            <a:endParaRPr lang="en-US" sz="1200" b="0" u="none" strike="noStrike">
              <a:solidFill>
                <a:srgbClr val="FFFFFF"/>
              </a:solidFill>
              <a:effectLst/>
              <a:uFillTx/>
              <a:latin typeface="Arial"/>
            </a:endParaRPr>
          </a:p>
        </p:txBody>
      </p:sp>
      <p:sp>
        <p:nvSpPr>
          <p:cNvPr id="55" name="テキスト ボックス 89"/>
          <p:cNvSpPr/>
          <p:nvPr/>
        </p:nvSpPr>
        <p:spPr>
          <a:xfrm>
            <a:off x="6510600" y="256932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ブロック率</a:t>
            </a:r>
            <a:endParaRPr lang="en-US" sz="1200" b="0" u="none" strike="noStrike">
              <a:solidFill>
                <a:srgbClr val="FFFFFF"/>
              </a:solidFill>
              <a:effectLst/>
              <a:uFillTx/>
              <a:latin typeface="Arial"/>
            </a:endParaRPr>
          </a:p>
        </p:txBody>
      </p:sp>
      <p:sp>
        <p:nvSpPr>
          <p:cNvPr id="56" name="テキスト ボックス 91"/>
          <p:cNvSpPr/>
          <p:nvPr/>
        </p:nvSpPr>
        <p:spPr>
          <a:xfrm>
            <a:off x="6510600" y="48416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0" u="none" strike="noStrike">
                <a:solidFill>
                  <a:schemeClr val="lt1"/>
                </a:solidFill>
                <a:effectLst/>
                <a:uFillTx/>
                <a:latin typeface="メイリオ"/>
                <a:ea typeface="メイリオ"/>
              </a:rPr>
              <a:t>リッチメニュー</a:t>
            </a:r>
            <a:endParaRPr lang="en-US" sz="1200" b="0" u="none" strike="noStrike">
              <a:solidFill>
                <a:srgbClr val="FFFFFF"/>
              </a:solidFill>
              <a:effectLst/>
              <a:uFillTx/>
              <a:latin typeface="Arial"/>
            </a:endParaRPr>
          </a:p>
        </p:txBody>
      </p:sp>
      <p:sp>
        <p:nvSpPr>
          <p:cNvPr id="57" name="テキスト ボックス 93"/>
          <p:cNvSpPr/>
          <p:nvPr/>
        </p:nvSpPr>
        <p:spPr>
          <a:xfrm>
            <a:off x="6510600" y="45172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ツール</a:t>
            </a:r>
            <a:endParaRPr lang="en-US" sz="1200" b="0" u="none" strike="noStrike">
              <a:solidFill>
                <a:srgbClr val="FFFFFF"/>
              </a:solidFill>
              <a:effectLst/>
              <a:uFillTx/>
              <a:latin typeface="Arial"/>
            </a:endParaRPr>
          </a:p>
        </p:txBody>
      </p:sp>
      <p:sp>
        <p:nvSpPr>
          <p:cNvPr id="58" name="テキスト ボックス 95"/>
          <p:cNvSpPr/>
          <p:nvPr/>
        </p:nvSpPr>
        <p:spPr>
          <a:xfrm>
            <a:off x="6510600" y="41925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想定コスト</a:t>
            </a:r>
            <a:endParaRPr lang="en-US" sz="1200" b="0" u="none" strike="noStrike">
              <a:solidFill>
                <a:srgbClr val="FFFFFF"/>
              </a:solidFill>
              <a:effectLst/>
              <a:uFillTx/>
              <a:latin typeface="Arial"/>
            </a:endParaRPr>
          </a:p>
        </p:txBody>
      </p:sp>
      <p:sp>
        <p:nvSpPr>
          <p:cNvPr id="59" name="テキスト ボックス 97"/>
          <p:cNvSpPr/>
          <p:nvPr/>
        </p:nvSpPr>
        <p:spPr>
          <a:xfrm>
            <a:off x="6510600" y="28940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月間投稿数</a:t>
            </a:r>
            <a:endParaRPr lang="en-US" sz="1200" b="0" u="none" strike="noStrike">
              <a:solidFill>
                <a:srgbClr val="FFFFFF"/>
              </a:solidFill>
              <a:effectLst/>
              <a:uFillTx/>
              <a:latin typeface="Arial"/>
            </a:endParaRPr>
          </a:p>
        </p:txBody>
      </p:sp>
      <p:sp>
        <p:nvSpPr>
          <p:cNvPr id="60" name="テキスト ボックス 99"/>
          <p:cNvSpPr/>
          <p:nvPr/>
        </p:nvSpPr>
        <p:spPr>
          <a:xfrm>
            <a:off x="6510600" y="32187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ステップ実施</a:t>
            </a:r>
            <a:endParaRPr lang="en-US" sz="1200" b="0" u="none" strike="noStrike">
              <a:solidFill>
                <a:srgbClr val="FFFFFF"/>
              </a:solidFill>
              <a:effectLst/>
              <a:uFillTx/>
              <a:latin typeface="Arial"/>
            </a:endParaRPr>
          </a:p>
        </p:txBody>
      </p:sp>
      <p:sp>
        <p:nvSpPr>
          <p:cNvPr id="61" name="テキスト ボックス 101"/>
          <p:cNvSpPr/>
          <p:nvPr/>
        </p:nvSpPr>
        <p:spPr>
          <a:xfrm>
            <a:off x="6510600" y="35434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アンケート実施</a:t>
            </a:r>
            <a:endParaRPr lang="en-US" sz="1200" b="0" u="none" strike="noStrike">
              <a:solidFill>
                <a:srgbClr val="FFFFFF"/>
              </a:solidFill>
              <a:effectLst/>
              <a:uFillTx/>
              <a:latin typeface="Arial"/>
            </a:endParaRPr>
          </a:p>
        </p:txBody>
      </p:sp>
      <p:sp>
        <p:nvSpPr>
          <p:cNvPr id="62" name="テキスト ボックス 103"/>
          <p:cNvSpPr/>
          <p:nvPr/>
        </p:nvSpPr>
        <p:spPr>
          <a:xfrm>
            <a:off x="6510600" y="38678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プロフ動線</a:t>
            </a:r>
            <a:endParaRPr lang="en-US" sz="1200" b="0" u="none" strike="noStrike">
              <a:solidFill>
                <a:srgbClr val="FFFFFF"/>
              </a:solidFill>
              <a:effectLst/>
              <a:uFillTx/>
              <a:latin typeface="Arial"/>
            </a:endParaRPr>
          </a:p>
        </p:txBody>
      </p:sp>
      <p:sp>
        <p:nvSpPr>
          <p:cNvPr id="63" name="テキスト ボックス 105"/>
          <p:cNvSpPr/>
          <p:nvPr/>
        </p:nvSpPr>
        <p:spPr>
          <a:xfrm>
            <a:off x="3081600" y="19202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1,737</a:t>
            </a:r>
            <a:endParaRPr lang="en-US" sz="1200" b="0" u="none" strike="noStrike">
              <a:solidFill>
                <a:srgbClr val="000000"/>
              </a:solidFill>
              <a:effectLst/>
              <a:uFillTx/>
              <a:latin typeface="Arial"/>
            </a:endParaRPr>
          </a:p>
        </p:txBody>
      </p:sp>
      <p:sp>
        <p:nvSpPr>
          <p:cNvPr id="64" name="テキスト ボックス 107"/>
          <p:cNvSpPr/>
          <p:nvPr/>
        </p:nvSpPr>
        <p:spPr>
          <a:xfrm>
            <a:off x="3081600" y="22449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0</a:t>
            </a:r>
            <a:r>
              <a:rPr lang="ja-JP" sz="1200" b="1" u="none" strike="noStrike">
                <a:solidFill>
                  <a:schemeClr val="dk1"/>
                </a:solidFill>
                <a:effectLst/>
                <a:uFillTx/>
                <a:latin typeface="メイリオ"/>
                <a:ea typeface="メイリオ"/>
              </a:rPr>
              <a:t>（広告なし）</a:t>
            </a:r>
            <a:endParaRPr lang="en-US" sz="1200" b="0" u="none" strike="noStrike">
              <a:solidFill>
                <a:srgbClr val="000000"/>
              </a:solidFill>
              <a:effectLst/>
              <a:uFillTx/>
              <a:latin typeface="Arial"/>
            </a:endParaRPr>
          </a:p>
        </p:txBody>
      </p:sp>
      <p:sp>
        <p:nvSpPr>
          <p:cNvPr id="65" name="テキスト ボックス 109"/>
          <p:cNvSpPr/>
          <p:nvPr/>
        </p:nvSpPr>
        <p:spPr>
          <a:xfrm>
            <a:off x="3081600" y="256932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lumMod val="85000"/>
                    <a:lumOff val="15000"/>
                  </a:schemeClr>
                </a:solidFill>
                <a:effectLst/>
                <a:uFillTx/>
                <a:latin typeface="メイリオ"/>
                <a:ea typeface="メイリオ"/>
              </a:rPr>
              <a:t>なし</a:t>
            </a:r>
            <a:endParaRPr lang="en-US" sz="1200" b="0" u="none" strike="noStrike">
              <a:solidFill>
                <a:srgbClr val="000000"/>
              </a:solidFill>
              <a:effectLst/>
              <a:uFillTx/>
              <a:latin typeface="Arial"/>
            </a:endParaRPr>
          </a:p>
        </p:txBody>
      </p:sp>
      <p:sp>
        <p:nvSpPr>
          <p:cNvPr id="66" name="テキスト ボックス 111"/>
          <p:cNvSpPr/>
          <p:nvPr/>
        </p:nvSpPr>
        <p:spPr>
          <a:xfrm>
            <a:off x="3081600" y="48416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不明（広告なし）</a:t>
            </a:r>
            <a:endParaRPr lang="en-US" sz="1200" b="0" u="none" strike="noStrike">
              <a:solidFill>
                <a:srgbClr val="000000"/>
              </a:solidFill>
              <a:effectLst/>
              <a:uFillTx/>
              <a:latin typeface="Arial"/>
            </a:endParaRPr>
          </a:p>
        </p:txBody>
      </p:sp>
      <p:sp>
        <p:nvSpPr>
          <p:cNvPr id="67" name="テキスト ボックス 113"/>
          <p:cNvSpPr/>
          <p:nvPr/>
        </p:nvSpPr>
        <p:spPr>
          <a:xfrm>
            <a:off x="3081600" y="45172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YouTube</a:t>
            </a:r>
            <a:endParaRPr lang="en-US" sz="1200" b="0" u="none" strike="noStrike">
              <a:solidFill>
                <a:srgbClr val="000000"/>
              </a:solidFill>
              <a:effectLst/>
              <a:uFillTx/>
              <a:latin typeface="Arial"/>
            </a:endParaRPr>
          </a:p>
        </p:txBody>
      </p:sp>
      <p:sp>
        <p:nvSpPr>
          <p:cNvPr id="68" name="テキスト ボックス 115"/>
          <p:cNvSpPr/>
          <p:nvPr/>
        </p:nvSpPr>
        <p:spPr>
          <a:xfrm>
            <a:off x="3081600" y="41925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不明</a:t>
            </a:r>
            <a:endParaRPr lang="en-US" sz="1200" b="0" u="none" strike="noStrike">
              <a:solidFill>
                <a:srgbClr val="000000"/>
              </a:solidFill>
              <a:effectLst/>
              <a:uFillTx/>
              <a:latin typeface="Arial"/>
            </a:endParaRPr>
          </a:p>
        </p:txBody>
      </p:sp>
      <p:sp>
        <p:nvSpPr>
          <p:cNvPr id="69" name="テキスト ボックス 117"/>
          <p:cNvSpPr/>
          <p:nvPr/>
        </p:nvSpPr>
        <p:spPr>
          <a:xfrm>
            <a:off x="3081600" y="28940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30</a:t>
            </a:r>
            <a:r>
              <a:rPr lang="ja-JP" sz="1200" b="1" u="none" strike="noStrike">
                <a:solidFill>
                  <a:schemeClr val="dk1"/>
                </a:solidFill>
                <a:effectLst/>
                <a:uFillTx/>
                <a:latin typeface="メイリオ"/>
                <a:ea typeface="メイリオ"/>
              </a:rPr>
              <a:t>件（仮）</a:t>
            </a:r>
            <a:endParaRPr lang="en-US" sz="1200" b="0" u="none" strike="noStrike">
              <a:solidFill>
                <a:srgbClr val="000000"/>
              </a:solidFill>
              <a:effectLst/>
              <a:uFillTx/>
              <a:latin typeface="Arial"/>
            </a:endParaRPr>
          </a:p>
        </p:txBody>
      </p:sp>
      <p:sp>
        <p:nvSpPr>
          <p:cNvPr id="70" name="テキスト ボックス 119"/>
          <p:cNvSpPr/>
          <p:nvPr/>
        </p:nvSpPr>
        <p:spPr>
          <a:xfrm>
            <a:off x="3081600" y="32187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rgbClr val="FF0000"/>
                </a:solidFill>
                <a:effectLst/>
                <a:uFillTx/>
                <a:latin typeface="メイリオ"/>
                <a:ea typeface="メイリオ"/>
              </a:rPr>
              <a:t>問い合わせ</a:t>
            </a:r>
            <a:endParaRPr lang="en-US" sz="1200" b="0" u="none" strike="noStrike">
              <a:solidFill>
                <a:srgbClr val="000000"/>
              </a:solidFill>
              <a:effectLst/>
              <a:uFillTx/>
              <a:latin typeface="Arial"/>
            </a:endParaRPr>
          </a:p>
        </p:txBody>
      </p:sp>
      <p:sp>
        <p:nvSpPr>
          <p:cNvPr id="71" name="テキスト ボックス 121"/>
          <p:cNvSpPr/>
          <p:nvPr/>
        </p:nvSpPr>
        <p:spPr>
          <a:xfrm>
            <a:off x="3081600" y="35434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有</a:t>
            </a:r>
            <a:endParaRPr lang="en-US" sz="1200" b="0" u="none" strike="noStrike">
              <a:solidFill>
                <a:srgbClr val="000000"/>
              </a:solidFill>
              <a:effectLst/>
              <a:uFillTx/>
              <a:latin typeface="Arial"/>
            </a:endParaRPr>
          </a:p>
        </p:txBody>
      </p:sp>
      <p:sp>
        <p:nvSpPr>
          <p:cNvPr id="72" name="テキスト ボックス 123"/>
          <p:cNvSpPr/>
          <p:nvPr/>
        </p:nvSpPr>
        <p:spPr>
          <a:xfrm>
            <a:off x="3081600" y="38678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0</a:t>
            </a:r>
            <a:r>
              <a:rPr lang="zh-CN"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73" name="テキスト ボックス 168"/>
          <p:cNvSpPr/>
          <p:nvPr/>
        </p:nvSpPr>
        <p:spPr>
          <a:xfrm>
            <a:off x="6510600" y="51663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0" u="none" strike="noStrike">
                <a:solidFill>
                  <a:schemeClr val="lt1"/>
                </a:solidFill>
                <a:effectLst/>
                <a:uFillTx/>
                <a:latin typeface="メイリオ"/>
                <a:ea typeface="メイリオ"/>
              </a:rPr>
              <a:t>あいさつ</a:t>
            </a:r>
            <a:endParaRPr lang="en-US" sz="1200" b="0" u="none" strike="noStrike">
              <a:solidFill>
                <a:srgbClr val="FFFFFF"/>
              </a:solidFill>
              <a:effectLst/>
              <a:uFillTx/>
              <a:latin typeface="Arial"/>
            </a:endParaRPr>
          </a:p>
        </p:txBody>
      </p:sp>
      <p:sp>
        <p:nvSpPr>
          <p:cNvPr id="74" name="テキスト ボックス 170"/>
          <p:cNvSpPr/>
          <p:nvPr/>
        </p:nvSpPr>
        <p:spPr>
          <a:xfrm>
            <a:off x="7809120" y="19202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1,241</a:t>
            </a:r>
            <a:endParaRPr lang="en-US" sz="1200" b="0" u="none" strike="noStrike">
              <a:solidFill>
                <a:srgbClr val="000000"/>
              </a:solidFill>
              <a:effectLst/>
              <a:uFillTx/>
              <a:latin typeface="Arial"/>
            </a:endParaRPr>
          </a:p>
        </p:txBody>
      </p:sp>
      <p:sp>
        <p:nvSpPr>
          <p:cNvPr id="75" name="テキスト ボックス 172"/>
          <p:cNvSpPr/>
          <p:nvPr/>
        </p:nvSpPr>
        <p:spPr>
          <a:xfrm>
            <a:off x="7809120" y="22449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約</a:t>
            </a:r>
            <a:r>
              <a:rPr lang="en-US" sz="1200" b="1" u="none" strike="noStrike">
                <a:solidFill>
                  <a:schemeClr val="dk1"/>
                </a:solidFill>
                <a:effectLst/>
                <a:uFillTx/>
                <a:latin typeface="メイリオ"/>
                <a:ea typeface="メイリオ"/>
              </a:rPr>
              <a:t>807</a:t>
            </a:r>
            <a:r>
              <a:rPr lang="zh-CN" sz="1200" b="1" u="none" strike="noStrike">
                <a:solidFill>
                  <a:schemeClr val="dk1"/>
                </a:solidFill>
                <a:effectLst/>
                <a:uFillTx/>
                <a:latin typeface="メイリオ"/>
                <a:ea typeface="メイリオ"/>
              </a:rPr>
              <a:t>（仮）</a:t>
            </a:r>
            <a:endParaRPr lang="en-US" sz="1200" b="0" u="none" strike="noStrike">
              <a:solidFill>
                <a:srgbClr val="000000"/>
              </a:solidFill>
              <a:effectLst/>
              <a:uFillTx/>
              <a:latin typeface="Arial"/>
            </a:endParaRPr>
          </a:p>
        </p:txBody>
      </p:sp>
      <p:sp>
        <p:nvSpPr>
          <p:cNvPr id="76" name="テキスト ボックス 174"/>
          <p:cNvSpPr/>
          <p:nvPr/>
        </p:nvSpPr>
        <p:spPr>
          <a:xfrm>
            <a:off x="7809120" y="256932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35%</a:t>
            </a:r>
            <a:r>
              <a:rPr lang="zh-CN" sz="1200" b="1" u="none" strike="noStrike">
                <a:solidFill>
                  <a:schemeClr val="dk1"/>
                </a:solidFill>
                <a:effectLst/>
                <a:uFillTx/>
                <a:latin typeface="メイリオ"/>
                <a:ea typeface="メイリオ"/>
              </a:rPr>
              <a:t>（仮）</a:t>
            </a:r>
            <a:endParaRPr lang="en-US" sz="1200" b="0" u="none" strike="noStrike">
              <a:solidFill>
                <a:srgbClr val="000000"/>
              </a:solidFill>
              <a:effectLst/>
              <a:uFillTx/>
              <a:latin typeface="Arial"/>
            </a:endParaRPr>
          </a:p>
        </p:txBody>
      </p:sp>
      <p:sp>
        <p:nvSpPr>
          <p:cNvPr id="77" name="テキスト ボックス 176"/>
          <p:cNvSpPr/>
          <p:nvPr/>
        </p:nvSpPr>
        <p:spPr>
          <a:xfrm>
            <a:off x="7809120" y="48416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なし</a:t>
            </a:r>
            <a:endParaRPr lang="en-US" sz="1200" b="0" u="none" strike="noStrike">
              <a:solidFill>
                <a:srgbClr val="000000"/>
              </a:solidFill>
              <a:effectLst/>
              <a:uFillTx/>
              <a:latin typeface="Arial"/>
            </a:endParaRPr>
          </a:p>
        </p:txBody>
      </p:sp>
      <p:sp>
        <p:nvSpPr>
          <p:cNvPr id="78" name="テキスト ボックス 178"/>
          <p:cNvSpPr/>
          <p:nvPr/>
        </p:nvSpPr>
        <p:spPr>
          <a:xfrm>
            <a:off x="7809120" y="45172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なし（標準機能）</a:t>
            </a:r>
            <a:endParaRPr lang="en-US" sz="1200" b="0" u="none" strike="noStrike">
              <a:solidFill>
                <a:srgbClr val="000000"/>
              </a:solidFill>
              <a:effectLst/>
              <a:uFillTx/>
              <a:latin typeface="Arial"/>
            </a:endParaRPr>
          </a:p>
        </p:txBody>
      </p:sp>
      <p:sp>
        <p:nvSpPr>
          <p:cNvPr id="79" name="テキスト ボックス 180"/>
          <p:cNvSpPr/>
          <p:nvPr/>
        </p:nvSpPr>
        <p:spPr>
          <a:xfrm>
            <a:off x="7809120" y="41925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0" name="テキスト ボックス 182"/>
          <p:cNvSpPr/>
          <p:nvPr/>
        </p:nvSpPr>
        <p:spPr>
          <a:xfrm>
            <a:off x="7809120" y="28940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1" name="テキスト ボックス 184"/>
          <p:cNvSpPr/>
          <p:nvPr/>
        </p:nvSpPr>
        <p:spPr>
          <a:xfrm>
            <a:off x="7809120" y="32187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2" name="テキスト ボックス 186"/>
          <p:cNvSpPr/>
          <p:nvPr/>
        </p:nvSpPr>
        <p:spPr>
          <a:xfrm>
            <a:off x="7809120" y="35434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3" name="テキスト ボックス 188"/>
          <p:cNvSpPr/>
          <p:nvPr/>
        </p:nvSpPr>
        <p:spPr>
          <a:xfrm>
            <a:off x="7809120" y="38678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有（サイト・動画）</a:t>
            </a:r>
            <a:endParaRPr lang="en-US" sz="1200" b="0" u="none" strike="noStrike">
              <a:solidFill>
                <a:srgbClr val="000000"/>
              </a:solidFill>
              <a:effectLst/>
              <a:uFillTx/>
              <a:latin typeface="Arial"/>
            </a:endParaRPr>
          </a:p>
        </p:txBody>
      </p:sp>
      <p:sp>
        <p:nvSpPr>
          <p:cNvPr id="84" name="テキスト ボックス 190"/>
          <p:cNvSpPr/>
          <p:nvPr/>
        </p:nvSpPr>
        <p:spPr>
          <a:xfrm>
            <a:off x="7809120" y="51663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ボタンなし</a:t>
            </a:r>
            <a:endParaRPr lang="en-US" sz="1200" b="0" u="none" strike="noStrike">
              <a:solidFill>
                <a:srgbClr val="000000"/>
              </a:solidFill>
              <a:effectLst/>
              <a:uFillTx/>
              <a:latin typeface="Arial"/>
            </a:endParaRPr>
          </a:p>
        </p:txBody>
      </p:sp>
      <p:sp>
        <p:nvSpPr>
          <p:cNvPr id="85" name="テキスト ボックス 22"/>
          <p:cNvSpPr/>
          <p:nvPr/>
        </p:nvSpPr>
        <p:spPr>
          <a:xfrm>
            <a:off x="8928720" y="451080"/>
            <a:ext cx="977040" cy="3554280"/>
          </a:xfrm>
          <a:prstGeom prst="rect">
            <a:avLst/>
          </a:prstGeom>
          <a:solidFill>
            <a:schemeClr val="lt1">
              <a:alpha val="3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pic>
        <p:nvPicPr>
          <p:cNvPr id="86" name="図 8"/>
          <p:cNvPicPr/>
          <p:nvPr/>
        </p:nvPicPr>
        <p:blipFill>
          <a:blip r:embed="rId4"/>
          <a:stretch/>
        </p:blipFill>
        <p:spPr>
          <a:xfrm>
            <a:off x="365760" y="1920240"/>
            <a:ext cx="1328040" cy="2697120"/>
          </a:xfrm>
          <a:prstGeom prst="rect">
            <a:avLst/>
          </a:prstGeom>
          <a:noFill/>
          <a:ln w="0">
            <a:noFill/>
          </a:ln>
        </p:spPr>
      </p:pic>
      <p:pic>
        <p:nvPicPr>
          <p:cNvPr id="87" name="図 23"/>
          <p:cNvPicPr/>
          <p:nvPr/>
        </p:nvPicPr>
        <p:blipFill>
          <a:blip r:embed="rId5"/>
          <a:srcRect t="4916" b="4368"/>
          <a:stretch/>
        </p:blipFill>
        <p:spPr>
          <a:xfrm>
            <a:off x="5064480" y="2088360"/>
            <a:ext cx="1268640" cy="2490480"/>
          </a:xfrm>
          <a:prstGeom prst="rect">
            <a:avLst/>
          </a:prstGeom>
          <a:noFill/>
          <a:ln w="0">
            <a:noFill/>
          </a:ln>
        </p:spPr>
      </p:pic>
      <p:sp>
        <p:nvSpPr>
          <p:cNvPr id="88" name="テキスト ボックス 25"/>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zh-CN" sz="1400" b="0" u="none" strike="noStrike">
                <a:solidFill>
                  <a:schemeClr val="dk1"/>
                </a:solidFill>
                <a:effectLst/>
                <a:uFillTx/>
                <a:latin typeface="メイリオ"/>
                <a:ea typeface="メイリオ"/>
              </a:rPr>
              <a:t>公式アカウントの標準機能で運用中（</a:t>
            </a:r>
            <a:r>
              <a:rPr lang="en-US" sz="1400" b="0" u="none" strike="noStrike">
                <a:solidFill>
                  <a:schemeClr val="dk1"/>
                </a:solidFill>
                <a:effectLst/>
                <a:uFillTx/>
                <a:latin typeface="メイリオ"/>
                <a:ea typeface="メイリオ"/>
              </a:rPr>
              <a:t>L</a:t>
            </a:r>
            <a:r>
              <a:rPr lang="zh-CN" sz="1400" b="0" u="none" strike="noStrike">
                <a:solidFill>
                  <a:schemeClr val="dk1"/>
                </a:solidFill>
                <a:effectLst/>
                <a:uFillTx/>
                <a:latin typeface="メイリオ"/>
                <a:ea typeface="メイリオ"/>
              </a:rPr>
              <a:t>ステップ等のツールなし）。</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1"/>
                </a:solidFill>
                <a:effectLst/>
                <a:uFillTx/>
                <a:latin typeface="メイリオ"/>
                <a:ea typeface="メイリオ"/>
              </a:rPr>
              <a:t>友だち追加の入口・追加後の動線ともに、改善の余地があると想定。</a:t>
            </a:r>
            <a:endParaRPr lang="en-US" sz="14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9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9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想定動線</a:t>
            </a:r>
            <a:endParaRPr lang="en-US" sz="1600" b="0" u="none" strike="noStrike">
              <a:solidFill>
                <a:srgbClr val="000000"/>
              </a:solidFill>
              <a:effectLst/>
              <a:uFillTx/>
              <a:latin typeface="Arial"/>
            </a:endParaRPr>
          </a:p>
        </p:txBody>
      </p:sp>
      <p:cxnSp>
        <p:nvCxnSpPr>
          <p:cNvPr id="92"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93" name="テキスト ボックス 5"/>
          <p:cNvSpPr/>
          <p:nvPr/>
        </p:nvSpPr>
        <p:spPr>
          <a:xfrm>
            <a:off x="3542040" y="1938600"/>
            <a:ext cx="2351520" cy="32868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400" b="1" u="none" strike="noStrike">
                <a:solidFill>
                  <a:srgbClr val="FFFFFF"/>
                </a:solidFill>
                <a:effectLst/>
                <a:uFillTx/>
                <a:latin typeface="メイリオ"/>
                <a:ea typeface="メイリオ"/>
              </a:rPr>
              <a:t>⑤ リード有効化（CV）</a:t>
            </a:r>
            <a:endParaRPr lang="en-US" sz="1400" b="0" u="none" strike="noStrike">
              <a:solidFill>
                <a:srgbClr val="FFFFFF"/>
              </a:solidFill>
              <a:effectLst/>
              <a:uFillTx/>
              <a:latin typeface="Arial"/>
            </a:endParaRPr>
          </a:p>
        </p:txBody>
      </p:sp>
      <p:sp>
        <p:nvSpPr>
          <p:cNvPr id="94" name="テキスト ボックス 6"/>
          <p:cNvSpPr/>
          <p:nvPr/>
        </p:nvSpPr>
        <p:spPr>
          <a:xfrm>
            <a:off x="6119280" y="2468880"/>
            <a:ext cx="2351520" cy="32868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⑦マネタイズ</a:t>
            </a:r>
            <a:r>
              <a:rPr lang="en-US" sz="1100" b="1" u="none" strike="noStrike">
                <a:solidFill>
                  <a:srgbClr val="595959"/>
                </a:solidFill>
                <a:effectLst/>
                <a:uFillTx/>
                <a:latin typeface="メイリオ"/>
                <a:ea typeface="メイリオ"/>
              </a:rPr>
              <a:t>(</a:t>
            </a:r>
            <a:r>
              <a:rPr lang="ja-JP" sz="1100" b="1" u="none" strike="noStrike">
                <a:solidFill>
                  <a:srgbClr val="595959"/>
                </a:solidFill>
                <a:effectLst/>
                <a:uFillTx/>
                <a:latin typeface="メイリオ"/>
                <a:ea typeface="メイリオ"/>
              </a:rPr>
              <a:t>成約</a:t>
            </a:r>
            <a:r>
              <a:rPr lang="en-US" sz="1100" b="1" u="none" strike="noStrike">
                <a:solidFill>
                  <a:srgbClr val="595959"/>
                </a:solidFill>
                <a:effectLst/>
                <a:uFillTx/>
                <a:latin typeface="メイリオ"/>
                <a:ea typeface="メイリオ"/>
              </a:rPr>
              <a:t>)</a:t>
            </a:r>
            <a:endParaRPr lang="en-US" sz="1100" b="0" u="none" strike="noStrike">
              <a:solidFill>
                <a:srgbClr val="595959"/>
              </a:solidFill>
              <a:effectLst/>
              <a:uFillTx/>
              <a:latin typeface="Arial"/>
            </a:endParaRPr>
          </a:p>
        </p:txBody>
      </p:sp>
      <p:sp>
        <p:nvSpPr>
          <p:cNvPr id="95" name="テキスト ボックス 7"/>
          <p:cNvSpPr/>
          <p:nvPr/>
        </p:nvSpPr>
        <p:spPr>
          <a:xfrm>
            <a:off x="4830840" y="2203560"/>
            <a:ext cx="2351520" cy="32868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⑥ 有効リードの再育成</a:t>
            </a:r>
            <a:endParaRPr lang="en-US" sz="1200" b="0" u="none" strike="noStrike">
              <a:solidFill>
                <a:srgbClr val="595959"/>
              </a:solidFill>
              <a:effectLst/>
              <a:uFillTx/>
              <a:latin typeface="Arial"/>
            </a:endParaRPr>
          </a:p>
        </p:txBody>
      </p:sp>
      <p:sp>
        <p:nvSpPr>
          <p:cNvPr id="96" name="テキスト ボックス 8"/>
          <p:cNvSpPr/>
          <p:nvPr/>
        </p:nvSpPr>
        <p:spPr>
          <a:xfrm>
            <a:off x="7408080" y="2734200"/>
            <a:ext cx="2351520" cy="40212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⑧LTV</a:t>
            </a:r>
            <a:r>
              <a:rPr lang="ja-JP" sz="1200" b="1" u="none" strike="noStrike">
                <a:solidFill>
                  <a:srgbClr val="595959"/>
                </a:solidFill>
                <a:effectLst/>
                <a:uFillTx/>
                <a:latin typeface="メイリオ"/>
                <a:ea typeface="メイリオ"/>
              </a:rPr>
              <a:t>最大化・紹介</a:t>
            </a:r>
            <a:endParaRPr lang="en-US" sz="1200" b="0" u="none" strike="noStrike">
              <a:solidFill>
                <a:srgbClr val="595959"/>
              </a:solidFill>
              <a:effectLst/>
              <a:uFillTx/>
              <a:latin typeface="Arial"/>
            </a:endParaRPr>
          </a:p>
          <a:p>
            <a:pPr defTabSz="914400">
              <a:lnSpc>
                <a:spcPct val="100000"/>
              </a:lnSpc>
            </a:pPr>
            <a:endParaRPr lang="en-US" sz="1100" b="0" u="none" strike="noStrike">
              <a:solidFill>
                <a:srgbClr val="595959"/>
              </a:solidFill>
              <a:effectLst/>
              <a:uFillTx/>
              <a:latin typeface="Arial"/>
            </a:endParaRPr>
          </a:p>
        </p:txBody>
      </p:sp>
      <p:sp>
        <p:nvSpPr>
          <p:cNvPr id="97" name="テキスト ボックス 9"/>
          <p:cNvSpPr/>
          <p:nvPr/>
        </p:nvSpPr>
        <p:spPr>
          <a:xfrm>
            <a:off x="334440" y="193860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① 接触（認知・流入）</a:t>
            </a:r>
            <a:endParaRPr lang="en-US" sz="1200" b="0" u="none" strike="noStrike">
              <a:solidFill>
                <a:srgbClr val="000000"/>
              </a:solidFill>
              <a:effectLst/>
              <a:uFillTx/>
              <a:latin typeface="Arial"/>
            </a:endParaRPr>
          </a:p>
        </p:txBody>
      </p:sp>
      <p:sp>
        <p:nvSpPr>
          <p:cNvPr id="98" name="テキスト ボックス 10"/>
          <p:cNvSpPr/>
          <p:nvPr/>
        </p:nvSpPr>
        <p:spPr>
          <a:xfrm>
            <a:off x="1268280" y="220356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② サイト離脱（対策）</a:t>
            </a:r>
            <a:endParaRPr lang="en-US" sz="1200" b="0" u="none" strike="noStrike">
              <a:solidFill>
                <a:srgbClr val="000000"/>
              </a:solidFill>
              <a:effectLst/>
              <a:uFillTx/>
              <a:latin typeface="Arial"/>
            </a:endParaRPr>
          </a:p>
        </p:txBody>
      </p:sp>
      <p:sp>
        <p:nvSpPr>
          <p:cNvPr id="99" name="テキスト ボックス 11"/>
          <p:cNvSpPr/>
          <p:nvPr/>
        </p:nvSpPr>
        <p:spPr>
          <a:xfrm>
            <a:off x="2202480" y="246888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③ 育成（興味喚起）</a:t>
            </a:r>
            <a:endParaRPr lang="en-US" sz="1200" b="0" u="none" strike="noStrike">
              <a:solidFill>
                <a:srgbClr val="000000"/>
              </a:solidFill>
              <a:effectLst/>
              <a:uFillTx/>
              <a:latin typeface="Arial"/>
            </a:endParaRPr>
          </a:p>
        </p:txBody>
      </p:sp>
      <p:sp>
        <p:nvSpPr>
          <p:cNvPr id="100" name="テキスト ボックス 12"/>
          <p:cNvSpPr/>
          <p:nvPr/>
        </p:nvSpPr>
        <p:spPr>
          <a:xfrm>
            <a:off x="3136320" y="273420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④リード獲得 </a:t>
            </a:r>
            <a:r>
              <a:rPr lang="en-US" sz="1100" b="1" u="none" strike="noStrike">
                <a:solidFill>
                  <a:schemeClr val="dk1"/>
                </a:solidFill>
                <a:effectLst/>
                <a:uFillTx/>
                <a:latin typeface="メイリオ"/>
                <a:ea typeface="メイリオ"/>
              </a:rPr>
              <a:t>(web/LINE)</a:t>
            </a:r>
            <a:endParaRPr lang="en-US" sz="1100" b="0" u="none" strike="noStrike">
              <a:solidFill>
                <a:srgbClr val="000000"/>
              </a:solidFill>
              <a:effectLst/>
              <a:uFillTx/>
              <a:latin typeface="Arial"/>
            </a:endParaRPr>
          </a:p>
        </p:txBody>
      </p:sp>
      <p:cxnSp>
        <p:nvCxnSpPr>
          <p:cNvPr id="101" name="コネクタ: カギ線 13"/>
          <p:cNvCxnSpPr/>
          <p:nvPr/>
        </p:nvCxnSpPr>
        <p:spPr>
          <a:xfrm rot="5400000" flipH="1" flipV="1">
            <a:off x="4319280" y="2335680"/>
            <a:ext cx="466560" cy="330480"/>
          </a:xfrm>
          <a:prstGeom prst="bentConnector3">
            <a:avLst>
              <a:gd name="adj1" fmla="val 49961"/>
            </a:avLst>
          </a:prstGeom>
          <a:ln w="19050">
            <a:solidFill>
              <a:srgbClr val="000000"/>
            </a:solidFill>
            <a:prstDash val="sysDot"/>
            <a:round/>
            <a:tailEnd type="triangle" w="med" len="med"/>
          </a:ln>
        </p:spPr>
      </p:cxnSp>
      <p:sp>
        <p:nvSpPr>
          <p:cNvPr id="102" name="正方形/長方形 14"/>
          <p:cNvSpPr/>
          <p:nvPr/>
        </p:nvSpPr>
        <p:spPr>
          <a:xfrm>
            <a:off x="334440" y="1481400"/>
            <a:ext cx="9425520" cy="4021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103" name="直線矢印コネクタ 15"/>
          <p:cNvCxnSpPr/>
          <p:nvPr/>
        </p:nvCxnSpPr>
        <p:spPr>
          <a:xfrm>
            <a:off x="417600" y="1682280"/>
            <a:ext cx="9240480" cy="360"/>
          </a:xfrm>
          <a:prstGeom prst="straightConnector1">
            <a:avLst/>
          </a:prstGeom>
          <a:ln w="28575">
            <a:solidFill>
              <a:srgbClr val="000000"/>
            </a:solidFill>
            <a:prstDash val="sysDash"/>
            <a:round/>
            <a:headEnd type="triangle" w="med" len="med"/>
            <a:tailEnd type="triangle" w="med" len="med"/>
          </a:ln>
        </p:spPr>
      </p:cxnSp>
      <p:sp>
        <p:nvSpPr>
          <p:cNvPr id="104" name="テキスト ボックス 16"/>
          <p:cNvSpPr/>
          <p:nvPr/>
        </p:nvSpPr>
        <p:spPr>
          <a:xfrm>
            <a:off x="3898080" y="1536120"/>
            <a:ext cx="265140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カスタマージャーニーマップ</a:t>
            </a:r>
            <a:endParaRPr lang="en-US" sz="1200" b="0" u="none" strike="noStrike">
              <a:solidFill>
                <a:srgbClr val="000000"/>
              </a:solidFill>
              <a:effectLst/>
              <a:uFillTx/>
              <a:latin typeface="Arial"/>
            </a:endParaRPr>
          </a:p>
        </p:txBody>
      </p:sp>
      <p:sp>
        <p:nvSpPr>
          <p:cNvPr id="105" name="正方形/長方形 27"/>
          <p:cNvSpPr/>
          <p:nvPr/>
        </p:nvSpPr>
        <p:spPr>
          <a:xfrm>
            <a:off x="334440" y="3246120"/>
            <a:ext cx="9425520" cy="3108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6" name="テキスト ボックス 33"/>
          <p:cNvSpPr/>
          <p:nvPr/>
        </p:nvSpPr>
        <p:spPr>
          <a:xfrm>
            <a:off x="3542385" y="3931920"/>
            <a:ext cx="6035040" cy="731520"/>
          </a:xfrm>
          <a:prstGeom prst="rect">
            <a:avLst/>
          </a:prstGeom>
          <a:solidFill>
            <a:srgbClr val="FFFFFF"/>
          </a:solidFill>
          <a:ln w="12700">
            <a:solidFill>
              <a:srgbClr val="A6A6A6"/>
            </a:solidFill>
            <a:prstDash val="dash"/>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a:solidFill>
                  <a:srgbClr val="595959"/>
                </a:solidFill>
                <a:effectLst/>
                <a:uFillTx/>
                <a:latin typeface="メイリオ"/>
                <a:ea typeface="メイリオ"/>
              </a:rPr>
              <a:t>あらうち様による個別対応（参考・計測対象外）</a:t>
            </a:r>
            <a:endParaRPr lang="en-US" sz="1400" b="0" u="none" strike="noStrike">
              <a:solidFill>
                <a:srgbClr val="595959"/>
              </a:solidFill>
              <a:effectLst/>
              <a:uFillTx/>
              <a:latin typeface="Arial"/>
            </a:endParaRPr>
          </a:p>
          <a:p>
            <a:pPr algn="ctr" defTabSz="914400">
              <a:lnSpc>
                <a:spcPct val="100000"/>
              </a:lnSpc>
            </a:pPr>
            <a:r>
              <a:rPr lang="ja-JP" sz="1200" b="0" u="none" strike="noStrike">
                <a:solidFill>
                  <a:srgbClr val="595959"/>
                </a:solidFill>
                <a:effectLst/>
                <a:uFillTx/>
                <a:latin typeface="メイリオ"/>
                <a:ea typeface="メイリオ"/>
              </a:rPr>
              <a:t>空室確認・内見の手配／お申込み／ご契約／鍵のお渡し・お引っ越し など</a:t>
            </a:r>
            <a:endParaRPr lang="en-US" sz="1200" b="0" u="none" strike="noStrike">
              <a:solidFill>
                <a:srgbClr val="595959"/>
              </a:solidFill>
              <a:effectLst/>
              <a:uFillTx/>
              <a:latin typeface="Arial"/>
            </a:endParaRPr>
          </a:p>
        </p:txBody>
      </p:sp>
      <p:sp>
        <p:nvSpPr>
          <p:cNvPr id="108" name="テキスト ボックス 37"/>
          <p:cNvSpPr/>
          <p:nvPr/>
        </p:nvSpPr>
        <p:spPr>
          <a:xfrm>
            <a:off x="329040" y="3310200"/>
            <a:ext cx="274284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200" b="0" u="none" strike="noStrike">
                <a:solidFill>
                  <a:schemeClr val="dk1"/>
                </a:solidFill>
                <a:effectLst/>
                <a:uFillTx/>
                <a:latin typeface="メイリオ"/>
                <a:ea typeface="メイリオ"/>
              </a:rPr>
              <a:t>&lt;</a:t>
            </a:r>
            <a:r>
              <a:rPr lang="ja-JP" sz="1200" b="0" u="none" strike="noStrike">
                <a:solidFill>
                  <a:schemeClr val="dk1"/>
                </a:solidFill>
                <a:effectLst/>
                <a:uFillTx/>
                <a:latin typeface="メイリオ"/>
                <a:ea typeface="メイリオ"/>
              </a:rPr>
              <a:t>貴社のユーザー動線イメージ</a:t>
            </a:r>
            <a:r>
              <a:rPr lang="en-US" sz="1200" b="0" u="none" strike="noStrike">
                <a:solidFill>
                  <a:schemeClr val="dk1"/>
                </a:solidFill>
                <a:effectLst/>
                <a:uFillTx/>
                <a:latin typeface="メイリオ"/>
                <a:ea typeface="メイリオ"/>
              </a:rPr>
              <a:t>&gt;</a:t>
            </a:r>
            <a:endParaRPr lang="en-US" sz="1200" b="0" u="none" strike="noStrike">
              <a:solidFill>
                <a:srgbClr val="000000"/>
              </a:solidFill>
              <a:effectLst/>
              <a:uFillTx/>
              <a:latin typeface="Arial"/>
            </a:endParaRPr>
          </a:p>
        </p:txBody>
      </p:sp>
      <p:sp>
        <p:nvSpPr>
          <p:cNvPr id="109" name="テキスト ボックス 38"/>
          <p:cNvSpPr/>
          <p:nvPr/>
        </p:nvSpPr>
        <p:spPr>
          <a:xfrm>
            <a:off x="365760" y="373068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①ポータルで物件検索</a:t>
            </a:r>
            <a:endParaRPr lang="en-US" sz="1300" b="0" u="none" strike="noStrike">
              <a:solidFill>
                <a:srgbClr val="000000"/>
              </a:solidFill>
              <a:effectLst/>
              <a:uFillTx/>
              <a:latin typeface="Arial"/>
            </a:endParaRPr>
          </a:p>
        </p:txBody>
      </p:sp>
      <p:sp>
        <p:nvSpPr>
          <p:cNvPr id="110" name="テキスト ボックス 25"/>
          <p:cNvSpPr/>
          <p:nvPr/>
        </p:nvSpPr>
        <p:spPr>
          <a:xfrm>
            <a:off x="365760" y="413316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②100</a:t>
            </a:r>
            <a:r>
              <a:rPr lang="ja-JP" sz="1300" b="1" u="none" strike="noStrike">
                <a:solidFill>
                  <a:schemeClr val="dk1"/>
                </a:solidFill>
                <a:effectLst/>
                <a:uFillTx/>
                <a:latin typeface="メイリオ"/>
                <a:ea typeface="メイリオ"/>
              </a:rPr>
              <a:t>円賃貸のサイト</a:t>
            </a:r>
            <a:endParaRPr lang="en-US" sz="1300" b="0" u="none" strike="noStrike">
              <a:solidFill>
                <a:srgbClr val="000000"/>
              </a:solidFill>
              <a:effectLst/>
              <a:uFillTx/>
              <a:latin typeface="Arial"/>
            </a:endParaRPr>
          </a:p>
        </p:txBody>
      </p:sp>
      <p:sp>
        <p:nvSpPr>
          <p:cNvPr id="111" name="テキスト ボックス 36"/>
          <p:cNvSpPr/>
          <p:nvPr/>
        </p:nvSpPr>
        <p:spPr>
          <a:xfrm>
            <a:off x="365760" y="539496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③LINE</a:t>
            </a:r>
            <a:r>
              <a:rPr lang="ja-JP" sz="1300" b="1" u="none" strike="noStrike">
                <a:solidFill>
                  <a:schemeClr val="dk1"/>
                </a:solidFill>
                <a:effectLst/>
                <a:uFillTx/>
                <a:latin typeface="メイリオ"/>
                <a:ea typeface="メイリオ"/>
              </a:rPr>
              <a:t>で友だち追加</a:t>
            </a:r>
            <a:endParaRPr lang="en-US" sz="1300" b="0" u="none" strike="noStrike">
              <a:solidFill>
                <a:srgbClr val="000000"/>
              </a:solidFill>
              <a:effectLst/>
              <a:uFillTx/>
              <a:latin typeface="Arial"/>
            </a:endParaRPr>
          </a:p>
        </p:txBody>
      </p:sp>
      <p:sp>
        <p:nvSpPr>
          <p:cNvPr id="112" name="テキスト ボックス 45"/>
          <p:cNvSpPr/>
          <p:nvPr/>
        </p:nvSpPr>
        <p:spPr>
          <a:xfrm>
            <a:off x="365760" y="5797440"/>
            <a:ext cx="1965600" cy="32868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200" b="1" u="none" strike="noStrike">
                <a:solidFill>
                  <a:srgbClr val="FFFFFF"/>
                </a:solidFill>
                <a:effectLst/>
                <a:uFillTx/>
                <a:latin typeface="メイリオ"/>
                <a:ea typeface="メイリオ"/>
              </a:rPr>
              <a:t>④物件情報の送信（CV）</a:t>
            </a:r>
            <a:endParaRPr lang="en-US" sz="1200" b="0" u="none" strike="noStrike">
              <a:solidFill>
                <a:srgbClr val="FFFFFF"/>
              </a:solidFill>
              <a:effectLst/>
              <a:uFillTx/>
              <a:latin typeface="Arial"/>
            </a:endParaRPr>
          </a:p>
        </p:txBody>
      </p:sp>
      <p:cxnSp>
        <p:nvCxnSpPr>
          <p:cNvPr id="113" name="コネクタ: カギ線 46"/>
          <p:cNvCxnSpPr>
            <a:stCxn id="112" idx="3"/>
            <a:endCxn id="106" idx="1"/>
          </p:cNvCxnSpPr>
          <p:nvPr/>
        </p:nvCxnSpPr>
        <p:spPr>
          <a:xfrm flipV="1">
            <a:off x="2331360" y="4297320"/>
            <a:ext cx="1211400" cy="1664640"/>
          </a:xfrm>
          <a:prstGeom prst="bentConnector3">
            <a:avLst>
              <a:gd name="adj1" fmla="val 50000"/>
            </a:avLst>
          </a:prstGeom>
          <a:ln w="12700">
            <a:solidFill>
              <a:srgbClr val="000000"/>
            </a:solidFill>
            <a:prstDash val="sysDash"/>
            <a:round/>
            <a:tailEnd type="triangle" w="med" len="med"/>
          </a:ln>
        </p:spPr>
      </p:cxnSp>
      <p:sp>
        <p:nvSpPr>
          <p:cNvPr id="114" name="テキスト ボックス 54"/>
          <p:cNvSpPr/>
          <p:nvPr/>
        </p:nvSpPr>
        <p:spPr>
          <a:xfrm>
            <a:off x="2662560" y="5340240"/>
            <a:ext cx="548280" cy="310680"/>
          </a:xfrm>
          <a:prstGeom prst="rect">
            <a:avLst/>
          </a:prstGeom>
          <a:solidFill>
            <a:schemeClr val="accent1">
              <a:lumMod val="40000"/>
              <a:lumOff val="60000"/>
            </a:schemeClr>
          </a:solid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en-US" sz="1100" b="0" u="none" strike="noStrike">
                <a:solidFill>
                  <a:srgbClr val="1F285A"/>
                </a:solidFill>
                <a:effectLst/>
                <a:uFillTx/>
                <a:latin typeface="メイリオ"/>
                <a:ea typeface="メイリオ"/>
              </a:rPr>
              <a:t>LINE</a:t>
            </a:r>
            <a:endParaRPr lang="en-US" sz="1100" b="0" u="none" strike="noStrike">
              <a:solidFill>
                <a:srgbClr val="000000"/>
              </a:solidFill>
              <a:effectLst/>
              <a:uFillTx/>
              <a:latin typeface="Arial"/>
            </a:endParaRPr>
          </a:p>
        </p:txBody>
      </p:sp>
      <p:cxnSp>
        <p:nvCxnSpPr>
          <p:cNvPr id="116" name="コネクタ: カギ線 21"/>
          <p:cNvCxnSpPr/>
          <p:nvPr/>
        </p:nvCxnSpPr>
        <p:spPr>
          <a:xfrm>
            <a:off x="2331720" y="4297320"/>
            <a:ext cx="1210680" cy="360"/>
          </a:xfrm>
          <a:prstGeom prst="bentConnector2">
            <a:avLst/>
          </a:prstGeom>
          <a:ln w="12700">
            <a:solidFill>
              <a:srgbClr val="000000"/>
            </a:solidFill>
            <a:prstDash val="sysDash"/>
            <a:round/>
            <a:tailEnd type="triangle" w="med" len="med"/>
          </a:ln>
        </p:spPr>
      </p:cxnSp>
      <p:sp>
        <p:nvSpPr>
          <p:cNvPr id="117" name="テキスト ボックス 30"/>
          <p:cNvSpPr/>
          <p:nvPr/>
        </p:nvSpPr>
        <p:spPr>
          <a:xfrm>
            <a:off x="426240" y="599040"/>
            <a:ext cx="9068760" cy="76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ポータルサイトで物件検索 → サイト閲覧 → LINE追加 → 物件情報の送信（CV）の流れで設計します。</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1">
                    <a:lumMod val="65000"/>
                    <a:lumOff val="35000"/>
                  </a:schemeClr>
                </a:solidFill>
                <a:effectLst/>
                <a:uFillTx/>
                <a:latin typeface="メイリオ"/>
                <a:ea typeface="メイリオ"/>
              </a:rPr>
              <a:t>最大の改善ポイントは、LINE友だち追加後に物件情報の送信（CV）へつなげる導線の整備です。</a:t>
            </a:r>
            <a:endParaRPr lang="en-US" sz="1400" b="0" u="none" strike="noStrike">
              <a:solidFill>
                <a:srgbClr val="000000"/>
              </a:solidFill>
              <a:effectLst/>
              <a:uFillTx/>
              <a:latin typeface="Arial"/>
            </a:endParaRPr>
          </a:p>
        </p:txBody>
      </p:sp>
      <p:sp>
        <p:nvSpPr>
          <p:cNvPr id="120" name="テキスト ボックス 32"/>
          <p:cNvSpPr/>
          <p:nvPr/>
        </p:nvSpPr>
        <p:spPr>
          <a:xfrm>
            <a:off x="2433960" y="4069080"/>
            <a:ext cx="529920" cy="456840"/>
          </a:xfrm>
          <a:prstGeom prst="rect">
            <a:avLst/>
          </a:prstGeom>
          <a:solidFill>
            <a:schemeClr val="accent1">
              <a:lumMod val="40000"/>
              <a:lumOff val="60000"/>
            </a:schemeClr>
          </a:solid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ja-JP" sz="1100" b="0" u="none" strike="noStrike">
                <a:solidFill>
                  <a:srgbClr val="1F285A"/>
                </a:solidFill>
                <a:effectLst/>
                <a:uFillTx/>
                <a:latin typeface="メイリオ"/>
                <a:ea typeface="メイリオ"/>
              </a:rPr>
              <a:t>電話</a:t>
            </a:r>
            <a:endParaRPr lang="en-US" sz="1100" b="0" u="none" strike="noStrike">
              <a:solidFill>
                <a:srgbClr val="000000"/>
              </a:solidFill>
              <a:effectLst/>
              <a:uFillTx/>
              <a:latin typeface="Arial"/>
            </a:endParaRPr>
          </a:p>
          <a:p>
            <a:pPr algn="ctr" defTabSz="914400">
              <a:lnSpc>
                <a:spcPct val="100000"/>
              </a:lnSpc>
            </a:pPr>
            <a:r>
              <a:rPr lang="en-US" sz="1100" b="0" u="none" strike="noStrike">
                <a:solidFill>
                  <a:srgbClr val="1F285A"/>
                </a:solidFill>
                <a:effectLst/>
                <a:uFillTx/>
                <a:latin typeface="メイリオ"/>
                <a:ea typeface="メイリオ"/>
              </a:rPr>
              <a:t>WEB</a:t>
            </a:r>
            <a:endParaRPr lang="en-US" sz="1100" b="0" u="none" strike="noStrike">
              <a:solidFill>
                <a:srgbClr val="000000"/>
              </a:solidFill>
              <a:effectLst/>
              <a:uFillTx/>
              <a:latin typeface="Arial"/>
            </a:endParaRPr>
          </a:p>
        </p:txBody>
      </p:sp>
      <p:cxnSp>
        <p:nvCxnSpPr>
          <p:cNvPr id="121" name="矢印 ②→③"/>
          <p:cNvCxnSpPr/>
          <p:nvPr/>
        </p:nvCxnSpPr>
        <p:spPr>
          <a:xfrm>
            <a:off x="1348560" y="4462200"/>
            <a:ext cx="360" cy="933120"/>
          </a:xfrm>
          <a:prstGeom prst="straightConnector1">
            <a:avLst/>
          </a:prstGeom>
          <a:ln w="12700">
            <a:solidFill>
              <a:srgbClr val="000000"/>
            </a:solidFill>
            <a:prstDash val="sysDash"/>
            <a:round/>
            <a:tailEnd type="triangle" w="med" len="med"/>
          </a:ln>
        </p:spPr>
      </p:cxnSp>
      <p:sp>
        <p:nvSpPr>
          <p:cNvPr id="122" name="最重要課題チップ"/>
          <p:cNvSpPr/>
          <p:nvPr/>
        </p:nvSpPr>
        <p:spPr>
          <a:xfrm>
            <a:off x="5961960" y="1938600"/>
            <a:ext cx="2102760" cy="273960"/>
          </a:xfrm>
          <a:prstGeom prst="rect">
            <a:avLst/>
          </a:prstGeom>
          <a:noFill/>
          <a:ln w="0">
            <a:noFill/>
          </a:ln>
        </p:spPr>
        <p:style>
          <a:lnRef idx="0">
            <a:scrgbClr r="0" g="0" b="0"/>
          </a:lnRef>
          <a:fillRef idx="0">
            <a:scrgbClr r="0" g="0" b="0"/>
          </a:fillRef>
          <a:effectRef idx="0">
            <a:scrgbClr r="0" g="0" b="0"/>
          </a:effectRef>
          <a:fontRef idx="minor"/>
        </p:style>
        <p:txBody>
          <a:bodyPr lIns="36720" tIns="0" rIns="36720" bIns="0" anchor="ctr">
            <a:noAutofit/>
          </a:bodyPr>
          <a:lstStyle/>
          <a:p>
            <a:pPr defTabSz="914400">
              <a:lnSpc>
                <a:spcPct val="100000"/>
              </a:lnSpc>
            </a:pPr>
            <a:r>
              <a:rPr lang="en-US" sz="1300" b="1" u="none" strike="noStrike">
                <a:solidFill>
                  <a:srgbClr val="C00000"/>
                </a:solidFill>
                <a:effectLst/>
                <a:uFillTx/>
                <a:latin typeface="メイリオ"/>
                <a:ea typeface="メイリオ"/>
              </a:rPr>
              <a:t>◀ 最重要課題（仮説）</a:t>
            </a:r>
            <a:endParaRPr lang="en-US" sz="1300" b="0" u="none" strike="noStrike">
              <a:solidFill>
                <a:srgbClr val="000000"/>
              </a:solidFill>
              <a:effectLst/>
              <a:uFillTx/>
              <a:latin typeface="Arial"/>
            </a:endParaRPr>
          </a:p>
        </p:txBody>
      </p:sp>
      <p:sp>
        <p:nvSpPr>
          <p:cNvPr id="123" name="⑤の範囲"/>
          <p:cNvSpPr/>
          <p:nvPr/>
        </p:nvSpPr>
        <p:spPr>
          <a:xfrm>
            <a:off x="301680" y="5340240"/>
            <a:ext cx="2121120" cy="859320"/>
          </a:xfrm>
          <a:prstGeom prst="rect">
            <a:avLst/>
          </a:prstGeom>
          <a:noFill/>
          <a:ln w="22225">
            <a:solidFill>
              <a:srgbClr val="C00000"/>
            </a:solidFill>
            <a:prstDash val="dash"/>
            <a:round/>
          </a:ln>
        </p:spPr>
        <p:style>
          <a:lnRef idx="0">
            <a:scrgbClr r="0" g="0" b="0"/>
          </a:lnRef>
          <a:fillRef idx="0">
            <a:scrgbClr r="0" g="0" b="0"/>
          </a:fillRef>
          <a:effectRef idx="0">
            <a:scrgbClr r="0" g="0" b="0"/>
          </a:effectRef>
          <a:fontRef idx="minor"/>
        </p:style>
        <p:txBody>
          <a:bodyPr lIns="73080" tIns="36720" rIns="73080" bIns="36720" anchor="ctr">
            <a:noAutofit/>
          </a:bodyPr>
          <a:lstStyle/>
          <a:p>
            <a:pPr defTabSz="914400">
              <a:lnSpc>
                <a:spcPct val="100000"/>
              </a:lnSpc>
            </a:pPr>
            <a:endParaRPr lang="en-US" sz="1800" b="0" u="none" strike="noStrike">
              <a:solidFill>
                <a:srgbClr val="000000"/>
              </a:solidFill>
              <a:effectLst/>
              <a:uFillTx/>
              <a:latin typeface="Arial"/>
            </a:endParaRPr>
          </a:p>
        </p:txBody>
      </p:sp>
      <p:sp>
        <p:nvSpPr>
          <p:cNvPr id="124" name="⑤タブ"/>
          <p:cNvSpPr/>
          <p:nvPr/>
        </p:nvSpPr>
        <p:spPr>
          <a:xfrm>
            <a:off x="1426320" y="5212080"/>
            <a:ext cx="996480" cy="23724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18360" tIns="0" rIns="18360" bIns="0" anchor="ctr">
            <a:noAutofit/>
          </a:bodyPr>
          <a:lstStyle/>
          <a:p>
            <a:pPr algn="ctr" defTabSz="914400">
              <a:lnSpc>
                <a:spcPct val="100000"/>
              </a:lnSpc>
            </a:pPr>
            <a:r>
              <a:rPr lang="en-US" sz="1100" b="1" u="none" strike="noStrike">
                <a:solidFill>
                  <a:srgbClr val="FFFFFF"/>
                </a:solidFill>
                <a:effectLst/>
                <a:uFillTx/>
                <a:latin typeface="メイリオ"/>
                <a:ea typeface="メイリオ"/>
              </a:rPr>
              <a:t>⑤ 最重要課題</a:t>
            </a:r>
            <a:endParaRPr lang="en-US" sz="1100" b="0" u="none" strike="noStrike">
              <a:solidFill>
                <a:srgbClr val="FFFFFF"/>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アカウントの現状</a:t>
            </a:r>
            <a:endParaRPr lang="en-US" sz="1600" b="0" u="none" strike="noStrike">
              <a:solidFill>
                <a:srgbClr val="000000"/>
              </a:solidFill>
              <a:effectLst/>
              <a:uFillTx/>
              <a:latin typeface="Arial"/>
            </a:endParaRPr>
          </a:p>
        </p:txBody>
      </p:sp>
      <p:pic>
        <p:nvPicPr>
          <p:cNvPr id="126" name="図 40"/>
          <p:cNvPicPr/>
          <p:nvPr/>
        </p:nvPicPr>
        <p:blipFill>
          <a:blip r:embed="rId3"/>
          <a:stretch/>
        </p:blipFill>
        <p:spPr>
          <a:xfrm>
            <a:off x="891769" y="1490400"/>
            <a:ext cx="1732320" cy="3519000"/>
          </a:xfrm>
          <a:prstGeom prst="rect">
            <a:avLst/>
          </a:prstGeom>
          <a:noFill/>
          <a:ln w="0">
            <a:noFill/>
          </a:ln>
        </p:spPr>
      </p:pic>
      <p:sp>
        <p:nvSpPr>
          <p:cNvPr id="127" name="テキスト ボックス 45"/>
          <p:cNvSpPr/>
          <p:nvPr/>
        </p:nvSpPr>
        <p:spPr>
          <a:xfrm>
            <a:off x="982489" y="1752120"/>
            <a:ext cx="1543320" cy="286200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pic>
        <p:nvPicPr>
          <p:cNvPr id="128" name="図 6"/>
          <p:cNvPicPr/>
          <p:nvPr/>
        </p:nvPicPr>
        <p:blipFill>
          <a:blip r:embed="rId4"/>
          <a:srcRect t="4916" b="4368"/>
          <a:stretch/>
        </p:blipFill>
        <p:spPr>
          <a:xfrm>
            <a:off x="991129" y="1734120"/>
            <a:ext cx="1546920" cy="3037320"/>
          </a:xfrm>
          <a:prstGeom prst="rect">
            <a:avLst/>
          </a:prstGeom>
          <a:noFill/>
          <a:ln w="0">
            <a:noFill/>
          </a:ln>
        </p:spPr>
      </p:pic>
      <p:pic>
        <p:nvPicPr>
          <p:cNvPr id="129" name="図 8"/>
          <p:cNvPicPr/>
          <p:nvPr/>
        </p:nvPicPr>
        <p:blipFill>
          <a:blip r:embed="rId3"/>
          <a:stretch/>
        </p:blipFill>
        <p:spPr>
          <a:xfrm>
            <a:off x="6440975" y="1490400"/>
            <a:ext cx="1614960" cy="3280680"/>
          </a:xfrm>
          <a:prstGeom prst="rect">
            <a:avLst/>
          </a:prstGeom>
          <a:noFill/>
          <a:ln w="0">
            <a:noFill/>
          </a:ln>
        </p:spPr>
      </p:pic>
      <p:pic>
        <p:nvPicPr>
          <p:cNvPr id="130" name="図 10"/>
          <p:cNvPicPr/>
          <p:nvPr/>
        </p:nvPicPr>
        <p:blipFill>
          <a:blip r:embed="rId3"/>
          <a:stretch/>
        </p:blipFill>
        <p:spPr>
          <a:xfrm>
            <a:off x="2763769" y="1490400"/>
            <a:ext cx="1732320" cy="3519000"/>
          </a:xfrm>
          <a:prstGeom prst="rect">
            <a:avLst/>
          </a:prstGeom>
          <a:noFill/>
          <a:ln w="0">
            <a:noFill/>
          </a:ln>
        </p:spPr>
      </p:pic>
      <p:pic>
        <p:nvPicPr>
          <p:cNvPr id="131" name="図 12"/>
          <p:cNvPicPr/>
          <p:nvPr/>
        </p:nvPicPr>
        <p:blipFill>
          <a:blip r:embed="rId5"/>
          <a:srcRect t="5778" b="2174"/>
          <a:stretch/>
        </p:blipFill>
        <p:spPr>
          <a:xfrm>
            <a:off x="6539975" y="1710360"/>
            <a:ext cx="1434600" cy="2857680"/>
          </a:xfrm>
          <a:prstGeom prst="rect">
            <a:avLst/>
          </a:prstGeom>
          <a:noFill/>
          <a:ln w="0">
            <a:noFill/>
          </a:ln>
        </p:spPr>
      </p:pic>
      <p:sp>
        <p:nvSpPr>
          <p:cNvPr id="132" name="テキスト ボックス 16"/>
          <p:cNvSpPr/>
          <p:nvPr/>
        </p:nvSpPr>
        <p:spPr>
          <a:xfrm>
            <a:off x="411480" y="5102280"/>
            <a:ext cx="46173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あいさつで「気になる物件名」と「物件ページの</a:t>
            </a:r>
            <a:r>
              <a:rPr lang="en-US" sz="1300" b="0" u="none" strike="noStrike">
                <a:solidFill>
                  <a:schemeClr val="dk1">
                    <a:lumMod val="65000"/>
                    <a:lumOff val="35000"/>
                  </a:schemeClr>
                </a:solidFill>
                <a:effectLst/>
                <a:uFillTx/>
                <a:latin typeface="メイリオ"/>
                <a:ea typeface="メイリオ"/>
              </a:rPr>
              <a:t>URL</a:t>
            </a:r>
            <a:r>
              <a:rPr lang="ja-JP" sz="1300" b="0" u="none" strike="noStrike">
                <a:solidFill>
                  <a:schemeClr val="dk1">
                    <a:lumMod val="65000"/>
                    <a:lumOff val="35000"/>
                  </a:schemeClr>
                </a:solidFill>
                <a:effectLst/>
                <a:uFillTx/>
                <a:latin typeface="メイリオ"/>
                <a:ea typeface="メイリオ"/>
              </a:rPr>
              <a:t>」の</a:t>
            </a:r>
            <a:endParaRPr lang="en-US" sz="1300" b="0" u="none" strike="noStrike">
              <a:solidFill>
                <a:srgbClr val="000000"/>
              </a:solidFill>
              <a:effectLst/>
              <a:uFillTx/>
              <a:latin typeface="Arial"/>
            </a:endParaRPr>
          </a:p>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送信をお願いし、やり取りが始まる形。</a:t>
            </a:r>
            <a:endParaRPr lang="en-US" sz="1300" b="0" u="none" strike="noStrike">
              <a:solidFill>
                <a:srgbClr val="000000"/>
              </a:solidFill>
              <a:effectLst/>
              <a:uFillTx/>
              <a:latin typeface="Arial"/>
            </a:endParaRPr>
          </a:p>
        </p:txBody>
      </p:sp>
      <p:sp>
        <p:nvSpPr>
          <p:cNvPr id="133" name="テキスト ボックス 18"/>
          <p:cNvSpPr/>
          <p:nvPr/>
        </p:nvSpPr>
        <p:spPr>
          <a:xfrm>
            <a:off x="5166360" y="5102280"/>
            <a:ext cx="4480200" cy="7678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プロフィールにサイト・紹介動画へのリンクを掲載。</a:t>
            </a:r>
            <a:endParaRPr lang="en-US" sz="1300" b="0" u="none" strike="noStrike">
              <a:solidFill>
                <a:srgbClr val="000000"/>
              </a:solidFill>
              <a:effectLst/>
              <a:uFillTx/>
              <a:latin typeface="Arial"/>
            </a:endParaRPr>
          </a:p>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リッチメニューは未設置で、</a:t>
            </a:r>
            <a:br>
              <a:rPr sz="1300"/>
            </a:br>
            <a:r>
              <a:rPr lang="ja-JP" sz="1300" b="0" u="none" strike="noStrike">
                <a:solidFill>
                  <a:schemeClr val="dk1">
                    <a:lumMod val="65000"/>
                    <a:lumOff val="35000"/>
                  </a:schemeClr>
                </a:solidFill>
                <a:effectLst/>
                <a:uFillTx/>
                <a:latin typeface="メイリオ"/>
                <a:ea typeface="メイリオ"/>
              </a:rPr>
              <a:t>友だち追加後に次へ進む導線がない。</a:t>
            </a:r>
            <a:endParaRPr lang="en-US" sz="1300" b="0" u="none" strike="noStrike">
              <a:solidFill>
                <a:srgbClr val="000000"/>
              </a:solidFill>
              <a:effectLst/>
              <a:uFillTx/>
              <a:latin typeface="Arial"/>
            </a:endParaRPr>
          </a:p>
        </p:txBody>
      </p:sp>
      <p:pic>
        <p:nvPicPr>
          <p:cNvPr id="134" name="図 20"/>
          <p:cNvPicPr/>
          <p:nvPr/>
        </p:nvPicPr>
        <p:blipFill>
          <a:blip r:embed="rId6"/>
          <a:srcRect t="4508" b="3456"/>
          <a:stretch/>
        </p:blipFill>
        <p:spPr>
          <a:xfrm>
            <a:off x="2856649" y="1726560"/>
            <a:ext cx="1546920" cy="3081600"/>
          </a:xfrm>
          <a:prstGeom prst="rect">
            <a:avLst/>
          </a:prstGeom>
          <a:noFill/>
          <a:ln w="0">
            <a:noFill/>
          </a:ln>
        </p:spPr>
      </p:pic>
      <p:sp>
        <p:nvSpPr>
          <p:cNvPr id="135" name="テキスト ボックス 22"/>
          <p:cNvSpPr/>
          <p:nvPr/>
        </p:nvSpPr>
        <p:spPr>
          <a:xfrm>
            <a:off x="411480" y="5724000"/>
            <a:ext cx="46173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あいさつの後にマンガ・動画を送り、</a:t>
            </a:r>
            <a:br>
              <a:rPr sz="1300"/>
            </a:br>
            <a:r>
              <a:rPr lang="ja-JP" sz="1300" b="0" u="none" strike="noStrike">
                <a:solidFill>
                  <a:schemeClr val="dk1">
                    <a:lumMod val="65000"/>
                    <a:lumOff val="35000"/>
                  </a:schemeClr>
                </a:solidFill>
                <a:effectLst/>
                <a:uFillTx/>
                <a:latin typeface="メイリオ"/>
                <a:ea typeface="メイリオ"/>
              </a:rPr>
              <a:t>サービスの理解を促している。</a:t>
            </a:r>
            <a:endParaRPr lang="en-US" sz="1300" b="0" u="none" strike="noStrike">
              <a:solidFill>
                <a:srgbClr val="000000"/>
              </a:solidFill>
              <a:effectLst/>
              <a:uFillTx/>
              <a:latin typeface="Arial"/>
            </a:endParaRPr>
          </a:p>
        </p:txBody>
      </p:sp>
      <p:cxnSp>
        <p:nvCxnSpPr>
          <p:cNvPr id="136" name="直線コネクタ 24"/>
          <p:cNvCxnSpPr/>
          <p:nvPr/>
        </p:nvCxnSpPr>
        <p:spPr>
          <a:xfrm>
            <a:off x="0" y="1390320"/>
            <a:ext cx="9906120" cy="360"/>
          </a:xfrm>
          <a:prstGeom prst="straightConnector1">
            <a:avLst/>
          </a:prstGeom>
          <a:ln w="19050">
            <a:solidFill>
              <a:schemeClr val="lt1">
                <a:lumMod val="85000"/>
                <a:alpha val="60000"/>
              </a:schemeClr>
            </a:solidFill>
            <a:round/>
          </a:ln>
        </p:spPr>
      </p:cxnSp>
      <p:sp>
        <p:nvSpPr>
          <p:cNvPr id="137" name="テキスト ボックス 27"/>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あいさつで物件名・</a:t>
            </a:r>
            <a:r>
              <a:rPr lang="en-US" sz="1400" b="0" u="none" strike="noStrike">
                <a:solidFill>
                  <a:schemeClr val="dk1">
                    <a:lumMod val="65000"/>
                    <a:lumOff val="35000"/>
                  </a:schemeClr>
                </a:solidFill>
                <a:effectLst/>
                <a:uFillTx/>
                <a:latin typeface="メイリオ"/>
                <a:ea typeface="メイリオ"/>
              </a:rPr>
              <a:t>URL</a:t>
            </a:r>
            <a:r>
              <a:rPr lang="ja-JP" sz="1400" b="0" u="none" strike="noStrike">
                <a:solidFill>
                  <a:schemeClr val="dk1">
                    <a:lumMod val="65000"/>
                    <a:lumOff val="35000"/>
                  </a:schemeClr>
                </a:solidFill>
                <a:effectLst/>
                <a:uFillTx/>
                <a:latin typeface="メイリオ"/>
                <a:ea typeface="メイリオ"/>
              </a:rPr>
              <a:t>の送信をお願いする形は、</a:t>
            </a:r>
            <a:r>
              <a:rPr lang="en-US" sz="1400" b="0" u="none" strike="noStrike">
                <a:solidFill>
                  <a:schemeClr val="dk1">
                    <a:lumMod val="65000"/>
                    <a:lumOff val="35000"/>
                  </a:schemeClr>
                </a:solidFill>
                <a:effectLst/>
                <a:uFillTx/>
                <a:latin typeface="メイリオ"/>
                <a:ea typeface="メイリオ"/>
              </a:rPr>
              <a:t>100</a:t>
            </a:r>
            <a:r>
              <a:rPr lang="ja-JP" sz="1400" b="0" u="none" strike="noStrike">
                <a:solidFill>
                  <a:schemeClr val="dk1">
                    <a:lumMod val="65000"/>
                    <a:lumOff val="35000"/>
                  </a:schemeClr>
                </a:solidFill>
                <a:effectLst/>
                <a:uFillTx/>
                <a:latin typeface="メイリオ"/>
                <a:ea typeface="メイリオ"/>
              </a:rPr>
              <a:t>円賃貸の使い方に合っています。</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一方で、</a:t>
            </a:r>
            <a:r>
              <a:rPr lang="ja-JP" sz="1400" b="1" u="none" strike="noStrike">
                <a:solidFill>
                  <a:schemeClr val="dk1">
                    <a:lumMod val="65000"/>
                    <a:lumOff val="35000"/>
                  </a:schemeClr>
                </a:solidFill>
                <a:effectLst/>
                <a:uFillTx/>
                <a:latin typeface="メイリオ"/>
                <a:ea typeface="メイリオ"/>
              </a:rPr>
              <a:t>あいさつに送るメリット・安心材料やボタンがなく、リッチメニューも未設置</a:t>
            </a:r>
            <a:r>
              <a:rPr lang="ja-JP" sz="1400" b="0" u="none" strike="noStrike">
                <a:solidFill>
                  <a:schemeClr val="dk1">
                    <a:lumMod val="65000"/>
                    <a:lumOff val="35000"/>
                  </a:schemeClr>
                </a:solidFill>
                <a:effectLst/>
                <a:uFillTx/>
                <a:latin typeface="メイリオ"/>
                <a:ea typeface="メイリオ"/>
              </a:rPr>
              <a:t>です。</a:t>
            </a:r>
            <a:endParaRPr lang="en-US" sz="14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市場分析</a:t>
            </a:r>
            <a:endParaRPr lang="en-US" sz="1600" b="0" u="none" strike="noStrike">
              <a:solidFill>
                <a:srgbClr val="000000"/>
              </a:solidFill>
              <a:effectLst/>
              <a:uFillTx/>
              <a:latin typeface="Arial"/>
            </a:endParaRPr>
          </a:p>
        </p:txBody>
      </p:sp>
      <p:sp>
        <p:nvSpPr>
          <p:cNvPr id="139"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4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141"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42"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家賃が上がる今、仲介手数料・初期費用への負担感に応えることを、提案の軸にします。</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1">
                    <a:lumMod val="65000"/>
                    <a:lumOff val="35000"/>
                  </a:schemeClr>
                </a:solidFill>
                <a:effectLst/>
                <a:uFillTx/>
                <a:latin typeface="メイリオ"/>
                <a:ea typeface="メイリオ"/>
              </a:rPr>
              <a:t>物件はポータルサイトで自分で探し、問い合わせ先は別に選ぶ流れが主流</a:t>
            </a:r>
            <a:r>
              <a:rPr lang="ja-JP" sz="1400" b="0" u="none" strike="noStrike" dirty="0">
                <a:solidFill>
                  <a:schemeClr val="dk1">
                    <a:lumMod val="65000"/>
                    <a:lumOff val="35000"/>
                  </a:schemeClr>
                </a:solidFill>
                <a:effectLst/>
                <a:uFillTx/>
                <a:latin typeface="メイリオ"/>
                <a:ea typeface="メイリオ"/>
              </a:rPr>
              <a:t>です。</a:t>
            </a:r>
            <a:endParaRPr lang="en-US" sz="1400" b="0" u="none" strike="noStrike" dirty="0">
              <a:solidFill>
                <a:srgbClr val="000000"/>
              </a:solidFill>
              <a:effectLst/>
              <a:uFillTx/>
              <a:latin typeface="Arial"/>
            </a:endParaRPr>
          </a:p>
        </p:txBody>
      </p:sp>
      <p:sp>
        <p:nvSpPr>
          <p:cNvPr id="143" name="Card1_Num"/>
          <p:cNvSpPr/>
          <p:nvPr/>
        </p:nvSpPr>
        <p:spPr>
          <a:xfrm>
            <a:off x="380880" y="1481400"/>
            <a:ext cx="2920680" cy="51156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44" name="Card1_Title"/>
          <p:cNvSpPr/>
          <p:nvPr/>
        </p:nvSpPr>
        <p:spPr>
          <a:xfrm>
            <a:off x="380880" y="1993320"/>
            <a:ext cx="2920680" cy="45684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家賃の上昇（市場背景）</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5" name="Card1_Body"/>
          <p:cNvSpPr/>
          <p:nvPr/>
        </p:nvSpPr>
        <p:spPr>
          <a:xfrm>
            <a:off x="38088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spcAft>
                <a:spcPts val="601"/>
              </a:spcAft>
            </a:pPr>
            <a:r>
              <a:rPr lang="ja-JP" sz="1400" b="1" u="none" strike="noStrike" dirty="0">
                <a:solidFill>
                  <a:srgbClr val="333333"/>
                </a:solidFill>
                <a:effectLst/>
                <a:uFillTx/>
                <a:latin typeface="メイリオ" panose="020B0604030504040204" pitchFamily="50" charset="-128"/>
                <a:ea typeface="メイリオ" panose="020B0604030504040204" pitchFamily="50" charset="-128"/>
              </a:rPr>
              <a:t>【市場データ】</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東京</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23</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区のシングル向き（</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30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㎡以下）マンションの平均家賃は、</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2025</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年</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5</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月に初めて</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10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万円を超えた</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spcAft>
                <a:spcPts val="601"/>
              </a:spcAft>
            </a:pPr>
            <a:r>
              <a:rPr lang="ja-JP" sz="1400" b="1" u="none" strike="noStrike" dirty="0">
                <a:solidFill>
                  <a:srgbClr val="333333"/>
                </a:solidFill>
                <a:effectLst/>
                <a:uFillTx/>
                <a:latin typeface="メイリオ" panose="020B0604030504040204" pitchFamily="50" charset="-128"/>
                <a:ea typeface="メイリオ" panose="020B0604030504040204" pitchFamily="50" charset="-128"/>
              </a:rPr>
              <a:t>【提案上の仮説】</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家賃の上昇で、仲介手数料・初期費用への負担感が高まると考えられる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146" name="Card2_Num"/>
          <p:cNvSpPr/>
          <p:nvPr/>
        </p:nvSpPr>
        <p:spPr>
          <a:xfrm>
            <a:off x="3492360" y="1481400"/>
            <a:ext cx="2920680" cy="51156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47" name="Card2_Title"/>
          <p:cNvSpPr/>
          <p:nvPr/>
        </p:nvSpPr>
        <p:spPr>
          <a:xfrm>
            <a:off x="3492360" y="1993320"/>
            <a:ext cx="2920680" cy="45684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物件はポータルサイトで探す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8" name="Card2_Body"/>
          <p:cNvSpPr/>
          <p:nvPr/>
        </p:nvSpPr>
        <p:spPr>
          <a:xfrm>
            <a:off x="349236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・住まいの探し方は「不動産ポータルサイトで検索」がトップ（引越し経験者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66.8</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％・検討者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73.2</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9" name="Card3_Num"/>
          <p:cNvSpPr/>
          <p:nvPr/>
        </p:nvSpPr>
        <p:spPr>
          <a:xfrm>
            <a:off x="6603840" y="1481400"/>
            <a:ext cx="2920680" cy="51156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0"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問い合わせ先は物件数で選ぶ</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1" name="Card3_Body"/>
          <p:cNvSpPr/>
          <p:nvPr/>
        </p:nvSpPr>
        <p:spPr>
          <a:xfrm>
            <a:off x="660384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spcAft>
                <a:spcPts val="601"/>
              </a:spcAft>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・問い合わせる不動産会社を選ぶ基準は「取り扱っている物件数が多い」が</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a:t>
            </a:r>
            <a:r>
              <a:rPr lang="ja-JP" sz="1400" b="0" u="none" strike="noStrike">
                <a:solidFill>
                  <a:srgbClr val="333333"/>
                </a:solidFill>
                <a:effectLst/>
                <a:uFillTx/>
                <a:latin typeface="メイリオ" panose="020B0604030504040204" pitchFamily="50" charset="-128"/>
                <a:ea typeface="メイリオ" panose="020B0604030504040204" pitchFamily="50" charset="-128"/>
              </a:rPr>
              <a:t>位（経験者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26.6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％・検討者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47.7</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spcAft>
                <a:spcPts val="601"/>
              </a:spcAft>
            </a:pP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円賃貸は、お客様が見つけた物件の仲介に対応し、仲介手数料を抑えられる（</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円賃貸が対応できる物件に限ります）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市場分析</a:t>
            </a:r>
            <a:endParaRPr lang="en-US" sz="1600" b="0" u="none" strike="noStrike">
              <a:solidFill>
                <a:srgbClr val="000000"/>
              </a:solidFill>
              <a:effectLst/>
              <a:uFillTx/>
              <a:latin typeface="Arial"/>
            </a:endParaRPr>
          </a:p>
        </p:txBody>
      </p:sp>
      <p:sp>
        <p:nvSpPr>
          <p:cNvPr id="154"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55"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156"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57"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内見予約のやり取りは、電話よりメール・</a:t>
            </a:r>
            <a:r>
              <a:rPr lang="en-US" sz="1400" b="0" u="none" strike="noStrike" dirty="0">
                <a:solidFill>
                  <a:schemeClr val="dk1">
                    <a:lumMod val="65000"/>
                    <a:lumOff val="35000"/>
                  </a:schemeClr>
                </a:solidFill>
                <a:effectLst/>
                <a:uFillTx/>
                <a:latin typeface="メイリオ"/>
                <a:ea typeface="メイリオ"/>
              </a:rPr>
              <a:t>SMS</a:t>
            </a:r>
            <a:r>
              <a:rPr lang="ja-JP" sz="1400" b="0" u="none" strike="noStrike" dirty="0">
                <a:solidFill>
                  <a:schemeClr val="dk1">
                    <a:lumMod val="65000"/>
                    <a:lumOff val="35000"/>
                  </a:schemeClr>
                </a:solidFill>
                <a:effectLst/>
                <a:uFillTx/>
                <a:latin typeface="メイリオ"/>
                <a:ea typeface="メイリオ"/>
              </a:rPr>
              <a:t>を希望する方が多くいます。</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1">
                    <a:lumMod val="65000"/>
                    <a:lumOff val="35000"/>
                  </a:schemeClr>
                </a:solidFill>
                <a:effectLst/>
                <a:uFillTx/>
                <a:latin typeface="メイリオ"/>
                <a:ea typeface="メイリオ"/>
              </a:rPr>
              <a:t>物件の</a:t>
            </a:r>
            <a:r>
              <a:rPr lang="en-US" sz="1400" b="1" u="none" strike="noStrike" dirty="0">
                <a:solidFill>
                  <a:schemeClr val="dk1">
                    <a:lumMod val="65000"/>
                    <a:lumOff val="35000"/>
                  </a:schemeClr>
                </a:solidFill>
                <a:effectLst/>
                <a:uFillTx/>
                <a:latin typeface="メイリオ"/>
                <a:ea typeface="メイリオ"/>
              </a:rPr>
              <a:t>URL</a:t>
            </a:r>
            <a:r>
              <a:rPr lang="ja-JP" sz="1400" b="1" u="none" strike="noStrike" dirty="0">
                <a:solidFill>
                  <a:schemeClr val="dk1">
                    <a:lumMod val="65000"/>
                    <a:lumOff val="35000"/>
                  </a:schemeClr>
                </a:solidFill>
                <a:effectLst/>
                <a:uFillTx/>
                <a:latin typeface="メイリオ"/>
                <a:ea typeface="メイリオ"/>
              </a:rPr>
              <a:t>を</a:t>
            </a:r>
            <a:r>
              <a:rPr lang="en-US" sz="1400" b="1" u="none" strike="noStrike" dirty="0">
                <a:solidFill>
                  <a:schemeClr val="dk1">
                    <a:lumMod val="65000"/>
                    <a:lumOff val="35000"/>
                  </a:schemeClr>
                </a:solidFill>
                <a:effectLst/>
                <a:uFillTx/>
                <a:latin typeface="メイリオ"/>
                <a:ea typeface="メイリオ"/>
              </a:rPr>
              <a:t>LINE</a:t>
            </a:r>
            <a:r>
              <a:rPr lang="ja-JP" sz="1400" b="1" u="none" strike="noStrike" dirty="0">
                <a:solidFill>
                  <a:schemeClr val="dk1">
                    <a:lumMod val="65000"/>
                    <a:lumOff val="35000"/>
                  </a:schemeClr>
                </a:solidFill>
                <a:effectLst/>
                <a:uFillTx/>
                <a:latin typeface="メイリオ"/>
                <a:ea typeface="メイリオ"/>
              </a:rPr>
              <a:t>で送るだけで相談できるサービスも出ており、</a:t>
            </a:r>
            <a:r>
              <a:rPr lang="en-US" sz="1400" b="1" u="none" strike="noStrike" dirty="0">
                <a:solidFill>
                  <a:schemeClr val="dk1">
                    <a:lumMod val="65000"/>
                    <a:lumOff val="35000"/>
                  </a:schemeClr>
                </a:solidFill>
                <a:effectLst/>
                <a:uFillTx/>
                <a:latin typeface="メイリオ"/>
                <a:ea typeface="メイリオ"/>
              </a:rPr>
              <a:t>LINE</a:t>
            </a:r>
            <a:r>
              <a:rPr lang="ja-JP" sz="1400" b="1" u="none" strike="noStrike" dirty="0">
                <a:solidFill>
                  <a:schemeClr val="dk1">
                    <a:lumMod val="65000"/>
                    <a:lumOff val="35000"/>
                  </a:schemeClr>
                </a:solidFill>
                <a:effectLst/>
                <a:uFillTx/>
                <a:latin typeface="メイリオ"/>
                <a:ea typeface="メイリオ"/>
              </a:rPr>
              <a:t>での受け口が欠かせません</a:t>
            </a:r>
            <a:r>
              <a:rPr lang="ja-JP" sz="1400" b="0" u="none" strike="noStrike" dirty="0">
                <a:solidFill>
                  <a:schemeClr val="dk1">
                    <a:lumMod val="65000"/>
                    <a:lumOff val="35000"/>
                  </a:schemeClr>
                </a:solidFill>
                <a:effectLst/>
                <a:uFillTx/>
                <a:latin typeface="メイリオ"/>
                <a:ea typeface="メイリオ"/>
              </a:rPr>
              <a:t>。</a:t>
            </a:r>
            <a:endParaRPr lang="en-US" sz="1400" b="0" u="none" strike="noStrike" dirty="0">
              <a:solidFill>
                <a:srgbClr val="000000"/>
              </a:solidFill>
              <a:effectLst/>
              <a:uFillTx/>
              <a:latin typeface="Arial"/>
            </a:endParaRPr>
          </a:p>
        </p:txBody>
      </p:sp>
      <p:sp>
        <p:nvSpPr>
          <p:cNvPr id="158" name="Card1_Num"/>
          <p:cNvSpPr/>
          <p:nvPr/>
        </p:nvSpPr>
        <p:spPr>
          <a:xfrm>
            <a:off x="380880" y="1481400"/>
            <a:ext cx="2920680" cy="51156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59" name="Card1_Title"/>
          <p:cNvSpPr/>
          <p:nvPr/>
        </p:nvSpPr>
        <p:spPr>
          <a:xfrm>
            <a:off x="380880" y="1993320"/>
            <a:ext cx="2920680" cy="45684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電話より、文字でのやり取り</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0" name="Card1_Body"/>
          <p:cNvSpPr/>
          <p:nvPr/>
        </p:nvSpPr>
        <p:spPr>
          <a:xfrm>
            <a:off x="38088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・内見予約のやり取りの希望は、電話</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33.4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％に対し、メール・</a:t>
            </a:r>
            <a:r>
              <a:rPr lang="en-US" sz="1400" b="0" u="none" strike="noStrike">
                <a:solidFill>
                  <a:srgbClr val="333333"/>
                </a:solidFill>
                <a:effectLst/>
                <a:uFillTx/>
                <a:latin typeface="メイリオ" panose="020B0604030504040204" pitchFamily="50" charset="-128"/>
                <a:ea typeface="メイリオ" panose="020B0604030504040204" pitchFamily="50" charset="-128"/>
              </a:rPr>
              <a:t>SMS</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が</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52.6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1" name="Card2_Num"/>
          <p:cNvSpPr/>
          <p:nvPr/>
        </p:nvSpPr>
        <p:spPr>
          <a:xfrm>
            <a:off x="3492360" y="1481400"/>
            <a:ext cx="2920680" cy="51156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62" name="Card2_Title"/>
          <p:cNvSpPr/>
          <p:nvPr/>
        </p:nvSpPr>
        <p:spPr>
          <a:xfrm>
            <a:off x="3492360" y="1993320"/>
            <a:ext cx="2920680" cy="45684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手続きもオンラインで</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3" name="Card2_Body"/>
          <p:cNvSpPr/>
          <p:nvPr/>
        </p:nvSpPr>
        <p:spPr>
          <a:xfrm>
            <a:off x="349236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・オンラインで契約したい検討者は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36.4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％、オンラインで重要事項説明を受けたい検討者は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29.6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円賃貸は、テレビ電話・郵送・ネットでのお申込み・ご契約に対応</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4" name="Card3_Num"/>
          <p:cNvSpPr/>
          <p:nvPr/>
        </p:nvSpPr>
        <p:spPr>
          <a:xfrm>
            <a:off x="6603840" y="1481400"/>
            <a:ext cx="2920680" cy="51156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5"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en-US"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URL</a:t>
            </a: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を送るだけの競合も</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6" name="Card3_Body"/>
          <p:cNvSpPr/>
          <p:nvPr/>
        </p:nvSpPr>
        <p:spPr>
          <a:xfrm>
            <a:off x="660384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・タダスム：見つけた物件の</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を</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で送ると、空室確認・内見調整。仲介手数料は「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a:t>
            </a:r>
            <a:r>
              <a:rPr lang="en-US" sz="1400" b="0" u="none" strike="noStrike">
                <a:solidFill>
                  <a:srgbClr val="333333"/>
                </a:solidFill>
                <a:effectLst/>
                <a:uFillTx/>
                <a:latin typeface="メイリオ" panose="020B0604030504040204" pitchFamily="50" charset="-128"/>
                <a:ea typeface="メイリオ" panose="020B0604030504040204" pitchFamily="50" charset="-128"/>
              </a:rPr>
              <a:t>or</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最大</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6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170"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171" name="Heading"/>
          <p:cNvSpPr/>
          <p:nvPr/>
        </p:nvSpPr>
        <p:spPr>
          <a:xfrm>
            <a:off x="365040" y="835920"/>
            <a:ext cx="9143640" cy="279000"/>
          </a:xfrm>
          <a:prstGeom prst="rect">
            <a:avLst/>
          </a:prstGeom>
          <a:noFill/>
          <a:ln w="0">
            <a:noFill/>
          </a:ln>
        </p:spPr>
        <p:style>
          <a:lnRef idx="0">
            <a:scrgbClr r="0" g="0" b="0"/>
          </a:lnRef>
          <a:fillRef idx="0">
            <a:scrgbClr r="0" g="0" b="0"/>
          </a:fillRef>
          <a:effectRef idx="0">
            <a:scrgbClr r="0" g="0" b="0"/>
          </a:effectRef>
          <a:fontRef idx="minor"/>
        </p:style>
        <p:txBody>
          <a:bodyPr lIns="101520" tIns="76320" rIns="101520" bIns="76320" anchor="t">
            <a:noAutofit/>
          </a:bodyPr>
          <a:lstStyle/>
          <a:p>
            <a:pPr defTabSz="914400">
              <a:lnSpc>
                <a:spcPct val="100000"/>
              </a:lnSpc>
            </a:pPr>
            <a:r>
              <a:rPr lang="en-US" sz="1400" b="1" u="none" strike="noStrike">
                <a:solidFill>
                  <a:srgbClr val="1F2A5C"/>
                </a:solidFill>
                <a:effectLst/>
                <a:uFillTx/>
                <a:latin typeface="メイリオ"/>
                <a:ea typeface="メイリオ"/>
              </a:rPr>
              <a:t>LINE</a:t>
            </a:r>
            <a:r>
              <a:rPr lang="ja-JP" sz="1400" b="1" u="none" strike="noStrike">
                <a:solidFill>
                  <a:srgbClr val="1F2A5C"/>
                </a:solidFill>
                <a:effectLst/>
                <a:uFillTx/>
                <a:latin typeface="メイリオ"/>
                <a:ea typeface="メイリオ"/>
              </a:rPr>
              <a:t>運用ツールの選定</a:t>
            </a:r>
            <a:endParaRPr lang="en-US" sz="1400" b="0" u="none" strike="noStrike">
              <a:solidFill>
                <a:srgbClr val="000000"/>
              </a:solidFill>
              <a:effectLst/>
              <a:uFillTx/>
              <a:latin typeface="Arial"/>
            </a:endParaRPr>
          </a:p>
        </p:txBody>
      </p:sp>
      <p:sp>
        <p:nvSpPr>
          <p:cNvPr id="172" name="LeftHeader"/>
          <p:cNvSpPr/>
          <p:nvPr/>
        </p:nvSpPr>
        <p:spPr>
          <a:xfrm>
            <a:off x="380880" y="1320840"/>
            <a:ext cx="4444560" cy="42012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73080" tIns="76320" rIns="73080" bIns="76320" anchor="ctr">
            <a:noAutofit/>
          </a:bodyPr>
          <a:lstStyle/>
          <a:p>
            <a:pPr algn="ctr" defTabSz="914400">
              <a:lnSpc>
                <a:spcPct val="100000"/>
              </a:lnSpc>
            </a:pPr>
            <a:r>
              <a:rPr lang="ja-JP" sz="1400" b="1" u="none" strike="noStrike" dirty="0">
                <a:solidFill>
                  <a:srgbClr val="FFFFFF"/>
                </a:solidFill>
                <a:effectLst/>
                <a:uFillTx/>
                <a:latin typeface="メイリオ" panose="020B0604030504040204" pitchFamily="50" charset="-128"/>
                <a:ea typeface="メイリオ" panose="020B0604030504040204" pitchFamily="50" charset="-128"/>
              </a:rPr>
              <a:t>標準機能で運用</a:t>
            </a:r>
            <a:r>
              <a:rPr lang="en-US" sz="1400" b="0" u="none" strike="noStrike" dirty="0">
                <a:solidFill>
                  <a:srgbClr val="FFFFFF"/>
                </a:solidFill>
                <a:effectLst/>
                <a:uFillTx/>
                <a:latin typeface="メイリオ" panose="020B0604030504040204" pitchFamily="50" charset="-128"/>
                <a:ea typeface="メイリオ" panose="020B0604030504040204" pitchFamily="50" charset="-128"/>
              </a:rPr>
              <a:t> </a:t>
            </a:r>
            <a:r>
              <a:rPr lang="en-US" sz="1200" b="0" u="none" strike="noStrike" dirty="0">
                <a:solidFill>
                  <a:srgbClr val="FFFFFF"/>
                </a:solidFill>
                <a:effectLst/>
                <a:uFillTx/>
                <a:latin typeface="メイリオ" panose="020B0604030504040204" pitchFamily="50" charset="-128"/>
                <a:ea typeface="メイリオ" panose="020B0604030504040204" pitchFamily="50" charset="-128"/>
              </a:rPr>
              <a:t>※</a:t>
            </a:r>
            <a:r>
              <a:rPr lang="en-US" sz="1200" b="0" u="none" strike="noStrike" dirty="0" err="1">
                <a:solidFill>
                  <a:srgbClr val="FFFFFF"/>
                </a:solidFill>
                <a:effectLst/>
                <a:uFillTx/>
                <a:latin typeface="メイリオ" panose="020B0604030504040204" pitchFamily="50" charset="-128"/>
                <a:ea typeface="メイリオ" panose="020B0604030504040204" pitchFamily="50" charset="-128"/>
              </a:rPr>
              <a:t>基本施策はこちらで運用</a:t>
            </a:r>
            <a:endParaRPr lang="en-US" sz="1200" b="0" u="none" strike="noStrike" dirty="0">
              <a:solidFill>
                <a:srgbClr val="FFFFFF"/>
              </a:solidFill>
              <a:effectLst/>
              <a:uFillTx/>
              <a:latin typeface="メイリオ" panose="020B0604030504040204" pitchFamily="50" charset="-128"/>
              <a:ea typeface="メイリオ" panose="020B0604030504040204" pitchFamily="50" charset="-128"/>
            </a:endParaRPr>
          </a:p>
        </p:txBody>
      </p:sp>
      <p:sp>
        <p:nvSpPr>
          <p:cNvPr id="173" name="LeftBody"/>
          <p:cNvSpPr/>
          <p:nvPr/>
        </p:nvSpPr>
        <p:spPr>
          <a:xfrm>
            <a:off x="380880" y="1740960"/>
            <a:ext cx="4444560" cy="340128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28160" tIns="152280" rIns="128160" bIns="152280" anchor="t">
            <a:noAutofit/>
          </a:bodyPr>
          <a:lstStyle/>
          <a:p>
            <a:pPr defTabSz="914400">
              <a:lnSpc>
                <a:spcPct val="100000"/>
              </a:lnSpc>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特徴</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ツール費がかからず、</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公式アカウントの管理画面だけで運用できる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メリット</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ステップ配信・問い合わせ済みの方を除く配信・キーワード応答・チャットタグなど、</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上の施策はすべて標準機能で実現できる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デメリット</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離脱防止ポップアップとサイトのボタンなど、同じ友だち追加</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から入った方は、経路で分けて配信できない</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174" name="RightHeader"/>
          <p:cNvSpPr/>
          <p:nvPr/>
        </p:nvSpPr>
        <p:spPr>
          <a:xfrm>
            <a:off x="5079960" y="1320840"/>
            <a:ext cx="4444560" cy="420120"/>
          </a:xfrm>
          <a:prstGeom prst="rect">
            <a:avLst/>
          </a:prstGeom>
          <a:solidFill>
            <a:srgbClr val="00B050"/>
          </a:solidFill>
          <a:ln w="0">
            <a:noFill/>
          </a:ln>
        </p:spPr>
        <p:style>
          <a:lnRef idx="0">
            <a:scrgbClr r="0" g="0" b="0"/>
          </a:lnRef>
          <a:fillRef idx="0">
            <a:scrgbClr r="0" g="0" b="0"/>
          </a:fillRef>
          <a:effectRef idx="0">
            <a:scrgbClr r="0" g="0" b="0"/>
          </a:effectRef>
          <a:fontRef idx="minor"/>
        </p:style>
        <p:txBody>
          <a:bodyPr lIns="73080" tIns="76320" rIns="73080" bIns="76320" anchor="ctr">
            <a:noAutofit/>
          </a:bodyPr>
          <a:lstStyle/>
          <a:p>
            <a:pPr algn="ctr" defTabSz="914400">
              <a:lnSpc>
                <a:spcPct val="100000"/>
              </a:lnSpc>
            </a:pPr>
            <a:r>
              <a:rPr lang="ja-JP" sz="1400" b="1" u="none" strike="noStrike">
                <a:solidFill>
                  <a:srgbClr val="FFFFFF"/>
                </a:solidFill>
                <a:effectLst/>
                <a:uFillTx/>
                <a:latin typeface="メイリオ" panose="020B0604030504040204" pitchFamily="50" charset="-128"/>
                <a:ea typeface="メイリオ" panose="020B0604030504040204" pitchFamily="50" charset="-128"/>
              </a:rPr>
              <a:t>外部の運用ツール</a:t>
            </a:r>
            <a:r>
              <a:rPr lang="en-US" sz="1400" b="0" u="none" strike="noStrike">
                <a:solidFill>
                  <a:srgbClr val="FFFFFF"/>
                </a:solidFill>
                <a:effectLst/>
                <a:uFillTx/>
                <a:latin typeface="メイリオ" panose="020B0604030504040204" pitchFamily="50" charset="-128"/>
                <a:ea typeface="メイリオ" panose="020B0604030504040204" pitchFamily="50" charset="-128"/>
              </a:rPr>
              <a:t> </a:t>
            </a:r>
            <a:r>
              <a:rPr lang="en-US" sz="1200" b="0" u="none" strike="noStrike">
                <a:solidFill>
                  <a:srgbClr val="FFFFFF"/>
                </a:solidFill>
                <a:effectLst/>
                <a:uFillTx/>
                <a:latin typeface="メイリオ" panose="020B0604030504040204" pitchFamily="50" charset="-128"/>
                <a:ea typeface="メイリオ" panose="020B0604030504040204" pitchFamily="50" charset="-128"/>
              </a:rPr>
              <a:t>※基本施策には含まない</a:t>
            </a:r>
          </a:p>
        </p:txBody>
      </p:sp>
      <p:sp>
        <p:nvSpPr>
          <p:cNvPr id="175" name="RightBody"/>
          <p:cNvSpPr/>
          <p:nvPr/>
        </p:nvSpPr>
        <p:spPr>
          <a:xfrm>
            <a:off x="5079960" y="1740960"/>
            <a:ext cx="4444560" cy="3401280"/>
          </a:xfrm>
          <a:prstGeom prst="rect">
            <a:avLst/>
          </a:prstGeom>
          <a:solidFill>
            <a:srgbClr val="FFFFFF"/>
          </a:solidFill>
          <a:ln w="12700">
            <a:solidFill>
              <a:srgbClr val="00B050"/>
            </a:solidFill>
            <a:round/>
          </a:ln>
        </p:spPr>
        <p:style>
          <a:lnRef idx="0">
            <a:scrgbClr r="0" g="0" b="0"/>
          </a:lnRef>
          <a:fillRef idx="0">
            <a:scrgbClr r="0" g="0" b="0"/>
          </a:fillRef>
          <a:effectRef idx="0">
            <a:scrgbClr r="0" g="0" b="0"/>
          </a:effectRef>
          <a:fontRef idx="minor"/>
        </p:style>
        <p:txBody>
          <a:bodyPr lIns="128160" tIns="152280" rIns="128160" bIns="152280" anchor="t">
            <a:noAutofit/>
          </a:bodyPr>
          <a:lstStyle/>
          <a:p>
            <a:pPr defTabSz="914400">
              <a:lnSpc>
                <a:spcPct val="100000"/>
              </a:lnSpc>
            </a:pPr>
            <a:r>
              <a:rPr lang="ja-JP" sz="1400" b="1" u="none" strike="noStrike">
                <a:solidFill>
                  <a:srgbClr val="00B050"/>
                </a:solidFill>
                <a:effectLst/>
                <a:uFillTx/>
                <a:latin typeface="メイリオ" panose="020B0604030504040204" pitchFamily="50" charset="-128"/>
                <a:ea typeface="メイリオ" panose="020B0604030504040204" pitchFamily="50" charset="-128"/>
              </a:rPr>
              <a:t>特徴</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タグや流入経路を細かく管理でき、外部データ連携に強い（</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ステップ等）</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a:solidFill>
                  <a:srgbClr val="00B050"/>
                </a:solidFill>
                <a:effectLst/>
                <a:uFillTx/>
                <a:latin typeface="メイリオ" panose="020B0604030504040204" pitchFamily="50" charset="-128"/>
                <a:ea typeface="メイリオ" panose="020B0604030504040204" pitchFamily="50" charset="-128"/>
              </a:rPr>
              <a:t>メリット</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流入元ごとに、配信を細かく出し分けられる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a:solidFill>
                  <a:srgbClr val="00B050"/>
                </a:solidFill>
                <a:effectLst/>
                <a:uFillTx/>
                <a:latin typeface="メイリオ" panose="020B0604030504040204" pitchFamily="50" charset="-128"/>
                <a:ea typeface="メイリオ" panose="020B0604030504040204" pitchFamily="50" charset="-128"/>
              </a:rPr>
              <a:t>デメリット</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月額のツール費と、初期設定・移行の工数がかかる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76" name="Conclusion"/>
          <p:cNvSpPr/>
          <p:nvPr/>
        </p:nvSpPr>
        <p:spPr>
          <a:xfrm>
            <a:off x="380880" y="5230440"/>
            <a:ext cx="9143640" cy="1261440"/>
          </a:xfrm>
          <a:prstGeom prst="rect">
            <a:avLst/>
          </a:prstGeom>
          <a:solidFill>
            <a:srgbClr val="F0F2F7"/>
          </a:solidFill>
          <a:ln w="0">
            <a:noFill/>
          </a:ln>
        </p:spPr>
        <p:style>
          <a:lnRef idx="0">
            <a:scrgbClr r="0" g="0" b="0"/>
          </a:lnRef>
          <a:fillRef idx="0">
            <a:scrgbClr r="0" g="0" b="0"/>
          </a:fillRef>
          <a:effectRef idx="0">
            <a:scrgbClr r="0" g="0" b="0"/>
          </a:effectRef>
          <a:fontRef idx="minor"/>
        </p:style>
        <p:txBody>
          <a:bodyPr lIns="177840" tIns="127080" rIns="177840" bIns="127080" anchor="t">
            <a:noAutofit/>
          </a:bodyPr>
          <a:lstStyle/>
          <a:p>
            <a:pPr defTabSz="914400">
              <a:lnSpc>
                <a:spcPct val="100000"/>
              </a:lnSpc>
            </a:pPr>
            <a:r>
              <a:rPr lang="ja-JP" sz="1400" b="1" u="none" strike="noStrike" dirty="0">
                <a:solidFill>
                  <a:srgbClr val="1F2A5C"/>
                </a:solidFill>
                <a:effectLst/>
                <a:uFillTx/>
                <a:latin typeface="メイリオ"/>
                <a:ea typeface="メイリオ"/>
              </a:rPr>
              <a:t>結論</a:t>
            </a:r>
            <a:endParaRPr lang="en-US" sz="1400" b="0" u="none" strike="noStrike" dirty="0">
              <a:solidFill>
                <a:srgbClr val="000000"/>
              </a:solidFill>
              <a:effectLst/>
              <a:uFillTx/>
              <a:latin typeface="Arial"/>
            </a:endParaRPr>
          </a:p>
          <a:p>
            <a:pPr defTabSz="914400">
              <a:lnSpc>
                <a:spcPct val="100000"/>
              </a:lnSpc>
              <a:spcBef>
                <a:spcPts val="201"/>
              </a:spcBef>
            </a:pPr>
            <a:r>
              <a:rPr lang="ja-JP" sz="1400" b="0" u="none" strike="noStrike" dirty="0">
                <a:solidFill>
                  <a:srgbClr val="333333"/>
                </a:solidFill>
                <a:effectLst/>
                <a:uFillTx/>
                <a:latin typeface="メイリオ"/>
                <a:ea typeface="メイリオ"/>
              </a:rPr>
              <a:t>基本施策は、</a:t>
            </a:r>
            <a:r>
              <a:rPr lang="en-US" sz="1400" b="0" u="none" strike="noStrike" dirty="0">
                <a:solidFill>
                  <a:srgbClr val="333333"/>
                </a:solidFill>
                <a:effectLst/>
                <a:uFillTx/>
                <a:latin typeface="メイリオ"/>
                <a:ea typeface="メイリオ"/>
              </a:rPr>
              <a:t>LINE</a:t>
            </a:r>
            <a:r>
              <a:rPr lang="ja-JP" sz="1400" b="0" u="none" strike="noStrike" dirty="0">
                <a:solidFill>
                  <a:srgbClr val="333333"/>
                </a:solidFill>
                <a:effectLst/>
                <a:uFillTx/>
                <a:latin typeface="メイリオ"/>
                <a:ea typeface="メイリオ"/>
              </a:rPr>
              <a:t>公式アカウントの標準機能を中心に運用します。</a:t>
            </a:r>
            <a:endParaRPr lang="en-US" sz="1400" b="0" u="none" strike="noStrike" dirty="0">
              <a:solidFill>
                <a:srgbClr val="000000"/>
              </a:solidFill>
              <a:effectLst/>
              <a:uFillTx/>
              <a:latin typeface="Arial"/>
            </a:endParaRPr>
          </a:p>
          <a:p>
            <a:pPr defTabSz="914400">
              <a:lnSpc>
                <a:spcPct val="100000"/>
              </a:lnSpc>
              <a:spcBef>
                <a:spcPts val="201"/>
              </a:spcBef>
            </a:pPr>
            <a:r>
              <a:rPr lang="ja-JP" sz="1400" b="0" u="none" strike="noStrike" dirty="0">
                <a:solidFill>
                  <a:srgbClr val="333333"/>
                </a:solidFill>
                <a:effectLst/>
                <a:uFillTx/>
                <a:latin typeface="メイリオ"/>
                <a:ea typeface="メイリオ"/>
              </a:rPr>
              <a:t>プラン①では、必要に応じて</a:t>
            </a:r>
            <a:r>
              <a:rPr lang="en-US" sz="1400" b="0" u="none" strike="noStrike" dirty="0">
                <a:solidFill>
                  <a:srgbClr val="333333"/>
                </a:solidFill>
                <a:effectLst/>
                <a:uFillTx/>
                <a:latin typeface="メイリオ"/>
                <a:ea typeface="メイリオ"/>
              </a:rPr>
              <a:t>API</a:t>
            </a:r>
            <a:r>
              <a:rPr lang="ja-JP" sz="1400" b="0" u="none" strike="noStrike" dirty="0">
                <a:solidFill>
                  <a:srgbClr val="333333"/>
                </a:solidFill>
                <a:effectLst/>
                <a:uFillTx/>
                <a:latin typeface="メイリオ"/>
                <a:ea typeface="メイリオ"/>
              </a:rPr>
              <a:t>連携・開発を別途お見積りでご提案します（基本料金に含まず）。</a:t>
            </a:r>
            <a:endParaRPr lang="en-US" sz="1400" b="0" u="none" strike="noStrike" dirty="0">
              <a:solidFill>
                <a:srgbClr val="000000"/>
              </a:solidFill>
              <a:effectLst/>
              <a:uFillTx/>
              <a:latin typeface="Arial"/>
            </a:endParaRPr>
          </a:p>
          <a:p>
            <a:pPr defTabSz="914400">
              <a:lnSpc>
                <a:spcPct val="100000"/>
              </a:lnSpc>
              <a:spcBef>
                <a:spcPts val="201"/>
              </a:spcBef>
            </a:pPr>
            <a:r>
              <a:rPr lang="en-US" sz="1400" b="0" u="none" strike="noStrike" dirty="0">
                <a:solidFill>
                  <a:srgbClr val="333333"/>
                </a:solidFill>
                <a:effectLst/>
                <a:uFillTx/>
                <a:latin typeface="メイリオ"/>
                <a:ea typeface="メイリオ"/>
              </a:rPr>
              <a:t>※</a:t>
            </a:r>
            <a:r>
              <a:rPr lang="en-US" sz="1400" b="0" u="none" strike="noStrike" dirty="0" err="1">
                <a:solidFill>
                  <a:srgbClr val="333333"/>
                </a:solidFill>
                <a:effectLst/>
                <a:uFillTx/>
                <a:latin typeface="メイリオ"/>
                <a:ea typeface="メイリオ"/>
              </a:rPr>
              <a:t>離脱防止ポップアップは、LINE</a:t>
            </a:r>
            <a:r>
              <a:rPr lang="ja-JP" sz="1400" b="0" u="none" strike="noStrike" dirty="0">
                <a:solidFill>
                  <a:srgbClr val="333333"/>
                </a:solidFill>
                <a:effectLst/>
                <a:uFillTx/>
                <a:latin typeface="メイリオ"/>
                <a:ea typeface="メイリオ"/>
              </a:rPr>
              <a:t>公式アカウントの機能ではなく、サイト側に別途導入する施策です。</a:t>
            </a:r>
            <a:endParaRPr lang="en-US" sz="1400" b="0" u="none" strike="noStrike" dirty="0">
              <a:solidFill>
                <a:srgbClr val="000000"/>
              </a:solidFill>
              <a:effectLst/>
              <a:uFillTx/>
              <a:latin typeface="Arial"/>
            </a:endParaRPr>
          </a:p>
        </p:txBody>
      </p:sp>
      <p:cxnSp>
        <p:nvCxnSpPr>
          <p:cNvPr id="2" name="直線コネクタ 1">
            <a:extLst>
              <a:ext uri="{FF2B5EF4-FFF2-40B4-BE49-F238E27FC236}">
                <a16:creationId xmlns:a16="http://schemas.microsoft.com/office/drawing/2014/main" id="{391B0154-08C7-8117-7C0F-8DA32A6C44D7}"/>
              </a:ext>
            </a:extLst>
          </p:cNvPr>
          <p:cNvCxnSpPr/>
          <p:nvPr/>
        </p:nvCxnSpPr>
        <p:spPr>
          <a:xfrm>
            <a:off x="0" y="1203120"/>
            <a:ext cx="9906120" cy="360"/>
          </a:xfrm>
          <a:prstGeom prst="straightConnector1">
            <a:avLst/>
          </a:prstGeom>
          <a:ln w="19050">
            <a:solidFill>
              <a:schemeClr val="lt1">
                <a:lumMod val="85000"/>
                <a:alpha val="60000"/>
              </a:schemeClr>
            </a:solidFill>
            <a:roun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78"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想定動線</a:t>
            </a:r>
            <a:endParaRPr lang="en-US" sz="1600" b="0" u="none" strike="noStrike">
              <a:solidFill>
                <a:srgbClr val="000000"/>
              </a:solidFill>
              <a:effectLst/>
              <a:uFillTx/>
              <a:latin typeface="Arial"/>
            </a:endParaRPr>
          </a:p>
        </p:txBody>
      </p:sp>
      <p:cxnSp>
        <p:nvCxnSpPr>
          <p:cNvPr id="179"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80" name="正方形/長方形 4"/>
          <p:cNvSpPr/>
          <p:nvPr/>
        </p:nvSpPr>
        <p:spPr>
          <a:xfrm>
            <a:off x="453240" y="1755720"/>
            <a:ext cx="9190440" cy="243180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181" name="正方形/長方形 5"/>
          <p:cNvSpPr/>
          <p:nvPr/>
        </p:nvSpPr>
        <p:spPr>
          <a:xfrm>
            <a:off x="453240" y="4544640"/>
            <a:ext cx="9190440" cy="191988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lt1"/>
              </a:solidFill>
              <a:effectLst/>
              <a:uFillTx/>
              <a:latin typeface="メイリオ"/>
              <a:ea typeface="メイリオ"/>
            </a:endParaRPr>
          </a:p>
        </p:txBody>
      </p:sp>
      <p:sp>
        <p:nvSpPr>
          <p:cNvPr id="182" name="テキスト ボックス 7"/>
          <p:cNvSpPr/>
          <p:nvPr/>
        </p:nvSpPr>
        <p:spPr>
          <a:xfrm>
            <a:off x="453240" y="1417320"/>
            <a:ext cx="496368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chemeClr val="dk1">
                    <a:lumMod val="50000"/>
                    <a:lumOff val="50000"/>
                  </a:schemeClr>
                </a:solidFill>
                <a:effectLst/>
                <a:uFillTx/>
                <a:latin typeface="メイリオ"/>
                <a:ea typeface="メイリオ"/>
              </a:rPr>
              <a:t>&lt;</a:t>
            </a:r>
            <a:r>
              <a:rPr lang="ja-JP" sz="1400" b="1" u="none" strike="noStrike">
                <a:solidFill>
                  <a:schemeClr val="dk1">
                    <a:lumMod val="50000"/>
                    <a:lumOff val="50000"/>
                  </a:schemeClr>
                </a:solidFill>
                <a:effectLst/>
                <a:uFillTx/>
                <a:latin typeface="メイリオ"/>
                <a:ea typeface="メイリオ"/>
              </a:rPr>
              <a:t>対新規ユーザー領域</a:t>
            </a:r>
            <a:r>
              <a:rPr lang="en-US" sz="1400" b="1" u="none" strike="noStrike">
                <a:solidFill>
                  <a:schemeClr val="dk1">
                    <a:lumMod val="50000"/>
                    <a:lumOff val="50000"/>
                  </a:schemeClr>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183" name="テキスト ボックス 8"/>
          <p:cNvSpPr/>
          <p:nvPr/>
        </p:nvSpPr>
        <p:spPr>
          <a:xfrm>
            <a:off x="453240" y="4215240"/>
            <a:ext cx="62179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chemeClr val="dk1">
                    <a:lumMod val="50000"/>
                    <a:lumOff val="50000"/>
                  </a:schemeClr>
                </a:solidFill>
                <a:effectLst/>
                <a:uFillTx/>
                <a:latin typeface="メイリオ"/>
                <a:ea typeface="メイリオ"/>
              </a:rPr>
              <a:t>&lt;参考：CV以降の個別対応（あらうち様）／当社の計測対象外&gt;</a:t>
            </a:r>
            <a:endParaRPr lang="en-US" sz="1400" b="0" u="none" strike="noStrike">
              <a:solidFill>
                <a:srgbClr val="000000"/>
              </a:solidFill>
              <a:effectLst/>
              <a:uFillTx/>
              <a:latin typeface="Arial"/>
            </a:endParaRPr>
          </a:p>
        </p:txBody>
      </p:sp>
      <p:sp>
        <p:nvSpPr>
          <p:cNvPr id="184" name="正方形/長方形 8"/>
          <p:cNvSpPr/>
          <p:nvPr/>
        </p:nvSpPr>
        <p:spPr>
          <a:xfrm>
            <a:off x="567000" y="1847160"/>
            <a:ext cx="164556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36720" tIns="0" rIns="36720" bIns="0" anchor="ctr">
            <a:noAutofit/>
          </a:bodyPr>
          <a:lstStyle/>
          <a:p>
            <a:pPr algn="ctr" defTabSz="914400">
              <a:lnSpc>
                <a:spcPct val="100000"/>
              </a:lnSpc>
            </a:pPr>
            <a:r>
              <a:rPr lang="en-US" sz="1200" b="1" u="none" strike="noStrike">
                <a:solidFill>
                  <a:schemeClr val="lt1"/>
                </a:solidFill>
                <a:effectLst/>
                <a:uFillTx/>
                <a:latin typeface="メイリオ"/>
                <a:ea typeface="メイリオ"/>
              </a:rPr>
              <a:t>100</a:t>
            </a:r>
            <a:r>
              <a:rPr lang="zh-CN" sz="1200" b="1" u="none" strike="noStrike">
                <a:solidFill>
                  <a:schemeClr val="lt1"/>
                </a:solidFill>
                <a:effectLst/>
                <a:uFillTx/>
                <a:latin typeface="メイリオ"/>
                <a:ea typeface="メイリオ"/>
              </a:rPr>
              <a:t>円賃貸のサイト</a:t>
            </a:r>
            <a:endParaRPr lang="en-US" sz="1200" b="0" u="none" strike="noStrike">
              <a:solidFill>
                <a:srgbClr val="000000"/>
              </a:solidFill>
              <a:effectLst/>
              <a:uFillTx/>
              <a:latin typeface="Arial"/>
            </a:endParaRPr>
          </a:p>
        </p:txBody>
      </p:sp>
      <p:sp>
        <p:nvSpPr>
          <p:cNvPr id="185" name="正方形/長方形 13"/>
          <p:cNvSpPr/>
          <p:nvPr/>
        </p:nvSpPr>
        <p:spPr>
          <a:xfrm>
            <a:off x="8211240" y="2048256"/>
            <a:ext cx="1371240" cy="51206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18360" tIns="0" rIns="18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物件情報の送信</a:t>
            </a:r>
            <a:endParaRPr lang="en-US" sz="1200" b="0" u="none" strike="noStrike">
              <a:solidFill>
                <a:srgbClr val="FFFFFF"/>
              </a:solidFill>
              <a:effectLst/>
              <a:uFillTx/>
              <a:latin typeface="Arial"/>
            </a:endParaRPr>
          </a:p>
          <a:p>
            <a:pPr algn="ctr" defTabSz="914400">
              <a:lnSpc>
                <a:spcPct val="100000"/>
              </a:lnSpc>
            </a:pPr>
            <a:r>
              <a:rPr lang="zh-CN" sz="1200" b="1" u="none" strike="noStrike">
                <a:solidFill>
                  <a:schemeClr val="lt1"/>
                </a:solidFill>
                <a:effectLst/>
                <a:uFillTx/>
                <a:latin typeface="メイリオ"/>
                <a:ea typeface="メイリオ"/>
              </a:rPr>
              <a:t>（CV）</a:t>
            </a:r>
            <a:endParaRPr lang="en-US" sz="1200" b="0" u="none" strike="noStrike">
              <a:solidFill>
                <a:srgbClr val="FFFFFF"/>
              </a:solidFill>
              <a:effectLst/>
              <a:uFillTx/>
              <a:latin typeface="Arial"/>
            </a:endParaRPr>
          </a:p>
        </p:txBody>
      </p:sp>
      <p:sp>
        <p:nvSpPr>
          <p:cNvPr id="186" name="正方形/長方形 14"/>
          <p:cNvSpPr/>
          <p:nvPr/>
        </p:nvSpPr>
        <p:spPr>
          <a:xfrm>
            <a:off x="567000" y="2541960"/>
            <a:ext cx="2559960" cy="49356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dirty="0">
                <a:solidFill>
                  <a:srgbClr val="FFFFFF"/>
                </a:solidFill>
                <a:effectLst/>
                <a:uFillTx/>
                <a:latin typeface="メイリオ"/>
                <a:ea typeface="メイリオ"/>
              </a:rPr>
              <a:t>サイトの</a:t>
            </a:r>
            <a:br>
              <a:rPr sz="1200" dirty="0"/>
            </a:br>
            <a:r>
              <a:rPr lang="ja-JP" sz="1200" b="1" u="none" strike="noStrike" dirty="0">
                <a:solidFill>
                  <a:srgbClr val="FFFFFF"/>
                </a:solidFill>
                <a:effectLst/>
                <a:uFillTx/>
                <a:latin typeface="メイリオ"/>
                <a:ea typeface="メイリオ"/>
              </a:rPr>
              <a:t>「</a:t>
            </a:r>
            <a:r>
              <a:rPr lang="en-US" sz="1200" b="1" u="none" strike="noStrike" dirty="0">
                <a:solidFill>
                  <a:srgbClr val="FFFFFF"/>
                </a:solidFill>
                <a:effectLst/>
                <a:uFillTx/>
                <a:latin typeface="メイリオ"/>
                <a:ea typeface="メイリオ"/>
              </a:rPr>
              <a:t>LINE</a:t>
            </a:r>
            <a:r>
              <a:rPr lang="ja-JP" sz="1200" b="1" u="none" strike="noStrike" dirty="0">
                <a:solidFill>
                  <a:srgbClr val="FFFFFF"/>
                </a:solidFill>
                <a:effectLst/>
                <a:uFillTx/>
                <a:latin typeface="メイリオ"/>
                <a:ea typeface="メイリオ"/>
              </a:rPr>
              <a:t>でお問い合わせ」ボタン</a:t>
            </a:r>
            <a:endParaRPr lang="en-US" sz="1200" b="0" u="none" strike="noStrike" dirty="0">
              <a:solidFill>
                <a:srgbClr val="FFFFFF"/>
              </a:solidFill>
              <a:effectLst/>
              <a:uFillTx/>
              <a:latin typeface="Arial"/>
            </a:endParaRPr>
          </a:p>
        </p:txBody>
      </p:sp>
      <p:sp>
        <p:nvSpPr>
          <p:cNvPr id="187" name="正方形/長方形 16"/>
          <p:cNvSpPr/>
          <p:nvPr/>
        </p:nvSpPr>
        <p:spPr>
          <a:xfrm>
            <a:off x="567000" y="2167200"/>
            <a:ext cx="2559960" cy="29232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離脱防止ポップアップ</a:t>
            </a:r>
            <a:endParaRPr lang="en-US" sz="1200" b="0" u="none" strike="noStrike">
              <a:solidFill>
                <a:srgbClr val="FFFFFF"/>
              </a:solidFill>
              <a:effectLst/>
              <a:uFillTx/>
              <a:latin typeface="Arial"/>
            </a:endParaRPr>
          </a:p>
        </p:txBody>
      </p:sp>
      <p:sp>
        <p:nvSpPr>
          <p:cNvPr id="188" name="正方形/長方形 18"/>
          <p:cNvSpPr/>
          <p:nvPr/>
        </p:nvSpPr>
        <p:spPr>
          <a:xfrm>
            <a:off x="8211240" y="3035808"/>
            <a:ext cx="1371240" cy="822960"/>
          </a:xfrm>
          <a:prstGeom prst="rect">
            <a:avLst/>
          </a:prstGeom>
          <a:solidFill>
            <a:srgbClr val="F2F2F2"/>
          </a:solidFill>
          <a:ln w="12700">
            <a:solidFill>
              <a:srgbClr val="A6A6A6"/>
            </a:solidFill>
            <a:prstDash val="dash"/>
          </a:ln>
        </p:spPr>
        <p:style>
          <a:lnRef idx="2">
            <a:schemeClr val="accent1">
              <a:shade val="15000"/>
            </a:schemeClr>
          </a:lnRef>
          <a:fillRef idx="1">
            <a:schemeClr val="accent1"/>
          </a:fillRef>
          <a:effectRef idx="0">
            <a:schemeClr val="accent1"/>
          </a:effectRef>
          <a:fontRef idx="minor"/>
        </p:style>
        <p:txBody>
          <a:bodyPr lIns="18360" tIns="0" rIns="18360" bIns="0" anchor="ctr">
            <a:noAutofit/>
          </a:bodyPr>
          <a:lstStyle/>
          <a:p>
            <a:pPr algn="ctr" defTabSz="914400">
              <a:lnSpc>
                <a:spcPct val="100000"/>
              </a:lnSpc>
            </a:pPr>
            <a:r>
              <a:rPr lang="ja-JP" sz="1200" b="1" u="none" strike="noStrike" dirty="0">
                <a:solidFill>
                  <a:srgbClr val="595959"/>
                </a:solidFill>
                <a:effectLst/>
                <a:uFillTx/>
                <a:latin typeface="メイリオ"/>
                <a:ea typeface="メイリオ"/>
              </a:rPr>
              <a:t>空室確認・内見</a:t>
            </a:r>
            <a:endParaRPr lang="en-US" sz="1200" b="0" u="none" strike="noStrike" dirty="0">
              <a:solidFill>
                <a:srgbClr val="595959"/>
              </a:solidFill>
              <a:effectLst/>
              <a:uFillTx/>
              <a:latin typeface="Arial"/>
            </a:endParaRPr>
          </a:p>
          <a:p>
            <a:pPr algn="ctr" defTabSz="914400">
              <a:lnSpc>
                <a:spcPct val="100000"/>
              </a:lnSpc>
            </a:pPr>
            <a:r>
              <a:rPr lang="ja-JP" sz="1200" b="0" u="none" strike="noStrike" dirty="0">
                <a:solidFill>
                  <a:srgbClr val="595959"/>
                </a:solidFill>
                <a:effectLst/>
                <a:uFillTx/>
                <a:latin typeface="メイリオ"/>
                <a:ea typeface="メイリオ"/>
              </a:rPr>
              <a:t>あらうち様による</a:t>
            </a:r>
            <a:endParaRPr lang="en-US" sz="1200" b="0" u="none" strike="noStrike" dirty="0">
              <a:solidFill>
                <a:srgbClr val="595959"/>
              </a:solidFill>
              <a:effectLst/>
              <a:uFillTx/>
              <a:latin typeface="Arial"/>
            </a:endParaRPr>
          </a:p>
          <a:p>
            <a:pPr algn="ctr" defTabSz="914400">
              <a:lnSpc>
                <a:spcPct val="100000"/>
              </a:lnSpc>
            </a:pPr>
            <a:r>
              <a:rPr lang="ja-JP" sz="1200" b="0" u="none" strike="noStrike" dirty="0">
                <a:solidFill>
                  <a:srgbClr val="595959"/>
                </a:solidFill>
                <a:effectLst/>
                <a:uFillTx/>
                <a:latin typeface="メイリオ"/>
                <a:ea typeface="メイリオ"/>
              </a:rPr>
              <a:t>個別対応（参考）</a:t>
            </a:r>
            <a:endParaRPr lang="en-US" sz="1200" b="0" u="none" strike="noStrike" dirty="0">
              <a:solidFill>
                <a:srgbClr val="595959"/>
              </a:solidFill>
              <a:effectLst/>
              <a:uFillTx/>
              <a:latin typeface="Arial"/>
            </a:endParaRPr>
          </a:p>
        </p:txBody>
      </p:sp>
      <p:sp>
        <p:nvSpPr>
          <p:cNvPr id="189" name="正方形/長方形 19"/>
          <p:cNvSpPr/>
          <p:nvPr/>
        </p:nvSpPr>
        <p:spPr>
          <a:xfrm>
            <a:off x="6675120" y="4978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a:solidFill>
                  <a:schemeClr val="lt1"/>
                </a:solidFill>
                <a:effectLst/>
                <a:uFillTx/>
                <a:latin typeface="メイリオ"/>
                <a:ea typeface="メイリオ"/>
              </a:rPr>
              <a:t>アクセス解析での効果測定</a:t>
            </a:r>
            <a:endParaRPr lang="en-US" sz="1200" b="0" u="none" strike="noStrike">
              <a:solidFill>
                <a:srgbClr val="FFFFFF"/>
              </a:solidFill>
              <a:effectLst/>
              <a:uFillTx/>
              <a:latin typeface="Arial"/>
            </a:endParaRPr>
          </a:p>
        </p:txBody>
      </p:sp>
      <p:sp>
        <p:nvSpPr>
          <p:cNvPr id="190" name="正方形/長方形 20"/>
          <p:cNvSpPr/>
          <p:nvPr/>
        </p:nvSpPr>
        <p:spPr>
          <a:xfrm>
            <a:off x="6675120" y="5266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chemeClr val="lt1"/>
                </a:solidFill>
                <a:effectLst/>
                <a:uFillTx/>
                <a:latin typeface="メイリオ"/>
                <a:ea typeface="メイリオ"/>
              </a:rPr>
              <a:t>投稿スケジュール確認</a:t>
            </a:r>
            <a:endParaRPr lang="en-US" sz="1200" b="0" u="none" strike="noStrike">
              <a:solidFill>
                <a:srgbClr val="FFFFFF"/>
              </a:solidFill>
              <a:effectLst/>
              <a:uFillTx/>
              <a:latin typeface="Arial"/>
            </a:endParaRPr>
          </a:p>
        </p:txBody>
      </p:sp>
      <p:sp>
        <p:nvSpPr>
          <p:cNvPr id="191" name="正方形/長方形 21"/>
          <p:cNvSpPr/>
          <p:nvPr/>
        </p:nvSpPr>
        <p:spPr>
          <a:xfrm>
            <a:off x="6675120" y="5843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a:solidFill>
                  <a:schemeClr val="lt1"/>
                </a:solidFill>
                <a:effectLst/>
                <a:uFillTx/>
                <a:latin typeface="メイリオ"/>
                <a:ea typeface="メイリオ"/>
              </a:rPr>
              <a:t>受付時間外の自動応答</a:t>
            </a:r>
            <a:endParaRPr lang="en-US" sz="1200" b="0" u="none" strike="noStrike">
              <a:solidFill>
                <a:srgbClr val="FFFFFF"/>
              </a:solidFill>
              <a:effectLst/>
              <a:uFillTx/>
              <a:latin typeface="Arial"/>
            </a:endParaRPr>
          </a:p>
        </p:txBody>
      </p:sp>
      <p:sp>
        <p:nvSpPr>
          <p:cNvPr id="192" name="正方形/長方形 22"/>
          <p:cNvSpPr/>
          <p:nvPr/>
        </p:nvSpPr>
        <p:spPr>
          <a:xfrm>
            <a:off x="6675120" y="5555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dirty="0">
                <a:solidFill>
                  <a:schemeClr val="lt1"/>
                </a:solidFill>
                <a:effectLst/>
                <a:uFillTx/>
                <a:latin typeface="メイリオ"/>
                <a:ea typeface="メイリオ"/>
              </a:rPr>
              <a:t>キーワード応答の見直し</a:t>
            </a:r>
            <a:endParaRPr lang="en-US" sz="1200" b="0" u="none" strike="noStrike" dirty="0">
              <a:solidFill>
                <a:srgbClr val="FFFFFF"/>
              </a:solidFill>
              <a:effectLst/>
              <a:uFillTx/>
              <a:latin typeface="Arial"/>
            </a:endParaRPr>
          </a:p>
        </p:txBody>
      </p:sp>
      <p:sp>
        <p:nvSpPr>
          <p:cNvPr id="193" name="正方形/長方形 23"/>
          <p:cNvSpPr/>
          <p:nvPr/>
        </p:nvSpPr>
        <p:spPr>
          <a:xfrm>
            <a:off x="6675120" y="6131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chemeClr val="lt1"/>
                </a:solidFill>
                <a:effectLst/>
                <a:uFillTx/>
                <a:latin typeface="メイリオ"/>
                <a:ea typeface="メイリオ"/>
              </a:rPr>
              <a:t>配信結果の振り返り</a:t>
            </a:r>
            <a:endParaRPr lang="en-US" sz="1200" b="0" u="none" strike="noStrike">
              <a:solidFill>
                <a:srgbClr val="FFFFFF"/>
              </a:solidFill>
              <a:effectLst/>
              <a:uFillTx/>
              <a:latin typeface="Arial"/>
            </a:endParaRPr>
          </a:p>
        </p:txBody>
      </p:sp>
      <p:sp>
        <p:nvSpPr>
          <p:cNvPr id="194" name="正方形/長方形 24"/>
          <p:cNvSpPr/>
          <p:nvPr/>
        </p:nvSpPr>
        <p:spPr>
          <a:xfrm>
            <a:off x="6675120" y="4690800"/>
            <a:ext cx="1919880" cy="25560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rgbClr val="595959"/>
                </a:solidFill>
                <a:effectLst/>
                <a:uFillTx/>
                <a:latin typeface="メイリオ"/>
                <a:ea typeface="メイリオ"/>
              </a:rPr>
              <a:t>定期対応項目</a:t>
            </a:r>
            <a:r>
              <a:rPr lang="en-US" sz="1200" b="0" u="none" strike="noStrike">
                <a:solidFill>
                  <a:srgbClr val="595959"/>
                </a:solidFill>
                <a:effectLst/>
                <a:uFillTx/>
                <a:latin typeface="メイリオ"/>
                <a:ea typeface="メイリオ"/>
              </a:rPr>
              <a:t>(</a:t>
            </a:r>
            <a:r>
              <a:rPr lang="ja-JP" sz="1200" b="0" u="none" strike="noStrike">
                <a:solidFill>
                  <a:srgbClr val="595959"/>
                </a:solidFill>
                <a:effectLst/>
                <a:uFillTx/>
                <a:latin typeface="メイリオ"/>
                <a:ea typeface="メイリオ"/>
              </a:rPr>
              <a:t>一部抽出</a:t>
            </a:r>
            <a:r>
              <a:rPr lang="en-US" sz="1200" b="0" u="none" strike="noStrike">
                <a:solidFill>
                  <a:srgbClr val="595959"/>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195" name="正方形/長方形 25"/>
          <p:cNvSpPr/>
          <p:nvPr/>
        </p:nvSpPr>
        <p:spPr>
          <a:xfrm>
            <a:off x="3310200" y="1792080"/>
            <a:ext cx="4534920" cy="23223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196" name="正方形/長方形 26"/>
          <p:cNvSpPr/>
          <p:nvPr/>
        </p:nvSpPr>
        <p:spPr>
          <a:xfrm>
            <a:off x="3401640" y="1847160"/>
            <a:ext cx="1517400" cy="27396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p:txBody>
      </p:sp>
      <p:cxnSp>
        <p:nvCxnSpPr>
          <p:cNvPr id="197" name="コネクタ: カギ線 27"/>
          <p:cNvCxnSpPr>
            <a:stCxn id="186" idx="3"/>
            <a:endCxn id="196" idx="1"/>
          </p:cNvCxnSpPr>
          <p:nvPr/>
        </p:nvCxnSpPr>
        <p:spPr>
          <a:xfrm flipV="1">
            <a:off x="3126960" y="1983960"/>
            <a:ext cx="275040" cy="804960"/>
          </a:xfrm>
          <a:prstGeom prst="bentConnector3">
            <a:avLst>
              <a:gd name="adj1" fmla="val 50065"/>
            </a:avLst>
          </a:prstGeom>
          <a:ln>
            <a:solidFill>
              <a:srgbClr val="1F497D"/>
            </a:solidFill>
            <a:prstDash val="sysDash"/>
            <a:round/>
            <a:tailEnd type="triangle" w="med" len="med"/>
          </a:ln>
        </p:spPr>
      </p:cxnSp>
      <p:cxnSp>
        <p:nvCxnSpPr>
          <p:cNvPr id="198" name="コネクタ: カギ線 29"/>
          <p:cNvCxnSpPr>
            <a:stCxn id="187" idx="3"/>
            <a:endCxn id="196" idx="1"/>
          </p:cNvCxnSpPr>
          <p:nvPr/>
        </p:nvCxnSpPr>
        <p:spPr>
          <a:xfrm flipV="1">
            <a:off x="3126960" y="1983960"/>
            <a:ext cx="275040" cy="329760"/>
          </a:xfrm>
          <a:prstGeom prst="bentConnector3">
            <a:avLst>
              <a:gd name="adj1" fmla="val 50065"/>
            </a:avLst>
          </a:prstGeom>
          <a:ln>
            <a:solidFill>
              <a:srgbClr val="1F497D"/>
            </a:solidFill>
            <a:prstDash val="sysDash"/>
            <a:round/>
            <a:tailEnd type="triangle" w="med" len="med"/>
          </a:ln>
        </p:spPr>
      </p:cxnSp>
      <p:sp>
        <p:nvSpPr>
          <p:cNvPr id="199" name="正方形/長方形 30"/>
          <p:cNvSpPr/>
          <p:nvPr/>
        </p:nvSpPr>
        <p:spPr>
          <a:xfrm>
            <a:off x="5193720" y="18471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企画配信（月</a:t>
            </a:r>
            <a:r>
              <a:rPr lang="en-US" sz="1200" b="1" u="none" strike="noStrike">
                <a:solidFill>
                  <a:schemeClr val="lt1"/>
                </a:solidFill>
                <a:effectLst/>
                <a:uFillTx/>
                <a:latin typeface="メイリオ"/>
                <a:ea typeface="メイリオ"/>
              </a:rPr>
              <a:t>4</a:t>
            </a:r>
            <a:r>
              <a:rPr lang="ja-JP" sz="1200" b="1" u="none" strike="noStrike">
                <a:solidFill>
                  <a:schemeClr val="lt1"/>
                </a:solidFill>
                <a:effectLst/>
                <a:uFillTx/>
                <a:latin typeface="メイリオ"/>
                <a:ea typeface="メイリオ"/>
              </a:rPr>
              <a:t>本）</a:t>
            </a:r>
            <a:endParaRPr lang="en-US" sz="1200" b="0" u="none" strike="noStrike">
              <a:solidFill>
                <a:srgbClr val="FFFFFF"/>
              </a:solidFill>
              <a:effectLst/>
              <a:uFillTx/>
              <a:latin typeface="Arial"/>
            </a:endParaRPr>
          </a:p>
        </p:txBody>
      </p:sp>
      <p:sp>
        <p:nvSpPr>
          <p:cNvPr id="200" name="正方形/長方形 31"/>
          <p:cNvSpPr/>
          <p:nvPr/>
        </p:nvSpPr>
        <p:spPr>
          <a:xfrm>
            <a:off x="5193720" y="21718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ステップ配信（全</a:t>
            </a:r>
            <a:r>
              <a:rPr lang="en-US" sz="1200" b="1" u="none" strike="noStrike">
                <a:solidFill>
                  <a:schemeClr val="lt1"/>
                </a:solidFill>
                <a:effectLst/>
                <a:uFillTx/>
                <a:latin typeface="メイリオ"/>
                <a:ea typeface="メイリオ"/>
              </a:rPr>
              <a:t>10</a:t>
            </a:r>
            <a:r>
              <a:rPr lang="ja-JP" sz="1200" b="1" u="none" strike="noStrike">
                <a:solidFill>
                  <a:schemeClr val="lt1"/>
                </a:solidFill>
                <a:effectLst/>
                <a:uFillTx/>
                <a:latin typeface="メイリオ"/>
                <a:ea typeface="メイリオ"/>
              </a:rPr>
              <a:t>通・</a:t>
            </a:r>
            <a:r>
              <a:rPr lang="en-US" sz="1200" b="1" u="none" strike="noStrike">
                <a:solidFill>
                  <a:schemeClr val="lt1"/>
                </a:solidFill>
                <a:effectLst/>
                <a:uFillTx/>
                <a:latin typeface="メイリオ"/>
                <a:ea typeface="メイリオ"/>
              </a:rPr>
              <a:t>14</a:t>
            </a:r>
            <a:r>
              <a:rPr lang="ja-JP" sz="1200" b="1" u="none" strike="noStrike">
                <a:solidFill>
                  <a:schemeClr val="lt1"/>
                </a:solidFill>
                <a:effectLst/>
                <a:uFillTx/>
                <a:latin typeface="メイリオ"/>
                <a:ea typeface="メイリオ"/>
              </a:rPr>
              <a:t>日）</a:t>
            </a:r>
            <a:endParaRPr lang="en-US" sz="1200" b="0" u="none" strike="noStrike">
              <a:solidFill>
                <a:srgbClr val="FFFFFF"/>
              </a:solidFill>
              <a:effectLst/>
              <a:uFillTx/>
              <a:latin typeface="Arial"/>
            </a:endParaRPr>
          </a:p>
        </p:txBody>
      </p:sp>
      <p:sp>
        <p:nvSpPr>
          <p:cNvPr id="201" name="正方形/長方形 32"/>
          <p:cNvSpPr/>
          <p:nvPr/>
        </p:nvSpPr>
        <p:spPr>
          <a:xfrm>
            <a:off x="519372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リサーチ</a:t>
            </a:r>
            <a:endParaRPr lang="en-US" sz="1200" b="0" u="none" strike="noStrike">
              <a:solidFill>
                <a:srgbClr val="FFFFFF"/>
              </a:solidFill>
              <a:effectLst/>
              <a:uFillTx/>
              <a:latin typeface="Arial"/>
            </a:endParaRPr>
          </a:p>
        </p:txBody>
      </p:sp>
      <p:sp>
        <p:nvSpPr>
          <p:cNvPr id="202" name="正方形/長方形 33"/>
          <p:cNvSpPr/>
          <p:nvPr/>
        </p:nvSpPr>
        <p:spPr>
          <a:xfrm>
            <a:off x="3401640" y="2185560"/>
            <a:ext cx="1517400" cy="23724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rgbClr val="595959"/>
                </a:solidFill>
                <a:effectLst/>
                <a:uFillTx/>
                <a:latin typeface="メイリオ"/>
                <a:ea typeface="メイリオ"/>
              </a:rPr>
              <a:t>初期設計項目↓</a:t>
            </a:r>
            <a:endParaRPr lang="en-US" sz="1200" b="0" u="none" strike="noStrike">
              <a:solidFill>
                <a:srgbClr val="000000"/>
              </a:solidFill>
              <a:effectLst/>
              <a:uFillTx/>
              <a:latin typeface="Arial"/>
            </a:endParaRPr>
          </a:p>
        </p:txBody>
      </p:sp>
      <p:sp>
        <p:nvSpPr>
          <p:cNvPr id="203" name="テキスト ボックス 67"/>
          <p:cNvSpPr/>
          <p:nvPr/>
        </p:nvSpPr>
        <p:spPr>
          <a:xfrm>
            <a:off x="3401640" y="2441520"/>
            <a:ext cx="1572480" cy="1554120"/>
          </a:xfrm>
          <a:prstGeom prst="rect">
            <a:avLst/>
          </a:prstGeom>
          <a:noFill/>
          <a:ln w="0">
            <a:noFill/>
          </a:ln>
        </p:spPr>
        <p:style>
          <a:lnRef idx="0">
            <a:scrgbClr r="0" g="0" b="0"/>
          </a:lnRef>
          <a:fillRef idx="0">
            <a:scrgbClr r="0" g="0" b="0"/>
          </a:fillRef>
          <a:effectRef idx="0">
            <a:scrgbClr r="0" g="0" b="0"/>
          </a:effectRef>
          <a:fontRef idx="minor"/>
        </p:style>
        <p:txBody>
          <a:bodyPr lIns="45720" tIns="18360" rIns="18360" bIns="18360" anchor="t">
            <a:noAutofit/>
          </a:bodyPr>
          <a:lstStyle/>
          <a:p>
            <a:pPr defTabSz="914400">
              <a:lnSpc>
                <a:spcPts val="1451"/>
              </a:lnSpc>
            </a:pPr>
            <a:r>
              <a:rPr lang="ja-JP" sz="1200" b="0" u="none" strike="noStrike" dirty="0">
                <a:solidFill>
                  <a:srgbClr val="595959"/>
                </a:solidFill>
                <a:effectLst/>
                <a:uFillTx/>
                <a:latin typeface="メイリオ"/>
                <a:ea typeface="メイリオ"/>
              </a:rPr>
              <a:t>・プロフィール</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・リッチメニュー</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・あいさつ</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・応答メッセージ</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・チャットタグ</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・計測タグ</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・離脱防止（別途）</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・サイトのボタン</a:t>
            </a:r>
            <a:endParaRPr lang="en-US" sz="1200" b="0" u="none" strike="noStrike" dirty="0">
              <a:solidFill>
                <a:srgbClr val="000000"/>
              </a:solidFill>
              <a:effectLst/>
              <a:uFillTx/>
              <a:latin typeface="Arial"/>
            </a:endParaRPr>
          </a:p>
        </p:txBody>
      </p:sp>
      <p:sp>
        <p:nvSpPr>
          <p:cNvPr id="204" name="正方形/長方形 35"/>
          <p:cNvSpPr/>
          <p:nvPr/>
        </p:nvSpPr>
        <p:spPr>
          <a:xfrm>
            <a:off x="5193720" y="28209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問い合わせ済みの方を除く配信</a:t>
            </a:r>
            <a:endParaRPr lang="en-US" sz="1200" b="0" u="none" strike="noStrike">
              <a:solidFill>
                <a:srgbClr val="FFFFFF"/>
              </a:solidFill>
              <a:effectLst/>
              <a:uFillTx/>
              <a:latin typeface="Arial"/>
            </a:endParaRPr>
          </a:p>
        </p:txBody>
      </p:sp>
      <p:sp>
        <p:nvSpPr>
          <p:cNvPr id="205" name="正方形/長方形 36"/>
          <p:cNvSpPr/>
          <p:nvPr/>
        </p:nvSpPr>
        <p:spPr>
          <a:xfrm>
            <a:off x="5193720" y="347004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リッチメニュー（</a:t>
            </a:r>
            <a:r>
              <a:rPr lang="en-US" sz="1200" b="1" u="none" strike="noStrike">
                <a:solidFill>
                  <a:schemeClr val="lt1"/>
                </a:solidFill>
                <a:effectLst/>
                <a:uFillTx/>
                <a:latin typeface="メイリオ"/>
                <a:ea typeface="メイリオ"/>
              </a:rPr>
              <a:t>6</a:t>
            </a:r>
            <a:r>
              <a:rPr lang="ja-JP" sz="1200" b="1" u="none" strike="noStrike">
                <a:solidFill>
                  <a:schemeClr val="lt1"/>
                </a:solidFill>
                <a:effectLst/>
                <a:uFillTx/>
                <a:latin typeface="メイリオ"/>
                <a:ea typeface="メイリオ"/>
              </a:rPr>
              <a:t>ボタン）</a:t>
            </a:r>
            <a:endParaRPr lang="en-US" sz="1200" b="0" u="none" strike="noStrike">
              <a:solidFill>
                <a:srgbClr val="000000"/>
              </a:solidFill>
              <a:effectLst/>
              <a:uFillTx/>
              <a:latin typeface="Arial"/>
            </a:endParaRPr>
          </a:p>
        </p:txBody>
      </p:sp>
      <p:sp>
        <p:nvSpPr>
          <p:cNvPr id="206" name="正方形/長方形 37"/>
          <p:cNvSpPr/>
          <p:nvPr/>
        </p:nvSpPr>
        <p:spPr>
          <a:xfrm>
            <a:off x="5193720" y="31456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よくある質問（キーワード応答）</a:t>
            </a:r>
            <a:endParaRPr lang="en-US" sz="1200" b="0" u="none" strike="noStrike">
              <a:solidFill>
                <a:srgbClr val="FFFFFF"/>
              </a:solidFill>
              <a:effectLst/>
              <a:uFillTx/>
              <a:latin typeface="Arial"/>
            </a:endParaRPr>
          </a:p>
        </p:txBody>
      </p:sp>
      <p:sp>
        <p:nvSpPr>
          <p:cNvPr id="207" name="正方形/長方形 38"/>
          <p:cNvSpPr/>
          <p:nvPr/>
        </p:nvSpPr>
        <p:spPr>
          <a:xfrm>
            <a:off x="651060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en-US" sz="1200" b="1" u="none" strike="noStrike">
                <a:solidFill>
                  <a:schemeClr val="lt1"/>
                </a:solidFill>
                <a:effectLst/>
                <a:uFillTx/>
                <a:latin typeface="メイリオ"/>
                <a:ea typeface="メイリオ"/>
              </a:rPr>
              <a:t>→ 配信に反映</a:t>
            </a:r>
            <a:endParaRPr lang="en-US" sz="1200" b="0" u="none" strike="noStrike">
              <a:solidFill>
                <a:srgbClr val="FFFFFF"/>
              </a:solidFill>
              <a:effectLst/>
              <a:uFillTx/>
              <a:latin typeface="Arial"/>
            </a:endParaRPr>
          </a:p>
        </p:txBody>
      </p:sp>
      <p:sp>
        <p:nvSpPr>
          <p:cNvPr id="208" name="正方形/長方形 39"/>
          <p:cNvSpPr/>
          <p:nvPr/>
        </p:nvSpPr>
        <p:spPr>
          <a:xfrm>
            <a:off x="5193720" y="379476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個別チャット（物件の確認）</a:t>
            </a:r>
            <a:endParaRPr lang="en-US" sz="1200" b="0" u="none" strike="noStrike">
              <a:solidFill>
                <a:srgbClr val="000000"/>
              </a:solidFill>
              <a:effectLst/>
              <a:uFillTx/>
              <a:latin typeface="Arial"/>
            </a:endParaRPr>
          </a:p>
        </p:txBody>
      </p:sp>
      <p:cxnSp>
        <p:nvCxnSpPr>
          <p:cNvPr id="209" name="コネクタ: カギ線 40"/>
          <p:cNvCxnSpPr>
            <a:stCxn id="208" idx="3"/>
          </p:cNvCxnSpPr>
          <p:nvPr/>
        </p:nvCxnSpPr>
        <p:spPr>
          <a:xfrm flipV="1">
            <a:off x="7772040" y="3447288"/>
            <a:ext cx="439560" cy="480312"/>
          </a:xfrm>
          <a:prstGeom prst="bentConnector3">
            <a:avLst>
              <a:gd name="adj1" fmla="val 50000"/>
            </a:avLst>
          </a:prstGeom>
          <a:ln>
            <a:solidFill>
              <a:srgbClr val="1F497D"/>
            </a:solidFill>
            <a:prstDash val="sysDash"/>
            <a:round/>
            <a:tailEnd type="triangle" w="med" len="med"/>
          </a:ln>
        </p:spPr>
      </p:cxnSp>
      <p:cxnSp>
        <p:nvCxnSpPr>
          <p:cNvPr id="210" name="コネクタ: カギ線 41"/>
          <p:cNvCxnSpPr>
            <a:stCxn id="205" idx="3"/>
          </p:cNvCxnSpPr>
          <p:nvPr/>
        </p:nvCxnSpPr>
        <p:spPr>
          <a:xfrm flipV="1">
            <a:off x="7772040" y="2304000"/>
            <a:ext cx="439560" cy="1298880"/>
          </a:xfrm>
          <a:prstGeom prst="bentConnector3">
            <a:avLst>
              <a:gd name="adj1" fmla="val 50000"/>
            </a:avLst>
          </a:prstGeom>
          <a:ln>
            <a:solidFill>
              <a:srgbClr val="000000"/>
            </a:solidFill>
            <a:prstDash val="sysDash"/>
            <a:round/>
            <a:tailEnd type="triangle" w="med" len="med"/>
          </a:ln>
        </p:spPr>
      </p:cxnSp>
      <p:cxnSp>
        <p:nvCxnSpPr>
          <p:cNvPr id="211" name="コネクタ: カギ線 42"/>
          <p:cNvCxnSpPr>
            <a:stCxn id="206" idx="3"/>
          </p:cNvCxnSpPr>
          <p:nvPr/>
        </p:nvCxnSpPr>
        <p:spPr>
          <a:xfrm flipV="1">
            <a:off x="7772040" y="2304000"/>
            <a:ext cx="439560" cy="974520"/>
          </a:xfrm>
          <a:prstGeom prst="bentConnector3">
            <a:avLst>
              <a:gd name="adj1" fmla="val 50000"/>
            </a:avLst>
          </a:prstGeom>
          <a:ln>
            <a:solidFill>
              <a:srgbClr val="000000"/>
            </a:solidFill>
            <a:prstDash val="sysDash"/>
            <a:round/>
            <a:tailEnd type="triangle" w="med" len="med"/>
          </a:ln>
        </p:spPr>
      </p:cxnSp>
      <p:cxnSp>
        <p:nvCxnSpPr>
          <p:cNvPr id="212" name="コネクタ: カギ線 43"/>
          <p:cNvCxnSpPr>
            <a:stCxn id="204" idx="3"/>
          </p:cNvCxnSpPr>
          <p:nvPr/>
        </p:nvCxnSpPr>
        <p:spPr>
          <a:xfrm flipV="1">
            <a:off x="7772040" y="2304000"/>
            <a:ext cx="439560" cy="649800"/>
          </a:xfrm>
          <a:prstGeom prst="bentConnector3">
            <a:avLst>
              <a:gd name="adj1" fmla="val 50000"/>
            </a:avLst>
          </a:prstGeom>
          <a:ln>
            <a:solidFill>
              <a:srgbClr val="000000"/>
            </a:solidFill>
            <a:prstDash val="sysDash"/>
            <a:round/>
            <a:tailEnd type="triangle" w="med" len="med"/>
          </a:ln>
        </p:spPr>
      </p:cxnSp>
      <p:cxnSp>
        <p:nvCxnSpPr>
          <p:cNvPr id="213" name="コネクタ: カギ線 45"/>
          <p:cNvCxnSpPr>
            <a:stCxn id="207" idx="3"/>
          </p:cNvCxnSpPr>
          <p:nvPr/>
        </p:nvCxnSpPr>
        <p:spPr>
          <a:xfrm flipV="1">
            <a:off x="7772040" y="2304000"/>
            <a:ext cx="439560" cy="325080"/>
          </a:xfrm>
          <a:prstGeom prst="bentConnector3">
            <a:avLst>
              <a:gd name="adj1" fmla="val 50000"/>
            </a:avLst>
          </a:prstGeom>
          <a:ln>
            <a:solidFill>
              <a:srgbClr val="000000"/>
            </a:solidFill>
            <a:prstDash val="sysDash"/>
            <a:round/>
            <a:tailEnd type="triangle" w="med" len="med"/>
          </a:ln>
        </p:spPr>
      </p:cxnSp>
      <p:cxnSp>
        <p:nvCxnSpPr>
          <p:cNvPr id="214" name="コネクタ: カギ線 46"/>
          <p:cNvCxnSpPr>
            <a:stCxn id="200" idx="3"/>
          </p:cNvCxnSpPr>
          <p:nvPr/>
        </p:nvCxnSpPr>
        <p:spPr>
          <a:xfrm flipV="1">
            <a:off x="7772040" y="2304000"/>
            <a:ext cx="439560" cy="720"/>
          </a:xfrm>
          <a:prstGeom prst="bentConnector3">
            <a:avLst>
              <a:gd name="adj1" fmla="val 50000"/>
            </a:avLst>
          </a:prstGeom>
          <a:ln>
            <a:solidFill>
              <a:srgbClr val="000000"/>
            </a:solidFill>
            <a:prstDash val="sysDash"/>
            <a:round/>
            <a:tailEnd type="triangle" w="med" len="med"/>
          </a:ln>
        </p:spPr>
      </p:cxnSp>
      <p:cxnSp>
        <p:nvCxnSpPr>
          <p:cNvPr id="215" name="コネクタ: カギ線 47"/>
          <p:cNvCxnSpPr>
            <a:stCxn id="199" idx="3"/>
          </p:cNvCxnSpPr>
          <p:nvPr/>
        </p:nvCxnSpPr>
        <p:spPr>
          <a:xfrm>
            <a:off x="7772040" y="1979640"/>
            <a:ext cx="439560" cy="324720"/>
          </a:xfrm>
          <a:prstGeom prst="bentConnector3">
            <a:avLst>
              <a:gd name="adj1" fmla="val 50000"/>
            </a:avLst>
          </a:prstGeom>
          <a:ln>
            <a:solidFill>
              <a:srgbClr val="000000"/>
            </a:solidFill>
            <a:prstDash val="sysDash"/>
            <a:round/>
            <a:tailEnd type="triangle" w="med" len="med"/>
          </a:ln>
        </p:spPr>
      </p:cxnSp>
      <p:sp>
        <p:nvSpPr>
          <p:cNvPr id="216" name="左中かっこ 48"/>
          <p:cNvSpPr/>
          <p:nvPr/>
        </p:nvSpPr>
        <p:spPr>
          <a:xfrm>
            <a:off x="5010840" y="1819800"/>
            <a:ext cx="145800" cy="2267280"/>
          </a:xfrm>
          <a:prstGeom prst="leftBrace">
            <a:avLst>
              <a:gd name="adj1" fmla="val 8333"/>
              <a:gd name="adj2" fmla="val 23194"/>
            </a:avLst>
          </a:prstGeom>
          <a:noFill/>
          <a:ln>
            <a:solidFill>
              <a:srgbClr val="000000"/>
            </a:solidFill>
            <a:roun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solidFill>
              <a:effectLst/>
              <a:uFillTx/>
              <a:latin typeface="Calibri"/>
            </a:endParaRPr>
          </a:p>
        </p:txBody>
      </p:sp>
      <p:sp>
        <p:nvSpPr>
          <p:cNvPr id="217" name="正方形/長方形 49"/>
          <p:cNvSpPr/>
          <p:nvPr/>
        </p:nvSpPr>
        <p:spPr>
          <a:xfrm>
            <a:off x="530280" y="4636080"/>
            <a:ext cx="5769360" cy="1796400"/>
          </a:xfrm>
          <a:prstGeom prst="rect">
            <a:avLst/>
          </a:prstGeom>
          <a:solidFill>
            <a:srgbClr val="F2F2F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218" name="正方形/長方形 51"/>
          <p:cNvSpPr/>
          <p:nvPr/>
        </p:nvSpPr>
        <p:spPr>
          <a:xfrm>
            <a:off x="640080" y="4690800"/>
            <a:ext cx="959760" cy="25560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defTabSz="914400">
              <a:lnSpc>
                <a:spcPct val="100000"/>
              </a:lnSpc>
            </a:pPr>
            <a:r>
              <a:rPr lang="zh-CN" sz="1200" b="1" u="none" strike="noStrike">
                <a:solidFill>
                  <a:srgbClr val="595959"/>
                </a:solidFill>
                <a:effectLst/>
                <a:uFillTx/>
                <a:latin typeface="メイリオ"/>
                <a:ea typeface="メイリオ"/>
              </a:rPr>
              <a:t>問い合わせ</a:t>
            </a:r>
            <a:endParaRPr lang="en-US" sz="1200" b="0" u="none" strike="noStrike">
              <a:solidFill>
                <a:srgbClr val="000000"/>
              </a:solidFill>
              <a:effectLst/>
              <a:uFillTx/>
              <a:latin typeface="Arial"/>
            </a:endParaRPr>
          </a:p>
        </p:txBody>
      </p:sp>
      <p:sp>
        <p:nvSpPr>
          <p:cNvPr id="220" name="正方形/長方形 56"/>
          <p:cNvSpPr/>
          <p:nvPr/>
        </p:nvSpPr>
        <p:spPr>
          <a:xfrm>
            <a:off x="3611880" y="469080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内見・お申込みの案内</a:t>
            </a:r>
            <a:endParaRPr lang="en-US" sz="1200" b="0" u="none" strike="noStrike">
              <a:solidFill>
                <a:srgbClr val="FFFFFF"/>
              </a:solidFill>
              <a:effectLst/>
              <a:uFillTx/>
              <a:latin typeface="Arial"/>
            </a:endParaRPr>
          </a:p>
        </p:txBody>
      </p:sp>
      <p:sp>
        <p:nvSpPr>
          <p:cNvPr id="221" name="正方形/長方形 57"/>
          <p:cNvSpPr/>
          <p:nvPr/>
        </p:nvSpPr>
        <p:spPr>
          <a:xfrm>
            <a:off x="3611880" y="497880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別の物件</a:t>
            </a:r>
            <a:r>
              <a:rPr lang="en-US" sz="1200" b="1" u="none" strike="noStrike">
                <a:solidFill>
                  <a:schemeClr val="lt1"/>
                </a:solidFill>
                <a:effectLst/>
                <a:uFillTx/>
                <a:latin typeface="メイリオ"/>
                <a:ea typeface="メイリオ"/>
              </a:rPr>
              <a:t>URL</a:t>
            </a:r>
            <a:r>
              <a:rPr lang="ja-JP" sz="1200" b="1" u="none" strike="noStrike">
                <a:solidFill>
                  <a:schemeClr val="lt1"/>
                </a:solidFill>
                <a:effectLst/>
                <a:uFillTx/>
                <a:latin typeface="メイリオ"/>
                <a:ea typeface="メイリオ"/>
              </a:rPr>
              <a:t>の受付</a:t>
            </a:r>
            <a:endParaRPr lang="en-US" sz="1200" b="0" u="none" strike="noStrike">
              <a:solidFill>
                <a:srgbClr val="FFFFFF"/>
              </a:solidFill>
              <a:effectLst/>
              <a:uFillTx/>
              <a:latin typeface="Arial"/>
            </a:endParaRPr>
          </a:p>
        </p:txBody>
      </p:sp>
      <p:sp>
        <p:nvSpPr>
          <p:cNvPr id="222" name="正方形/長方形 58"/>
          <p:cNvSpPr/>
          <p:nvPr/>
        </p:nvSpPr>
        <p:spPr>
          <a:xfrm>
            <a:off x="3611880" y="5266800"/>
            <a:ext cx="126144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ご成約</a:t>
            </a:r>
            <a:endParaRPr lang="en-US" sz="1200" b="0" u="none" strike="noStrike">
              <a:solidFill>
                <a:srgbClr val="FFFFFF"/>
              </a:solidFill>
              <a:effectLst/>
              <a:uFillTx/>
              <a:latin typeface="Arial"/>
            </a:endParaRPr>
          </a:p>
        </p:txBody>
      </p:sp>
      <p:sp>
        <p:nvSpPr>
          <p:cNvPr id="223" name="正方形/長方形 59"/>
          <p:cNvSpPr/>
          <p:nvPr/>
        </p:nvSpPr>
        <p:spPr>
          <a:xfrm>
            <a:off x="3611880" y="5555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チャットタグで対応状況を管理</a:t>
            </a:r>
            <a:endParaRPr lang="en-US" sz="1200" b="0" u="none" strike="noStrike">
              <a:solidFill>
                <a:srgbClr val="FFFFFF"/>
              </a:solidFill>
              <a:effectLst/>
              <a:uFillTx/>
              <a:latin typeface="Arial"/>
            </a:endParaRPr>
          </a:p>
        </p:txBody>
      </p:sp>
      <p:sp>
        <p:nvSpPr>
          <p:cNvPr id="224" name="正方形/長方形 60"/>
          <p:cNvSpPr/>
          <p:nvPr/>
        </p:nvSpPr>
        <p:spPr>
          <a:xfrm>
            <a:off x="4928760" y="5266800"/>
            <a:ext cx="126144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入居までの案内</a:t>
            </a:r>
            <a:endParaRPr lang="en-US" sz="1200" b="0" u="none" strike="noStrike">
              <a:solidFill>
                <a:srgbClr val="FFFFFF"/>
              </a:solidFill>
              <a:effectLst/>
              <a:uFillTx/>
              <a:latin typeface="Arial"/>
            </a:endParaRPr>
          </a:p>
        </p:txBody>
      </p:sp>
      <p:cxnSp>
        <p:nvCxnSpPr>
          <p:cNvPr id="225" name="コネクタ: カギ線 61"/>
          <p:cNvCxnSpPr>
            <a:stCxn id="218" idx="3"/>
            <a:endCxn id="220" idx="1"/>
          </p:cNvCxnSpPr>
          <p:nvPr/>
        </p:nvCxnSpPr>
        <p:spPr>
          <a:xfrm>
            <a:off x="1599840" y="4818600"/>
            <a:ext cx="2012400" cy="360"/>
          </a:xfrm>
          <a:prstGeom prst="bentConnector2">
            <a:avLst/>
          </a:prstGeom>
          <a:ln>
            <a:solidFill>
              <a:srgbClr val="7F7F7F"/>
            </a:solidFill>
            <a:prstDash val="sysDash"/>
            <a:round/>
            <a:tailEnd type="triangle" w="med" len="med"/>
          </a:ln>
        </p:spPr>
      </p:cxnSp>
      <p:cxnSp>
        <p:nvCxnSpPr>
          <p:cNvPr id="226" name="コネクタ: カギ線 62"/>
          <p:cNvCxnSpPr>
            <a:stCxn id="218" idx="3"/>
            <a:endCxn id="221" idx="1"/>
          </p:cNvCxnSpPr>
          <p:nvPr/>
        </p:nvCxnSpPr>
        <p:spPr>
          <a:xfrm>
            <a:off x="1599840" y="4818600"/>
            <a:ext cx="2012400" cy="288360"/>
          </a:xfrm>
          <a:prstGeom prst="bentConnector3">
            <a:avLst>
              <a:gd name="adj1" fmla="val 50008"/>
            </a:avLst>
          </a:prstGeom>
          <a:ln>
            <a:solidFill>
              <a:srgbClr val="7F7F7F"/>
            </a:solidFill>
            <a:prstDash val="sysDash"/>
            <a:round/>
            <a:tailEnd type="triangle" w="med" len="med"/>
          </a:ln>
        </p:spPr>
      </p:cxnSp>
      <p:cxnSp>
        <p:nvCxnSpPr>
          <p:cNvPr id="227" name="コネクタ: カギ線 63"/>
          <p:cNvCxnSpPr>
            <a:stCxn id="218" idx="3"/>
            <a:endCxn id="222" idx="1"/>
          </p:cNvCxnSpPr>
          <p:nvPr/>
        </p:nvCxnSpPr>
        <p:spPr>
          <a:xfrm>
            <a:off x="1599840" y="4818600"/>
            <a:ext cx="2012400" cy="576360"/>
          </a:xfrm>
          <a:prstGeom prst="bentConnector3">
            <a:avLst>
              <a:gd name="adj1" fmla="val 50008"/>
            </a:avLst>
          </a:prstGeom>
          <a:ln>
            <a:solidFill>
              <a:srgbClr val="7F7F7F"/>
            </a:solidFill>
            <a:prstDash val="sysDash"/>
            <a:round/>
            <a:tailEnd type="triangle" w="med" len="med"/>
          </a:ln>
        </p:spPr>
      </p:cxnSp>
      <p:cxnSp>
        <p:nvCxnSpPr>
          <p:cNvPr id="228" name="コネクタ: カギ線 64"/>
          <p:cNvCxnSpPr>
            <a:stCxn id="218" idx="3"/>
            <a:endCxn id="223" idx="1"/>
          </p:cNvCxnSpPr>
          <p:nvPr/>
        </p:nvCxnSpPr>
        <p:spPr>
          <a:xfrm>
            <a:off x="1599840" y="4818600"/>
            <a:ext cx="2012400" cy="864720"/>
          </a:xfrm>
          <a:prstGeom prst="bentConnector3">
            <a:avLst>
              <a:gd name="adj1" fmla="val 50008"/>
            </a:avLst>
          </a:prstGeom>
          <a:ln>
            <a:solidFill>
              <a:srgbClr val="7F7F7F"/>
            </a:solidFill>
            <a:prstDash val="sysDash"/>
            <a:round/>
            <a:tailEnd type="triangle" w="med" len="med"/>
          </a:ln>
        </p:spPr>
      </p:cxnSp>
      <p:sp>
        <p:nvSpPr>
          <p:cNvPr id="229" name="正方形/長方形 65"/>
          <p:cNvSpPr/>
          <p:nvPr/>
        </p:nvSpPr>
        <p:spPr>
          <a:xfrm>
            <a:off x="3611880" y="5843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企画配信（月</a:t>
            </a:r>
            <a:r>
              <a:rPr lang="en-US" sz="1200" b="1" u="none" strike="noStrike">
                <a:solidFill>
                  <a:schemeClr val="lt1"/>
                </a:solidFill>
                <a:effectLst/>
                <a:uFillTx/>
                <a:latin typeface="メイリオ"/>
                <a:ea typeface="メイリオ"/>
              </a:rPr>
              <a:t>4</a:t>
            </a:r>
            <a:r>
              <a:rPr lang="ja-JP" sz="1200" b="1" u="none" strike="noStrike">
                <a:solidFill>
                  <a:schemeClr val="lt1"/>
                </a:solidFill>
                <a:effectLst/>
                <a:uFillTx/>
                <a:latin typeface="メイリオ"/>
                <a:ea typeface="メイリオ"/>
              </a:rPr>
              <a:t>本）・リサーチ</a:t>
            </a:r>
            <a:endParaRPr lang="en-US" sz="1200" b="0" u="none" strike="noStrike">
              <a:solidFill>
                <a:srgbClr val="FFFFFF"/>
              </a:solidFill>
              <a:effectLst/>
              <a:uFillTx/>
              <a:latin typeface="Arial"/>
            </a:endParaRPr>
          </a:p>
        </p:txBody>
      </p:sp>
      <p:sp>
        <p:nvSpPr>
          <p:cNvPr id="230" name="正方形/長方形 66"/>
          <p:cNvSpPr/>
          <p:nvPr/>
        </p:nvSpPr>
        <p:spPr>
          <a:xfrm>
            <a:off x="3611880" y="6131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個別チャット</a:t>
            </a:r>
            <a:endParaRPr lang="en-US" sz="1200" b="0" u="none" strike="noStrike">
              <a:solidFill>
                <a:srgbClr val="FFFFFF"/>
              </a:solidFill>
              <a:effectLst/>
              <a:uFillTx/>
              <a:latin typeface="Arial"/>
            </a:endParaRPr>
          </a:p>
        </p:txBody>
      </p:sp>
      <p:sp>
        <p:nvSpPr>
          <p:cNvPr id="231" name="正方形/長方形 68"/>
          <p:cNvSpPr/>
          <p:nvPr/>
        </p:nvSpPr>
        <p:spPr>
          <a:xfrm>
            <a:off x="6717960" y="1449360"/>
            <a:ext cx="2925720" cy="2739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45720" tIns="0" rIns="45720" bIns="0" anchor="ctr">
            <a:noAutofit/>
          </a:bodyPr>
          <a:lstStyle/>
          <a:p>
            <a:pPr algn="ctr" defTabSz="914400">
              <a:lnSpc>
                <a:spcPct val="100000"/>
              </a:lnSpc>
            </a:pPr>
            <a:r>
              <a:rPr lang="en-US" sz="1200" b="1" u="none" strike="noStrike">
                <a:solidFill>
                  <a:srgbClr val="00B050"/>
                </a:solidFill>
                <a:effectLst/>
                <a:uFillTx/>
                <a:latin typeface="メイリオ"/>
                <a:ea typeface="メイリオ"/>
              </a:rPr>
              <a:t>LINE</a:t>
            </a:r>
            <a:r>
              <a:rPr lang="ja-JP" sz="1200" b="1" u="none" strike="noStrike">
                <a:solidFill>
                  <a:srgbClr val="00B050"/>
                </a:solidFill>
                <a:effectLst/>
                <a:uFillTx/>
                <a:latin typeface="メイリオ"/>
                <a:ea typeface="メイリオ"/>
              </a:rPr>
              <a:t>公式アカウントの標準機能で運用</a:t>
            </a:r>
            <a:endParaRPr lang="en-US" sz="1200" b="0" u="none" strike="noStrike">
              <a:solidFill>
                <a:srgbClr val="000000"/>
              </a:solidFill>
              <a:effectLst/>
              <a:uFillTx/>
              <a:latin typeface="Arial"/>
            </a:endParaRPr>
          </a:p>
        </p:txBody>
      </p:sp>
      <p:sp>
        <p:nvSpPr>
          <p:cNvPr id="232" name="テキスト ボックス 70"/>
          <p:cNvSpPr/>
          <p:nvPr/>
        </p:nvSpPr>
        <p:spPr>
          <a:xfrm>
            <a:off x="320040" y="631080"/>
            <a:ext cx="9262440" cy="7128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離脱防止ポップアップとサイトのLINEボタンから友だち追加し、物件情報の送信（CV）につなげます。</a:t>
            </a:r>
            <a:endParaRPr lang="en-US" sz="1400" b="0" u="none" strike="noStrike" dirty="0">
              <a:solidFill>
                <a:srgbClr val="000000"/>
              </a:solidFill>
              <a:effectLst/>
              <a:uFillTx/>
              <a:latin typeface="Arial"/>
            </a:endParaRPr>
          </a:p>
          <a:p>
            <a:pPr algn="ctr" defTabSz="914400">
              <a:lnSpc>
                <a:spcPct val="100000"/>
              </a:lnSpc>
            </a:pPr>
            <a:r>
              <a:rPr lang="en-US" sz="1400" b="0" u="none" strike="noStrike" dirty="0" err="1">
                <a:solidFill>
                  <a:schemeClr val="dk1">
                    <a:lumMod val="65000"/>
                    <a:lumOff val="35000"/>
                  </a:schemeClr>
                </a:solidFill>
                <a:effectLst/>
                <a:uFillTx/>
                <a:latin typeface="メイリオ"/>
                <a:ea typeface="メイリオ"/>
              </a:rPr>
              <a:t>LINE公式アカウントの標準機能で運用（離脱防止ポップアップは別途導入</a:t>
            </a:r>
            <a:r>
              <a:rPr lang="en-US" sz="1400" b="0" u="none" strike="noStrike" dirty="0">
                <a:solidFill>
                  <a:schemeClr val="dk1">
                    <a:lumMod val="65000"/>
                    <a:lumOff val="35000"/>
                  </a:schemeClr>
                </a:solidFill>
                <a:effectLst/>
                <a:uFillTx/>
                <a:latin typeface="メイリオ"/>
                <a:ea typeface="メイリオ"/>
              </a:rPr>
              <a:t>）</a:t>
            </a:r>
            <a:endParaRPr lang="en-US" sz="1400" b="0" u="none" strike="noStrike" dirty="0">
              <a:solidFill>
                <a:srgbClr val="000000"/>
              </a:solidFill>
              <a:effectLst/>
              <a:uFillTx/>
              <a:latin typeface="Arial"/>
            </a:endParaRPr>
          </a:p>
        </p:txBody>
      </p:sp>
      <p:sp>
        <p:nvSpPr>
          <p:cNvPr id="233" name="CVの注記"/>
          <p:cNvSpPr/>
          <p:nvPr/>
        </p:nvSpPr>
        <p:spPr>
          <a:xfrm>
            <a:off x="8119872" y="2587752"/>
            <a:ext cx="1554480" cy="402336"/>
          </a:xfrm>
          <a:prstGeom prst="rect">
            <a:avLst/>
          </a:prstGeom>
          <a:noFill/>
          <a:ln>
            <a:noFill/>
          </a:ln>
        </p:spPr>
        <p:txBody>
          <a:bodyPr wrap="square" lIns="0" tIns="0" rIns="0" bIns="0" rtlCol="0" anchor="ctr">
            <a:noAutofit/>
          </a:bodyPr>
          <a:lstStyle/>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運用フローの終点</a:t>
            </a:r>
            <a:endParaRPr lang="ja-JP" altLang="en-US" sz="1100" dirty="0"/>
          </a:p>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（当社の計測対象）</a:t>
            </a:r>
            <a:endParaRPr lang="ja-JP" alt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23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想定セグメント</a:t>
            </a:r>
            <a:r>
              <a:rPr lang="en-US" sz="1600" b="1" u="none" strike="noStrike">
                <a:solidFill>
                  <a:srgbClr val="002060"/>
                </a:solidFill>
                <a:effectLst/>
                <a:uFillTx/>
                <a:latin typeface="Meiryo"/>
                <a:ea typeface="Meiryo"/>
              </a:rPr>
              <a:t>×</a:t>
            </a:r>
            <a:r>
              <a:rPr lang="ja-JP" sz="1600" b="1" u="none" strike="noStrike">
                <a:solidFill>
                  <a:srgbClr val="002060"/>
                </a:solidFill>
                <a:effectLst/>
                <a:uFillTx/>
                <a:latin typeface="Meiryo"/>
                <a:ea typeface="Meiryo"/>
              </a:rPr>
              <a:t>成果</a:t>
            </a:r>
            <a:endParaRPr lang="en-US" sz="1600" b="0" u="none" strike="noStrike">
              <a:solidFill>
                <a:srgbClr val="000000"/>
              </a:solidFill>
              <a:effectLst/>
              <a:uFillTx/>
              <a:latin typeface="Arial"/>
            </a:endParaRPr>
          </a:p>
        </p:txBody>
      </p:sp>
      <p:cxnSp>
        <p:nvCxnSpPr>
          <p:cNvPr id="23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236" name="正方形/長方形 4"/>
          <p:cNvSpPr/>
          <p:nvPr/>
        </p:nvSpPr>
        <p:spPr>
          <a:xfrm>
            <a:off x="388080" y="159444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300" b="1" u="none" strike="noStrike">
                <a:solidFill>
                  <a:schemeClr val="lt1"/>
                </a:solidFill>
                <a:effectLst/>
                <a:uFillTx/>
                <a:latin typeface="メイリオ"/>
                <a:ea typeface="メイリオ"/>
              </a:rPr>
              <a:t>流入元</a:t>
            </a:r>
            <a:endParaRPr lang="en-US" sz="1300" b="0" u="none" strike="noStrike">
              <a:solidFill>
                <a:srgbClr val="FFFFFF"/>
              </a:solidFill>
              <a:effectLst/>
              <a:uFillTx/>
              <a:latin typeface="Arial"/>
            </a:endParaRPr>
          </a:p>
        </p:txBody>
      </p:sp>
      <p:sp>
        <p:nvSpPr>
          <p:cNvPr id="237" name="正方形/長方形 5"/>
          <p:cNvSpPr/>
          <p:nvPr/>
        </p:nvSpPr>
        <p:spPr>
          <a:xfrm>
            <a:off x="1890360" y="159444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300" b="1" u="none" strike="noStrike">
                <a:solidFill>
                  <a:schemeClr val="lt1"/>
                </a:solidFill>
                <a:effectLst/>
                <a:uFillTx/>
                <a:latin typeface="メイリオ"/>
                <a:ea typeface="メイリオ"/>
              </a:rPr>
              <a:t>LINE</a:t>
            </a:r>
            <a:r>
              <a:rPr lang="ja-JP" sz="1300" b="1" u="none" strike="noStrike">
                <a:solidFill>
                  <a:schemeClr val="lt1"/>
                </a:solidFill>
                <a:effectLst/>
                <a:uFillTx/>
                <a:latin typeface="メイリオ"/>
                <a:ea typeface="メイリオ"/>
              </a:rPr>
              <a:t>誘導</a:t>
            </a:r>
            <a:endParaRPr lang="en-US" sz="1300" b="0" u="none" strike="noStrike">
              <a:solidFill>
                <a:srgbClr val="000000"/>
              </a:solidFill>
              <a:effectLst/>
              <a:uFillTx/>
              <a:latin typeface="Arial"/>
            </a:endParaRPr>
          </a:p>
        </p:txBody>
      </p:sp>
      <p:sp>
        <p:nvSpPr>
          <p:cNvPr id="238" name="正方形/長方形 6"/>
          <p:cNvSpPr/>
          <p:nvPr/>
        </p:nvSpPr>
        <p:spPr>
          <a:xfrm>
            <a:off x="3392640" y="159444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300" b="0" u="none" strike="noStrike">
                <a:solidFill>
                  <a:schemeClr val="lt1"/>
                </a:solidFill>
                <a:effectLst/>
                <a:uFillTx/>
                <a:latin typeface="メイリオ"/>
                <a:ea typeface="メイリオ"/>
              </a:rPr>
              <a:t>具体の施策方針</a:t>
            </a:r>
            <a:endParaRPr lang="en-US" sz="1300" b="0" u="none" strike="noStrike">
              <a:solidFill>
                <a:srgbClr val="FFFFFF"/>
              </a:solidFill>
              <a:effectLst/>
              <a:uFillTx/>
              <a:latin typeface="Arial"/>
            </a:endParaRPr>
          </a:p>
        </p:txBody>
      </p:sp>
      <p:sp>
        <p:nvSpPr>
          <p:cNvPr id="239" name="矢印: 右 7"/>
          <p:cNvSpPr/>
          <p:nvPr/>
        </p:nvSpPr>
        <p:spPr>
          <a:xfrm>
            <a:off x="1031400" y="2268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0" name="正方形/長方形 8"/>
          <p:cNvSpPr/>
          <p:nvPr/>
        </p:nvSpPr>
        <p:spPr>
          <a:xfrm>
            <a:off x="1890360" y="20026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離脱防止</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ポップアップ</a:t>
            </a:r>
            <a:endParaRPr lang="en-US" sz="1100" b="0" u="none" strike="noStrike">
              <a:solidFill>
                <a:srgbClr val="000000"/>
              </a:solidFill>
              <a:effectLst/>
              <a:uFillTx/>
              <a:latin typeface="Arial"/>
            </a:endParaRPr>
          </a:p>
        </p:txBody>
      </p:sp>
      <p:sp>
        <p:nvSpPr>
          <p:cNvPr id="241" name="正方形/長方形 9"/>
          <p:cNvSpPr/>
          <p:nvPr/>
        </p:nvSpPr>
        <p:spPr>
          <a:xfrm>
            <a:off x="1890360" y="261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en-US" sz="1100" b="0" u="none" strike="noStrike">
                <a:solidFill>
                  <a:schemeClr val="dk1">
                    <a:lumMod val="75000"/>
                    <a:lumOff val="25000"/>
                  </a:schemeClr>
                </a:solidFill>
                <a:effectLst/>
                <a:uFillTx/>
                <a:latin typeface="メイリオ"/>
                <a:ea typeface="メイリオ"/>
              </a:rPr>
              <a:t>LINE</a:t>
            </a:r>
            <a:r>
              <a:rPr lang="ja-JP" sz="1100" b="0" u="none" strike="noStrike">
                <a:solidFill>
                  <a:schemeClr val="dk1">
                    <a:lumMod val="75000"/>
                    <a:lumOff val="25000"/>
                  </a:schemeClr>
                </a:solidFill>
                <a:effectLst/>
                <a:uFillTx/>
                <a:latin typeface="メイリオ"/>
                <a:ea typeface="メイリオ"/>
              </a:rPr>
              <a:t>でお問い合わせ</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ボタン（全ページ）</a:t>
            </a:r>
            <a:endParaRPr lang="en-US" sz="1100" b="0" u="none" strike="noStrike">
              <a:solidFill>
                <a:srgbClr val="000000"/>
              </a:solidFill>
              <a:effectLst/>
              <a:uFillTx/>
              <a:latin typeface="Arial"/>
            </a:endParaRPr>
          </a:p>
        </p:txBody>
      </p:sp>
      <p:sp>
        <p:nvSpPr>
          <p:cNvPr id="242" name="正方形/長方形 10"/>
          <p:cNvSpPr/>
          <p:nvPr/>
        </p:nvSpPr>
        <p:spPr>
          <a:xfrm>
            <a:off x="388080" y="20026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en-US" sz="1100" b="0" u="none" strike="noStrike" dirty="0">
                <a:solidFill>
                  <a:schemeClr val="dk1">
                    <a:lumMod val="75000"/>
                    <a:lumOff val="25000"/>
                  </a:schemeClr>
                </a:solidFill>
                <a:effectLst/>
                <a:uFillTx/>
                <a:latin typeface="メイリオ"/>
                <a:ea typeface="メイリオ"/>
              </a:rPr>
              <a:t>100</a:t>
            </a:r>
            <a:r>
              <a:rPr lang="zh-CN" sz="1100" b="0" u="none" strike="noStrike" dirty="0">
                <a:solidFill>
                  <a:schemeClr val="dk1">
                    <a:lumMod val="75000"/>
                    <a:lumOff val="25000"/>
                  </a:schemeClr>
                </a:solidFill>
                <a:effectLst/>
                <a:uFillTx/>
                <a:latin typeface="メイリオ"/>
                <a:ea typeface="メイリオ"/>
              </a:rPr>
              <a:t>円賃貸のサイト</a:t>
            </a:r>
            <a:endParaRPr lang="en-US" sz="1100" b="0" u="none" strike="noStrike" dirty="0">
              <a:solidFill>
                <a:srgbClr val="000000"/>
              </a:solidFill>
              <a:effectLst/>
              <a:uFillTx/>
              <a:latin typeface="Arial"/>
            </a:endParaRPr>
          </a:p>
        </p:txBody>
      </p:sp>
      <p:sp>
        <p:nvSpPr>
          <p:cNvPr id="243" name="正方形/長方形 11"/>
          <p:cNvSpPr/>
          <p:nvPr/>
        </p:nvSpPr>
        <p:spPr>
          <a:xfrm>
            <a:off x="388080" y="261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en-US" sz="1100" b="0" u="none" strike="noStrike">
                <a:solidFill>
                  <a:schemeClr val="dk1">
                    <a:lumMod val="75000"/>
                    <a:lumOff val="25000"/>
                  </a:schemeClr>
                </a:solidFill>
                <a:effectLst/>
                <a:uFillTx/>
                <a:latin typeface="メイリオ"/>
                <a:ea typeface="メイリオ"/>
              </a:rPr>
              <a:t>100</a:t>
            </a:r>
            <a:r>
              <a:rPr lang="ja-JP" sz="1100" b="0" u="none" strike="noStrike">
                <a:solidFill>
                  <a:schemeClr val="dk1">
                    <a:lumMod val="75000"/>
                    <a:lumOff val="25000"/>
                  </a:schemeClr>
                </a:solidFill>
                <a:effectLst/>
                <a:uFillTx/>
                <a:latin typeface="メイリオ"/>
                <a:ea typeface="メイリオ"/>
              </a:rPr>
              <a:t>円賃貸のサイト</a:t>
            </a:r>
            <a:endParaRPr lang="en-US" sz="1100" b="0" u="none" strike="noStrike">
              <a:solidFill>
                <a:srgbClr val="000000"/>
              </a:solidFill>
              <a:effectLst/>
              <a:uFillTx/>
              <a:latin typeface="Arial"/>
            </a:endParaRPr>
          </a:p>
        </p:txBody>
      </p:sp>
      <p:sp>
        <p:nvSpPr>
          <p:cNvPr id="244" name="正方形/長方形 12"/>
          <p:cNvSpPr/>
          <p:nvPr/>
        </p:nvSpPr>
        <p:spPr>
          <a:xfrm>
            <a:off x="3392640" y="199728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75000"/>
                  <a:lumOff val="25000"/>
                </a:schemeClr>
              </a:solidFill>
              <a:effectLst/>
              <a:uFillTx/>
              <a:latin typeface="メイリオ"/>
              <a:ea typeface="メイリオ"/>
            </a:endParaRPr>
          </a:p>
        </p:txBody>
      </p:sp>
      <p:sp>
        <p:nvSpPr>
          <p:cNvPr id="245" name="矢印: 右 13"/>
          <p:cNvSpPr/>
          <p:nvPr/>
        </p:nvSpPr>
        <p:spPr>
          <a:xfrm>
            <a:off x="1031400" y="32202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6" name="矢印: 右 14"/>
          <p:cNvSpPr/>
          <p:nvPr/>
        </p:nvSpPr>
        <p:spPr>
          <a:xfrm>
            <a:off x="1031400" y="39214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247" name="直線コネクタ 15"/>
          <p:cNvCxnSpPr/>
          <p:nvPr/>
        </p:nvCxnSpPr>
        <p:spPr>
          <a:xfrm>
            <a:off x="388080" y="3876480"/>
            <a:ext cx="7324920" cy="360"/>
          </a:xfrm>
          <a:prstGeom prst="straightConnector1">
            <a:avLst/>
          </a:prstGeom>
          <a:ln>
            <a:solidFill>
              <a:srgbClr val="4A7EBB"/>
            </a:solidFill>
            <a:prstDash val="sysDash"/>
            <a:round/>
          </a:ln>
        </p:spPr>
      </p:cxnSp>
      <p:sp>
        <p:nvSpPr>
          <p:cNvPr id="248" name="正方形/長方形 16"/>
          <p:cNvSpPr/>
          <p:nvPr/>
        </p:nvSpPr>
        <p:spPr>
          <a:xfrm>
            <a:off x="388080" y="322920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0" u="none" strike="noStrike">
                <a:solidFill>
                  <a:schemeClr val="dk1">
                    <a:lumMod val="65000"/>
                    <a:lumOff val="35000"/>
                  </a:schemeClr>
                </a:solidFill>
                <a:effectLst/>
                <a:uFillTx/>
                <a:latin typeface="メイリオ"/>
                <a:ea typeface="メイリオ"/>
              </a:rPr>
              <a:t>今の友だち（</a:t>
            </a:r>
            <a:r>
              <a:rPr lang="en-US" sz="1100" b="0" u="none" strike="noStrike">
                <a:solidFill>
                  <a:schemeClr val="dk1">
                    <a:lumMod val="65000"/>
                    <a:lumOff val="35000"/>
                  </a:schemeClr>
                </a:solidFill>
                <a:effectLst/>
                <a:uFillTx/>
                <a:latin typeface="メイリオ"/>
                <a:ea typeface="メイリオ"/>
              </a:rPr>
              <a:t>1,241</a:t>
            </a:r>
            <a:r>
              <a:rPr lang="zh-CN" sz="1100" b="0" u="none" strike="noStrike">
                <a:solidFill>
                  <a:schemeClr val="dk1">
                    <a:lumMod val="65000"/>
                    <a:lumOff val="35000"/>
                  </a:schemeClr>
                </a:solidFill>
                <a:effectLst/>
                <a:uFillTx/>
                <a:latin typeface="メイリオ"/>
                <a:ea typeface="メイリオ"/>
              </a:rPr>
              <a:t>人）</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新しい友だち</a:t>
            </a:r>
            <a:endParaRPr lang="en-US" sz="1100" b="0" u="none" strike="noStrike">
              <a:solidFill>
                <a:srgbClr val="000000"/>
              </a:solidFill>
              <a:effectLst/>
              <a:uFillTx/>
              <a:latin typeface="Arial"/>
            </a:endParaRPr>
          </a:p>
        </p:txBody>
      </p:sp>
      <p:sp>
        <p:nvSpPr>
          <p:cNvPr id="249" name="正方形/長方形 17"/>
          <p:cNvSpPr/>
          <p:nvPr/>
        </p:nvSpPr>
        <p:spPr>
          <a:xfrm>
            <a:off x="1890360" y="39654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個別チャット</a:t>
            </a:r>
            <a:endParaRPr lang="en-US" sz="1100" b="0" u="none" strike="noStrike">
              <a:solidFill>
                <a:srgbClr val="000000"/>
              </a:solidFill>
              <a:effectLst/>
              <a:uFillTx/>
              <a:latin typeface="Arial"/>
            </a:endParaRPr>
          </a:p>
        </p:txBody>
      </p:sp>
      <p:sp>
        <p:nvSpPr>
          <p:cNvPr id="250" name="正方形/長方形 18"/>
          <p:cNvSpPr/>
          <p:nvPr/>
        </p:nvSpPr>
        <p:spPr>
          <a:xfrm>
            <a:off x="388080" y="39654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0" u="none" strike="noStrike">
                <a:solidFill>
                  <a:schemeClr val="dk1">
                    <a:lumMod val="65000"/>
                    <a:lumOff val="35000"/>
                  </a:schemeClr>
                </a:solidFill>
                <a:effectLst/>
                <a:uFillTx/>
                <a:latin typeface="メイリオ"/>
                <a:ea typeface="メイリオ"/>
              </a:rPr>
              <a:t>問い合わせた方</a:t>
            </a:r>
            <a:endParaRPr lang="en-US" sz="1100" b="0" u="none" strike="noStrike">
              <a:solidFill>
                <a:srgbClr val="000000"/>
              </a:solidFill>
              <a:effectLst/>
              <a:uFillTx/>
              <a:latin typeface="Arial"/>
            </a:endParaRPr>
          </a:p>
        </p:txBody>
      </p:sp>
      <p:sp>
        <p:nvSpPr>
          <p:cNvPr id="251" name="正方形/長方形 19"/>
          <p:cNvSpPr/>
          <p:nvPr/>
        </p:nvSpPr>
        <p:spPr>
          <a:xfrm>
            <a:off x="3392640" y="32292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52" name="正方形/長方形 20"/>
          <p:cNvSpPr/>
          <p:nvPr/>
        </p:nvSpPr>
        <p:spPr>
          <a:xfrm>
            <a:off x="3392640" y="3965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53" name="矢印: 右 21"/>
          <p:cNvSpPr/>
          <p:nvPr/>
        </p:nvSpPr>
        <p:spPr>
          <a:xfrm>
            <a:off x="1031400" y="45684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4" name="矢印: 右 22"/>
          <p:cNvSpPr/>
          <p:nvPr/>
        </p:nvSpPr>
        <p:spPr>
          <a:xfrm>
            <a:off x="1031400" y="57999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5" name="矢印: 右 23"/>
          <p:cNvSpPr/>
          <p:nvPr/>
        </p:nvSpPr>
        <p:spPr>
          <a:xfrm>
            <a:off x="1031400" y="51897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6" name="正方形/長方形 24"/>
          <p:cNvSpPr/>
          <p:nvPr/>
        </p:nvSpPr>
        <p:spPr>
          <a:xfrm>
            <a:off x="1890360" y="45838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自動応答</a:t>
            </a:r>
            <a:endParaRPr lang="en-US" sz="1100" b="0" u="none" strike="noStrike">
              <a:solidFill>
                <a:srgbClr val="000000"/>
              </a:solidFill>
              <a:effectLst/>
              <a:uFillTx/>
              <a:latin typeface="Arial"/>
            </a:endParaRPr>
          </a:p>
        </p:txBody>
      </p:sp>
      <p:sp>
        <p:nvSpPr>
          <p:cNvPr id="257" name="正方形/長方形 25"/>
          <p:cNvSpPr/>
          <p:nvPr/>
        </p:nvSpPr>
        <p:spPr>
          <a:xfrm>
            <a:off x="388080" y="45838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0" u="none" strike="noStrike">
                <a:solidFill>
                  <a:schemeClr val="dk1">
                    <a:lumMod val="65000"/>
                    <a:lumOff val="35000"/>
                  </a:schemeClr>
                </a:solidFill>
                <a:effectLst/>
                <a:uFillTx/>
                <a:latin typeface="メイリオ"/>
                <a:ea typeface="メイリオ"/>
              </a:rPr>
              <a:t>受付時間外の方</a:t>
            </a:r>
            <a:endParaRPr lang="en-US" sz="1100" b="0" u="none" strike="noStrike">
              <a:solidFill>
                <a:srgbClr val="000000"/>
              </a:solidFill>
              <a:effectLst/>
              <a:uFillTx/>
              <a:latin typeface="Arial"/>
            </a:endParaRPr>
          </a:p>
        </p:txBody>
      </p:sp>
      <p:sp>
        <p:nvSpPr>
          <p:cNvPr id="258" name="正方形/長方形 26"/>
          <p:cNvSpPr/>
          <p:nvPr/>
        </p:nvSpPr>
        <p:spPr>
          <a:xfrm>
            <a:off x="388080" y="520272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迷っている方</a:t>
            </a:r>
            <a:endParaRPr lang="en-US" sz="1100" b="0" u="none" strike="noStrike">
              <a:solidFill>
                <a:srgbClr val="000000"/>
              </a:solidFill>
              <a:effectLst/>
              <a:uFillTx/>
              <a:latin typeface="Arial"/>
            </a:endParaRPr>
          </a:p>
        </p:txBody>
      </p:sp>
      <p:sp>
        <p:nvSpPr>
          <p:cNvPr id="259" name="正方形/長方形 27"/>
          <p:cNvSpPr/>
          <p:nvPr/>
        </p:nvSpPr>
        <p:spPr>
          <a:xfrm>
            <a:off x="388080" y="58212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他社で内見済みの方</a:t>
            </a:r>
            <a:endParaRPr lang="en-US" sz="1100" b="0" u="none" strike="noStrike">
              <a:solidFill>
                <a:srgbClr val="000000"/>
              </a:solidFill>
              <a:effectLst/>
              <a:uFillTx/>
              <a:latin typeface="Arial"/>
            </a:endParaRPr>
          </a:p>
        </p:txBody>
      </p:sp>
      <p:sp>
        <p:nvSpPr>
          <p:cNvPr id="260" name="正方形/長方形 28"/>
          <p:cNvSpPr/>
          <p:nvPr/>
        </p:nvSpPr>
        <p:spPr>
          <a:xfrm>
            <a:off x="1890360" y="520272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リッチメニュー</a:t>
            </a:r>
            <a:endParaRPr lang="en-US" sz="1100" b="0" u="none" strike="noStrike">
              <a:solidFill>
                <a:srgbClr val="000000"/>
              </a:solidFill>
              <a:effectLst/>
              <a:uFillTx/>
              <a:latin typeface="Arial"/>
            </a:endParaRPr>
          </a:p>
        </p:txBody>
      </p:sp>
      <p:sp>
        <p:nvSpPr>
          <p:cNvPr id="261" name="正方形/長方形 29"/>
          <p:cNvSpPr/>
          <p:nvPr/>
        </p:nvSpPr>
        <p:spPr>
          <a:xfrm>
            <a:off x="1890360" y="58212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企画配信</a:t>
            </a:r>
            <a:endParaRPr lang="en-US" sz="1100" b="0" u="none" strike="noStrike">
              <a:solidFill>
                <a:srgbClr val="000000"/>
              </a:solidFill>
              <a:effectLst/>
              <a:uFillTx/>
              <a:latin typeface="Arial"/>
            </a:endParaRPr>
          </a:p>
        </p:txBody>
      </p:sp>
      <p:sp>
        <p:nvSpPr>
          <p:cNvPr id="262" name="正方形/長方形 30"/>
          <p:cNvSpPr/>
          <p:nvPr/>
        </p:nvSpPr>
        <p:spPr>
          <a:xfrm>
            <a:off x="3392640" y="45838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3" name="正方形/長方形 31"/>
          <p:cNvSpPr/>
          <p:nvPr/>
        </p:nvSpPr>
        <p:spPr>
          <a:xfrm>
            <a:off x="3392640" y="520272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4" name="正方形/長方形 32"/>
          <p:cNvSpPr/>
          <p:nvPr/>
        </p:nvSpPr>
        <p:spPr>
          <a:xfrm>
            <a:off x="3392640" y="5810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5" name="Shape 17"/>
          <p:cNvSpPr/>
          <p:nvPr/>
        </p:nvSpPr>
        <p:spPr>
          <a:xfrm>
            <a:off x="3586680" y="206820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あいさつ</a:t>
            </a: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595959"/>
                </a:solidFill>
                <a:effectLst/>
                <a:uFillTx/>
                <a:latin typeface="メイリオ"/>
                <a:ea typeface="メイリオ"/>
              </a:rPr>
              <a:t>物件の送り方を案内</a:t>
            </a:r>
            <a:endParaRPr lang="en-US" sz="1100" b="0" u="none" strike="noStrike">
              <a:solidFill>
                <a:srgbClr val="000000"/>
              </a:solidFill>
              <a:effectLst/>
              <a:uFillTx/>
              <a:latin typeface="Arial"/>
            </a:endParaRPr>
          </a:p>
        </p:txBody>
      </p:sp>
      <p:sp>
        <p:nvSpPr>
          <p:cNvPr id="266" name="Shape 18"/>
          <p:cNvSpPr/>
          <p:nvPr/>
        </p:nvSpPr>
        <p:spPr>
          <a:xfrm>
            <a:off x="5635800" y="206820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ステップ配信（全</a:t>
            </a:r>
            <a:r>
              <a:rPr lang="en-US" sz="1100" b="0" u="none" strike="noStrike">
                <a:solidFill>
                  <a:srgbClr val="595959"/>
                </a:solidFill>
                <a:effectLst/>
                <a:uFillTx/>
                <a:latin typeface="メイリオ"/>
                <a:ea typeface="メイリオ"/>
              </a:rPr>
              <a:t>10</a:t>
            </a:r>
            <a:r>
              <a:rPr lang="zh-CN" sz="1100" b="0" u="none" strike="noStrike">
                <a:solidFill>
                  <a:srgbClr val="595959"/>
                </a:solidFill>
                <a:effectLst/>
                <a:uFillTx/>
                <a:latin typeface="メイリオ"/>
                <a:ea typeface="メイリオ"/>
              </a:rPr>
              <a:t>通）</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物件URL</a:t>
            </a:r>
            <a:r>
              <a:rPr lang="zh-CN" sz="1100" b="0" u="none" strike="noStrike">
                <a:solidFill>
                  <a:srgbClr val="595959"/>
                </a:solidFill>
                <a:effectLst/>
                <a:uFillTx/>
                <a:latin typeface="メイリオ"/>
                <a:ea typeface="メイリオ"/>
              </a:rPr>
              <a:t>の送信</a:t>
            </a:r>
            <a:endParaRPr lang="en-US" sz="1100" b="0" u="none" strike="noStrike">
              <a:solidFill>
                <a:srgbClr val="000000"/>
              </a:solidFill>
              <a:effectLst/>
              <a:uFillTx/>
              <a:latin typeface="Arial"/>
            </a:endParaRPr>
          </a:p>
        </p:txBody>
      </p:sp>
      <p:cxnSp>
        <p:nvCxnSpPr>
          <p:cNvPr id="267" name="直線矢印コネクタ 35"/>
          <p:cNvCxnSpPr>
            <a:endCxn id="266" idx="1"/>
          </p:cNvCxnSpPr>
          <p:nvPr/>
        </p:nvCxnSpPr>
        <p:spPr>
          <a:xfrm>
            <a:off x="5366880" y="2292120"/>
            <a:ext cx="269280" cy="9360"/>
          </a:xfrm>
          <a:prstGeom prst="straightConnector1">
            <a:avLst/>
          </a:prstGeom>
          <a:ln>
            <a:solidFill>
              <a:srgbClr val="000000"/>
            </a:solidFill>
            <a:prstDash val="sysDot"/>
            <a:round/>
            <a:tailEnd type="triangle" w="med" len="med"/>
          </a:ln>
        </p:spPr>
      </p:cxnSp>
      <p:sp>
        <p:nvSpPr>
          <p:cNvPr id="268" name="Shape 17"/>
          <p:cNvSpPr/>
          <p:nvPr/>
        </p:nvSpPr>
        <p:spPr>
          <a:xfrm>
            <a:off x="3586680" y="26024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キーワード応答</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よくある質問に返信</a:t>
            </a:r>
            <a:endParaRPr lang="en-US" sz="1100" b="0" u="none" strike="noStrike">
              <a:solidFill>
                <a:srgbClr val="000000"/>
              </a:solidFill>
              <a:effectLst/>
              <a:uFillTx/>
              <a:latin typeface="Arial"/>
            </a:endParaRPr>
          </a:p>
        </p:txBody>
      </p:sp>
      <p:sp>
        <p:nvSpPr>
          <p:cNvPr id="269" name="Shape 18"/>
          <p:cNvSpPr/>
          <p:nvPr/>
        </p:nvSpPr>
        <p:spPr>
          <a:xfrm>
            <a:off x="5635800" y="26024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個別チャット</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空室確認・内見の手配</a:t>
            </a:r>
            <a:endParaRPr lang="en-US" sz="1100" b="0" u="none" strike="noStrike">
              <a:solidFill>
                <a:srgbClr val="000000"/>
              </a:solidFill>
              <a:effectLst/>
              <a:uFillTx/>
              <a:latin typeface="Arial"/>
            </a:endParaRPr>
          </a:p>
        </p:txBody>
      </p:sp>
      <p:cxnSp>
        <p:nvCxnSpPr>
          <p:cNvPr id="270" name="直線矢印コネクタ 38"/>
          <p:cNvCxnSpPr>
            <a:stCxn id="268" idx="3"/>
            <a:endCxn id="269" idx="1"/>
          </p:cNvCxnSpPr>
          <p:nvPr/>
        </p:nvCxnSpPr>
        <p:spPr>
          <a:xfrm>
            <a:off x="5349960" y="2835360"/>
            <a:ext cx="286200" cy="360"/>
          </a:xfrm>
          <a:prstGeom prst="straightConnector1">
            <a:avLst/>
          </a:prstGeom>
          <a:ln>
            <a:solidFill>
              <a:srgbClr val="000000"/>
            </a:solidFill>
            <a:prstDash val="sysDot"/>
            <a:round/>
            <a:tailEnd type="triangle" w="med" len="med"/>
          </a:ln>
        </p:spPr>
      </p:cxnSp>
      <p:sp>
        <p:nvSpPr>
          <p:cNvPr id="271" name="テキスト ボックス 102"/>
          <p:cNvSpPr/>
          <p:nvPr/>
        </p:nvSpPr>
        <p:spPr>
          <a:xfrm>
            <a:off x="7643520" y="1550880"/>
            <a:ext cx="187380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zh-CN" sz="1200" b="1" u="none" strike="noStrike">
                <a:solidFill>
                  <a:srgbClr val="FF0000"/>
                </a:solidFill>
                <a:effectLst/>
                <a:uFillTx/>
                <a:latin typeface="メイリオ"/>
                <a:ea typeface="メイリオ"/>
              </a:rPr>
              <a:t>問い合わせ率</a:t>
            </a:r>
            <a:endParaRPr lang="en-US" sz="1200" b="0" u="none" strike="noStrike">
              <a:solidFill>
                <a:srgbClr val="000000"/>
              </a:solidFill>
              <a:effectLst/>
              <a:uFillTx/>
              <a:latin typeface="Arial"/>
            </a:endParaRPr>
          </a:p>
          <a:p>
            <a:pPr algn="ctr" defTabSz="914400">
              <a:lnSpc>
                <a:spcPct val="100000"/>
              </a:lnSpc>
            </a:pPr>
            <a:r>
              <a:rPr lang="en-US" sz="1200" b="0" u="none" strike="noStrike">
                <a:solidFill>
                  <a:srgbClr val="FF0000"/>
                </a:solidFill>
                <a:effectLst/>
                <a:uFillTx/>
                <a:latin typeface="メイリオ"/>
                <a:ea typeface="メイリオ"/>
              </a:rPr>
              <a:t>※試算の想定</a:t>
            </a:r>
            <a:endParaRPr lang="en-US" sz="1200" b="0" u="none" strike="noStrike">
              <a:solidFill>
                <a:srgbClr val="000000"/>
              </a:solidFill>
              <a:effectLst/>
              <a:uFillTx/>
              <a:latin typeface="Arial"/>
            </a:endParaRPr>
          </a:p>
        </p:txBody>
      </p:sp>
      <p:sp>
        <p:nvSpPr>
          <p:cNvPr id="272" name="テキスト ボックス 104"/>
          <p:cNvSpPr/>
          <p:nvPr/>
        </p:nvSpPr>
        <p:spPr>
          <a:xfrm>
            <a:off x="7498080" y="2247120"/>
            <a:ext cx="1782720" cy="522720"/>
          </a:xfrm>
          <a:prstGeom prst="rect">
            <a:avLst/>
          </a:prstGeom>
          <a:noFill/>
          <a:ln w="0">
            <a:noFill/>
          </a:ln>
        </p:spPr>
        <p:style>
          <a:lnRef idx="0">
            <a:scrgbClr r="0" g="0" b="0"/>
          </a:lnRef>
          <a:fillRef idx="0">
            <a:scrgbClr r="0" g="0" b="0"/>
          </a:fillRef>
          <a:effectRef idx="0">
            <a:scrgbClr r="0" g="0" b="0"/>
          </a:effectRef>
          <a:fontRef idx="minor"/>
        </p:style>
        <p:txBody>
          <a:bodyPr lIns="0" tIns="45000" rIns="0" bIns="45000" anchor="t">
            <a:spAutoFit/>
          </a:bodyPr>
          <a:lstStyle/>
          <a:p>
            <a:pPr algn="r" defTabSz="914400">
              <a:lnSpc>
                <a:spcPct val="100000"/>
              </a:lnSpc>
            </a:pPr>
            <a:r>
              <a:rPr lang="en-US" sz="2000" b="1" u="none" strike="noStrike" dirty="0">
                <a:solidFill>
                  <a:srgbClr val="FF0000"/>
                </a:solidFill>
                <a:effectLst/>
                <a:uFillTx/>
                <a:latin typeface="メイリオ"/>
                <a:ea typeface="メイリオ"/>
              </a:rPr>
              <a:t>22→57</a:t>
            </a:r>
            <a:r>
              <a:rPr lang="en-US" sz="1400" b="1" u="none" strike="noStrike" dirty="0">
                <a:solidFill>
                  <a:srgbClr val="FF0000"/>
                </a:solidFill>
                <a:effectLst/>
                <a:uFillTx/>
                <a:latin typeface="メイリオ"/>
                <a:ea typeface="メイリオ"/>
              </a:rPr>
              <a:t>%</a:t>
            </a:r>
            <a:endParaRPr lang="en-US" sz="1400" b="0" u="none" strike="noStrike" dirty="0">
              <a:solidFill>
                <a:srgbClr val="000000"/>
              </a:solidFill>
              <a:effectLst/>
              <a:uFillTx/>
              <a:latin typeface="Arial"/>
            </a:endParaRPr>
          </a:p>
          <a:p>
            <a:pPr algn="r" defTabSz="914400">
              <a:lnSpc>
                <a:spcPct val="100000"/>
              </a:lnSpc>
            </a:pPr>
            <a:r>
              <a:rPr lang="ja-JP" sz="1100" b="0" u="none" strike="noStrike" dirty="0">
                <a:solidFill>
                  <a:srgbClr val="FF0000"/>
                </a:solidFill>
                <a:effectLst/>
                <a:uFillTx/>
                <a:latin typeface="メイリオ"/>
                <a:ea typeface="メイリオ"/>
              </a:rPr>
              <a:t>友だち追加直後に</a:t>
            </a:r>
            <a:endParaRPr lang="en-US" sz="1100" b="0" u="none" strike="noStrike" dirty="0">
              <a:solidFill>
                <a:srgbClr val="000000"/>
              </a:solidFill>
              <a:effectLst/>
              <a:uFillTx/>
              <a:latin typeface="Arial"/>
            </a:endParaRPr>
          </a:p>
          <a:p>
            <a:pPr algn="r" defTabSz="914400">
              <a:lnSpc>
                <a:spcPct val="100000"/>
              </a:lnSpc>
            </a:pPr>
            <a:r>
              <a:rPr lang="ja-JP" sz="1100" b="0" u="none" strike="noStrike" dirty="0">
                <a:solidFill>
                  <a:srgbClr val="FF0000"/>
                </a:solidFill>
                <a:effectLst/>
                <a:uFillTx/>
                <a:latin typeface="メイリオ"/>
                <a:ea typeface="メイリオ"/>
              </a:rPr>
              <a:t>物件を送る方（仮）</a:t>
            </a:r>
            <a:endParaRPr lang="en-US" sz="1100" b="0" u="none" strike="noStrike" dirty="0">
              <a:solidFill>
                <a:srgbClr val="000000"/>
              </a:solidFill>
              <a:effectLst/>
              <a:uFillTx/>
              <a:latin typeface="Arial"/>
            </a:endParaRPr>
          </a:p>
        </p:txBody>
      </p:sp>
      <p:sp>
        <p:nvSpPr>
          <p:cNvPr id="273" name="テキスト ボックス 106"/>
          <p:cNvSpPr/>
          <p:nvPr/>
        </p:nvSpPr>
        <p:spPr>
          <a:xfrm>
            <a:off x="7498080" y="3192120"/>
            <a:ext cx="1782720" cy="522720"/>
          </a:xfrm>
          <a:prstGeom prst="rect">
            <a:avLst/>
          </a:prstGeom>
          <a:noFill/>
          <a:ln w="0">
            <a:noFill/>
          </a:ln>
        </p:spPr>
        <p:style>
          <a:lnRef idx="0">
            <a:scrgbClr r="0" g="0" b="0"/>
          </a:lnRef>
          <a:fillRef idx="0">
            <a:scrgbClr r="0" g="0" b="0"/>
          </a:fillRef>
          <a:effectRef idx="0">
            <a:scrgbClr r="0" g="0" b="0"/>
          </a:effectRef>
          <a:fontRef idx="minor"/>
        </p:style>
        <p:txBody>
          <a:bodyPr lIns="0" tIns="45000" rIns="0" bIns="45000" anchor="t">
            <a:spAutoFit/>
          </a:bodyPr>
          <a:lstStyle/>
          <a:p>
            <a:pPr algn="r" defTabSz="914400">
              <a:lnSpc>
                <a:spcPct val="100000"/>
              </a:lnSpc>
            </a:pPr>
            <a:r>
              <a:rPr lang="en-US" sz="2000" b="1" u="none" strike="noStrike">
                <a:solidFill>
                  <a:srgbClr val="FF0000"/>
                </a:solidFill>
                <a:effectLst/>
                <a:uFillTx/>
                <a:latin typeface="メイリオ"/>
                <a:ea typeface="メイリオ"/>
              </a:rPr>
              <a:t>0.3→2.0</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a:p>
            <a:pPr algn="r" defTabSz="914400">
              <a:lnSpc>
                <a:spcPct val="100000"/>
              </a:lnSpc>
            </a:pPr>
            <a:r>
              <a:rPr lang="zh-CN" sz="1100" b="0" u="none" strike="noStrike">
                <a:solidFill>
                  <a:srgbClr val="FF0000"/>
                </a:solidFill>
                <a:effectLst/>
                <a:uFillTx/>
                <a:latin typeface="メイリオ"/>
                <a:ea typeface="メイリオ"/>
              </a:rPr>
              <a:t>配信クリックからの</a:t>
            </a:r>
            <a:endParaRPr lang="en-US" sz="1100" b="0" u="none" strike="noStrike">
              <a:solidFill>
                <a:srgbClr val="000000"/>
              </a:solidFill>
              <a:effectLst/>
              <a:uFillTx/>
              <a:latin typeface="Arial"/>
            </a:endParaRPr>
          </a:p>
          <a:p>
            <a:pPr algn="r" defTabSz="914400">
              <a:lnSpc>
                <a:spcPct val="100000"/>
              </a:lnSpc>
            </a:pPr>
            <a:r>
              <a:rPr lang="zh-CN" sz="1100" b="0" u="none" strike="noStrike">
                <a:solidFill>
                  <a:srgbClr val="FF0000"/>
                </a:solidFill>
                <a:effectLst/>
                <a:uFillTx/>
                <a:latin typeface="メイリオ"/>
                <a:ea typeface="メイリオ"/>
              </a:rPr>
              <a:t>問い合わせ（</a:t>
            </a:r>
            <a:r>
              <a:rPr lang="en-US" sz="1100" b="0" u="none" strike="noStrike">
                <a:solidFill>
                  <a:srgbClr val="FF0000"/>
                </a:solidFill>
                <a:effectLst/>
                <a:uFillTx/>
                <a:latin typeface="メイリオ"/>
                <a:ea typeface="メイリオ"/>
              </a:rPr>
              <a:t>CVR</a:t>
            </a:r>
            <a:r>
              <a:rPr lang="zh-CN" sz="1100" b="0" u="none" strike="noStrike">
                <a:solidFill>
                  <a:srgbClr val="FF0000"/>
                </a:solidFill>
                <a:effectLst/>
                <a:uFillTx/>
                <a:latin typeface="メイリオ"/>
                <a:ea typeface="メイリオ"/>
              </a:rPr>
              <a:t>）</a:t>
            </a:r>
            <a:endParaRPr lang="en-US" sz="1100" b="0" u="none" strike="noStrike">
              <a:solidFill>
                <a:srgbClr val="000000"/>
              </a:solidFill>
              <a:effectLst/>
              <a:uFillTx/>
              <a:latin typeface="Arial"/>
            </a:endParaRPr>
          </a:p>
        </p:txBody>
      </p:sp>
      <p:sp>
        <p:nvSpPr>
          <p:cNvPr id="274" name="テキスト ボックス 108"/>
          <p:cNvSpPr/>
          <p:nvPr/>
        </p:nvSpPr>
        <p:spPr>
          <a:xfrm>
            <a:off x="7795440" y="395280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5" name="テキスト ボックス 110"/>
          <p:cNvSpPr/>
          <p:nvPr/>
        </p:nvSpPr>
        <p:spPr>
          <a:xfrm>
            <a:off x="7781400" y="45928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6" name="テキスト ボックス 112"/>
          <p:cNvSpPr/>
          <p:nvPr/>
        </p:nvSpPr>
        <p:spPr>
          <a:xfrm>
            <a:off x="7781400" y="521712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7" name="テキスト ボックス 114"/>
          <p:cNvSpPr/>
          <p:nvPr/>
        </p:nvSpPr>
        <p:spPr>
          <a:xfrm>
            <a:off x="7781400" y="582300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8" name="Shape 17"/>
          <p:cNvSpPr/>
          <p:nvPr/>
        </p:nvSpPr>
        <p:spPr>
          <a:xfrm>
            <a:off x="3586680" y="3279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企画配信（月</a:t>
            </a:r>
            <a:r>
              <a:rPr lang="en-US" sz="1100" b="0" u="none" strike="noStrike">
                <a:solidFill>
                  <a:srgbClr val="595959"/>
                </a:solidFill>
                <a:effectLst/>
                <a:uFillTx/>
                <a:latin typeface="メイリオ"/>
                <a:ea typeface="メイリオ"/>
              </a:rPr>
              <a:t>4</a:t>
            </a:r>
            <a:r>
              <a:rPr lang="ja-JP" sz="1100" b="0" u="none" strike="noStrike">
                <a:solidFill>
                  <a:srgbClr val="595959"/>
                </a:solidFill>
                <a:effectLst/>
                <a:uFillTx/>
                <a:latin typeface="メイリオ"/>
                <a:ea typeface="メイリオ"/>
              </a:rPr>
              <a:t>本）</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送り方・費用など</a:t>
            </a:r>
            <a:endParaRPr lang="en-US" sz="1100" b="0" u="none" strike="noStrike">
              <a:solidFill>
                <a:srgbClr val="000000"/>
              </a:solidFill>
              <a:effectLst/>
              <a:uFillTx/>
              <a:latin typeface="Arial"/>
            </a:endParaRPr>
          </a:p>
        </p:txBody>
      </p:sp>
      <p:sp>
        <p:nvSpPr>
          <p:cNvPr id="279" name="Shape 18"/>
          <p:cNvSpPr/>
          <p:nvPr/>
        </p:nvSpPr>
        <p:spPr>
          <a:xfrm>
            <a:off x="5635800" y="3279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リッチメニュー</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100</a:t>
            </a:r>
            <a:r>
              <a:rPr lang="ja-JP" sz="1100" b="0" u="none" strike="noStrike">
                <a:solidFill>
                  <a:srgbClr val="595959"/>
                </a:solidFill>
                <a:effectLst/>
                <a:uFillTx/>
                <a:latin typeface="メイリオ"/>
                <a:ea typeface="メイリオ"/>
              </a:rPr>
              <a:t>円チェッカーなど</a:t>
            </a:r>
            <a:endParaRPr lang="en-US" sz="1100" b="0" u="none" strike="noStrike">
              <a:solidFill>
                <a:srgbClr val="000000"/>
              </a:solidFill>
              <a:effectLst/>
              <a:uFillTx/>
              <a:latin typeface="Arial"/>
            </a:endParaRPr>
          </a:p>
        </p:txBody>
      </p:sp>
      <p:cxnSp>
        <p:nvCxnSpPr>
          <p:cNvPr id="280" name="直線矢印コネクタ 49"/>
          <p:cNvCxnSpPr>
            <a:stCxn id="278" idx="3"/>
            <a:endCxn id="279" idx="1"/>
          </p:cNvCxnSpPr>
          <p:nvPr/>
        </p:nvCxnSpPr>
        <p:spPr>
          <a:xfrm>
            <a:off x="5349960" y="3512880"/>
            <a:ext cx="286200" cy="360"/>
          </a:xfrm>
          <a:prstGeom prst="straightConnector1">
            <a:avLst/>
          </a:prstGeom>
          <a:ln>
            <a:solidFill>
              <a:srgbClr val="000000"/>
            </a:solidFill>
            <a:prstDash val="sysDot"/>
            <a:round/>
            <a:tailEnd type="triangle" w="med" len="med"/>
          </a:ln>
        </p:spPr>
      </p:cxnSp>
      <p:sp>
        <p:nvSpPr>
          <p:cNvPr id="281" name="Shape 17"/>
          <p:cNvSpPr/>
          <p:nvPr/>
        </p:nvSpPr>
        <p:spPr>
          <a:xfrm>
            <a:off x="3586680" y="4020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空室確認・内見の手配</a:t>
            </a:r>
            <a:endParaRPr lang="en-US" sz="1100" b="0" u="none" strike="noStrike">
              <a:solidFill>
                <a:srgbClr val="000000"/>
              </a:solidFill>
              <a:effectLst/>
              <a:uFillTx/>
              <a:latin typeface="Arial"/>
            </a:endParaRPr>
          </a:p>
        </p:txBody>
      </p:sp>
      <p:sp>
        <p:nvSpPr>
          <p:cNvPr id="282" name="Shape 18"/>
          <p:cNvSpPr/>
          <p:nvPr/>
        </p:nvSpPr>
        <p:spPr>
          <a:xfrm>
            <a:off x="5635800" y="4020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お申込み・ご契約の案内</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（オンラインでも可）</a:t>
            </a:r>
            <a:endParaRPr lang="en-US" sz="1100" b="0" u="none" strike="noStrike">
              <a:solidFill>
                <a:srgbClr val="000000"/>
              </a:solidFill>
              <a:effectLst/>
              <a:uFillTx/>
              <a:latin typeface="Arial"/>
            </a:endParaRPr>
          </a:p>
        </p:txBody>
      </p:sp>
      <p:cxnSp>
        <p:nvCxnSpPr>
          <p:cNvPr id="283" name="直線矢印コネクタ 52"/>
          <p:cNvCxnSpPr>
            <a:stCxn id="281" idx="3"/>
            <a:endCxn id="282" idx="1"/>
          </p:cNvCxnSpPr>
          <p:nvPr/>
        </p:nvCxnSpPr>
        <p:spPr>
          <a:xfrm>
            <a:off x="5349960" y="4253760"/>
            <a:ext cx="286200" cy="360"/>
          </a:xfrm>
          <a:prstGeom prst="straightConnector1">
            <a:avLst/>
          </a:prstGeom>
          <a:ln>
            <a:solidFill>
              <a:srgbClr val="000000"/>
            </a:solidFill>
            <a:prstDash val="sysDot"/>
            <a:round/>
            <a:tailEnd type="triangle" w="med" len="med"/>
          </a:ln>
        </p:spPr>
      </p:cxnSp>
      <p:sp>
        <p:nvSpPr>
          <p:cNvPr id="284" name="Shape 17"/>
          <p:cNvSpPr/>
          <p:nvPr/>
        </p:nvSpPr>
        <p:spPr>
          <a:xfrm>
            <a:off x="3586680" y="4627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受付時間外は</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受け付けた旨を自動で返信</a:t>
            </a:r>
            <a:endParaRPr lang="en-US" sz="1100" b="0" u="none" strike="noStrike">
              <a:solidFill>
                <a:srgbClr val="000000"/>
              </a:solidFill>
              <a:effectLst/>
              <a:uFillTx/>
              <a:latin typeface="Arial"/>
            </a:endParaRPr>
          </a:p>
        </p:txBody>
      </p:sp>
      <p:sp>
        <p:nvSpPr>
          <p:cNvPr id="285" name="Shape 18"/>
          <p:cNvSpPr/>
          <p:nvPr/>
        </p:nvSpPr>
        <p:spPr>
          <a:xfrm>
            <a:off x="5635800" y="4627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受付時間（</a:t>
            </a:r>
            <a:r>
              <a:rPr lang="en-US" sz="1100" b="0" u="none" strike="noStrike">
                <a:solidFill>
                  <a:srgbClr val="595959"/>
                </a:solidFill>
                <a:effectLst/>
                <a:uFillTx/>
                <a:latin typeface="メイリオ"/>
                <a:ea typeface="メイリオ"/>
              </a:rPr>
              <a:t>11</a:t>
            </a:r>
            <a:r>
              <a:rPr lang="ja-JP" sz="1100" b="0" u="none" strike="noStrike">
                <a:solidFill>
                  <a:srgbClr val="595959"/>
                </a:solidFill>
                <a:effectLst/>
                <a:uFillTx/>
                <a:latin typeface="メイリオ"/>
                <a:ea typeface="メイリオ"/>
              </a:rPr>
              <a:t>〜</a:t>
            </a:r>
            <a:r>
              <a:rPr lang="en-US" sz="1100" b="0" u="none" strike="noStrike">
                <a:solidFill>
                  <a:srgbClr val="595959"/>
                </a:solidFill>
                <a:effectLst/>
                <a:uFillTx/>
                <a:latin typeface="メイリオ"/>
                <a:ea typeface="メイリオ"/>
              </a:rPr>
              <a:t>18</a:t>
            </a:r>
            <a:r>
              <a:rPr lang="ja-JP" sz="1100" b="0" u="none" strike="noStrike">
                <a:solidFill>
                  <a:srgbClr val="595959"/>
                </a:solidFill>
                <a:effectLst/>
                <a:uFillTx/>
                <a:latin typeface="メイリオ"/>
                <a:ea typeface="メイリオ"/>
              </a:rPr>
              <a:t>時）</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内に担当者が確認</a:t>
            </a:r>
            <a:endParaRPr lang="en-US" sz="1100" b="0" u="none" strike="noStrike">
              <a:solidFill>
                <a:srgbClr val="000000"/>
              </a:solidFill>
              <a:effectLst/>
              <a:uFillTx/>
              <a:latin typeface="Arial"/>
            </a:endParaRPr>
          </a:p>
        </p:txBody>
      </p:sp>
      <p:cxnSp>
        <p:nvCxnSpPr>
          <p:cNvPr id="286" name="直線矢印コネクタ 55"/>
          <p:cNvCxnSpPr>
            <a:stCxn id="284" idx="3"/>
            <a:endCxn id="285" idx="1"/>
          </p:cNvCxnSpPr>
          <p:nvPr/>
        </p:nvCxnSpPr>
        <p:spPr>
          <a:xfrm>
            <a:off x="5349960" y="4860000"/>
            <a:ext cx="286200" cy="360"/>
          </a:xfrm>
          <a:prstGeom prst="straightConnector1">
            <a:avLst/>
          </a:prstGeom>
          <a:ln>
            <a:solidFill>
              <a:srgbClr val="000000"/>
            </a:solidFill>
            <a:prstDash val="sysDot"/>
            <a:round/>
            <a:tailEnd type="triangle" w="med" len="med"/>
          </a:ln>
        </p:spPr>
      </p:cxnSp>
      <p:sp>
        <p:nvSpPr>
          <p:cNvPr id="287" name="Shape 17"/>
          <p:cNvSpPr/>
          <p:nvPr/>
        </p:nvSpPr>
        <p:spPr>
          <a:xfrm>
            <a:off x="3586680" y="5250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100</a:t>
            </a:r>
            <a:r>
              <a:rPr lang="ja-JP" sz="1100" b="0" u="none" strike="noStrike">
                <a:solidFill>
                  <a:srgbClr val="595959"/>
                </a:solidFill>
                <a:effectLst/>
                <a:uFillTx/>
                <a:latin typeface="メイリオ"/>
                <a:ea typeface="メイリオ"/>
              </a:rPr>
              <a:t>円チェッカー</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（名前・電話番号は不要）</a:t>
            </a:r>
            <a:endParaRPr lang="en-US" sz="1100" b="0" u="none" strike="noStrike">
              <a:solidFill>
                <a:srgbClr val="000000"/>
              </a:solidFill>
              <a:effectLst/>
              <a:uFillTx/>
              <a:latin typeface="Arial"/>
            </a:endParaRPr>
          </a:p>
        </p:txBody>
      </p:sp>
      <p:sp>
        <p:nvSpPr>
          <p:cNvPr id="288" name="Shape 18"/>
          <p:cNvSpPr/>
          <p:nvPr/>
        </p:nvSpPr>
        <p:spPr>
          <a:xfrm>
            <a:off x="5635800" y="5250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 物件の送信</a:t>
            </a:r>
            <a:endParaRPr lang="en-US" sz="1100" b="0" u="none" strike="noStrike">
              <a:solidFill>
                <a:srgbClr val="000000"/>
              </a:solidFill>
              <a:effectLst/>
              <a:uFillTx/>
              <a:latin typeface="Arial"/>
            </a:endParaRPr>
          </a:p>
        </p:txBody>
      </p:sp>
      <p:cxnSp>
        <p:nvCxnSpPr>
          <p:cNvPr id="289" name="直線矢印コネクタ 58"/>
          <p:cNvCxnSpPr>
            <a:stCxn id="287" idx="3"/>
            <a:endCxn id="288" idx="1"/>
          </p:cNvCxnSpPr>
          <p:nvPr/>
        </p:nvCxnSpPr>
        <p:spPr>
          <a:xfrm>
            <a:off x="5349960" y="5483880"/>
            <a:ext cx="286200" cy="360"/>
          </a:xfrm>
          <a:prstGeom prst="straightConnector1">
            <a:avLst/>
          </a:prstGeom>
          <a:ln>
            <a:solidFill>
              <a:srgbClr val="000000"/>
            </a:solidFill>
            <a:prstDash val="sysDot"/>
            <a:round/>
            <a:tailEnd type="triangle" w="med" len="med"/>
          </a:ln>
        </p:spPr>
      </p:cxnSp>
      <p:sp>
        <p:nvSpPr>
          <p:cNvPr id="290" name="Shape 17"/>
          <p:cNvSpPr/>
          <p:nvPr/>
        </p:nvSpPr>
        <p:spPr>
          <a:xfrm>
            <a:off x="3586680" y="58593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内見済みでも相談可</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（お受けできない場合も）</a:t>
            </a:r>
            <a:endParaRPr lang="en-US" sz="1100" b="0" u="none" strike="noStrike">
              <a:solidFill>
                <a:srgbClr val="000000"/>
              </a:solidFill>
              <a:effectLst/>
              <a:uFillTx/>
              <a:latin typeface="Arial"/>
            </a:endParaRPr>
          </a:p>
        </p:txBody>
      </p:sp>
      <p:sp>
        <p:nvSpPr>
          <p:cNvPr id="291" name="Shape 18"/>
          <p:cNvSpPr/>
          <p:nvPr/>
        </p:nvSpPr>
        <p:spPr>
          <a:xfrm>
            <a:off x="5635800" y="58593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 物件の送信</a:t>
            </a:r>
            <a:endParaRPr lang="en-US" sz="1100" b="0" u="none" strike="noStrike">
              <a:solidFill>
                <a:srgbClr val="000000"/>
              </a:solidFill>
              <a:effectLst/>
              <a:uFillTx/>
              <a:latin typeface="Arial"/>
            </a:endParaRPr>
          </a:p>
        </p:txBody>
      </p:sp>
      <p:cxnSp>
        <p:nvCxnSpPr>
          <p:cNvPr id="292" name="直線矢印コネクタ 61"/>
          <p:cNvCxnSpPr>
            <a:stCxn id="290" idx="3"/>
            <a:endCxn id="291" idx="1"/>
          </p:cNvCxnSpPr>
          <p:nvPr/>
        </p:nvCxnSpPr>
        <p:spPr>
          <a:xfrm>
            <a:off x="5349960" y="6092280"/>
            <a:ext cx="286200" cy="360"/>
          </a:xfrm>
          <a:prstGeom prst="straightConnector1">
            <a:avLst/>
          </a:prstGeom>
          <a:ln>
            <a:solidFill>
              <a:srgbClr val="000000"/>
            </a:solidFill>
            <a:prstDash val="sysDot"/>
            <a:round/>
            <a:tailEnd type="triangle" w="med" len="med"/>
          </a:ln>
        </p:spPr>
      </p:cxnSp>
      <p:sp>
        <p:nvSpPr>
          <p:cNvPr id="293" name="テキスト ボックス 67"/>
          <p:cNvSpPr/>
          <p:nvPr/>
        </p:nvSpPr>
        <p:spPr>
          <a:xfrm>
            <a:off x="556200" y="603360"/>
            <a:ext cx="8793360" cy="73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00" b="0" u="none" strike="noStrike" dirty="0">
                <a:solidFill>
                  <a:schemeClr val="dk1">
                    <a:lumMod val="65000"/>
                    <a:lumOff val="35000"/>
                  </a:schemeClr>
                </a:solidFill>
                <a:effectLst/>
                <a:uFillTx/>
                <a:latin typeface="メイリオ"/>
                <a:ea typeface="メイリオ"/>
              </a:rPr>
              <a:t>新しい友だちには物件の送り方を、今の友だちには配信とリッチメニューで問い合わせのきっかけを届けます。</a:t>
            </a:r>
            <a:endParaRPr lang="en-US" sz="1300" b="0" u="none" strike="noStrike" dirty="0">
              <a:solidFill>
                <a:srgbClr val="000000"/>
              </a:solidFill>
              <a:effectLst/>
              <a:uFillTx/>
              <a:latin typeface="Arial"/>
            </a:endParaRPr>
          </a:p>
          <a:p>
            <a:pPr algn="ctr" defTabSz="914400">
              <a:lnSpc>
                <a:spcPct val="100000"/>
              </a:lnSpc>
            </a:pPr>
            <a:r>
              <a:rPr lang="ja-JP" sz="1300" b="1" u="none" strike="noStrike" dirty="0">
                <a:solidFill>
                  <a:schemeClr val="dk1">
                    <a:lumMod val="65000"/>
                    <a:lumOff val="35000"/>
                  </a:schemeClr>
                </a:solidFill>
                <a:effectLst/>
                <a:uFillTx/>
                <a:latin typeface="メイリオ"/>
                <a:ea typeface="メイリオ"/>
              </a:rPr>
              <a:t>「どの物件が対象か」が分からないこと</a:t>
            </a:r>
            <a:r>
              <a:rPr lang="ja-JP" sz="1300" b="0" u="none" strike="noStrike" dirty="0">
                <a:solidFill>
                  <a:schemeClr val="dk1">
                    <a:lumMod val="65000"/>
                    <a:lumOff val="35000"/>
                  </a:schemeClr>
                </a:solidFill>
                <a:effectLst/>
                <a:uFillTx/>
                <a:latin typeface="メイリオ"/>
                <a:ea typeface="メイリオ"/>
              </a:rPr>
              <a:t>がハードルになっていると考え、</a:t>
            </a:r>
            <a:r>
              <a:rPr lang="en-US" sz="1300" b="0" u="none" strike="noStrike" dirty="0">
                <a:solidFill>
                  <a:schemeClr val="dk1">
                    <a:lumMod val="65000"/>
                    <a:lumOff val="35000"/>
                  </a:schemeClr>
                </a:solidFill>
                <a:effectLst/>
                <a:uFillTx/>
                <a:latin typeface="メイリオ"/>
                <a:ea typeface="メイリオ"/>
              </a:rPr>
              <a:t>100</a:t>
            </a:r>
            <a:r>
              <a:rPr lang="ja-JP" sz="1300" b="0" u="none" strike="noStrike" dirty="0">
                <a:solidFill>
                  <a:schemeClr val="dk1">
                    <a:lumMod val="65000"/>
                    <a:lumOff val="35000"/>
                  </a:schemeClr>
                </a:solidFill>
                <a:effectLst/>
                <a:uFillTx/>
                <a:latin typeface="メイリオ"/>
                <a:ea typeface="メイリオ"/>
              </a:rPr>
              <a:t>円チェッカーを前面に出します。</a:t>
            </a:r>
            <a:endParaRPr lang="en-US" sz="1300" b="0" u="none" strike="noStrike" dirty="0">
              <a:solidFill>
                <a:srgbClr val="000000"/>
              </a:solidFill>
              <a:effectLst/>
              <a:uFillTx/>
              <a:latin typeface="Arial"/>
            </a:endParaRPr>
          </a:p>
          <a:p>
            <a:pPr algn="ctr" defTabSz="914400">
              <a:lnSpc>
                <a:spcPct val="100000"/>
              </a:lnSpc>
            </a:pPr>
            <a:r>
              <a:rPr lang="en-US" sz="1100" b="0" u="none" strike="noStrike" dirty="0">
                <a:solidFill>
                  <a:srgbClr val="595959"/>
                </a:solidFill>
                <a:effectLst/>
                <a:uFillTx/>
                <a:latin typeface="メイリオ"/>
                <a:ea typeface="メイリオ"/>
              </a:rPr>
              <a:t>※</a:t>
            </a:r>
            <a:r>
              <a:rPr lang="en-US" sz="1100" b="0" u="none" strike="noStrike" dirty="0" err="1">
                <a:solidFill>
                  <a:srgbClr val="595959"/>
                </a:solidFill>
                <a:effectLst/>
                <a:uFillTx/>
                <a:latin typeface="メイリオ"/>
                <a:ea typeface="メイリオ"/>
              </a:rPr>
              <a:t>試算の定義：物件を送る方の割合＝問い合わせ</a:t>
            </a:r>
            <a:r>
              <a:rPr lang="en-US" sz="1100" b="0" u="none" strike="noStrike" dirty="0">
                <a:solidFill>
                  <a:srgbClr val="595959"/>
                </a:solidFill>
                <a:effectLst/>
                <a:uFillTx/>
                <a:latin typeface="メイリオ"/>
                <a:ea typeface="メイリオ"/>
              </a:rPr>
              <a:t>①÷</a:t>
            </a:r>
            <a:r>
              <a:rPr lang="ja-JP" sz="1100" b="0" u="none" strike="noStrike" dirty="0">
                <a:solidFill>
                  <a:srgbClr val="595959"/>
                </a:solidFill>
                <a:effectLst/>
                <a:uFillTx/>
                <a:latin typeface="メイリオ"/>
                <a:ea typeface="メイリオ"/>
              </a:rPr>
              <a:t>新しい友だち／</a:t>
            </a:r>
            <a:r>
              <a:rPr lang="en-US" sz="1100" b="0" u="none" strike="noStrike" dirty="0">
                <a:solidFill>
                  <a:srgbClr val="595959"/>
                </a:solidFill>
                <a:effectLst/>
                <a:uFillTx/>
                <a:latin typeface="メイリオ"/>
                <a:ea typeface="メイリオ"/>
              </a:rPr>
              <a:t>CVR</a:t>
            </a:r>
            <a:r>
              <a:rPr lang="ja-JP" sz="1100" b="0" u="none" strike="noStrike" dirty="0">
                <a:solidFill>
                  <a:srgbClr val="595959"/>
                </a:solidFill>
                <a:effectLst/>
                <a:uFillTx/>
                <a:latin typeface="メイリオ"/>
                <a:ea typeface="メイリオ"/>
              </a:rPr>
              <a:t>＝問い合わせ②</a:t>
            </a:r>
            <a:r>
              <a:rPr lang="en-US" sz="1100" b="0" u="none" strike="noStrike" dirty="0">
                <a:solidFill>
                  <a:srgbClr val="595959"/>
                </a:solidFill>
                <a:effectLst/>
                <a:uFillTx/>
                <a:latin typeface="メイリオ"/>
                <a:ea typeface="メイリオ"/>
              </a:rPr>
              <a:t>÷</a:t>
            </a:r>
            <a:r>
              <a:rPr lang="ja-JP" sz="1100" b="0" u="none" strike="noStrike" dirty="0">
                <a:solidFill>
                  <a:srgbClr val="595959"/>
                </a:solidFill>
                <a:effectLst/>
                <a:uFillTx/>
                <a:latin typeface="メイリオ"/>
                <a:ea typeface="メイリオ"/>
              </a:rPr>
              <a:t>配信のクリック数</a:t>
            </a:r>
            <a:endParaRPr lang="en-US" sz="1100" b="0" u="none" strike="noStrike" dirty="0">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Google Shape;752;p28"/>
          <p:cNvSpPr/>
          <p:nvPr/>
        </p:nvSpPr>
        <p:spPr>
          <a:xfrm>
            <a:off x="549000" y="138240"/>
            <a:ext cx="702720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chemeClr val="dk1">
                    <a:lumMod val="50000"/>
                    <a:lumOff val="50000"/>
                  </a:schemeClr>
                </a:solidFill>
                <a:effectLst/>
                <a:uFillTx/>
                <a:latin typeface="Meiryo"/>
                <a:ea typeface="Meiryo"/>
              </a:rPr>
              <a:t>LINE</a:t>
            </a:r>
            <a:r>
              <a:rPr lang="ja-JP" sz="1600" b="1" u="none" strike="noStrike">
                <a:solidFill>
                  <a:schemeClr val="dk1">
                    <a:lumMod val="50000"/>
                    <a:lumOff val="50000"/>
                  </a:schemeClr>
                </a:solidFill>
                <a:effectLst/>
                <a:uFillTx/>
                <a:latin typeface="Meiryo"/>
                <a:ea typeface="Meiryo"/>
              </a:rPr>
              <a:t>施策における重要な考え方</a:t>
            </a:r>
            <a:endParaRPr lang="en-US" sz="1600" b="0" u="none" strike="noStrike">
              <a:solidFill>
                <a:srgbClr val="000000"/>
              </a:solidFill>
              <a:effectLst/>
              <a:uFillTx/>
              <a:latin typeface="Arial"/>
            </a:endParaRPr>
          </a:p>
        </p:txBody>
      </p:sp>
      <p:sp>
        <p:nvSpPr>
          <p:cNvPr id="295" name="正方形/長方形 6"/>
          <p:cNvSpPr/>
          <p:nvPr/>
        </p:nvSpPr>
        <p:spPr>
          <a:xfrm>
            <a:off x="275040" y="1728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既存友だち</a:t>
            </a:r>
            <a:r>
              <a:rPr lang="ja-JP" sz="2400" b="0" u="none" strike="noStrike">
                <a:solidFill>
                  <a:schemeClr val="dk1">
                    <a:lumMod val="50000"/>
                    <a:lumOff val="50000"/>
                  </a:schemeClr>
                </a:solidFill>
                <a:effectLst/>
                <a:uFillTx/>
                <a:latin typeface="メイリオ"/>
                <a:ea typeface="メイリオ"/>
              </a:rPr>
              <a:t>のメッセージ配信を拡大＆検証し</a:t>
            </a:r>
            <a:endParaRPr lang="en-US" sz="2400" b="0" u="none" strike="noStrike">
              <a:solidFill>
                <a:srgbClr val="000000"/>
              </a:solidFill>
              <a:effectLst/>
              <a:uFillTx/>
              <a:latin typeface="Arial"/>
            </a:endParaRPr>
          </a:p>
          <a:p>
            <a:pPr algn="ctr" defTabSz="914400">
              <a:lnSpc>
                <a:spcPct val="100000"/>
              </a:lnSpc>
            </a:pPr>
            <a:r>
              <a:rPr lang="ja-JP" sz="2400" b="0" u="none" strike="noStrike">
                <a:solidFill>
                  <a:schemeClr val="dk1">
                    <a:lumMod val="50000"/>
                    <a:lumOff val="50000"/>
                  </a:schemeClr>
                </a:solidFill>
                <a:effectLst/>
                <a:uFillTx/>
                <a:latin typeface="メイリオ"/>
                <a:ea typeface="メイリオ"/>
              </a:rPr>
              <a:t>課金対効果を向上する</a:t>
            </a:r>
            <a:endParaRPr lang="en-US" sz="2400" b="0" u="none" strike="noStrike">
              <a:solidFill>
                <a:srgbClr val="000000"/>
              </a:solidFill>
              <a:effectLst/>
              <a:uFillTx/>
              <a:latin typeface="Arial"/>
            </a:endParaRPr>
          </a:p>
        </p:txBody>
      </p:sp>
      <p:sp>
        <p:nvSpPr>
          <p:cNvPr id="296" name="正方形/長方形 8"/>
          <p:cNvSpPr/>
          <p:nvPr/>
        </p:nvSpPr>
        <p:spPr>
          <a:xfrm>
            <a:off x="275040" y="3222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新規友だち</a:t>
            </a:r>
            <a:r>
              <a:rPr lang="ja-JP" sz="2400" b="0" u="none" strike="noStrike">
                <a:solidFill>
                  <a:schemeClr val="dk1">
                    <a:lumMod val="50000"/>
                    <a:lumOff val="50000"/>
                  </a:schemeClr>
                </a:solidFill>
                <a:effectLst/>
                <a:uFillTx/>
                <a:latin typeface="メイリオ"/>
                <a:ea typeface="メイリオ"/>
              </a:rPr>
              <a:t>の追加動線を拡大</a:t>
            </a:r>
            <a:r>
              <a:rPr lang="en-US" sz="2400" b="0" u="none" strike="noStrike">
                <a:solidFill>
                  <a:schemeClr val="dk1">
                    <a:lumMod val="50000"/>
                    <a:lumOff val="50000"/>
                  </a:schemeClr>
                </a:solidFill>
                <a:effectLst/>
                <a:uFillTx/>
                <a:latin typeface="メイリオ"/>
                <a:ea typeface="メイリオ"/>
              </a:rPr>
              <a:t>&amp;</a:t>
            </a:r>
            <a:r>
              <a:rPr lang="ja-JP" sz="2400" b="0" u="none" strike="noStrike">
                <a:solidFill>
                  <a:schemeClr val="dk1">
                    <a:lumMod val="50000"/>
                    <a:lumOff val="50000"/>
                  </a:schemeClr>
                </a:solidFill>
                <a:effectLst/>
                <a:uFillTx/>
                <a:latin typeface="メイリオ"/>
                <a:ea typeface="メイリオ"/>
              </a:rPr>
              <a:t>整備し</a:t>
            </a:r>
            <a:endParaRPr lang="en-US" sz="2400" b="0" u="none" strike="noStrike">
              <a:solidFill>
                <a:srgbClr val="000000"/>
              </a:solidFill>
              <a:effectLst/>
              <a:uFillTx/>
              <a:latin typeface="Arial"/>
            </a:endParaRPr>
          </a:p>
          <a:p>
            <a:pPr algn="ctr" defTabSz="914400">
              <a:lnSpc>
                <a:spcPct val="100000"/>
              </a:lnSpc>
            </a:pPr>
            <a:r>
              <a:rPr lang="ja-JP" sz="2400" b="0" u="none" strike="noStrike">
                <a:solidFill>
                  <a:schemeClr val="dk1">
                    <a:lumMod val="50000"/>
                    <a:lumOff val="50000"/>
                  </a:schemeClr>
                </a:solidFill>
                <a:effectLst/>
                <a:uFillTx/>
                <a:latin typeface="メイリオ"/>
                <a:ea typeface="メイリオ"/>
              </a:rPr>
              <a:t>見込みの高いユーザーのリードを獲得する</a:t>
            </a:r>
            <a:endParaRPr lang="en-US" sz="2400" b="0" u="none" strike="noStrike">
              <a:solidFill>
                <a:srgbClr val="000000"/>
              </a:solidFill>
              <a:effectLst/>
              <a:uFillTx/>
              <a:latin typeface="Arial"/>
            </a:endParaRPr>
          </a:p>
        </p:txBody>
      </p:sp>
      <p:cxnSp>
        <p:nvCxnSpPr>
          <p:cNvPr id="297" name="直線コネクタ 9"/>
          <p:cNvCxnSpPr/>
          <p:nvPr/>
        </p:nvCxnSpPr>
        <p:spPr>
          <a:xfrm>
            <a:off x="1519560" y="1451880"/>
            <a:ext cx="6579360" cy="360"/>
          </a:xfrm>
          <a:prstGeom prst="straightConnector1">
            <a:avLst/>
          </a:prstGeom>
          <a:ln w="12700">
            <a:solidFill>
              <a:srgbClr val="4A7EBB"/>
            </a:solidFill>
            <a:round/>
          </a:ln>
        </p:spPr>
      </p:cxnSp>
      <p:sp>
        <p:nvSpPr>
          <p:cNvPr id="298" name="楕円 12"/>
          <p:cNvSpPr/>
          <p:nvPr/>
        </p:nvSpPr>
        <p:spPr>
          <a:xfrm>
            <a:off x="3756240" y="750960"/>
            <a:ext cx="2021760" cy="589320"/>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lumMod val="50000"/>
                  <a:lumOff val="50000"/>
                </a:schemeClr>
              </a:solidFill>
              <a:effectLst/>
              <a:uFillTx/>
              <a:latin typeface="Calibri"/>
            </a:endParaRPr>
          </a:p>
        </p:txBody>
      </p:sp>
      <p:sp>
        <p:nvSpPr>
          <p:cNvPr id="299" name="正方形/長方形 13"/>
          <p:cNvSpPr/>
          <p:nvPr/>
        </p:nvSpPr>
        <p:spPr>
          <a:xfrm>
            <a:off x="1502640" y="842760"/>
            <a:ext cx="6647760" cy="46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アカウント効果を</a:t>
            </a:r>
            <a:r>
              <a:rPr lang="ja-JP" sz="2400" b="1" u="none" strike="noStrike">
                <a:solidFill>
                  <a:schemeClr val="dk1"/>
                </a:solidFill>
                <a:effectLst/>
                <a:uFillTx/>
                <a:latin typeface="メイリオ"/>
                <a:ea typeface="メイリオ"/>
              </a:rPr>
              <a:t>最大化する</a:t>
            </a:r>
            <a:r>
              <a:rPr lang="ja-JP" sz="2400" b="0" u="none" strike="noStrike">
                <a:solidFill>
                  <a:schemeClr val="dk1">
                    <a:lumMod val="50000"/>
                    <a:lumOff val="50000"/>
                  </a:schemeClr>
                </a:solidFill>
                <a:effectLst/>
                <a:uFillTx/>
                <a:latin typeface="メイリオ"/>
                <a:ea typeface="メイリオ"/>
              </a:rPr>
              <a:t>ためには・・・？</a:t>
            </a:r>
            <a:endParaRPr lang="en-US" sz="2400" b="0" u="none" strike="noStrike">
              <a:solidFill>
                <a:srgbClr val="000000"/>
              </a:solidFill>
              <a:effectLst/>
              <a:uFillTx/>
              <a:latin typeface="Arial"/>
            </a:endParaRPr>
          </a:p>
        </p:txBody>
      </p:sp>
      <p:sp>
        <p:nvSpPr>
          <p:cNvPr id="300" name="下矢印 1"/>
          <p:cNvSpPr/>
          <p:nvPr/>
        </p:nvSpPr>
        <p:spPr>
          <a:xfrm>
            <a:off x="3379680" y="4715640"/>
            <a:ext cx="3195720" cy="421200"/>
          </a:xfrm>
          <a:prstGeom prst="downArrow">
            <a:avLst>
              <a:gd name="adj1" fmla="val 50000"/>
              <a:gd name="adj2" fmla="val 52758"/>
            </a:avLst>
          </a:prstGeom>
          <a:solidFill>
            <a:schemeClr val="bg1">
              <a:lumMod val="95000"/>
            </a:schemeClr>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lumMod val="50000"/>
                  <a:lumOff val="50000"/>
                </a:schemeClr>
              </a:solidFill>
              <a:effectLst/>
              <a:uFillTx/>
              <a:latin typeface="Calibri"/>
            </a:endParaRPr>
          </a:p>
        </p:txBody>
      </p:sp>
      <p:sp>
        <p:nvSpPr>
          <p:cNvPr id="301" name="正方形/長方形 18"/>
          <p:cNvSpPr/>
          <p:nvPr/>
        </p:nvSpPr>
        <p:spPr>
          <a:xfrm>
            <a:off x="275040" y="5239800"/>
            <a:ext cx="9355680" cy="86688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0" u="none" strike="noStrike">
                <a:solidFill>
                  <a:schemeClr val="dk1">
                    <a:lumMod val="50000"/>
                    <a:lumOff val="50000"/>
                  </a:schemeClr>
                </a:solidFill>
                <a:effectLst/>
                <a:uFillTx/>
                <a:latin typeface="メイリオ"/>
                <a:ea typeface="メイリオ"/>
              </a:rPr>
              <a:t>WEB</a:t>
            </a:r>
            <a:r>
              <a:rPr lang="ja-JP" sz="2400" b="0" u="none" strike="noStrike">
                <a:solidFill>
                  <a:schemeClr val="dk1">
                    <a:lumMod val="50000"/>
                    <a:lumOff val="50000"/>
                  </a:schemeClr>
                </a:solidFill>
                <a:effectLst/>
                <a:uFillTx/>
                <a:latin typeface="メイリオ"/>
                <a:ea typeface="メイリオ"/>
              </a:rPr>
              <a:t>サイト上情報と連携させ、配信効果を数値化する</a:t>
            </a:r>
            <a:endParaRPr lang="en-US" sz="24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0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0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305" name="Conclusion"/>
          <p:cNvSpPr/>
          <p:nvPr/>
        </p:nvSpPr>
        <p:spPr>
          <a:xfrm>
            <a:off x="380880" y="5248800"/>
            <a:ext cx="9143640" cy="1243080"/>
          </a:xfrm>
          <a:prstGeom prst="rect">
            <a:avLst/>
          </a:prstGeom>
          <a:solidFill>
            <a:srgbClr val="F0F2F7"/>
          </a:solidFill>
          <a:ln w="0">
            <a:noFill/>
          </a:ln>
        </p:spPr>
        <p:style>
          <a:lnRef idx="0">
            <a:scrgbClr r="0" g="0" b="0"/>
          </a:lnRef>
          <a:fillRef idx="0">
            <a:scrgbClr r="0" g="0" b="0"/>
          </a:fillRef>
          <a:effectRef idx="0">
            <a:scrgbClr r="0" g="0" b="0"/>
          </a:effectRef>
          <a:fontRef idx="minor"/>
        </p:style>
        <p:txBody>
          <a:bodyPr lIns="177840" tIns="127080" rIns="177840" bIns="127080" anchor="t">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結論</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最重要課題は、友だち追加後の問い合わせ獲得（⑤リード有効化）です。あいさつ・リッチメニュー・ステップ配信で「物件を送る」まで案内します。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サイト離脱対策は、離脱防止ポップアップ・</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ボタンで新しい友だちを増やす課題です。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6" name="Card1_Num"/>
          <p:cNvSpPr/>
          <p:nvPr/>
        </p:nvSpPr>
        <p:spPr>
          <a:xfrm>
            <a:off x="380880" y="1115640"/>
            <a:ext cx="2920680" cy="52992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307" name="Card1_Title"/>
          <p:cNvSpPr/>
          <p:nvPr/>
        </p:nvSpPr>
        <p:spPr>
          <a:xfrm>
            <a:off x="380880" y="1645920"/>
            <a:ext cx="2920680" cy="43848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サイト訪問者の取りこぼし</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8" name="Card1_Body"/>
          <p:cNvSpPr/>
          <p:nvPr/>
        </p:nvSpPr>
        <p:spPr>
          <a:xfrm>
            <a:off x="38088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・サイトの月間訪問者（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UU</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1,737</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。広告は出しておらず、友だちの入口はサイトの「</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でお問い合わせ」ボタンだけ</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・問い合わせずにサイトを離れる方へ、もう一度案内する手段がない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・友だちは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1,241</a:t>
            </a:r>
            <a:r>
              <a:rPr lang="ja-JP" sz="1400" b="0" u="none" strike="noStrike">
                <a:solidFill>
                  <a:srgbClr val="333333"/>
                </a:solidFill>
                <a:effectLst/>
                <a:uFillTx/>
                <a:latin typeface="メイリオ" panose="020B0604030504040204" pitchFamily="50" charset="-128"/>
                <a:ea typeface="メイリオ" panose="020B0604030504040204" pitchFamily="50" charset="-128"/>
              </a:rPr>
              <a:t>人で、増やす仕組みが少ない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9" name="Card2_Num"/>
          <p:cNvSpPr/>
          <p:nvPr/>
        </p:nvSpPr>
        <p:spPr>
          <a:xfrm>
            <a:off x="3492360" y="1115640"/>
            <a:ext cx="2920680" cy="52992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310" name="Card2_Title"/>
          <p:cNvSpPr/>
          <p:nvPr/>
        </p:nvSpPr>
        <p:spPr>
          <a:xfrm>
            <a:off x="3492360" y="1645920"/>
            <a:ext cx="2920680" cy="43848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問い合わせへの心理的ハードル</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1" name="Card2_Body"/>
          <p:cNvSpPr/>
          <p:nvPr/>
        </p:nvSpPr>
        <p:spPr>
          <a:xfrm>
            <a:off x="349236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・「どの物件が対象か」「本当に</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円になるか」が分からないと、物件を送るのをためらう可能性がある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・内見予約のやり取りは、電話（</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33.4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％）よりメール・</a:t>
            </a:r>
            <a:r>
              <a:rPr lang="en-US" sz="1400" b="0" u="none" strike="noStrike">
                <a:solidFill>
                  <a:srgbClr val="333333"/>
                </a:solidFill>
                <a:effectLst/>
                <a:uFillTx/>
                <a:latin typeface="メイリオ" panose="020B0604030504040204" pitchFamily="50" charset="-128"/>
                <a:ea typeface="メイリオ" panose="020B0604030504040204" pitchFamily="50" charset="-128"/>
              </a:rPr>
              <a:t>SMS</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52.6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％）を希望する方が多い（出典は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ページ）</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2" name="Card3_Num"/>
          <p:cNvSpPr/>
          <p:nvPr/>
        </p:nvSpPr>
        <p:spPr>
          <a:xfrm>
            <a:off x="6603840" y="1115640"/>
            <a:ext cx="2920680" cy="52992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3" name="Card3_Title"/>
          <p:cNvSpPr/>
          <p:nvPr/>
        </p:nvSpPr>
        <p:spPr>
          <a:xfrm>
            <a:off x="6603840" y="1645920"/>
            <a:ext cx="2920680" cy="43848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友だち追加後の配信・導線不足</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4" name="Card3_Body"/>
          <p:cNvSpPr/>
          <p:nvPr/>
        </p:nvSpPr>
        <p:spPr>
          <a:xfrm>
            <a:off x="660384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・リッチメニューが未設置で、友だち追加後に次の行動へ進むボタンがない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・あいさつは物件名・</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の送信のお願いが中心で、</a:t>
            </a:r>
            <a:br>
              <a:rPr sz="1400">
                <a:latin typeface="メイリオ" panose="020B0604030504040204" pitchFamily="50" charset="-128"/>
                <a:ea typeface="メイリオ" panose="020B0604030504040204" pitchFamily="50" charset="-128"/>
              </a:rPr>
            </a:br>
            <a:r>
              <a:rPr lang="ja-JP" sz="1400" b="0" u="none" strike="noStrike">
                <a:solidFill>
                  <a:srgbClr val="333333"/>
                </a:solidFill>
                <a:effectLst/>
                <a:uFillTx/>
                <a:latin typeface="メイリオ" panose="020B0604030504040204" pitchFamily="50" charset="-128"/>
                <a:ea typeface="メイリオ" panose="020B0604030504040204" pitchFamily="50" charset="-128"/>
              </a:rPr>
              <a:t>送るメリットや安心材料が伝わりにくい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・物件を送らなかった方へ、続けて案内する配信の設計が必要</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5" name="課題の区分：新規友だち獲得"/>
          <p:cNvSpPr/>
          <p:nvPr/>
        </p:nvSpPr>
        <p:spPr>
          <a:xfrm>
            <a:off x="384120" y="658440"/>
            <a:ext cx="2916720" cy="383760"/>
          </a:xfrm>
          <a:prstGeom prst="rect">
            <a:avLst/>
          </a:prstGeom>
          <a:solidFill>
            <a:srgbClr val="FFFFFF"/>
          </a:solidFill>
          <a:ln w="15875">
            <a:solidFill>
              <a:srgbClr val="1F285A"/>
            </a:solidFill>
            <a:round/>
          </a:ln>
        </p:spPr>
        <p:style>
          <a:lnRef idx="0">
            <a:scrgbClr r="0" g="0" b="0"/>
          </a:lnRef>
          <a:fillRef idx="0">
            <a:scrgbClr r="0" g="0" b="0"/>
          </a:fillRef>
          <a:effectRef idx="0">
            <a:scrgbClr r="0" g="0" b="0"/>
          </a:effectRef>
          <a:fontRef idx="minor"/>
        </p:style>
        <p:txBody>
          <a:bodyPr lIns="27360" tIns="18360" rIns="27360" bIns="18360" anchor="ctr">
            <a:noAutofit/>
          </a:bodyPr>
          <a:lstStyle/>
          <a:p>
            <a:pPr algn="ctr" defTabSz="914400">
              <a:lnSpc>
                <a:spcPct val="100000"/>
              </a:lnSpc>
            </a:pPr>
            <a:r>
              <a:rPr lang="ja-JP" sz="1200" b="1" u="none" strike="noStrike" dirty="0">
                <a:solidFill>
                  <a:srgbClr val="1F285A"/>
                </a:solidFill>
                <a:effectLst/>
                <a:uFillTx/>
                <a:latin typeface="メイリオ"/>
                <a:ea typeface="メイリオ"/>
              </a:rPr>
              <a:t>新規友だち獲得（②サイト離脱対策）</a:t>
            </a:r>
            <a:endParaRPr lang="en-US" sz="1200" b="0" u="none" strike="noStrike" dirty="0">
              <a:solidFill>
                <a:srgbClr val="000000"/>
              </a:solidFill>
              <a:effectLst/>
              <a:uFillTx/>
              <a:latin typeface="Arial"/>
            </a:endParaRPr>
          </a:p>
        </p:txBody>
      </p:sp>
      <p:sp>
        <p:nvSpPr>
          <p:cNvPr id="316" name="課題の区分：最重要（リード有効化）"/>
          <p:cNvSpPr/>
          <p:nvPr/>
        </p:nvSpPr>
        <p:spPr>
          <a:xfrm>
            <a:off x="3493080" y="658440"/>
            <a:ext cx="6025680" cy="38376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45720" tIns="18360" rIns="45720" bIns="18360" anchor="ctr">
            <a:noAutofit/>
          </a:bodyPr>
          <a:lstStyle/>
          <a:p>
            <a:pPr algn="ctr" defTabSz="914400">
              <a:lnSpc>
                <a:spcPct val="100000"/>
              </a:lnSpc>
            </a:pPr>
            <a:r>
              <a:rPr lang="ja-JP" sz="1400" b="1" u="none" strike="noStrike">
                <a:solidFill>
                  <a:srgbClr val="FFFFFF"/>
                </a:solidFill>
                <a:effectLst/>
                <a:uFillTx/>
                <a:latin typeface="メイリオ"/>
                <a:ea typeface="メイリオ"/>
              </a:rPr>
              <a:t>最重要課題：</a:t>
            </a:r>
            <a:r>
              <a:rPr lang="en-US" sz="1400" b="1" u="none" strike="noStrike">
                <a:solidFill>
                  <a:srgbClr val="FFFFFF"/>
                </a:solidFill>
                <a:effectLst/>
                <a:uFillTx/>
                <a:latin typeface="メイリオ"/>
                <a:ea typeface="メイリオ"/>
              </a:rPr>
              <a:t>LINE</a:t>
            </a:r>
            <a:r>
              <a:rPr lang="ja-JP" sz="1400" b="1" u="none" strike="noStrike">
                <a:solidFill>
                  <a:srgbClr val="FFFFFF"/>
                </a:solidFill>
                <a:effectLst/>
                <a:uFillTx/>
                <a:latin typeface="メイリオ"/>
                <a:ea typeface="メイリオ"/>
              </a:rPr>
              <a:t>友だち追加後の問い合わせ転換（⑤リード有効化）</a:t>
            </a:r>
            <a:endParaRPr lang="en-US" sz="1400" b="0" u="none" strike="noStrike">
              <a:solidFill>
                <a:srgbClr val="FFFFFF"/>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1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19"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320" name="二等辺三角形 24"/>
          <p:cNvSpPr/>
          <p:nvPr/>
        </p:nvSpPr>
        <p:spPr>
          <a:xfrm rot="10800000">
            <a:off x="1014120" y="2766960"/>
            <a:ext cx="7964640" cy="486360"/>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21" name="正方形/長方形 25"/>
          <p:cNvSpPr/>
          <p:nvPr/>
        </p:nvSpPr>
        <p:spPr>
          <a:xfrm>
            <a:off x="504000" y="775080"/>
            <a:ext cx="8897760" cy="297360"/>
          </a:xfrm>
          <a:prstGeom prst="rect">
            <a:avLst/>
          </a:prstGeom>
          <a:solidFill>
            <a:schemeClr val="tx2">
              <a:lumMod val="75000"/>
            </a:schemeClr>
          </a:solid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tIns="0" rIns="90000" bIns="0" anchor="ctr">
            <a:noAutofit/>
          </a:bodyPr>
          <a:lstStyle/>
          <a:p>
            <a:pPr defTabSz="914400">
              <a:lnSpc>
                <a:spcPct val="100000"/>
              </a:lnSpc>
              <a:tabLst>
                <a:tab pos="0" algn="l"/>
              </a:tabLst>
            </a:pPr>
            <a:r>
              <a:rPr lang="ja-JP" sz="1800" b="1" u="none" strike="noStrike">
                <a:solidFill>
                  <a:schemeClr val="lt1"/>
                </a:solidFill>
                <a:effectLst/>
                <a:uFillTx/>
                <a:latin typeface="メイリオ"/>
                <a:ea typeface="メイリオ"/>
              </a:rPr>
              <a:t>プロモーション目的</a:t>
            </a:r>
            <a:endParaRPr lang="en-US" sz="1800" b="0" u="none" strike="noStrike">
              <a:solidFill>
                <a:srgbClr val="FFFFFF"/>
              </a:solidFill>
              <a:effectLst/>
              <a:uFillTx/>
              <a:latin typeface="Arial"/>
            </a:endParaRPr>
          </a:p>
        </p:txBody>
      </p:sp>
      <p:sp>
        <p:nvSpPr>
          <p:cNvPr id="322" name="正方形/長方形 26"/>
          <p:cNvSpPr/>
          <p:nvPr/>
        </p:nvSpPr>
        <p:spPr>
          <a:xfrm>
            <a:off x="504000" y="1090800"/>
            <a:ext cx="8897760" cy="524880"/>
          </a:xfrm>
          <a:prstGeom prst="rect">
            <a:avLst/>
          </a:prstGeom>
          <a:no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1" u="none" strike="noStrike" dirty="0">
                <a:solidFill>
                  <a:srgbClr val="FF3300"/>
                </a:solidFill>
                <a:effectLst/>
                <a:uFillTx/>
                <a:latin typeface="メイリオ"/>
                <a:ea typeface="メイリオ"/>
              </a:rPr>
              <a:t>LINE</a:t>
            </a:r>
            <a:r>
              <a:rPr lang="zh-CN" sz="2400" b="1" u="none" strike="noStrike" dirty="0">
                <a:solidFill>
                  <a:srgbClr val="FF3300"/>
                </a:solidFill>
                <a:effectLst/>
                <a:uFillTx/>
                <a:latin typeface="メイリオ"/>
                <a:ea typeface="メイリオ"/>
              </a:rPr>
              <a:t>経由の物件問い合わせを増やす</a:t>
            </a:r>
            <a:endParaRPr lang="en-US" sz="2400" b="0" u="none" strike="noStrike" dirty="0">
              <a:solidFill>
                <a:srgbClr val="000000"/>
              </a:solidFill>
              <a:effectLst/>
              <a:uFillTx/>
              <a:latin typeface="Arial"/>
            </a:endParaRPr>
          </a:p>
        </p:txBody>
      </p:sp>
      <p:sp>
        <p:nvSpPr>
          <p:cNvPr id="323" name="テキスト ボックス 4"/>
          <p:cNvSpPr/>
          <p:nvPr/>
        </p:nvSpPr>
        <p:spPr>
          <a:xfrm>
            <a:off x="3893040" y="2803320"/>
            <a:ext cx="223668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lt1"/>
                </a:solidFill>
                <a:effectLst/>
                <a:uFillTx/>
                <a:latin typeface="メイリオ"/>
                <a:ea typeface="メイリオ"/>
              </a:rPr>
              <a:t>弊社からのご提案</a:t>
            </a:r>
            <a:endParaRPr lang="en-US" sz="1800" b="0" u="none" strike="noStrike">
              <a:solidFill>
                <a:srgbClr val="000000"/>
              </a:solidFill>
              <a:effectLst/>
              <a:uFillTx/>
              <a:latin typeface="Arial"/>
            </a:endParaRPr>
          </a:p>
        </p:txBody>
      </p:sp>
      <p:sp>
        <p:nvSpPr>
          <p:cNvPr id="324" name="正方形/長方形 32"/>
          <p:cNvSpPr/>
          <p:nvPr/>
        </p:nvSpPr>
        <p:spPr>
          <a:xfrm>
            <a:off x="504000" y="1675440"/>
            <a:ext cx="8897760" cy="385560"/>
          </a:xfrm>
          <a:prstGeom prst="rect">
            <a:avLst/>
          </a:prstGeom>
          <a:solidFill>
            <a:schemeClr val="tx2"/>
          </a:solidFill>
          <a:ln>
            <a:solidFill>
              <a:srgbClr val="1F497D"/>
            </a:solidFill>
            <a:round/>
          </a:ln>
        </p:spPr>
        <p:style>
          <a:lnRef idx="2">
            <a:schemeClr val="accent1">
              <a:shade val="50000"/>
            </a:schemeClr>
          </a:lnRef>
          <a:fillRef idx="1">
            <a:schemeClr val="accent1"/>
          </a:fillRef>
          <a:effectRef idx="0">
            <a:schemeClr val="accent1"/>
          </a:effectRef>
          <a:fontRef idx="minor"/>
        </p:style>
        <p:txBody>
          <a:bodyPr lIns="90000" tIns="18360" rIns="90000" bIns="18360" anchor="ctr">
            <a:noAutofit/>
          </a:bodyPr>
          <a:lstStyle/>
          <a:p>
            <a:pPr defTabSz="914400">
              <a:lnSpc>
                <a:spcPct val="100000"/>
              </a:lnSpc>
              <a:tabLst>
                <a:tab pos="0" algn="l"/>
              </a:tabLst>
            </a:pPr>
            <a:r>
              <a:rPr lang="ja-JP" sz="1800" b="1" u="none" strike="noStrike">
                <a:solidFill>
                  <a:schemeClr val="lt1"/>
                </a:solidFill>
                <a:effectLst/>
                <a:uFillTx/>
                <a:latin typeface="メイリオ"/>
                <a:ea typeface="メイリオ"/>
              </a:rPr>
              <a:t>配信目標</a:t>
            </a:r>
            <a:endParaRPr lang="en-US" sz="1800" b="0" u="none" strike="noStrike">
              <a:solidFill>
                <a:srgbClr val="FFFFFF"/>
              </a:solidFill>
              <a:effectLst/>
              <a:uFillTx/>
              <a:latin typeface="Arial"/>
            </a:endParaRPr>
          </a:p>
        </p:txBody>
      </p:sp>
      <p:sp>
        <p:nvSpPr>
          <p:cNvPr id="325" name="正方形/長方形 33"/>
          <p:cNvSpPr/>
          <p:nvPr/>
        </p:nvSpPr>
        <p:spPr>
          <a:xfrm>
            <a:off x="504000" y="2077560"/>
            <a:ext cx="8897760" cy="625680"/>
          </a:xfrm>
          <a:prstGeom prst="rect">
            <a:avLst/>
          </a:prstGeom>
          <a:noFill/>
          <a:ln>
            <a:solidFill>
              <a:srgbClr val="4F81BD"/>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000" b="1" u="none" strike="noStrike" dirty="0">
                <a:solidFill>
                  <a:srgbClr val="FF3300"/>
                </a:solidFill>
                <a:effectLst/>
                <a:uFillTx/>
                <a:latin typeface="メイリオ"/>
                <a:ea typeface="メイリオ"/>
              </a:rPr>
              <a:t>LINE</a:t>
            </a:r>
            <a:r>
              <a:rPr lang="ja-JP" sz="2000" b="1" u="none" strike="noStrike" dirty="0">
                <a:solidFill>
                  <a:srgbClr val="FF3300"/>
                </a:solidFill>
                <a:effectLst/>
                <a:uFillTx/>
                <a:latin typeface="メイリオ"/>
                <a:ea typeface="メイリオ"/>
              </a:rPr>
              <a:t>経由の問い合わせ </a:t>
            </a:r>
            <a:r>
              <a:rPr lang="en-US" sz="2000" b="1" u="none" strike="noStrike" dirty="0">
                <a:solidFill>
                  <a:srgbClr val="FF3300"/>
                </a:solidFill>
                <a:effectLst/>
                <a:uFillTx/>
                <a:latin typeface="メイリオ"/>
                <a:ea typeface="メイリオ"/>
              </a:rPr>
              <a:t>1</a:t>
            </a:r>
            <a:r>
              <a:rPr lang="ja-JP" sz="2000" b="1" u="none" strike="noStrike" dirty="0">
                <a:solidFill>
                  <a:srgbClr val="FF3300"/>
                </a:solidFill>
                <a:effectLst/>
                <a:uFillTx/>
                <a:latin typeface="メイリオ"/>
                <a:ea typeface="メイリオ"/>
              </a:rPr>
              <a:t>か月目 月</a:t>
            </a:r>
            <a:r>
              <a:rPr lang="en-US" sz="2000" b="1" u="none" strike="noStrike" dirty="0">
                <a:solidFill>
                  <a:srgbClr val="FF3300"/>
                </a:solidFill>
                <a:effectLst/>
                <a:uFillTx/>
                <a:latin typeface="メイリオ"/>
                <a:ea typeface="メイリオ"/>
              </a:rPr>
              <a:t>7</a:t>
            </a:r>
            <a:r>
              <a:rPr lang="ja-JP" sz="2000" b="1" u="none" strike="noStrike" dirty="0">
                <a:solidFill>
                  <a:srgbClr val="FF3300"/>
                </a:solidFill>
                <a:effectLst/>
                <a:uFillTx/>
                <a:latin typeface="メイリオ"/>
                <a:ea typeface="メイリオ"/>
              </a:rPr>
              <a:t>件→</a:t>
            </a:r>
            <a:r>
              <a:rPr lang="en-US" sz="2000" b="1" u="none" strike="noStrike" dirty="0">
                <a:solidFill>
                  <a:srgbClr val="FF3300"/>
                </a:solidFill>
                <a:effectLst/>
                <a:uFillTx/>
                <a:latin typeface="メイリオ"/>
                <a:ea typeface="メイリオ"/>
              </a:rPr>
              <a:t>6</a:t>
            </a:r>
            <a:r>
              <a:rPr lang="ja-JP" sz="2000" b="1" u="none" strike="noStrike" dirty="0">
                <a:solidFill>
                  <a:srgbClr val="FF3300"/>
                </a:solidFill>
                <a:effectLst/>
                <a:uFillTx/>
                <a:latin typeface="メイリオ"/>
                <a:ea typeface="メイリオ"/>
              </a:rPr>
              <a:t>か月目 月</a:t>
            </a:r>
            <a:r>
              <a:rPr lang="en-US" sz="2000" b="1" u="none" strike="noStrike" dirty="0">
                <a:solidFill>
                  <a:srgbClr val="FF3300"/>
                </a:solidFill>
                <a:effectLst/>
                <a:uFillTx/>
                <a:latin typeface="メイリオ"/>
                <a:ea typeface="メイリオ"/>
              </a:rPr>
              <a:t>23</a:t>
            </a:r>
            <a:r>
              <a:rPr lang="ja-JP" sz="2000" b="1" u="none" strike="noStrike" dirty="0">
                <a:solidFill>
                  <a:srgbClr val="FF3300"/>
                </a:solidFill>
                <a:effectLst/>
                <a:uFillTx/>
                <a:latin typeface="メイリオ"/>
                <a:ea typeface="メイリオ"/>
              </a:rPr>
              <a:t>件（試算）</a:t>
            </a:r>
            <a:endParaRPr lang="en-US" sz="2000" b="0" u="none" strike="noStrike" dirty="0">
              <a:solidFill>
                <a:srgbClr val="000000"/>
              </a:solidFill>
              <a:effectLst/>
              <a:uFillTx/>
              <a:latin typeface="Arial"/>
            </a:endParaRPr>
          </a:p>
        </p:txBody>
      </p:sp>
      <p:sp>
        <p:nvSpPr>
          <p:cNvPr id="326" name="正方形/長方形 1"/>
          <p:cNvSpPr/>
          <p:nvPr/>
        </p:nvSpPr>
        <p:spPr>
          <a:xfrm>
            <a:off x="1574640" y="372708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dirty="0">
                <a:solidFill>
                  <a:schemeClr val="dk2">
                    <a:lumMod val="75000"/>
                  </a:schemeClr>
                </a:solidFill>
                <a:effectLst/>
                <a:uFillTx/>
                <a:latin typeface="メイリオ"/>
                <a:ea typeface="メイリオ"/>
              </a:rPr>
              <a:t>離脱防止ポップアップ</a:t>
            </a:r>
            <a:endParaRPr lang="en-US" sz="1400" b="0" u="none" strike="noStrike" dirty="0">
              <a:solidFill>
                <a:srgbClr val="000000"/>
              </a:solidFill>
              <a:effectLst/>
              <a:uFillTx/>
              <a:latin typeface="Arial"/>
            </a:endParaRPr>
          </a:p>
        </p:txBody>
      </p:sp>
      <p:sp>
        <p:nvSpPr>
          <p:cNvPr id="327" name="正方形/長方形 4"/>
          <p:cNvSpPr/>
          <p:nvPr/>
        </p:nvSpPr>
        <p:spPr>
          <a:xfrm>
            <a:off x="1574640" y="438552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dirty="0">
                <a:solidFill>
                  <a:schemeClr val="dk2">
                    <a:lumMod val="75000"/>
                  </a:schemeClr>
                </a:solidFill>
                <a:effectLst/>
                <a:uFillTx/>
                <a:latin typeface="メイリオ"/>
                <a:ea typeface="メイリオ"/>
              </a:rPr>
              <a:t>あいさつメッセージの改善</a:t>
            </a:r>
            <a:endParaRPr lang="en-US" sz="1400" b="0" u="none" strike="noStrike" dirty="0">
              <a:solidFill>
                <a:srgbClr val="000000"/>
              </a:solidFill>
              <a:effectLst/>
              <a:uFillTx/>
              <a:latin typeface="Arial"/>
            </a:endParaRPr>
          </a:p>
        </p:txBody>
      </p:sp>
      <p:sp>
        <p:nvSpPr>
          <p:cNvPr id="328" name="正方形/長方形 5"/>
          <p:cNvSpPr/>
          <p:nvPr/>
        </p:nvSpPr>
        <p:spPr>
          <a:xfrm>
            <a:off x="1574640" y="504396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chemeClr val="dk2">
                    <a:lumMod val="75000"/>
                  </a:schemeClr>
                </a:solidFill>
                <a:effectLst/>
                <a:uFillTx/>
                <a:latin typeface="メイリオ"/>
                <a:ea typeface="メイリオ"/>
              </a:rPr>
              <a:t>リッチメニュー・自動応答</a:t>
            </a:r>
            <a:endParaRPr lang="en-US" sz="1400" b="0" u="none" strike="noStrike">
              <a:solidFill>
                <a:srgbClr val="000000"/>
              </a:solidFill>
              <a:effectLst/>
              <a:uFillTx/>
              <a:latin typeface="Arial"/>
            </a:endParaRPr>
          </a:p>
        </p:txBody>
      </p:sp>
      <p:sp>
        <p:nvSpPr>
          <p:cNvPr id="329" name="正方形/長方形 6"/>
          <p:cNvSpPr/>
          <p:nvPr/>
        </p:nvSpPr>
        <p:spPr>
          <a:xfrm>
            <a:off x="1574640" y="570204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chemeClr val="dk2">
                    <a:lumMod val="75000"/>
                  </a:schemeClr>
                </a:solidFill>
                <a:effectLst/>
                <a:uFillTx/>
                <a:latin typeface="メイリオ"/>
                <a:ea typeface="メイリオ"/>
              </a:rPr>
              <a:t>ステップ配信・企画配信</a:t>
            </a:r>
            <a:endParaRPr lang="en-US" sz="1400" b="0" u="none" strike="noStrike">
              <a:solidFill>
                <a:srgbClr val="000000"/>
              </a:solidFill>
              <a:effectLst/>
              <a:uFillTx/>
              <a:latin typeface="Arial"/>
            </a:endParaRPr>
          </a:p>
        </p:txBody>
      </p:sp>
      <p:sp>
        <p:nvSpPr>
          <p:cNvPr id="330" name="正方形/長方形 7"/>
          <p:cNvSpPr/>
          <p:nvPr/>
        </p:nvSpPr>
        <p:spPr>
          <a:xfrm>
            <a:off x="4336920" y="372708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dirty="0">
                <a:solidFill>
                  <a:schemeClr val="dk2">
                    <a:lumMod val="75000"/>
                  </a:schemeClr>
                </a:solidFill>
                <a:effectLst/>
                <a:uFillTx/>
                <a:latin typeface="メイリオ"/>
                <a:ea typeface="メイリオ"/>
              </a:rPr>
              <a:t>サイトを離れようとした方に、</a:t>
            </a:r>
            <a:r>
              <a:rPr lang="en-US" sz="1400" b="0" u="none" strike="noStrike" dirty="0">
                <a:solidFill>
                  <a:schemeClr val="dk2">
                    <a:lumMod val="75000"/>
                  </a:schemeClr>
                </a:solidFill>
                <a:effectLst/>
                <a:uFillTx/>
                <a:latin typeface="メイリオ"/>
                <a:ea typeface="メイリオ"/>
              </a:rPr>
              <a:t>LINE</a:t>
            </a:r>
            <a:r>
              <a:rPr lang="ja-JP" sz="1400" b="0" u="none" strike="noStrike" dirty="0">
                <a:solidFill>
                  <a:schemeClr val="dk2">
                    <a:lumMod val="75000"/>
                  </a:schemeClr>
                </a:solidFill>
                <a:effectLst/>
                <a:uFillTx/>
                <a:latin typeface="メイリオ"/>
                <a:ea typeface="メイリオ"/>
              </a:rPr>
              <a:t>での物件の問い合わせを案内（</a:t>
            </a:r>
            <a:r>
              <a:rPr lang="en-US" sz="1400" b="0" u="none" strike="noStrike" dirty="0">
                <a:solidFill>
                  <a:schemeClr val="dk2">
                    <a:lumMod val="75000"/>
                  </a:schemeClr>
                </a:solidFill>
                <a:effectLst/>
                <a:uFillTx/>
                <a:latin typeface="メイリオ"/>
                <a:ea typeface="メイリオ"/>
              </a:rPr>
              <a:t>LINE</a:t>
            </a:r>
            <a:r>
              <a:rPr lang="ja-JP" sz="1400" b="0" u="none" strike="noStrike" dirty="0">
                <a:solidFill>
                  <a:schemeClr val="dk2">
                    <a:lumMod val="75000"/>
                  </a:schemeClr>
                </a:solidFill>
                <a:effectLst/>
                <a:uFillTx/>
                <a:latin typeface="メイリオ"/>
                <a:ea typeface="メイリオ"/>
              </a:rPr>
              <a:t>公式アカウントとは別に導入）</a:t>
            </a:r>
            <a:endParaRPr lang="en-US" sz="1400" b="0" u="none" strike="noStrike" dirty="0">
              <a:solidFill>
                <a:srgbClr val="000000"/>
              </a:solidFill>
              <a:effectLst/>
              <a:uFillTx/>
              <a:latin typeface="Arial"/>
            </a:endParaRPr>
          </a:p>
        </p:txBody>
      </p:sp>
      <p:sp>
        <p:nvSpPr>
          <p:cNvPr id="331" name="正方形/長方形 8"/>
          <p:cNvSpPr/>
          <p:nvPr/>
        </p:nvSpPr>
        <p:spPr>
          <a:xfrm>
            <a:off x="4336920" y="438552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物件の送り方に加え、営業電話なし・確認だけでも可などの送る理由と、ボタンを追加</a:t>
            </a:r>
            <a:endParaRPr lang="en-US" sz="1400" b="0" u="none" strike="noStrike">
              <a:solidFill>
                <a:srgbClr val="000000"/>
              </a:solidFill>
              <a:effectLst/>
              <a:uFillTx/>
              <a:latin typeface="Arial"/>
            </a:endParaRPr>
          </a:p>
        </p:txBody>
      </p:sp>
      <p:sp>
        <p:nvSpPr>
          <p:cNvPr id="332" name="正方形/長方形 9"/>
          <p:cNvSpPr/>
          <p:nvPr/>
        </p:nvSpPr>
        <p:spPr>
          <a:xfrm>
            <a:off x="4336920" y="504396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「物件を送る」「</a:t>
            </a:r>
            <a:r>
              <a:rPr lang="en-US" sz="1400" b="0" u="none" strike="noStrike">
                <a:solidFill>
                  <a:schemeClr val="dk2">
                    <a:lumMod val="75000"/>
                  </a:schemeClr>
                </a:solidFill>
                <a:effectLst/>
                <a:uFillTx/>
                <a:latin typeface="メイリオ"/>
                <a:ea typeface="メイリオ"/>
              </a:rPr>
              <a:t>100</a:t>
            </a:r>
            <a:r>
              <a:rPr lang="ja-JP" sz="1400" b="0" u="none" strike="noStrike">
                <a:solidFill>
                  <a:schemeClr val="dk2">
                    <a:lumMod val="75000"/>
                  </a:schemeClr>
                </a:solidFill>
                <a:effectLst/>
                <a:uFillTx/>
                <a:latin typeface="メイリオ"/>
                <a:ea typeface="メイリオ"/>
              </a:rPr>
              <a:t>円になるか確認」などを常に表示。よくある質問はキーワード応答で即時に回答</a:t>
            </a:r>
            <a:endParaRPr lang="en-US" sz="1400" b="0" u="none" strike="noStrike">
              <a:solidFill>
                <a:srgbClr val="000000"/>
              </a:solidFill>
              <a:effectLst/>
              <a:uFillTx/>
              <a:latin typeface="Arial"/>
            </a:endParaRPr>
          </a:p>
        </p:txBody>
      </p:sp>
      <p:sp>
        <p:nvSpPr>
          <p:cNvPr id="333" name="正方形/長方形 10"/>
          <p:cNvSpPr/>
          <p:nvPr/>
        </p:nvSpPr>
        <p:spPr>
          <a:xfrm>
            <a:off x="4336920" y="570204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友だち追加から</a:t>
            </a:r>
            <a:r>
              <a:rPr lang="en-US" sz="1400" b="0" u="none" strike="noStrike">
                <a:solidFill>
                  <a:schemeClr val="dk2">
                    <a:lumMod val="75000"/>
                  </a:schemeClr>
                </a:solidFill>
                <a:effectLst/>
                <a:uFillTx/>
                <a:latin typeface="メイリオ"/>
                <a:ea typeface="メイリオ"/>
              </a:rPr>
              <a:t>14</a:t>
            </a:r>
            <a:r>
              <a:rPr lang="ja-JP" sz="1400" b="0" u="none" strike="noStrike">
                <a:solidFill>
                  <a:schemeClr val="dk2">
                    <a:lumMod val="75000"/>
                  </a:schemeClr>
                </a:solidFill>
                <a:effectLst/>
                <a:uFillTx/>
                <a:latin typeface="メイリオ"/>
                <a:ea typeface="メイリオ"/>
              </a:rPr>
              <a:t>日間・全</a:t>
            </a:r>
            <a:r>
              <a:rPr lang="en-US" sz="1400" b="0" u="none" strike="noStrike">
                <a:solidFill>
                  <a:schemeClr val="dk2">
                    <a:lumMod val="75000"/>
                  </a:schemeClr>
                </a:solidFill>
                <a:effectLst/>
                <a:uFillTx/>
                <a:latin typeface="メイリオ"/>
                <a:ea typeface="メイリオ"/>
              </a:rPr>
              <a:t>10</a:t>
            </a:r>
            <a:r>
              <a:rPr lang="ja-JP" sz="1400" b="0" u="none" strike="noStrike">
                <a:solidFill>
                  <a:schemeClr val="dk2">
                    <a:lumMod val="75000"/>
                  </a:schemeClr>
                </a:solidFill>
                <a:effectLst/>
                <a:uFillTx/>
                <a:latin typeface="メイリオ"/>
                <a:ea typeface="メイリオ"/>
              </a:rPr>
              <a:t>通で物件の送信を後押しし、月</a:t>
            </a:r>
            <a:r>
              <a:rPr lang="en-US" sz="1400" b="0" u="none" strike="noStrike">
                <a:solidFill>
                  <a:schemeClr val="dk2">
                    <a:lumMod val="75000"/>
                  </a:schemeClr>
                </a:solidFill>
                <a:effectLst/>
                <a:uFillTx/>
                <a:latin typeface="メイリオ"/>
                <a:ea typeface="メイリオ"/>
              </a:rPr>
              <a:t>4</a:t>
            </a:r>
            <a:r>
              <a:rPr lang="ja-JP" sz="1400" b="0" u="none" strike="noStrike">
                <a:solidFill>
                  <a:schemeClr val="dk2">
                    <a:lumMod val="75000"/>
                  </a:schemeClr>
                </a:solidFill>
                <a:effectLst/>
                <a:uFillTx/>
                <a:latin typeface="メイリオ"/>
                <a:ea typeface="メイリオ"/>
              </a:rPr>
              <a:t>本の企画配信で今の友だちにも案内</a:t>
            </a:r>
            <a:endParaRPr lang="en-US" sz="1400" b="0" u="none" strike="noStrike">
              <a:solidFill>
                <a:srgbClr val="000000"/>
              </a:solidFill>
              <a:effectLst/>
              <a:uFillTx/>
              <a:latin typeface="Arial"/>
            </a:endParaRPr>
          </a:p>
        </p:txBody>
      </p:sp>
      <p:sp>
        <p:nvSpPr>
          <p:cNvPr id="334" name="正方形/長方形 11"/>
          <p:cNvSpPr/>
          <p:nvPr/>
        </p:nvSpPr>
        <p:spPr>
          <a:xfrm>
            <a:off x="595440" y="372708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400" b="1" u="none" strike="noStrike">
                <a:solidFill>
                  <a:schemeClr val="dk2">
                    <a:lumMod val="75000"/>
                  </a:schemeClr>
                </a:solidFill>
                <a:effectLst/>
                <a:uFillTx/>
                <a:latin typeface="メイリオ"/>
                <a:ea typeface="メイリオ"/>
              </a:rPr>
              <a:t>入口・</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2">
                    <a:lumMod val="75000"/>
                  </a:schemeClr>
                </a:solidFill>
                <a:effectLst/>
                <a:uFillTx/>
                <a:latin typeface="メイリオ"/>
                <a:ea typeface="メイリオ"/>
              </a:rPr>
              <a:t>あいさつ</a:t>
            </a:r>
            <a:endParaRPr lang="en-US" sz="1400" b="0" u="none" strike="noStrike">
              <a:solidFill>
                <a:srgbClr val="000000"/>
              </a:solidFill>
              <a:effectLst/>
              <a:uFillTx/>
              <a:latin typeface="Arial"/>
            </a:endParaRPr>
          </a:p>
        </p:txBody>
      </p:sp>
      <p:sp>
        <p:nvSpPr>
          <p:cNvPr id="335" name="正方形/長方形 12"/>
          <p:cNvSpPr/>
          <p:nvPr/>
        </p:nvSpPr>
        <p:spPr>
          <a:xfrm>
            <a:off x="595440" y="504396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400" b="1" u="none" strike="noStrike" dirty="0">
                <a:solidFill>
                  <a:schemeClr val="dk2">
                    <a:lumMod val="75000"/>
                  </a:schemeClr>
                </a:solidFill>
                <a:effectLst/>
                <a:uFillTx/>
                <a:latin typeface="メイリオ"/>
                <a:ea typeface="メイリオ"/>
              </a:rPr>
              <a:t>追加後の</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2">
                    <a:lumMod val="75000"/>
                  </a:schemeClr>
                </a:solidFill>
                <a:effectLst/>
                <a:uFillTx/>
                <a:latin typeface="メイリオ"/>
                <a:ea typeface="メイリオ"/>
              </a:rPr>
              <a:t>案内</a:t>
            </a:r>
            <a:endParaRPr lang="en-US" sz="1400" b="0" u="none" strike="noStrike" dirty="0">
              <a:solidFill>
                <a:srgbClr val="000000"/>
              </a:solidFill>
              <a:effectLst/>
              <a:uFillTx/>
              <a:latin typeface="Arial"/>
            </a:endParaRPr>
          </a:p>
        </p:txBody>
      </p:sp>
      <p:sp>
        <p:nvSpPr>
          <p:cNvPr id="336" name="正方形/長方形 16"/>
          <p:cNvSpPr/>
          <p:nvPr/>
        </p:nvSpPr>
        <p:spPr>
          <a:xfrm>
            <a:off x="504000" y="3316680"/>
            <a:ext cx="8897760" cy="365760"/>
          </a:xfrm>
          <a:prstGeom prst="rect">
            <a:avLst/>
          </a:prstGeom>
          <a:solidFill>
            <a:schemeClr val="accent1">
              <a:lumMod val="20000"/>
              <a:lumOff val="80000"/>
            </a:schemeClr>
          </a:solidFill>
          <a:ln>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18360" rIns="90000" bIns="18360" anchor="ctr">
            <a:noAutofit/>
          </a:bodyPr>
          <a:lstStyle/>
          <a:p>
            <a:pPr defTabSz="914400">
              <a:lnSpc>
                <a:spcPct val="100000"/>
              </a:lnSpc>
              <a:tabLst>
                <a:tab pos="0" algn="l"/>
              </a:tabLst>
            </a:pPr>
            <a:r>
              <a:rPr lang="ja-JP" sz="1800" b="1" u="none" strike="noStrike">
                <a:solidFill>
                  <a:schemeClr val="accent1">
                    <a:lumMod val="75000"/>
                  </a:schemeClr>
                </a:solidFill>
                <a:effectLst/>
                <a:uFillTx/>
                <a:latin typeface="メイリオ"/>
                <a:ea typeface="メイリオ"/>
              </a:rPr>
              <a:t>手法</a:t>
            </a:r>
            <a:endParaRPr lang="en-US" sz="18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想定の費用対効果</a:t>
            </a:r>
            <a:endParaRPr lang="en-US" sz="1600" b="0" u="none" strike="noStrike">
              <a:solidFill>
                <a:srgbClr val="000000"/>
              </a:solidFill>
              <a:effectLst/>
              <a:uFillTx/>
              <a:latin typeface="Arial"/>
            </a:endParaRP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Arial"/>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Arial"/>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Arial"/>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¥135,000</a:t>
            </a:r>
            <a:endParaRPr lang="en-US" sz="1600" b="0" u="none" strike="noStrike">
              <a:solidFill>
                <a:srgbClr val="000000"/>
              </a:solidFill>
              <a:effectLst/>
              <a:uFillTx/>
              <a:latin typeface="Arial"/>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Arial"/>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Arial"/>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a:t>
            </a:r>
            <a:r>
              <a:rPr lang="en-US" sz="1300" b="0" u="none" strike="noStrike">
                <a:solidFill>
                  <a:schemeClr val="dk1"/>
                </a:solidFill>
                <a:effectLst/>
                <a:uFillTx/>
                <a:latin typeface="メイリオ"/>
                <a:ea typeface="メイリオ"/>
              </a:rPr>
              <a:t>4</a:t>
            </a:r>
            <a:r>
              <a:rPr lang="zh-CN" sz="1300" b="0" u="none" strike="noStrike">
                <a:solidFill>
                  <a:schemeClr val="dk1"/>
                </a:solidFill>
                <a:effectLst/>
                <a:uFillTx/>
                <a:latin typeface="メイリオ"/>
                <a:ea typeface="メイリオ"/>
              </a:rPr>
              <a:t>本</a:t>
            </a:r>
            <a:endParaRPr lang="en-US" sz="1300" b="0" u="none" strike="noStrike">
              <a:solidFill>
                <a:srgbClr val="000000"/>
              </a:solidFill>
              <a:effectLst/>
              <a:uFillTx/>
              <a:latin typeface="Arial"/>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9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Arial"/>
            </a:endParaRPr>
          </a:p>
          <a:p>
            <a:pPr algn="ctr" defTabSz="914400">
              <a:lnSpc>
                <a:spcPct val="90000"/>
              </a:lnSpc>
            </a:pPr>
            <a:r>
              <a:rPr lang="ja-JP" sz="1300" b="0" u="none" strike="noStrike">
                <a:solidFill>
                  <a:schemeClr val="lt1"/>
                </a:solidFill>
                <a:effectLst/>
                <a:uFillTx/>
                <a:latin typeface="メイリオ"/>
                <a:ea typeface="メイリオ"/>
              </a:rPr>
              <a:t>修正変更</a:t>
            </a:r>
            <a:endParaRPr lang="en-US" sz="1300" b="0" u="none" strike="noStrike">
              <a:solidFill>
                <a:srgbClr val="FFFFFF"/>
              </a:solidFill>
              <a:effectLst/>
              <a:uFillTx/>
              <a:latin typeface="Arial"/>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720" tIns="18360" rIns="36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月次運用範囲内で適宜調整</a:t>
            </a:r>
            <a:endParaRPr lang="en-US" sz="1300" b="0" u="none" strike="noStrike">
              <a:solidFill>
                <a:srgbClr val="000000"/>
              </a:solidFill>
              <a:effectLst/>
              <a:uFillTx/>
              <a:latin typeface="Arial"/>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Arial"/>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a:t>
            </a:r>
            <a:r>
              <a:rPr lang="ja-JP" sz="1300" b="0" u="none" strike="noStrike">
                <a:solidFill>
                  <a:schemeClr val="dk1"/>
                </a:solidFill>
                <a:effectLst/>
                <a:uFillTx/>
                <a:latin typeface="メイリオ"/>
                <a:ea typeface="メイリオ"/>
              </a:rPr>
              <a:t>回</a:t>
            </a:r>
            <a:endParaRPr lang="en-US" sz="1300" b="0" u="none" strike="noStrike">
              <a:solidFill>
                <a:srgbClr val="000000"/>
              </a:solidFill>
              <a:effectLst/>
              <a:uFillTx/>
              <a:latin typeface="Arial"/>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Arial"/>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a:t>
            </a:r>
            <a:r>
              <a:rPr lang="ja-JP" sz="1300" b="0" u="none" strike="noStrike">
                <a:solidFill>
                  <a:schemeClr val="dk1"/>
                </a:solidFill>
                <a:effectLst/>
                <a:uFillTx/>
                <a:latin typeface="メイリオ"/>
                <a:ea typeface="メイリオ"/>
              </a:rPr>
              <a:t>回</a:t>
            </a:r>
            <a:endParaRPr lang="en-US" sz="1300" b="0" u="none" strike="noStrike">
              <a:solidFill>
                <a:srgbClr val="000000"/>
              </a:solidFill>
              <a:effectLst/>
              <a:uFillTx/>
              <a:latin typeface="Arial"/>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Arial"/>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Arial"/>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Arial"/>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10</a:t>
            </a:r>
            <a:r>
              <a:rPr lang="zh-CN" sz="1300" b="0" u="none" strike="noStrike">
                <a:solidFill>
                  <a:schemeClr val="dk1"/>
                </a:solidFill>
                <a:effectLst/>
                <a:uFillTx/>
                <a:latin typeface="メイリオ"/>
                <a:ea typeface="メイリオ"/>
              </a:rPr>
              <a:t>通の改善</a:t>
            </a:r>
            <a:endParaRPr lang="en-US" sz="1300" b="0" u="none" strike="noStrike">
              <a:solidFill>
                <a:srgbClr val="000000"/>
              </a:solidFill>
              <a:effectLst/>
              <a:uFillTx/>
              <a:latin typeface="Arial"/>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Arial"/>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問い合わせ①</a:t>
            </a:r>
            <a:endParaRPr lang="en-US" sz="1400" b="0" u="none" strike="noStrike">
              <a:solidFill>
                <a:srgbClr val="000000"/>
              </a:solidFill>
              <a:effectLst/>
              <a:uFillTx/>
              <a:latin typeface="Arial"/>
            </a:endParaRPr>
          </a:p>
        </p:txBody>
      </p:sp>
      <p:sp>
        <p:nvSpPr>
          <p:cNvPr id="363" name="正方形/長方形 83"/>
          <p:cNvSpPr/>
          <p:nvPr/>
        </p:nvSpPr>
        <p:spPr>
          <a:xfrm>
            <a:off x="6812280" y="290772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問い合わせ②</a:t>
            </a:r>
            <a:endParaRPr lang="en-US" sz="1400" b="0" u="none" strike="noStrike">
              <a:solidFill>
                <a:srgbClr val="000000"/>
              </a:solidFill>
              <a:effectLst/>
              <a:uFillTx/>
              <a:latin typeface="Arial"/>
            </a:endParaRPr>
          </a:p>
        </p:txBody>
      </p:sp>
      <p:sp>
        <p:nvSpPr>
          <p:cNvPr id="364" name="正方形/長方形 85"/>
          <p:cNvSpPr/>
          <p:nvPr/>
        </p:nvSpPr>
        <p:spPr>
          <a:xfrm>
            <a:off x="6812280" y="338328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合計</a:t>
            </a:r>
            <a:endParaRPr lang="en-US" sz="1400" b="0" u="none" strike="noStrike">
              <a:solidFill>
                <a:srgbClr val="000000"/>
              </a:solidFill>
              <a:effectLst/>
              <a:uFillTx/>
              <a:latin typeface="Arial"/>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あいさつ</a:t>
            </a:r>
            <a:endParaRPr lang="en-US" sz="1300" b="0" u="none" strike="noStrike">
              <a:solidFill>
                <a:srgbClr val="FFFFFF"/>
              </a:solidFill>
              <a:effectLst/>
              <a:uFillTx/>
              <a:latin typeface="Arial"/>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改善</a:t>
            </a:r>
            <a:endParaRPr lang="en-US" sz="1300" b="0" u="none" strike="noStrike">
              <a:solidFill>
                <a:srgbClr val="000000"/>
              </a:solidFill>
              <a:effectLst/>
              <a:uFillTx/>
              <a:latin typeface="Arial"/>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Arial"/>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新規作成</a:t>
            </a:r>
            <a:endParaRPr lang="en-US" sz="1300" b="0" u="none" strike="noStrike">
              <a:solidFill>
                <a:srgbClr val="000000"/>
              </a:solidFill>
              <a:effectLst/>
              <a:uFillTx/>
              <a:latin typeface="Arial"/>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Arial"/>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10</a:t>
            </a:r>
            <a:r>
              <a:rPr lang="ja-JP" sz="1300" b="0" u="none" strike="noStrike">
                <a:solidFill>
                  <a:schemeClr val="dk1"/>
                </a:solidFill>
                <a:effectLst/>
                <a:uFillTx/>
                <a:latin typeface="メイリオ"/>
                <a:ea typeface="メイリオ"/>
              </a:rPr>
              <a:t>通を構築</a:t>
            </a:r>
            <a:endParaRPr lang="en-US" sz="1300" b="0" u="none" strike="noStrike">
              <a:solidFill>
                <a:srgbClr val="000000"/>
              </a:solidFill>
              <a:effectLst/>
              <a:uFillTx/>
              <a:latin typeface="Arial"/>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自動応答</a:t>
            </a:r>
            <a:endParaRPr lang="en-US" sz="1300" b="0" u="none" strike="noStrike">
              <a:solidFill>
                <a:srgbClr val="FFFFFF"/>
              </a:solidFill>
              <a:effectLst/>
              <a:uFillTx/>
              <a:latin typeface="Arial"/>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設定</a:t>
            </a:r>
            <a:endParaRPr lang="en-US" sz="1300" b="0" u="none" strike="noStrike">
              <a:solidFill>
                <a:srgbClr val="000000"/>
              </a:solidFill>
              <a:effectLst/>
              <a:uFillTx/>
              <a:latin typeface="Arial"/>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Arial"/>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Arial"/>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FF0000"/>
                </a:solidFill>
                <a:effectLst/>
                <a:uFillTx/>
                <a:latin typeface="メイリオ"/>
                <a:ea typeface="メイリオ"/>
              </a:rPr>
              <a:t>約</a:t>
            </a:r>
            <a:r>
              <a:rPr lang="en-US" sz="1400" b="1" u="none" strike="noStrike">
                <a:solidFill>
                  <a:srgbClr val="FF0000"/>
                </a:solidFill>
                <a:effectLst/>
                <a:uFillTx/>
                <a:latin typeface="メイリオ"/>
                <a:ea typeface="メイリオ"/>
              </a:rPr>
              <a:t>1,377</a:t>
            </a:r>
            <a:r>
              <a:rPr lang="zh-CN" sz="1400" b="1" u="none" strike="noStrike">
                <a:solidFill>
                  <a:srgbClr val="FF0000"/>
                </a:solidFill>
                <a:effectLst/>
                <a:uFillTx/>
                <a:latin typeface="メイリオ"/>
                <a:ea typeface="メイリオ"/>
              </a:rPr>
              <a:t>人</a:t>
            </a:r>
            <a:endParaRPr lang="en-US" sz="1400" b="0" u="none" strike="noStrike">
              <a:solidFill>
                <a:srgbClr val="000000"/>
              </a:solidFill>
              <a:effectLst/>
              <a:uFillTx/>
              <a:latin typeface="Arial"/>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13</a:t>
            </a:r>
            <a:r>
              <a:rPr lang="zh-CN" sz="1400" b="1" u="none" strike="noStrike">
                <a:solidFill>
                  <a:srgbClr val="FF0000"/>
                </a:solidFill>
                <a:effectLst/>
                <a:uFillTx/>
                <a:latin typeface="メイリオ"/>
                <a:ea typeface="メイリオ"/>
              </a:rPr>
              <a:t>件</a:t>
            </a:r>
            <a:r>
              <a:rPr lang="en-US" sz="1400" b="1" u="none" strike="noStrike">
                <a:solidFill>
                  <a:srgbClr val="FF0000"/>
                </a:solidFill>
                <a:effectLst/>
                <a:uFillTx/>
                <a:latin typeface="メイリオ"/>
                <a:ea typeface="メイリオ"/>
              </a:rPr>
              <a:t>/</a:t>
            </a:r>
            <a:r>
              <a:rPr lang="zh-CN" sz="1400" b="1" u="none" strike="noStrike">
                <a:solidFill>
                  <a:srgbClr val="FF0000"/>
                </a:solidFill>
                <a:effectLst/>
                <a:uFillTx/>
                <a:latin typeface="メイリオ"/>
                <a:ea typeface="メイリオ"/>
              </a:rPr>
              <a:t>月</a:t>
            </a:r>
            <a:endParaRPr lang="en-US" sz="1400" b="0" u="none" strike="noStrike">
              <a:solidFill>
                <a:srgbClr val="000000"/>
              </a:solidFill>
              <a:effectLst/>
              <a:uFillTx/>
              <a:latin typeface="Arial"/>
            </a:endParaRPr>
          </a:p>
        </p:txBody>
      </p:sp>
      <p:sp>
        <p:nvSpPr>
          <p:cNvPr id="377" name="テキスト ボックス 22"/>
          <p:cNvSpPr/>
          <p:nvPr/>
        </p:nvSpPr>
        <p:spPr>
          <a:xfrm>
            <a:off x="8256960" y="290772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10</a:t>
            </a:r>
            <a:r>
              <a:rPr lang="zh-CN" sz="1400" b="1" u="none" strike="noStrike">
                <a:solidFill>
                  <a:srgbClr val="FF0000"/>
                </a:solidFill>
                <a:effectLst/>
                <a:uFillTx/>
                <a:latin typeface="メイリオ"/>
                <a:ea typeface="メイリオ"/>
              </a:rPr>
              <a:t>件</a:t>
            </a:r>
            <a:r>
              <a:rPr lang="en-US" sz="1400" b="1" u="none" strike="noStrike">
                <a:solidFill>
                  <a:srgbClr val="FF0000"/>
                </a:solidFill>
                <a:effectLst/>
                <a:uFillTx/>
                <a:latin typeface="メイリオ"/>
                <a:ea typeface="メイリオ"/>
              </a:rPr>
              <a:t>/</a:t>
            </a:r>
            <a:r>
              <a:rPr lang="zh-CN" sz="1400" b="1" u="none" strike="noStrike">
                <a:solidFill>
                  <a:srgbClr val="FF0000"/>
                </a:solidFill>
                <a:effectLst/>
                <a:uFillTx/>
                <a:latin typeface="メイリオ"/>
                <a:ea typeface="メイリオ"/>
              </a:rPr>
              <a:t>月</a:t>
            </a:r>
            <a:endParaRPr lang="en-US" sz="1400" b="0" u="none" strike="noStrike">
              <a:solidFill>
                <a:srgbClr val="000000"/>
              </a:solidFill>
              <a:effectLst/>
              <a:uFillTx/>
              <a:latin typeface="Arial"/>
            </a:endParaRPr>
          </a:p>
        </p:txBody>
      </p:sp>
      <p:sp>
        <p:nvSpPr>
          <p:cNvPr id="378" name="テキスト ボックス 26"/>
          <p:cNvSpPr/>
          <p:nvPr/>
        </p:nvSpPr>
        <p:spPr>
          <a:xfrm>
            <a:off x="8256960" y="338328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23</a:t>
            </a:r>
            <a:r>
              <a:rPr lang="zh-CN" sz="1400" b="1" u="none" strike="noStrike">
                <a:solidFill>
                  <a:srgbClr val="FF0000"/>
                </a:solidFill>
                <a:effectLst/>
                <a:uFillTx/>
                <a:latin typeface="メイリオ"/>
                <a:ea typeface="メイリオ"/>
              </a:rPr>
              <a:t>件</a:t>
            </a:r>
            <a:r>
              <a:rPr lang="en-US" sz="1400" b="1" u="none" strike="noStrike">
                <a:solidFill>
                  <a:srgbClr val="FF0000"/>
                </a:solidFill>
                <a:effectLst/>
                <a:uFillTx/>
                <a:latin typeface="メイリオ"/>
                <a:ea typeface="メイリオ"/>
              </a:rPr>
              <a:t>/</a:t>
            </a:r>
            <a:r>
              <a:rPr lang="zh-CN" sz="1400" b="1" u="none" strike="noStrike">
                <a:solidFill>
                  <a:srgbClr val="FF0000"/>
                </a:solidFill>
                <a:effectLst/>
                <a:uFillTx/>
                <a:latin typeface="メイリオ"/>
                <a:ea typeface="メイリオ"/>
              </a:rPr>
              <a:t>月</a:t>
            </a:r>
            <a:endParaRPr lang="en-US" sz="1400" b="0" u="none" strike="noStrike">
              <a:solidFill>
                <a:srgbClr val="000000"/>
              </a:solidFill>
              <a:effectLst/>
              <a:uFillTx/>
              <a:latin typeface="Arial"/>
            </a:endParaRPr>
          </a:p>
        </p:txBody>
      </p:sp>
      <p:sp>
        <p:nvSpPr>
          <p:cNvPr id="379" name="テキスト ボックス 30"/>
          <p:cNvSpPr/>
          <p:nvPr/>
        </p:nvSpPr>
        <p:spPr>
          <a:xfrm>
            <a:off x="7959960" y="3858840"/>
            <a:ext cx="1919880" cy="365400"/>
          </a:xfrm>
          <a:prstGeom prst="rect">
            <a:avLst/>
          </a:prstGeom>
          <a:no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ja-JP" sz="1400" b="1" u="none" strike="noStrike">
                <a:solidFill>
                  <a:schemeClr val="dk1"/>
                </a:solidFill>
                <a:effectLst/>
                <a:uFillTx/>
                <a:latin typeface="メイリオ"/>
                <a:ea typeface="メイリオ"/>
              </a:rPr>
              <a:t>（</a:t>
            </a:r>
            <a:r>
              <a:rPr lang="en-US" sz="1400" b="1" u="none" strike="noStrike">
                <a:solidFill>
                  <a:schemeClr val="dk1"/>
                </a:solidFill>
                <a:effectLst/>
                <a:uFillTx/>
                <a:latin typeface="メイリオ"/>
                <a:ea typeface="メイリオ"/>
              </a:rPr>
              <a:t>6</a:t>
            </a:r>
            <a:r>
              <a:rPr lang="ja-JP" sz="1400" b="1" u="none" strike="noStrike">
                <a:solidFill>
                  <a:schemeClr val="dk1"/>
                </a:solidFill>
                <a:effectLst/>
                <a:uFillTx/>
                <a:latin typeface="メイリオ"/>
                <a:ea typeface="メイリオ"/>
              </a:rPr>
              <a:t>か月累計</a:t>
            </a:r>
            <a:r>
              <a:rPr lang="en-US" sz="1400" b="1" u="none" strike="noStrike">
                <a:solidFill>
                  <a:schemeClr val="dk1"/>
                </a:solidFill>
                <a:effectLst/>
                <a:uFillTx/>
                <a:latin typeface="メイリオ"/>
                <a:ea typeface="メイリオ"/>
              </a:rPr>
              <a:t>90</a:t>
            </a:r>
            <a:r>
              <a:rPr lang="ja-JP" sz="1400" b="1" u="none" strike="noStrike">
                <a:solidFill>
                  <a:schemeClr val="dk1"/>
                </a:solidFill>
                <a:effectLst/>
                <a:uFillTx/>
                <a:latin typeface="メイリオ"/>
                <a:ea typeface="メイリオ"/>
              </a:rPr>
              <a:t>件）</a:t>
            </a:r>
            <a:endParaRPr lang="en-US" sz="1400" b="0" u="none" strike="noStrike">
              <a:solidFill>
                <a:srgbClr val="000000"/>
              </a:solidFill>
              <a:effectLst/>
              <a:uFillTx/>
              <a:latin typeface="Arial"/>
            </a:endParaRPr>
          </a:p>
        </p:txBody>
      </p:sp>
      <p:sp>
        <p:nvSpPr>
          <p:cNvPr id="380" name="テキスト ボックス 18"/>
          <p:cNvSpPr/>
          <p:nvPr/>
        </p:nvSpPr>
        <p:spPr>
          <a:xfrm>
            <a:off x="265320" y="6035040"/>
            <a:ext cx="9417960" cy="438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000" b="0" u="none" strike="noStrike">
                <a:solidFill>
                  <a:schemeClr val="dk1"/>
                </a:solidFill>
                <a:effectLst/>
                <a:uFillTx/>
                <a:latin typeface="メイリオ"/>
                <a:ea typeface="メイリオ"/>
              </a:rPr>
              <a:t>※初期＝コンサル20</a:t>
            </a:r>
            <a:r>
              <a:rPr lang="zh-CN" sz="1000" b="0" u="none" strike="noStrike">
                <a:solidFill>
                  <a:schemeClr val="dk1"/>
                </a:solidFill>
                <a:effectLst/>
                <a:uFillTx/>
                <a:latin typeface="メイリオ"/>
                <a:ea typeface="メイリオ"/>
              </a:rPr>
              <a:t>万円＋離脱防止</a:t>
            </a:r>
            <a:r>
              <a:rPr lang="en-US" sz="1000" b="0" u="none" strike="noStrike">
                <a:solidFill>
                  <a:schemeClr val="dk1"/>
                </a:solidFill>
                <a:effectLst/>
                <a:uFillTx/>
                <a:latin typeface="メイリオ"/>
                <a:ea typeface="メイリオ"/>
              </a:rPr>
              <a:t>1.5</a:t>
            </a:r>
            <a:r>
              <a:rPr lang="zh-CN" sz="1000" b="0" u="none" strike="noStrike">
                <a:solidFill>
                  <a:schemeClr val="dk1"/>
                </a:solidFill>
                <a:effectLst/>
                <a:uFillTx/>
                <a:latin typeface="メイリオ"/>
                <a:ea typeface="メイリオ"/>
              </a:rPr>
              <a:t>万円／月額＝コンサル</a:t>
            </a:r>
            <a:r>
              <a:rPr lang="en-US" sz="1000" b="0" u="none" strike="noStrike">
                <a:solidFill>
                  <a:schemeClr val="dk1"/>
                </a:solidFill>
                <a:effectLst/>
                <a:uFillTx/>
                <a:latin typeface="メイリオ"/>
                <a:ea typeface="メイリオ"/>
              </a:rPr>
              <a:t>10</a:t>
            </a:r>
            <a:r>
              <a:rPr lang="zh-CN" sz="1000" b="0" u="none" strike="noStrike">
                <a:solidFill>
                  <a:schemeClr val="dk1"/>
                </a:solidFill>
                <a:effectLst/>
                <a:uFillTx/>
                <a:latin typeface="メイリオ"/>
                <a:ea typeface="メイリオ"/>
              </a:rPr>
              <a:t>万円＋離脱防止</a:t>
            </a:r>
            <a:r>
              <a:rPr lang="en-US" sz="1000" b="0" u="none" strike="noStrike">
                <a:solidFill>
                  <a:schemeClr val="dk1"/>
                </a:solidFill>
                <a:effectLst/>
                <a:uFillTx/>
                <a:latin typeface="メイリオ"/>
                <a:ea typeface="メイリオ"/>
              </a:rPr>
              <a:t>3</a:t>
            </a:r>
            <a:r>
              <a:rPr lang="zh-CN" sz="1000" b="0" u="none" strike="noStrike">
                <a:solidFill>
                  <a:schemeClr val="dk1"/>
                </a:solidFill>
                <a:effectLst/>
                <a:uFillTx/>
                <a:latin typeface="メイリオ"/>
                <a:ea typeface="メイリオ"/>
              </a:rPr>
              <a:t>万円＋</a:t>
            </a:r>
            <a:r>
              <a:rPr lang="en-US" sz="1000" b="0" u="none" strike="noStrike">
                <a:solidFill>
                  <a:schemeClr val="dk1"/>
                </a:solidFill>
                <a:effectLst/>
                <a:uFillTx/>
                <a:latin typeface="メイリオ"/>
                <a:ea typeface="メイリオ"/>
              </a:rPr>
              <a:t>LINE</a:t>
            </a:r>
            <a:r>
              <a:rPr lang="zh-CN" sz="1000" b="0" u="none" strike="noStrike">
                <a:solidFill>
                  <a:schemeClr val="dk1"/>
                </a:solidFill>
                <a:effectLst/>
                <a:uFillTx/>
                <a:latin typeface="メイリオ"/>
                <a:ea typeface="メイリオ"/>
              </a:rPr>
              <a:t>公式アカウント</a:t>
            </a:r>
            <a:r>
              <a:rPr lang="en-US" sz="1000" b="0" u="none" strike="noStrike">
                <a:solidFill>
                  <a:schemeClr val="dk1"/>
                </a:solidFill>
                <a:effectLst/>
                <a:uFillTx/>
                <a:latin typeface="メイリオ"/>
                <a:ea typeface="メイリオ"/>
              </a:rPr>
              <a:t>0.5</a:t>
            </a:r>
            <a:r>
              <a:rPr lang="zh-CN" sz="1000" b="0" u="none" strike="noStrike">
                <a:solidFill>
                  <a:schemeClr val="dk1"/>
                </a:solidFill>
                <a:effectLst/>
                <a:uFillTx/>
                <a:latin typeface="メイリオ"/>
                <a:ea typeface="メイリオ"/>
              </a:rPr>
              <a:t>万円</a:t>
            </a:r>
            <a:endParaRPr lang="en-US" sz="1000" b="0" u="none" strike="noStrike">
              <a:solidFill>
                <a:srgbClr val="000000"/>
              </a:solidFill>
              <a:effectLst/>
              <a:uFillTx/>
              <a:latin typeface="Arial"/>
            </a:endParaRPr>
          </a:p>
          <a:p>
            <a:pPr defTabSz="914400">
              <a:lnSpc>
                <a:spcPct val="100000"/>
              </a:lnSpc>
            </a:pPr>
            <a:r>
              <a:rPr lang="en-US" sz="1000" b="0" u="none" strike="noStrike">
                <a:solidFill>
                  <a:schemeClr val="dk1"/>
                </a:solidFill>
                <a:effectLst/>
                <a:uFillTx/>
                <a:latin typeface="メイリオ"/>
                <a:ea typeface="メイリオ"/>
              </a:rPr>
              <a:t>※6</a:t>
            </a:r>
            <a:r>
              <a:rPr lang="zh-CN" sz="1000" b="0" u="none" strike="noStrike">
                <a:solidFill>
                  <a:schemeClr val="dk1"/>
                </a:solidFill>
                <a:effectLst/>
                <a:uFillTx/>
                <a:latin typeface="メイリオ"/>
                <a:ea typeface="メイリオ"/>
              </a:rPr>
              <a:t>か月後は</a:t>
            </a:r>
            <a:r>
              <a:rPr lang="en-US" sz="1000" b="0" u="none" strike="noStrike">
                <a:solidFill>
                  <a:schemeClr val="dk1"/>
                </a:solidFill>
                <a:effectLst/>
                <a:uFillTx/>
                <a:latin typeface="メイリオ"/>
                <a:ea typeface="メイリオ"/>
              </a:rPr>
              <a:t>6</a:t>
            </a:r>
            <a:r>
              <a:rPr lang="zh-CN" sz="1000" b="0" u="none" strike="noStrike">
                <a:solidFill>
                  <a:schemeClr val="dk1"/>
                </a:solidFill>
                <a:effectLst/>
                <a:uFillTx/>
                <a:latin typeface="メイリオ"/>
                <a:ea typeface="メイリオ"/>
              </a:rPr>
              <a:t>か月目の月間の試算。問い合わせ①＝友だち追加直後の物件の問い合わせ、②＝ステップ配信・企画配信などからの問い合わせ</a:t>
            </a:r>
            <a:endParaRPr lang="en-US" sz="1000" b="0" u="none" strike="noStrike">
              <a:solidFill>
                <a:srgbClr val="000000"/>
              </a:solidFill>
              <a:effectLst/>
              <a:uFillTx/>
              <a:latin typeface="Arial"/>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プラン①｜総合運用：初期</a:t>
            </a:r>
            <a:r>
              <a:rPr lang="en-US" sz="1400" b="0" u="none" strike="noStrike">
                <a:solidFill>
                  <a:schemeClr val="dk1">
                    <a:lumMod val="65000"/>
                    <a:lumOff val="35000"/>
                  </a:schemeClr>
                </a:solidFill>
                <a:effectLst/>
                <a:uFillTx/>
                <a:latin typeface="メイリオ"/>
                <a:ea typeface="メイリオ"/>
              </a:rPr>
              <a:t>21.5</a:t>
            </a:r>
            <a:r>
              <a:rPr lang="ja-JP" sz="1400" b="0" u="none" strike="noStrike">
                <a:solidFill>
                  <a:schemeClr val="dk1">
                    <a:lumMod val="65000"/>
                    <a:lumOff val="35000"/>
                  </a:schemeClr>
                </a:solidFill>
                <a:effectLst/>
                <a:uFillTx/>
                <a:latin typeface="メイリオ"/>
                <a:ea typeface="メイリオ"/>
              </a:rPr>
              <a:t>万円・月額</a:t>
            </a:r>
            <a:r>
              <a:rPr lang="en-US" sz="1400" b="0" u="none" strike="noStrike">
                <a:solidFill>
                  <a:schemeClr val="dk1">
                    <a:lumMod val="65000"/>
                    <a:lumOff val="35000"/>
                  </a:schemeClr>
                </a:solidFill>
                <a:effectLst/>
                <a:uFillTx/>
                <a:latin typeface="メイリオ"/>
                <a:ea typeface="メイリオ"/>
              </a:rPr>
              <a:t>13.5</a:t>
            </a:r>
            <a:r>
              <a:rPr lang="ja-JP" sz="1400" b="0" u="none" strike="noStrike">
                <a:solidFill>
                  <a:schemeClr val="dk1">
                    <a:lumMod val="65000"/>
                    <a:lumOff val="35000"/>
                  </a:schemeClr>
                </a:solidFill>
                <a:effectLst/>
                <a:uFillTx/>
                <a:latin typeface="メイリオ"/>
                <a:ea typeface="メイリオ"/>
              </a:rPr>
              <a:t>万円で運用します。</a:t>
            </a:r>
            <a:endParaRPr lang="en-US" sz="1400" b="0" u="none" strike="noStrike">
              <a:solidFill>
                <a:srgbClr val="000000"/>
              </a:solidFill>
              <a:effectLst/>
              <a:uFillTx/>
              <a:latin typeface="Arial"/>
            </a:endParaRPr>
          </a:p>
          <a:p>
            <a:pPr algn="ctr" defTabSz="914400">
              <a:lnSpc>
                <a:spcPct val="100000"/>
              </a:lnSpc>
            </a:pPr>
            <a:r>
              <a:rPr lang="en-US" sz="1400" b="1" u="none" strike="noStrike">
                <a:solidFill>
                  <a:schemeClr val="dk1">
                    <a:lumMod val="65000"/>
                    <a:lumOff val="35000"/>
                  </a:schemeClr>
                </a:solidFill>
                <a:effectLst/>
                <a:uFillTx/>
                <a:latin typeface="メイリオ"/>
                <a:ea typeface="メイリオ"/>
              </a:rPr>
              <a:t>6</a:t>
            </a:r>
            <a:r>
              <a:rPr lang="ja-JP" sz="1400" b="1" u="none" strike="noStrike">
                <a:solidFill>
                  <a:schemeClr val="dk1">
                    <a:lumMod val="65000"/>
                    <a:lumOff val="35000"/>
                  </a:schemeClr>
                </a:solidFill>
                <a:effectLst/>
                <a:uFillTx/>
                <a:latin typeface="メイリオ"/>
                <a:ea typeface="メイリオ"/>
              </a:rPr>
              <a:t>か月目に</a:t>
            </a:r>
            <a:r>
              <a:rPr lang="en-US" sz="1400" b="1" u="none" strike="noStrike">
                <a:solidFill>
                  <a:schemeClr val="dk1">
                    <a:lumMod val="65000"/>
                    <a:lumOff val="35000"/>
                  </a:schemeClr>
                </a:solidFill>
                <a:effectLst/>
                <a:uFillTx/>
                <a:latin typeface="メイリオ"/>
                <a:ea typeface="メイリオ"/>
              </a:rPr>
              <a:t>LINE</a:t>
            </a:r>
            <a:r>
              <a:rPr lang="ja-JP" sz="1400" b="1" u="none" strike="noStrike">
                <a:solidFill>
                  <a:schemeClr val="dk1">
                    <a:lumMod val="65000"/>
                    <a:lumOff val="35000"/>
                  </a:schemeClr>
                </a:solidFill>
                <a:effectLst/>
                <a:uFillTx/>
                <a:latin typeface="メイリオ"/>
                <a:ea typeface="メイリオ"/>
              </a:rPr>
              <a:t>経由の問い合わせ月</a:t>
            </a:r>
            <a:r>
              <a:rPr lang="en-US" sz="1400" b="1" u="none" strike="noStrike">
                <a:solidFill>
                  <a:schemeClr val="dk1">
                    <a:lumMod val="65000"/>
                    <a:lumOff val="35000"/>
                  </a:schemeClr>
                </a:solidFill>
                <a:effectLst/>
                <a:uFillTx/>
                <a:latin typeface="メイリオ"/>
                <a:ea typeface="メイリオ"/>
              </a:rPr>
              <a:t>23</a:t>
            </a:r>
            <a:r>
              <a:rPr lang="ja-JP" sz="1400" b="1" u="none" strike="noStrike">
                <a:solidFill>
                  <a:schemeClr val="dk1">
                    <a:lumMod val="65000"/>
                    <a:lumOff val="35000"/>
                  </a:schemeClr>
                </a:solidFill>
                <a:effectLst/>
                <a:uFillTx/>
                <a:latin typeface="メイリオ"/>
                <a:ea typeface="メイリオ"/>
              </a:rPr>
              <a:t>件を見込みます（試算）</a:t>
            </a:r>
            <a:r>
              <a:rPr lang="ja-JP" sz="1400" b="0" u="none" strike="noStrike">
                <a:solidFill>
                  <a:schemeClr val="dk1">
                    <a:lumMod val="65000"/>
                    <a:lumOff val="35000"/>
                  </a:schemeClr>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382" name="試算の前提"/>
          <p:cNvSpPr/>
          <p:nvPr/>
        </p:nvSpPr>
        <p:spPr>
          <a:xfrm>
            <a:off x="6812280" y="4434840"/>
            <a:ext cx="2834280" cy="1508400"/>
          </a:xfrm>
          <a:prstGeom prst="rect">
            <a:avLst/>
          </a:prstGeom>
          <a:solidFill>
            <a:srgbClr val="F4F7FF"/>
          </a:solidFill>
          <a:ln w="9525">
            <a:solidFill>
              <a:srgbClr val="D9D9D9"/>
            </a:solidFill>
            <a:round/>
          </a:ln>
        </p:spPr>
        <p:style>
          <a:lnRef idx="0">
            <a:scrgbClr r="0" g="0" b="0"/>
          </a:lnRef>
          <a:fillRef idx="0">
            <a:scrgbClr r="0" g="0" b="0"/>
          </a:fillRef>
          <a:effectRef idx="0">
            <a:scrgbClr r="0" g="0" b="0"/>
          </a:effectRef>
          <a:fontRef idx="minor"/>
        </p:style>
        <p:txBody>
          <a:bodyPr lIns="109800" tIns="73080" rIns="109800" bIns="54720" anchor="t">
            <a:noAutofit/>
          </a:bodyPr>
          <a:lstStyle/>
          <a:p>
            <a:pPr defTabSz="914400">
              <a:lnSpc>
                <a:spcPct val="100000"/>
              </a:lnSpc>
              <a:spcAft>
                <a:spcPts val="300"/>
              </a:spcAft>
            </a:pPr>
            <a:r>
              <a:rPr lang="ja-JP" sz="1200" b="1" u="none" strike="noStrike">
                <a:solidFill>
                  <a:srgbClr val="1F285A"/>
                </a:solidFill>
                <a:effectLst/>
                <a:uFillTx/>
                <a:latin typeface="メイリオ"/>
                <a:ea typeface="メイリオ"/>
              </a:rPr>
              <a:t>＜試算の前提＞</a:t>
            </a:r>
            <a:endParaRPr lang="en-US" sz="1200" b="0" u="none" strike="noStrike">
              <a:solidFill>
                <a:srgbClr val="000000"/>
              </a:solidFill>
              <a:effectLst/>
              <a:uFillTx/>
              <a:latin typeface="Arial"/>
            </a:endParaRPr>
          </a:p>
          <a:p>
            <a:pPr defTabSz="914400">
              <a:lnSpc>
                <a:spcPct val="100000"/>
              </a:lnSpc>
              <a:spcAft>
                <a:spcPts val="300"/>
              </a:spcAft>
            </a:pPr>
            <a:r>
              <a:rPr lang="ja-JP" sz="1200" b="0" u="none" strike="noStrike">
                <a:solidFill>
                  <a:srgbClr val="333333"/>
                </a:solidFill>
                <a:effectLst/>
                <a:uFillTx/>
                <a:latin typeface="メイリオ"/>
                <a:ea typeface="メイリオ"/>
              </a:rPr>
              <a:t>プラン①｜総合運用の基本施策を</a:t>
            </a:r>
            <a:br>
              <a:rPr sz="1200"/>
            </a:br>
            <a:r>
              <a:rPr lang="ja-JP" sz="1200" b="0" u="none" strike="noStrike">
                <a:solidFill>
                  <a:srgbClr val="333333"/>
                </a:solidFill>
                <a:effectLst/>
                <a:uFillTx/>
                <a:latin typeface="メイリオ"/>
                <a:ea typeface="メイリオ"/>
              </a:rPr>
              <a:t>対象とした試算です。</a:t>
            </a:r>
            <a:endParaRPr lang="en-US" sz="1200" b="0" u="none" strike="noStrike">
              <a:solidFill>
                <a:srgbClr val="000000"/>
              </a:solidFill>
              <a:effectLst/>
              <a:uFillTx/>
              <a:latin typeface="Arial"/>
            </a:endParaRPr>
          </a:p>
          <a:p>
            <a:pPr defTabSz="914400">
              <a:lnSpc>
                <a:spcPct val="100000"/>
              </a:lnSpc>
              <a:spcAft>
                <a:spcPts val="300"/>
              </a:spcAft>
            </a:pPr>
            <a:r>
              <a:rPr lang="en-US" sz="1200" b="0" u="none" strike="noStrike">
                <a:solidFill>
                  <a:srgbClr val="333333"/>
                </a:solidFill>
                <a:effectLst/>
                <a:uFillTx/>
                <a:latin typeface="メイリオ"/>
                <a:ea typeface="メイリオ"/>
              </a:rPr>
              <a:t>API</a:t>
            </a:r>
            <a:r>
              <a:rPr lang="ja-JP" sz="1200" b="0" u="none" strike="noStrike">
                <a:solidFill>
                  <a:srgbClr val="333333"/>
                </a:solidFill>
                <a:effectLst/>
                <a:uFillTx/>
                <a:latin typeface="メイリオ"/>
                <a:ea typeface="メイリオ"/>
              </a:rPr>
              <a:t>連携・追加開発の効果は</a:t>
            </a:r>
            <a:br>
              <a:rPr sz="1200"/>
            </a:br>
            <a:r>
              <a:rPr lang="ja-JP" sz="1200" b="0" u="none" strike="noStrike">
                <a:solidFill>
                  <a:srgbClr val="333333"/>
                </a:solidFill>
                <a:effectLst/>
                <a:uFillTx/>
                <a:latin typeface="メイリオ"/>
                <a:ea typeface="メイリオ"/>
              </a:rPr>
              <a:t>含みません。</a:t>
            </a:r>
            <a:endParaRPr lang="en-US" sz="12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634" name="正方形/長方形 1"/>
          <p:cNvSpPr/>
          <p:nvPr/>
        </p:nvSpPr>
        <p:spPr>
          <a:xfrm>
            <a:off x="4245120" y="3038040"/>
            <a:ext cx="14155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費用感</a:t>
            </a:r>
            <a:endParaRPr lang="en-US" sz="32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Arial"/>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chemeClr val="dk1"/>
                </a:solidFill>
                <a:effectLst/>
                <a:uFillTx/>
                <a:latin typeface="メイリオ"/>
                <a:ea typeface="メイリオ"/>
              </a:rPr>
              <a:t>料金の払い方が異なる4つのプランをご用意しました。</a:t>
            </a:r>
            <a:endParaRPr lang="en-US" sz="1600" b="0" u="none" strike="noStrike">
              <a:solidFill>
                <a:srgbClr val="000000"/>
              </a:solidFill>
              <a:effectLst/>
              <a:uFillTx/>
              <a:latin typeface="Arial"/>
            </a:endParaRPr>
          </a:p>
        </p:txBody>
      </p:sp>
      <p:sp>
        <p:nvSpPr>
          <p:cNvPr id="638"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400" b="0" u="none" strike="noStrike">
                <a:solidFill>
                  <a:schemeClr val="lt1"/>
                </a:solidFill>
                <a:effectLst/>
                <a:uFillTx/>
                <a:latin typeface="メイリオ"/>
                <a:ea typeface="メイリオ"/>
              </a:rPr>
              <a:t>あらうち様向けプラン</a:t>
            </a:r>
            <a:endParaRPr lang="en-US" sz="1400" b="0" u="none" strike="noStrike">
              <a:solidFill>
                <a:srgbClr val="FFFFFF"/>
              </a:solidFill>
              <a:effectLst/>
              <a:uFillTx/>
              <a:latin typeface="Arial"/>
            </a:endParaRPr>
          </a:p>
        </p:txBody>
      </p:sp>
      <p:graphicFrame>
        <p:nvGraphicFramePr>
          <p:cNvPr id="639" name="料金プラン比較表 638"/>
          <p:cNvGraphicFramePr>
            <a:graphicFrameLocks noGrp="1"/>
          </p:cNvGraphicFramePr>
          <p:nvPr/>
        </p:nvGraphicFramePr>
        <p:xfrm>
          <a:off x="384048" y="1353312"/>
          <a:ext cx="9144000" cy="3346704"/>
        </p:xfrm>
        <a:graphic>
          <a:graphicData uri="http://schemas.openxmlformats.org/drawingml/2006/table">
            <a:tbl>
              <a:tblPr/>
              <a:tblGrid>
                <a:gridCol w="1554480">
                  <a:extLst>
                    <a:ext uri="{9D8B030D-6E8A-4147-A177-3AD203B41FA5}">
                      <a16:colId xmlns:a16="http://schemas.microsoft.com/office/drawing/2014/main" val="20000"/>
                    </a:ext>
                  </a:extLst>
                </a:gridCol>
                <a:gridCol w="1897380">
                  <a:extLst>
                    <a:ext uri="{9D8B030D-6E8A-4147-A177-3AD203B41FA5}">
                      <a16:colId xmlns:a16="http://schemas.microsoft.com/office/drawing/2014/main" val="20001"/>
                    </a:ext>
                  </a:extLst>
                </a:gridCol>
                <a:gridCol w="1897380">
                  <a:extLst>
                    <a:ext uri="{9D8B030D-6E8A-4147-A177-3AD203B41FA5}">
                      <a16:colId xmlns:a16="http://schemas.microsoft.com/office/drawing/2014/main" val="20002"/>
                    </a:ext>
                  </a:extLst>
                </a:gridCol>
                <a:gridCol w="1897380">
                  <a:extLst>
                    <a:ext uri="{9D8B030D-6E8A-4147-A177-3AD203B41FA5}">
                      <a16:colId xmlns:a16="http://schemas.microsoft.com/office/drawing/2014/main" val="20003"/>
                    </a:ext>
                  </a:extLst>
                </a:gridCol>
                <a:gridCol w="1897380">
                  <a:extLst>
                    <a:ext uri="{9D8B030D-6E8A-4147-A177-3AD203B41FA5}">
                      <a16:colId xmlns:a16="http://schemas.microsoft.com/office/drawing/2014/main" val="20004"/>
                    </a:ext>
                  </a:extLst>
                </a:gridCol>
              </a:tblGrid>
              <a:tr h="347472">
                <a:tc rowSpan="2">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gridSpan="3">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コンサル型（毎月固定）</a:t>
                      </a:r>
                      <a:endParaRPr lang="ja-JP" altLang="en-US" sz="12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h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h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成果報酬型（成果連動）</a:t>
                      </a:r>
                      <a:endParaRPr lang="ja-JP" altLang="en-US" sz="12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585216">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プラン④</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成果報酬型</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r h="40233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初期費用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40233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月額コンサル費</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10万円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extLst>
                  <a:ext uri="{0D108BD9-81ED-4DB2-BD59-A6C34878D82A}">
                    <a16:rowId xmlns:a16="http://schemas.microsoft.com/office/drawing/2014/main" val="10003"/>
                  </a:ext>
                </a:extLst>
              </a:tr>
              <a:tr h="58521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月額ツール・</a:t>
                      </a:r>
                      <a:br>
                        <a:rPr lang="ja-JP" altLang="en-US" sz="1300" b="1" dirty="0">
                          <a:solidFill>
                            <a:srgbClr val="1F285A"/>
                          </a:solidFill>
                          <a:latin typeface="メイリオ" panose="020B0604030504040204" pitchFamily="50" charset="-128"/>
                          <a:ea typeface="メイリオ" panose="020B0604030504040204" pitchFamily="50" charset="-128"/>
                        </a:rPr>
                      </a:br>
                      <a:r>
                        <a:rPr lang="ja-JP" altLang="en-US" sz="1300" b="1" dirty="0">
                          <a:solidFill>
                            <a:srgbClr val="1F285A"/>
                          </a:solidFill>
                          <a:latin typeface="メイリオ" panose="020B0604030504040204" pitchFamily="50" charset="-128"/>
                          <a:ea typeface="メイリオ" panose="020B0604030504040204" pitchFamily="50" charset="-128"/>
                        </a:rPr>
                        <a:t>LINE費</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3.5万円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3.5万円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別途実費</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確認中</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40233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成果単価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007A3D"/>
                          </a:solidFill>
                          <a:latin typeface="メイリオ" panose="020B0604030504040204" pitchFamily="50" charset="-128"/>
                          <a:ea typeface="メイリオ" panose="020B0604030504040204" pitchFamily="50" charset="-128"/>
                        </a:rPr>
                        <a:t>8,000円／有効CV</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extLst>
                  <a:ext uri="{0D108BD9-81ED-4DB2-BD59-A6C34878D82A}">
                    <a16:rowId xmlns:a16="http://schemas.microsoft.com/office/drawing/2014/main" val="10005"/>
                  </a:ext>
                </a:extLst>
              </a:tr>
              <a:tr h="621792">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月額費用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13.5万円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8.5万円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ツール利用料</a:t>
                      </a:r>
                      <a:br>
                        <a:rPr lang="ja-JP" altLang="en-US" sz="1400" b="1" dirty="0">
                          <a:solidFill>
                            <a:srgbClr val="1F285A"/>
                          </a:solidFill>
                          <a:latin typeface="メイリオ" panose="020B0604030504040204" pitchFamily="50" charset="-128"/>
                          <a:ea typeface="メイリオ" panose="020B0604030504040204" pitchFamily="50" charset="-128"/>
                        </a:rPr>
                      </a:br>
                      <a:r>
                        <a:rPr lang="ja-JP" altLang="en-US" sz="1400" b="1" dirty="0">
                          <a:solidFill>
                            <a:srgbClr val="1F285A"/>
                          </a:solidFill>
                          <a:latin typeface="メイリオ" panose="020B0604030504040204" pitchFamily="50" charset="-128"/>
                          <a:ea typeface="メイリオ" panose="020B0604030504040204" pitchFamily="50" charset="-128"/>
                        </a:rPr>
                        <a:t>＋手数料</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007A3D"/>
                          </a:solidFill>
                          <a:latin typeface="メイリオ" panose="020B0604030504040204" pitchFamily="50" charset="-128"/>
                          <a:ea typeface="メイリオ" panose="020B0604030504040204" pitchFamily="50" charset="-128"/>
                        </a:rPr>
                        <a:t>8,000円×</a:t>
                      </a:r>
                      <a:br>
                        <a:rPr lang="ja-JP" altLang="en-US" sz="1400" b="1" dirty="0">
                          <a:solidFill>
                            <a:srgbClr val="007A3D"/>
                          </a:solidFill>
                          <a:latin typeface="メイリオ" panose="020B0604030504040204" pitchFamily="50" charset="-128"/>
                          <a:ea typeface="メイリオ" panose="020B0604030504040204" pitchFamily="50" charset="-128"/>
                        </a:rPr>
                      </a:br>
                      <a:r>
                        <a:rPr lang="ja-JP" altLang="en-US" sz="1400" b="1" dirty="0">
                          <a:solidFill>
                            <a:srgbClr val="007A3D"/>
                          </a:solidFill>
                          <a:latin typeface="メイリオ" panose="020B0604030504040204" pitchFamily="50" charset="-128"/>
                          <a:ea typeface="メイリオ" panose="020B0604030504040204" pitchFamily="50" charset="-128"/>
                        </a:rPr>
                        <a:t>有効CV件数</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D5ECDC"/>
                    </a:solidFill>
                  </a:tcPr>
                </a:tc>
                <a:extLst>
                  <a:ext uri="{0D108BD9-81ED-4DB2-BD59-A6C34878D82A}">
                    <a16:rowId xmlns:a16="http://schemas.microsoft.com/office/drawing/2014/main" val="10006"/>
                  </a:ext>
                </a:extLst>
              </a:tr>
            </a:tbl>
          </a:graphicData>
        </a:graphic>
      </p:graphicFrame>
      <p:sp>
        <p:nvSpPr>
          <p:cNvPr id="640" name="コンサル型の説明"/>
          <p:cNvSpPr/>
          <p:nvPr/>
        </p:nvSpPr>
        <p:spPr>
          <a:xfrm>
            <a:off x="384048" y="4791456"/>
            <a:ext cx="4846320" cy="384048"/>
          </a:xfrm>
          <a:prstGeom prst="rect">
            <a:avLst/>
          </a:prstGeom>
          <a:solidFill>
            <a:srgbClr val="E8ECF6"/>
          </a:solidFill>
          <a:ln w="12700">
            <a:solidFill>
              <a:srgbClr val="1F285A"/>
            </a:solidFill>
          </a:ln>
        </p:spPr>
        <p:txBody>
          <a:bodyPr wrap="square" lIns="45720" tIns="18288" rIns="45720" bIns="18288" rtlCol="0" anchor="ctr">
            <a:noAutofit/>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コンサル型（プラン①〜③）｜毎月の固定費でご提供</a:t>
            </a:r>
            <a:endParaRPr lang="ja-JP" altLang="en-US" sz="1250" dirty="0"/>
          </a:p>
        </p:txBody>
      </p:sp>
      <p:sp>
        <p:nvSpPr>
          <p:cNvPr id="641" name="成果報酬型の説明"/>
          <p:cNvSpPr/>
          <p:nvPr/>
        </p:nvSpPr>
        <p:spPr>
          <a:xfrm>
            <a:off x="5340096" y="4791456"/>
            <a:ext cx="4187952" cy="384048"/>
          </a:xfrm>
          <a:prstGeom prst="rect">
            <a:avLst/>
          </a:prstGeom>
          <a:solidFill>
            <a:srgbClr val="E6F4EA"/>
          </a:solidFill>
          <a:ln w="12700">
            <a:solidFill>
              <a:srgbClr val="00B050"/>
            </a:solidFill>
          </a:ln>
        </p:spPr>
        <p:txBody>
          <a:bodyPr wrap="square" lIns="45720" tIns="18288" rIns="45720" bIns="18288" rtlCol="0" anchor="ctr">
            <a:noAutofit/>
          </a:bodyPr>
          <a:lstStyle/>
          <a:p>
            <a:pPr algn="ctr">
              <a:buNone/>
            </a:pPr>
            <a:r>
              <a:rPr lang="ja-JP" altLang="en-US" sz="1250" b="1" dirty="0">
                <a:solidFill>
                  <a:srgbClr val="007A3D"/>
                </a:solidFill>
                <a:latin typeface="メイリオ" panose="020B0604030504040204" pitchFamily="50" charset="-128"/>
                <a:ea typeface="メイリオ" panose="020B0604030504040204" pitchFamily="50" charset="-128"/>
              </a:rPr>
              <a:t>成果報酬型（プラン④）｜有効CVの件数で変動</a:t>
            </a:r>
            <a:endParaRPr lang="ja-JP" altLang="en-US" sz="1250" dirty="0"/>
          </a:p>
        </p:txBody>
      </p:sp>
      <p:sp>
        <p:nvSpPr>
          <p:cNvPr id="642" name="注記"/>
          <p:cNvSpPr/>
          <p:nvPr/>
        </p:nvSpPr>
        <p:spPr>
          <a:xfrm>
            <a:off x="384048" y="5248656"/>
            <a:ext cx="9144000" cy="1243583"/>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※価格はあらうち様向けの個別提案価格です（DYMの標準価格ではありません）。初期費用21.5万円は4プラン共通です。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※コンサル型（プラン①〜③）と成果報酬型（プラン④）は別契約です。固定のコンサル費と成果報酬を併せて請求することはありません。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※プラン③は月額コンサル契約がありません。ツールを継続して利用する場合の利用料は別途実費です。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※プラン④は成果保証ではなく、実際の有効CV件数に応じた請求です（詳細は17ページ）。専用フォームの構築に必要な技術要件・ツール費用は確認中のため、確定次第ご案内します。</a:t>
            </a:r>
            <a:endParaRPr lang="ja-JP" alt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3"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400" b="0" u="none" strike="noStrike">
                <a:solidFill>
                  <a:schemeClr val="lt1"/>
                </a:solidFill>
                <a:effectLst/>
                <a:uFillTx/>
                <a:latin typeface="メイリオ"/>
                <a:ea typeface="メイリオ"/>
              </a:rPr>
              <a:t>あらうち様向けプラン</a:t>
            </a:r>
            <a:endParaRPr lang="en-US" sz="1400" b="0" u="none" strike="noStrike">
              <a:solidFill>
                <a:srgbClr val="FFFFFF"/>
              </a:solidFill>
              <a:effectLst/>
              <a:uFillTx/>
              <a:latin typeface="Arial"/>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Arial"/>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chemeClr val="dk1"/>
                </a:solidFill>
                <a:effectLst/>
                <a:uFillTx/>
                <a:latin typeface="メイリオ"/>
                <a:ea typeface="メイリオ"/>
              </a:rPr>
              <a:t>コンサル型の運用内容を比較します（プラン④は17ページ）。</a:t>
            </a:r>
            <a:endParaRPr lang="en-US" sz="1600" b="0" u="none" strike="noStrike">
              <a:solidFill>
                <a:srgbClr val="000000"/>
              </a:solidFill>
              <a:effectLst/>
              <a:uFillTx/>
              <a:latin typeface="Arial"/>
            </a:endParaRPr>
          </a:p>
        </p:txBody>
      </p:sp>
      <p:graphicFrame>
        <p:nvGraphicFramePr>
          <p:cNvPr id="6" name="運用内容比較表 5"/>
          <p:cNvGraphicFramePr>
            <a:graphicFrameLocks noGrp="1"/>
          </p:cNvGraphicFramePr>
          <p:nvPr/>
        </p:nvGraphicFramePr>
        <p:xfrm>
          <a:off x="384048" y="1353312"/>
          <a:ext cx="9144000" cy="3456432"/>
        </p:xfrm>
        <a:graphic>
          <a:graphicData uri="http://schemas.openxmlformats.org/drawingml/2006/table">
            <a:tbl>
              <a:tblPr/>
              <a:tblGrid>
                <a:gridCol w="1554480">
                  <a:extLst>
                    <a:ext uri="{9D8B030D-6E8A-4147-A177-3AD203B41FA5}">
                      <a16:colId xmlns:a16="http://schemas.microsoft.com/office/drawing/2014/main" val="20000"/>
                    </a:ext>
                  </a:extLst>
                </a:gridCol>
                <a:gridCol w="1897380">
                  <a:extLst>
                    <a:ext uri="{9D8B030D-6E8A-4147-A177-3AD203B41FA5}">
                      <a16:colId xmlns:a16="http://schemas.microsoft.com/office/drawing/2014/main" val="20001"/>
                    </a:ext>
                  </a:extLst>
                </a:gridCol>
                <a:gridCol w="1897380">
                  <a:extLst>
                    <a:ext uri="{9D8B030D-6E8A-4147-A177-3AD203B41FA5}">
                      <a16:colId xmlns:a16="http://schemas.microsoft.com/office/drawing/2014/main" val="20002"/>
                    </a:ext>
                  </a:extLst>
                </a:gridCol>
                <a:gridCol w="1897380">
                  <a:extLst>
                    <a:ext uri="{9D8B030D-6E8A-4147-A177-3AD203B41FA5}">
                      <a16:colId xmlns:a16="http://schemas.microsoft.com/office/drawing/2014/main" val="20003"/>
                    </a:ext>
                  </a:extLst>
                </a:gridCol>
                <a:gridCol w="1897380">
                  <a:extLst>
                    <a:ext uri="{9D8B030D-6E8A-4147-A177-3AD203B41FA5}">
                      <a16:colId xmlns:a16="http://schemas.microsoft.com/office/drawing/2014/main" val="20004"/>
                    </a:ext>
                  </a:extLst>
                </a:gridCol>
              </a:tblGrid>
              <a:tr h="566928">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プラン④</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成果報酬型</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603504">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月額費用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13.5万円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8.5万円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ツール利用料</a:t>
                      </a:r>
                      <a:br>
                        <a:rPr lang="ja-JP" altLang="en-US" sz="1400" b="1" dirty="0">
                          <a:solidFill>
                            <a:srgbClr val="1F285A"/>
                          </a:solidFill>
                          <a:latin typeface="メイリオ" panose="020B0604030504040204" pitchFamily="50" charset="-128"/>
                          <a:ea typeface="メイリオ" panose="020B0604030504040204" pitchFamily="50" charset="-128"/>
                        </a:rPr>
                      </a:br>
                      <a:r>
                        <a:rPr lang="ja-JP" altLang="en-US" sz="1400" b="1" dirty="0">
                          <a:solidFill>
                            <a:srgbClr val="1F285A"/>
                          </a:solidFill>
                          <a:latin typeface="メイリオ" panose="020B0604030504040204" pitchFamily="50" charset="-128"/>
                          <a:ea typeface="メイリオ" panose="020B0604030504040204" pitchFamily="50" charset="-128"/>
                        </a:rPr>
                        <a:t>＋手数料</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007A3D"/>
                          </a:solidFill>
                          <a:latin typeface="メイリオ" panose="020B0604030504040204" pitchFamily="50" charset="-128"/>
                          <a:ea typeface="メイリオ" panose="020B0604030504040204" pitchFamily="50" charset="-128"/>
                        </a:rPr>
                        <a:t>8,000円×</a:t>
                      </a:r>
                      <a:br>
                        <a:rPr lang="ja-JP" altLang="en-US" sz="1400" b="1" dirty="0">
                          <a:solidFill>
                            <a:srgbClr val="007A3D"/>
                          </a:solidFill>
                          <a:latin typeface="メイリオ" panose="020B0604030504040204" pitchFamily="50" charset="-128"/>
                          <a:ea typeface="メイリオ" panose="020B0604030504040204" pitchFamily="50" charset="-128"/>
                        </a:rPr>
                      </a:br>
                      <a:r>
                        <a:rPr lang="ja-JP" altLang="en-US" sz="1400" b="1" dirty="0">
                          <a:solidFill>
                            <a:srgbClr val="007A3D"/>
                          </a:solidFill>
                          <a:latin typeface="メイリオ" panose="020B0604030504040204" pitchFamily="50" charset="-128"/>
                          <a:ea typeface="メイリオ" panose="020B0604030504040204" pitchFamily="50" charset="-128"/>
                        </a:rPr>
                        <a:t>有効CV件数</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D5ECDC"/>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月4〜5本</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月1〜2本</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rowSpan="5">
                  <a:txBody>
                    <a:bodyPr/>
                    <a:lstStyle/>
                    <a:p>
                      <a:pPr algn="ctr">
                        <a:buNone/>
                      </a:pPr>
                      <a:r>
                        <a:rPr lang="ja-JP" altLang="en-US" sz="1300" b="1" dirty="0">
                          <a:solidFill>
                            <a:srgbClr val="007A3D"/>
                          </a:solidFill>
                          <a:latin typeface="メイリオ" panose="020B0604030504040204" pitchFamily="50" charset="-128"/>
                          <a:ea typeface="メイリオ" panose="020B0604030504040204" pitchFamily="50" charset="-128"/>
                        </a:rPr>
                        <a:t>専用フォームで</a:t>
                      </a:r>
                      <a:br>
                        <a:rPr lang="ja-JP" altLang="en-US" sz="1300" b="1" dirty="0">
                          <a:solidFill>
                            <a:srgbClr val="007A3D"/>
                          </a:solidFill>
                          <a:latin typeface="メイリオ" panose="020B0604030504040204" pitchFamily="50" charset="-128"/>
                          <a:ea typeface="メイリオ" panose="020B0604030504040204" pitchFamily="50" charset="-128"/>
                        </a:rPr>
                      </a:br>
                      <a:r>
                        <a:rPr lang="ja-JP" altLang="en-US" sz="1300" b="1" dirty="0">
                          <a:solidFill>
                            <a:srgbClr val="007A3D"/>
                          </a:solidFill>
                          <a:latin typeface="メイリオ" panose="020B0604030504040204" pitchFamily="50" charset="-128"/>
                          <a:ea typeface="メイリオ" panose="020B0604030504040204" pitchFamily="50" charset="-128"/>
                        </a:rPr>
                        <a:t>有効CVを計測し、</a:t>
                      </a:r>
                      <a:endParaRPr lang="ja-JP" altLang="en-US" sz="1300" dirty="0"/>
                    </a:p>
                    <a:p>
                      <a:pPr algn="ctr">
                        <a:buNone/>
                      </a:pPr>
                      <a:r>
                        <a:rPr lang="ja-JP" altLang="en-US" sz="1300" b="1" dirty="0">
                          <a:solidFill>
                            <a:srgbClr val="007A3D"/>
                          </a:solidFill>
                          <a:latin typeface="メイリオ" panose="020B0604030504040204" pitchFamily="50" charset="-128"/>
                          <a:ea typeface="メイリオ" panose="020B0604030504040204" pitchFamily="50" charset="-128"/>
                        </a:rPr>
                        <a:t>件数に応じて</a:t>
                      </a:r>
                      <a:br>
                        <a:rPr lang="ja-JP" altLang="en-US" sz="1300" b="1" dirty="0">
                          <a:solidFill>
                            <a:srgbClr val="007A3D"/>
                          </a:solidFill>
                          <a:latin typeface="メイリオ" panose="020B0604030504040204" pitchFamily="50" charset="-128"/>
                          <a:ea typeface="メイリオ" panose="020B0604030504040204" pitchFamily="50" charset="-128"/>
                        </a:rPr>
                      </a:br>
                      <a:r>
                        <a:rPr lang="ja-JP" altLang="en-US" sz="1300" b="1" dirty="0">
                          <a:solidFill>
                            <a:srgbClr val="007A3D"/>
                          </a:solidFill>
                          <a:latin typeface="メイリオ" panose="020B0604030504040204" pitchFamily="50" charset="-128"/>
                          <a:ea typeface="メイリオ" panose="020B0604030504040204" pitchFamily="50" charset="-128"/>
                        </a:rPr>
                        <a:t>成果報酬をご請求</a:t>
                      </a:r>
                      <a:endParaRPr lang="ja-JP" altLang="en-US" sz="1300" dirty="0"/>
                    </a:p>
                    <a:p>
                      <a:pPr algn="ctr">
                        <a:buNone/>
                      </a:pPr>
                      <a:r>
                        <a:rPr lang="ja-JP" altLang="en-US" sz="1200" b="1" dirty="0">
                          <a:solidFill>
                            <a:srgbClr val="007A3D"/>
                          </a:solidFill>
                          <a:latin typeface="メイリオ" panose="020B0604030504040204" pitchFamily="50" charset="-128"/>
                          <a:ea typeface="メイリオ" panose="020B0604030504040204" pitchFamily="50" charset="-128"/>
                        </a:rPr>
                        <a:t>（17ページ）</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10通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extLst>
                  <a:ext uri="{0D108BD9-81ED-4DB2-BD59-A6C34878D82A}">
                    <a16:rowId xmlns:a16="http://schemas.microsoft.com/office/drawing/2014/main" val="10003"/>
                  </a:ext>
                </a:extLst>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初期導入支援</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継続改善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限定的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extLst>
                  <a:ext uri="{0D108BD9-81ED-4DB2-BD59-A6C34878D82A}">
                    <a16:rowId xmlns:a16="http://schemas.microsoft.com/office/drawing/2014/main" val="10005"/>
                  </a:ext>
                </a:extLst>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API連携・開発</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必要に応じ別途見積</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extLst>
                  <a:ext uri="{0D108BD9-81ED-4DB2-BD59-A6C34878D82A}">
                    <a16:rowId xmlns:a16="http://schemas.microsoft.com/office/drawing/2014/main" val="10006"/>
                  </a:ext>
                </a:extLst>
              </a:tr>
            </a:tbl>
          </a:graphicData>
        </a:graphic>
      </p:graphicFrame>
      <p:sp>
        <p:nvSpPr>
          <p:cNvPr id="7" name="注記"/>
          <p:cNvSpPr/>
          <p:nvPr/>
        </p:nvSpPr>
        <p:spPr>
          <a:xfrm>
            <a:off x="384048" y="4992624"/>
            <a:ext cx="9144000" cy="1499615"/>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※API連携・開発は基本料金に含まれません。必要に応じて、プラン①で別途お見積りします。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※13ページの試算（6か月目に月23件）は、プラン①｜総合運用の基本施策を対象としたものです。プラン②・③の成果は含みません。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※プラン④の参考試算（月間の有効CV 23件（仮））は、17ページに記載しています。</a:t>
            </a:r>
            <a:endParaRPr lang="ja-JP" alt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3"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400" b="0" u="none" strike="noStrike">
                <a:solidFill>
                  <a:schemeClr val="lt1"/>
                </a:solidFill>
                <a:effectLst/>
                <a:uFillTx/>
                <a:latin typeface="メイリオ"/>
                <a:ea typeface="メイリオ"/>
              </a:rPr>
              <a:t>あらうち様向けプラン</a:t>
            </a:r>
            <a:endParaRPr lang="en-US" sz="1400" b="0" u="none" strike="noStrike">
              <a:solidFill>
                <a:srgbClr val="FFFFFF"/>
              </a:solidFill>
              <a:effectLst/>
              <a:uFillTx/>
              <a:latin typeface="Arial"/>
            </a:endParaRPr>
          </a:p>
        </p:txBody>
      </p:sp>
      <p:sp>
        <p:nvSpPr>
          <p:cNvPr id="4" name="正方形/長方形 8"/>
          <p:cNvSpPr/>
          <p:nvPr/>
        </p:nvSpPr>
        <p:spPr>
          <a:xfrm>
            <a:off x="0" y="681480"/>
            <a:ext cx="2914200" cy="50256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プラン④｜成果報酬型</a:t>
            </a:r>
            <a:endParaRPr lang="en-US" sz="1400" b="0" u="none" strike="noStrike">
              <a:solidFill>
                <a:srgbClr val="FFFFFF"/>
              </a:solidFill>
              <a:effectLst/>
              <a:uFillTx/>
              <a:latin typeface="Arial"/>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chemeClr val="dk1"/>
                </a:solidFill>
                <a:effectLst/>
                <a:uFillTx/>
                <a:latin typeface="メイリオ"/>
                <a:ea typeface="メイリオ"/>
              </a:rPr>
              <a:t>固定のコンサル費はなく、有効CVの件数に応じてご請求します。</a:t>
            </a:r>
            <a:endParaRPr lang="en-US" sz="1600" b="0" u="none" strike="noStrike">
              <a:solidFill>
                <a:srgbClr val="000000"/>
              </a:solidFill>
              <a:effectLst/>
              <a:uFillTx/>
              <a:latin typeface="Arial"/>
            </a:endParaRPr>
          </a:p>
        </p:txBody>
      </p:sp>
      <p:sp>
        <p:nvSpPr>
          <p:cNvPr id="6" name="見出し：有効CVの数え方"/>
          <p:cNvSpPr/>
          <p:nvPr/>
        </p:nvSpPr>
        <p:spPr>
          <a:xfrm>
            <a:off x="384048" y="1335024"/>
            <a:ext cx="4572000" cy="274320"/>
          </a:xfrm>
          <a:prstGeom prst="rect">
            <a:avLst/>
          </a:prstGeom>
          <a:noFill/>
          <a:ln>
            <a:noFill/>
          </a:ln>
        </p:spPr>
        <p:txBody>
          <a:bodyPr wrap="square" lIns="18288" tIns="0" rIns="18288" bIns="0" rtlCol="0" anchor="ctr">
            <a:noAutofit/>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有効CVの数え方</a:t>
            </a:r>
            <a:endParaRPr lang="ja-JP" altLang="en-US" sz="1300" dirty="0"/>
          </a:p>
        </p:txBody>
      </p:sp>
      <p:sp>
        <p:nvSpPr>
          <p:cNvPr id="7" name="流れ1の見出し"/>
          <p:cNvSpPr/>
          <p:nvPr/>
        </p:nvSpPr>
        <p:spPr>
          <a:xfrm>
            <a:off x="384048" y="1645920"/>
            <a:ext cx="2084831" cy="365760"/>
          </a:xfrm>
          <a:prstGeom prst="rect">
            <a:avLst/>
          </a:prstGeom>
          <a:solidFill>
            <a:srgbClr val="1F285A"/>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1　友だち</a:t>
            </a:r>
            <a:endParaRPr lang="ja-JP" altLang="en-US" sz="1300" dirty="0"/>
          </a:p>
        </p:txBody>
      </p:sp>
      <p:sp>
        <p:nvSpPr>
          <p:cNvPr id="8" name="流れ1の内容"/>
          <p:cNvSpPr/>
          <p:nvPr/>
        </p:nvSpPr>
        <p:spPr>
          <a:xfrm>
            <a:off x="384048"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新規・既存の友だち</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どちらも成果の対象です</a:t>
            </a:r>
            <a:endParaRPr lang="ja-JP" altLang="en-US" sz="1200" dirty="0"/>
          </a:p>
        </p:txBody>
      </p:sp>
      <p:sp>
        <p:nvSpPr>
          <p:cNvPr id="9" name="矢印1"/>
          <p:cNvSpPr/>
          <p:nvPr/>
        </p:nvSpPr>
        <p:spPr>
          <a:xfrm>
            <a:off x="2496311" y="2221991"/>
            <a:ext cx="201168" cy="219456"/>
          </a:xfrm>
          <a:prstGeom prst="rightArrow">
            <a:avLst/>
          </a:prstGeom>
          <a:solidFill>
            <a:srgbClr val="7F7F7F"/>
          </a:solidFill>
          <a:ln>
            <a:noFill/>
          </a:ln>
        </p:spPr>
        <p:txBody>
          <a:bodyPr/>
          <a:lstStyle/>
          <a:p>
            <a:endParaRPr lang="ja-JP" altLang="en-US"/>
          </a:p>
        </p:txBody>
      </p:sp>
      <p:sp>
        <p:nvSpPr>
          <p:cNvPr id="10" name="流れ2の見出し"/>
          <p:cNvSpPr/>
          <p:nvPr/>
        </p:nvSpPr>
        <p:spPr>
          <a:xfrm>
            <a:off x="2724911" y="1645920"/>
            <a:ext cx="2084831" cy="365760"/>
          </a:xfrm>
          <a:prstGeom prst="rect">
            <a:avLst/>
          </a:prstGeom>
          <a:solidFill>
            <a:srgbClr val="1F285A"/>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2　専用フォーム</a:t>
            </a:r>
            <a:endParaRPr lang="ja-JP" altLang="en-US" sz="1300" dirty="0"/>
          </a:p>
        </p:txBody>
      </p:sp>
      <p:sp>
        <p:nvSpPr>
          <p:cNvPr id="11" name="流れ2の内容"/>
          <p:cNvSpPr/>
          <p:nvPr/>
        </p:nvSpPr>
        <p:spPr>
          <a:xfrm>
            <a:off x="2724911"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LINE上の専用フォームで</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物件情報を送信（CV地点）</a:t>
            </a:r>
            <a:endParaRPr lang="ja-JP" altLang="en-US" sz="1200" dirty="0"/>
          </a:p>
        </p:txBody>
      </p:sp>
      <p:sp>
        <p:nvSpPr>
          <p:cNvPr id="12" name="矢印2"/>
          <p:cNvSpPr/>
          <p:nvPr/>
        </p:nvSpPr>
        <p:spPr>
          <a:xfrm>
            <a:off x="4837176" y="2221991"/>
            <a:ext cx="201168" cy="219456"/>
          </a:xfrm>
          <a:prstGeom prst="rightArrow">
            <a:avLst/>
          </a:prstGeom>
          <a:solidFill>
            <a:srgbClr val="7F7F7F"/>
          </a:solidFill>
          <a:ln>
            <a:noFill/>
          </a:ln>
        </p:spPr>
        <p:txBody>
          <a:bodyPr/>
          <a:lstStyle/>
          <a:p>
            <a:endParaRPr lang="ja-JP" altLang="en-US"/>
          </a:p>
        </p:txBody>
      </p:sp>
      <p:sp>
        <p:nvSpPr>
          <p:cNvPr id="13" name="流れ3の見出し"/>
          <p:cNvSpPr/>
          <p:nvPr/>
        </p:nvSpPr>
        <p:spPr>
          <a:xfrm>
            <a:off x="5065775" y="1645920"/>
            <a:ext cx="2084831" cy="365760"/>
          </a:xfrm>
          <a:prstGeom prst="rect">
            <a:avLst/>
          </a:prstGeom>
          <a:solidFill>
            <a:srgbClr val="1F285A"/>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3　有効CVの集計</a:t>
            </a:r>
            <a:endParaRPr lang="ja-JP" altLang="en-US" sz="1300" dirty="0"/>
          </a:p>
        </p:txBody>
      </p:sp>
      <p:sp>
        <p:nvSpPr>
          <p:cNvPr id="14" name="流れ3の内容"/>
          <p:cNvSpPr/>
          <p:nvPr/>
        </p:nvSpPr>
        <p:spPr>
          <a:xfrm>
            <a:off x="5065775"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有効CVとして集計</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重複・テスト送信などの</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無効CVは除外</a:t>
            </a:r>
            <a:endParaRPr lang="ja-JP" altLang="en-US" sz="1200" dirty="0"/>
          </a:p>
        </p:txBody>
      </p:sp>
      <p:sp>
        <p:nvSpPr>
          <p:cNvPr id="15" name="矢印3"/>
          <p:cNvSpPr/>
          <p:nvPr/>
        </p:nvSpPr>
        <p:spPr>
          <a:xfrm>
            <a:off x="7178039" y="2221991"/>
            <a:ext cx="201168" cy="219456"/>
          </a:xfrm>
          <a:prstGeom prst="rightArrow">
            <a:avLst/>
          </a:prstGeom>
          <a:solidFill>
            <a:srgbClr val="7F7F7F"/>
          </a:solidFill>
          <a:ln>
            <a:noFill/>
          </a:ln>
        </p:spPr>
        <p:txBody>
          <a:bodyPr/>
          <a:lstStyle/>
          <a:p>
            <a:endParaRPr lang="ja-JP" altLang="en-US"/>
          </a:p>
        </p:txBody>
      </p:sp>
      <p:sp>
        <p:nvSpPr>
          <p:cNvPr id="16" name="流れ4の見出し"/>
          <p:cNvSpPr/>
          <p:nvPr/>
        </p:nvSpPr>
        <p:spPr>
          <a:xfrm>
            <a:off x="7406640" y="1645920"/>
            <a:ext cx="2084831" cy="365760"/>
          </a:xfrm>
          <a:prstGeom prst="rect">
            <a:avLst/>
          </a:prstGeom>
          <a:solidFill>
            <a:srgbClr val="00B050"/>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4　成果報酬</a:t>
            </a:r>
            <a:endParaRPr lang="ja-JP" altLang="en-US" sz="1300" dirty="0"/>
          </a:p>
        </p:txBody>
      </p:sp>
      <p:sp>
        <p:nvSpPr>
          <p:cNvPr id="17" name="流れ4の内容"/>
          <p:cNvSpPr/>
          <p:nvPr/>
        </p:nvSpPr>
        <p:spPr>
          <a:xfrm>
            <a:off x="7406640"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有効CV件数 × 8,000円を</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月額成果報酬として</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ご請求します</a:t>
            </a:r>
            <a:endParaRPr lang="ja-JP" altLang="en-US" sz="1200" dirty="0"/>
          </a:p>
        </p:txBody>
      </p:sp>
      <p:sp>
        <p:nvSpPr>
          <p:cNvPr id="18" name="見出し：料金"/>
          <p:cNvSpPr/>
          <p:nvPr/>
        </p:nvSpPr>
        <p:spPr>
          <a:xfrm>
            <a:off x="384048" y="3200400"/>
            <a:ext cx="4434840" cy="329184"/>
          </a:xfrm>
          <a:prstGeom prst="rect">
            <a:avLst/>
          </a:prstGeom>
          <a:solidFill>
            <a:srgbClr val="00B050"/>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料金（プラン④）</a:t>
            </a:r>
            <a:endParaRPr lang="ja-JP" altLang="en-US" sz="1300" dirty="0"/>
          </a:p>
        </p:txBody>
      </p:sp>
      <p:graphicFrame>
        <p:nvGraphicFramePr>
          <p:cNvPr id="19" name="料金表 18"/>
          <p:cNvGraphicFramePr>
            <a:graphicFrameLocks noGrp="1"/>
          </p:cNvGraphicFramePr>
          <p:nvPr/>
        </p:nvGraphicFramePr>
        <p:xfrm>
          <a:off x="384048" y="3529584"/>
          <a:ext cx="4434840" cy="1609344"/>
        </p:xfrm>
        <a:graphic>
          <a:graphicData uri="http://schemas.openxmlformats.org/drawingml/2006/table">
            <a:tbl>
              <a:tblPr/>
              <a:tblGrid>
                <a:gridCol w="19659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初期費用</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333333"/>
                          </a:solidFill>
                          <a:latin typeface="メイリオ" panose="020B0604030504040204" pitchFamily="50" charset="-128"/>
                          <a:ea typeface="メイリオ" panose="020B0604030504040204" pitchFamily="50" charset="-128"/>
                        </a:rPr>
                        <a:t>215,000円</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月額固定コンサル費</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333333"/>
                          </a:solidFill>
                          <a:latin typeface="メイリオ" panose="020B0604030504040204" pitchFamily="50" charset="-128"/>
                          <a:ea typeface="メイリオ" panose="020B0604030504040204" pitchFamily="50" charset="-128"/>
                        </a:rPr>
                        <a:t>なし</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成果単価</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333333"/>
                          </a:solidFill>
                          <a:latin typeface="メイリオ" panose="020B0604030504040204" pitchFamily="50" charset="-128"/>
                          <a:ea typeface="メイリオ" panose="020B0604030504040204" pitchFamily="50" charset="-128"/>
                        </a:rPr>
                        <a:t>8,000円／有効CV</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月額成果報酬</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007A3D"/>
                          </a:solidFill>
                          <a:latin typeface="メイリオ" panose="020B0604030504040204" pitchFamily="50" charset="-128"/>
                          <a:ea typeface="メイリオ" panose="020B0604030504040204" pitchFamily="50" charset="-128"/>
                        </a:rPr>
                        <a:t>有効CV件数 × 8,000円</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0" name="見出し：参考試算"/>
          <p:cNvSpPr/>
          <p:nvPr/>
        </p:nvSpPr>
        <p:spPr>
          <a:xfrm>
            <a:off x="5029200" y="3200400"/>
            <a:ext cx="4498848" cy="329184"/>
          </a:xfrm>
          <a:prstGeom prst="rect">
            <a:avLst/>
          </a:prstGeom>
          <a:solidFill>
            <a:srgbClr val="00B050"/>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参考試算（月間）※成果保証ではありません</a:t>
            </a:r>
            <a:endParaRPr lang="ja-JP" altLang="en-US" sz="1300" dirty="0"/>
          </a:p>
        </p:txBody>
      </p:sp>
      <p:sp>
        <p:nvSpPr>
          <p:cNvPr id="21" name="参考試算"/>
          <p:cNvSpPr/>
          <p:nvPr/>
        </p:nvSpPr>
        <p:spPr>
          <a:xfrm>
            <a:off x="5029200" y="3529584"/>
            <a:ext cx="4498848" cy="1609344"/>
          </a:xfrm>
          <a:prstGeom prst="rect">
            <a:avLst/>
          </a:prstGeom>
          <a:solidFill>
            <a:srgbClr val="F4F7FF"/>
          </a:solidFill>
          <a:ln w="9525">
            <a:solidFill>
              <a:srgbClr val="D9D9D9"/>
            </a:solidFill>
          </a:ln>
        </p:spPr>
        <p:txBody>
          <a:bodyPr wrap="square" lIns="137160" tIns="54864" rIns="109728" bIns="54864" rtlCol="0" anchor="ctr">
            <a:noAutofit/>
          </a:bodyPr>
          <a:lstStyle/>
          <a:p>
            <a:pPr algn="l">
              <a:spcAft>
                <a:spcPts val="300"/>
              </a:spcAft>
              <a:buNone/>
            </a:pPr>
            <a:r>
              <a:rPr lang="ja-JP" altLang="en-US" sz="1300" b="1" dirty="0">
                <a:solidFill>
                  <a:srgbClr val="333333"/>
                </a:solidFill>
                <a:latin typeface="メイリオ" panose="020B0604030504040204" pitchFamily="50" charset="-128"/>
                <a:ea typeface="メイリオ" panose="020B0604030504040204" pitchFamily="50" charset="-128"/>
              </a:rPr>
              <a:t>月間の有効CV　23件（仮）</a:t>
            </a:r>
            <a:endParaRPr lang="ja-JP" altLang="en-US" sz="1300" dirty="0"/>
          </a:p>
          <a:p>
            <a:pPr algn="l">
              <a:spcAft>
                <a:spcPts val="300"/>
              </a:spcAft>
              <a:buNone/>
            </a:pPr>
            <a:r>
              <a:rPr lang="ja-JP" altLang="en-US" sz="1300" b="1" dirty="0">
                <a:solidFill>
                  <a:srgbClr val="333333"/>
                </a:solidFill>
                <a:latin typeface="メイリオ" panose="020B0604030504040204" pitchFamily="50" charset="-128"/>
                <a:ea typeface="メイリオ" panose="020B0604030504040204" pitchFamily="50" charset="-128"/>
              </a:rPr>
              <a:t>成果単価　8,000円／有効CV</a:t>
            </a:r>
            <a:endParaRPr lang="ja-JP" altLang="en-US" sz="1300" dirty="0"/>
          </a:p>
          <a:p>
            <a:pPr algn="l">
              <a:spcAft>
                <a:spcPts val="300"/>
              </a:spcAft>
              <a:buNone/>
            </a:pPr>
            <a:r>
              <a:rPr lang="ja-JP" altLang="en-US" sz="1400" b="1" dirty="0">
                <a:solidFill>
                  <a:srgbClr val="333333"/>
                </a:solidFill>
                <a:latin typeface="メイリオ" panose="020B0604030504040204" pitchFamily="50" charset="-128"/>
                <a:ea typeface="メイリオ" panose="020B0604030504040204" pitchFamily="50" charset="-128"/>
              </a:rPr>
              <a:t>月間成果報酬　</a:t>
            </a:r>
            <a:r>
              <a:rPr lang="ja-JP" altLang="en-US" sz="2200" b="1" dirty="0">
                <a:solidFill>
                  <a:srgbClr val="C00000"/>
                </a:solidFill>
                <a:latin typeface="メイリオ" panose="020B0604030504040204" pitchFamily="50" charset="-128"/>
                <a:ea typeface="メイリオ" panose="020B0604030504040204" pitchFamily="50" charset="-128"/>
              </a:rPr>
              <a:t>184,000円（試算）</a:t>
            </a:r>
            <a:endParaRPr lang="ja-JP" altLang="en-US" sz="1300" dirty="0"/>
          </a:p>
          <a:p>
            <a:pPr algn="l">
              <a:spcAft>
                <a:spcPts val="300"/>
              </a:spcAft>
              <a:buNone/>
            </a:pPr>
            <a:r>
              <a:rPr lang="ja-JP" altLang="en-US" sz="1100" b="0" dirty="0">
                <a:solidFill>
                  <a:srgbClr val="444444"/>
                </a:solidFill>
                <a:latin typeface="メイリオ" panose="020B0604030504040204" pitchFamily="50" charset="-128"/>
                <a:ea typeface="メイリオ" panose="020B0604030504040204" pitchFamily="50" charset="-128"/>
              </a:rPr>
              <a:t>13ページの試算（6か月目）の23件を参考値にしています。</a:t>
            </a:r>
            <a:br>
              <a:rPr lang="ja-JP" altLang="en-US" sz="1100" b="0" dirty="0">
                <a:solidFill>
                  <a:srgbClr val="444444"/>
                </a:solidFill>
                <a:latin typeface="メイリオ" panose="020B0604030504040204" pitchFamily="50" charset="-128"/>
                <a:ea typeface="メイリオ" panose="020B0604030504040204" pitchFamily="50" charset="-128"/>
              </a:rPr>
            </a:br>
            <a:r>
              <a:rPr lang="ja-JP" altLang="en-US" sz="1100" b="0" dirty="0">
                <a:solidFill>
                  <a:srgbClr val="444444"/>
                </a:solidFill>
                <a:latin typeface="メイリオ" panose="020B0604030504040204" pitchFamily="50" charset="-128"/>
                <a:ea typeface="メイリオ" panose="020B0604030504040204" pitchFamily="50" charset="-128"/>
              </a:rPr>
              <a:t>実際の有効CV件数に応じたご請求です。</a:t>
            </a:r>
            <a:endParaRPr lang="ja-JP" altLang="en-US" sz="1300" dirty="0"/>
          </a:p>
        </p:txBody>
      </p:sp>
      <p:sp>
        <p:nvSpPr>
          <p:cNvPr id="22" name="注記"/>
          <p:cNvSpPr/>
          <p:nvPr/>
        </p:nvSpPr>
        <p:spPr>
          <a:xfrm>
            <a:off x="384048" y="5230368"/>
            <a:ext cx="9144000" cy="1261872"/>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※成果の対象は、新規・既存の友だちの両方です。CV地点は、LINE上の専用フォームからの物件情報の送信です。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※専用フォームの設置・計測により、有効CV数を把握します。重複・テスト送信などの無効CVは成果対象から除外します。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※コンサル型（プラン①〜③）と成果報酬型（プラン④）は別契約です。固定のコンサル費と成果報酬を併せて請求することはありません。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※専用フォームの構築に必要な技術要件・ツール費用は確認中です。確定次第ご案内します。</a:t>
            </a:r>
            <a:endParaRPr lang="ja-JP" alt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実施施策</a:t>
            </a:r>
            <a:endParaRPr lang="en-US" sz="1600" b="0" u="none" strike="noStrike">
              <a:solidFill>
                <a:srgbClr val="000000"/>
              </a:solidFill>
              <a:effectLst/>
              <a:uFillTx/>
              <a:latin typeface="Arial"/>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a:solidFill>
                  <a:srgbClr val="5A6378"/>
                </a:solidFill>
                <a:effectLst/>
                <a:uFillTx/>
                <a:latin typeface="メイリオ"/>
                <a:ea typeface="メイリオ"/>
              </a:rPr>
              <a:t>友だち追加から</a:t>
            </a:r>
            <a:r>
              <a:rPr lang="en-US" sz="1400" b="0" u="none" strike="noStrike">
                <a:solidFill>
                  <a:srgbClr val="5A6378"/>
                </a:solidFill>
                <a:effectLst/>
                <a:uFillTx/>
                <a:latin typeface="メイリオ"/>
                <a:ea typeface="メイリオ"/>
              </a:rPr>
              <a:t>14</a:t>
            </a:r>
            <a:r>
              <a:rPr lang="zh-CN" sz="1400" b="0" u="none" strike="noStrike">
                <a:solidFill>
                  <a:srgbClr val="5A6378"/>
                </a:solidFill>
                <a:effectLst/>
                <a:uFillTx/>
                <a:latin typeface="メイリオ"/>
                <a:ea typeface="メイリオ"/>
              </a:rPr>
              <a:t>日間のステップ配信（全</a:t>
            </a:r>
            <a:r>
              <a:rPr lang="en-US" sz="1400" b="0" u="none" strike="noStrike">
                <a:solidFill>
                  <a:srgbClr val="5A6378"/>
                </a:solidFill>
                <a:effectLst/>
                <a:uFillTx/>
                <a:latin typeface="メイリオ"/>
                <a:ea typeface="メイリオ"/>
              </a:rPr>
              <a:t>10</a:t>
            </a:r>
            <a:r>
              <a:rPr lang="zh-CN" sz="1400" b="0" u="none" strike="noStrike">
                <a:solidFill>
                  <a:srgbClr val="5A6378"/>
                </a:solidFill>
                <a:effectLst/>
                <a:uFillTx/>
                <a:latin typeface="メイリオ"/>
                <a:ea typeface="メイリオ"/>
              </a:rPr>
              <a:t>通）と月</a:t>
            </a:r>
            <a:r>
              <a:rPr lang="en-US" sz="1400" b="0" u="none" strike="noStrike">
                <a:solidFill>
                  <a:srgbClr val="5A6378"/>
                </a:solidFill>
                <a:effectLst/>
                <a:uFillTx/>
                <a:latin typeface="メイリオ"/>
                <a:ea typeface="メイリオ"/>
              </a:rPr>
              <a:t>4</a:t>
            </a:r>
            <a:r>
              <a:rPr lang="zh-CN" sz="1400" b="0" u="none" strike="noStrike">
                <a:solidFill>
                  <a:srgbClr val="5A6378"/>
                </a:solidFill>
                <a:effectLst/>
                <a:uFillTx/>
                <a:latin typeface="メイリオ"/>
                <a:ea typeface="メイリオ"/>
              </a:rPr>
              <a:t>本の企画配信で、物件</a:t>
            </a:r>
            <a:r>
              <a:rPr lang="en-US" sz="1400" b="0" u="none" strike="noStrike">
                <a:solidFill>
                  <a:srgbClr val="5A6378"/>
                </a:solidFill>
                <a:effectLst/>
                <a:uFillTx/>
                <a:latin typeface="メイリオ"/>
                <a:ea typeface="メイリオ"/>
              </a:rPr>
              <a:t>URL</a:t>
            </a:r>
            <a:r>
              <a:rPr lang="zh-CN" sz="1400" b="0" u="none" strike="noStrike">
                <a:solidFill>
                  <a:srgbClr val="5A6378"/>
                </a:solidFill>
                <a:effectLst/>
                <a:uFillTx/>
                <a:latin typeface="メイリオ"/>
                <a:ea typeface="メイリオ"/>
              </a:rPr>
              <a:t>の送信を後押しします</a:t>
            </a:r>
            <a:endParaRPr lang="en-US" sz="1400" b="0" u="none" strike="noStrike">
              <a:solidFill>
                <a:srgbClr val="000000"/>
              </a:solidFill>
              <a:effectLst/>
              <a:uFillTx/>
              <a:latin typeface="Arial"/>
            </a:endParaRPr>
          </a:p>
        </p:txBody>
      </p:sp>
      <p:sp>
        <p:nvSpPr>
          <p:cNvPr id="387" name="TextBox 3"/>
          <p:cNvSpPr/>
          <p:nvPr/>
        </p:nvSpPr>
        <p:spPr>
          <a:xfrm>
            <a:off x="384120" y="137160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ステップ配信・全</a:t>
            </a:r>
            <a:r>
              <a:rPr lang="en-US" sz="1400" b="1" u="none" strike="noStrike">
                <a:solidFill>
                  <a:srgbClr val="1F2A5C"/>
                </a:solidFill>
                <a:effectLst/>
                <a:uFillTx/>
                <a:latin typeface="メイリオ"/>
                <a:ea typeface="メイリオ"/>
              </a:rPr>
              <a:t>10</a:t>
            </a:r>
            <a:r>
              <a:rPr lang="zh-CN" sz="1400" b="1" u="none" strike="noStrike">
                <a:solidFill>
                  <a:srgbClr val="1F2A5C"/>
                </a:solidFill>
                <a:effectLst/>
                <a:uFillTx/>
                <a:latin typeface="メイリオ"/>
                <a:ea typeface="メイリオ"/>
              </a:rPr>
              <a:t>通</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388" name="Rounded Rectangle 4"/>
          <p:cNvSpPr/>
          <p:nvPr/>
        </p:nvSpPr>
        <p:spPr>
          <a:xfrm>
            <a:off x="384120" y="192024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1</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3</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389" name="Rounded Rectangle 5"/>
          <p:cNvSpPr/>
          <p:nvPr/>
        </p:nvSpPr>
        <p:spPr>
          <a:xfrm>
            <a:off x="1426320" y="192024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390" name="Right Arrow 6"/>
          <p:cNvSpPr/>
          <p:nvPr/>
        </p:nvSpPr>
        <p:spPr>
          <a:xfrm>
            <a:off x="26150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1" name="Rounded Rectangle 7"/>
          <p:cNvSpPr/>
          <p:nvPr/>
        </p:nvSpPr>
        <p:spPr>
          <a:xfrm>
            <a:off x="2853000" y="192024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392" name="Right Arrow 8"/>
          <p:cNvSpPr/>
          <p:nvPr/>
        </p:nvSpPr>
        <p:spPr>
          <a:xfrm>
            <a:off x="43160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4553640" y="1920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仲介手数料のしくみ</a:t>
            </a:r>
            <a:endParaRPr lang="en-US" sz="1200" b="0" u="none" strike="noStrike">
              <a:solidFill>
                <a:srgbClr val="000000"/>
              </a:solidFill>
              <a:effectLst/>
              <a:uFillTx/>
              <a:latin typeface="Arial"/>
            </a:endParaRPr>
          </a:p>
          <a:p>
            <a:pPr algn="ctr" defTabSz="914400">
              <a:lnSpc>
                <a:spcPct val="90000"/>
              </a:lnSpc>
              <a:tabLst>
                <a:tab pos="0" algn="l"/>
              </a:tabLst>
            </a:pPr>
            <a:r>
              <a:rPr lang="en-US" sz="1200" b="0" u="none" strike="noStrike">
                <a:solidFill>
                  <a:srgbClr val="333333"/>
                </a:solidFill>
                <a:effectLst/>
                <a:uFillTx/>
                <a:latin typeface="メイリオ"/>
                <a:ea typeface="メイリオ"/>
              </a:rPr>
              <a:t>100</a:t>
            </a:r>
            <a:r>
              <a:rPr lang="zh-CN" sz="1200" b="0" u="none" strike="noStrike">
                <a:solidFill>
                  <a:srgbClr val="333333"/>
                </a:solidFill>
                <a:effectLst/>
                <a:uFillTx/>
                <a:latin typeface="メイリオ"/>
                <a:ea typeface="メイリオ"/>
              </a:rPr>
              <a:t>円チェッカー</a:t>
            </a:r>
            <a:endParaRPr lang="en-US" sz="1200" b="0" u="none" strike="noStrike">
              <a:solidFill>
                <a:srgbClr val="000000"/>
              </a:solidFill>
              <a:effectLst/>
              <a:uFillTx/>
              <a:latin typeface="Arial"/>
            </a:endParaRPr>
          </a:p>
        </p:txBody>
      </p:sp>
      <p:sp>
        <p:nvSpPr>
          <p:cNvPr id="394" name="Right Arrow 10"/>
          <p:cNvSpPr/>
          <p:nvPr/>
        </p:nvSpPr>
        <p:spPr>
          <a:xfrm>
            <a:off x="61448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6382440" y="1920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a:t>
            </a:r>
            <a:r>
              <a:rPr lang="en-US" sz="1200" b="0" u="none" strike="noStrike">
                <a:solidFill>
                  <a:srgbClr val="333333"/>
                </a:solidFill>
                <a:effectLst/>
                <a:uFillTx/>
                <a:latin typeface="メイリオ"/>
                <a:ea typeface="メイリオ"/>
              </a:rPr>
              <a:t>URL</a:t>
            </a:r>
            <a:r>
              <a:rPr lang="zh-CN" sz="1200" b="0" u="none" strike="noStrike">
                <a:solidFill>
                  <a:srgbClr val="333333"/>
                </a:solidFill>
                <a:effectLst/>
                <a:uFillTx/>
                <a:latin typeface="メイリオ"/>
                <a:ea typeface="メイリオ"/>
              </a:rPr>
              <a:t>の送信</a:t>
            </a:r>
            <a:endParaRPr lang="en-US" sz="1200" b="0" u="none" strike="noStrike">
              <a:solidFill>
                <a:srgbClr val="000000"/>
              </a:solidFill>
              <a:effectLst/>
              <a:uFillTx/>
              <a:latin typeface="Arial"/>
            </a:endParaRPr>
          </a:p>
        </p:txBody>
      </p:sp>
      <p:sp>
        <p:nvSpPr>
          <p:cNvPr id="396" name="Right Arrow 12"/>
          <p:cNvSpPr/>
          <p:nvPr/>
        </p:nvSpPr>
        <p:spPr>
          <a:xfrm>
            <a:off x="79736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211240" y="192024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398" name="Rounded Rectangle 14"/>
          <p:cNvSpPr/>
          <p:nvPr/>
        </p:nvSpPr>
        <p:spPr>
          <a:xfrm>
            <a:off x="384120" y="246888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4</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7</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399" name="Rounded Rectangle 15"/>
          <p:cNvSpPr/>
          <p:nvPr/>
        </p:nvSpPr>
        <p:spPr>
          <a:xfrm>
            <a:off x="1426320" y="246888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400" name="Right Arrow 16"/>
          <p:cNvSpPr/>
          <p:nvPr/>
        </p:nvSpPr>
        <p:spPr>
          <a:xfrm>
            <a:off x="26150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1" name="Rounded Rectangle 17"/>
          <p:cNvSpPr/>
          <p:nvPr/>
        </p:nvSpPr>
        <p:spPr>
          <a:xfrm>
            <a:off x="2853000" y="246888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402" name="Right Arrow 18"/>
          <p:cNvSpPr/>
          <p:nvPr/>
        </p:nvSpPr>
        <p:spPr>
          <a:xfrm>
            <a:off x="43160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4553640" y="2468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ポータルでの探し方</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内見済みでも相談可</a:t>
            </a:r>
            <a:endParaRPr lang="en-US" sz="1200" b="0" u="none" strike="noStrike">
              <a:solidFill>
                <a:srgbClr val="000000"/>
              </a:solidFill>
              <a:effectLst/>
              <a:uFillTx/>
              <a:latin typeface="Arial"/>
            </a:endParaRPr>
          </a:p>
        </p:txBody>
      </p:sp>
      <p:sp>
        <p:nvSpPr>
          <p:cNvPr id="404" name="Right Arrow 20"/>
          <p:cNvSpPr/>
          <p:nvPr/>
        </p:nvSpPr>
        <p:spPr>
          <a:xfrm>
            <a:off x="61448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6382440" y="2468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比較中の方の後押し</a:t>
            </a:r>
            <a:endParaRPr lang="en-US" sz="1200" b="0" u="none" strike="noStrike">
              <a:solidFill>
                <a:srgbClr val="000000"/>
              </a:solidFill>
              <a:effectLst/>
              <a:uFillTx/>
              <a:latin typeface="Arial"/>
            </a:endParaRPr>
          </a:p>
        </p:txBody>
      </p:sp>
      <p:sp>
        <p:nvSpPr>
          <p:cNvPr id="406" name="Right Arrow 22"/>
          <p:cNvSpPr/>
          <p:nvPr/>
        </p:nvSpPr>
        <p:spPr>
          <a:xfrm>
            <a:off x="79736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211240" y="246888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08" name="Rounded Rectangle 24"/>
          <p:cNvSpPr/>
          <p:nvPr/>
        </p:nvSpPr>
        <p:spPr>
          <a:xfrm>
            <a:off x="384120" y="301752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9</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14</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409" name="Rounded Rectangle 25"/>
          <p:cNvSpPr/>
          <p:nvPr/>
        </p:nvSpPr>
        <p:spPr>
          <a:xfrm>
            <a:off x="1426320" y="301752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410" name="Right Arrow 26"/>
          <p:cNvSpPr/>
          <p:nvPr/>
        </p:nvSpPr>
        <p:spPr>
          <a:xfrm>
            <a:off x="26150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1" name="Rounded Rectangle 27"/>
          <p:cNvSpPr/>
          <p:nvPr/>
        </p:nvSpPr>
        <p:spPr>
          <a:xfrm>
            <a:off x="2853000" y="301752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412" name="Right Arrow 28"/>
          <p:cNvSpPr/>
          <p:nvPr/>
        </p:nvSpPr>
        <p:spPr>
          <a:xfrm>
            <a:off x="43160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4553640" y="301752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初期費用の交渉</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入居までの流れ</a:t>
            </a:r>
            <a:endParaRPr lang="en-US" sz="1200" b="0" u="none" strike="noStrike">
              <a:solidFill>
                <a:srgbClr val="000000"/>
              </a:solidFill>
              <a:effectLst/>
              <a:uFillTx/>
              <a:latin typeface="Arial"/>
            </a:endParaRPr>
          </a:p>
        </p:txBody>
      </p:sp>
      <p:sp>
        <p:nvSpPr>
          <p:cNvPr id="414" name="Right Arrow 30"/>
          <p:cNvSpPr/>
          <p:nvPr/>
        </p:nvSpPr>
        <p:spPr>
          <a:xfrm>
            <a:off x="61448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6382440" y="301752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お申込みの後押し</a:t>
            </a:r>
            <a:endParaRPr lang="en-US" sz="1200" b="0" u="none" strike="noStrike">
              <a:solidFill>
                <a:srgbClr val="000000"/>
              </a:solidFill>
              <a:effectLst/>
              <a:uFillTx/>
              <a:latin typeface="Arial"/>
            </a:endParaRPr>
          </a:p>
        </p:txBody>
      </p:sp>
      <p:sp>
        <p:nvSpPr>
          <p:cNvPr id="416" name="Right Arrow 32"/>
          <p:cNvSpPr/>
          <p:nvPr/>
        </p:nvSpPr>
        <p:spPr>
          <a:xfrm>
            <a:off x="79736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211240" y="301752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a:t>
            </a:r>
            <a:r>
              <a:rPr lang="en-US" sz="1200" b="0" u="none" strike="noStrike">
                <a:solidFill>
                  <a:srgbClr val="333333"/>
                </a:solidFill>
                <a:effectLst/>
                <a:uFillTx/>
                <a:latin typeface="メイリオ"/>
                <a:ea typeface="メイリオ"/>
              </a:rPr>
              <a:t>URL</a:t>
            </a:r>
            <a:r>
              <a:rPr lang="zh-CN" sz="1200" b="0" u="none" strike="noStrike">
                <a:solidFill>
                  <a:srgbClr val="333333"/>
                </a:solidFill>
                <a:effectLst/>
                <a:uFillTx/>
                <a:latin typeface="メイリオ"/>
                <a:ea typeface="メイリオ"/>
              </a:rPr>
              <a:t>の送り方</a:t>
            </a:r>
            <a:endParaRPr lang="en-US" sz="1200" b="0" u="none" strike="noStrike">
              <a:solidFill>
                <a:srgbClr val="000000"/>
              </a:solidFill>
              <a:effectLst/>
              <a:uFillTx/>
              <a:latin typeface="Arial"/>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a:t>
            </a:r>
            <a:endParaRPr lang="en-US" sz="1200" b="0" u="none" strike="noStrike">
              <a:solidFill>
                <a:srgbClr val="000000"/>
              </a:solidFill>
              <a:effectLst/>
              <a:uFillTx/>
              <a:latin typeface="Arial"/>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初期費用の内訳</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（家賃</a:t>
            </a:r>
            <a:r>
              <a:rPr lang="en-US" sz="1200" b="0" u="none" strike="noStrike">
                <a:solidFill>
                  <a:srgbClr val="333333"/>
                </a:solidFill>
                <a:effectLst/>
                <a:uFillTx/>
                <a:latin typeface="メイリオ"/>
                <a:ea typeface="メイリオ"/>
              </a:rPr>
              <a:t>10</a:t>
            </a:r>
            <a:r>
              <a:rPr lang="zh-CN" sz="1200" b="0" u="none" strike="noStrike">
                <a:solidFill>
                  <a:srgbClr val="333333"/>
                </a:solidFill>
                <a:effectLst/>
                <a:uFillTx/>
                <a:latin typeface="メイリオ"/>
                <a:ea typeface="メイリオ"/>
              </a:rPr>
              <a:t>万円の例）</a:t>
            </a:r>
            <a:endParaRPr lang="en-US" sz="1200" b="0" u="none" strike="noStrike">
              <a:solidFill>
                <a:srgbClr val="000000"/>
              </a:solidFill>
              <a:effectLst/>
              <a:uFillTx/>
              <a:latin typeface="Arial"/>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Arial"/>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物件を送っていない方</a:t>
            </a:r>
            <a:endParaRPr lang="en-US" sz="1200" b="0" u="none" strike="noStrike">
              <a:solidFill>
                <a:srgbClr val="000000"/>
              </a:solidFill>
              <a:effectLst/>
              <a:uFillTx/>
              <a:latin typeface="Arial"/>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問い合わせ済みを除く</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Arial"/>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内見済みでも相談可</a:t>
            </a:r>
            <a:endParaRPr lang="en-US" sz="1200" b="0" u="none" strike="noStrike">
              <a:solidFill>
                <a:srgbClr val="000000"/>
              </a:solidFill>
              <a:effectLst/>
              <a:uFillTx/>
              <a:latin typeface="Arial"/>
            </a:endParaRPr>
          </a:p>
          <a:p>
            <a:pPr algn="ctr" defTabSz="914400">
              <a:lnSpc>
                <a:spcPct val="90000"/>
              </a:lnSpc>
              <a:tabLst>
                <a:tab pos="0" algn="l"/>
              </a:tabLst>
            </a:pPr>
            <a:r>
              <a:rPr lang="en-US" sz="1200" b="0" u="none" strike="noStrike">
                <a:solidFill>
                  <a:srgbClr val="333333"/>
                </a:solidFill>
                <a:effectLst/>
                <a:uFillTx/>
                <a:latin typeface="メイリオ"/>
                <a:ea typeface="メイリオ"/>
              </a:rPr>
              <a:t>100</a:t>
            </a:r>
            <a:r>
              <a:rPr lang="zh-CN" sz="1200" b="0" u="none" strike="noStrike">
                <a:solidFill>
                  <a:srgbClr val="333333"/>
                </a:solidFill>
                <a:effectLst/>
                <a:uFillTx/>
                <a:latin typeface="メイリオ"/>
                <a:ea typeface="メイリオ"/>
              </a:rPr>
              <a:t>円チェッカー</a:t>
            </a:r>
            <a:endParaRPr lang="en-US" sz="1200" b="0" u="none" strike="noStrike">
              <a:solidFill>
                <a:srgbClr val="000000"/>
              </a:solidFill>
              <a:effectLst/>
              <a:uFillTx/>
              <a:latin typeface="Arial"/>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a:t>
            </a:r>
            <a:endParaRPr lang="en-US" sz="1200" b="0" u="none" strike="noStrike">
              <a:solidFill>
                <a:srgbClr val="000000"/>
              </a:solidFill>
              <a:effectLst/>
              <a:uFillTx/>
              <a:latin typeface="Arial"/>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お申込みの準備</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入居までの流れ</a:t>
            </a:r>
            <a:endParaRPr lang="en-US" sz="1200" b="0" u="none" strike="noStrike">
              <a:solidFill>
                <a:srgbClr val="000000"/>
              </a:solidFill>
              <a:effectLst/>
              <a:uFillTx/>
              <a:latin typeface="Arial"/>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お申込みの後押し</a:t>
            </a:r>
            <a:endParaRPr lang="en-US" sz="1200" b="0" u="none" strike="noStrike">
              <a:solidFill>
                <a:srgbClr val="000000"/>
              </a:solidFill>
              <a:effectLst/>
              <a:uFillTx/>
              <a:latin typeface="Arial"/>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55" name="テキスト ボックス 4"/>
          <p:cNvSpPr/>
          <p:nvPr/>
        </p:nvSpPr>
        <p:spPr>
          <a:xfrm>
            <a:off x="1426320" y="1664280"/>
            <a:ext cx="11883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Arial"/>
            </a:endParaRPr>
          </a:p>
        </p:txBody>
      </p:sp>
      <p:sp>
        <p:nvSpPr>
          <p:cNvPr id="456" name="テキスト ボックス 7"/>
          <p:cNvSpPr/>
          <p:nvPr/>
        </p:nvSpPr>
        <p:spPr>
          <a:xfrm>
            <a:off x="2853000" y="1664280"/>
            <a:ext cx="146268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Arial"/>
            </a:endParaRPr>
          </a:p>
        </p:txBody>
      </p:sp>
      <p:sp>
        <p:nvSpPr>
          <p:cNvPr id="457" name="テキスト ボックス 9"/>
          <p:cNvSpPr/>
          <p:nvPr/>
        </p:nvSpPr>
        <p:spPr>
          <a:xfrm>
            <a:off x="4553640" y="166428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Arial"/>
            </a:endParaRPr>
          </a:p>
        </p:txBody>
      </p:sp>
      <p:sp>
        <p:nvSpPr>
          <p:cNvPr id="458" name="テキスト ボックス 11"/>
          <p:cNvSpPr/>
          <p:nvPr/>
        </p:nvSpPr>
        <p:spPr>
          <a:xfrm>
            <a:off x="6382440" y="166428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Arial"/>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Arial"/>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Arial"/>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Arial"/>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による問い合わせ対応の効率化</a:t>
            </a:r>
            <a:endParaRPr lang="en-US" sz="1600" b="0" u="none" strike="noStrike">
              <a:solidFill>
                <a:srgbClr val="000000"/>
              </a:solidFill>
              <a:effectLst/>
              <a:uFillTx/>
              <a:latin typeface="Arial"/>
            </a:endParaRPr>
          </a:p>
        </p:txBody>
      </p:sp>
      <p:sp>
        <p:nvSpPr>
          <p:cNvPr id="464" name="TextBox 2"/>
          <p:cNvSpPr/>
          <p:nvPr/>
        </p:nvSpPr>
        <p:spPr>
          <a:xfrm>
            <a:off x="429840" y="896040"/>
            <a:ext cx="905220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tabLst>
                <a:tab pos="0" algn="l"/>
              </a:tabLst>
            </a:pP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の機能で、問い合わせへの一次対応と対応状況の管理を効率化します。</a:t>
            </a:r>
            <a:endParaRPr lang="en-US" sz="1400" b="0" u="none" strike="noStrike">
              <a:solidFill>
                <a:srgbClr val="000000"/>
              </a:solidFill>
              <a:effectLst/>
              <a:uFillTx/>
              <a:latin typeface="Arial"/>
            </a:endParaRPr>
          </a:p>
          <a:p>
            <a:pPr defTabSz="914400">
              <a:lnSpc>
                <a:spcPct val="100000"/>
              </a:lnSpc>
              <a:tabLst>
                <a:tab pos="0" algn="l"/>
              </a:tabLst>
            </a:pPr>
            <a:r>
              <a:rPr lang="zh-CN" sz="1400" b="1" u="none" strike="noStrike">
                <a:solidFill>
                  <a:srgbClr val="5A6378"/>
                </a:solidFill>
                <a:effectLst/>
                <a:uFillTx/>
                <a:latin typeface="メイリオ"/>
                <a:ea typeface="メイリオ"/>
              </a:rPr>
              <a:t>お客様への個別対応はあらうち様、仕組みづくりと改善支援は当社が担当します。</a:t>
            </a:r>
            <a:endParaRPr lang="en-US" sz="1400" b="0" u="none" strike="noStrike">
              <a:solidFill>
                <a:srgbClr val="000000"/>
              </a:solidFill>
              <a:effectLst/>
              <a:uFillTx/>
              <a:latin typeface="Arial"/>
            </a:endParaRPr>
          </a:p>
        </p:txBody>
      </p:sp>
      <p:sp>
        <p:nvSpPr>
          <p:cNvPr id="465" name="Rounded Rectangle 3"/>
          <p:cNvSpPr/>
          <p:nvPr/>
        </p:nvSpPr>
        <p:spPr>
          <a:xfrm>
            <a:off x="429840" y="1481400"/>
            <a:ext cx="2788560" cy="41112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① 自動応答</a:t>
            </a:r>
            <a:endParaRPr lang="en-US" sz="1600" b="0" u="none" strike="noStrike">
              <a:solidFill>
                <a:srgbClr val="FFFFFF"/>
              </a:solidFill>
              <a:effectLst/>
              <a:uFillTx/>
              <a:latin typeface="Arial"/>
            </a:endParaRPr>
          </a:p>
        </p:txBody>
      </p:sp>
      <p:sp>
        <p:nvSpPr>
          <p:cNvPr id="466" name="Rounded Rectangle 4"/>
          <p:cNvSpPr/>
          <p:nvPr/>
        </p:nvSpPr>
        <p:spPr>
          <a:xfrm>
            <a:off x="42984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1F2A5C"/>
                </a:solidFill>
                <a:effectLst/>
                <a:uFillTx/>
                <a:latin typeface="メイリオ"/>
                <a:ea typeface="メイリオ"/>
              </a:rPr>
              <a:t>設定：当社　対応：自動</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・よくある質問（初期費用・お申込みの流れなど）にキーワード応答で自動回答</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・リッチメニューのボタンと同じ言葉で応答を用意</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・受付時間外は、時間を指定して受付の旨を自動で返信</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・リッチメニューから</a:t>
            </a:r>
            <a:r>
              <a:rPr lang="en-US" sz="1400" b="0" u="none" strike="noStrike">
                <a:solidFill>
                  <a:srgbClr val="333333"/>
                </a:solidFill>
                <a:effectLst/>
                <a:uFillTx/>
                <a:latin typeface="メイリオ"/>
                <a:ea typeface="メイリオ"/>
              </a:rPr>
              <a:t>100</a:t>
            </a:r>
            <a:r>
              <a:rPr lang="ja-JP" sz="1400" b="0" u="none" strike="noStrike">
                <a:solidFill>
                  <a:srgbClr val="333333"/>
                </a:solidFill>
                <a:effectLst/>
                <a:uFillTx/>
                <a:latin typeface="メイリオ"/>
                <a:ea typeface="メイリオ"/>
              </a:rPr>
              <a:t>円チェッカーへ案内</a:t>
            </a:r>
            <a:endParaRPr lang="en-US" sz="1400" b="0" u="none" strike="noStrike">
              <a:solidFill>
                <a:srgbClr val="000000"/>
              </a:solidFill>
              <a:effectLst/>
              <a:uFillTx/>
              <a:latin typeface="Arial"/>
            </a:endParaRPr>
          </a:p>
        </p:txBody>
      </p:sp>
      <p:sp>
        <p:nvSpPr>
          <p:cNvPr id="467" name="Rounded Rectangle 5"/>
          <p:cNvSpPr/>
          <p:nvPr/>
        </p:nvSpPr>
        <p:spPr>
          <a:xfrm>
            <a:off x="3493080" y="1481400"/>
            <a:ext cx="2788560" cy="41112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② 個別チャット</a:t>
            </a:r>
            <a:endParaRPr lang="en-US" sz="1600" b="0" u="none" strike="noStrike">
              <a:solidFill>
                <a:srgbClr val="FFFFFF"/>
              </a:solidFill>
              <a:effectLst/>
              <a:uFillTx/>
              <a:latin typeface="Arial"/>
            </a:endParaRPr>
          </a:p>
        </p:txBody>
      </p:sp>
      <p:sp>
        <p:nvSpPr>
          <p:cNvPr id="468" name="Rounded Rectangle 6"/>
          <p:cNvSpPr/>
          <p:nvPr/>
        </p:nvSpPr>
        <p:spPr>
          <a:xfrm>
            <a:off x="349308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4A6FA5"/>
                </a:solidFill>
                <a:effectLst/>
                <a:uFillTx/>
                <a:latin typeface="メイリオ"/>
                <a:ea typeface="メイリオ"/>
              </a:rPr>
              <a:t>対応：あらうち様</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・ご担当者様が、物件に関する相談・問い合わせに対応</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・送られた物件（</a:t>
            </a:r>
            <a:r>
              <a:rPr lang="en-US" sz="1400" b="0" u="none" strike="noStrike">
                <a:solidFill>
                  <a:srgbClr val="333333"/>
                </a:solidFill>
                <a:effectLst/>
                <a:uFillTx/>
                <a:latin typeface="メイリオ"/>
                <a:ea typeface="メイリオ"/>
              </a:rPr>
              <a:t>URL</a:t>
            </a:r>
            <a:r>
              <a:rPr lang="ja-JP" sz="1400" b="0" u="none" strike="noStrike">
                <a:solidFill>
                  <a:srgbClr val="333333"/>
                </a:solidFill>
                <a:effectLst/>
                <a:uFillTx/>
                <a:latin typeface="メイリオ"/>
                <a:ea typeface="メイリオ"/>
              </a:rPr>
              <a:t>・物件名・画像）の空室確認・内見の手配</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・一次対応は自動応答に任せ、物件の確認に集中</a:t>
            </a:r>
            <a:endParaRPr lang="en-US" sz="1400" b="0" u="none" strike="noStrike">
              <a:solidFill>
                <a:srgbClr val="000000"/>
              </a:solidFill>
              <a:effectLst/>
              <a:uFillTx/>
              <a:latin typeface="Arial"/>
            </a:endParaRPr>
          </a:p>
        </p:txBody>
      </p:sp>
      <p:sp>
        <p:nvSpPr>
          <p:cNvPr id="469" name="Rounded Rectangle 7"/>
          <p:cNvSpPr/>
          <p:nvPr/>
        </p:nvSpPr>
        <p:spPr>
          <a:xfrm>
            <a:off x="6556320" y="1481400"/>
            <a:ext cx="2788560" cy="41112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③ チャットタグ</a:t>
            </a:r>
            <a:endParaRPr lang="en-US" sz="1600" b="0" u="none" strike="noStrike">
              <a:solidFill>
                <a:srgbClr val="FFFFFF"/>
              </a:solidFill>
              <a:effectLst/>
              <a:uFillTx/>
              <a:latin typeface="Arial"/>
            </a:endParaRPr>
          </a:p>
        </p:txBody>
      </p:sp>
      <p:sp>
        <p:nvSpPr>
          <p:cNvPr id="470" name="Rounded Rectangle 8"/>
          <p:cNvSpPr/>
          <p:nvPr/>
        </p:nvSpPr>
        <p:spPr>
          <a:xfrm>
            <a:off x="655632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5B6478"/>
                </a:solidFill>
                <a:effectLst/>
                <a:uFillTx/>
                <a:latin typeface="メイリオ"/>
                <a:ea typeface="メイリオ"/>
              </a:rPr>
              <a:t>設計・設定：当社</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・問い合わせ状況・対応ステータス（受付・確認中・返信済）を管理</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・タグの付け替えで、確認漏れ・返信漏れを防止</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・問い合わせ済みの方を除いた再案内で、重複配信を防止</a:t>
            </a:r>
            <a:endParaRPr lang="en-US" sz="1400" b="0" u="none" strike="noStrike">
              <a:solidFill>
                <a:srgbClr val="000000"/>
              </a:solidFill>
              <a:effectLst/>
              <a:uFillTx/>
              <a:latin typeface="Arial"/>
            </a:endParaRPr>
          </a:p>
        </p:txBody>
      </p:sp>
      <p:sp>
        <p:nvSpPr>
          <p:cNvPr id="471" name="Google Shape;156;p7"/>
          <p:cNvSpPr/>
          <p:nvPr/>
        </p:nvSpPr>
        <p:spPr>
          <a:xfrm>
            <a:off x="429840" y="4727520"/>
            <a:ext cx="891504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役割分担</a:t>
            </a:r>
            <a:r>
              <a:rPr lang="ja-JP" sz="1200" b="0" u="none" strike="noStrike">
                <a:solidFill>
                  <a:srgbClr val="002060"/>
                </a:solidFill>
                <a:effectLst/>
                <a:uFillTx/>
                <a:latin typeface="Meiryo"/>
                <a:ea typeface="Meiryo"/>
              </a:rPr>
              <a:t>　※当社の対応は運用コンサル費用に含みます</a:t>
            </a:r>
            <a:endParaRPr lang="en-US" sz="1200" b="0" u="none" strike="noStrike">
              <a:solidFill>
                <a:srgbClr val="000000"/>
              </a:solidFill>
              <a:effectLst/>
              <a:uFillTx/>
              <a:latin typeface="Arial"/>
            </a:endParaRPr>
          </a:p>
        </p:txBody>
      </p:sp>
      <p:sp>
        <p:nvSpPr>
          <p:cNvPr id="472" name="Rounded Rectangle 3"/>
          <p:cNvSpPr/>
          <p:nvPr/>
        </p:nvSpPr>
        <p:spPr>
          <a:xfrm>
            <a:off x="429840" y="5056560"/>
            <a:ext cx="4320360" cy="3654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400" b="1" u="none" strike="noStrike">
                <a:solidFill>
                  <a:srgbClr val="FFFFFF"/>
                </a:solidFill>
                <a:effectLst/>
                <a:uFillTx/>
                <a:latin typeface="メイリオ"/>
                <a:ea typeface="メイリオ"/>
              </a:rPr>
              <a:t>当社（</a:t>
            </a:r>
            <a:r>
              <a:rPr lang="en-US" sz="1400" b="1" u="none" strike="noStrike">
                <a:solidFill>
                  <a:srgbClr val="FFFFFF"/>
                </a:solidFill>
                <a:effectLst/>
                <a:uFillTx/>
                <a:latin typeface="メイリオ"/>
                <a:ea typeface="メイリオ"/>
              </a:rPr>
              <a:t>DYM</a:t>
            </a:r>
            <a:r>
              <a:rPr lang="zh-CN" sz="1400" b="1" u="none" strike="noStrike">
                <a:solidFill>
                  <a:srgbClr val="FFFFFF"/>
                </a:solidFill>
                <a:effectLst/>
                <a:uFillTx/>
                <a:latin typeface="メイリオ"/>
                <a:ea typeface="メイリオ"/>
              </a:rPr>
              <a:t>）｜仕組みづくり・改善支援</a:t>
            </a:r>
            <a:endParaRPr lang="en-US" sz="1400" b="0" u="none" strike="noStrike">
              <a:solidFill>
                <a:srgbClr val="FFFFFF"/>
              </a:solidFill>
              <a:effectLst/>
              <a:uFillTx/>
              <a:latin typeface="Arial"/>
            </a:endParaRPr>
          </a:p>
        </p:txBody>
      </p:sp>
      <p:sp>
        <p:nvSpPr>
          <p:cNvPr id="473" name="Rounded Rectangle 4"/>
          <p:cNvSpPr/>
          <p:nvPr/>
        </p:nvSpPr>
        <p:spPr>
          <a:xfrm>
            <a:off x="429840" y="5459040"/>
            <a:ext cx="4320360" cy="10054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36720" rIns="73080" bIns="36720" anchor="ctr">
            <a:noAutofit/>
          </a:bodyPr>
          <a:lstStyle/>
          <a:p>
            <a:pPr defTabSz="914400">
              <a:lnSpc>
                <a:spcPct val="100000"/>
              </a:lnSpc>
            </a:pPr>
            <a:r>
              <a:rPr lang="ja-JP" sz="1400" b="0" u="none" strike="noStrike">
                <a:solidFill>
                  <a:srgbClr val="333333"/>
                </a:solidFill>
                <a:effectLst/>
                <a:uFillTx/>
                <a:latin typeface="メイリオ"/>
                <a:ea typeface="メイリオ"/>
              </a:rPr>
              <a:t>・</a:t>
            </a:r>
            <a:r>
              <a:rPr lang="en-US" sz="1400" b="0" u="none" strike="noStrike">
                <a:solidFill>
                  <a:srgbClr val="333333"/>
                </a:solidFill>
                <a:effectLst/>
                <a:uFillTx/>
                <a:latin typeface="メイリオ"/>
                <a:ea typeface="メイリオ"/>
              </a:rPr>
              <a:t>LINE</a:t>
            </a:r>
            <a:r>
              <a:rPr lang="ja-JP" sz="1400" b="0" u="none" strike="noStrike">
                <a:solidFill>
                  <a:srgbClr val="333333"/>
                </a:solidFill>
                <a:effectLst/>
                <a:uFillTx/>
                <a:latin typeface="メイリオ"/>
                <a:ea typeface="メイリオ"/>
              </a:rPr>
              <a:t>公式アカウントの初期設計</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・自動応答の設定</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・チャットタグの設計・設定</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・配信運用・改善支援</a:t>
            </a:r>
            <a:endParaRPr lang="en-US" sz="1400" b="0" u="none" strike="noStrike">
              <a:solidFill>
                <a:srgbClr val="000000"/>
              </a:solidFill>
              <a:effectLst/>
              <a:uFillTx/>
              <a:latin typeface="Arial"/>
            </a:endParaRPr>
          </a:p>
        </p:txBody>
      </p:sp>
      <p:sp>
        <p:nvSpPr>
          <p:cNvPr id="474" name="Rounded Rectangle 5"/>
          <p:cNvSpPr/>
          <p:nvPr/>
        </p:nvSpPr>
        <p:spPr>
          <a:xfrm>
            <a:off x="5024520" y="5056560"/>
            <a:ext cx="4320360" cy="36540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400" b="1" u="none" strike="noStrike">
                <a:solidFill>
                  <a:srgbClr val="FFFFFF"/>
                </a:solidFill>
                <a:effectLst/>
                <a:uFillTx/>
                <a:latin typeface="メイリオ"/>
                <a:ea typeface="メイリオ"/>
              </a:rPr>
              <a:t>あらうち様｜物件確認・内見等の個別対応</a:t>
            </a:r>
            <a:endParaRPr lang="en-US" sz="1400" b="0" u="none" strike="noStrike">
              <a:solidFill>
                <a:srgbClr val="FFFFFF"/>
              </a:solidFill>
              <a:effectLst/>
              <a:uFillTx/>
              <a:latin typeface="Arial"/>
            </a:endParaRPr>
          </a:p>
        </p:txBody>
      </p:sp>
      <p:sp>
        <p:nvSpPr>
          <p:cNvPr id="475" name="Rounded Rectangle 6"/>
          <p:cNvSpPr/>
          <p:nvPr/>
        </p:nvSpPr>
        <p:spPr>
          <a:xfrm>
            <a:off x="5024520" y="5459040"/>
            <a:ext cx="4320360" cy="10054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36720" rIns="73080" bIns="36720" anchor="ctr">
            <a:noAutofit/>
          </a:bodyPr>
          <a:lstStyle/>
          <a:p>
            <a:pPr defTabSz="914400">
              <a:lnSpc>
                <a:spcPct val="100000"/>
              </a:lnSpc>
            </a:pPr>
            <a:r>
              <a:rPr lang="ja-JP" sz="1400" b="0" u="none" strike="noStrike">
                <a:solidFill>
                  <a:srgbClr val="333333"/>
                </a:solidFill>
                <a:effectLst/>
                <a:uFillTx/>
                <a:latin typeface="メイリオ"/>
                <a:ea typeface="メイリオ"/>
              </a:rPr>
              <a:t>・個別チャットでの返信</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・物件の空室確認</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・内見の手配</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・その他、お客様ごとの個別対応</a:t>
            </a:r>
            <a:endParaRPr lang="en-US" sz="1400" b="0" u="none" strike="noStrike">
              <a:solidFill>
                <a:srgbClr val="000000"/>
              </a:solidFill>
              <a:effectLst/>
              <a:uFillTx/>
              <a:latin typeface="Arial"/>
            </a:endParaRPr>
          </a:p>
        </p:txBody>
      </p:sp>
      <p:sp>
        <p:nvSpPr>
          <p:cNvPr id="476" name="Right Arrow 4"/>
          <p:cNvSpPr/>
          <p:nvPr/>
        </p:nvSpPr>
        <p:spPr>
          <a:xfrm>
            <a:off x="3250800" y="3218760"/>
            <a:ext cx="20988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77" name="Right Arrow 4"/>
          <p:cNvSpPr/>
          <p:nvPr/>
        </p:nvSpPr>
        <p:spPr>
          <a:xfrm>
            <a:off x="6314040" y="3218760"/>
            <a:ext cx="20988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78" name="計測範囲の注記"/>
          <p:cNvSpPr/>
          <p:nvPr/>
        </p:nvSpPr>
        <p:spPr>
          <a:xfrm>
            <a:off x="5024628" y="4745736"/>
            <a:ext cx="4320540" cy="292608"/>
          </a:xfrm>
          <a:prstGeom prst="rect">
            <a:avLst/>
          </a:prstGeom>
          <a:noFill/>
          <a:ln>
            <a:noFill/>
          </a:ln>
        </p:spPr>
        <p:txBody>
          <a:bodyPr wrap="square" lIns="36576" tIns="18288" rIns="36576" bIns="18288" rtlCol="0" anchor="ctr">
            <a:noAutofit/>
          </a:bodyPr>
          <a:lstStyle/>
          <a:p>
            <a:pPr algn="l">
              <a:buNone/>
            </a:pPr>
            <a:r>
              <a:rPr lang="ja-JP" altLang="en-US" sz="1200" b="0" dirty="0">
                <a:solidFill>
                  <a:srgbClr val="444444"/>
                </a:solidFill>
                <a:latin typeface="メイリオ" panose="020B0604030504040204" pitchFamily="50" charset="-128"/>
                <a:ea typeface="メイリオ" panose="020B0604030504040204" pitchFamily="50" charset="-128"/>
              </a:rPr>
              <a:t>※物件情報の送信（CV）以降は、当社の計測対象外です</a:t>
            </a:r>
            <a:endParaRPr lang="ja-JP"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施策詳細｜新規友だちの獲得</a:t>
            </a:r>
            <a:endParaRPr lang="en-US" sz="1600" b="0" u="none" strike="noStrike">
              <a:solidFill>
                <a:srgbClr val="000000"/>
              </a:solidFill>
              <a:effectLst/>
              <a:uFillTx/>
              <a:latin typeface="Arial"/>
            </a:endParaRPr>
          </a:p>
        </p:txBody>
      </p:sp>
      <p:sp>
        <p:nvSpPr>
          <p:cNvPr id="479" name="TextBox 2"/>
          <p:cNvSpPr/>
          <p:nvPr/>
        </p:nvSpPr>
        <p:spPr>
          <a:xfrm>
            <a:off x="429840" y="914400"/>
            <a:ext cx="9052200" cy="41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zh-CN" sz="1600" b="0" u="none" strike="noStrike">
                <a:solidFill>
                  <a:srgbClr val="5A6378"/>
                </a:solidFill>
                <a:effectLst/>
                <a:uFillTx/>
                <a:latin typeface="メイリオ"/>
                <a:ea typeface="メイリオ"/>
              </a:rPr>
              <a:t>サイトの</a:t>
            </a:r>
            <a:r>
              <a:rPr lang="en-US" sz="1600" b="0" u="none" strike="noStrike">
                <a:solidFill>
                  <a:srgbClr val="5A6378"/>
                </a:solidFill>
                <a:effectLst/>
                <a:uFillTx/>
                <a:latin typeface="メイリオ"/>
                <a:ea typeface="メイリオ"/>
              </a:rPr>
              <a:t>2</a:t>
            </a:r>
            <a:r>
              <a:rPr lang="zh-CN" sz="1600" b="0" u="none" strike="noStrike">
                <a:solidFill>
                  <a:srgbClr val="5A6378"/>
                </a:solidFill>
                <a:effectLst/>
                <a:uFillTx/>
                <a:latin typeface="メイリオ"/>
                <a:ea typeface="メイリオ"/>
              </a:rPr>
              <a:t>つの接点から、</a:t>
            </a:r>
            <a:r>
              <a:rPr lang="en-US" sz="1600" b="0" u="none" strike="noStrike">
                <a:solidFill>
                  <a:srgbClr val="5A6378"/>
                </a:solidFill>
                <a:effectLst/>
                <a:uFillTx/>
                <a:latin typeface="メイリオ"/>
                <a:ea typeface="メイリオ"/>
              </a:rPr>
              <a:t>LINE</a:t>
            </a:r>
            <a:r>
              <a:rPr lang="zh-CN" sz="1600" b="0" u="none" strike="noStrike">
                <a:solidFill>
                  <a:srgbClr val="5A6378"/>
                </a:solidFill>
                <a:effectLst/>
                <a:uFillTx/>
                <a:latin typeface="メイリオ"/>
                <a:ea typeface="メイリオ"/>
              </a:rPr>
              <a:t>の友だち追加へつなげます</a:t>
            </a:r>
            <a:endParaRPr lang="en-US" sz="1600" b="0" u="none" strike="noStrike">
              <a:solidFill>
                <a:srgbClr val="000000"/>
              </a:solidFill>
              <a:effectLst/>
              <a:uFillTx/>
              <a:latin typeface="Arial"/>
            </a:endParaRPr>
          </a:p>
        </p:txBody>
      </p:sp>
      <p:sp>
        <p:nvSpPr>
          <p:cNvPr id="480" name="Rounded Rectangle 3"/>
          <p:cNvSpPr/>
          <p:nvPr/>
        </p:nvSpPr>
        <p:spPr>
          <a:xfrm>
            <a:off x="429840" y="272484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サイトを離れようとした方</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（離脱防止ポップアップ）</a:t>
            </a:r>
            <a:endParaRPr lang="en-US" sz="1500" b="0" u="none" strike="noStrike">
              <a:solidFill>
                <a:srgbClr val="000000"/>
              </a:solidFill>
              <a:effectLst/>
              <a:uFillTx/>
              <a:latin typeface="Arial"/>
            </a:endParaRPr>
          </a:p>
        </p:txBody>
      </p:sp>
      <p:sp>
        <p:nvSpPr>
          <p:cNvPr id="481" name="Right Arrow 4"/>
          <p:cNvSpPr/>
          <p:nvPr/>
        </p:nvSpPr>
        <p:spPr>
          <a:xfrm rot="5400000">
            <a:off x="2487240" y="362088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2" name="Rounded Rectangle 5"/>
          <p:cNvSpPr/>
          <p:nvPr/>
        </p:nvSpPr>
        <p:spPr>
          <a:xfrm>
            <a:off x="429840" y="389520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物件の</a:t>
            </a:r>
            <a:r>
              <a:rPr lang="en-US" sz="1500" b="0" u="none" strike="noStrike">
                <a:solidFill>
                  <a:srgbClr val="333333"/>
                </a:solidFill>
                <a:effectLst/>
                <a:uFillTx/>
                <a:latin typeface="メイリオ"/>
                <a:ea typeface="メイリオ"/>
              </a:rPr>
              <a:t>URL</a:t>
            </a:r>
            <a:r>
              <a:rPr lang="zh-CN" sz="1500" b="0" u="none" strike="noStrike">
                <a:solidFill>
                  <a:srgbClr val="333333"/>
                </a:solidFill>
                <a:effectLst/>
                <a:uFillTx/>
                <a:latin typeface="メイリオ"/>
                <a:ea typeface="メイリオ"/>
              </a:rPr>
              <a:t>を送るだけで仲介手数料</a:t>
            </a:r>
            <a:r>
              <a:rPr lang="en-US" sz="1500" b="0" u="none" strike="noStrike">
                <a:solidFill>
                  <a:srgbClr val="333333"/>
                </a:solidFill>
                <a:effectLst/>
                <a:uFillTx/>
                <a:latin typeface="メイリオ"/>
                <a:ea typeface="メイリオ"/>
              </a:rPr>
              <a:t>100</a:t>
            </a:r>
            <a:r>
              <a:rPr lang="zh-CN" sz="1500" b="0" u="none" strike="noStrike">
                <a:solidFill>
                  <a:srgbClr val="333333"/>
                </a:solidFill>
                <a:effectLst/>
                <a:uFillTx/>
                <a:latin typeface="メイリオ"/>
                <a:ea typeface="メイリオ"/>
              </a:rPr>
              <a:t>円</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a:t>
            </a:r>
            <a:r>
              <a:rPr lang="en-US" sz="1500" b="0" u="none" strike="noStrike">
                <a:solidFill>
                  <a:srgbClr val="333333"/>
                </a:solidFill>
                <a:effectLst/>
                <a:uFillTx/>
                <a:latin typeface="メイリオ"/>
                <a:ea typeface="メイリオ"/>
              </a:rPr>
              <a:t>100</a:t>
            </a:r>
            <a:r>
              <a:rPr lang="zh-CN" sz="1500" b="0" u="none" strike="noStrike">
                <a:solidFill>
                  <a:srgbClr val="333333"/>
                </a:solidFill>
                <a:effectLst/>
                <a:uFillTx/>
                <a:latin typeface="メイリオ"/>
                <a:ea typeface="メイリオ"/>
              </a:rPr>
              <a:t>円賃貸が対応できる物件に限ります）</a:t>
            </a:r>
            <a:endParaRPr lang="en-US" sz="1500" b="0" u="none" strike="noStrike">
              <a:solidFill>
                <a:srgbClr val="000000"/>
              </a:solidFill>
              <a:effectLst/>
              <a:uFillTx/>
              <a:latin typeface="Arial"/>
            </a:endParaRPr>
          </a:p>
        </p:txBody>
      </p:sp>
      <p:sp>
        <p:nvSpPr>
          <p:cNvPr id="483" name="Right Arrow 6"/>
          <p:cNvSpPr/>
          <p:nvPr/>
        </p:nvSpPr>
        <p:spPr>
          <a:xfrm rot="5400000">
            <a:off x="2487240" y="479124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4" name="Rounded Rectangle 7"/>
          <p:cNvSpPr/>
          <p:nvPr/>
        </p:nvSpPr>
        <p:spPr>
          <a:xfrm>
            <a:off x="978480" y="5065920"/>
            <a:ext cx="329148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LINE</a:t>
            </a:r>
            <a:r>
              <a:rPr lang="zh-CN" sz="1500" b="1" u="none" strike="noStrike">
                <a:solidFill>
                  <a:srgbClr val="FFFFFF"/>
                </a:solidFill>
                <a:effectLst/>
                <a:uFillTx/>
                <a:latin typeface="メイリオ"/>
                <a:ea typeface="メイリオ"/>
              </a:rPr>
              <a:t>の友だち追加</a:t>
            </a:r>
            <a:endParaRPr lang="en-US" sz="1500" b="0" u="none" strike="noStrike">
              <a:solidFill>
                <a:srgbClr val="FFFFFF"/>
              </a:solidFill>
              <a:effectLst/>
              <a:uFillTx/>
              <a:latin typeface="Arial"/>
            </a:endParaRPr>
          </a:p>
        </p:txBody>
      </p:sp>
      <p:sp>
        <p:nvSpPr>
          <p:cNvPr id="485" name="Rounded Rectangle 8"/>
          <p:cNvSpPr/>
          <p:nvPr/>
        </p:nvSpPr>
        <p:spPr>
          <a:xfrm>
            <a:off x="5093280" y="272484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サイト内の「</a:t>
            </a:r>
            <a:r>
              <a:rPr lang="en-US" sz="1500" b="0" u="none" strike="noStrike">
                <a:solidFill>
                  <a:srgbClr val="333333"/>
                </a:solidFill>
                <a:effectLst/>
                <a:uFillTx/>
                <a:latin typeface="メイリオ"/>
                <a:ea typeface="メイリオ"/>
              </a:rPr>
              <a:t>LINE</a:t>
            </a:r>
            <a:r>
              <a:rPr lang="zh-CN" sz="1500" b="0" u="none" strike="noStrike">
                <a:solidFill>
                  <a:srgbClr val="333333"/>
                </a:solidFill>
                <a:effectLst/>
                <a:uFillTx/>
                <a:latin typeface="メイリオ"/>
                <a:ea typeface="メイリオ"/>
              </a:rPr>
              <a:t>でお問い合わせ」</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ボタン（全ページ）</a:t>
            </a:r>
            <a:endParaRPr lang="en-US" sz="1500" b="0" u="none" strike="noStrike">
              <a:solidFill>
                <a:srgbClr val="000000"/>
              </a:solidFill>
              <a:effectLst/>
              <a:uFillTx/>
              <a:latin typeface="Arial"/>
            </a:endParaRPr>
          </a:p>
        </p:txBody>
      </p:sp>
      <p:sp>
        <p:nvSpPr>
          <p:cNvPr id="486" name="Right Arrow 9"/>
          <p:cNvSpPr/>
          <p:nvPr/>
        </p:nvSpPr>
        <p:spPr>
          <a:xfrm rot="5400000">
            <a:off x="7150680" y="362088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7" name="Rounded Rectangle 10"/>
          <p:cNvSpPr/>
          <p:nvPr/>
        </p:nvSpPr>
        <p:spPr>
          <a:xfrm>
            <a:off x="5093280" y="389520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物件の</a:t>
            </a:r>
            <a:r>
              <a:rPr lang="en-US" sz="1500" b="0" u="none" strike="noStrike">
                <a:solidFill>
                  <a:srgbClr val="333333"/>
                </a:solidFill>
                <a:effectLst/>
                <a:uFillTx/>
                <a:latin typeface="メイリオ"/>
                <a:ea typeface="メイリオ"/>
              </a:rPr>
              <a:t>URL</a:t>
            </a:r>
            <a:r>
              <a:rPr lang="zh-CN" sz="1500" b="0" u="none" strike="noStrike">
                <a:solidFill>
                  <a:srgbClr val="333333"/>
                </a:solidFill>
                <a:effectLst/>
                <a:uFillTx/>
                <a:latin typeface="メイリオ"/>
                <a:ea typeface="メイリオ"/>
              </a:rPr>
              <a:t>・物件名・画像を送るだけで、</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空室確認から内見の手配まで</a:t>
            </a:r>
            <a:endParaRPr lang="en-US" sz="1500" b="0" u="none" strike="noStrike">
              <a:solidFill>
                <a:srgbClr val="000000"/>
              </a:solidFill>
              <a:effectLst/>
              <a:uFillTx/>
              <a:latin typeface="Arial"/>
            </a:endParaRPr>
          </a:p>
        </p:txBody>
      </p:sp>
      <p:sp>
        <p:nvSpPr>
          <p:cNvPr id="488" name="Right Arrow 11"/>
          <p:cNvSpPr/>
          <p:nvPr/>
        </p:nvSpPr>
        <p:spPr>
          <a:xfrm rot="5400000">
            <a:off x="7150680" y="479124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9" name="Rounded Rectangle 12"/>
          <p:cNvSpPr/>
          <p:nvPr/>
        </p:nvSpPr>
        <p:spPr>
          <a:xfrm>
            <a:off x="5641920" y="5065920"/>
            <a:ext cx="329148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LINE</a:t>
            </a:r>
            <a:r>
              <a:rPr lang="zh-CN" sz="1500" b="1" u="none" strike="noStrike">
                <a:solidFill>
                  <a:srgbClr val="FFFFFF"/>
                </a:solidFill>
                <a:effectLst/>
                <a:uFillTx/>
                <a:latin typeface="メイリオ"/>
                <a:ea typeface="メイリオ"/>
              </a:rPr>
              <a:t>の友だち追加</a:t>
            </a:r>
            <a:endParaRPr lang="en-US" sz="1500" b="0" u="none" strike="noStrike">
              <a:solidFill>
                <a:srgbClr val="FFFFFF"/>
              </a:solidFill>
              <a:effectLst/>
              <a:uFillTx/>
              <a:latin typeface="Arial"/>
            </a:endParaRPr>
          </a:p>
        </p:txBody>
      </p:sp>
      <p:sp>
        <p:nvSpPr>
          <p:cNvPr id="490" name="TextBox 18"/>
          <p:cNvSpPr/>
          <p:nvPr/>
        </p:nvSpPr>
        <p:spPr>
          <a:xfrm>
            <a:off x="429840" y="5687640"/>
            <a:ext cx="4388760" cy="603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7F7F7F"/>
                </a:solidFill>
                <a:effectLst/>
                <a:uFillTx/>
                <a:latin typeface="メイリオ"/>
                <a:ea typeface="メイリオ"/>
              </a:rPr>
              <a:t>※離脱防止ポップアップは、LINE</a:t>
            </a:r>
            <a:r>
              <a:rPr lang="zh-CN" sz="1300" b="0" u="none" strike="noStrike">
                <a:solidFill>
                  <a:srgbClr val="7F7F7F"/>
                </a:solidFill>
                <a:effectLst/>
                <a:uFillTx/>
                <a:latin typeface="メイリオ"/>
                <a:ea typeface="メイリオ"/>
              </a:rPr>
              <a:t>公式アカウントとは別に導入する施策です（初期</a:t>
            </a:r>
            <a:r>
              <a:rPr lang="en-US" sz="1300" b="0" u="none" strike="noStrike">
                <a:solidFill>
                  <a:srgbClr val="7F7F7F"/>
                </a:solidFill>
                <a:effectLst/>
                <a:uFillTx/>
                <a:latin typeface="メイリオ"/>
                <a:ea typeface="メイリオ"/>
              </a:rPr>
              <a:t>1.5</a:t>
            </a:r>
            <a:r>
              <a:rPr lang="zh-CN" sz="1300" b="0" u="none" strike="noStrike">
                <a:solidFill>
                  <a:srgbClr val="7F7F7F"/>
                </a:solidFill>
                <a:effectLst/>
                <a:uFillTx/>
                <a:latin typeface="メイリオ"/>
                <a:ea typeface="メイリオ"/>
              </a:rPr>
              <a:t>万円・月</a:t>
            </a:r>
            <a:r>
              <a:rPr lang="en-US" sz="1300" b="0" u="none" strike="noStrike">
                <a:solidFill>
                  <a:srgbClr val="7F7F7F"/>
                </a:solidFill>
                <a:effectLst/>
                <a:uFillTx/>
                <a:latin typeface="メイリオ"/>
                <a:ea typeface="メイリオ"/>
              </a:rPr>
              <a:t>3</a:t>
            </a:r>
            <a:r>
              <a:rPr lang="zh-CN" sz="1300" b="0" u="none" strike="noStrike">
                <a:solidFill>
                  <a:srgbClr val="7F7F7F"/>
                </a:solidFill>
                <a:effectLst/>
                <a:uFillTx/>
                <a:latin typeface="メイリオ"/>
                <a:ea typeface="メイリオ"/>
              </a:rPr>
              <a:t>万円）。</a:t>
            </a:r>
            <a:endParaRPr lang="en-US" sz="1300" b="0" u="none" strike="noStrike">
              <a:solidFill>
                <a:srgbClr val="000000"/>
              </a:solidFill>
              <a:effectLst/>
              <a:uFillTx/>
              <a:latin typeface="Arial"/>
            </a:endParaRPr>
          </a:p>
        </p:txBody>
      </p:sp>
      <p:sp>
        <p:nvSpPr>
          <p:cNvPr id="491" name="Rounded Rectangle 7"/>
          <p:cNvSpPr/>
          <p:nvPr/>
        </p:nvSpPr>
        <p:spPr>
          <a:xfrm>
            <a:off x="429840" y="1444680"/>
            <a:ext cx="438876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① 離脱防止ポップアップ</a:t>
            </a:r>
            <a:endParaRPr lang="en-US" sz="1500" b="0" u="none" strike="noStrike">
              <a:solidFill>
                <a:srgbClr val="FFFFFF"/>
              </a:solidFill>
              <a:effectLst/>
              <a:uFillTx/>
              <a:latin typeface="Arial"/>
            </a:endParaRPr>
          </a:p>
        </p:txBody>
      </p:sp>
      <p:sp>
        <p:nvSpPr>
          <p:cNvPr id="492" name="Rounded Rectangle 7"/>
          <p:cNvSpPr/>
          <p:nvPr/>
        </p:nvSpPr>
        <p:spPr>
          <a:xfrm>
            <a:off x="5093280" y="1444680"/>
            <a:ext cx="4388760" cy="47520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② サイト内の「LINE</a:t>
            </a:r>
            <a:r>
              <a:rPr lang="zh-CN" sz="1500" b="1" u="none" strike="noStrike">
                <a:solidFill>
                  <a:srgbClr val="FFFFFF"/>
                </a:solidFill>
                <a:effectLst/>
                <a:uFillTx/>
                <a:latin typeface="メイリオ"/>
                <a:ea typeface="メイリオ"/>
              </a:rPr>
              <a:t>でお問い合わせ」ボタン</a:t>
            </a:r>
            <a:endParaRPr lang="en-US" sz="1500" b="0" u="none" strike="noStrike">
              <a:solidFill>
                <a:srgbClr val="FFFFFF"/>
              </a:solidFill>
              <a:effectLst/>
              <a:uFillTx/>
              <a:latin typeface="Arial"/>
            </a:endParaRPr>
          </a:p>
        </p:txBody>
      </p:sp>
      <p:sp>
        <p:nvSpPr>
          <p:cNvPr id="493" name="TextBox 2"/>
          <p:cNvSpPr/>
          <p:nvPr/>
        </p:nvSpPr>
        <p:spPr>
          <a:xfrm>
            <a:off x="429840" y="1993320"/>
            <a:ext cx="4388760" cy="6397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p>
            <a:pPr defTabSz="914400">
              <a:lnSpc>
                <a:spcPct val="100000"/>
              </a:lnSpc>
            </a:pPr>
            <a:r>
              <a:rPr lang="zh-CN" sz="1400" b="1" u="none" strike="noStrike">
                <a:solidFill>
                  <a:srgbClr val="5A6378"/>
                </a:solidFill>
                <a:effectLst/>
                <a:uFillTx/>
                <a:latin typeface="メイリオ"/>
                <a:ea typeface="メイリオ"/>
              </a:rPr>
              <a:t>役割：</a:t>
            </a:r>
            <a:r>
              <a:rPr lang="zh-CN" sz="1400" b="0" u="none" strike="noStrike">
                <a:solidFill>
                  <a:srgbClr val="5A6378"/>
                </a:solidFill>
                <a:effectLst/>
                <a:uFillTx/>
                <a:latin typeface="メイリオ"/>
                <a:ea typeface="メイリオ"/>
              </a:rPr>
              <a:t>サイトを離れようとした方を引き留め、</a:t>
            </a: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の友だち追加につなげる</a:t>
            </a:r>
            <a:endParaRPr lang="en-US" sz="1400" b="0" u="none" strike="noStrike">
              <a:solidFill>
                <a:srgbClr val="000000"/>
              </a:solidFill>
              <a:effectLst/>
              <a:uFillTx/>
              <a:latin typeface="Arial"/>
            </a:endParaRPr>
          </a:p>
        </p:txBody>
      </p:sp>
      <p:sp>
        <p:nvSpPr>
          <p:cNvPr id="494" name="TextBox 2"/>
          <p:cNvSpPr/>
          <p:nvPr/>
        </p:nvSpPr>
        <p:spPr>
          <a:xfrm>
            <a:off x="5093280" y="1993320"/>
            <a:ext cx="4388760" cy="6397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p>
            <a:pPr defTabSz="914400">
              <a:lnSpc>
                <a:spcPct val="100000"/>
              </a:lnSpc>
            </a:pPr>
            <a:r>
              <a:rPr lang="zh-CN" sz="1400" b="1" u="none" strike="noStrike">
                <a:solidFill>
                  <a:srgbClr val="5A6378"/>
                </a:solidFill>
                <a:effectLst/>
                <a:uFillTx/>
                <a:latin typeface="メイリオ"/>
                <a:ea typeface="メイリオ"/>
              </a:rPr>
              <a:t>役割：</a:t>
            </a:r>
            <a:r>
              <a:rPr lang="zh-CN" sz="1400" b="0" u="none" strike="noStrike">
                <a:solidFill>
                  <a:srgbClr val="5A6378"/>
                </a:solidFill>
                <a:effectLst/>
                <a:uFillTx/>
                <a:latin typeface="メイリオ"/>
                <a:ea typeface="メイリオ"/>
              </a:rPr>
              <a:t>問い合わせを考えている方を、</a:t>
            </a: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の友だち追加につなげる</a:t>
            </a:r>
            <a:endParaRPr lang="en-US" sz="1400" b="0" u="none" strike="noStrike">
              <a:solidFill>
                <a:srgbClr val="000000"/>
              </a:solidFill>
              <a:effectLst/>
              <a:uFillTx/>
              <a:latin typeface="Arial"/>
            </a:endParaRPr>
          </a:p>
        </p:txBody>
      </p:sp>
      <p:sp>
        <p:nvSpPr>
          <p:cNvPr id="495" name="TextBox 18"/>
          <p:cNvSpPr/>
          <p:nvPr/>
        </p:nvSpPr>
        <p:spPr>
          <a:xfrm>
            <a:off x="5093280" y="5687640"/>
            <a:ext cx="4388760" cy="603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7F7F7F"/>
                </a:solidFill>
                <a:effectLst/>
                <a:uFillTx/>
                <a:latin typeface="メイリオ"/>
                <a:ea typeface="メイリオ"/>
              </a:rPr>
              <a:t>※サイトのボタンは、リンク先を友だち追加用のURL</a:t>
            </a:r>
            <a:r>
              <a:rPr lang="zh-CN" sz="1300" b="0" u="none" strike="noStrike">
                <a:solidFill>
                  <a:srgbClr val="7F7F7F"/>
                </a:solidFill>
                <a:effectLst/>
                <a:uFillTx/>
                <a:latin typeface="メイリオ"/>
                <a:ea typeface="メイリオ"/>
              </a:rPr>
              <a:t>に変更します。</a:t>
            </a:r>
            <a:endParaRPr lang="en-US" sz="13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角丸四角形 6"/>
          <p:cNvSpPr/>
          <p:nvPr/>
        </p:nvSpPr>
        <p:spPr>
          <a:xfrm>
            <a:off x="3459960" y="1776240"/>
            <a:ext cx="2985840" cy="44708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7" name="角丸四角形 7"/>
          <p:cNvSpPr/>
          <p:nvPr/>
        </p:nvSpPr>
        <p:spPr>
          <a:xfrm>
            <a:off x="2566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8" name="角丸四角形 8"/>
          <p:cNvSpPr/>
          <p:nvPr/>
        </p:nvSpPr>
        <p:spPr>
          <a:xfrm>
            <a:off x="66628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9" name="Google Shape;178;p7"/>
          <p:cNvSpPr/>
          <p:nvPr/>
        </p:nvSpPr>
        <p:spPr>
          <a:xfrm>
            <a:off x="592560" y="194040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離脱防止バナー</a:t>
            </a:r>
            <a:endParaRPr lang="en-US" sz="2000" b="0" u="none" strike="noStrike">
              <a:solidFill>
                <a:srgbClr val="000000"/>
              </a:solidFill>
              <a:effectLst/>
              <a:uFillTx/>
              <a:latin typeface="Arial"/>
            </a:endParaRPr>
          </a:p>
        </p:txBody>
      </p:sp>
      <p:sp>
        <p:nvSpPr>
          <p:cNvPr id="500" name="Google Shape;178;p7"/>
          <p:cNvSpPr/>
          <p:nvPr/>
        </p:nvSpPr>
        <p:spPr>
          <a:xfrm>
            <a:off x="3795840" y="194040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501" name="Google Shape;178;p7"/>
          <p:cNvSpPr/>
          <p:nvPr/>
        </p:nvSpPr>
        <p:spPr>
          <a:xfrm>
            <a:off x="6756120" y="1950120"/>
            <a:ext cx="2800080" cy="7675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サンクス</a:t>
            </a: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誘導</a:t>
            </a:r>
            <a:endParaRPr lang="en-US" sz="2000" b="0" u="none" strike="noStrike">
              <a:solidFill>
                <a:srgbClr val="000000"/>
              </a:solidFill>
              <a:effectLst/>
              <a:uFillTx/>
              <a:latin typeface="Arial"/>
            </a:endParaRPr>
          </a:p>
        </p:txBody>
      </p:sp>
      <p:sp>
        <p:nvSpPr>
          <p:cNvPr id="502" name="Google Shape;178;p7"/>
          <p:cNvSpPr/>
          <p:nvPr/>
        </p:nvSpPr>
        <p:spPr>
          <a:xfrm>
            <a:off x="92880" y="5014800"/>
            <a:ext cx="206676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事例：車買取</a:t>
            </a:r>
            <a:endParaRPr lang="en-US" sz="1400" b="0" u="none" strike="noStrike">
              <a:solidFill>
                <a:srgbClr val="000000"/>
              </a:solidFill>
              <a:effectLst/>
              <a:uFillTx/>
              <a:latin typeface="Arial"/>
            </a:endParaRPr>
          </a:p>
        </p:txBody>
      </p:sp>
      <p:pic>
        <p:nvPicPr>
          <p:cNvPr id="503" name="図 1"/>
          <p:cNvPicPr/>
          <p:nvPr/>
        </p:nvPicPr>
        <p:blipFill>
          <a:blip r:embed="rId2"/>
          <a:srcRect t="34582" b="34765"/>
          <a:stretch/>
        </p:blipFill>
        <p:spPr>
          <a:xfrm>
            <a:off x="313920" y="2324160"/>
            <a:ext cx="2871000" cy="1564200"/>
          </a:xfrm>
          <a:prstGeom prst="rect">
            <a:avLst/>
          </a:prstGeom>
          <a:noFill/>
          <a:ln w="0">
            <a:noFill/>
          </a:ln>
        </p:spPr>
      </p:pic>
      <p:sp>
        <p:nvSpPr>
          <p:cNvPr id="504" name="Google Shape;178;p7"/>
          <p:cNvSpPr/>
          <p:nvPr/>
        </p:nvSpPr>
        <p:spPr>
          <a:xfrm>
            <a:off x="-8100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興味はあるが利用まで</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至らなかったユーザーを</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友だちとして囲い込む。</a:t>
            </a:r>
            <a:endParaRPr lang="en-US" sz="1400" b="0" u="none" strike="noStrike">
              <a:solidFill>
                <a:srgbClr val="000000"/>
              </a:solidFill>
              <a:effectLst/>
              <a:uFillTx/>
              <a:latin typeface="Arial"/>
            </a:endParaRPr>
          </a:p>
        </p:txBody>
      </p:sp>
      <p:sp>
        <p:nvSpPr>
          <p:cNvPr id="505" name="Google Shape;178;p7"/>
          <p:cNvSpPr/>
          <p:nvPr/>
        </p:nvSpPr>
        <p:spPr>
          <a:xfrm>
            <a:off x="3161520" y="405288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1400" b="0" u="none" strike="noStrike">
                <a:solidFill>
                  <a:schemeClr val="dk1"/>
                </a:solidFill>
                <a:effectLst/>
                <a:uFillTx/>
                <a:latin typeface="Meiryo"/>
                <a:ea typeface="Meiryo"/>
              </a:rPr>
              <a:t>CPF</a:t>
            </a:r>
            <a:r>
              <a:rPr lang="ja-JP" sz="1400" b="0" u="none" strike="noStrike">
                <a:solidFill>
                  <a:schemeClr val="dk1"/>
                </a:solidFill>
                <a:effectLst/>
                <a:uFillTx/>
                <a:latin typeface="Meiryo"/>
                <a:ea typeface="Meiryo"/>
              </a:rPr>
              <a:t>約</a:t>
            </a:r>
            <a:r>
              <a:rPr lang="en-US" sz="1400" b="0" u="none" strike="noStrike">
                <a:solidFill>
                  <a:schemeClr val="dk1"/>
                </a:solidFill>
                <a:effectLst/>
                <a:uFillTx/>
                <a:latin typeface="Meiryo"/>
                <a:ea typeface="Meiryo"/>
              </a:rPr>
              <a:t>100-200</a:t>
            </a:r>
            <a:r>
              <a:rPr lang="ja-JP" sz="1400" b="0" u="none" strike="noStrike">
                <a:solidFill>
                  <a:schemeClr val="dk1"/>
                </a:solidFill>
                <a:effectLst/>
                <a:uFillTx/>
                <a:latin typeface="Meiryo"/>
                <a:ea typeface="Meiryo"/>
              </a:rPr>
              <a:t>円台。</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かなり安価かつ成果報酬で</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友だちを増やす広告。</a:t>
            </a:r>
            <a:endParaRPr lang="en-US" sz="1400" b="0" u="none" strike="noStrike">
              <a:solidFill>
                <a:srgbClr val="000000"/>
              </a:solidFill>
              <a:effectLst/>
              <a:uFillTx/>
              <a:latin typeface="Arial"/>
            </a:endParaRPr>
          </a:p>
        </p:txBody>
      </p:sp>
      <p:sp>
        <p:nvSpPr>
          <p:cNvPr id="506" name="Google Shape;178;p7"/>
          <p:cNvSpPr/>
          <p:nvPr/>
        </p:nvSpPr>
        <p:spPr>
          <a:xfrm>
            <a:off x="324288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事例：アパレル</a:t>
            </a:r>
            <a:endParaRPr lang="en-US" sz="1400" b="0" u="none" strike="noStrike">
              <a:solidFill>
                <a:srgbClr val="000000"/>
              </a:solidFill>
              <a:effectLst/>
              <a:uFillTx/>
              <a:latin typeface="Arial"/>
            </a:endParaRPr>
          </a:p>
        </p:txBody>
      </p:sp>
      <p:sp>
        <p:nvSpPr>
          <p:cNvPr id="507" name="Google Shape;178;p7"/>
          <p:cNvSpPr/>
          <p:nvPr/>
        </p:nvSpPr>
        <p:spPr>
          <a:xfrm>
            <a:off x="3639240" y="5328720"/>
            <a:ext cx="279504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en-US" sz="1200" b="0" u="none" strike="noStrike">
                <a:solidFill>
                  <a:schemeClr val="dk1">
                    <a:lumMod val="50000"/>
                    <a:lumOff val="50000"/>
                  </a:schemeClr>
                </a:solidFill>
                <a:effectLst/>
                <a:uFillTx/>
                <a:latin typeface="Meiryo"/>
                <a:ea typeface="Meiryo"/>
              </a:rPr>
              <a:t>1</a:t>
            </a:r>
            <a:r>
              <a:rPr lang="ja-JP" sz="1200" b="0" u="none" strike="noStrike">
                <a:solidFill>
                  <a:schemeClr val="dk1">
                    <a:lumMod val="50000"/>
                    <a:lumOff val="50000"/>
                  </a:schemeClr>
                </a:solidFill>
                <a:effectLst/>
                <a:uFillTx/>
                <a:latin typeface="Meiryo"/>
                <a:ea typeface="Meiryo"/>
              </a:rPr>
              <a:t>人あたり</a:t>
            </a:r>
            <a:r>
              <a:rPr lang="en-US" sz="1200" b="0" u="none" strike="noStrike">
                <a:solidFill>
                  <a:schemeClr val="dk1">
                    <a:lumMod val="50000"/>
                    <a:lumOff val="50000"/>
                  </a:schemeClr>
                </a:solidFill>
                <a:effectLst/>
                <a:uFillTx/>
                <a:latin typeface="Meiryo"/>
                <a:ea typeface="Meiryo"/>
              </a:rPr>
              <a:t>50</a:t>
            </a:r>
            <a:r>
              <a:rPr lang="ja-JP" sz="1200" b="0" u="none" strike="noStrike">
                <a:solidFill>
                  <a:schemeClr val="dk1">
                    <a:lumMod val="50000"/>
                    <a:lumOff val="50000"/>
                  </a:schemeClr>
                </a:solidFill>
                <a:effectLst/>
                <a:uFillTx/>
                <a:latin typeface="Meiryo"/>
                <a:ea typeface="Meiryo"/>
              </a:rPr>
              <a:t>円で友だち獲得</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経由の購入</a:t>
            </a:r>
            <a:r>
              <a:rPr lang="en-US" sz="1200" b="0" u="none" strike="noStrike">
                <a:solidFill>
                  <a:schemeClr val="dk1">
                    <a:lumMod val="50000"/>
                    <a:lumOff val="50000"/>
                  </a:schemeClr>
                </a:solidFill>
                <a:effectLst/>
                <a:uFillTx/>
                <a:latin typeface="Meiryo"/>
                <a:ea typeface="Meiryo"/>
              </a:rPr>
              <a:t>1.5</a:t>
            </a:r>
            <a:r>
              <a:rPr lang="ja-JP" sz="1200" b="0" u="none" strike="noStrike">
                <a:solidFill>
                  <a:schemeClr val="dk1">
                    <a:lumMod val="50000"/>
                    <a:lumOff val="50000"/>
                  </a:schemeClr>
                </a:solidFill>
                <a:effectLst/>
                <a:uFillTx/>
                <a:latin typeface="Meiryo"/>
                <a:ea typeface="Meiryo"/>
              </a:rPr>
              <a:t>倍</a:t>
            </a:r>
            <a:endParaRPr lang="en-US" sz="1200" b="0" u="none" strike="noStrike">
              <a:solidFill>
                <a:srgbClr val="000000"/>
              </a:solidFill>
              <a:effectLst/>
              <a:uFillTx/>
              <a:latin typeface="Arial"/>
            </a:endParaRPr>
          </a:p>
        </p:txBody>
      </p:sp>
      <p:sp>
        <p:nvSpPr>
          <p:cNvPr id="508" name="Google Shape;178;p7"/>
          <p:cNvSpPr/>
          <p:nvPr/>
        </p:nvSpPr>
        <p:spPr>
          <a:xfrm>
            <a:off x="643464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サンクスページに到達した</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ユーザーを自動で</a:t>
            </a:r>
            <a:r>
              <a:rPr lang="en-US" sz="1400" b="0" u="none" strike="noStrike">
                <a:solidFill>
                  <a:schemeClr val="dk1"/>
                </a:solidFill>
                <a:effectLst/>
                <a:uFillTx/>
                <a:latin typeface="Meiryo"/>
                <a:ea typeface="Meiryo"/>
              </a:rPr>
              <a:t>LINE</a:t>
            </a:r>
            <a:r>
              <a:rPr lang="ja-JP" sz="1400" b="0" u="none" strike="noStrike">
                <a:solidFill>
                  <a:schemeClr val="dk1"/>
                </a:solidFill>
                <a:effectLst/>
                <a:uFillTx/>
                <a:latin typeface="Meiryo"/>
                <a:ea typeface="Meiryo"/>
              </a:rPr>
              <a:t>に誘導。</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友だち追加、追客に活用可能。</a:t>
            </a:r>
            <a:endParaRPr lang="en-US" sz="1400" b="0" u="none" strike="noStrike">
              <a:solidFill>
                <a:srgbClr val="000000"/>
              </a:solidFill>
              <a:effectLst/>
              <a:uFillTx/>
              <a:latin typeface="Arial"/>
            </a:endParaRPr>
          </a:p>
        </p:txBody>
      </p:sp>
      <p:sp>
        <p:nvSpPr>
          <p:cNvPr id="509" name="Google Shape;178;p7"/>
          <p:cNvSpPr/>
          <p:nvPr/>
        </p:nvSpPr>
        <p:spPr>
          <a:xfrm>
            <a:off x="643464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事例：美容医療</a:t>
            </a:r>
            <a:endParaRPr lang="en-US" sz="1400" b="0" u="none" strike="noStrike">
              <a:solidFill>
                <a:srgbClr val="000000"/>
              </a:solidFill>
              <a:effectLst/>
              <a:uFillTx/>
              <a:latin typeface="Arial"/>
            </a:endParaRPr>
          </a:p>
        </p:txBody>
      </p:sp>
      <p:pic>
        <p:nvPicPr>
          <p:cNvPr id="510" name="図 3"/>
          <p:cNvPicPr/>
          <p:nvPr/>
        </p:nvPicPr>
        <p:blipFill>
          <a:blip r:embed="rId3"/>
          <a:stretch/>
        </p:blipFill>
        <p:spPr>
          <a:xfrm>
            <a:off x="3639240" y="2409840"/>
            <a:ext cx="2626920" cy="1492560"/>
          </a:xfrm>
          <a:prstGeom prst="rect">
            <a:avLst/>
          </a:prstGeom>
          <a:noFill/>
          <a:ln w="0">
            <a:noFill/>
          </a:ln>
        </p:spPr>
      </p:pic>
      <p:sp>
        <p:nvSpPr>
          <p:cNvPr id="511" name="Google Shape;178;p7"/>
          <p:cNvSpPr/>
          <p:nvPr/>
        </p:nvSpPr>
        <p:spPr>
          <a:xfrm>
            <a:off x="440280" y="5328720"/>
            <a:ext cx="2751840" cy="89064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en-US" sz="1200" b="0" u="none" strike="noStrike">
                <a:solidFill>
                  <a:schemeClr val="dk1">
                    <a:lumMod val="50000"/>
                    <a:lumOff val="50000"/>
                  </a:schemeClr>
                </a:solidFill>
                <a:effectLst/>
                <a:uFillTx/>
                <a:latin typeface="Meiryo"/>
                <a:ea typeface="Meiryo"/>
              </a:rPr>
              <a:t>LP</a:t>
            </a:r>
            <a:r>
              <a:rPr lang="ja-JP" sz="1200" b="0" u="none" strike="noStrike">
                <a:solidFill>
                  <a:schemeClr val="dk1">
                    <a:lumMod val="50000"/>
                    <a:lumOff val="50000"/>
                  </a:schemeClr>
                </a:solidFill>
                <a:effectLst/>
                <a:uFillTx/>
                <a:latin typeface="Meiryo"/>
                <a:ea typeface="Meiryo"/>
              </a:rPr>
              <a:t>離脱ユーザーに対して</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誘導を実施。</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追加から</a:t>
            </a:r>
            <a:r>
              <a:rPr lang="en-US" sz="1200" b="0" u="none" strike="noStrike">
                <a:solidFill>
                  <a:schemeClr val="dk1">
                    <a:lumMod val="50000"/>
                    <a:lumOff val="50000"/>
                  </a:schemeClr>
                </a:solidFill>
                <a:effectLst/>
                <a:uFillTx/>
                <a:latin typeface="Meiryo"/>
                <a:ea typeface="Meiryo"/>
              </a:rPr>
              <a:t>20</a:t>
            </a:r>
            <a:r>
              <a:rPr lang="ja-JP" sz="1200" b="0" u="none" strike="noStrike">
                <a:solidFill>
                  <a:schemeClr val="dk1">
                    <a:lumMod val="50000"/>
                    <a:lumOff val="50000"/>
                  </a:schemeClr>
                </a:solidFill>
                <a:effectLst/>
                <a:uFillTx/>
                <a:latin typeface="Meiryo"/>
                <a:ea typeface="Meiryo"/>
              </a:rPr>
              <a:t>％が</a:t>
            </a:r>
            <a:r>
              <a:rPr lang="en-US" sz="1200" b="0" u="none" strike="noStrike">
                <a:solidFill>
                  <a:schemeClr val="dk1">
                    <a:lumMod val="50000"/>
                    <a:lumOff val="50000"/>
                  </a:schemeClr>
                </a:solidFill>
                <a:effectLst/>
                <a:uFillTx/>
                <a:latin typeface="Meiryo"/>
                <a:ea typeface="Meiryo"/>
              </a:rPr>
              <a:t>CV</a:t>
            </a:r>
            <a:endParaRPr lang="en-US" sz="1200" b="0" u="none" strike="noStrike">
              <a:solidFill>
                <a:srgbClr val="000000"/>
              </a:solidFill>
              <a:effectLst/>
              <a:uFillTx/>
              <a:latin typeface="Arial"/>
            </a:endParaRPr>
          </a:p>
          <a:p>
            <a:pPr defTabSz="914400">
              <a:lnSpc>
                <a:spcPct val="100000"/>
              </a:lnSpc>
            </a:pPr>
            <a:endParaRPr lang="en-US" sz="1200" b="0" u="none" strike="noStrike">
              <a:solidFill>
                <a:srgbClr val="000000"/>
              </a:solidFill>
              <a:effectLst/>
              <a:uFillTx/>
              <a:latin typeface="Arial"/>
            </a:endParaRPr>
          </a:p>
        </p:txBody>
      </p:sp>
      <p:sp>
        <p:nvSpPr>
          <p:cNvPr id="512" name="Google Shape;178;p7"/>
          <p:cNvSpPr/>
          <p:nvPr/>
        </p:nvSpPr>
        <p:spPr>
          <a:xfrm>
            <a:off x="6825240" y="5328720"/>
            <a:ext cx="285156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ja-JP" sz="1200" b="0" u="none" strike="noStrike">
                <a:solidFill>
                  <a:schemeClr val="dk1">
                    <a:lumMod val="50000"/>
                    <a:lumOff val="50000"/>
                  </a:schemeClr>
                </a:solidFill>
                <a:effectLst/>
                <a:uFillTx/>
                <a:latin typeface="Meiryo"/>
                <a:ea typeface="Meiryo"/>
              </a:rPr>
              <a:t>導入後友だち増加数が</a:t>
            </a:r>
            <a:r>
              <a:rPr lang="en-US" sz="1200" b="0" u="none" strike="noStrike">
                <a:solidFill>
                  <a:schemeClr val="dk1">
                    <a:lumMod val="50000"/>
                    <a:lumOff val="50000"/>
                  </a:schemeClr>
                </a:solidFill>
                <a:effectLst/>
                <a:uFillTx/>
                <a:latin typeface="Meiryo"/>
                <a:ea typeface="Meiryo"/>
              </a:rPr>
              <a:t>1.5</a:t>
            </a:r>
            <a:r>
              <a:rPr lang="ja-JP" sz="1200" b="0" u="none" strike="noStrike">
                <a:solidFill>
                  <a:schemeClr val="dk1">
                    <a:lumMod val="50000"/>
                    <a:lumOff val="50000"/>
                  </a:schemeClr>
                </a:solidFill>
                <a:effectLst/>
                <a:uFillTx/>
                <a:latin typeface="Meiryo"/>
                <a:ea typeface="Meiryo"/>
              </a:rPr>
              <a:t>倍に。</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50000"/>
                    <a:lumOff val="50000"/>
                  </a:schemeClr>
                </a:solidFill>
                <a:effectLst/>
                <a:uFillTx/>
                <a:latin typeface="Meiryo"/>
                <a:ea typeface="Meiryo"/>
              </a:rPr>
              <a:t>実反響率も</a:t>
            </a:r>
            <a:r>
              <a:rPr lang="en-US" sz="1200" b="0" u="none" strike="noStrike">
                <a:solidFill>
                  <a:schemeClr val="dk1">
                    <a:lumMod val="50000"/>
                    <a:lumOff val="50000"/>
                  </a:schemeClr>
                </a:solidFill>
                <a:effectLst/>
                <a:uFillTx/>
                <a:latin typeface="Meiryo"/>
                <a:ea typeface="Meiryo"/>
              </a:rPr>
              <a:t>40%</a:t>
            </a:r>
            <a:r>
              <a:rPr lang="ja-JP" sz="1200" b="0" u="none" strike="noStrike">
                <a:solidFill>
                  <a:schemeClr val="dk1">
                    <a:lumMod val="50000"/>
                    <a:lumOff val="50000"/>
                  </a:schemeClr>
                </a:solidFill>
                <a:effectLst/>
                <a:uFillTx/>
                <a:latin typeface="Meiryo"/>
                <a:ea typeface="Meiryo"/>
              </a:rPr>
              <a:t>程度改善。</a:t>
            </a:r>
            <a:endParaRPr lang="en-US" sz="1200" b="0" u="none" strike="noStrike">
              <a:solidFill>
                <a:srgbClr val="000000"/>
              </a:solidFill>
              <a:effectLst/>
              <a:uFillTx/>
              <a:latin typeface="Arial"/>
            </a:endParaRPr>
          </a:p>
        </p:txBody>
      </p:sp>
      <p:sp>
        <p:nvSpPr>
          <p:cNvPr id="513" name="角丸四角形 8"/>
          <p:cNvSpPr/>
          <p:nvPr/>
        </p:nvSpPr>
        <p:spPr>
          <a:xfrm>
            <a:off x="3460680" y="1776240"/>
            <a:ext cx="2985840" cy="4470840"/>
          </a:xfrm>
          <a:prstGeom prst="roundRect">
            <a:avLst>
              <a:gd name="adj" fmla="val 3567"/>
            </a:avLst>
          </a:prstGeom>
          <a:solidFill>
            <a:schemeClr val="bg1">
              <a:lumMod val="95000"/>
            </a:schemeClr>
          </a:solidFill>
          <a:ln w="25400">
            <a:solidFill>
              <a:srgbClr val="000000">
                <a:lumMod val="50000"/>
                <a:lumOff val="50000"/>
              </a:srgbClr>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514" name="Google Shape;178;p7"/>
          <p:cNvSpPr/>
          <p:nvPr/>
        </p:nvSpPr>
        <p:spPr>
          <a:xfrm>
            <a:off x="3796560" y="195012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通知メッセージ</a:t>
            </a:r>
            <a:endParaRPr lang="en-US" sz="2000" b="0" u="none" strike="noStrike">
              <a:solidFill>
                <a:srgbClr val="000000"/>
              </a:solidFill>
              <a:effectLst/>
              <a:uFillTx/>
              <a:latin typeface="Arial"/>
            </a:endParaRPr>
          </a:p>
        </p:txBody>
      </p:sp>
      <p:sp>
        <p:nvSpPr>
          <p:cNvPr id="515" name="Google Shape;178;p7"/>
          <p:cNvSpPr/>
          <p:nvPr/>
        </p:nvSpPr>
        <p:spPr>
          <a:xfrm>
            <a:off x="323244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友だちではないユーザーに</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対して予約完了通知などを</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送り友だちを増やす。</a:t>
            </a:r>
            <a:endParaRPr lang="en-US" sz="1400" b="0" u="none" strike="noStrike">
              <a:solidFill>
                <a:srgbClr val="000000"/>
              </a:solidFill>
              <a:effectLst/>
              <a:uFillTx/>
              <a:latin typeface="Arial"/>
            </a:endParaRPr>
          </a:p>
        </p:txBody>
      </p:sp>
      <p:sp>
        <p:nvSpPr>
          <p:cNvPr id="516" name="Google Shape;178;p7"/>
          <p:cNvSpPr/>
          <p:nvPr/>
        </p:nvSpPr>
        <p:spPr>
          <a:xfrm>
            <a:off x="323244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事例：宅配ピザ</a:t>
            </a:r>
            <a:endParaRPr lang="en-US" sz="1400" b="0" u="none" strike="noStrike">
              <a:solidFill>
                <a:srgbClr val="000000"/>
              </a:solidFill>
              <a:effectLst/>
              <a:uFillTx/>
              <a:latin typeface="Arial"/>
            </a:endParaRPr>
          </a:p>
        </p:txBody>
      </p:sp>
      <p:pic>
        <p:nvPicPr>
          <p:cNvPr id="517" name="図 40"/>
          <p:cNvPicPr/>
          <p:nvPr/>
        </p:nvPicPr>
        <p:blipFill>
          <a:blip r:embed="rId4"/>
          <a:stretch/>
        </p:blipFill>
        <p:spPr>
          <a:xfrm>
            <a:off x="3968280" y="1481040"/>
            <a:ext cx="2029320" cy="3608280"/>
          </a:xfrm>
          <a:prstGeom prst="rect">
            <a:avLst/>
          </a:prstGeom>
          <a:noFill/>
          <a:ln w="0">
            <a:noFill/>
          </a:ln>
        </p:spPr>
      </p:pic>
      <p:sp>
        <p:nvSpPr>
          <p:cNvPr id="518" name="Google Shape;178;p7"/>
          <p:cNvSpPr/>
          <p:nvPr/>
        </p:nvSpPr>
        <p:spPr>
          <a:xfrm>
            <a:off x="3623040" y="5328720"/>
            <a:ext cx="285156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ja-JP" sz="1200" b="0" u="none" strike="noStrike">
                <a:solidFill>
                  <a:schemeClr val="dk1">
                    <a:lumMod val="50000"/>
                    <a:lumOff val="50000"/>
                  </a:schemeClr>
                </a:solidFill>
                <a:effectLst/>
                <a:uFillTx/>
                <a:latin typeface="Meiryo"/>
                <a:ea typeface="Meiryo"/>
              </a:rPr>
              <a:t>通知メッセージ導入４ヶ月で</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50000"/>
                    <a:lumOff val="50000"/>
                  </a:schemeClr>
                </a:solidFill>
                <a:effectLst/>
                <a:uFillTx/>
                <a:latin typeface="Meiryo"/>
                <a:ea typeface="Meiryo"/>
              </a:rPr>
              <a:t>友だち数</a:t>
            </a:r>
            <a:r>
              <a:rPr lang="en-US" sz="1200" b="0" u="none" strike="noStrike">
                <a:solidFill>
                  <a:schemeClr val="dk1">
                    <a:lumMod val="50000"/>
                    <a:lumOff val="50000"/>
                  </a:schemeClr>
                </a:solidFill>
                <a:effectLst/>
                <a:uFillTx/>
                <a:latin typeface="Meiryo"/>
                <a:ea typeface="Meiryo"/>
              </a:rPr>
              <a:t>2</a:t>
            </a:r>
            <a:r>
              <a:rPr lang="ja-JP" sz="1200" b="0" u="none" strike="noStrike">
                <a:solidFill>
                  <a:schemeClr val="dk1">
                    <a:lumMod val="50000"/>
                    <a:lumOff val="50000"/>
                  </a:schemeClr>
                </a:solidFill>
                <a:effectLst/>
                <a:uFillTx/>
                <a:latin typeface="Meiryo"/>
                <a:ea typeface="Meiryo"/>
              </a:rPr>
              <a:t>倍</a:t>
            </a:r>
            <a:endParaRPr lang="en-US" sz="1200" b="0" u="none" strike="noStrike">
              <a:solidFill>
                <a:srgbClr val="000000"/>
              </a:solidFill>
              <a:effectLst/>
              <a:uFillTx/>
              <a:latin typeface="Arial"/>
            </a:endParaRPr>
          </a:p>
        </p:txBody>
      </p:sp>
      <p:pic>
        <p:nvPicPr>
          <p:cNvPr id="519" name="Picture 2" descr="サンクスページ インスタ無料テンプレートデザイン。イラストや ..."/>
          <p:cNvPicPr/>
          <p:nvPr/>
        </p:nvPicPr>
        <p:blipFill>
          <a:blip r:embed="rId5"/>
          <a:srcRect t="18238" b="39631"/>
          <a:stretch/>
        </p:blipFill>
        <p:spPr>
          <a:xfrm>
            <a:off x="7001280" y="2549160"/>
            <a:ext cx="2326320" cy="1225080"/>
          </a:xfrm>
          <a:prstGeom prst="rect">
            <a:avLst/>
          </a:prstGeom>
          <a:noFill/>
          <a:ln w="0">
            <a:noFill/>
          </a:ln>
        </p:spPr>
      </p:pic>
      <p:sp>
        <p:nvSpPr>
          <p:cNvPr id="52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521" name="Google Shape;178;p7"/>
          <p:cNvSpPr/>
          <p:nvPr/>
        </p:nvSpPr>
        <p:spPr>
          <a:xfrm>
            <a:off x="77040" y="943920"/>
            <a:ext cx="9751680" cy="536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準顕在（獲得見込みが高い）層を効率よく取れる動線を用意し運用します。</a:t>
            </a:r>
            <a:endParaRPr lang="en-US" sz="1400" b="0" u="none" strike="noStrike">
              <a:solidFill>
                <a:srgbClr val="000000"/>
              </a:solidFill>
              <a:effectLst/>
              <a:uFillTx/>
              <a:latin typeface="Arial"/>
            </a:endParaRPr>
          </a:p>
          <a:p>
            <a:pPr algn="ctr" defTabSz="914400">
              <a:lnSpc>
                <a:spcPct val="100000"/>
              </a:lnSpc>
            </a:pPr>
            <a:r>
              <a:rPr lang="en-US" sz="1100" b="0" u="none" strike="noStrike">
                <a:solidFill>
                  <a:srgbClr val="FF0000"/>
                </a:solidFill>
                <a:effectLst/>
                <a:uFillTx/>
                <a:latin typeface="Meiryo"/>
                <a:ea typeface="Meiryo"/>
              </a:rPr>
              <a:t>※実施想定の友だち追加動線について、★を記載しております。</a:t>
            </a:r>
            <a:endParaRPr lang="en-US" sz="1100" b="0" u="none" strike="noStrike">
              <a:solidFill>
                <a:srgbClr val="000000"/>
              </a:solidFill>
              <a:effectLst/>
              <a:uFillTx/>
              <a:latin typeface="Arial"/>
            </a:endParaRPr>
          </a:p>
        </p:txBody>
      </p:sp>
      <p:sp>
        <p:nvSpPr>
          <p:cNvPr id="522" name="星: 5 pt 5"/>
          <p:cNvSpPr/>
          <p:nvPr/>
        </p:nvSpPr>
        <p:spPr>
          <a:xfrm>
            <a:off x="2749320" y="170676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23" name="星: 5 pt 14"/>
          <p:cNvSpPr/>
          <p:nvPr/>
        </p:nvSpPr>
        <p:spPr>
          <a:xfrm>
            <a:off x="9252720" y="167220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（ポップアップ </a:t>
            </a:r>
            <a:r>
              <a:rPr lang="en-US" sz="1600" b="1" u="none" strike="noStrike">
                <a:solidFill>
                  <a:srgbClr val="323366"/>
                </a:solidFill>
                <a:effectLst/>
                <a:uFillTx/>
                <a:latin typeface="メイリオ"/>
                <a:ea typeface="メイリオ"/>
              </a:rPr>
              <a:t>/ </a:t>
            </a:r>
            <a:r>
              <a:rPr lang="ja-JP" sz="1600" b="1" u="none" strike="noStrike">
                <a:solidFill>
                  <a:srgbClr val="323366"/>
                </a:solidFill>
                <a:effectLst/>
                <a:uFillTx/>
                <a:latin typeface="メイリオ"/>
                <a:ea typeface="メイリオ"/>
              </a:rPr>
              <a:t>離脱防止）</a:t>
            </a:r>
            <a:endParaRPr lang="en-US" sz="1600" b="0" u="none" strike="noStrike">
              <a:solidFill>
                <a:srgbClr val="000000"/>
              </a:solidFill>
              <a:effectLst/>
              <a:uFillTx/>
              <a:latin typeface="Arial"/>
            </a:endParaRPr>
          </a:p>
        </p:txBody>
      </p:sp>
      <p:grpSp>
        <p:nvGrpSpPr>
          <p:cNvPr id="525" name="グループ化 2"/>
          <p:cNvGrpSpPr/>
          <p:nvPr/>
        </p:nvGrpSpPr>
        <p:grpSpPr>
          <a:xfrm>
            <a:off x="543240" y="777600"/>
            <a:ext cx="3105000" cy="484920"/>
            <a:chOff x="543240" y="777600"/>
            <a:chExt cx="3105000" cy="484920"/>
          </a:xfrm>
        </p:grpSpPr>
        <p:sp>
          <p:nvSpPr>
            <p:cNvPr id="526"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27" name="テキスト ボックス 4"/>
            <p:cNvSpPr/>
            <p:nvPr/>
          </p:nvSpPr>
          <p:spPr>
            <a:xfrm>
              <a:off x="722880" y="788040"/>
              <a:ext cx="274608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ポップアップ</a:t>
              </a:r>
              <a:r>
                <a:rPr lang="en-US" sz="1500" b="1" u="none" strike="noStrike">
                  <a:solidFill>
                    <a:schemeClr val="lt1"/>
                  </a:solidFill>
                  <a:effectLst/>
                  <a:uFillTx/>
                  <a:latin typeface="Meiryo"/>
                  <a:ea typeface="Meiryo"/>
                </a:rPr>
                <a:t>(</a:t>
              </a:r>
              <a:r>
                <a:rPr lang="ja-JP" sz="1500" b="1" u="none" strike="noStrike">
                  <a:solidFill>
                    <a:schemeClr val="lt1"/>
                  </a:solidFill>
                  <a:effectLst/>
                  <a:uFillTx/>
                  <a:latin typeface="Meiryo"/>
                  <a:ea typeface="Meiryo"/>
                </a:rPr>
                <a:t>離脱防止 など</a:t>
              </a:r>
              <a:r>
                <a:rPr lang="en-US" sz="1500" b="1" u="none" strike="noStrike">
                  <a:solidFill>
                    <a:schemeClr val="lt1"/>
                  </a:solidFill>
                  <a:effectLst/>
                  <a:uFillTx/>
                  <a:latin typeface="Meiryo"/>
                  <a:ea typeface="Meiryo"/>
                </a:rPr>
                <a:t>)</a:t>
              </a:r>
              <a:endParaRPr lang="en-US" sz="1500" b="0" u="none" strike="noStrike">
                <a:solidFill>
                  <a:srgbClr val="000000"/>
                </a:solidFill>
                <a:effectLst/>
                <a:uFillTx/>
                <a:latin typeface="Arial"/>
              </a:endParaRPr>
            </a:p>
          </p:txBody>
        </p:sp>
      </p:grpSp>
      <p:sp>
        <p:nvSpPr>
          <p:cNvPr id="528" name="正方形/長方形 7"/>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サイト上の特定アクションを起こしたユーザーに対して</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ポップアップの形で</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誘導の動線を提示。</a:t>
            </a:r>
            <a:endParaRPr lang="en-US" sz="1600" b="0" u="none" strike="noStrike">
              <a:solidFill>
                <a:srgbClr val="000000"/>
              </a:solidFill>
              <a:effectLst/>
              <a:uFillTx/>
              <a:latin typeface="Arial"/>
            </a:endParaRPr>
          </a:p>
        </p:txBody>
      </p:sp>
      <p:pic>
        <p:nvPicPr>
          <p:cNvPr id="529" name="図 5"/>
          <p:cNvPicPr/>
          <p:nvPr/>
        </p:nvPicPr>
        <p:blipFill>
          <a:blip r:embed="rId2"/>
          <a:stretch/>
        </p:blipFill>
        <p:spPr>
          <a:xfrm>
            <a:off x="5764320" y="2258640"/>
            <a:ext cx="1524240" cy="3096360"/>
          </a:xfrm>
          <a:prstGeom prst="rect">
            <a:avLst/>
          </a:prstGeom>
          <a:noFill/>
          <a:ln w="0">
            <a:noFill/>
          </a:ln>
        </p:spPr>
      </p:pic>
      <p:sp>
        <p:nvSpPr>
          <p:cNvPr id="530" name="テキスト ボックス 8"/>
          <p:cNvSpPr/>
          <p:nvPr/>
        </p:nvSpPr>
        <p:spPr>
          <a:xfrm>
            <a:off x="5214960" y="1373040"/>
            <a:ext cx="41479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rgbClr val="FF0000"/>
                </a:solidFill>
                <a:effectLst/>
                <a:uFillTx/>
                <a:latin typeface="Meiryo"/>
                <a:ea typeface="Meiryo"/>
              </a:rPr>
              <a:t>LINE</a:t>
            </a:r>
            <a:r>
              <a:rPr lang="ja-JP" sz="1050" b="0" u="none" strike="noStrike">
                <a:solidFill>
                  <a:srgbClr val="FF0000"/>
                </a:solidFill>
                <a:effectLst/>
                <a:uFillTx/>
                <a:latin typeface="Meiryo"/>
                <a:ea typeface="Meiryo"/>
              </a:rPr>
              <a:t>以外の注力動線への誘導も同バナーから実施が可能です。</a:t>
            </a:r>
            <a:endParaRPr lang="en-US" sz="1050" b="0" u="none" strike="noStrike">
              <a:solidFill>
                <a:srgbClr val="000000"/>
              </a:solidFill>
              <a:effectLst/>
              <a:uFillTx/>
              <a:latin typeface="Arial"/>
            </a:endParaRPr>
          </a:p>
        </p:txBody>
      </p:sp>
      <p:pic>
        <p:nvPicPr>
          <p:cNvPr id="531" name="図 10"/>
          <p:cNvPicPr/>
          <p:nvPr/>
        </p:nvPicPr>
        <p:blipFill>
          <a:blip r:embed="rId2"/>
          <a:stretch/>
        </p:blipFill>
        <p:spPr>
          <a:xfrm>
            <a:off x="8033040" y="2846160"/>
            <a:ext cx="1524240" cy="3096360"/>
          </a:xfrm>
          <a:prstGeom prst="rect">
            <a:avLst/>
          </a:prstGeom>
          <a:noFill/>
          <a:ln w="0">
            <a:noFill/>
          </a:ln>
        </p:spPr>
      </p:pic>
      <p:sp>
        <p:nvSpPr>
          <p:cNvPr id="532" name="矢印: 右 11"/>
          <p:cNvSpPr/>
          <p:nvPr/>
        </p:nvSpPr>
        <p:spPr>
          <a:xfrm>
            <a:off x="7373160" y="3359520"/>
            <a:ext cx="571320" cy="618840"/>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33" name="正方形/長方形 12"/>
          <p:cNvSpPr/>
          <p:nvPr/>
        </p:nvSpPr>
        <p:spPr>
          <a:xfrm>
            <a:off x="8116920" y="3057480"/>
            <a:ext cx="1370880" cy="2585160"/>
          </a:xfrm>
          <a:prstGeom prst="rect">
            <a:avLst/>
          </a:prstGeom>
          <a:solidFill>
            <a:schemeClr val="dk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34"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1.5</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35"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pic>
        <p:nvPicPr>
          <p:cNvPr id="536" name="図 18"/>
          <p:cNvPicPr/>
          <p:nvPr/>
        </p:nvPicPr>
        <p:blipFill>
          <a:blip r:embed="rId3"/>
          <a:stretch/>
        </p:blipFill>
        <p:spPr>
          <a:xfrm>
            <a:off x="8263800" y="3753000"/>
            <a:ext cx="1062360" cy="1114560"/>
          </a:xfrm>
          <a:prstGeom prst="rect">
            <a:avLst/>
          </a:prstGeom>
          <a:noFill/>
          <a:ln w="0">
            <a:noFill/>
          </a:ln>
        </p:spPr>
      </p:pic>
      <p:sp>
        <p:nvSpPr>
          <p:cNvPr id="537" name="正方形/長方形 23"/>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pic>
        <p:nvPicPr>
          <p:cNvPr id="538" name="図 6"/>
          <p:cNvPicPr/>
          <p:nvPr/>
        </p:nvPicPr>
        <p:blipFill>
          <a:blip r:embed="rId4"/>
          <a:stretch/>
        </p:blipFill>
        <p:spPr>
          <a:xfrm>
            <a:off x="543240" y="4259880"/>
            <a:ext cx="5058720" cy="2191320"/>
          </a:xfrm>
          <a:prstGeom prst="rect">
            <a:avLst/>
          </a:prstGeom>
          <a:noFill/>
          <a:ln w="0">
            <a:noFill/>
          </a:ln>
        </p:spPr>
      </p:pic>
      <p:pic>
        <p:nvPicPr>
          <p:cNvPr id="539" name="図 13"/>
          <p:cNvPicPr/>
          <p:nvPr/>
        </p:nvPicPr>
        <p:blipFill>
          <a:blip r:embed="rId5"/>
          <a:stretch/>
        </p:blipFill>
        <p:spPr>
          <a:xfrm>
            <a:off x="579600" y="1977840"/>
            <a:ext cx="5022720" cy="2230920"/>
          </a:xfrm>
          <a:prstGeom prst="rect">
            <a:avLst/>
          </a:prstGeom>
          <a:noFill/>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（ポップアップ </a:t>
            </a:r>
            <a:r>
              <a:rPr lang="en-US" sz="1600" b="1" u="none" strike="noStrike">
                <a:solidFill>
                  <a:srgbClr val="323366"/>
                </a:solidFill>
                <a:effectLst/>
                <a:uFillTx/>
                <a:latin typeface="メイリオ"/>
                <a:ea typeface="メイリオ"/>
              </a:rPr>
              <a:t>/ </a:t>
            </a:r>
            <a:r>
              <a:rPr lang="ja-JP" sz="1600" b="1" u="none" strike="noStrike">
                <a:solidFill>
                  <a:srgbClr val="323366"/>
                </a:solidFill>
                <a:effectLst/>
                <a:uFillTx/>
                <a:latin typeface="メイリオ"/>
                <a:ea typeface="メイリオ"/>
              </a:rPr>
              <a:t>離脱防止）</a:t>
            </a:r>
            <a:endParaRPr lang="en-US" sz="1600" b="0" u="none" strike="noStrike">
              <a:solidFill>
                <a:srgbClr val="000000"/>
              </a:solidFill>
              <a:effectLst/>
              <a:uFillTx/>
              <a:latin typeface="Arial"/>
            </a:endParaRPr>
          </a:p>
        </p:txBody>
      </p:sp>
      <p:grpSp>
        <p:nvGrpSpPr>
          <p:cNvPr id="541" name="グループ化 2"/>
          <p:cNvGrpSpPr/>
          <p:nvPr/>
        </p:nvGrpSpPr>
        <p:grpSpPr>
          <a:xfrm>
            <a:off x="543240" y="777600"/>
            <a:ext cx="3105000" cy="484920"/>
            <a:chOff x="543240" y="777600"/>
            <a:chExt cx="3105000" cy="484920"/>
          </a:xfrm>
        </p:grpSpPr>
        <p:sp>
          <p:nvSpPr>
            <p:cNvPr id="542"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43" name="テキスト ボックス 4"/>
            <p:cNvSpPr/>
            <p:nvPr/>
          </p:nvSpPr>
          <p:spPr>
            <a:xfrm>
              <a:off x="722880" y="788040"/>
              <a:ext cx="274608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ポップアップ</a:t>
              </a:r>
              <a:r>
                <a:rPr lang="en-US" sz="1500" b="1" u="none" strike="noStrike">
                  <a:solidFill>
                    <a:schemeClr val="lt1"/>
                  </a:solidFill>
                  <a:effectLst/>
                  <a:uFillTx/>
                  <a:latin typeface="Meiryo"/>
                  <a:ea typeface="Meiryo"/>
                </a:rPr>
                <a:t>(</a:t>
              </a:r>
              <a:r>
                <a:rPr lang="ja-JP" sz="1500" b="1" u="none" strike="noStrike">
                  <a:solidFill>
                    <a:schemeClr val="lt1"/>
                  </a:solidFill>
                  <a:effectLst/>
                  <a:uFillTx/>
                  <a:latin typeface="Meiryo"/>
                  <a:ea typeface="Meiryo"/>
                </a:rPr>
                <a:t>離脱防止 など</a:t>
              </a:r>
              <a:r>
                <a:rPr lang="en-US" sz="1500" b="1" u="none" strike="noStrike">
                  <a:solidFill>
                    <a:schemeClr val="lt1"/>
                  </a:solidFill>
                  <a:effectLst/>
                  <a:uFillTx/>
                  <a:latin typeface="Meiryo"/>
                  <a:ea typeface="Meiryo"/>
                </a:rPr>
                <a:t>)</a:t>
              </a:r>
              <a:endParaRPr lang="en-US" sz="1500" b="0" u="none" strike="noStrike">
                <a:solidFill>
                  <a:srgbClr val="000000"/>
                </a:solidFill>
                <a:effectLst/>
                <a:uFillTx/>
                <a:latin typeface="Arial"/>
              </a:endParaRPr>
            </a:p>
          </p:txBody>
        </p:sp>
      </p:grpSp>
      <p:sp>
        <p:nvSpPr>
          <p:cNvPr id="544" name="正方形/長方形 7"/>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サイト上の特定アクションを起こしたユーザーに対して</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ポップアップの形で</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誘導の動線を提示。</a:t>
            </a:r>
            <a:endParaRPr lang="en-US" sz="1600" b="0" u="none" strike="noStrike">
              <a:solidFill>
                <a:srgbClr val="000000"/>
              </a:solidFill>
              <a:effectLst/>
              <a:uFillTx/>
              <a:latin typeface="Arial"/>
            </a:endParaRPr>
          </a:p>
        </p:txBody>
      </p:sp>
      <p:sp>
        <p:nvSpPr>
          <p:cNvPr id="545" name="テキスト ボックス 8"/>
          <p:cNvSpPr/>
          <p:nvPr/>
        </p:nvSpPr>
        <p:spPr>
          <a:xfrm>
            <a:off x="5214960" y="1373040"/>
            <a:ext cx="41479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rgbClr val="FF0000"/>
                </a:solidFill>
                <a:effectLst/>
                <a:uFillTx/>
                <a:latin typeface="Meiryo"/>
                <a:ea typeface="Meiryo"/>
              </a:rPr>
              <a:t>LINE</a:t>
            </a:r>
            <a:r>
              <a:rPr lang="ja-JP" sz="1050" b="0" u="none" strike="noStrike">
                <a:solidFill>
                  <a:srgbClr val="FF0000"/>
                </a:solidFill>
                <a:effectLst/>
                <a:uFillTx/>
                <a:latin typeface="Meiryo"/>
                <a:ea typeface="Meiryo"/>
              </a:rPr>
              <a:t>以外の注力動線への誘導も同バナーから実施が可能です。</a:t>
            </a:r>
            <a:endParaRPr lang="en-US" sz="1050" b="0" u="none" strike="noStrike">
              <a:solidFill>
                <a:srgbClr val="000000"/>
              </a:solidFill>
              <a:effectLst/>
              <a:uFillTx/>
              <a:latin typeface="Arial"/>
            </a:endParaRPr>
          </a:p>
        </p:txBody>
      </p:sp>
      <p:sp>
        <p:nvSpPr>
          <p:cNvPr id="546"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1.5</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47"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pic>
        <p:nvPicPr>
          <p:cNvPr id="548" name="図 9"/>
          <p:cNvPicPr/>
          <p:nvPr/>
        </p:nvPicPr>
        <p:blipFill>
          <a:blip r:embed="rId2"/>
          <a:stretch/>
        </p:blipFill>
        <p:spPr>
          <a:xfrm>
            <a:off x="1172160" y="1882080"/>
            <a:ext cx="7561440" cy="4661280"/>
          </a:xfrm>
          <a:prstGeom prst="rect">
            <a:avLst/>
          </a:prstGeom>
          <a:noFill/>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（通知メッセージ）</a:t>
            </a:r>
            <a:endParaRPr lang="en-US" sz="1600" b="0" u="none" strike="noStrike">
              <a:solidFill>
                <a:srgbClr val="000000"/>
              </a:solidFill>
              <a:effectLst/>
              <a:uFillTx/>
              <a:latin typeface="Arial"/>
            </a:endParaRPr>
          </a:p>
        </p:txBody>
      </p:sp>
      <p:grpSp>
        <p:nvGrpSpPr>
          <p:cNvPr id="550" name="グループ化 2"/>
          <p:cNvGrpSpPr/>
          <p:nvPr/>
        </p:nvGrpSpPr>
        <p:grpSpPr>
          <a:xfrm>
            <a:off x="543240" y="777600"/>
            <a:ext cx="3105000" cy="484920"/>
            <a:chOff x="543240" y="777600"/>
            <a:chExt cx="3105000" cy="484920"/>
          </a:xfrm>
        </p:grpSpPr>
        <p:sp>
          <p:nvSpPr>
            <p:cNvPr id="551"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52" name="テキスト ボックス 4"/>
            <p:cNvSpPr/>
            <p:nvPr/>
          </p:nvSpPr>
          <p:spPr>
            <a:xfrm>
              <a:off x="1175400" y="837360"/>
              <a:ext cx="153072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通知メッセージ</a:t>
              </a:r>
              <a:endParaRPr lang="en-US" sz="1500" b="0" u="none" strike="noStrike">
                <a:solidFill>
                  <a:srgbClr val="000000"/>
                </a:solidFill>
                <a:effectLst/>
                <a:uFillTx/>
                <a:latin typeface="Arial"/>
              </a:endParaRPr>
            </a:p>
          </p:txBody>
        </p:sp>
      </p:grpSp>
      <p:sp>
        <p:nvSpPr>
          <p:cNvPr id="553"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上のアクションユーザー、貴社保有リスト をターゲット</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に友だち登録、ステータス通知を行うことが出来る機能です。</a:t>
            </a:r>
            <a:endParaRPr lang="en-US" sz="1600" b="0" u="none" strike="noStrike">
              <a:solidFill>
                <a:srgbClr val="000000"/>
              </a:solidFill>
              <a:effectLst/>
              <a:uFillTx/>
              <a:latin typeface="Arial"/>
            </a:endParaRPr>
          </a:p>
        </p:txBody>
      </p:sp>
      <p:sp>
        <p:nvSpPr>
          <p:cNvPr id="554"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55"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8</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通数単価：</a:t>
            </a:r>
            <a:r>
              <a:rPr lang="en-US" sz="1050" b="1" u="none" strike="noStrike">
                <a:solidFill>
                  <a:srgbClr val="FFFF00"/>
                </a:solidFill>
                <a:effectLst/>
                <a:uFillTx/>
                <a:latin typeface="Meiryo"/>
                <a:ea typeface="Meiryo"/>
              </a:rPr>
              <a:t>7</a:t>
            </a:r>
            <a:r>
              <a:rPr lang="ja-JP" sz="1050" b="1" u="none" strike="noStrike">
                <a:solidFill>
                  <a:srgbClr val="FFFF00"/>
                </a:solidFill>
                <a:effectLst/>
                <a:uFillTx/>
                <a:latin typeface="Meiryo"/>
                <a:ea typeface="Meiryo"/>
              </a:rPr>
              <a:t>円</a:t>
            </a:r>
            <a:endParaRPr lang="en-US" sz="1050" b="0" u="none" strike="noStrike">
              <a:solidFill>
                <a:srgbClr val="FFFFFF"/>
              </a:solidFill>
              <a:effectLst/>
              <a:uFillTx/>
              <a:latin typeface="Arial"/>
            </a:endParaRPr>
          </a:p>
        </p:txBody>
      </p:sp>
      <p:sp>
        <p:nvSpPr>
          <p:cNvPr id="556" name="正方形/長方形 78"/>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pic>
        <p:nvPicPr>
          <p:cNvPr id="557" name="図 81"/>
          <p:cNvPicPr/>
          <p:nvPr/>
        </p:nvPicPr>
        <p:blipFill>
          <a:blip r:embed="rId2"/>
          <a:stretch/>
        </p:blipFill>
        <p:spPr>
          <a:xfrm>
            <a:off x="532440" y="4787640"/>
            <a:ext cx="3533040" cy="1714320"/>
          </a:xfrm>
          <a:prstGeom prst="rect">
            <a:avLst/>
          </a:prstGeom>
          <a:noFill/>
          <a:ln w="0">
            <a:noFill/>
          </a:ln>
        </p:spPr>
      </p:pic>
      <p:pic>
        <p:nvPicPr>
          <p:cNvPr id="558" name="図 83"/>
          <p:cNvPicPr/>
          <p:nvPr/>
        </p:nvPicPr>
        <p:blipFill>
          <a:blip r:embed="rId3"/>
          <a:stretch/>
        </p:blipFill>
        <p:spPr>
          <a:xfrm>
            <a:off x="4065840" y="4801320"/>
            <a:ext cx="1585800" cy="1700640"/>
          </a:xfrm>
          <a:prstGeom prst="rect">
            <a:avLst/>
          </a:prstGeom>
          <a:noFill/>
          <a:ln w="0">
            <a:noFill/>
          </a:ln>
        </p:spPr>
      </p:pic>
      <p:pic>
        <p:nvPicPr>
          <p:cNvPr id="559" name="図 85"/>
          <p:cNvPicPr/>
          <p:nvPr/>
        </p:nvPicPr>
        <p:blipFill>
          <a:blip r:embed="rId4"/>
          <a:stretch/>
        </p:blipFill>
        <p:spPr>
          <a:xfrm>
            <a:off x="5988600" y="2468160"/>
            <a:ext cx="3362040" cy="1976760"/>
          </a:xfrm>
          <a:prstGeom prst="rect">
            <a:avLst/>
          </a:prstGeom>
          <a:noFill/>
          <a:ln w="0">
            <a:noFill/>
          </a:ln>
        </p:spPr>
      </p:pic>
      <p:pic>
        <p:nvPicPr>
          <p:cNvPr id="560" name="図 87"/>
          <p:cNvPicPr/>
          <p:nvPr/>
        </p:nvPicPr>
        <p:blipFill>
          <a:blip r:embed="rId5"/>
          <a:stretch/>
        </p:blipFill>
        <p:spPr>
          <a:xfrm>
            <a:off x="5927400" y="4787640"/>
            <a:ext cx="3471480" cy="1625760"/>
          </a:xfrm>
          <a:prstGeom prst="rect">
            <a:avLst/>
          </a:prstGeom>
          <a:noFill/>
          <a:ln w="0">
            <a:noFill/>
          </a:ln>
        </p:spPr>
      </p:pic>
      <p:sp>
        <p:nvSpPr>
          <p:cNvPr id="561" name="正方形/長方形 89"/>
          <p:cNvSpPr/>
          <p:nvPr/>
        </p:nvSpPr>
        <p:spPr>
          <a:xfrm>
            <a:off x="5941440" y="22240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dk1"/>
                </a:solidFill>
                <a:effectLst/>
                <a:uFillTx/>
                <a:latin typeface="メイリオ"/>
                <a:ea typeface="メイリオ"/>
              </a:rPr>
              <a:t>佐川急便</a:t>
            </a:r>
            <a:endParaRPr lang="en-US" sz="1100" b="0" u="none" strike="noStrike">
              <a:solidFill>
                <a:srgbClr val="000000"/>
              </a:solidFill>
              <a:effectLst/>
              <a:uFillTx/>
              <a:latin typeface="Arial"/>
            </a:endParaRPr>
          </a:p>
        </p:txBody>
      </p:sp>
      <p:sp>
        <p:nvSpPr>
          <p:cNvPr id="562" name="正方形/長方形 91"/>
          <p:cNvSpPr/>
          <p:nvPr/>
        </p:nvSpPr>
        <p:spPr>
          <a:xfrm>
            <a:off x="5941440" y="44992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dk1"/>
                </a:solidFill>
                <a:effectLst/>
                <a:uFillTx/>
                <a:latin typeface="メイリオ"/>
                <a:ea typeface="メイリオ"/>
              </a:rPr>
              <a:t>やまや（</a:t>
            </a:r>
            <a:r>
              <a:rPr lang="en-US" sz="1100" b="0" u="none" strike="noStrike">
                <a:solidFill>
                  <a:schemeClr val="dk1"/>
                </a:solidFill>
                <a:effectLst/>
                <a:uFillTx/>
                <a:latin typeface="メイリオ"/>
                <a:ea typeface="メイリオ"/>
              </a:rPr>
              <a:t>EC</a:t>
            </a:r>
            <a:r>
              <a:rPr lang="ja-JP" sz="1100" b="0"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p:txBody>
      </p:sp>
      <p:sp>
        <p:nvSpPr>
          <p:cNvPr id="563" name="テキスト ボックス 93"/>
          <p:cNvSpPr/>
          <p:nvPr/>
        </p:nvSpPr>
        <p:spPr>
          <a:xfrm>
            <a:off x="3904560" y="136872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Sales Partner</a:t>
            </a:r>
            <a:r>
              <a:rPr lang="ja-JP" sz="900" b="0" u="none" strike="noStrike">
                <a:solidFill>
                  <a:srgbClr val="FF0000"/>
                </a:solidFill>
                <a:effectLst/>
                <a:uFillTx/>
                <a:latin typeface="メイリオ"/>
                <a:ea typeface="メイリオ"/>
              </a:rPr>
              <a:t>、</a:t>
            </a:r>
            <a:r>
              <a:rPr lang="en-US" sz="900" b="0" u="none" strike="noStrike">
                <a:solidFill>
                  <a:srgbClr val="FF0000"/>
                </a:solidFill>
                <a:effectLst/>
                <a:uFillTx/>
                <a:latin typeface="メイリオ"/>
                <a:ea typeface="メイリオ"/>
              </a:rPr>
              <a:t>Tech Partner</a:t>
            </a:r>
            <a:r>
              <a:rPr lang="ja-JP" sz="900" b="0" u="none" strike="noStrike">
                <a:solidFill>
                  <a:srgbClr val="FF0000"/>
                </a:solidFill>
                <a:effectLst/>
                <a:uFillTx/>
                <a:latin typeface="メイリオ"/>
                <a:ea typeface="メイリオ"/>
              </a:rPr>
              <a:t>限定公開の</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を使用した機能です。</a:t>
            </a:r>
            <a:endParaRPr lang="en-US" sz="900" b="0" u="none" strike="noStrike">
              <a:solidFill>
                <a:srgbClr val="000000"/>
              </a:solidFill>
              <a:effectLst/>
              <a:uFillTx/>
              <a:latin typeface="Arial"/>
            </a:endParaRPr>
          </a:p>
        </p:txBody>
      </p:sp>
      <p:sp>
        <p:nvSpPr>
          <p:cNvPr id="564" name="正方形/長方形 95"/>
          <p:cNvSpPr/>
          <p:nvPr/>
        </p:nvSpPr>
        <p:spPr>
          <a:xfrm>
            <a:off x="543240" y="1937880"/>
            <a:ext cx="498060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lumMod val="50000"/>
                    <a:lumOff val="50000"/>
                  </a:schemeClr>
                </a:solidFill>
                <a:effectLst/>
                <a:uFillTx/>
                <a:latin typeface="メイリオ"/>
                <a:ea typeface="メイリオ"/>
              </a:rPr>
              <a:t>利用可能シーン</a:t>
            </a:r>
            <a:endParaRPr lang="en-US" sz="1100" b="0" u="none" strike="noStrike">
              <a:solidFill>
                <a:srgbClr val="000000"/>
              </a:solidFill>
              <a:effectLst/>
              <a:uFillTx/>
              <a:latin typeface="Arial"/>
            </a:endParaRPr>
          </a:p>
        </p:txBody>
      </p:sp>
      <p:pic>
        <p:nvPicPr>
          <p:cNvPr id="565" name="図 6"/>
          <p:cNvPicPr/>
          <p:nvPr/>
        </p:nvPicPr>
        <p:blipFill>
          <a:blip r:embed="rId6"/>
          <a:stretch/>
        </p:blipFill>
        <p:spPr>
          <a:xfrm>
            <a:off x="381960" y="2197800"/>
            <a:ext cx="5286600" cy="2496600"/>
          </a:xfrm>
          <a:prstGeom prst="rect">
            <a:avLst/>
          </a:prstGeom>
          <a:noFill/>
          <a:ln w="0">
            <a:noFill/>
          </a:ln>
        </p:spPr>
      </p:pic>
      <p:sp>
        <p:nvSpPr>
          <p:cNvPr id="566" name="テキスト ボックス 9"/>
          <p:cNvSpPr/>
          <p:nvPr/>
        </p:nvSpPr>
        <p:spPr>
          <a:xfrm>
            <a:off x="3904560" y="155844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900" b="0" u="none" strike="noStrike">
                <a:solidFill>
                  <a:srgbClr val="FF0000"/>
                </a:solidFill>
                <a:effectLst/>
                <a:uFillTx/>
                <a:latin typeface="メイリオ"/>
                <a:ea typeface="メイリオ"/>
              </a:rPr>
              <a:t>料金プランにより通数単価、利用可能機能が異なります。</a:t>
            </a:r>
            <a:endParaRPr lang="en-US" sz="9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（通知メッセージ）</a:t>
            </a:r>
            <a:endParaRPr lang="en-US" sz="1600" b="0" u="none" strike="noStrike">
              <a:solidFill>
                <a:srgbClr val="000000"/>
              </a:solidFill>
              <a:effectLst/>
              <a:uFillTx/>
              <a:latin typeface="Arial"/>
            </a:endParaRPr>
          </a:p>
        </p:txBody>
      </p:sp>
      <p:grpSp>
        <p:nvGrpSpPr>
          <p:cNvPr id="568" name="グループ化 2"/>
          <p:cNvGrpSpPr/>
          <p:nvPr/>
        </p:nvGrpSpPr>
        <p:grpSpPr>
          <a:xfrm>
            <a:off x="543240" y="777600"/>
            <a:ext cx="3105000" cy="484920"/>
            <a:chOff x="543240" y="777600"/>
            <a:chExt cx="3105000" cy="484920"/>
          </a:xfrm>
        </p:grpSpPr>
        <p:sp>
          <p:nvSpPr>
            <p:cNvPr id="569"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70" name="テキスト ボックス 4"/>
            <p:cNvSpPr/>
            <p:nvPr/>
          </p:nvSpPr>
          <p:spPr>
            <a:xfrm>
              <a:off x="1175400" y="837360"/>
              <a:ext cx="153072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通知メッセージ</a:t>
              </a:r>
              <a:endParaRPr lang="en-US" sz="1500" b="0" u="none" strike="noStrike">
                <a:solidFill>
                  <a:srgbClr val="000000"/>
                </a:solidFill>
                <a:effectLst/>
                <a:uFillTx/>
                <a:latin typeface="Arial"/>
              </a:endParaRPr>
            </a:p>
          </p:txBody>
        </p:sp>
      </p:grpSp>
      <p:sp>
        <p:nvSpPr>
          <p:cNvPr id="571"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上のアクションユーザー、貴社保有リスト をターゲット</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に友だち登録、ステータス通知を行うことが出来る機能です。</a:t>
            </a:r>
            <a:endParaRPr lang="en-US" sz="1600" b="0" u="none" strike="noStrike">
              <a:solidFill>
                <a:srgbClr val="000000"/>
              </a:solidFill>
              <a:effectLst/>
              <a:uFillTx/>
              <a:latin typeface="Arial"/>
            </a:endParaRPr>
          </a:p>
        </p:txBody>
      </p:sp>
      <p:sp>
        <p:nvSpPr>
          <p:cNvPr id="572"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73"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8</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通数単価：</a:t>
            </a:r>
            <a:r>
              <a:rPr lang="en-US" sz="1050" b="1" u="none" strike="noStrike">
                <a:solidFill>
                  <a:srgbClr val="FFFF00"/>
                </a:solidFill>
                <a:effectLst/>
                <a:uFillTx/>
                <a:latin typeface="Meiryo"/>
                <a:ea typeface="Meiryo"/>
              </a:rPr>
              <a:t>7</a:t>
            </a:r>
            <a:r>
              <a:rPr lang="ja-JP" sz="1050" b="1" u="none" strike="noStrike">
                <a:solidFill>
                  <a:srgbClr val="FFFF00"/>
                </a:solidFill>
                <a:effectLst/>
                <a:uFillTx/>
                <a:latin typeface="Meiryo"/>
                <a:ea typeface="Meiryo"/>
              </a:rPr>
              <a:t>円</a:t>
            </a:r>
            <a:endParaRPr lang="en-US" sz="1050" b="0" u="none" strike="noStrike">
              <a:solidFill>
                <a:srgbClr val="FFFFFF"/>
              </a:solidFill>
              <a:effectLst/>
              <a:uFillTx/>
              <a:latin typeface="Arial"/>
            </a:endParaRPr>
          </a:p>
        </p:txBody>
      </p:sp>
      <p:sp>
        <p:nvSpPr>
          <p:cNvPr id="574" name="テキスト ボックス 93"/>
          <p:cNvSpPr/>
          <p:nvPr/>
        </p:nvSpPr>
        <p:spPr>
          <a:xfrm>
            <a:off x="3904560" y="136872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Sales Partner</a:t>
            </a:r>
            <a:r>
              <a:rPr lang="ja-JP" sz="900" b="0" u="none" strike="noStrike">
                <a:solidFill>
                  <a:srgbClr val="FF0000"/>
                </a:solidFill>
                <a:effectLst/>
                <a:uFillTx/>
                <a:latin typeface="メイリオ"/>
                <a:ea typeface="メイリオ"/>
              </a:rPr>
              <a:t>、</a:t>
            </a:r>
            <a:r>
              <a:rPr lang="en-US" sz="900" b="0" u="none" strike="noStrike">
                <a:solidFill>
                  <a:srgbClr val="FF0000"/>
                </a:solidFill>
                <a:effectLst/>
                <a:uFillTx/>
                <a:latin typeface="メイリオ"/>
                <a:ea typeface="メイリオ"/>
              </a:rPr>
              <a:t>Tech Partner</a:t>
            </a:r>
            <a:r>
              <a:rPr lang="ja-JP" sz="900" b="0" u="none" strike="noStrike">
                <a:solidFill>
                  <a:srgbClr val="FF0000"/>
                </a:solidFill>
                <a:effectLst/>
                <a:uFillTx/>
                <a:latin typeface="メイリオ"/>
                <a:ea typeface="メイリオ"/>
              </a:rPr>
              <a:t>限定公開の</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を使用した機能です。</a:t>
            </a:r>
            <a:endParaRPr lang="en-US" sz="900" b="0" u="none" strike="noStrike">
              <a:solidFill>
                <a:srgbClr val="000000"/>
              </a:solidFill>
              <a:effectLst/>
              <a:uFillTx/>
              <a:latin typeface="Arial"/>
            </a:endParaRPr>
          </a:p>
        </p:txBody>
      </p:sp>
      <p:sp>
        <p:nvSpPr>
          <p:cNvPr id="575" name="テキスト ボックス 5"/>
          <p:cNvSpPr/>
          <p:nvPr/>
        </p:nvSpPr>
        <p:spPr>
          <a:xfrm>
            <a:off x="3904560" y="155844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900" b="0" u="none" strike="noStrike">
                <a:solidFill>
                  <a:srgbClr val="FF0000"/>
                </a:solidFill>
                <a:effectLst/>
                <a:uFillTx/>
                <a:latin typeface="メイリオ"/>
                <a:ea typeface="メイリオ"/>
              </a:rPr>
              <a:t>料金プランにより通数単価、利用可能機能が異なります。</a:t>
            </a:r>
            <a:endParaRPr lang="en-US" sz="900" b="0" u="none" strike="noStrike">
              <a:solidFill>
                <a:srgbClr val="000000"/>
              </a:solidFill>
              <a:effectLst/>
              <a:uFillTx/>
              <a:latin typeface="Arial"/>
            </a:endParaRPr>
          </a:p>
        </p:txBody>
      </p:sp>
      <p:pic>
        <p:nvPicPr>
          <p:cNvPr id="576" name="図 7"/>
          <p:cNvPicPr/>
          <p:nvPr/>
        </p:nvPicPr>
        <p:blipFill>
          <a:blip r:embed="rId2"/>
          <a:stretch/>
        </p:blipFill>
        <p:spPr>
          <a:xfrm>
            <a:off x="543240" y="1953360"/>
            <a:ext cx="8917920" cy="4388760"/>
          </a:xfrm>
          <a:prstGeom prst="rect">
            <a:avLst/>
          </a:prstGeom>
          <a:noFill/>
          <a:ln w="0">
            <a:noFill/>
          </a:ln>
        </p:spPr>
      </p:pic>
      <p:sp>
        <p:nvSpPr>
          <p:cNvPr id="577" name="Google Shape;51;p19"/>
          <p:cNvSpPr/>
          <p:nvPr/>
        </p:nvSpPr>
        <p:spPr>
          <a:xfrm>
            <a:off x="6635880" y="5673240"/>
            <a:ext cx="2647080" cy="330840"/>
          </a:xfrm>
          <a:prstGeom prst="roundRect">
            <a:avLst>
              <a:gd name="adj" fmla="val 16667"/>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100" b="0" u="none" strike="noStrike">
                <a:solidFill>
                  <a:schemeClr val="lt1"/>
                </a:solidFill>
                <a:effectLst/>
                <a:uFillTx/>
                <a:latin typeface="Meiryo"/>
                <a:ea typeface="Meiryo"/>
              </a:rPr>
              <a:t>利用可能なシーン一例</a:t>
            </a:r>
            <a:endParaRPr lang="en-US" sz="1100" b="0" u="none" strike="noStrike">
              <a:solidFill>
                <a:srgbClr val="FFFFFF"/>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（サンクス</a:t>
            </a:r>
            <a:r>
              <a:rPr lang="en-US" sz="1600" b="1" u="none" strike="noStrike">
                <a:solidFill>
                  <a:srgbClr val="323366"/>
                </a:solidFill>
                <a:effectLst/>
                <a:uFillTx/>
                <a:latin typeface="メイリオ"/>
                <a:ea typeface="メイリオ"/>
              </a:rPr>
              <a:t>LINE</a:t>
            </a:r>
            <a:r>
              <a:rPr lang="ja-JP" sz="1600" b="1" u="none" strike="noStrike">
                <a:solidFill>
                  <a:srgbClr val="323366"/>
                </a:solidFill>
                <a:effectLst/>
                <a:uFillTx/>
                <a:latin typeface="メイリオ"/>
                <a:ea typeface="メイリオ"/>
              </a:rPr>
              <a:t>誘導）</a:t>
            </a:r>
            <a:endParaRPr lang="en-US" sz="1600" b="0" u="none" strike="noStrike">
              <a:solidFill>
                <a:srgbClr val="000000"/>
              </a:solidFill>
              <a:effectLst/>
              <a:uFillTx/>
              <a:latin typeface="Arial"/>
            </a:endParaRPr>
          </a:p>
        </p:txBody>
      </p:sp>
      <p:sp>
        <p:nvSpPr>
          <p:cNvPr id="579" name="正方形/長方形 10"/>
          <p:cNvSpPr/>
          <p:nvPr/>
        </p:nvSpPr>
        <p:spPr>
          <a:xfrm>
            <a:off x="1404720" y="1937880"/>
            <a:ext cx="185868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chemeClr val="dk1">
                    <a:lumMod val="50000"/>
                    <a:lumOff val="50000"/>
                  </a:schemeClr>
                </a:solidFill>
                <a:effectLst/>
                <a:uFillTx/>
                <a:latin typeface="メイリオ"/>
                <a:ea typeface="メイリオ"/>
              </a:rPr>
              <a:t>WEB</a:t>
            </a:r>
            <a:r>
              <a:rPr lang="ja-JP" sz="1100" b="1" u="none" strike="noStrike">
                <a:solidFill>
                  <a:schemeClr val="dk1">
                    <a:lumMod val="50000"/>
                    <a:lumOff val="50000"/>
                  </a:schemeClr>
                </a:solidFill>
                <a:effectLst/>
                <a:uFillTx/>
                <a:latin typeface="メイリオ"/>
                <a:ea typeface="メイリオ"/>
              </a:rPr>
              <a:t>サイト</a:t>
            </a:r>
            <a:endParaRPr lang="en-US" sz="1100" b="0" u="none" strike="noStrike">
              <a:solidFill>
                <a:srgbClr val="000000"/>
              </a:solidFill>
              <a:effectLst/>
              <a:uFillTx/>
              <a:latin typeface="Arial"/>
            </a:endParaRPr>
          </a:p>
        </p:txBody>
      </p:sp>
      <p:sp>
        <p:nvSpPr>
          <p:cNvPr id="580" name="正方形/長方形 15"/>
          <p:cNvSpPr/>
          <p:nvPr/>
        </p:nvSpPr>
        <p:spPr>
          <a:xfrm>
            <a:off x="5808600" y="241560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81" name="正方形/長方形 16"/>
          <p:cNvSpPr/>
          <p:nvPr/>
        </p:nvSpPr>
        <p:spPr>
          <a:xfrm>
            <a:off x="5808600" y="458892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82" name="正方形/長方形 19"/>
          <p:cNvSpPr/>
          <p:nvPr/>
        </p:nvSpPr>
        <p:spPr>
          <a:xfrm>
            <a:off x="5974560" y="230472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非</a:t>
            </a:r>
            <a:r>
              <a:rPr lang="en-US" sz="1100" b="1" u="none" strike="noStrike">
                <a:solidFill>
                  <a:schemeClr val="dk1"/>
                </a:solidFill>
                <a:effectLst/>
                <a:uFillTx/>
                <a:latin typeface="メイリオ"/>
                <a:ea typeface="メイリオ"/>
              </a:rPr>
              <a:t>LINE</a:t>
            </a:r>
            <a:r>
              <a:rPr lang="ja-JP" sz="1100" b="1" u="none" strike="noStrike">
                <a:solidFill>
                  <a:schemeClr val="dk1"/>
                </a:solidFill>
                <a:effectLst/>
                <a:uFillTx/>
                <a:latin typeface="メイリオ"/>
                <a:ea typeface="メイリオ"/>
              </a:rPr>
              <a:t>友だちの場合</a:t>
            </a:r>
            <a:endParaRPr lang="en-US" sz="1100" b="0" u="none" strike="noStrike">
              <a:solidFill>
                <a:srgbClr val="000000"/>
              </a:solidFill>
              <a:effectLst/>
              <a:uFillTx/>
              <a:latin typeface="Arial"/>
            </a:endParaRPr>
          </a:p>
        </p:txBody>
      </p:sp>
      <p:sp>
        <p:nvSpPr>
          <p:cNvPr id="583" name="正方形/長方形 20"/>
          <p:cNvSpPr/>
          <p:nvPr/>
        </p:nvSpPr>
        <p:spPr>
          <a:xfrm>
            <a:off x="5974560" y="446688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既存の</a:t>
            </a:r>
            <a:r>
              <a:rPr lang="en-US" sz="1100" b="1" u="none" strike="noStrike">
                <a:solidFill>
                  <a:schemeClr val="dk1"/>
                </a:solidFill>
                <a:effectLst/>
                <a:uFillTx/>
                <a:latin typeface="メイリオ"/>
                <a:ea typeface="メイリオ"/>
              </a:rPr>
              <a:t>LINE</a:t>
            </a:r>
            <a:r>
              <a:rPr lang="ja-JP" sz="1100" b="1" u="none" strike="noStrike">
                <a:solidFill>
                  <a:schemeClr val="dk1"/>
                </a:solidFill>
                <a:effectLst/>
                <a:uFillTx/>
                <a:latin typeface="メイリオ"/>
                <a:ea typeface="メイリオ"/>
              </a:rPr>
              <a:t>友だちの場合</a:t>
            </a:r>
            <a:endParaRPr lang="en-US" sz="1100" b="0" u="none" strike="noStrike">
              <a:solidFill>
                <a:srgbClr val="000000"/>
              </a:solidFill>
              <a:effectLst/>
              <a:uFillTx/>
              <a:latin typeface="Arial"/>
            </a:endParaRPr>
          </a:p>
        </p:txBody>
      </p:sp>
      <p:cxnSp>
        <p:nvCxnSpPr>
          <p:cNvPr id="584" name="直線矢印コネクタ 22"/>
          <p:cNvCxnSpPr/>
          <p:nvPr/>
        </p:nvCxnSpPr>
        <p:spPr>
          <a:xfrm>
            <a:off x="4361760" y="3239640"/>
            <a:ext cx="1407600" cy="360"/>
          </a:xfrm>
          <a:prstGeom prst="straightConnector1">
            <a:avLst/>
          </a:prstGeom>
          <a:ln w="19050">
            <a:solidFill>
              <a:srgbClr val="00B050">
                <a:alpha val="80000"/>
              </a:srgbClr>
            </a:solidFill>
            <a:prstDash val="sysDot"/>
            <a:round/>
            <a:tailEnd type="triangle" w="med" len="med"/>
          </a:ln>
        </p:spPr>
      </p:cxnSp>
      <p:cxnSp>
        <p:nvCxnSpPr>
          <p:cNvPr id="585" name="直線矢印コネクタ 23"/>
          <p:cNvCxnSpPr/>
          <p:nvPr/>
        </p:nvCxnSpPr>
        <p:spPr>
          <a:xfrm>
            <a:off x="4361760" y="3391920"/>
            <a:ext cx="1407600" cy="1358640"/>
          </a:xfrm>
          <a:prstGeom prst="straightConnector1">
            <a:avLst/>
          </a:prstGeom>
          <a:ln w="19050">
            <a:solidFill>
              <a:srgbClr val="00B050">
                <a:alpha val="80000"/>
              </a:srgbClr>
            </a:solidFill>
            <a:prstDash val="sysDot"/>
            <a:round/>
            <a:tailEnd type="triangle" w="med" len="med"/>
          </a:ln>
        </p:spPr>
      </p:cxnSp>
      <p:sp>
        <p:nvSpPr>
          <p:cNvPr id="586" name="正方形/長方形 28"/>
          <p:cNvSpPr/>
          <p:nvPr/>
        </p:nvSpPr>
        <p:spPr>
          <a:xfrm>
            <a:off x="4867200" y="2304720"/>
            <a:ext cx="374040" cy="3205440"/>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a:t>
            </a:r>
            <a:r>
              <a:rPr lang="en-US" sz="1100" b="1" u="none" strike="noStrike">
                <a:solidFill>
                  <a:schemeClr val="dk1"/>
                </a:solidFill>
                <a:effectLst/>
                <a:uFillTx/>
                <a:latin typeface="メイリオ"/>
                <a:ea typeface="メイリオ"/>
              </a:rPr>
              <a:t>D</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Y</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M</a:t>
            </a:r>
            <a:r>
              <a:rPr lang="ja-JP" sz="1100" b="1" u="none" strike="noStrike">
                <a:solidFill>
                  <a:schemeClr val="dk1"/>
                </a:solidFill>
                <a:effectLst/>
                <a:uFillTx/>
                <a:latin typeface="メイリオ"/>
                <a:ea typeface="メイリオ"/>
              </a:rPr>
              <a:t>ツ</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｜ルで</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L</a:t>
            </a:r>
            <a:br>
              <a:rPr sz="1100"/>
            </a:br>
            <a:r>
              <a:rPr lang="en-US" sz="1100" b="1" u="none" strike="noStrike">
                <a:solidFill>
                  <a:schemeClr val="dk1"/>
                </a:solidFill>
                <a:effectLst/>
                <a:uFillTx/>
                <a:latin typeface="メイリオ"/>
                <a:ea typeface="メイリオ"/>
              </a:rPr>
              <a:t>I</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N</a:t>
            </a:r>
            <a:br>
              <a:rPr sz="1100"/>
            </a:br>
            <a:r>
              <a:rPr lang="en-US" sz="1100" b="1" u="none" strike="noStrike">
                <a:solidFill>
                  <a:schemeClr val="dk1"/>
                </a:solidFill>
                <a:effectLst/>
                <a:uFillTx/>
                <a:latin typeface="メイリオ"/>
                <a:ea typeface="メイリオ"/>
              </a:rPr>
              <a:t>E</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動線</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に</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p:txBody>
      </p:sp>
      <p:pic>
        <p:nvPicPr>
          <p:cNvPr id="587" name="図 44" descr="グラフィカル ユーザー インターフェイス, アプリケーション, Teams&#10;&#10;AI 生成コンテンツは誤りを含む可能性があります。"/>
          <p:cNvPicPr/>
          <p:nvPr/>
        </p:nvPicPr>
        <p:blipFill>
          <a:blip r:embed="rId2"/>
          <a:srcRect t="4578"/>
          <a:stretch/>
        </p:blipFill>
        <p:spPr>
          <a:xfrm>
            <a:off x="7999560" y="2129040"/>
            <a:ext cx="1230840" cy="2084760"/>
          </a:xfrm>
          <a:prstGeom prst="rect">
            <a:avLst/>
          </a:prstGeom>
          <a:noFill/>
          <a:ln w="0">
            <a:noFill/>
          </a:ln>
        </p:spPr>
      </p:pic>
      <p:pic>
        <p:nvPicPr>
          <p:cNvPr id="588" name="図 45" descr="電卓の写真のスマートフォンのスクリーンショット&#10;&#10;AI 生成コンテンツは誤りを含む可能性があります。"/>
          <p:cNvPicPr/>
          <p:nvPr/>
        </p:nvPicPr>
        <p:blipFill>
          <a:blip r:embed="rId3"/>
          <a:srcRect t="4578"/>
          <a:stretch/>
        </p:blipFill>
        <p:spPr>
          <a:xfrm>
            <a:off x="7999560" y="4325040"/>
            <a:ext cx="1230840" cy="2084760"/>
          </a:xfrm>
          <a:prstGeom prst="rect">
            <a:avLst/>
          </a:prstGeom>
          <a:noFill/>
          <a:ln w="0">
            <a:noFill/>
          </a:ln>
        </p:spPr>
      </p:pic>
      <p:sp>
        <p:nvSpPr>
          <p:cNvPr id="589" name="テキスト ボックス 47"/>
          <p:cNvSpPr/>
          <p:nvPr/>
        </p:nvSpPr>
        <p:spPr>
          <a:xfrm>
            <a:off x="5974560" y="2701440"/>
            <a:ext cx="185868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100" b="1" u="none" strike="noStrike">
                <a:solidFill>
                  <a:schemeClr val="dk1"/>
                </a:solidFill>
                <a:effectLst/>
                <a:uFillTx/>
                <a:latin typeface="メイリオ"/>
                <a:ea typeface="メイリオ"/>
              </a:rPr>
              <a:t>公式アカウントの友だち</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登録ページ</a:t>
            </a:r>
            <a:r>
              <a:rPr lang="ja-JP" sz="1100" b="0" u="none" strike="noStrike">
                <a:solidFill>
                  <a:schemeClr val="dk1"/>
                </a:solidFill>
                <a:effectLst/>
                <a:uFillTx/>
                <a:latin typeface="メイリオ"/>
                <a:ea typeface="メイリオ"/>
              </a:rPr>
              <a:t>へ遷移する。</a:t>
            </a:r>
            <a:endParaRPr lang="en-US" sz="1100" b="0" u="none" strike="noStrike">
              <a:solidFill>
                <a:srgbClr val="000000"/>
              </a:solidFill>
              <a:effectLst/>
              <a:uFillTx/>
              <a:latin typeface="Arial"/>
            </a:endParaRPr>
          </a:p>
        </p:txBody>
      </p:sp>
      <p:sp>
        <p:nvSpPr>
          <p:cNvPr id="590" name="テキスト ボックス 48"/>
          <p:cNvSpPr/>
          <p:nvPr/>
        </p:nvSpPr>
        <p:spPr>
          <a:xfrm>
            <a:off x="5972040" y="4914360"/>
            <a:ext cx="185868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100" b="1" u="none" strike="noStrike">
                <a:solidFill>
                  <a:schemeClr val="dk1"/>
                </a:solidFill>
                <a:effectLst/>
                <a:uFillTx/>
                <a:latin typeface="メイリオ"/>
                <a:ea typeface="メイリオ"/>
              </a:rPr>
              <a:t>公式アカウントのトーク</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画面</a:t>
            </a:r>
            <a:r>
              <a:rPr lang="ja-JP" sz="1100" b="0" u="none" strike="noStrike">
                <a:solidFill>
                  <a:schemeClr val="dk1"/>
                </a:solidFill>
                <a:effectLst/>
                <a:uFillTx/>
                <a:latin typeface="メイリオ"/>
                <a:ea typeface="メイリオ"/>
              </a:rPr>
              <a:t>へ遷移する。</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FF0000"/>
                </a:solidFill>
                <a:effectLst/>
                <a:uFillTx/>
                <a:latin typeface="メイリオ"/>
                <a:ea typeface="メイリオ"/>
              </a:rPr>
              <a:t>※設定によりフォーム入力</a:t>
            </a:r>
            <a:endParaRPr lang="en-US" sz="1000" b="0" u="none" strike="noStrike">
              <a:solidFill>
                <a:srgbClr val="000000"/>
              </a:solidFill>
              <a:effectLst/>
              <a:uFillTx/>
              <a:latin typeface="Arial"/>
            </a:endParaRPr>
          </a:p>
          <a:p>
            <a:pPr defTabSz="914400">
              <a:lnSpc>
                <a:spcPct val="100000"/>
              </a:lnSpc>
            </a:pPr>
            <a:r>
              <a:rPr lang="ja-JP" sz="1000" b="0" u="none" strike="noStrike">
                <a:solidFill>
                  <a:srgbClr val="FF0000"/>
                </a:solidFill>
                <a:effectLst/>
                <a:uFillTx/>
                <a:latin typeface="メイリオ"/>
                <a:ea typeface="メイリオ"/>
              </a:rPr>
              <a:t>　内容を踏襲した入力画面</a:t>
            </a:r>
            <a:endParaRPr lang="en-US" sz="1000" b="0" u="none" strike="noStrike">
              <a:solidFill>
                <a:srgbClr val="000000"/>
              </a:solidFill>
              <a:effectLst/>
              <a:uFillTx/>
              <a:latin typeface="Arial"/>
            </a:endParaRPr>
          </a:p>
          <a:p>
            <a:pPr defTabSz="914400">
              <a:lnSpc>
                <a:spcPct val="100000"/>
              </a:lnSpc>
            </a:pPr>
            <a:r>
              <a:rPr lang="ja-JP" sz="1000" b="0" u="none" strike="noStrike">
                <a:solidFill>
                  <a:srgbClr val="FF0000"/>
                </a:solidFill>
                <a:effectLst/>
                <a:uFillTx/>
                <a:latin typeface="メイリオ"/>
                <a:ea typeface="メイリオ"/>
              </a:rPr>
              <a:t>　を表示させることが可能。</a:t>
            </a:r>
            <a:endParaRPr lang="en-US" sz="1000" b="0" u="none" strike="noStrike">
              <a:solidFill>
                <a:srgbClr val="000000"/>
              </a:solidFill>
              <a:effectLst/>
              <a:uFillTx/>
              <a:latin typeface="Arial"/>
            </a:endParaRPr>
          </a:p>
          <a:p>
            <a:pPr defTabSz="914400">
              <a:lnSpc>
                <a:spcPct val="100000"/>
              </a:lnSpc>
            </a:pPr>
            <a:endParaRPr lang="en-US" sz="1000" b="0" u="none" strike="noStrike">
              <a:solidFill>
                <a:srgbClr val="000000"/>
              </a:solidFill>
              <a:effectLst/>
              <a:uFillTx/>
              <a:latin typeface="Arial"/>
            </a:endParaRPr>
          </a:p>
          <a:p>
            <a:pPr defTabSz="914400">
              <a:lnSpc>
                <a:spcPct val="100000"/>
              </a:lnSpc>
            </a:pPr>
            <a:r>
              <a:rPr lang="en-US" sz="1100" b="1"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配信セグメントに利用可</a:t>
            </a:r>
            <a:endParaRPr lang="en-US" sz="1100" b="0" u="none" strike="noStrike">
              <a:solidFill>
                <a:srgbClr val="000000"/>
              </a:solidFill>
              <a:effectLst/>
              <a:uFillTx/>
              <a:latin typeface="Arial"/>
            </a:endParaRPr>
          </a:p>
        </p:txBody>
      </p:sp>
      <p:pic>
        <p:nvPicPr>
          <p:cNvPr id="591" name="図 55"/>
          <p:cNvPicPr/>
          <p:nvPr/>
        </p:nvPicPr>
        <p:blipFill>
          <a:blip r:embed="rId4"/>
          <a:stretch/>
        </p:blipFill>
        <p:spPr>
          <a:xfrm>
            <a:off x="8048160" y="3085200"/>
            <a:ext cx="1133280" cy="109800"/>
          </a:xfrm>
          <a:prstGeom prst="rect">
            <a:avLst/>
          </a:prstGeom>
          <a:noFill/>
          <a:ln w="0">
            <a:noFill/>
          </a:ln>
        </p:spPr>
      </p:pic>
      <p:pic>
        <p:nvPicPr>
          <p:cNvPr id="592" name="図 56"/>
          <p:cNvPicPr/>
          <p:nvPr/>
        </p:nvPicPr>
        <p:blipFill>
          <a:blip r:embed="rId5"/>
          <a:stretch/>
        </p:blipFill>
        <p:spPr>
          <a:xfrm>
            <a:off x="8377920" y="3091680"/>
            <a:ext cx="479520" cy="106200"/>
          </a:xfrm>
          <a:prstGeom prst="rect">
            <a:avLst/>
          </a:prstGeom>
          <a:noFill/>
          <a:ln w="0">
            <a:noFill/>
          </a:ln>
        </p:spPr>
      </p:pic>
      <p:pic>
        <p:nvPicPr>
          <p:cNvPr id="593" name="図 57"/>
          <p:cNvPicPr/>
          <p:nvPr/>
        </p:nvPicPr>
        <p:blipFill>
          <a:blip r:embed="rId5"/>
          <a:stretch/>
        </p:blipFill>
        <p:spPr>
          <a:xfrm>
            <a:off x="8395920" y="4322160"/>
            <a:ext cx="334080" cy="73800"/>
          </a:xfrm>
          <a:prstGeom prst="rect">
            <a:avLst/>
          </a:prstGeom>
          <a:noFill/>
          <a:ln w="0">
            <a:noFill/>
          </a:ln>
        </p:spPr>
      </p:pic>
      <p:pic>
        <p:nvPicPr>
          <p:cNvPr id="594" name="図 58"/>
          <p:cNvPicPr/>
          <p:nvPr/>
        </p:nvPicPr>
        <p:blipFill>
          <a:blip r:embed="rId5"/>
          <a:stretch/>
        </p:blipFill>
        <p:spPr>
          <a:xfrm>
            <a:off x="8548200" y="4474440"/>
            <a:ext cx="334080" cy="73800"/>
          </a:xfrm>
          <a:prstGeom prst="rect">
            <a:avLst/>
          </a:prstGeom>
          <a:noFill/>
          <a:ln w="0">
            <a:noFill/>
          </a:ln>
        </p:spPr>
      </p:pic>
      <p:sp>
        <p:nvSpPr>
          <p:cNvPr id="595" name="楕円 1029"/>
          <p:cNvSpPr/>
          <p:nvPr/>
        </p:nvSpPr>
        <p:spPr>
          <a:xfrm>
            <a:off x="8414280" y="2644200"/>
            <a:ext cx="395640" cy="395640"/>
          </a:xfrm>
          <a:prstGeom prst="ellipse">
            <a:avLst/>
          </a:prstGeom>
          <a:solidFill>
            <a:schemeClr val="bg1">
              <a:lumMod val="95000"/>
            </a:schemeClr>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600" b="0" u="none" strike="noStrike">
                <a:solidFill>
                  <a:schemeClr val="dk1"/>
                </a:solidFill>
                <a:effectLst/>
                <a:uFillTx/>
                <a:latin typeface="メイリオ"/>
                <a:ea typeface="メイリオ"/>
              </a:rPr>
              <a:t>ロゴ</a:t>
            </a:r>
            <a:endParaRPr lang="en-US" sz="600" b="0" u="none" strike="noStrike">
              <a:solidFill>
                <a:srgbClr val="000000"/>
              </a:solidFill>
              <a:effectLst/>
              <a:uFillTx/>
              <a:latin typeface="Arial"/>
            </a:endParaRPr>
          </a:p>
        </p:txBody>
      </p:sp>
      <p:sp>
        <p:nvSpPr>
          <p:cNvPr id="596" name="正方形/長方形 33"/>
          <p:cNvSpPr/>
          <p:nvPr/>
        </p:nvSpPr>
        <p:spPr>
          <a:xfrm>
            <a:off x="315360" y="2196720"/>
            <a:ext cx="1778040" cy="399420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7" name="二等辺三角形 34"/>
          <p:cNvSpPr/>
          <p:nvPr/>
        </p:nvSpPr>
        <p:spPr>
          <a:xfrm rot="5400000">
            <a:off x="210888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8" name="二等辺三角形 35"/>
          <p:cNvSpPr/>
          <p:nvPr/>
        </p:nvSpPr>
        <p:spPr>
          <a:xfrm rot="5400000">
            <a:off x="222552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9" name="二等辺三角形 36"/>
          <p:cNvSpPr/>
          <p:nvPr/>
        </p:nvSpPr>
        <p:spPr>
          <a:xfrm rot="5400000">
            <a:off x="234216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00" name="正方形/長方形 37"/>
          <p:cNvSpPr/>
          <p:nvPr/>
        </p:nvSpPr>
        <p:spPr>
          <a:xfrm>
            <a:off x="614520" y="4198320"/>
            <a:ext cx="1153800" cy="24372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フォーム</a:t>
            </a:r>
            <a:endParaRPr lang="en-US" sz="1100" b="0" u="none" strike="noStrike">
              <a:solidFill>
                <a:srgbClr val="000000"/>
              </a:solidFill>
              <a:effectLst/>
              <a:uFillTx/>
              <a:latin typeface="Arial"/>
            </a:endParaRPr>
          </a:p>
        </p:txBody>
      </p:sp>
      <p:pic>
        <p:nvPicPr>
          <p:cNvPr id="601" name="図 39" descr="テキスト, 手紙&#10;&#10;AI 生成コンテンツは誤りを含む可能性があります。"/>
          <p:cNvPicPr/>
          <p:nvPr/>
        </p:nvPicPr>
        <p:blipFill>
          <a:blip r:embed="rId6"/>
          <a:srcRect t="4582"/>
          <a:stretch/>
        </p:blipFill>
        <p:spPr>
          <a:xfrm>
            <a:off x="663480" y="2289240"/>
            <a:ext cx="1047960" cy="1775160"/>
          </a:xfrm>
          <a:prstGeom prst="rect">
            <a:avLst/>
          </a:prstGeom>
          <a:noFill/>
          <a:ln w="0">
            <a:noFill/>
          </a:ln>
        </p:spPr>
      </p:pic>
      <p:pic>
        <p:nvPicPr>
          <p:cNvPr id="602" name="図 40"/>
          <p:cNvPicPr/>
          <p:nvPr/>
        </p:nvPicPr>
        <p:blipFill>
          <a:blip r:embed="rId7"/>
          <a:stretch/>
        </p:blipFill>
        <p:spPr>
          <a:xfrm>
            <a:off x="641160" y="2325600"/>
            <a:ext cx="494280" cy="85680"/>
          </a:xfrm>
          <a:prstGeom prst="rect">
            <a:avLst/>
          </a:prstGeom>
          <a:noFill/>
          <a:ln w="0">
            <a:noFill/>
          </a:ln>
        </p:spPr>
      </p:pic>
      <p:pic>
        <p:nvPicPr>
          <p:cNvPr id="603" name="図 41"/>
          <p:cNvPicPr/>
          <p:nvPr/>
        </p:nvPicPr>
        <p:blipFill>
          <a:blip r:embed="rId7"/>
          <a:stretch/>
        </p:blipFill>
        <p:spPr>
          <a:xfrm>
            <a:off x="630360" y="2328120"/>
            <a:ext cx="494280" cy="85680"/>
          </a:xfrm>
          <a:prstGeom prst="rect">
            <a:avLst/>
          </a:prstGeom>
          <a:noFill/>
          <a:ln w="0">
            <a:noFill/>
          </a:ln>
        </p:spPr>
      </p:pic>
      <p:pic>
        <p:nvPicPr>
          <p:cNvPr id="604" name="図 46"/>
          <p:cNvPicPr/>
          <p:nvPr/>
        </p:nvPicPr>
        <p:blipFill>
          <a:blip r:embed="rId7"/>
          <a:stretch/>
        </p:blipFill>
        <p:spPr>
          <a:xfrm>
            <a:off x="810000" y="3773160"/>
            <a:ext cx="494280" cy="85680"/>
          </a:xfrm>
          <a:prstGeom prst="rect">
            <a:avLst/>
          </a:prstGeom>
          <a:noFill/>
          <a:ln w="0">
            <a:noFill/>
          </a:ln>
        </p:spPr>
      </p:pic>
      <p:pic>
        <p:nvPicPr>
          <p:cNvPr id="605" name="図 54"/>
          <p:cNvPicPr/>
          <p:nvPr/>
        </p:nvPicPr>
        <p:blipFill>
          <a:blip r:embed="rId8"/>
          <a:stretch/>
        </p:blipFill>
        <p:spPr>
          <a:xfrm>
            <a:off x="647280" y="2445120"/>
            <a:ext cx="1075680" cy="1468080"/>
          </a:xfrm>
          <a:prstGeom prst="rect">
            <a:avLst/>
          </a:prstGeom>
          <a:noFill/>
          <a:ln w="0">
            <a:noFill/>
          </a:ln>
        </p:spPr>
      </p:pic>
      <p:pic>
        <p:nvPicPr>
          <p:cNvPr id="606" name="図 1023"/>
          <p:cNvPicPr/>
          <p:nvPr/>
        </p:nvPicPr>
        <p:blipFill>
          <a:blip r:embed="rId9"/>
          <a:stretch/>
        </p:blipFill>
        <p:spPr>
          <a:xfrm>
            <a:off x="1125360" y="2303280"/>
            <a:ext cx="560520" cy="133200"/>
          </a:xfrm>
          <a:prstGeom prst="rect">
            <a:avLst/>
          </a:prstGeom>
          <a:noFill/>
          <a:ln w="0">
            <a:noFill/>
          </a:ln>
        </p:spPr>
      </p:pic>
      <p:sp>
        <p:nvSpPr>
          <p:cNvPr id="607" name="テキスト ボックス 1025"/>
          <p:cNvSpPr/>
          <p:nvPr/>
        </p:nvSpPr>
        <p:spPr>
          <a:xfrm>
            <a:off x="-490680" y="4710960"/>
            <a:ext cx="34052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000" b="1" u="none" strike="noStrike">
                <a:solidFill>
                  <a:srgbClr val="FF0000"/>
                </a:solidFill>
                <a:effectLst/>
                <a:uFillTx/>
                <a:latin typeface="メイリオ"/>
                <a:ea typeface="メイリオ"/>
              </a:rPr>
              <a:t>※</a:t>
            </a:r>
            <a:r>
              <a:rPr lang="ja-JP" sz="1000" b="1" u="none" strike="noStrike">
                <a:solidFill>
                  <a:srgbClr val="FF0000"/>
                </a:solidFill>
                <a:effectLst/>
                <a:uFillTx/>
                <a:latin typeface="メイリオ"/>
                <a:ea typeface="メイリオ"/>
              </a:rPr>
              <a:t>入力した内容を</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rgbClr val="FF0000"/>
                </a:solidFill>
                <a:effectLst/>
                <a:uFillTx/>
                <a:latin typeface="メイリオ"/>
                <a:ea typeface="メイリオ"/>
              </a:rPr>
              <a:t>トークに反映が可能。</a:t>
            </a:r>
            <a:endParaRPr lang="en-US" sz="1000" b="0" u="none" strike="noStrike">
              <a:solidFill>
                <a:srgbClr val="000000"/>
              </a:solidFill>
              <a:effectLst/>
              <a:uFillTx/>
              <a:latin typeface="Arial"/>
            </a:endParaRPr>
          </a:p>
        </p:txBody>
      </p:sp>
      <p:sp>
        <p:nvSpPr>
          <p:cNvPr id="608" name="正方形/長方形 1031"/>
          <p:cNvSpPr/>
          <p:nvPr/>
        </p:nvSpPr>
        <p:spPr>
          <a:xfrm>
            <a:off x="2584080" y="2196720"/>
            <a:ext cx="1778040" cy="3994200"/>
          </a:xfrm>
          <a:prstGeom prst="rect">
            <a:avLst/>
          </a:prstGeom>
          <a:solidFill>
            <a:schemeClr val="bg1"/>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09" name="正方形/長方形 1033"/>
          <p:cNvSpPr/>
          <p:nvPr/>
        </p:nvSpPr>
        <p:spPr>
          <a:xfrm>
            <a:off x="2909160" y="4198320"/>
            <a:ext cx="1153800" cy="2437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chemeClr val="lt1"/>
                </a:solidFill>
                <a:effectLst/>
                <a:uFillTx/>
                <a:latin typeface="メイリオ"/>
                <a:ea typeface="メイリオ"/>
              </a:rPr>
              <a:t>CV</a:t>
            </a:r>
            <a:endParaRPr lang="en-US" sz="1100" b="0" u="none" strike="noStrike">
              <a:solidFill>
                <a:srgbClr val="FFFFFF"/>
              </a:solidFill>
              <a:effectLst/>
              <a:uFillTx/>
              <a:latin typeface="Arial"/>
            </a:endParaRPr>
          </a:p>
        </p:txBody>
      </p:sp>
      <p:sp>
        <p:nvSpPr>
          <p:cNvPr id="610" name="正方形/長方形 1035"/>
          <p:cNvSpPr/>
          <p:nvPr/>
        </p:nvSpPr>
        <p:spPr>
          <a:xfrm>
            <a:off x="2692800" y="4436280"/>
            <a:ext cx="1396440" cy="10447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100" b="1" u="none" strike="noStrike">
                <a:solidFill>
                  <a:schemeClr val="dk1">
                    <a:lumMod val="50000"/>
                    <a:lumOff val="50000"/>
                  </a:schemeClr>
                </a:solidFill>
                <a:effectLst/>
                <a:uFillTx/>
                <a:latin typeface="メイリオ"/>
                <a:ea typeface="メイリオ"/>
              </a:rPr>
              <a:t>・購入完了</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・セミナー予約</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・登録完了</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・メルマガ登録</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・その他</a:t>
            </a:r>
            <a:endParaRPr lang="en-US" sz="1100" b="0" u="none" strike="noStrike">
              <a:solidFill>
                <a:srgbClr val="000000"/>
              </a:solidFill>
              <a:effectLst/>
              <a:uFillTx/>
              <a:latin typeface="Arial"/>
            </a:endParaRPr>
          </a:p>
        </p:txBody>
      </p:sp>
      <p:pic>
        <p:nvPicPr>
          <p:cNvPr id="611" name="図 1037" descr="テキスト, 手紙&#10;&#10;AI 生成コンテンツは誤りを含む可能性があります。"/>
          <p:cNvPicPr/>
          <p:nvPr/>
        </p:nvPicPr>
        <p:blipFill>
          <a:blip r:embed="rId6"/>
          <a:srcRect t="4582"/>
          <a:stretch/>
        </p:blipFill>
        <p:spPr>
          <a:xfrm>
            <a:off x="2977560" y="2296080"/>
            <a:ext cx="1047960" cy="1775160"/>
          </a:xfrm>
          <a:prstGeom prst="rect">
            <a:avLst/>
          </a:prstGeom>
          <a:noFill/>
          <a:ln w="0">
            <a:noFill/>
          </a:ln>
        </p:spPr>
      </p:pic>
      <p:pic>
        <p:nvPicPr>
          <p:cNvPr id="612" name="Picture 2" descr="買い物完了！イラスト｜無料イラスト・フリー素材なら「イラストAC」"/>
          <p:cNvPicPr/>
          <p:nvPr/>
        </p:nvPicPr>
        <p:blipFill>
          <a:blip r:embed="rId10"/>
          <a:srcRect l="20275" r="23688"/>
          <a:stretch/>
        </p:blipFill>
        <p:spPr>
          <a:xfrm>
            <a:off x="3866400" y="4627080"/>
            <a:ext cx="394920" cy="529200"/>
          </a:xfrm>
          <a:prstGeom prst="rect">
            <a:avLst/>
          </a:prstGeom>
          <a:noFill/>
          <a:ln w="0">
            <a:noFill/>
          </a:ln>
        </p:spPr>
      </p:pic>
      <p:pic>
        <p:nvPicPr>
          <p:cNvPr id="613" name="図 1039"/>
          <p:cNvPicPr/>
          <p:nvPr/>
        </p:nvPicPr>
        <p:blipFill>
          <a:blip r:embed="rId7"/>
          <a:stretch/>
        </p:blipFill>
        <p:spPr>
          <a:xfrm>
            <a:off x="2955240" y="2332440"/>
            <a:ext cx="494280" cy="85680"/>
          </a:xfrm>
          <a:prstGeom prst="rect">
            <a:avLst/>
          </a:prstGeom>
          <a:noFill/>
          <a:ln w="0">
            <a:noFill/>
          </a:ln>
        </p:spPr>
      </p:pic>
      <p:pic>
        <p:nvPicPr>
          <p:cNvPr id="614" name="図 1040"/>
          <p:cNvPicPr/>
          <p:nvPr/>
        </p:nvPicPr>
        <p:blipFill>
          <a:blip r:embed="rId7"/>
          <a:stretch/>
        </p:blipFill>
        <p:spPr>
          <a:xfrm>
            <a:off x="2944440" y="2334960"/>
            <a:ext cx="494280" cy="85680"/>
          </a:xfrm>
          <a:prstGeom prst="rect">
            <a:avLst/>
          </a:prstGeom>
          <a:noFill/>
          <a:ln w="0">
            <a:noFill/>
          </a:ln>
        </p:spPr>
      </p:pic>
      <p:pic>
        <p:nvPicPr>
          <p:cNvPr id="615" name="図 1041"/>
          <p:cNvPicPr/>
          <p:nvPr/>
        </p:nvPicPr>
        <p:blipFill>
          <a:blip r:embed="rId7"/>
          <a:stretch/>
        </p:blipFill>
        <p:spPr>
          <a:xfrm>
            <a:off x="3124080" y="3780360"/>
            <a:ext cx="494280" cy="85680"/>
          </a:xfrm>
          <a:prstGeom prst="rect">
            <a:avLst/>
          </a:prstGeom>
          <a:noFill/>
          <a:ln w="0">
            <a:noFill/>
          </a:ln>
        </p:spPr>
      </p:pic>
      <p:sp>
        <p:nvSpPr>
          <p:cNvPr id="616" name="テキスト ボックス 1042"/>
          <p:cNvSpPr/>
          <p:nvPr/>
        </p:nvSpPr>
        <p:spPr>
          <a:xfrm>
            <a:off x="1254960" y="5195880"/>
            <a:ext cx="1679040" cy="338040"/>
          </a:xfrm>
          <a:prstGeom prst="rect">
            <a:avLst/>
          </a:prstGeom>
          <a:solidFill>
            <a:schemeClr val="lt1">
              <a:alpha val="56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800" b="1" u="none" strike="noStrike">
                <a:solidFill>
                  <a:schemeClr val="lt1">
                    <a:lumMod val="85000"/>
                  </a:schemeClr>
                </a:solidFill>
                <a:effectLst/>
                <a:uFillTx/>
                <a:latin typeface="メイリオ"/>
                <a:ea typeface="メイリオ"/>
              </a:rPr>
              <a:t>※</a:t>
            </a:r>
            <a:r>
              <a:rPr lang="ja-JP" sz="800" b="1" u="none" strike="noStrike">
                <a:solidFill>
                  <a:schemeClr val="lt1">
                    <a:lumMod val="85000"/>
                  </a:schemeClr>
                </a:solidFill>
                <a:effectLst/>
                <a:uFillTx/>
                <a:latin typeface="メイリオ"/>
                <a:ea typeface="メイリオ"/>
              </a:rPr>
              <a:t>ユーザーの個人情報収集が</a:t>
            </a:r>
            <a:endParaRPr lang="en-US" sz="800" b="0" u="none" strike="noStrike">
              <a:solidFill>
                <a:srgbClr val="000000"/>
              </a:solidFill>
              <a:effectLst/>
              <a:uFillTx/>
              <a:latin typeface="Arial"/>
            </a:endParaRPr>
          </a:p>
          <a:p>
            <a:pPr algn="ctr" defTabSz="914400">
              <a:lnSpc>
                <a:spcPct val="100000"/>
              </a:lnSpc>
            </a:pPr>
            <a:r>
              <a:rPr lang="ja-JP" sz="800" b="1" u="none" strike="noStrike">
                <a:solidFill>
                  <a:schemeClr val="lt1">
                    <a:lumMod val="85000"/>
                  </a:schemeClr>
                </a:solidFill>
                <a:effectLst/>
                <a:uFillTx/>
                <a:latin typeface="メイリオ"/>
                <a:ea typeface="メイリオ"/>
              </a:rPr>
              <a:t>完了したタイミング</a:t>
            </a:r>
            <a:endParaRPr lang="en-US" sz="800" b="0" u="none" strike="noStrike">
              <a:solidFill>
                <a:srgbClr val="000000"/>
              </a:solidFill>
              <a:effectLst/>
              <a:uFillTx/>
              <a:latin typeface="Arial"/>
            </a:endParaRPr>
          </a:p>
        </p:txBody>
      </p:sp>
      <p:grpSp>
        <p:nvGrpSpPr>
          <p:cNvPr id="617" name="グループ化 2"/>
          <p:cNvGrpSpPr/>
          <p:nvPr/>
        </p:nvGrpSpPr>
        <p:grpSpPr>
          <a:xfrm>
            <a:off x="543240" y="777600"/>
            <a:ext cx="3105000" cy="484920"/>
            <a:chOff x="543240" y="777600"/>
            <a:chExt cx="3105000" cy="484920"/>
          </a:xfrm>
        </p:grpSpPr>
        <p:sp>
          <p:nvSpPr>
            <p:cNvPr id="618"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619" name="テキスト ボックス 4"/>
            <p:cNvSpPr/>
            <p:nvPr/>
          </p:nvSpPr>
          <p:spPr>
            <a:xfrm>
              <a:off x="1175400" y="837360"/>
              <a:ext cx="183204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サンクス</a:t>
              </a:r>
              <a:r>
                <a:rPr lang="en-US" sz="1500" b="1" u="none" strike="noStrike">
                  <a:solidFill>
                    <a:schemeClr val="lt1"/>
                  </a:solidFill>
                  <a:effectLst/>
                  <a:uFillTx/>
                  <a:latin typeface="Meiryo"/>
                  <a:ea typeface="Meiryo"/>
                </a:rPr>
                <a:t>LINE</a:t>
              </a:r>
              <a:r>
                <a:rPr lang="ja-JP" sz="1500" b="1" u="none" strike="noStrike">
                  <a:solidFill>
                    <a:schemeClr val="lt1"/>
                  </a:solidFill>
                  <a:effectLst/>
                  <a:uFillTx/>
                  <a:latin typeface="Meiryo"/>
                  <a:ea typeface="Meiryo"/>
                </a:rPr>
                <a:t>誘導</a:t>
              </a:r>
              <a:endParaRPr lang="en-US" sz="1500" b="0" u="none" strike="noStrike">
                <a:solidFill>
                  <a:srgbClr val="000000"/>
                </a:solidFill>
                <a:effectLst/>
                <a:uFillTx/>
                <a:latin typeface="Arial"/>
              </a:endParaRPr>
            </a:p>
          </p:txBody>
        </p:sp>
      </p:grpSp>
      <p:sp>
        <p:nvSpPr>
          <p:cNvPr id="620" name="正方形/長方形 5"/>
          <p:cNvSpPr/>
          <p:nvPr/>
        </p:nvSpPr>
        <p:spPr>
          <a:xfrm>
            <a:off x="8247240" y="4702320"/>
            <a:ext cx="899280" cy="799200"/>
          </a:xfrm>
          <a:prstGeom prst="rect">
            <a:avLst/>
          </a:prstGeom>
          <a:noFill/>
          <a:ln>
            <a:solidFill>
              <a:srgbClr val="FF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621" name="コネクタ: カギ線 6"/>
          <p:cNvCxnSpPr/>
          <p:nvPr/>
        </p:nvCxnSpPr>
        <p:spPr>
          <a:xfrm flipV="1">
            <a:off x="7672680" y="5102280"/>
            <a:ext cx="574920" cy="333000"/>
          </a:xfrm>
          <a:prstGeom prst="bentConnector3">
            <a:avLst>
              <a:gd name="adj1" fmla="val 50000"/>
            </a:avLst>
          </a:prstGeom>
          <a:ln w="15875">
            <a:solidFill>
              <a:srgbClr val="FF0000"/>
            </a:solidFill>
            <a:prstDash val="sysDot"/>
            <a:round/>
            <a:tailEnd type="triangle" w="med" len="med"/>
          </a:ln>
        </p:spPr>
      </p:cxnSp>
      <p:cxnSp>
        <p:nvCxnSpPr>
          <p:cNvPr id="622" name="直線矢印コネクタ 12"/>
          <p:cNvCxnSpPr>
            <a:stCxn id="589" idx="2"/>
            <a:endCxn id="583" idx="0"/>
          </p:cNvCxnSpPr>
          <p:nvPr/>
        </p:nvCxnSpPr>
        <p:spPr>
          <a:xfrm>
            <a:off x="6903720" y="3132000"/>
            <a:ext cx="360" cy="1335240"/>
          </a:xfrm>
          <a:prstGeom prst="straightConnector1">
            <a:avLst/>
          </a:prstGeom>
          <a:ln w="19050">
            <a:solidFill>
              <a:srgbClr val="00B050">
                <a:alpha val="80000"/>
              </a:srgbClr>
            </a:solidFill>
            <a:prstDash val="sysDot"/>
            <a:round/>
            <a:tailEnd type="triangle" w="med" len="med"/>
          </a:ln>
        </p:spPr>
      </p:cxnSp>
      <p:sp>
        <p:nvSpPr>
          <p:cNvPr id="623" name="テキスト ボックス 18"/>
          <p:cNvSpPr/>
          <p:nvPr/>
        </p:nvSpPr>
        <p:spPr>
          <a:xfrm>
            <a:off x="6323760" y="3523680"/>
            <a:ext cx="1161360" cy="261360"/>
          </a:xfrm>
          <a:prstGeom prst="rect">
            <a:avLst/>
          </a:prstGeom>
          <a:solidFill>
            <a:schemeClr val="lt1">
              <a:alpha val="7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1" u="none" strike="noStrike">
                <a:solidFill>
                  <a:srgbClr val="00C057"/>
                </a:solidFill>
                <a:effectLst/>
                <a:uFillTx/>
                <a:latin typeface="メイリオ"/>
                <a:ea typeface="メイリオ"/>
              </a:rPr>
              <a:t>友だち追加後</a:t>
            </a:r>
            <a:endParaRPr lang="en-US" sz="1100" b="0" u="none" strike="noStrike">
              <a:solidFill>
                <a:srgbClr val="000000"/>
              </a:solidFill>
              <a:effectLst/>
              <a:uFillTx/>
              <a:latin typeface="Arial"/>
            </a:endParaRPr>
          </a:p>
        </p:txBody>
      </p:sp>
      <p:sp>
        <p:nvSpPr>
          <p:cNvPr id="624"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サンクス到達時の</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動線が弊社開発により可能に。</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費用を抑えての導入が可能で、新規反響の質改善に寄与。</a:t>
            </a:r>
            <a:endParaRPr lang="en-US" sz="1600" b="0" u="none" strike="noStrike">
              <a:solidFill>
                <a:srgbClr val="000000"/>
              </a:solidFill>
              <a:effectLst/>
              <a:uFillTx/>
              <a:latin typeface="Arial"/>
            </a:endParaRPr>
          </a:p>
        </p:txBody>
      </p:sp>
      <p:sp>
        <p:nvSpPr>
          <p:cNvPr id="625" name="テキスト ボックス 9"/>
          <p:cNvSpPr/>
          <p:nvPr/>
        </p:nvSpPr>
        <p:spPr>
          <a:xfrm>
            <a:off x="4091400" y="1391760"/>
            <a:ext cx="471816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a:t>
            </a:r>
            <a:r>
              <a:rPr lang="ja-JP" sz="900" b="0" u="none" strike="noStrike">
                <a:solidFill>
                  <a:srgbClr val="FF0000"/>
                </a:solidFill>
                <a:effectLst/>
                <a:uFillTx/>
                <a:latin typeface="メイリオ"/>
                <a:ea typeface="メイリオ"/>
              </a:rPr>
              <a:t>暫定措置として導入済アカウントについては</a:t>
            </a:r>
            <a:r>
              <a:rPr lang="en-US" sz="900" b="0" u="none" strike="noStrike">
                <a:solidFill>
                  <a:srgbClr val="FF0000"/>
                </a:solidFill>
                <a:effectLst/>
                <a:uFillTx/>
                <a:latin typeface="メイリオ"/>
                <a:ea typeface="メイリオ"/>
              </a:rPr>
              <a:t>2026</a:t>
            </a:r>
            <a:r>
              <a:rPr lang="ja-JP" sz="900" b="0" u="none" strike="noStrike">
                <a:solidFill>
                  <a:srgbClr val="FF0000"/>
                </a:solidFill>
                <a:effectLst/>
                <a:uFillTx/>
                <a:latin typeface="メイリオ"/>
                <a:ea typeface="メイリオ"/>
              </a:rPr>
              <a:t>年</a:t>
            </a:r>
            <a:r>
              <a:rPr lang="en-US" sz="900" b="0" u="none" strike="noStrike">
                <a:solidFill>
                  <a:srgbClr val="FF0000"/>
                </a:solidFill>
                <a:effectLst/>
                <a:uFillTx/>
                <a:latin typeface="メイリオ"/>
                <a:ea typeface="メイリオ"/>
              </a:rPr>
              <a:t>7</a:t>
            </a:r>
            <a:r>
              <a:rPr lang="ja-JP" sz="900" b="0" u="none" strike="noStrike">
                <a:solidFill>
                  <a:srgbClr val="FF0000"/>
                </a:solidFill>
                <a:effectLst/>
                <a:uFillTx/>
                <a:latin typeface="メイリオ"/>
                <a:ea typeface="メイリオ"/>
              </a:rPr>
              <a:t>月～の価格改定の予定</a:t>
            </a:r>
            <a:endParaRPr lang="en-US" sz="900" b="0" u="none" strike="noStrike">
              <a:solidFill>
                <a:srgbClr val="000000"/>
              </a:solidFill>
              <a:effectLst/>
              <a:uFillTx/>
              <a:latin typeface="Arial"/>
            </a:endParaRPr>
          </a:p>
        </p:txBody>
      </p:sp>
      <p:sp>
        <p:nvSpPr>
          <p:cNvPr id="626" name="テキスト ボックス 13"/>
          <p:cNvSpPr/>
          <p:nvPr/>
        </p:nvSpPr>
        <p:spPr>
          <a:xfrm>
            <a:off x="4091400" y="1549800"/>
            <a:ext cx="471816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a:t>
            </a:r>
            <a:r>
              <a:rPr lang="ja-JP" sz="900" b="0" u="none" strike="noStrike">
                <a:solidFill>
                  <a:srgbClr val="FF0000"/>
                </a:solidFill>
                <a:effectLst/>
                <a:uFillTx/>
                <a:latin typeface="メイリオ"/>
                <a:ea typeface="メイリオ"/>
              </a:rPr>
              <a:t>既存</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ツールとの併用についても、問題なく稼働が可能。</a:t>
            </a:r>
            <a:endParaRPr lang="en-US" sz="900" b="0" u="none" strike="noStrike">
              <a:solidFill>
                <a:srgbClr val="000000"/>
              </a:solidFill>
              <a:effectLst/>
              <a:uFillTx/>
              <a:latin typeface="Arial"/>
            </a:endParaRPr>
          </a:p>
        </p:txBody>
      </p:sp>
      <p:sp>
        <p:nvSpPr>
          <p:cNvPr id="627" name="正方形/長方形 7"/>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sp>
        <p:nvSpPr>
          <p:cNvPr id="628"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629"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設定地点追加</a:t>
            </a:r>
            <a:endParaRPr lang="en-US" sz="1050" b="0" u="none" strike="noStrike">
              <a:solidFill>
                <a:srgbClr val="FFFFFF"/>
              </a:solidFill>
              <a:effectLst/>
              <a:uFillTx/>
              <a:latin typeface="Arial"/>
            </a:endParaRPr>
          </a:p>
        </p:txBody>
      </p:sp>
      <p:cxnSp>
        <p:nvCxnSpPr>
          <p:cNvPr id="630" name="コネクタ: カギ線 29"/>
          <p:cNvCxnSpPr/>
          <p:nvPr/>
        </p:nvCxnSpPr>
        <p:spPr>
          <a:xfrm>
            <a:off x="1211760" y="5130000"/>
            <a:ext cx="4597200" cy="431280"/>
          </a:xfrm>
          <a:prstGeom prst="bentConnector3">
            <a:avLst>
              <a:gd name="adj1" fmla="val 50003"/>
            </a:avLst>
          </a:prstGeom>
          <a:ln w="15875">
            <a:solidFill>
              <a:srgbClr val="FF0000"/>
            </a:solidFill>
            <a:prstDash val="sysDot"/>
            <a:round/>
            <a:tailEnd type="triangle" w="med" len="med"/>
          </a:ln>
        </p:spPr>
      </p:cxnSp>
      <p:sp>
        <p:nvSpPr>
          <p:cNvPr id="631" name="テキスト ボックス 49"/>
          <p:cNvSpPr/>
          <p:nvPr/>
        </p:nvSpPr>
        <p:spPr>
          <a:xfrm>
            <a:off x="115200" y="5639400"/>
            <a:ext cx="5785560" cy="461160"/>
          </a:xfrm>
          <a:prstGeom prst="rect">
            <a:avLst/>
          </a:prstGeom>
          <a:solidFill>
            <a:schemeClr val="lt1">
              <a:alpha val="62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0" u="none" strike="noStrike">
                <a:solidFill>
                  <a:schemeClr val="dk1"/>
                </a:solidFill>
                <a:effectLst/>
                <a:uFillTx/>
                <a:latin typeface="メイリオ"/>
                <a:ea typeface="メイリオ"/>
              </a:rPr>
              <a:t>高開封率の</a:t>
            </a:r>
            <a:r>
              <a:rPr lang="en-US" sz="1200" b="0" u="none" strike="noStrike">
                <a:solidFill>
                  <a:schemeClr val="dk1"/>
                </a:solidFill>
                <a:effectLst/>
                <a:uFillTx/>
                <a:latin typeface="メイリオ"/>
                <a:ea typeface="メイリオ"/>
              </a:rPr>
              <a:t>LINE</a:t>
            </a:r>
            <a:r>
              <a:rPr lang="ja-JP" sz="1200" b="0" u="none" strike="noStrike">
                <a:solidFill>
                  <a:schemeClr val="dk1"/>
                </a:solidFill>
                <a:effectLst/>
                <a:uFillTx/>
                <a:latin typeface="メイリオ"/>
                <a:ea typeface="メイリオ"/>
              </a:rPr>
              <a:t>に誘導して反響→実売上への引上げ率、リピート率改善。</a:t>
            </a:r>
            <a:endParaRPr lang="en-US" sz="1200" b="0" u="none" strike="noStrike">
              <a:solidFill>
                <a:srgbClr val="000000"/>
              </a:solidFill>
              <a:effectLst/>
              <a:uFillTx/>
              <a:latin typeface="Arial"/>
            </a:endParaRPr>
          </a:p>
          <a:p>
            <a:pPr algn="ctr" defTabSz="914400">
              <a:lnSpc>
                <a:spcPct val="100000"/>
              </a:lnSpc>
            </a:pPr>
            <a:r>
              <a:rPr lang="en-US" sz="1200" b="0" u="none" strike="noStrike">
                <a:solidFill>
                  <a:schemeClr val="dk1"/>
                </a:solidFill>
                <a:effectLst/>
                <a:uFillTx/>
                <a:latin typeface="メイリオ"/>
                <a:ea typeface="メイリオ"/>
              </a:rPr>
              <a:t> </a:t>
            </a:r>
            <a:r>
              <a:rPr lang="ja-JP" sz="1200" b="1" u="none" strike="noStrike">
                <a:solidFill>
                  <a:srgbClr val="FF0000"/>
                </a:solidFill>
                <a:effectLst/>
                <a:uFillTx/>
                <a:latin typeface="メイリオ"/>
                <a:ea typeface="メイリオ"/>
              </a:rPr>
              <a:t>弊社運用の美容クリニック様では、予約後来院率にて</a:t>
            </a:r>
            <a:r>
              <a:rPr lang="en-US" sz="1200" b="1" u="none" strike="noStrike">
                <a:solidFill>
                  <a:srgbClr val="FF0000"/>
                </a:solidFill>
                <a:effectLst/>
                <a:uFillTx/>
                <a:latin typeface="メイリオ"/>
                <a:ea typeface="メイリオ"/>
              </a:rPr>
              <a:t>40-50%</a:t>
            </a:r>
            <a:r>
              <a:rPr lang="ja-JP" sz="1200" b="1" u="none" strike="noStrike">
                <a:solidFill>
                  <a:srgbClr val="FF0000"/>
                </a:solidFill>
                <a:effectLst/>
                <a:uFillTx/>
                <a:latin typeface="メイリオ"/>
                <a:ea typeface="メイリオ"/>
              </a:rPr>
              <a:t>程度の改善を実現</a:t>
            </a:r>
            <a:r>
              <a:rPr lang="ja-JP" sz="1200" b="0"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632" name="正方形/長方形 17"/>
          <p:cNvSpPr/>
          <p:nvPr/>
        </p:nvSpPr>
        <p:spPr>
          <a:xfrm>
            <a:off x="396720" y="694440"/>
            <a:ext cx="3469320" cy="1188720"/>
          </a:xfrm>
          <a:prstGeom prst="rect">
            <a:avLst/>
          </a:prstGeom>
          <a:solidFill>
            <a:schemeClr val="lt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chemeClr val="dk1"/>
                </a:solidFill>
                <a:effectLst/>
                <a:uFillTx/>
                <a:latin typeface="メイリオ"/>
                <a:ea typeface="メイリオ"/>
              </a:rPr>
              <a:t>LINEOA</a:t>
            </a:r>
            <a:r>
              <a:rPr lang="ja-JP" sz="1600" b="1" u="none" strike="noStrike">
                <a:solidFill>
                  <a:schemeClr val="dk1"/>
                </a:solidFill>
                <a:effectLst/>
                <a:uFillTx/>
                <a:latin typeface="メイリオ"/>
                <a:ea typeface="メイリオ"/>
              </a:rPr>
              <a:t>の運用業務・</a:t>
            </a:r>
            <a:r>
              <a:rPr lang="en-US" sz="1600" b="1" u="none" strike="noStrike">
                <a:solidFill>
                  <a:schemeClr val="dk1"/>
                </a:solidFill>
                <a:effectLst/>
                <a:uFillTx/>
                <a:latin typeface="メイリオ"/>
                <a:ea typeface="メイリオ"/>
              </a:rPr>
              <a:t>CR</a:t>
            </a:r>
            <a:r>
              <a:rPr lang="ja-JP" sz="1600" b="1" u="none" strike="noStrike">
                <a:solidFill>
                  <a:schemeClr val="dk1"/>
                </a:solidFill>
                <a:effectLst/>
                <a:uFillTx/>
                <a:latin typeface="メイリオ"/>
                <a:ea typeface="メイリオ"/>
              </a:rPr>
              <a:t>制作業務を一部外出ししてご依頼依頼も。</a:t>
            </a:r>
            <a:endParaRPr lang="en-US" sz="1600" b="0" u="none" strike="noStrike">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3520" cy="406944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貴社リソースの状況に応じて都度発注でのご依頼も各単価で受けさせていただきます。</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650" name="正方形/長方形 1"/>
          <p:cNvSpPr/>
          <p:nvPr/>
        </p:nvSpPr>
        <p:spPr>
          <a:xfrm>
            <a:off x="3629520" y="3038040"/>
            <a:ext cx="26463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サポート体制</a:t>
            </a:r>
            <a:endParaRPr lang="en-US" sz="32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 name="正方形/長方形 5"/>
          <p:cNvSpPr/>
          <p:nvPr/>
        </p:nvSpPr>
        <p:spPr>
          <a:xfrm>
            <a:off x="300240" y="832680"/>
            <a:ext cx="9355680" cy="866880"/>
          </a:xfrm>
          <a:prstGeom prst="rect">
            <a:avLst/>
          </a:prstGeom>
          <a:solidFill>
            <a:schemeClr val="tx2"/>
          </a:solidFill>
          <a:ln w="22225">
            <a:solidFill>
              <a:srgbClr val="1F497D"/>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0" u="none" strike="noStrike">
                <a:solidFill>
                  <a:schemeClr val="lt1"/>
                </a:solidFill>
                <a:effectLst/>
                <a:uFillTx/>
                <a:latin typeface="メイリオ"/>
                <a:ea typeface="メイリオ"/>
              </a:rPr>
              <a:t>WEB</a:t>
            </a:r>
            <a:r>
              <a:rPr lang="ja-JP" sz="2400" b="0" u="none" strike="noStrike">
                <a:solidFill>
                  <a:schemeClr val="lt1"/>
                </a:solidFill>
                <a:effectLst/>
                <a:uFillTx/>
                <a:latin typeface="メイリオ"/>
                <a:ea typeface="メイリオ"/>
              </a:rPr>
              <a:t>サイト上情報と連携させ、配信効果を数値化する</a:t>
            </a:r>
            <a:endParaRPr lang="en-US" sz="2400" b="0" u="none" strike="noStrike">
              <a:solidFill>
                <a:srgbClr val="FFFFFF"/>
              </a:solidFill>
              <a:effectLst/>
              <a:uFillTx/>
              <a:latin typeface="Arial"/>
            </a:endParaRPr>
          </a:p>
        </p:txBody>
      </p:sp>
      <p:pic>
        <p:nvPicPr>
          <p:cNvPr id="652" name="図 6"/>
          <p:cNvPicPr/>
          <p:nvPr/>
        </p:nvPicPr>
        <p:blipFill>
          <a:blip r:embed="rId3"/>
          <a:stretch/>
        </p:blipFill>
        <p:spPr>
          <a:xfrm>
            <a:off x="1183680" y="2131200"/>
            <a:ext cx="2498040" cy="1743840"/>
          </a:xfrm>
          <a:prstGeom prst="rect">
            <a:avLst/>
          </a:prstGeom>
          <a:noFill/>
          <a:ln w="0">
            <a:noFill/>
          </a:ln>
        </p:spPr>
      </p:pic>
      <p:pic>
        <p:nvPicPr>
          <p:cNvPr id="653" name="図 7"/>
          <p:cNvPicPr/>
          <p:nvPr/>
        </p:nvPicPr>
        <p:blipFill>
          <a:blip r:embed="rId4"/>
          <a:stretch/>
        </p:blipFill>
        <p:spPr>
          <a:xfrm>
            <a:off x="3456000" y="2402640"/>
            <a:ext cx="2392560" cy="1668240"/>
          </a:xfrm>
          <a:prstGeom prst="rect">
            <a:avLst/>
          </a:prstGeom>
          <a:noFill/>
          <a:ln w="0">
            <a:noFill/>
          </a:ln>
        </p:spPr>
      </p:pic>
      <p:pic>
        <p:nvPicPr>
          <p:cNvPr id="654" name="図 9"/>
          <p:cNvPicPr/>
          <p:nvPr/>
        </p:nvPicPr>
        <p:blipFill>
          <a:blip r:embed="rId5"/>
          <a:stretch/>
        </p:blipFill>
        <p:spPr>
          <a:xfrm>
            <a:off x="5697720" y="2676600"/>
            <a:ext cx="2431800" cy="1697760"/>
          </a:xfrm>
          <a:prstGeom prst="rect">
            <a:avLst/>
          </a:prstGeom>
          <a:noFill/>
          <a:ln w="0">
            <a:noFill/>
          </a:ln>
        </p:spPr>
      </p:pic>
      <p:pic>
        <p:nvPicPr>
          <p:cNvPr id="655" name="図 13"/>
          <p:cNvPicPr/>
          <p:nvPr/>
        </p:nvPicPr>
        <p:blipFill>
          <a:blip r:embed="rId6"/>
          <a:stretch/>
        </p:blipFill>
        <p:spPr>
          <a:xfrm>
            <a:off x="1158120" y="4165560"/>
            <a:ext cx="2416680" cy="1682280"/>
          </a:xfrm>
          <a:prstGeom prst="rect">
            <a:avLst/>
          </a:prstGeom>
          <a:noFill/>
          <a:ln w="0">
            <a:noFill/>
          </a:ln>
        </p:spPr>
      </p:pic>
      <p:pic>
        <p:nvPicPr>
          <p:cNvPr id="656" name="図 14"/>
          <p:cNvPicPr/>
          <p:nvPr/>
        </p:nvPicPr>
        <p:blipFill>
          <a:blip r:embed="rId7"/>
          <a:stretch/>
        </p:blipFill>
        <p:spPr>
          <a:xfrm>
            <a:off x="3434760" y="4410720"/>
            <a:ext cx="2416680" cy="1683000"/>
          </a:xfrm>
          <a:prstGeom prst="rect">
            <a:avLst/>
          </a:prstGeom>
          <a:noFill/>
          <a:ln w="0">
            <a:noFill/>
          </a:ln>
        </p:spPr>
      </p:pic>
      <p:pic>
        <p:nvPicPr>
          <p:cNvPr id="657" name="図 23"/>
          <p:cNvPicPr/>
          <p:nvPr/>
        </p:nvPicPr>
        <p:blipFill>
          <a:blip r:embed="rId8"/>
          <a:stretch/>
        </p:blipFill>
        <p:spPr>
          <a:xfrm>
            <a:off x="5697720" y="4687200"/>
            <a:ext cx="2426760" cy="1690560"/>
          </a:xfrm>
          <a:prstGeom prst="rect">
            <a:avLst/>
          </a:prstGeom>
          <a:noFill/>
          <a:ln w="0">
            <a:noFill/>
          </a:ln>
        </p:spPr>
      </p:pic>
      <p:pic>
        <p:nvPicPr>
          <p:cNvPr id="658" name="図 25"/>
          <p:cNvPicPr/>
          <p:nvPr/>
        </p:nvPicPr>
        <p:blipFill>
          <a:blip r:embed="rId9"/>
          <a:stretch/>
        </p:blipFill>
        <p:spPr>
          <a:xfrm>
            <a:off x="8022240" y="1995120"/>
            <a:ext cx="1068120" cy="453960"/>
          </a:xfrm>
          <a:prstGeom prst="rect">
            <a:avLst/>
          </a:prstGeom>
          <a:noFill/>
          <a:ln w="0">
            <a:noFill/>
          </a:ln>
        </p:spPr>
      </p:pic>
      <p:sp>
        <p:nvSpPr>
          <p:cNvPr id="659" name="テキスト ボックス 1"/>
          <p:cNvSpPr/>
          <p:nvPr/>
        </p:nvSpPr>
        <p:spPr>
          <a:xfrm>
            <a:off x="482760" y="989280"/>
            <a:ext cx="933480" cy="64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3600" b="0" u="none" strike="noStrike">
                <a:solidFill>
                  <a:schemeClr val="lt1"/>
                </a:solidFill>
                <a:effectLst/>
                <a:uFillTx/>
                <a:latin typeface="メイリオ"/>
                <a:ea typeface="メイリオ"/>
              </a:rPr>
              <a:t>☑</a:t>
            </a:r>
            <a:endParaRPr lang="en-US" sz="3600" b="0" u="none" strike="noStrike">
              <a:solidFill>
                <a:srgbClr val="000000"/>
              </a:solidFill>
              <a:effectLst/>
              <a:uFillTx/>
              <a:latin typeface="Arial"/>
            </a:endParaRPr>
          </a:p>
        </p:txBody>
      </p:sp>
      <p:pic>
        <p:nvPicPr>
          <p:cNvPr id="660" name="Picture 2" descr="ロゴガイドライン｜LINEヤフー for Business"/>
          <p:cNvPicPr/>
          <p:nvPr/>
        </p:nvPicPr>
        <p:blipFill>
          <a:blip r:embed="rId10"/>
          <a:stretch/>
        </p:blipFill>
        <p:spPr>
          <a:xfrm>
            <a:off x="6485400" y="1788120"/>
            <a:ext cx="2447640" cy="888480"/>
          </a:xfrm>
          <a:prstGeom prst="rect">
            <a:avLst/>
          </a:prstGeom>
          <a:noFill/>
          <a:ln w="0">
            <a:noFill/>
          </a:ln>
        </p:spPr>
      </p:pic>
      <p:sp>
        <p:nvSpPr>
          <p:cNvPr id="66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サポート体制（報告</a:t>
            </a:r>
            <a:r>
              <a:rPr lang="en-US" sz="1600" b="1" u="none" strike="noStrike">
                <a:solidFill>
                  <a:srgbClr val="002060"/>
                </a:solidFill>
                <a:effectLst/>
                <a:uFillTx/>
                <a:latin typeface="Meiryo"/>
                <a:ea typeface="Meiryo"/>
              </a:rPr>
              <a:t>FMT</a:t>
            </a:r>
            <a:r>
              <a:rPr lang="ja-JP" sz="1600" b="1" u="none" strike="noStrike">
                <a:solidFill>
                  <a:srgbClr val="002060"/>
                </a:solidFill>
                <a:effectLst/>
                <a:uFillTx/>
                <a:latin typeface="Meiryo"/>
                <a:ea typeface="Meiryo"/>
              </a:rPr>
              <a:t>）</a:t>
            </a:r>
            <a:endParaRPr lang="en-US" sz="1600" b="0" u="none" strike="noStrike">
              <a:solidFill>
                <a:srgbClr val="000000"/>
              </a:solidFill>
              <a:effectLst/>
              <a:uFillTx/>
              <a:latin typeface="Arial"/>
            </a:endParaRPr>
          </a:p>
        </p:txBody>
      </p:sp>
      <p:sp>
        <p:nvSpPr>
          <p:cNvPr id="662" name="正方形/長方形 4"/>
          <p:cNvSpPr/>
          <p:nvPr/>
        </p:nvSpPr>
        <p:spPr>
          <a:xfrm>
            <a:off x="167040" y="3583800"/>
            <a:ext cx="9594000" cy="866880"/>
          </a:xfrm>
          <a:prstGeom prst="rect">
            <a:avLst/>
          </a:prstGeom>
          <a:solidFill>
            <a:schemeClr val="dk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lt1"/>
                </a:solidFill>
                <a:effectLst/>
                <a:uFillTx/>
                <a:latin typeface="メイリオ"/>
                <a:ea typeface="メイリオ"/>
              </a:rPr>
              <a:t>レポートサンプル</a:t>
            </a:r>
            <a:endParaRPr lang="en-US" sz="2400" b="0" u="none" strike="noStrike">
              <a:solidFill>
                <a:srgbClr val="FFFFFF"/>
              </a:solidFill>
              <a:effectLst/>
              <a:uFillTx/>
              <a:latin typeface="Arial"/>
            </a:endParaRPr>
          </a:p>
          <a:p>
            <a:pPr algn="ctr" defTabSz="914400">
              <a:lnSpc>
                <a:spcPct val="100000"/>
              </a:lnSpc>
            </a:pPr>
            <a:r>
              <a:rPr lang="ja-JP" sz="1400" b="0" u="none" strike="noStrike">
                <a:solidFill>
                  <a:schemeClr val="lt1"/>
                </a:solidFill>
                <a:effectLst/>
                <a:uFillTx/>
                <a:latin typeface="メイリオ"/>
                <a:ea typeface="メイリオ"/>
              </a:rPr>
              <a:t>（貴社要望によりカスタマイズ予定）</a:t>
            </a:r>
            <a:endParaRPr lang="en-US" sz="1400" b="0" u="none" strike="noStrike">
              <a:solidFill>
                <a:srgbClr val="FFFFFF"/>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 name="正方形/長方形 1"/>
          <p:cNvSpPr/>
          <p:nvPr/>
        </p:nvSpPr>
        <p:spPr>
          <a:xfrm>
            <a:off x="6757920" y="93600"/>
            <a:ext cx="1320480" cy="343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lt1"/>
                </a:solidFill>
                <a:effectLst/>
                <a:uFillTx/>
                <a:latin typeface="メイリオ"/>
                <a:ea typeface="メイリオ"/>
              </a:rPr>
              <a:t>効果計測</a:t>
            </a:r>
            <a:endParaRPr lang="en-US" sz="1100" b="0" u="none" strike="noStrike">
              <a:solidFill>
                <a:srgbClr val="000000"/>
              </a:solidFill>
              <a:effectLst/>
              <a:uFillTx/>
              <a:latin typeface="Arial"/>
            </a:endParaRPr>
          </a:p>
        </p:txBody>
      </p:sp>
      <p:sp>
        <p:nvSpPr>
          <p:cNvPr id="664" name="正方形/長方形 13"/>
          <p:cNvSpPr/>
          <p:nvPr/>
        </p:nvSpPr>
        <p:spPr>
          <a:xfrm>
            <a:off x="258840" y="1486080"/>
            <a:ext cx="9230040" cy="1705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665" name="図 14"/>
          <p:cNvPicPr/>
          <p:nvPr/>
        </p:nvPicPr>
        <p:blipFill>
          <a:blip r:embed="rId3"/>
          <a:stretch/>
        </p:blipFill>
        <p:spPr>
          <a:xfrm>
            <a:off x="445680" y="4515480"/>
            <a:ext cx="4393080" cy="1885680"/>
          </a:xfrm>
          <a:prstGeom prst="rect">
            <a:avLst/>
          </a:prstGeom>
          <a:noFill/>
          <a:ln w="0">
            <a:noFill/>
          </a:ln>
        </p:spPr>
      </p:pic>
      <p:sp>
        <p:nvSpPr>
          <p:cNvPr id="666" name="正方形/長方形 15"/>
          <p:cNvSpPr/>
          <p:nvPr/>
        </p:nvSpPr>
        <p:spPr>
          <a:xfrm>
            <a:off x="1728720" y="172404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ツールなし</a:t>
            </a:r>
            <a:endParaRPr lang="en-US" sz="1200" b="0" u="none" strike="noStrike">
              <a:solidFill>
                <a:srgbClr val="FFFFFF"/>
              </a:solidFill>
              <a:effectLst/>
              <a:uFillTx/>
              <a:latin typeface="Arial"/>
            </a:endParaRPr>
          </a:p>
        </p:txBody>
      </p:sp>
      <p:sp>
        <p:nvSpPr>
          <p:cNvPr id="667" name="正方形/長方形 16"/>
          <p:cNvSpPr/>
          <p:nvPr/>
        </p:nvSpPr>
        <p:spPr>
          <a:xfrm>
            <a:off x="1728720" y="246492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ツールあり</a:t>
            </a:r>
            <a:endParaRPr lang="en-US" sz="1200" b="0" u="none" strike="noStrike">
              <a:solidFill>
                <a:srgbClr val="FFFFFF"/>
              </a:solidFill>
              <a:effectLst/>
              <a:uFillTx/>
              <a:latin typeface="Arial"/>
            </a:endParaRPr>
          </a:p>
        </p:txBody>
      </p:sp>
      <p:sp>
        <p:nvSpPr>
          <p:cNvPr id="668" name="正方形/長方形 17"/>
          <p:cNvSpPr/>
          <p:nvPr/>
        </p:nvSpPr>
        <p:spPr>
          <a:xfrm>
            <a:off x="3939840" y="2445840"/>
            <a:ext cx="331164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en-US" sz="1400" b="0" u="none" strike="noStrike">
                <a:solidFill>
                  <a:schemeClr val="dk1">
                    <a:lumMod val="50000"/>
                    <a:lumOff val="50000"/>
                  </a:schemeClr>
                </a:solidFill>
                <a:effectLst/>
                <a:uFillTx/>
                <a:latin typeface="メイリオ"/>
                <a:ea typeface="メイリオ"/>
              </a:rPr>
              <a:t>API</a:t>
            </a:r>
            <a:r>
              <a:rPr lang="ja-JP" sz="1400" b="0" u="none" strike="noStrike">
                <a:solidFill>
                  <a:schemeClr val="dk1">
                    <a:lumMod val="50000"/>
                    <a:lumOff val="50000"/>
                  </a:schemeClr>
                </a:solidFill>
                <a:effectLst/>
                <a:uFillTx/>
                <a:latin typeface="メイリオ"/>
                <a:ea typeface="メイリオ"/>
              </a:rPr>
              <a:t>ツール管理画面上にて</a:t>
            </a:r>
            <a:endParaRPr lang="en-US" sz="1400" b="0" u="none" strike="noStrike">
              <a:solidFill>
                <a:srgbClr val="000000"/>
              </a:solidFill>
              <a:effectLst/>
              <a:uFillTx/>
              <a:latin typeface="Arial"/>
            </a:endParaRPr>
          </a:p>
          <a:p>
            <a:pPr defTabSz="914400">
              <a:lnSpc>
                <a:spcPct val="100000"/>
              </a:lnSpc>
            </a:pPr>
            <a:r>
              <a:rPr lang="ja-JP" sz="1400" b="0" u="none" strike="noStrike">
                <a:solidFill>
                  <a:schemeClr val="dk1">
                    <a:lumMod val="50000"/>
                    <a:lumOff val="50000"/>
                  </a:schemeClr>
                </a:solidFill>
                <a:effectLst/>
                <a:uFillTx/>
                <a:latin typeface="メイリオ"/>
                <a:ea typeface="メイリオ"/>
              </a:rPr>
              <a:t>「特定期間に対する</a:t>
            </a: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数算出」が可能</a:t>
            </a:r>
            <a:endParaRPr lang="en-US" sz="1400" b="0" u="none" strike="noStrike">
              <a:solidFill>
                <a:srgbClr val="000000"/>
              </a:solidFill>
              <a:effectLst/>
              <a:uFillTx/>
              <a:latin typeface="Arial"/>
            </a:endParaRPr>
          </a:p>
        </p:txBody>
      </p:sp>
      <p:sp>
        <p:nvSpPr>
          <p:cNvPr id="669" name="正方形/長方形 18"/>
          <p:cNvSpPr/>
          <p:nvPr/>
        </p:nvSpPr>
        <p:spPr>
          <a:xfrm>
            <a:off x="3939840" y="1705320"/>
            <a:ext cx="427356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タグの設定に伴い、計測自体は可能だが</a:t>
            </a:r>
            <a:endParaRPr lang="en-US" sz="1400" b="0" u="none" strike="noStrike">
              <a:solidFill>
                <a:srgbClr val="000000"/>
              </a:solidFill>
              <a:effectLst/>
              <a:uFillTx/>
              <a:latin typeface="Arial"/>
            </a:endParaRPr>
          </a:p>
          <a:p>
            <a:pPr defTabSz="914400">
              <a:lnSpc>
                <a:spcPct val="100000"/>
              </a:lnSpc>
            </a:pP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数</a:t>
            </a:r>
            <a:r>
              <a:rPr lang="en-US" sz="1400" b="0" u="none" strike="noStrike">
                <a:solidFill>
                  <a:schemeClr val="dk1">
                    <a:lumMod val="50000"/>
                    <a:lumOff val="50000"/>
                  </a:schemeClr>
                </a:solidFill>
                <a:effectLst/>
                <a:uFillTx/>
                <a:latin typeface="メイリオ"/>
                <a:ea typeface="メイリオ"/>
              </a:rPr>
              <a:t>50</a:t>
            </a:r>
            <a:r>
              <a:rPr lang="ja-JP" sz="1400" b="0" u="none" strike="noStrike">
                <a:solidFill>
                  <a:schemeClr val="dk1">
                    <a:lumMod val="50000"/>
                    <a:lumOff val="50000"/>
                  </a:schemeClr>
                </a:solidFill>
                <a:effectLst/>
                <a:uFillTx/>
                <a:latin typeface="メイリオ"/>
                <a:ea typeface="メイリオ"/>
              </a:rPr>
              <a:t>件以上での数値計測となる（管理画面上）</a:t>
            </a:r>
            <a:endParaRPr lang="en-US" sz="1400" b="0" u="none" strike="noStrike">
              <a:solidFill>
                <a:srgbClr val="000000"/>
              </a:solidFill>
              <a:effectLst/>
              <a:uFillTx/>
              <a:latin typeface="Arial"/>
            </a:endParaRPr>
          </a:p>
        </p:txBody>
      </p:sp>
      <p:sp>
        <p:nvSpPr>
          <p:cNvPr id="670" name="正方形/長方形 19"/>
          <p:cNvSpPr/>
          <p:nvPr/>
        </p:nvSpPr>
        <p:spPr>
          <a:xfrm>
            <a:off x="625680" y="2120040"/>
            <a:ext cx="64584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800" b="0" u="none" strike="noStrike">
                <a:solidFill>
                  <a:schemeClr val="dk1"/>
                </a:solidFill>
                <a:effectLst/>
                <a:uFillTx/>
                <a:latin typeface="メイリオ"/>
                <a:ea typeface="メイリオ"/>
              </a:rPr>
              <a:t>通常</a:t>
            </a:r>
            <a:endParaRPr lang="en-US" sz="1800" b="0" u="none" strike="noStrike">
              <a:solidFill>
                <a:srgbClr val="000000"/>
              </a:solidFill>
              <a:effectLst/>
              <a:uFillTx/>
              <a:latin typeface="Arial"/>
            </a:endParaRPr>
          </a:p>
        </p:txBody>
      </p:sp>
      <p:sp>
        <p:nvSpPr>
          <p:cNvPr id="671" name="正方形/長方形 20"/>
          <p:cNvSpPr/>
          <p:nvPr/>
        </p:nvSpPr>
        <p:spPr>
          <a:xfrm>
            <a:off x="258840" y="3337920"/>
            <a:ext cx="9230040" cy="10526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672" name="正方形/長方形 21"/>
          <p:cNvSpPr/>
          <p:nvPr/>
        </p:nvSpPr>
        <p:spPr>
          <a:xfrm>
            <a:off x="1728720" y="3527640"/>
            <a:ext cx="1984320" cy="70452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ツール有無</a:t>
            </a:r>
            <a:endParaRPr lang="en-US" sz="1200" b="0" u="none" strike="noStrike">
              <a:solidFill>
                <a:srgbClr val="FFFFFF"/>
              </a:solidFill>
              <a:effectLst/>
              <a:uFillTx/>
              <a:latin typeface="Arial"/>
            </a:endParaRPr>
          </a:p>
          <a:p>
            <a:pPr algn="ctr" defTabSz="914400">
              <a:lnSpc>
                <a:spcPct val="100000"/>
              </a:lnSpc>
            </a:pPr>
            <a:r>
              <a:rPr lang="ja-JP" sz="1200" b="1" u="none" strike="noStrike">
                <a:solidFill>
                  <a:schemeClr val="lt1"/>
                </a:solidFill>
                <a:effectLst/>
                <a:uFillTx/>
                <a:latin typeface="メイリオ"/>
                <a:ea typeface="メイリオ"/>
              </a:rPr>
              <a:t>に関わらず</a:t>
            </a:r>
            <a:endParaRPr lang="en-US" sz="1200" b="0" u="none" strike="noStrike">
              <a:solidFill>
                <a:srgbClr val="FFFFFF"/>
              </a:solidFill>
              <a:effectLst/>
              <a:uFillTx/>
              <a:latin typeface="Arial"/>
            </a:endParaRPr>
          </a:p>
        </p:txBody>
      </p:sp>
      <p:sp>
        <p:nvSpPr>
          <p:cNvPr id="673" name="正方形/長方形 22"/>
          <p:cNvSpPr/>
          <p:nvPr/>
        </p:nvSpPr>
        <p:spPr>
          <a:xfrm>
            <a:off x="3939840" y="3618720"/>
            <a:ext cx="416448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ja-JP" sz="1400" b="0" u="none" strike="noStrike">
                <a:solidFill>
                  <a:schemeClr val="dk1"/>
                </a:solidFill>
                <a:effectLst/>
                <a:uFillTx/>
                <a:latin typeface="メイリオ"/>
                <a:ea typeface="メイリオ"/>
              </a:rPr>
              <a:t>定期投稿、シナリオ、リッチメニュー等に設定の</a:t>
            </a:r>
            <a:endParaRPr lang="en-US" sz="1400" b="0" u="none" strike="noStrike">
              <a:solidFill>
                <a:srgbClr val="000000"/>
              </a:solidFill>
              <a:effectLst/>
              <a:uFillTx/>
              <a:latin typeface="Arial"/>
            </a:endParaRPr>
          </a:p>
          <a:p>
            <a:pPr defTabSz="914400">
              <a:lnSpc>
                <a:spcPct val="100000"/>
              </a:lnSpc>
            </a:pPr>
            <a:r>
              <a:rPr lang="ja-JP" sz="1400" b="0" u="none" strike="noStrike">
                <a:solidFill>
                  <a:schemeClr val="dk1"/>
                </a:solidFill>
                <a:effectLst/>
                <a:uFillTx/>
                <a:latin typeface="メイリオ"/>
                <a:ea typeface="メイリオ"/>
              </a:rPr>
              <a:t>リンクについて、</a:t>
            </a:r>
            <a:r>
              <a:rPr lang="en-US" sz="1400" b="0" u="none" strike="noStrike">
                <a:solidFill>
                  <a:srgbClr val="FF0000"/>
                </a:solidFill>
                <a:effectLst/>
                <a:uFillTx/>
                <a:latin typeface="メイリオ"/>
                <a:ea typeface="メイリオ"/>
              </a:rPr>
              <a:t>GA</a:t>
            </a:r>
            <a:r>
              <a:rPr lang="ja-JP" sz="1400" b="0" u="none" strike="noStrike">
                <a:solidFill>
                  <a:srgbClr val="FF0000"/>
                </a:solidFill>
                <a:effectLst/>
                <a:uFillTx/>
                <a:latin typeface="メイリオ"/>
                <a:ea typeface="メイリオ"/>
              </a:rPr>
              <a:t>、</a:t>
            </a:r>
            <a:r>
              <a:rPr lang="en-US" sz="1400" b="0" u="none" strike="noStrike">
                <a:solidFill>
                  <a:srgbClr val="FF0000"/>
                </a:solidFill>
                <a:effectLst/>
                <a:uFillTx/>
                <a:latin typeface="メイリオ"/>
                <a:ea typeface="メイリオ"/>
              </a:rPr>
              <a:t>MA</a:t>
            </a:r>
            <a:r>
              <a:rPr lang="ja-JP" sz="1400" b="0" u="none" strike="noStrike">
                <a:solidFill>
                  <a:srgbClr val="FF0000"/>
                </a:solidFill>
                <a:effectLst/>
                <a:uFillTx/>
                <a:latin typeface="メイリオ"/>
                <a:ea typeface="メイリオ"/>
              </a:rPr>
              <a:t>ツールでの計測可能</a:t>
            </a:r>
            <a:r>
              <a:rPr lang="ja-JP" sz="1400" b="0" u="none" strike="noStrike">
                <a:solidFill>
                  <a:schemeClr val="dk1"/>
                </a:solidFill>
                <a:effectLst/>
                <a:uFillTx/>
                <a:latin typeface="メイリオ"/>
                <a:ea typeface="メイリオ"/>
              </a:rPr>
              <a:t>に</a:t>
            </a:r>
            <a:endParaRPr lang="en-US" sz="1400" b="0" u="none" strike="noStrike">
              <a:solidFill>
                <a:srgbClr val="000000"/>
              </a:solidFill>
              <a:effectLst/>
              <a:uFillTx/>
              <a:latin typeface="Arial"/>
            </a:endParaRPr>
          </a:p>
        </p:txBody>
      </p:sp>
      <p:sp>
        <p:nvSpPr>
          <p:cNvPr id="674" name="正方形/長方形 23"/>
          <p:cNvSpPr/>
          <p:nvPr/>
        </p:nvSpPr>
        <p:spPr>
          <a:xfrm>
            <a:off x="571320" y="3649320"/>
            <a:ext cx="6937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u="none" strike="noStrike">
                <a:solidFill>
                  <a:schemeClr val="dk1"/>
                </a:solidFill>
                <a:effectLst/>
                <a:uFillTx/>
                <a:latin typeface="メイリオ"/>
                <a:ea typeface="メイリオ"/>
              </a:rPr>
              <a:t>DYM</a:t>
            </a:r>
            <a:endParaRPr lang="en-US" sz="1800" b="0" u="none" strike="noStrike">
              <a:solidFill>
                <a:srgbClr val="000000"/>
              </a:solidFill>
              <a:effectLst/>
              <a:uFillTx/>
              <a:latin typeface="Arial"/>
            </a:endParaRPr>
          </a:p>
        </p:txBody>
      </p:sp>
      <p:pic>
        <p:nvPicPr>
          <p:cNvPr id="675" name="図 26"/>
          <p:cNvPicPr/>
          <p:nvPr/>
        </p:nvPicPr>
        <p:blipFill>
          <a:blip r:embed="rId4"/>
          <a:stretch/>
        </p:blipFill>
        <p:spPr>
          <a:xfrm>
            <a:off x="5173560" y="4510800"/>
            <a:ext cx="4218840" cy="1912680"/>
          </a:xfrm>
          <a:prstGeom prst="rect">
            <a:avLst/>
          </a:prstGeom>
          <a:noFill/>
          <a:ln w="0">
            <a:noFill/>
          </a:ln>
        </p:spPr>
      </p:pic>
      <p:sp>
        <p:nvSpPr>
          <p:cNvPr id="676" name="正方形/長方形 28"/>
          <p:cNvSpPr/>
          <p:nvPr/>
        </p:nvSpPr>
        <p:spPr>
          <a:xfrm>
            <a:off x="372960" y="4445280"/>
            <a:ext cx="454608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77" name="正方形/長方形 29"/>
          <p:cNvSpPr/>
          <p:nvPr/>
        </p:nvSpPr>
        <p:spPr>
          <a:xfrm>
            <a:off x="5141520" y="4445280"/>
            <a:ext cx="428256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78" name="正方形/長方形 30"/>
          <p:cNvSpPr/>
          <p:nvPr/>
        </p:nvSpPr>
        <p:spPr>
          <a:xfrm>
            <a:off x="78804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GA</a:t>
            </a:r>
            <a:r>
              <a:rPr lang="ja-JP" sz="1400" b="1" u="none" strike="noStrike">
                <a:solidFill>
                  <a:schemeClr val="lt1"/>
                </a:solidFill>
                <a:effectLst/>
                <a:uFillTx/>
                <a:latin typeface="メイリオ"/>
                <a:ea typeface="メイリオ"/>
              </a:rPr>
              <a:t>レポート（日次）</a:t>
            </a:r>
            <a:r>
              <a:rPr lang="en-US" sz="1100" b="1" u="none" strike="noStrike">
                <a:solidFill>
                  <a:schemeClr val="lt1"/>
                </a:solidFill>
                <a:effectLst/>
                <a:uFillTx/>
                <a:latin typeface="メイリオ"/>
                <a:ea typeface="メイリオ"/>
              </a:rPr>
              <a:t> ※サンプル</a:t>
            </a:r>
            <a:endParaRPr lang="en-US" sz="1100" b="0" u="none" strike="noStrike">
              <a:solidFill>
                <a:srgbClr val="000000"/>
              </a:solidFill>
              <a:effectLst/>
              <a:uFillTx/>
              <a:latin typeface="Arial"/>
            </a:endParaRPr>
          </a:p>
        </p:txBody>
      </p:sp>
      <p:sp>
        <p:nvSpPr>
          <p:cNvPr id="679" name="正方形/長方形 31"/>
          <p:cNvSpPr/>
          <p:nvPr/>
        </p:nvSpPr>
        <p:spPr>
          <a:xfrm>
            <a:off x="545328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GA</a:t>
            </a:r>
            <a:r>
              <a:rPr lang="ja-JP" sz="1400" b="1" u="none" strike="noStrike">
                <a:solidFill>
                  <a:schemeClr val="lt1"/>
                </a:solidFill>
                <a:effectLst/>
                <a:uFillTx/>
                <a:latin typeface="メイリオ"/>
                <a:ea typeface="メイリオ"/>
              </a:rPr>
              <a:t>レポート（月次）</a:t>
            </a:r>
            <a:r>
              <a:rPr lang="en-US" sz="1100" b="1" u="none" strike="noStrike">
                <a:solidFill>
                  <a:schemeClr val="lt1"/>
                </a:solidFill>
                <a:effectLst/>
                <a:uFillTx/>
                <a:latin typeface="メイリオ"/>
                <a:ea typeface="メイリオ"/>
              </a:rPr>
              <a:t> ※サンプル</a:t>
            </a:r>
            <a:endParaRPr lang="en-US" sz="1100" b="0" u="none" strike="noStrike">
              <a:solidFill>
                <a:srgbClr val="000000"/>
              </a:solidFill>
              <a:effectLst/>
              <a:uFillTx/>
              <a:latin typeface="Arial"/>
            </a:endParaRPr>
          </a:p>
        </p:txBody>
      </p:sp>
      <p:sp>
        <p:nvSpPr>
          <p:cNvPr id="680" name="正方形/長方形 32"/>
          <p:cNvSpPr/>
          <p:nvPr/>
        </p:nvSpPr>
        <p:spPr>
          <a:xfrm>
            <a:off x="258840" y="776160"/>
            <a:ext cx="92300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pPr>
            <a:r>
              <a:rPr lang="ja-JP" sz="1400" b="0" u="none" strike="noStrike">
                <a:solidFill>
                  <a:schemeClr val="dk1"/>
                </a:solidFill>
                <a:effectLst/>
                <a:uFillTx/>
                <a:latin typeface="メイリオ"/>
                <a:ea typeface="メイリオ"/>
              </a:rPr>
              <a:t>コンサル費用＋アカウント費用に対する効果を可視化し、課題点を都度確認できる体制に。</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投稿別</a:t>
            </a:r>
            <a:r>
              <a:rPr lang="en-US" sz="1400" b="0" u="none" strike="noStrike">
                <a:solidFill>
                  <a:schemeClr val="dk1"/>
                </a:solidFill>
                <a:effectLst/>
                <a:uFillTx/>
                <a:latin typeface="メイリオ"/>
                <a:ea typeface="メイリオ"/>
              </a:rPr>
              <a:t>×</a:t>
            </a:r>
            <a:r>
              <a:rPr lang="ja-JP" sz="1400" b="0" u="none" strike="noStrike">
                <a:solidFill>
                  <a:schemeClr val="dk1"/>
                </a:solidFill>
                <a:effectLst/>
                <a:uFillTx/>
                <a:latin typeface="メイリオ"/>
                <a:ea typeface="メイリオ"/>
              </a:rPr>
              <a:t>セグメント別でデータ化でき、</a:t>
            </a:r>
            <a:r>
              <a:rPr lang="en-US" sz="1400" b="0" u="none" strike="noStrike">
                <a:solidFill>
                  <a:schemeClr val="dk1"/>
                </a:solidFill>
                <a:effectLst/>
                <a:uFillTx/>
                <a:latin typeface="メイリオ"/>
                <a:ea typeface="メイリオ"/>
              </a:rPr>
              <a:t>AB</a:t>
            </a:r>
            <a:r>
              <a:rPr lang="ja-JP" sz="1400" b="0" u="none" strike="noStrike">
                <a:solidFill>
                  <a:schemeClr val="dk1"/>
                </a:solidFill>
                <a:effectLst/>
                <a:uFillTx/>
                <a:latin typeface="メイリオ"/>
                <a:ea typeface="メイリオ"/>
              </a:rPr>
              <a:t>テストとクリエイティブ検証を細かく実施。</a:t>
            </a:r>
            <a:endParaRPr lang="en-US" sz="1400" b="0" u="none" strike="noStrike">
              <a:solidFill>
                <a:srgbClr val="000000"/>
              </a:solidFill>
              <a:effectLst/>
              <a:uFillTx/>
              <a:latin typeface="Arial"/>
            </a:endParaRPr>
          </a:p>
        </p:txBody>
      </p:sp>
      <p:sp>
        <p:nvSpPr>
          <p:cNvPr id="68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サポート体制（報告</a:t>
            </a:r>
            <a:r>
              <a:rPr lang="en-US" sz="1600" b="1" u="none" strike="noStrike">
                <a:solidFill>
                  <a:srgbClr val="002060"/>
                </a:solidFill>
                <a:effectLst/>
                <a:uFillTx/>
                <a:latin typeface="Meiryo"/>
                <a:ea typeface="Meiryo"/>
              </a:rPr>
              <a:t>FMT</a:t>
            </a:r>
            <a:r>
              <a:rPr lang="ja-JP" sz="1600" b="1" u="none" strike="noStrike">
                <a:solidFill>
                  <a:srgbClr val="002060"/>
                </a:solidFill>
                <a:effectLst/>
                <a:uFillTx/>
                <a:latin typeface="Meiryo"/>
                <a:ea typeface="Meiryo"/>
              </a:rPr>
              <a:t>）</a:t>
            </a:r>
            <a:endParaRPr lang="en-US" sz="16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正方形/長方形 3"/>
          <p:cNvSpPr/>
          <p:nvPr/>
        </p:nvSpPr>
        <p:spPr>
          <a:xfrm>
            <a:off x="253800" y="835560"/>
            <a:ext cx="254088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弊社体制図</a:t>
            </a:r>
            <a:endParaRPr lang="en-US" sz="1600" b="0" u="none" strike="noStrike">
              <a:solidFill>
                <a:srgbClr val="FFFFFF"/>
              </a:solidFill>
              <a:effectLst/>
              <a:uFillTx/>
              <a:latin typeface="Arial"/>
            </a:endParaRPr>
          </a:p>
        </p:txBody>
      </p:sp>
      <p:sp>
        <p:nvSpPr>
          <p:cNvPr id="683" name="Google Shape;156;p7"/>
          <p:cNvSpPr/>
          <p:nvPr/>
        </p:nvSpPr>
        <p:spPr>
          <a:xfrm>
            <a:off x="2857680" y="786240"/>
            <a:ext cx="7217280" cy="58428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chemeClr val="dk1">
                    <a:lumMod val="65000"/>
                    <a:lumOff val="35000"/>
                  </a:schemeClr>
                </a:solidFill>
                <a:effectLst/>
                <a:uFillTx/>
                <a:latin typeface="Meiryo"/>
                <a:ea typeface="Meiryo"/>
              </a:rPr>
              <a:t>GA</a:t>
            </a:r>
            <a:r>
              <a:rPr lang="ja-JP" sz="1600" b="1" u="none" strike="noStrike">
                <a:solidFill>
                  <a:schemeClr val="dk1">
                    <a:lumMod val="65000"/>
                    <a:lumOff val="35000"/>
                  </a:schemeClr>
                </a:solidFill>
                <a:effectLst/>
                <a:uFillTx/>
                <a:latin typeface="Meiryo"/>
                <a:ea typeface="Meiryo"/>
              </a:rPr>
              <a:t>及び</a:t>
            </a:r>
            <a:r>
              <a:rPr lang="en-US" sz="1600" b="1" u="none" strike="noStrike">
                <a:solidFill>
                  <a:schemeClr val="dk1">
                    <a:lumMod val="65000"/>
                    <a:lumOff val="35000"/>
                  </a:schemeClr>
                </a:solidFill>
                <a:effectLst/>
                <a:uFillTx/>
                <a:latin typeface="Meiryo"/>
                <a:ea typeface="Meiryo"/>
              </a:rPr>
              <a:t>MA</a:t>
            </a:r>
            <a:r>
              <a:rPr lang="ja-JP" sz="1600" b="1" u="none" strike="noStrike">
                <a:solidFill>
                  <a:schemeClr val="dk1">
                    <a:lumMod val="65000"/>
                    <a:lumOff val="35000"/>
                  </a:schemeClr>
                </a:solidFill>
                <a:effectLst/>
                <a:uFillTx/>
                <a:latin typeface="Meiryo"/>
                <a:ea typeface="Meiryo"/>
              </a:rPr>
              <a:t>ツール両面での計測ができるようパラメータ管理。</a:t>
            </a:r>
            <a:endParaRPr lang="en-US"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公式アカウントの管理画面には出ない、サイト上の結果を紐づけ。</a:t>
            </a:r>
            <a:endParaRPr lang="en-US" sz="1600" b="0" u="none" strike="noStrike">
              <a:solidFill>
                <a:srgbClr val="000000"/>
              </a:solidFill>
              <a:effectLst/>
              <a:uFillTx/>
              <a:latin typeface="Arial"/>
            </a:endParaRPr>
          </a:p>
        </p:txBody>
      </p:sp>
      <p:sp>
        <p:nvSpPr>
          <p:cNvPr id="684"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体制図（イメージ）</a:t>
            </a:r>
            <a:endParaRPr lang="en-US" sz="1600" b="0" u="none" strike="noStrike">
              <a:solidFill>
                <a:srgbClr val="000000"/>
              </a:solidFill>
              <a:effectLst/>
              <a:uFillTx/>
              <a:latin typeface="Arial"/>
            </a:endParaRPr>
          </a:p>
        </p:txBody>
      </p:sp>
      <p:sp>
        <p:nvSpPr>
          <p:cNvPr id="685" name="Shape 6"/>
          <p:cNvSpPr/>
          <p:nvPr/>
        </p:nvSpPr>
        <p:spPr>
          <a:xfrm>
            <a:off x="621000" y="3084480"/>
            <a:ext cx="4673880" cy="7380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ja-JP" sz="1200" b="0" u="none" strike="noStrike">
                <a:solidFill>
                  <a:srgbClr val="1A1A1A"/>
                </a:solidFill>
                <a:effectLst/>
                <a:uFillTx/>
                <a:latin typeface="メイリオ"/>
                <a:ea typeface="メイリオ"/>
              </a:rPr>
              <a:t>　・本プロモーションの戦略立案 </a:t>
            </a:r>
            <a:r>
              <a:rPr lang="en-US" sz="1200" b="0" u="none" strike="noStrike">
                <a:solidFill>
                  <a:srgbClr val="1A1A1A"/>
                </a:solidFill>
                <a:effectLst/>
                <a:uFillTx/>
                <a:latin typeface="メイリオ"/>
                <a:ea typeface="メイリオ"/>
              </a:rPr>
              <a:t>/ </a:t>
            </a:r>
            <a:r>
              <a:rPr lang="ja-JP" sz="1200" b="0" u="none" strike="noStrike">
                <a:solidFill>
                  <a:srgbClr val="1A1A1A"/>
                </a:solidFill>
                <a:effectLst/>
                <a:uFillTx/>
                <a:latin typeface="メイリオ"/>
                <a:ea typeface="メイリオ"/>
              </a:rPr>
              <a:t>方針決定</a:t>
            </a:r>
            <a:endParaRPr lang="en-US" sz="1200" b="0" u="none" strike="noStrike">
              <a:solidFill>
                <a:srgbClr val="000000"/>
              </a:solidFill>
              <a:effectLst/>
              <a:uFillTx/>
              <a:latin typeface="Arial"/>
            </a:endParaRPr>
          </a:p>
        </p:txBody>
      </p:sp>
      <p:sp>
        <p:nvSpPr>
          <p:cNvPr id="686" name="Shape 15"/>
          <p:cNvSpPr/>
          <p:nvPr/>
        </p:nvSpPr>
        <p:spPr>
          <a:xfrm>
            <a:off x="660600" y="4383000"/>
            <a:ext cx="2148480" cy="57852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3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・アカウント設計</a:t>
            </a: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・運用調整</a:t>
            </a:r>
            <a:endParaRPr lang="en-US" sz="1100" b="0" u="none" strike="noStrike">
              <a:solidFill>
                <a:srgbClr val="000000"/>
              </a:solidFill>
              <a:effectLst/>
              <a:uFillTx/>
              <a:latin typeface="Arial"/>
            </a:endParaRPr>
          </a:p>
        </p:txBody>
      </p:sp>
      <p:sp>
        <p:nvSpPr>
          <p:cNvPr id="687" name="Shape 16"/>
          <p:cNvSpPr/>
          <p:nvPr/>
        </p:nvSpPr>
        <p:spPr>
          <a:xfrm>
            <a:off x="645120" y="4065840"/>
            <a:ext cx="2148480" cy="347040"/>
          </a:xfrm>
          <a:prstGeom prst="rect">
            <a:avLst/>
          </a:prstGeom>
          <a:solidFill>
            <a:srgbClr val="1F3864"/>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50" b="1" u="none" strike="noStrike">
                <a:solidFill>
                  <a:srgbClr val="FFFFFF"/>
                </a:solidFill>
                <a:effectLst/>
                <a:uFillTx/>
                <a:latin typeface="メイリオ"/>
                <a:ea typeface="メイリオ"/>
              </a:rPr>
              <a:t>リス・</a:t>
            </a:r>
            <a:r>
              <a:rPr lang="en-US" sz="1350" b="1" u="none" strike="noStrike">
                <a:solidFill>
                  <a:srgbClr val="FFFFFF"/>
                </a:solidFill>
                <a:effectLst/>
                <a:uFillTx/>
                <a:latin typeface="メイリオ"/>
                <a:ea typeface="メイリオ"/>
              </a:rPr>
              <a:t>SNS</a:t>
            </a:r>
            <a:r>
              <a:rPr lang="ja-JP" sz="1350" b="1" u="none" strike="noStrike">
                <a:solidFill>
                  <a:srgbClr val="FFFFFF"/>
                </a:solidFill>
                <a:effectLst/>
                <a:uFillTx/>
                <a:latin typeface="メイリオ"/>
                <a:ea typeface="メイリオ"/>
              </a:rPr>
              <a:t>運用</a:t>
            </a:r>
            <a:endParaRPr lang="en-US" sz="1350" b="0" u="none" strike="noStrike">
              <a:solidFill>
                <a:srgbClr val="FFFFFF"/>
              </a:solidFill>
              <a:effectLst/>
              <a:uFillTx/>
              <a:latin typeface="Arial"/>
            </a:endParaRPr>
          </a:p>
        </p:txBody>
      </p:sp>
      <p:sp>
        <p:nvSpPr>
          <p:cNvPr id="688" name="Shape 26"/>
          <p:cNvSpPr/>
          <p:nvPr/>
        </p:nvSpPr>
        <p:spPr>
          <a:xfrm>
            <a:off x="633240" y="5567040"/>
            <a:ext cx="2139840" cy="6264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rgbClr val="1A1A1A"/>
                </a:solidFill>
                <a:effectLst/>
                <a:uFillTx/>
                <a:latin typeface="メイリオ"/>
                <a:ea typeface="メイリオ"/>
              </a:rPr>
              <a:t>  ・運用調整</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1A1A1A"/>
                </a:solidFill>
                <a:effectLst/>
                <a:uFillTx/>
                <a:latin typeface="メイリオ"/>
                <a:ea typeface="メイリオ"/>
              </a:rPr>
              <a:t> ・入稿作業</a:t>
            </a:r>
            <a:endParaRPr lang="en-US" sz="1200" b="0" u="none" strike="noStrike">
              <a:solidFill>
                <a:srgbClr val="000000"/>
              </a:solidFill>
              <a:effectLst/>
              <a:uFillTx/>
              <a:latin typeface="Arial"/>
            </a:endParaRPr>
          </a:p>
        </p:txBody>
      </p:sp>
      <p:sp>
        <p:nvSpPr>
          <p:cNvPr id="689" name="Shape 27"/>
          <p:cNvSpPr/>
          <p:nvPr/>
        </p:nvSpPr>
        <p:spPr>
          <a:xfrm>
            <a:off x="633240" y="5231160"/>
            <a:ext cx="2139840" cy="347040"/>
          </a:xfrm>
          <a:prstGeom prst="rect">
            <a:avLst/>
          </a:prstGeom>
          <a:solidFill>
            <a:srgbClr val="1F3864"/>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200" b="1" u="none" strike="noStrike">
                <a:solidFill>
                  <a:srgbClr val="FFFFFF"/>
                </a:solidFill>
                <a:effectLst/>
                <a:uFillTx/>
                <a:latin typeface="メイリオ"/>
                <a:ea typeface="メイリオ"/>
              </a:rPr>
              <a:t>運用サポート</a:t>
            </a:r>
            <a:endParaRPr lang="en-US" sz="1200" b="0" u="none" strike="noStrike">
              <a:solidFill>
                <a:srgbClr val="FFFFFF"/>
              </a:solidFill>
              <a:effectLst/>
              <a:uFillTx/>
              <a:latin typeface="Arial"/>
            </a:endParaRPr>
          </a:p>
        </p:txBody>
      </p:sp>
      <p:sp>
        <p:nvSpPr>
          <p:cNvPr id="690" name="Text 28"/>
          <p:cNvSpPr/>
          <p:nvPr/>
        </p:nvSpPr>
        <p:spPr>
          <a:xfrm>
            <a:off x="633240" y="5231160"/>
            <a:ext cx="213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1050" b="0" u="none" strike="noStrike">
              <a:solidFill>
                <a:schemeClr val="dk1"/>
              </a:solidFill>
              <a:effectLst/>
              <a:uFillTx/>
              <a:latin typeface="メイリオ"/>
              <a:ea typeface="メイリオ"/>
            </a:endParaRPr>
          </a:p>
        </p:txBody>
      </p:sp>
      <p:sp>
        <p:nvSpPr>
          <p:cNvPr id="691" name="Shape 31"/>
          <p:cNvSpPr/>
          <p:nvPr/>
        </p:nvSpPr>
        <p:spPr>
          <a:xfrm>
            <a:off x="2921400" y="5532120"/>
            <a:ext cx="2385720" cy="64116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・バナー制作</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a:t>
            </a:r>
            <a:r>
              <a:rPr lang="en-US" sz="1200" b="0" u="none" strike="noStrike">
                <a:solidFill>
                  <a:srgbClr val="1A1A1A"/>
                </a:solidFill>
                <a:effectLst/>
                <a:uFillTx/>
                <a:latin typeface="メイリオ"/>
                <a:ea typeface="メイリオ"/>
              </a:rPr>
              <a:t>LP</a:t>
            </a:r>
            <a:r>
              <a:rPr lang="zh-CN" sz="1200" b="0" u="none" strike="noStrike">
                <a:solidFill>
                  <a:srgbClr val="1A1A1A"/>
                </a:solidFill>
                <a:effectLst/>
                <a:uFillTx/>
                <a:latin typeface="メイリオ"/>
                <a:ea typeface="メイリオ"/>
              </a:rPr>
              <a:t>制作</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・動画制作</a:t>
            </a:r>
            <a:endParaRPr lang="en-US" sz="1200" b="0" u="none" strike="noStrike">
              <a:solidFill>
                <a:srgbClr val="000000"/>
              </a:solidFill>
              <a:effectLst/>
              <a:uFillTx/>
              <a:latin typeface="Arial"/>
            </a:endParaRPr>
          </a:p>
        </p:txBody>
      </p:sp>
      <p:sp>
        <p:nvSpPr>
          <p:cNvPr id="692" name="Shape 32"/>
          <p:cNvSpPr/>
          <p:nvPr/>
        </p:nvSpPr>
        <p:spPr>
          <a:xfrm>
            <a:off x="2921400" y="5221440"/>
            <a:ext cx="2385720" cy="347040"/>
          </a:xfrm>
          <a:prstGeom prst="rect">
            <a:avLst/>
          </a:prstGeom>
          <a:solidFill>
            <a:schemeClr val="bg1">
              <a:lumMod val="6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200" b="1" u="none" strike="noStrike">
                <a:solidFill>
                  <a:srgbClr val="FFFFFF"/>
                </a:solidFill>
                <a:effectLst/>
                <a:uFillTx/>
                <a:latin typeface="メイリオ"/>
                <a:ea typeface="メイリオ"/>
              </a:rPr>
              <a:t>制作</a:t>
            </a:r>
            <a:endParaRPr lang="en-US" sz="1200" b="0" u="none" strike="noStrike">
              <a:solidFill>
                <a:srgbClr val="000000"/>
              </a:solidFill>
              <a:effectLst/>
              <a:uFillTx/>
              <a:latin typeface="Arial"/>
            </a:endParaRPr>
          </a:p>
        </p:txBody>
      </p:sp>
      <p:sp>
        <p:nvSpPr>
          <p:cNvPr id="693" name="Shape 38"/>
          <p:cNvSpPr/>
          <p:nvPr/>
        </p:nvSpPr>
        <p:spPr>
          <a:xfrm>
            <a:off x="5740560" y="4097160"/>
            <a:ext cx="3292920" cy="347040"/>
          </a:xfrm>
          <a:prstGeom prst="rect">
            <a:avLst/>
          </a:prstGeom>
          <a:solidFill>
            <a:srgbClr val="8496B8"/>
          </a:solidFill>
          <a:ln w="12700">
            <a:solidFill>
              <a:srgbClr val="8496B8"/>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媒体担当</a:t>
            </a:r>
            <a:endParaRPr lang="en-US" sz="1200" b="0" u="none" strike="noStrike">
              <a:solidFill>
                <a:srgbClr val="FFFFFF"/>
              </a:solidFill>
              <a:effectLst/>
              <a:uFillTx/>
              <a:latin typeface="Arial"/>
            </a:endParaRPr>
          </a:p>
        </p:txBody>
      </p:sp>
      <p:sp>
        <p:nvSpPr>
          <p:cNvPr id="694" name="Shape 20"/>
          <p:cNvSpPr/>
          <p:nvPr/>
        </p:nvSpPr>
        <p:spPr>
          <a:xfrm>
            <a:off x="2930040" y="4391640"/>
            <a:ext cx="2377080" cy="57852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・アカウント設計</a:t>
            </a:r>
            <a:r>
              <a:rPr lang="ja-JP" sz="1100" b="0" u="none" strike="noStrike">
                <a:solidFill>
                  <a:srgbClr val="1A1A1A"/>
                </a:solidFill>
                <a:effectLst/>
                <a:uFillTx/>
                <a:latin typeface="メイリオ"/>
                <a:ea typeface="メイリオ"/>
              </a:rPr>
              <a:t>・運用調整</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1A1A1A"/>
                </a:solidFill>
                <a:effectLst/>
                <a:uFillTx/>
                <a:latin typeface="メイリオ"/>
                <a:ea typeface="メイリオ"/>
              </a:rPr>
              <a:t>・クリエイティブディレクション</a:t>
            </a: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p:txBody>
      </p:sp>
      <p:sp>
        <p:nvSpPr>
          <p:cNvPr id="695" name="Shape 21"/>
          <p:cNvSpPr/>
          <p:nvPr/>
        </p:nvSpPr>
        <p:spPr>
          <a:xfrm>
            <a:off x="2930040" y="4059720"/>
            <a:ext cx="2377080" cy="347040"/>
          </a:xfrm>
          <a:prstGeom prst="rect">
            <a:avLst/>
          </a:prstGeom>
          <a:solidFill>
            <a:srgbClr val="FFC000"/>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350" b="1" u="none" strike="noStrike">
                <a:solidFill>
                  <a:srgbClr val="FFFFFF"/>
                </a:solidFill>
                <a:effectLst/>
                <a:uFillTx/>
                <a:latin typeface="メイリオ"/>
                <a:ea typeface="メイリオ"/>
              </a:rPr>
              <a:t>LINEOA</a:t>
            </a:r>
            <a:r>
              <a:rPr lang="zh-CN" sz="1350" b="1" u="none" strike="noStrike">
                <a:solidFill>
                  <a:srgbClr val="FFFFFF"/>
                </a:solidFill>
                <a:effectLst/>
                <a:uFillTx/>
                <a:latin typeface="メイリオ"/>
                <a:ea typeface="メイリオ"/>
              </a:rPr>
              <a:t>運用</a:t>
            </a:r>
            <a:endParaRPr lang="en-US" sz="1350" b="0" u="none" strike="noStrike">
              <a:solidFill>
                <a:srgbClr val="000000"/>
              </a:solidFill>
              <a:effectLst/>
              <a:uFillTx/>
              <a:latin typeface="Arial"/>
            </a:endParaRPr>
          </a:p>
        </p:txBody>
      </p:sp>
      <p:sp>
        <p:nvSpPr>
          <p:cNvPr id="696" name="Shape 6"/>
          <p:cNvSpPr/>
          <p:nvPr/>
        </p:nvSpPr>
        <p:spPr>
          <a:xfrm>
            <a:off x="5425920" y="3084480"/>
            <a:ext cx="3557520" cy="7380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・貴社担当との連絡やり取り全般</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・書</a:t>
            </a:r>
            <a:r>
              <a:rPr lang="ja-JP" sz="1200" b="0" u="none" strike="noStrike">
                <a:solidFill>
                  <a:srgbClr val="1A1A1A"/>
                </a:solidFill>
                <a:effectLst/>
                <a:uFillTx/>
                <a:latin typeface="メイリオ"/>
                <a:ea typeface="メイリオ"/>
              </a:rPr>
              <a:t>類の作成等、事務面までサポート</a:t>
            </a:r>
            <a:endParaRPr lang="en-US" sz="1200" b="0" u="none" strike="noStrike">
              <a:solidFill>
                <a:srgbClr val="000000"/>
              </a:solidFill>
              <a:effectLst/>
              <a:uFillTx/>
              <a:latin typeface="Arial"/>
            </a:endParaRPr>
          </a:p>
        </p:txBody>
      </p:sp>
      <p:sp>
        <p:nvSpPr>
          <p:cNvPr id="697" name="Shape 7"/>
          <p:cNvSpPr/>
          <p:nvPr/>
        </p:nvSpPr>
        <p:spPr>
          <a:xfrm>
            <a:off x="5425920" y="2849400"/>
            <a:ext cx="355752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350" b="1" u="none" strike="noStrike">
                <a:solidFill>
                  <a:srgbClr val="FFFFFF"/>
                </a:solidFill>
                <a:effectLst/>
                <a:uFillTx/>
                <a:latin typeface="メイリオ"/>
                <a:ea typeface="メイリオ"/>
              </a:rPr>
              <a:t>営業 </a:t>
            </a:r>
            <a:r>
              <a:rPr lang="en-US" sz="1350" b="1" u="none" strike="noStrike">
                <a:solidFill>
                  <a:srgbClr val="FFFFFF"/>
                </a:solidFill>
                <a:effectLst/>
                <a:uFillTx/>
                <a:latin typeface="メイリオ"/>
                <a:ea typeface="メイリオ"/>
              </a:rPr>
              <a:t>/ </a:t>
            </a:r>
            <a:r>
              <a:rPr lang="zh-CN" sz="1350" b="1" u="none" strike="noStrike">
                <a:solidFill>
                  <a:srgbClr val="FFFFFF"/>
                </a:solidFill>
                <a:effectLst/>
                <a:uFillTx/>
                <a:latin typeface="メイリオ"/>
                <a:ea typeface="メイリオ"/>
              </a:rPr>
              <a:t>フロント対応（サブ）</a:t>
            </a:r>
            <a:endParaRPr lang="en-US" sz="1350" b="0" u="none" strike="noStrike">
              <a:solidFill>
                <a:srgbClr val="FFFFFF"/>
              </a:solidFill>
              <a:effectLst/>
              <a:uFillTx/>
              <a:latin typeface="Arial"/>
            </a:endParaRPr>
          </a:p>
        </p:txBody>
      </p:sp>
      <p:sp>
        <p:nvSpPr>
          <p:cNvPr id="698" name="Shape 7"/>
          <p:cNvSpPr/>
          <p:nvPr/>
        </p:nvSpPr>
        <p:spPr>
          <a:xfrm>
            <a:off x="612360" y="2849400"/>
            <a:ext cx="468252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50" b="1" u="none" strike="noStrike">
                <a:solidFill>
                  <a:srgbClr val="FFFFFF"/>
                </a:solidFill>
                <a:effectLst/>
                <a:uFillTx/>
                <a:latin typeface="メイリオ"/>
                <a:ea typeface="メイリオ"/>
              </a:rPr>
              <a:t>広告運用統括・コンサル</a:t>
            </a:r>
            <a:endParaRPr lang="en-US" sz="1350" b="0" u="none" strike="noStrike">
              <a:solidFill>
                <a:srgbClr val="FFFFFF"/>
              </a:solidFill>
              <a:effectLst/>
              <a:uFillTx/>
              <a:latin typeface="Arial"/>
            </a:endParaRPr>
          </a:p>
        </p:txBody>
      </p:sp>
      <p:sp>
        <p:nvSpPr>
          <p:cNvPr id="699" name="Shape 6"/>
          <p:cNvSpPr/>
          <p:nvPr/>
        </p:nvSpPr>
        <p:spPr>
          <a:xfrm>
            <a:off x="549000" y="1995840"/>
            <a:ext cx="8545680" cy="61524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ja-JP" sz="1200" b="0" u="none" strike="noStrike">
                <a:solidFill>
                  <a:srgbClr val="1A1A1A"/>
                </a:solidFill>
                <a:effectLst/>
                <a:uFillTx/>
                <a:latin typeface="メイリオ"/>
                <a:ea typeface="メイリオ"/>
              </a:rPr>
              <a:t>　・本プロモーションの戦略立案 </a:t>
            </a:r>
            <a:r>
              <a:rPr lang="en-US" sz="1200" b="0" u="none" strike="noStrike">
                <a:solidFill>
                  <a:srgbClr val="1A1A1A"/>
                </a:solidFill>
                <a:effectLst/>
                <a:uFillTx/>
                <a:latin typeface="メイリオ"/>
                <a:ea typeface="メイリオ"/>
              </a:rPr>
              <a:t>/ </a:t>
            </a:r>
            <a:r>
              <a:rPr lang="ja-JP" sz="1200" b="0" u="none" strike="noStrike">
                <a:solidFill>
                  <a:srgbClr val="1A1A1A"/>
                </a:solidFill>
                <a:effectLst/>
                <a:uFillTx/>
                <a:latin typeface="メイリオ"/>
                <a:ea typeface="メイリオ"/>
              </a:rPr>
              <a:t>方針決定　　　　・貴社ご担当者様との連絡やり取り全般</a:t>
            </a:r>
            <a:endParaRPr lang="en-US" sz="1200" b="0" u="none" strike="noStrike">
              <a:solidFill>
                <a:srgbClr val="000000"/>
              </a:solidFill>
              <a:effectLst/>
              <a:uFillTx/>
              <a:latin typeface="Arial"/>
            </a:endParaRPr>
          </a:p>
        </p:txBody>
      </p:sp>
      <p:sp>
        <p:nvSpPr>
          <p:cNvPr id="700" name="Shape 7"/>
          <p:cNvSpPr/>
          <p:nvPr/>
        </p:nvSpPr>
        <p:spPr>
          <a:xfrm>
            <a:off x="549000" y="1729800"/>
            <a:ext cx="407340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350" b="1" u="none" strike="noStrike">
                <a:solidFill>
                  <a:srgbClr val="FFFFFF"/>
                </a:solidFill>
                <a:effectLst/>
                <a:uFillTx/>
                <a:latin typeface="メイリオ"/>
                <a:ea typeface="メイリオ"/>
              </a:rPr>
              <a:t>営業 </a:t>
            </a:r>
            <a:r>
              <a:rPr lang="en-US" sz="1350" b="1" u="none" strike="noStrike">
                <a:solidFill>
                  <a:srgbClr val="FFFFFF"/>
                </a:solidFill>
                <a:effectLst/>
                <a:uFillTx/>
                <a:latin typeface="メイリオ"/>
                <a:ea typeface="メイリオ"/>
              </a:rPr>
              <a:t>/ </a:t>
            </a:r>
            <a:r>
              <a:rPr lang="zh-CN" sz="1350" b="1" u="none" strike="noStrike">
                <a:solidFill>
                  <a:srgbClr val="FFFFFF"/>
                </a:solidFill>
                <a:effectLst/>
                <a:uFillTx/>
                <a:latin typeface="メイリオ"/>
                <a:ea typeface="メイリオ"/>
              </a:rPr>
              <a:t>フロント対応（</a:t>
            </a:r>
            <a:r>
              <a:rPr lang="ja-JP" sz="1350" b="1" u="none" strike="noStrike">
                <a:solidFill>
                  <a:srgbClr val="FFFFFF"/>
                </a:solidFill>
                <a:effectLst/>
                <a:uFillTx/>
                <a:latin typeface="メイリオ"/>
                <a:ea typeface="メイリオ"/>
              </a:rPr>
              <a:t>全体統括）　</a:t>
            </a:r>
            <a:endParaRPr lang="en-US" sz="1350" b="0" u="none" strike="noStrike">
              <a:solidFill>
                <a:srgbClr val="FFFFFF"/>
              </a:solidFill>
              <a:effectLst/>
              <a:uFillTx/>
              <a:latin typeface="Arial"/>
            </a:endParaRPr>
          </a:p>
        </p:txBody>
      </p:sp>
      <p:sp>
        <p:nvSpPr>
          <p:cNvPr id="701" name="Shape 38"/>
          <p:cNvSpPr/>
          <p:nvPr/>
        </p:nvSpPr>
        <p:spPr>
          <a:xfrm>
            <a:off x="5740560" y="4509000"/>
            <a:ext cx="3292920" cy="1146600"/>
          </a:xfrm>
          <a:prstGeom prst="rect">
            <a:avLst/>
          </a:prstGeom>
          <a:solidFill>
            <a:schemeClr val="accent1">
              <a:lumMod val="20000"/>
              <a:lumOff val="80000"/>
            </a:schemeClr>
          </a:solidFill>
          <a:ln w="12700">
            <a:solidFill>
              <a:srgbClr val="8496B8"/>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1200" b="0" u="none" strike="noStrike">
              <a:solidFill>
                <a:schemeClr val="lt1"/>
              </a:solidFill>
              <a:effectLst/>
              <a:uFillTx/>
              <a:latin typeface="メイリオ"/>
              <a:ea typeface="メイリオ"/>
            </a:endParaRPr>
          </a:p>
        </p:txBody>
      </p:sp>
      <p:sp>
        <p:nvSpPr>
          <p:cNvPr id="702" name="矢印: 下 35"/>
          <p:cNvSpPr/>
          <p:nvPr/>
        </p:nvSpPr>
        <p:spPr>
          <a:xfrm>
            <a:off x="1528200" y="3735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03" name="矢印: 下 36"/>
          <p:cNvSpPr/>
          <p:nvPr/>
        </p:nvSpPr>
        <p:spPr>
          <a:xfrm>
            <a:off x="3987360" y="37404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704" name="Picture 2"/>
          <p:cNvPicPr/>
          <p:nvPr/>
        </p:nvPicPr>
        <p:blipFill>
          <a:blip r:embed="rId3"/>
          <a:stretch/>
        </p:blipFill>
        <p:spPr>
          <a:xfrm>
            <a:off x="6549840" y="4692960"/>
            <a:ext cx="569520" cy="375840"/>
          </a:xfrm>
          <a:prstGeom prst="rect">
            <a:avLst/>
          </a:prstGeom>
          <a:noFill/>
          <a:ln w="0">
            <a:noFill/>
          </a:ln>
        </p:spPr>
      </p:pic>
      <p:pic>
        <p:nvPicPr>
          <p:cNvPr id="705" name="Picture 4" descr="ロゴガイドライン｜LINEヤフー for Business"/>
          <p:cNvPicPr/>
          <p:nvPr/>
        </p:nvPicPr>
        <p:blipFill>
          <a:blip r:embed="rId4"/>
          <a:stretch/>
        </p:blipFill>
        <p:spPr>
          <a:xfrm>
            <a:off x="4973040" y="4459680"/>
            <a:ext cx="2356920" cy="855360"/>
          </a:xfrm>
          <a:prstGeom prst="rect">
            <a:avLst/>
          </a:prstGeom>
          <a:noFill/>
          <a:ln w="0">
            <a:noFill/>
          </a:ln>
        </p:spPr>
      </p:pic>
      <p:pic>
        <p:nvPicPr>
          <p:cNvPr id="706" name="図 48"/>
          <p:cNvPicPr/>
          <p:nvPr/>
        </p:nvPicPr>
        <p:blipFill>
          <a:blip r:embed="rId5"/>
          <a:srcRect l="10000" t="9659" r="9718" b="9659"/>
          <a:stretch/>
        </p:blipFill>
        <p:spPr>
          <a:xfrm>
            <a:off x="7294320" y="4673520"/>
            <a:ext cx="411120" cy="412920"/>
          </a:xfrm>
          <a:prstGeom prst="rect">
            <a:avLst/>
          </a:prstGeom>
          <a:noFill/>
          <a:ln w="0">
            <a:noFill/>
          </a:ln>
        </p:spPr>
      </p:pic>
      <p:pic>
        <p:nvPicPr>
          <p:cNvPr id="707" name="Picture 10" descr="Google ロゴ（グーグル） – ICONLAB（アイコンラボ）"/>
          <p:cNvPicPr/>
          <p:nvPr/>
        </p:nvPicPr>
        <p:blipFill>
          <a:blip r:embed="rId6"/>
          <a:stretch/>
        </p:blipFill>
        <p:spPr>
          <a:xfrm>
            <a:off x="6916320" y="5170680"/>
            <a:ext cx="1167120" cy="382680"/>
          </a:xfrm>
          <a:prstGeom prst="rect">
            <a:avLst/>
          </a:prstGeom>
          <a:noFill/>
          <a:ln w="0">
            <a:noFill/>
          </a:ln>
        </p:spPr>
      </p:pic>
      <p:sp>
        <p:nvSpPr>
          <p:cNvPr id="708" name="AutoShape 16" descr="TikTok Vector Logo - Download Free SVG Icon | Worldvectorlogo"/>
          <p:cNvSpPr/>
          <p:nvPr/>
        </p:nvSpPr>
        <p:spPr>
          <a:xfrm>
            <a:off x="4800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709" name="グラフィックス 54"/>
          <p:cNvPicPr/>
          <p:nvPr/>
        </p:nvPicPr>
        <p:blipFill>
          <a:blip>
            <a:extLst>
              <a:ext uri="{96DAC541-7B7A-43D3-8B79-37D633B846F1}">
                <asvg:svgBlip xmlns:asvg="http://schemas.microsoft.com/office/drawing/2016/SVG/main" r:embed="rId7"/>
              </a:ext>
            </a:extLst>
          </a:blip>
          <a:stretch/>
        </p:blipFill>
        <p:spPr>
          <a:xfrm>
            <a:off x="7915320" y="4592520"/>
            <a:ext cx="430920" cy="494640"/>
          </a:xfrm>
          <a:prstGeom prst="rect">
            <a:avLst/>
          </a:prstGeom>
          <a:noFill/>
          <a:ln w="0">
            <a:noFill/>
          </a:ln>
        </p:spPr>
      </p:pic>
      <p:pic>
        <p:nvPicPr>
          <p:cNvPr id="710" name="Picture 18" descr="スマートニュースはSNSでも情報を発信しています"/>
          <p:cNvPicPr/>
          <p:nvPr/>
        </p:nvPicPr>
        <p:blipFill>
          <a:blip r:embed="rId8"/>
          <a:srcRect r="70057"/>
          <a:stretch/>
        </p:blipFill>
        <p:spPr>
          <a:xfrm>
            <a:off x="8334000" y="4584600"/>
            <a:ext cx="564120" cy="579960"/>
          </a:xfrm>
          <a:prstGeom prst="rect">
            <a:avLst/>
          </a:prstGeom>
          <a:noFill/>
          <a:ln w="0">
            <a:noFill/>
          </a:ln>
        </p:spPr>
      </p:pic>
      <p:sp>
        <p:nvSpPr>
          <p:cNvPr id="711" name="矢印: 下 55"/>
          <p:cNvSpPr/>
          <p:nvPr/>
        </p:nvSpPr>
        <p:spPr>
          <a:xfrm>
            <a:off x="2694240" y="2529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2" name="矢印: 下 56"/>
          <p:cNvSpPr/>
          <p:nvPr/>
        </p:nvSpPr>
        <p:spPr>
          <a:xfrm>
            <a:off x="7125480" y="25002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3" name="矢印: 下 57"/>
          <p:cNvSpPr/>
          <p:nvPr/>
        </p:nvSpPr>
        <p:spPr>
          <a:xfrm>
            <a:off x="7077960" y="369252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4" name="矢印: 下 58"/>
          <p:cNvSpPr/>
          <p:nvPr/>
        </p:nvSpPr>
        <p:spPr>
          <a:xfrm>
            <a:off x="1531440" y="49431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5" name="矢印: 下 59"/>
          <p:cNvSpPr/>
          <p:nvPr/>
        </p:nvSpPr>
        <p:spPr>
          <a:xfrm>
            <a:off x="3985200" y="49467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6" name="矢印: 下 60"/>
          <p:cNvSpPr/>
          <p:nvPr/>
        </p:nvSpPr>
        <p:spPr>
          <a:xfrm rot="17887800">
            <a:off x="5383800" y="462204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7" name="矢印: 下 61"/>
          <p:cNvSpPr/>
          <p:nvPr/>
        </p:nvSpPr>
        <p:spPr>
          <a:xfrm rot="7261800">
            <a:off x="5310360" y="43599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運用スケジュール</a:t>
            </a:r>
            <a:endParaRPr lang="en-US" sz="1600" b="0" u="none" strike="noStrike">
              <a:solidFill>
                <a:srgbClr val="000000"/>
              </a:solidFill>
              <a:effectLst/>
              <a:uFillTx/>
              <a:latin typeface="Arial"/>
            </a:endParaRPr>
          </a:p>
        </p:txBody>
      </p:sp>
      <p:sp>
        <p:nvSpPr>
          <p:cNvPr id="719" name="角丸四角形 27"/>
          <p:cNvSpPr/>
          <p:nvPr/>
        </p:nvSpPr>
        <p:spPr>
          <a:xfrm>
            <a:off x="910800" y="199404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STEP1</a:t>
            </a:r>
            <a:endParaRPr lang="en-US" sz="1800" b="0" u="none" strike="noStrike">
              <a:solidFill>
                <a:srgbClr val="000000"/>
              </a:solidFill>
              <a:effectLst/>
              <a:uFillTx/>
              <a:latin typeface="Arial"/>
            </a:endParaRPr>
          </a:p>
        </p:txBody>
      </p:sp>
      <p:sp>
        <p:nvSpPr>
          <p:cNvPr id="720" name="角丸四角形 28"/>
          <p:cNvSpPr/>
          <p:nvPr/>
        </p:nvSpPr>
        <p:spPr>
          <a:xfrm>
            <a:off x="910800" y="353700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STEP3</a:t>
            </a:r>
            <a:endParaRPr lang="en-US" sz="1800" b="0" u="none" strike="noStrike">
              <a:solidFill>
                <a:srgbClr val="000000"/>
              </a:solidFill>
              <a:effectLst/>
              <a:uFillTx/>
              <a:latin typeface="Arial"/>
            </a:endParaRPr>
          </a:p>
        </p:txBody>
      </p:sp>
      <p:sp>
        <p:nvSpPr>
          <p:cNvPr id="721" name="角丸四角形 30"/>
          <p:cNvSpPr/>
          <p:nvPr/>
        </p:nvSpPr>
        <p:spPr>
          <a:xfrm>
            <a:off x="910800" y="27655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STEP2</a:t>
            </a:r>
            <a:endParaRPr lang="en-US" sz="1800" b="0" u="none" strike="noStrike">
              <a:solidFill>
                <a:srgbClr val="000000"/>
              </a:solidFill>
              <a:effectLst/>
              <a:uFillTx/>
              <a:latin typeface="Arial"/>
            </a:endParaRPr>
          </a:p>
        </p:txBody>
      </p:sp>
      <p:sp>
        <p:nvSpPr>
          <p:cNvPr id="722" name="角丸四角形 31"/>
          <p:cNvSpPr/>
          <p:nvPr/>
        </p:nvSpPr>
        <p:spPr>
          <a:xfrm>
            <a:off x="910800" y="430848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STEP4</a:t>
            </a:r>
            <a:endParaRPr lang="en-US" sz="1800" b="0" u="none" strike="noStrike">
              <a:solidFill>
                <a:srgbClr val="000000"/>
              </a:solidFill>
              <a:effectLst/>
              <a:uFillTx/>
              <a:latin typeface="Arial"/>
            </a:endParaRPr>
          </a:p>
        </p:txBody>
      </p:sp>
      <p:sp>
        <p:nvSpPr>
          <p:cNvPr id="723" name="角丸四角形 32"/>
          <p:cNvSpPr/>
          <p:nvPr/>
        </p:nvSpPr>
        <p:spPr>
          <a:xfrm>
            <a:off x="910800" y="50803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STEP5</a:t>
            </a:r>
            <a:endParaRPr lang="en-US" sz="1800" b="0" u="none" strike="noStrike">
              <a:solidFill>
                <a:srgbClr val="000000"/>
              </a:solidFill>
              <a:effectLst/>
              <a:uFillTx/>
              <a:latin typeface="Arial"/>
            </a:endParaRPr>
          </a:p>
        </p:txBody>
      </p:sp>
      <p:sp>
        <p:nvSpPr>
          <p:cNvPr id="724" name="正方形/長方形 1"/>
          <p:cNvSpPr/>
          <p:nvPr/>
        </p:nvSpPr>
        <p:spPr>
          <a:xfrm>
            <a:off x="4600800" y="2266920"/>
            <a:ext cx="1638000" cy="39160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25" name="角丸四角形 39"/>
          <p:cNvSpPr/>
          <p:nvPr/>
        </p:nvSpPr>
        <p:spPr>
          <a:xfrm>
            <a:off x="3133800" y="199404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お申込み（書類締結）</a:t>
            </a:r>
            <a:endParaRPr lang="en-US" sz="1800" b="0" u="none" strike="noStrike">
              <a:solidFill>
                <a:srgbClr val="000000"/>
              </a:solidFill>
              <a:effectLst/>
              <a:uFillTx/>
              <a:latin typeface="Arial"/>
            </a:endParaRPr>
          </a:p>
        </p:txBody>
      </p:sp>
      <p:sp>
        <p:nvSpPr>
          <p:cNvPr id="726" name="角丸四角形 40"/>
          <p:cNvSpPr/>
          <p:nvPr/>
        </p:nvSpPr>
        <p:spPr>
          <a:xfrm>
            <a:off x="3133800" y="353700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連携の設定 </a:t>
            </a:r>
            <a:r>
              <a:rPr lang="en-US" sz="1800" b="0" u="none" strike="noStrike">
                <a:solidFill>
                  <a:schemeClr val="lt1">
                    <a:lumMod val="50000"/>
                  </a:schemeClr>
                </a:solidFill>
                <a:effectLst/>
                <a:uFillTx/>
                <a:latin typeface="メイリオ"/>
                <a:ea typeface="メイリオ"/>
              </a:rPr>
              <a:t>/ </a:t>
            </a:r>
            <a:r>
              <a:rPr lang="ja-JP" sz="1800" b="0" u="none" strike="noStrike">
                <a:solidFill>
                  <a:schemeClr val="lt1">
                    <a:lumMod val="50000"/>
                  </a:schemeClr>
                </a:solidFill>
                <a:effectLst/>
                <a:uFillTx/>
                <a:latin typeface="メイリオ"/>
                <a:ea typeface="メイリオ"/>
              </a:rPr>
              <a:t>タグ確認</a:t>
            </a:r>
            <a:endParaRPr lang="en-US" sz="1800" b="0" u="none" strike="noStrike">
              <a:solidFill>
                <a:srgbClr val="000000"/>
              </a:solidFill>
              <a:effectLst/>
              <a:uFillTx/>
              <a:latin typeface="Arial"/>
            </a:endParaRPr>
          </a:p>
        </p:txBody>
      </p:sp>
      <p:sp>
        <p:nvSpPr>
          <p:cNvPr id="727" name="角丸四角形 41"/>
          <p:cNvSpPr/>
          <p:nvPr/>
        </p:nvSpPr>
        <p:spPr>
          <a:xfrm>
            <a:off x="3133800" y="27655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キックオフ</a:t>
            </a:r>
            <a:r>
              <a:rPr lang="en-US" sz="1800" b="0" u="none" strike="noStrike">
                <a:solidFill>
                  <a:schemeClr val="lt1">
                    <a:lumMod val="50000"/>
                  </a:schemeClr>
                </a:solidFill>
                <a:effectLst/>
                <a:uFillTx/>
                <a:latin typeface="メイリオ"/>
                <a:ea typeface="メイリオ"/>
              </a:rPr>
              <a:t>MTG</a:t>
            </a:r>
            <a:endParaRPr lang="en-US" sz="1800" b="0" u="none" strike="noStrike">
              <a:solidFill>
                <a:srgbClr val="000000"/>
              </a:solidFill>
              <a:effectLst/>
              <a:uFillTx/>
              <a:latin typeface="Arial"/>
            </a:endParaRPr>
          </a:p>
        </p:txBody>
      </p:sp>
      <p:sp>
        <p:nvSpPr>
          <p:cNvPr id="728" name="角丸四角形 43"/>
          <p:cNvSpPr/>
          <p:nvPr/>
        </p:nvSpPr>
        <p:spPr>
          <a:xfrm>
            <a:off x="3133800" y="430848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初期設計の構築</a:t>
            </a:r>
            <a:endParaRPr lang="en-US" sz="1800" b="0" u="none" strike="noStrike">
              <a:solidFill>
                <a:srgbClr val="000000"/>
              </a:solidFill>
              <a:effectLst/>
              <a:uFillTx/>
              <a:latin typeface="Arial"/>
            </a:endParaRPr>
          </a:p>
        </p:txBody>
      </p:sp>
      <p:sp>
        <p:nvSpPr>
          <p:cNvPr id="729" name="角丸四角形 44"/>
          <p:cNvSpPr/>
          <p:nvPr/>
        </p:nvSpPr>
        <p:spPr>
          <a:xfrm>
            <a:off x="3133800" y="50803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運用開始</a:t>
            </a:r>
            <a:endParaRPr lang="en-US" sz="1800" b="0" u="none" strike="noStrike">
              <a:solidFill>
                <a:srgbClr val="000000"/>
              </a:solidFill>
              <a:effectLst/>
              <a:uFillTx/>
              <a:latin typeface="Arial"/>
            </a:endParaRPr>
          </a:p>
        </p:txBody>
      </p:sp>
      <p:sp>
        <p:nvSpPr>
          <p:cNvPr id="730" name="正方形/長方形 18"/>
          <p:cNvSpPr/>
          <p:nvPr/>
        </p:nvSpPr>
        <p:spPr>
          <a:xfrm>
            <a:off x="549000" y="1033200"/>
            <a:ext cx="8920800" cy="46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2400" b="0" u="none" strike="noStrike">
                <a:solidFill>
                  <a:schemeClr val="dk1"/>
                </a:solidFill>
                <a:effectLst/>
                <a:uFillTx/>
                <a:latin typeface="メイリオ"/>
                <a:ea typeface="メイリオ"/>
              </a:rPr>
              <a:t>サイト</a:t>
            </a:r>
            <a:r>
              <a:rPr lang="en-US" sz="2400" b="0" u="none" strike="noStrike">
                <a:solidFill>
                  <a:schemeClr val="dk1"/>
                </a:solidFill>
                <a:effectLst/>
                <a:uFillTx/>
                <a:latin typeface="メイリオ"/>
                <a:ea typeface="メイリオ"/>
              </a:rPr>
              <a:t>/LINE</a:t>
            </a:r>
            <a:r>
              <a:rPr lang="ja-JP" sz="2400" b="0" u="none" strike="noStrike">
                <a:solidFill>
                  <a:schemeClr val="dk1"/>
                </a:solidFill>
                <a:effectLst/>
                <a:uFillTx/>
                <a:latin typeface="メイリオ"/>
                <a:ea typeface="メイリオ"/>
              </a:rPr>
              <a:t>上への実装については、約</a:t>
            </a:r>
            <a:r>
              <a:rPr lang="en-US" sz="2400" b="0" u="none" strike="noStrike">
                <a:solidFill>
                  <a:schemeClr val="dk1"/>
                </a:solidFill>
                <a:effectLst/>
                <a:uFillTx/>
                <a:latin typeface="メイリオ"/>
                <a:ea typeface="メイリオ"/>
              </a:rPr>
              <a:t>1</a:t>
            </a:r>
            <a:r>
              <a:rPr lang="ja-JP" sz="2400" b="0" u="none" strike="noStrike">
                <a:solidFill>
                  <a:schemeClr val="dk1"/>
                </a:solidFill>
                <a:effectLst/>
                <a:uFillTx/>
                <a:latin typeface="メイリオ"/>
                <a:ea typeface="メイリオ"/>
              </a:rPr>
              <a:t>か月程度を頂き進行。</a:t>
            </a:r>
            <a:endParaRPr lang="en-US" sz="2400" b="0" u="none" strike="noStrike">
              <a:solidFill>
                <a:srgbClr val="000000"/>
              </a:solidFill>
              <a:effectLst/>
              <a:uFillTx/>
              <a:latin typeface="Arial"/>
            </a:endParaRPr>
          </a:p>
        </p:txBody>
      </p:sp>
      <p:sp>
        <p:nvSpPr>
          <p:cNvPr id="731" name="正方形/長方形 19"/>
          <p:cNvSpPr/>
          <p:nvPr/>
        </p:nvSpPr>
        <p:spPr>
          <a:xfrm>
            <a:off x="4709160" y="5841360"/>
            <a:ext cx="4954680" cy="276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00" b="0" u="none" strike="noStrike">
                <a:solidFill>
                  <a:schemeClr val="dk1">
                    <a:lumMod val="50000"/>
                    <a:lumOff val="50000"/>
                  </a:schemeClr>
                </a:solidFill>
                <a:effectLst/>
                <a:uFillTx/>
                <a:latin typeface="メイリオ"/>
                <a:ea typeface="メイリオ"/>
              </a:rPr>
              <a:t>※</a:t>
            </a:r>
            <a:r>
              <a:rPr lang="ja-JP" sz="1200" b="0" u="none" strike="noStrike">
                <a:solidFill>
                  <a:schemeClr val="dk1">
                    <a:lumMod val="50000"/>
                    <a:lumOff val="50000"/>
                  </a:schemeClr>
                </a:solidFill>
                <a:effectLst/>
                <a:uFillTx/>
                <a:latin typeface="メイリオ"/>
                <a:ea typeface="メイリオ"/>
              </a:rPr>
              <a:t>貴社作業・確認にかかる時間により前後する可能性がございます。</a:t>
            </a:r>
            <a:endParaRPr lang="en-US" sz="1200" b="0" u="none" strike="noStrike">
              <a:solidFill>
                <a:srgbClr val="000000"/>
              </a:solidFill>
              <a:effectLst/>
              <a:uFillTx/>
              <a:latin typeface="Arial"/>
            </a:endParaRPr>
          </a:p>
        </p:txBody>
      </p:sp>
      <p:cxnSp>
        <p:nvCxnSpPr>
          <p:cNvPr id="732" name="直線矢印コネクタ 20"/>
          <p:cNvCxnSpPr/>
          <p:nvPr/>
        </p:nvCxnSpPr>
        <p:spPr>
          <a:xfrm>
            <a:off x="6985080" y="2256480"/>
            <a:ext cx="360" cy="3086640"/>
          </a:xfrm>
          <a:prstGeom prst="straightConnector1">
            <a:avLst/>
          </a:prstGeom>
          <a:ln w="38100">
            <a:solidFill>
              <a:srgbClr val="000000">
                <a:lumMod val="75000"/>
                <a:lumOff val="25000"/>
              </a:srgbClr>
            </a:solidFill>
            <a:prstDash val="sysDash"/>
            <a:round/>
            <a:tailEnd type="triangle" w="med" len="med"/>
          </a:ln>
        </p:spPr>
      </p:cxnSp>
      <p:sp>
        <p:nvSpPr>
          <p:cNvPr id="733" name="正方形/長方形 21"/>
          <p:cNvSpPr/>
          <p:nvPr/>
        </p:nvSpPr>
        <p:spPr>
          <a:xfrm>
            <a:off x="7042320" y="2130840"/>
            <a:ext cx="742320" cy="276480"/>
          </a:xfrm>
          <a:prstGeom prst="rect">
            <a:avLst/>
          </a:prstGeom>
          <a:solidFill>
            <a:schemeClr val="accent1">
              <a:lumMod val="20000"/>
              <a:lumOff val="80000"/>
            </a:schemeClr>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200" b="0" u="none" strike="noStrike">
                <a:solidFill>
                  <a:schemeClr val="dk1"/>
                </a:solidFill>
                <a:effectLst/>
                <a:uFillTx/>
                <a:latin typeface="メイリオ"/>
                <a:ea typeface="メイリオ"/>
              </a:rPr>
              <a:t>約</a:t>
            </a:r>
            <a:r>
              <a:rPr lang="en-US" sz="1200" b="0" u="none" strike="noStrike">
                <a:solidFill>
                  <a:schemeClr val="dk1"/>
                </a:solidFill>
                <a:effectLst/>
                <a:uFillTx/>
                <a:latin typeface="メイリオ"/>
                <a:ea typeface="メイリオ"/>
              </a:rPr>
              <a:t>1</a:t>
            </a:r>
            <a:r>
              <a:rPr lang="ja-JP" sz="1200" b="0" u="none" strike="noStrike">
                <a:solidFill>
                  <a:schemeClr val="dk1"/>
                </a:solidFill>
                <a:effectLst/>
                <a:uFillTx/>
                <a:latin typeface="メイリオ"/>
                <a:ea typeface="メイリオ"/>
              </a:rPr>
              <a:t>か月</a:t>
            </a:r>
            <a:endParaRPr lang="en-US" sz="1200" b="0" u="none" strike="noStrike">
              <a:solidFill>
                <a:srgbClr val="000000"/>
              </a:solidFill>
              <a:effectLst/>
              <a:uFillTx/>
              <a:latin typeface="Arial"/>
            </a:endParaRPr>
          </a:p>
        </p:txBody>
      </p:sp>
      <p:sp>
        <p:nvSpPr>
          <p:cNvPr id="734" name="正方形/長方形 2"/>
          <p:cNvSpPr/>
          <p:nvPr/>
        </p:nvSpPr>
        <p:spPr>
          <a:xfrm>
            <a:off x="7902360" y="3514320"/>
            <a:ext cx="14155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800" b="0" u="none" strike="noStrike">
                <a:solidFill>
                  <a:schemeClr val="lt1">
                    <a:lumMod val="50000"/>
                  </a:schemeClr>
                </a:solidFill>
                <a:effectLst/>
                <a:uFillTx/>
                <a:latin typeface="メイリオ"/>
                <a:ea typeface="メイリオ"/>
              </a:rPr>
              <a:t>オーディエンスリスト作成</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タグ設定</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GA</a:t>
            </a:r>
            <a:r>
              <a:rPr lang="ja-JP" sz="800" b="0" u="none" strike="noStrike">
                <a:solidFill>
                  <a:schemeClr val="lt1">
                    <a:lumMod val="50000"/>
                  </a:schemeClr>
                </a:solidFill>
                <a:effectLst/>
                <a:uFillTx/>
                <a:latin typeface="メイリオ"/>
                <a:ea typeface="メイリオ"/>
              </a:rPr>
              <a:t>設定</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etc...</a:t>
            </a:r>
            <a:endParaRPr lang="en-US" sz="800" b="0" u="none" strike="noStrike">
              <a:solidFill>
                <a:srgbClr val="000000"/>
              </a:solidFill>
              <a:effectLst/>
              <a:uFillTx/>
              <a:latin typeface="Arial"/>
            </a:endParaRPr>
          </a:p>
        </p:txBody>
      </p:sp>
      <p:sp>
        <p:nvSpPr>
          <p:cNvPr id="735" name="正方形/長方形 23"/>
          <p:cNvSpPr/>
          <p:nvPr/>
        </p:nvSpPr>
        <p:spPr>
          <a:xfrm>
            <a:off x="7897320" y="4276440"/>
            <a:ext cx="11077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800" b="0" u="none" strike="noStrike">
                <a:solidFill>
                  <a:schemeClr val="lt1">
                    <a:lumMod val="50000"/>
                  </a:schemeClr>
                </a:solidFill>
                <a:effectLst/>
                <a:uFillTx/>
                <a:latin typeface="メイリオ"/>
                <a:ea typeface="メイリオ"/>
              </a:rPr>
              <a:t>リッチメニュー作成</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アンケート設計</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シナリオ設計</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etc...</a:t>
            </a:r>
            <a:endParaRPr lang="en-US" sz="8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737" name="正方形/長方形 1"/>
          <p:cNvSpPr/>
          <p:nvPr/>
        </p:nvSpPr>
        <p:spPr>
          <a:xfrm>
            <a:off x="1460880" y="3038040"/>
            <a:ext cx="69843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a:solidFill>
                  <a:schemeClr val="dk1">
                    <a:lumMod val="75000"/>
                    <a:lumOff val="25000"/>
                  </a:schemeClr>
                </a:solidFill>
                <a:effectLst/>
                <a:uFillTx/>
                <a:latin typeface="メイリオ"/>
                <a:ea typeface="メイリオ"/>
              </a:rPr>
              <a:t>LINE</a:t>
            </a:r>
            <a:r>
              <a:rPr lang="ja-JP" sz="3200" b="1" u="none" strike="noStrike">
                <a:solidFill>
                  <a:schemeClr val="dk1">
                    <a:lumMod val="75000"/>
                    <a:lumOff val="25000"/>
                  </a:schemeClr>
                </a:solidFill>
                <a:effectLst/>
                <a:uFillTx/>
                <a:latin typeface="メイリオ"/>
                <a:ea typeface="メイリオ"/>
              </a:rPr>
              <a:t>公式アカウント運用のメリット</a:t>
            </a:r>
            <a:endParaRPr lang="en-US" sz="32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73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ファン化・自社アプリ登録に対して、</a:t>
            </a:r>
            <a:r>
              <a:rPr lang="en-US" sz="1400" b="0" u="none" strike="noStrike">
                <a:solidFill>
                  <a:srgbClr val="343434"/>
                </a:solidFill>
                <a:effectLst/>
                <a:uFillTx/>
                <a:latin typeface="メイリオ"/>
                <a:ea typeface="メイリオ"/>
              </a:rPr>
              <a:t>”ハードルが高く感じる”ユーザーが増えている状況。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離脱防止 </a:t>
            </a:r>
            <a:r>
              <a:rPr lang="en-US" sz="1400" b="0" u="none" strike="noStrike">
                <a:solidFill>
                  <a:srgbClr val="343434"/>
                </a:solidFill>
                <a:effectLst/>
                <a:uFillTx/>
                <a:latin typeface="メイリオ"/>
                <a:ea typeface="メイリオ"/>
              </a:rPr>
              <a:t>&gt;&gt; </a:t>
            </a:r>
            <a:r>
              <a:rPr lang="ja-JP" sz="1400" b="0" u="none" strike="noStrike">
                <a:solidFill>
                  <a:srgbClr val="343434"/>
                </a:solidFill>
                <a:effectLst/>
                <a:uFillTx/>
                <a:latin typeface="メイリオ"/>
                <a:ea typeface="メイリオ"/>
              </a:rPr>
              <a:t>友だち追加 </a:t>
            </a:r>
            <a:r>
              <a:rPr lang="en-US" sz="1400" b="0" u="none" strike="noStrike">
                <a:solidFill>
                  <a:srgbClr val="343434"/>
                </a:solidFill>
                <a:effectLst/>
                <a:uFillTx/>
                <a:latin typeface="メイリオ"/>
                <a:ea typeface="メイリオ"/>
              </a:rPr>
              <a:t>&gt;&gt; LINE</a:t>
            </a:r>
            <a:r>
              <a:rPr lang="ja-JP" sz="1400" b="0" u="none" strike="noStrike">
                <a:solidFill>
                  <a:srgbClr val="343434"/>
                </a:solidFill>
                <a:effectLst/>
                <a:uFillTx/>
                <a:latin typeface="メイリオ"/>
                <a:ea typeface="メイリオ"/>
              </a:rPr>
              <a:t>で学習 </a:t>
            </a:r>
            <a:r>
              <a:rPr lang="en-US" sz="1400" b="0" u="none" strike="noStrike">
                <a:solidFill>
                  <a:srgbClr val="343434"/>
                </a:solidFill>
                <a:effectLst/>
                <a:uFillTx/>
                <a:latin typeface="メイリオ"/>
                <a:ea typeface="メイリオ"/>
              </a:rPr>
              <a:t>&gt;&gt; </a:t>
            </a:r>
            <a:r>
              <a:rPr lang="ja-JP" sz="1400" b="0" u="none" strike="noStrike">
                <a:solidFill>
                  <a:srgbClr val="343434"/>
                </a:solidFill>
                <a:effectLst/>
                <a:uFillTx/>
                <a:latin typeface="メイリオ"/>
                <a:ea typeface="メイリオ"/>
              </a:rPr>
              <a:t>リード獲得・利用 の導線設計でハードル抑えつつ運営が可能。</a:t>
            </a:r>
            <a:endParaRPr lang="en-US" sz="1400" b="0" u="none" strike="noStrike">
              <a:solidFill>
                <a:srgbClr val="000000"/>
              </a:solidFill>
              <a:effectLst/>
              <a:uFillTx/>
              <a:latin typeface="Arial"/>
            </a:endParaRPr>
          </a:p>
        </p:txBody>
      </p:sp>
      <p:cxnSp>
        <p:nvCxnSpPr>
          <p:cNvPr id="740"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74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742" name="台形 1"/>
          <p:cNvSpPr/>
          <p:nvPr/>
        </p:nvSpPr>
        <p:spPr>
          <a:xfrm rot="10800000">
            <a:off x="549000" y="1844640"/>
            <a:ext cx="3274200" cy="603720"/>
          </a:xfrm>
          <a:prstGeom prst="trapezoid">
            <a:avLst>
              <a:gd name="adj" fmla="val 25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3" name="台形 5"/>
          <p:cNvSpPr/>
          <p:nvPr/>
        </p:nvSpPr>
        <p:spPr>
          <a:xfrm rot="10800000">
            <a:off x="752400" y="2518560"/>
            <a:ext cx="2877480" cy="603720"/>
          </a:xfrm>
          <a:prstGeom prst="trapezoid">
            <a:avLst>
              <a:gd name="adj" fmla="val 25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4" name="台形 6"/>
          <p:cNvSpPr/>
          <p:nvPr/>
        </p:nvSpPr>
        <p:spPr>
          <a:xfrm rot="10800000">
            <a:off x="963360" y="3192120"/>
            <a:ext cx="2430720" cy="603720"/>
          </a:xfrm>
          <a:prstGeom prst="trapezoid">
            <a:avLst>
              <a:gd name="adj" fmla="val 25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5" name="台形 7"/>
          <p:cNvSpPr/>
          <p:nvPr/>
        </p:nvSpPr>
        <p:spPr>
          <a:xfrm rot="10800000">
            <a:off x="1195560" y="3866040"/>
            <a:ext cx="1981440" cy="603720"/>
          </a:xfrm>
          <a:prstGeom prst="trapezoid">
            <a:avLst>
              <a:gd name="adj" fmla="val 25000"/>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6" name="台形 8"/>
          <p:cNvSpPr/>
          <p:nvPr/>
        </p:nvSpPr>
        <p:spPr>
          <a:xfrm rot="10800000">
            <a:off x="1422720" y="4539600"/>
            <a:ext cx="1536480" cy="603720"/>
          </a:xfrm>
          <a:prstGeom prst="trapezoid">
            <a:avLst>
              <a:gd name="adj" fmla="val 25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7" name="台形 9"/>
          <p:cNvSpPr/>
          <p:nvPr/>
        </p:nvSpPr>
        <p:spPr>
          <a:xfrm rot="10800000">
            <a:off x="1611720" y="5213520"/>
            <a:ext cx="1133640" cy="469800"/>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8" name="台形 10"/>
          <p:cNvSpPr/>
          <p:nvPr/>
        </p:nvSpPr>
        <p:spPr>
          <a:xfrm rot="10800000">
            <a:off x="1611720" y="5753160"/>
            <a:ext cx="1133640" cy="469800"/>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9" name="テキスト ボックス 12"/>
          <p:cNvSpPr/>
          <p:nvPr/>
        </p:nvSpPr>
        <p:spPr>
          <a:xfrm>
            <a:off x="1459440" y="531504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既存ユーザー</a:t>
            </a:r>
            <a:endParaRPr lang="en-US" sz="1200" b="0" u="none" strike="noStrike">
              <a:solidFill>
                <a:srgbClr val="000000"/>
              </a:solidFill>
              <a:effectLst/>
              <a:uFillTx/>
              <a:latin typeface="Arial"/>
            </a:endParaRPr>
          </a:p>
        </p:txBody>
      </p:sp>
      <p:sp>
        <p:nvSpPr>
          <p:cNvPr id="750" name="テキスト ボックス 13"/>
          <p:cNvSpPr/>
          <p:nvPr/>
        </p:nvSpPr>
        <p:spPr>
          <a:xfrm>
            <a:off x="1458360" y="5884200"/>
            <a:ext cx="143748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リピート・ファン化</a:t>
            </a:r>
            <a:endParaRPr lang="en-US" sz="900" b="0" u="none" strike="noStrike">
              <a:solidFill>
                <a:srgbClr val="000000"/>
              </a:solidFill>
              <a:effectLst/>
              <a:uFillTx/>
              <a:latin typeface="Arial"/>
            </a:endParaRPr>
          </a:p>
        </p:txBody>
      </p:sp>
      <p:sp>
        <p:nvSpPr>
          <p:cNvPr id="751" name="テキスト ボックス 14"/>
          <p:cNvSpPr/>
          <p:nvPr/>
        </p:nvSpPr>
        <p:spPr>
          <a:xfrm>
            <a:off x="1467360" y="468396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リード獲得層</a:t>
            </a:r>
            <a:endParaRPr lang="en-US" sz="1200" b="0" u="none" strike="noStrike">
              <a:solidFill>
                <a:srgbClr val="000000"/>
              </a:solidFill>
              <a:effectLst/>
              <a:uFillTx/>
              <a:latin typeface="Arial"/>
            </a:endParaRPr>
          </a:p>
        </p:txBody>
      </p:sp>
      <p:sp>
        <p:nvSpPr>
          <p:cNvPr id="752" name="テキスト ボックス 15"/>
          <p:cNvSpPr/>
          <p:nvPr/>
        </p:nvSpPr>
        <p:spPr>
          <a:xfrm>
            <a:off x="1467360" y="405432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顕在層</a:t>
            </a:r>
            <a:endParaRPr lang="en-US" sz="1200" b="0" u="none" strike="noStrike">
              <a:solidFill>
                <a:srgbClr val="000000"/>
              </a:solidFill>
              <a:effectLst/>
              <a:uFillTx/>
              <a:latin typeface="Arial"/>
            </a:endParaRPr>
          </a:p>
        </p:txBody>
      </p:sp>
      <p:sp>
        <p:nvSpPr>
          <p:cNvPr id="753" name="テキスト ボックス 16"/>
          <p:cNvSpPr/>
          <p:nvPr/>
        </p:nvSpPr>
        <p:spPr>
          <a:xfrm>
            <a:off x="1459440" y="337284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準顕在層</a:t>
            </a:r>
            <a:endParaRPr lang="en-US" sz="1200" b="0" u="none" strike="noStrike">
              <a:solidFill>
                <a:srgbClr val="000000"/>
              </a:solidFill>
              <a:effectLst/>
              <a:uFillTx/>
              <a:latin typeface="Arial"/>
            </a:endParaRPr>
          </a:p>
        </p:txBody>
      </p:sp>
      <p:sp>
        <p:nvSpPr>
          <p:cNvPr id="754" name="テキスト ボックス 17"/>
          <p:cNvSpPr/>
          <p:nvPr/>
        </p:nvSpPr>
        <p:spPr>
          <a:xfrm>
            <a:off x="1467360" y="270036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潜在層</a:t>
            </a:r>
            <a:endParaRPr lang="en-US" sz="1200" b="0" u="none" strike="noStrike">
              <a:solidFill>
                <a:srgbClr val="000000"/>
              </a:solidFill>
              <a:effectLst/>
              <a:uFillTx/>
              <a:latin typeface="Arial"/>
            </a:endParaRPr>
          </a:p>
        </p:txBody>
      </p:sp>
      <p:sp>
        <p:nvSpPr>
          <p:cNvPr id="755" name="テキスト ボックス 18"/>
          <p:cNvSpPr/>
          <p:nvPr/>
        </p:nvSpPr>
        <p:spPr>
          <a:xfrm>
            <a:off x="1478160" y="200772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興味関心なし 層</a:t>
            </a:r>
            <a:endParaRPr lang="en-US" sz="1200" b="0" u="none" strike="noStrike">
              <a:solidFill>
                <a:srgbClr val="000000"/>
              </a:solidFill>
              <a:effectLst/>
              <a:uFillTx/>
              <a:latin typeface="Arial"/>
            </a:endParaRPr>
          </a:p>
        </p:txBody>
      </p:sp>
      <p:sp>
        <p:nvSpPr>
          <p:cNvPr id="756" name="台形 21"/>
          <p:cNvSpPr/>
          <p:nvPr/>
        </p:nvSpPr>
        <p:spPr>
          <a:xfrm rot="10800000">
            <a:off x="7612560" y="4021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57" name="テキスト ボックス 22"/>
          <p:cNvSpPr/>
          <p:nvPr/>
        </p:nvSpPr>
        <p:spPr>
          <a:xfrm>
            <a:off x="7655040" y="415260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a:t>
            </a:r>
            <a:r>
              <a:rPr lang="ja-JP" sz="900" b="1" u="none" strike="noStrike">
                <a:solidFill>
                  <a:schemeClr val="lt1"/>
                </a:solidFill>
                <a:effectLst/>
                <a:uFillTx/>
                <a:latin typeface="メイリオ"/>
                <a:ea typeface="メイリオ"/>
              </a:rPr>
              <a:t>過去の顧客データを活用</a:t>
            </a:r>
            <a:endParaRPr lang="en-US" sz="900" b="0" u="none" strike="noStrike">
              <a:solidFill>
                <a:srgbClr val="000000"/>
              </a:solidFill>
              <a:effectLst/>
              <a:uFillTx/>
              <a:latin typeface="Arial"/>
            </a:endParaRPr>
          </a:p>
        </p:txBody>
      </p:sp>
      <p:sp>
        <p:nvSpPr>
          <p:cNvPr id="758" name="台形 23"/>
          <p:cNvSpPr/>
          <p:nvPr/>
        </p:nvSpPr>
        <p:spPr>
          <a:xfrm rot="10800000">
            <a:off x="7612560" y="33206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59" name="テキスト ボックス 24"/>
          <p:cNvSpPr/>
          <p:nvPr/>
        </p:nvSpPr>
        <p:spPr>
          <a:xfrm>
            <a:off x="7655040" y="337716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離脱防止バナーにて</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検討段階ユーザーを</a:t>
            </a:r>
            <a:r>
              <a:rPr lang="en-US" sz="900" b="1" u="none" strike="noStrike">
                <a:solidFill>
                  <a:schemeClr val="lt1"/>
                </a:solidFill>
                <a:effectLst/>
                <a:uFillTx/>
                <a:latin typeface="メイリオ"/>
                <a:ea typeface="メイリオ"/>
              </a:rPr>
              <a:t>LINE</a:t>
            </a:r>
            <a:r>
              <a:rPr lang="ja-JP" sz="900" b="1" u="none" strike="noStrike">
                <a:solidFill>
                  <a:schemeClr val="lt1"/>
                </a:solidFill>
                <a:effectLst/>
                <a:uFillTx/>
                <a:latin typeface="メイリオ"/>
                <a:ea typeface="メイリオ"/>
              </a:rPr>
              <a:t>誘導</a:t>
            </a:r>
            <a:endParaRPr lang="en-US" sz="900" b="0" u="none" strike="noStrike">
              <a:solidFill>
                <a:srgbClr val="000000"/>
              </a:solidFill>
              <a:effectLst/>
              <a:uFillTx/>
              <a:latin typeface="Arial"/>
            </a:endParaRPr>
          </a:p>
        </p:txBody>
      </p:sp>
      <p:sp>
        <p:nvSpPr>
          <p:cNvPr id="760" name="台形 26"/>
          <p:cNvSpPr/>
          <p:nvPr/>
        </p:nvSpPr>
        <p:spPr>
          <a:xfrm rot="10800000">
            <a:off x="7612560" y="2257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1" name="テキスト ボックス 31"/>
          <p:cNvSpPr/>
          <p:nvPr/>
        </p:nvSpPr>
        <p:spPr>
          <a:xfrm>
            <a:off x="7655040" y="231372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接触、詳細ページ閲覧</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の動線での</a:t>
            </a:r>
            <a:r>
              <a:rPr lang="en-US" sz="900" b="1" u="none" strike="noStrike">
                <a:solidFill>
                  <a:schemeClr val="lt1"/>
                </a:solidFill>
                <a:effectLst/>
                <a:uFillTx/>
                <a:latin typeface="メイリオ"/>
                <a:ea typeface="メイリオ"/>
              </a:rPr>
              <a:t>LINE</a:t>
            </a:r>
            <a:r>
              <a:rPr lang="ja-JP" sz="900" b="1" u="none" strike="noStrike">
                <a:solidFill>
                  <a:schemeClr val="lt1"/>
                </a:solidFill>
                <a:effectLst/>
                <a:uFillTx/>
                <a:latin typeface="メイリオ"/>
                <a:ea typeface="メイリオ"/>
              </a:rPr>
              <a:t>誘導を整備</a:t>
            </a:r>
            <a:endParaRPr lang="en-US" sz="900" b="0" u="none" strike="noStrike">
              <a:solidFill>
                <a:srgbClr val="000000"/>
              </a:solidFill>
              <a:effectLst/>
              <a:uFillTx/>
              <a:latin typeface="Arial"/>
            </a:endParaRPr>
          </a:p>
        </p:txBody>
      </p:sp>
      <p:sp>
        <p:nvSpPr>
          <p:cNvPr id="762" name="テキスト ボックス 40"/>
          <p:cNvSpPr/>
          <p:nvPr/>
        </p:nvSpPr>
        <p:spPr>
          <a:xfrm>
            <a:off x="7462440" y="1725840"/>
            <a:ext cx="2125440" cy="276480"/>
          </a:xfrm>
          <a:prstGeom prst="rect">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chemeClr val="lt1"/>
                </a:solidFill>
                <a:effectLst/>
                <a:uFillTx/>
                <a:latin typeface="メイリオ"/>
                <a:ea typeface="メイリオ"/>
              </a:rPr>
              <a:t>DYM</a:t>
            </a:r>
            <a:r>
              <a:rPr lang="ja-JP" sz="1200" b="0" u="none" strike="noStrike">
                <a:solidFill>
                  <a:schemeClr val="lt1"/>
                </a:solidFill>
                <a:effectLst/>
                <a:uFillTx/>
                <a:latin typeface="メイリオ"/>
                <a:ea typeface="メイリオ"/>
              </a:rPr>
              <a:t>施策</a:t>
            </a:r>
            <a:endParaRPr lang="en-US" sz="1200" b="0" u="none" strike="noStrike">
              <a:solidFill>
                <a:srgbClr val="FFFFFF"/>
              </a:solidFill>
              <a:effectLst/>
              <a:uFillTx/>
              <a:latin typeface="Arial"/>
            </a:endParaRPr>
          </a:p>
        </p:txBody>
      </p:sp>
      <p:sp>
        <p:nvSpPr>
          <p:cNvPr id="763" name="テキスト ボックス 43"/>
          <p:cNvSpPr/>
          <p:nvPr/>
        </p:nvSpPr>
        <p:spPr>
          <a:xfrm>
            <a:off x="5273280" y="1735200"/>
            <a:ext cx="2125440" cy="27648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0" u="none" strike="noStrike">
                <a:solidFill>
                  <a:schemeClr val="lt1"/>
                </a:solidFill>
                <a:effectLst/>
                <a:uFillTx/>
                <a:latin typeface="メイリオ"/>
                <a:ea typeface="メイリオ"/>
              </a:rPr>
              <a:t>現状施策</a:t>
            </a:r>
            <a:endParaRPr lang="en-US" sz="1200" b="0" u="none" strike="noStrike">
              <a:solidFill>
                <a:srgbClr val="FFFFFF"/>
              </a:solidFill>
              <a:effectLst/>
              <a:uFillTx/>
              <a:latin typeface="Arial"/>
            </a:endParaRPr>
          </a:p>
        </p:txBody>
      </p:sp>
      <p:sp>
        <p:nvSpPr>
          <p:cNvPr id="764" name="台形 45"/>
          <p:cNvSpPr/>
          <p:nvPr/>
        </p:nvSpPr>
        <p:spPr>
          <a:xfrm rot="10800000">
            <a:off x="7612560" y="57254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5" name="テキスト ボックス 46"/>
          <p:cNvSpPr/>
          <p:nvPr/>
        </p:nvSpPr>
        <p:spPr>
          <a:xfrm>
            <a:off x="7655040" y="578520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定期購入・クロスセル</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商材への動線設計</a:t>
            </a:r>
            <a:endParaRPr lang="en-US" sz="900" b="0" u="none" strike="noStrike">
              <a:solidFill>
                <a:srgbClr val="000000"/>
              </a:solidFill>
              <a:effectLst/>
              <a:uFillTx/>
              <a:latin typeface="Arial"/>
            </a:endParaRPr>
          </a:p>
        </p:txBody>
      </p:sp>
      <p:sp>
        <p:nvSpPr>
          <p:cNvPr id="766" name="台形 47"/>
          <p:cNvSpPr/>
          <p:nvPr/>
        </p:nvSpPr>
        <p:spPr>
          <a:xfrm rot="10800000">
            <a:off x="7612560" y="51840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7" name="テキスト ボックス 48"/>
          <p:cNvSpPr/>
          <p:nvPr/>
        </p:nvSpPr>
        <p:spPr>
          <a:xfrm>
            <a:off x="7655040" y="531504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※ID</a:t>
            </a:r>
            <a:r>
              <a:rPr lang="ja-JP" sz="900" b="1" u="none" strike="noStrike">
                <a:solidFill>
                  <a:schemeClr val="lt1"/>
                </a:solidFill>
                <a:effectLst/>
                <a:uFillTx/>
                <a:latin typeface="メイリオ"/>
                <a:ea typeface="メイリオ"/>
              </a:rPr>
              <a:t>連携特典等を表示</a:t>
            </a:r>
            <a:endParaRPr lang="en-US" sz="900" b="0" u="none" strike="noStrike">
              <a:solidFill>
                <a:srgbClr val="000000"/>
              </a:solidFill>
              <a:effectLst/>
              <a:uFillTx/>
              <a:latin typeface="Arial"/>
            </a:endParaRPr>
          </a:p>
        </p:txBody>
      </p:sp>
      <p:sp>
        <p:nvSpPr>
          <p:cNvPr id="768" name="台形 49"/>
          <p:cNvSpPr/>
          <p:nvPr/>
        </p:nvSpPr>
        <p:spPr>
          <a:xfrm rot="10800000">
            <a:off x="7612560" y="46836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9" name="テキスト ボックス 50"/>
          <p:cNvSpPr/>
          <p:nvPr/>
        </p:nvSpPr>
        <p:spPr>
          <a:xfrm>
            <a:off x="7655040" y="481464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a:t>
            </a:r>
            <a:r>
              <a:rPr lang="ja-JP" sz="900" b="1" u="none" strike="noStrike">
                <a:solidFill>
                  <a:schemeClr val="lt1"/>
                </a:solidFill>
                <a:effectLst/>
                <a:uFillTx/>
                <a:latin typeface="メイリオ"/>
                <a:ea typeface="メイリオ"/>
              </a:rPr>
              <a:t>ミニアプリ・診断 → 特典</a:t>
            </a:r>
            <a:endParaRPr lang="en-US" sz="900" b="0" u="none" strike="noStrike">
              <a:solidFill>
                <a:srgbClr val="000000"/>
              </a:solidFill>
              <a:effectLst/>
              <a:uFillTx/>
              <a:latin typeface="Arial"/>
            </a:endParaRPr>
          </a:p>
        </p:txBody>
      </p:sp>
      <p:sp>
        <p:nvSpPr>
          <p:cNvPr id="770" name="台形 56"/>
          <p:cNvSpPr/>
          <p:nvPr/>
        </p:nvSpPr>
        <p:spPr>
          <a:xfrm rot="10800000">
            <a:off x="8076240" y="6244920"/>
            <a:ext cx="1825920" cy="26496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71" name="テキスト ボックス 57"/>
          <p:cNvSpPr/>
          <p:nvPr/>
        </p:nvSpPr>
        <p:spPr>
          <a:xfrm>
            <a:off x="8198280" y="6267240"/>
            <a:ext cx="1580760" cy="24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000" b="0" u="none" strike="noStrike">
                <a:solidFill>
                  <a:schemeClr val="lt1"/>
                </a:solidFill>
                <a:effectLst/>
                <a:uFillTx/>
                <a:latin typeface="メイリオ"/>
                <a:ea typeface="メイリオ"/>
              </a:rPr>
              <a:t>※</a:t>
            </a:r>
            <a:r>
              <a:rPr lang="ja-JP" sz="1000" b="0" u="none" strike="noStrike">
                <a:solidFill>
                  <a:schemeClr val="lt1"/>
                </a:solidFill>
                <a:effectLst/>
                <a:uFillTx/>
                <a:latin typeface="メイリオ"/>
                <a:ea typeface="メイリオ"/>
              </a:rPr>
              <a:t>長期施策として想定</a:t>
            </a:r>
            <a:endParaRPr lang="en-US" sz="1000" b="0" u="none" strike="noStrike">
              <a:solidFill>
                <a:srgbClr val="000000"/>
              </a:solidFill>
              <a:effectLst/>
              <a:uFillTx/>
              <a:latin typeface="Arial"/>
            </a:endParaRPr>
          </a:p>
        </p:txBody>
      </p:sp>
      <p:sp>
        <p:nvSpPr>
          <p:cNvPr id="772" name="台形 37"/>
          <p:cNvSpPr/>
          <p:nvPr/>
        </p:nvSpPr>
        <p:spPr>
          <a:xfrm rot="10800000" flipV="1">
            <a:off x="5413320" y="2265480"/>
            <a:ext cx="1825920" cy="3929760"/>
          </a:xfrm>
          <a:prstGeom prst="trapezoid">
            <a:avLst>
              <a:gd name="adj" fmla="val 0"/>
            </a:avLst>
          </a:prstGeom>
          <a:solidFill>
            <a:schemeClr val="lt1">
              <a:lumMod val="95000"/>
              <a:alpha val="67000"/>
            </a:schemeClr>
          </a:solidFill>
          <a:ln w="9525">
            <a:solidFill>
              <a:srgbClr val="FFFFFF">
                <a:lumMod val="6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dk1"/>
                </a:solidFill>
                <a:effectLst/>
                <a:uFillTx/>
                <a:latin typeface="メイリオ"/>
                <a:ea typeface="メイリオ"/>
              </a:rPr>
              <a:t>ヒアリングの上</a:t>
            </a:r>
            <a:endParaRPr lang="en-US" sz="1050" b="0" u="none" strike="noStrike">
              <a:solidFill>
                <a:srgbClr val="000000"/>
              </a:solidFill>
              <a:effectLst/>
              <a:uFillTx/>
              <a:latin typeface="Arial"/>
            </a:endParaRPr>
          </a:p>
          <a:p>
            <a:pPr algn="ctr" defTabSz="914400">
              <a:lnSpc>
                <a:spcPct val="100000"/>
              </a:lnSpc>
            </a:pPr>
            <a:r>
              <a:rPr lang="ja-JP" sz="1050" b="1" u="none" strike="noStrike">
                <a:solidFill>
                  <a:schemeClr val="dk1"/>
                </a:solidFill>
                <a:effectLst/>
                <a:uFillTx/>
                <a:latin typeface="メイリオ"/>
                <a:ea typeface="メイリオ"/>
              </a:rPr>
              <a:t>確定</a:t>
            </a:r>
            <a:endParaRPr lang="en-US" sz="1050" b="0" u="none" strike="noStrike">
              <a:solidFill>
                <a:srgbClr val="000000"/>
              </a:solidFill>
              <a:effectLst/>
              <a:uFillTx/>
              <a:latin typeface="Arial"/>
            </a:endParaRPr>
          </a:p>
        </p:txBody>
      </p:sp>
      <p:sp>
        <p:nvSpPr>
          <p:cNvPr id="773" name="矢印: 下 11"/>
          <p:cNvSpPr/>
          <p:nvPr/>
        </p:nvSpPr>
        <p:spPr>
          <a:xfrm>
            <a:off x="4075920" y="1862280"/>
            <a:ext cx="1133640" cy="4292280"/>
          </a:xfrm>
          <a:prstGeom prst="downArrow">
            <a:avLst>
              <a:gd name="adj1" fmla="val 50000"/>
              <a:gd name="adj2" fmla="val 50000"/>
            </a:avLst>
          </a:prstGeom>
          <a:gradFill rotWithShape="0">
            <a:gsLst>
              <a:gs pos="0">
                <a:srgbClr val="FDFDFD"/>
              </a:gs>
              <a:gs pos="100000">
                <a:srgbClr val="EBF1DE"/>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74" name="テキスト ボックス 19"/>
          <p:cNvSpPr/>
          <p:nvPr/>
        </p:nvSpPr>
        <p:spPr>
          <a:xfrm>
            <a:off x="3578760" y="54482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 </a:t>
            </a:r>
            <a:r>
              <a:rPr lang="ja-JP" sz="1200" b="1" u="none" strike="noStrike">
                <a:solidFill>
                  <a:schemeClr val="dk1"/>
                </a:solidFill>
                <a:effectLst/>
                <a:uFillTx/>
                <a:latin typeface="メイリオ"/>
                <a:ea typeface="メイリオ"/>
              </a:rPr>
              <a:t>ミニアプリ</a:t>
            </a:r>
            <a:endParaRPr lang="en-US" sz="1200" b="0" u="none" strike="noStrike">
              <a:solidFill>
                <a:srgbClr val="000000"/>
              </a:solidFill>
              <a:effectLst/>
              <a:uFillTx/>
              <a:latin typeface="Arial"/>
            </a:endParaRPr>
          </a:p>
        </p:txBody>
      </p:sp>
      <p:sp>
        <p:nvSpPr>
          <p:cNvPr id="775" name="テキスト ボックス 20"/>
          <p:cNvSpPr/>
          <p:nvPr/>
        </p:nvSpPr>
        <p:spPr>
          <a:xfrm>
            <a:off x="3578760" y="380376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a:t>
            </a:r>
            <a:r>
              <a:rPr lang="ja-JP" sz="1200" b="1" u="none" strike="noStrike">
                <a:solidFill>
                  <a:schemeClr val="dk1"/>
                </a:solidFill>
                <a:effectLst/>
                <a:uFillTx/>
                <a:latin typeface="メイリオ"/>
                <a:ea typeface="メイリオ"/>
              </a:rPr>
              <a:t>友だち</a:t>
            </a:r>
            <a:endParaRPr lang="en-US" sz="1200" b="0" u="none" strike="noStrike">
              <a:solidFill>
                <a:srgbClr val="000000"/>
              </a:solidFill>
              <a:effectLst/>
              <a:uFillTx/>
              <a:latin typeface="Arial"/>
            </a:endParaRPr>
          </a:p>
        </p:txBody>
      </p:sp>
      <p:sp>
        <p:nvSpPr>
          <p:cNvPr id="776" name="テキスト ボックス 25"/>
          <p:cNvSpPr/>
          <p:nvPr/>
        </p:nvSpPr>
        <p:spPr>
          <a:xfrm>
            <a:off x="3578760" y="33476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dk1"/>
                </a:solidFill>
                <a:effectLst/>
                <a:uFillTx/>
                <a:latin typeface="メイリオ"/>
                <a:ea typeface="メイリオ"/>
              </a:rPr>
              <a:t>離脱防止バナー</a:t>
            </a:r>
            <a:endParaRPr lang="en-US" sz="1200" b="0" u="none" strike="noStrike">
              <a:solidFill>
                <a:srgbClr val="000000"/>
              </a:solidFill>
              <a:effectLst/>
              <a:uFillTx/>
              <a:latin typeface="Arial"/>
            </a:endParaRPr>
          </a:p>
        </p:txBody>
      </p:sp>
      <p:sp>
        <p:nvSpPr>
          <p:cNvPr id="777" name="テキスト ボックス 35"/>
          <p:cNvSpPr/>
          <p:nvPr/>
        </p:nvSpPr>
        <p:spPr>
          <a:xfrm>
            <a:off x="3578760" y="198252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lumMod val="65000"/>
                  </a:schemeClr>
                </a:solidFill>
                <a:effectLst/>
                <a:uFillTx/>
                <a:latin typeface="メイリオ"/>
                <a:ea typeface="メイリオ"/>
              </a:rPr>
              <a:t>接触</a:t>
            </a:r>
            <a:endParaRPr lang="en-US" sz="1200" b="0" u="none" strike="noStrike">
              <a:solidFill>
                <a:srgbClr val="000000"/>
              </a:solidFill>
              <a:effectLst/>
              <a:uFillTx/>
              <a:latin typeface="Arial"/>
            </a:endParaRPr>
          </a:p>
        </p:txBody>
      </p:sp>
      <p:sp>
        <p:nvSpPr>
          <p:cNvPr id="778" name="テキスト ボックス 38"/>
          <p:cNvSpPr/>
          <p:nvPr/>
        </p:nvSpPr>
        <p:spPr>
          <a:xfrm>
            <a:off x="3686040" y="5900760"/>
            <a:ext cx="1913400" cy="46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dk1"/>
                </a:solidFill>
                <a:effectLst/>
                <a:uFillTx/>
                <a:latin typeface="メイリオ"/>
                <a:ea typeface="メイリオ"/>
              </a:rPr>
              <a:t>自社</a:t>
            </a:r>
            <a:r>
              <a:rPr lang="en-US" sz="1200" b="1" u="none" strike="noStrike">
                <a:solidFill>
                  <a:schemeClr val="dk1"/>
                </a:solidFill>
                <a:effectLst/>
                <a:uFillTx/>
                <a:latin typeface="メイリオ"/>
                <a:ea typeface="メイリオ"/>
              </a:rPr>
              <a:t>App/</a:t>
            </a:r>
            <a:r>
              <a:rPr lang="ja-JP" sz="1200" b="1" u="none" strike="noStrike">
                <a:solidFill>
                  <a:schemeClr val="dk1"/>
                </a:solidFill>
                <a:effectLst/>
                <a:uFillTx/>
                <a:latin typeface="メイリオ"/>
                <a:ea typeface="メイリオ"/>
              </a:rPr>
              <a:t>ネットワーク</a:t>
            </a:r>
            <a:endParaRPr lang="en-US" sz="1200" b="0" u="none" strike="noStrike">
              <a:solidFill>
                <a:srgbClr val="000000"/>
              </a:solidFill>
              <a:effectLst/>
              <a:uFillTx/>
              <a:latin typeface="Arial"/>
            </a:endParaRPr>
          </a:p>
          <a:p>
            <a:pPr algn="ctr" defTabSz="914400">
              <a:lnSpc>
                <a:spcPct val="100000"/>
              </a:lnSpc>
            </a:pPr>
            <a:r>
              <a:rPr lang="ja-JP" sz="1200" b="1" u="none" strike="noStrike">
                <a:solidFill>
                  <a:schemeClr val="dk1"/>
                </a:solidFill>
                <a:effectLst/>
                <a:uFillTx/>
                <a:latin typeface="メイリオ"/>
                <a:ea typeface="メイリオ"/>
              </a:rPr>
              <a:t>（</a:t>
            </a:r>
            <a:r>
              <a:rPr lang="en-US" sz="1200" b="1" u="none" strike="noStrike">
                <a:solidFill>
                  <a:schemeClr val="dk1"/>
                </a:solidFill>
                <a:effectLst/>
                <a:uFillTx/>
                <a:latin typeface="メイリオ"/>
                <a:ea typeface="メイリオ"/>
              </a:rPr>
              <a:t>ID</a:t>
            </a:r>
            <a:r>
              <a:rPr lang="ja-JP" sz="1200" b="1" u="none" strike="noStrike">
                <a:solidFill>
                  <a:schemeClr val="dk1"/>
                </a:solidFill>
                <a:effectLst/>
                <a:uFillTx/>
                <a:latin typeface="メイリオ"/>
                <a:ea typeface="メイリオ"/>
              </a:rPr>
              <a:t>連携等の開発）</a:t>
            </a:r>
            <a:endParaRPr lang="en-US" sz="1200" b="0" u="none" strike="noStrike">
              <a:solidFill>
                <a:srgbClr val="000000"/>
              </a:solidFill>
              <a:effectLst/>
              <a:uFillTx/>
              <a:latin typeface="Arial"/>
            </a:endParaRPr>
          </a:p>
        </p:txBody>
      </p:sp>
      <p:sp>
        <p:nvSpPr>
          <p:cNvPr id="779" name="テキスト ボックス 39"/>
          <p:cNvSpPr/>
          <p:nvPr/>
        </p:nvSpPr>
        <p:spPr>
          <a:xfrm>
            <a:off x="3578760" y="26510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lumMod val="65000"/>
                  </a:schemeClr>
                </a:solidFill>
                <a:effectLst/>
                <a:uFillTx/>
                <a:latin typeface="メイリオ"/>
                <a:ea typeface="メイリオ"/>
              </a:rPr>
              <a:t>離脱</a:t>
            </a:r>
            <a:endParaRPr lang="en-US" sz="1200" b="0" u="none" strike="noStrike">
              <a:solidFill>
                <a:srgbClr val="000000"/>
              </a:solidFill>
              <a:effectLst/>
              <a:uFillTx/>
              <a:latin typeface="Arial"/>
            </a:endParaRPr>
          </a:p>
        </p:txBody>
      </p:sp>
      <p:sp>
        <p:nvSpPr>
          <p:cNvPr id="780" name="テキスト ボックス 41"/>
          <p:cNvSpPr/>
          <p:nvPr/>
        </p:nvSpPr>
        <p:spPr>
          <a:xfrm>
            <a:off x="3578760" y="42710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a:t>
            </a:r>
            <a:r>
              <a:rPr lang="ja-JP" sz="1200" b="1" u="none" strike="noStrike">
                <a:solidFill>
                  <a:schemeClr val="dk1"/>
                </a:solidFill>
                <a:effectLst/>
                <a:uFillTx/>
                <a:latin typeface="メイリオ"/>
                <a:ea typeface="メイリオ"/>
              </a:rPr>
              <a:t>でログイン</a:t>
            </a:r>
            <a:endParaRPr lang="en-US" sz="12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6"/>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812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918"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業態平均で</a:t>
            </a:r>
            <a:r>
              <a:rPr lang="ja-JP" sz="1400" b="1" u="none" strike="noStrike">
                <a:solidFill>
                  <a:srgbClr val="FF0000"/>
                </a:solidFill>
                <a:effectLst/>
                <a:uFillTx/>
                <a:latin typeface="メイリオ"/>
                <a:ea typeface="メイリオ"/>
              </a:rPr>
              <a:t>最大３</a:t>
            </a:r>
            <a:r>
              <a:rPr lang="en-US" sz="1400" b="1" u="none" strike="noStrike">
                <a:solidFill>
                  <a:srgbClr val="FF0000"/>
                </a:solidFill>
                <a:effectLst/>
                <a:uFillTx/>
                <a:latin typeface="メイリオ"/>
                <a:ea typeface="メイリオ"/>
              </a:rPr>
              <a:t>%</a:t>
            </a:r>
            <a:r>
              <a:rPr lang="ja-JP" sz="1400" b="1" u="none" strike="noStrike">
                <a:solidFill>
                  <a:srgbClr val="FF0000"/>
                </a:solidFill>
                <a:effectLst/>
                <a:uFillTx/>
                <a:latin typeface="メイリオ"/>
                <a:ea typeface="メイリオ"/>
              </a:rPr>
              <a:t>のユーザーは有効化</a:t>
            </a:r>
            <a:r>
              <a:rPr lang="en-US" sz="1400" b="1" u="none" strike="noStrike">
                <a:solidFill>
                  <a:srgbClr val="FF0000"/>
                </a:solidFill>
                <a:effectLst/>
                <a:uFillTx/>
                <a:latin typeface="メイリオ"/>
                <a:ea typeface="メイリオ"/>
              </a:rPr>
              <a:t>/</a:t>
            </a:r>
            <a:r>
              <a:rPr lang="ja-JP" sz="1400" b="1" u="none" strike="noStrike">
                <a:solidFill>
                  <a:srgbClr val="FF0000"/>
                </a:solidFill>
                <a:effectLst/>
                <a:uFillTx/>
                <a:latin typeface="メイリオ"/>
                <a:ea typeface="メイリオ"/>
              </a:rPr>
              <a:t>マネタイズ可能</a:t>
            </a:r>
            <a:r>
              <a:rPr lang="en-US" sz="1400" b="0" u="none" strike="noStrike">
                <a:solidFill>
                  <a:srgbClr val="343434"/>
                </a:solidFill>
                <a:effectLst/>
                <a:uFillTx/>
                <a:latin typeface="メイリオ"/>
                <a:ea typeface="メイリオ"/>
              </a:rPr>
              <a:t> とされている。</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貴社集客課題に合わせて、</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公式アカウントの構築モデルを活用しながら集客効率を改善。</a:t>
            </a:r>
            <a:endParaRPr lang="en-US" sz="1400" b="0" u="none" strike="noStrike">
              <a:solidFill>
                <a:srgbClr val="000000"/>
              </a:solidFill>
              <a:effectLst/>
              <a:uFillTx/>
              <a:latin typeface="Arial"/>
            </a:endParaRPr>
          </a:p>
        </p:txBody>
      </p:sp>
      <p:cxnSp>
        <p:nvCxnSpPr>
          <p:cNvPr id="919"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920"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921" name="正方形/長方形 1"/>
          <p:cNvSpPr/>
          <p:nvPr/>
        </p:nvSpPr>
        <p:spPr>
          <a:xfrm>
            <a:off x="437760" y="160632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流入元</a:t>
            </a:r>
            <a:endParaRPr lang="en-US" sz="1200" b="0" u="none" strike="noStrike">
              <a:solidFill>
                <a:srgbClr val="FFFFFF"/>
              </a:solidFill>
              <a:effectLst/>
              <a:uFillTx/>
              <a:latin typeface="Arial"/>
            </a:endParaRPr>
          </a:p>
        </p:txBody>
      </p:sp>
      <p:sp>
        <p:nvSpPr>
          <p:cNvPr id="922" name="正方形/長方形 7"/>
          <p:cNvSpPr/>
          <p:nvPr/>
        </p:nvSpPr>
        <p:spPr>
          <a:xfrm>
            <a:off x="1940040" y="160632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LINE</a:t>
            </a:r>
            <a:r>
              <a:rPr lang="ja-JP" sz="1200" b="1" u="none" strike="noStrike">
                <a:solidFill>
                  <a:schemeClr val="lt1"/>
                </a:solidFill>
                <a:effectLst/>
                <a:uFillTx/>
                <a:latin typeface="メイリオ"/>
                <a:ea typeface="メイリオ"/>
              </a:rPr>
              <a:t>誘導</a:t>
            </a:r>
            <a:endParaRPr lang="en-US" sz="1200" b="0" u="none" strike="noStrike">
              <a:solidFill>
                <a:srgbClr val="000000"/>
              </a:solidFill>
              <a:effectLst/>
              <a:uFillTx/>
              <a:latin typeface="Arial"/>
            </a:endParaRPr>
          </a:p>
        </p:txBody>
      </p:sp>
      <p:sp>
        <p:nvSpPr>
          <p:cNvPr id="923" name="正方形/長方形 9"/>
          <p:cNvSpPr/>
          <p:nvPr/>
        </p:nvSpPr>
        <p:spPr>
          <a:xfrm>
            <a:off x="3442320" y="160632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具体の施策方針</a:t>
            </a:r>
            <a:endParaRPr lang="en-US" sz="1200" b="0" u="none" strike="noStrike">
              <a:solidFill>
                <a:srgbClr val="FFFFFF"/>
              </a:solidFill>
              <a:effectLst/>
              <a:uFillTx/>
              <a:latin typeface="Arial"/>
            </a:endParaRPr>
          </a:p>
        </p:txBody>
      </p:sp>
      <p:sp>
        <p:nvSpPr>
          <p:cNvPr id="924" name="矢印: 右 33"/>
          <p:cNvSpPr/>
          <p:nvPr/>
        </p:nvSpPr>
        <p:spPr>
          <a:xfrm>
            <a:off x="1080720" y="22802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25" name="正方形/長方形 36"/>
          <p:cNvSpPr/>
          <p:nvPr/>
        </p:nvSpPr>
        <p:spPr>
          <a:xfrm>
            <a:off x="1940040" y="20145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離脱防止</a:t>
            </a:r>
            <a:endParaRPr lang="en-US" sz="900" b="0" u="none" strike="noStrike">
              <a:solidFill>
                <a:srgbClr val="000000"/>
              </a:solidFill>
              <a:effectLst/>
              <a:uFillTx/>
              <a:latin typeface="Arial"/>
            </a:endParaRPr>
          </a:p>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サイト上ポップアップ</a:t>
            </a:r>
            <a:endParaRPr lang="en-US" sz="900" b="0" u="none" strike="noStrike">
              <a:solidFill>
                <a:srgbClr val="000000"/>
              </a:solidFill>
              <a:effectLst/>
              <a:uFillTx/>
              <a:latin typeface="Arial"/>
            </a:endParaRPr>
          </a:p>
        </p:txBody>
      </p:sp>
      <p:sp>
        <p:nvSpPr>
          <p:cNvPr id="926" name="正方形/長方形 38"/>
          <p:cNvSpPr/>
          <p:nvPr/>
        </p:nvSpPr>
        <p:spPr>
          <a:xfrm>
            <a:off x="1940040" y="262764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離脱防止</a:t>
            </a:r>
            <a:endParaRPr lang="en-US" sz="900" b="0" u="none" strike="noStrike">
              <a:solidFill>
                <a:srgbClr val="000000"/>
              </a:solidFill>
              <a:effectLst/>
              <a:uFillTx/>
              <a:latin typeface="Arial"/>
            </a:endParaRPr>
          </a:p>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サイト上ポップアップ</a:t>
            </a:r>
            <a:endParaRPr lang="en-US" sz="900" b="0" u="none" strike="noStrike">
              <a:solidFill>
                <a:srgbClr val="000000"/>
              </a:solidFill>
              <a:effectLst/>
              <a:uFillTx/>
              <a:latin typeface="Arial"/>
            </a:endParaRPr>
          </a:p>
        </p:txBody>
      </p:sp>
      <p:sp>
        <p:nvSpPr>
          <p:cNvPr id="927" name="正方形/長方形 40"/>
          <p:cNvSpPr/>
          <p:nvPr/>
        </p:nvSpPr>
        <p:spPr>
          <a:xfrm>
            <a:off x="437760" y="20145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75000"/>
                    <a:lumOff val="25000"/>
                  </a:schemeClr>
                </a:solidFill>
                <a:effectLst/>
                <a:uFillTx/>
                <a:latin typeface="メイリオ"/>
                <a:ea typeface="メイリオ"/>
              </a:rPr>
              <a:t>SEO</a:t>
            </a:r>
            <a:r>
              <a:rPr lang="ja-JP" sz="1000" b="0" u="none" strike="noStrike">
                <a:solidFill>
                  <a:schemeClr val="dk1">
                    <a:lumMod val="75000"/>
                    <a:lumOff val="25000"/>
                  </a:schemeClr>
                </a:solidFill>
                <a:effectLst/>
                <a:uFillTx/>
                <a:latin typeface="メイリオ"/>
                <a:ea typeface="メイリオ"/>
              </a:rPr>
              <a:t>・</a:t>
            </a:r>
            <a:r>
              <a:rPr lang="en-US" sz="1000" b="0" u="none" strike="noStrike">
                <a:solidFill>
                  <a:schemeClr val="dk1">
                    <a:lumMod val="75000"/>
                    <a:lumOff val="25000"/>
                  </a:schemeClr>
                </a:solidFill>
                <a:effectLst/>
                <a:uFillTx/>
                <a:latin typeface="メイリオ"/>
                <a:ea typeface="メイリオ"/>
              </a:rPr>
              <a:t>AIO</a:t>
            </a:r>
            <a:endParaRPr lang="en-US" sz="1000" b="0" u="none" strike="noStrike">
              <a:solidFill>
                <a:srgbClr val="000000"/>
              </a:solidFill>
              <a:effectLst/>
              <a:uFillTx/>
              <a:latin typeface="Arial"/>
            </a:endParaRPr>
          </a:p>
        </p:txBody>
      </p:sp>
      <p:sp>
        <p:nvSpPr>
          <p:cNvPr id="928" name="正方形/長方形 42"/>
          <p:cNvSpPr/>
          <p:nvPr/>
        </p:nvSpPr>
        <p:spPr>
          <a:xfrm>
            <a:off x="437760" y="262764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75000"/>
                    <a:lumOff val="25000"/>
                  </a:schemeClr>
                </a:solidFill>
                <a:effectLst/>
                <a:uFillTx/>
                <a:latin typeface="メイリオ"/>
                <a:ea typeface="メイリオ"/>
              </a:rPr>
              <a:t>広告</a:t>
            </a:r>
            <a:endParaRPr lang="en-US" sz="1000" b="0" u="none" strike="noStrike">
              <a:solidFill>
                <a:srgbClr val="000000"/>
              </a:solidFill>
              <a:effectLst/>
              <a:uFillTx/>
              <a:latin typeface="Arial"/>
            </a:endParaRPr>
          </a:p>
        </p:txBody>
      </p:sp>
      <p:sp>
        <p:nvSpPr>
          <p:cNvPr id="929" name="正方形/長方形 45"/>
          <p:cNvSpPr/>
          <p:nvPr/>
        </p:nvSpPr>
        <p:spPr>
          <a:xfrm>
            <a:off x="3442320" y="200916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75000"/>
                  <a:lumOff val="25000"/>
                </a:schemeClr>
              </a:solidFill>
              <a:effectLst/>
              <a:uFillTx/>
              <a:latin typeface="メイリオ"/>
              <a:ea typeface="メイリオ"/>
            </a:endParaRPr>
          </a:p>
        </p:txBody>
      </p:sp>
      <p:sp>
        <p:nvSpPr>
          <p:cNvPr id="930" name="矢印: 右 47"/>
          <p:cNvSpPr/>
          <p:nvPr/>
        </p:nvSpPr>
        <p:spPr>
          <a:xfrm>
            <a:off x="1080720" y="32320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31" name="矢印: 右 49"/>
          <p:cNvSpPr/>
          <p:nvPr/>
        </p:nvSpPr>
        <p:spPr>
          <a:xfrm>
            <a:off x="1080720" y="3933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932" name="直線コネクタ 50"/>
          <p:cNvCxnSpPr/>
          <p:nvPr/>
        </p:nvCxnSpPr>
        <p:spPr>
          <a:xfrm flipV="1">
            <a:off x="437400" y="3888000"/>
            <a:ext cx="7325280" cy="720"/>
          </a:xfrm>
          <a:prstGeom prst="straightConnector1">
            <a:avLst/>
          </a:prstGeom>
          <a:ln>
            <a:solidFill>
              <a:srgbClr val="4A7EBB"/>
            </a:solidFill>
            <a:prstDash val="sysDash"/>
            <a:round/>
          </a:ln>
        </p:spPr>
      </p:cxnSp>
      <p:sp>
        <p:nvSpPr>
          <p:cNvPr id="933" name="正方形/長方形 51"/>
          <p:cNvSpPr/>
          <p:nvPr/>
        </p:nvSpPr>
        <p:spPr>
          <a:xfrm>
            <a:off x="437760" y="324108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LINE</a:t>
            </a:r>
            <a:r>
              <a:rPr lang="ja-JP" sz="1000" b="0" u="none" strike="noStrike">
                <a:solidFill>
                  <a:schemeClr val="dk1">
                    <a:lumMod val="65000"/>
                    <a:lumOff val="35000"/>
                  </a:schemeClr>
                </a:solidFill>
                <a:effectLst/>
                <a:uFillTx/>
                <a:latin typeface="メイリオ"/>
                <a:ea typeface="メイリオ"/>
              </a:rPr>
              <a:t>広告（</a:t>
            </a:r>
            <a:r>
              <a:rPr lang="en-US" sz="1000" b="0" u="none" strike="noStrike">
                <a:solidFill>
                  <a:schemeClr val="dk1">
                    <a:lumMod val="65000"/>
                    <a:lumOff val="35000"/>
                  </a:schemeClr>
                </a:solidFill>
                <a:effectLst/>
                <a:uFillTx/>
                <a:latin typeface="メイリオ"/>
                <a:ea typeface="メイリオ"/>
              </a:rPr>
              <a:t>CPF</a:t>
            </a:r>
            <a:r>
              <a:rPr lang="ja-JP" sz="1000" b="0" u="none" strike="noStrike">
                <a:solidFill>
                  <a:schemeClr val="dk1">
                    <a:lumMod val="65000"/>
                    <a:lumOff val="35000"/>
                  </a:schemeClr>
                </a:solidFill>
                <a:effectLst/>
                <a:uFillTx/>
                <a:latin typeface="メイリオ"/>
                <a:ea typeface="メイリオ"/>
              </a:rPr>
              <a:t>配信）</a:t>
            </a:r>
            <a:endParaRPr lang="en-US" sz="1000" b="0" u="none" strike="noStrike">
              <a:solidFill>
                <a:srgbClr val="000000"/>
              </a:solidFill>
              <a:effectLst/>
              <a:uFillTx/>
              <a:latin typeface="Arial"/>
            </a:endParaRPr>
          </a:p>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サイト上ポップアップ</a:t>
            </a:r>
            <a:endParaRPr lang="en-US" sz="1000" b="0" u="none" strike="noStrike">
              <a:solidFill>
                <a:srgbClr val="000000"/>
              </a:solidFill>
              <a:effectLst/>
              <a:uFillTx/>
              <a:latin typeface="Arial"/>
            </a:endParaRPr>
          </a:p>
        </p:txBody>
      </p:sp>
      <p:sp>
        <p:nvSpPr>
          <p:cNvPr id="934" name="正方形/長方形 52"/>
          <p:cNvSpPr/>
          <p:nvPr/>
        </p:nvSpPr>
        <p:spPr>
          <a:xfrm>
            <a:off x="1940040" y="39772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通知メッセ</a:t>
            </a:r>
            <a:endParaRPr lang="en-US" sz="900" b="0" u="none" strike="noStrike">
              <a:solidFill>
                <a:srgbClr val="000000"/>
              </a:solidFill>
              <a:effectLst/>
              <a:uFillTx/>
              <a:latin typeface="Arial"/>
            </a:endParaRPr>
          </a:p>
        </p:txBody>
      </p:sp>
      <p:sp>
        <p:nvSpPr>
          <p:cNvPr id="935" name="正方形/長方形 53"/>
          <p:cNvSpPr/>
          <p:nvPr/>
        </p:nvSpPr>
        <p:spPr>
          <a:xfrm>
            <a:off x="437760" y="39772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CV</a:t>
            </a:r>
            <a:r>
              <a:rPr lang="ja-JP" sz="1000" b="0" u="none" strike="noStrike">
                <a:solidFill>
                  <a:schemeClr val="dk1">
                    <a:lumMod val="65000"/>
                    <a:lumOff val="35000"/>
                  </a:schemeClr>
                </a:solidFill>
                <a:effectLst/>
                <a:uFillTx/>
                <a:latin typeface="メイリオ"/>
                <a:ea typeface="メイリオ"/>
              </a:rPr>
              <a:t>・</a:t>
            </a:r>
            <a:r>
              <a:rPr lang="en-US" sz="1000" b="0" u="none" strike="noStrike">
                <a:solidFill>
                  <a:schemeClr val="dk1">
                    <a:lumMod val="65000"/>
                    <a:lumOff val="35000"/>
                  </a:schemeClr>
                </a:solidFill>
                <a:effectLst/>
                <a:uFillTx/>
                <a:latin typeface="メイリオ"/>
                <a:ea typeface="メイリオ"/>
              </a:rPr>
              <a:t>mcv</a:t>
            </a:r>
            <a:r>
              <a:rPr lang="ja-JP" sz="1000" b="0" u="none" strike="noStrike">
                <a:solidFill>
                  <a:schemeClr val="dk1">
                    <a:lumMod val="65000"/>
                    <a:lumOff val="35000"/>
                  </a:schemeClr>
                </a:solidFill>
                <a:effectLst/>
                <a:uFillTx/>
                <a:latin typeface="メイリオ"/>
                <a:ea typeface="メイリオ"/>
              </a:rPr>
              <a:t>済</a:t>
            </a:r>
            <a:endParaRPr lang="en-US" sz="1000" b="0" u="none" strike="noStrike">
              <a:solidFill>
                <a:srgbClr val="000000"/>
              </a:solidFill>
              <a:effectLst/>
              <a:uFillTx/>
              <a:latin typeface="Arial"/>
            </a:endParaRPr>
          </a:p>
        </p:txBody>
      </p:sp>
      <p:sp>
        <p:nvSpPr>
          <p:cNvPr id="936" name="正方形/長方形 54"/>
          <p:cNvSpPr/>
          <p:nvPr/>
        </p:nvSpPr>
        <p:spPr>
          <a:xfrm>
            <a:off x="3442320" y="32410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37" name="正方形/長方形 55"/>
          <p:cNvSpPr/>
          <p:nvPr/>
        </p:nvSpPr>
        <p:spPr>
          <a:xfrm>
            <a:off x="3442320" y="3977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38" name="矢印: 右 57"/>
          <p:cNvSpPr/>
          <p:nvPr/>
        </p:nvSpPr>
        <p:spPr>
          <a:xfrm>
            <a:off x="1080720" y="45802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39" name="矢印: 右 59"/>
          <p:cNvSpPr/>
          <p:nvPr/>
        </p:nvSpPr>
        <p:spPr>
          <a:xfrm>
            <a:off x="1080720" y="58118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40" name="矢印: 右 61"/>
          <p:cNvSpPr/>
          <p:nvPr/>
        </p:nvSpPr>
        <p:spPr>
          <a:xfrm>
            <a:off x="1080720" y="52016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41" name="正方形/長方形 63"/>
          <p:cNvSpPr/>
          <p:nvPr/>
        </p:nvSpPr>
        <p:spPr>
          <a:xfrm>
            <a:off x="1940040" y="459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サンクス</a:t>
            </a:r>
            <a:r>
              <a:rPr lang="en-US" sz="900" b="0" u="none" strike="noStrike">
                <a:solidFill>
                  <a:schemeClr val="dk1">
                    <a:lumMod val="65000"/>
                    <a:lumOff val="35000"/>
                  </a:schemeClr>
                </a:solidFill>
                <a:effectLst/>
                <a:uFillTx/>
                <a:latin typeface="メイリオ"/>
                <a:ea typeface="メイリオ"/>
              </a:rPr>
              <a:t>LINE</a:t>
            </a:r>
            <a:r>
              <a:rPr lang="ja-JP" sz="900" b="0" u="none" strike="noStrike">
                <a:solidFill>
                  <a:schemeClr val="dk1">
                    <a:lumMod val="65000"/>
                    <a:lumOff val="35000"/>
                  </a:schemeClr>
                </a:solidFill>
                <a:effectLst/>
                <a:uFillTx/>
                <a:latin typeface="メイリオ"/>
                <a:ea typeface="メイリオ"/>
              </a:rPr>
              <a:t>誘導</a:t>
            </a:r>
            <a:endParaRPr lang="en-US" sz="900" b="0" u="none" strike="noStrike">
              <a:solidFill>
                <a:srgbClr val="000000"/>
              </a:solidFill>
              <a:effectLst/>
              <a:uFillTx/>
              <a:latin typeface="Arial"/>
            </a:endParaRPr>
          </a:p>
        </p:txBody>
      </p:sp>
      <p:sp>
        <p:nvSpPr>
          <p:cNvPr id="942" name="正方形/長方形 65"/>
          <p:cNvSpPr/>
          <p:nvPr/>
        </p:nvSpPr>
        <p:spPr>
          <a:xfrm>
            <a:off x="437760" y="459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CV</a:t>
            </a:r>
            <a:r>
              <a:rPr lang="ja-JP" sz="1000" b="0" u="none" strike="noStrike">
                <a:solidFill>
                  <a:schemeClr val="dk1">
                    <a:lumMod val="65000"/>
                    <a:lumOff val="35000"/>
                  </a:schemeClr>
                </a:solidFill>
                <a:effectLst/>
                <a:uFillTx/>
                <a:latin typeface="メイリオ"/>
                <a:ea typeface="メイリオ"/>
              </a:rPr>
              <a:t>・</a:t>
            </a:r>
            <a:r>
              <a:rPr lang="en-US" sz="1000" b="0" u="none" strike="noStrike">
                <a:solidFill>
                  <a:schemeClr val="dk1">
                    <a:lumMod val="65000"/>
                    <a:lumOff val="35000"/>
                  </a:schemeClr>
                </a:solidFill>
                <a:effectLst/>
                <a:uFillTx/>
                <a:latin typeface="メイリオ"/>
                <a:ea typeface="メイリオ"/>
              </a:rPr>
              <a:t>mcv</a:t>
            </a:r>
            <a:r>
              <a:rPr lang="ja-JP" sz="1000" b="0" u="none" strike="noStrike">
                <a:solidFill>
                  <a:schemeClr val="dk1">
                    <a:lumMod val="65000"/>
                    <a:lumOff val="35000"/>
                  </a:schemeClr>
                </a:solidFill>
                <a:effectLst/>
                <a:uFillTx/>
                <a:latin typeface="メイリオ"/>
                <a:ea typeface="メイリオ"/>
              </a:rPr>
              <a:t>済</a:t>
            </a:r>
            <a:endParaRPr lang="en-US" sz="1000" b="0" u="none" strike="noStrike">
              <a:solidFill>
                <a:srgbClr val="000000"/>
              </a:solidFill>
              <a:effectLst/>
              <a:uFillTx/>
              <a:latin typeface="Arial"/>
            </a:endParaRPr>
          </a:p>
        </p:txBody>
      </p:sp>
      <p:sp>
        <p:nvSpPr>
          <p:cNvPr id="943" name="正方形/長方形 67"/>
          <p:cNvSpPr/>
          <p:nvPr/>
        </p:nvSpPr>
        <p:spPr>
          <a:xfrm>
            <a:off x="437760" y="52146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保有リスト</a:t>
            </a:r>
            <a:endParaRPr lang="en-US" sz="1000" b="0" u="none" strike="noStrike">
              <a:solidFill>
                <a:srgbClr val="000000"/>
              </a:solidFill>
              <a:effectLst/>
              <a:uFillTx/>
              <a:latin typeface="Arial"/>
            </a:endParaRPr>
          </a:p>
        </p:txBody>
      </p:sp>
      <p:sp>
        <p:nvSpPr>
          <p:cNvPr id="944" name="正方形/長方形 69"/>
          <p:cNvSpPr/>
          <p:nvPr/>
        </p:nvSpPr>
        <p:spPr>
          <a:xfrm>
            <a:off x="437760" y="58330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保有リスト</a:t>
            </a:r>
            <a:endParaRPr lang="en-US" sz="1000" b="0" u="none" strike="noStrike">
              <a:solidFill>
                <a:srgbClr val="000000"/>
              </a:solidFill>
              <a:effectLst/>
              <a:uFillTx/>
              <a:latin typeface="Arial"/>
            </a:endParaRPr>
          </a:p>
        </p:txBody>
      </p:sp>
      <p:sp>
        <p:nvSpPr>
          <p:cNvPr id="945" name="正方形/長方形 71"/>
          <p:cNvSpPr/>
          <p:nvPr/>
        </p:nvSpPr>
        <p:spPr>
          <a:xfrm>
            <a:off x="1940040" y="52146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通知メッセ</a:t>
            </a:r>
            <a:endParaRPr lang="en-US" sz="900" b="0" u="none" strike="noStrike">
              <a:solidFill>
                <a:srgbClr val="000000"/>
              </a:solidFill>
              <a:effectLst/>
              <a:uFillTx/>
              <a:latin typeface="Arial"/>
            </a:endParaRPr>
          </a:p>
        </p:txBody>
      </p:sp>
      <p:sp>
        <p:nvSpPr>
          <p:cNvPr id="946" name="正方形/長方形 73"/>
          <p:cNvSpPr/>
          <p:nvPr/>
        </p:nvSpPr>
        <p:spPr>
          <a:xfrm>
            <a:off x="1940040" y="58330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メルマガ・テレマ</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chemeClr val="dk1">
                    <a:lumMod val="65000"/>
                    <a:lumOff val="35000"/>
                  </a:schemeClr>
                </a:solidFill>
                <a:effectLst/>
                <a:uFillTx/>
                <a:latin typeface="メイリオ"/>
                <a:ea typeface="メイリオ"/>
              </a:rPr>
              <a:t>SNS</a:t>
            </a:r>
            <a:r>
              <a:rPr lang="ja-JP" sz="900" b="0" u="none" strike="noStrike">
                <a:solidFill>
                  <a:schemeClr val="dk1">
                    <a:lumMod val="65000"/>
                    <a:lumOff val="35000"/>
                  </a:schemeClr>
                </a:solidFill>
                <a:effectLst/>
                <a:uFillTx/>
                <a:latin typeface="メイリオ"/>
                <a:ea typeface="メイリオ"/>
              </a:rPr>
              <a:t>告知</a:t>
            </a:r>
            <a:endParaRPr lang="en-US" sz="900" b="0" u="none" strike="noStrike">
              <a:solidFill>
                <a:srgbClr val="000000"/>
              </a:solidFill>
              <a:effectLst/>
              <a:uFillTx/>
              <a:latin typeface="Arial"/>
            </a:endParaRPr>
          </a:p>
        </p:txBody>
      </p:sp>
      <p:sp>
        <p:nvSpPr>
          <p:cNvPr id="947" name="正方形/長方形 75"/>
          <p:cNvSpPr/>
          <p:nvPr/>
        </p:nvSpPr>
        <p:spPr>
          <a:xfrm>
            <a:off x="3442320" y="459576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48" name="正方形/長方形 77"/>
          <p:cNvSpPr/>
          <p:nvPr/>
        </p:nvSpPr>
        <p:spPr>
          <a:xfrm>
            <a:off x="3442320" y="52146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49" name="正方形/長方形 79"/>
          <p:cNvSpPr/>
          <p:nvPr/>
        </p:nvSpPr>
        <p:spPr>
          <a:xfrm>
            <a:off x="3442320" y="5822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50" name="Shape 17"/>
          <p:cNvSpPr/>
          <p:nvPr/>
        </p:nvSpPr>
        <p:spPr>
          <a:xfrm>
            <a:off x="3636360" y="2080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zh-CN" sz="800" b="0" u="none" strike="noStrike">
                <a:solidFill>
                  <a:schemeClr val="lt1">
                    <a:lumMod val="65000"/>
                  </a:schemeClr>
                </a:solidFill>
                <a:effectLst/>
                <a:uFillTx/>
                <a:latin typeface="メイリオ"/>
                <a:ea typeface="メイリオ"/>
              </a:rPr>
              <a:t>あいさつ</a:t>
            </a:r>
            <a:r>
              <a:rPr lang="en-US" sz="800" b="0" u="none" strike="noStrike">
                <a:solidFill>
                  <a:schemeClr val="lt1">
                    <a:lumMod val="65000"/>
                  </a:schemeClr>
                </a:solidFill>
                <a:effectLst/>
                <a:uFillTx/>
                <a:latin typeface="メイリオ"/>
                <a:ea typeface="メイリオ"/>
              </a:rPr>
              <a:t>MSG</a:t>
            </a:r>
            <a:r>
              <a:rPr lang="zh-CN" sz="800" b="0" u="none" strike="noStrike">
                <a:solidFill>
                  <a:schemeClr val="lt1">
                    <a:lumMod val="65000"/>
                  </a:schemeClr>
                </a:solidFill>
                <a:effectLst/>
                <a:uFillTx/>
                <a:latin typeface="メイリオ"/>
                <a:ea typeface="メイリオ"/>
              </a:rPr>
              <a:t>＋</a:t>
            </a:r>
            <a:endParaRPr lang="en-US" sz="800" b="0" u="none" strike="noStrike">
              <a:solidFill>
                <a:srgbClr val="000000"/>
              </a:solidFill>
              <a:effectLst/>
              <a:uFillTx/>
              <a:latin typeface="Arial"/>
            </a:endParaRPr>
          </a:p>
          <a:p>
            <a:pPr defTabSz="914400">
              <a:lnSpc>
                <a:spcPct val="135000"/>
              </a:lnSpc>
            </a:pPr>
            <a:r>
              <a:rPr lang="zh-CN" sz="800" b="0" u="none" strike="noStrike">
                <a:solidFill>
                  <a:schemeClr val="lt1">
                    <a:lumMod val="65000"/>
                  </a:schemeClr>
                </a:solidFill>
                <a:effectLst/>
                <a:uFillTx/>
                <a:latin typeface="メイリオ"/>
                <a:ea typeface="メイリオ"/>
              </a:rPr>
              <a:t>登録特典</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資料</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診断</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自動送付</a:t>
            </a:r>
            <a:endParaRPr lang="en-US" sz="800" b="0" u="none" strike="noStrike">
              <a:solidFill>
                <a:srgbClr val="000000"/>
              </a:solidFill>
              <a:effectLst/>
              <a:uFillTx/>
              <a:latin typeface="Arial"/>
            </a:endParaRPr>
          </a:p>
        </p:txBody>
      </p:sp>
      <p:sp>
        <p:nvSpPr>
          <p:cNvPr id="951" name="Shape 18"/>
          <p:cNvSpPr/>
          <p:nvPr/>
        </p:nvSpPr>
        <p:spPr>
          <a:xfrm>
            <a:off x="5685480" y="2080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zh-CN" sz="800" b="0" u="none" strike="noStrike">
                <a:solidFill>
                  <a:schemeClr val="lt1">
                    <a:lumMod val="65000"/>
                  </a:schemeClr>
                </a:solidFill>
                <a:effectLst/>
                <a:uFillTx/>
                <a:latin typeface="メイリオ"/>
                <a:ea typeface="メイリオ"/>
              </a:rPr>
              <a:t>教育コンテンツ配信</a:t>
            </a:r>
            <a:endParaRPr lang="en-US" sz="800" b="0" u="none" strike="noStrike">
              <a:solidFill>
                <a:srgbClr val="000000"/>
              </a:solidFill>
              <a:effectLst/>
              <a:uFillTx/>
              <a:latin typeface="Arial"/>
            </a:endParaRPr>
          </a:p>
          <a:p>
            <a:pPr defTabSz="914400">
              <a:lnSpc>
                <a:spcPct val="135000"/>
              </a:lnSpc>
            </a:pPr>
            <a:r>
              <a:rPr lang="zh-CN" sz="800" b="0" u="none" strike="noStrike">
                <a:solidFill>
                  <a:schemeClr val="lt1">
                    <a:lumMod val="65000"/>
                  </a:schemeClr>
                </a:solidFill>
                <a:effectLst/>
                <a:uFillTx/>
                <a:latin typeface="メイリオ"/>
                <a:ea typeface="メイリオ"/>
              </a:rPr>
              <a:t>（週</a:t>
            </a:r>
            <a:r>
              <a:rPr lang="en-US" sz="800" b="0" u="none" strike="noStrike">
                <a:solidFill>
                  <a:schemeClr val="lt1">
                    <a:lumMod val="65000"/>
                  </a:schemeClr>
                </a:solidFill>
                <a:effectLst/>
                <a:uFillTx/>
                <a:latin typeface="メイリオ"/>
                <a:ea typeface="メイリオ"/>
              </a:rPr>
              <a:t>1</a:t>
            </a:r>
            <a:r>
              <a:rPr lang="zh-CN" sz="800" b="0" u="none" strike="noStrike">
                <a:solidFill>
                  <a:schemeClr val="lt1">
                    <a:lumMod val="65000"/>
                  </a:schemeClr>
                </a:solidFill>
                <a:effectLst/>
                <a:uFillTx/>
                <a:latin typeface="メイリオ"/>
                <a:ea typeface="メイリオ"/>
              </a:rPr>
              <a:t>）→ </a:t>
            </a:r>
            <a:r>
              <a:rPr lang="en-US" sz="800" b="0" u="none" strike="noStrike">
                <a:solidFill>
                  <a:schemeClr val="lt1">
                    <a:lumMod val="65000"/>
                  </a:schemeClr>
                </a:solidFill>
                <a:effectLst/>
                <a:uFillTx/>
                <a:latin typeface="メイリオ"/>
                <a:ea typeface="メイリオ"/>
              </a:rPr>
              <a:t>CV</a:t>
            </a:r>
            <a:r>
              <a:rPr lang="zh-CN" sz="800" b="0" u="none" strike="noStrike">
                <a:solidFill>
                  <a:schemeClr val="lt1">
                    <a:lumMod val="65000"/>
                  </a:schemeClr>
                </a:solidFill>
                <a:effectLst/>
                <a:uFillTx/>
                <a:latin typeface="メイリオ"/>
                <a:ea typeface="メイリオ"/>
              </a:rPr>
              <a:t>誘導オファー</a:t>
            </a:r>
            <a:endParaRPr lang="en-US" sz="800" b="0" u="none" strike="noStrike">
              <a:solidFill>
                <a:srgbClr val="000000"/>
              </a:solidFill>
              <a:effectLst/>
              <a:uFillTx/>
              <a:latin typeface="Arial"/>
            </a:endParaRPr>
          </a:p>
        </p:txBody>
      </p:sp>
      <p:sp>
        <p:nvSpPr>
          <p:cNvPr id="952" name="Text 22"/>
          <p:cNvSpPr/>
          <p:nvPr/>
        </p:nvSpPr>
        <p:spPr>
          <a:xfrm>
            <a:off x="-1097280" y="1156320"/>
            <a:ext cx="2358720" cy="58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5000"/>
              </a:lnSpc>
              <a:tabLst>
                <a:tab pos="0" algn="l"/>
              </a:tabLst>
            </a:pPr>
            <a:endParaRPr lang="en-US" sz="900" b="0" u="none" strike="noStrike">
              <a:solidFill>
                <a:schemeClr val="dk1"/>
              </a:solidFill>
              <a:effectLst/>
              <a:uFillTx/>
              <a:latin typeface="Calibri"/>
            </a:endParaRPr>
          </a:p>
        </p:txBody>
      </p:sp>
      <p:sp>
        <p:nvSpPr>
          <p:cNvPr id="953" name="Text 24"/>
          <p:cNvSpPr/>
          <p:nvPr/>
        </p:nvSpPr>
        <p:spPr>
          <a:xfrm>
            <a:off x="1591200" y="1156320"/>
            <a:ext cx="2944080" cy="58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5000"/>
              </a:lnSpc>
              <a:tabLst>
                <a:tab pos="0" algn="l"/>
              </a:tabLst>
            </a:pPr>
            <a:endParaRPr lang="en-US" sz="900" b="0" u="none" strike="noStrike">
              <a:solidFill>
                <a:schemeClr val="dk1"/>
              </a:solidFill>
              <a:effectLst/>
              <a:uFillTx/>
              <a:latin typeface="Calibri"/>
            </a:endParaRPr>
          </a:p>
        </p:txBody>
      </p:sp>
      <p:cxnSp>
        <p:nvCxnSpPr>
          <p:cNvPr id="954" name="直線矢印コネクタ 93"/>
          <p:cNvCxnSpPr>
            <a:endCxn id="951" idx="1"/>
          </p:cNvCxnSpPr>
          <p:nvPr/>
        </p:nvCxnSpPr>
        <p:spPr>
          <a:xfrm>
            <a:off x="5416560" y="2304000"/>
            <a:ext cx="269280" cy="9360"/>
          </a:xfrm>
          <a:prstGeom prst="straightConnector1">
            <a:avLst/>
          </a:prstGeom>
          <a:ln>
            <a:solidFill>
              <a:srgbClr val="000000"/>
            </a:solidFill>
            <a:prstDash val="sysDot"/>
            <a:round/>
            <a:tailEnd type="triangle" w="med" len="med"/>
          </a:ln>
        </p:spPr>
      </p:cxnSp>
      <p:sp>
        <p:nvSpPr>
          <p:cNvPr id="955" name="Shape 17"/>
          <p:cNvSpPr/>
          <p:nvPr/>
        </p:nvSpPr>
        <p:spPr>
          <a:xfrm>
            <a:off x="3636360" y="26143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KW</a:t>
            </a:r>
            <a:r>
              <a:rPr lang="ja-JP" sz="800" b="0" u="none" strike="noStrike">
                <a:solidFill>
                  <a:schemeClr val="lt1">
                    <a:lumMod val="65000"/>
                  </a:schemeClr>
                </a:solidFill>
                <a:effectLst/>
                <a:uFillTx/>
                <a:latin typeface="メイリオ"/>
                <a:ea typeface="メイリオ"/>
              </a:rPr>
              <a:t>自動応答設定</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ユーザー意図別に即返信</a:t>
            </a:r>
            <a:endParaRPr lang="en-US" sz="800" b="0" u="none" strike="noStrike">
              <a:solidFill>
                <a:srgbClr val="000000"/>
              </a:solidFill>
              <a:effectLst/>
              <a:uFillTx/>
              <a:latin typeface="Arial"/>
            </a:endParaRPr>
          </a:p>
        </p:txBody>
      </p:sp>
      <p:sp>
        <p:nvSpPr>
          <p:cNvPr id="956" name="Shape 18"/>
          <p:cNvSpPr/>
          <p:nvPr/>
        </p:nvSpPr>
        <p:spPr>
          <a:xfrm>
            <a:off x="5685480" y="26143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ステップ配信（</a:t>
            </a:r>
            <a:r>
              <a:rPr lang="en-US" sz="800" b="0" u="none" strike="noStrike">
                <a:solidFill>
                  <a:schemeClr val="lt1">
                    <a:lumMod val="65000"/>
                  </a:schemeClr>
                </a:solidFill>
                <a:effectLst/>
                <a:uFillTx/>
                <a:latin typeface="メイリオ"/>
                <a:ea typeface="メイリオ"/>
              </a:rPr>
              <a:t>7</a:t>
            </a:r>
            <a:r>
              <a:rPr lang="ja-JP" sz="800" b="0" u="none" strike="noStrike">
                <a:solidFill>
                  <a:schemeClr val="lt1">
                    <a:lumMod val="65000"/>
                  </a:schemeClr>
                </a:solidFill>
                <a:effectLst/>
                <a:uFillTx/>
                <a:latin typeface="メイリオ"/>
                <a:ea typeface="メイリオ"/>
              </a:rPr>
              <a:t>〜</a:t>
            </a:r>
            <a:r>
              <a:rPr lang="en-US" sz="800" b="0" u="none" strike="noStrike">
                <a:solidFill>
                  <a:schemeClr val="lt1">
                    <a:lumMod val="65000"/>
                  </a:schemeClr>
                </a:solidFill>
                <a:effectLst/>
                <a:uFillTx/>
                <a:latin typeface="メイリオ"/>
                <a:ea typeface="メイリオ"/>
              </a:rPr>
              <a:t>14</a:t>
            </a:r>
            <a:r>
              <a:rPr lang="ja-JP" sz="800" b="0" u="none" strike="noStrike">
                <a:solidFill>
                  <a:schemeClr val="lt1">
                    <a:lumMod val="65000"/>
                  </a:schemeClr>
                </a:solidFill>
                <a:effectLst/>
                <a:uFillTx/>
                <a:latin typeface="メイリオ"/>
                <a:ea typeface="メイリオ"/>
              </a:rPr>
              <a:t>通）</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商談・申込への誘導</a:t>
            </a:r>
            <a:endParaRPr lang="en-US" sz="800" b="0" u="none" strike="noStrike">
              <a:solidFill>
                <a:srgbClr val="000000"/>
              </a:solidFill>
              <a:effectLst/>
              <a:uFillTx/>
              <a:latin typeface="Arial"/>
            </a:endParaRPr>
          </a:p>
        </p:txBody>
      </p:sp>
      <p:cxnSp>
        <p:nvCxnSpPr>
          <p:cNvPr id="957" name="直線矢印コネクタ 98"/>
          <p:cNvCxnSpPr>
            <a:stCxn id="955" idx="3"/>
            <a:endCxn id="956" idx="1"/>
          </p:cNvCxnSpPr>
          <p:nvPr/>
        </p:nvCxnSpPr>
        <p:spPr>
          <a:xfrm>
            <a:off x="5399640" y="2847240"/>
            <a:ext cx="286200" cy="360"/>
          </a:xfrm>
          <a:prstGeom prst="straightConnector1">
            <a:avLst/>
          </a:prstGeom>
          <a:ln>
            <a:solidFill>
              <a:srgbClr val="000000"/>
            </a:solidFill>
            <a:prstDash val="sysDot"/>
            <a:round/>
            <a:tailEnd type="triangle" w="med" len="med"/>
          </a:ln>
        </p:spPr>
      </p:cxnSp>
      <p:sp>
        <p:nvSpPr>
          <p:cNvPr id="958" name="テキスト ボックス 102"/>
          <p:cNvSpPr/>
          <p:nvPr/>
        </p:nvSpPr>
        <p:spPr>
          <a:xfrm>
            <a:off x="7693200" y="1562760"/>
            <a:ext cx="187380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100" b="1" u="none" strike="noStrike">
                <a:solidFill>
                  <a:srgbClr val="FF0000"/>
                </a:solidFill>
                <a:effectLst/>
                <a:uFillTx/>
                <a:latin typeface="メイリオ"/>
                <a:ea typeface="メイリオ"/>
              </a:rPr>
              <a:t>CV</a:t>
            </a:r>
            <a:r>
              <a:rPr lang="ja-JP" sz="1100" b="1" u="none" strike="noStrike">
                <a:solidFill>
                  <a:srgbClr val="FF0000"/>
                </a:solidFill>
                <a:effectLst/>
                <a:uFillTx/>
                <a:latin typeface="メイリオ"/>
                <a:ea typeface="メイリオ"/>
              </a:rPr>
              <a:t>するユーザー割合</a:t>
            </a:r>
            <a:endParaRPr lang="en-US" sz="1100" b="0" u="none" strike="noStrike">
              <a:solidFill>
                <a:srgbClr val="000000"/>
              </a:solidFill>
              <a:effectLst/>
              <a:uFillTx/>
              <a:latin typeface="Arial"/>
            </a:endParaRPr>
          </a:p>
          <a:p>
            <a:pPr algn="ctr" defTabSz="914400">
              <a:lnSpc>
                <a:spcPct val="100000"/>
              </a:lnSpc>
            </a:pPr>
            <a:r>
              <a:rPr lang="en-US" sz="1000" b="0" u="none" strike="noStrike">
                <a:solidFill>
                  <a:srgbClr val="FF0000"/>
                </a:solidFill>
                <a:effectLst/>
                <a:uFillTx/>
                <a:latin typeface="メイリオ"/>
                <a:ea typeface="メイリオ"/>
              </a:rPr>
              <a:t>※平均値</a:t>
            </a:r>
            <a:endParaRPr lang="en-US" sz="1000" b="0" u="none" strike="noStrike">
              <a:solidFill>
                <a:srgbClr val="000000"/>
              </a:solidFill>
              <a:effectLst/>
              <a:uFillTx/>
              <a:latin typeface="Arial"/>
            </a:endParaRPr>
          </a:p>
        </p:txBody>
      </p:sp>
      <p:sp>
        <p:nvSpPr>
          <p:cNvPr id="959" name="テキスト ボックス 104"/>
          <p:cNvSpPr/>
          <p:nvPr/>
        </p:nvSpPr>
        <p:spPr>
          <a:xfrm>
            <a:off x="7845120" y="23140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ja-JP" sz="2800" b="1" u="none" strike="noStrike">
                <a:solidFill>
                  <a:srgbClr val="FF0000"/>
                </a:solidFill>
                <a:effectLst/>
                <a:uFillTx/>
                <a:latin typeface="メイリオ"/>
                <a:ea typeface="メイリオ"/>
              </a:rPr>
              <a:t>３</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0" name="テキスト ボックス 106"/>
          <p:cNvSpPr/>
          <p:nvPr/>
        </p:nvSpPr>
        <p:spPr>
          <a:xfrm>
            <a:off x="7831080" y="32590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1.5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1" name="テキスト ボックス 108"/>
          <p:cNvSpPr/>
          <p:nvPr/>
        </p:nvSpPr>
        <p:spPr>
          <a:xfrm>
            <a:off x="7845120" y="39646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2" name="テキスト ボックス 110"/>
          <p:cNvSpPr/>
          <p:nvPr/>
        </p:nvSpPr>
        <p:spPr>
          <a:xfrm>
            <a:off x="7831080" y="460476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3" name="テキスト ボックス 112"/>
          <p:cNvSpPr/>
          <p:nvPr/>
        </p:nvSpPr>
        <p:spPr>
          <a:xfrm>
            <a:off x="7831080" y="522900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4" name="テキスト ボックス 114"/>
          <p:cNvSpPr/>
          <p:nvPr/>
        </p:nvSpPr>
        <p:spPr>
          <a:xfrm>
            <a:off x="7831080" y="58348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5" name="Shape 17"/>
          <p:cNvSpPr/>
          <p:nvPr/>
        </p:nvSpPr>
        <p:spPr>
          <a:xfrm>
            <a:off x="3636360" y="3291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スクリーニングアンケート</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a:t>
            </a:r>
            <a:r>
              <a:rPr lang="en-US" sz="800" b="0" u="none" strike="noStrike">
                <a:solidFill>
                  <a:schemeClr val="lt1">
                    <a:lumMod val="65000"/>
                  </a:schemeClr>
                </a:solidFill>
                <a:effectLst/>
                <a:uFillTx/>
                <a:latin typeface="メイリオ"/>
                <a:ea typeface="メイリオ"/>
              </a:rPr>
              <a:t>3</a:t>
            </a:r>
            <a:r>
              <a:rPr lang="ja-JP" sz="800" b="0" u="none" strike="noStrike">
                <a:solidFill>
                  <a:schemeClr val="lt1">
                    <a:lumMod val="65000"/>
                  </a:schemeClr>
                </a:solidFill>
                <a:effectLst/>
                <a:uFillTx/>
                <a:latin typeface="メイリオ"/>
                <a:ea typeface="メイリオ"/>
              </a:rPr>
              <a:t>問）→ セグメント分類</a:t>
            </a:r>
            <a:endParaRPr lang="en-US" sz="800" b="0" u="none" strike="noStrike">
              <a:solidFill>
                <a:srgbClr val="000000"/>
              </a:solidFill>
              <a:effectLst/>
              <a:uFillTx/>
              <a:latin typeface="Arial"/>
            </a:endParaRPr>
          </a:p>
        </p:txBody>
      </p:sp>
      <p:sp>
        <p:nvSpPr>
          <p:cNvPr id="966" name="Shape 18"/>
          <p:cNvSpPr/>
          <p:nvPr/>
        </p:nvSpPr>
        <p:spPr>
          <a:xfrm>
            <a:off x="5685480" y="3291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セグメント別シナリオ配信</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ホットリード</a:t>
            </a:r>
            <a:r>
              <a:rPr lang="en-US" sz="800" b="0" u="none" strike="noStrike">
                <a:solidFill>
                  <a:schemeClr val="lt1">
                    <a:lumMod val="65000"/>
                  </a:schemeClr>
                </a:solidFill>
                <a:effectLst/>
                <a:uFillTx/>
                <a:latin typeface="メイリオ"/>
                <a:ea typeface="メイリオ"/>
              </a:rPr>
              <a:t>:</a:t>
            </a:r>
            <a:r>
              <a:rPr lang="ja-JP" sz="800" b="0" u="none" strike="noStrike">
                <a:solidFill>
                  <a:schemeClr val="lt1">
                    <a:lumMod val="65000"/>
                  </a:schemeClr>
                </a:solidFill>
                <a:effectLst/>
                <a:uFillTx/>
                <a:latin typeface="メイリオ"/>
                <a:ea typeface="メイリオ"/>
              </a:rPr>
              <a:t>即スタッフ対応</a:t>
            </a:r>
            <a:endParaRPr lang="en-US" sz="800" b="0" u="none" strike="noStrike">
              <a:solidFill>
                <a:srgbClr val="000000"/>
              </a:solidFill>
              <a:effectLst/>
              <a:uFillTx/>
              <a:latin typeface="Arial"/>
            </a:endParaRPr>
          </a:p>
        </p:txBody>
      </p:sp>
      <p:cxnSp>
        <p:nvCxnSpPr>
          <p:cNvPr id="967" name="直線矢印コネクタ 117"/>
          <p:cNvCxnSpPr>
            <a:stCxn id="965" idx="3"/>
            <a:endCxn id="966" idx="1"/>
          </p:cNvCxnSpPr>
          <p:nvPr/>
        </p:nvCxnSpPr>
        <p:spPr>
          <a:xfrm>
            <a:off x="5399640" y="3524760"/>
            <a:ext cx="286200" cy="360"/>
          </a:xfrm>
          <a:prstGeom prst="straightConnector1">
            <a:avLst/>
          </a:prstGeom>
          <a:ln>
            <a:solidFill>
              <a:srgbClr val="000000"/>
            </a:solidFill>
            <a:prstDash val="sysDot"/>
            <a:round/>
            <a:tailEnd type="triangle" w="med" len="med"/>
          </a:ln>
        </p:spPr>
      </p:cxnSp>
      <p:sp>
        <p:nvSpPr>
          <p:cNvPr id="968" name="Shape 17"/>
          <p:cNvSpPr/>
          <p:nvPr/>
        </p:nvSpPr>
        <p:spPr>
          <a:xfrm>
            <a:off x="3636360" y="40327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サンクス自動</a:t>
            </a:r>
            <a:r>
              <a:rPr lang="en-US" sz="800" b="0" u="none" strike="noStrike">
                <a:solidFill>
                  <a:schemeClr val="lt1">
                    <a:lumMod val="65000"/>
                  </a:schemeClr>
                </a:solidFill>
                <a:effectLst/>
                <a:uFillTx/>
                <a:latin typeface="メイリオ"/>
                <a:ea typeface="メイリオ"/>
              </a:rPr>
              <a:t>MSG</a:t>
            </a:r>
            <a:r>
              <a:rPr lang="ja-JP" sz="800" b="0" u="none" strike="noStrike">
                <a:solidFill>
                  <a:schemeClr val="lt1">
                    <a:lumMod val="65000"/>
                  </a:schemeClr>
                </a:solidFill>
                <a:effectLst/>
                <a:uFillTx/>
                <a:latin typeface="メイリオ"/>
                <a:ea typeface="メイリオ"/>
              </a:rPr>
              <a:t>＋</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次のアクション案内</a:t>
            </a:r>
            <a:endParaRPr lang="en-US" sz="800" b="0" u="none" strike="noStrike">
              <a:solidFill>
                <a:srgbClr val="000000"/>
              </a:solidFill>
              <a:effectLst/>
              <a:uFillTx/>
              <a:latin typeface="Arial"/>
            </a:endParaRPr>
          </a:p>
        </p:txBody>
      </p:sp>
      <p:sp>
        <p:nvSpPr>
          <p:cNvPr id="969" name="Shape 18"/>
          <p:cNvSpPr/>
          <p:nvPr/>
        </p:nvSpPr>
        <p:spPr>
          <a:xfrm>
            <a:off x="5685480" y="40327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リマインド配信</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クロスセル・アップセル</a:t>
            </a:r>
            <a:endParaRPr lang="en-US" sz="800" b="0" u="none" strike="noStrike">
              <a:solidFill>
                <a:srgbClr val="000000"/>
              </a:solidFill>
              <a:effectLst/>
              <a:uFillTx/>
              <a:latin typeface="Arial"/>
            </a:endParaRPr>
          </a:p>
        </p:txBody>
      </p:sp>
      <p:cxnSp>
        <p:nvCxnSpPr>
          <p:cNvPr id="970" name="直線矢印コネクタ 120"/>
          <p:cNvCxnSpPr>
            <a:stCxn id="968" idx="3"/>
            <a:endCxn id="969" idx="1"/>
          </p:cNvCxnSpPr>
          <p:nvPr/>
        </p:nvCxnSpPr>
        <p:spPr>
          <a:xfrm>
            <a:off x="5399640" y="4265640"/>
            <a:ext cx="286200" cy="360"/>
          </a:xfrm>
          <a:prstGeom prst="straightConnector1">
            <a:avLst/>
          </a:prstGeom>
          <a:ln>
            <a:solidFill>
              <a:srgbClr val="000000"/>
            </a:solidFill>
            <a:prstDash val="sysDot"/>
            <a:round/>
            <a:tailEnd type="triangle" w="med" len="med"/>
          </a:ln>
        </p:spPr>
      </p:cxnSp>
      <p:sp>
        <p:nvSpPr>
          <p:cNvPr id="971" name="Shape 17"/>
          <p:cNvSpPr/>
          <p:nvPr/>
        </p:nvSpPr>
        <p:spPr>
          <a:xfrm>
            <a:off x="3636360" y="4638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スクリーニング（</a:t>
            </a:r>
            <a:r>
              <a:rPr lang="en-US" sz="800" b="0" u="none" strike="noStrike">
                <a:solidFill>
                  <a:schemeClr val="lt1">
                    <a:lumMod val="65000"/>
                  </a:schemeClr>
                </a:solidFill>
                <a:effectLst/>
                <a:uFillTx/>
                <a:latin typeface="メイリオ"/>
                <a:ea typeface="メイリオ"/>
              </a:rPr>
              <a:t>3</a:t>
            </a:r>
            <a:r>
              <a:rPr lang="ja-JP" sz="800" b="0" u="none" strike="noStrike">
                <a:solidFill>
                  <a:schemeClr val="lt1">
                    <a:lumMod val="65000"/>
                  </a:schemeClr>
                </a:solidFill>
                <a:effectLst/>
                <a:uFillTx/>
                <a:latin typeface="メイリオ"/>
                <a:ea typeface="メイリオ"/>
              </a:rPr>
              <a:t>問）</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温度感・ニーズ把握</a:t>
            </a:r>
            <a:endParaRPr lang="en-US" sz="800" b="0" u="none" strike="noStrike">
              <a:solidFill>
                <a:srgbClr val="000000"/>
              </a:solidFill>
              <a:effectLst/>
              <a:uFillTx/>
              <a:latin typeface="Arial"/>
            </a:endParaRPr>
          </a:p>
        </p:txBody>
      </p:sp>
      <p:sp>
        <p:nvSpPr>
          <p:cNvPr id="972" name="Shape 18"/>
          <p:cNvSpPr/>
          <p:nvPr/>
        </p:nvSpPr>
        <p:spPr>
          <a:xfrm>
            <a:off x="5685480" y="4638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有効リード育成シナリオ</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商談・再購入誘導</a:t>
            </a:r>
            <a:endParaRPr lang="en-US" sz="800" b="0" u="none" strike="noStrike">
              <a:solidFill>
                <a:srgbClr val="000000"/>
              </a:solidFill>
              <a:effectLst/>
              <a:uFillTx/>
              <a:latin typeface="Arial"/>
            </a:endParaRPr>
          </a:p>
        </p:txBody>
      </p:sp>
      <p:cxnSp>
        <p:nvCxnSpPr>
          <p:cNvPr id="973" name="直線矢印コネクタ 123"/>
          <p:cNvCxnSpPr>
            <a:stCxn id="971" idx="3"/>
            <a:endCxn id="972" idx="1"/>
          </p:cNvCxnSpPr>
          <p:nvPr/>
        </p:nvCxnSpPr>
        <p:spPr>
          <a:xfrm>
            <a:off x="5399640" y="4871880"/>
            <a:ext cx="286200" cy="360"/>
          </a:xfrm>
          <a:prstGeom prst="straightConnector1">
            <a:avLst/>
          </a:prstGeom>
          <a:ln>
            <a:solidFill>
              <a:srgbClr val="000000"/>
            </a:solidFill>
            <a:prstDash val="sysDot"/>
            <a:round/>
            <a:tailEnd type="triangle" w="med" len="med"/>
          </a:ln>
        </p:spPr>
      </p:cxnSp>
      <p:sp>
        <p:nvSpPr>
          <p:cNvPr id="974" name="Shape 17"/>
          <p:cNvSpPr/>
          <p:nvPr/>
        </p:nvSpPr>
        <p:spPr>
          <a:xfrm>
            <a:off x="3636360" y="5262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一斉配信でリスト活性化</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アンケートで属性把握</a:t>
            </a:r>
            <a:endParaRPr lang="en-US" sz="800" b="0" u="none" strike="noStrike">
              <a:solidFill>
                <a:srgbClr val="000000"/>
              </a:solidFill>
              <a:effectLst/>
              <a:uFillTx/>
              <a:latin typeface="Arial"/>
            </a:endParaRPr>
          </a:p>
        </p:txBody>
      </p:sp>
      <p:sp>
        <p:nvSpPr>
          <p:cNvPr id="975" name="Shape 18"/>
          <p:cNvSpPr/>
          <p:nvPr/>
        </p:nvSpPr>
        <p:spPr>
          <a:xfrm>
            <a:off x="5685480" y="5262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セグメント別ナーチャリング</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季節・タイミング別企画配信</a:t>
            </a:r>
            <a:endParaRPr lang="en-US" sz="800" b="0" u="none" strike="noStrike">
              <a:solidFill>
                <a:srgbClr val="000000"/>
              </a:solidFill>
              <a:effectLst/>
              <a:uFillTx/>
              <a:latin typeface="Arial"/>
            </a:endParaRPr>
          </a:p>
        </p:txBody>
      </p:sp>
      <p:cxnSp>
        <p:nvCxnSpPr>
          <p:cNvPr id="976" name="直線矢印コネクタ 126"/>
          <p:cNvCxnSpPr>
            <a:stCxn id="974" idx="3"/>
            <a:endCxn id="975" idx="1"/>
          </p:cNvCxnSpPr>
          <p:nvPr/>
        </p:nvCxnSpPr>
        <p:spPr>
          <a:xfrm>
            <a:off x="5399640" y="5495760"/>
            <a:ext cx="286200" cy="360"/>
          </a:xfrm>
          <a:prstGeom prst="straightConnector1">
            <a:avLst/>
          </a:prstGeom>
          <a:ln>
            <a:solidFill>
              <a:srgbClr val="000000"/>
            </a:solidFill>
            <a:prstDash val="sysDot"/>
            <a:round/>
            <a:tailEnd type="triangle" w="med" len="med"/>
          </a:ln>
        </p:spPr>
      </p:cxnSp>
      <p:sp>
        <p:nvSpPr>
          <p:cNvPr id="977" name="Shape 17"/>
          <p:cNvSpPr/>
          <p:nvPr/>
        </p:nvSpPr>
        <p:spPr>
          <a:xfrm>
            <a:off x="3636360" y="58712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LINE</a:t>
            </a:r>
            <a:r>
              <a:rPr lang="ja-JP" sz="800" b="0" u="none" strike="noStrike">
                <a:solidFill>
                  <a:schemeClr val="lt1">
                    <a:lumMod val="65000"/>
                  </a:schemeClr>
                </a:solidFill>
                <a:effectLst/>
                <a:uFillTx/>
                <a:latin typeface="メイリオ"/>
                <a:ea typeface="メイリオ"/>
              </a:rPr>
              <a:t>移行キャンペーン</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（特典訴求で友だち追加促進）</a:t>
            </a:r>
            <a:endParaRPr lang="en-US" sz="800" b="0" u="none" strike="noStrike">
              <a:solidFill>
                <a:srgbClr val="000000"/>
              </a:solidFill>
              <a:effectLst/>
              <a:uFillTx/>
              <a:latin typeface="Arial"/>
            </a:endParaRPr>
          </a:p>
        </p:txBody>
      </p:sp>
      <p:sp>
        <p:nvSpPr>
          <p:cNvPr id="978" name="Shape 18"/>
          <p:cNvSpPr/>
          <p:nvPr/>
        </p:nvSpPr>
        <p:spPr>
          <a:xfrm>
            <a:off x="5685480" y="58712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LINE</a:t>
            </a:r>
            <a:r>
              <a:rPr lang="ja-JP" sz="800" b="0" u="none" strike="noStrike">
                <a:solidFill>
                  <a:schemeClr val="lt1">
                    <a:lumMod val="65000"/>
                  </a:schemeClr>
                </a:solidFill>
                <a:effectLst/>
                <a:uFillTx/>
                <a:latin typeface="メイリオ"/>
                <a:ea typeface="メイリオ"/>
              </a:rPr>
              <a:t>でリピート率向上</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紹介キャンペーン・</a:t>
            </a:r>
            <a:r>
              <a:rPr lang="en-US" sz="800" b="0" u="none" strike="noStrike">
                <a:solidFill>
                  <a:schemeClr val="lt1">
                    <a:lumMod val="65000"/>
                  </a:schemeClr>
                </a:solidFill>
                <a:effectLst/>
                <a:uFillTx/>
                <a:latin typeface="メイリオ"/>
                <a:ea typeface="メイリオ"/>
              </a:rPr>
              <a:t>LTV</a:t>
            </a:r>
            <a:r>
              <a:rPr lang="ja-JP" sz="800" b="0" u="none" strike="noStrike">
                <a:solidFill>
                  <a:schemeClr val="lt1">
                    <a:lumMod val="65000"/>
                  </a:schemeClr>
                </a:solidFill>
                <a:effectLst/>
                <a:uFillTx/>
                <a:latin typeface="メイリオ"/>
                <a:ea typeface="メイリオ"/>
              </a:rPr>
              <a:t>最大化</a:t>
            </a:r>
            <a:endParaRPr lang="en-US" sz="800" b="0" u="none" strike="noStrike">
              <a:solidFill>
                <a:srgbClr val="000000"/>
              </a:solidFill>
              <a:effectLst/>
              <a:uFillTx/>
              <a:latin typeface="Arial"/>
            </a:endParaRPr>
          </a:p>
        </p:txBody>
      </p:sp>
      <p:cxnSp>
        <p:nvCxnSpPr>
          <p:cNvPr id="979" name="直線矢印コネクタ 129"/>
          <p:cNvCxnSpPr>
            <a:stCxn id="977" idx="3"/>
            <a:endCxn id="978" idx="1"/>
          </p:cNvCxnSpPr>
          <p:nvPr/>
        </p:nvCxnSpPr>
        <p:spPr>
          <a:xfrm>
            <a:off x="5399640" y="6104160"/>
            <a:ext cx="286200" cy="360"/>
          </a:xfrm>
          <a:prstGeom prst="straightConnector1">
            <a:avLst/>
          </a:prstGeom>
          <a:ln>
            <a:solidFill>
              <a:srgbClr val="000000"/>
            </a:solidFill>
            <a:prstDash val="sysDot"/>
            <a:round/>
            <a:tailEnd type="triangle" w="med" len="med"/>
          </a:ln>
        </p:spPr>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中長期施策として</a:t>
            </a:r>
            <a:r>
              <a:rPr lang="en-US" sz="3200" b="1" u="none" strike="noStrike">
                <a:solidFill>
                  <a:schemeClr val="dk1">
                    <a:lumMod val="75000"/>
                    <a:lumOff val="25000"/>
                  </a:schemeClr>
                </a:solidFill>
                <a:effectLst/>
                <a:uFillTx/>
                <a:latin typeface="メイリオ"/>
                <a:ea typeface="メイリオ"/>
              </a:rPr>
              <a:t>…。</a:t>
            </a:r>
            <a:endParaRPr lang="en-US" sz="32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143143</TotalTime>
  <Words>6766</Words>
  <Application>Microsoft Office PowerPoint</Application>
  <PresentationFormat>A4 210 x 297 mm</PresentationFormat>
  <Paragraphs>1256</Paragraphs>
  <Slides>48</Slides>
  <Notes>21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48</vt:i4>
      </vt:variant>
    </vt:vector>
  </HeadingPairs>
  <TitlesOfParts>
    <vt:vector size="56"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1963</cp:revision>
  <cp:lastPrinted>2022-11-01T11:38:14Z</cp:lastPrinted>
  <dcterms:created xsi:type="dcterms:W3CDTF">2015-09-04T09:21:15Z</dcterms:created>
  <dcterms:modified xsi:type="dcterms:W3CDTF">2026-10-13T07:35:06Z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