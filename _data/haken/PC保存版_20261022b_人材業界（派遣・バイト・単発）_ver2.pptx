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762" r:id="rId9"/>
    <p:sldId id="2962" r:id="rId10"/>
    <p:sldId id="2992" r:id="rId11"/>
    <p:sldId id="2993" r:id="rId12"/>
    <p:sldId id="2990" r:id="rId13"/>
    <p:sldId id="2994" r:id="rId14"/>
    <p:sldId id="3009" r:id="rId15"/>
    <p:sldId id="3010" r:id="rId16"/>
    <p:sldId id="3011" r:id="rId17"/>
    <p:sldId id="2939" r:id="rId18"/>
    <p:sldId id="2937" r:id="rId19"/>
    <p:sldId id="2996" r:id="rId20"/>
    <p:sldId id="257" r:id="rId21"/>
    <p:sldId id="2997" r:id="rId22"/>
    <p:sldId id="2954" r:id="rId23"/>
    <p:sldId id="2998" r:id="rId24"/>
    <p:sldId id="2966" r:id="rId25"/>
    <p:sldId id="2999" r:id="rId26"/>
    <p:sldId id="3000" r:id="rId27"/>
    <p:sldId id="3001" r:id="rId28"/>
    <p:sldId id="2953" r:id="rId29"/>
    <p:sldId id="3002" r:id="rId30"/>
    <p:sldId id="3003" r:id="rId31"/>
    <p:sldId id="3004" r:id="rId32"/>
    <p:sldId id="2908" r:id="rId33"/>
    <p:sldId id="3005" r:id="rId34"/>
    <p:sldId id="3008" r:id="rId35"/>
    <p:sldId id="1169" r:id="rId3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34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hyperlink" Target="https://youtube.com/shorts/0qI4QgrOppQ" TargetMode="External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.emf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422468" y="3910946"/>
            <a:ext cx="3065417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22468" y="4341752"/>
            <a:ext cx="3065417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9175"/>
            <a:ext cx="9043200" cy="58085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派遣・バイトの仕事探しは、数日で応募先が決まり、数か月後にまた始まる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一度応募した方に、次の仕事探し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が</a:t>
            </a:r>
            <a:r>
              <a:rPr lang="en-US" altLang="ja-JP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LINE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でスムーズに進むため</a:t>
            </a: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のご提案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618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仕事探しの流れと、LINEでできること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契約満了後の再応募を軸にした全体設計・データ・他社分析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第3章｜参考事例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タウンワークのLINE運用（公式事例・実際の画面・3つの仕組み）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383280"/>
            <a:ext cx="6048000" cy="585216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友だち追加の動線・あいさつ・リッチメニュー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14日間のステップ配信・満了前のご案内・通知メッセージ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181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運用サポート体制・効果測定の設計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第6章｜費用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［第1章］提案の背景｜仕事探しは、応募のたびにくり返される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600" y="790329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派遣・バイトの応募は数日で決まり、数か月後にはまた次の仕事を探し始める。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応募のあともつながりを保てれば、次の仕事探しでも貴社を選んでいただきやすくなる。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624820"/>
            <a:ext cx="4392000" cy="2742488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624820"/>
            <a:ext cx="4392000" cy="3187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仕事探しで起きていること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・応募は、広告や求人サイトから集まる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・同じ日に、複数の会社へ応募する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・連絡がつかず、面接に来られない方もいる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・契約満了や閑散期に、また仕事を探し始める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・次の仕事探しも、また広告や検索から始まる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3200" y="1624820"/>
            <a:ext cx="4392000" cy="2742488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624820"/>
            <a:ext cx="4392000" cy="3187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・希望条件に合う新着求人をお届けできる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・配信は当日中に約8割が開封される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・選択式の質問なら、移動中でも答えやすい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・契約満了の前に、次のお仕事をご案内できる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755852"/>
            <a:ext cx="9043200" cy="637456"/>
          </a:xfrm>
          <a:prstGeom prst="rect">
            <a:avLst/>
          </a:prstGeom>
          <a:solidFill>
            <a:srgbClr val="EEF2F9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31307"/>
            <a:ext cx="8755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で、応募や選考にスムーズに進めるようにする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5558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応募単価や、求人の量・質は、LINEでは変えられない。</a:t>
            </a:r>
          </a:p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LINEで改善できるのは、応募のあとと、次の仕事探しの2つの場面。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881207"/>
            <a:ext cx="3016800" cy="331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LINEの対象外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・求人の仕入れも対象外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881207"/>
            <a:ext cx="30168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応募後に連絡が取りにくい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・同じ日に複数社へ応募している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・電話がつながらず面接に至らない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・職場見学の前に不安で足が止まる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881207"/>
            <a:ext cx="3016800" cy="1588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881207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再応募につながりにくい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LINEで改善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04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・その時、連絡手段が残りにくい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・次の応募も広告から集め直す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748026"/>
            <a:ext cx="9043200" cy="12040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>
              <a:lnSpc>
                <a:spcPct val="160000"/>
              </a:lnSpc>
            </a:pP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改善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により、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広告費はそのままで、同じ方にくり返し応募いただき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6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就業・再就業につながる機会を増やせる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応募CPAの改善は、就業率が今と変わらないことを前提に算出する。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LINEで改善するのは「応募のあと」と「次の仕事探し」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応募から面接に進む割合・リピート応募率は公開データがないため、貴社の実績をもとに算出する／LINEの配信は当日中に約8割が開封される（LINEヤフー公式値）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3035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求人内容や時給はそのままに、応募後のご連絡と次のお仕事探しをLINEで支援する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27192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35975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求人の質と量（仕入れ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時給・給与などの条件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求人広告の単価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27192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835975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・応募の直後に、希望条件を5問だけ伺う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・条件に合う新着求人をお届けする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・閑散期に友だちを増やし、繁忙期の応募へ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1942" y="4753800"/>
            <a:ext cx="4572001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0685" y="4753800"/>
            <a:ext cx="8386629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戻ってきていただく仕組みを整える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351453" y="776599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仕事を探す方の行動の流れ（8つの段階）に合わせて、LINEの施策を配置する。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特に力を入れるのは、④応募のあと、⑧契約満了からの再応募。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どう友だちになっていただくか（Web→LINE）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どう応募につなげるか（LINE→応募）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rgbClr val="1E276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短期14日／満了前に再開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LINE広告（友だち追加）など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1E276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求人誌・店頭・メールのQRコード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メールマガジン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応募前に離れた方は友だちとして残り、応募した方には次の仕事探しで戻っていただくなど、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LINE公式アカウントで対策できる場面は多く、課題に合わせて施策を組み合わせられる。</a:t>
            </a:r>
            <a:endParaRPr lang="ja-JP" altLang="en-US" sz="14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GAでの効果測定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定期的な対応（一部）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初期設計の項目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初期設計の見直し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よくある質問への自動応答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ツールの導入で自動化できる領域</a:t>
            </a:r>
            <a:endParaRPr kumimoji="1" lang="ja-JP" altLang="en-US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［第2章］全体設計｜施策の考え方（どこでLINEにつなぐか）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応募した方だけをLINEにつなぐか、応募前に離れた方もつなぐか。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同じ流入でも、その後にご案内できる人数が大きく変わる。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応募した方だけLINEへ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応募前に離れた方もつなぐ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検索のピークは、派遣が3月、バイトがその1か月後の4月。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どちらも12月が最も少ないため、12月に準備を進め、派遣とバイトで配信の時期を1か月ずらす。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どちらも12月が最も少ない（派遣88.4／バイト88.0）。友だちを増やしておく時期と考える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バイトは8月にも少なくなる（89.1）。夏は短期・単発の求人を案内しやすい時期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検索が少ない時期に友だちを増やし、ピークの応募につなげる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求人」を検索した方が、その前後15日間に何を調べているか。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検索した当日に派遣会社名が多く並び、同じ日に複数の会社を比べていることが分かる。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219821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当日「派遣</a:t>
            </a: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3年ルール」</a:t>
            </a:r>
          </a:p>
          <a:p>
            <a:pPr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探し始めの段階で、すでに将来の働き方も視野に入れている</a:t>
            </a:r>
            <a:endParaRPr lang="en-US" altLang="ja-JP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endParaRPr lang="en-US" altLang="ja-JP" sz="5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lang="en-US" altLang="ja-JP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日後「派遣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次の仕事を考え始めている可能性がある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仕事を探し始めた時点で、すでに次の働き方を気にしている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検索行動のデータであり、応募者ご本人の行動と同じとは限らない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［第2章］求職者の心理｜不安は、応募のあとにも続く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557117"/>
            <a:ext cx="9331200" cy="77936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前後検索を見ると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単発バイト」を検索した方は、検索の前は仕事を探し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検索の後は「続けられるか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副業として問題ないか」を調べている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応募のあとも同じ不安があると考え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それに適した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配信を設計する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024583"/>
            <a:ext cx="18720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  <a:endParaRPr lang="en-US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登録時点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同じ日に、複数の会社を比べている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続けられるか・副業として問題ないか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応募のあとも、役に立つ情報をLINEで届け続ける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単発バイト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検索行動のデータであり、応募後の行動そのものではない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［第2章］他社分析｜派遣・バイト大手のLINE運用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大手各社は、LINEを「求人を探す入口」か「希望を伺って求人を届ける場」として使っている。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応募の手続きは、サイト・アプリ・マイページで行う会社が多い。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6128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2704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追加の直後に希望を伺い、合う求人を届ける形は、派遣大手がすでに取り入れている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2000" y="6329940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出典｜各社の公式サイトのLINE紹介ページ・LINE公式アカウントのプロフィール（2026年10月22日確認）。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友だち数は表示値。マンパワーグループは「JOBNET」のアカウント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784" y="1563029"/>
            <a:ext cx="9043416" cy="3108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4936" y="1563029"/>
            <a:ext cx="2057400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会社（区分）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8056" y="1563029"/>
            <a:ext cx="1143000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2496" y="1563029"/>
            <a:ext cx="3703319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LINEでできること（各社の案内）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7256" y="1563029"/>
            <a:ext cx="1783080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LINEの使い方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936" y="18739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スタッフサービス</a:t>
            </a:r>
            <a:r>
              <a:rPr sz="10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派遣</a:t>
            </a:r>
            <a:endParaRPr sz="10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608056" y="18739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5,248,970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2496" y="1901054"/>
            <a:ext cx="3703319" cy="40294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希望に合う求人情報が届く</a:t>
            </a:r>
            <a:r>
              <a:rPr sz="11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1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ジョブタイプ診断、在宅・週4日以内など条件別の求人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7256" y="18739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探す入口＋診断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1784" y="2331125"/>
            <a:ext cx="9043416" cy="4572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4936" y="23311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アデコ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派遣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8056" y="23311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1,010,975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2496" y="23311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追加後のアンケート（約1分）で希望を伺い、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条件に合う求人を配信。求人への応募も可能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7256" y="23311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希望を伺って届ける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936" y="27883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ランスタッド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派遣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8056" y="27883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76,424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2496" y="27883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希望条件に合う求人の案内。入社書類の提出、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就業中のチャット相談・勤怠報告まで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7256" y="27883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届ける＋就業中の連絡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784" y="3245524"/>
            <a:ext cx="9043416" cy="4572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4936" y="3245524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マンパワーグループ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派遣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08056" y="3245524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11,030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2496" y="3245524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求人情報・キャンペーン・セミナーの配信。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応募はJOBNETのマイページから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7256" y="3245524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マイページへつなぐ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936" y="37027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バイトル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バイト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8056" y="37027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15,848,943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2496" y="37027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おすすめ求人や、あなたに合った情報を届ける。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トークのメニューから条件・キーワードで探す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7256" y="37027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探す入口＋届ける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1784" y="4159925"/>
            <a:ext cx="9043416" cy="4572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4936" y="41599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マイナビバイト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バイト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8056" y="4280670"/>
            <a:ext cx="1143000" cy="21571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altLang="ja-JP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6,194,444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842496" y="41599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学生・主婦（夫）・フリーター向けの情報、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履歴書・面接対策、保存した求人の通知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7256" y="41599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情報・通知の配信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4936" y="46171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単発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8056" y="46171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199,061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2496" y="46171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あなたに合ったおすすめの求人を届ける。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仕事探し・申込みはアプリで行う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7256" y="46171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届ける＋アプリへ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最もタップされたのは、一番上に置いた「人気のバイト検索条件」。</a:t>
            </a:r>
            <a:endParaRPr lang="ja-JP" altLang="en-US" sz="11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リッチメニューは、トーク画面を開くと必ず目に入る場所。そこに「探す」を置いている。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2019年時点で、今後は利用者の状況や行動に応じてリッチメニューを出し分けることを構想していると紹介されている。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719791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友だち追加の直後に「気になるテーマをタップ」と案内し、リッチメニューには学生歓迎などが並ぶ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［第3章］タウンワークの取り組みは、3つの仕組みに分けられる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公式事例（2019年）と実際の画面（2026年9月）から、3つの仕組みが読み取れる。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特に①の考え方を、リッチメニュー（P21）に取り入れる。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弊社確認）。実際の画面はP14。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応募はサイトで行い、LINEには「探す入口」と「次に探すきっかけ」を置く。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合う求人を受け取るために、会員情報とLINEを連携する。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［第4章］構築｜施策展開図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「新しい友だちの追加」と「応募につなげる動線」の2つが重要。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企画配信（毎月）とステップ配信（常時）を組み合わせて、動線をつくる。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具体的な施策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◯LINE友だち追加のメリットを提示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✓新着のお知らせ　✓条件に合う求人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◯LINEでのやり取りへご案内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LINEで条件確認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◯LINEで関係を深める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◯LINEで希望条件を伺う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✓合う求人のご案内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◯企画配信（毎月）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✓季節・時期に合わせた求人特集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働き方の悩み→お役立ち情報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アンケートの回答→合う求人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✓追加から14日間の自動配信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（前後検索の順番に沿う）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✓応募に進む導線設計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（興味→共感→信頼→応募）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518451" y="3575596"/>
            <a:ext cx="2360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◯プロフィール・リッチメニュー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◯応募後のフォロー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✓よくある質問の自動化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✓紹介特典のご案内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◯応募済みの方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✓応答メッセージで不安を解消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◯再応募・次の仕事の案内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✓満了の時期・近い職種を設定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◯希望条件の再確認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✓反応が止まった方に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希望条件を改めて伺う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◯求人の再案内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✓条件に合う新着を再案内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貴社の対応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「新しい友だちの追加」と「友だちを応募につなげる動線」の2つが重要。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HP・LPで、条件を満たすと</a:t>
            </a: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ユーザーの行動に応じて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API連携でメッセージを送る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Webサイトの応募完了ページから</a:t>
            </a: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LINEログイン・ID連携など</a:t>
            </a: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スタンプ・ポイント施策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・プロフィールからの動線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・キーワード自動応答の設定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・ステップ配信：応募などの後、決まった日数で自動配信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[新規] → 毎月の配信</a:t>
            </a:r>
            <a:endParaRPr lang="en-US" altLang="ja-JP" sz="12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・季節・時事に合わせた配信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・よくある質問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友だちを応募につなげる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LINEの標準機能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（表示数・クリック数）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 APIツール ※有料</a:t>
            </a:r>
            <a:endParaRPr lang="en-US" altLang="ja-JP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（行動のスコア付け）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その他：Web動線の整備、プレスリリース等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※クリエイティブ費用は基本的に含む。開発費用は別途お見積り。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［第4章］構築｜友だち追加の動線と、その後の配信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どこで友だちになっても、まず求人診断で希望条件を伺い、その後の配信を場面ごとに変える。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⑤の通知メッセージは、友だち追加していない方にも電話番号あてに届く（別途費用）。用途は審査制のため、求人案内での利用可否は事前に確認する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1216152"/>
            <a:ext cx="2450592" cy="274320"/>
          </a:xfrm>
          <a:prstGeom prst="rect">
            <a:avLst/>
          </a:prstGeom>
          <a:noFill/>
        </p:spPr>
        <p:txBody>
          <a:bodyPr wrap="square" lIns="36000" tIns="10800" rIns="36000" bIns="1080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友だち追加の場面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1216152"/>
            <a:ext cx="1965959" cy="274320"/>
          </a:xfrm>
          <a:prstGeom prst="rect">
            <a:avLst/>
          </a:prstGeom>
          <a:noFill/>
        </p:spPr>
        <p:txBody>
          <a:bodyPr wrap="square" lIns="36000" tIns="10800" rIns="36000" bIns="10800" anchor="b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登録する方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1216152"/>
            <a:ext cx="4352544" cy="274320"/>
          </a:xfrm>
          <a:prstGeom prst="rect">
            <a:avLst/>
          </a:prstGeom>
          <a:noFill/>
        </p:spPr>
        <p:txBody>
          <a:bodyPr wrap="square" lIns="36000" tIns="10800" rIns="36000" bIns="10800" anchor="b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その方に配信する内容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1545336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応募完了画面＊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（サンクスLINE誘導）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1545336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応募した方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1545336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求人診断（希望条件5問）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面接・見学の前日のご案内、満了前に次のお仕事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2249424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2249424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応募せずに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LPを離れた方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249424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条件に合う求人／時給・続けられるかの不安に回答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2953512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2953512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まだ貴社を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知らない方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2953512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このアカウントでできること → 求人診断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条件に合う求人を3件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3657600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3657600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求人誌・店頭で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貴社を知った方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657600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求人診断（エリアは掲載地域から）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掲載エリアの新着求人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4361687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通知メッセージ＊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361687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過去に応募した方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（既存リスト）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361687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求人診断（次に探す時期も伺う）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時期に合わせて求人をご案内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" y="5120639"/>
            <a:ext cx="9043416" cy="9144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8" y="5138928"/>
            <a:ext cx="8769096" cy="87782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＊ 別途費用がかかるもの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サンクスLINE誘導：初期15万円・月額3万円〜　　② 離脱防止ポップアップ：初期1.5万円・月額3万円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LINE広告（CPF）：広告費が別途かかる　　⑤ 通知メッセージ：初期10万円・月額8万円〜＋通数7円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最初に、このアカウントでできることをお伝えする。</a:t>
            </a:r>
          </a:p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そのうえで希望条件を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問だけ伺い、条件に合う新着求人をお届けすると約束する。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最初に電話のことを書く理由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知らない番号からの着信を、負担に感じる方は多い。先にお伝えすることで、安心して返信いただける。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「新着のお知らせ」を先に出す理由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応募が終わっても、また仕事を探す時期が来る。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5問にする理由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エリア・職種・時給・曜日・働き方の5つに絞る。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選択式で30秒ほど。その場で答えていただける。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画面はイメージ。文面・ボタン名は貴社のサービスに合わせて調整する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050509-A9EB-2806-F5E0-B1D74FF6C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1401848"/>
            <a:ext cx="3180000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応募の直後に、エリア・職種・時給・曜日・働き方を30秒で伺う。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経歴は伺わない。答えやすい5問で、その後にお届けする求人を決める。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目的：希望条件を伺い、条件に合う新着求人だけをお届けする（全員に同じ求人を送らない）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Day2「時給の相場」の軸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57152"/>
            <a:ext cx="7920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求人を探す入口と、応募前の不安を減らすボタンを並べる。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画面はイメージ。ボタン名は運用しながら調整する</a:t>
            </a:r>
          </a:p>
        </p:txBody>
      </p:sp>
      <p:pic>
        <p:nvPicPr>
          <p:cNvPr id="27" name="Picture 26" descr="haken_richmenu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25" y="1287533"/>
            <a:ext cx="2844770" cy="4572000"/>
          </a:xfrm>
          <a:prstGeom prst="rect">
            <a:avLst/>
          </a:prstGeom>
        </p:spPr>
      </p:pic>
      <p:cxnSp>
        <p:nvCxnSpPr>
          <p:cNvPr id="28" name="Connector 27"/>
          <p:cNvCxnSpPr>
            <a:cxnSpLocks/>
          </p:cNvCxnSpPr>
          <p:nvPr/>
        </p:nvCxnSpPr>
        <p:spPr>
          <a:xfrm>
            <a:off x="3611702" y="3986136"/>
            <a:ext cx="507028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40131" y="3643599"/>
            <a:ext cx="2029011" cy="68712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探す・進む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条件に合う求人を探し</a:t>
            </a:r>
            <a:r>
              <a:rPr sz="12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応募・登録はサイトで行う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 flipV="1">
            <a:off x="3611702" y="4842946"/>
            <a:ext cx="507028" cy="1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8730" y="4500410"/>
            <a:ext cx="1937847" cy="68712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不安を減らす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職場や働き方の疑問に</a:t>
            </a:r>
            <a:r>
              <a:rPr sz="12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応募の前にお答えする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9D0CBE-306A-322A-82C9-550529049B96}"/>
              </a:ext>
            </a:extLst>
          </p:cNvPr>
          <p:cNvSpPr txBox="1"/>
          <p:nvPr/>
        </p:nvSpPr>
        <p:spPr>
          <a:xfrm>
            <a:off x="6169142" y="1873884"/>
            <a:ext cx="38494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探す・進む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仕事情報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⇒条件に合う求人を探す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（応募はサイトで行う）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マイページ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⇒希望条件や応募状況を確認する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登録・来社予約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⇒登録の手続き・来社の予約に進む</a:t>
            </a:r>
          </a:p>
          <a:p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不安を減らす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⇒仕事内容・給与・職場見学の疑問に答える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社員インタビュー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⇒実際に働く方の声で職場を知る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お問い合わせ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⇒電話以外に、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でも相談できる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［第4章］配信設計｜追加後15日でアクティブ率が落ちる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友だち追加から15日ほどで反応が下がり、ブロックも増えやすい。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そのため、最初の14日間のステップ配信を先に整える。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時期に合わせた配信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日数は目安。一般的なLINE公式アカウント運用の傾向であり、貴社の実績とは異なる場合がある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［第4章］配信設計｜14日ステップの全体像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配信は、反応が高い友だち追加後の14日間で組む。求人をお届けするのはDay0とDay14だけ。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続けられるか」の順に、疑問に答える。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相談先を伝える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不安を解消する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次を探す方に、他社より先に届く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Day6は求人をお届けしない回にし、Day14の新着を開いていただきやすくする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配信の流れを変える。「単発・日払い」はステップ配信に入れず、新着のお知らせのみ。面接予約・就業開始など状況が変わったら、その時点で配信を切り替える。契約満了前のご案内は、満了予定日をもとにお送りす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Day0は5問の回答直後に、条件に合う求人を3件だけお届けする。Day6は求人をお届けしない。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「合わなかったら相談できる」と先に伝えることで、信頼につなげる。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Day0｜3件だけお届けする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何十件も並べず、条件に合う3件に絞る。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複数の会社を比べている方の、選ぶ手間を減らす。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Day6｜求人はお届けしない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「ここなら続けられそう」と感じていただくこと。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Day14の新着を開いていただくきっかけにする。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Day14・契約満了前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Day14は新着のまとめと「条件を変える」のご案内。契約満了の1か月前には、こちらからご案内する。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次に探し始める時期が分かるのは、就業中の方だけ。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Day14｜条件を変えられることを伝える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満了1か月前｜先にご案内する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契約満了予定日をもとにお送りする。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他社より先に、次のご希望を伺える。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更新する方への対応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「更新する」を選んだ方は、次の満了まで通知を止める。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派遣のお仕事は1回で終わらない。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検索のピークは、派遣が3月、バイトが4月。どちらも12月が最も少ない。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12月に友だちを増やし、3月は派遣、4月はバイトの応募へつなげる。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施策：12月に増やした友だちへ、条件別の新着を一斉に案内。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8月に少なくなったあと、下半期の入れ替えで動く。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施策：契約満了に合わせてご案内し、12月へつなげる。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KPI：再応募数（満了後に戻った方）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準備の時期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「年明けから働きたい方の先行受付」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友だちを増やしやすい時期と考える。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施策：条件の再確認と新着の先行案内。3〜4月の応募へ。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KPI：友だち追加数（この月は応募のご案内を控える）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派遣とバイトで配信を1か月ずらす（3月に派遣、4月にバイト）。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友だち追加していない方にも、電話番号あてに届く。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面接・職場見学の前日のご案内は、実施率の改善につながる。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① 面接・職場見学の前日のご案内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日時・場所・道順・持ち物・服装を前日に送付する。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欠席が減ると、派遣先・掲載企業との関係も続く。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② 過去の応募者への友だち追加のご案内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連絡が途絶えた方へも、友だち追加をご案内する。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求人は、友だち追加の後に通常の配信でお届けする。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③ 契約満了の1か月前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更新のご意向の確認として、次のご希望を伺う。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探し始める時期が分かるため、先にご案内できる。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通知メッセージは別途費用（初期10万円／月額8万円〜＋通数単価7円）。用途は審査制で、配送・予約確認などの個別通知が前提。求人案内での利用可否は事前に確認する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804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応募数も広告費も増やさずに、面接・職場見学に来られる方を増やす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無断欠席を防ぐ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不安に先に答える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落ちる不安を和らげる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LINEで候補日を選んでいただく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電話の往復中の離脱を防ぐ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合わなければ次をご案内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関心が高いうちに、次の応募へ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応募の数より、就業・再就業につながることを目指す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応募から面接に進む割合の業界水準は公開データがないため、貴社の実績をもとに算出する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［第4章］歩留まり｜求職者が動く時間帯に、LINEで対応する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77827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求職者が仕事を探すのは夜間・土日が多く、電話で対応できる時間とずれやすい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その時間帯のやり取りを、LINEで補う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起きやすいこと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・応募直後のお電話が、つながりにくい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・面接日程の調整で、電話が何度も往復する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・同じご質問に、何度も回答している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LINEに置き換えられるもの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・前日のご案内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人を増やすより、やり取りの時間帯を合わせることが大切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LINEなら、求職者の都合の良い時間にやり取りできる。電話でなくてもよいやり取りを、LINEに移す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GAレポートと連携し、応募率・面接の実施率を毎月確認する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年間カレンダーに沿った配信を、貴社に代わって作成する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1358536" y="579155"/>
            <a:ext cx="7419703" cy="76165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すぐに見る指標と、後から見る指標を分ける。リピート応募は満了を待つため、お約束に含めない。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応募CPAの改善は、就業・再就業率が現状と変わらないことを前提に算出する。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貴社の実績（月の応募数・面接の実施数・広告費）をいただければ、貴社に合わせた数値をお出しする。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確認できる時期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Meiryo"/>
              </a:rPr>
              <a:t>後から見る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就業率が今と同じ水準という前提で算出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5959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お電話 → つながらない → 面接に来ない → 満了で連絡が途切れる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貴社の課題とご予算に合わせて、4つのプランから選べる。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初期費用は初月のみ。2か月目以降は月額費用のみ。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すべて税抜・6か月〜の契約。成果地点と単価は個別に調整する。開発やツール導入は別途費用。目安：コンサル基本＋通知メッセージで月28万円〜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141755</TotalTime>
  <Words>4481</Words>
  <Application>Microsoft Office PowerPoint</Application>
  <PresentationFormat>A4 210 x 297 mm</PresentationFormat>
  <Paragraphs>819</Paragraphs>
  <Slides>34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1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1931</cp:revision>
  <cp:lastPrinted>2022-11-01T11:38:14Z</cp:lastPrinted>
  <dcterms:created xsi:type="dcterms:W3CDTF">2015-09-04T09:21:15Z</dcterms:created>
  <dcterms:modified xsi:type="dcterms:W3CDTF">2026-10-22T07:46:19Z</dcterms:modified>
</cp:coreProperties>
</file>