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6"/>
  </p:notesMasterIdLst>
  <p:handoutMasterIdLst>
    <p:handoutMasterId r:id="rId37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762" r:id="rId9"/>
    <p:sldId id="2962" r:id="rId10"/>
    <p:sldId id="2992" r:id="rId11"/>
    <p:sldId id="2993" r:id="rId12"/>
    <p:sldId id="2990" r:id="rId13"/>
    <p:sldId id="2994" r:id="rId14"/>
    <p:sldId id="3009" r:id="rId15"/>
    <p:sldId id="3010" r:id="rId16"/>
    <p:sldId id="3011" r:id="rId17"/>
    <p:sldId id="2939" r:id="rId18"/>
    <p:sldId id="2937" r:id="rId19"/>
    <p:sldId id="2996" r:id="rId20"/>
    <p:sldId id="2997" r:id="rId21"/>
    <p:sldId id="2954" r:id="rId22"/>
    <p:sldId id="2998" r:id="rId23"/>
    <p:sldId id="2966" r:id="rId24"/>
    <p:sldId id="2999" r:id="rId25"/>
    <p:sldId id="3000" r:id="rId26"/>
    <p:sldId id="3001" r:id="rId27"/>
    <p:sldId id="2953" r:id="rId28"/>
    <p:sldId id="3002" r:id="rId29"/>
    <p:sldId id="3003" r:id="rId30"/>
    <p:sldId id="3004" r:id="rId31"/>
    <p:sldId id="2908" r:id="rId32"/>
    <p:sldId id="3005" r:id="rId33"/>
    <p:sldId id="3008" r:id="rId34"/>
    <p:sldId id="1169" r:id="rId3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3.emf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422468" y="3910946"/>
            <a:ext cx="3065417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22468" y="4341752"/>
            <a:ext cx="3065417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派遣・バイトの応募は数日で決まり、次の仕事探しでまた始まる。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一度来た人に、応募のたびに戻ってきてもらう提案です。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618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応募の</a:t>
            </a:r>
            <a:r>
              <a:rPr lang="ja-JP" altLang="en-US"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度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に接点が切れている実態と、LINEでできること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主戦場は契約満了からの再応募。データ・他社分析・タウンワーク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タウンワークの型・友だち追加の動線・あいさつ・リッチメニュー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5408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7日ステップ・実文面・満了フォロー・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通知メッセージ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181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運用サポート体制・効果測定の設計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第6章｜費用試算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費用プラン・次回の試算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</a:t>
            </a: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提案の</a:t>
            </a:r>
            <a:r>
              <a:rPr lang="en-US" altLang="ja-JP" sz="1600" b="1" dirty="0" err="1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背景</a:t>
            </a: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｜</a:t>
            </a: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応募の度に、接点が切れている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600" y="790329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派遣・バイトの応募は数日で決まり、数か月でまた探し始めます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それなのに応募が終わると接点が切れ、次はまた広告で買い直しています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624820"/>
            <a:ext cx="4392000" cy="2742488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624820"/>
            <a:ext cx="4392000" cy="3187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・応募は取れている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・連絡がつかず、面接に来ない人がいる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次の仕事探しも、また広告</a:t>
            </a:r>
            <a:r>
              <a:rPr lang="ja-JP" altLang="en-US"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・検索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から始まる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83200" y="1624820"/>
            <a:ext cx="4392000" cy="2742488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624820"/>
            <a:ext cx="4392000" cy="3187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LINEに置き換えると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・希望条件に合う新着だけが届く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選択式なら移動中でも答えられる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・契約満了の前に、こちらから声をかけられる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755852"/>
            <a:ext cx="9043200" cy="637456"/>
          </a:xfrm>
          <a:prstGeom prst="rect">
            <a:avLst/>
          </a:prstGeom>
          <a:solidFill>
            <a:srgbClr val="EEF2F9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31307"/>
            <a:ext cx="8755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で、応募や選考にスムーズに進めるようにする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応募の単価は下げられない。求人の量と質も変えられない。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触れるのは、応募したあとと、次に探すときの2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パターン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881207"/>
            <a:ext cx="3016800" cy="331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・求人の仕入れには手を入れない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881207"/>
            <a:ext cx="30168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応募後の音信不通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触れる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・電話がつながらず、面接に来ない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・職場見学の前に、不安で止まる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881207"/>
            <a:ext cx="3016800" cy="1588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881207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流入の使い捨て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触れる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04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契約満了・閑散期にまた探し始める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そのとき、接点が残っていない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次の応募も広告から買い直す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000" y="3748026"/>
            <a:ext cx="9043200" cy="8593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②③を解消すると、広告費は据え置きのまま、同じ人が繰り返し応募し、就業・再就業につながる機会が増える。</a:t>
            </a:r>
          </a:p>
          <a:p>
            <a:pPr algn="l">
              <a:lnSpc>
                <a:spcPct val="160000"/>
              </a:lnSpc>
            </a:pP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応募CPAの改善は、就業率が今と変わらないことを前提に試算します。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触れるのは「応募したあと」と「次に探すとき」だけ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応募→面接実施率・リピート応募率は公開データが存在せず、貴社の実測が必要です／LINEは当日中に約8割が開封される（LINEヤフー公式値）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3035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先に線を引きます。変えられないことを明らかにしたうえで、</a:t>
            </a: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変えられる場所に絞ります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27192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35975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求人の質と量（仕入れ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時給・給与などの条件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求人広告の単価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雇用情勢そのものの動き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27192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835975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・応募した直後に、希望条件だけを聞く（5問）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条件に合う新着だけを届ける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面接・職場見学の前日にリマインドする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契約満了の前に、次の仕事を案内する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閑散期に友だちを貯め、繁忙期の応募につなぐ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81942" y="4753800"/>
            <a:ext cx="4572001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0685" y="4753800"/>
            <a:ext cx="8386629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戻ってきてもらう仕組み</a:t>
            </a:r>
            <a:r>
              <a:rPr lang="ja-JP" altLang="en-US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を整える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687600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働きたい人のカスタマージャーニーにあわせて、LINEの施策を配置します。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ピークは④応募でなく⑧契約満了からの再応募。ここが本提案の主戦場です。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友だち追加させるか？</a:t>
            </a:r>
            <a:r>
              <a:rPr kumimoji="1" lang="ja-JP" altLang="en-US" sz="1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kumimoji="1" lang="en-US" altLang="ja-JP" sz="1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</a:t>
            </a:r>
            <a:r>
              <a:rPr kumimoji="1" lang="en-US" altLang="ja-JP" sz="1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どう友だちを応募に結びつけるか？（LINE→応募）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rgbClr val="1E276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LINE_CPF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やその他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1E276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 ※デザイン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メルマガ </a:t>
            </a:r>
            <a:r>
              <a:rPr lang="en-US" altLang="ja-JP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デザイン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応募前の離脱者→友だちとして残す、応募者→次の仕事探しで戻す 等、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公式アカウントで対策できるポイントが非常に多く、課題に応じた施策展開が可能。</a:t>
            </a:r>
            <a:endParaRPr lang="ja-JP" altLang="en-US" sz="14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</a:t>
            </a:r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レポーティング対応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定期対応項目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一部抽出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初期設計項目↓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各種初期設計の調整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解消（自動応答）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自動化</a:t>
            </a:r>
            <a:r>
              <a:rPr lang="en-US" altLang="ja-JP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ツール導入により</a:t>
            </a:r>
            <a:r>
              <a:rPr lang="en-US" altLang="ja-JP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可能領域</a:t>
            </a:r>
            <a:endParaRPr kumimoji="1" lang="ja-JP" altLang="en-US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［第2章］全体設計｜施策の考え方（どこでLINEに繋ぐか）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応募した人だけをLINEに繋ぐか、応募前に離脱した人も拾うか。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同じ流入でも、その後に追える人数が大きく変わります。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応募した人だけLINEへ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応募前の離脱者も拾う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派遣は毎年3月がピーク。バイトはその1か月後、4月がピーク。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両方とも12月が最も低い。仕込みは12月、派遣とバイトで配信を1か月ずらす。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両方とも12月が最も少ない（派遣88.4／バイト88.0）。友だちを貯めやすい時期と考えます（仮説）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バイトは8月にも谷がある（89.1）。夏は短期・単発の出番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ピークの直前に動くのでは遅い。谷で貯めて、ピークで応募につなげる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求人」を検索した人が、その前後15日に何を調べているか。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0日に派遣会社名が縦に並ぶ。同じ日に何社も比べている。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136106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0日「派遣 3年ルール」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検索と同時に先の不安も見える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次の仕事を考え始める（仮説）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求人を探し始めた時点で、もう次の不安が見え始めている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求人」・直近1年間（2025年3月17日〜2026年3月22日）。色分けは弊社。★検索行動のデータであり、応募者本人の行動と同一ではありません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［第2章］求職者の心理｜不安は、応募したあとに出てくる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前後検索で見ると、「派遣 求人」「単発バイト」を検索した人は、前は「探す」、後は「続けられるか」「バレないか」を調べている。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★これは検索行動の事実。応募後も同じ不安があるという仮説で、配信を設計しています。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153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同じ日に、何社も並べている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続けられるか・バレないか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検索は終点ではない。探し始めた人は、その後も「続けられるか」を調べ続けている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求人」「単発バイト」・直近1年間（2025年3月17日〜2026年3月22日）。★検索行動のデータであり、応募後の行動そのものではありません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［第2章］他社分析｜主要エージェントのLINE運用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大手はすでに全社が運用している。開設の提案ではない。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見るべきは友だち数ではなく、追加した直後に何をさせているか。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追加直後にやらせること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大手ほど「連携」「登録フォーム」から始めている。LINEの外に出している。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★ LINE内で完結させているのは、第二新卒特化のUZUZと、職種特化のマイナビ保育士だけ。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空いているのではない。総合大手がやっていないだけ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アルバイト求人のタウンワークは、LINEを「求人を探す入口」にしました（LINEヤフー公式の導入事例）。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リッチメニューにさまざまなバイト条件を並べ、応募が増えました（2019年公開の事例）。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一番タップされたのは、一番上に置いた「人気のバイト検索条件」でした。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リッチメニューは、トーク画面を開くと必ず目に入る場所。そこに「探す」を置いています。</a:t>
            </a:r>
            <a:endParaRPr lang="ja-JP" altLang="en-US" sz="105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2019年時点で、今後は利用者の状況や行動に応じてリッチメニューを出し分けることを構想していると紹介されています。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追加の直後に「気になるテーマをタップ」と案内。リッチメニューには学生歓迎などが並びます。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条件を選ぶと、条件を入れた状態の検索結果ページへ移動し、応募はサイトで行う作りです。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公式事例（2019年）と実際の画面（2026年9月）から読み取れる仕組みは3つです。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特に①の考え方を、このあとのリッチメニュー（P21）に取り入れます。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弊社確認）。実際の画面はP14。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応募はサイトで。探す入口と、次に探すきっかけをLINEに置く。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合う求人を受け取るために、会員とLINEを連携してもらう。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着地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の動線が重要。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企画投稿（毎月）とステップ配信（定常的に運営）を組み合わせて最適動線に。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具体アクション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友だち追加によるメリット提示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✓限定クーポン　✓限定特典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上でのコミュニケーション誘導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LINEで条件確認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でのナーチャリング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で診断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✓おすすめプランの提示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◯企画投稿</a:t>
            </a:r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（月間投稿数）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✓〇〇の季節、〇〇の日にちなんだ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年齢→ライフイベント、よくある悩み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アンケート回答例→お役立ち情報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✓友だち追加後◯日で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（前後検索ニーズを調査）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✓応募に進む導線設計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(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特典等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興味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共感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信頼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オファー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772451" y="3575596"/>
            <a:ext cx="1852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アフター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QA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集の自動化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◯友だち紹介斡旋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CP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などに誘導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◯アクション済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✓応答メッセージ等で満足度↑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◯再応募・次の仕事の案内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✓満了の時期・近い職種を設定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◯再・簡易アンケート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診断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✓休眠層に対して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サービス軸と異なる診断軸を用意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◯商品訴求を再押し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✓再度サービス訴求を実施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投稿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HP/LP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滞在時に、条件を満たすと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ユーザーアクション時に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連携で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にメッセ送付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ログイン・</a:t>
            </a:r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連携等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</a:t>
            </a: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：特定アクション後◯日での自動配信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 </a:t>
            </a: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月間投稿数</a:t>
            </a:r>
            <a:endParaRPr lang="en-US" altLang="ja-JP" sz="12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化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オーガニック</a:t>
            </a:r>
            <a:endParaRPr kumimoji="1" lang="en-US" altLang="ja-JP" sz="13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(MSG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sz="11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Imp,Click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LINE_API</a:t>
            </a:r>
            <a:r>
              <a:rPr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en-US" altLang="ja-JP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地点別スコアリング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広告を増やさずに、いま取れている応募者をLINEに載せる。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最も確実。既に取れている人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LPを離れようとした人にLINEを提示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フォーム入力ゼロ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友だち追加のご案内を、電話番号あてに送る（利用できる用途は事前に確認）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★眠っているリストを起こす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新しく集めるのではなく、いま取れている人をLINEに載せ替える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⑤の通知メッセージは、友だち追加していない相手にも電話番号ベースで届きます（別途費用）。用途は審査制のため、求人案内での利用可否は事前確認が必要です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1行目に「営業のお電話はいたしません」と書く。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そのうえで希望条件を5問だけ聞き、条件に合う新着を届けると約束する。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なぜ電話をしないと先に書くのか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知らない番号からの着信は負担です。先に消すと、返信率が上がります。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なぜ「新着の受け取り」を先に出すのか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応募が終わっても、また仕事を探す日が来ます。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なぜ5問なのか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エリア・職種・時給・曜日・働き方の5つだけ。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選択式で30秒。その場で答えてもらえます。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画面はイメージです。文面・ボタン名は貴社のサービスに合わせて調整します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応募直後の30秒で、エリア・職種・時給・曜日・働き方を取ります。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経歴は聞かない。答えやすい5問が、その後に届く求人を決めます。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目的：希望条件をつかみ、条件に合う新着だけを届ける（全員に同じ求人を送らない）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5840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8000" y="1582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1834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最も押してほしいボタン。左上に固定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1672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8000" y="21656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4173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27504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00" y="27488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30005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33336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8000" y="33320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000" y="35837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9168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8000" y="39152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41669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500000"/>
            <a:ext cx="2988000" cy="503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8000" y="4498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4750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就業中は止め、満了前に再開する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「今は働いている」を置くから、次の仕事探しで戻ってこられる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画面はイメージです。タブ構成とボタン名は運用しながら調整します。タウンワークもリッチメニューにバイトの条件を並べ、リッチメニュー経由の応募が＋79%（2019年公開・P13）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［第4章］配信設計｜追加後15日でアクティブ率が落ちる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友だち追加～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日を境に大きくアクティブ率が下がる（ブロック率が上がる）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ため、応募が決まる7日間のステップ配信を先に整えます。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公式アカウントを友だち追加！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モーメント配信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挨拶メッセージ・リッチメニュー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目安の日数です。一般的なLINE公式アカウント運用の知見に基づく傾向で、貴社の実測とは異なる場合があります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応募は数日で決まるので7日で組む。求人を出すのはDay0とDay7だけ。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逃げ道を置く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次を探す人に、他社より先に届く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Day3は求人を出さない。出さない回があるから、Day7が効く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走らせ方を変えます。「単発・日払い」はステップに入れず新着のみ。★面接予約・就業開始など状況が変わったら、その時点で配信を切り替えます。契約満了の声かけは、満了予定日を基準に自動で送り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Day0は5問の回答直後に、条件に合う3件だけを出す。Day3は求人を出さない。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「合わなかったら相談できる」と先に伝える回が、信頼をつくる。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何十件も並べない。条件に合う3件だけを出す。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何社も比べている人に、選ぶ手間をかけさせない。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Day3｜求人を出さない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「ここなら続けられそう」に変わること。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ここでDay7の新着が開かれるようになる。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Day7は新着のまとめと「条件を変える」。満了1ヶ月前は、こちらから声をかける。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次に探し始める日が読めるのは、就業中の人だけ。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Day7｜条件を変える逃げ道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満了1ヶ月前｜先に声をかける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契約満了予定日を基準に自動で送る。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他社より先に、次の希望を聞ける。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更新する人はどうなるか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「更新する」を選んだ人は、次の満了まで通知を止める。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派遣は毎年3月、バイトは4月がピーク。最も少ないのは両方とも12月です。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検索が最も少ない12月に友だちを貯め、3月は派遣、4月はバイトの応募へつなぎます。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施策：12月に貯めた友だちへ、条件別の新着を一斉に案内。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8月の谷のあと、下半期の入れ替えで動く。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施策：契約満了に合わせて声をかけ、12月へつなぐ。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KPI：再応募数（満了後に戻った人）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仕込み期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「年明けから働きたい人の先行受付」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友だちを最も安く貯められる時期と考えます（仮説）。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施策：希望条件の再送と新着の先行案内。3〜4月の母数に。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KPI：友だち追加数（この月はオファーを出さない）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派遣とバイトで配信を1か月ずらす。3月に派遣、4月にバイト。同じ月に同じ配信をしない。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友だち追加していない相手にも、電話番号あてに届く。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面接・職場見学の前日リマインドは、実施率にそのまま効く。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① 面接・職場見学の前日リマインド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来ない人が減ると、派遣先・掲載企業との関係が続く。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② 休眠リストへの友だち追加案内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過去に応募して連絡が切れた人へ、友だち追加をご案内する。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求人案内は、追加後に通常配信で届けます。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③ 契約満了の1ヶ月前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更新意思の確認として、次の希望をうかがう。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次に探し始める日が読める、唯一の層。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通知メッセージは別途費用（初期10万円／月額8万円〜＋通数単価7円）。用途は審査制で、配送・予約確認等の個別通知が前提です。求人案内目的での利用は事前確認が必要です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応募数も広告費も増やさずに、面接・職場見学に来る人を増やす。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前日にリマインド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「落ちる確率」の不安を消す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温度が高いうちに次の応募へ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目指すのは応募を増やすことではなく、戻ってきた人が就業・再就業することです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応募→面接実施率の業界水準は公開データが存在しません。貴社の実測値で試算いたします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［第4章］歩留まり｜手が止まるのは、忙しい時間帯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課題は人手の多さではなく、時間帯のずれです。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求職者が探す夜間・土日に、こちらの手が空いていない。そこをLINEで埋めます。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・応募直後に架電しても、出てもらえない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・面接・職場見学の日程調整が電話で往復する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・同じ質問に何度も答えている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LINEに逃がせるもの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増員では解けない。電話のやり取りが構造的に噛み合っていない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増員しても、求職者が動ける時間帯とのずれは解消しません。LINEで非同期にやり取りできる部分を切り出します／目指すのは応募を増やすことではなく、戻ってきた人が就業・再就業することです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GAレポート連携で、応募率・面接実施率を毎月確認します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年間カレンダーに沿った配信を、貴社に代わって作成します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構築だけでなく、運用しながら改善する体制です。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握る指標と、その先の指標を分ける。リピート応募は契約満了を待つので約束しない。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本資料には具体的な数値シミュレーションを載せていません。応募CPAの改善は、就業・再就業率が現状と変わらないことを前提に試算します。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貴社の実績値（月の応募数・面接実施数・広告費）をいただければ、貴社専用の試算をお出しします。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測れる時期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握る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握る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Meiryo"/>
              </a:rPr>
              <a:t>その先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就業率が今と同水準という前提の試算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5959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架電 → 出られない → 面接に来ない → 契約満了で接点が切れる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貴社の課題と予算に合わせて、4つのプランからお選びいただけます。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初期費用は初月のみ。2ヶ月目以降は月額のみが継続してかかります。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まずは初動設計のみ（初期10万円・月額0円〜）から始めることもできます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すべて税抜・6ヶ月〜の契約。成果地点と単価は個別に調整します。開発やツール導入の場合は別途費用が発生します。目安：コンサル基本＋通知メッセージで月</a:t>
            </a:r>
            <a:r>
              <a:rPr lang="en-US" altLang="ja-JP" sz="80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万円〜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141702</TotalTime>
  <Words>4218</Words>
  <Application>Microsoft Office PowerPoint</Application>
  <PresentationFormat>A4 210 x 297 mm</PresentationFormat>
  <Paragraphs>761</Paragraphs>
  <Slides>33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33</vt:i4>
      </vt:variant>
    </vt:vector>
  </HeadingPairs>
  <TitlesOfParts>
    <vt:vector size="4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1927</cp:revision>
  <cp:lastPrinted>2022-11-01T11:38:14Z</cp:lastPrinted>
  <dcterms:created xsi:type="dcterms:W3CDTF">2015-09-04T09:21:15Z</dcterms:created>
  <dcterms:modified xsi:type="dcterms:W3CDTF">2026-10-21T08:13:26Z</dcterms:modified>
</cp:coreProperties>
</file>