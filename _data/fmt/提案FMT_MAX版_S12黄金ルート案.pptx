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6"/>
  </p:notesMasterIdLst>
  <p:handoutMasterIdLst>
    <p:handoutMasterId r:id="rId47"/>
  </p:handoutMasterIdLst>
  <p:sldIdLst>
    <p:sldId id="2363" r:id="rId3"/>
    <p:sldId id="2726" r:id="rId4"/>
    <p:sldId id="2721" r:id="rId5"/>
    <p:sldId id="2723" r:id="rId6"/>
    <p:sldId id="2724" r:id="rId7"/>
    <p:sldId id="2364" r:id="rId8"/>
    <p:sldId id="2365" r:id="rId9"/>
    <p:sldId id="2725" r:id="rId10"/>
    <p:sldId id="2727" r:id="rId11"/>
    <p:sldId id="3131" r:id="rId12"/>
    <p:sldId id="3132" r:id="rId13"/>
    <p:sldId id="2731" r:id="rId14"/>
    <p:sldId id="2732" r:id="rId15"/>
    <p:sldId id="2733" r:id="rId16"/>
    <p:sldId id="2972" r:id="rId17"/>
    <p:sldId id="2975" r:id="rId18"/>
    <p:sldId id="2974" r:id="rId19"/>
    <p:sldId id="2728" r:id="rId20"/>
    <p:sldId id="3147" r:id="rId21"/>
    <p:sldId id="3148" r:id="rId22"/>
    <p:sldId id="3141" r:id="rId23"/>
    <p:sldId id="3142" r:id="rId24"/>
    <p:sldId id="3143" r:id="rId25"/>
    <p:sldId id="3145" r:id="rId26"/>
    <p:sldId id="3144" r:id="rId27"/>
    <p:sldId id="3146" r:id="rId28"/>
    <p:sldId id="2729" r:id="rId29"/>
    <p:sldId id="3149" r:id="rId30"/>
    <p:sldId id="2730" r:id="rId31"/>
    <p:sldId id="2563" r:id="rId32"/>
    <p:sldId id="2959" r:id="rId33"/>
    <p:sldId id="2970" r:id="rId34"/>
    <p:sldId id="2968" r:id="rId35"/>
    <p:sldId id="2969" r:id="rId36"/>
    <p:sldId id="2639" r:id="rId37"/>
    <p:sldId id="2575" r:id="rId38"/>
    <p:sldId id="2910" r:id="rId39"/>
    <p:sldId id="3136" r:id="rId40"/>
    <p:sldId id="3137" r:id="rId41"/>
    <p:sldId id="3138" r:id="rId42"/>
    <p:sldId id="3139" r:id="rId43"/>
    <p:sldId id="3140" r:id="rId44"/>
    <p:sldId id="1169" r:id="rId4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p:scale>
          <a:sx n="33" d="100"/>
          <a:sy n="33" d="100"/>
        </p:scale>
        <p:origin x="488" y="93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jpe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54.jpeg"/><Relationship Id="rId5" Type="http://schemas.openxmlformats.org/officeDocument/2006/relationships/image" Target="../media/image55.jpeg"/><Relationship Id="rId6" Type="http://schemas.openxmlformats.org/officeDocument/2006/relationships/image" Target="../media/image56.jpeg"/><Relationship Id="rId7" Type="http://schemas.openxmlformats.org/officeDocument/2006/relationships/image" Target="../media/image57.jpeg"/><Relationship Id="rId8" Type="http://schemas.openxmlformats.org/officeDocument/2006/relationships/image" Target="../media/image5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MAX</a:t>
            </a:r>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版</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7200" rIns="72000" bIns="7200"/>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7200" rIns="72000" bIns="7200"/>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7200" rIns="72000" bIns="7200"/>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7200" rIns="72000" bIns="7200"/>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300" b="1">
                <a:solidFill>
                  <a:srgbClr val="1F2A5C"/>
                </a:solidFill>
                <a:latin typeface="メイリオ"/>
                <a:ea typeface="メイリオ"/>
                <a:cs typeface="メイリオ"/>
              </a:rPr>
              <a:t>ポップアップバナー</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anchor="ctr" lIns="36000" rIns="36000" tIns="10800" bIns="10800">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anchor="ctr" lIns="36000" rIns="36000" tIns="10800" bIns="10800">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000" tIns="18000" rIns="54000" bIns="18000"/>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anchor="ctr" lIns="36000" rIns="36000" tIns="10800" bIns="10800">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anchor="ctr" lIns="36000" rIns="36000" tIns="10800" bIns="10800">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anchor="ctr" lIns="36000" rIns="36000" tIns="10800" bIns="10800">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anchor="ctr" lIns="36000" rIns="36000" tIns="10800" bIns="10800">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1494333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あああああああああああああああ</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あああああああああああああああ</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B4AD-1796-B65E-602B-007A8E1FBA1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図 261">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528369"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547374"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547375" y="1702353"/>
            <a:ext cx="946084"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41037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739629"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ブランド名</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稼ぎ方</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条件</a:t>
            </a:r>
          </a:p>
        </p:txBody>
      </p:sp>
      <p:sp>
        <p:nvSpPr>
          <p:cNvPr id="273" name="四角形: 角を丸くする 272">
            <a:extLst>
              <a:ext uri="{FF2B5EF4-FFF2-40B4-BE49-F238E27FC236}">
                <a16:creationId xmlns:a16="http://schemas.microsoft.com/office/drawing/2014/main" id="{D99442CD-A18C-BBDA-3029-1A885B9960E8}"/>
              </a:ext>
            </a:extLst>
          </p:cNvPr>
          <p:cNvSpPr/>
          <p:nvPr/>
        </p:nvSpPr>
        <p:spPr>
          <a:xfrm>
            <a:off x="7920174" y="2730369"/>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準備</a:t>
            </a:r>
          </a:p>
        </p:txBody>
      </p:sp>
      <p:sp>
        <p:nvSpPr>
          <p:cNvPr id="274" name="四角形: 角を丸くする 273">
            <a:extLst>
              <a:ext uri="{FF2B5EF4-FFF2-40B4-BE49-F238E27FC236}">
                <a16:creationId xmlns:a16="http://schemas.microsoft.com/office/drawing/2014/main" id="{57B4D6DC-CAFB-1523-7FD8-8ADDCB817F59}"/>
              </a:ext>
            </a:extLst>
          </p:cNvPr>
          <p:cNvSpPr/>
          <p:nvPr/>
        </p:nvSpPr>
        <p:spPr>
          <a:xfrm>
            <a:off x="4430176" y="2222541"/>
            <a:ext cx="8909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5" name="四角形: 角を丸くする 274">
            <a:extLst>
              <a:ext uri="{FF2B5EF4-FFF2-40B4-BE49-F238E27FC236}">
                <a16:creationId xmlns:a16="http://schemas.microsoft.com/office/drawing/2014/main" id="{648709C7-ABDE-FD09-E0E9-FB2A90A7D915}"/>
              </a:ext>
            </a:extLst>
          </p:cNvPr>
          <p:cNvSpPr/>
          <p:nvPr/>
        </p:nvSpPr>
        <p:spPr>
          <a:xfrm>
            <a:off x="4440171" y="261436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6" name="四角形: 角を丸くする 275">
            <a:extLst>
              <a:ext uri="{FF2B5EF4-FFF2-40B4-BE49-F238E27FC236}">
                <a16:creationId xmlns:a16="http://schemas.microsoft.com/office/drawing/2014/main" id="{264110F6-78DC-CB60-F894-12888B0DA45D}"/>
              </a:ext>
            </a:extLst>
          </p:cNvPr>
          <p:cNvSpPr/>
          <p:nvPr/>
        </p:nvSpPr>
        <p:spPr>
          <a:xfrm>
            <a:off x="5108095" y="2788018"/>
            <a:ext cx="37783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7" name="四角形: 角を丸くする 276">
            <a:extLst>
              <a:ext uri="{FF2B5EF4-FFF2-40B4-BE49-F238E27FC236}">
                <a16:creationId xmlns:a16="http://schemas.microsoft.com/office/drawing/2014/main" id="{11FC472F-1256-6150-5E6B-04426396E2D1}"/>
              </a:ext>
            </a:extLst>
          </p:cNvPr>
          <p:cNvSpPr/>
          <p:nvPr/>
        </p:nvSpPr>
        <p:spPr>
          <a:xfrm>
            <a:off x="4465229" y="3003100"/>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8" name="四角形: 角を丸くする 277">
            <a:extLst>
              <a:ext uri="{FF2B5EF4-FFF2-40B4-BE49-F238E27FC236}">
                <a16:creationId xmlns:a16="http://schemas.microsoft.com/office/drawing/2014/main" id="{4C2B40CF-6D8E-F71B-185D-D702A82E2A43}"/>
              </a:ext>
            </a:extLst>
          </p:cNvPr>
          <p:cNvSpPr/>
          <p:nvPr/>
        </p:nvSpPr>
        <p:spPr>
          <a:xfrm>
            <a:off x="4538760" y="316312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9" name="四角形: 角を丸くする 278">
            <a:extLst>
              <a:ext uri="{FF2B5EF4-FFF2-40B4-BE49-F238E27FC236}">
                <a16:creationId xmlns:a16="http://schemas.microsoft.com/office/drawing/2014/main" id="{45B59A38-F8C6-C42D-7574-E2FF7042AE90}"/>
              </a:ext>
            </a:extLst>
          </p:cNvPr>
          <p:cNvSpPr/>
          <p:nvPr/>
        </p:nvSpPr>
        <p:spPr>
          <a:xfrm>
            <a:off x="4538760" y="33079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0" name="四角形: 角を丸くする 279">
            <a:extLst>
              <a:ext uri="{FF2B5EF4-FFF2-40B4-BE49-F238E27FC236}">
                <a16:creationId xmlns:a16="http://schemas.microsoft.com/office/drawing/2014/main" id="{E29ADD9E-7F8D-49A0-E6AA-790EEDEE5943}"/>
              </a:ext>
            </a:extLst>
          </p:cNvPr>
          <p:cNvSpPr/>
          <p:nvPr/>
        </p:nvSpPr>
        <p:spPr>
          <a:xfrm>
            <a:off x="5092506" y="3210562"/>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1" name="四角形: 角を丸くする 280">
            <a:extLst>
              <a:ext uri="{FF2B5EF4-FFF2-40B4-BE49-F238E27FC236}">
                <a16:creationId xmlns:a16="http://schemas.microsoft.com/office/drawing/2014/main" id="{C98FDF97-E805-0CF9-2ABB-FB20CFDAC769}"/>
              </a:ext>
            </a:extLst>
          </p:cNvPr>
          <p:cNvSpPr/>
          <p:nvPr/>
        </p:nvSpPr>
        <p:spPr>
          <a:xfrm>
            <a:off x="5256597" y="3708545"/>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2" name="四角形: 角を丸くする 281">
            <a:extLst>
              <a:ext uri="{FF2B5EF4-FFF2-40B4-BE49-F238E27FC236}">
                <a16:creationId xmlns:a16="http://schemas.microsoft.com/office/drawing/2014/main" id="{6FF4D3C7-346A-FD7A-0140-5BDB3814F5DF}"/>
              </a:ext>
            </a:extLst>
          </p:cNvPr>
          <p:cNvSpPr/>
          <p:nvPr/>
        </p:nvSpPr>
        <p:spPr>
          <a:xfrm>
            <a:off x="6463002" y="3473585"/>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3" name="四角形: 角を丸くする 282">
            <a:extLst>
              <a:ext uri="{FF2B5EF4-FFF2-40B4-BE49-F238E27FC236}">
                <a16:creationId xmlns:a16="http://schemas.microsoft.com/office/drawing/2014/main" id="{15337B10-BF50-6162-8383-C57471268A6C}"/>
              </a:ext>
            </a:extLst>
          </p:cNvPr>
          <p:cNvSpPr/>
          <p:nvPr/>
        </p:nvSpPr>
        <p:spPr>
          <a:xfrm>
            <a:off x="7107865" y="3363052"/>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4" name="四角形: 角を丸くする 283">
            <a:extLst>
              <a:ext uri="{FF2B5EF4-FFF2-40B4-BE49-F238E27FC236}">
                <a16:creationId xmlns:a16="http://schemas.microsoft.com/office/drawing/2014/main" id="{C00607CC-C2C0-082C-A629-DBF8827ACDA1}"/>
              </a:ext>
            </a:extLst>
          </p:cNvPr>
          <p:cNvSpPr/>
          <p:nvPr/>
        </p:nvSpPr>
        <p:spPr>
          <a:xfrm>
            <a:off x="6983873" y="360220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5" name="四角形: 角を丸くする 284">
            <a:extLst>
              <a:ext uri="{FF2B5EF4-FFF2-40B4-BE49-F238E27FC236}">
                <a16:creationId xmlns:a16="http://schemas.microsoft.com/office/drawing/2014/main" id="{DED31FB8-5981-1699-7E47-E63C2CDF2733}"/>
              </a:ext>
            </a:extLst>
          </p:cNvPr>
          <p:cNvSpPr/>
          <p:nvPr/>
        </p:nvSpPr>
        <p:spPr>
          <a:xfrm>
            <a:off x="6539957" y="3769706"/>
            <a:ext cx="553194" cy="11216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6" name="四角形: 角を丸くする 285">
            <a:extLst>
              <a:ext uri="{FF2B5EF4-FFF2-40B4-BE49-F238E27FC236}">
                <a16:creationId xmlns:a16="http://schemas.microsoft.com/office/drawing/2014/main" id="{6C0DA8B8-EF5F-2004-3A70-3C35247F0547}"/>
              </a:ext>
            </a:extLst>
          </p:cNvPr>
          <p:cNvSpPr/>
          <p:nvPr/>
        </p:nvSpPr>
        <p:spPr>
          <a:xfrm>
            <a:off x="4581430" y="361436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7" name="四角形: 角を丸くする 286">
            <a:extLst>
              <a:ext uri="{FF2B5EF4-FFF2-40B4-BE49-F238E27FC236}">
                <a16:creationId xmlns:a16="http://schemas.microsoft.com/office/drawing/2014/main" id="{5EF617D1-C54D-C2F7-FACE-AA8ED59378B4}"/>
              </a:ext>
            </a:extLst>
          </p:cNvPr>
          <p:cNvSpPr/>
          <p:nvPr/>
        </p:nvSpPr>
        <p:spPr>
          <a:xfrm>
            <a:off x="4453969" y="3743901"/>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8" name="四角形: 角を丸くする 287">
            <a:extLst>
              <a:ext uri="{FF2B5EF4-FFF2-40B4-BE49-F238E27FC236}">
                <a16:creationId xmlns:a16="http://schemas.microsoft.com/office/drawing/2014/main" id="{0020B300-7F43-9571-10A7-85E6E01A202B}"/>
              </a:ext>
            </a:extLst>
          </p:cNvPr>
          <p:cNvSpPr/>
          <p:nvPr/>
        </p:nvSpPr>
        <p:spPr>
          <a:xfrm>
            <a:off x="4443926" y="4178444"/>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9" name="四角形: 角を丸くする 288">
            <a:extLst>
              <a:ext uri="{FF2B5EF4-FFF2-40B4-BE49-F238E27FC236}">
                <a16:creationId xmlns:a16="http://schemas.microsoft.com/office/drawing/2014/main" id="{F4F1E079-4ABF-7D8E-D4C7-CBD397B37E12}"/>
              </a:ext>
            </a:extLst>
          </p:cNvPr>
          <p:cNvSpPr/>
          <p:nvPr/>
        </p:nvSpPr>
        <p:spPr>
          <a:xfrm>
            <a:off x="5210558" y="3812684"/>
            <a:ext cx="73630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0" name="四角形: 角を丸くする 289">
            <a:extLst>
              <a:ext uri="{FF2B5EF4-FFF2-40B4-BE49-F238E27FC236}">
                <a16:creationId xmlns:a16="http://schemas.microsoft.com/office/drawing/2014/main" id="{5E992E10-AF72-A434-2ADA-41B8A708A624}"/>
              </a:ext>
            </a:extLst>
          </p:cNvPr>
          <p:cNvSpPr/>
          <p:nvPr/>
        </p:nvSpPr>
        <p:spPr>
          <a:xfrm>
            <a:off x="6441380" y="394234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1" name="四角形: 角を丸くする 290">
            <a:extLst>
              <a:ext uri="{FF2B5EF4-FFF2-40B4-BE49-F238E27FC236}">
                <a16:creationId xmlns:a16="http://schemas.microsoft.com/office/drawing/2014/main" id="{42228D9B-722B-0E4B-DD19-F9FB38B664DC}"/>
              </a:ext>
            </a:extLst>
          </p:cNvPr>
          <p:cNvSpPr/>
          <p:nvPr/>
        </p:nvSpPr>
        <p:spPr>
          <a:xfrm>
            <a:off x="5334496" y="4214148"/>
            <a:ext cx="1078017"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2" name="四角形: 角を丸くする 291">
            <a:extLst>
              <a:ext uri="{FF2B5EF4-FFF2-40B4-BE49-F238E27FC236}">
                <a16:creationId xmlns:a16="http://schemas.microsoft.com/office/drawing/2014/main" id="{1B760E6F-8F2D-A3C1-1321-292481C0B71B}"/>
              </a:ext>
            </a:extLst>
          </p:cNvPr>
          <p:cNvSpPr/>
          <p:nvPr/>
        </p:nvSpPr>
        <p:spPr>
          <a:xfrm>
            <a:off x="6325614" y="4101436"/>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3" name="四角形: 角を丸くする 292">
            <a:extLst>
              <a:ext uri="{FF2B5EF4-FFF2-40B4-BE49-F238E27FC236}">
                <a16:creationId xmlns:a16="http://schemas.microsoft.com/office/drawing/2014/main" id="{47438004-C566-021E-BD06-9A7726DC3F91}"/>
              </a:ext>
            </a:extLst>
          </p:cNvPr>
          <p:cNvSpPr/>
          <p:nvPr/>
        </p:nvSpPr>
        <p:spPr>
          <a:xfrm>
            <a:off x="7460640" y="38602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4" name="四角形: 角を丸くする 293">
            <a:extLst>
              <a:ext uri="{FF2B5EF4-FFF2-40B4-BE49-F238E27FC236}">
                <a16:creationId xmlns:a16="http://schemas.microsoft.com/office/drawing/2014/main" id="{482F231F-2E3E-CBDF-D4ED-1D2B911E89AC}"/>
              </a:ext>
            </a:extLst>
          </p:cNvPr>
          <p:cNvSpPr/>
          <p:nvPr/>
        </p:nvSpPr>
        <p:spPr>
          <a:xfrm>
            <a:off x="3749928" y="4119134"/>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5" name="四角形: 角を丸くする 294">
            <a:extLst>
              <a:ext uri="{FF2B5EF4-FFF2-40B4-BE49-F238E27FC236}">
                <a16:creationId xmlns:a16="http://schemas.microsoft.com/office/drawing/2014/main" id="{6B233052-61AB-4EF5-4EB9-11728880266A}"/>
              </a:ext>
            </a:extLst>
          </p:cNvPr>
          <p:cNvSpPr/>
          <p:nvPr/>
        </p:nvSpPr>
        <p:spPr>
          <a:xfrm>
            <a:off x="4429145" y="3859403"/>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6" name="四角形: 角を丸くする 295">
            <a:extLst>
              <a:ext uri="{FF2B5EF4-FFF2-40B4-BE49-F238E27FC236}">
                <a16:creationId xmlns:a16="http://schemas.microsoft.com/office/drawing/2014/main" id="{AEF2F52B-97EB-67A2-0D65-41503C8D5E2B}"/>
              </a:ext>
            </a:extLst>
          </p:cNvPr>
          <p:cNvSpPr/>
          <p:nvPr/>
        </p:nvSpPr>
        <p:spPr>
          <a:xfrm>
            <a:off x="2756920" y="4766183"/>
            <a:ext cx="736300"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7" name="四角形: 角を丸くする 296">
            <a:extLst>
              <a:ext uri="{FF2B5EF4-FFF2-40B4-BE49-F238E27FC236}">
                <a16:creationId xmlns:a16="http://schemas.microsoft.com/office/drawing/2014/main" id="{AEFAA46D-AA7E-06C1-0E3F-5617A90B218C}"/>
              </a:ext>
            </a:extLst>
          </p:cNvPr>
          <p:cNvSpPr/>
          <p:nvPr/>
        </p:nvSpPr>
        <p:spPr>
          <a:xfrm>
            <a:off x="3736994" y="4467964"/>
            <a:ext cx="457185" cy="107685"/>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8" name="四角形: 角を丸くする 297">
            <a:extLst>
              <a:ext uri="{FF2B5EF4-FFF2-40B4-BE49-F238E27FC236}">
                <a16:creationId xmlns:a16="http://schemas.microsoft.com/office/drawing/2014/main" id="{965BED0E-7EEC-BCC1-6356-484A486810A4}"/>
              </a:ext>
            </a:extLst>
          </p:cNvPr>
          <p:cNvSpPr/>
          <p:nvPr/>
        </p:nvSpPr>
        <p:spPr>
          <a:xfrm>
            <a:off x="4031512" y="3230352"/>
            <a:ext cx="50290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9" name="四角形: 角を丸くする 298">
            <a:extLst>
              <a:ext uri="{FF2B5EF4-FFF2-40B4-BE49-F238E27FC236}">
                <a16:creationId xmlns:a16="http://schemas.microsoft.com/office/drawing/2014/main" id="{A6648F68-D530-9C30-3691-755A110BC79C}"/>
              </a:ext>
            </a:extLst>
          </p:cNvPr>
          <p:cNvSpPr/>
          <p:nvPr/>
        </p:nvSpPr>
        <p:spPr>
          <a:xfrm>
            <a:off x="4450076" y="4269459"/>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0" name="四角形: 角を丸くする 299">
            <a:extLst>
              <a:ext uri="{FF2B5EF4-FFF2-40B4-BE49-F238E27FC236}">
                <a16:creationId xmlns:a16="http://schemas.microsoft.com/office/drawing/2014/main" id="{0A4660C2-7870-2FE0-7D10-A97173885CB0}"/>
              </a:ext>
            </a:extLst>
          </p:cNvPr>
          <p:cNvSpPr/>
          <p:nvPr/>
        </p:nvSpPr>
        <p:spPr>
          <a:xfrm>
            <a:off x="4495655" y="395555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1" name="四角形: 角を丸くする 300">
            <a:extLst>
              <a:ext uri="{FF2B5EF4-FFF2-40B4-BE49-F238E27FC236}">
                <a16:creationId xmlns:a16="http://schemas.microsoft.com/office/drawing/2014/main" id="{2C6EA167-8321-ADEA-C42F-6EFFCF4F993A}"/>
              </a:ext>
            </a:extLst>
          </p:cNvPr>
          <p:cNvSpPr/>
          <p:nvPr/>
        </p:nvSpPr>
        <p:spPr>
          <a:xfrm>
            <a:off x="4480414" y="444316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2" name="四角形: 角を丸くする 301">
            <a:extLst>
              <a:ext uri="{FF2B5EF4-FFF2-40B4-BE49-F238E27FC236}">
                <a16:creationId xmlns:a16="http://schemas.microsoft.com/office/drawing/2014/main" id="{E5D15C42-0DDE-0335-E18E-7FA58E44C491}"/>
              </a:ext>
            </a:extLst>
          </p:cNvPr>
          <p:cNvSpPr/>
          <p:nvPr/>
        </p:nvSpPr>
        <p:spPr>
          <a:xfrm>
            <a:off x="5179526" y="4308059"/>
            <a:ext cx="41562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3" name="四角形: 角を丸くする 302">
            <a:extLst>
              <a:ext uri="{FF2B5EF4-FFF2-40B4-BE49-F238E27FC236}">
                <a16:creationId xmlns:a16="http://schemas.microsoft.com/office/drawing/2014/main" id="{1FF1BF67-D98D-EB02-7F43-E78BB1CEBDF9}"/>
              </a:ext>
            </a:extLst>
          </p:cNvPr>
          <p:cNvSpPr/>
          <p:nvPr/>
        </p:nvSpPr>
        <p:spPr>
          <a:xfrm>
            <a:off x="6480429" y="3858946"/>
            <a:ext cx="736300"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4" name="四角形: 角を丸くする 303">
            <a:extLst>
              <a:ext uri="{FF2B5EF4-FFF2-40B4-BE49-F238E27FC236}">
                <a16:creationId xmlns:a16="http://schemas.microsoft.com/office/drawing/2014/main" id="{7101B57F-C421-CD23-6914-13C841438FC8}"/>
              </a:ext>
            </a:extLst>
          </p:cNvPr>
          <p:cNvSpPr/>
          <p:nvPr/>
        </p:nvSpPr>
        <p:spPr>
          <a:xfrm>
            <a:off x="3436133" y="376776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5" name="四角形: 角を丸くする 304">
            <a:extLst>
              <a:ext uri="{FF2B5EF4-FFF2-40B4-BE49-F238E27FC236}">
                <a16:creationId xmlns:a16="http://schemas.microsoft.com/office/drawing/2014/main" id="{855FA62A-0C78-C189-C405-7C9CC080527C}"/>
              </a:ext>
            </a:extLst>
          </p:cNvPr>
          <p:cNvSpPr/>
          <p:nvPr/>
        </p:nvSpPr>
        <p:spPr>
          <a:xfrm>
            <a:off x="3842968" y="337053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6" name="四角形: 角を丸くする 305">
            <a:extLst>
              <a:ext uri="{FF2B5EF4-FFF2-40B4-BE49-F238E27FC236}">
                <a16:creationId xmlns:a16="http://schemas.microsoft.com/office/drawing/2014/main" id="{7EF4132B-5340-62C3-820B-A62F2E7068AF}"/>
              </a:ext>
            </a:extLst>
          </p:cNvPr>
          <p:cNvSpPr/>
          <p:nvPr/>
        </p:nvSpPr>
        <p:spPr>
          <a:xfrm>
            <a:off x="2122038" y="417239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7" name="四角形: 角を丸くする 306">
            <a:extLst>
              <a:ext uri="{FF2B5EF4-FFF2-40B4-BE49-F238E27FC236}">
                <a16:creationId xmlns:a16="http://schemas.microsoft.com/office/drawing/2014/main" id="{BA9CBE67-F190-76DA-BC74-18D24B084C64}"/>
              </a:ext>
            </a:extLst>
          </p:cNvPr>
          <p:cNvSpPr/>
          <p:nvPr/>
        </p:nvSpPr>
        <p:spPr>
          <a:xfrm>
            <a:off x="3082158" y="415715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8" name="四角形: 角を丸くする 307">
            <a:extLst>
              <a:ext uri="{FF2B5EF4-FFF2-40B4-BE49-F238E27FC236}">
                <a16:creationId xmlns:a16="http://schemas.microsoft.com/office/drawing/2014/main" id="{F1D90042-85C2-DD7A-DDD4-BE3E1D67C788}"/>
              </a:ext>
            </a:extLst>
          </p:cNvPr>
          <p:cNvSpPr/>
          <p:nvPr/>
        </p:nvSpPr>
        <p:spPr>
          <a:xfrm>
            <a:off x="3287898" y="456101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9" name="四角形: 角を丸くする 308">
            <a:extLst>
              <a:ext uri="{FF2B5EF4-FFF2-40B4-BE49-F238E27FC236}">
                <a16:creationId xmlns:a16="http://schemas.microsoft.com/office/drawing/2014/main" id="{477C4023-E323-6539-8C66-AD953761862D}"/>
              </a:ext>
            </a:extLst>
          </p:cNvPr>
          <p:cNvSpPr/>
          <p:nvPr/>
        </p:nvSpPr>
        <p:spPr>
          <a:xfrm>
            <a:off x="6569446" y="2945246"/>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0" name="四角形: 角を丸くする 309">
            <a:extLst>
              <a:ext uri="{FF2B5EF4-FFF2-40B4-BE49-F238E27FC236}">
                <a16:creationId xmlns:a16="http://schemas.microsoft.com/office/drawing/2014/main" id="{E9725BC4-7279-9559-8ACF-391FBB297F53}"/>
              </a:ext>
            </a:extLst>
          </p:cNvPr>
          <p:cNvSpPr/>
          <p:nvPr/>
        </p:nvSpPr>
        <p:spPr>
          <a:xfrm>
            <a:off x="6270701" y="2771805"/>
            <a:ext cx="50290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1" name="四角形: 角を丸くする 310">
            <a:extLst>
              <a:ext uri="{FF2B5EF4-FFF2-40B4-BE49-F238E27FC236}">
                <a16:creationId xmlns:a16="http://schemas.microsoft.com/office/drawing/2014/main" id="{70EF0A6A-480C-B8DE-E1E0-8EE4356E3256}"/>
              </a:ext>
            </a:extLst>
          </p:cNvPr>
          <p:cNvSpPr/>
          <p:nvPr/>
        </p:nvSpPr>
        <p:spPr>
          <a:xfrm>
            <a:off x="5507998" y="349583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2" name="四角形: 角を丸くする 311">
            <a:extLst>
              <a:ext uri="{FF2B5EF4-FFF2-40B4-BE49-F238E27FC236}">
                <a16:creationId xmlns:a16="http://schemas.microsoft.com/office/drawing/2014/main" id="{DDA4E65B-9A4E-1B81-A022-47ED7B0F1535}"/>
              </a:ext>
            </a:extLst>
          </p:cNvPr>
          <p:cNvSpPr/>
          <p:nvPr/>
        </p:nvSpPr>
        <p:spPr>
          <a:xfrm>
            <a:off x="5978885" y="3632681"/>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3" name="四角形: 角を丸くする 312">
            <a:extLst>
              <a:ext uri="{FF2B5EF4-FFF2-40B4-BE49-F238E27FC236}">
                <a16:creationId xmlns:a16="http://schemas.microsoft.com/office/drawing/2014/main" id="{C555FC1D-139B-EB7F-F671-BF6E8D138577}"/>
              </a:ext>
            </a:extLst>
          </p:cNvPr>
          <p:cNvSpPr/>
          <p:nvPr/>
        </p:nvSpPr>
        <p:spPr>
          <a:xfrm>
            <a:off x="5782123" y="3945114"/>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4" name="四角形: 角を丸くする 313">
            <a:extLst>
              <a:ext uri="{FF2B5EF4-FFF2-40B4-BE49-F238E27FC236}">
                <a16:creationId xmlns:a16="http://schemas.microsoft.com/office/drawing/2014/main" id="{2422CEF7-7C80-0FC1-7954-9DE818ACEA92}"/>
              </a:ext>
            </a:extLst>
          </p:cNvPr>
          <p:cNvSpPr/>
          <p:nvPr/>
        </p:nvSpPr>
        <p:spPr>
          <a:xfrm>
            <a:off x="6977679" y="3258168"/>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5" name="四角形: 角を丸くする 314">
            <a:extLst>
              <a:ext uri="{FF2B5EF4-FFF2-40B4-BE49-F238E27FC236}">
                <a16:creationId xmlns:a16="http://schemas.microsoft.com/office/drawing/2014/main" id="{32BCB8E4-8A1D-CE20-F2B4-CB2ED0C64BDF}"/>
              </a:ext>
            </a:extLst>
          </p:cNvPr>
          <p:cNvSpPr/>
          <p:nvPr/>
        </p:nvSpPr>
        <p:spPr>
          <a:xfrm>
            <a:off x="7163402" y="395089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7" name="四角形: 角を丸くする 316">
            <a:extLst>
              <a:ext uri="{FF2B5EF4-FFF2-40B4-BE49-F238E27FC236}">
                <a16:creationId xmlns:a16="http://schemas.microsoft.com/office/drawing/2014/main" id="{C420241E-F0EC-38F1-D980-105E86BCFBBF}"/>
              </a:ext>
            </a:extLst>
          </p:cNvPr>
          <p:cNvSpPr/>
          <p:nvPr/>
        </p:nvSpPr>
        <p:spPr>
          <a:xfrm>
            <a:off x="7033862" y="375277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9" name="四角形: 角を丸くする 318">
            <a:extLst>
              <a:ext uri="{FF2B5EF4-FFF2-40B4-BE49-F238E27FC236}">
                <a16:creationId xmlns:a16="http://schemas.microsoft.com/office/drawing/2014/main" id="{8FE01BBE-38A4-0C79-4FB2-E279446EEB31}"/>
              </a:ext>
            </a:extLst>
          </p:cNvPr>
          <p:cNvSpPr/>
          <p:nvPr/>
        </p:nvSpPr>
        <p:spPr>
          <a:xfrm>
            <a:off x="6172685" y="4436849"/>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2" name="四角形: 角を丸くする 831">
            <a:extLst>
              <a:ext uri="{FF2B5EF4-FFF2-40B4-BE49-F238E27FC236}">
                <a16:creationId xmlns:a16="http://schemas.microsoft.com/office/drawing/2014/main" id="{24AFCB84-EA86-8DAD-4310-70F3B81580FD}"/>
              </a:ext>
            </a:extLst>
          </p:cNvPr>
          <p:cNvSpPr/>
          <p:nvPr/>
        </p:nvSpPr>
        <p:spPr>
          <a:xfrm>
            <a:off x="6644345" y="4427125"/>
            <a:ext cx="60851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3" name="四角形: 角を丸くする 832">
            <a:extLst>
              <a:ext uri="{FF2B5EF4-FFF2-40B4-BE49-F238E27FC236}">
                <a16:creationId xmlns:a16="http://schemas.microsoft.com/office/drawing/2014/main" id="{B55CFC40-A739-CA5B-C3C0-197909FE3032}"/>
              </a:ext>
            </a:extLst>
          </p:cNvPr>
          <p:cNvSpPr/>
          <p:nvPr/>
        </p:nvSpPr>
        <p:spPr>
          <a:xfrm>
            <a:off x="6577062" y="4543139"/>
            <a:ext cx="25806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4" name="四角形: 角を丸くする 833">
            <a:extLst>
              <a:ext uri="{FF2B5EF4-FFF2-40B4-BE49-F238E27FC236}">
                <a16:creationId xmlns:a16="http://schemas.microsoft.com/office/drawing/2014/main" id="{96EC41A0-C5D7-FAF2-6C6A-C87FEF82D426}"/>
              </a:ext>
            </a:extLst>
          </p:cNvPr>
          <p:cNvSpPr/>
          <p:nvPr/>
        </p:nvSpPr>
        <p:spPr>
          <a:xfrm>
            <a:off x="5318151" y="4550759"/>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5" name="四角形: 角を丸くする 834">
            <a:extLst>
              <a:ext uri="{FF2B5EF4-FFF2-40B4-BE49-F238E27FC236}">
                <a16:creationId xmlns:a16="http://schemas.microsoft.com/office/drawing/2014/main" id="{14A04D8E-EFA0-D548-10C0-172114965470}"/>
              </a:ext>
            </a:extLst>
          </p:cNvPr>
          <p:cNvSpPr/>
          <p:nvPr/>
        </p:nvSpPr>
        <p:spPr>
          <a:xfrm>
            <a:off x="5098820" y="4459319"/>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6" name="四角形: 角を丸くする 835">
            <a:extLst>
              <a:ext uri="{FF2B5EF4-FFF2-40B4-BE49-F238E27FC236}">
                <a16:creationId xmlns:a16="http://schemas.microsoft.com/office/drawing/2014/main" id="{8DBBEA3A-0514-7F70-0ED1-F954671FAC05}"/>
              </a:ext>
            </a:extLst>
          </p:cNvPr>
          <p:cNvSpPr/>
          <p:nvPr/>
        </p:nvSpPr>
        <p:spPr>
          <a:xfrm>
            <a:off x="5242233" y="3333940"/>
            <a:ext cx="4156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7" name="四角形: 角を丸くする 836">
            <a:extLst>
              <a:ext uri="{FF2B5EF4-FFF2-40B4-BE49-F238E27FC236}">
                <a16:creationId xmlns:a16="http://schemas.microsoft.com/office/drawing/2014/main" id="{DA8BCC63-5614-5103-FA21-B706A6409F98}"/>
              </a:ext>
            </a:extLst>
          </p:cNvPr>
          <p:cNvSpPr/>
          <p:nvPr/>
        </p:nvSpPr>
        <p:spPr>
          <a:xfrm>
            <a:off x="4364503" y="4530280"/>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8" name="四角形: 角を丸くする 837">
            <a:extLst>
              <a:ext uri="{FF2B5EF4-FFF2-40B4-BE49-F238E27FC236}">
                <a16:creationId xmlns:a16="http://schemas.microsoft.com/office/drawing/2014/main" id="{CC9B01F5-A1E0-2B4C-AB3A-DAF33E2EDB9D}"/>
              </a:ext>
            </a:extLst>
          </p:cNvPr>
          <p:cNvSpPr/>
          <p:nvPr/>
        </p:nvSpPr>
        <p:spPr>
          <a:xfrm>
            <a:off x="3438962" y="4255960"/>
            <a:ext cx="66936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9" name="四角形: 角を丸くする 838">
            <a:extLst>
              <a:ext uri="{FF2B5EF4-FFF2-40B4-BE49-F238E27FC236}">
                <a16:creationId xmlns:a16="http://schemas.microsoft.com/office/drawing/2014/main" id="{C3D601C2-E450-D9DB-27D9-7010053DD16D}"/>
              </a:ext>
            </a:extLst>
          </p:cNvPr>
          <p:cNvSpPr/>
          <p:nvPr/>
        </p:nvSpPr>
        <p:spPr>
          <a:xfrm>
            <a:off x="2468347" y="441487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0" name="四角形: 角を丸くする 839">
            <a:extLst>
              <a:ext uri="{FF2B5EF4-FFF2-40B4-BE49-F238E27FC236}">
                <a16:creationId xmlns:a16="http://schemas.microsoft.com/office/drawing/2014/main" id="{DF5B2D88-3AB4-B9F3-FD41-CE74E6261BA3}"/>
              </a:ext>
            </a:extLst>
          </p:cNvPr>
          <p:cNvSpPr/>
          <p:nvPr/>
        </p:nvSpPr>
        <p:spPr>
          <a:xfrm>
            <a:off x="2140687" y="429295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1" name="四角形: 角を丸くする 840">
            <a:extLst>
              <a:ext uri="{FF2B5EF4-FFF2-40B4-BE49-F238E27FC236}">
                <a16:creationId xmlns:a16="http://schemas.microsoft.com/office/drawing/2014/main" id="{3B5D113E-EA30-88A6-65EB-B0B493DA1AC0}"/>
              </a:ext>
            </a:extLst>
          </p:cNvPr>
          <p:cNvSpPr/>
          <p:nvPr/>
        </p:nvSpPr>
        <p:spPr>
          <a:xfrm>
            <a:off x="1520570" y="3788925"/>
            <a:ext cx="415623" cy="118454"/>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42" name="四角形: 角を丸くする 841">
            <a:extLst>
              <a:ext uri="{FF2B5EF4-FFF2-40B4-BE49-F238E27FC236}">
                <a16:creationId xmlns:a16="http://schemas.microsoft.com/office/drawing/2014/main" id="{1DCA9EBF-F35E-F449-5F00-49665FEC76AA}"/>
              </a:ext>
            </a:extLst>
          </p:cNvPr>
          <p:cNvSpPr/>
          <p:nvPr/>
        </p:nvSpPr>
        <p:spPr>
          <a:xfrm>
            <a:off x="7092382" y="4073338"/>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3" name="四角形: 角を丸くする 842">
            <a:extLst>
              <a:ext uri="{FF2B5EF4-FFF2-40B4-BE49-F238E27FC236}">
                <a16:creationId xmlns:a16="http://schemas.microsoft.com/office/drawing/2014/main" id="{A468E33B-16B4-2571-5673-8FF02892353B}"/>
              </a:ext>
            </a:extLst>
          </p:cNvPr>
          <p:cNvSpPr/>
          <p:nvPr/>
        </p:nvSpPr>
        <p:spPr>
          <a:xfrm>
            <a:off x="7335050" y="4164778"/>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4" name="四角形: 角を丸くする 843">
            <a:extLst>
              <a:ext uri="{FF2B5EF4-FFF2-40B4-BE49-F238E27FC236}">
                <a16:creationId xmlns:a16="http://schemas.microsoft.com/office/drawing/2014/main" id="{92D0A398-14ED-615B-C596-E37EAFB4F147}"/>
              </a:ext>
            </a:extLst>
          </p:cNvPr>
          <p:cNvSpPr/>
          <p:nvPr/>
        </p:nvSpPr>
        <p:spPr>
          <a:xfrm>
            <a:off x="7498928" y="4309558"/>
            <a:ext cx="377839"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5" name="四角形: 角を丸くする 844">
            <a:extLst>
              <a:ext uri="{FF2B5EF4-FFF2-40B4-BE49-F238E27FC236}">
                <a16:creationId xmlns:a16="http://schemas.microsoft.com/office/drawing/2014/main" id="{41F95976-391F-4D69-766D-D259251A0531}"/>
              </a:ext>
            </a:extLst>
          </p:cNvPr>
          <p:cNvSpPr/>
          <p:nvPr/>
        </p:nvSpPr>
        <p:spPr>
          <a:xfrm>
            <a:off x="7184935" y="4484818"/>
            <a:ext cx="457185"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6" name="四角形: 角を丸くする 845">
            <a:extLst>
              <a:ext uri="{FF2B5EF4-FFF2-40B4-BE49-F238E27FC236}">
                <a16:creationId xmlns:a16="http://schemas.microsoft.com/office/drawing/2014/main" id="{4F9FF10C-4B51-0728-397B-931F38BBA346}"/>
              </a:ext>
            </a:extLst>
          </p:cNvPr>
          <p:cNvSpPr/>
          <p:nvPr/>
        </p:nvSpPr>
        <p:spPr>
          <a:xfrm>
            <a:off x="2175646" y="3684595"/>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7" name="四角形: 角を丸くする 846">
            <a:extLst>
              <a:ext uri="{FF2B5EF4-FFF2-40B4-BE49-F238E27FC236}">
                <a16:creationId xmlns:a16="http://schemas.microsoft.com/office/drawing/2014/main" id="{40A844A6-4AF1-AEC7-79CD-A18A1E728AC1}"/>
              </a:ext>
            </a:extLst>
          </p:cNvPr>
          <p:cNvSpPr/>
          <p:nvPr/>
        </p:nvSpPr>
        <p:spPr>
          <a:xfrm>
            <a:off x="6476593" y="4625136"/>
            <a:ext cx="809930" cy="118454"/>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8" name="四角形: 角を丸くする 847">
            <a:extLst>
              <a:ext uri="{FF2B5EF4-FFF2-40B4-BE49-F238E27FC236}">
                <a16:creationId xmlns:a16="http://schemas.microsoft.com/office/drawing/2014/main" id="{F09E8618-3A5C-2B1D-B885-E58D07968D23}"/>
              </a:ext>
            </a:extLst>
          </p:cNvPr>
          <p:cNvSpPr/>
          <p:nvPr/>
        </p:nvSpPr>
        <p:spPr>
          <a:xfrm>
            <a:off x="3187732" y="5128307"/>
            <a:ext cx="73630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1646576" y="2519059"/>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1397588" y="2213387"/>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転職エージェント</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18036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74A8-2F0E-DE00-F3F1-DE7A55A8B7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検索直後の高い検討度（Day0〜2）→ 手続き不安の解消（Day4〜5）→ 比較検討（Day8〜9）</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査定オファ</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ー（Day12〜15）と、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段階的に信頼を積み上げながら最終コンバージョンへ誘導する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転職フェーズを分岐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（すぐ動く／比較中</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　書類準備中／迷い中）</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（追加直後は検索データなし。アンケート回答でセグメント自動分類）</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3択タップで診断</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不安の先出し解消</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転職で損しない</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565C0"/>
                </a:solidFill>
                <a:latin typeface="メイリオ" panose="020B0604030504040204" pitchFamily="50" charset="-128"/>
                <a:ea typeface="メイリオ" panose="020B0604030504040204" pitchFamily="50" charset="-128"/>
                <a:cs typeface="Calibri" pitchFamily="34" charset="-120"/>
              </a:rPr>
              <a:t>3つのポイント</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「ブラック企業の見分け方」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「年収交渉で失敗しない方法」</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「エージェントのリアルな使い方」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不安を先出しして信頼を醸成</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追加直後は「転職エージェント 使うべきか」「リクルートエージェント 評判」の検索Volが急増。比較・懸念フェーズに完全対応</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転職成功事例を見る</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Day4〜5</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書類ハードル下げ</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職務経歴書は</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これだけ書けばOK</a:t>
            </a: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査定〜面談の流れを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4ステップで図解</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職務経歴書テンプレ</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（Word）と自己PR例文10選</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を無料配布</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「職務経歴書 書き方」「自己pr 例文」「転職理由」などの書類準備系クエリが+1〜+5日で急増。後クエリの最大ピークに対応</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テンプレを受け取る</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エージェントの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選び方・比較のコツ</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弊社の強み（USP）を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他社比較で訴求</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ユーザーの声・実績数値で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信頼醸成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LINE限定キャンペーン予告</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「リクルートエージェント 評判」「ハタラクティブ」「ビズリーチ 評判」等のブランド比較検索が+3〜+7日に集中。比較フェーズに完全対応</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事例・ユーザーの声</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優先相談窓口へ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担当キャリア</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アドバイザーへの</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直接相談を誘導</a:t>
            </a:r>
          </a:p>
          <a:p>
            <a:pPr marL="0" indent="0">
              <a:lnSpc>
                <a:spcPct val="140000"/>
              </a:lnSpc>
              <a:buNone/>
            </a:pPr>
            <a:r>
              <a:rPr lang="en-US" altLang="ja-JP" sz="700" dirty="0">
                <a:solidFill>
                  <a:srgbClr val="494848"/>
                </a:solidFill>
                <a:latin typeface="メイリオ" panose="020B0604030504040204" pitchFamily="50" charset="-128"/>
                <a:ea typeface="メイリオ" panose="020B0604030504040204" pitchFamily="50" charset="-128"/>
                <a:cs typeface="Calibri" pitchFamily="34" charset="-120"/>
              </a:rPr>
              <a:t>LINE</a:t>
            </a: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限定特典で後押し</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（優先面談枠・非公開求人）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追加</a:t>
            </a:r>
            <a:r>
              <a:rPr lang="en-US" altLang="ja-JP" sz="600" dirty="0">
                <a:solidFill>
                  <a:srgbClr val="494848"/>
                </a:solidFill>
                <a:latin typeface="メイリオ" panose="020B0604030504040204" pitchFamily="50" charset="-128"/>
                <a:ea typeface="メイリオ" panose="020B0604030504040204" pitchFamily="50" charset="-128"/>
                <a:cs typeface="Calibri" pitchFamily="34" charset="-120"/>
              </a:rPr>
              <a:t>15</a:t>
            </a: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日後は「面接 対策」「転職 失敗 後悔」「自己分析 やり方」など実際に動き始めた層と離脱層に分かれる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無料</a:t>
            </a:r>
            <a:r>
              <a:rPr lang="en-US" altLang="ja-JP" sz="950" b="1" dirty="0">
                <a:latin typeface="メイリオ" panose="020B0604030504040204" pitchFamily="50" charset="-128"/>
                <a:ea typeface="メイリオ" panose="020B0604030504040204" pitchFamily="50" charset="-128"/>
                <a:cs typeface="Calibri" pitchFamily="34" charset="-120"/>
              </a:rPr>
              <a:t>CA</a:t>
            </a:r>
            <a:r>
              <a:rPr lang="ja-JP" altLang="en-US" sz="950" b="1" dirty="0">
                <a:latin typeface="メイリオ" panose="020B0604030504040204" pitchFamily="50" charset="-128"/>
                <a:ea typeface="メイリオ" panose="020B0604030504040204" pitchFamily="50" charset="-128"/>
                <a:cs typeface="Calibri" pitchFamily="34" charset="-120"/>
              </a:rPr>
              <a:t>相談を申し込む</a:t>
            </a:r>
          </a:p>
        </p:txBody>
      </p:sp>
    </p:spTree>
    <p:extLst>
      <p:ext uri="{BB962C8B-B14F-4D97-AF65-F5344CB8AC3E}">
        <p14:creationId xmlns:p14="http://schemas.microsoft.com/office/powerpoint/2010/main" val="2998183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CB797-9072-5561-562E-D6B91A9591C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転職市場</a:t>
            </a:r>
          </a:p>
        </p:txBody>
      </p:sp>
      <p:sp>
        <p:nvSpPr>
          <p:cNvPr id="14" name="四角形: 角を丸くする 13">
            <a:extLst>
              <a:ext uri="{FF2B5EF4-FFF2-40B4-BE49-F238E27FC236}">
                <a16:creationId xmlns:a16="http://schemas.microsoft.com/office/drawing/2014/main" id="{B653501A-660C-CA1C-E5A1-0C83E3991AFA}"/>
              </a:ext>
            </a:extLst>
          </p:cNvPr>
          <p:cNvSpPr/>
          <p:nvPr/>
        </p:nvSpPr>
        <p:spPr>
          <a:xfrm>
            <a:off x="1802673" y="2788236"/>
            <a:ext cx="1619795"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40A4149F-8AAD-6C2A-9167-96E2456A290A}"/>
              </a:ext>
            </a:extLst>
          </p:cNvPr>
          <p:cNvSpPr/>
          <p:nvPr/>
        </p:nvSpPr>
        <p:spPr>
          <a:xfrm>
            <a:off x="5144727" y="2788236"/>
            <a:ext cx="318813"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4985489" y="3429000"/>
            <a:ext cx="2564755" cy="624844"/>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4785297" y="2794045"/>
            <a:ext cx="318813" cy="991284"/>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08">
            <a:extLst>
              <a:ext uri="{FF2B5EF4-FFF2-40B4-BE49-F238E27FC236}">
                <a16:creationId xmlns:a16="http://schemas.microsoft.com/office/drawing/2014/main" id="{82B3CC5E-6187-AF51-5435-202392E72C80}"/>
              </a:ext>
            </a:extLst>
          </p:cNvPr>
          <p:cNvSpPr/>
          <p:nvPr/>
        </p:nvSpPr>
        <p:spPr>
          <a:xfrm>
            <a:off x="461554"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1月</a:t>
            </a:r>
          </a:p>
        </p:txBody>
      </p:sp>
      <p:sp>
        <p:nvSpPr>
          <p:cNvPr id="7" name="Rectangle 2009">
            <a:extLst>
              <a:ext uri="{FF2B5EF4-FFF2-40B4-BE49-F238E27FC236}">
                <a16:creationId xmlns:a16="http://schemas.microsoft.com/office/drawing/2014/main" id="{5D68C2BC-1361-FE7C-168A-17B777A1C7F5}"/>
              </a:ext>
            </a:extLst>
          </p:cNvPr>
          <p:cNvSpPr/>
          <p:nvPr/>
        </p:nvSpPr>
        <p:spPr>
          <a:xfrm>
            <a:off x="121805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2月</a:t>
            </a:r>
          </a:p>
        </p:txBody>
      </p:sp>
      <p:sp>
        <p:nvSpPr>
          <p:cNvPr id="13" name="Rectangle 2010">
            <a:extLst>
              <a:ext uri="{FF2B5EF4-FFF2-40B4-BE49-F238E27FC236}">
                <a16:creationId xmlns:a16="http://schemas.microsoft.com/office/drawing/2014/main" id="{59D01DEF-9584-1D24-567F-D446C7F0C7D9}"/>
              </a:ext>
            </a:extLst>
          </p:cNvPr>
          <p:cNvSpPr/>
          <p:nvPr/>
        </p:nvSpPr>
        <p:spPr>
          <a:xfrm>
            <a:off x="1974546"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2">
            <a:extLst>
              <a:ext uri="{FF2B5EF4-FFF2-40B4-BE49-F238E27FC236}">
                <a16:creationId xmlns:a16="http://schemas.microsoft.com/office/drawing/2014/main" id="{38D4CCB3-6A52-E243-EBF3-4D9F3E0779B3}"/>
              </a:ext>
            </a:extLst>
          </p:cNvPr>
          <p:cNvSpPr/>
          <p:nvPr/>
        </p:nvSpPr>
        <p:spPr>
          <a:xfrm>
            <a:off x="3487538"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5月</a:t>
            </a:r>
          </a:p>
        </p:txBody>
      </p:sp>
      <p:sp>
        <p:nvSpPr>
          <p:cNvPr id="24" name="Rectangle 2013">
            <a:extLst>
              <a:ext uri="{FF2B5EF4-FFF2-40B4-BE49-F238E27FC236}">
                <a16:creationId xmlns:a16="http://schemas.microsoft.com/office/drawing/2014/main" id="{D050BF4A-37A5-886C-19CC-8C207D3D37C1}"/>
              </a:ext>
            </a:extLst>
          </p:cNvPr>
          <p:cNvSpPr/>
          <p:nvPr/>
        </p:nvSpPr>
        <p:spPr>
          <a:xfrm>
            <a:off x="424403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6月</a:t>
            </a:r>
          </a:p>
        </p:txBody>
      </p:sp>
      <p:sp>
        <p:nvSpPr>
          <p:cNvPr id="27" name="Rectangle 2014">
            <a:extLst>
              <a:ext uri="{FF2B5EF4-FFF2-40B4-BE49-F238E27FC236}">
                <a16:creationId xmlns:a16="http://schemas.microsoft.com/office/drawing/2014/main" id="{4E234943-E519-9759-B8F7-FBB7EA6E8FF2}"/>
              </a:ext>
            </a:extLst>
          </p:cNvPr>
          <p:cNvSpPr/>
          <p:nvPr/>
        </p:nvSpPr>
        <p:spPr>
          <a:xfrm>
            <a:off x="500053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7月</a:t>
            </a:r>
          </a:p>
        </p:txBody>
      </p:sp>
      <p:sp>
        <p:nvSpPr>
          <p:cNvPr id="31" name="Rectangle 2015">
            <a:extLst>
              <a:ext uri="{FF2B5EF4-FFF2-40B4-BE49-F238E27FC236}">
                <a16:creationId xmlns:a16="http://schemas.microsoft.com/office/drawing/2014/main" id="{16A16D33-7293-8E6A-EA78-C8445AA8BB75}"/>
              </a:ext>
            </a:extLst>
          </p:cNvPr>
          <p:cNvSpPr/>
          <p:nvPr/>
        </p:nvSpPr>
        <p:spPr>
          <a:xfrm>
            <a:off x="5757026"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8月</a:t>
            </a:r>
          </a:p>
        </p:txBody>
      </p:sp>
      <p:sp>
        <p:nvSpPr>
          <p:cNvPr id="41" name="Rectangle 2018">
            <a:extLst>
              <a:ext uri="{FF2B5EF4-FFF2-40B4-BE49-F238E27FC236}">
                <a16:creationId xmlns:a16="http://schemas.microsoft.com/office/drawing/2014/main" id="{166279AD-7237-976F-70AB-F87C08C60EB8}"/>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dirty="0">
                <a:solidFill>
                  <a:srgbClr val="5A6378"/>
                </a:solidFill>
                <a:latin typeface="メイリオ"/>
              </a:rPr>
              <a:t>11月</a:t>
            </a:r>
          </a:p>
        </p:txBody>
      </p:sp>
      <p:sp>
        <p:nvSpPr>
          <p:cNvPr id="49" name="Rectangle 2013">
            <a:extLst>
              <a:ext uri="{FF2B5EF4-FFF2-40B4-BE49-F238E27FC236}">
                <a16:creationId xmlns:a16="http://schemas.microsoft.com/office/drawing/2014/main" id="{B868ADFE-4DE9-7A15-E80A-94CF625C8681}"/>
              </a:ext>
            </a:extLst>
          </p:cNvPr>
          <p:cNvSpPr/>
          <p:nvPr/>
        </p:nvSpPr>
        <p:spPr>
          <a:xfrm>
            <a:off x="651207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9</a:t>
            </a:r>
            <a:r>
              <a:rPr sz="1000" b="0" dirty="0">
                <a:solidFill>
                  <a:srgbClr val="5A6378"/>
                </a:solidFill>
                <a:latin typeface="メイリオ"/>
              </a:rPr>
              <a:t>月</a:t>
            </a:r>
          </a:p>
        </p:txBody>
      </p:sp>
      <p:sp>
        <p:nvSpPr>
          <p:cNvPr id="51" name="Rectangle 2014">
            <a:extLst>
              <a:ext uri="{FF2B5EF4-FFF2-40B4-BE49-F238E27FC236}">
                <a16:creationId xmlns:a16="http://schemas.microsoft.com/office/drawing/2014/main" id="{BD5CDE95-1F68-41A7-23B4-5FA5218DD9E7}"/>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altLang="ja-JP" sz="1000" dirty="0">
                <a:solidFill>
                  <a:srgbClr val="5A6378"/>
                </a:solidFill>
                <a:latin typeface="メイリオ"/>
              </a:rPr>
              <a:t>10</a:t>
            </a:r>
            <a:r>
              <a:rPr sz="1000" b="0" dirty="0">
                <a:solidFill>
                  <a:srgbClr val="5A6378"/>
                </a:solidFill>
                <a:latin typeface="メイリオ"/>
              </a:rPr>
              <a:t>月</a:t>
            </a:r>
          </a:p>
        </p:txBody>
      </p:sp>
      <p:sp>
        <p:nvSpPr>
          <p:cNvPr id="55" name="Rectangle 2018">
            <a:extLst>
              <a:ext uri="{FF2B5EF4-FFF2-40B4-BE49-F238E27FC236}">
                <a16:creationId xmlns:a16="http://schemas.microsoft.com/office/drawing/2014/main" id="{23DE8560-7453-4747-E295-4902AD3135B2}"/>
              </a:ext>
            </a:extLst>
          </p:cNvPr>
          <p:cNvSpPr/>
          <p:nvPr/>
        </p:nvSpPr>
        <p:spPr>
          <a:xfrm>
            <a:off x="880841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12</a:t>
            </a:r>
            <a:r>
              <a:rPr sz="1000" b="0" dirty="0">
                <a:solidFill>
                  <a:srgbClr val="5A6378"/>
                </a:solidFill>
                <a:latin typeface="メイリオ"/>
              </a:rPr>
              <a:t>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『狙い目時期』の転職スケジュール」</a:t>
            </a:r>
            <a:endPar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・「今の職場、満足してる？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60</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秒でわかる</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あなたの適正年収＆転職市場価値</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診断」</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新年を迎えるにあたり</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求人数が多くなるこの機会に</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・「残りの採用枠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名」</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15</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分のオンライン壁打ち</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・テキストだけで完結の</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CA</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質問</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・「あなたに会いたいオファーが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お盆で地元に帰って、転職決めた友だちが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02011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B216-274D-4EC8-B420-9BD1A2FE6B99}"/>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9896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8481-2FDF-C61A-0B28-2BD7FAAB4DC1}"/>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99611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5D0F-5075-071F-11BA-7B2A1366AA9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08278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47D94-7381-1A9E-617F-B4E17DA3E766}"/>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CPO</a:t>
            </a:r>
            <a:r>
              <a:rPr kumimoji="1" lang="ja-JP" altLang="en-US" sz="1200" b="1" dirty="0">
                <a:solidFill>
                  <a:srgbClr val="FFFF00"/>
                </a:solidFill>
                <a:latin typeface="メイリオ" panose="020B0604030504040204" pitchFamily="50" charset="-128"/>
                <a:ea typeface="メイリオ" panose="020B0604030504040204" pitchFamily="50" charset="-128"/>
              </a:rPr>
              <a:t>の改善（</a:t>
            </a: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54378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14991-65EE-118F-9D32-76B9BC9A4EB2}"/>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34687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74BE-BFC0-419C-8849-B9CF0276384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0136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4A889-871E-1630-C077-0DF99367DE7C}"/>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08163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268C-F051-0034-8F1C-A9F10B60F8A5}"/>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666F0DA-BF7D-5966-BD1A-BE7B1A9ECF9F}"/>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04374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AA806-E146-213A-7102-2F4072FC82A7}"/>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EBB552C6-EF07-EF11-D3A8-416B9A32665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料金プラン</a:t>
            </a:r>
          </a:p>
        </p:txBody>
      </p:sp>
    </p:spTree>
    <p:extLst>
      <p:ext uri="{BB962C8B-B14F-4D97-AF65-F5344CB8AC3E}">
        <p14:creationId xmlns:p14="http://schemas.microsoft.com/office/powerpoint/2010/main" val="43850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3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384048"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1664207"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5687568"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重要度</a:t>
            </a:r>
          </a:p>
        </p:txBody>
      </p:sp>
      <p:sp>
        <p:nvSpPr>
          <p:cNvPr id="13" name="Rectangle 6">
            <a:extLst>
              <a:ext uri="{FF2B5EF4-FFF2-40B4-BE49-F238E27FC236}">
                <a16:creationId xmlns:a16="http://schemas.microsoft.com/office/drawing/2014/main" id="{3006611C-155B-26D2-87F5-F1073BED0DD5}"/>
              </a:ext>
            </a:extLst>
          </p:cNvPr>
          <p:cNvSpPr/>
          <p:nvPr/>
        </p:nvSpPr>
        <p:spPr>
          <a:xfrm>
            <a:off x="7059168" y="1746073"/>
            <a:ext cx="244144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度合い・目標</a:t>
            </a:r>
          </a:p>
        </p:txBody>
      </p:sp>
      <p:sp>
        <p:nvSpPr>
          <p:cNvPr id="18" name="Rectangle 7">
            <a:extLst>
              <a:ext uri="{FF2B5EF4-FFF2-40B4-BE49-F238E27FC236}">
                <a16:creationId xmlns:a16="http://schemas.microsoft.com/office/drawing/2014/main" id="{0DE26C81-EAA6-9BC7-2010-07A0AE499222}"/>
              </a:ext>
            </a:extLst>
          </p:cNvPr>
          <p:cNvSpPr/>
          <p:nvPr/>
        </p:nvSpPr>
        <p:spPr>
          <a:xfrm>
            <a:off x="384048"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1664207"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dirty="0" err="1">
                <a:solidFill>
                  <a:srgbClr val="333333"/>
                </a:solidFill>
                <a:latin typeface="メイリオ"/>
                <a:ea typeface="メイリオ"/>
                <a:cs typeface="メイリオ"/>
              </a:rPr>
              <a:t>友だち追加の入口を増やす（ポップアップ・広告・店頭</a:t>
            </a:r>
            <a:r>
              <a:rPr sz="1100" b="0" dirty="0">
                <a:solidFill>
                  <a:srgbClr val="333333"/>
                </a:solidFill>
                <a:latin typeface="メイリオ"/>
                <a:ea typeface="メイリオ"/>
                <a:cs typeface="メイリオ"/>
              </a:rPr>
              <a:t>）</a:t>
            </a:r>
          </a:p>
        </p:txBody>
      </p:sp>
      <p:sp>
        <p:nvSpPr>
          <p:cNvPr id="23" name="Rectangle 9">
            <a:extLst>
              <a:ext uri="{FF2B5EF4-FFF2-40B4-BE49-F238E27FC236}">
                <a16:creationId xmlns:a16="http://schemas.microsoft.com/office/drawing/2014/main" id="{4D555954-77CD-7E09-CEBD-4C58033525FD}"/>
              </a:ext>
            </a:extLst>
          </p:cNvPr>
          <p:cNvSpPr/>
          <p:nvPr/>
        </p:nvSpPr>
        <p:spPr>
          <a:xfrm>
            <a:off x="5687568" y="21941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25" name="Rectangle 10">
            <a:extLst>
              <a:ext uri="{FF2B5EF4-FFF2-40B4-BE49-F238E27FC236}">
                <a16:creationId xmlns:a16="http://schemas.microsoft.com/office/drawing/2014/main" id="{86F1D30D-393D-E40A-6D1C-9AFE711E6551}"/>
              </a:ext>
            </a:extLst>
          </p:cNvPr>
          <p:cNvSpPr/>
          <p:nvPr/>
        </p:nvSpPr>
        <p:spPr>
          <a:xfrm>
            <a:off x="7059168" y="21941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（例：月間追加数）</a:t>
            </a:r>
          </a:p>
        </p:txBody>
      </p:sp>
      <p:sp>
        <p:nvSpPr>
          <p:cNvPr id="27" name="Rectangle 11">
            <a:extLst>
              <a:ext uri="{FF2B5EF4-FFF2-40B4-BE49-F238E27FC236}">
                <a16:creationId xmlns:a16="http://schemas.microsoft.com/office/drawing/2014/main" id="{CB2A3195-221A-72EE-7427-467D873BA83B}"/>
              </a:ext>
            </a:extLst>
          </p:cNvPr>
          <p:cNvSpPr/>
          <p:nvPr/>
        </p:nvSpPr>
        <p:spPr>
          <a:xfrm>
            <a:off x="384048"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1664207"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5687568" y="31085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33" name="Rectangle 14">
            <a:extLst>
              <a:ext uri="{FF2B5EF4-FFF2-40B4-BE49-F238E27FC236}">
                <a16:creationId xmlns:a16="http://schemas.microsoft.com/office/drawing/2014/main" id="{BDC1EB93-A86A-84CE-F73E-2149AD61E5FC}"/>
              </a:ext>
            </a:extLst>
          </p:cNvPr>
          <p:cNvSpPr/>
          <p:nvPr/>
        </p:nvSpPr>
        <p:spPr>
          <a:xfrm>
            <a:off x="7059168" y="31085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（例：CV数・リピート率）</a:t>
            </a:r>
          </a:p>
        </p:txBody>
      </p:sp>
      <p:sp>
        <p:nvSpPr>
          <p:cNvPr id="35" name="Rectangle 15">
            <a:extLst>
              <a:ext uri="{FF2B5EF4-FFF2-40B4-BE49-F238E27FC236}">
                <a16:creationId xmlns:a16="http://schemas.microsoft.com/office/drawing/2014/main" id="{6C54381C-EDB8-6610-8581-D5F4C5355345}"/>
              </a:ext>
            </a:extLst>
          </p:cNvPr>
          <p:cNvSpPr/>
          <p:nvPr/>
        </p:nvSpPr>
        <p:spPr>
          <a:xfrm>
            <a:off x="384048"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1664207"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5687568" y="40229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41" name="Rectangle 18">
            <a:extLst>
              <a:ext uri="{FF2B5EF4-FFF2-40B4-BE49-F238E27FC236}">
                <a16:creationId xmlns:a16="http://schemas.microsoft.com/office/drawing/2014/main" id="{188A2264-AC44-69F3-AADC-6C99A3918A5E}"/>
              </a:ext>
            </a:extLst>
          </p:cNvPr>
          <p:cNvSpPr/>
          <p:nvPr/>
        </p:nvSpPr>
        <p:spPr>
          <a:xfrm>
            <a:off x="7059168" y="40229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（例：会員数・反応率）</a:t>
            </a:r>
          </a:p>
        </p:txBody>
      </p:sp>
      <p:sp>
        <p:nvSpPr>
          <p:cNvPr id="43" name="Rectangle 19">
            <a:extLst>
              <a:ext uri="{FF2B5EF4-FFF2-40B4-BE49-F238E27FC236}">
                <a16:creationId xmlns:a16="http://schemas.microsoft.com/office/drawing/2014/main" id="{16CB7492-2668-EFB7-5628-A5714FE43E02}"/>
              </a:ext>
            </a:extLst>
          </p:cNvPr>
          <p:cNvSpPr/>
          <p:nvPr/>
        </p:nvSpPr>
        <p:spPr>
          <a:xfrm>
            <a:off x="384048"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1664207"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通数費・運用工数の削減（セグメント・自動化）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5687568" y="49373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49" name="Rectangle 22">
            <a:extLst>
              <a:ext uri="{FF2B5EF4-FFF2-40B4-BE49-F238E27FC236}">
                <a16:creationId xmlns:a16="http://schemas.microsoft.com/office/drawing/2014/main" id="{E8B63E0D-903B-EFBB-A4FF-728A697ABE8D}"/>
              </a:ext>
            </a:extLst>
          </p:cNvPr>
          <p:cNvSpPr/>
          <p:nvPr/>
        </p:nvSpPr>
        <p:spPr>
          <a:xfrm>
            <a:off x="7059168" y="49373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（例：通数費の削減額）</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150" b="1">
                <a:solidFill>
                  <a:srgbClr val="1F2A5C"/>
                </a:solidFill>
                <a:latin typeface="メイリオ"/>
                <a:ea typeface="メイリオ"/>
                <a:cs typeface="メイリオ"/>
              </a:rPr>
              <a:t>◎＝最重視／○＝重視／△＝優先度は低い。ヒアリングで記入し、施策の配分と予算の目安に反映します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流入量・</a:t>
            </a:r>
            <a:r>
              <a:rPr lang="en-US" altLang="ja-JP" sz="1300" b="1" dirty="0">
                <a:solidFill>
                  <a:srgbClr val="4A6FA5"/>
                </a:solidFill>
                <a:latin typeface="メイリオ"/>
                <a:ea typeface="メイリオ"/>
                <a:cs typeface="メイリオ"/>
              </a:rPr>
              <a:t>CV</a:t>
            </a:r>
            <a:r>
              <a:rPr lang="ja-JP" altLang="en-US" sz="1300" b="1" dirty="0">
                <a:solidFill>
                  <a:srgbClr val="4A6FA5"/>
                </a:solidFill>
                <a:latin typeface="メイリオ"/>
                <a:ea typeface="メイリオ"/>
                <a:cs typeface="メイリオ"/>
              </a:rPr>
              <a:t>・</a:t>
            </a:r>
            <a:r>
              <a:rPr lang="en-US" altLang="ja-JP" sz="1300" b="1" dirty="0">
                <a:solidFill>
                  <a:srgbClr val="4A6FA5"/>
                </a:solidFill>
                <a:latin typeface="メイリオ"/>
                <a:ea typeface="メイリオ"/>
                <a:cs typeface="メイリオ"/>
              </a:rPr>
              <a:t>CV</a:t>
            </a:r>
            <a:r>
              <a:rPr lang="ja-JP" altLang="en-US" sz="1300" b="1" dirty="0">
                <a:solidFill>
                  <a:srgbClr val="4A6FA5"/>
                </a:solidFill>
                <a:latin typeface="メイリオ"/>
                <a:ea typeface="メイリオ"/>
                <a:cs typeface="メイリオ"/>
              </a:rPr>
              <a:t>地点から、</a:t>
            </a:r>
            <a:r>
              <a:rPr lang="en-US" altLang="ja-JP" sz="1300" b="1" dirty="0">
                <a:solidFill>
                  <a:srgbClr val="4A6FA5"/>
                </a:solidFill>
                <a:latin typeface="メイリオ"/>
                <a:ea typeface="メイリオ"/>
                <a:cs typeface="メイリオ"/>
              </a:rPr>
              <a:t>LINE</a:t>
            </a:r>
            <a:r>
              <a:rPr lang="ja-JP" altLang="en-US" sz="1300" b="1" dirty="0">
                <a:solidFill>
                  <a:srgbClr val="4A6FA5"/>
                </a:solidFill>
                <a:latin typeface="メイリオ"/>
                <a:ea typeface="メイリオ"/>
                <a:cs typeface="メイリオ"/>
              </a:rPr>
              <a:t>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384048"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2578608"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B38F1B92-D634-77F8-3356-02B435E0FAEE}"/>
              </a:ext>
            </a:extLst>
          </p:cNvPr>
          <p:cNvSpPr/>
          <p:nvPr/>
        </p:nvSpPr>
        <p:spPr>
          <a:xfrm>
            <a:off x="6601968" y="1754781"/>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CF4FAB5-94CA-8D75-4428-FE51AE61E877}"/>
              </a:ext>
            </a:extLst>
          </p:cNvPr>
          <p:cNvSpPr/>
          <p:nvPr/>
        </p:nvSpPr>
        <p:spPr>
          <a:xfrm>
            <a:off x="384048"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2578608"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サイト全体のユニークユーザー数</a:t>
            </a:r>
          </a:p>
        </p:txBody>
      </p:sp>
      <p:sp>
        <p:nvSpPr>
          <p:cNvPr id="21" name="Rectangle 8">
            <a:extLst>
              <a:ext uri="{FF2B5EF4-FFF2-40B4-BE49-F238E27FC236}">
                <a16:creationId xmlns:a16="http://schemas.microsoft.com/office/drawing/2014/main" id="{192BDBE0-827A-A566-E2C7-3CE69EF889BE}"/>
              </a:ext>
            </a:extLst>
          </p:cNvPr>
          <p:cNvSpPr/>
          <p:nvPr/>
        </p:nvSpPr>
        <p:spPr>
          <a:xfrm>
            <a:off x="6601968" y="217210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D73FA1D7-BEA3-B981-6155-AEFEF0286995}"/>
              </a:ext>
            </a:extLst>
          </p:cNvPr>
          <p:cNvSpPr/>
          <p:nvPr/>
        </p:nvSpPr>
        <p:spPr>
          <a:xfrm>
            <a:off x="384048"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2578608"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広告経由の流入と月間の広告費</a:t>
            </a:r>
          </a:p>
        </p:txBody>
      </p:sp>
      <p:sp>
        <p:nvSpPr>
          <p:cNvPr id="32" name="Rectangle 11">
            <a:extLst>
              <a:ext uri="{FF2B5EF4-FFF2-40B4-BE49-F238E27FC236}">
                <a16:creationId xmlns:a16="http://schemas.microsoft.com/office/drawing/2014/main" id="{DF2E3318-BC22-D10A-07C4-5D09E1B00A87}"/>
              </a:ext>
            </a:extLst>
          </p:cNvPr>
          <p:cNvSpPr/>
          <p:nvPr/>
        </p:nvSpPr>
        <p:spPr>
          <a:xfrm>
            <a:off x="6601968" y="273989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697ECEAF-7BB9-7DE2-205B-BF4102EA1DC3}"/>
              </a:ext>
            </a:extLst>
          </p:cNvPr>
          <p:cNvSpPr/>
          <p:nvPr/>
        </p:nvSpPr>
        <p:spPr>
          <a:xfrm>
            <a:off x="384048"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2578608"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申込・予約・購入などの件数</a:t>
            </a:r>
          </a:p>
        </p:txBody>
      </p:sp>
      <p:sp>
        <p:nvSpPr>
          <p:cNvPr id="44" name="Rectangle 14">
            <a:extLst>
              <a:ext uri="{FF2B5EF4-FFF2-40B4-BE49-F238E27FC236}">
                <a16:creationId xmlns:a16="http://schemas.microsoft.com/office/drawing/2014/main" id="{2F30D830-C8E5-B05E-3354-E6780E4D8F34}"/>
              </a:ext>
            </a:extLst>
          </p:cNvPr>
          <p:cNvSpPr/>
          <p:nvPr/>
        </p:nvSpPr>
        <p:spPr>
          <a:xfrm>
            <a:off x="6601968" y="3307697"/>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61F4857C-44FC-330D-6E38-FCB957103270}"/>
              </a:ext>
            </a:extLst>
          </p:cNvPr>
          <p:cNvSpPr/>
          <p:nvPr/>
        </p:nvSpPr>
        <p:spPr>
          <a:xfrm>
            <a:off x="384048"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2578608"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電話／フォーム／来店予約／購入など</a:t>
            </a:r>
          </a:p>
        </p:txBody>
      </p:sp>
      <p:sp>
        <p:nvSpPr>
          <p:cNvPr id="55" name="Rectangle 17">
            <a:extLst>
              <a:ext uri="{FF2B5EF4-FFF2-40B4-BE49-F238E27FC236}">
                <a16:creationId xmlns:a16="http://schemas.microsoft.com/office/drawing/2014/main" id="{68B146F0-A9E6-7C8D-DC20-A149DB41E5D2}"/>
              </a:ext>
            </a:extLst>
          </p:cNvPr>
          <p:cNvSpPr/>
          <p:nvPr/>
        </p:nvSpPr>
        <p:spPr>
          <a:xfrm>
            <a:off x="6601968" y="3875494"/>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E3B3C022-C821-43A8-BDFA-36760FBCB427}"/>
              </a:ext>
            </a:extLst>
          </p:cNvPr>
          <p:cNvSpPr/>
          <p:nvPr/>
        </p:nvSpPr>
        <p:spPr>
          <a:xfrm>
            <a:off x="384048"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2578608"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SEO・広告・SNS・ディスプレイの比率</a:t>
            </a:r>
          </a:p>
        </p:txBody>
      </p:sp>
      <p:sp>
        <p:nvSpPr>
          <p:cNvPr id="61" name="Rectangle 20">
            <a:extLst>
              <a:ext uri="{FF2B5EF4-FFF2-40B4-BE49-F238E27FC236}">
                <a16:creationId xmlns:a16="http://schemas.microsoft.com/office/drawing/2014/main" id="{886B0D5C-0C30-0B30-0BA4-E1C772ECF373}"/>
              </a:ext>
            </a:extLst>
          </p:cNvPr>
          <p:cNvSpPr/>
          <p:nvPr/>
        </p:nvSpPr>
        <p:spPr>
          <a:xfrm>
            <a:off x="6601968" y="4443293"/>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7313DF05-AD69-66C6-AA40-BD1CA81439B5}"/>
              </a:ext>
            </a:extLst>
          </p:cNvPr>
          <p:cNvSpPr/>
          <p:nvPr/>
        </p:nvSpPr>
        <p:spPr>
          <a:xfrm>
            <a:off x="384048"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2578608"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サイト上の友だち追加の入口の有無</a:t>
            </a:r>
          </a:p>
        </p:txBody>
      </p:sp>
      <p:sp>
        <p:nvSpPr>
          <p:cNvPr id="67" name="Rectangle 23">
            <a:extLst>
              <a:ext uri="{FF2B5EF4-FFF2-40B4-BE49-F238E27FC236}">
                <a16:creationId xmlns:a16="http://schemas.microsoft.com/office/drawing/2014/main" id="{22594C73-0280-1178-5856-83C2C8C7B870}"/>
              </a:ext>
            </a:extLst>
          </p:cNvPr>
          <p:cNvSpPr/>
          <p:nvPr/>
        </p:nvSpPr>
        <p:spPr>
          <a:xfrm>
            <a:off x="6601968" y="501109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C6E03287-2BFA-C776-5D36-CFA637C8C321}"/>
              </a:ext>
            </a:extLst>
          </p:cNvPr>
          <p:cNvSpPr/>
          <p:nvPr/>
        </p:nvSpPr>
        <p:spPr>
          <a:xfrm>
            <a:off x="384048"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2578608"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メール会員・他SNSのフォロワー数など</a:t>
            </a:r>
          </a:p>
        </p:txBody>
      </p:sp>
      <p:sp>
        <p:nvSpPr>
          <p:cNvPr id="73" name="Rectangle 26">
            <a:extLst>
              <a:ext uri="{FF2B5EF4-FFF2-40B4-BE49-F238E27FC236}">
                <a16:creationId xmlns:a16="http://schemas.microsoft.com/office/drawing/2014/main" id="{646B48C3-12AF-E6E5-8AEE-F4C5DD2EEC0C}"/>
              </a:ext>
            </a:extLst>
          </p:cNvPr>
          <p:cNvSpPr/>
          <p:nvPr/>
        </p:nvSpPr>
        <p:spPr>
          <a:xfrm>
            <a:off x="6601968" y="557888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384048"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5BA3C8AC-F83B-8887-50C2-B4AED74F4F54}"/>
              </a:ext>
            </a:extLst>
          </p:cNvPr>
          <p:cNvSpPr/>
          <p:nvPr/>
        </p:nvSpPr>
        <p:spPr>
          <a:xfrm>
            <a:off x="6601968" y="1780907"/>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019A0C2-CAAE-25A0-61D2-699B65C42417}"/>
              </a:ext>
            </a:extLst>
          </p:cNvPr>
          <p:cNvSpPr/>
          <p:nvPr/>
        </p:nvSpPr>
        <p:spPr>
          <a:xfrm>
            <a:off x="384048"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累計と、直近の月間増加数</a:t>
            </a:r>
          </a:p>
        </p:txBody>
      </p:sp>
      <p:sp>
        <p:nvSpPr>
          <p:cNvPr id="21" name="Rectangle 8">
            <a:extLst>
              <a:ext uri="{FF2B5EF4-FFF2-40B4-BE49-F238E27FC236}">
                <a16:creationId xmlns:a16="http://schemas.microsoft.com/office/drawing/2014/main" id="{090C52B4-5C5E-4082-D9D0-B3F682D1D56B}"/>
              </a:ext>
            </a:extLst>
          </p:cNvPr>
          <p:cNvSpPr/>
          <p:nvPr/>
        </p:nvSpPr>
        <p:spPr>
          <a:xfrm>
            <a:off x="6601968" y="2203668"/>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382D44E1-F4E2-5751-D452-0D8CCC481730}"/>
              </a:ext>
            </a:extLst>
          </p:cNvPr>
          <p:cNvSpPr/>
          <p:nvPr/>
        </p:nvSpPr>
        <p:spPr>
          <a:xfrm>
            <a:off x="384048"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2578608"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ブロック率、開封率、クリック率</a:t>
            </a:r>
          </a:p>
        </p:txBody>
      </p:sp>
      <p:sp>
        <p:nvSpPr>
          <p:cNvPr id="32" name="Rectangle 11">
            <a:extLst>
              <a:ext uri="{FF2B5EF4-FFF2-40B4-BE49-F238E27FC236}">
                <a16:creationId xmlns:a16="http://schemas.microsoft.com/office/drawing/2014/main" id="{5D95E04F-E0EF-7048-CE4F-52EF8E06A51C}"/>
              </a:ext>
            </a:extLst>
          </p:cNvPr>
          <p:cNvSpPr/>
          <p:nvPr/>
        </p:nvSpPr>
        <p:spPr>
          <a:xfrm>
            <a:off x="6601968" y="280978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C5BC36E1-E9EC-5F99-6730-862D59A7268A}"/>
              </a:ext>
            </a:extLst>
          </p:cNvPr>
          <p:cNvSpPr/>
          <p:nvPr/>
        </p:nvSpPr>
        <p:spPr>
          <a:xfrm>
            <a:off x="384048"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2578608"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一斉配信・ステップ配信の本数、月間通数</a:t>
            </a:r>
          </a:p>
        </p:txBody>
      </p:sp>
      <p:sp>
        <p:nvSpPr>
          <p:cNvPr id="44" name="Rectangle 14">
            <a:extLst>
              <a:ext uri="{FF2B5EF4-FFF2-40B4-BE49-F238E27FC236}">
                <a16:creationId xmlns:a16="http://schemas.microsoft.com/office/drawing/2014/main" id="{8DF123B9-F9C1-F5AC-B9B8-847E3B54BB6E}"/>
              </a:ext>
            </a:extLst>
          </p:cNvPr>
          <p:cNvSpPr/>
          <p:nvPr/>
        </p:nvSpPr>
        <p:spPr>
          <a:xfrm>
            <a:off x="6601968" y="342460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7A4A3E0B-F476-7DC4-F177-948A5D80A39F}"/>
              </a:ext>
            </a:extLst>
          </p:cNvPr>
          <p:cNvSpPr/>
          <p:nvPr/>
        </p:nvSpPr>
        <p:spPr>
          <a:xfrm>
            <a:off x="384048"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2578608"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LINE公式アカウントの料金プラン</a:t>
            </a:r>
          </a:p>
        </p:txBody>
      </p:sp>
      <p:sp>
        <p:nvSpPr>
          <p:cNvPr id="55" name="Rectangle 17">
            <a:extLst>
              <a:ext uri="{FF2B5EF4-FFF2-40B4-BE49-F238E27FC236}">
                <a16:creationId xmlns:a16="http://schemas.microsoft.com/office/drawing/2014/main" id="{8586DBF7-7FC5-FCBD-008A-A179145000C4}"/>
              </a:ext>
            </a:extLst>
          </p:cNvPr>
          <p:cNvSpPr/>
          <p:nvPr/>
        </p:nvSpPr>
        <p:spPr>
          <a:xfrm>
            <a:off x="6601968" y="4030719"/>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279B2C05-4721-5850-5790-24F42D16195C}"/>
              </a:ext>
            </a:extLst>
          </p:cNvPr>
          <p:cNvSpPr/>
          <p:nvPr/>
        </p:nvSpPr>
        <p:spPr>
          <a:xfrm>
            <a:off x="384048"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2578608"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APIツール（Lステップ等）の有無・プラン</a:t>
            </a:r>
          </a:p>
        </p:txBody>
      </p:sp>
      <p:sp>
        <p:nvSpPr>
          <p:cNvPr id="61" name="Rectangle 20">
            <a:extLst>
              <a:ext uri="{FF2B5EF4-FFF2-40B4-BE49-F238E27FC236}">
                <a16:creationId xmlns:a16="http://schemas.microsoft.com/office/drawing/2014/main" id="{DB7FB4C0-51C6-3078-A140-B7A1B50F861A}"/>
              </a:ext>
            </a:extLst>
          </p:cNvPr>
          <p:cNvSpPr/>
          <p:nvPr/>
        </p:nvSpPr>
        <p:spPr>
          <a:xfrm>
            <a:off x="6601968" y="464554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F4210959-8935-1BA3-A155-B4D4B1BE79EA}"/>
              </a:ext>
            </a:extLst>
          </p:cNvPr>
          <p:cNvSpPr/>
          <p:nvPr/>
        </p:nvSpPr>
        <p:spPr>
          <a:xfrm>
            <a:off x="384048"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2578608"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アカウント費・ツール費・運用費・通数費の月額合計</a:t>
            </a:r>
          </a:p>
        </p:txBody>
      </p:sp>
      <p:sp>
        <p:nvSpPr>
          <p:cNvPr id="67" name="Rectangle 23">
            <a:extLst>
              <a:ext uri="{FF2B5EF4-FFF2-40B4-BE49-F238E27FC236}">
                <a16:creationId xmlns:a16="http://schemas.microsoft.com/office/drawing/2014/main" id="{0B10266D-13DE-7185-5A31-5B2D7BD7491A}"/>
              </a:ext>
            </a:extLst>
          </p:cNvPr>
          <p:cNvSpPr/>
          <p:nvPr/>
        </p:nvSpPr>
        <p:spPr>
          <a:xfrm>
            <a:off x="6601968" y="525165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150" b="1">
                <a:solidFill>
                  <a:srgbClr val="1F2A5C"/>
                </a:solidFill>
                <a:latin typeface="メイリオ"/>
                <a:ea typeface="メイリオ"/>
                <a:cs typeface="メイリオ"/>
              </a:rPr>
              <a:t>アクティブ率・通数費の現状を見て、セグメント配信などで改善できる範囲を提案に反映します</a:t>
            </a:r>
          </a:p>
        </p:txBody>
      </p:sp>
    </p:spTree>
    <p:extLst>
      <p:ext uri="{BB962C8B-B14F-4D97-AF65-F5344CB8AC3E}">
        <p14:creationId xmlns:p14="http://schemas.microsoft.com/office/powerpoint/2010/main" val="2363105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150" b="1" dirty="0">
                <a:solidFill>
                  <a:srgbClr val="1F2A5C"/>
                </a:solidFill>
                <a:latin typeface="メイリオ"/>
                <a:ea typeface="メイリオ"/>
                <a:cs typeface="メイリオ"/>
              </a:rPr>
              <a:t>LINE Official</a:t>
            </a:r>
            <a:r>
              <a:rPr lang="ja-JP" altLang="en-US" sz="1150" b="1" dirty="0">
                <a:solidFill>
                  <a:srgbClr val="1F2A5C"/>
                </a:solidFill>
                <a:latin typeface="メイリオ"/>
                <a:ea typeface="メイリオ"/>
                <a:cs typeface="メイリオ"/>
              </a:rPr>
              <a:t> </a:t>
            </a:r>
            <a:r>
              <a:rPr lang="en-US" altLang="ja-JP" sz="1150" b="1" dirty="0">
                <a:solidFill>
                  <a:srgbClr val="1F2A5C"/>
                </a:solidFill>
                <a:latin typeface="メイリオ"/>
                <a:ea typeface="メイリオ"/>
                <a:cs typeface="メイリオ"/>
              </a:rPr>
              <a:t>Manager</a:t>
            </a:r>
            <a:r>
              <a:rPr lang="ja-JP" altLang="en-US" sz="1150" b="1" dirty="0">
                <a:solidFill>
                  <a:srgbClr val="1F2A5C"/>
                </a:solidFill>
                <a:latin typeface="メイリオ"/>
                <a:ea typeface="メイリオ"/>
                <a:cs typeface="メイリオ"/>
              </a:rPr>
              <a:t>、</a:t>
            </a:r>
            <a:r>
              <a:rPr lang="en-US" altLang="ja-JP" sz="1150" b="1" dirty="0">
                <a:solidFill>
                  <a:srgbClr val="1F2A5C"/>
                </a:solidFill>
                <a:latin typeface="メイリオ"/>
                <a:ea typeface="メイリオ"/>
                <a:cs typeface="メイリオ"/>
              </a:rPr>
              <a:t>API</a:t>
            </a:r>
            <a:r>
              <a:rPr lang="ja-JP" altLang="en-US" sz="1150" b="1" dirty="0">
                <a:solidFill>
                  <a:srgbClr val="1F2A5C"/>
                </a:solidFill>
                <a:latin typeface="メイリオ"/>
                <a:ea typeface="メイリオ"/>
                <a:cs typeface="メイリオ"/>
              </a:rPr>
              <a:t>ツール等、配信にかかわる管理画面の共有をいただければ詳細なご提案が可能です。</a:t>
            </a:r>
            <a:endParaRPr sz="115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145203</TotalTime>
  <Words>3648</Words>
  <Application>Microsoft Office PowerPoint</Application>
  <PresentationFormat>A4 210 x 297 mm</PresentationFormat>
  <Paragraphs>837</Paragraphs>
  <Slides>43</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43</vt:i4>
      </vt:variant>
    </vt:vector>
  </HeadingPairs>
  <TitlesOfParts>
    <vt:vector size="50"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1981</cp:revision>
  <cp:lastPrinted>2022-11-01T11:38:14Z</cp:lastPrinted>
  <dcterms:created xsi:type="dcterms:W3CDTF">2015-09-04T09:21:15Z</dcterms:created>
  <dcterms:modified xsi:type="dcterms:W3CDTF">2026-10-24T06:11:51Z</dcterms:modified>
</cp:coreProperties>
</file>