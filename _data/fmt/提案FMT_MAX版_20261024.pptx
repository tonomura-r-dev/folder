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2727" r:id="rId11"/>
    <p:sldId id="3131" r:id="rId12"/>
    <p:sldId id="3132" r:id="rId13"/>
    <p:sldId id="3150" r:id="rId14"/>
    <p:sldId id="2732" r:id="rId15"/>
    <p:sldId id="2733" r:id="rId16"/>
    <p:sldId id="2972" r:id="rId17"/>
    <p:sldId id="2975" r:id="rId18"/>
    <p:sldId id="2974" r:id="rId19"/>
    <p:sldId id="2728" r:id="rId20"/>
    <p:sldId id="3147" r:id="rId21"/>
    <p:sldId id="3148" r:id="rId22"/>
    <p:sldId id="3141" r:id="rId23"/>
    <p:sldId id="3142" r:id="rId24"/>
    <p:sldId id="3143" r:id="rId25"/>
    <p:sldId id="3145" r:id="rId26"/>
    <p:sldId id="3144" r:id="rId27"/>
    <p:sldId id="3146" r:id="rId28"/>
    <p:sldId id="2729" r:id="rId29"/>
    <p:sldId id="3149" r:id="rId30"/>
    <p:sldId id="2730" r:id="rId31"/>
    <p:sldId id="2563" r:id="rId32"/>
    <p:sldId id="2959" r:id="rId33"/>
    <p:sldId id="2970" r:id="rId34"/>
    <p:sldId id="2968" r:id="rId35"/>
    <p:sldId id="2969" r:id="rId36"/>
    <p:sldId id="2639" r:id="rId37"/>
    <p:sldId id="2575" r:id="rId38"/>
    <p:sldId id="2910" r:id="rId39"/>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24"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jpe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image" Target="../media/image56.jpeg"/><Relationship Id="rId7" Type="http://schemas.openxmlformats.org/officeDocument/2006/relationships/image" Target="../media/image57.jpeg"/><Relationship Id="rId8"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ポップアップバナー</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査定〜面談の流れを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A806-E146-213A-7102-2F4072FC82A7}"/>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EBB552C6-EF07-EF11-D3A8-416B9A32665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料金プラン</a:t>
            </a:r>
          </a:p>
        </p:txBody>
      </p:sp>
    </p:spTree>
    <p:extLst>
      <p:ext uri="{BB962C8B-B14F-4D97-AF65-F5344CB8AC3E}">
        <p14:creationId xmlns:p14="http://schemas.microsoft.com/office/powerpoint/2010/main" val="4385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重要度</a:t>
            </a:r>
          </a:p>
        </p:txBody>
      </p:sp>
      <p:sp>
        <p:nvSpPr>
          <p:cNvPr id="13"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dirty="0" err="1">
                <a:solidFill>
                  <a:srgbClr val="333333"/>
                </a:solidFill>
                <a:latin typeface="メイリオ"/>
                <a:ea typeface="メイリオ"/>
                <a:cs typeface="メイリオ"/>
              </a:rPr>
              <a:t>友だち追加の入口を増やす（ポップアップ・広告・店頭</a:t>
            </a:r>
            <a:r>
              <a:rPr sz="1100" b="0" dirty="0">
                <a:solidFill>
                  <a:srgbClr val="333333"/>
                </a:solidFill>
                <a:latin typeface="メイリオ"/>
                <a:ea typeface="メイリオ"/>
                <a:cs typeface="メイリオ"/>
              </a:rPr>
              <a:t>）</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2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33"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1"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通数費・運用工数の削減（セグメント・自動化）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9"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◎＝最重視／○＝重視／△＝優先度は低い。ヒアリングで記入し、施策の配分と予算の目安に反映します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サイト全体のユニークユーザー数</a:t>
            </a:r>
          </a:p>
        </p:txBody>
      </p:sp>
      <p:sp>
        <p:nvSpPr>
          <p:cNvPr id="21"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広告経由の流入と月間の広告費</a:t>
            </a:r>
          </a:p>
        </p:txBody>
      </p:sp>
      <p:sp>
        <p:nvSpPr>
          <p:cNvPr id="32"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申込・予約・購入などの件数</a:t>
            </a:r>
          </a:p>
        </p:txBody>
      </p:sp>
      <p:sp>
        <p:nvSpPr>
          <p:cNvPr id="44"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電話／フォーム／来店予約／購入など</a:t>
            </a:r>
          </a:p>
        </p:txBody>
      </p:sp>
      <p:sp>
        <p:nvSpPr>
          <p:cNvPr id="55"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SEO・広告・SNS・ディスプレイの比率</a:t>
            </a:r>
          </a:p>
        </p:txBody>
      </p:sp>
      <p:sp>
        <p:nvSpPr>
          <p:cNvPr id="6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サイト上の友だち追加の入口の有無</a:t>
            </a:r>
          </a:p>
        </p:txBody>
      </p:sp>
      <p:sp>
        <p:nvSpPr>
          <p:cNvPr id="67"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メール会員・他SNSのフォロワー数など</a:t>
            </a:r>
          </a:p>
        </p:txBody>
      </p:sp>
      <p:sp>
        <p:nvSpPr>
          <p:cNvPr id="7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累計と、直近の月間増加数</a:t>
            </a:r>
          </a:p>
        </p:txBody>
      </p:sp>
      <p:sp>
        <p:nvSpPr>
          <p:cNvPr id="2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ブロック率、開封率、クリック率</a:t>
            </a:r>
          </a:p>
        </p:txBody>
      </p:sp>
      <p:sp>
        <p:nvSpPr>
          <p:cNvPr id="3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一斉配信・ステップ配信の本数、月間通数</a:t>
            </a:r>
          </a:p>
        </p:txBody>
      </p:sp>
      <p:sp>
        <p:nvSpPr>
          <p:cNvPr id="44"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LINE公式アカウントの料金プラン</a:t>
            </a:r>
          </a:p>
        </p:txBody>
      </p:sp>
      <p:sp>
        <p:nvSpPr>
          <p:cNvPr id="55"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APIツール（Lステップ等）の有無・プラン</a:t>
            </a:r>
          </a:p>
        </p:txBody>
      </p:sp>
      <p:sp>
        <p:nvSpPr>
          <p:cNvPr id="61"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アカウント費・ツール費・運用費・通数費の月額合計</a:t>
            </a:r>
          </a:p>
        </p:txBody>
      </p:sp>
      <p:sp>
        <p:nvSpPr>
          <p:cNvPr id="67"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アクティブ率・通数費の現状を見て、セグメント配信などで改善できる範囲を提案に反映します</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150" b="1" dirty="0">
                <a:solidFill>
                  <a:srgbClr val="1F2A5C"/>
                </a:solidFill>
                <a:latin typeface="メイリオ"/>
                <a:ea typeface="メイリオ"/>
                <a:cs typeface="メイリオ"/>
              </a:rPr>
              <a:t>LINE Official</a:t>
            </a:r>
            <a:r>
              <a:rPr lang="ja-JP" altLang="en-US" sz="1150" b="1" dirty="0">
                <a:solidFill>
                  <a:srgbClr val="1F2A5C"/>
                </a:solidFill>
                <a:latin typeface="メイリオ"/>
                <a:ea typeface="メイリオ"/>
                <a:cs typeface="メイリオ"/>
              </a:rPr>
              <a:t> </a:t>
            </a:r>
            <a:r>
              <a:rPr lang="en-US" altLang="ja-JP" sz="1150" b="1" dirty="0">
                <a:solidFill>
                  <a:srgbClr val="1F2A5C"/>
                </a:solidFill>
                <a:latin typeface="メイリオ"/>
                <a:ea typeface="メイリオ"/>
                <a:cs typeface="メイリオ"/>
              </a:rPr>
              <a:t>Manager</a:t>
            </a:r>
            <a:r>
              <a:rPr lang="ja-JP" altLang="en-US" sz="1150" b="1" dirty="0">
                <a:solidFill>
                  <a:srgbClr val="1F2A5C"/>
                </a:solidFill>
                <a:latin typeface="メイリオ"/>
                <a:ea typeface="メイリオ"/>
                <a:cs typeface="メイリオ"/>
              </a:rPr>
              <a:t>、</a:t>
            </a:r>
            <a:r>
              <a:rPr lang="en-US" altLang="ja-JP" sz="1150" b="1" dirty="0">
                <a:solidFill>
                  <a:srgbClr val="1F2A5C"/>
                </a:solidFill>
                <a:latin typeface="メイリオ"/>
                <a:ea typeface="メイリオ"/>
                <a:cs typeface="メイリオ"/>
              </a:rPr>
              <a:t>API</a:t>
            </a:r>
            <a:r>
              <a:rPr lang="ja-JP" altLang="en-US" sz="1150" b="1" dirty="0">
                <a:solidFill>
                  <a:srgbClr val="1F2A5C"/>
                </a:solidFill>
                <a:latin typeface="メイリオ"/>
                <a:ea typeface="メイリオ"/>
                <a:cs typeface="メイリオ"/>
              </a:rPr>
              <a:t>ツール等、配信にかかわる管理画面の共有をいただければ詳細なご提案が可能です。</a:t>
            </a:r>
            <a:endParaRPr sz="115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145287</TotalTime>
  <Words>3756</Words>
  <Application>Microsoft Office PowerPoint</Application>
  <PresentationFormat>A4 210 x 297 mm</PresentationFormat>
  <Paragraphs>870</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1982</cp:revision>
  <cp:lastPrinted>2022-11-01T11:38:14Z</cp:lastPrinted>
  <dcterms:created xsi:type="dcterms:W3CDTF">2015-09-04T09:21:15Z</dcterms:created>
  <dcterms:modified xsi:type="dcterms:W3CDTF">2026-10-24T07:35:09Z</dcterms:modified>
</cp:coreProperties>
</file>