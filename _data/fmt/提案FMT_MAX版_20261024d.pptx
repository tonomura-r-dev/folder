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46"/>
  </p:notesMasterIdLst>
  <p:handoutMasterIdLst>
    <p:handoutMasterId r:id="rId47"/>
  </p:handoutMasterIdLst>
  <p:sldIdLst>
    <p:sldId id="2363" r:id="rId3"/>
    <p:sldId id="2726" r:id="rId4"/>
    <p:sldId id="2721" r:id="rId5"/>
    <p:sldId id="2723" r:id="rId6"/>
    <p:sldId id="2724" r:id="rId7"/>
    <p:sldId id="2364" r:id="rId8"/>
    <p:sldId id="2365" r:id="rId9"/>
    <p:sldId id="2725" r:id="rId10"/>
    <p:sldId id="2727" r:id="rId11"/>
    <p:sldId id="3131" r:id="rId12"/>
    <p:sldId id="3132" r:id="rId13"/>
    <p:sldId id="3150" r:id="rId14"/>
    <p:sldId id="2732" r:id="rId15"/>
    <p:sldId id="2733" r:id="rId16"/>
    <p:sldId id="2972" r:id="rId17"/>
    <p:sldId id="2975" r:id="rId18"/>
    <p:sldId id="2974" r:id="rId19"/>
    <p:sldId id="2728" r:id="rId20"/>
    <p:sldId id="3147" r:id="rId21"/>
    <p:sldId id="3148" r:id="rId22"/>
    <p:sldId id="3141" r:id="rId23"/>
    <p:sldId id="3142" r:id="rId24"/>
    <p:sldId id="3143" r:id="rId25"/>
    <p:sldId id="3145" r:id="rId26"/>
    <p:sldId id="3144" r:id="rId27"/>
    <p:sldId id="3146" r:id="rId28"/>
    <p:sldId id="2729" r:id="rId29"/>
    <p:sldId id="3149" r:id="rId30"/>
    <p:sldId id="2730" r:id="rId31"/>
    <p:sldId id="2563" r:id="rId32"/>
    <p:sldId id="2959" r:id="rId33"/>
    <p:sldId id="2970" r:id="rId34"/>
    <p:sldId id="2968" r:id="rId35"/>
    <p:sldId id="2969" r:id="rId36"/>
    <p:sldId id="3151" r:id="rId52"/>
    <p:sldId id="2575" r:id="rId38"/>
    <p:sldId id="2910" r:id="rId39"/>
    <p:sldId id="3136" r:id="rId40"/>
    <p:sldId id="3137" r:id="rId41"/>
    <p:sldId id="3138" r:id="rId42"/>
    <p:sldId id="3139" r:id="rId43"/>
    <p:sldId id="3140" r:id="rId44"/>
    <p:sldId id="1169" r:id="rId45"/>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FA0A"/>
    <a:srgbClr val="173559"/>
    <a:srgbClr val="FDFDFD"/>
    <a:srgbClr val="2080FF"/>
    <a:srgbClr val="1D8DFF"/>
    <a:srgbClr val="515457"/>
    <a:srgbClr val="F6A454"/>
    <a:srgbClr val="EAEEF4"/>
    <a:srgbClr val="2D6CB9"/>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157" autoAdjust="0"/>
    <p:restoredTop sz="94424" autoAdjust="0"/>
  </p:normalViewPr>
  <p:slideViewPr>
    <p:cSldViewPr snapToGrid="0">
      <p:cViewPr>
        <p:scale>
          <a:sx n="50" d="100"/>
          <a:sy n="50" d="100"/>
        </p:scale>
        <p:origin x="24" y="504"/>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openxmlformats.org/officeDocument/2006/relationships/slide" Target="slides/slide3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2026/10/24</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10"/>
          </p:nvPr>
        </p:nvSpPr>
        <p:spPr/>
        <p:txBody>
          <a:bodyPr/>
          <a:lstStyle/>
          <a:p>
            <a:pPr defTabSz="956886">
              <a:defRPr/>
            </a:pPr>
            <a:endParaRPr lang="ja-JP" altLang="en-US">
              <a:solidFill>
                <a:prstClr val="black"/>
              </a:solidFill>
              <a:latin typeface="Calibri"/>
              <a:ea typeface="ＭＳ Ｐゴシック" panose="020B0600070205080204" pitchFamily="50" charset="-128"/>
            </a:endParaRPr>
          </a:p>
        </p:txBody>
      </p:sp>
      <p:sp>
        <p:nvSpPr>
          <p:cNvPr id="5" name="スライド番号プレースホルダー 4"/>
          <p:cNvSpPr>
            <a:spLocks noGrp="1"/>
          </p:cNvSpPr>
          <p:nvPr>
            <p:ph type="sldNum" sz="quarter" idx="11"/>
          </p:nvPr>
        </p:nvSpPr>
        <p:spPr/>
        <p:txBody>
          <a:bodyPr/>
          <a:lstStyle/>
          <a:p>
            <a:pPr defTabSz="956886">
              <a:defRPr/>
            </a:pPr>
            <a:fld id="{929202D6-C1F5-472A-A72F-285F233F82C2}" type="slidenum">
              <a:rPr lang="ja-JP" altLang="en-US">
                <a:solidFill>
                  <a:prstClr val="black"/>
                </a:solidFill>
                <a:latin typeface="Calibri"/>
                <a:ea typeface="ＭＳ Ｐゴシック" panose="020B0600070205080204" pitchFamily="50" charset="-128"/>
              </a:rPr>
              <a:pPr defTabSz="956886">
                <a:defRPr/>
              </a:pPr>
              <a:t>43</a:t>
            </a:fld>
            <a:endParaRPr lang="ja-JP" altLang="en-US">
              <a:solidFill>
                <a:prstClr val="black"/>
              </a:solidFill>
              <a:latin typeface="Calibri"/>
              <a:ea typeface="ＭＳ Ｐゴシック" panose="020B0600070205080204" pitchFamily="50" charset="-128"/>
            </a:endParaRPr>
          </a:p>
        </p:txBody>
      </p:sp>
    </p:spTree>
    <p:extLst>
      <p:ext uri="{BB962C8B-B14F-4D97-AF65-F5344CB8AC3E}">
        <p14:creationId xmlns:p14="http://schemas.microsoft.com/office/powerpoint/2010/main" val="3792087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png"/><Relationship Id="rId6"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3.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mj-lt"/>
          <a:ea typeface="+mj-ea"/>
          <a:cs typeface="+mj-cs"/>
        </a:defRPr>
      </a:lvl1pPr>
      <a:lvl2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2pPr>
      <a:lvl3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3pPr>
      <a:lvl4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4pPr>
      <a:lvl5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5pPr>
      <a:lvl6pPr marL="4572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6pPr>
      <a:lvl7pPr marL="9144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7pPr>
      <a:lvl8pPr marL="13716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8pPr>
      <a:lvl9pPr marL="18288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i="1" smtClean="0">
                <a:solidFill>
                  <a:prstClr val="white"/>
                </a:solidFill>
                <a:latin typeface="Century Gothic" panose="020B0502020202020204" pitchFamily="34" charset="0"/>
              </a:rPr>
              <a:pPr algn="r"/>
              <a:t>‹#›</a:t>
            </a:fld>
            <a:endParaRPr lang="ja-JP" altLang="en-US" sz="1400" i="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mj-lt"/>
          <a:ea typeface="+mj-ea"/>
          <a:cs typeface="ＭＳ Ｐゴシック" charset="0"/>
        </a:defRPr>
      </a:lvl1pPr>
      <a:lvl2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mn-lt"/>
          <a:ea typeface="+mn-ea"/>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image" Target="../media/image7.jpeg"/><Relationship Id="rId4" Type="http://schemas.openxmlformats.org/officeDocument/2006/relationships/image" Target="../media/image8.png"/><Relationship Id="rId5"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 Id="rId8" Type="http://schemas.openxmlformats.org/officeDocument/2006/relationships/image" Target="../media/image16.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17.png"/><Relationship Id="rId5"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 Id="rId3" Type="http://schemas.openxmlformats.org/officeDocument/2006/relationships/image" Target="../media/image22.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image" Target="../media/image25.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image" Target="../media/image30.jpe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image" Target="../media/image3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6.png"/><Relationship Id="rId3" Type="http://schemas.openxmlformats.org/officeDocument/2006/relationships/image" Target="../media/image37.png"/><Relationship Id="rId4" Type="http://schemas.openxmlformats.org/officeDocument/2006/relationships/image" Target="../media/image38.png"/><Relationship Id="rId5" Type="http://schemas.openxmlformats.org/officeDocument/2006/relationships/image" Target="../media/image39.png"/><Relationship Id="rId6" Type="http://schemas.openxmlformats.org/officeDocument/2006/relationships/image" Target="../media/image4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9.jpg"/><Relationship Id="rId3" Type="http://schemas.openxmlformats.org/officeDocument/2006/relationships/image" Target="../media/image60.jpg"/><Relationship Id="rId4" Type="http://schemas.openxmlformats.org/officeDocument/2006/relationships/image" Target="../media/image46.jpeg"/><Relationship Id="rId5" Type="http://schemas.openxmlformats.org/officeDocument/2006/relationships/image" Target="../media/image61.jpg"/><Relationship Id="rId6" Type="http://schemas.openxmlformats.org/officeDocument/2006/relationships/image" Target="../media/image48.png"/><Relationship Id="rId7" Type="http://schemas.openxmlformats.org/officeDocument/2006/relationships/hyperlink" Target="https://youtube.com/shorts/0qI4QgrOppQ" TargetMode="External"/><Relationship Id="rId8" Type="http://schemas.openxmlformats.org/officeDocument/2006/relationships/image" Target="../media/image45.png"/><Relationship Id="rId9" Type="http://schemas.openxmlformats.org/officeDocument/2006/relationships/image" Target="../media/image62.png"/><Relationship Id="rId10" Type="http://schemas.openxmlformats.org/officeDocument/2006/relationships/image" Target="../media/image44.png"/><Relationship Id="rId11" Type="http://schemas.openxmlformats.org/officeDocument/2006/relationships/image" Target="../media/image4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1.png"/><Relationship Id="rId3" Type="http://schemas.openxmlformats.org/officeDocument/2006/relationships/image" Target="../media/image52.png"/><Relationship Id="rId4" Type="http://schemas.openxmlformats.org/officeDocument/2006/relationships/image" Target="../media/image5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3.emf"/><Relationship Id="rId4" Type="http://schemas.openxmlformats.org/officeDocument/2006/relationships/image" Target="../media/image54.jpeg"/><Relationship Id="rId5" Type="http://schemas.openxmlformats.org/officeDocument/2006/relationships/image" Target="../media/image55.jpeg"/><Relationship Id="rId6" Type="http://schemas.openxmlformats.org/officeDocument/2006/relationships/image" Target="../media/image56.jpeg"/><Relationship Id="rId7" Type="http://schemas.openxmlformats.org/officeDocument/2006/relationships/image" Target="../media/image57.jpeg"/><Relationship Id="rId8" Type="http://schemas.openxmlformats.org/officeDocument/2006/relationships/image" Target="../media/image58.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9A0322D-BA5F-9122-1E12-FB7AC2AF15A5}"/>
              </a:ext>
            </a:extLst>
          </p:cNvPr>
          <p:cNvSpPr/>
          <p:nvPr/>
        </p:nvSpPr>
        <p:spPr>
          <a:xfrm>
            <a:off x="1665887" y="2533105"/>
            <a:ext cx="6574236" cy="584775"/>
          </a:xfrm>
          <a:prstGeom prst="rect">
            <a:avLst/>
          </a:prstGeom>
        </p:spPr>
        <p:txBody>
          <a:bodyPr wrap="none">
            <a:spAutoFit/>
          </a:bodyPr>
          <a:lstStyle/>
          <a:p>
            <a:pPr algn="ctr"/>
            <a:r>
              <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公式アカウント運用のご提案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3CC59398-53B4-E01E-A60C-6C13628FCBFB}"/>
              </a:ext>
            </a:extLst>
          </p:cNvPr>
          <p:cNvSpPr/>
          <p:nvPr/>
        </p:nvSpPr>
        <p:spPr>
          <a:xfrm>
            <a:off x="1613481" y="2224725"/>
            <a:ext cx="6626632" cy="338554"/>
          </a:xfrm>
          <a:prstGeom prst="rect">
            <a:avLst/>
          </a:prstGeom>
        </p:spPr>
        <p:txBody>
          <a:bodyPr wrap="square">
            <a:spAutoFit/>
          </a:bodyPr>
          <a:lstStyle/>
          <a:p>
            <a:pPr algn="ctr"/>
            <a:r>
              <a:rPr lang="ja-JP" altLang="en-US" sz="1600" dirty="0">
                <a:solidFill>
                  <a:schemeClr val="tx1">
                    <a:lumMod val="50000"/>
                    <a:lumOff val="50000"/>
                  </a:schemeClr>
                </a:solidFill>
                <a:latin typeface="Meiryo" panose="020B0604030504040204" pitchFamily="34" charset="-128"/>
                <a:ea typeface="Meiryo" panose="020B0604030504040204" pitchFamily="34" charset="-128"/>
              </a:rPr>
              <a:t>最上位パートナーの知見を活用し、獲得に強い動線を構築する</a:t>
            </a:r>
          </a:p>
        </p:txBody>
      </p:sp>
      <p:cxnSp>
        <p:nvCxnSpPr>
          <p:cNvPr id="5" name="直線コネクタ 4">
            <a:extLst>
              <a:ext uri="{FF2B5EF4-FFF2-40B4-BE49-F238E27FC236}">
                <a16:creationId xmlns:a16="http://schemas.microsoft.com/office/drawing/2014/main" id="{B532C1C8-7FE6-8830-B27C-27941421F5F9}"/>
              </a:ext>
            </a:extLst>
          </p:cNvPr>
          <p:cNvCxnSpPr>
            <a:cxnSpLocks/>
          </p:cNvCxnSpPr>
          <p:nvPr/>
        </p:nvCxnSpPr>
        <p:spPr>
          <a:xfrm>
            <a:off x="1337175" y="3199966"/>
            <a:ext cx="723166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図 8" descr="背景パターン&#10;&#10;AI 生成コンテンツは誤りを含む可能性があります。">
            <a:extLst>
              <a:ext uri="{FF2B5EF4-FFF2-40B4-BE49-F238E27FC236}">
                <a16:creationId xmlns:a16="http://schemas.microsoft.com/office/drawing/2014/main" id="{FFE022E1-8FF6-B4B4-B955-17E7CFA96460}"/>
              </a:ext>
            </a:extLst>
          </p:cNvPr>
          <p:cNvPicPr>
            <a:picLocks noChangeAspect="1"/>
          </p:cNvPicPr>
          <p:nvPr/>
        </p:nvPicPr>
        <p:blipFill>
          <a:blip r:embed="rId2"/>
          <a:stretch>
            <a:fillRect/>
          </a:stretch>
        </p:blipFill>
        <p:spPr>
          <a:xfrm>
            <a:off x="-1" y="0"/>
            <a:ext cx="8159931" cy="766354"/>
          </a:xfrm>
          <a:prstGeom prst="rect">
            <a:avLst/>
          </a:prstGeom>
        </p:spPr>
      </p:pic>
      <p:pic>
        <p:nvPicPr>
          <p:cNvPr id="10" name="図 9" descr="背景パターン&#10;&#10;AI 生成コンテンツは誤りを含む可能性があります。">
            <a:extLst>
              <a:ext uri="{FF2B5EF4-FFF2-40B4-BE49-F238E27FC236}">
                <a16:creationId xmlns:a16="http://schemas.microsoft.com/office/drawing/2014/main" id="{0F2999B3-5873-C495-70F5-12487911C618}"/>
              </a:ext>
            </a:extLst>
          </p:cNvPr>
          <p:cNvPicPr>
            <a:picLocks noChangeAspect="1"/>
          </p:cNvPicPr>
          <p:nvPr/>
        </p:nvPicPr>
        <p:blipFill>
          <a:blip r:embed="rId2"/>
          <a:stretch>
            <a:fillRect/>
          </a:stretch>
        </p:blipFill>
        <p:spPr>
          <a:xfrm>
            <a:off x="7863840" y="494114"/>
            <a:ext cx="2042161" cy="272239"/>
          </a:xfrm>
          <a:prstGeom prst="rect">
            <a:avLst/>
          </a:prstGeom>
        </p:spPr>
      </p:pic>
      <p:sp>
        <p:nvSpPr>
          <p:cNvPr id="7" name="テキスト ボックス 6">
            <a:extLst>
              <a:ext uri="{FF2B5EF4-FFF2-40B4-BE49-F238E27FC236}">
                <a16:creationId xmlns:a16="http://schemas.microsoft.com/office/drawing/2014/main" id="{7170AE42-913D-895E-A1DE-6A899FE53370}"/>
              </a:ext>
            </a:extLst>
          </p:cNvPr>
          <p:cNvSpPr txBox="1"/>
          <p:nvPr/>
        </p:nvSpPr>
        <p:spPr>
          <a:xfrm>
            <a:off x="291974" y="263665"/>
            <a:ext cx="4965824" cy="338554"/>
          </a:xfrm>
          <a:prstGeom prst="rect">
            <a:avLst/>
          </a:prstGeom>
          <a:noFill/>
        </p:spPr>
        <p:txBody>
          <a:bodyPr wrap="square">
            <a:spAutoFit/>
          </a:bodyPr>
          <a:lstStyle/>
          <a:p>
            <a:r>
              <a:rPr lang="en-US" altLang="ja-JP" sz="1600" b="1" dirty="0">
                <a:solidFill>
                  <a:schemeClr val="tx1">
                    <a:lumMod val="50000"/>
                    <a:lumOff val="50000"/>
                  </a:schemeClr>
                </a:solidFill>
                <a:latin typeface="Meiryo" panose="020B0604030504040204" pitchFamily="34" charset="-128"/>
                <a:ea typeface="Meiryo" panose="020B0604030504040204" pitchFamily="34" charset="-128"/>
              </a:rPr>
              <a:t>MAX</a:t>
            </a:r>
            <a:r>
              <a:rPr lang="ja-JP" altLang="en-US" sz="1600" b="1" dirty="0">
                <a:solidFill>
                  <a:schemeClr val="tx1">
                    <a:lumMod val="50000"/>
                    <a:lumOff val="50000"/>
                  </a:schemeClr>
                </a:solidFill>
                <a:latin typeface="Meiryo" panose="020B0604030504040204" pitchFamily="34" charset="-128"/>
                <a:ea typeface="Meiryo" panose="020B0604030504040204" pitchFamily="34" charset="-128"/>
              </a:rPr>
              <a:t>版</a:t>
            </a:r>
          </a:p>
        </p:txBody>
      </p:sp>
    </p:spTree>
    <p:extLst>
      <p:ext uri="{BB962C8B-B14F-4D97-AF65-F5344CB8AC3E}">
        <p14:creationId xmlns:p14="http://schemas.microsoft.com/office/powerpoint/2010/main" val="3944598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8E14BD-61D8-2EDF-00C5-CC99878DCBE4}"/>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D26128CF-BCED-5375-A761-44A2026897C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弊社紹介</a:t>
            </a:r>
          </a:p>
        </p:txBody>
      </p:sp>
      <p:pic>
        <p:nvPicPr>
          <p:cNvPr id="2" name="図 1">
            <a:extLst>
              <a:ext uri="{FF2B5EF4-FFF2-40B4-BE49-F238E27FC236}">
                <a16:creationId xmlns:a16="http://schemas.microsoft.com/office/drawing/2014/main" id="{EE2AAF13-DB10-C453-237D-21D704CF1C48}"/>
              </a:ext>
            </a:extLst>
          </p:cNvPr>
          <p:cNvPicPr>
            <a:picLocks noChangeAspect="1"/>
          </p:cNvPicPr>
          <p:nvPr/>
        </p:nvPicPr>
        <p:blipFill>
          <a:blip r:embed="rId2"/>
          <a:stretch>
            <a:fillRect/>
          </a:stretch>
        </p:blipFill>
        <p:spPr>
          <a:xfrm>
            <a:off x="97593" y="604446"/>
            <a:ext cx="9710814" cy="5910368"/>
          </a:xfrm>
          <a:prstGeom prst="rect">
            <a:avLst/>
          </a:prstGeom>
        </p:spPr>
      </p:pic>
    </p:spTree>
    <p:extLst>
      <p:ext uri="{BB962C8B-B14F-4D97-AF65-F5344CB8AC3E}">
        <p14:creationId xmlns:p14="http://schemas.microsoft.com/office/powerpoint/2010/main" val="24043713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9E1EF-F184-F7BC-2DF2-9E9641908D82}"/>
            </a:ext>
          </a:extLst>
        </p:cNvPr>
        <p:cNvGrpSpPr/>
        <p:nvPr/>
      </p:nvGrpSpPr>
      <p:grpSpPr>
        <a:xfrm>
          <a:off x="0" y="0"/>
          <a:ext cx="0" cy="0"/>
          <a:chOff x="0" y="0"/>
          <a:chExt cx="0" cy="0"/>
        </a:xfrm>
      </p:grpSpPr>
      <p:pic>
        <p:nvPicPr>
          <p:cNvPr id="58" name="図 57" descr="文字と写真のスクリーンショット&#10;&#10;AI 生成コンテンツは誤りを含む可能性があります。">
            <a:extLst>
              <a:ext uri="{FF2B5EF4-FFF2-40B4-BE49-F238E27FC236}">
                <a16:creationId xmlns:a16="http://schemas.microsoft.com/office/drawing/2014/main" id="{BC098C34-07FA-B015-C970-B8433D9E8BE3}"/>
              </a:ext>
            </a:extLst>
          </p:cNvPr>
          <p:cNvPicPr>
            <a:picLocks noChangeAspect="1"/>
          </p:cNvPicPr>
          <p:nvPr/>
        </p:nvPicPr>
        <p:blipFill>
          <a:blip r:embed="rId2" cstate="print">
            <a:extLst>
              <a:ext uri="{28A0092B-C50C-407E-A947-70E740481C1C}">
                <a14:useLocalDpi xmlns:a14="http://schemas.microsoft.com/office/drawing/2010/main" val="0"/>
              </a:ext>
            </a:extLst>
          </a:blip>
          <a:srcRect l="33846" t="3967" r="34188" b="52442"/>
          <a:stretch>
            <a:fillRect/>
          </a:stretch>
        </p:blipFill>
        <p:spPr>
          <a:xfrm>
            <a:off x="489022" y="5068469"/>
            <a:ext cx="2046003" cy="1464812"/>
          </a:xfrm>
          <a:prstGeom prst="rect">
            <a:avLst/>
          </a:prstGeom>
        </p:spPr>
      </p:pic>
      <p:sp>
        <p:nvSpPr>
          <p:cNvPr id="33" name="正方形/長方形 32">
            <a:extLst>
              <a:ext uri="{FF2B5EF4-FFF2-40B4-BE49-F238E27FC236}">
                <a16:creationId xmlns:a16="http://schemas.microsoft.com/office/drawing/2014/main" id="{1E52F929-5FD7-9413-24A8-2725B04E4908}"/>
              </a:ext>
            </a:extLst>
          </p:cNvPr>
          <p:cNvSpPr/>
          <p:nvPr/>
        </p:nvSpPr>
        <p:spPr>
          <a:xfrm>
            <a:off x="388723" y="1082314"/>
            <a:ext cx="9129600" cy="100564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2025</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年</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11</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月、株式会社</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ヤフー社が主催する </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ヤフー </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Partner Award 2025” </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に株式会社</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DYM</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が参加。</a:t>
            </a:r>
            <a:b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b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弊社は</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公式アカウントによるビジネス拡大に最も貢献したとして、</a:t>
            </a:r>
            <a:r>
              <a:rPr lang="ja-JP" altLang="en-US" sz="1200" b="1" dirty="0">
                <a:solidFill>
                  <a:srgbClr val="C00000"/>
                </a:solidFill>
                <a:latin typeface="メイリオ" panose="020B0604030504040204" pitchFamily="50" charset="-128"/>
                <a:ea typeface="メイリオ" panose="020B0604030504040204" pitchFamily="50" charset="-128"/>
              </a:rPr>
              <a:t>「</a:t>
            </a:r>
            <a:r>
              <a:rPr lang="en-US" altLang="ja-JP" sz="1200" b="1" dirty="0">
                <a:solidFill>
                  <a:srgbClr val="C00000"/>
                </a:solidFill>
                <a:latin typeface="メイリオ" panose="020B0604030504040204" pitchFamily="50" charset="-128"/>
                <a:ea typeface="メイリオ" panose="020B0604030504040204" pitchFamily="50" charset="-128"/>
              </a:rPr>
              <a:t>Best LINE</a:t>
            </a:r>
            <a:r>
              <a:rPr lang="ja-JP" altLang="en-US" sz="1200" b="1" dirty="0">
                <a:solidFill>
                  <a:srgbClr val="C00000"/>
                </a:solidFill>
                <a:latin typeface="メイリオ" panose="020B0604030504040204" pitchFamily="50" charset="-128"/>
                <a:ea typeface="メイリオ" panose="020B0604030504040204" pitchFamily="50" charset="-128"/>
              </a:rPr>
              <a:t>公式アカウント </a:t>
            </a:r>
            <a:r>
              <a:rPr lang="en-US" altLang="ja-JP" sz="1200" b="1" dirty="0">
                <a:solidFill>
                  <a:srgbClr val="C00000"/>
                </a:solidFill>
                <a:latin typeface="メイリオ" panose="020B0604030504040204" pitchFamily="50" charset="-128"/>
                <a:ea typeface="メイリオ" panose="020B0604030504040204" pitchFamily="50" charset="-128"/>
              </a:rPr>
              <a:t>Growth</a:t>
            </a:r>
            <a:r>
              <a:rPr lang="en-US" altLang="ja-JP" sz="700" b="1" dirty="0">
                <a:solidFill>
                  <a:srgbClr val="C00000"/>
                </a:solidFill>
                <a:latin typeface="メイリオ" panose="020B0604030504040204" pitchFamily="50" charset="-128"/>
                <a:ea typeface="メイリオ" panose="020B0604030504040204" pitchFamily="50" charset="-128"/>
              </a:rPr>
              <a:t>※</a:t>
            </a:r>
            <a:r>
              <a:rPr lang="ja-JP" altLang="en-US" sz="1200" b="1" dirty="0">
                <a:solidFill>
                  <a:srgbClr val="C00000"/>
                </a:solidFill>
                <a:latin typeface="メイリオ" panose="020B0604030504040204" pitchFamily="50" charset="-128"/>
                <a:ea typeface="メイリオ" panose="020B0604030504040204" pitchFamily="50" charset="-128"/>
              </a:rPr>
              <a:t>」</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を受賞。</a:t>
            </a:r>
            <a:b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b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2026</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年現在、</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公式アカウントの</a:t>
            </a:r>
            <a:r>
              <a:rPr lang="ja-JP" altLang="en-US" sz="1200" b="1" dirty="0">
                <a:solidFill>
                  <a:srgbClr val="000000">
                    <a:lumMod val="95000"/>
                    <a:lumOff val="5000"/>
                  </a:srgbClr>
                </a:solidFill>
                <a:latin typeface="メイリオ" panose="020B0604030504040204" pitchFamily="50" charset="-128"/>
                <a:ea typeface="メイリオ" panose="020B0604030504040204" pitchFamily="50" charset="-128"/>
              </a:rPr>
              <a:t>取扱社数は</a:t>
            </a:r>
            <a:r>
              <a:rPr lang="en-US" altLang="ja-JP" sz="1200" b="1" dirty="0">
                <a:solidFill>
                  <a:srgbClr val="000000">
                    <a:lumMod val="95000"/>
                    <a:lumOff val="5000"/>
                  </a:srgbClr>
                </a:solidFill>
                <a:latin typeface="メイリオ" panose="020B0604030504040204" pitchFamily="50" charset="-128"/>
                <a:ea typeface="メイリオ" panose="020B0604030504040204" pitchFamily="50" charset="-128"/>
              </a:rPr>
              <a:t>100</a:t>
            </a:r>
            <a:r>
              <a:rPr lang="ja-JP" altLang="en-US" sz="1200" b="1" dirty="0">
                <a:solidFill>
                  <a:srgbClr val="000000">
                    <a:lumMod val="95000"/>
                    <a:lumOff val="5000"/>
                  </a:srgbClr>
                </a:solidFill>
                <a:latin typeface="メイリオ" panose="020B0604030504040204" pitchFamily="50" charset="-128"/>
                <a:ea typeface="メイリオ" panose="020B0604030504040204" pitchFamily="50" charset="-128"/>
              </a:rPr>
              <a:t>社以上、</a:t>
            </a:r>
            <a:r>
              <a:rPr lang="en-US" altLang="ja-JP" sz="1200" b="1" dirty="0">
                <a:solidFill>
                  <a:srgbClr val="000000">
                    <a:lumMod val="95000"/>
                    <a:lumOff val="5000"/>
                  </a:srgbClr>
                </a:solidFill>
                <a:latin typeface="メイリオ" panose="020B0604030504040204" pitchFamily="50" charset="-128"/>
                <a:ea typeface="メイリオ" panose="020B0604030504040204" pitchFamily="50" charset="-128"/>
              </a:rPr>
              <a:t>400</a:t>
            </a:r>
            <a:r>
              <a:rPr lang="ja-JP" altLang="en-US" sz="1200" b="1" dirty="0">
                <a:solidFill>
                  <a:srgbClr val="000000">
                    <a:lumMod val="95000"/>
                    <a:lumOff val="5000"/>
                  </a:srgbClr>
                </a:solidFill>
                <a:latin typeface="メイリオ" panose="020B0604030504040204" pitchFamily="50" charset="-128"/>
                <a:ea typeface="メイリオ" panose="020B0604030504040204" pitchFamily="50" charset="-128"/>
              </a:rPr>
              <a:t>アカウント以上まで拡大</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しており関連サービスも展開中。</a:t>
            </a:r>
            <a:endPar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endParaRPr>
          </a:p>
          <a:p>
            <a:pPr algn="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 LINE</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公式アカウントを活用し、ビジネス拡大に最も貢献したパートナーに贈られる賞です。</a:t>
            </a:r>
            <a:endPar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2" name="Google Shape;752;p28">
            <a:extLst>
              <a:ext uri="{FF2B5EF4-FFF2-40B4-BE49-F238E27FC236}">
                <a16:creationId xmlns:a16="http://schemas.microsoft.com/office/drawing/2014/main" id="{C34101C7-CA6C-6ED6-33D4-C2B82BDA547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a:solidFill>
                  <a:srgbClr val="323366"/>
                </a:solidFill>
                <a:latin typeface="メイリオ" panose="020B0604030504040204" pitchFamily="50" charset="-128"/>
                <a:ea typeface="メイリオ" panose="020B0604030504040204" pitchFamily="50" charset="-128"/>
                <a:cs typeface="Meiryo"/>
                <a:sym typeface="Meiryo"/>
              </a:rPr>
              <a:t>弊社実績</a:t>
            </a:r>
            <a:endPar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49" name="正方形/長方形 48">
            <a:extLst>
              <a:ext uri="{FF2B5EF4-FFF2-40B4-BE49-F238E27FC236}">
                <a16:creationId xmlns:a16="http://schemas.microsoft.com/office/drawing/2014/main" id="{9685C0AB-6B7A-94C5-EFA8-756E59EE714E}"/>
              </a:ext>
            </a:extLst>
          </p:cNvPr>
          <p:cNvSpPr/>
          <p:nvPr/>
        </p:nvSpPr>
        <p:spPr>
          <a:xfrm>
            <a:off x="388723" y="2116303"/>
            <a:ext cx="9128554" cy="307777"/>
          </a:xfrm>
          <a:prstGeom prst="rect">
            <a:avLst/>
          </a:prstGeom>
          <a:solidFill>
            <a:schemeClr val="bg1">
              <a:lumMod val="65000"/>
            </a:schemeClr>
          </a:solidFill>
          <a:ln>
            <a:solidFill>
              <a:schemeClr val="bg1">
                <a:lumMod val="65000"/>
              </a:schemeClr>
            </a:solidFill>
          </a:ln>
        </p:spPr>
        <p:txBody>
          <a:bodyPr wrap="square">
            <a:spAutoFit/>
          </a:bodyPr>
          <a:lstStyle/>
          <a:p>
            <a:pPr lvl="0" algn="ctr">
              <a:buClr>
                <a:srgbClr val="002060"/>
              </a:buClr>
              <a:buSzPts val="1600"/>
            </a:pPr>
            <a:r>
              <a:rPr lang="ja-JP" altLang="en-US" sz="1400" b="1">
                <a:solidFill>
                  <a:schemeClr val="bg1"/>
                </a:solidFill>
                <a:latin typeface="Meiryo"/>
                <a:ea typeface="Meiryo"/>
                <a:cs typeface="Meiryo"/>
                <a:sym typeface="Meiryo"/>
              </a:rPr>
              <a:t>弊社受賞遍歴 </a:t>
            </a:r>
            <a:r>
              <a:rPr lang="en-US" altLang="ja-JP" sz="1400" b="1">
                <a:solidFill>
                  <a:schemeClr val="bg1"/>
                </a:solidFill>
                <a:latin typeface="Meiryo"/>
                <a:ea typeface="Meiryo"/>
                <a:cs typeface="Meiryo"/>
                <a:sym typeface="Meiryo"/>
              </a:rPr>
              <a:t>Since.2024</a:t>
            </a:r>
            <a:r>
              <a:rPr lang="ja-JP" altLang="en-US" sz="1400" b="1">
                <a:solidFill>
                  <a:schemeClr val="bg1"/>
                </a:solidFill>
                <a:latin typeface="Meiryo"/>
                <a:ea typeface="Meiryo"/>
                <a:cs typeface="Meiryo"/>
                <a:sym typeface="Meiryo"/>
              </a:rPr>
              <a:t>年</a:t>
            </a:r>
            <a:r>
              <a:rPr lang="en-US" altLang="ja-JP" sz="1400" b="1">
                <a:solidFill>
                  <a:schemeClr val="bg1"/>
                </a:solidFill>
                <a:latin typeface="Meiryo"/>
                <a:ea typeface="Meiryo"/>
                <a:cs typeface="Meiryo"/>
                <a:sym typeface="Meiryo"/>
              </a:rPr>
              <a:t>5</a:t>
            </a:r>
            <a:r>
              <a:rPr lang="ja-JP" altLang="en-US" sz="1400" b="1">
                <a:solidFill>
                  <a:schemeClr val="bg1"/>
                </a:solidFill>
                <a:latin typeface="Meiryo"/>
                <a:ea typeface="Meiryo"/>
                <a:cs typeface="Meiryo"/>
                <a:sym typeface="Meiryo"/>
              </a:rPr>
              <a:t>月～</a:t>
            </a:r>
            <a:endParaRPr lang="en-US" altLang="ja-JP" sz="1400" b="1" dirty="0">
              <a:solidFill>
                <a:schemeClr val="bg1"/>
              </a:solidFill>
              <a:latin typeface="Meiryo"/>
              <a:ea typeface="Meiryo"/>
              <a:cs typeface="Meiryo"/>
              <a:sym typeface="Meiryo"/>
            </a:endParaRPr>
          </a:p>
        </p:txBody>
      </p:sp>
      <p:sp>
        <p:nvSpPr>
          <p:cNvPr id="50" name="テキスト プレースホルダー 2">
            <a:extLst>
              <a:ext uri="{FF2B5EF4-FFF2-40B4-BE49-F238E27FC236}">
                <a16:creationId xmlns:a16="http://schemas.microsoft.com/office/drawing/2014/main" id="{18B78559-32E9-7E98-9E42-625866BF0637}"/>
              </a:ext>
            </a:extLst>
          </p:cNvPr>
          <p:cNvSpPr txBox="1">
            <a:spLocks/>
          </p:cNvSpPr>
          <p:nvPr/>
        </p:nvSpPr>
        <p:spPr>
          <a:xfrm>
            <a:off x="4741655" y="135388"/>
            <a:ext cx="3604551" cy="356140"/>
          </a:xfrm>
          <a:prstGeom prst="rect">
            <a:avLst/>
          </a:prstGeom>
        </p:spPr>
        <p:txBody>
          <a:bodyPr lIns="0" tIns="0" rIns="0" bIns="0" anchor="t"/>
          <a:lstStyle>
            <a:lvl1pPr marL="0" indent="0" algn="l" defTabSz="914400" rtl="0" eaLnBrk="1" latinLnBrk="0" hangingPunct="1">
              <a:lnSpc>
                <a:spcPct val="130000"/>
              </a:lnSpc>
              <a:spcBef>
                <a:spcPts val="0"/>
              </a:spcBef>
              <a:buFont typeface="Arial" panose="020B0604020202020204" pitchFamily="34" charset="0"/>
              <a:buNone/>
              <a:defRPr kumimoji="1" sz="1400" kern="1200">
                <a:solidFill>
                  <a:schemeClr val="tx1">
                    <a:lumMod val="95000"/>
                    <a:lumOff val="5000"/>
                  </a:schemeClr>
                </a:solidFill>
                <a:latin typeface="Meiryo" panose="020B0604030504040204" pitchFamily="34" charset="-128"/>
                <a:ea typeface="Meiryo" panose="020B0604030504040204"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539750" lvl="0" indent="-539750">
              <a:tabLst>
                <a:tab pos="447675" algn="l"/>
              </a:tabLst>
              <a:defRPr/>
            </a:pPr>
            <a:r>
              <a:rPr lang="en-US" altLang="ja-JP" sz="800" dirty="0">
                <a:solidFill>
                  <a:srgbClr val="000000">
                    <a:lumMod val="95000"/>
                    <a:lumOff val="5000"/>
                  </a:srgbClr>
                </a:solidFill>
              </a:rPr>
              <a:t>【</a:t>
            </a:r>
            <a:r>
              <a:rPr lang="ja-JP" altLang="en-US" sz="800" dirty="0">
                <a:solidFill>
                  <a:srgbClr val="000000">
                    <a:lumMod val="95000"/>
                    <a:lumOff val="5000"/>
                  </a:srgbClr>
                </a:solidFill>
              </a:rPr>
              <a:t>参考情報</a:t>
            </a:r>
            <a:r>
              <a:rPr lang="en-US" altLang="ja-JP" sz="800" dirty="0">
                <a:solidFill>
                  <a:srgbClr val="000000">
                    <a:lumMod val="95000"/>
                    <a:lumOff val="5000"/>
                  </a:srgbClr>
                </a:solidFill>
              </a:rPr>
              <a:t>】</a:t>
            </a:r>
          </a:p>
          <a:p>
            <a:pPr marL="88900" lvl="0">
              <a:tabLst>
                <a:tab pos="447675" algn="l"/>
              </a:tabLst>
              <a:defRPr/>
            </a:pPr>
            <a:r>
              <a:rPr lang="en-US" altLang="ja-JP" sz="800" dirty="0">
                <a:solidFill>
                  <a:srgbClr val="000000">
                    <a:lumMod val="95000"/>
                    <a:lumOff val="5000"/>
                  </a:srgbClr>
                </a:solidFill>
              </a:rPr>
              <a:t>https://prtimes.jp/main/html/rd/p/000000412.000027235.html</a:t>
            </a:r>
            <a:endParaRPr lang="en-US" altLang="ja-JP" sz="1100" dirty="0">
              <a:solidFill>
                <a:srgbClr val="000000">
                  <a:lumMod val="95000"/>
                  <a:lumOff val="5000"/>
                </a:srgbClr>
              </a:solidFill>
            </a:endParaRPr>
          </a:p>
        </p:txBody>
      </p:sp>
      <p:sp>
        <p:nvSpPr>
          <p:cNvPr id="45" name="正方形/長方形 44">
            <a:extLst>
              <a:ext uri="{FF2B5EF4-FFF2-40B4-BE49-F238E27FC236}">
                <a16:creationId xmlns:a16="http://schemas.microsoft.com/office/drawing/2014/main" id="{02177995-9B5C-9C4B-3202-5DD03969179E}"/>
              </a:ext>
            </a:extLst>
          </p:cNvPr>
          <p:cNvSpPr/>
          <p:nvPr/>
        </p:nvSpPr>
        <p:spPr>
          <a:xfrm>
            <a:off x="495424" y="4784484"/>
            <a:ext cx="3561143" cy="276999"/>
          </a:xfrm>
          <a:prstGeom prst="rect">
            <a:avLst/>
          </a:prstGeom>
          <a:solidFill>
            <a:schemeClr val="bg1">
              <a:lumMod val="65000"/>
            </a:schemeClr>
          </a:solidFill>
          <a:ln>
            <a:solidFill>
              <a:schemeClr val="bg1">
                <a:lumMod val="65000"/>
              </a:schemeClr>
            </a:solidFill>
          </a:ln>
        </p:spPr>
        <p:txBody>
          <a:bodyPr wrap="square">
            <a:spAutoFit/>
          </a:bodyPr>
          <a:lstStyle/>
          <a:p>
            <a:pPr lvl="0" algn="ctr">
              <a:buClr>
                <a:srgbClr val="002060"/>
              </a:buClr>
              <a:buSzPts val="1600"/>
            </a:pPr>
            <a:r>
              <a:rPr lang="ja-JP" altLang="en-US" sz="1200" b="1" dirty="0">
                <a:solidFill>
                  <a:schemeClr val="bg1"/>
                </a:solidFill>
                <a:latin typeface="Meiryo"/>
                <a:ea typeface="Meiryo"/>
                <a:cs typeface="Meiryo"/>
                <a:sym typeface="Meiryo"/>
              </a:rPr>
              <a:t>最上位となる </a:t>
            </a:r>
            <a:r>
              <a:rPr lang="en-US" altLang="ja-JP" sz="1200" b="1" dirty="0">
                <a:solidFill>
                  <a:schemeClr val="bg1"/>
                </a:solidFill>
                <a:latin typeface="Meiryo"/>
                <a:ea typeface="Meiryo"/>
                <a:cs typeface="Meiryo"/>
                <a:sym typeface="Meiryo"/>
              </a:rPr>
              <a:t>Sales Partner Premier</a:t>
            </a:r>
          </a:p>
        </p:txBody>
      </p:sp>
      <p:sp>
        <p:nvSpPr>
          <p:cNvPr id="55" name="正方形/長方形 54">
            <a:extLst>
              <a:ext uri="{FF2B5EF4-FFF2-40B4-BE49-F238E27FC236}">
                <a16:creationId xmlns:a16="http://schemas.microsoft.com/office/drawing/2014/main" id="{0E12B4F2-0482-55A4-443A-115FC30E22E8}"/>
              </a:ext>
            </a:extLst>
          </p:cNvPr>
          <p:cNvSpPr/>
          <p:nvPr/>
        </p:nvSpPr>
        <p:spPr>
          <a:xfrm>
            <a:off x="4362995" y="4784484"/>
            <a:ext cx="5165666" cy="276999"/>
          </a:xfrm>
          <a:prstGeom prst="rect">
            <a:avLst/>
          </a:prstGeom>
          <a:solidFill>
            <a:schemeClr val="bg1">
              <a:lumMod val="65000"/>
            </a:schemeClr>
          </a:solidFill>
          <a:ln>
            <a:solidFill>
              <a:schemeClr val="bg1">
                <a:lumMod val="65000"/>
              </a:schemeClr>
            </a:solidFill>
          </a:ln>
        </p:spPr>
        <p:txBody>
          <a:bodyPr wrap="square">
            <a:spAutoFit/>
          </a:bodyPr>
          <a:lstStyle/>
          <a:p>
            <a:pPr algn="ctr">
              <a:buClr>
                <a:srgbClr val="002060"/>
              </a:buClr>
              <a:buSzPts val="1600"/>
            </a:pPr>
            <a:r>
              <a:rPr lang="en-US" altLang="ja-JP" sz="1200" b="1" dirty="0">
                <a:solidFill>
                  <a:schemeClr val="bg1"/>
                </a:solidFill>
                <a:latin typeface="Meiryo"/>
                <a:ea typeface="Meiryo"/>
                <a:cs typeface="Meiryo"/>
                <a:sym typeface="Meiryo"/>
              </a:rPr>
              <a:t>Best LINE</a:t>
            </a:r>
            <a:r>
              <a:rPr lang="ja-JP" altLang="en-US" sz="1200" b="1" dirty="0">
                <a:solidFill>
                  <a:schemeClr val="bg1"/>
                </a:solidFill>
                <a:latin typeface="Meiryo"/>
                <a:ea typeface="Meiryo"/>
                <a:cs typeface="Meiryo"/>
                <a:sym typeface="Meiryo"/>
              </a:rPr>
              <a:t>公式アカウント </a:t>
            </a:r>
            <a:r>
              <a:rPr lang="en-US" altLang="ja-JP" sz="1200" b="1" dirty="0">
                <a:solidFill>
                  <a:schemeClr val="bg1"/>
                </a:solidFill>
                <a:latin typeface="Meiryo"/>
                <a:ea typeface="Meiryo"/>
                <a:cs typeface="Meiryo"/>
                <a:sym typeface="Meiryo"/>
              </a:rPr>
              <a:t>Growth </a:t>
            </a:r>
            <a:r>
              <a:rPr lang="ja-JP" altLang="en-US" sz="1200" b="1" dirty="0">
                <a:solidFill>
                  <a:schemeClr val="bg1"/>
                </a:solidFill>
                <a:latin typeface="Meiryo"/>
                <a:ea typeface="Meiryo"/>
                <a:cs typeface="Meiryo"/>
                <a:sym typeface="Meiryo"/>
              </a:rPr>
              <a:t>の受賞を受ける</a:t>
            </a:r>
            <a:endParaRPr lang="en-US" altLang="ja-JP" sz="1200" b="1" dirty="0">
              <a:solidFill>
                <a:schemeClr val="bg1"/>
              </a:solidFill>
              <a:latin typeface="Meiryo"/>
              <a:ea typeface="Meiryo"/>
              <a:cs typeface="Meiryo"/>
              <a:sym typeface="Meiryo"/>
            </a:endParaRPr>
          </a:p>
        </p:txBody>
      </p:sp>
      <p:cxnSp>
        <p:nvCxnSpPr>
          <p:cNvPr id="2082" name="直線コネクタ 2081">
            <a:extLst>
              <a:ext uri="{FF2B5EF4-FFF2-40B4-BE49-F238E27FC236}">
                <a16:creationId xmlns:a16="http://schemas.microsoft.com/office/drawing/2014/main" id="{530411FF-29F9-73B2-C470-CBF0BA20AC73}"/>
              </a:ext>
            </a:extLst>
          </p:cNvPr>
          <p:cNvCxnSpPr>
            <a:cxnSpLocks/>
          </p:cNvCxnSpPr>
          <p:nvPr/>
        </p:nvCxnSpPr>
        <p:spPr>
          <a:xfrm>
            <a:off x="3212877" y="2980676"/>
            <a:ext cx="6240687" cy="0"/>
          </a:xfrm>
          <a:prstGeom prst="line">
            <a:avLst/>
          </a:prstGeom>
          <a:ln w="76200">
            <a:solidFill>
              <a:srgbClr val="10253F"/>
            </a:solidFill>
          </a:ln>
        </p:spPr>
        <p:style>
          <a:lnRef idx="1">
            <a:schemeClr val="accent1"/>
          </a:lnRef>
          <a:fillRef idx="0">
            <a:schemeClr val="accent1"/>
          </a:fillRef>
          <a:effectRef idx="0">
            <a:schemeClr val="accent1"/>
          </a:effectRef>
          <a:fontRef idx="minor">
            <a:schemeClr val="tx1"/>
          </a:fontRef>
        </p:style>
      </p:cxnSp>
      <p:cxnSp>
        <p:nvCxnSpPr>
          <p:cNvPr id="2085" name="直線コネクタ 2084">
            <a:extLst>
              <a:ext uri="{FF2B5EF4-FFF2-40B4-BE49-F238E27FC236}">
                <a16:creationId xmlns:a16="http://schemas.microsoft.com/office/drawing/2014/main" id="{D7948E6E-45A1-2B8A-2983-5CE3031B129A}"/>
              </a:ext>
            </a:extLst>
          </p:cNvPr>
          <p:cNvCxnSpPr>
            <a:cxnSpLocks/>
          </p:cNvCxnSpPr>
          <p:nvPr/>
        </p:nvCxnSpPr>
        <p:spPr>
          <a:xfrm>
            <a:off x="412752" y="3985954"/>
            <a:ext cx="5253034" cy="0"/>
          </a:xfrm>
          <a:prstGeom prst="line">
            <a:avLst/>
          </a:prstGeom>
          <a:ln w="76200">
            <a:solidFill>
              <a:srgbClr val="10253F"/>
            </a:solidFill>
          </a:ln>
        </p:spPr>
        <p:style>
          <a:lnRef idx="1">
            <a:schemeClr val="accent1"/>
          </a:lnRef>
          <a:fillRef idx="0">
            <a:schemeClr val="accent1"/>
          </a:fillRef>
          <a:effectRef idx="0">
            <a:schemeClr val="accent1"/>
          </a:effectRef>
          <a:fontRef idx="minor">
            <a:schemeClr val="tx1"/>
          </a:fontRef>
        </p:style>
      </p:cxnSp>
      <p:sp>
        <p:nvSpPr>
          <p:cNvPr id="2086" name="フローチャート: 結合子 2085">
            <a:extLst>
              <a:ext uri="{FF2B5EF4-FFF2-40B4-BE49-F238E27FC236}">
                <a16:creationId xmlns:a16="http://schemas.microsoft.com/office/drawing/2014/main" id="{19617C5C-724A-7FCE-22E5-5B2ECC96F048}"/>
              </a:ext>
            </a:extLst>
          </p:cNvPr>
          <p:cNvSpPr/>
          <p:nvPr/>
        </p:nvSpPr>
        <p:spPr>
          <a:xfrm>
            <a:off x="3076995"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87" name="フローチャート: 結合子 2086">
            <a:extLst>
              <a:ext uri="{FF2B5EF4-FFF2-40B4-BE49-F238E27FC236}">
                <a16:creationId xmlns:a16="http://schemas.microsoft.com/office/drawing/2014/main" id="{C7AB064F-FD75-D23A-C3F2-7F831805457C}"/>
              </a:ext>
            </a:extLst>
          </p:cNvPr>
          <p:cNvSpPr/>
          <p:nvPr/>
        </p:nvSpPr>
        <p:spPr>
          <a:xfrm>
            <a:off x="970449" y="3759595"/>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89" name="フローチャート: 結合子 2088">
            <a:extLst>
              <a:ext uri="{FF2B5EF4-FFF2-40B4-BE49-F238E27FC236}">
                <a16:creationId xmlns:a16="http://schemas.microsoft.com/office/drawing/2014/main" id="{CE0B51F4-2695-E1D7-F353-BA60386FABE4}"/>
              </a:ext>
            </a:extLst>
          </p:cNvPr>
          <p:cNvSpPr/>
          <p:nvPr/>
        </p:nvSpPr>
        <p:spPr>
          <a:xfrm>
            <a:off x="7801859"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0" name="フローチャート: 結合子 2089">
            <a:extLst>
              <a:ext uri="{FF2B5EF4-FFF2-40B4-BE49-F238E27FC236}">
                <a16:creationId xmlns:a16="http://schemas.microsoft.com/office/drawing/2014/main" id="{6F2861A8-2376-2999-4214-6F268B03A3E1}"/>
              </a:ext>
            </a:extLst>
          </p:cNvPr>
          <p:cNvSpPr/>
          <p:nvPr/>
        </p:nvSpPr>
        <p:spPr>
          <a:xfrm>
            <a:off x="5439427"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2" name="フローチャート: 結合子 2091">
            <a:extLst>
              <a:ext uri="{FF2B5EF4-FFF2-40B4-BE49-F238E27FC236}">
                <a16:creationId xmlns:a16="http://schemas.microsoft.com/office/drawing/2014/main" id="{11455BE0-024C-CCCF-549A-5895CCF6FCA5}"/>
              </a:ext>
            </a:extLst>
          </p:cNvPr>
          <p:cNvSpPr/>
          <p:nvPr/>
        </p:nvSpPr>
        <p:spPr>
          <a:xfrm>
            <a:off x="5454960" y="3739586"/>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3" name="フローチャート: 結合子 2092">
            <a:extLst>
              <a:ext uri="{FF2B5EF4-FFF2-40B4-BE49-F238E27FC236}">
                <a16:creationId xmlns:a16="http://schemas.microsoft.com/office/drawing/2014/main" id="{6A2B7AEE-64D5-5687-4D90-BFEBFB87978F}"/>
              </a:ext>
            </a:extLst>
          </p:cNvPr>
          <p:cNvSpPr/>
          <p:nvPr/>
        </p:nvSpPr>
        <p:spPr>
          <a:xfrm>
            <a:off x="3076995" y="3776603"/>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4" name="テキスト ボックス 2093">
            <a:extLst>
              <a:ext uri="{FF2B5EF4-FFF2-40B4-BE49-F238E27FC236}">
                <a16:creationId xmlns:a16="http://schemas.microsoft.com/office/drawing/2014/main" id="{F181EC8C-1DAE-5AF7-1C4D-4C86090B08E7}"/>
              </a:ext>
            </a:extLst>
          </p:cNvPr>
          <p:cNvSpPr txBox="1"/>
          <p:nvPr/>
        </p:nvSpPr>
        <p:spPr>
          <a:xfrm>
            <a:off x="2824561" y="2498440"/>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2024</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5</a:t>
            </a:r>
            <a:r>
              <a:rPr kumimoji="1" lang="ja-JP" altLang="en-US" sz="1000">
                <a:latin typeface="メイリオ" panose="020B0604030504040204" pitchFamily="50" charset="-128"/>
                <a:ea typeface="メイリオ" panose="020B0604030504040204" pitchFamily="50" charset="-128"/>
              </a:rPr>
              <a:t>月</a:t>
            </a:r>
          </a:p>
        </p:txBody>
      </p:sp>
      <p:sp>
        <p:nvSpPr>
          <p:cNvPr id="2095" name="テキスト ボックス 2094">
            <a:extLst>
              <a:ext uri="{FF2B5EF4-FFF2-40B4-BE49-F238E27FC236}">
                <a16:creationId xmlns:a16="http://schemas.microsoft.com/office/drawing/2014/main" id="{E9F47648-05F6-7064-8968-91D3649440CE}"/>
              </a:ext>
            </a:extLst>
          </p:cNvPr>
          <p:cNvSpPr txBox="1"/>
          <p:nvPr/>
        </p:nvSpPr>
        <p:spPr>
          <a:xfrm>
            <a:off x="5232177" y="2496209"/>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2024</a:t>
            </a:r>
            <a:r>
              <a:rPr kumimoji="1" lang="ja-JP" altLang="en-US" sz="1000">
                <a:latin typeface="メイリオ" panose="020B0604030504040204" pitchFamily="50" charset="-128"/>
                <a:ea typeface="メイリオ" panose="020B0604030504040204" pitchFamily="50" charset="-128"/>
              </a:rPr>
              <a:t>年</a:t>
            </a:r>
            <a:r>
              <a:rPr lang="en-US" altLang="ja-JP" sz="1000">
                <a:latin typeface="メイリオ" panose="020B0604030504040204" pitchFamily="50" charset="-128"/>
                <a:ea typeface="メイリオ" panose="020B0604030504040204" pitchFamily="50" charset="-128"/>
              </a:rPr>
              <a:t>12</a:t>
            </a:r>
            <a:r>
              <a:rPr kumimoji="1" lang="ja-JP" altLang="en-US" sz="1000">
                <a:latin typeface="メイリオ" panose="020B0604030504040204" pitchFamily="50" charset="-128"/>
                <a:ea typeface="メイリオ" panose="020B0604030504040204" pitchFamily="50" charset="-128"/>
              </a:rPr>
              <a:t>月</a:t>
            </a:r>
          </a:p>
        </p:txBody>
      </p:sp>
      <p:sp>
        <p:nvSpPr>
          <p:cNvPr id="2096" name="テキスト ボックス 2095">
            <a:extLst>
              <a:ext uri="{FF2B5EF4-FFF2-40B4-BE49-F238E27FC236}">
                <a16:creationId xmlns:a16="http://schemas.microsoft.com/office/drawing/2014/main" id="{2C8EEABD-6A90-AA4E-FBA6-2819EBF654DE}"/>
              </a:ext>
            </a:extLst>
          </p:cNvPr>
          <p:cNvSpPr txBox="1"/>
          <p:nvPr/>
        </p:nvSpPr>
        <p:spPr>
          <a:xfrm>
            <a:off x="7623567" y="2492162"/>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5</a:t>
            </a:r>
            <a:r>
              <a:rPr kumimoji="1" lang="ja-JP" altLang="en-US" sz="1000">
                <a:latin typeface="メイリオ" panose="020B0604030504040204" pitchFamily="50" charset="-128"/>
                <a:ea typeface="メイリオ" panose="020B0604030504040204" pitchFamily="50" charset="-128"/>
              </a:rPr>
              <a:t>月</a:t>
            </a:r>
          </a:p>
        </p:txBody>
      </p:sp>
      <p:sp>
        <p:nvSpPr>
          <p:cNvPr id="2098" name="テキスト ボックス 2097">
            <a:extLst>
              <a:ext uri="{FF2B5EF4-FFF2-40B4-BE49-F238E27FC236}">
                <a16:creationId xmlns:a16="http://schemas.microsoft.com/office/drawing/2014/main" id="{CE12257A-0E7E-B895-AF8E-D15F7AA1D62A}"/>
              </a:ext>
            </a:extLst>
          </p:cNvPr>
          <p:cNvSpPr txBox="1"/>
          <p:nvPr/>
        </p:nvSpPr>
        <p:spPr>
          <a:xfrm>
            <a:off x="2895696" y="3511221"/>
            <a:ext cx="957586" cy="246221"/>
          </a:xfrm>
          <a:prstGeom prst="rect">
            <a:avLst/>
          </a:prstGeom>
          <a:noFill/>
          <a:ln>
            <a:noFill/>
          </a:ln>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lang="en-US" altLang="ja-JP" sz="1000">
                <a:latin typeface="メイリオ" panose="020B0604030504040204" pitchFamily="50" charset="-128"/>
                <a:ea typeface="メイリオ" panose="020B0604030504040204" pitchFamily="50" charset="-128"/>
              </a:rPr>
              <a:t>10</a:t>
            </a:r>
            <a:r>
              <a:rPr kumimoji="1" lang="ja-JP" altLang="en-US" sz="1000">
                <a:latin typeface="メイリオ" panose="020B0604030504040204" pitchFamily="50" charset="-128"/>
                <a:ea typeface="メイリオ" panose="020B0604030504040204" pitchFamily="50" charset="-128"/>
              </a:rPr>
              <a:t>月</a:t>
            </a:r>
          </a:p>
        </p:txBody>
      </p:sp>
      <p:sp>
        <p:nvSpPr>
          <p:cNvPr id="2099" name="テキスト ボックス 2098">
            <a:extLst>
              <a:ext uri="{FF2B5EF4-FFF2-40B4-BE49-F238E27FC236}">
                <a16:creationId xmlns:a16="http://schemas.microsoft.com/office/drawing/2014/main" id="{82EEA8C2-D18D-B5B9-3D3F-C9BE318BD901}"/>
              </a:ext>
            </a:extLst>
          </p:cNvPr>
          <p:cNvSpPr txBox="1"/>
          <p:nvPr/>
        </p:nvSpPr>
        <p:spPr>
          <a:xfrm>
            <a:off x="589609" y="3475317"/>
            <a:ext cx="957586" cy="246221"/>
          </a:xfrm>
          <a:prstGeom prst="rect">
            <a:avLst/>
          </a:prstGeom>
          <a:noFill/>
          <a:ln>
            <a:noFill/>
          </a:ln>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8</a:t>
            </a:r>
            <a:r>
              <a:rPr kumimoji="1" lang="ja-JP" altLang="en-US" sz="1000">
                <a:latin typeface="メイリオ" panose="020B0604030504040204" pitchFamily="50" charset="-128"/>
                <a:ea typeface="メイリオ" panose="020B0604030504040204" pitchFamily="50" charset="-128"/>
              </a:rPr>
              <a:t>月</a:t>
            </a:r>
          </a:p>
        </p:txBody>
      </p:sp>
      <p:sp>
        <p:nvSpPr>
          <p:cNvPr id="2101" name="テキスト ボックス 2100">
            <a:extLst>
              <a:ext uri="{FF2B5EF4-FFF2-40B4-BE49-F238E27FC236}">
                <a16:creationId xmlns:a16="http://schemas.microsoft.com/office/drawing/2014/main" id="{E6D4C90C-BD24-1939-D716-C6450E2AD8FC}"/>
              </a:ext>
            </a:extLst>
          </p:cNvPr>
          <p:cNvSpPr txBox="1"/>
          <p:nvPr/>
        </p:nvSpPr>
        <p:spPr>
          <a:xfrm>
            <a:off x="309563" y="4310547"/>
            <a:ext cx="1966105" cy="215444"/>
          </a:xfrm>
          <a:prstGeom prst="rect">
            <a:avLst/>
          </a:prstGeom>
          <a:noFill/>
          <a:ln>
            <a:noFill/>
          </a:ln>
        </p:spPr>
        <p:txBody>
          <a:bodyPr wrap="square" rtlCol="0">
            <a:spAutoFit/>
          </a:bodyPr>
          <a:lstStyle/>
          <a:p>
            <a:pPr algn="ctr"/>
            <a:r>
              <a:rPr lang="ja-JP" altLang="en-US" sz="800" b="1">
                <a:solidFill>
                  <a:srgbClr val="C00000"/>
                </a:solidFill>
                <a:latin typeface="メイリオ" panose="020B0604030504040204" pitchFamily="50" charset="-128"/>
                <a:ea typeface="メイリオ" panose="020B0604030504040204" pitchFamily="50" charset="-128"/>
              </a:rPr>
              <a:t>単月</a:t>
            </a:r>
            <a:r>
              <a:rPr lang="en-US" altLang="ja-JP" sz="800" b="1">
                <a:solidFill>
                  <a:srgbClr val="C00000"/>
                </a:solidFill>
                <a:latin typeface="メイリオ" panose="020B0604030504040204" pitchFamily="50" charset="-128"/>
                <a:ea typeface="メイリオ" panose="020B0604030504040204" pitchFamily="50" charset="-128"/>
              </a:rPr>
              <a:t>6000</a:t>
            </a:r>
            <a:r>
              <a:rPr lang="ja-JP" altLang="en-US" sz="800" b="1">
                <a:solidFill>
                  <a:srgbClr val="C00000"/>
                </a:solidFill>
                <a:latin typeface="メイリオ" panose="020B0604030504040204" pitchFamily="50" charset="-128"/>
                <a:ea typeface="メイリオ" panose="020B0604030504040204" pitchFamily="50" charset="-128"/>
              </a:rPr>
              <a:t>万円</a:t>
            </a:r>
            <a:r>
              <a:rPr lang="ja-JP" altLang="en-US" sz="800">
                <a:latin typeface="メイリオ" panose="020B0604030504040204" pitchFamily="50" charset="-128"/>
                <a:ea typeface="メイリオ" panose="020B0604030504040204" pitchFamily="50" charset="-128"/>
              </a:rPr>
              <a:t>の取り扱いを突破。</a:t>
            </a:r>
            <a:endParaRPr kumimoji="1" lang="ja-JP" altLang="en-US" sz="800">
              <a:latin typeface="メイリオ" panose="020B0604030504040204" pitchFamily="50" charset="-128"/>
              <a:ea typeface="メイリオ" panose="020B0604030504040204" pitchFamily="50" charset="-128"/>
            </a:endParaRPr>
          </a:p>
        </p:txBody>
      </p:sp>
      <p:sp>
        <p:nvSpPr>
          <p:cNvPr id="2102" name="テキスト ボックス 2101">
            <a:extLst>
              <a:ext uri="{FF2B5EF4-FFF2-40B4-BE49-F238E27FC236}">
                <a16:creationId xmlns:a16="http://schemas.microsoft.com/office/drawing/2014/main" id="{756F6552-3CAE-3310-D96A-5D847F286859}"/>
              </a:ext>
            </a:extLst>
          </p:cNvPr>
          <p:cNvSpPr txBox="1"/>
          <p:nvPr/>
        </p:nvSpPr>
        <p:spPr>
          <a:xfrm>
            <a:off x="2105787" y="3209363"/>
            <a:ext cx="2612987" cy="338554"/>
          </a:xfrm>
          <a:prstGeom prst="rect">
            <a:avLst/>
          </a:prstGeom>
          <a:noFill/>
          <a:ln>
            <a:noFill/>
          </a:ln>
        </p:spPr>
        <p:txBody>
          <a:bodyPr wrap="square" rtlCol="0">
            <a:spAutoFit/>
          </a:bodyPr>
          <a:lstStyle/>
          <a:p>
            <a:pPr algn="ctr"/>
            <a:r>
              <a:rPr kumimoji="1" lang="en-US" altLang="ja-JP" sz="800" dirty="0">
                <a:latin typeface="メイリオ" panose="020B0604030504040204" pitchFamily="50" charset="-128"/>
                <a:ea typeface="メイリオ" panose="020B0604030504040204" pitchFamily="50" charset="-128"/>
              </a:rPr>
              <a:t>2024</a:t>
            </a:r>
            <a:r>
              <a:rPr kumimoji="1" lang="ja-JP" altLang="en-US" sz="800" dirty="0">
                <a:latin typeface="メイリオ" panose="020B0604030504040204" pitchFamily="50" charset="-128"/>
                <a:ea typeface="メイリオ" panose="020B0604030504040204" pitchFamily="50" charset="-128"/>
              </a:rPr>
              <a:t>年度上半期の</a:t>
            </a:r>
            <a:r>
              <a:rPr kumimoji="1" lang="en-US" altLang="ja-JP" sz="800" dirty="0">
                <a:latin typeface="メイリオ" panose="020B0604030504040204" pitchFamily="50" charset="-128"/>
                <a:ea typeface="メイリオ" panose="020B0604030504040204" pitchFamily="50" charset="-128"/>
              </a:rPr>
              <a:t>Sales Partner</a:t>
            </a:r>
            <a:r>
              <a:rPr kumimoji="1" lang="ja-JP" altLang="en-US" sz="800" dirty="0">
                <a:latin typeface="メイリオ" panose="020B0604030504040204" pitchFamily="50" charset="-128"/>
                <a:ea typeface="メイリオ" panose="020B0604030504040204" pitchFamily="50" charset="-128"/>
              </a:rPr>
              <a:t>「</a:t>
            </a:r>
            <a:r>
              <a:rPr kumimoji="1" lang="en-US" altLang="ja-JP" sz="800" dirty="0">
                <a:latin typeface="メイリオ" panose="020B0604030504040204" pitchFamily="50" charset="-128"/>
                <a:ea typeface="メイリオ" panose="020B0604030504040204" pitchFamily="50" charset="-128"/>
              </a:rPr>
              <a:t>Premier</a:t>
            </a:r>
            <a:r>
              <a:rPr kumimoji="1" lang="ja-JP" altLang="en-US" sz="800" dirty="0">
                <a:latin typeface="メイリオ" panose="020B0604030504040204" pitchFamily="50" charset="-128"/>
                <a:ea typeface="メイリオ" panose="020B0604030504040204" pitchFamily="50" charset="-128"/>
              </a:rPr>
              <a:t>」に認定</a:t>
            </a:r>
            <a:r>
              <a:rPr lang="ja-JP" altLang="en-US" sz="800" dirty="0">
                <a:latin typeface="メイリオ" panose="020B0604030504040204" pitchFamily="50" charset="-128"/>
                <a:ea typeface="メイリオ" panose="020B0604030504040204" pitchFamily="50" charset="-128"/>
              </a:rPr>
              <a:t>。</a:t>
            </a:r>
            <a:endParaRPr lang="en-US" altLang="ja-JP" sz="800" dirty="0">
              <a:latin typeface="メイリオ" panose="020B0604030504040204" pitchFamily="50" charset="-128"/>
              <a:ea typeface="メイリオ" panose="020B0604030504040204" pitchFamily="50" charset="-128"/>
            </a:endParaRPr>
          </a:p>
          <a:p>
            <a:pPr algn="ctr"/>
            <a:r>
              <a:rPr lang="ja-JP" altLang="en-US" sz="800" b="1" dirty="0">
                <a:solidFill>
                  <a:srgbClr val="C00000"/>
                </a:solidFill>
                <a:latin typeface="メイリオ" panose="020B0604030504040204" pitchFamily="50" charset="-128"/>
                <a:ea typeface="メイリオ" panose="020B0604030504040204" pitchFamily="50" charset="-128"/>
              </a:rPr>
              <a:t>上位</a:t>
            </a:r>
            <a:r>
              <a:rPr lang="en-US" altLang="ja-JP" sz="800" b="1" dirty="0">
                <a:solidFill>
                  <a:srgbClr val="C00000"/>
                </a:solidFill>
                <a:latin typeface="メイリオ" panose="020B0604030504040204" pitchFamily="50" charset="-128"/>
                <a:ea typeface="メイリオ" panose="020B0604030504040204" pitchFamily="50" charset="-128"/>
              </a:rPr>
              <a:t>20</a:t>
            </a:r>
            <a:r>
              <a:rPr lang="ja-JP" altLang="en-US" sz="800" b="1" dirty="0">
                <a:solidFill>
                  <a:srgbClr val="C00000"/>
                </a:solidFill>
                <a:latin typeface="メイリオ" panose="020B0604030504040204" pitchFamily="50" charset="-128"/>
                <a:ea typeface="メイリオ" panose="020B0604030504040204" pitchFamily="50" charset="-128"/>
              </a:rPr>
              <a:t>位タイ</a:t>
            </a:r>
            <a:endParaRPr lang="en-US" altLang="ja-JP" sz="800" b="1" dirty="0">
              <a:solidFill>
                <a:srgbClr val="C00000"/>
              </a:solidFill>
              <a:latin typeface="メイリオ" panose="020B0604030504040204" pitchFamily="50" charset="-128"/>
              <a:ea typeface="メイリオ" panose="020B0604030504040204" pitchFamily="50" charset="-128"/>
            </a:endParaRPr>
          </a:p>
        </p:txBody>
      </p:sp>
      <p:sp>
        <p:nvSpPr>
          <p:cNvPr id="2103" name="テキスト ボックス 2102">
            <a:extLst>
              <a:ext uri="{FF2B5EF4-FFF2-40B4-BE49-F238E27FC236}">
                <a16:creationId xmlns:a16="http://schemas.microsoft.com/office/drawing/2014/main" id="{D5793D3E-32A5-A172-B93D-F2E02806685C}"/>
              </a:ext>
            </a:extLst>
          </p:cNvPr>
          <p:cNvSpPr txBox="1"/>
          <p:nvPr/>
        </p:nvSpPr>
        <p:spPr>
          <a:xfrm>
            <a:off x="4837113" y="3209363"/>
            <a:ext cx="1767520" cy="215444"/>
          </a:xfrm>
          <a:prstGeom prst="rect">
            <a:avLst/>
          </a:prstGeom>
          <a:noFill/>
          <a:ln>
            <a:noFill/>
          </a:ln>
        </p:spPr>
        <p:txBody>
          <a:bodyPr wrap="square" rtlCol="0">
            <a:spAutoFit/>
          </a:bodyPr>
          <a:lstStyle/>
          <a:p>
            <a:pPr algn="ctr"/>
            <a:r>
              <a:rPr lang="ja-JP" altLang="en-US" sz="800" b="1">
                <a:solidFill>
                  <a:srgbClr val="C00000"/>
                </a:solidFill>
                <a:latin typeface="メイリオ" panose="020B0604030504040204" pitchFamily="50" charset="-128"/>
                <a:ea typeface="メイリオ" panose="020B0604030504040204" pitchFamily="50" charset="-128"/>
              </a:rPr>
              <a:t>単月</a:t>
            </a:r>
            <a:r>
              <a:rPr lang="en-US" altLang="ja-JP" sz="800" b="1">
                <a:solidFill>
                  <a:srgbClr val="C00000"/>
                </a:solidFill>
                <a:latin typeface="メイリオ" panose="020B0604030504040204" pitchFamily="50" charset="-128"/>
                <a:ea typeface="メイリオ" panose="020B0604030504040204" pitchFamily="50" charset="-128"/>
              </a:rPr>
              <a:t>2000</a:t>
            </a:r>
            <a:r>
              <a:rPr lang="ja-JP" altLang="en-US" sz="800" b="1">
                <a:solidFill>
                  <a:srgbClr val="C00000"/>
                </a:solidFill>
                <a:latin typeface="メイリオ" panose="020B0604030504040204" pitchFamily="50" charset="-128"/>
                <a:ea typeface="メイリオ" panose="020B0604030504040204" pitchFamily="50" charset="-128"/>
              </a:rPr>
              <a:t>万円</a:t>
            </a:r>
            <a:r>
              <a:rPr lang="ja-JP" altLang="en-US" sz="800">
                <a:latin typeface="メイリオ" panose="020B0604030504040204" pitchFamily="50" charset="-128"/>
                <a:ea typeface="メイリオ" panose="020B0604030504040204" pitchFamily="50" charset="-128"/>
              </a:rPr>
              <a:t>の取り扱いを突破。</a:t>
            </a:r>
            <a:endParaRPr lang="en-US" altLang="ja-JP" sz="800">
              <a:latin typeface="メイリオ" panose="020B0604030504040204" pitchFamily="50" charset="-128"/>
              <a:ea typeface="メイリオ" panose="020B0604030504040204" pitchFamily="50" charset="-128"/>
            </a:endParaRPr>
          </a:p>
        </p:txBody>
      </p:sp>
      <p:sp>
        <p:nvSpPr>
          <p:cNvPr id="2104" name="テキスト ボックス 2103">
            <a:extLst>
              <a:ext uri="{FF2B5EF4-FFF2-40B4-BE49-F238E27FC236}">
                <a16:creationId xmlns:a16="http://schemas.microsoft.com/office/drawing/2014/main" id="{89EE1600-592C-F991-FBB3-472A73DB5551}"/>
              </a:ext>
            </a:extLst>
          </p:cNvPr>
          <p:cNvSpPr txBox="1"/>
          <p:nvPr/>
        </p:nvSpPr>
        <p:spPr>
          <a:xfrm>
            <a:off x="1858111" y="4310547"/>
            <a:ext cx="3234807" cy="338554"/>
          </a:xfrm>
          <a:prstGeom prst="rect">
            <a:avLst/>
          </a:prstGeom>
          <a:noFill/>
          <a:ln>
            <a:noFill/>
          </a:ln>
        </p:spPr>
        <p:txBody>
          <a:bodyPr wrap="square" rtlCol="0">
            <a:spAutoFit/>
          </a:bodyPr>
          <a:lstStyle/>
          <a:p>
            <a:pPr algn="ctr"/>
            <a:r>
              <a:rPr kumimoji="1" lang="ja-JP" altLang="en-US" sz="800">
                <a:latin typeface="メイリオ" panose="020B0604030504040204" pitchFamily="50" charset="-128"/>
                <a:ea typeface="メイリオ" panose="020B0604030504040204" pitchFamily="50" charset="-128"/>
              </a:rPr>
              <a:t>前回に続き、最高グレードである</a:t>
            </a:r>
            <a:r>
              <a:rPr lang="ja-JP" altLang="en-US" sz="800">
                <a:latin typeface="メイリオ" panose="020B0604030504040204" pitchFamily="50" charset="-128"/>
                <a:ea typeface="メイリオ" panose="020B0604030504040204" pitchFamily="50" charset="-128"/>
              </a:rPr>
              <a:t>「</a:t>
            </a:r>
            <a:r>
              <a:rPr lang="en-US" altLang="ja-JP" sz="800">
                <a:latin typeface="メイリオ" panose="020B0604030504040204" pitchFamily="50" charset="-128"/>
                <a:ea typeface="メイリオ" panose="020B0604030504040204" pitchFamily="50" charset="-128"/>
              </a:rPr>
              <a:t>Premier</a:t>
            </a:r>
            <a:r>
              <a:rPr lang="ja-JP" altLang="en-US" sz="800">
                <a:latin typeface="メイリオ" panose="020B0604030504040204" pitchFamily="50" charset="-128"/>
                <a:ea typeface="メイリオ" panose="020B0604030504040204" pitchFamily="50" charset="-128"/>
              </a:rPr>
              <a:t>」に認定。</a:t>
            </a:r>
            <a:endParaRPr lang="en-US" altLang="ja-JP" sz="800">
              <a:latin typeface="メイリオ" panose="020B0604030504040204" pitchFamily="50" charset="-128"/>
              <a:ea typeface="メイリオ" panose="020B0604030504040204" pitchFamily="50" charset="-128"/>
            </a:endParaRPr>
          </a:p>
          <a:p>
            <a:pPr algn="ctr"/>
            <a:r>
              <a:rPr kumimoji="1" lang="ja-JP" altLang="en-US" sz="800" b="1">
                <a:solidFill>
                  <a:srgbClr val="C00000"/>
                </a:solidFill>
                <a:latin typeface="メイリオ" panose="020B0604030504040204" pitchFamily="50" charset="-128"/>
                <a:ea typeface="メイリオ" panose="020B0604030504040204" pitchFamily="50" charset="-128"/>
              </a:rPr>
              <a:t>上位</a:t>
            </a:r>
            <a:r>
              <a:rPr kumimoji="1" lang="en-US" altLang="ja-JP" sz="800" b="1">
                <a:solidFill>
                  <a:srgbClr val="C00000"/>
                </a:solidFill>
                <a:latin typeface="メイリオ" panose="020B0604030504040204" pitchFamily="50" charset="-128"/>
                <a:ea typeface="メイリオ" panose="020B0604030504040204" pitchFamily="50" charset="-128"/>
              </a:rPr>
              <a:t>12</a:t>
            </a:r>
            <a:r>
              <a:rPr kumimoji="1" lang="ja-JP" altLang="en-US" sz="800" b="1">
                <a:solidFill>
                  <a:srgbClr val="C00000"/>
                </a:solidFill>
                <a:latin typeface="メイリオ" panose="020B0604030504040204" pitchFamily="50" charset="-128"/>
                <a:ea typeface="メイリオ" panose="020B0604030504040204" pitchFamily="50" charset="-128"/>
              </a:rPr>
              <a:t>位タイ</a:t>
            </a:r>
          </a:p>
        </p:txBody>
      </p:sp>
      <p:sp>
        <p:nvSpPr>
          <p:cNvPr id="2105" name="テキスト ボックス 2104">
            <a:extLst>
              <a:ext uri="{FF2B5EF4-FFF2-40B4-BE49-F238E27FC236}">
                <a16:creationId xmlns:a16="http://schemas.microsoft.com/office/drawing/2014/main" id="{735B8649-944E-38AC-EFE9-3FF466013418}"/>
              </a:ext>
            </a:extLst>
          </p:cNvPr>
          <p:cNvSpPr txBox="1"/>
          <p:nvPr/>
        </p:nvSpPr>
        <p:spPr>
          <a:xfrm>
            <a:off x="6722972" y="3209363"/>
            <a:ext cx="2758776" cy="338554"/>
          </a:xfrm>
          <a:prstGeom prst="rect">
            <a:avLst/>
          </a:prstGeom>
          <a:noFill/>
          <a:ln>
            <a:noFill/>
          </a:ln>
        </p:spPr>
        <p:txBody>
          <a:bodyPr wrap="square" rtlCol="0">
            <a:spAutoFit/>
          </a:bodyPr>
          <a:lstStyle/>
          <a:p>
            <a:pPr algn="ctr"/>
            <a:r>
              <a:rPr lang="ja-JP" altLang="en-US" sz="800">
                <a:latin typeface="メイリオ" panose="020B0604030504040204" pitchFamily="50" charset="-128"/>
                <a:ea typeface="メイリオ" panose="020B0604030504040204" pitchFamily="50" charset="-128"/>
              </a:rPr>
              <a:t>前回に続き、最高グレードである「</a:t>
            </a:r>
            <a:r>
              <a:rPr lang="en-US" altLang="ja-JP" sz="800">
                <a:latin typeface="メイリオ" panose="020B0604030504040204" pitchFamily="50" charset="-128"/>
                <a:ea typeface="メイリオ" panose="020B0604030504040204" pitchFamily="50" charset="-128"/>
              </a:rPr>
              <a:t>Premier</a:t>
            </a:r>
            <a:r>
              <a:rPr lang="ja-JP" altLang="en-US" sz="800">
                <a:latin typeface="メイリオ" panose="020B0604030504040204" pitchFamily="50" charset="-128"/>
                <a:ea typeface="メイリオ" panose="020B0604030504040204" pitchFamily="50" charset="-128"/>
              </a:rPr>
              <a:t>」に認定。</a:t>
            </a:r>
            <a:r>
              <a:rPr lang="ja-JP" altLang="en-US" sz="800" b="1">
                <a:solidFill>
                  <a:srgbClr val="C00000"/>
                </a:solidFill>
                <a:latin typeface="メイリオ" panose="020B0604030504040204" pitchFamily="50" charset="-128"/>
                <a:ea typeface="メイリオ" panose="020B0604030504040204" pitchFamily="50" charset="-128"/>
              </a:rPr>
              <a:t>上位</a:t>
            </a:r>
            <a:r>
              <a:rPr lang="en-US" altLang="ja-JP" sz="800" b="1">
                <a:solidFill>
                  <a:srgbClr val="C00000"/>
                </a:solidFill>
                <a:latin typeface="メイリオ" panose="020B0604030504040204" pitchFamily="50" charset="-128"/>
                <a:ea typeface="メイリオ" panose="020B0604030504040204" pitchFamily="50" charset="-128"/>
              </a:rPr>
              <a:t>15</a:t>
            </a:r>
            <a:r>
              <a:rPr lang="ja-JP" altLang="en-US" sz="800" b="1">
                <a:solidFill>
                  <a:srgbClr val="C00000"/>
                </a:solidFill>
                <a:latin typeface="メイリオ" panose="020B0604030504040204" pitchFamily="50" charset="-128"/>
                <a:ea typeface="メイリオ" panose="020B0604030504040204" pitchFamily="50" charset="-128"/>
              </a:rPr>
              <a:t>位タイ</a:t>
            </a:r>
            <a:endParaRPr lang="en-US" altLang="ja-JP" sz="800" b="1">
              <a:solidFill>
                <a:srgbClr val="C00000"/>
              </a:solidFill>
              <a:latin typeface="メイリオ" panose="020B0604030504040204" pitchFamily="50" charset="-128"/>
              <a:ea typeface="メイリオ" panose="020B0604030504040204" pitchFamily="50" charset="-128"/>
            </a:endParaRPr>
          </a:p>
        </p:txBody>
      </p:sp>
      <p:sp>
        <p:nvSpPr>
          <p:cNvPr id="2110" name="テキスト ボックス 2109">
            <a:extLst>
              <a:ext uri="{FF2B5EF4-FFF2-40B4-BE49-F238E27FC236}">
                <a16:creationId xmlns:a16="http://schemas.microsoft.com/office/drawing/2014/main" id="{9364E84A-3501-3480-3E86-4181D9EDDE0D}"/>
              </a:ext>
            </a:extLst>
          </p:cNvPr>
          <p:cNvSpPr txBox="1"/>
          <p:nvPr/>
        </p:nvSpPr>
        <p:spPr>
          <a:xfrm>
            <a:off x="5204477" y="3512494"/>
            <a:ext cx="957586" cy="246221"/>
          </a:xfrm>
          <a:prstGeom prst="rect">
            <a:avLst/>
          </a:prstGeom>
          <a:noFill/>
          <a:ln>
            <a:noFill/>
          </a:ln>
        </p:spPr>
        <p:txBody>
          <a:bodyPr wrap="square" rtlCol="0">
            <a:spAutoFit/>
          </a:bodyPr>
          <a:lstStyle/>
          <a:p>
            <a:pPr algn="ctr"/>
            <a:r>
              <a:rPr kumimoji="1" lang="ja-JP" altLang="en-US" sz="1000">
                <a:latin typeface="メイリオ" panose="020B0604030504040204" pitchFamily="50" charset="-128"/>
                <a:ea typeface="メイリオ" panose="020B0604030504040204" pitchFamily="50" charset="-128"/>
              </a:rPr>
              <a:t>現在</a:t>
            </a:r>
          </a:p>
        </p:txBody>
      </p:sp>
      <p:sp>
        <p:nvSpPr>
          <p:cNvPr id="2111" name="テキスト ボックス 2110">
            <a:extLst>
              <a:ext uri="{FF2B5EF4-FFF2-40B4-BE49-F238E27FC236}">
                <a16:creationId xmlns:a16="http://schemas.microsoft.com/office/drawing/2014/main" id="{915149AC-7723-29BD-6D17-D471CC831F56}"/>
              </a:ext>
            </a:extLst>
          </p:cNvPr>
          <p:cNvSpPr txBox="1"/>
          <p:nvPr/>
        </p:nvSpPr>
        <p:spPr>
          <a:xfrm>
            <a:off x="4684085" y="4310547"/>
            <a:ext cx="2335280" cy="338554"/>
          </a:xfrm>
          <a:prstGeom prst="rect">
            <a:avLst/>
          </a:prstGeom>
          <a:noFill/>
          <a:ln>
            <a:noFill/>
          </a:ln>
        </p:spPr>
        <p:txBody>
          <a:bodyPr wrap="square" rtlCol="0">
            <a:spAutoFit/>
          </a:bodyPr>
          <a:lstStyle/>
          <a:p>
            <a:pPr algn="ctr"/>
            <a:r>
              <a:rPr lang="ja-JP" altLang="en-US" sz="800" dirty="0">
                <a:latin typeface="メイリオ" panose="020B0604030504040204" pitchFamily="50" charset="-128"/>
                <a:ea typeface="メイリオ" panose="020B0604030504040204" pitchFamily="50" charset="-128"/>
              </a:rPr>
              <a:t>「</a:t>
            </a:r>
            <a:r>
              <a:rPr lang="en-US" altLang="ja-JP" sz="800" dirty="0">
                <a:latin typeface="メイリオ" panose="020B0604030504040204" pitchFamily="50" charset="-128"/>
                <a:ea typeface="メイリオ" panose="020B0604030504040204" pitchFamily="50" charset="-128"/>
              </a:rPr>
              <a:t>Best LINE</a:t>
            </a:r>
            <a:r>
              <a:rPr lang="ja-JP" altLang="en-US" sz="800" dirty="0">
                <a:latin typeface="メイリオ" panose="020B0604030504040204" pitchFamily="50" charset="-128"/>
                <a:ea typeface="メイリオ" panose="020B0604030504040204" pitchFamily="50" charset="-128"/>
              </a:rPr>
              <a:t>公式アカウント </a:t>
            </a:r>
            <a:r>
              <a:rPr lang="en-US" altLang="ja-JP" sz="800" dirty="0">
                <a:latin typeface="メイリオ" panose="020B0604030504040204" pitchFamily="50" charset="-128"/>
                <a:ea typeface="メイリオ" panose="020B0604030504040204" pitchFamily="50" charset="-128"/>
              </a:rPr>
              <a:t>Growth</a:t>
            </a:r>
            <a:r>
              <a:rPr lang="ja-JP" altLang="en-US" sz="800" dirty="0">
                <a:latin typeface="メイリオ" panose="020B0604030504040204" pitchFamily="50" charset="-128"/>
                <a:ea typeface="メイリオ" panose="020B0604030504040204" pitchFamily="50" charset="-128"/>
              </a:rPr>
              <a:t>」部門で</a:t>
            </a:r>
            <a:r>
              <a:rPr lang="en-US" altLang="ja-JP" sz="800" dirty="0">
                <a:latin typeface="メイリオ" panose="020B0604030504040204" pitchFamily="50" charset="-128"/>
                <a:ea typeface="メイリオ" panose="020B0604030504040204" pitchFamily="50" charset="-128"/>
              </a:rPr>
              <a:t>LINE</a:t>
            </a:r>
            <a:r>
              <a:rPr lang="ja-JP" altLang="en-US" sz="800" dirty="0">
                <a:latin typeface="メイリオ" panose="020B0604030504040204" pitchFamily="50" charset="-128"/>
                <a:ea typeface="メイリオ" panose="020B0604030504040204" pitchFamily="50" charset="-128"/>
              </a:rPr>
              <a:t>ヤフー社から表彰をいただきました。</a:t>
            </a:r>
            <a:endParaRPr kumimoji="1" lang="ja-JP" altLang="en-US" sz="800" dirty="0">
              <a:latin typeface="メイリオ" panose="020B0604030504040204" pitchFamily="50" charset="-128"/>
              <a:ea typeface="メイリオ" panose="020B0604030504040204" pitchFamily="50" charset="-128"/>
            </a:endParaRPr>
          </a:p>
        </p:txBody>
      </p:sp>
      <p:sp>
        <p:nvSpPr>
          <p:cNvPr id="8" name="正方形/長方形 7">
            <a:extLst>
              <a:ext uri="{FF2B5EF4-FFF2-40B4-BE49-F238E27FC236}">
                <a16:creationId xmlns:a16="http://schemas.microsoft.com/office/drawing/2014/main" id="{F974FA57-9312-73D0-6461-C65486B6B90A}"/>
              </a:ext>
            </a:extLst>
          </p:cNvPr>
          <p:cNvSpPr/>
          <p:nvPr/>
        </p:nvSpPr>
        <p:spPr>
          <a:xfrm>
            <a:off x="388723" y="675734"/>
            <a:ext cx="9128556" cy="349010"/>
          </a:xfrm>
          <a:prstGeom prst="rect">
            <a:avLst/>
          </a:prstGeom>
          <a:solidFill>
            <a:schemeClr val="bg1">
              <a:lumMod val="6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正方形/長方形 2">
            <a:extLst>
              <a:ext uri="{FF2B5EF4-FFF2-40B4-BE49-F238E27FC236}">
                <a16:creationId xmlns:a16="http://schemas.microsoft.com/office/drawing/2014/main" id="{4661DF32-128A-6B77-5F5D-76D78A1B8378}"/>
              </a:ext>
            </a:extLst>
          </p:cNvPr>
          <p:cNvSpPr/>
          <p:nvPr/>
        </p:nvSpPr>
        <p:spPr>
          <a:xfrm>
            <a:off x="2853632" y="700332"/>
            <a:ext cx="6663645" cy="306000"/>
          </a:xfrm>
          <a:prstGeom prst="rect">
            <a:avLst/>
          </a:prstGeom>
          <a:solidFill>
            <a:srgbClr val="10253F"/>
          </a:solidFill>
        </p:spPr>
        <p:txBody>
          <a:bodyPr wrap="square">
            <a:spAutoFit/>
          </a:bodyPr>
          <a:lstStyle/>
          <a:p>
            <a:pPr lvl="0">
              <a:buClr>
                <a:srgbClr val="002060"/>
              </a:buClr>
              <a:buSzPts val="1600"/>
            </a:pPr>
            <a:r>
              <a:rPr lang="en-US" altLang="ja-JP" sz="1300" b="1">
                <a:solidFill>
                  <a:schemeClr val="bg1"/>
                </a:solidFill>
                <a:latin typeface="Meiryo"/>
                <a:ea typeface="Meiryo"/>
                <a:cs typeface="Meiryo"/>
                <a:sym typeface="Meiryo"/>
              </a:rPr>
              <a:t>LINE</a:t>
            </a:r>
            <a:r>
              <a:rPr lang="ja-JP" altLang="en-US" sz="1300" b="1">
                <a:solidFill>
                  <a:schemeClr val="bg1"/>
                </a:solidFill>
                <a:latin typeface="Meiryo"/>
                <a:ea typeface="Meiryo"/>
                <a:cs typeface="Meiryo"/>
                <a:sym typeface="Meiryo"/>
              </a:rPr>
              <a:t>ヤフー </a:t>
            </a:r>
            <a:r>
              <a:rPr lang="en-US" altLang="ja-JP" sz="1300" b="1">
                <a:solidFill>
                  <a:schemeClr val="bg1"/>
                </a:solidFill>
                <a:latin typeface="Meiryo"/>
                <a:ea typeface="Meiryo"/>
                <a:cs typeface="Meiryo"/>
                <a:sym typeface="Meiryo"/>
              </a:rPr>
              <a:t>Partner Award 2025</a:t>
            </a:r>
            <a:r>
              <a:rPr lang="ja-JP" altLang="en-US" sz="1300" b="1">
                <a:solidFill>
                  <a:schemeClr val="bg1"/>
                </a:solidFill>
                <a:latin typeface="Meiryo"/>
                <a:ea typeface="Meiryo"/>
                <a:cs typeface="Meiryo"/>
                <a:sym typeface="Meiryo"/>
              </a:rPr>
              <a:t>にて「</a:t>
            </a:r>
            <a:r>
              <a:rPr lang="en-US" altLang="ja-JP" sz="1300" b="1">
                <a:solidFill>
                  <a:schemeClr val="bg1"/>
                </a:solidFill>
                <a:latin typeface="Meiryo"/>
                <a:ea typeface="Meiryo"/>
                <a:cs typeface="Meiryo"/>
                <a:sym typeface="Meiryo"/>
              </a:rPr>
              <a:t>Best LINE</a:t>
            </a:r>
            <a:r>
              <a:rPr lang="ja-JP" altLang="en-US" sz="1300" b="1">
                <a:solidFill>
                  <a:schemeClr val="bg1"/>
                </a:solidFill>
                <a:latin typeface="Meiryo"/>
                <a:ea typeface="Meiryo"/>
                <a:cs typeface="Meiryo"/>
                <a:sym typeface="Meiryo"/>
              </a:rPr>
              <a:t>公式アカウント </a:t>
            </a:r>
            <a:r>
              <a:rPr lang="en-US" altLang="ja-JP" sz="1300" b="1">
                <a:solidFill>
                  <a:schemeClr val="bg1"/>
                </a:solidFill>
                <a:latin typeface="Meiryo"/>
                <a:ea typeface="Meiryo"/>
                <a:cs typeface="Meiryo"/>
                <a:sym typeface="Meiryo"/>
              </a:rPr>
              <a:t>Growth</a:t>
            </a:r>
            <a:r>
              <a:rPr lang="ja-JP" altLang="en-US" sz="1300" b="1">
                <a:solidFill>
                  <a:schemeClr val="bg1"/>
                </a:solidFill>
                <a:latin typeface="Meiryo"/>
                <a:ea typeface="Meiryo"/>
                <a:cs typeface="Meiryo"/>
                <a:sym typeface="Meiryo"/>
              </a:rPr>
              <a:t>」受賞</a:t>
            </a:r>
            <a:endParaRPr lang="en-US" altLang="ja-JP" sz="1300" b="1" dirty="0">
              <a:solidFill>
                <a:schemeClr val="bg1"/>
              </a:solidFill>
              <a:latin typeface="Meiryo"/>
              <a:ea typeface="Meiryo"/>
              <a:cs typeface="Meiryo"/>
              <a:sym typeface="Meiryo"/>
            </a:endParaRPr>
          </a:p>
        </p:txBody>
      </p:sp>
      <p:sp>
        <p:nvSpPr>
          <p:cNvPr id="6" name="正方形/長方形 5">
            <a:extLst>
              <a:ext uri="{FF2B5EF4-FFF2-40B4-BE49-F238E27FC236}">
                <a16:creationId xmlns:a16="http://schemas.microsoft.com/office/drawing/2014/main" id="{DEE7F595-5FAC-C5CD-0B26-580B6DF09A53}"/>
              </a:ext>
            </a:extLst>
          </p:cNvPr>
          <p:cNvSpPr/>
          <p:nvPr/>
        </p:nvSpPr>
        <p:spPr>
          <a:xfrm>
            <a:off x="432943" y="700332"/>
            <a:ext cx="2391617" cy="306000"/>
          </a:xfrm>
          <a:prstGeom prst="rect">
            <a:avLst/>
          </a:prstGeom>
          <a:solidFill>
            <a:srgbClr val="10253F"/>
          </a:solidFill>
        </p:spPr>
        <p:txBody>
          <a:bodyPr wrap="square">
            <a:spAutoFit/>
          </a:bodyPr>
          <a:lstStyle/>
          <a:p>
            <a:pPr lvl="0" algn="ctr">
              <a:buClr>
                <a:srgbClr val="002060"/>
              </a:buClr>
              <a:buSzPts val="1600"/>
            </a:pPr>
            <a:r>
              <a:rPr lang="en-US" altLang="ja-JP" sz="1400" b="1">
                <a:solidFill>
                  <a:schemeClr val="bg1"/>
                </a:solidFill>
                <a:latin typeface="Meiryo"/>
                <a:ea typeface="Meiryo"/>
                <a:cs typeface="Meiryo"/>
                <a:sym typeface="Meiryo"/>
              </a:rPr>
              <a:t>DYM × LINEOA</a:t>
            </a:r>
            <a:endParaRPr lang="en-US" altLang="ja-JP" sz="1400" b="1" dirty="0">
              <a:solidFill>
                <a:schemeClr val="bg1"/>
              </a:solidFill>
              <a:latin typeface="Meiryo"/>
              <a:ea typeface="Meiryo"/>
              <a:cs typeface="Meiryo"/>
              <a:sym typeface="Meiryo"/>
            </a:endParaRPr>
          </a:p>
        </p:txBody>
      </p:sp>
      <p:pic>
        <p:nvPicPr>
          <p:cNvPr id="56" name="Picture 2">
            <a:extLst>
              <a:ext uri="{FF2B5EF4-FFF2-40B4-BE49-F238E27FC236}">
                <a16:creationId xmlns:a16="http://schemas.microsoft.com/office/drawing/2014/main" id="{6B503BF7-985B-8770-4643-5E3EB6E5562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69689" y="5150774"/>
            <a:ext cx="1929199" cy="1286131"/>
          </a:xfrm>
          <a:prstGeom prst="rect">
            <a:avLst/>
          </a:prstGeom>
          <a:noFill/>
          <a:extLst>
            <a:ext uri="{909E8E84-426E-40DD-AFC4-6F175D3DCCD1}">
              <a14:hiddenFill xmlns:a14="http://schemas.microsoft.com/office/drawing/2010/main">
                <a:solidFill>
                  <a:srgbClr val="FFFFFF"/>
                </a:solidFill>
              </a14:hiddenFill>
            </a:ext>
          </a:extLst>
        </p:spPr>
      </p:pic>
      <p:sp>
        <p:nvSpPr>
          <p:cNvPr id="2" name="テキスト プレースホルダー 2">
            <a:extLst>
              <a:ext uri="{FF2B5EF4-FFF2-40B4-BE49-F238E27FC236}">
                <a16:creationId xmlns:a16="http://schemas.microsoft.com/office/drawing/2014/main" id="{761ADAB8-B668-8B05-EDE6-B5003466E015}"/>
              </a:ext>
            </a:extLst>
          </p:cNvPr>
          <p:cNvSpPr txBox="1">
            <a:spLocks/>
          </p:cNvSpPr>
          <p:nvPr/>
        </p:nvSpPr>
        <p:spPr>
          <a:xfrm>
            <a:off x="8209814" y="6217102"/>
            <a:ext cx="676273" cy="157797"/>
          </a:xfrm>
          <a:prstGeom prst="rect">
            <a:avLst/>
          </a:prstGeom>
        </p:spPr>
        <p:txBody>
          <a:bodyPr lIns="0" tIns="0" rIns="0" bIns="0" anchor="t"/>
          <a:lstStyle>
            <a:lvl1pPr marL="0" indent="0" algn="l" defTabSz="914400" rtl="0" eaLnBrk="1" latinLnBrk="0" hangingPunct="1">
              <a:lnSpc>
                <a:spcPct val="130000"/>
              </a:lnSpc>
              <a:spcBef>
                <a:spcPts val="0"/>
              </a:spcBef>
              <a:buFont typeface="Arial" panose="020B0604020202020204" pitchFamily="34" charset="0"/>
              <a:buNone/>
              <a:defRPr kumimoji="1" sz="1400" kern="1200">
                <a:solidFill>
                  <a:schemeClr val="tx1">
                    <a:lumMod val="95000"/>
                    <a:lumOff val="5000"/>
                  </a:schemeClr>
                </a:solidFill>
                <a:latin typeface="Meiryo" panose="020B0604030504040204" pitchFamily="34" charset="-128"/>
                <a:ea typeface="Meiryo" panose="020B0604030504040204"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defRPr/>
            </a:pPr>
            <a:r>
              <a:rPr lang="en-US" altLang="ja-JP" sz="700">
                <a:solidFill>
                  <a:schemeClr val="bg1"/>
                </a:solidFill>
              </a:rPr>
              <a:t>※</a:t>
            </a:r>
            <a:r>
              <a:rPr lang="ja-JP" altLang="en-US" sz="700">
                <a:solidFill>
                  <a:schemeClr val="bg1"/>
                </a:solidFill>
              </a:rPr>
              <a:t>受賞時の</a:t>
            </a:r>
            <a:r>
              <a:rPr lang="en-US" altLang="ja-JP" sz="700">
                <a:solidFill>
                  <a:schemeClr val="bg1"/>
                </a:solidFill>
              </a:rPr>
              <a:t>1</a:t>
            </a:r>
            <a:r>
              <a:rPr lang="ja-JP" altLang="en-US" sz="700">
                <a:solidFill>
                  <a:schemeClr val="bg1"/>
                </a:solidFill>
              </a:rPr>
              <a:t>枚</a:t>
            </a:r>
            <a:endParaRPr lang="en-US" altLang="ja-JP" sz="700" dirty="0">
              <a:solidFill>
                <a:schemeClr val="bg1"/>
              </a:solidFill>
            </a:endParaRPr>
          </a:p>
        </p:txBody>
      </p:sp>
      <p:pic>
        <p:nvPicPr>
          <p:cNvPr id="7" name="図 6" descr="アイコン が含まれている画像&#10;&#10;AI 生成コンテンツは誤りを含む可能性があります。">
            <a:extLst>
              <a:ext uri="{FF2B5EF4-FFF2-40B4-BE49-F238E27FC236}">
                <a16:creationId xmlns:a16="http://schemas.microsoft.com/office/drawing/2014/main" id="{1FAB445F-372A-C0D2-7552-790613769A3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408069" y="4654614"/>
            <a:ext cx="2886575" cy="2294826"/>
          </a:xfrm>
          <a:prstGeom prst="rect">
            <a:avLst/>
          </a:prstGeom>
        </p:spPr>
      </p:pic>
      <p:sp>
        <p:nvSpPr>
          <p:cNvPr id="10" name="テキスト ボックス 9">
            <a:extLst>
              <a:ext uri="{FF2B5EF4-FFF2-40B4-BE49-F238E27FC236}">
                <a16:creationId xmlns:a16="http://schemas.microsoft.com/office/drawing/2014/main" id="{F7A1F49B-800C-42EE-5308-93E8C2B2E88F}"/>
              </a:ext>
            </a:extLst>
          </p:cNvPr>
          <p:cNvSpPr txBox="1"/>
          <p:nvPr/>
        </p:nvSpPr>
        <p:spPr>
          <a:xfrm>
            <a:off x="2535025" y="5767731"/>
            <a:ext cx="4963884" cy="646331"/>
          </a:xfrm>
          <a:prstGeom prst="rect">
            <a:avLst/>
          </a:prstGeom>
          <a:noFill/>
        </p:spPr>
        <p:txBody>
          <a:bodyPr wrap="square">
            <a:spAutoFit/>
          </a:bodyPr>
          <a:lstStyle/>
          <a:p>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現在</a:t>
            </a:r>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Sales Partner Premier</a:t>
            </a:r>
          </a:p>
          <a:p>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は</a:t>
            </a:r>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DYM</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を合わせて</a:t>
            </a:r>
            <a:r>
              <a:rPr lang="en-US" altLang="ja-JP" sz="900" b="1" dirty="0">
                <a:solidFill>
                  <a:srgbClr val="000000">
                    <a:lumMod val="95000"/>
                    <a:lumOff val="5000"/>
                  </a:srgbClr>
                </a:solidFill>
                <a:latin typeface="メイリオ" panose="020B0604030504040204" pitchFamily="50" charset="-128"/>
                <a:ea typeface="メイリオ" panose="020B0604030504040204" pitchFamily="50" charset="-128"/>
              </a:rPr>
              <a:t>12</a:t>
            </a:r>
            <a:r>
              <a:rPr lang="ja-JP" altLang="en-US" sz="900" b="1" dirty="0">
                <a:solidFill>
                  <a:srgbClr val="000000">
                    <a:lumMod val="95000"/>
                    <a:lumOff val="5000"/>
                  </a:srgbClr>
                </a:solidFill>
                <a:latin typeface="メイリオ" panose="020B0604030504040204" pitchFamily="50" charset="-128"/>
                <a:ea typeface="メイリオ" panose="020B0604030504040204" pitchFamily="50" charset="-128"/>
              </a:rPr>
              <a:t>社が認定</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a:t>
            </a:r>
            <a:endPar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endParaRPr>
          </a:p>
          <a:p>
            <a:endPar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endParaRPr>
          </a:p>
          <a:p>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未上場企業では</a:t>
            </a:r>
            <a:r>
              <a:rPr lang="ja-JP" altLang="en-US" sz="900" b="1" dirty="0">
                <a:solidFill>
                  <a:srgbClr val="000000">
                    <a:lumMod val="95000"/>
                    <a:lumOff val="5000"/>
                  </a:srgbClr>
                </a:solidFill>
                <a:latin typeface="メイリオ" panose="020B0604030504040204" pitchFamily="50" charset="-128"/>
                <a:ea typeface="メイリオ" panose="020B0604030504040204" pitchFamily="50" charset="-128"/>
              </a:rPr>
              <a:t>唯一で最上位</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a:t>
            </a:r>
            <a:endParaRPr lang="ja-JP" altLang="en-US" sz="900" dirty="0"/>
          </a:p>
        </p:txBody>
      </p:sp>
      <p:pic>
        <p:nvPicPr>
          <p:cNvPr id="5" name="図 4">
            <a:extLst>
              <a:ext uri="{FF2B5EF4-FFF2-40B4-BE49-F238E27FC236}">
                <a16:creationId xmlns:a16="http://schemas.microsoft.com/office/drawing/2014/main" id="{1F013E1B-3D36-6118-A1E8-A84BF28EDEC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8996" y="4759370"/>
            <a:ext cx="2664636" cy="2074350"/>
          </a:xfrm>
          <a:prstGeom prst="rect">
            <a:avLst/>
          </a:prstGeom>
        </p:spPr>
      </p:pic>
    </p:spTree>
    <p:extLst>
      <p:ext uri="{BB962C8B-B14F-4D97-AF65-F5344CB8AC3E}">
        <p14:creationId xmlns:p14="http://schemas.microsoft.com/office/powerpoint/2010/main" val="33205557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E5861D-E2B1-5330-6864-9B051B1B450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10815731-3923-DF64-2497-E7A37D053AD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弊社ポジショニング</a:t>
            </a:r>
          </a:p>
        </p:txBody>
      </p:sp>
      <p:sp>
        <p:nvSpPr>
          <p:cNvPr id="2" name="正方形/長方形 1">
            <a:extLst>
              <a:ext uri="{FF2B5EF4-FFF2-40B4-BE49-F238E27FC236}">
                <a16:creationId xmlns:a16="http://schemas.microsoft.com/office/drawing/2014/main" id="{6EE73D80-19A8-1B22-3E67-207FD67693A3}"/>
              </a:ext>
            </a:extLst>
          </p:cNvPr>
          <p:cNvSpPr/>
          <p:nvPr/>
        </p:nvSpPr>
        <p:spPr>
          <a:xfrm>
            <a:off x="414745" y="1861522"/>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CD2306FC-4175-2C00-0D17-32F2AAC51C82}"/>
              </a:ext>
            </a:extLst>
          </p:cNvPr>
          <p:cNvSpPr/>
          <p:nvPr/>
        </p:nvSpPr>
        <p:spPr>
          <a:xfrm>
            <a:off x="4892040" y="1861522"/>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0" name="正方形/長方形 9">
            <a:extLst>
              <a:ext uri="{FF2B5EF4-FFF2-40B4-BE49-F238E27FC236}">
                <a16:creationId xmlns:a16="http://schemas.microsoft.com/office/drawing/2014/main" id="{9ED6AD3F-541D-3FC5-0062-3F2A923253C9}"/>
              </a:ext>
            </a:extLst>
          </p:cNvPr>
          <p:cNvSpPr/>
          <p:nvPr/>
        </p:nvSpPr>
        <p:spPr>
          <a:xfrm>
            <a:off x="414745" y="4308273"/>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1" name="正方形/長方形 10">
            <a:extLst>
              <a:ext uri="{FF2B5EF4-FFF2-40B4-BE49-F238E27FC236}">
                <a16:creationId xmlns:a16="http://schemas.microsoft.com/office/drawing/2014/main" id="{D4D20F90-DB1A-B6A0-8607-C0C93118158E}"/>
              </a:ext>
            </a:extLst>
          </p:cNvPr>
          <p:cNvSpPr/>
          <p:nvPr/>
        </p:nvSpPr>
        <p:spPr>
          <a:xfrm>
            <a:off x="4892040" y="4308273"/>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2" name="正方形/長方形 11">
            <a:extLst>
              <a:ext uri="{FF2B5EF4-FFF2-40B4-BE49-F238E27FC236}">
                <a16:creationId xmlns:a16="http://schemas.microsoft.com/office/drawing/2014/main" id="{94608CEE-4C85-001A-2579-A0A698688995}"/>
              </a:ext>
            </a:extLst>
          </p:cNvPr>
          <p:cNvSpPr/>
          <p:nvPr/>
        </p:nvSpPr>
        <p:spPr>
          <a:xfrm>
            <a:off x="414745" y="1861523"/>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ツール会社　</a:t>
            </a:r>
          </a:p>
        </p:txBody>
      </p:sp>
      <p:sp>
        <p:nvSpPr>
          <p:cNvPr id="13" name="正方形/長方形 12">
            <a:extLst>
              <a:ext uri="{FF2B5EF4-FFF2-40B4-BE49-F238E27FC236}">
                <a16:creationId xmlns:a16="http://schemas.microsoft.com/office/drawing/2014/main" id="{59A99E6E-D460-C2CE-3554-D4177944BCC1}"/>
              </a:ext>
            </a:extLst>
          </p:cNvPr>
          <p:cNvSpPr/>
          <p:nvPr/>
        </p:nvSpPr>
        <p:spPr>
          <a:xfrm>
            <a:off x="4892040" y="1861523"/>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 コンサル会社</a:t>
            </a:r>
          </a:p>
        </p:txBody>
      </p:sp>
      <p:sp>
        <p:nvSpPr>
          <p:cNvPr id="14" name="正方形/長方形 13">
            <a:extLst>
              <a:ext uri="{FF2B5EF4-FFF2-40B4-BE49-F238E27FC236}">
                <a16:creationId xmlns:a16="http://schemas.microsoft.com/office/drawing/2014/main" id="{B9B23A0A-C181-F52D-CE83-83252D57916D}"/>
              </a:ext>
            </a:extLst>
          </p:cNvPr>
          <p:cNvSpPr/>
          <p:nvPr/>
        </p:nvSpPr>
        <p:spPr>
          <a:xfrm>
            <a:off x="414745" y="4295574"/>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広告専業の代理店</a:t>
            </a:r>
          </a:p>
        </p:txBody>
      </p:sp>
      <p:sp>
        <p:nvSpPr>
          <p:cNvPr id="15" name="正方形/長方形 14">
            <a:extLst>
              <a:ext uri="{FF2B5EF4-FFF2-40B4-BE49-F238E27FC236}">
                <a16:creationId xmlns:a16="http://schemas.microsoft.com/office/drawing/2014/main" id="{735511C6-7F11-A23D-F1BA-0FACD703798D}"/>
              </a:ext>
            </a:extLst>
          </p:cNvPr>
          <p:cNvSpPr/>
          <p:nvPr/>
        </p:nvSpPr>
        <p:spPr>
          <a:xfrm>
            <a:off x="4892040" y="4295574"/>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他</a:t>
            </a:r>
            <a:r>
              <a:rPr kumimoji="1" lang="en-US" altLang="ja-JP" sz="1000" dirty="0">
                <a:solidFill>
                  <a:schemeClr val="tx1"/>
                </a:solidFill>
                <a:latin typeface="メイリオ" panose="020B0604030504040204" pitchFamily="50" charset="-128"/>
                <a:ea typeface="メイリオ" panose="020B0604030504040204" pitchFamily="50" charset="-128"/>
              </a:rPr>
              <a:t>CRM</a:t>
            </a:r>
            <a:r>
              <a:rPr kumimoji="1" lang="ja-JP" altLang="en-US" sz="1000" dirty="0">
                <a:solidFill>
                  <a:schemeClr val="tx1"/>
                </a:solidFill>
                <a:latin typeface="メイリオ" panose="020B0604030504040204" pitchFamily="50" charset="-128"/>
                <a:ea typeface="メイリオ" panose="020B0604030504040204" pitchFamily="50" charset="-128"/>
              </a:rPr>
              <a:t>の会社</a:t>
            </a:r>
          </a:p>
        </p:txBody>
      </p:sp>
      <p:pic>
        <p:nvPicPr>
          <p:cNvPr id="21" name="図 20" descr="文字が書かれている&#10;&#10;AI 生成コンテンツは誤りを含む可能性があります。">
            <a:extLst>
              <a:ext uri="{FF2B5EF4-FFF2-40B4-BE49-F238E27FC236}">
                <a16:creationId xmlns:a16="http://schemas.microsoft.com/office/drawing/2014/main" id="{2521257E-D1E1-307C-8244-A7D93D470795}"/>
              </a:ext>
            </a:extLst>
          </p:cNvPr>
          <p:cNvPicPr>
            <a:picLocks noChangeAspect="1"/>
          </p:cNvPicPr>
          <p:nvPr/>
        </p:nvPicPr>
        <p:blipFill>
          <a:blip r:embed="rId2"/>
          <a:stretch>
            <a:fillRect/>
          </a:stretch>
        </p:blipFill>
        <p:spPr>
          <a:xfrm>
            <a:off x="1086533" y="2288778"/>
            <a:ext cx="1323427" cy="315679"/>
          </a:xfrm>
          <a:prstGeom prst="rect">
            <a:avLst/>
          </a:prstGeom>
        </p:spPr>
      </p:pic>
      <p:pic>
        <p:nvPicPr>
          <p:cNvPr id="1026" name="Picture 2" descr="特定商取引法に関する表示 | Lステップ（エルステップ）公式_LINE公式アカウント特化のマーケティングツール">
            <a:extLst>
              <a:ext uri="{FF2B5EF4-FFF2-40B4-BE49-F238E27FC236}">
                <a16:creationId xmlns:a16="http://schemas.microsoft.com/office/drawing/2014/main" id="{E86AB3B4-1E56-4227-88BE-FA673F02334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36417" y="2199280"/>
            <a:ext cx="831168" cy="467532"/>
          </a:xfrm>
          <a:prstGeom prst="rect">
            <a:avLst/>
          </a:prstGeom>
          <a:noFill/>
          <a:extLst>
            <a:ext uri="{909E8E84-426E-40DD-AFC4-6F175D3DCCD1}">
              <a14:hiddenFill xmlns:a14="http://schemas.microsoft.com/office/drawing/2010/main">
                <a:solidFill>
                  <a:srgbClr val="FFFFFF"/>
                </a:solidFill>
              </a14:hiddenFill>
            </a:ext>
          </a:extLst>
        </p:spPr>
      </p:pic>
      <p:sp>
        <p:nvSpPr>
          <p:cNvPr id="26" name="乗算記号 25">
            <a:extLst>
              <a:ext uri="{FF2B5EF4-FFF2-40B4-BE49-F238E27FC236}">
                <a16:creationId xmlns:a16="http://schemas.microsoft.com/office/drawing/2014/main" id="{676235DE-33EB-2E33-33D6-74D321860C39}"/>
              </a:ext>
            </a:extLst>
          </p:cNvPr>
          <p:cNvSpPr/>
          <p:nvPr/>
        </p:nvSpPr>
        <p:spPr>
          <a:xfrm>
            <a:off x="6198323" y="1838911"/>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乗算記号 26">
            <a:extLst>
              <a:ext uri="{FF2B5EF4-FFF2-40B4-BE49-F238E27FC236}">
                <a16:creationId xmlns:a16="http://schemas.microsoft.com/office/drawing/2014/main" id="{7C31A50F-57BD-64E8-DE3F-3A8FB722D839}"/>
              </a:ext>
            </a:extLst>
          </p:cNvPr>
          <p:cNvSpPr/>
          <p:nvPr/>
        </p:nvSpPr>
        <p:spPr>
          <a:xfrm>
            <a:off x="1472312" y="4277918"/>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乗算記号 27">
            <a:extLst>
              <a:ext uri="{FF2B5EF4-FFF2-40B4-BE49-F238E27FC236}">
                <a16:creationId xmlns:a16="http://schemas.microsoft.com/office/drawing/2014/main" id="{9B7C9A4B-096B-D2DD-08B8-D421AB634155}"/>
              </a:ext>
            </a:extLst>
          </p:cNvPr>
          <p:cNvSpPr/>
          <p:nvPr/>
        </p:nvSpPr>
        <p:spPr>
          <a:xfrm>
            <a:off x="1734353" y="1838911"/>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9" name="乗算記号 28">
            <a:extLst>
              <a:ext uri="{FF2B5EF4-FFF2-40B4-BE49-F238E27FC236}">
                <a16:creationId xmlns:a16="http://schemas.microsoft.com/office/drawing/2014/main" id="{E3AD3032-8560-946E-0D20-D2977D17F027}"/>
              </a:ext>
            </a:extLst>
          </p:cNvPr>
          <p:cNvSpPr/>
          <p:nvPr/>
        </p:nvSpPr>
        <p:spPr>
          <a:xfrm>
            <a:off x="6128651" y="4274166"/>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28" name="Picture 4" descr="Salesforceってなに？初心者でも簡単にわかる！導入のメリットと基本機能について | CONCENTO">
            <a:extLst>
              <a:ext uri="{FF2B5EF4-FFF2-40B4-BE49-F238E27FC236}">
                <a16:creationId xmlns:a16="http://schemas.microsoft.com/office/drawing/2014/main" id="{A10BCEF0-052F-BF99-39E9-5BA577F00F7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l="23384" t="14322" r="25004" b="16405"/>
          <a:stretch>
            <a:fillRect/>
          </a:stretch>
        </p:blipFill>
        <p:spPr bwMode="auto">
          <a:xfrm>
            <a:off x="5388428" y="4704431"/>
            <a:ext cx="441441" cy="311537"/>
          </a:xfrm>
          <a:prstGeom prst="rect">
            <a:avLst/>
          </a:prstGeom>
          <a:ln>
            <a:noFill/>
          </a:ln>
        </p:spPr>
        <p:style>
          <a:lnRef idx="2">
            <a:schemeClr val="dk1"/>
          </a:lnRef>
          <a:fillRef idx="1">
            <a:schemeClr val="lt1"/>
          </a:fillRef>
          <a:effectRef idx="0">
            <a:schemeClr val="dk1"/>
          </a:effectRef>
          <a:fontRef idx="minor">
            <a:schemeClr val="dk1"/>
          </a:fontRef>
        </p:style>
      </p:pic>
      <p:pic>
        <p:nvPicPr>
          <p:cNvPr id="31" name="図 30" descr="挿絵, 抽象 が含まれている画像&#10;&#10;AI 生成コンテンツは誤りを含む可能性があります。">
            <a:extLst>
              <a:ext uri="{FF2B5EF4-FFF2-40B4-BE49-F238E27FC236}">
                <a16:creationId xmlns:a16="http://schemas.microsoft.com/office/drawing/2014/main" id="{172999E0-2479-CF51-1EFC-C4CA794CEC4E}"/>
              </a:ext>
            </a:extLst>
          </p:cNvPr>
          <p:cNvPicPr>
            <a:picLocks noChangeAspect="1"/>
          </p:cNvPicPr>
          <p:nvPr/>
        </p:nvPicPr>
        <p:blipFill>
          <a:blip r:embed="rId5"/>
          <a:stretch>
            <a:fillRect/>
          </a:stretch>
        </p:blipFill>
        <p:spPr>
          <a:xfrm>
            <a:off x="5864283" y="4761290"/>
            <a:ext cx="682242" cy="197819"/>
          </a:xfrm>
          <a:prstGeom prst="rect">
            <a:avLst/>
          </a:prstGeom>
        </p:spPr>
      </p:pic>
      <p:pic>
        <p:nvPicPr>
          <p:cNvPr id="33" name="図 32" descr="黒い背景に白い文字がある&#10;&#10;AI 生成コンテンツは誤りを含む可能性があります。">
            <a:extLst>
              <a:ext uri="{FF2B5EF4-FFF2-40B4-BE49-F238E27FC236}">
                <a16:creationId xmlns:a16="http://schemas.microsoft.com/office/drawing/2014/main" id="{474C051E-B596-1651-549B-F1BDC6EA898F}"/>
              </a:ext>
            </a:extLst>
          </p:cNvPr>
          <p:cNvPicPr>
            <a:picLocks noChangeAspect="1"/>
          </p:cNvPicPr>
          <p:nvPr/>
        </p:nvPicPr>
        <p:blipFill>
          <a:blip r:embed="rId6"/>
          <a:stretch>
            <a:fillRect/>
          </a:stretch>
        </p:blipFill>
        <p:spPr>
          <a:xfrm>
            <a:off x="6580939" y="4739795"/>
            <a:ext cx="1225076" cy="219314"/>
          </a:xfrm>
          <a:prstGeom prst="rect">
            <a:avLst/>
          </a:prstGeom>
        </p:spPr>
      </p:pic>
      <p:sp>
        <p:nvSpPr>
          <p:cNvPr id="35" name="テキスト ボックス 34">
            <a:extLst>
              <a:ext uri="{FF2B5EF4-FFF2-40B4-BE49-F238E27FC236}">
                <a16:creationId xmlns:a16="http://schemas.microsoft.com/office/drawing/2014/main" id="{A53AB6D9-AEB5-ECF4-8C73-A7EFC4F05EF1}"/>
              </a:ext>
            </a:extLst>
          </p:cNvPr>
          <p:cNvSpPr txBox="1"/>
          <p:nvPr/>
        </p:nvSpPr>
        <p:spPr>
          <a:xfrm>
            <a:off x="4866072" y="2288778"/>
            <a:ext cx="4459715" cy="246221"/>
          </a:xfrm>
          <a:prstGeom prst="rect">
            <a:avLst/>
          </a:prstGeom>
          <a:no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rPr>
              <a:t>システム管理会社・ツール運用会社・デザイン会社</a:t>
            </a: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pic>
        <p:nvPicPr>
          <p:cNvPr id="1030" name="Picture 6" descr="お知らせ一覧｜LINEマーケティングや販促・顧客管理ならLiny">
            <a:extLst>
              <a:ext uri="{FF2B5EF4-FFF2-40B4-BE49-F238E27FC236}">
                <a16:creationId xmlns:a16="http://schemas.microsoft.com/office/drawing/2014/main" id="{A11EE7F3-23DE-A03C-6953-9FC6DABEDA85}"/>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21448" t="26478" r="21237" b="27778"/>
          <a:stretch>
            <a:fillRect/>
          </a:stretch>
        </p:blipFill>
        <p:spPr bwMode="auto">
          <a:xfrm>
            <a:off x="3335235" y="2294514"/>
            <a:ext cx="571287" cy="304207"/>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Shopify Japan 株式会社のプレスリリース｜PR TIMES">
            <a:extLst>
              <a:ext uri="{FF2B5EF4-FFF2-40B4-BE49-F238E27FC236}">
                <a16:creationId xmlns:a16="http://schemas.microsoft.com/office/drawing/2014/main" id="{1BF2471A-3689-B39E-D841-0A5CEE63B028}"/>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938796" y="4740053"/>
            <a:ext cx="799200" cy="228571"/>
          </a:xfrm>
          <a:prstGeom prst="rect">
            <a:avLst/>
          </a:prstGeom>
          <a:noFill/>
          <a:extLst>
            <a:ext uri="{909E8E84-426E-40DD-AFC4-6F175D3DCCD1}">
              <a14:hiddenFill xmlns:a14="http://schemas.microsoft.com/office/drawing/2010/main">
                <a:solidFill>
                  <a:srgbClr val="FFFFFF"/>
                </a:solidFill>
              </a14:hiddenFill>
            </a:ext>
          </a:extLst>
        </p:spPr>
      </p:pic>
      <p:sp>
        <p:nvSpPr>
          <p:cNvPr id="36" name="テキスト ボックス 35">
            <a:extLst>
              <a:ext uri="{FF2B5EF4-FFF2-40B4-BE49-F238E27FC236}">
                <a16:creationId xmlns:a16="http://schemas.microsoft.com/office/drawing/2014/main" id="{EB20A091-C336-4BDE-54E9-33ECF6B1EC77}"/>
              </a:ext>
            </a:extLst>
          </p:cNvPr>
          <p:cNvSpPr txBox="1"/>
          <p:nvPr/>
        </p:nvSpPr>
        <p:spPr>
          <a:xfrm>
            <a:off x="362665" y="4754506"/>
            <a:ext cx="4459715" cy="246221"/>
          </a:xfrm>
          <a:prstGeom prst="rect">
            <a:avLst/>
          </a:prstGeom>
          <a:noFill/>
        </p:spPr>
        <p:txBody>
          <a:bodyPr wrap="square">
            <a:spAutoFit/>
          </a:bodyPr>
          <a:lstStyle/>
          <a:p>
            <a:pPr algn="ctr"/>
            <a:r>
              <a:rPr lang="en-US" altLang="ja-JP" sz="1000" b="1" dirty="0">
                <a:latin typeface="メイリオ" panose="020B0604030504040204" pitchFamily="50" charset="-128"/>
                <a:ea typeface="メイリオ" panose="020B0604030504040204" pitchFamily="50" charset="-128"/>
              </a:rPr>
              <a:t>LINE</a:t>
            </a:r>
            <a:r>
              <a:rPr lang="ja-JP" altLang="en-US" sz="1000" b="1" dirty="0">
                <a:latin typeface="メイリオ" panose="020B0604030504040204" pitchFamily="50" charset="-128"/>
                <a:ea typeface="メイリオ" panose="020B0604030504040204" pitchFamily="50" charset="-128"/>
              </a:rPr>
              <a:t>ヤフーのパッケージ商品などの拡販</a:t>
            </a: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sp>
        <p:nvSpPr>
          <p:cNvPr id="6" name="テキスト ボックス 5">
            <a:extLst>
              <a:ext uri="{FF2B5EF4-FFF2-40B4-BE49-F238E27FC236}">
                <a16:creationId xmlns:a16="http://schemas.microsoft.com/office/drawing/2014/main" id="{63CD4067-EE53-3C90-C918-C15397527FBF}"/>
              </a:ext>
            </a:extLst>
          </p:cNvPr>
          <p:cNvSpPr txBox="1"/>
          <p:nvPr/>
        </p:nvSpPr>
        <p:spPr>
          <a:xfrm>
            <a:off x="459470" y="2738645"/>
            <a:ext cx="4311647" cy="553998"/>
          </a:xfrm>
          <a:prstGeom prst="rect">
            <a:avLst/>
          </a:prstGeom>
          <a:noFill/>
        </p:spPr>
        <p:txBody>
          <a:bodyPr wrap="square">
            <a:spAutoFit/>
          </a:bodyPr>
          <a:lstStyle/>
          <a:p>
            <a:pPr algn="ctr"/>
            <a:r>
              <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・ツールによって、適用される機能自体に差分がある。</a:t>
            </a:r>
            <a:endPar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 </a:t>
            </a:r>
            <a:r>
              <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API</a:t>
            </a:r>
            <a:r>
              <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ツールが</a:t>
            </a:r>
            <a:r>
              <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1</a:t>
            </a:r>
            <a:r>
              <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社のみの独占となり、切替えが難しい。</a:t>
            </a:r>
            <a:endPar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・コンサルも依頼の場合に費用が大きくなるリスク。</a:t>
            </a:r>
            <a:endPar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EBA4D737-3559-5FE1-B418-3302CBFCB9A9}"/>
              </a:ext>
            </a:extLst>
          </p:cNvPr>
          <p:cNvSpPr txBox="1"/>
          <p:nvPr/>
        </p:nvSpPr>
        <p:spPr>
          <a:xfrm>
            <a:off x="4928055" y="2733229"/>
            <a:ext cx="4311647" cy="553998"/>
          </a:xfrm>
          <a:prstGeom prst="rect">
            <a:avLst/>
          </a:prstGeom>
          <a:noFill/>
        </p:spPr>
        <p:txBody>
          <a:bodyPr wrap="square">
            <a:spAutoFit/>
          </a:bodyPr>
          <a:lstStyle/>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・ツール外注により費用が大きくなる可能性がある。</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運用自体に対する知見が少ない。</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・一部利用できない機能が存在する（</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Option API</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他）。</a:t>
            </a:r>
          </a:p>
        </p:txBody>
      </p:sp>
      <p:sp>
        <p:nvSpPr>
          <p:cNvPr id="8" name="テキスト ボックス 7">
            <a:extLst>
              <a:ext uri="{FF2B5EF4-FFF2-40B4-BE49-F238E27FC236}">
                <a16:creationId xmlns:a16="http://schemas.microsoft.com/office/drawing/2014/main" id="{C16446F7-FB27-00FA-5115-4A5251550BE6}"/>
              </a:ext>
            </a:extLst>
          </p:cNvPr>
          <p:cNvSpPr txBox="1"/>
          <p:nvPr/>
        </p:nvSpPr>
        <p:spPr>
          <a:xfrm>
            <a:off x="461608" y="5199061"/>
            <a:ext cx="4311647" cy="553998"/>
          </a:xfrm>
          <a:prstGeom prst="rect">
            <a:avLst/>
          </a:prstGeom>
          <a:noFill/>
        </p:spPr>
        <p:txBody>
          <a:bodyPr wrap="square">
            <a:spAutoFit/>
          </a:bodyPr>
          <a:lstStyle/>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運用部隊を備えていない可能性がある。</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・パッケージ売りが中心で非アクティブユーザーが増加。</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・コンサルも依頼の場合に費用が大きくなるリスク。</a:t>
            </a:r>
          </a:p>
        </p:txBody>
      </p:sp>
      <p:sp>
        <p:nvSpPr>
          <p:cNvPr id="9" name="テキスト ボックス 8">
            <a:extLst>
              <a:ext uri="{FF2B5EF4-FFF2-40B4-BE49-F238E27FC236}">
                <a16:creationId xmlns:a16="http://schemas.microsoft.com/office/drawing/2014/main" id="{19EE3868-DB7E-927E-8B36-00939FCE4211}"/>
              </a:ext>
            </a:extLst>
          </p:cNvPr>
          <p:cNvSpPr txBox="1"/>
          <p:nvPr/>
        </p:nvSpPr>
        <p:spPr>
          <a:xfrm>
            <a:off x="4930193" y="5316755"/>
            <a:ext cx="4311647" cy="400110"/>
          </a:xfrm>
          <a:prstGeom prst="rect">
            <a:avLst/>
          </a:prstGeom>
          <a:noFill/>
        </p:spPr>
        <p:txBody>
          <a:bodyPr wrap="square" anchor="ctr">
            <a:spAutoFit/>
          </a:bodyPr>
          <a:lstStyle/>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CRM</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側の</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API</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利用時に通常より高単価になりやすい。</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単体での運用知見の乏しさ。</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189FFC9F-CF2D-25AD-00C7-208E47BC4C66}"/>
              </a:ext>
            </a:extLst>
          </p:cNvPr>
          <p:cNvSpPr/>
          <p:nvPr/>
        </p:nvSpPr>
        <p:spPr>
          <a:xfrm>
            <a:off x="3361317" y="1908015"/>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自動化・効率化</a:t>
            </a:r>
          </a:p>
        </p:txBody>
      </p:sp>
      <p:sp>
        <p:nvSpPr>
          <p:cNvPr id="18" name="正方形/長方形 17">
            <a:extLst>
              <a:ext uri="{FF2B5EF4-FFF2-40B4-BE49-F238E27FC236}">
                <a16:creationId xmlns:a16="http://schemas.microsoft.com/office/drawing/2014/main" id="{122AB27F-120A-6587-2E9E-7D2F5F3B4407}"/>
              </a:ext>
            </a:extLst>
          </p:cNvPr>
          <p:cNvSpPr/>
          <p:nvPr/>
        </p:nvSpPr>
        <p:spPr>
          <a:xfrm>
            <a:off x="7854818" y="1902839"/>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リッチ化</a:t>
            </a:r>
          </a:p>
        </p:txBody>
      </p:sp>
      <p:sp>
        <p:nvSpPr>
          <p:cNvPr id="19" name="正方形/長方形 18">
            <a:extLst>
              <a:ext uri="{FF2B5EF4-FFF2-40B4-BE49-F238E27FC236}">
                <a16:creationId xmlns:a16="http://schemas.microsoft.com/office/drawing/2014/main" id="{56DB3229-AC80-A545-1A7F-30968AF568EC}"/>
              </a:ext>
            </a:extLst>
          </p:cNvPr>
          <p:cNvSpPr/>
          <p:nvPr/>
        </p:nvSpPr>
        <p:spPr>
          <a:xfrm>
            <a:off x="3386263" y="4343224"/>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リード母数拡大</a:t>
            </a:r>
          </a:p>
        </p:txBody>
      </p:sp>
      <p:sp>
        <p:nvSpPr>
          <p:cNvPr id="20" name="正方形/長方形 19">
            <a:extLst>
              <a:ext uri="{FF2B5EF4-FFF2-40B4-BE49-F238E27FC236}">
                <a16:creationId xmlns:a16="http://schemas.microsoft.com/office/drawing/2014/main" id="{21D29B7F-EC01-1021-44F2-D37D7A2E27DC}"/>
              </a:ext>
            </a:extLst>
          </p:cNvPr>
          <p:cNvSpPr/>
          <p:nvPr/>
        </p:nvSpPr>
        <p:spPr>
          <a:xfrm>
            <a:off x="7879764" y="4338048"/>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自動化・効率化</a:t>
            </a:r>
          </a:p>
        </p:txBody>
      </p:sp>
      <p:sp>
        <p:nvSpPr>
          <p:cNvPr id="22" name="正方形/長方形 21">
            <a:extLst>
              <a:ext uri="{FF2B5EF4-FFF2-40B4-BE49-F238E27FC236}">
                <a16:creationId xmlns:a16="http://schemas.microsoft.com/office/drawing/2014/main" id="{2B94E779-B2D3-DA1A-5386-88EC8B7F7A2A}"/>
              </a:ext>
            </a:extLst>
          </p:cNvPr>
          <p:cNvSpPr/>
          <p:nvPr/>
        </p:nvSpPr>
        <p:spPr>
          <a:xfrm>
            <a:off x="486784" y="738200"/>
            <a:ext cx="9005456" cy="59385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400" dirty="0">
                <a:solidFill>
                  <a:schemeClr val="tx1"/>
                </a:solidFill>
                <a:latin typeface="メイリオ" panose="020B0604030504040204" pitchFamily="50" charset="-128"/>
                <a:ea typeface="メイリオ" panose="020B0604030504040204" pitchFamily="50" charset="-128"/>
              </a:rPr>
              <a:t>各種パートナー企業との連携から、幅広い</a:t>
            </a:r>
            <a:r>
              <a:rPr lang="en-US" altLang="ja-JP" sz="1400" dirty="0">
                <a:solidFill>
                  <a:schemeClr val="tx1"/>
                </a:solidFill>
                <a:latin typeface="メイリオ" panose="020B0604030504040204" pitchFamily="50" charset="-128"/>
                <a:ea typeface="メイリオ" panose="020B0604030504040204" pitchFamily="50" charset="-128"/>
              </a:rPr>
              <a:t>LINEOA</a:t>
            </a:r>
            <a:r>
              <a:rPr lang="ja-JP" altLang="en-US" sz="1400" dirty="0">
                <a:solidFill>
                  <a:schemeClr val="tx1"/>
                </a:solidFill>
                <a:latin typeface="メイリオ" panose="020B0604030504040204" pitchFamily="50" charset="-128"/>
                <a:ea typeface="メイリオ" panose="020B0604030504040204" pitchFamily="50" charset="-128"/>
              </a:rPr>
              <a:t>業務に対して対応が可能。</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ja-JP" altLang="en-US" sz="1400" dirty="0">
                <a:solidFill>
                  <a:schemeClr val="tx1"/>
                </a:solidFill>
                <a:latin typeface="メイリオ" panose="020B0604030504040204" pitchFamily="50" charset="-128"/>
                <a:ea typeface="メイリオ" panose="020B0604030504040204" pitchFamily="50" charset="-128"/>
              </a:rPr>
              <a:t>貴社社内部隊と連携して、一部委託もご相談いただけます。</a:t>
            </a: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30" name="テキスト ボックス 29">
            <a:extLst>
              <a:ext uri="{FF2B5EF4-FFF2-40B4-BE49-F238E27FC236}">
                <a16:creationId xmlns:a16="http://schemas.microsoft.com/office/drawing/2014/main" id="{DB41465D-5D30-6E80-78F0-EEE5C4A9C571}"/>
              </a:ext>
            </a:extLst>
          </p:cNvPr>
          <p:cNvSpPr txBox="1"/>
          <p:nvPr/>
        </p:nvSpPr>
        <p:spPr>
          <a:xfrm>
            <a:off x="269967" y="3632378"/>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34" name="テキスト ボックス 33">
            <a:extLst>
              <a:ext uri="{FF2B5EF4-FFF2-40B4-BE49-F238E27FC236}">
                <a16:creationId xmlns:a16="http://schemas.microsoft.com/office/drawing/2014/main" id="{0144DC71-37E5-DA34-FDBB-69F2A1BEA8E0}"/>
              </a:ext>
            </a:extLst>
          </p:cNvPr>
          <p:cNvSpPr txBox="1"/>
          <p:nvPr/>
        </p:nvSpPr>
        <p:spPr>
          <a:xfrm>
            <a:off x="4741544" y="3629460"/>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38" name="テキスト ボックス 37">
            <a:extLst>
              <a:ext uri="{FF2B5EF4-FFF2-40B4-BE49-F238E27FC236}">
                <a16:creationId xmlns:a16="http://schemas.microsoft.com/office/drawing/2014/main" id="{AF15CFA9-BA43-360D-D26E-040407A743A9}"/>
              </a:ext>
            </a:extLst>
          </p:cNvPr>
          <p:cNvSpPr txBox="1"/>
          <p:nvPr/>
        </p:nvSpPr>
        <p:spPr>
          <a:xfrm>
            <a:off x="269967" y="6081294"/>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40" name="テキスト ボックス 39">
            <a:extLst>
              <a:ext uri="{FF2B5EF4-FFF2-40B4-BE49-F238E27FC236}">
                <a16:creationId xmlns:a16="http://schemas.microsoft.com/office/drawing/2014/main" id="{240BE338-3054-2BB1-6A31-C90BDCFE06A9}"/>
              </a:ext>
            </a:extLst>
          </p:cNvPr>
          <p:cNvSpPr txBox="1"/>
          <p:nvPr/>
        </p:nvSpPr>
        <p:spPr>
          <a:xfrm>
            <a:off x="4741544" y="6078376"/>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41" name="テキスト ボックス 40">
            <a:extLst>
              <a:ext uri="{FF2B5EF4-FFF2-40B4-BE49-F238E27FC236}">
                <a16:creationId xmlns:a16="http://schemas.microsoft.com/office/drawing/2014/main" id="{C0326F10-43FF-1E4A-8F3D-ED5A80FA014B}"/>
              </a:ext>
            </a:extLst>
          </p:cNvPr>
          <p:cNvSpPr txBox="1"/>
          <p:nvPr/>
        </p:nvSpPr>
        <p:spPr>
          <a:xfrm>
            <a:off x="956972" y="3530330"/>
            <a:ext cx="3842445" cy="461665"/>
          </a:xfrm>
          <a:prstGeom prst="rect">
            <a:avLst/>
          </a:prstGeom>
          <a:noFill/>
        </p:spPr>
        <p:txBody>
          <a:bodyPr wrap="square">
            <a:spAutoFit/>
          </a:bodyPr>
          <a:lstStyle/>
          <a:p>
            <a:pPr algn="ctr"/>
            <a:r>
              <a:rPr lang="ja-JP" altLang="en-US" sz="1200" b="1" dirty="0">
                <a:solidFill>
                  <a:schemeClr val="tx2"/>
                </a:solidFill>
                <a:latin typeface="メイリオ" panose="020B0604030504040204" pitchFamily="50" charset="-128"/>
                <a:ea typeface="メイリオ" panose="020B0604030504040204" pitchFamily="50" charset="-128"/>
              </a:rPr>
              <a:t>各種実績の多いツール企業と連携している為、</a:t>
            </a:r>
            <a:endParaRPr lang="en-US" altLang="ja-JP" sz="1200" b="1">
              <a:solidFill>
                <a:schemeClr val="tx2"/>
              </a:solidFill>
              <a:latin typeface="メイリオ" panose="020B0604030504040204" pitchFamily="50" charset="-128"/>
              <a:ea typeface="メイリオ" panose="020B0604030504040204" pitchFamily="50" charset="-128"/>
            </a:endParaRPr>
          </a:p>
          <a:p>
            <a:pPr algn="ctr"/>
            <a:r>
              <a:rPr kumimoji="1" lang="ja-JP" altLang="en-US" sz="1200" b="1">
                <a:solidFill>
                  <a:schemeClr val="tx2"/>
                </a:solidFill>
                <a:latin typeface="メイリオ" panose="020B0604030504040204" pitchFamily="50" charset="-128"/>
                <a:ea typeface="メイリオ" panose="020B0604030504040204" pitchFamily="50" charset="-128"/>
              </a:rPr>
              <a:t>将来的</a:t>
            </a:r>
            <a:r>
              <a:rPr kumimoji="1" lang="ja-JP" altLang="en-US" sz="1200" b="1" dirty="0">
                <a:solidFill>
                  <a:schemeClr val="tx2"/>
                </a:solidFill>
                <a:latin typeface="メイリオ" panose="020B0604030504040204" pitchFamily="50" charset="-128"/>
                <a:ea typeface="メイリオ" panose="020B0604030504040204" pitchFamily="50" charset="-128"/>
              </a:rPr>
              <a:t>な運用プランに合わせてツール選定をサポート。</a:t>
            </a:r>
          </a:p>
        </p:txBody>
      </p:sp>
      <p:sp>
        <p:nvSpPr>
          <p:cNvPr id="42" name="テキスト ボックス 41">
            <a:extLst>
              <a:ext uri="{FF2B5EF4-FFF2-40B4-BE49-F238E27FC236}">
                <a16:creationId xmlns:a16="http://schemas.microsoft.com/office/drawing/2014/main" id="{D6EF5007-A21E-89B0-31EE-98FC1F7BE5FB}"/>
              </a:ext>
            </a:extLst>
          </p:cNvPr>
          <p:cNvSpPr txBox="1"/>
          <p:nvPr/>
        </p:nvSpPr>
        <p:spPr>
          <a:xfrm>
            <a:off x="5428549" y="3527412"/>
            <a:ext cx="3842445" cy="461665"/>
          </a:xfrm>
          <a:prstGeom prst="rect">
            <a:avLst/>
          </a:prstGeom>
          <a:noFill/>
        </p:spPr>
        <p:txBody>
          <a:bodyPr wrap="square">
            <a:spAutoFit/>
          </a:bodyPr>
          <a:lstStyle/>
          <a:p>
            <a:pPr algn="ctr"/>
            <a:r>
              <a:rPr lang="en-US" altLang="ja-JP" sz="1200" b="1" dirty="0">
                <a:solidFill>
                  <a:schemeClr val="tx2"/>
                </a:solidFill>
                <a:latin typeface="メイリオ" panose="020B0604030504040204" pitchFamily="50" charset="-128"/>
                <a:ea typeface="メイリオ" panose="020B0604030504040204" pitchFamily="50" charset="-128"/>
              </a:rPr>
              <a:t>DYM</a:t>
            </a:r>
            <a:r>
              <a:rPr lang="ja-JP" altLang="en-US" sz="1200" b="1" dirty="0">
                <a:solidFill>
                  <a:schemeClr val="tx2"/>
                </a:solidFill>
                <a:latin typeface="メイリオ" panose="020B0604030504040204" pitchFamily="50" charset="-128"/>
                <a:ea typeface="メイリオ" panose="020B0604030504040204" pitchFamily="50" charset="-128"/>
              </a:rPr>
              <a:t>が商流に入ることにより限定の割引プランや</a:t>
            </a:r>
            <a:endParaRPr lang="en-US" altLang="ja-JP" sz="1200" b="1" dirty="0">
              <a:solidFill>
                <a:schemeClr val="tx2"/>
              </a:solidFill>
              <a:latin typeface="メイリオ" panose="020B0604030504040204" pitchFamily="50" charset="-128"/>
              <a:ea typeface="メイリオ" panose="020B0604030504040204" pitchFamily="50" charset="-128"/>
            </a:endParaRPr>
          </a:p>
          <a:p>
            <a:pPr algn="ctr"/>
            <a:r>
              <a:rPr kumimoji="1" lang="ja-JP" altLang="en-US" sz="1200" b="1" dirty="0">
                <a:solidFill>
                  <a:schemeClr val="tx2"/>
                </a:solidFill>
                <a:latin typeface="メイリオ" panose="020B0604030504040204" pitchFamily="50" charset="-128"/>
                <a:ea typeface="メイリオ" panose="020B0604030504040204" pitchFamily="50" charset="-128"/>
              </a:rPr>
              <a:t>拡張機能（一部</a:t>
            </a:r>
            <a:r>
              <a:rPr kumimoji="1" lang="en-US" altLang="ja-JP" sz="1200" b="1" dirty="0">
                <a:solidFill>
                  <a:schemeClr val="tx2"/>
                </a:solidFill>
                <a:latin typeface="メイリオ" panose="020B0604030504040204" pitchFamily="50" charset="-128"/>
                <a:ea typeface="メイリオ" panose="020B0604030504040204" pitchFamily="50" charset="-128"/>
              </a:rPr>
              <a:t>β</a:t>
            </a:r>
            <a:r>
              <a:rPr lang="ja-JP" altLang="en-US" sz="1200" b="1" dirty="0">
                <a:solidFill>
                  <a:schemeClr val="tx2"/>
                </a:solidFill>
                <a:latin typeface="メイリオ" panose="020B0604030504040204" pitchFamily="50" charset="-128"/>
                <a:ea typeface="メイリオ" panose="020B0604030504040204" pitchFamily="50" charset="-128"/>
              </a:rPr>
              <a:t>版）の展開を可能に。</a:t>
            </a:r>
            <a:endParaRPr kumimoji="1" lang="ja-JP" altLang="en-US" sz="1200" b="1" dirty="0">
              <a:solidFill>
                <a:schemeClr val="tx2"/>
              </a:solidFill>
              <a:latin typeface="メイリオ" panose="020B0604030504040204" pitchFamily="50" charset="-128"/>
              <a:ea typeface="メイリオ" panose="020B0604030504040204" pitchFamily="50" charset="-128"/>
            </a:endParaRPr>
          </a:p>
        </p:txBody>
      </p:sp>
      <p:sp>
        <p:nvSpPr>
          <p:cNvPr id="43" name="テキスト ボックス 42">
            <a:extLst>
              <a:ext uri="{FF2B5EF4-FFF2-40B4-BE49-F238E27FC236}">
                <a16:creationId xmlns:a16="http://schemas.microsoft.com/office/drawing/2014/main" id="{674B7463-4A8E-D0FC-FDB4-5BB44B5E2FB2}"/>
              </a:ext>
            </a:extLst>
          </p:cNvPr>
          <p:cNvSpPr txBox="1"/>
          <p:nvPr/>
        </p:nvSpPr>
        <p:spPr>
          <a:xfrm>
            <a:off x="956972" y="5979246"/>
            <a:ext cx="3842445" cy="461665"/>
          </a:xfrm>
          <a:prstGeom prst="rect">
            <a:avLst/>
          </a:prstGeom>
          <a:noFill/>
        </p:spPr>
        <p:txBody>
          <a:bodyPr wrap="square">
            <a:spAutoFit/>
          </a:bodyPr>
          <a:lstStyle/>
          <a:p>
            <a:pPr algn="ctr"/>
            <a:r>
              <a:rPr lang="ja-JP" altLang="en-US" sz="1200" b="1" dirty="0">
                <a:solidFill>
                  <a:schemeClr val="tx2"/>
                </a:solidFill>
                <a:latin typeface="メイリオ" panose="020B0604030504040204" pitchFamily="50" charset="-128"/>
                <a:ea typeface="メイリオ" panose="020B0604030504040204" pitchFamily="50" charset="-128"/>
              </a:rPr>
              <a:t>運用実務におけるアウトソースとして活用し、</a:t>
            </a:r>
            <a:endParaRPr lang="en-US" altLang="ja-JP" sz="1200" b="1" dirty="0">
              <a:solidFill>
                <a:schemeClr val="tx2"/>
              </a:solidFill>
              <a:latin typeface="メイリオ" panose="020B0604030504040204" pitchFamily="50" charset="-128"/>
              <a:ea typeface="メイリオ" panose="020B0604030504040204" pitchFamily="50" charset="-128"/>
            </a:endParaRPr>
          </a:p>
          <a:p>
            <a:pPr algn="ctr"/>
            <a:r>
              <a:rPr kumimoji="1" lang="ja-JP" altLang="en-US" sz="1200" b="1" dirty="0">
                <a:solidFill>
                  <a:schemeClr val="tx2"/>
                </a:solidFill>
                <a:latin typeface="メイリオ" panose="020B0604030504040204" pitchFamily="50" charset="-128"/>
                <a:ea typeface="メイリオ" panose="020B0604030504040204" pitchFamily="50" charset="-128"/>
              </a:rPr>
              <a:t>既存の運用領域における効率化をサポート。</a:t>
            </a:r>
          </a:p>
        </p:txBody>
      </p:sp>
      <p:sp>
        <p:nvSpPr>
          <p:cNvPr id="44" name="テキスト ボックス 43">
            <a:extLst>
              <a:ext uri="{FF2B5EF4-FFF2-40B4-BE49-F238E27FC236}">
                <a16:creationId xmlns:a16="http://schemas.microsoft.com/office/drawing/2014/main" id="{C373F1E9-22BB-9E8C-628E-A261897C133F}"/>
              </a:ext>
            </a:extLst>
          </p:cNvPr>
          <p:cNvSpPr txBox="1"/>
          <p:nvPr/>
        </p:nvSpPr>
        <p:spPr>
          <a:xfrm>
            <a:off x="5428549" y="5976328"/>
            <a:ext cx="3842445" cy="461665"/>
          </a:xfrm>
          <a:prstGeom prst="rect">
            <a:avLst/>
          </a:prstGeom>
          <a:noFill/>
        </p:spPr>
        <p:txBody>
          <a:bodyPr wrap="square">
            <a:spAutoFit/>
          </a:bodyPr>
          <a:lstStyle/>
          <a:p>
            <a:pPr algn="ctr"/>
            <a:r>
              <a:rPr kumimoji="1" lang="en-US" altLang="ja-JP" sz="1200" b="1" dirty="0">
                <a:solidFill>
                  <a:schemeClr val="tx2"/>
                </a:solidFill>
                <a:latin typeface="メイリオ" panose="020B0604030504040204" pitchFamily="50" charset="-128"/>
                <a:ea typeface="メイリオ" panose="020B0604030504040204" pitchFamily="50" charset="-128"/>
              </a:rPr>
              <a:t>OAM(</a:t>
            </a:r>
            <a:r>
              <a:rPr kumimoji="1" lang="ja-JP" altLang="en-US" sz="1200" b="1" dirty="0">
                <a:solidFill>
                  <a:schemeClr val="tx2"/>
                </a:solidFill>
                <a:latin typeface="メイリオ" panose="020B0604030504040204" pitchFamily="50" charset="-128"/>
                <a:ea typeface="メイリオ" panose="020B0604030504040204" pitchFamily="50" charset="-128"/>
              </a:rPr>
              <a:t>公式管理画面</a:t>
            </a:r>
            <a:r>
              <a:rPr kumimoji="1" lang="en-US" altLang="ja-JP" sz="1200" b="1" dirty="0">
                <a:solidFill>
                  <a:schemeClr val="tx2"/>
                </a:solidFill>
                <a:latin typeface="メイリオ" panose="020B0604030504040204" pitchFamily="50" charset="-128"/>
                <a:ea typeface="メイリオ" panose="020B0604030504040204" pitchFamily="50" charset="-128"/>
              </a:rPr>
              <a:t>)</a:t>
            </a:r>
            <a:r>
              <a:rPr kumimoji="1" lang="ja-JP" altLang="en-US" sz="1200" b="1" dirty="0">
                <a:solidFill>
                  <a:schemeClr val="tx2"/>
                </a:solidFill>
                <a:latin typeface="メイリオ" panose="020B0604030504040204" pitchFamily="50" charset="-128"/>
                <a:ea typeface="メイリオ" panose="020B0604030504040204" pitchFamily="50" charset="-128"/>
              </a:rPr>
              <a:t>と併用しながらコストカット。</a:t>
            </a:r>
            <a:endParaRPr kumimoji="1" lang="en-US" altLang="ja-JP" sz="1200" b="1" dirty="0">
              <a:solidFill>
                <a:schemeClr val="tx2"/>
              </a:solidFill>
              <a:latin typeface="メイリオ" panose="020B0604030504040204" pitchFamily="50" charset="-128"/>
              <a:ea typeface="メイリオ" panose="020B0604030504040204" pitchFamily="50" charset="-128"/>
            </a:endParaRPr>
          </a:p>
          <a:p>
            <a:pPr algn="ctr"/>
            <a:r>
              <a:rPr lang="ja-JP" altLang="en-US" sz="1200" b="1" dirty="0">
                <a:solidFill>
                  <a:schemeClr val="tx2"/>
                </a:solidFill>
                <a:latin typeface="メイリオ" panose="020B0604030504040204" pitchFamily="50" charset="-128"/>
                <a:ea typeface="メイリオ" panose="020B0604030504040204" pitchFamily="50" charset="-128"/>
              </a:rPr>
              <a:t>また複数ステップ配信の組み合わせで効率化も。</a:t>
            </a:r>
            <a:endParaRPr kumimoji="1" lang="ja-JP" altLang="en-US" sz="1200" b="1" dirty="0">
              <a:solidFill>
                <a:schemeClr val="tx2"/>
              </a:solidFill>
              <a:latin typeface="メイリオ" panose="020B0604030504040204" pitchFamily="50" charset="-128"/>
              <a:ea typeface="メイリオ" panose="020B0604030504040204" pitchFamily="50" charset="-128"/>
            </a:endParaRPr>
          </a:p>
        </p:txBody>
      </p:sp>
      <p:sp>
        <p:nvSpPr>
          <p:cNvPr id="16" name="テキスト ボックス 15">
            <a:extLst>
              <a:ext uri="{FF2B5EF4-FFF2-40B4-BE49-F238E27FC236}">
                <a16:creationId xmlns:a16="http://schemas.microsoft.com/office/drawing/2014/main" id="{09F8FD3D-D156-D73A-268D-4BD2C4EFA147}"/>
              </a:ext>
            </a:extLst>
          </p:cNvPr>
          <p:cNvSpPr txBox="1"/>
          <p:nvPr/>
        </p:nvSpPr>
        <p:spPr>
          <a:xfrm>
            <a:off x="1659517" y="1322455"/>
            <a:ext cx="6603340" cy="260597"/>
          </a:xfrm>
          <a:prstGeom prst="rect">
            <a:avLst/>
          </a:prstGeom>
          <a:noFill/>
        </p:spPr>
        <p:txBody>
          <a:bodyPr wrap="square">
            <a:spAutoFit/>
          </a:bodyPr>
          <a:lstStyle/>
          <a:p>
            <a:pPr algn="ctr"/>
            <a:r>
              <a:rPr lang="en-US" altLang="ja-JP" sz="1050" dirty="0">
                <a:solidFill>
                  <a:srgbClr val="FF0000"/>
                </a:solidFill>
                <a:latin typeface="メイリオ" panose="020B0604030504040204" pitchFamily="50" charset="-128"/>
                <a:ea typeface="メイリオ" panose="020B0604030504040204" pitchFamily="50" charset="-128"/>
              </a:rPr>
              <a:t>※</a:t>
            </a:r>
            <a:r>
              <a:rPr lang="ja-JP" altLang="en-US" sz="1050" dirty="0">
                <a:solidFill>
                  <a:srgbClr val="FF0000"/>
                </a:solidFill>
                <a:latin typeface="メイリオ" panose="020B0604030504040204" pitchFamily="50" charset="-128"/>
                <a:ea typeface="メイリオ" panose="020B0604030504040204" pitchFamily="50" charset="-128"/>
              </a:rPr>
              <a:t>現状運用環境に合わせた成果報酬プランやコストカットの監修なども提示が可能です。</a:t>
            </a:r>
            <a:endParaRPr lang="ja-JP" altLang="en-US" sz="1200" dirty="0">
              <a:solidFill>
                <a:srgbClr val="FF0000"/>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9113810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0D8079-0D33-0F1A-6794-86CD36E2B42B}"/>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4B54CA7C-C9CE-3E1A-8C0B-D9DC3FFCBAE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88CD823C-3E61-5E93-B9FE-BD623737FC13}"/>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01</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403775D4-CF2D-3023-3056-9E596BBE8648}"/>
              </a:ext>
            </a:extLst>
          </p:cNvPr>
          <p:cNvSpPr txBox="1"/>
          <p:nvPr/>
        </p:nvSpPr>
        <p:spPr>
          <a:xfrm>
            <a:off x="1867143" y="1043132"/>
            <a:ext cx="5028957"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施策背景</a:t>
            </a:r>
          </a:p>
        </p:txBody>
      </p:sp>
      <p:cxnSp>
        <p:nvCxnSpPr>
          <p:cNvPr id="17" name="直線コネクタ 16">
            <a:extLst>
              <a:ext uri="{FF2B5EF4-FFF2-40B4-BE49-F238E27FC236}">
                <a16:creationId xmlns:a16="http://schemas.microsoft.com/office/drawing/2014/main" id="{24E0D700-8F0C-AA59-0C53-7B51F6E65BAA}"/>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64264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A42436-AC50-73E1-6EBE-63A7C5BBF420}"/>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6C8986CB-406D-05C6-C63F-77B94833C597}"/>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F31CD8C5-8C6B-79E9-DFB1-36686BF9F96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市況の変化</a:t>
            </a:r>
            <a:endParaRPr lang="ja-JP" altLang="en-US" sz="1100" dirty="0"/>
          </a:p>
        </p:txBody>
      </p:sp>
      <p:sp>
        <p:nvSpPr>
          <p:cNvPr id="7" name="テキスト ボックス 6">
            <a:extLst>
              <a:ext uri="{FF2B5EF4-FFF2-40B4-BE49-F238E27FC236}">
                <a16:creationId xmlns:a16="http://schemas.microsoft.com/office/drawing/2014/main" id="{0F9B49E5-148A-C9A5-79D8-759C503842CE}"/>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市況の変化に伴い、リスト保有・マネタイズ・</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LTV</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の重要性は拡大している。</a:t>
            </a:r>
            <a:endParaRPr lang="ja-JP" altLang="en-US" sz="1000" dirty="0"/>
          </a:p>
        </p:txBody>
      </p:sp>
      <p:sp>
        <p:nvSpPr>
          <p:cNvPr id="9" name="テキスト ボックス 8">
            <a:extLst>
              <a:ext uri="{FF2B5EF4-FFF2-40B4-BE49-F238E27FC236}">
                <a16:creationId xmlns:a16="http://schemas.microsoft.com/office/drawing/2014/main" id="{E8BEF693-34F0-FCA3-0D13-025ADA077FA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11" name="正方形/長方形 10">
            <a:extLst>
              <a:ext uri="{FF2B5EF4-FFF2-40B4-BE49-F238E27FC236}">
                <a16:creationId xmlns:a16="http://schemas.microsoft.com/office/drawing/2014/main" id="{0F0E6BAB-8E00-CEF9-3F7F-B243C9622CE9}"/>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12" name="Rectangle 3">
            <a:extLst>
              <a:ext uri="{FF2B5EF4-FFF2-40B4-BE49-F238E27FC236}">
                <a16:creationId xmlns:a16="http://schemas.microsoft.com/office/drawing/2014/main" id="{AD99B47E-7A67-A20F-FA23-6FFE48B38289}"/>
              </a:ext>
            </a:extLst>
          </p:cNvPr>
          <p:cNvSpPr/>
          <p:nvPr/>
        </p:nvSpPr>
        <p:spPr>
          <a:xfrm>
            <a:off x="426720" y="1872996"/>
            <a:ext cx="155448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00" b="1">
                <a:solidFill>
                  <a:srgbClr val="1F2A5C"/>
                </a:solidFill>
                <a:latin typeface="メイリオ" panose="020B0604030504040204" pitchFamily="50" charset="-128"/>
                <a:ea typeface="メイリオ" panose="020B0604030504040204" pitchFamily="50" charset="-128"/>
              </a:rPr>
              <a:t>変化</a:t>
            </a:r>
          </a:p>
        </p:txBody>
      </p:sp>
      <p:sp>
        <p:nvSpPr>
          <p:cNvPr id="13" name="Rectangle 4">
            <a:extLst>
              <a:ext uri="{FF2B5EF4-FFF2-40B4-BE49-F238E27FC236}">
                <a16:creationId xmlns:a16="http://schemas.microsoft.com/office/drawing/2014/main" id="{3E0DC48D-92CE-9229-ADC8-397327218608}"/>
              </a:ext>
            </a:extLst>
          </p:cNvPr>
          <p:cNvSpPr/>
          <p:nvPr/>
        </p:nvSpPr>
        <p:spPr>
          <a:xfrm>
            <a:off x="2118360" y="1872996"/>
            <a:ext cx="26517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00" b="1">
                <a:solidFill>
                  <a:srgbClr val="1F2A5C"/>
                </a:solidFill>
                <a:latin typeface="メイリオ" panose="020B0604030504040204" pitchFamily="50" charset="-128"/>
                <a:ea typeface="メイリオ" panose="020B0604030504040204" pitchFamily="50" charset="-128"/>
              </a:rPr>
              <a:t>背景データ</a:t>
            </a:r>
          </a:p>
        </p:txBody>
      </p:sp>
      <p:sp>
        <p:nvSpPr>
          <p:cNvPr id="14" name="Rectangle 5">
            <a:extLst>
              <a:ext uri="{FF2B5EF4-FFF2-40B4-BE49-F238E27FC236}">
                <a16:creationId xmlns:a16="http://schemas.microsoft.com/office/drawing/2014/main" id="{E32730EA-2FDC-122D-34A0-22348B3965AF}"/>
              </a:ext>
            </a:extLst>
          </p:cNvPr>
          <p:cNvSpPr/>
          <p:nvPr/>
        </p:nvSpPr>
        <p:spPr>
          <a:xfrm>
            <a:off x="4907280" y="1872996"/>
            <a:ext cx="20116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lang="ja-JP" altLang="en-US" sz="1100" b="1" dirty="0">
                <a:solidFill>
                  <a:srgbClr val="1F2A5C"/>
                </a:solidFill>
                <a:latin typeface="メイリオ" panose="020B0604030504040204" pitchFamily="50" charset="-128"/>
                <a:ea typeface="メイリオ" panose="020B0604030504040204" pitchFamily="50" charset="-128"/>
              </a:rPr>
              <a:t>マーケティング</a:t>
            </a:r>
            <a:r>
              <a:rPr sz="1100" b="1" dirty="0" err="1">
                <a:solidFill>
                  <a:srgbClr val="1F2A5C"/>
                </a:solidFill>
                <a:latin typeface="メイリオ" panose="020B0604030504040204" pitchFamily="50" charset="-128"/>
                <a:ea typeface="メイリオ" panose="020B0604030504040204" pitchFamily="50" charset="-128"/>
              </a:rPr>
              <a:t>への影響</a:t>
            </a:r>
            <a:endParaRPr sz="1100" b="1" dirty="0">
              <a:solidFill>
                <a:srgbClr val="1F2A5C"/>
              </a:solidFill>
              <a:latin typeface="メイリオ" panose="020B0604030504040204" pitchFamily="50" charset="-128"/>
              <a:ea typeface="メイリオ" panose="020B0604030504040204" pitchFamily="50" charset="-128"/>
            </a:endParaRPr>
          </a:p>
        </p:txBody>
      </p:sp>
      <p:sp>
        <p:nvSpPr>
          <p:cNvPr id="15" name="Rectangle 6">
            <a:extLst>
              <a:ext uri="{FF2B5EF4-FFF2-40B4-BE49-F238E27FC236}">
                <a16:creationId xmlns:a16="http://schemas.microsoft.com/office/drawing/2014/main" id="{E20F6A55-5A9A-17DC-163C-8353499D7D59}"/>
              </a:ext>
            </a:extLst>
          </p:cNvPr>
          <p:cNvSpPr/>
          <p:nvPr/>
        </p:nvSpPr>
        <p:spPr>
          <a:xfrm>
            <a:off x="7056120" y="1872996"/>
            <a:ext cx="24231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00" b="1">
                <a:solidFill>
                  <a:srgbClr val="C8102E"/>
                </a:solidFill>
                <a:latin typeface="メイリオ" panose="020B0604030504040204" pitchFamily="50" charset="-128"/>
                <a:ea typeface="メイリオ" panose="020B0604030504040204" pitchFamily="50" charset="-128"/>
              </a:rPr>
              <a:t>LINE OAでの対応</a:t>
            </a:r>
          </a:p>
        </p:txBody>
      </p:sp>
      <p:sp>
        <p:nvSpPr>
          <p:cNvPr id="16" name="Rectangle 7">
            <a:extLst>
              <a:ext uri="{FF2B5EF4-FFF2-40B4-BE49-F238E27FC236}">
                <a16:creationId xmlns:a16="http://schemas.microsoft.com/office/drawing/2014/main" id="{5C785CCD-8743-8281-EE42-652E7CC6C711}"/>
              </a:ext>
            </a:extLst>
          </p:cNvPr>
          <p:cNvSpPr/>
          <p:nvPr/>
        </p:nvSpPr>
        <p:spPr>
          <a:xfrm>
            <a:off x="381000" y="2193036"/>
            <a:ext cx="1600200" cy="97840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200"/>
              </a:spcAft>
            </a:pPr>
            <a:r>
              <a:rPr sz="1800" b="1">
                <a:solidFill>
                  <a:srgbClr val="FFFFFF"/>
                </a:solidFill>
                <a:latin typeface="メイリオ" panose="020B0604030504040204" pitchFamily="50" charset="-128"/>
                <a:ea typeface="メイリオ" panose="020B0604030504040204" pitchFamily="50" charset="-128"/>
              </a:rPr>
              <a:t>①</a:t>
            </a:r>
          </a:p>
          <a:p>
            <a:pPr algn="l">
              <a:spcAft>
                <a:spcPts val="300"/>
              </a:spcAft>
            </a:pPr>
            <a:r>
              <a:rPr sz="1200" b="1">
                <a:solidFill>
                  <a:srgbClr val="FFFFFF"/>
                </a:solidFill>
                <a:latin typeface="メイリオ" panose="020B0604030504040204" pitchFamily="50" charset="-128"/>
                <a:ea typeface="メイリオ" panose="020B0604030504040204" pitchFamily="50" charset="-128"/>
              </a:rPr>
              <a:t>広告接点の早期化</a:t>
            </a:r>
          </a:p>
        </p:txBody>
      </p:sp>
      <p:sp>
        <p:nvSpPr>
          <p:cNvPr id="17" name="Rectangle 8">
            <a:extLst>
              <a:ext uri="{FF2B5EF4-FFF2-40B4-BE49-F238E27FC236}">
                <a16:creationId xmlns:a16="http://schemas.microsoft.com/office/drawing/2014/main" id="{51B35245-DA01-007C-B2BF-E2F0A67DC3C4}"/>
              </a:ext>
            </a:extLst>
          </p:cNvPr>
          <p:cNvSpPr/>
          <p:nvPr/>
        </p:nvSpPr>
        <p:spPr>
          <a:xfrm>
            <a:off x="2072640" y="2193036"/>
            <a:ext cx="269748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100"/>
              </a:spcAft>
            </a:pPr>
            <a:r>
              <a:rPr sz="1800" b="1" dirty="0">
                <a:solidFill>
                  <a:srgbClr val="1F2A5C"/>
                </a:solidFill>
                <a:latin typeface="メイリオ" panose="020B0604030504040204" pitchFamily="50" charset="-128"/>
                <a:ea typeface="メイリオ" panose="020B0604030504040204" pitchFamily="50" charset="-128"/>
              </a:rPr>
              <a:t>7,249億円</a:t>
            </a:r>
          </a:p>
          <a:p>
            <a:pPr algn="l">
              <a:spcAft>
                <a:spcPts val="300"/>
              </a:spcAft>
            </a:pPr>
            <a:r>
              <a:rPr sz="950" b="0" dirty="0">
                <a:solidFill>
                  <a:srgbClr val="777777"/>
                </a:solidFill>
                <a:latin typeface="メイリオ" panose="020B0604030504040204" pitchFamily="50" charset="-128"/>
                <a:ea typeface="メイリオ" panose="020B0604030504040204" pitchFamily="50" charset="-128"/>
              </a:rPr>
              <a:t>動画広告市場（2024年・前年比115.9%）。</a:t>
            </a:r>
            <a:r>
              <a:rPr sz="950" b="1" dirty="0">
                <a:solidFill>
                  <a:srgbClr val="777777"/>
                </a:solidFill>
                <a:latin typeface="メイリオ" panose="020B0604030504040204" pitchFamily="50" charset="-128"/>
                <a:ea typeface="メイリオ" panose="020B0604030504040204" pitchFamily="50" charset="-128"/>
              </a:rPr>
              <a:t>縦型動画は前年比171.1%</a:t>
            </a:r>
          </a:p>
        </p:txBody>
      </p:sp>
      <p:sp>
        <p:nvSpPr>
          <p:cNvPr id="18" name="Rectangle 9">
            <a:extLst>
              <a:ext uri="{FF2B5EF4-FFF2-40B4-BE49-F238E27FC236}">
                <a16:creationId xmlns:a16="http://schemas.microsoft.com/office/drawing/2014/main" id="{8A01196A-31FA-AA2D-83D7-5C664ABF1B2A}"/>
              </a:ext>
            </a:extLst>
          </p:cNvPr>
          <p:cNvSpPr/>
          <p:nvPr/>
        </p:nvSpPr>
        <p:spPr>
          <a:xfrm>
            <a:off x="4861560" y="2193036"/>
            <a:ext cx="205740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購入前の接触が増え</a:t>
            </a:r>
            <a:r>
              <a:rPr sz="1000" b="0" dirty="0">
                <a:solidFill>
                  <a:srgbClr val="333333"/>
                </a:solidFill>
                <a:latin typeface="メイリオ" panose="020B0604030504040204" pitchFamily="50" charset="-128"/>
                <a:ea typeface="メイリオ" panose="020B0604030504040204" pitchFamily="50" charset="-128"/>
              </a:rPr>
              <a:t>、</a:t>
            </a:r>
            <a:endParaRPr lang="en-US" sz="1000" b="0" dirty="0">
              <a:solidFill>
                <a:srgbClr val="333333"/>
              </a:solidFill>
              <a:latin typeface="メイリオ" panose="020B0604030504040204" pitchFamily="50" charset="-128"/>
              <a:ea typeface="メイリオ" panose="020B0604030504040204" pitchFamily="50" charset="-128"/>
            </a:endParaRPr>
          </a:p>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CVだけで接点の価値が見えない</a:t>
            </a:r>
            <a:endParaRPr sz="1000" b="0" dirty="0">
              <a:solidFill>
                <a:srgbClr val="333333"/>
              </a:solidFill>
              <a:latin typeface="メイリオ" panose="020B0604030504040204" pitchFamily="50" charset="-128"/>
              <a:ea typeface="メイリオ" panose="020B0604030504040204" pitchFamily="50" charset="-128"/>
            </a:endParaRPr>
          </a:p>
        </p:txBody>
      </p:sp>
      <p:sp>
        <p:nvSpPr>
          <p:cNvPr id="19" name="Rectangle 10">
            <a:extLst>
              <a:ext uri="{FF2B5EF4-FFF2-40B4-BE49-F238E27FC236}">
                <a16:creationId xmlns:a16="http://schemas.microsoft.com/office/drawing/2014/main" id="{CA8C05AB-C62C-76A1-00F4-F4DE182A4C8A}"/>
              </a:ext>
            </a:extLst>
          </p:cNvPr>
          <p:cNvSpPr/>
          <p:nvPr/>
        </p:nvSpPr>
        <p:spPr>
          <a:xfrm>
            <a:off x="7010400" y="2193036"/>
            <a:ext cx="2514600" cy="978408"/>
          </a:xfrm>
          <a:prstGeom prst="rect">
            <a:avLst/>
          </a:prstGeom>
          <a:solidFill>
            <a:srgbClr val="E4EAF6"/>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CV前に友だち化し</a:t>
            </a:r>
            <a:r>
              <a:rPr sz="1150" b="1" dirty="0">
                <a:solidFill>
                  <a:srgbClr val="1F2A5C"/>
                </a:solidFill>
                <a:latin typeface="メイリオ" panose="020B0604030504040204" pitchFamily="50" charset="-128"/>
                <a:ea typeface="メイリオ" panose="020B0604030504040204" pitchFamily="50" charset="-128"/>
              </a:rPr>
              <a:t>、</a:t>
            </a:r>
            <a:endParaRPr lang="en-US" sz="1150" b="1" dirty="0">
              <a:solidFill>
                <a:srgbClr val="1F2A5C"/>
              </a:solidFill>
              <a:latin typeface="メイリオ" panose="020B0604030504040204" pitchFamily="50" charset="-128"/>
              <a:ea typeface="メイリオ" panose="020B0604030504040204" pitchFamily="50" charset="-128"/>
            </a:endParaRPr>
          </a:p>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検討中も接点を維持する</a:t>
            </a:r>
            <a:endParaRPr sz="1150" b="1" dirty="0">
              <a:solidFill>
                <a:srgbClr val="1F2A5C"/>
              </a:solidFill>
              <a:latin typeface="メイリオ" panose="020B0604030504040204" pitchFamily="50" charset="-128"/>
              <a:ea typeface="メイリオ" panose="020B0604030504040204" pitchFamily="50" charset="-128"/>
            </a:endParaRPr>
          </a:p>
        </p:txBody>
      </p:sp>
      <p:sp>
        <p:nvSpPr>
          <p:cNvPr id="20" name="Rectangle 11">
            <a:extLst>
              <a:ext uri="{FF2B5EF4-FFF2-40B4-BE49-F238E27FC236}">
                <a16:creationId xmlns:a16="http://schemas.microsoft.com/office/drawing/2014/main" id="{A17D7EF3-1AC3-4FC4-0524-407D9564A31C}"/>
              </a:ext>
            </a:extLst>
          </p:cNvPr>
          <p:cNvSpPr/>
          <p:nvPr/>
        </p:nvSpPr>
        <p:spPr>
          <a:xfrm>
            <a:off x="381000" y="3244596"/>
            <a:ext cx="1600200" cy="97840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200"/>
              </a:spcAft>
            </a:pPr>
            <a:r>
              <a:rPr sz="1800" b="1">
                <a:solidFill>
                  <a:srgbClr val="FFFFFF"/>
                </a:solidFill>
                <a:latin typeface="メイリオ" panose="020B0604030504040204" pitchFamily="50" charset="-128"/>
                <a:ea typeface="メイリオ" panose="020B0604030504040204" pitchFamily="50" charset="-128"/>
              </a:rPr>
              <a:t>②</a:t>
            </a:r>
          </a:p>
          <a:p>
            <a:pPr algn="l">
              <a:spcAft>
                <a:spcPts val="300"/>
              </a:spcAft>
            </a:pPr>
            <a:r>
              <a:rPr sz="1200" b="1">
                <a:solidFill>
                  <a:srgbClr val="FFFFFF"/>
                </a:solidFill>
                <a:latin typeface="メイリオ" panose="020B0604030504040204" pitchFamily="50" charset="-128"/>
                <a:ea typeface="メイリオ" panose="020B0604030504040204" pitchFamily="50" charset="-128"/>
              </a:rPr>
              <a:t>CPCの高騰</a:t>
            </a:r>
          </a:p>
        </p:txBody>
      </p:sp>
      <p:sp>
        <p:nvSpPr>
          <p:cNvPr id="21" name="Rectangle 12">
            <a:extLst>
              <a:ext uri="{FF2B5EF4-FFF2-40B4-BE49-F238E27FC236}">
                <a16:creationId xmlns:a16="http://schemas.microsoft.com/office/drawing/2014/main" id="{9C9A8D6A-35C3-09FD-E00C-AF890038B7F2}"/>
              </a:ext>
            </a:extLst>
          </p:cNvPr>
          <p:cNvSpPr/>
          <p:nvPr/>
        </p:nvSpPr>
        <p:spPr>
          <a:xfrm>
            <a:off x="2072640" y="3244596"/>
            <a:ext cx="269748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100"/>
              </a:spcAft>
            </a:pPr>
            <a:r>
              <a:rPr sz="1800" b="1" dirty="0">
                <a:solidFill>
                  <a:srgbClr val="1F2A5C"/>
                </a:solidFill>
                <a:latin typeface="メイリオ" panose="020B0604030504040204" pitchFamily="50" charset="-128"/>
                <a:ea typeface="メイリオ" panose="020B0604030504040204" pitchFamily="50" charset="-128"/>
              </a:rPr>
              <a:t>1兆1,931億円</a:t>
            </a:r>
          </a:p>
          <a:p>
            <a:pPr algn="l">
              <a:spcAft>
                <a:spcPts val="300"/>
              </a:spcAft>
            </a:pPr>
            <a:r>
              <a:rPr sz="950" b="0" dirty="0">
                <a:solidFill>
                  <a:srgbClr val="777777"/>
                </a:solidFill>
                <a:latin typeface="メイリオ" panose="020B0604030504040204" pitchFamily="50" charset="-128"/>
                <a:ea typeface="メイリオ" panose="020B0604030504040204" pitchFamily="50" charset="-128"/>
              </a:rPr>
              <a:t>検索連動型広告（前年比111.2%）。ネット広告媒体費は2兆9,611億円</a:t>
            </a:r>
          </a:p>
        </p:txBody>
      </p:sp>
      <p:sp>
        <p:nvSpPr>
          <p:cNvPr id="22" name="Rectangle 13">
            <a:extLst>
              <a:ext uri="{FF2B5EF4-FFF2-40B4-BE49-F238E27FC236}">
                <a16:creationId xmlns:a16="http://schemas.microsoft.com/office/drawing/2014/main" id="{45BA9884-66A6-4B9C-6CA2-F04CF341DAAF}"/>
              </a:ext>
            </a:extLst>
          </p:cNvPr>
          <p:cNvSpPr/>
          <p:nvPr/>
        </p:nvSpPr>
        <p:spPr>
          <a:xfrm>
            <a:off x="4861560" y="3244596"/>
            <a:ext cx="205740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入札競争が続き、離脱した</a:t>
            </a:r>
            <a:endParaRPr lang="en-US" sz="1000" b="0" dirty="0">
              <a:solidFill>
                <a:srgbClr val="333333"/>
              </a:solidFill>
              <a:latin typeface="メイリオ" panose="020B0604030504040204" pitchFamily="50" charset="-128"/>
              <a:ea typeface="メイリオ" panose="020B0604030504040204" pitchFamily="50" charset="-128"/>
            </a:endParaRPr>
          </a:p>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流入の広告費が回収できない</a:t>
            </a:r>
            <a:endParaRPr lang="en-US" sz="1000" b="0" dirty="0">
              <a:solidFill>
                <a:srgbClr val="333333"/>
              </a:solidFill>
              <a:latin typeface="メイリオ" panose="020B0604030504040204" pitchFamily="50" charset="-128"/>
              <a:ea typeface="メイリオ" panose="020B0604030504040204" pitchFamily="50" charset="-128"/>
            </a:endParaRPr>
          </a:p>
          <a:p>
            <a:pPr algn="l">
              <a:spcAft>
                <a:spcPts val="300"/>
              </a:spcAft>
            </a:pPr>
            <a:r>
              <a:rPr lang="en-US" altLang="ja-JP" sz="1000" b="1" dirty="0">
                <a:solidFill>
                  <a:srgbClr val="333333"/>
                </a:solidFill>
                <a:latin typeface="メイリオ" panose="020B0604030504040204" pitchFamily="50" charset="-128"/>
                <a:ea typeface="メイリオ" panose="020B0604030504040204" pitchFamily="50" charset="-128"/>
              </a:rPr>
              <a:t>3</a:t>
            </a:r>
            <a:r>
              <a:rPr lang="ja-JP" altLang="en-US" sz="1000" b="1" dirty="0">
                <a:solidFill>
                  <a:srgbClr val="333333"/>
                </a:solidFill>
                <a:latin typeface="メイリオ" panose="020B0604030504040204" pitchFamily="50" charset="-128"/>
                <a:ea typeface="メイリオ" panose="020B0604030504040204" pitchFamily="50" charset="-128"/>
              </a:rPr>
              <a:t>年前比：</a:t>
            </a:r>
            <a:r>
              <a:rPr lang="en-US" altLang="ja-JP" sz="1000" b="1" dirty="0">
                <a:solidFill>
                  <a:srgbClr val="333333"/>
                </a:solidFill>
                <a:latin typeface="メイリオ" panose="020B0604030504040204" pitchFamily="50" charset="-128"/>
                <a:ea typeface="メイリオ" panose="020B0604030504040204" pitchFamily="50" charset="-128"/>
              </a:rPr>
              <a:t>32%</a:t>
            </a:r>
            <a:r>
              <a:rPr lang="ja-JP" altLang="en-US" sz="1000" b="1" dirty="0">
                <a:solidFill>
                  <a:srgbClr val="333333"/>
                </a:solidFill>
                <a:latin typeface="メイリオ" panose="020B0604030504040204" pitchFamily="50" charset="-128"/>
                <a:ea typeface="メイリオ" panose="020B0604030504040204" pitchFamily="50" charset="-128"/>
              </a:rPr>
              <a:t>程度増</a:t>
            </a:r>
            <a:endParaRPr sz="1000" b="1" dirty="0">
              <a:solidFill>
                <a:srgbClr val="333333"/>
              </a:solidFill>
              <a:latin typeface="メイリオ" panose="020B0604030504040204" pitchFamily="50" charset="-128"/>
              <a:ea typeface="メイリオ" panose="020B0604030504040204" pitchFamily="50" charset="-128"/>
            </a:endParaRPr>
          </a:p>
        </p:txBody>
      </p:sp>
      <p:sp>
        <p:nvSpPr>
          <p:cNvPr id="23" name="Rectangle 14">
            <a:extLst>
              <a:ext uri="{FF2B5EF4-FFF2-40B4-BE49-F238E27FC236}">
                <a16:creationId xmlns:a16="http://schemas.microsoft.com/office/drawing/2014/main" id="{0F279B57-A5CD-5ABE-1169-BA1B16859218}"/>
              </a:ext>
            </a:extLst>
          </p:cNvPr>
          <p:cNvSpPr/>
          <p:nvPr/>
        </p:nvSpPr>
        <p:spPr>
          <a:xfrm>
            <a:off x="7010400" y="3244596"/>
            <a:ext cx="2514600" cy="978408"/>
          </a:xfrm>
          <a:prstGeom prst="rect">
            <a:avLst/>
          </a:prstGeom>
          <a:solidFill>
            <a:srgbClr val="E4EAF6"/>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離脱後も友だち化し</a:t>
            </a:r>
            <a:r>
              <a:rPr sz="1150" b="1" dirty="0">
                <a:solidFill>
                  <a:srgbClr val="1F2A5C"/>
                </a:solidFill>
                <a:latin typeface="メイリオ" panose="020B0604030504040204" pitchFamily="50" charset="-128"/>
                <a:ea typeface="メイリオ" panose="020B0604030504040204" pitchFamily="50" charset="-128"/>
              </a:rPr>
              <a:t>、</a:t>
            </a:r>
            <a:endParaRPr lang="en-US" sz="1150" b="1" dirty="0">
              <a:solidFill>
                <a:srgbClr val="1F2A5C"/>
              </a:solidFill>
              <a:latin typeface="メイリオ" panose="020B0604030504040204" pitchFamily="50" charset="-128"/>
              <a:ea typeface="メイリオ" panose="020B0604030504040204" pitchFamily="50" charset="-128"/>
            </a:endParaRPr>
          </a:p>
          <a:p>
            <a:pPr algn="l">
              <a:spcAft>
                <a:spcPts val="300"/>
              </a:spcAft>
            </a:pPr>
            <a:r>
              <a:rPr lang="ja-JP" altLang="en-US" sz="1150" b="1" dirty="0">
                <a:solidFill>
                  <a:srgbClr val="FF0000"/>
                </a:solidFill>
                <a:latin typeface="メイリオ" panose="020B0604030504040204" pitchFamily="50" charset="-128"/>
                <a:ea typeface="メイリオ" panose="020B0604030504040204" pitchFamily="50" charset="-128"/>
              </a:rPr>
              <a:t>セグメント配信</a:t>
            </a:r>
            <a:r>
              <a:rPr lang="ja-JP" altLang="en-US" sz="1150" b="1" dirty="0">
                <a:solidFill>
                  <a:srgbClr val="1F2A5C"/>
                </a:solidFill>
                <a:latin typeface="メイリオ" panose="020B0604030504040204" pitchFamily="50" charset="-128"/>
                <a:ea typeface="メイリオ" panose="020B0604030504040204" pitchFamily="50" charset="-128"/>
              </a:rPr>
              <a:t>で</a:t>
            </a:r>
            <a:r>
              <a:rPr sz="1150" b="1" dirty="0" err="1">
                <a:solidFill>
                  <a:srgbClr val="1F2A5C"/>
                </a:solidFill>
                <a:latin typeface="メイリオ" panose="020B0604030504040204" pitchFamily="50" charset="-128"/>
                <a:ea typeface="メイリオ" panose="020B0604030504040204" pitchFamily="50" charset="-128"/>
              </a:rPr>
              <a:t>CV回収する</a:t>
            </a:r>
            <a:endParaRPr sz="1150" b="1" dirty="0">
              <a:solidFill>
                <a:srgbClr val="1F2A5C"/>
              </a:solidFill>
              <a:latin typeface="メイリオ" panose="020B0604030504040204" pitchFamily="50" charset="-128"/>
              <a:ea typeface="メイリオ" panose="020B0604030504040204" pitchFamily="50" charset="-128"/>
            </a:endParaRPr>
          </a:p>
        </p:txBody>
      </p:sp>
      <p:sp>
        <p:nvSpPr>
          <p:cNvPr id="24" name="Rectangle 15">
            <a:extLst>
              <a:ext uri="{FF2B5EF4-FFF2-40B4-BE49-F238E27FC236}">
                <a16:creationId xmlns:a16="http://schemas.microsoft.com/office/drawing/2014/main" id="{63F6C682-E819-BB1D-789F-194C9870942B}"/>
              </a:ext>
            </a:extLst>
          </p:cNvPr>
          <p:cNvSpPr/>
          <p:nvPr/>
        </p:nvSpPr>
        <p:spPr>
          <a:xfrm>
            <a:off x="381000" y="4296156"/>
            <a:ext cx="1600200" cy="97840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200"/>
              </a:spcAft>
            </a:pPr>
            <a:r>
              <a:rPr sz="1800" b="1">
                <a:solidFill>
                  <a:srgbClr val="FFFFFF"/>
                </a:solidFill>
                <a:latin typeface="メイリオ" panose="020B0604030504040204" pitchFamily="50" charset="-128"/>
                <a:ea typeface="メイリオ" panose="020B0604030504040204" pitchFamily="50" charset="-128"/>
              </a:rPr>
              <a:t>③</a:t>
            </a:r>
          </a:p>
          <a:p>
            <a:pPr algn="l">
              <a:spcAft>
                <a:spcPts val="300"/>
              </a:spcAft>
            </a:pPr>
            <a:r>
              <a:rPr sz="1200" b="1">
                <a:solidFill>
                  <a:srgbClr val="FFFFFF"/>
                </a:solidFill>
                <a:latin typeface="メイリオ" panose="020B0604030504040204" pitchFamily="50" charset="-128"/>
                <a:ea typeface="メイリオ" panose="020B0604030504040204" pitchFamily="50" charset="-128"/>
              </a:rPr>
              <a:t>リマケリストの難化</a:t>
            </a:r>
          </a:p>
        </p:txBody>
      </p:sp>
      <p:sp>
        <p:nvSpPr>
          <p:cNvPr id="25" name="Rectangle 16">
            <a:extLst>
              <a:ext uri="{FF2B5EF4-FFF2-40B4-BE49-F238E27FC236}">
                <a16:creationId xmlns:a16="http://schemas.microsoft.com/office/drawing/2014/main" id="{CE444CC6-8444-A56B-53F6-34549AA5E5D5}"/>
              </a:ext>
            </a:extLst>
          </p:cNvPr>
          <p:cNvSpPr/>
          <p:nvPr/>
        </p:nvSpPr>
        <p:spPr>
          <a:xfrm>
            <a:off x="2072640" y="4296156"/>
            <a:ext cx="269748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100"/>
              </a:spcAft>
            </a:pPr>
            <a:r>
              <a:rPr sz="1800" b="1" dirty="0">
                <a:solidFill>
                  <a:srgbClr val="1F2A5C"/>
                </a:solidFill>
                <a:latin typeface="メイリオ" panose="020B0604030504040204" pitchFamily="50" charset="-128"/>
                <a:ea typeface="メイリオ" panose="020B0604030504040204" pitchFamily="50" charset="-128"/>
              </a:rPr>
              <a:t>7日／24時間</a:t>
            </a:r>
          </a:p>
          <a:p>
            <a:pPr algn="l">
              <a:spcAft>
                <a:spcPts val="300"/>
              </a:spcAft>
            </a:pPr>
            <a:r>
              <a:rPr sz="950" b="0" dirty="0">
                <a:solidFill>
                  <a:srgbClr val="777777"/>
                </a:solidFill>
                <a:latin typeface="メイリオ" panose="020B0604030504040204" pitchFamily="50" charset="-128"/>
                <a:ea typeface="メイリオ" panose="020B0604030504040204" pitchFamily="50" charset="-128"/>
              </a:rPr>
              <a:t>Safariの保持期間上限（2022年秋〜）。2020年に全面ブロック、法改正で同意・通知も必要</a:t>
            </a:r>
          </a:p>
        </p:txBody>
      </p:sp>
      <p:sp>
        <p:nvSpPr>
          <p:cNvPr id="26" name="Rectangle 17">
            <a:extLst>
              <a:ext uri="{FF2B5EF4-FFF2-40B4-BE49-F238E27FC236}">
                <a16:creationId xmlns:a16="http://schemas.microsoft.com/office/drawing/2014/main" id="{A35C0F42-C61B-5793-966E-BE564AA54CFB}"/>
              </a:ext>
            </a:extLst>
          </p:cNvPr>
          <p:cNvSpPr/>
          <p:nvPr/>
        </p:nvSpPr>
        <p:spPr>
          <a:xfrm>
            <a:off x="4861560" y="4296156"/>
            <a:ext cx="205740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000" b="0">
                <a:solidFill>
                  <a:srgbClr val="333333"/>
                </a:solidFill>
                <a:latin typeface="メイリオ" panose="020B0604030504040204" pitchFamily="50" charset="-128"/>
                <a:ea typeface="メイリオ" panose="020B0604030504040204" pitchFamily="50" charset="-128"/>
              </a:rPr>
              <a:t>再訪問者リストを長く持てない</a:t>
            </a:r>
          </a:p>
        </p:txBody>
      </p:sp>
      <p:sp>
        <p:nvSpPr>
          <p:cNvPr id="27" name="Rectangle 18">
            <a:extLst>
              <a:ext uri="{FF2B5EF4-FFF2-40B4-BE49-F238E27FC236}">
                <a16:creationId xmlns:a16="http://schemas.microsoft.com/office/drawing/2014/main" id="{DF93DF39-4FD7-9BA0-BEEB-470FA702AFD7}"/>
              </a:ext>
            </a:extLst>
          </p:cNvPr>
          <p:cNvSpPr/>
          <p:nvPr/>
        </p:nvSpPr>
        <p:spPr>
          <a:xfrm>
            <a:off x="7010400" y="4296156"/>
            <a:ext cx="2514600" cy="978408"/>
          </a:xfrm>
          <a:prstGeom prst="rect">
            <a:avLst/>
          </a:prstGeom>
          <a:solidFill>
            <a:srgbClr val="E4EAF6"/>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許諾済みの自社リストとして</a:t>
            </a:r>
            <a:endParaRPr lang="en-US" sz="1150" b="1" dirty="0">
              <a:solidFill>
                <a:srgbClr val="1F2A5C"/>
              </a:solidFill>
              <a:latin typeface="メイリオ" panose="020B0604030504040204" pitchFamily="50" charset="-128"/>
              <a:ea typeface="メイリオ" panose="020B0604030504040204" pitchFamily="50" charset="-128"/>
            </a:endParaRPr>
          </a:p>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友だちを保持する</a:t>
            </a:r>
            <a:endParaRPr sz="1150" b="1" dirty="0">
              <a:solidFill>
                <a:srgbClr val="1F2A5C"/>
              </a:solidFill>
              <a:latin typeface="メイリオ" panose="020B0604030504040204" pitchFamily="50" charset="-128"/>
              <a:ea typeface="メイリオ" panose="020B0604030504040204" pitchFamily="50" charset="-128"/>
            </a:endParaRPr>
          </a:p>
        </p:txBody>
      </p:sp>
      <p:sp>
        <p:nvSpPr>
          <p:cNvPr id="28" name="Rectangle 19">
            <a:extLst>
              <a:ext uri="{FF2B5EF4-FFF2-40B4-BE49-F238E27FC236}">
                <a16:creationId xmlns:a16="http://schemas.microsoft.com/office/drawing/2014/main" id="{4AD57304-3963-5332-753B-F508A6F0B113}"/>
              </a:ext>
            </a:extLst>
          </p:cNvPr>
          <p:cNvSpPr/>
          <p:nvPr/>
        </p:nvSpPr>
        <p:spPr>
          <a:xfrm>
            <a:off x="381000" y="5347716"/>
            <a:ext cx="1600200" cy="97840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200"/>
              </a:spcAft>
            </a:pPr>
            <a:r>
              <a:rPr sz="1800" b="1" dirty="0">
                <a:solidFill>
                  <a:srgbClr val="FFFFFF"/>
                </a:solidFill>
                <a:latin typeface="メイリオ" panose="020B0604030504040204" pitchFamily="50" charset="-128"/>
                <a:ea typeface="メイリオ" panose="020B0604030504040204" pitchFamily="50" charset="-128"/>
              </a:rPr>
              <a:t>④</a:t>
            </a:r>
          </a:p>
          <a:p>
            <a:pPr algn="l">
              <a:spcAft>
                <a:spcPts val="300"/>
              </a:spcAft>
            </a:pPr>
            <a:r>
              <a:rPr sz="1200" b="1" dirty="0" err="1">
                <a:solidFill>
                  <a:srgbClr val="FFFFFF"/>
                </a:solidFill>
                <a:latin typeface="メイリオ" panose="020B0604030504040204" pitchFamily="50" charset="-128"/>
                <a:ea typeface="メイリオ" panose="020B0604030504040204" pitchFamily="50" charset="-128"/>
              </a:rPr>
              <a:t>選択肢</a:t>
            </a:r>
            <a:r>
              <a:rPr lang="ja-JP" altLang="en-US" sz="1200" b="1" dirty="0">
                <a:solidFill>
                  <a:srgbClr val="FFFFFF"/>
                </a:solidFill>
                <a:latin typeface="メイリオ" panose="020B0604030504040204" pitchFamily="50" charset="-128"/>
                <a:ea typeface="メイリオ" panose="020B0604030504040204" pitchFamily="50" charset="-128"/>
              </a:rPr>
              <a:t>の</a:t>
            </a:r>
            <a:r>
              <a:rPr sz="1200" b="1" dirty="0">
                <a:solidFill>
                  <a:srgbClr val="FFFFFF"/>
                </a:solidFill>
                <a:latin typeface="メイリオ" panose="020B0604030504040204" pitchFamily="50" charset="-128"/>
                <a:ea typeface="メイリオ" panose="020B0604030504040204" pitchFamily="50" charset="-128"/>
              </a:rPr>
              <a:t>増</a:t>
            </a:r>
            <a:r>
              <a:rPr lang="ja-JP" altLang="en-US" sz="1200" b="1" dirty="0">
                <a:solidFill>
                  <a:srgbClr val="FFFFFF"/>
                </a:solidFill>
                <a:latin typeface="メイリオ" panose="020B0604030504040204" pitchFamily="50" charset="-128"/>
                <a:ea typeface="メイリオ" panose="020B0604030504040204" pitchFamily="50" charset="-128"/>
              </a:rPr>
              <a:t>加</a:t>
            </a:r>
            <a:endParaRPr lang="en-US" sz="1200" b="1" dirty="0">
              <a:solidFill>
                <a:srgbClr val="FFFFFF"/>
              </a:solidFill>
              <a:latin typeface="メイリオ" panose="020B0604030504040204" pitchFamily="50" charset="-128"/>
              <a:ea typeface="メイリオ" panose="020B0604030504040204" pitchFamily="50" charset="-128"/>
            </a:endParaRPr>
          </a:p>
          <a:p>
            <a:pPr algn="l">
              <a:spcAft>
                <a:spcPts val="300"/>
              </a:spcAft>
            </a:pPr>
            <a:r>
              <a:rPr sz="1200" b="1" dirty="0" err="1">
                <a:solidFill>
                  <a:srgbClr val="FFFFFF"/>
                </a:solidFill>
                <a:latin typeface="メイリオ" panose="020B0604030504040204" pitchFamily="50" charset="-128"/>
                <a:ea typeface="メイリオ" panose="020B0604030504040204" pitchFamily="50" charset="-128"/>
              </a:rPr>
              <a:t>検討長期化</a:t>
            </a:r>
            <a:endParaRPr sz="1200" b="1" dirty="0">
              <a:solidFill>
                <a:srgbClr val="FFFFFF"/>
              </a:solidFill>
              <a:latin typeface="メイリオ" panose="020B0604030504040204" pitchFamily="50" charset="-128"/>
              <a:ea typeface="メイリオ" panose="020B0604030504040204" pitchFamily="50" charset="-128"/>
            </a:endParaRPr>
          </a:p>
        </p:txBody>
      </p:sp>
      <p:sp>
        <p:nvSpPr>
          <p:cNvPr id="29" name="Rectangle 20">
            <a:extLst>
              <a:ext uri="{FF2B5EF4-FFF2-40B4-BE49-F238E27FC236}">
                <a16:creationId xmlns:a16="http://schemas.microsoft.com/office/drawing/2014/main" id="{4C419739-A588-2E5A-0FCA-992B80A6DB23}"/>
              </a:ext>
            </a:extLst>
          </p:cNvPr>
          <p:cNvSpPr/>
          <p:nvPr/>
        </p:nvSpPr>
        <p:spPr>
          <a:xfrm>
            <a:off x="2072640" y="5347716"/>
            <a:ext cx="269748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100"/>
              </a:spcAft>
            </a:pPr>
            <a:r>
              <a:rPr sz="1800" b="1" dirty="0">
                <a:solidFill>
                  <a:srgbClr val="1F2A5C"/>
                </a:solidFill>
                <a:latin typeface="メイリオ" panose="020B0604030504040204" pitchFamily="50" charset="-128"/>
                <a:ea typeface="メイリオ" panose="020B0604030504040204" pitchFamily="50" charset="-128"/>
              </a:rPr>
              <a:t>9,900万人</a:t>
            </a:r>
          </a:p>
          <a:p>
            <a:pPr algn="l">
              <a:spcAft>
                <a:spcPts val="300"/>
              </a:spcAft>
            </a:pPr>
            <a:r>
              <a:rPr sz="950" b="0" dirty="0">
                <a:solidFill>
                  <a:srgbClr val="777777"/>
                </a:solidFill>
                <a:latin typeface="メイリオ" panose="020B0604030504040204" pitchFamily="50" charset="-128"/>
                <a:ea typeface="メイリオ" panose="020B0604030504040204" pitchFamily="50" charset="-128"/>
              </a:rPr>
              <a:t>LINE月間利用者（2025年6月末）。広告費は前年比110.2%で比較対象が増加</a:t>
            </a:r>
          </a:p>
        </p:txBody>
      </p:sp>
      <p:sp>
        <p:nvSpPr>
          <p:cNvPr id="30" name="Rectangle 21">
            <a:extLst>
              <a:ext uri="{FF2B5EF4-FFF2-40B4-BE49-F238E27FC236}">
                <a16:creationId xmlns:a16="http://schemas.microsoft.com/office/drawing/2014/main" id="{4DBE8D20-D000-63F5-78E8-0E87974E1648}"/>
              </a:ext>
            </a:extLst>
          </p:cNvPr>
          <p:cNvSpPr/>
          <p:nvPr/>
        </p:nvSpPr>
        <p:spPr>
          <a:xfrm>
            <a:off x="4861560" y="5347716"/>
            <a:ext cx="205740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000" b="0" dirty="0">
                <a:solidFill>
                  <a:srgbClr val="333333"/>
                </a:solidFill>
                <a:latin typeface="メイリオ" panose="020B0604030504040204" pitchFamily="50" charset="-128"/>
                <a:ea typeface="メイリオ" panose="020B0604030504040204" pitchFamily="50" charset="-128"/>
              </a:rPr>
              <a:t>1回の接触では決まらず、</a:t>
            </a:r>
            <a:endParaRPr lang="en-US" sz="1000" b="0" dirty="0">
              <a:solidFill>
                <a:srgbClr val="333333"/>
              </a:solidFill>
              <a:latin typeface="メイリオ" panose="020B0604030504040204" pitchFamily="50" charset="-128"/>
              <a:ea typeface="メイリオ" panose="020B0604030504040204" pitchFamily="50" charset="-128"/>
            </a:endParaRPr>
          </a:p>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離脱後の追客が要る</a:t>
            </a:r>
            <a:endParaRPr sz="1000" b="0" dirty="0">
              <a:solidFill>
                <a:srgbClr val="333333"/>
              </a:solidFill>
              <a:latin typeface="メイリオ" panose="020B0604030504040204" pitchFamily="50" charset="-128"/>
              <a:ea typeface="メイリオ" panose="020B0604030504040204" pitchFamily="50" charset="-128"/>
            </a:endParaRPr>
          </a:p>
        </p:txBody>
      </p:sp>
      <p:sp>
        <p:nvSpPr>
          <p:cNvPr id="31" name="Rectangle 22">
            <a:extLst>
              <a:ext uri="{FF2B5EF4-FFF2-40B4-BE49-F238E27FC236}">
                <a16:creationId xmlns:a16="http://schemas.microsoft.com/office/drawing/2014/main" id="{E546F08F-DCDF-7DC5-B4A8-B1568842B1C8}"/>
              </a:ext>
            </a:extLst>
          </p:cNvPr>
          <p:cNvSpPr/>
          <p:nvPr/>
        </p:nvSpPr>
        <p:spPr>
          <a:xfrm>
            <a:off x="7010400" y="5347716"/>
            <a:ext cx="2514600" cy="978408"/>
          </a:xfrm>
          <a:prstGeom prst="rect">
            <a:avLst/>
          </a:prstGeom>
          <a:solidFill>
            <a:srgbClr val="E4EAF6"/>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検討段階に合わせて</a:t>
            </a:r>
            <a:endParaRPr lang="en-US" sz="1150" b="1" dirty="0">
              <a:solidFill>
                <a:srgbClr val="1F2A5C"/>
              </a:solidFill>
              <a:latin typeface="メイリオ" panose="020B0604030504040204" pitchFamily="50" charset="-128"/>
              <a:ea typeface="メイリオ" panose="020B0604030504040204" pitchFamily="50" charset="-128"/>
            </a:endParaRPr>
          </a:p>
          <a:p>
            <a:pPr algn="l">
              <a:spcAft>
                <a:spcPts val="300"/>
              </a:spcAft>
            </a:pPr>
            <a:r>
              <a:rPr sz="1150" b="1" dirty="0" err="1">
                <a:solidFill>
                  <a:srgbClr val="FF0000"/>
                </a:solidFill>
                <a:latin typeface="メイリオ" panose="020B0604030504040204" pitchFamily="50" charset="-128"/>
                <a:ea typeface="メイリオ" panose="020B0604030504040204" pitchFamily="50" charset="-128"/>
              </a:rPr>
              <a:t>ステップ配信</a:t>
            </a:r>
            <a:r>
              <a:rPr sz="1150" b="1" dirty="0" err="1">
                <a:solidFill>
                  <a:srgbClr val="1F2A5C"/>
                </a:solidFill>
                <a:latin typeface="メイリオ" panose="020B0604030504040204" pitchFamily="50" charset="-128"/>
                <a:ea typeface="メイリオ" panose="020B0604030504040204" pitchFamily="50" charset="-128"/>
              </a:rPr>
              <a:t>で接触する</a:t>
            </a:r>
            <a:endParaRPr sz="1150" b="1" dirty="0">
              <a:solidFill>
                <a:srgbClr val="1F2A5C"/>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7693817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542F3-A366-2F77-BD90-8553126BF310}"/>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10EB49B5-9FC5-84CA-4DB1-FD1822B1AD4A}"/>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AAE0FF34-E36F-DACD-C81B-257EFD178A28}"/>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ACBE40DF-02FF-09AD-254C-C183AF288F03}"/>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LINEOA</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公式基礎</a:t>
            </a:r>
            <a:endParaRPr lang="ja-JP" altLang="en-US" sz="1100" dirty="0"/>
          </a:p>
        </p:txBody>
      </p:sp>
      <p:sp>
        <p:nvSpPr>
          <p:cNvPr id="7" name="テキスト ボックス 6">
            <a:extLst>
              <a:ext uri="{FF2B5EF4-FFF2-40B4-BE49-F238E27FC236}">
                <a16:creationId xmlns:a16="http://schemas.microsoft.com/office/drawing/2014/main" id="{6F82A582-FD96-0975-8BC7-695742F3474E}"/>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市況変化に伴い、</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施策の必要性が増加。反応率の高い</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公式を効率化することでマーケティングを最適化。</a:t>
            </a:r>
            <a:endParaRPr lang="ja-JP" altLang="en-US" sz="1000" dirty="0"/>
          </a:p>
        </p:txBody>
      </p:sp>
      <p:sp>
        <p:nvSpPr>
          <p:cNvPr id="9" name="テキスト ボックス 8">
            <a:extLst>
              <a:ext uri="{FF2B5EF4-FFF2-40B4-BE49-F238E27FC236}">
                <a16:creationId xmlns:a16="http://schemas.microsoft.com/office/drawing/2014/main" id="{AA2B66CF-65F8-FB43-708F-6D49976FCE6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23" name="図 22">
            <a:extLst>
              <a:ext uri="{FF2B5EF4-FFF2-40B4-BE49-F238E27FC236}">
                <a16:creationId xmlns:a16="http://schemas.microsoft.com/office/drawing/2014/main" id="{A3ED5CD5-2475-1675-D861-6DF0FEF85224}"/>
              </a:ext>
            </a:extLst>
          </p:cNvPr>
          <p:cNvPicPr>
            <a:picLocks noChangeAspect="1"/>
          </p:cNvPicPr>
          <p:nvPr/>
        </p:nvPicPr>
        <p:blipFill>
          <a:blip r:embed="rId2"/>
          <a:stretch>
            <a:fillRect/>
          </a:stretch>
        </p:blipFill>
        <p:spPr>
          <a:xfrm>
            <a:off x="4731535" y="1769209"/>
            <a:ext cx="4865885" cy="2313349"/>
          </a:xfrm>
          <a:prstGeom prst="rect">
            <a:avLst/>
          </a:prstGeom>
        </p:spPr>
      </p:pic>
      <p:pic>
        <p:nvPicPr>
          <p:cNvPr id="55" name="図 54">
            <a:extLst>
              <a:ext uri="{FF2B5EF4-FFF2-40B4-BE49-F238E27FC236}">
                <a16:creationId xmlns:a16="http://schemas.microsoft.com/office/drawing/2014/main" id="{6F101A2A-4E40-54D6-6EFF-FC688C1D2F0B}"/>
              </a:ext>
            </a:extLst>
          </p:cNvPr>
          <p:cNvPicPr>
            <a:picLocks noChangeAspect="1"/>
          </p:cNvPicPr>
          <p:nvPr/>
        </p:nvPicPr>
        <p:blipFill>
          <a:blip r:embed="rId3"/>
          <a:stretch>
            <a:fillRect/>
          </a:stretch>
        </p:blipFill>
        <p:spPr>
          <a:xfrm>
            <a:off x="121721" y="1796423"/>
            <a:ext cx="4547463" cy="2282442"/>
          </a:xfrm>
          <a:prstGeom prst="rect">
            <a:avLst/>
          </a:prstGeom>
        </p:spPr>
      </p:pic>
      <p:pic>
        <p:nvPicPr>
          <p:cNvPr id="4" name="図 3">
            <a:extLst>
              <a:ext uri="{FF2B5EF4-FFF2-40B4-BE49-F238E27FC236}">
                <a16:creationId xmlns:a16="http://schemas.microsoft.com/office/drawing/2014/main" id="{E64EEB20-E6D7-1754-B863-CE02D1637BAF}"/>
              </a:ext>
            </a:extLst>
          </p:cNvPr>
          <p:cNvPicPr>
            <a:picLocks noChangeAspect="1"/>
          </p:cNvPicPr>
          <p:nvPr/>
        </p:nvPicPr>
        <p:blipFill>
          <a:blip r:embed="rId4"/>
          <a:stretch>
            <a:fillRect/>
          </a:stretch>
        </p:blipFill>
        <p:spPr>
          <a:xfrm>
            <a:off x="4743273" y="4163531"/>
            <a:ext cx="5026817" cy="2263604"/>
          </a:xfrm>
          <a:prstGeom prst="rect">
            <a:avLst/>
          </a:prstGeom>
        </p:spPr>
      </p:pic>
      <p:pic>
        <p:nvPicPr>
          <p:cNvPr id="8" name="図 7">
            <a:extLst>
              <a:ext uri="{FF2B5EF4-FFF2-40B4-BE49-F238E27FC236}">
                <a16:creationId xmlns:a16="http://schemas.microsoft.com/office/drawing/2014/main" id="{4155BE30-8F47-BE42-0733-C328ACCE19E0}"/>
              </a:ext>
            </a:extLst>
          </p:cNvPr>
          <p:cNvPicPr>
            <a:picLocks noChangeAspect="1"/>
          </p:cNvPicPr>
          <p:nvPr/>
        </p:nvPicPr>
        <p:blipFill>
          <a:blip r:embed="rId5"/>
          <a:stretch>
            <a:fillRect/>
          </a:stretch>
        </p:blipFill>
        <p:spPr>
          <a:xfrm>
            <a:off x="144233" y="4162283"/>
            <a:ext cx="4502439" cy="2249497"/>
          </a:xfrm>
          <a:prstGeom prst="rect">
            <a:avLst/>
          </a:prstGeom>
        </p:spPr>
      </p:pic>
    </p:spTree>
    <p:extLst>
      <p:ext uri="{BB962C8B-B14F-4D97-AF65-F5344CB8AC3E}">
        <p14:creationId xmlns:p14="http://schemas.microsoft.com/office/powerpoint/2010/main" val="8868194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5F785-21C2-3B5C-6EEA-F1CBBF75AF74}"/>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0A6CFA27-8734-0256-59C9-95D2B252C115}"/>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3705FD20-7673-B4F7-9F0F-FDAA55CE0655}"/>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LINEOA</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公式基礎</a:t>
            </a:r>
            <a:endParaRPr lang="ja-JP" altLang="en-US" sz="1100" dirty="0"/>
          </a:p>
        </p:txBody>
      </p:sp>
      <p:sp>
        <p:nvSpPr>
          <p:cNvPr id="7" name="テキスト ボックス 6">
            <a:extLst>
              <a:ext uri="{FF2B5EF4-FFF2-40B4-BE49-F238E27FC236}">
                <a16:creationId xmlns:a16="http://schemas.microsoft.com/office/drawing/2014/main" id="{4C9CF45E-C71E-D1AB-5CC4-7A1544E4139F}"/>
              </a:ext>
            </a:extLst>
          </p:cNvPr>
          <p:cNvSpPr txBox="1"/>
          <p:nvPr/>
        </p:nvSpPr>
        <p:spPr>
          <a:xfrm>
            <a:off x="96788" y="1202790"/>
            <a:ext cx="7594930"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市況変化の中で、</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公式アカウントを導入・最適化すべき</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4</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つの理由</a:t>
            </a:r>
            <a:endParaRPr lang="ja-JP" altLang="en-US" sz="1000" dirty="0"/>
          </a:p>
        </p:txBody>
      </p:sp>
      <p:sp>
        <p:nvSpPr>
          <p:cNvPr id="9" name="テキスト ボックス 8">
            <a:extLst>
              <a:ext uri="{FF2B5EF4-FFF2-40B4-BE49-F238E27FC236}">
                <a16:creationId xmlns:a16="http://schemas.microsoft.com/office/drawing/2014/main" id="{2466A3D1-79A2-FC11-5F03-CB24F3F95CFB}"/>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70" name="図 69">
            <a:extLst>
              <a:ext uri="{FF2B5EF4-FFF2-40B4-BE49-F238E27FC236}">
                <a16:creationId xmlns:a16="http://schemas.microsoft.com/office/drawing/2014/main" id="{BD57C684-39A2-ED1F-858B-037F82BEC993}"/>
              </a:ext>
            </a:extLst>
          </p:cNvPr>
          <p:cNvPicPr>
            <a:picLocks noChangeAspect="1"/>
          </p:cNvPicPr>
          <p:nvPr/>
        </p:nvPicPr>
        <p:blipFill>
          <a:blip r:embed="rId2"/>
          <a:stretch>
            <a:fillRect/>
          </a:stretch>
        </p:blipFill>
        <p:spPr>
          <a:xfrm>
            <a:off x="4743273" y="4163531"/>
            <a:ext cx="5026817" cy="2263604"/>
          </a:xfrm>
          <a:prstGeom prst="rect">
            <a:avLst/>
          </a:prstGeom>
        </p:spPr>
      </p:pic>
      <p:pic>
        <p:nvPicPr>
          <p:cNvPr id="72" name="図 71">
            <a:extLst>
              <a:ext uri="{FF2B5EF4-FFF2-40B4-BE49-F238E27FC236}">
                <a16:creationId xmlns:a16="http://schemas.microsoft.com/office/drawing/2014/main" id="{CAD0F638-4BB5-8204-757C-602FB0EFC388}"/>
              </a:ext>
            </a:extLst>
          </p:cNvPr>
          <p:cNvPicPr>
            <a:picLocks noChangeAspect="1"/>
          </p:cNvPicPr>
          <p:nvPr/>
        </p:nvPicPr>
        <p:blipFill>
          <a:blip r:embed="rId3"/>
          <a:stretch>
            <a:fillRect/>
          </a:stretch>
        </p:blipFill>
        <p:spPr>
          <a:xfrm>
            <a:off x="144233" y="4162283"/>
            <a:ext cx="4502439" cy="2249497"/>
          </a:xfrm>
          <a:prstGeom prst="rect">
            <a:avLst/>
          </a:prstGeom>
        </p:spPr>
      </p:pic>
      <p:pic>
        <p:nvPicPr>
          <p:cNvPr id="89" name="図 88">
            <a:extLst>
              <a:ext uri="{FF2B5EF4-FFF2-40B4-BE49-F238E27FC236}">
                <a16:creationId xmlns:a16="http://schemas.microsoft.com/office/drawing/2014/main" id="{1E7DD73A-5ACE-57F2-3D84-1CCFDEA9CEE5}"/>
              </a:ext>
            </a:extLst>
          </p:cNvPr>
          <p:cNvPicPr>
            <a:picLocks noChangeAspect="1"/>
          </p:cNvPicPr>
          <p:nvPr/>
        </p:nvPicPr>
        <p:blipFill>
          <a:blip r:embed="rId4"/>
          <a:stretch>
            <a:fillRect/>
          </a:stretch>
        </p:blipFill>
        <p:spPr>
          <a:xfrm>
            <a:off x="4731535" y="1777918"/>
            <a:ext cx="4865885" cy="2313349"/>
          </a:xfrm>
          <a:prstGeom prst="rect">
            <a:avLst/>
          </a:prstGeom>
        </p:spPr>
      </p:pic>
      <p:pic>
        <p:nvPicPr>
          <p:cNvPr id="91" name="図 90">
            <a:extLst>
              <a:ext uri="{FF2B5EF4-FFF2-40B4-BE49-F238E27FC236}">
                <a16:creationId xmlns:a16="http://schemas.microsoft.com/office/drawing/2014/main" id="{FCAF1797-0FF8-82BA-FC52-3C1CCD7A2ED5}"/>
              </a:ext>
            </a:extLst>
          </p:cNvPr>
          <p:cNvPicPr>
            <a:picLocks noChangeAspect="1"/>
          </p:cNvPicPr>
          <p:nvPr/>
        </p:nvPicPr>
        <p:blipFill>
          <a:blip r:embed="rId5"/>
          <a:stretch>
            <a:fillRect/>
          </a:stretch>
        </p:blipFill>
        <p:spPr>
          <a:xfrm>
            <a:off x="121721" y="1805132"/>
            <a:ext cx="4547463" cy="2282442"/>
          </a:xfrm>
          <a:prstGeom prst="rect">
            <a:avLst/>
          </a:prstGeom>
        </p:spPr>
      </p:pic>
      <p:sp>
        <p:nvSpPr>
          <p:cNvPr id="109" name="正方形/長方形 108">
            <a:extLst>
              <a:ext uri="{FF2B5EF4-FFF2-40B4-BE49-F238E27FC236}">
                <a16:creationId xmlns:a16="http://schemas.microsoft.com/office/drawing/2014/main" id="{75E2613C-ECFC-1043-6B48-5CC36CDAEA49}"/>
              </a:ext>
            </a:extLst>
          </p:cNvPr>
          <p:cNvSpPr/>
          <p:nvPr/>
        </p:nvSpPr>
        <p:spPr>
          <a:xfrm>
            <a:off x="79632" y="1705966"/>
            <a:ext cx="9721727" cy="4805339"/>
          </a:xfrm>
          <a:prstGeom prst="rect">
            <a:avLst/>
          </a:prstGeom>
          <a:solidFill>
            <a:schemeClr val="bg1">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11" name="正方形/長方形 110">
            <a:extLst>
              <a:ext uri="{FF2B5EF4-FFF2-40B4-BE49-F238E27FC236}">
                <a16:creationId xmlns:a16="http://schemas.microsoft.com/office/drawing/2014/main" id="{99739246-55F4-690F-7FCA-3A6125F81DC0}"/>
              </a:ext>
            </a:extLst>
          </p:cNvPr>
          <p:cNvSpPr/>
          <p:nvPr/>
        </p:nvSpPr>
        <p:spPr>
          <a:xfrm>
            <a:off x="212090" y="1717992"/>
            <a:ext cx="4646483" cy="2328629"/>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b="1" dirty="0">
                <a:solidFill>
                  <a:schemeClr val="tx1"/>
                </a:solidFill>
                <a:latin typeface="メイリオ" panose="020B0604030504040204" pitchFamily="50" charset="-128"/>
                <a:ea typeface="メイリオ" panose="020B0604030504040204" pitchFamily="50" charset="-128"/>
              </a:rPr>
              <a:t>LINE</a:t>
            </a:r>
            <a:r>
              <a:rPr lang="ja-JP" altLang="en-US" sz="2000" b="1" dirty="0">
                <a:solidFill>
                  <a:schemeClr val="tx1"/>
                </a:solidFill>
                <a:latin typeface="メイリオ" panose="020B0604030504040204" pitchFamily="50" charset="-128"/>
                <a:ea typeface="メイリオ" panose="020B0604030504040204" pitchFamily="50" charset="-128"/>
              </a:rPr>
              <a:t>施策の重要性</a:t>
            </a:r>
            <a:endParaRPr lang="en-US" altLang="ja-JP" sz="2000" b="1" dirty="0">
              <a:solidFill>
                <a:schemeClr val="tx1"/>
              </a:solidFill>
              <a:latin typeface="メイリオ" panose="020B0604030504040204" pitchFamily="50" charset="-128"/>
              <a:ea typeface="メイリオ" panose="020B0604030504040204" pitchFamily="50" charset="-128"/>
            </a:endParaRPr>
          </a:p>
          <a:p>
            <a:pPr algn="ctr"/>
            <a:endParaRPr lang="en-US" altLang="ja-JP" sz="1400" b="1" dirty="0">
              <a:solidFill>
                <a:schemeClr val="tx1"/>
              </a:solidFill>
              <a:latin typeface="メイリオ" panose="020B0604030504040204" pitchFamily="50" charset="-128"/>
              <a:ea typeface="メイリオ" panose="020B0604030504040204" pitchFamily="50" charset="-128"/>
            </a:endParaRPr>
          </a:p>
          <a:p>
            <a:pPr algn="ctr"/>
            <a:r>
              <a:rPr lang="ja-JP" altLang="en-US" sz="1400" b="1" dirty="0">
                <a:solidFill>
                  <a:schemeClr val="tx1"/>
                </a:solidFill>
                <a:latin typeface="メイリオ" panose="020B0604030504040204" pitchFamily="50" charset="-128"/>
                <a:ea typeface="メイリオ" panose="020B0604030504040204" pitchFamily="50" charset="-128"/>
              </a:rPr>
              <a:t>開封率、開封時間ともに高効率</a:t>
            </a:r>
            <a:r>
              <a:rPr lang="ja-JP" altLang="en-US" sz="1400" dirty="0">
                <a:solidFill>
                  <a:schemeClr val="tx1"/>
                </a:solidFill>
                <a:latin typeface="メイリオ" panose="020B0604030504040204" pitchFamily="50" charset="-128"/>
                <a:ea typeface="メイリオ" panose="020B0604030504040204" pitchFamily="50" charset="-128"/>
              </a:rPr>
              <a:t>。</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ja-JP" altLang="en-US" sz="1400" dirty="0">
                <a:solidFill>
                  <a:schemeClr val="tx1"/>
                </a:solidFill>
                <a:latin typeface="メイリオ" panose="020B0604030504040204" pitchFamily="50" charset="-128"/>
                <a:ea typeface="メイリオ" panose="020B0604030504040204" pitchFamily="50" charset="-128"/>
              </a:rPr>
              <a:t>今後のマーケティングに必須のチャネル。</a:t>
            </a: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13" name="正方形/長方形 112">
            <a:extLst>
              <a:ext uri="{FF2B5EF4-FFF2-40B4-BE49-F238E27FC236}">
                <a16:creationId xmlns:a16="http://schemas.microsoft.com/office/drawing/2014/main" id="{36DF7064-F61C-CF57-16F4-3ED4FE3F0D7A}"/>
              </a:ext>
            </a:extLst>
          </p:cNvPr>
          <p:cNvSpPr/>
          <p:nvPr/>
        </p:nvSpPr>
        <p:spPr>
          <a:xfrm>
            <a:off x="4929998" y="1717020"/>
            <a:ext cx="4646483" cy="2328629"/>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b="1" dirty="0">
                <a:solidFill>
                  <a:schemeClr val="tx1"/>
                </a:solidFill>
                <a:latin typeface="メイリオ" panose="020B0604030504040204" pitchFamily="50" charset="-128"/>
                <a:ea typeface="メイリオ" panose="020B0604030504040204" pitchFamily="50" charset="-128"/>
              </a:rPr>
              <a:t>友だち追加後の最適化</a:t>
            </a:r>
            <a:endParaRPr lang="en-US" altLang="ja-JP" sz="2000" b="1" dirty="0">
              <a:solidFill>
                <a:schemeClr val="tx1"/>
              </a:solidFill>
              <a:latin typeface="メイリオ" panose="020B0604030504040204" pitchFamily="50" charset="-128"/>
              <a:ea typeface="メイリオ" panose="020B0604030504040204" pitchFamily="50" charset="-128"/>
            </a:endParaRPr>
          </a:p>
          <a:p>
            <a:pPr algn="ctr"/>
            <a:endParaRPr lang="en-US" altLang="ja-JP" sz="1400" b="1" dirty="0">
              <a:solidFill>
                <a:schemeClr val="tx1"/>
              </a:solidFill>
              <a:latin typeface="メイリオ" panose="020B0604030504040204" pitchFamily="50" charset="-128"/>
              <a:ea typeface="メイリオ" panose="020B0604030504040204" pitchFamily="50" charset="-128"/>
            </a:endParaRPr>
          </a:p>
          <a:p>
            <a:pPr algn="ctr"/>
            <a:r>
              <a:rPr lang="en-US" altLang="ja-JP" sz="1400" dirty="0">
                <a:solidFill>
                  <a:schemeClr val="tx1"/>
                </a:solidFill>
                <a:latin typeface="メイリオ" panose="020B0604030504040204" pitchFamily="50" charset="-128"/>
                <a:ea typeface="メイリオ" panose="020B0604030504040204" pitchFamily="50" charset="-128"/>
              </a:rPr>
              <a:t>LINE</a:t>
            </a:r>
            <a:r>
              <a:rPr lang="ja-JP" altLang="en-US" sz="1400" dirty="0">
                <a:solidFill>
                  <a:schemeClr val="tx1"/>
                </a:solidFill>
                <a:latin typeface="メイリオ" panose="020B0604030504040204" pitchFamily="50" charset="-128"/>
                <a:ea typeface="メイリオ" panose="020B0604030504040204" pitchFamily="50" charset="-128"/>
              </a:rPr>
              <a:t>友だち追加後</a:t>
            </a:r>
            <a:r>
              <a:rPr lang="en-US" altLang="ja-JP" sz="1400" dirty="0">
                <a:solidFill>
                  <a:schemeClr val="tx1"/>
                </a:solidFill>
                <a:latin typeface="メイリオ" panose="020B0604030504040204" pitchFamily="50" charset="-128"/>
                <a:ea typeface="メイリオ" panose="020B0604030504040204" pitchFamily="50" charset="-128"/>
              </a:rPr>
              <a:t>30</a:t>
            </a:r>
            <a:r>
              <a:rPr lang="ja-JP" altLang="en-US" sz="1400" dirty="0">
                <a:solidFill>
                  <a:schemeClr val="tx1"/>
                </a:solidFill>
                <a:latin typeface="メイリオ" panose="020B0604030504040204" pitchFamily="50" charset="-128"/>
                <a:ea typeface="メイリオ" panose="020B0604030504040204" pitchFamily="50" charset="-128"/>
              </a:rPr>
              <a:t>日、</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ja-JP" altLang="en-US" sz="1400" b="1" dirty="0">
                <a:solidFill>
                  <a:schemeClr val="tx1"/>
                </a:solidFill>
                <a:latin typeface="メイリオ" panose="020B0604030504040204" pitchFamily="50" charset="-128"/>
                <a:ea typeface="メイリオ" panose="020B0604030504040204" pitchFamily="50" charset="-128"/>
              </a:rPr>
              <a:t>初期誘導の最適化は重要性が高い</a:t>
            </a:r>
            <a:r>
              <a:rPr lang="ja-JP" altLang="en-US" sz="1400" dirty="0">
                <a:solidFill>
                  <a:schemeClr val="tx1"/>
                </a:solidFill>
                <a:latin typeface="メイリオ" panose="020B0604030504040204" pitchFamily="50" charset="-128"/>
                <a:ea typeface="メイリオ" panose="020B0604030504040204" pitchFamily="50" charset="-128"/>
              </a:rPr>
              <a:t>。</a:t>
            </a: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15" name="正方形/長方形 114">
            <a:extLst>
              <a:ext uri="{FF2B5EF4-FFF2-40B4-BE49-F238E27FC236}">
                <a16:creationId xmlns:a16="http://schemas.microsoft.com/office/drawing/2014/main" id="{B413D49B-5D6C-8C2D-7652-878361DCE9FD}"/>
              </a:ext>
            </a:extLst>
          </p:cNvPr>
          <p:cNvSpPr/>
          <p:nvPr/>
        </p:nvSpPr>
        <p:spPr>
          <a:xfrm>
            <a:off x="212090" y="4103895"/>
            <a:ext cx="4646483" cy="2328629"/>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000" b="1" dirty="0">
                <a:solidFill>
                  <a:srgbClr val="FF0000"/>
                </a:solidFill>
                <a:latin typeface="メイリオ" panose="020B0604030504040204" pitchFamily="50" charset="-128"/>
                <a:ea typeface="メイリオ" panose="020B0604030504040204" pitchFamily="50" charset="-128"/>
              </a:rPr>
              <a:t>集客</a:t>
            </a:r>
            <a:r>
              <a:rPr kumimoji="1" lang="en-US" altLang="ja-JP" sz="2000" b="1" dirty="0">
                <a:solidFill>
                  <a:srgbClr val="FF0000"/>
                </a:solidFill>
                <a:latin typeface="メイリオ" panose="020B0604030504040204" pitchFamily="50" charset="-128"/>
                <a:ea typeface="メイリオ" panose="020B0604030504040204" pitchFamily="50" charset="-128"/>
              </a:rPr>
              <a:t>CPA</a:t>
            </a:r>
            <a:r>
              <a:rPr kumimoji="1" lang="ja-JP" altLang="en-US" sz="2000" b="1" dirty="0">
                <a:solidFill>
                  <a:srgbClr val="FF0000"/>
                </a:solidFill>
                <a:latin typeface="メイリオ" panose="020B0604030504040204" pitchFamily="50" charset="-128"/>
                <a:ea typeface="メイリオ" panose="020B0604030504040204" pitchFamily="50" charset="-128"/>
              </a:rPr>
              <a:t>改善の必要性</a:t>
            </a:r>
            <a:endParaRPr kumimoji="1" lang="en-US" altLang="ja-JP" sz="2000" b="1" dirty="0">
              <a:solidFill>
                <a:srgbClr val="FF0000"/>
              </a:solidFill>
              <a:latin typeface="メイリオ" panose="020B0604030504040204" pitchFamily="50" charset="-128"/>
              <a:ea typeface="メイリオ" panose="020B0604030504040204" pitchFamily="50" charset="-128"/>
            </a:endParaRPr>
          </a:p>
          <a:p>
            <a:pPr algn="ctr"/>
            <a:endParaRPr lang="en-US" altLang="ja-JP" sz="1400" b="1" dirty="0">
              <a:solidFill>
                <a:srgbClr val="FF0000"/>
              </a:solidFill>
              <a:latin typeface="メイリオ" panose="020B0604030504040204" pitchFamily="50" charset="-128"/>
              <a:ea typeface="メイリオ" panose="020B0604030504040204" pitchFamily="50" charset="-128"/>
            </a:endParaRPr>
          </a:p>
          <a:p>
            <a:pPr algn="ctr"/>
            <a:r>
              <a:rPr kumimoji="1" lang="ja-JP" altLang="en-US" sz="1400" dirty="0">
                <a:solidFill>
                  <a:srgbClr val="FF0000"/>
                </a:solidFill>
                <a:latin typeface="メイリオ" panose="020B0604030504040204" pitchFamily="50" charset="-128"/>
                <a:ea typeface="メイリオ" panose="020B0604030504040204" pitchFamily="50" charset="-128"/>
              </a:rPr>
              <a:t>広告離脱の</a:t>
            </a:r>
            <a:r>
              <a:rPr kumimoji="1" lang="en-US" altLang="ja-JP" sz="1400" dirty="0">
                <a:solidFill>
                  <a:srgbClr val="FF0000"/>
                </a:solidFill>
                <a:latin typeface="メイリオ" panose="020B0604030504040204" pitchFamily="50" charset="-128"/>
                <a:ea typeface="メイリオ" panose="020B0604030504040204" pitchFamily="50" charset="-128"/>
              </a:rPr>
              <a:t>98%</a:t>
            </a:r>
            <a:r>
              <a:rPr kumimoji="1" lang="ja-JP" altLang="en-US" sz="1400" dirty="0">
                <a:solidFill>
                  <a:srgbClr val="FF0000"/>
                </a:solidFill>
                <a:latin typeface="メイリオ" panose="020B0604030504040204" pitchFamily="50" charset="-128"/>
                <a:ea typeface="メイリオ" panose="020B0604030504040204" pitchFamily="50" charset="-128"/>
              </a:rPr>
              <a:t>は接触が難しい。</a:t>
            </a:r>
            <a:endParaRPr kumimoji="1" lang="en-US" altLang="ja-JP" sz="1400" dirty="0">
              <a:solidFill>
                <a:srgbClr val="FF0000"/>
              </a:solidFill>
              <a:latin typeface="メイリオ" panose="020B0604030504040204" pitchFamily="50" charset="-128"/>
              <a:ea typeface="メイリオ" panose="020B0604030504040204" pitchFamily="50" charset="-128"/>
            </a:endParaRPr>
          </a:p>
          <a:p>
            <a:pPr algn="ctr"/>
            <a:r>
              <a:rPr lang="ja-JP" altLang="en-US" sz="1400" b="1" dirty="0">
                <a:solidFill>
                  <a:srgbClr val="FF0000"/>
                </a:solidFill>
                <a:latin typeface="メイリオ" panose="020B0604030504040204" pitchFamily="50" charset="-128"/>
                <a:ea typeface="メイリオ" panose="020B0604030504040204" pitchFamily="50" charset="-128"/>
              </a:rPr>
              <a:t>離脱理由を洗い出し再追客へ</a:t>
            </a:r>
            <a:r>
              <a:rPr lang="ja-JP" altLang="en-US" sz="1400" dirty="0">
                <a:solidFill>
                  <a:srgbClr val="FF0000"/>
                </a:solidFill>
                <a:latin typeface="メイリオ" panose="020B0604030504040204" pitchFamily="50" charset="-128"/>
                <a:ea typeface="メイリオ" panose="020B0604030504040204" pitchFamily="50" charset="-128"/>
              </a:rPr>
              <a:t>乗せる。</a:t>
            </a:r>
            <a:endParaRPr kumimoji="1" lang="en-US" altLang="ja-JP" sz="1400" dirty="0">
              <a:solidFill>
                <a:srgbClr val="FF0000"/>
              </a:solidFill>
              <a:latin typeface="メイリオ" panose="020B0604030504040204" pitchFamily="50" charset="-128"/>
              <a:ea typeface="メイリオ" panose="020B0604030504040204" pitchFamily="50" charset="-128"/>
            </a:endParaRPr>
          </a:p>
        </p:txBody>
      </p:sp>
      <p:sp>
        <p:nvSpPr>
          <p:cNvPr id="119" name="正方形/長方形 118">
            <a:extLst>
              <a:ext uri="{FF2B5EF4-FFF2-40B4-BE49-F238E27FC236}">
                <a16:creationId xmlns:a16="http://schemas.microsoft.com/office/drawing/2014/main" id="{C700F13F-7FE1-285C-0D95-84AA99805426}"/>
              </a:ext>
            </a:extLst>
          </p:cNvPr>
          <p:cNvSpPr/>
          <p:nvPr/>
        </p:nvSpPr>
        <p:spPr>
          <a:xfrm>
            <a:off x="4929998" y="4103895"/>
            <a:ext cx="4646483" cy="2328629"/>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b="1" dirty="0">
                <a:solidFill>
                  <a:srgbClr val="FF0000"/>
                </a:solidFill>
                <a:latin typeface="メイリオ" panose="020B0604030504040204" pitchFamily="50" charset="-128"/>
                <a:ea typeface="メイリオ" panose="020B0604030504040204" pitchFamily="50" charset="-128"/>
              </a:rPr>
              <a:t>CPO</a:t>
            </a:r>
            <a:r>
              <a:rPr lang="ja-JP" altLang="en-US" sz="2000" b="1" dirty="0">
                <a:solidFill>
                  <a:srgbClr val="FF0000"/>
                </a:solidFill>
                <a:latin typeface="メイリオ" panose="020B0604030504040204" pitchFamily="50" charset="-128"/>
                <a:ea typeface="メイリオ" panose="020B0604030504040204" pitchFamily="50" charset="-128"/>
              </a:rPr>
              <a:t>・</a:t>
            </a:r>
            <a:r>
              <a:rPr lang="en-US" altLang="ja-JP" sz="2000" b="1" dirty="0">
                <a:solidFill>
                  <a:srgbClr val="FF0000"/>
                </a:solidFill>
                <a:latin typeface="メイリオ" panose="020B0604030504040204" pitchFamily="50" charset="-128"/>
                <a:ea typeface="メイリオ" panose="020B0604030504040204" pitchFamily="50" charset="-128"/>
              </a:rPr>
              <a:t>CPA</a:t>
            </a:r>
            <a:r>
              <a:rPr lang="ja-JP" altLang="en-US" sz="2000" b="1" dirty="0">
                <a:solidFill>
                  <a:srgbClr val="FF0000"/>
                </a:solidFill>
                <a:latin typeface="メイリオ" panose="020B0604030504040204" pitchFamily="50" charset="-128"/>
                <a:ea typeface="メイリオ" panose="020B0604030504040204" pitchFamily="50" charset="-128"/>
              </a:rPr>
              <a:t>改善</a:t>
            </a:r>
            <a:endParaRPr lang="en-US" altLang="ja-JP" sz="2000" b="1" dirty="0">
              <a:solidFill>
                <a:srgbClr val="FF0000"/>
              </a:solidFill>
              <a:latin typeface="メイリオ" panose="020B0604030504040204" pitchFamily="50" charset="-128"/>
              <a:ea typeface="メイリオ" panose="020B0604030504040204" pitchFamily="50" charset="-128"/>
            </a:endParaRPr>
          </a:p>
          <a:p>
            <a:pPr algn="ctr"/>
            <a:endParaRPr lang="en-US" altLang="ja-JP" sz="1400" b="1" dirty="0">
              <a:solidFill>
                <a:srgbClr val="FF0000"/>
              </a:solidFill>
              <a:latin typeface="メイリオ" panose="020B0604030504040204" pitchFamily="50" charset="-128"/>
              <a:ea typeface="メイリオ" panose="020B0604030504040204" pitchFamily="50" charset="-128"/>
            </a:endParaRPr>
          </a:p>
          <a:p>
            <a:pPr algn="ctr"/>
            <a:r>
              <a:rPr lang="ja-JP" altLang="en-US" sz="1400" dirty="0">
                <a:solidFill>
                  <a:srgbClr val="FF0000"/>
                </a:solidFill>
                <a:latin typeface="メイリオ" panose="020B0604030504040204" pitchFamily="50" charset="-128"/>
                <a:ea typeface="メイリオ" panose="020B0604030504040204" pitchFamily="50" charset="-128"/>
              </a:rPr>
              <a:t>成果地点、課金地点には、</a:t>
            </a:r>
            <a:endParaRPr lang="en-US" altLang="ja-JP" sz="1400" dirty="0">
              <a:solidFill>
                <a:srgbClr val="FF0000"/>
              </a:solidFill>
              <a:latin typeface="メイリオ" panose="020B0604030504040204" pitchFamily="50" charset="-128"/>
              <a:ea typeface="メイリオ" panose="020B0604030504040204" pitchFamily="50" charset="-128"/>
            </a:endParaRPr>
          </a:p>
          <a:p>
            <a:pPr algn="ctr"/>
            <a:r>
              <a:rPr lang="en-US" altLang="ja-JP" sz="1400" b="1" dirty="0">
                <a:solidFill>
                  <a:srgbClr val="FF0000"/>
                </a:solidFill>
                <a:latin typeface="メイリオ" panose="020B0604030504040204" pitchFamily="50" charset="-128"/>
                <a:ea typeface="メイリオ" panose="020B0604030504040204" pitchFamily="50" charset="-128"/>
              </a:rPr>
              <a:t>LINE</a:t>
            </a:r>
            <a:r>
              <a:rPr lang="ja-JP" altLang="en-US" sz="1400" b="1" dirty="0">
                <a:solidFill>
                  <a:srgbClr val="FF0000"/>
                </a:solidFill>
                <a:latin typeface="メイリオ" panose="020B0604030504040204" pitchFamily="50" charset="-128"/>
                <a:ea typeface="メイリオ" panose="020B0604030504040204" pitchFamily="50" charset="-128"/>
              </a:rPr>
              <a:t>追加から平均</a:t>
            </a:r>
            <a:r>
              <a:rPr lang="en-US" altLang="ja-JP" sz="1400" b="1" dirty="0">
                <a:solidFill>
                  <a:srgbClr val="FF0000"/>
                </a:solidFill>
                <a:latin typeface="メイリオ" panose="020B0604030504040204" pitchFamily="50" charset="-128"/>
                <a:ea typeface="メイリオ" panose="020B0604030504040204" pitchFamily="50" charset="-128"/>
              </a:rPr>
              <a:t>3%</a:t>
            </a:r>
            <a:r>
              <a:rPr lang="ja-JP" altLang="en-US" sz="1400" b="1" dirty="0">
                <a:solidFill>
                  <a:srgbClr val="FF0000"/>
                </a:solidFill>
                <a:latin typeface="メイリオ" panose="020B0604030504040204" pitchFamily="50" charset="-128"/>
                <a:ea typeface="メイリオ" panose="020B0604030504040204" pitchFamily="50" charset="-128"/>
              </a:rPr>
              <a:t>が到達</a:t>
            </a:r>
            <a:r>
              <a:rPr lang="ja-JP" altLang="en-US" sz="1400" dirty="0">
                <a:solidFill>
                  <a:srgbClr val="FF0000"/>
                </a:solidFill>
                <a:latin typeface="メイリオ" panose="020B0604030504040204" pitchFamily="50" charset="-128"/>
                <a:ea typeface="メイリオ" panose="020B0604030504040204" pitchFamily="50" charset="-128"/>
              </a:rPr>
              <a:t>する。</a:t>
            </a:r>
            <a:endParaRPr lang="en-US" altLang="ja-JP" sz="1400" dirty="0">
              <a:solidFill>
                <a:srgbClr val="FF0000"/>
              </a:solidFill>
              <a:latin typeface="メイリオ" panose="020B0604030504040204" pitchFamily="50" charset="-128"/>
              <a:ea typeface="メイリオ" panose="020B0604030504040204" pitchFamily="50" charset="-128"/>
            </a:endParaRPr>
          </a:p>
        </p:txBody>
      </p:sp>
      <p:sp>
        <p:nvSpPr>
          <p:cNvPr id="123" name="テキスト ボックス 122">
            <a:extLst>
              <a:ext uri="{FF2B5EF4-FFF2-40B4-BE49-F238E27FC236}">
                <a16:creationId xmlns:a16="http://schemas.microsoft.com/office/drawing/2014/main" id="{9E10ACB5-DE72-A1D7-3234-7AA6EA065B02}"/>
              </a:ext>
            </a:extLst>
          </p:cNvPr>
          <p:cNvSpPr txBox="1"/>
          <p:nvPr/>
        </p:nvSpPr>
        <p:spPr>
          <a:xfrm>
            <a:off x="5001123" y="5732571"/>
            <a:ext cx="4512622" cy="230832"/>
          </a:xfrm>
          <a:prstGeom prst="rect">
            <a:avLst/>
          </a:prstGeom>
          <a:noFill/>
        </p:spPr>
        <p:txBody>
          <a:bodyPr wrap="square">
            <a:spAutoFit/>
          </a:bodyPr>
          <a:lstStyle/>
          <a:p>
            <a:pPr algn="ctr"/>
            <a:r>
              <a:rPr lang="ja-JP" altLang="en-US" sz="900" dirty="0">
                <a:solidFill>
                  <a:srgbClr val="FF0000"/>
                </a:solidFill>
                <a:latin typeface="メイリオ" panose="020B0604030504040204" pitchFamily="50" charset="-128"/>
                <a:ea typeface="メイリオ" panose="020B0604030504040204" pitchFamily="50" charset="-128"/>
              </a:rPr>
              <a:t>友だち追加動線により変動します。</a:t>
            </a:r>
            <a:endParaRPr lang="ja-JP" altLang="en-US" sz="1050" dirty="0"/>
          </a:p>
        </p:txBody>
      </p:sp>
      <p:sp>
        <p:nvSpPr>
          <p:cNvPr id="125" name="正方形/長方形 124">
            <a:extLst>
              <a:ext uri="{FF2B5EF4-FFF2-40B4-BE49-F238E27FC236}">
                <a16:creationId xmlns:a16="http://schemas.microsoft.com/office/drawing/2014/main" id="{8AA79FF8-045D-B91F-3862-26BD57F723BA}"/>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8190597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3BF2E0-298A-DE54-F38D-F332A9024833}"/>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EFE01AEC-8FF5-06AC-4A88-BD6045B9E3F6}"/>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7016A7A6-DF0F-17C1-E44D-81012735C6E3}"/>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02</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FD928B8B-A353-F88C-1716-B9953B8561FD}"/>
              </a:ext>
            </a:extLst>
          </p:cNvPr>
          <p:cNvSpPr txBox="1"/>
          <p:nvPr/>
        </p:nvSpPr>
        <p:spPr>
          <a:xfrm>
            <a:off x="1867143" y="1043132"/>
            <a:ext cx="5028957" cy="707846"/>
          </a:xfrm>
          <a:prstGeom prst="rect">
            <a:avLst/>
          </a:prstGeom>
          <a:noFill/>
          <a:ln>
            <a:noFill/>
          </a:ln>
        </p:spPr>
        <p:txBody>
          <a:bodyPr spcFirstLastPara="1" wrap="square" lIns="91425" tIns="45700" rIns="91425" bIns="45700" anchor="ctr" anchorCtr="0">
            <a:spAutoFit/>
          </a:bodyPr>
          <a:lstStyle/>
          <a:p>
            <a:pPr lvl="0"/>
            <a:r>
              <a:rPr lang="en-US" altLang="ja-JP"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LINE</a:t>
            </a:r>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施策全体図</a:t>
            </a:r>
          </a:p>
        </p:txBody>
      </p:sp>
      <p:cxnSp>
        <p:nvCxnSpPr>
          <p:cNvPr id="17" name="直線コネクタ 16">
            <a:extLst>
              <a:ext uri="{FF2B5EF4-FFF2-40B4-BE49-F238E27FC236}">
                <a16:creationId xmlns:a16="http://schemas.microsoft.com/office/drawing/2014/main" id="{DE9E7AD0-8EFD-8BF5-38BD-5DDFF49DC62F}"/>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075251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AA833-D3F3-93C3-12E0-73EBD257A29B}"/>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AEDFC864-0FC1-906B-B68E-650BA4B41D40}"/>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F535991-533F-EFBE-4AEE-48F51BFAA707}"/>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A6CD0D3C-91C0-AC26-EA06-0D9436780C74}"/>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ユーザーファネルの考え方</a:t>
            </a:r>
            <a:endParaRPr lang="ja-JP" altLang="en-US" sz="1100" dirty="0"/>
          </a:p>
        </p:txBody>
      </p:sp>
      <p:sp>
        <p:nvSpPr>
          <p:cNvPr id="7" name="テキスト ボックス 6">
            <a:extLst>
              <a:ext uri="{FF2B5EF4-FFF2-40B4-BE49-F238E27FC236}">
                <a16:creationId xmlns:a16="http://schemas.microsoft.com/office/drawing/2014/main" id="{E2E43B61-D3D6-CF9F-215E-9E9F057C93FC}"/>
              </a:ext>
            </a:extLst>
          </p:cNvPr>
          <p:cNvSpPr txBox="1"/>
          <p:nvPr/>
        </p:nvSpPr>
        <p:spPr>
          <a:xfrm>
            <a:off x="96788" y="1202790"/>
            <a:ext cx="9687414" cy="307777"/>
          </a:xfrm>
          <a:prstGeom prst="rect">
            <a:avLst/>
          </a:prstGeom>
          <a:noFill/>
        </p:spPr>
        <p:txBody>
          <a:bodyPr wrap="square">
            <a:spAutoFit/>
          </a:bodyPr>
          <a:lstStyle/>
          <a:p>
            <a:r>
              <a:rPr lang="ja-JP" altLang="en-US" sz="14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集客・友だち追加</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から </a:t>
            </a:r>
            <a:r>
              <a:rPr lang="ja-JP" altLang="en-US" sz="14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育成・反響</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までの全体動線設計</a:t>
            </a:r>
            <a:endParaRPr lang="ja-JP" altLang="en-US" sz="1000" dirty="0"/>
          </a:p>
        </p:txBody>
      </p:sp>
      <p:sp>
        <p:nvSpPr>
          <p:cNvPr id="9" name="テキスト ボックス 8">
            <a:extLst>
              <a:ext uri="{FF2B5EF4-FFF2-40B4-BE49-F238E27FC236}">
                <a16:creationId xmlns:a16="http://schemas.microsoft.com/office/drawing/2014/main" id="{68CB1203-9B68-6A7A-DAA2-3E7F946368F0}"/>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cxnSp>
        <p:nvCxnSpPr>
          <p:cNvPr id="48" name="直線コネクタ 47">
            <a:extLst>
              <a:ext uri="{FF2B5EF4-FFF2-40B4-BE49-F238E27FC236}">
                <a16:creationId xmlns:a16="http://schemas.microsoft.com/office/drawing/2014/main" id="{8D0721AE-E7E5-698E-E773-F2614C0DBB07}"/>
              </a:ext>
            </a:extLst>
          </p:cNvPr>
          <p:cNvCxnSpPr>
            <a:cxnSpLocks/>
          </p:cNvCxnSpPr>
          <p:nvPr/>
        </p:nvCxnSpPr>
        <p:spPr>
          <a:xfrm>
            <a:off x="240222" y="1892621"/>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49" name="直線コネクタ 48">
            <a:extLst>
              <a:ext uri="{FF2B5EF4-FFF2-40B4-BE49-F238E27FC236}">
                <a16:creationId xmlns:a16="http://schemas.microsoft.com/office/drawing/2014/main" id="{3BFFC88E-A589-D631-D366-94F280EFF67D}"/>
              </a:ext>
            </a:extLst>
          </p:cNvPr>
          <p:cNvCxnSpPr>
            <a:cxnSpLocks/>
          </p:cNvCxnSpPr>
          <p:nvPr/>
        </p:nvCxnSpPr>
        <p:spPr>
          <a:xfrm>
            <a:off x="1600733" y="1904263"/>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50" name="直線コネクタ 49">
            <a:extLst>
              <a:ext uri="{FF2B5EF4-FFF2-40B4-BE49-F238E27FC236}">
                <a16:creationId xmlns:a16="http://schemas.microsoft.com/office/drawing/2014/main" id="{D90E23BB-3076-5B7D-82F3-8433A2B09D1F}"/>
              </a:ext>
            </a:extLst>
          </p:cNvPr>
          <p:cNvCxnSpPr>
            <a:cxnSpLocks/>
          </p:cNvCxnSpPr>
          <p:nvPr/>
        </p:nvCxnSpPr>
        <p:spPr>
          <a:xfrm>
            <a:off x="2773855" y="1904263"/>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52" name="直線コネクタ 51">
            <a:extLst>
              <a:ext uri="{FF2B5EF4-FFF2-40B4-BE49-F238E27FC236}">
                <a16:creationId xmlns:a16="http://schemas.microsoft.com/office/drawing/2014/main" id="{6558815C-4A36-8DFA-3258-ADAC642B44B6}"/>
              </a:ext>
            </a:extLst>
          </p:cNvPr>
          <p:cNvCxnSpPr>
            <a:cxnSpLocks/>
          </p:cNvCxnSpPr>
          <p:nvPr/>
        </p:nvCxnSpPr>
        <p:spPr>
          <a:xfrm>
            <a:off x="3936993" y="1892621"/>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3" name="直線コネクタ 52">
            <a:extLst>
              <a:ext uri="{FF2B5EF4-FFF2-40B4-BE49-F238E27FC236}">
                <a16:creationId xmlns:a16="http://schemas.microsoft.com/office/drawing/2014/main" id="{9B24DBF0-6A3A-0783-C6E3-74B28D837D9E}"/>
              </a:ext>
            </a:extLst>
          </p:cNvPr>
          <p:cNvCxnSpPr>
            <a:cxnSpLocks/>
          </p:cNvCxnSpPr>
          <p:nvPr/>
        </p:nvCxnSpPr>
        <p:spPr>
          <a:xfrm>
            <a:off x="5079515" y="1940964"/>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4" name="直線コネクタ 53">
            <a:extLst>
              <a:ext uri="{FF2B5EF4-FFF2-40B4-BE49-F238E27FC236}">
                <a16:creationId xmlns:a16="http://schemas.microsoft.com/office/drawing/2014/main" id="{D9F92929-7F37-647E-2D3E-0EB84FFB20D1}"/>
              </a:ext>
            </a:extLst>
          </p:cNvPr>
          <p:cNvCxnSpPr>
            <a:cxnSpLocks/>
          </p:cNvCxnSpPr>
          <p:nvPr/>
        </p:nvCxnSpPr>
        <p:spPr>
          <a:xfrm>
            <a:off x="6233170" y="1911584"/>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5" name="直線コネクタ 54">
            <a:extLst>
              <a:ext uri="{FF2B5EF4-FFF2-40B4-BE49-F238E27FC236}">
                <a16:creationId xmlns:a16="http://schemas.microsoft.com/office/drawing/2014/main" id="{A53FD7B1-4120-4E04-0DDF-B4B54EDB9BFD}"/>
              </a:ext>
            </a:extLst>
          </p:cNvPr>
          <p:cNvCxnSpPr>
            <a:cxnSpLocks/>
          </p:cNvCxnSpPr>
          <p:nvPr/>
        </p:nvCxnSpPr>
        <p:spPr>
          <a:xfrm>
            <a:off x="7398333" y="1901842"/>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14" name="直線コネクタ 113">
            <a:extLst>
              <a:ext uri="{FF2B5EF4-FFF2-40B4-BE49-F238E27FC236}">
                <a16:creationId xmlns:a16="http://schemas.microsoft.com/office/drawing/2014/main" id="{565A72C8-45FF-A070-3E5F-46A3A7352507}"/>
              </a:ext>
            </a:extLst>
          </p:cNvPr>
          <p:cNvCxnSpPr>
            <a:cxnSpLocks/>
          </p:cNvCxnSpPr>
          <p:nvPr/>
        </p:nvCxnSpPr>
        <p:spPr>
          <a:xfrm>
            <a:off x="9719357" y="2048213"/>
            <a:ext cx="0" cy="4154701"/>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311" name="直線コネクタ 310">
            <a:extLst>
              <a:ext uri="{FF2B5EF4-FFF2-40B4-BE49-F238E27FC236}">
                <a16:creationId xmlns:a16="http://schemas.microsoft.com/office/drawing/2014/main" id="{490BDABD-2035-40BF-A521-7BBCDAFC6FFE}"/>
              </a:ext>
            </a:extLst>
          </p:cNvPr>
          <p:cNvCxnSpPr>
            <a:cxnSpLocks/>
          </p:cNvCxnSpPr>
          <p:nvPr/>
        </p:nvCxnSpPr>
        <p:spPr>
          <a:xfrm>
            <a:off x="8549009" y="2036711"/>
            <a:ext cx="0" cy="4154701"/>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pic>
        <p:nvPicPr>
          <p:cNvPr id="345" name="図 344">
            <a:extLst>
              <a:ext uri="{FF2B5EF4-FFF2-40B4-BE49-F238E27FC236}">
                <a16:creationId xmlns:a16="http://schemas.microsoft.com/office/drawing/2014/main" id="{89F7A10B-75A8-6EC6-A69F-413DDACCFE56}"/>
              </a:ext>
            </a:extLst>
          </p:cNvPr>
          <p:cNvPicPr>
            <a:picLocks noChangeAspect="1"/>
          </p:cNvPicPr>
          <p:nvPr/>
        </p:nvPicPr>
        <p:blipFill>
          <a:blip r:embed="rId2"/>
          <a:stretch>
            <a:fillRect/>
          </a:stretch>
        </p:blipFill>
        <p:spPr>
          <a:xfrm>
            <a:off x="117307" y="1707348"/>
            <a:ext cx="9666895" cy="952587"/>
          </a:xfrm>
          <a:prstGeom prst="rect">
            <a:avLst/>
          </a:prstGeom>
        </p:spPr>
      </p:pic>
      <p:sp>
        <p:nvSpPr>
          <p:cNvPr id="348" name="Pentagon 10">
            <a:extLst>
              <a:ext uri="{FF2B5EF4-FFF2-40B4-BE49-F238E27FC236}">
                <a16:creationId xmlns:a16="http://schemas.microsoft.com/office/drawing/2014/main" id="{D60CF545-0B19-2223-E0F6-EE6FBF96A846}"/>
              </a:ext>
            </a:extLst>
          </p:cNvPr>
          <p:cNvSpPr/>
          <p:nvPr/>
        </p:nvSpPr>
        <p:spPr>
          <a:xfrm>
            <a:off x="240491" y="1840092"/>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349" name="Chevron 11">
            <a:extLst>
              <a:ext uri="{FF2B5EF4-FFF2-40B4-BE49-F238E27FC236}">
                <a16:creationId xmlns:a16="http://schemas.microsoft.com/office/drawing/2014/main" id="{6D6E4BCF-267F-981F-EDFF-6E6633C27F06}"/>
              </a:ext>
            </a:extLst>
          </p:cNvPr>
          <p:cNvSpPr/>
          <p:nvPr/>
        </p:nvSpPr>
        <p:spPr>
          <a:xfrm>
            <a:off x="1277140" y="1840092"/>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0" name="Chevron 12">
            <a:extLst>
              <a:ext uri="{FF2B5EF4-FFF2-40B4-BE49-F238E27FC236}">
                <a16:creationId xmlns:a16="http://schemas.microsoft.com/office/drawing/2014/main" id="{EC978F15-CE92-BED7-7057-8873621D3985}"/>
              </a:ext>
            </a:extLst>
          </p:cNvPr>
          <p:cNvSpPr/>
          <p:nvPr/>
        </p:nvSpPr>
        <p:spPr>
          <a:xfrm>
            <a:off x="3597060" y="1840092"/>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1" name="Chevron 13">
            <a:extLst>
              <a:ext uri="{FF2B5EF4-FFF2-40B4-BE49-F238E27FC236}">
                <a16:creationId xmlns:a16="http://schemas.microsoft.com/office/drawing/2014/main" id="{326837EC-FB23-5C3F-80BE-2EB4C32996AB}"/>
              </a:ext>
            </a:extLst>
          </p:cNvPr>
          <p:cNvSpPr/>
          <p:nvPr/>
        </p:nvSpPr>
        <p:spPr>
          <a:xfrm>
            <a:off x="7076940" y="1840092"/>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2" name="Chevron 11">
            <a:extLst>
              <a:ext uri="{FF2B5EF4-FFF2-40B4-BE49-F238E27FC236}">
                <a16:creationId xmlns:a16="http://schemas.microsoft.com/office/drawing/2014/main" id="{F00C946B-3DA8-CABA-0BC5-3A47F04D04EB}"/>
              </a:ext>
            </a:extLst>
          </p:cNvPr>
          <p:cNvSpPr/>
          <p:nvPr/>
        </p:nvSpPr>
        <p:spPr>
          <a:xfrm>
            <a:off x="2437100" y="1840092"/>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3" name="Chevron 12">
            <a:extLst>
              <a:ext uri="{FF2B5EF4-FFF2-40B4-BE49-F238E27FC236}">
                <a16:creationId xmlns:a16="http://schemas.microsoft.com/office/drawing/2014/main" id="{4734BA7D-D5B4-15DE-E6B2-03A372158F7F}"/>
              </a:ext>
            </a:extLst>
          </p:cNvPr>
          <p:cNvSpPr/>
          <p:nvPr/>
        </p:nvSpPr>
        <p:spPr>
          <a:xfrm>
            <a:off x="5916980" y="1840092"/>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4" name="Chevron 11">
            <a:extLst>
              <a:ext uri="{FF2B5EF4-FFF2-40B4-BE49-F238E27FC236}">
                <a16:creationId xmlns:a16="http://schemas.microsoft.com/office/drawing/2014/main" id="{394E8B7C-CBBB-1A12-4306-5A441E1EEA9D}"/>
              </a:ext>
            </a:extLst>
          </p:cNvPr>
          <p:cNvSpPr/>
          <p:nvPr/>
        </p:nvSpPr>
        <p:spPr>
          <a:xfrm>
            <a:off x="4757020" y="1840092"/>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5" name="Chevron 13">
            <a:extLst>
              <a:ext uri="{FF2B5EF4-FFF2-40B4-BE49-F238E27FC236}">
                <a16:creationId xmlns:a16="http://schemas.microsoft.com/office/drawing/2014/main" id="{EB635053-C38A-55EE-802F-AC6DA46611CC}"/>
              </a:ext>
            </a:extLst>
          </p:cNvPr>
          <p:cNvSpPr/>
          <p:nvPr/>
        </p:nvSpPr>
        <p:spPr>
          <a:xfrm>
            <a:off x="8236902" y="1840092"/>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6" name="テキスト ボックス 355">
            <a:extLst>
              <a:ext uri="{FF2B5EF4-FFF2-40B4-BE49-F238E27FC236}">
                <a16:creationId xmlns:a16="http://schemas.microsoft.com/office/drawing/2014/main" id="{473AD700-DED1-D270-A19A-6794676F7FBF}"/>
              </a:ext>
            </a:extLst>
          </p:cNvPr>
          <p:cNvSpPr txBox="1"/>
          <p:nvPr/>
        </p:nvSpPr>
        <p:spPr>
          <a:xfrm>
            <a:off x="1594177" y="1990408"/>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357" name="テキスト ボックス 356">
            <a:extLst>
              <a:ext uri="{FF2B5EF4-FFF2-40B4-BE49-F238E27FC236}">
                <a16:creationId xmlns:a16="http://schemas.microsoft.com/office/drawing/2014/main" id="{8D0682B5-5691-0BAD-1DEA-C5B42E971AE4}"/>
              </a:ext>
            </a:extLst>
          </p:cNvPr>
          <p:cNvSpPr txBox="1"/>
          <p:nvPr/>
        </p:nvSpPr>
        <p:spPr>
          <a:xfrm>
            <a:off x="2765459" y="2075045"/>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358" name="テキスト ボックス 357">
            <a:extLst>
              <a:ext uri="{FF2B5EF4-FFF2-40B4-BE49-F238E27FC236}">
                <a16:creationId xmlns:a16="http://schemas.microsoft.com/office/drawing/2014/main" id="{58A1D426-1AFD-A9B8-69FC-8C2417EF20DC}"/>
              </a:ext>
            </a:extLst>
          </p:cNvPr>
          <p:cNvSpPr txBox="1"/>
          <p:nvPr/>
        </p:nvSpPr>
        <p:spPr>
          <a:xfrm>
            <a:off x="422895" y="2075045"/>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359" name="テキスト ボックス 358">
            <a:extLst>
              <a:ext uri="{FF2B5EF4-FFF2-40B4-BE49-F238E27FC236}">
                <a16:creationId xmlns:a16="http://schemas.microsoft.com/office/drawing/2014/main" id="{805EA854-7800-18C4-DB2F-0B1684AFD649}"/>
              </a:ext>
            </a:extLst>
          </p:cNvPr>
          <p:cNvSpPr txBox="1"/>
          <p:nvPr/>
        </p:nvSpPr>
        <p:spPr>
          <a:xfrm>
            <a:off x="7398333" y="2075045"/>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360" name="テキスト ボックス 359">
            <a:extLst>
              <a:ext uri="{FF2B5EF4-FFF2-40B4-BE49-F238E27FC236}">
                <a16:creationId xmlns:a16="http://schemas.microsoft.com/office/drawing/2014/main" id="{1DCB6D4B-003C-2B81-10F1-B8085D0EF871}"/>
              </a:ext>
            </a:extLst>
          </p:cNvPr>
          <p:cNvSpPr txBox="1"/>
          <p:nvPr/>
        </p:nvSpPr>
        <p:spPr>
          <a:xfrm>
            <a:off x="3936741" y="1990408"/>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361" name="テキスト ボックス 360">
            <a:extLst>
              <a:ext uri="{FF2B5EF4-FFF2-40B4-BE49-F238E27FC236}">
                <a16:creationId xmlns:a16="http://schemas.microsoft.com/office/drawing/2014/main" id="{5694FDD1-6764-7963-230E-B55B3C5E6AE8}"/>
              </a:ext>
            </a:extLst>
          </p:cNvPr>
          <p:cNvSpPr txBox="1"/>
          <p:nvPr/>
        </p:nvSpPr>
        <p:spPr>
          <a:xfrm>
            <a:off x="5108023" y="1990407"/>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362" name="テキスト ボックス 361">
            <a:extLst>
              <a:ext uri="{FF2B5EF4-FFF2-40B4-BE49-F238E27FC236}">
                <a16:creationId xmlns:a16="http://schemas.microsoft.com/office/drawing/2014/main" id="{4FFDA1D0-E62A-A391-F7C2-2B8A8B4FAC30}"/>
              </a:ext>
            </a:extLst>
          </p:cNvPr>
          <p:cNvSpPr txBox="1"/>
          <p:nvPr/>
        </p:nvSpPr>
        <p:spPr>
          <a:xfrm>
            <a:off x="6279305" y="199040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363" name="テキスト ボックス 362">
            <a:extLst>
              <a:ext uri="{FF2B5EF4-FFF2-40B4-BE49-F238E27FC236}">
                <a16:creationId xmlns:a16="http://schemas.microsoft.com/office/drawing/2014/main" id="{950238DC-BC8D-67A5-9664-2467CA1CCC24}"/>
              </a:ext>
            </a:extLst>
          </p:cNvPr>
          <p:cNvSpPr txBox="1"/>
          <p:nvPr/>
        </p:nvSpPr>
        <p:spPr>
          <a:xfrm>
            <a:off x="8565884" y="1990407"/>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392" name="正方形/長方形 391">
            <a:extLst>
              <a:ext uri="{FF2B5EF4-FFF2-40B4-BE49-F238E27FC236}">
                <a16:creationId xmlns:a16="http://schemas.microsoft.com/office/drawing/2014/main" id="{F2695BAE-49A0-C99D-85EB-9666DE14C4B0}"/>
              </a:ext>
            </a:extLst>
          </p:cNvPr>
          <p:cNvSpPr/>
          <p:nvPr/>
        </p:nvSpPr>
        <p:spPr>
          <a:xfrm>
            <a:off x="134519" y="2643132"/>
            <a:ext cx="9687414" cy="1895567"/>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399" name="正方形/長方形 398">
            <a:extLst>
              <a:ext uri="{FF2B5EF4-FFF2-40B4-BE49-F238E27FC236}">
                <a16:creationId xmlns:a16="http://schemas.microsoft.com/office/drawing/2014/main" id="{0D7E2DB9-3642-9C9A-E851-E5DD52315F1D}"/>
              </a:ext>
            </a:extLst>
          </p:cNvPr>
          <p:cNvSpPr/>
          <p:nvPr/>
        </p:nvSpPr>
        <p:spPr>
          <a:xfrm>
            <a:off x="2646720" y="4590888"/>
            <a:ext cx="7175212" cy="1895567"/>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cxnSp>
        <p:nvCxnSpPr>
          <p:cNvPr id="428" name="直線矢印コネクタ 427">
            <a:extLst>
              <a:ext uri="{FF2B5EF4-FFF2-40B4-BE49-F238E27FC236}">
                <a16:creationId xmlns:a16="http://schemas.microsoft.com/office/drawing/2014/main" id="{4DD36FC2-6468-F5B5-EFB8-BBFB2CF7F452}"/>
              </a:ext>
            </a:extLst>
          </p:cNvPr>
          <p:cNvCxnSpPr>
            <a:cxnSpLocks/>
          </p:cNvCxnSpPr>
          <p:nvPr/>
        </p:nvCxnSpPr>
        <p:spPr>
          <a:xfrm>
            <a:off x="3366878" y="3750175"/>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29" name="テキスト ボックス 428">
            <a:extLst>
              <a:ext uri="{FF2B5EF4-FFF2-40B4-BE49-F238E27FC236}">
                <a16:creationId xmlns:a16="http://schemas.microsoft.com/office/drawing/2014/main" id="{52205788-B1CC-5FF9-ED78-B6DD32267E17}"/>
              </a:ext>
            </a:extLst>
          </p:cNvPr>
          <p:cNvSpPr txBox="1"/>
          <p:nvPr/>
        </p:nvSpPr>
        <p:spPr>
          <a:xfrm>
            <a:off x="3735917" y="3616391"/>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通知メッセージ</a:t>
            </a:r>
            <a:endParaRPr lang="ja-JP" altLang="en-US" sz="900" b="1" dirty="0"/>
          </a:p>
        </p:txBody>
      </p:sp>
      <p:cxnSp>
        <p:nvCxnSpPr>
          <p:cNvPr id="430" name="直線矢印コネクタ 429">
            <a:extLst>
              <a:ext uri="{FF2B5EF4-FFF2-40B4-BE49-F238E27FC236}">
                <a16:creationId xmlns:a16="http://schemas.microsoft.com/office/drawing/2014/main" id="{923E43E2-8157-8C38-4A7C-C186793E6650}"/>
              </a:ext>
            </a:extLst>
          </p:cNvPr>
          <p:cNvCxnSpPr>
            <a:cxnSpLocks/>
          </p:cNvCxnSpPr>
          <p:nvPr/>
        </p:nvCxnSpPr>
        <p:spPr>
          <a:xfrm>
            <a:off x="3366878" y="4003408"/>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1" name="テキスト ボックス 430">
            <a:extLst>
              <a:ext uri="{FF2B5EF4-FFF2-40B4-BE49-F238E27FC236}">
                <a16:creationId xmlns:a16="http://schemas.microsoft.com/office/drawing/2014/main" id="{9B46B511-7630-9D21-552D-BAD1DCEC8387}"/>
              </a:ext>
            </a:extLst>
          </p:cNvPr>
          <p:cNvSpPr txBox="1"/>
          <p:nvPr/>
        </p:nvSpPr>
        <p:spPr>
          <a:xfrm>
            <a:off x="3735917" y="3869624"/>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サンクス</a:t>
            </a:r>
            <a:r>
              <a:rPr lang="en-US" altLang="ja-JP" sz="900" b="1" dirty="0">
                <a:latin typeface="メイリオ" panose="020B0604030504040204" pitchFamily="50" charset="-128"/>
                <a:ea typeface="メイリオ" panose="020B0604030504040204" pitchFamily="50" charset="-128"/>
                <a:cs typeface="Meiryo"/>
                <a:sym typeface="Meiryo"/>
              </a:rPr>
              <a:t>LINE</a:t>
            </a:r>
            <a:r>
              <a:rPr lang="ja-JP" altLang="en-US" sz="900" b="1" dirty="0">
                <a:latin typeface="メイリオ" panose="020B0604030504040204" pitchFamily="50" charset="-128"/>
                <a:ea typeface="メイリオ" panose="020B0604030504040204" pitchFamily="50" charset="-128"/>
                <a:cs typeface="Meiryo"/>
                <a:sym typeface="Meiryo"/>
              </a:rPr>
              <a:t>誘導</a:t>
            </a:r>
            <a:endParaRPr lang="ja-JP" altLang="en-US" sz="900" b="1" dirty="0"/>
          </a:p>
        </p:txBody>
      </p:sp>
      <p:cxnSp>
        <p:nvCxnSpPr>
          <p:cNvPr id="432" name="直線矢印コネクタ 431">
            <a:extLst>
              <a:ext uri="{FF2B5EF4-FFF2-40B4-BE49-F238E27FC236}">
                <a16:creationId xmlns:a16="http://schemas.microsoft.com/office/drawing/2014/main" id="{64D8562C-014D-DFB4-2D01-7479448659D1}"/>
              </a:ext>
            </a:extLst>
          </p:cNvPr>
          <p:cNvCxnSpPr>
            <a:cxnSpLocks/>
          </p:cNvCxnSpPr>
          <p:nvPr/>
        </p:nvCxnSpPr>
        <p:spPr>
          <a:xfrm>
            <a:off x="1275980" y="3570877"/>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3" name="テキスト ボックス 432">
            <a:extLst>
              <a:ext uri="{FF2B5EF4-FFF2-40B4-BE49-F238E27FC236}">
                <a16:creationId xmlns:a16="http://schemas.microsoft.com/office/drawing/2014/main" id="{540E1D19-5457-9319-2789-430F63EC5A42}"/>
              </a:ext>
            </a:extLst>
          </p:cNvPr>
          <p:cNvSpPr txBox="1"/>
          <p:nvPr/>
        </p:nvSpPr>
        <p:spPr>
          <a:xfrm>
            <a:off x="1645019" y="3437093"/>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通知メッセージ</a:t>
            </a:r>
            <a:endParaRPr lang="ja-JP" altLang="en-US" sz="900" b="1" dirty="0"/>
          </a:p>
        </p:txBody>
      </p:sp>
      <p:cxnSp>
        <p:nvCxnSpPr>
          <p:cNvPr id="434" name="直線矢印コネクタ 433">
            <a:extLst>
              <a:ext uri="{FF2B5EF4-FFF2-40B4-BE49-F238E27FC236}">
                <a16:creationId xmlns:a16="http://schemas.microsoft.com/office/drawing/2014/main" id="{490155E9-25FB-3090-382A-CA0B7F87F965}"/>
              </a:ext>
            </a:extLst>
          </p:cNvPr>
          <p:cNvCxnSpPr>
            <a:cxnSpLocks/>
          </p:cNvCxnSpPr>
          <p:nvPr/>
        </p:nvCxnSpPr>
        <p:spPr>
          <a:xfrm>
            <a:off x="1275980" y="3802022"/>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5" name="テキスト ボックス 434">
            <a:extLst>
              <a:ext uri="{FF2B5EF4-FFF2-40B4-BE49-F238E27FC236}">
                <a16:creationId xmlns:a16="http://schemas.microsoft.com/office/drawing/2014/main" id="{08D35021-E114-E4DF-FF22-BF7BE0CDF4D8}"/>
              </a:ext>
            </a:extLst>
          </p:cNvPr>
          <p:cNvSpPr txBox="1"/>
          <p:nvPr/>
        </p:nvSpPr>
        <p:spPr>
          <a:xfrm>
            <a:off x="1645019" y="3668238"/>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rPr>
              <a:t>サイト動線の整備</a:t>
            </a:r>
          </a:p>
        </p:txBody>
      </p:sp>
      <p:cxnSp>
        <p:nvCxnSpPr>
          <p:cNvPr id="436" name="直線矢印コネクタ 435">
            <a:extLst>
              <a:ext uri="{FF2B5EF4-FFF2-40B4-BE49-F238E27FC236}">
                <a16:creationId xmlns:a16="http://schemas.microsoft.com/office/drawing/2014/main" id="{6840C346-E790-A413-26C5-79129D6F5FB7}"/>
              </a:ext>
            </a:extLst>
          </p:cNvPr>
          <p:cNvCxnSpPr>
            <a:cxnSpLocks/>
          </p:cNvCxnSpPr>
          <p:nvPr/>
        </p:nvCxnSpPr>
        <p:spPr>
          <a:xfrm>
            <a:off x="3825040" y="343985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7" name="テキスト ボックス 436">
            <a:extLst>
              <a:ext uri="{FF2B5EF4-FFF2-40B4-BE49-F238E27FC236}">
                <a16:creationId xmlns:a16="http://schemas.microsoft.com/office/drawing/2014/main" id="{715CC99E-9A08-159E-0120-31020FC33D0F}"/>
              </a:ext>
            </a:extLst>
          </p:cNvPr>
          <p:cNvSpPr txBox="1"/>
          <p:nvPr/>
        </p:nvSpPr>
        <p:spPr>
          <a:xfrm>
            <a:off x="4194079" y="3306075"/>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既存リストの活用</a:t>
            </a:r>
            <a:endParaRPr lang="en-US" altLang="ja-JP" sz="900" b="1" dirty="0">
              <a:latin typeface="メイリオ" panose="020B0604030504040204" pitchFamily="50" charset="-128"/>
              <a:ea typeface="メイリオ" panose="020B0604030504040204" pitchFamily="50" charset="-128"/>
              <a:cs typeface="Meiryo"/>
              <a:sym typeface="Meiryo"/>
            </a:endParaRPr>
          </a:p>
        </p:txBody>
      </p:sp>
      <p:cxnSp>
        <p:nvCxnSpPr>
          <p:cNvPr id="438" name="直線矢印コネクタ 437">
            <a:extLst>
              <a:ext uri="{FF2B5EF4-FFF2-40B4-BE49-F238E27FC236}">
                <a16:creationId xmlns:a16="http://schemas.microsoft.com/office/drawing/2014/main" id="{C26FDFF8-ECDB-0D20-5A53-4F74EF6D93F8}"/>
              </a:ext>
            </a:extLst>
          </p:cNvPr>
          <p:cNvCxnSpPr>
            <a:cxnSpLocks/>
          </p:cNvCxnSpPr>
          <p:nvPr/>
        </p:nvCxnSpPr>
        <p:spPr>
          <a:xfrm>
            <a:off x="5418772" y="374623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9" name="テキスト ボックス 438">
            <a:extLst>
              <a:ext uri="{FF2B5EF4-FFF2-40B4-BE49-F238E27FC236}">
                <a16:creationId xmlns:a16="http://schemas.microsoft.com/office/drawing/2014/main" id="{03517788-8A00-3CE9-B8A0-DC9904CB9E29}"/>
              </a:ext>
            </a:extLst>
          </p:cNvPr>
          <p:cNvSpPr txBox="1"/>
          <p:nvPr/>
        </p:nvSpPr>
        <p:spPr>
          <a:xfrm>
            <a:off x="5787811" y="3612455"/>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通知メッセージ</a:t>
            </a:r>
            <a:endParaRPr lang="ja-JP" altLang="en-US" sz="900" b="1" dirty="0"/>
          </a:p>
        </p:txBody>
      </p:sp>
      <p:cxnSp>
        <p:nvCxnSpPr>
          <p:cNvPr id="440" name="直線矢印コネクタ 439">
            <a:extLst>
              <a:ext uri="{FF2B5EF4-FFF2-40B4-BE49-F238E27FC236}">
                <a16:creationId xmlns:a16="http://schemas.microsoft.com/office/drawing/2014/main" id="{8A08B47D-236B-D58F-E880-0E520352BC81}"/>
              </a:ext>
            </a:extLst>
          </p:cNvPr>
          <p:cNvCxnSpPr>
            <a:cxnSpLocks/>
          </p:cNvCxnSpPr>
          <p:nvPr/>
        </p:nvCxnSpPr>
        <p:spPr>
          <a:xfrm>
            <a:off x="5418772" y="4009075"/>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1" name="テキスト ボックス 440">
            <a:extLst>
              <a:ext uri="{FF2B5EF4-FFF2-40B4-BE49-F238E27FC236}">
                <a16:creationId xmlns:a16="http://schemas.microsoft.com/office/drawing/2014/main" id="{8376E216-AB77-BC34-74BE-9C14746155C3}"/>
              </a:ext>
            </a:extLst>
          </p:cNvPr>
          <p:cNvSpPr txBox="1"/>
          <p:nvPr/>
        </p:nvSpPr>
        <p:spPr>
          <a:xfrm>
            <a:off x="5787811" y="3875291"/>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サンクス</a:t>
            </a:r>
            <a:r>
              <a:rPr lang="en-US" altLang="ja-JP" sz="900" b="1" dirty="0">
                <a:latin typeface="メイリオ" panose="020B0604030504040204" pitchFamily="50" charset="-128"/>
                <a:ea typeface="メイリオ" panose="020B0604030504040204" pitchFamily="50" charset="-128"/>
                <a:cs typeface="Meiryo"/>
                <a:sym typeface="Meiryo"/>
              </a:rPr>
              <a:t>LINE</a:t>
            </a:r>
            <a:r>
              <a:rPr lang="ja-JP" altLang="en-US" sz="900" b="1" dirty="0">
                <a:latin typeface="メイリオ" panose="020B0604030504040204" pitchFamily="50" charset="-128"/>
                <a:ea typeface="メイリオ" panose="020B0604030504040204" pitchFamily="50" charset="-128"/>
                <a:cs typeface="Meiryo"/>
                <a:sym typeface="Meiryo"/>
              </a:rPr>
              <a:t>誘導</a:t>
            </a:r>
            <a:endParaRPr lang="ja-JP" altLang="en-US" sz="900" b="1" dirty="0"/>
          </a:p>
        </p:txBody>
      </p:sp>
      <p:cxnSp>
        <p:nvCxnSpPr>
          <p:cNvPr id="442" name="直線矢印コネクタ 441">
            <a:extLst>
              <a:ext uri="{FF2B5EF4-FFF2-40B4-BE49-F238E27FC236}">
                <a16:creationId xmlns:a16="http://schemas.microsoft.com/office/drawing/2014/main" id="{D6F7AD1E-A403-6C2E-4207-BA25C2D7BCC6}"/>
              </a:ext>
            </a:extLst>
          </p:cNvPr>
          <p:cNvCxnSpPr>
            <a:cxnSpLocks/>
          </p:cNvCxnSpPr>
          <p:nvPr/>
        </p:nvCxnSpPr>
        <p:spPr>
          <a:xfrm>
            <a:off x="675354" y="4048370"/>
            <a:ext cx="1503674"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3" name="テキスト ボックス 442">
            <a:extLst>
              <a:ext uri="{FF2B5EF4-FFF2-40B4-BE49-F238E27FC236}">
                <a16:creationId xmlns:a16="http://schemas.microsoft.com/office/drawing/2014/main" id="{7D798DBD-5393-6131-8034-EC789105D05B}"/>
              </a:ext>
            </a:extLst>
          </p:cNvPr>
          <p:cNvSpPr txBox="1"/>
          <p:nvPr/>
        </p:nvSpPr>
        <p:spPr>
          <a:xfrm>
            <a:off x="908229" y="3944309"/>
            <a:ext cx="1095075"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9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SNS/</a:t>
            </a:r>
            <a:r>
              <a:rPr lang="ja-JP" altLang="en-US" sz="9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メルマガ</a:t>
            </a:r>
            <a:endParaRPr lang="ja-JP" altLang="en-US" sz="900" dirty="0">
              <a:solidFill>
                <a:schemeClr val="tx1">
                  <a:lumMod val="50000"/>
                  <a:lumOff val="50000"/>
                </a:schemeClr>
              </a:solidFill>
            </a:endParaRPr>
          </a:p>
        </p:txBody>
      </p:sp>
      <p:cxnSp>
        <p:nvCxnSpPr>
          <p:cNvPr id="444" name="直線矢印コネクタ 443">
            <a:extLst>
              <a:ext uri="{FF2B5EF4-FFF2-40B4-BE49-F238E27FC236}">
                <a16:creationId xmlns:a16="http://schemas.microsoft.com/office/drawing/2014/main" id="{527AED14-C910-4D3E-987F-EA62ABD18D90}"/>
              </a:ext>
            </a:extLst>
          </p:cNvPr>
          <p:cNvCxnSpPr>
            <a:cxnSpLocks/>
          </p:cNvCxnSpPr>
          <p:nvPr/>
        </p:nvCxnSpPr>
        <p:spPr>
          <a:xfrm>
            <a:off x="672248" y="4315115"/>
            <a:ext cx="1503674"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5" name="テキスト ボックス 444">
            <a:extLst>
              <a:ext uri="{FF2B5EF4-FFF2-40B4-BE49-F238E27FC236}">
                <a16:creationId xmlns:a16="http://schemas.microsoft.com/office/drawing/2014/main" id="{9644DD32-D05B-DE83-7791-37895274BDE9}"/>
              </a:ext>
            </a:extLst>
          </p:cNvPr>
          <p:cNvSpPr txBox="1"/>
          <p:nvPr/>
        </p:nvSpPr>
        <p:spPr>
          <a:xfrm>
            <a:off x="894117" y="4203750"/>
            <a:ext cx="1117086" cy="231238"/>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8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店内ポップ・チラシ</a:t>
            </a:r>
            <a:endParaRPr lang="ja-JP" altLang="en-US" sz="800" dirty="0">
              <a:solidFill>
                <a:schemeClr val="tx1">
                  <a:lumMod val="50000"/>
                  <a:lumOff val="50000"/>
                </a:schemeClr>
              </a:solidFill>
            </a:endParaRPr>
          </a:p>
        </p:txBody>
      </p:sp>
      <p:cxnSp>
        <p:nvCxnSpPr>
          <p:cNvPr id="446" name="直線矢印コネクタ 445">
            <a:extLst>
              <a:ext uri="{FF2B5EF4-FFF2-40B4-BE49-F238E27FC236}">
                <a16:creationId xmlns:a16="http://schemas.microsoft.com/office/drawing/2014/main" id="{D3D532EE-6712-DE63-E452-E8BEAA167260}"/>
              </a:ext>
            </a:extLst>
          </p:cNvPr>
          <p:cNvCxnSpPr>
            <a:cxnSpLocks/>
          </p:cNvCxnSpPr>
          <p:nvPr/>
        </p:nvCxnSpPr>
        <p:spPr>
          <a:xfrm>
            <a:off x="7458966" y="3862297"/>
            <a:ext cx="2184020"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7" name="テキスト ボックス 446">
            <a:extLst>
              <a:ext uri="{FF2B5EF4-FFF2-40B4-BE49-F238E27FC236}">
                <a16:creationId xmlns:a16="http://schemas.microsoft.com/office/drawing/2014/main" id="{DCDD6E46-B8C3-8536-41F9-F39EB73CBD24}"/>
              </a:ext>
            </a:extLst>
          </p:cNvPr>
          <p:cNvSpPr txBox="1"/>
          <p:nvPr/>
        </p:nvSpPr>
        <p:spPr>
          <a:xfrm>
            <a:off x="8013302" y="3728513"/>
            <a:ext cx="1064989"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ID</a:t>
            </a: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a:t>
            </a:r>
            <a:r>
              <a:rPr lang="en-US" altLang="ja-JP"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CRM</a:t>
            </a: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連携</a:t>
            </a:r>
            <a:endParaRPr lang="ja-JP" altLang="en-US" sz="900" b="1" dirty="0">
              <a:solidFill>
                <a:schemeClr val="tx1">
                  <a:lumMod val="50000"/>
                  <a:lumOff val="50000"/>
                </a:schemeClr>
              </a:solidFill>
            </a:endParaRPr>
          </a:p>
        </p:txBody>
      </p:sp>
      <p:cxnSp>
        <p:nvCxnSpPr>
          <p:cNvPr id="448" name="直線矢印コネクタ 447">
            <a:extLst>
              <a:ext uri="{FF2B5EF4-FFF2-40B4-BE49-F238E27FC236}">
                <a16:creationId xmlns:a16="http://schemas.microsoft.com/office/drawing/2014/main" id="{B94F8848-87A6-4A24-C2DE-D4A5BD2787D7}"/>
              </a:ext>
            </a:extLst>
          </p:cNvPr>
          <p:cNvCxnSpPr>
            <a:cxnSpLocks/>
          </p:cNvCxnSpPr>
          <p:nvPr/>
        </p:nvCxnSpPr>
        <p:spPr>
          <a:xfrm>
            <a:off x="313007" y="3382504"/>
            <a:ext cx="124270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9" name="テキスト ボックス 448">
            <a:extLst>
              <a:ext uri="{FF2B5EF4-FFF2-40B4-BE49-F238E27FC236}">
                <a16:creationId xmlns:a16="http://schemas.microsoft.com/office/drawing/2014/main" id="{88C02960-866B-6E8C-A752-2889BC37BC11}"/>
              </a:ext>
            </a:extLst>
          </p:cNvPr>
          <p:cNvSpPr txBox="1"/>
          <p:nvPr/>
        </p:nvSpPr>
        <p:spPr>
          <a:xfrm>
            <a:off x="588964" y="3278443"/>
            <a:ext cx="747951"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Meiryo"/>
                <a:sym typeface="Meiryo"/>
              </a:rPr>
              <a:t>CPF</a:t>
            </a:r>
            <a:r>
              <a:rPr lang="ja-JP" altLang="en-US" sz="900" b="1" dirty="0">
                <a:latin typeface="メイリオ" panose="020B0604030504040204" pitchFamily="50" charset="-128"/>
                <a:ea typeface="メイリオ" panose="020B0604030504040204" pitchFamily="50" charset="-128"/>
                <a:cs typeface="Meiryo"/>
                <a:sym typeface="Meiryo"/>
              </a:rPr>
              <a:t>広告</a:t>
            </a:r>
            <a:endParaRPr lang="ja-JP" altLang="en-US" sz="900" b="1" dirty="0"/>
          </a:p>
        </p:txBody>
      </p:sp>
      <p:cxnSp>
        <p:nvCxnSpPr>
          <p:cNvPr id="450" name="直線矢印コネクタ 449">
            <a:extLst>
              <a:ext uri="{FF2B5EF4-FFF2-40B4-BE49-F238E27FC236}">
                <a16:creationId xmlns:a16="http://schemas.microsoft.com/office/drawing/2014/main" id="{3F2ACC73-0643-27D8-F1B3-1B871FCEF141}"/>
              </a:ext>
            </a:extLst>
          </p:cNvPr>
          <p:cNvCxnSpPr>
            <a:cxnSpLocks/>
          </p:cNvCxnSpPr>
          <p:nvPr/>
        </p:nvCxnSpPr>
        <p:spPr>
          <a:xfrm>
            <a:off x="258586" y="2898668"/>
            <a:ext cx="3207836" cy="0"/>
          </a:xfrm>
          <a:prstGeom prst="straightConnector1">
            <a:avLst/>
          </a:prstGeom>
          <a:ln w="28575">
            <a:solidFill>
              <a:srgbClr val="04FA0A"/>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51" name="直線矢印コネクタ 450">
            <a:extLst>
              <a:ext uri="{FF2B5EF4-FFF2-40B4-BE49-F238E27FC236}">
                <a16:creationId xmlns:a16="http://schemas.microsoft.com/office/drawing/2014/main" id="{C2DCC080-98CE-945F-96A2-C42DE7E0C936}"/>
              </a:ext>
            </a:extLst>
          </p:cNvPr>
          <p:cNvCxnSpPr>
            <a:cxnSpLocks/>
          </p:cNvCxnSpPr>
          <p:nvPr/>
        </p:nvCxnSpPr>
        <p:spPr>
          <a:xfrm>
            <a:off x="3534258" y="2887662"/>
            <a:ext cx="2482432" cy="0"/>
          </a:xfrm>
          <a:prstGeom prst="straightConnector1">
            <a:avLst/>
          </a:prstGeom>
          <a:ln w="28575">
            <a:solidFill>
              <a:srgbClr val="04FA0A"/>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452" name="テキスト ボックス 451">
            <a:extLst>
              <a:ext uri="{FF2B5EF4-FFF2-40B4-BE49-F238E27FC236}">
                <a16:creationId xmlns:a16="http://schemas.microsoft.com/office/drawing/2014/main" id="{46C960EE-3214-11A7-C2A3-07025A9849E3}"/>
              </a:ext>
            </a:extLst>
          </p:cNvPr>
          <p:cNvSpPr txBox="1"/>
          <p:nvPr/>
        </p:nvSpPr>
        <p:spPr>
          <a:xfrm>
            <a:off x="1262357" y="2775091"/>
            <a:ext cx="1319856" cy="230832"/>
          </a:xfrm>
          <a:prstGeom prst="rect">
            <a:avLst/>
          </a:prstGeom>
          <a:solidFill>
            <a:schemeClr val="bg1"/>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Meiryo"/>
                <a:sym typeface="Meiryo"/>
              </a:rPr>
              <a:t>WEB</a:t>
            </a:r>
            <a:r>
              <a:rPr lang="ja-JP" altLang="en-US" sz="900" b="1" dirty="0">
                <a:latin typeface="メイリオ" panose="020B0604030504040204" pitchFamily="50" charset="-128"/>
                <a:ea typeface="メイリオ" panose="020B0604030504040204" pitchFamily="50" charset="-128"/>
                <a:cs typeface="Meiryo"/>
                <a:sym typeface="Meiryo"/>
              </a:rPr>
              <a:t>→</a:t>
            </a:r>
            <a:r>
              <a:rPr lang="en-US" altLang="ja-JP" sz="900" b="1" dirty="0">
                <a:latin typeface="メイリオ" panose="020B0604030504040204" pitchFamily="50" charset="-128"/>
                <a:ea typeface="メイリオ" panose="020B0604030504040204" pitchFamily="50" charset="-128"/>
                <a:cs typeface="Meiryo"/>
                <a:sym typeface="Meiryo"/>
              </a:rPr>
              <a:t>LINEOA</a:t>
            </a:r>
            <a:r>
              <a:rPr lang="ja-JP" altLang="en-US" sz="900" b="1" dirty="0">
                <a:latin typeface="メイリオ" panose="020B0604030504040204" pitchFamily="50" charset="-128"/>
                <a:ea typeface="メイリオ" panose="020B0604030504040204" pitchFamily="50" charset="-128"/>
                <a:cs typeface="Meiryo"/>
                <a:sym typeface="Meiryo"/>
              </a:rPr>
              <a:t>領域</a:t>
            </a:r>
            <a:endParaRPr lang="ja-JP" altLang="en-US" sz="900" dirty="0"/>
          </a:p>
        </p:txBody>
      </p:sp>
      <p:sp>
        <p:nvSpPr>
          <p:cNvPr id="453" name="テキスト ボックス 452">
            <a:extLst>
              <a:ext uri="{FF2B5EF4-FFF2-40B4-BE49-F238E27FC236}">
                <a16:creationId xmlns:a16="http://schemas.microsoft.com/office/drawing/2014/main" id="{6035DF7C-B4BD-5EC8-7209-4196763C930C}"/>
              </a:ext>
            </a:extLst>
          </p:cNvPr>
          <p:cNvSpPr txBox="1"/>
          <p:nvPr/>
        </p:nvSpPr>
        <p:spPr>
          <a:xfrm>
            <a:off x="3961298" y="2771249"/>
            <a:ext cx="1597026" cy="230832"/>
          </a:xfrm>
          <a:prstGeom prst="rect">
            <a:avLst/>
          </a:prstGeom>
          <a:solidFill>
            <a:schemeClr val="bg1"/>
          </a:solidFill>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オフライン→</a:t>
            </a:r>
            <a:r>
              <a:rPr lang="en-US" altLang="ja-JP" sz="900" b="1" dirty="0">
                <a:latin typeface="メイリオ" panose="020B0604030504040204" pitchFamily="50" charset="-128"/>
                <a:ea typeface="メイリオ" panose="020B0604030504040204" pitchFamily="50" charset="-128"/>
                <a:cs typeface="Meiryo"/>
                <a:sym typeface="Meiryo"/>
              </a:rPr>
              <a:t>LINEOA</a:t>
            </a:r>
            <a:r>
              <a:rPr lang="ja-JP" altLang="en-US" sz="900" b="1" dirty="0">
                <a:latin typeface="メイリオ" panose="020B0604030504040204" pitchFamily="50" charset="-128"/>
                <a:ea typeface="メイリオ" panose="020B0604030504040204" pitchFamily="50" charset="-128"/>
                <a:cs typeface="Meiryo"/>
                <a:sym typeface="Meiryo"/>
              </a:rPr>
              <a:t>領域</a:t>
            </a:r>
            <a:endParaRPr lang="ja-JP" altLang="en-US" sz="900" dirty="0"/>
          </a:p>
        </p:txBody>
      </p:sp>
      <p:sp>
        <p:nvSpPr>
          <p:cNvPr id="454" name="正方形/長方形 453">
            <a:extLst>
              <a:ext uri="{FF2B5EF4-FFF2-40B4-BE49-F238E27FC236}">
                <a16:creationId xmlns:a16="http://schemas.microsoft.com/office/drawing/2014/main" id="{E33317FD-3364-4CC0-4FE2-E3D336A50C78}"/>
              </a:ext>
            </a:extLst>
          </p:cNvPr>
          <p:cNvSpPr/>
          <p:nvPr/>
        </p:nvSpPr>
        <p:spPr>
          <a:xfrm>
            <a:off x="240222" y="3031675"/>
            <a:ext cx="5776468" cy="24255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latin typeface="メイリオ" panose="020B0604030504040204" pitchFamily="50" charset="-128"/>
                <a:ea typeface="メイリオ" panose="020B0604030504040204" pitchFamily="50" charset="-128"/>
              </a:rPr>
              <a:t>どう</a:t>
            </a:r>
            <a:r>
              <a:rPr kumimoji="1" lang="ja-JP" altLang="en-US" sz="1000" dirty="0">
                <a:latin typeface="メイリオ" panose="020B0604030504040204" pitchFamily="50" charset="-128"/>
                <a:ea typeface="メイリオ" panose="020B0604030504040204" pitchFamily="50" charset="-128"/>
              </a:rPr>
              <a:t>友だち追加させるか？</a:t>
            </a:r>
            <a:r>
              <a:rPr kumimoji="1" lang="ja-JP" altLang="en-US" sz="1000" dirty="0">
                <a:solidFill>
                  <a:srgbClr val="FFFF00"/>
                </a:solidFill>
                <a:latin typeface="メイリオ" panose="020B0604030504040204" pitchFamily="50" charset="-128"/>
                <a:ea typeface="メイリオ" panose="020B0604030504040204" pitchFamily="50" charset="-128"/>
              </a:rPr>
              <a:t>（</a:t>
            </a:r>
            <a:r>
              <a:rPr kumimoji="1" lang="en-US" altLang="ja-JP" sz="1000" dirty="0">
                <a:solidFill>
                  <a:srgbClr val="FFFF00"/>
                </a:solidFill>
                <a:latin typeface="メイリオ" panose="020B0604030504040204" pitchFamily="50" charset="-128"/>
                <a:ea typeface="メイリオ" panose="020B0604030504040204" pitchFamily="50" charset="-128"/>
              </a:rPr>
              <a:t>WEB</a:t>
            </a:r>
            <a:r>
              <a:rPr kumimoji="1" lang="ja-JP" altLang="en-US" sz="1000" dirty="0">
                <a:solidFill>
                  <a:srgbClr val="FFFF00"/>
                </a:solidFill>
                <a:latin typeface="メイリオ" panose="020B0604030504040204" pitchFamily="50" charset="-128"/>
                <a:ea typeface="メイリオ" panose="020B0604030504040204" pitchFamily="50" charset="-128"/>
              </a:rPr>
              <a:t>→</a:t>
            </a:r>
            <a:r>
              <a:rPr kumimoji="1" lang="en-US" altLang="ja-JP" sz="1000" dirty="0">
                <a:solidFill>
                  <a:srgbClr val="FFFF00"/>
                </a:solidFill>
                <a:latin typeface="メイリオ" panose="020B0604030504040204" pitchFamily="50" charset="-128"/>
                <a:ea typeface="メイリオ" panose="020B0604030504040204" pitchFamily="50" charset="-128"/>
              </a:rPr>
              <a:t>LINE</a:t>
            </a:r>
            <a:r>
              <a:rPr kumimoji="1" lang="ja-JP" altLang="en-US" sz="1000" dirty="0">
                <a:solidFill>
                  <a:srgbClr val="FFFF00"/>
                </a:solidFill>
                <a:latin typeface="メイリオ" panose="020B0604030504040204" pitchFamily="50" charset="-128"/>
                <a:ea typeface="メイリオ" panose="020B0604030504040204" pitchFamily="50" charset="-128"/>
              </a:rPr>
              <a:t>）</a:t>
            </a:r>
          </a:p>
        </p:txBody>
      </p:sp>
      <p:cxnSp>
        <p:nvCxnSpPr>
          <p:cNvPr id="455" name="直線矢印コネクタ 454">
            <a:extLst>
              <a:ext uri="{FF2B5EF4-FFF2-40B4-BE49-F238E27FC236}">
                <a16:creationId xmlns:a16="http://schemas.microsoft.com/office/drawing/2014/main" id="{69C05BA8-18F6-F344-3C54-A5E03AFE2368}"/>
              </a:ext>
            </a:extLst>
          </p:cNvPr>
          <p:cNvCxnSpPr>
            <a:cxnSpLocks/>
          </p:cNvCxnSpPr>
          <p:nvPr/>
        </p:nvCxnSpPr>
        <p:spPr>
          <a:xfrm>
            <a:off x="2892769" y="4798575"/>
            <a:ext cx="6752172"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456" name="テキスト ボックス 455">
            <a:extLst>
              <a:ext uri="{FF2B5EF4-FFF2-40B4-BE49-F238E27FC236}">
                <a16:creationId xmlns:a16="http://schemas.microsoft.com/office/drawing/2014/main" id="{5B6D9466-EC9E-4057-AB18-8974D147F3E8}"/>
              </a:ext>
            </a:extLst>
          </p:cNvPr>
          <p:cNvSpPr txBox="1"/>
          <p:nvPr/>
        </p:nvSpPr>
        <p:spPr>
          <a:xfrm>
            <a:off x="5430583" y="4657308"/>
            <a:ext cx="1581214" cy="261610"/>
          </a:xfrm>
          <a:prstGeom prst="rect">
            <a:avLst/>
          </a:prstGeom>
          <a:solidFill>
            <a:schemeClr val="bg1"/>
          </a:solid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Meiryo"/>
                <a:sym typeface="Meiryo"/>
              </a:rPr>
              <a:t>LINEOA</a:t>
            </a:r>
            <a:r>
              <a:rPr lang="ja-JP" altLang="en-US" sz="1050" b="1" dirty="0">
                <a:latin typeface="メイリオ" panose="020B0604030504040204" pitchFamily="50" charset="-128"/>
                <a:ea typeface="メイリオ" panose="020B0604030504040204" pitchFamily="50" charset="-128"/>
                <a:cs typeface="Meiryo"/>
                <a:sym typeface="Meiryo"/>
              </a:rPr>
              <a:t>➙</a:t>
            </a:r>
            <a:r>
              <a:rPr lang="en-US" altLang="ja-JP" sz="1050" b="1" dirty="0">
                <a:latin typeface="メイリオ" panose="020B0604030504040204" pitchFamily="50" charset="-128"/>
                <a:ea typeface="メイリオ" panose="020B0604030504040204" pitchFamily="50" charset="-128"/>
                <a:cs typeface="Meiryo"/>
                <a:sym typeface="Meiryo"/>
              </a:rPr>
              <a:t>WEB</a:t>
            </a:r>
            <a:r>
              <a:rPr lang="ja-JP" altLang="en-US" sz="1050" b="1" dirty="0">
                <a:latin typeface="メイリオ" panose="020B0604030504040204" pitchFamily="50" charset="-128"/>
                <a:ea typeface="メイリオ" panose="020B0604030504040204" pitchFamily="50" charset="-128"/>
                <a:cs typeface="Meiryo"/>
                <a:sym typeface="Meiryo"/>
              </a:rPr>
              <a:t>領域</a:t>
            </a:r>
            <a:endParaRPr lang="ja-JP" altLang="en-US" sz="1050" dirty="0"/>
          </a:p>
        </p:txBody>
      </p:sp>
      <p:cxnSp>
        <p:nvCxnSpPr>
          <p:cNvPr id="457" name="直線矢印コネクタ 456">
            <a:extLst>
              <a:ext uri="{FF2B5EF4-FFF2-40B4-BE49-F238E27FC236}">
                <a16:creationId xmlns:a16="http://schemas.microsoft.com/office/drawing/2014/main" id="{B9C84515-E6C9-A256-421E-9C3EFEBBFF17}"/>
              </a:ext>
            </a:extLst>
          </p:cNvPr>
          <p:cNvCxnSpPr>
            <a:cxnSpLocks/>
          </p:cNvCxnSpPr>
          <p:nvPr/>
        </p:nvCxnSpPr>
        <p:spPr>
          <a:xfrm>
            <a:off x="7622020" y="5365753"/>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58" name="テキスト ボックス 457">
            <a:extLst>
              <a:ext uri="{FF2B5EF4-FFF2-40B4-BE49-F238E27FC236}">
                <a16:creationId xmlns:a16="http://schemas.microsoft.com/office/drawing/2014/main" id="{7E002B77-EFC0-55F3-D3E6-100837F9B195}"/>
              </a:ext>
            </a:extLst>
          </p:cNvPr>
          <p:cNvSpPr txBox="1"/>
          <p:nvPr/>
        </p:nvSpPr>
        <p:spPr>
          <a:xfrm>
            <a:off x="8102883" y="5231969"/>
            <a:ext cx="1064989"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フォロー体制</a:t>
            </a:r>
            <a:endParaRPr lang="ja-JP" altLang="en-US" sz="900" b="1" dirty="0">
              <a:solidFill>
                <a:schemeClr val="tx1">
                  <a:lumMod val="50000"/>
                  <a:lumOff val="50000"/>
                </a:schemeClr>
              </a:solidFill>
            </a:endParaRPr>
          </a:p>
        </p:txBody>
      </p:sp>
      <p:cxnSp>
        <p:nvCxnSpPr>
          <p:cNvPr id="459" name="直線矢印コネクタ 458">
            <a:extLst>
              <a:ext uri="{FF2B5EF4-FFF2-40B4-BE49-F238E27FC236}">
                <a16:creationId xmlns:a16="http://schemas.microsoft.com/office/drawing/2014/main" id="{03BD82C1-8BEC-3E49-C1DA-A1C214DB1C8C}"/>
              </a:ext>
            </a:extLst>
          </p:cNvPr>
          <p:cNvCxnSpPr>
            <a:cxnSpLocks/>
          </p:cNvCxnSpPr>
          <p:nvPr/>
        </p:nvCxnSpPr>
        <p:spPr>
          <a:xfrm>
            <a:off x="4443737" y="5364283"/>
            <a:ext cx="298248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0" name="テキスト ボックス 459">
            <a:extLst>
              <a:ext uri="{FF2B5EF4-FFF2-40B4-BE49-F238E27FC236}">
                <a16:creationId xmlns:a16="http://schemas.microsoft.com/office/drawing/2014/main" id="{919F797F-1B6A-876C-B468-E147B3D97E8A}"/>
              </a:ext>
            </a:extLst>
          </p:cNvPr>
          <p:cNvSpPr txBox="1"/>
          <p:nvPr/>
        </p:nvSpPr>
        <p:spPr>
          <a:xfrm>
            <a:off x="5470240" y="5239208"/>
            <a:ext cx="1064989"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ステップ配信</a:t>
            </a:r>
            <a:endParaRPr lang="ja-JP" altLang="en-US" sz="900" b="1" dirty="0"/>
          </a:p>
        </p:txBody>
      </p:sp>
      <p:cxnSp>
        <p:nvCxnSpPr>
          <p:cNvPr id="461" name="直線矢印コネクタ 460">
            <a:extLst>
              <a:ext uri="{FF2B5EF4-FFF2-40B4-BE49-F238E27FC236}">
                <a16:creationId xmlns:a16="http://schemas.microsoft.com/office/drawing/2014/main" id="{C96E67E6-B364-7DED-CDB8-DDCEEFB96AD2}"/>
              </a:ext>
            </a:extLst>
          </p:cNvPr>
          <p:cNvCxnSpPr>
            <a:cxnSpLocks/>
          </p:cNvCxnSpPr>
          <p:nvPr/>
        </p:nvCxnSpPr>
        <p:spPr>
          <a:xfrm>
            <a:off x="4443578" y="5637399"/>
            <a:ext cx="298248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2" name="テキスト ボックス 461">
            <a:extLst>
              <a:ext uri="{FF2B5EF4-FFF2-40B4-BE49-F238E27FC236}">
                <a16:creationId xmlns:a16="http://schemas.microsoft.com/office/drawing/2014/main" id="{335DB4AB-DEFA-E356-751F-7106100F929E}"/>
              </a:ext>
            </a:extLst>
          </p:cNvPr>
          <p:cNvSpPr txBox="1"/>
          <p:nvPr/>
        </p:nvSpPr>
        <p:spPr>
          <a:xfrm>
            <a:off x="5470081" y="5512324"/>
            <a:ext cx="1064989"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企画配信</a:t>
            </a:r>
            <a:endParaRPr lang="ja-JP" altLang="en-US" sz="900" b="1" dirty="0"/>
          </a:p>
        </p:txBody>
      </p:sp>
      <p:cxnSp>
        <p:nvCxnSpPr>
          <p:cNvPr id="463" name="直線矢印コネクタ 462">
            <a:extLst>
              <a:ext uri="{FF2B5EF4-FFF2-40B4-BE49-F238E27FC236}">
                <a16:creationId xmlns:a16="http://schemas.microsoft.com/office/drawing/2014/main" id="{7884810E-3E89-4CCB-C00C-B386A34717E4}"/>
              </a:ext>
            </a:extLst>
          </p:cNvPr>
          <p:cNvCxnSpPr>
            <a:cxnSpLocks/>
          </p:cNvCxnSpPr>
          <p:nvPr/>
        </p:nvCxnSpPr>
        <p:spPr>
          <a:xfrm>
            <a:off x="3989118" y="5852186"/>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4" name="テキスト ボックス 463">
            <a:extLst>
              <a:ext uri="{FF2B5EF4-FFF2-40B4-BE49-F238E27FC236}">
                <a16:creationId xmlns:a16="http://schemas.microsoft.com/office/drawing/2014/main" id="{6FD45AC0-2372-776F-6D16-846C0FB7AC64}"/>
              </a:ext>
            </a:extLst>
          </p:cNvPr>
          <p:cNvSpPr txBox="1"/>
          <p:nvPr/>
        </p:nvSpPr>
        <p:spPr>
          <a:xfrm>
            <a:off x="4304358" y="5753281"/>
            <a:ext cx="1288637" cy="209847"/>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アンケート回収</a:t>
            </a:r>
            <a:endParaRPr lang="ja-JP" altLang="en-US" sz="900" b="1" dirty="0"/>
          </a:p>
        </p:txBody>
      </p:sp>
      <p:cxnSp>
        <p:nvCxnSpPr>
          <p:cNvPr id="465" name="直線矢印コネクタ 464">
            <a:extLst>
              <a:ext uri="{FF2B5EF4-FFF2-40B4-BE49-F238E27FC236}">
                <a16:creationId xmlns:a16="http://schemas.microsoft.com/office/drawing/2014/main" id="{5BF3558A-EBED-81EE-B158-28A7CA5D6693}"/>
              </a:ext>
            </a:extLst>
          </p:cNvPr>
          <p:cNvCxnSpPr>
            <a:cxnSpLocks/>
          </p:cNvCxnSpPr>
          <p:nvPr/>
        </p:nvCxnSpPr>
        <p:spPr>
          <a:xfrm>
            <a:off x="3986817" y="6094511"/>
            <a:ext cx="2027163" cy="6111"/>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6" name="テキスト ボックス 465">
            <a:extLst>
              <a:ext uri="{FF2B5EF4-FFF2-40B4-BE49-F238E27FC236}">
                <a16:creationId xmlns:a16="http://schemas.microsoft.com/office/drawing/2014/main" id="{001266CB-AC56-8914-0ACE-8B554DB19B76}"/>
              </a:ext>
            </a:extLst>
          </p:cNvPr>
          <p:cNvSpPr txBox="1"/>
          <p:nvPr/>
        </p:nvSpPr>
        <p:spPr>
          <a:xfrm>
            <a:off x="4319604" y="5997197"/>
            <a:ext cx="1288637" cy="209847"/>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スコアリング等</a:t>
            </a:r>
            <a:endParaRPr lang="ja-JP" altLang="en-US" sz="900" b="1" dirty="0"/>
          </a:p>
        </p:txBody>
      </p:sp>
      <p:cxnSp>
        <p:nvCxnSpPr>
          <p:cNvPr id="467" name="直線矢印コネクタ 466">
            <a:extLst>
              <a:ext uri="{FF2B5EF4-FFF2-40B4-BE49-F238E27FC236}">
                <a16:creationId xmlns:a16="http://schemas.microsoft.com/office/drawing/2014/main" id="{1B403718-ABF2-11BC-1A05-A9E208B7C0F7}"/>
              </a:ext>
            </a:extLst>
          </p:cNvPr>
          <p:cNvCxnSpPr>
            <a:cxnSpLocks/>
          </p:cNvCxnSpPr>
          <p:nvPr/>
        </p:nvCxnSpPr>
        <p:spPr>
          <a:xfrm>
            <a:off x="7042649" y="5856102"/>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68" name="直線矢印コネクタ 467">
            <a:extLst>
              <a:ext uri="{FF2B5EF4-FFF2-40B4-BE49-F238E27FC236}">
                <a16:creationId xmlns:a16="http://schemas.microsoft.com/office/drawing/2014/main" id="{B31EBA12-BB45-627B-A1FD-F44E077537B1}"/>
              </a:ext>
            </a:extLst>
          </p:cNvPr>
          <p:cNvCxnSpPr>
            <a:cxnSpLocks/>
          </p:cNvCxnSpPr>
          <p:nvPr/>
        </p:nvCxnSpPr>
        <p:spPr>
          <a:xfrm>
            <a:off x="6911926" y="611361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9" name="テキスト ボックス 468">
            <a:extLst>
              <a:ext uri="{FF2B5EF4-FFF2-40B4-BE49-F238E27FC236}">
                <a16:creationId xmlns:a16="http://schemas.microsoft.com/office/drawing/2014/main" id="{B0C05E5D-44B4-DA5D-7C04-0BDC8A4602CE}"/>
              </a:ext>
            </a:extLst>
          </p:cNvPr>
          <p:cNvSpPr txBox="1"/>
          <p:nvPr/>
        </p:nvSpPr>
        <p:spPr>
          <a:xfrm>
            <a:off x="7260372" y="6007902"/>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ショップカード</a:t>
            </a:r>
            <a:endParaRPr lang="ja-JP" altLang="en-US" sz="900" b="1" dirty="0">
              <a:solidFill>
                <a:schemeClr val="tx1">
                  <a:lumMod val="50000"/>
                  <a:lumOff val="50000"/>
                </a:schemeClr>
              </a:solidFill>
            </a:endParaRPr>
          </a:p>
        </p:txBody>
      </p:sp>
      <p:pic>
        <p:nvPicPr>
          <p:cNvPr id="470" name="図 469">
            <a:extLst>
              <a:ext uri="{FF2B5EF4-FFF2-40B4-BE49-F238E27FC236}">
                <a16:creationId xmlns:a16="http://schemas.microsoft.com/office/drawing/2014/main" id="{2F4B65BB-B8AA-5045-2074-C574F9423E61}"/>
              </a:ext>
            </a:extLst>
          </p:cNvPr>
          <p:cNvPicPr>
            <a:picLocks noChangeAspect="1"/>
          </p:cNvPicPr>
          <p:nvPr/>
        </p:nvPicPr>
        <p:blipFill>
          <a:blip r:embed="rId3" cstate="print">
            <a:extLst>
              <a:ext uri="{28A0092B-C50C-407E-A947-70E740481C1C}">
                <a14:useLocalDpi xmlns:a14="http://schemas.microsoft.com/office/drawing/2010/main" val="0"/>
              </a:ext>
            </a:extLst>
          </a:blip>
          <a:srcRect t="4981" b="4075"/>
          <a:stretch>
            <a:fillRect/>
          </a:stretch>
        </p:blipFill>
        <p:spPr>
          <a:xfrm>
            <a:off x="2929897" y="4918748"/>
            <a:ext cx="703970" cy="1385346"/>
          </a:xfrm>
          <a:prstGeom prst="rect">
            <a:avLst/>
          </a:prstGeom>
        </p:spPr>
      </p:pic>
      <p:sp>
        <p:nvSpPr>
          <p:cNvPr id="471" name="正方形/長方形 470">
            <a:extLst>
              <a:ext uri="{FF2B5EF4-FFF2-40B4-BE49-F238E27FC236}">
                <a16:creationId xmlns:a16="http://schemas.microsoft.com/office/drawing/2014/main" id="{D22C9FBF-7B93-079A-E87E-A4C967CD0194}"/>
              </a:ext>
            </a:extLst>
          </p:cNvPr>
          <p:cNvSpPr/>
          <p:nvPr/>
        </p:nvSpPr>
        <p:spPr>
          <a:xfrm>
            <a:off x="3832763" y="5206936"/>
            <a:ext cx="2944325" cy="1076098"/>
          </a:xfrm>
          <a:prstGeom prst="rect">
            <a:avLst/>
          </a:prstGeom>
          <a:noFill/>
          <a:ln w="15875">
            <a:solidFill>
              <a:schemeClr val="accent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2" name="テキスト ボックス 471">
            <a:extLst>
              <a:ext uri="{FF2B5EF4-FFF2-40B4-BE49-F238E27FC236}">
                <a16:creationId xmlns:a16="http://schemas.microsoft.com/office/drawing/2014/main" id="{89B35388-9C44-6C01-ACAA-2E691617E119}"/>
              </a:ext>
            </a:extLst>
          </p:cNvPr>
          <p:cNvSpPr txBox="1"/>
          <p:nvPr/>
        </p:nvSpPr>
        <p:spPr>
          <a:xfrm>
            <a:off x="5647624" y="6173593"/>
            <a:ext cx="1207049" cy="200055"/>
          </a:xfrm>
          <a:prstGeom prst="rect">
            <a:avLst/>
          </a:prstGeom>
          <a:solidFill>
            <a:schemeClr val="tx2"/>
          </a:solidFill>
          <a:ln>
            <a:noFill/>
          </a:ln>
        </p:spPr>
        <p:txBody>
          <a:bodyPr wrap="square">
            <a:spAutoFit/>
          </a:bodyPr>
          <a:lstStyle/>
          <a:p>
            <a:pPr algn="ctr">
              <a:buNone/>
            </a:pPr>
            <a:r>
              <a:rPr lang="ja-JP" altLang="en-US" sz="700" dirty="0">
                <a:solidFill>
                  <a:schemeClr val="bg1"/>
                </a:solidFill>
                <a:latin typeface="メイリオ" panose="020B0604030504040204" pitchFamily="50" charset="-128"/>
                <a:ea typeface="メイリオ" panose="020B0604030504040204" pitchFamily="50" charset="-128"/>
              </a:rPr>
              <a:t>短期と長期で各自設計</a:t>
            </a:r>
            <a:endParaRPr lang="ja-JP" altLang="ja-JP" sz="700" dirty="0">
              <a:solidFill>
                <a:schemeClr val="bg1"/>
              </a:solidFill>
              <a:latin typeface="メイリオ" panose="020B0604030504040204" pitchFamily="50" charset="-128"/>
              <a:ea typeface="メイリオ" panose="020B0604030504040204" pitchFamily="50" charset="-128"/>
            </a:endParaRPr>
          </a:p>
        </p:txBody>
      </p:sp>
      <p:sp>
        <p:nvSpPr>
          <p:cNvPr id="473" name="テキスト ボックス 472">
            <a:extLst>
              <a:ext uri="{FF2B5EF4-FFF2-40B4-BE49-F238E27FC236}">
                <a16:creationId xmlns:a16="http://schemas.microsoft.com/office/drawing/2014/main" id="{BD1C4614-6833-006B-0695-58E26A5CFFB7}"/>
              </a:ext>
            </a:extLst>
          </p:cNvPr>
          <p:cNvSpPr txBox="1"/>
          <p:nvPr/>
        </p:nvSpPr>
        <p:spPr>
          <a:xfrm>
            <a:off x="7434640" y="5741676"/>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リサーチ回収</a:t>
            </a:r>
            <a:endParaRPr lang="ja-JP" altLang="en-US" sz="900" b="1" dirty="0">
              <a:solidFill>
                <a:schemeClr val="tx1">
                  <a:lumMod val="50000"/>
                  <a:lumOff val="50000"/>
                </a:schemeClr>
              </a:solidFill>
            </a:endParaRPr>
          </a:p>
        </p:txBody>
      </p:sp>
      <p:sp>
        <p:nvSpPr>
          <p:cNvPr id="474" name="正方形/長方形 473">
            <a:extLst>
              <a:ext uri="{FF2B5EF4-FFF2-40B4-BE49-F238E27FC236}">
                <a16:creationId xmlns:a16="http://schemas.microsoft.com/office/drawing/2014/main" id="{149FC944-C0B9-A202-3A0B-03CB7D89620A}"/>
              </a:ext>
            </a:extLst>
          </p:cNvPr>
          <p:cNvSpPr/>
          <p:nvPr/>
        </p:nvSpPr>
        <p:spPr>
          <a:xfrm>
            <a:off x="3046381" y="4921782"/>
            <a:ext cx="6619128" cy="24255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latin typeface="メイリオ" panose="020B0604030504040204" pitchFamily="50" charset="-128"/>
                <a:ea typeface="メイリオ" panose="020B0604030504040204" pitchFamily="50" charset="-128"/>
              </a:rPr>
              <a:t>どう</a:t>
            </a:r>
            <a:r>
              <a:rPr kumimoji="1" lang="ja-JP" altLang="en-US" sz="1000" dirty="0">
                <a:latin typeface="メイリオ" panose="020B0604030504040204" pitchFamily="50" charset="-128"/>
                <a:ea typeface="メイリオ" panose="020B0604030504040204" pitchFamily="50" charset="-128"/>
              </a:rPr>
              <a:t>友だちをアクションに結びつけるか？</a:t>
            </a:r>
            <a:r>
              <a:rPr kumimoji="1" lang="ja-JP" altLang="en-US" sz="1000" dirty="0">
                <a:solidFill>
                  <a:srgbClr val="FFFF00"/>
                </a:solidFill>
                <a:latin typeface="メイリオ" panose="020B0604030504040204" pitchFamily="50" charset="-128"/>
                <a:ea typeface="メイリオ" panose="020B0604030504040204" pitchFamily="50" charset="-128"/>
              </a:rPr>
              <a:t>（</a:t>
            </a:r>
            <a:r>
              <a:rPr kumimoji="1" lang="en-US" altLang="ja-JP" sz="1000" dirty="0">
                <a:solidFill>
                  <a:srgbClr val="FFFF00"/>
                </a:solidFill>
                <a:latin typeface="メイリオ" panose="020B0604030504040204" pitchFamily="50" charset="-128"/>
                <a:ea typeface="メイリオ" panose="020B0604030504040204" pitchFamily="50" charset="-128"/>
              </a:rPr>
              <a:t>LINE</a:t>
            </a:r>
            <a:r>
              <a:rPr kumimoji="1" lang="ja-JP" altLang="en-US" sz="1000" dirty="0">
                <a:solidFill>
                  <a:srgbClr val="FFFF00"/>
                </a:solidFill>
                <a:latin typeface="メイリオ" panose="020B0604030504040204" pitchFamily="50" charset="-128"/>
                <a:ea typeface="メイリオ" panose="020B0604030504040204" pitchFamily="50" charset="-128"/>
              </a:rPr>
              <a:t>→反響）</a:t>
            </a:r>
          </a:p>
        </p:txBody>
      </p:sp>
    </p:spTree>
    <p:extLst>
      <p:ext uri="{BB962C8B-B14F-4D97-AF65-F5344CB8AC3E}">
        <p14:creationId xmlns:p14="http://schemas.microsoft.com/office/powerpoint/2010/main" val="34644681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143DE1-3ED3-F966-F6AD-4C1C8BF7CC0E}"/>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2E6701D8-9A90-E152-7C18-C7706967BB9A}"/>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1E62FB26-1D1E-5A11-19DE-1FB175754D5C}"/>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6598B957-A9E7-BDB0-A5F6-72D1122A5B6E}"/>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施策パターン（主要５パターン）</a:t>
            </a:r>
            <a:endParaRPr lang="ja-JP" altLang="en-US" sz="1100" dirty="0"/>
          </a:p>
        </p:txBody>
      </p:sp>
      <p:sp>
        <p:nvSpPr>
          <p:cNvPr id="7" name="テキスト ボックス 6">
            <a:extLst>
              <a:ext uri="{FF2B5EF4-FFF2-40B4-BE49-F238E27FC236}">
                <a16:creationId xmlns:a16="http://schemas.microsoft.com/office/drawing/2014/main" id="{45E74368-07DB-CE00-62F1-E5548485D6FB}"/>
              </a:ext>
            </a:extLst>
          </p:cNvPr>
          <p:cNvSpPr txBox="1"/>
          <p:nvPr/>
        </p:nvSpPr>
        <p:spPr>
          <a:xfrm>
            <a:off x="96788" y="1202790"/>
            <a:ext cx="9687414" cy="307777"/>
          </a:xfrm>
          <a:prstGeom prst="rect">
            <a:avLst/>
          </a:prstGeom>
          <a:noFill/>
        </p:spPr>
        <p:txBody>
          <a:bodyPr wrap="square">
            <a:spAutoFit/>
          </a:bodyPr>
          <a:lstStyle/>
          <a:p>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運用で追うべき重要指標（</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KPI</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）と、目的に応じた</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5</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つの施策方針</a:t>
            </a:r>
            <a:endParaRPr lang="ja-JP" altLang="en-US" sz="1000" dirty="0"/>
          </a:p>
        </p:txBody>
      </p:sp>
      <p:sp>
        <p:nvSpPr>
          <p:cNvPr id="9" name="テキスト ボックス 8">
            <a:extLst>
              <a:ext uri="{FF2B5EF4-FFF2-40B4-BE49-F238E27FC236}">
                <a16:creationId xmlns:a16="http://schemas.microsoft.com/office/drawing/2014/main" id="{29ADE9C4-EDB0-BC95-CE8E-626E80FB4D48}"/>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12" name="Rectangle 4">
            <a:extLst>
              <a:ext uri="{FF2B5EF4-FFF2-40B4-BE49-F238E27FC236}">
                <a16:creationId xmlns:a16="http://schemas.microsoft.com/office/drawing/2014/main" id="{49E79A83-D923-CF9A-2A1A-3D2E1673FD4A}"/>
              </a:ext>
            </a:extLst>
          </p:cNvPr>
          <p:cNvSpPr/>
          <p:nvPr/>
        </p:nvSpPr>
        <p:spPr>
          <a:xfrm>
            <a:off x="408432" y="2163060"/>
            <a:ext cx="1773936" cy="685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dirty="0" err="1">
                <a:solidFill>
                  <a:srgbClr val="FFFFFF"/>
                </a:solidFill>
                <a:latin typeface="メイリオ"/>
                <a:ea typeface="メイリオ"/>
                <a:cs typeface="メイリオ"/>
              </a:rPr>
              <a:t>露出強化</a:t>
            </a:r>
            <a:endParaRPr sz="1250" b="1" dirty="0">
              <a:solidFill>
                <a:srgbClr val="FFFFFF"/>
              </a:solidFill>
              <a:latin typeface="メイリオ"/>
              <a:ea typeface="メイリオ"/>
              <a:cs typeface="メイリオ"/>
            </a:endParaRPr>
          </a:p>
          <a:p>
            <a:pPr algn="ctr">
              <a:spcAft>
                <a:spcPts val="0"/>
              </a:spcAft>
            </a:pPr>
            <a:r>
              <a:rPr sz="950" b="0" dirty="0" err="1">
                <a:solidFill>
                  <a:srgbClr val="FFFFFF"/>
                </a:solidFill>
                <a:latin typeface="メイリオ"/>
                <a:ea typeface="メイリオ"/>
                <a:cs typeface="メイリオ"/>
              </a:rPr>
              <a:t>ブランディング・告知</a:t>
            </a:r>
            <a:endParaRPr sz="950" b="0" dirty="0">
              <a:solidFill>
                <a:srgbClr val="FFFFFF"/>
              </a:solidFill>
              <a:latin typeface="メイリオ"/>
              <a:ea typeface="メイリオ"/>
              <a:cs typeface="メイリオ"/>
            </a:endParaRPr>
          </a:p>
        </p:txBody>
      </p:sp>
      <p:sp>
        <p:nvSpPr>
          <p:cNvPr id="16" name="Rectangle 5">
            <a:extLst>
              <a:ext uri="{FF2B5EF4-FFF2-40B4-BE49-F238E27FC236}">
                <a16:creationId xmlns:a16="http://schemas.microsoft.com/office/drawing/2014/main" id="{155E13D8-2298-8094-68E3-69F442818216}"/>
              </a:ext>
            </a:extLst>
          </p:cNvPr>
          <p:cNvSpPr/>
          <p:nvPr/>
        </p:nvSpPr>
        <p:spPr>
          <a:xfrm>
            <a:off x="4084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20" name="Rectangle 6">
            <a:extLst>
              <a:ext uri="{FF2B5EF4-FFF2-40B4-BE49-F238E27FC236}">
                <a16:creationId xmlns:a16="http://schemas.microsoft.com/office/drawing/2014/main" id="{6C7DBB20-26A1-8B8F-32D4-0B15E548F56E}"/>
              </a:ext>
            </a:extLst>
          </p:cNvPr>
          <p:cNvSpPr/>
          <p:nvPr/>
        </p:nvSpPr>
        <p:spPr>
          <a:xfrm>
            <a:off x="4084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新商品・イベントを</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広く知らせ、接触量</a:t>
            </a:r>
            <a:r>
              <a:rPr lang="ja-JP" altLang="en-US" sz="1100" b="1" dirty="0">
                <a:solidFill>
                  <a:srgbClr val="333333"/>
                </a:solidFill>
                <a:latin typeface="メイリオ"/>
                <a:ea typeface="メイリオ"/>
                <a:cs typeface="メイリオ"/>
              </a:rPr>
              <a:t>増加</a:t>
            </a:r>
            <a:endParaRPr sz="1100" b="1" dirty="0">
              <a:solidFill>
                <a:srgbClr val="333333"/>
              </a:solidFill>
              <a:latin typeface="メイリオ"/>
              <a:ea typeface="メイリオ"/>
              <a:cs typeface="メイリオ"/>
            </a:endParaRPr>
          </a:p>
        </p:txBody>
      </p:sp>
      <p:sp>
        <p:nvSpPr>
          <p:cNvPr id="24" name="Rectangle 7">
            <a:extLst>
              <a:ext uri="{FF2B5EF4-FFF2-40B4-BE49-F238E27FC236}">
                <a16:creationId xmlns:a16="http://schemas.microsoft.com/office/drawing/2014/main" id="{6811CAAE-5198-A8F3-058F-450EB5ADBA4E}"/>
              </a:ext>
            </a:extLst>
          </p:cNvPr>
          <p:cNvSpPr/>
          <p:nvPr/>
        </p:nvSpPr>
        <p:spPr>
          <a:xfrm>
            <a:off x="4084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28" name="Rectangle 8">
            <a:extLst>
              <a:ext uri="{FF2B5EF4-FFF2-40B4-BE49-F238E27FC236}">
                <a16:creationId xmlns:a16="http://schemas.microsoft.com/office/drawing/2014/main" id="{1C3C93C7-EF49-8EB4-41C3-62A45A431458}"/>
              </a:ext>
            </a:extLst>
          </p:cNvPr>
          <p:cNvSpPr/>
          <p:nvPr/>
        </p:nvSpPr>
        <p:spPr>
          <a:xfrm>
            <a:off x="4084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友だち数／配信到達数／開封率</a:t>
            </a:r>
          </a:p>
        </p:txBody>
      </p:sp>
      <p:sp>
        <p:nvSpPr>
          <p:cNvPr id="32" name="Rectangle 9">
            <a:extLst>
              <a:ext uri="{FF2B5EF4-FFF2-40B4-BE49-F238E27FC236}">
                <a16:creationId xmlns:a16="http://schemas.microsoft.com/office/drawing/2014/main" id="{24002695-377E-A008-465B-19DAB55618DC}"/>
              </a:ext>
            </a:extLst>
          </p:cNvPr>
          <p:cNvSpPr/>
          <p:nvPr/>
        </p:nvSpPr>
        <p:spPr>
          <a:xfrm>
            <a:off x="4084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36" name="Rectangle 10">
            <a:extLst>
              <a:ext uri="{FF2B5EF4-FFF2-40B4-BE49-F238E27FC236}">
                <a16:creationId xmlns:a16="http://schemas.microsoft.com/office/drawing/2014/main" id="{83F02ED9-D873-788D-4F8B-840F449F5E67}"/>
              </a:ext>
            </a:extLst>
          </p:cNvPr>
          <p:cNvSpPr/>
          <p:nvPr/>
        </p:nvSpPr>
        <p:spPr>
          <a:xfrm>
            <a:off x="4084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企画配信／リッチメニュー</a:t>
            </a:r>
          </a:p>
        </p:txBody>
      </p:sp>
      <p:sp>
        <p:nvSpPr>
          <p:cNvPr id="41" name="Rectangle 12">
            <a:extLst>
              <a:ext uri="{FF2B5EF4-FFF2-40B4-BE49-F238E27FC236}">
                <a16:creationId xmlns:a16="http://schemas.microsoft.com/office/drawing/2014/main" id="{88068114-91B2-5D9E-47D2-54CBE30DEF89}"/>
              </a:ext>
            </a:extLst>
          </p:cNvPr>
          <p:cNvSpPr/>
          <p:nvPr/>
        </p:nvSpPr>
        <p:spPr>
          <a:xfrm>
            <a:off x="2237232" y="2163060"/>
            <a:ext cx="1773936" cy="685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dirty="0">
                <a:solidFill>
                  <a:srgbClr val="FFFFFF"/>
                </a:solidFill>
                <a:latin typeface="メイリオ"/>
                <a:ea typeface="メイリオ"/>
                <a:cs typeface="メイリオ"/>
              </a:rPr>
              <a:t>CV</a:t>
            </a:r>
            <a:r>
              <a:rPr lang="ja-JP" altLang="en-US" sz="1250" b="1" dirty="0">
                <a:solidFill>
                  <a:srgbClr val="FFFFFF"/>
                </a:solidFill>
                <a:latin typeface="メイリオ"/>
                <a:ea typeface="メイリオ"/>
                <a:cs typeface="メイリオ"/>
              </a:rPr>
              <a:t>最大化</a:t>
            </a:r>
            <a:endParaRPr sz="1250" b="1" dirty="0">
              <a:solidFill>
                <a:srgbClr val="FFFFFF"/>
              </a:solidFill>
              <a:latin typeface="メイリオ"/>
              <a:ea typeface="メイリオ"/>
              <a:cs typeface="メイリオ"/>
            </a:endParaRPr>
          </a:p>
          <a:p>
            <a:pPr algn="ctr">
              <a:spcAft>
                <a:spcPts val="0"/>
              </a:spcAft>
            </a:pPr>
            <a:r>
              <a:rPr sz="950" b="0" dirty="0" err="1">
                <a:solidFill>
                  <a:srgbClr val="FFFFFF"/>
                </a:solidFill>
                <a:latin typeface="メイリオ"/>
                <a:ea typeface="メイリオ"/>
                <a:cs typeface="メイリオ"/>
              </a:rPr>
              <a:t>WEB・実店舗</a:t>
            </a:r>
            <a:endParaRPr sz="950" b="0" dirty="0">
              <a:solidFill>
                <a:srgbClr val="FFFFFF"/>
              </a:solidFill>
              <a:latin typeface="メイリオ"/>
              <a:ea typeface="メイリオ"/>
              <a:cs typeface="メイリオ"/>
            </a:endParaRPr>
          </a:p>
        </p:txBody>
      </p:sp>
      <p:sp>
        <p:nvSpPr>
          <p:cNvPr id="43" name="Rectangle 13">
            <a:extLst>
              <a:ext uri="{FF2B5EF4-FFF2-40B4-BE49-F238E27FC236}">
                <a16:creationId xmlns:a16="http://schemas.microsoft.com/office/drawing/2014/main" id="{35D95F17-69A9-BFB0-0DEF-22C0EB725ED0}"/>
              </a:ext>
            </a:extLst>
          </p:cNvPr>
          <p:cNvSpPr/>
          <p:nvPr/>
        </p:nvSpPr>
        <p:spPr>
          <a:xfrm>
            <a:off x="22372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45" name="Rectangle 14">
            <a:extLst>
              <a:ext uri="{FF2B5EF4-FFF2-40B4-BE49-F238E27FC236}">
                <a16:creationId xmlns:a16="http://schemas.microsoft.com/office/drawing/2014/main" id="{AF16D352-C907-9B65-3BE4-49A79ABEB20F}"/>
              </a:ext>
            </a:extLst>
          </p:cNvPr>
          <p:cNvSpPr/>
          <p:nvPr/>
        </p:nvSpPr>
        <p:spPr>
          <a:xfrm>
            <a:off x="22372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WEBの申込・予約や</a:t>
            </a:r>
            <a:r>
              <a:rPr sz="1100" b="1" dirty="0">
                <a:solidFill>
                  <a:srgbClr val="333333"/>
                </a:solidFill>
                <a:latin typeface="メイリオ"/>
                <a:ea typeface="メイリオ"/>
                <a:cs typeface="メイリオ"/>
              </a:rPr>
              <a:t>、</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実店舗の来店</a:t>
            </a:r>
            <a:r>
              <a:rPr sz="1100" b="1" dirty="0">
                <a:solidFill>
                  <a:srgbClr val="333333"/>
                </a:solidFill>
                <a:latin typeface="メイリオ"/>
                <a:ea typeface="メイリオ"/>
                <a:cs typeface="メイリオ"/>
              </a:rPr>
              <a:t>・</a:t>
            </a:r>
            <a:r>
              <a:rPr lang="ja-JP" altLang="en-US" sz="1100" b="1" dirty="0">
                <a:solidFill>
                  <a:srgbClr val="333333"/>
                </a:solidFill>
                <a:latin typeface="メイリオ"/>
                <a:ea typeface="メイリオ"/>
                <a:cs typeface="メイリオ"/>
              </a:rPr>
              <a:t>購入に</a:t>
            </a:r>
            <a:endParaRPr sz="1100" b="1" dirty="0">
              <a:solidFill>
                <a:srgbClr val="333333"/>
              </a:solidFill>
              <a:latin typeface="メイリオ"/>
              <a:ea typeface="メイリオ"/>
              <a:cs typeface="メイリオ"/>
            </a:endParaRPr>
          </a:p>
        </p:txBody>
      </p:sp>
      <p:sp>
        <p:nvSpPr>
          <p:cNvPr id="47" name="Rectangle 15">
            <a:extLst>
              <a:ext uri="{FF2B5EF4-FFF2-40B4-BE49-F238E27FC236}">
                <a16:creationId xmlns:a16="http://schemas.microsoft.com/office/drawing/2014/main" id="{ECF548BA-4F25-D357-FFD9-560CFBC52E16}"/>
              </a:ext>
            </a:extLst>
          </p:cNvPr>
          <p:cNvSpPr/>
          <p:nvPr/>
        </p:nvSpPr>
        <p:spPr>
          <a:xfrm>
            <a:off x="22372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49" name="Rectangle 16">
            <a:extLst>
              <a:ext uri="{FF2B5EF4-FFF2-40B4-BE49-F238E27FC236}">
                <a16:creationId xmlns:a16="http://schemas.microsoft.com/office/drawing/2014/main" id="{4CD5FF1A-1457-7314-0F3D-AA97E2FA4A98}"/>
              </a:ext>
            </a:extLst>
          </p:cNvPr>
          <p:cNvSpPr/>
          <p:nvPr/>
        </p:nvSpPr>
        <p:spPr>
          <a:xfrm>
            <a:off x="22372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CV数／CVR／CPA／来店数</a:t>
            </a:r>
          </a:p>
        </p:txBody>
      </p:sp>
      <p:sp>
        <p:nvSpPr>
          <p:cNvPr id="51" name="Rectangle 17">
            <a:extLst>
              <a:ext uri="{FF2B5EF4-FFF2-40B4-BE49-F238E27FC236}">
                <a16:creationId xmlns:a16="http://schemas.microsoft.com/office/drawing/2014/main" id="{12D05AB9-222E-9902-8290-186E965B6FC0}"/>
              </a:ext>
            </a:extLst>
          </p:cNvPr>
          <p:cNvSpPr/>
          <p:nvPr/>
        </p:nvSpPr>
        <p:spPr>
          <a:xfrm>
            <a:off x="22372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53" name="Rectangle 18">
            <a:extLst>
              <a:ext uri="{FF2B5EF4-FFF2-40B4-BE49-F238E27FC236}">
                <a16:creationId xmlns:a16="http://schemas.microsoft.com/office/drawing/2014/main" id="{DC3C0252-EAC5-F636-A132-78E1C2C2B2AA}"/>
              </a:ext>
            </a:extLst>
          </p:cNvPr>
          <p:cNvSpPr/>
          <p:nvPr/>
        </p:nvSpPr>
        <p:spPr>
          <a:xfrm>
            <a:off x="22372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ポップアップ／ステップ配信／リッチメニュー</a:t>
            </a:r>
          </a:p>
        </p:txBody>
      </p:sp>
      <p:sp>
        <p:nvSpPr>
          <p:cNvPr id="57" name="Rectangle 20">
            <a:extLst>
              <a:ext uri="{FF2B5EF4-FFF2-40B4-BE49-F238E27FC236}">
                <a16:creationId xmlns:a16="http://schemas.microsoft.com/office/drawing/2014/main" id="{AB9E57D2-9C3A-6A00-A6E2-0F2E56AC5C82}"/>
              </a:ext>
            </a:extLst>
          </p:cNvPr>
          <p:cNvSpPr/>
          <p:nvPr/>
        </p:nvSpPr>
        <p:spPr>
          <a:xfrm>
            <a:off x="4066032" y="2163060"/>
            <a:ext cx="1773936"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a:solidFill>
                  <a:srgbClr val="FFFFFF"/>
                </a:solidFill>
                <a:latin typeface="メイリオ"/>
                <a:ea typeface="メイリオ"/>
                <a:cs typeface="メイリオ"/>
              </a:rPr>
              <a:t>LTV・ユーザーの質</a:t>
            </a:r>
          </a:p>
          <a:p>
            <a:pPr algn="ctr">
              <a:spcAft>
                <a:spcPts val="0"/>
              </a:spcAft>
            </a:pPr>
            <a:r>
              <a:rPr sz="950" b="0">
                <a:solidFill>
                  <a:srgbClr val="FFFFFF"/>
                </a:solidFill>
                <a:latin typeface="メイリオ"/>
                <a:ea typeface="メイリオ"/>
                <a:cs typeface="メイリオ"/>
              </a:rPr>
              <a:t>優良顧客の育成</a:t>
            </a:r>
          </a:p>
        </p:txBody>
      </p:sp>
      <p:sp>
        <p:nvSpPr>
          <p:cNvPr id="60" name="Rectangle 21">
            <a:extLst>
              <a:ext uri="{FF2B5EF4-FFF2-40B4-BE49-F238E27FC236}">
                <a16:creationId xmlns:a16="http://schemas.microsoft.com/office/drawing/2014/main" id="{8A9C7FAF-EA45-CF24-B656-908F5442F50C}"/>
              </a:ext>
            </a:extLst>
          </p:cNvPr>
          <p:cNvSpPr/>
          <p:nvPr/>
        </p:nvSpPr>
        <p:spPr>
          <a:xfrm>
            <a:off x="40660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62" name="Rectangle 22">
            <a:extLst>
              <a:ext uri="{FF2B5EF4-FFF2-40B4-BE49-F238E27FC236}">
                <a16:creationId xmlns:a16="http://schemas.microsoft.com/office/drawing/2014/main" id="{6CC7BF41-8887-8361-4328-893877256850}"/>
              </a:ext>
            </a:extLst>
          </p:cNvPr>
          <p:cNvSpPr/>
          <p:nvPr/>
        </p:nvSpPr>
        <p:spPr>
          <a:xfrm>
            <a:off x="40660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優良な見込み・顧客を</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見極め、育てる</a:t>
            </a:r>
            <a:endParaRPr sz="1100" b="1" dirty="0">
              <a:solidFill>
                <a:srgbClr val="333333"/>
              </a:solidFill>
              <a:latin typeface="メイリオ"/>
              <a:ea typeface="メイリオ"/>
              <a:cs typeface="メイリオ"/>
            </a:endParaRPr>
          </a:p>
        </p:txBody>
      </p:sp>
      <p:sp>
        <p:nvSpPr>
          <p:cNvPr id="64" name="Rectangle 23">
            <a:extLst>
              <a:ext uri="{FF2B5EF4-FFF2-40B4-BE49-F238E27FC236}">
                <a16:creationId xmlns:a16="http://schemas.microsoft.com/office/drawing/2014/main" id="{0DDBE270-09C3-11A4-38F6-4AD200C9C94D}"/>
              </a:ext>
            </a:extLst>
          </p:cNvPr>
          <p:cNvSpPr/>
          <p:nvPr/>
        </p:nvSpPr>
        <p:spPr>
          <a:xfrm>
            <a:off x="40660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66" name="Rectangle 24">
            <a:extLst>
              <a:ext uri="{FF2B5EF4-FFF2-40B4-BE49-F238E27FC236}">
                <a16:creationId xmlns:a16="http://schemas.microsoft.com/office/drawing/2014/main" id="{A6EECE04-D4EC-CDF0-B34C-60A31C1CDC8D}"/>
              </a:ext>
            </a:extLst>
          </p:cNvPr>
          <p:cNvSpPr/>
          <p:nvPr/>
        </p:nvSpPr>
        <p:spPr>
          <a:xfrm>
            <a:off x="40660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アクティブ率／ブロック率／継続率／客単価</a:t>
            </a:r>
          </a:p>
        </p:txBody>
      </p:sp>
      <p:sp>
        <p:nvSpPr>
          <p:cNvPr id="68" name="Rectangle 25">
            <a:extLst>
              <a:ext uri="{FF2B5EF4-FFF2-40B4-BE49-F238E27FC236}">
                <a16:creationId xmlns:a16="http://schemas.microsoft.com/office/drawing/2014/main" id="{EBC8045D-930A-FA3E-65AE-3A756DDEA8D0}"/>
              </a:ext>
            </a:extLst>
          </p:cNvPr>
          <p:cNvSpPr/>
          <p:nvPr/>
        </p:nvSpPr>
        <p:spPr>
          <a:xfrm>
            <a:off x="40660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70" name="Rectangle 26">
            <a:extLst>
              <a:ext uri="{FF2B5EF4-FFF2-40B4-BE49-F238E27FC236}">
                <a16:creationId xmlns:a16="http://schemas.microsoft.com/office/drawing/2014/main" id="{FAB78CD6-C04D-A78B-1979-D1C6E3031729}"/>
              </a:ext>
            </a:extLst>
          </p:cNvPr>
          <p:cNvSpPr/>
          <p:nvPr/>
        </p:nvSpPr>
        <p:spPr>
          <a:xfrm>
            <a:off x="40660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アンケート／タグ・セグメント／挨拶メッセージ</a:t>
            </a:r>
          </a:p>
        </p:txBody>
      </p:sp>
      <p:sp>
        <p:nvSpPr>
          <p:cNvPr id="74" name="Rectangle 28">
            <a:extLst>
              <a:ext uri="{FF2B5EF4-FFF2-40B4-BE49-F238E27FC236}">
                <a16:creationId xmlns:a16="http://schemas.microsoft.com/office/drawing/2014/main" id="{D6A1A411-0761-977A-6EC4-652572684D97}"/>
              </a:ext>
            </a:extLst>
          </p:cNvPr>
          <p:cNvSpPr/>
          <p:nvPr/>
        </p:nvSpPr>
        <p:spPr>
          <a:xfrm>
            <a:off x="5894832" y="2163060"/>
            <a:ext cx="1773936"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a:solidFill>
                  <a:srgbClr val="FFFFFF"/>
                </a:solidFill>
                <a:latin typeface="メイリオ"/>
                <a:ea typeface="メイリオ"/>
                <a:cs typeface="メイリオ"/>
              </a:rPr>
              <a:t>リピート</a:t>
            </a:r>
          </a:p>
          <a:p>
            <a:pPr algn="ctr">
              <a:spcAft>
                <a:spcPts val="0"/>
              </a:spcAft>
            </a:pPr>
            <a:r>
              <a:rPr sz="950" b="0">
                <a:solidFill>
                  <a:srgbClr val="FFFFFF"/>
                </a:solidFill>
                <a:latin typeface="メイリオ"/>
                <a:ea typeface="メイリオ"/>
                <a:cs typeface="メイリオ"/>
              </a:rPr>
              <a:t>再購入・再来店</a:t>
            </a:r>
          </a:p>
        </p:txBody>
      </p:sp>
      <p:sp>
        <p:nvSpPr>
          <p:cNvPr id="76" name="Rectangle 29">
            <a:extLst>
              <a:ext uri="{FF2B5EF4-FFF2-40B4-BE49-F238E27FC236}">
                <a16:creationId xmlns:a16="http://schemas.microsoft.com/office/drawing/2014/main" id="{75906DAF-D632-DFE1-A336-7943CDAA5379}"/>
              </a:ext>
            </a:extLst>
          </p:cNvPr>
          <p:cNvSpPr/>
          <p:nvPr/>
        </p:nvSpPr>
        <p:spPr>
          <a:xfrm>
            <a:off x="58948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78" name="Rectangle 30">
            <a:extLst>
              <a:ext uri="{FF2B5EF4-FFF2-40B4-BE49-F238E27FC236}">
                <a16:creationId xmlns:a16="http://schemas.microsoft.com/office/drawing/2014/main" id="{CD032C05-9EE1-EF04-2AFC-D7D5BC88127F}"/>
              </a:ext>
            </a:extLst>
          </p:cNvPr>
          <p:cNvSpPr/>
          <p:nvPr/>
        </p:nvSpPr>
        <p:spPr>
          <a:xfrm>
            <a:off x="58948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再購入・再来店の</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タイミングで必要な人</a:t>
            </a:r>
            <a:r>
              <a:rPr lang="ja-JP" altLang="en-US" sz="1100" b="1" dirty="0">
                <a:solidFill>
                  <a:srgbClr val="333333"/>
                </a:solidFill>
                <a:latin typeface="メイリオ"/>
                <a:ea typeface="メイリオ"/>
                <a:cs typeface="メイリオ"/>
              </a:rPr>
              <a:t>へ</a:t>
            </a:r>
            <a:endParaRPr sz="1100" b="1" dirty="0">
              <a:solidFill>
                <a:srgbClr val="333333"/>
              </a:solidFill>
              <a:latin typeface="メイリオ"/>
              <a:ea typeface="メイリオ"/>
              <a:cs typeface="メイリオ"/>
            </a:endParaRPr>
          </a:p>
        </p:txBody>
      </p:sp>
      <p:sp>
        <p:nvSpPr>
          <p:cNvPr id="80" name="Rectangle 31">
            <a:extLst>
              <a:ext uri="{FF2B5EF4-FFF2-40B4-BE49-F238E27FC236}">
                <a16:creationId xmlns:a16="http://schemas.microsoft.com/office/drawing/2014/main" id="{BFF607A5-74EE-9D3F-E07E-23B5DAB0505C}"/>
              </a:ext>
            </a:extLst>
          </p:cNvPr>
          <p:cNvSpPr/>
          <p:nvPr/>
        </p:nvSpPr>
        <p:spPr>
          <a:xfrm>
            <a:off x="58948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82" name="Rectangle 32">
            <a:extLst>
              <a:ext uri="{FF2B5EF4-FFF2-40B4-BE49-F238E27FC236}">
                <a16:creationId xmlns:a16="http://schemas.microsoft.com/office/drawing/2014/main" id="{50FD0BE7-952B-2A01-998C-6E1602F9524C}"/>
              </a:ext>
            </a:extLst>
          </p:cNvPr>
          <p:cNvSpPr/>
          <p:nvPr/>
        </p:nvSpPr>
        <p:spPr>
          <a:xfrm>
            <a:off x="58948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リピート率／再来店数／購入間隔</a:t>
            </a:r>
          </a:p>
        </p:txBody>
      </p:sp>
      <p:sp>
        <p:nvSpPr>
          <p:cNvPr id="84" name="Rectangle 33">
            <a:extLst>
              <a:ext uri="{FF2B5EF4-FFF2-40B4-BE49-F238E27FC236}">
                <a16:creationId xmlns:a16="http://schemas.microsoft.com/office/drawing/2014/main" id="{FC2A570B-9E54-FAC3-01D5-C53C4A413CC4}"/>
              </a:ext>
            </a:extLst>
          </p:cNvPr>
          <p:cNvSpPr/>
          <p:nvPr/>
        </p:nvSpPr>
        <p:spPr>
          <a:xfrm>
            <a:off x="58948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86" name="Rectangle 34">
            <a:extLst>
              <a:ext uri="{FF2B5EF4-FFF2-40B4-BE49-F238E27FC236}">
                <a16:creationId xmlns:a16="http://schemas.microsoft.com/office/drawing/2014/main" id="{CC3A9112-7923-428F-67F2-2231466F8C27}"/>
              </a:ext>
            </a:extLst>
          </p:cNvPr>
          <p:cNvSpPr/>
          <p:nvPr/>
        </p:nvSpPr>
        <p:spPr>
          <a:xfrm>
            <a:off x="58948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企画配信／セグメント／ステップ配信</a:t>
            </a:r>
          </a:p>
        </p:txBody>
      </p:sp>
      <p:sp>
        <p:nvSpPr>
          <p:cNvPr id="90" name="Rectangle 36">
            <a:extLst>
              <a:ext uri="{FF2B5EF4-FFF2-40B4-BE49-F238E27FC236}">
                <a16:creationId xmlns:a16="http://schemas.microsoft.com/office/drawing/2014/main" id="{E81296C5-352B-E383-B51D-61DCBDFB5FD6}"/>
              </a:ext>
            </a:extLst>
          </p:cNvPr>
          <p:cNvSpPr/>
          <p:nvPr/>
        </p:nvSpPr>
        <p:spPr>
          <a:xfrm>
            <a:off x="7723632" y="2163060"/>
            <a:ext cx="1773936" cy="685800"/>
          </a:xfrm>
          <a:prstGeom prst="rect">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a:solidFill>
                  <a:srgbClr val="FFFFFF"/>
                </a:solidFill>
                <a:latin typeface="メイリオ"/>
                <a:ea typeface="メイリオ"/>
                <a:cs typeface="メイリオ"/>
              </a:rPr>
              <a:t>限定コミュニティ運営</a:t>
            </a:r>
          </a:p>
          <a:p>
            <a:pPr algn="ctr">
              <a:spcAft>
                <a:spcPts val="0"/>
              </a:spcAft>
            </a:pPr>
            <a:r>
              <a:rPr sz="950" b="0">
                <a:solidFill>
                  <a:srgbClr val="FFFFFF"/>
                </a:solidFill>
                <a:latin typeface="メイリオ"/>
                <a:ea typeface="メイリオ"/>
                <a:cs typeface="メイリオ"/>
              </a:rPr>
              <a:t>ファン化</a:t>
            </a:r>
          </a:p>
        </p:txBody>
      </p:sp>
      <p:sp>
        <p:nvSpPr>
          <p:cNvPr id="92" name="Rectangle 37">
            <a:extLst>
              <a:ext uri="{FF2B5EF4-FFF2-40B4-BE49-F238E27FC236}">
                <a16:creationId xmlns:a16="http://schemas.microsoft.com/office/drawing/2014/main" id="{4F8A6AAC-536B-B6BB-71E9-3125F900E9F4}"/>
              </a:ext>
            </a:extLst>
          </p:cNvPr>
          <p:cNvSpPr/>
          <p:nvPr/>
        </p:nvSpPr>
        <p:spPr>
          <a:xfrm>
            <a:off x="77236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94" name="Rectangle 38">
            <a:extLst>
              <a:ext uri="{FF2B5EF4-FFF2-40B4-BE49-F238E27FC236}">
                <a16:creationId xmlns:a16="http://schemas.microsoft.com/office/drawing/2014/main" id="{D7046182-3DF8-2C37-71A9-B94D9F3579B2}"/>
              </a:ext>
            </a:extLst>
          </p:cNvPr>
          <p:cNvSpPr/>
          <p:nvPr/>
        </p:nvSpPr>
        <p:spPr>
          <a:xfrm>
            <a:off x="77236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会員・ファン向けに</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限定情報と特典を届け</a:t>
            </a:r>
            <a:r>
              <a:rPr lang="ja-JP" altLang="en-US" sz="1100" b="1" dirty="0">
                <a:solidFill>
                  <a:srgbClr val="333333"/>
                </a:solidFill>
                <a:latin typeface="メイリオ"/>
                <a:ea typeface="メイリオ"/>
                <a:cs typeface="メイリオ"/>
              </a:rPr>
              <a:t>る</a:t>
            </a:r>
            <a:endParaRPr sz="1100" b="1" dirty="0">
              <a:solidFill>
                <a:srgbClr val="333333"/>
              </a:solidFill>
              <a:latin typeface="メイリオ"/>
              <a:ea typeface="メイリオ"/>
              <a:cs typeface="メイリオ"/>
            </a:endParaRPr>
          </a:p>
        </p:txBody>
      </p:sp>
      <p:sp>
        <p:nvSpPr>
          <p:cNvPr id="96" name="Rectangle 39">
            <a:extLst>
              <a:ext uri="{FF2B5EF4-FFF2-40B4-BE49-F238E27FC236}">
                <a16:creationId xmlns:a16="http://schemas.microsoft.com/office/drawing/2014/main" id="{B6098F37-D497-5015-0B5E-21B88967F2BD}"/>
              </a:ext>
            </a:extLst>
          </p:cNvPr>
          <p:cNvSpPr/>
          <p:nvPr/>
        </p:nvSpPr>
        <p:spPr>
          <a:xfrm>
            <a:off x="77236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98" name="Rectangle 40">
            <a:extLst>
              <a:ext uri="{FF2B5EF4-FFF2-40B4-BE49-F238E27FC236}">
                <a16:creationId xmlns:a16="http://schemas.microsoft.com/office/drawing/2014/main" id="{0BE96C36-A9FB-4161-3395-F63CA2F081B0}"/>
              </a:ext>
            </a:extLst>
          </p:cNvPr>
          <p:cNvSpPr/>
          <p:nvPr/>
        </p:nvSpPr>
        <p:spPr>
          <a:xfrm>
            <a:off x="77236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会員数／反応率／参加率／紹介数</a:t>
            </a:r>
          </a:p>
        </p:txBody>
      </p:sp>
      <p:sp>
        <p:nvSpPr>
          <p:cNvPr id="100" name="Rectangle 41">
            <a:extLst>
              <a:ext uri="{FF2B5EF4-FFF2-40B4-BE49-F238E27FC236}">
                <a16:creationId xmlns:a16="http://schemas.microsoft.com/office/drawing/2014/main" id="{F797EE57-6A7A-D477-5F93-76E5E55D9A24}"/>
              </a:ext>
            </a:extLst>
          </p:cNvPr>
          <p:cNvSpPr/>
          <p:nvPr/>
        </p:nvSpPr>
        <p:spPr>
          <a:xfrm>
            <a:off x="77236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102" name="Rectangle 42">
            <a:extLst>
              <a:ext uri="{FF2B5EF4-FFF2-40B4-BE49-F238E27FC236}">
                <a16:creationId xmlns:a16="http://schemas.microsoft.com/office/drawing/2014/main" id="{23E4C735-B371-F9B9-63D2-A7A1E489E4DC}"/>
              </a:ext>
            </a:extLst>
          </p:cNvPr>
          <p:cNvSpPr/>
          <p:nvPr/>
        </p:nvSpPr>
        <p:spPr>
          <a:xfrm>
            <a:off x="77236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タグ・セグメント／企画配信／リッチメニュー</a:t>
            </a:r>
          </a:p>
        </p:txBody>
      </p:sp>
      <p:sp>
        <p:nvSpPr>
          <p:cNvPr id="104" name="Rectangle 43">
            <a:extLst>
              <a:ext uri="{FF2B5EF4-FFF2-40B4-BE49-F238E27FC236}">
                <a16:creationId xmlns:a16="http://schemas.microsoft.com/office/drawing/2014/main" id="{FADE5E5B-B891-E92E-6D6C-55784FACE1C5}"/>
              </a:ext>
            </a:extLst>
          </p:cNvPr>
          <p:cNvSpPr/>
          <p:nvPr/>
        </p:nvSpPr>
        <p:spPr>
          <a:xfrm>
            <a:off x="408432" y="6373649"/>
            <a:ext cx="9144000" cy="9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a:p>
        </p:txBody>
      </p:sp>
      <p:sp>
        <p:nvSpPr>
          <p:cNvPr id="106" name="Rectangle 44">
            <a:extLst>
              <a:ext uri="{FF2B5EF4-FFF2-40B4-BE49-F238E27FC236}">
                <a16:creationId xmlns:a16="http://schemas.microsoft.com/office/drawing/2014/main" id="{1398E17B-A660-9AA8-3264-8469AAE20AC9}"/>
              </a:ext>
            </a:extLst>
          </p:cNvPr>
          <p:cNvSpPr/>
          <p:nvPr/>
        </p:nvSpPr>
        <p:spPr>
          <a:xfrm>
            <a:off x="408432" y="6316543"/>
            <a:ext cx="9144000" cy="18736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800" b="0">
                <a:solidFill>
                  <a:srgbClr val="777777"/>
                </a:solidFill>
                <a:latin typeface="メイリオ"/>
                <a:ea typeface="メイリオ"/>
                <a:cs typeface="メイリオ"/>
              </a:rPr>
              <a:t>※一般的な整理。貴社の目的に合わせて重みづけを調整します</a:t>
            </a:r>
          </a:p>
        </p:txBody>
      </p:sp>
      <p:sp>
        <p:nvSpPr>
          <p:cNvPr id="108" name="Oval 3">
            <a:extLst>
              <a:ext uri="{FF2B5EF4-FFF2-40B4-BE49-F238E27FC236}">
                <a16:creationId xmlns:a16="http://schemas.microsoft.com/office/drawing/2014/main" id="{57AC0B05-AFA9-1596-F07B-3F4E24B73CD1}"/>
              </a:ext>
            </a:extLst>
          </p:cNvPr>
          <p:cNvSpPr/>
          <p:nvPr/>
        </p:nvSpPr>
        <p:spPr>
          <a:xfrm>
            <a:off x="382305"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1</a:t>
            </a:r>
          </a:p>
        </p:txBody>
      </p:sp>
      <p:sp>
        <p:nvSpPr>
          <p:cNvPr id="110" name="Oval 11">
            <a:extLst>
              <a:ext uri="{FF2B5EF4-FFF2-40B4-BE49-F238E27FC236}">
                <a16:creationId xmlns:a16="http://schemas.microsoft.com/office/drawing/2014/main" id="{301FA881-6688-198B-2701-68129B242FE7}"/>
              </a:ext>
            </a:extLst>
          </p:cNvPr>
          <p:cNvSpPr/>
          <p:nvPr/>
        </p:nvSpPr>
        <p:spPr>
          <a:xfrm>
            <a:off x="2211106"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2</a:t>
            </a:r>
          </a:p>
        </p:txBody>
      </p:sp>
      <p:sp>
        <p:nvSpPr>
          <p:cNvPr id="112" name="Oval 19">
            <a:extLst>
              <a:ext uri="{FF2B5EF4-FFF2-40B4-BE49-F238E27FC236}">
                <a16:creationId xmlns:a16="http://schemas.microsoft.com/office/drawing/2014/main" id="{E3DF8A67-626B-3C95-A49A-BFCF74DB564F}"/>
              </a:ext>
            </a:extLst>
          </p:cNvPr>
          <p:cNvSpPr/>
          <p:nvPr/>
        </p:nvSpPr>
        <p:spPr>
          <a:xfrm>
            <a:off x="4039906"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3</a:t>
            </a:r>
          </a:p>
        </p:txBody>
      </p:sp>
      <p:sp>
        <p:nvSpPr>
          <p:cNvPr id="114" name="Oval 27">
            <a:extLst>
              <a:ext uri="{FF2B5EF4-FFF2-40B4-BE49-F238E27FC236}">
                <a16:creationId xmlns:a16="http://schemas.microsoft.com/office/drawing/2014/main" id="{31028558-CEAD-B484-640D-13F5CB89F12B}"/>
              </a:ext>
            </a:extLst>
          </p:cNvPr>
          <p:cNvSpPr/>
          <p:nvPr/>
        </p:nvSpPr>
        <p:spPr>
          <a:xfrm>
            <a:off x="5868706"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4</a:t>
            </a:r>
          </a:p>
        </p:txBody>
      </p:sp>
      <p:sp>
        <p:nvSpPr>
          <p:cNvPr id="116" name="Oval 35">
            <a:extLst>
              <a:ext uri="{FF2B5EF4-FFF2-40B4-BE49-F238E27FC236}">
                <a16:creationId xmlns:a16="http://schemas.microsoft.com/office/drawing/2014/main" id="{713600C5-45EC-B1DD-3B2D-86B0566C431F}"/>
              </a:ext>
            </a:extLst>
          </p:cNvPr>
          <p:cNvSpPr/>
          <p:nvPr/>
        </p:nvSpPr>
        <p:spPr>
          <a:xfrm>
            <a:off x="7697505"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5</a:t>
            </a:r>
          </a:p>
        </p:txBody>
      </p:sp>
    </p:spTree>
    <p:extLst>
      <p:ext uri="{BB962C8B-B14F-4D97-AF65-F5344CB8AC3E}">
        <p14:creationId xmlns:p14="http://schemas.microsoft.com/office/powerpoint/2010/main" val="40808659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B97C76-735E-4062-F6F5-F8388CBB95DC}"/>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44A10F2E-7086-34EF-5EA3-C29208499DA7}"/>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5D17E13-7926-4FEF-B3DF-46643C07A612}"/>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42E8D0AC-7EB6-A26E-FB83-BB611CE20B5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施策全体図</a:t>
            </a:r>
            <a:endParaRPr lang="ja-JP" altLang="en-US" sz="1100" dirty="0"/>
          </a:p>
        </p:txBody>
      </p:sp>
      <p:sp>
        <p:nvSpPr>
          <p:cNvPr id="7" name="テキスト ボックス 6">
            <a:extLst>
              <a:ext uri="{FF2B5EF4-FFF2-40B4-BE49-F238E27FC236}">
                <a16:creationId xmlns:a16="http://schemas.microsoft.com/office/drawing/2014/main" id="{A23B7626-A436-9A82-DD49-5F8A69ED9A70}"/>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集客・獲得 → 即時分類 → 分岐育成 → 成果回収 の4ステップで描く、LINE施策の全体図</a:t>
            </a:r>
            <a:endParaRPr lang="ja-JP" altLang="en-US" sz="1000" dirty="0"/>
          </a:p>
        </p:txBody>
      </p:sp>
      <p:sp>
        <p:nvSpPr>
          <p:cNvPr id="9" name="テキスト ボックス 8">
            <a:extLst>
              <a:ext uri="{FF2B5EF4-FFF2-40B4-BE49-F238E27FC236}">
                <a16:creationId xmlns:a16="http://schemas.microsoft.com/office/drawing/2014/main" id="{60D95125-3520-4FA9-64C6-1958F1FF1A7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59" name="Pentagon 58"/>
          <p:cNvSpPr/>
          <p:nvPr/>
        </p:nvSpPr>
        <p:spPr>
          <a:xfrm>
            <a:off x="365760" y="1810512"/>
            <a:ext cx="2258568" cy="420624"/>
          </a:xfrm>
          <a:prstGeom prst="homePlate">
            <a:avLst>
              <a:gd name="adj" fmla="val 30000"/>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7200" rIns="72000" bIns="7200" rtlCol="0" anchor="ctr"/>
          <a:lstStyle/>
          <a:p>
            <a:pPr algn="ctr">
              <a:lnSpc>
                <a:spcPct val="110000"/>
              </a:lnSpc>
              <a:spcAft>
                <a:spcPts val="0"/>
              </a:spcAft>
            </a:pPr>
            <a:r>
              <a:rPr sz="1300" b="1">
                <a:solidFill>
                  <a:srgbClr val="FFFFFF"/>
                </a:solidFill>
                <a:latin typeface="メイリオ"/>
                <a:ea typeface="メイリオ"/>
                <a:cs typeface="メイリオ"/>
              </a:rPr>
              <a:t>STEP1　集客・獲得</a:t>
            </a:r>
          </a:p>
        </p:txBody>
      </p:sp>
      <p:sp>
        <p:nvSpPr>
          <p:cNvPr id="60" name="Chevron 59"/>
          <p:cNvSpPr/>
          <p:nvPr/>
        </p:nvSpPr>
        <p:spPr>
          <a:xfrm>
            <a:off x="2496312" y="1810512"/>
            <a:ext cx="2459736" cy="420624"/>
          </a:xfrm>
          <a:prstGeom prst="chevron">
            <a:avLst>
              <a:gd name="adj" fmla="val 30000"/>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7200" rIns="72000" bIns="7200" rtlCol="0" anchor="ctr"/>
          <a:lstStyle/>
          <a:p>
            <a:pPr algn="ctr">
              <a:lnSpc>
                <a:spcPct val="110000"/>
              </a:lnSpc>
              <a:spcAft>
                <a:spcPts val="0"/>
              </a:spcAft>
            </a:pPr>
            <a:r>
              <a:rPr sz="1300" b="1">
                <a:solidFill>
                  <a:srgbClr val="FFFFFF"/>
                </a:solidFill>
                <a:latin typeface="メイリオ"/>
                <a:ea typeface="メイリオ"/>
                <a:cs typeface="メイリオ"/>
              </a:rPr>
              <a:t>STEP2　即時分類</a:t>
            </a:r>
          </a:p>
        </p:txBody>
      </p:sp>
      <p:sp>
        <p:nvSpPr>
          <p:cNvPr id="61" name="Chevron 60"/>
          <p:cNvSpPr/>
          <p:nvPr/>
        </p:nvSpPr>
        <p:spPr>
          <a:xfrm>
            <a:off x="4919472" y="1810512"/>
            <a:ext cx="2551176" cy="420624"/>
          </a:xfrm>
          <a:prstGeom prst="chevron">
            <a:avLst>
              <a:gd name="adj" fmla="val 30000"/>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7200" rIns="72000" bIns="7200" rtlCol="0" anchor="ctr"/>
          <a:lstStyle/>
          <a:p>
            <a:pPr algn="ctr">
              <a:lnSpc>
                <a:spcPct val="110000"/>
              </a:lnSpc>
              <a:spcAft>
                <a:spcPts val="0"/>
              </a:spcAft>
            </a:pPr>
            <a:r>
              <a:rPr sz="1300" b="1">
                <a:solidFill>
                  <a:srgbClr val="FFFFFF"/>
                </a:solidFill>
                <a:latin typeface="メイリオ"/>
                <a:ea typeface="メイリオ"/>
                <a:cs typeface="メイリオ"/>
              </a:rPr>
              <a:t>STEP3　分岐育成</a:t>
            </a:r>
          </a:p>
        </p:txBody>
      </p:sp>
      <p:sp>
        <p:nvSpPr>
          <p:cNvPr id="62" name="Chevron 61"/>
          <p:cNvSpPr/>
          <p:nvPr/>
        </p:nvSpPr>
        <p:spPr>
          <a:xfrm>
            <a:off x="7434071" y="1810512"/>
            <a:ext cx="2304288" cy="420624"/>
          </a:xfrm>
          <a:prstGeom prst="chevron">
            <a:avLst>
              <a:gd name="adj" fmla="val 30000"/>
            </a:avLst>
          </a:prstGeom>
          <a:solidFill>
            <a:srgbClr val="1A1A1A"/>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7200" rIns="72000" bIns="7200" rtlCol="0" anchor="ctr"/>
          <a:lstStyle/>
          <a:p>
            <a:pPr algn="ctr">
              <a:lnSpc>
                <a:spcPct val="110000"/>
              </a:lnSpc>
              <a:spcAft>
                <a:spcPts val="0"/>
              </a:spcAft>
            </a:pPr>
            <a:r>
              <a:rPr sz="1300" b="1">
                <a:solidFill>
                  <a:srgbClr val="FFFFFF"/>
                </a:solidFill>
                <a:latin typeface="メイリオ"/>
                <a:ea typeface="メイリオ"/>
                <a:cs typeface="メイリオ"/>
              </a:rPr>
              <a:t>STEP4　成果回収</a:t>
            </a:r>
          </a:p>
        </p:txBody>
      </p:sp>
      <p:sp>
        <p:nvSpPr>
          <p:cNvPr id="63" name="Rectangle 62"/>
          <p:cNvSpPr/>
          <p:nvPr/>
        </p:nvSpPr>
        <p:spPr>
          <a:xfrm>
            <a:off x="365760" y="2468880"/>
            <a:ext cx="2057400" cy="566928"/>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100" b="0">
                <a:solidFill>
                  <a:srgbClr val="333333"/>
                </a:solidFill>
                <a:latin typeface="メイリオ"/>
                <a:ea typeface="メイリオ"/>
                <a:cs typeface="メイリオ"/>
              </a:rPr>
              <a:t>広告・SEOの来訪者のうち</a:t>
            </a:r>
          </a:p>
          <a:p>
            <a:pPr algn="ctr">
              <a:lnSpc>
                <a:spcPct val="110000"/>
              </a:lnSpc>
              <a:spcAft>
                <a:spcPts val="0"/>
              </a:spcAft>
            </a:pPr>
            <a:r>
              <a:rPr sz="1400" b="1">
                <a:solidFill>
                  <a:srgbClr val="1F2A5C"/>
                </a:solidFill>
                <a:latin typeface="メイリオ"/>
                <a:ea typeface="メイリオ"/>
                <a:cs typeface="メイリオ"/>
              </a:rPr>
              <a:t>離脱する 約99%</a:t>
            </a:r>
          </a:p>
        </p:txBody>
      </p:sp>
      <p:cxnSp>
        <p:nvCxnSpPr>
          <p:cNvPr id="64" name="Connector 63"/>
          <p:cNvCxnSpPr/>
          <p:nvPr/>
        </p:nvCxnSpPr>
        <p:spPr>
          <a:xfrm>
            <a:off x="1394460" y="3054096"/>
            <a:ext cx="0" cy="265176"/>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65" name="Rectangle 64"/>
          <p:cNvSpPr/>
          <p:nvPr/>
        </p:nvSpPr>
        <p:spPr>
          <a:xfrm>
            <a:off x="365760" y="3337559"/>
            <a:ext cx="2057400" cy="731520"/>
          </a:xfrm>
          <a:prstGeom prst="rect">
            <a:avLst/>
          </a:prstGeom>
          <a:solidFill>
            <a:srgbClr val="FFFFFF"/>
          </a:solidFill>
          <a:ln w="15875">
            <a:solidFill>
              <a:srgbClr val="1F2A5C"/>
            </a:solid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300" b="1">
                <a:solidFill>
                  <a:srgbClr val="1F2A5C"/>
                </a:solidFill>
                <a:latin typeface="メイリオ"/>
                <a:ea typeface="メイリオ"/>
                <a:cs typeface="メイリオ"/>
              </a:rPr>
              <a:t>ポップアップ</a:t>
            </a:r>
          </a:p>
          <a:p>
            <a:pPr algn="ctr">
              <a:lnSpc>
                <a:spcPct val="110000"/>
              </a:lnSpc>
              <a:spcAft>
                <a:spcPts val="0"/>
              </a:spcAft>
            </a:pPr>
            <a:r>
              <a:rPr sz="1300" b="1">
                <a:solidFill>
                  <a:srgbClr val="1F2A5C"/>
                </a:solidFill>
                <a:latin typeface="メイリオ"/>
                <a:ea typeface="メイリオ"/>
                <a:cs typeface="メイリオ"/>
              </a:rPr>
              <a:t>通知メッセージ</a:t>
            </a:r>
          </a:p>
        </p:txBody>
      </p:sp>
      <p:sp>
        <p:nvSpPr>
          <p:cNvPr id="66" name="TextBox 65"/>
          <p:cNvSpPr txBox="1"/>
          <p:nvPr/>
        </p:nvSpPr>
        <p:spPr>
          <a:xfrm>
            <a:off x="365760" y="4133087"/>
            <a:ext cx="2057400" cy="502920"/>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サイトを離れる前に表示</a:t>
            </a:r>
          </a:p>
          <a:p>
            <a:pPr algn="ctr">
              <a:lnSpc>
                <a:spcPct val="105000"/>
              </a:lnSpc>
              <a:spcAft>
                <a:spcPts val="200"/>
              </a:spcAft>
            </a:pPr>
            <a:r>
              <a:rPr sz="1050" b="0">
                <a:solidFill>
                  <a:srgbClr val="777777"/>
                </a:solidFill>
                <a:latin typeface="メイリオ"/>
                <a:ea typeface="メイリオ"/>
                <a:cs typeface="メイリオ"/>
              </a:rPr>
              <a:t>保有リストにも届ける</a:t>
            </a:r>
          </a:p>
        </p:txBody>
      </p:sp>
      <p:cxnSp>
        <p:nvCxnSpPr>
          <p:cNvPr id="67" name="Connector 66"/>
          <p:cNvCxnSpPr/>
          <p:nvPr/>
        </p:nvCxnSpPr>
        <p:spPr>
          <a:xfrm>
            <a:off x="2423160" y="3703319"/>
            <a:ext cx="274320" cy="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68" name="Rectangle 67"/>
          <p:cNvSpPr/>
          <p:nvPr/>
        </p:nvSpPr>
        <p:spPr>
          <a:xfrm>
            <a:off x="2697480" y="2468880"/>
            <a:ext cx="2057400" cy="566928"/>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100" b="0">
                <a:solidFill>
                  <a:srgbClr val="333333"/>
                </a:solidFill>
                <a:latin typeface="メイリオ"/>
                <a:ea typeface="メイリオ"/>
                <a:cs typeface="メイリオ"/>
              </a:rPr>
              <a:t>最も反応が高い</a:t>
            </a:r>
          </a:p>
          <a:p>
            <a:pPr algn="ctr">
              <a:lnSpc>
                <a:spcPct val="110000"/>
              </a:lnSpc>
              <a:spcAft>
                <a:spcPts val="0"/>
              </a:spcAft>
            </a:pPr>
            <a:r>
              <a:rPr sz="1400" b="1">
                <a:solidFill>
                  <a:srgbClr val="1F2A5C"/>
                </a:solidFill>
                <a:latin typeface="メイリオ"/>
                <a:ea typeface="メイリオ"/>
                <a:cs typeface="メイリオ"/>
              </a:rPr>
              <a:t>友だち追加の直後</a:t>
            </a:r>
          </a:p>
        </p:txBody>
      </p:sp>
      <p:cxnSp>
        <p:nvCxnSpPr>
          <p:cNvPr id="69" name="Connector 68"/>
          <p:cNvCxnSpPr/>
          <p:nvPr/>
        </p:nvCxnSpPr>
        <p:spPr>
          <a:xfrm>
            <a:off x="3726180" y="3054096"/>
            <a:ext cx="0" cy="265176"/>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70" name="Rectangle 69"/>
          <p:cNvSpPr/>
          <p:nvPr/>
        </p:nvSpPr>
        <p:spPr>
          <a:xfrm>
            <a:off x="2697480" y="3337559"/>
            <a:ext cx="2057400" cy="274320"/>
          </a:xfrm>
          <a:prstGeom prst="rect">
            <a:avLst/>
          </a:prstGeom>
          <a:solidFill>
            <a:srgbClr val="06C755"/>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100" b="1">
                <a:solidFill>
                  <a:srgbClr val="FFFFFF"/>
                </a:solidFill>
                <a:latin typeface="メイリオ"/>
                <a:ea typeface="メイリオ"/>
                <a:cs typeface="メイリオ"/>
              </a:rPr>
              <a:t>LINE友だち追加</a:t>
            </a:r>
          </a:p>
        </p:txBody>
      </p:sp>
      <p:sp>
        <p:nvSpPr>
          <p:cNvPr id="71" name="Rectangle 70"/>
          <p:cNvSpPr/>
          <p:nvPr/>
        </p:nvSpPr>
        <p:spPr>
          <a:xfrm>
            <a:off x="2697480" y="3611880"/>
            <a:ext cx="2057400" cy="45720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300" b="1">
                <a:solidFill>
                  <a:srgbClr val="FFFFFF"/>
                </a:solidFill>
                <a:latin typeface="メイリオ"/>
                <a:ea typeface="メイリオ"/>
                <a:cs typeface="メイリオ"/>
              </a:rPr>
              <a:t>Day0 アンケート・診断</a:t>
            </a:r>
          </a:p>
        </p:txBody>
      </p:sp>
      <p:sp>
        <p:nvSpPr>
          <p:cNvPr id="72" name="TextBox 71"/>
          <p:cNvSpPr txBox="1"/>
          <p:nvPr/>
        </p:nvSpPr>
        <p:spPr>
          <a:xfrm>
            <a:off x="2697480" y="4133087"/>
            <a:ext cx="2057400" cy="502920"/>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属性・検討度を分け、</a:t>
            </a:r>
          </a:p>
          <a:p>
            <a:pPr algn="ctr">
              <a:lnSpc>
                <a:spcPct val="105000"/>
              </a:lnSpc>
              <a:spcAft>
                <a:spcPts val="200"/>
              </a:spcAft>
            </a:pPr>
            <a:r>
              <a:rPr sz="1050" b="0">
                <a:solidFill>
                  <a:srgbClr val="777777"/>
                </a:solidFill>
                <a:latin typeface="メイリオ"/>
                <a:ea typeface="メイリオ"/>
                <a:cs typeface="メイリオ"/>
              </a:rPr>
              <a:t>次の配信を出し分ける</a:t>
            </a:r>
          </a:p>
        </p:txBody>
      </p:sp>
      <p:sp>
        <p:nvSpPr>
          <p:cNvPr id="73" name="Rectangle 72"/>
          <p:cNvSpPr/>
          <p:nvPr/>
        </p:nvSpPr>
        <p:spPr>
          <a:xfrm>
            <a:off x="5120639" y="2468880"/>
            <a:ext cx="2148840" cy="1051560"/>
          </a:xfrm>
          <a:prstGeom prst="rect">
            <a:avLst/>
          </a:prstGeom>
          <a:solidFill>
            <a:srgbClr val="FFFFFF"/>
          </a:solidFill>
          <a:ln w="15875">
            <a:solidFill>
              <a:srgbClr val="1F2A5C"/>
            </a:solid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200"/>
              </a:spcAft>
            </a:pPr>
            <a:r>
              <a:rPr sz="1300" b="1">
                <a:solidFill>
                  <a:srgbClr val="1F2A5C"/>
                </a:solidFill>
                <a:latin typeface="メイリオ"/>
                <a:ea typeface="メイリオ"/>
                <a:cs typeface="メイリオ"/>
              </a:rPr>
              <a:t>短期集中トラック</a:t>
            </a:r>
          </a:p>
          <a:p>
            <a:pPr algn="ctr">
              <a:lnSpc>
                <a:spcPct val="110000"/>
              </a:lnSpc>
              <a:spcAft>
                <a:spcPts val="0"/>
              </a:spcAft>
            </a:pPr>
            <a:r>
              <a:rPr sz="1050" b="0">
                <a:solidFill>
                  <a:srgbClr val="333333"/>
                </a:solidFill>
                <a:latin typeface="メイリオ"/>
                <a:ea typeface="メイリオ"/>
                <a:cs typeface="メイリオ"/>
              </a:rPr>
              <a:t>Day0〜15｜検討度が高い方</a:t>
            </a:r>
          </a:p>
          <a:p>
            <a:pPr algn="ctr">
              <a:lnSpc>
                <a:spcPct val="110000"/>
              </a:lnSpc>
              <a:spcAft>
                <a:spcPts val="0"/>
              </a:spcAft>
            </a:pPr>
            <a:r>
              <a:rPr sz="1050" b="1">
                <a:solidFill>
                  <a:srgbClr val="333333"/>
                </a:solidFill>
                <a:latin typeface="メイリオ"/>
                <a:ea typeface="メイリオ"/>
                <a:cs typeface="メイリオ"/>
              </a:rPr>
              <a:t>15日の壁を超えるステップ配信</a:t>
            </a:r>
          </a:p>
        </p:txBody>
      </p:sp>
      <p:sp>
        <p:nvSpPr>
          <p:cNvPr id="74" name="Rectangle 73"/>
          <p:cNvSpPr/>
          <p:nvPr/>
        </p:nvSpPr>
        <p:spPr>
          <a:xfrm>
            <a:off x="5120639" y="3749040"/>
            <a:ext cx="2148840" cy="1051560"/>
          </a:xfrm>
          <a:prstGeom prst="rect">
            <a:avLst/>
          </a:prstGeom>
          <a:solidFill>
            <a:srgbClr val="FFFFFF"/>
          </a:solidFill>
          <a:ln w="15875">
            <a:solidFill>
              <a:srgbClr val="1F2A5C"/>
            </a:solid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200"/>
              </a:spcAft>
            </a:pPr>
            <a:r>
              <a:rPr sz="1300" b="1">
                <a:solidFill>
                  <a:srgbClr val="1F2A5C"/>
                </a:solidFill>
                <a:latin typeface="メイリオ"/>
                <a:ea typeface="メイリオ"/>
                <a:cs typeface="メイリオ"/>
              </a:rPr>
              <a:t>中長期トラック</a:t>
            </a:r>
          </a:p>
          <a:p>
            <a:pPr algn="ctr">
              <a:lnSpc>
                <a:spcPct val="110000"/>
              </a:lnSpc>
              <a:spcAft>
                <a:spcPts val="0"/>
              </a:spcAft>
            </a:pPr>
            <a:r>
              <a:rPr sz="1050" b="0">
                <a:solidFill>
                  <a:srgbClr val="333333"/>
                </a:solidFill>
                <a:latin typeface="メイリオ"/>
                <a:ea typeface="メイリオ"/>
                <a:cs typeface="メイリオ"/>
              </a:rPr>
              <a:t>15日以降｜検討度が中・低の方</a:t>
            </a:r>
          </a:p>
          <a:p>
            <a:pPr algn="ctr">
              <a:lnSpc>
                <a:spcPct val="110000"/>
              </a:lnSpc>
              <a:spcAft>
                <a:spcPts val="0"/>
              </a:spcAft>
            </a:pPr>
            <a:r>
              <a:rPr sz="1050" b="1">
                <a:solidFill>
                  <a:srgbClr val="333333"/>
                </a:solidFill>
                <a:latin typeface="メイリオ"/>
                <a:ea typeface="メイリオ"/>
                <a:cs typeface="メイリオ"/>
              </a:rPr>
              <a:t>シーズナリティ連動の企画配信</a:t>
            </a:r>
          </a:p>
        </p:txBody>
      </p:sp>
      <p:cxnSp>
        <p:nvCxnSpPr>
          <p:cNvPr id="75" name="Connector 74"/>
          <p:cNvCxnSpPr/>
          <p:nvPr/>
        </p:nvCxnSpPr>
        <p:spPr>
          <a:xfrm>
            <a:off x="4754880" y="3703319"/>
            <a:ext cx="146304" cy="0"/>
          </a:xfrm>
          <a:prstGeom prst="line">
            <a:avLst/>
          </a:prstGeom>
          <a:ln w="22225">
            <a:solidFill>
              <a:srgbClr val="1F2A5C"/>
            </a:solidFill>
          </a:ln>
        </p:spPr>
        <p:style>
          <a:lnRef idx="2">
            <a:schemeClr val="accent1"/>
          </a:lnRef>
          <a:fillRef idx="0">
            <a:schemeClr val="accent1"/>
          </a:fillRef>
          <a:effectRef idx="0">
            <a:schemeClr val="accent1"/>
          </a:effectRef>
          <a:fontRef idx="minor">
            <a:schemeClr val="tx1"/>
          </a:fontRef>
        </p:style>
      </p:cxnSp>
      <p:cxnSp>
        <p:nvCxnSpPr>
          <p:cNvPr id="76" name="Connector 75"/>
          <p:cNvCxnSpPr/>
          <p:nvPr/>
        </p:nvCxnSpPr>
        <p:spPr>
          <a:xfrm>
            <a:off x="4901184" y="2994660"/>
            <a:ext cx="0" cy="1280160"/>
          </a:xfrm>
          <a:prstGeom prst="line">
            <a:avLst/>
          </a:prstGeom>
          <a:ln w="22225">
            <a:solidFill>
              <a:srgbClr val="1F2A5C"/>
            </a:solidFill>
          </a:ln>
        </p:spPr>
        <p:style>
          <a:lnRef idx="2">
            <a:schemeClr val="accent1"/>
          </a:lnRef>
          <a:fillRef idx="0">
            <a:schemeClr val="accent1"/>
          </a:fillRef>
          <a:effectRef idx="0">
            <a:schemeClr val="accent1"/>
          </a:effectRef>
          <a:fontRef idx="minor">
            <a:schemeClr val="tx1"/>
          </a:fontRef>
        </p:style>
      </p:cxnSp>
      <p:cxnSp>
        <p:nvCxnSpPr>
          <p:cNvPr id="77" name="Connector 76"/>
          <p:cNvCxnSpPr/>
          <p:nvPr/>
        </p:nvCxnSpPr>
        <p:spPr>
          <a:xfrm>
            <a:off x="4901184" y="2994660"/>
            <a:ext cx="219455" cy="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cxnSp>
        <p:nvCxnSpPr>
          <p:cNvPr id="78" name="Connector 77"/>
          <p:cNvCxnSpPr/>
          <p:nvPr/>
        </p:nvCxnSpPr>
        <p:spPr>
          <a:xfrm>
            <a:off x="4901184" y="4274820"/>
            <a:ext cx="219455" cy="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cxnSp>
        <p:nvCxnSpPr>
          <p:cNvPr id="79" name="Connector 78"/>
          <p:cNvCxnSpPr/>
          <p:nvPr/>
        </p:nvCxnSpPr>
        <p:spPr>
          <a:xfrm>
            <a:off x="6195059" y="3520440"/>
            <a:ext cx="0" cy="22860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80" name="TextBox 79"/>
          <p:cNvSpPr txBox="1"/>
          <p:nvPr/>
        </p:nvSpPr>
        <p:spPr>
          <a:xfrm>
            <a:off x="6249923" y="3529583"/>
            <a:ext cx="914400" cy="210312"/>
          </a:xfrm>
          <a:prstGeom prst="rect">
            <a:avLst/>
          </a:prstGeom>
          <a:noFill/>
        </p:spPr>
        <p:txBody>
          <a:bodyPr wrap="square" lIns="36000" tIns="10800" rIns="36000" bIns="10800" anchor="ctr">
            <a:spAutoFit/>
          </a:bodyPr>
          <a:lstStyle/>
          <a:p>
            <a:pPr algn="l">
              <a:lnSpc>
                <a:spcPct val="105000"/>
              </a:lnSpc>
              <a:spcAft>
                <a:spcPts val="200"/>
              </a:spcAft>
            </a:pPr>
            <a:r>
              <a:rPr sz="900" b="0">
                <a:solidFill>
                  <a:srgbClr val="777777"/>
                </a:solidFill>
                <a:latin typeface="メイリオ"/>
                <a:ea typeface="メイリオ"/>
                <a:cs typeface="メイリオ"/>
              </a:rPr>
              <a:t>15日後に合流</a:t>
            </a:r>
          </a:p>
        </p:txBody>
      </p:sp>
      <p:cxnSp>
        <p:nvCxnSpPr>
          <p:cNvPr id="81" name="Connector 80"/>
          <p:cNvCxnSpPr/>
          <p:nvPr/>
        </p:nvCxnSpPr>
        <p:spPr>
          <a:xfrm>
            <a:off x="7269479" y="2994660"/>
            <a:ext cx="137160" cy="0"/>
          </a:xfrm>
          <a:prstGeom prst="line">
            <a:avLst/>
          </a:prstGeom>
          <a:ln w="22225">
            <a:solidFill>
              <a:srgbClr val="1F2A5C"/>
            </a:solidFill>
          </a:ln>
        </p:spPr>
        <p:style>
          <a:lnRef idx="2">
            <a:schemeClr val="accent1"/>
          </a:lnRef>
          <a:fillRef idx="0">
            <a:schemeClr val="accent1"/>
          </a:fillRef>
          <a:effectRef idx="0">
            <a:schemeClr val="accent1"/>
          </a:effectRef>
          <a:fontRef idx="minor">
            <a:schemeClr val="tx1"/>
          </a:fontRef>
        </p:style>
      </p:cxnSp>
      <p:cxnSp>
        <p:nvCxnSpPr>
          <p:cNvPr id="82" name="Connector 81"/>
          <p:cNvCxnSpPr/>
          <p:nvPr/>
        </p:nvCxnSpPr>
        <p:spPr>
          <a:xfrm>
            <a:off x="7269479" y="4274820"/>
            <a:ext cx="137160" cy="0"/>
          </a:xfrm>
          <a:prstGeom prst="line">
            <a:avLst/>
          </a:prstGeom>
          <a:ln w="22225">
            <a:solidFill>
              <a:srgbClr val="1F2A5C"/>
            </a:solidFill>
          </a:ln>
        </p:spPr>
        <p:style>
          <a:lnRef idx="2">
            <a:schemeClr val="accent1"/>
          </a:lnRef>
          <a:fillRef idx="0">
            <a:schemeClr val="accent1"/>
          </a:fillRef>
          <a:effectRef idx="0">
            <a:schemeClr val="accent1"/>
          </a:effectRef>
          <a:fontRef idx="minor">
            <a:schemeClr val="tx1"/>
          </a:fontRef>
        </p:style>
      </p:cxnSp>
      <p:cxnSp>
        <p:nvCxnSpPr>
          <p:cNvPr id="83" name="Connector 82"/>
          <p:cNvCxnSpPr/>
          <p:nvPr/>
        </p:nvCxnSpPr>
        <p:spPr>
          <a:xfrm>
            <a:off x="7406639" y="2994660"/>
            <a:ext cx="0" cy="1280160"/>
          </a:xfrm>
          <a:prstGeom prst="line">
            <a:avLst/>
          </a:prstGeom>
          <a:ln w="22225">
            <a:solidFill>
              <a:srgbClr val="1F2A5C"/>
            </a:solidFill>
          </a:ln>
        </p:spPr>
        <p:style>
          <a:lnRef idx="2">
            <a:schemeClr val="accent1"/>
          </a:lnRef>
          <a:fillRef idx="0">
            <a:schemeClr val="accent1"/>
          </a:fillRef>
          <a:effectRef idx="0">
            <a:schemeClr val="accent1"/>
          </a:effectRef>
          <a:fontRef idx="minor">
            <a:schemeClr val="tx1"/>
          </a:fontRef>
        </p:style>
      </p:cxnSp>
      <p:cxnSp>
        <p:nvCxnSpPr>
          <p:cNvPr id="84" name="Connector 83"/>
          <p:cNvCxnSpPr/>
          <p:nvPr/>
        </p:nvCxnSpPr>
        <p:spPr>
          <a:xfrm>
            <a:off x="7406639" y="3703319"/>
            <a:ext cx="228601" cy="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85" name="Rectangle 84"/>
          <p:cNvSpPr/>
          <p:nvPr/>
        </p:nvSpPr>
        <p:spPr>
          <a:xfrm>
            <a:off x="7635240" y="2468880"/>
            <a:ext cx="1901952" cy="566928"/>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200" b="1">
                <a:solidFill>
                  <a:srgbClr val="1F2A5C"/>
                </a:solidFill>
                <a:latin typeface="メイリオ"/>
                <a:ea typeface="メイリオ"/>
                <a:cs typeface="メイリオ"/>
              </a:rPr>
              <a:t>不安・手続きの壁を</a:t>
            </a:r>
          </a:p>
          <a:p>
            <a:pPr algn="ctr">
              <a:lnSpc>
                <a:spcPct val="110000"/>
              </a:lnSpc>
              <a:spcAft>
                <a:spcPts val="0"/>
              </a:spcAft>
            </a:pPr>
            <a:r>
              <a:rPr sz="1200" b="1">
                <a:solidFill>
                  <a:srgbClr val="1F2A5C"/>
                </a:solidFill>
                <a:latin typeface="メイリオ"/>
                <a:ea typeface="メイリオ"/>
                <a:cs typeface="メイリオ"/>
              </a:rPr>
              <a:t>ひとつずつ解消</a:t>
            </a:r>
          </a:p>
        </p:txBody>
      </p:sp>
      <p:cxnSp>
        <p:nvCxnSpPr>
          <p:cNvPr id="86" name="Connector 85"/>
          <p:cNvCxnSpPr/>
          <p:nvPr/>
        </p:nvCxnSpPr>
        <p:spPr>
          <a:xfrm>
            <a:off x="8586216" y="3054096"/>
            <a:ext cx="0" cy="265176"/>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87" name="Rectangle 86"/>
          <p:cNvSpPr/>
          <p:nvPr/>
        </p:nvSpPr>
        <p:spPr>
          <a:xfrm>
            <a:off x="7635240" y="3337559"/>
            <a:ext cx="1901952" cy="73152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500" b="1">
                <a:solidFill>
                  <a:srgbClr val="FFFFFF"/>
                </a:solidFill>
                <a:latin typeface="メイリオ"/>
                <a:ea typeface="メイリオ"/>
                <a:cs typeface="メイリオ"/>
              </a:rPr>
              <a:t>CV</a:t>
            </a:r>
          </a:p>
          <a:p>
            <a:pPr algn="ctr">
              <a:lnSpc>
                <a:spcPct val="110000"/>
              </a:lnSpc>
              <a:spcAft>
                <a:spcPts val="0"/>
              </a:spcAft>
            </a:pPr>
            <a:r>
              <a:rPr sz="1100" b="0">
                <a:solidFill>
                  <a:srgbClr val="FFFFFF"/>
                </a:solidFill>
                <a:latin typeface="メイリオ"/>
                <a:ea typeface="メイリオ"/>
                <a:cs typeface="メイリオ"/>
              </a:rPr>
              <a:t>予約・面談・購入</a:t>
            </a:r>
          </a:p>
        </p:txBody>
      </p:sp>
      <p:cxnSp>
        <p:nvCxnSpPr>
          <p:cNvPr id="88" name="Connector 87"/>
          <p:cNvCxnSpPr/>
          <p:nvPr/>
        </p:nvCxnSpPr>
        <p:spPr>
          <a:xfrm>
            <a:off x="8586216" y="4087368"/>
            <a:ext cx="0" cy="22860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89" name="Rectangle 88"/>
          <p:cNvSpPr/>
          <p:nvPr/>
        </p:nvSpPr>
        <p:spPr>
          <a:xfrm>
            <a:off x="7635240" y="4334255"/>
            <a:ext cx="1901952" cy="502920"/>
          </a:xfrm>
          <a:prstGeom prst="rect">
            <a:avLst/>
          </a:prstGeom>
          <a:solidFill>
            <a:srgbClr val="1A1A1A"/>
          </a:solidFill>
          <a:ln>
            <a:no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400" b="1">
                <a:solidFill>
                  <a:srgbClr val="FFFFFF"/>
                </a:solidFill>
                <a:latin typeface="メイリオ"/>
                <a:ea typeface="メイリオ"/>
                <a:cs typeface="メイリオ"/>
              </a:rPr>
              <a:t>CPA・CPO 改善</a:t>
            </a:r>
          </a:p>
        </p:txBody>
      </p:sp>
      <p:cxnSp>
        <p:nvCxnSpPr>
          <p:cNvPr id="90" name="Connector 89"/>
          <p:cNvCxnSpPr/>
          <p:nvPr/>
        </p:nvCxnSpPr>
        <p:spPr>
          <a:xfrm>
            <a:off x="365760" y="5074920"/>
            <a:ext cx="9171432" cy="0"/>
          </a:xfrm>
          <a:prstGeom prst="line">
            <a:avLst/>
          </a:prstGeom>
          <a:ln w="9525">
            <a:solidFill>
              <a:srgbClr val="D0D5E0"/>
            </a:solidFill>
          </a:ln>
        </p:spPr>
        <p:style>
          <a:lnRef idx="2">
            <a:schemeClr val="accent1"/>
          </a:lnRef>
          <a:fillRef idx="0">
            <a:schemeClr val="accent1"/>
          </a:fillRef>
          <a:effectRef idx="0">
            <a:schemeClr val="accent1"/>
          </a:effectRef>
          <a:fontRef idx="minor">
            <a:schemeClr val="tx1"/>
          </a:fontRef>
        </p:style>
      </p:cxnSp>
      <p:sp>
        <p:nvSpPr>
          <p:cNvPr id="91" name="TextBox 90"/>
          <p:cNvSpPr txBox="1"/>
          <p:nvPr/>
        </p:nvSpPr>
        <p:spPr>
          <a:xfrm>
            <a:off x="365760" y="5120639"/>
            <a:ext cx="2057400" cy="310896"/>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見る数字：友だち追加数</a:t>
            </a:r>
          </a:p>
        </p:txBody>
      </p:sp>
      <p:sp>
        <p:nvSpPr>
          <p:cNvPr id="92" name="TextBox 91"/>
          <p:cNvSpPr txBox="1"/>
          <p:nvPr/>
        </p:nvSpPr>
        <p:spPr>
          <a:xfrm>
            <a:off x="2697480" y="5120639"/>
            <a:ext cx="2057400" cy="310896"/>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見る数字：回答率</a:t>
            </a:r>
          </a:p>
        </p:txBody>
      </p:sp>
      <p:sp>
        <p:nvSpPr>
          <p:cNvPr id="93" name="TextBox 92"/>
          <p:cNvSpPr txBox="1"/>
          <p:nvPr/>
        </p:nvSpPr>
        <p:spPr>
          <a:xfrm>
            <a:off x="5120639" y="5120639"/>
            <a:ext cx="2148840" cy="310896"/>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見る数字：開封率・クリック率</a:t>
            </a:r>
          </a:p>
        </p:txBody>
      </p:sp>
      <p:sp>
        <p:nvSpPr>
          <p:cNvPr id="94" name="TextBox 93"/>
          <p:cNvSpPr txBox="1"/>
          <p:nvPr/>
        </p:nvSpPr>
        <p:spPr>
          <a:xfrm>
            <a:off x="7406639" y="5120639"/>
            <a:ext cx="2130552" cy="310896"/>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見る数字：CV数・CPA・CPO</a:t>
            </a:r>
          </a:p>
        </p:txBody>
      </p:sp>
      <p:sp>
        <p:nvSpPr>
          <p:cNvPr id="95" name="Rectangle 94"/>
          <p:cNvSpPr/>
          <p:nvPr/>
        </p:nvSpPr>
        <p:spPr>
          <a:xfrm>
            <a:off x="365760" y="5623560"/>
            <a:ext cx="9171432" cy="438912"/>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400" b="1">
                <a:solidFill>
                  <a:srgbClr val="FFFFFF"/>
                </a:solidFill>
                <a:latin typeface="メイリオ"/>
                <a:ea typeface="メイリオ"/>
                <a:cs typeface="メイリオ"/>
              </a:rPr>
              <a:t>取りこぼしていた約99%を、LINEで追い続けてCVに変える</a:t>
            </a:r>
          </a:p>
        </p:txBody>
      </p:sp>
    </p:spTree>
    <p:extLst>
      <p:ext uri="{BB962C8B-B14F-4D97-AF65-F5344CB8AC3E}">
        <p14:creationId xmlns:p14="http://schemas.microsoft.com/office/powerpoint/2010/main" val="29139488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99BA6-A528-73A9-B0F4-DEDDF51B3A4B}"/>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A5F0E4CA-460F-19EB-3FE1-5585A9B3E061}"/>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5CD68471-CCDB-50E6-0285-35BF38F933E4}"/>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93E92412-8323-7637-01F3-37AEDFFA3E18}"/>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施策一覧</a:t>
            </a:r>
            <a:endParaRPr lang="ja-JP" altLang="en-US" sz="1100" dirty="0"/>
          </a:p>
        </p:txBody>
      </p:sp>
      <p:sp>
        <p:nvSpPr>
          <p:cNvPr id="7" name="テキスト ボックス 6">
            <a:extLst>
              <a:ext uri="{FF2B5EF4-FFF2-40B4-BE49-F238E27FC236}">
                <a16:creationId xmlns:a16="http://schemas.microsoft.com/office/drawing/2014/main" id="{D4A0FD7C-1D07-79B6-CA6F-47DF2D8CF1EE}"/>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初期に整える標準設定と、運用しながら改善する施策の一覧</a:t>
            </a:r>
            <a:endParaRPr lang="ja-JP" altLang="en-US" sz="1000" dirty="0"/>
          </a:p>
        </p:txBody>
      </p:sp>
      <p:sp>
        <p:nvSpPr>
          <p:cNvPr id="9" name="テキスト ボックス 8">
            <a:extLst>
              <a:ext uri="{FF2B5EF4-FFF2-40B4-BE49-F238E27FC236}">
                <a16:creationId xmlns:a16="http://schemas.microsoft.com/office/drawing/2014/main" id="{FBA2E1AE-C51F-8327-AEB6-88548FDE3911}"/>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2" name="Rectangle 3">
            <a:extLst>
              <a:ext uri="{FF2B5EF4-FFF2-40B4-BE49-F238E27FC236}">
                <a16:creationId xmlns:a16="http://schemas.microsoft.com/office/drawing/2014/main" id="{8EDF250F-68CF-F752-3821-E813039B5143}"/>
              </a:ext>
            </a:extLst>
          </p:cNvPr>
          <p:cNvSpPr/>
          <p:nvPr/>
        </p:nvSpPr>
        <p:spPr>
          <a:xfrm>
            <a:off x="384048" y="1751297"/>
            <a:ext cx="3611880" cy="256032"/>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初期の標準設定（構築時に設定）</a:t>
            </a:r>
          </a:p>
        </p:txBody>
      </p:sp>
      <p:sp>
        <p:nvSpPr>
          <p:cNvPr id="4" name="Rectangle 4">
            <a:extLst>
              <a:ext uri="{FF2B5EF4-FFF2-40B4-BE49-F238E27FC236}">
                <a16:creationId xmlns:a16="http://schemas.microsoft.com/office/drawing/2014/main" id="{00BC86A0-1945-0E28-F906-696A5BE460B5}"/>
              </a:ext>
            </a:extLst>
          </p:cNvPr>
          <p:cNvSpPr/>
          <p:nvPr/>
        </p:nvSpPr>
        <p:spPr>
          <a:xfrm>
            <a:off x="384048" y="2027227"/>
            <a:ext cx="3611880" cy="438307"/>
          </a:xfrm>
          <a:prstGeom prst="rect">
            <a:avLst/>
          </a:prstGeom>
          <a:solidFill>
            <a:srgbClr val="EEF1F8"/>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6" name="Rounded Rectangle 5">
            <a:extLst>
              <a:ext uri="{FF2B5EF4-FFF2-40B4-BE49-F238E27FC236}">
                <a16:creationId xmlns:a16="http://schemas.microsoft.com/office/drawing/2014/main" id="{9590B812-0BE4-8959-A859-DFBF68A13331}"/>
              </a:ext>
            </a:extLst>
          </p:cNvPr>
          <p:cNvSpPr/>
          <p:nvPr/>
        </p:nvSpPr>
        <p:spPr>
          <a:xfrm>
            <a:off x="457200" y="2080126"/>
            <a:ext cx="1115568" cy="332509"/>
          </a:xfrm>
          <a:prstGeom prst="roundRect">
            <a:avLst/>
          </a:prstGeom>
          <a:solidFill>
            <a:srgbClr val="FFFFFF"/>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② 挨拶メッセージ</a:t>
            </a:r>
          </a:p>
        </p:txBody>
      </p:sp>
      <p:sp>
        <p:nvSpPr>
          <p:cNvPr id="8" name="Rounded Rectangle 6">
            <a:extLst>
              <a:ext uri="{FF2B5EF4-FFF2-40B4-BE49-F238E27FC236}">
                <a16:creationId xmlns:a16="http://schemas.microsoft.com/office/drawing/2014/main" id="{C604752C-4276-622A-392D-CD8A49B0584B}"/>
              </a:ext>
            </a:extLst>
          </p:cNvPr>
          <p:cNvSpPr/>
          <p:nvPr/>
        </p:nvSpPr>
        <p:spPr>
          <a:xfrm>
            <a:off x="1627632" y="2080126"/>
            <a:ext cx="1115568" cy="332509"/>
          </a:xfrm>
          <a:prstGeom prst="roundRect">
            <a:avLst/>
          </a:prstGeom>
          <a:solidFill>
            <a:srgbClr val="FFFFFF"/>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⑦ リッチメニュー</a:t>
            </a:r>
          </a:p>
        </p:txBody>
      </p:sp>
      <p:sp>
        <p:nvSpPr>
          <p:cNvPr id="10" name="Rounded Rectangle 7">
            <a:extLst>
              <a:ext uri="{FF2B5EF4-FFF2-40B4-BE49-F238E27FC236}">
                <a16:creationId xmlns:a16="http://schemas.microsoft.com/office/drawing/2014/main" id="{1F06A184-DB9D-F2CB-0471-0929DEE9A890}"/>
              </a:ext>
            </a:extLst>
          </p:cNvPr>
          <p:cNvSpPr/>
          <p:nvPr/>
        </p:nvSpPr>
        <p:spPr>
          <a:xfrm>
            <a:off x="2798064" y="2080126"/>
            <a:ext cx="1115568" cy="332509"/>
          </a:xfrm>
          <a:prstGeom prst="roundRect">
            <a:avLst/>
          </a:prstGeom>
          <a:solidFill>
            <a:srgbClr val="FFFFFF"/>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⑧ 自動応答</a:t>
            </a:r>
          </a:p>
        </p:txBody>
      </p:sp>
      <p:sp>
        <p:nvSpPr>
          <p:cNvPr id="11" name="Rectangle 8">
            <a:extLst>
              <a:ext uri="{FF2B5EF4-FFF2-40B4-BE49-F238E27FC236}">
                <a16:creationId xmlns:a16="http://schemas.microsoft.com/office/drawing/2014/main" id="{021E765B-A271-DE02-1792-DC9E5CE154F8}"/>
              </a:ext>
            </a:extLst>
          </p:cNvPr>
          <p:cNvSpPr/>
          <p:nvPr/>
        </p:nvSpPr>
        <p:spPr>
          <a:xfrm>
            <a:off x="4160520" y="1751297"/>
            <a:ext cx="5367528" cy="25603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運用施策（運用しながら改善）</a:t>
            </a:r>
          </a:p>
        </p:txBody>
      </p:sp>
      <p:sp>
        <p:nvSpPr>
          <p:cNvPr id="12" name="Rectangle 9">
            <a:extLst>
              <a:ext uri="{FF2B5EF4-FFF2-40B4-BE49-F238E27FC236}">
                <a16:creationId xmlns:a16="http://schemas.microsoft.com/office/drawing/2014/main" id="{99190E0E-1162-5C21-4FF0-A5498319FCC2}"/>
              </a:ext>
            </a:extLst>
          </p:cNvPr>
          <p:cNvSpPr/>
          <p:nvPr/>
        </p:nvSpPr>
        <p:spPr>
          <a:xfrm>
            <a:off x="4160520" y="2027227"/>
            <a:ext cx="5367528" cy="438307"/>
          </a:xfrm>
          <a:prstGeom prst="rect">
            <a:avLst/>
          </a:prstGeom>
          <a:solidFill>
            <a:srgbClr val="FDF0F2"/>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13" name="Rounded Rectangle 10">
            <a:extLst>
              <a:ext uri="{FF2B5EF4-FFF2-40B4-BE49-F238E27FC236}">
                <a16:creationId xmlns:a16="http://schemas.microsoft.com/office/drawing/2014/main" id="{6525B561-FBF1-FB44-C0A8-CC3FE6C9680F}"/>
              </a:ext>
            </a:extLst>
          </p:cNvPr>
          <p:cNvSpPr/>
          <p:nvPr/>
        </p:nvSpPr>
        <p:spPr>
          <a:xfrm>
            <a:off x="4224528"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C8102E"/>
                </a:solidFill>
                <a:latin typeface="メイリオ" panose="020B0604030504040204" pitchFamily="50" charset="-128"/>
                <a:ea typeface="メイリオ" panose="020B0604030504040204" pitchFamily="50" charset="-128"/>
                <a:cs typeface="メイリオ"/>
              </a:rPr>
              <a:t>① ポップアップ</a:t>
            </a:r>
          </a:p>
        </p:txBody>
      </p:sp>
      <p:sp>
        <p:nvSpPr>
          <p:cNvPr id="14" name="Rounded Rectangle 11">
            <a:extLst>
              <a:ext uri="{FF2B5EF4-FFF2-40B4-BE49-F238E27FC236}">
                <a16:creationId xmlns:a16="http://schemas.microsoft.com/office/drawing/2014/main" id="{C4024D48-4A70-13B2-70F7-88912D787030}"/>
              </a:ext>
            </a:extLst>
          </p:cNvPr>
          <p:cNvSpPr/>
          <p:nvPr/>
        </p:nvSpPr>
        <p:spPr>
          <a:xfrm>
            <a:off x="5266944"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C8102E"/>
                </a:solidFill>
                <a:latin typeface="メイリオ" panose="020B0604030504040204" pitchFamily="50" charset="-128"/>
                <a:ea typeface="メイリオ" panose="020B0604030504040204" pitchFamily="50" charset="-128"/>
                <a:cs typeface="メイリオ"/>
              </a:rPr>
              <a:t>③ アンケート</a:t>
            </a:r>
          </a:p>
        </p:txBody>
      </p:sp>
      <p:sp>
        <p:nvSpPr>
          <p:cNvPr id="15" name="Rounded Rectangle 12">
            <a:extLst>
              <a:ext uri="{FF2B5EF4-FFF2-40B4-BE49-F238E27FC236}">
                <a16:creationId xmlns:a16="http://schemas.microsoft.com/office/drawing/2014/main" id="{D6345F19-2B8B-BAED-2EDE-1419C87C7D29}"/>
              </a:ext>
            </a:extLst>
          </p:cNvPr>
          <p:cNvSpPr/>
          <p:nvPr/>
        </p:nvSpPr>
        <p:spPr>
          <a:xfrm>
            <a:off x="6309360"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dirty="0">
                <a:solidFill>
                  <a:srgbClr val="C8102E"/>
                </a:solidFill>
                <a:latin typeface="メイリオ" panose="020B0604030504040204" pitchFamily="50" charset="-128"/>
                <a:ea typeface="メイリオ" panose="020B0604030504040204" pitchFamily="50" charset="-128"/>
                <a:cs typeface="メイリオ"/>
              </a:rPr>
              <a:t>④ </a:t>
            </a:r>
            <a:r>
              <a:rPr sz="800" b="1" dirty="0" err="1">
                <a:solidFill>
                  <a:srgbClr val="C8102E"/>
                </a:solidFill>
                <a:latin typeface="メイリオ" panose="020B0604030504040204" pitchFamily="50" charset="-128"/>
                <a:ea typeface="メイリオ" panose="020B0604030504040204" pitchFamily="50" charset="-128"/>
                <a:cs typeface="メイリオ"/>
              </a:rPr>
              <a:t>タグ</a:t>
            </a:r>
            <a:endParaRPr lang="en-US" sz="800" b="1" dirty="0">
              <a:solidFill>
                <a:srgbClr val="C8102E"/>
              </a:solidFill>
              <a:latin typeface="メイリオ" panose="020B0604030504040204" pitchFamily="50" charset="-128"/>
              <a:ea typeface="メイリオ" panose="020B0604030504040204" pitchFamily="50" charset="-128"/>
              <a:cs typeface="メイリオ"/>
            </a:endParaRPr>
          </a:p>
          <a:p>
            <a:pPr algn="ctr">
              <a:spcAft>
                <a:spcPts val="0"/>
              </a:spcAft>
            </a:pPr>
            <a:r>
              <a:rPr sz="800" b="1" dirty="0" err="1">
                <a:solidFill>
                  <a:srgbClr val="C8102E"/>
                </a:solidFill>
                <a:latin typeface="メイリオ" panose="020B0604030504040204" pitchFamily="50" charset="-128"/>
                <a:ea typeface="メイリオ" panose="020B0604030504040204" pitchFamily="50" charset="-128"/>
                <a:cs typeface="メイリオ"/>
              </a:rPr>
              <a:t>セグメント</a:t>
            </a:r>
            <a:endParaRPr sz="800" b="1" dirty="0">
              <a:solidFill>
                <a:srgbClr val="C8102E"/>
              </a:solidFill>
              <a:latin typeface="メイリオ" panose="020B0604030504040204" pitchFamily="50" charset="-128"/>
              <a:ea typeface="メイリオ" panose="020B0604030504040204" pitchFamily="50" charset="-128"/>
              <a:cs typeface="メイリオ"/>
            </a:endParaRPr>
          </a:p>
        </p:txBody>
      </p:sp>
      <p:sp>
        <p:nvSpPr>
          <p:cNvPr id="16" name="Rounded Rectangle 13">
            <a:extLst>
              <a:ext uri="{FF2B5EF4-FFF2-40B4-BE49-F238E27FC236}">
                <a16:creationId xmlns:a16="http://schemas.microsoft.com/office/drawing/2014/main" id="{B6BAB4F4-45CE-B7A8-528B-A94A518CCAAA}"/>
              </a:ext>
            </a:extLst>
          </p:cNvPr>
          <p:cNvSpPr/>
          <p:nvPr/>
        </p:nvSpPr>
        <p:spPr>
          <a:xfrm>
            <a:off x="7351775"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C8102E"/>
                </a:solidFill>
                <a:latin typeface="メイリオ" panose="020B0604030504040204" pitchFamily="50" charset="-128"/>
                <a:ea typeface="メイリオ" panose="020B0604030504040204" pitchFamily="50" charset="-128"/>
                <a:cs typeface="メイリオ"/>
              </a:rPr>
              <a:t>⑤ ステップ配信</a:t>
            </a:r>
          </a:p>
        </p:txBody>
      </p:sp>
      <p:sp>
        <p:nvSpPr>
          <p:cNvPr id="17" name="Rounded Rectangle 14">
            <a:extLst>
              <a:ext uri="{FF2B5EF4-FFF2-40B4-BE49-F238E27FC236}">
                <a16:creationId xmlns:a16="http://schemas.microsoft.com/office/drawing/2014/main" id="{F70AA91C-29B1-D2A6-C89C-6EE4F60F14DB}"/>
              </a:ext>
            </a:extLst>
          </p:cNvPr>
          <p:cNvSpPr/>
          <p:nvPr/>
        </p:nvSpPr>
        <p:spPr>
          <a:xfrm>
            <a:off x="8394192"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C8102E"/>
                </a:solidFill>
                <a:latin typeface="メイリオ" panose="020B0604030504040204" pitchFamily="50" charset="-128"/>
                <a:ea typeface="メイリオ" panose="020B0604030504040204" pitchFamily="50" charset="-128"/>
                <a:cs typeface="メイリオ"/>
              </a:rPr>
              <a:t>⑥ 企画配信</a:t>
            </a:r>
          </a:p>
        </p:txBody>
      </p:sp>
      <p:sp>
        <p:nvSpPr>
          <p:cNvPr id="18" name="Rectangle 15">
            <a:extLst>
              <a:ext uri="{FF2B5EF4-FFF2-40B4-BE49-F238E27FC236}">
                <a16:creationId xmlns:a16="http://schemas.microsoft.com/office/drawing/2014/main" id="{013A02CB-0DA2-C819-A363-A0BFC4E5F783}"/>
              </a:ext>
            </a:extLst>
          </p:cNvPr>
          <p:cNvSpPr/>
          <p:nvPr/>
        </p:nvSpPr>
        <p:spPr>
          <a:xfrm>
            <a:off x="384048" y="2586136"/>
            <a:ext cx="2468880" cy="1657418"/>
          </a:xfrm>
          <a:prstGeom prst="rect">
            <a:avLst/>
          </a:prstGeom>
          <a:solidFill>
            <a:srgbClr val="FFFFFF"/>
          </a:solidFill>
          <a:ln w="12700">
            <a:solidFill>
              <a:srgbClr val="999999"/>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19" name="Rectangle 16">
            <a:extLst>
              <a:ext uri="{FF2B5EF4-FFF2-40B4-BE49-F238E27FC236}">
                <a16:creationId xmlns:a16="http://schemas.microsoft.com/office/drawing/2014/main" id="{E86D2C36-78EC-6854-E4E1-7334CABCDC1A}"/>
              </a:ext>
            </a:extLst>
          </p:cNvPr>
          <p:cNvSpPr/>
          <p:nvPr/>
        </p:nvSpPr>
        <p:spPr>
          <a:xfrm>
            <a:off x="384048" y="2588622"/>
            <a:ext cx="2468880" cy="237744"/>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0" name="Oval 17">
            <a:extLst>
              <a:ext uri="{FF2B5EF4-FFF2-40B4-BE49-F238E27FC236}">
                <a16:creationId xmlns:a16="http://schemas.microsoft.com/office/drawing/2014/main" id="{094197D1-B3A2-167E-A162-4DA5857C26B2}"/>
              </a:ext>
            </a:extLst>
          </p:cNvPr>
          <p:cNvSpPr/>
          <p:nvPr/>
        </p:nvSpPr>
        <p:spPr>
          <a:xfrm>
            <a:off x="457200" y="2661774"/>
            <a:ext cx="91440" cy="91440"/>
          </a:xfrm>
          <a:prstGeom prst="ellipse">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1" name="Oval 18">
            <a:extLst>
              <a:ext uri="{FF2B5EF4-FFF2-40B4-BE49-F238E27FC236}">
                <a16:creationId xmlns:a16="http://schemas.microsoft.com/office/drawing/2014/main" id="{1C9CC394-D94D-C09E-632E-D667409C8EAC}"/>
              </a:ext>
            </a:extLst>
          </p:cNvPr>
          <p:cNvSpPr/>
          <p:nvPr/>
        </p:nvSpPr>
        <p:spPr>
          <a:xfrm>
            <a:off x="612648" y="2661774"/>
            <a:ext cx="91440" cy="91440"/>
          </a:xfrm>
          <a:prstGeom prst="ellipse">
            <a:avLst/>
          </a:prstGeom>
          <a:solidFill>
            <a:srgbClr val="FFC14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2" name="Oval 19">
            <a:extLst>
              <a:ext uri="{FF2B5EF4-FFF2-40B4-BE49-F238E27FC236}">
                <a16:creationId xmlns:a16="http://schemas.microsoft.com/office/drawing/2014/main" id="{1E0A0DDB-0FA0-A8C4-EFC1-1987BE7B342B}"/>
              </a:ext>
            </a:extLst>
          </p:cNvPr>
          <p:cNvSpPr/>
          <p:nvPr/>
        </p:nvSpPr>
        <p:spPr>
          <a:xfrm>
            <a:off x="768096" y="2661774"/>
            <a:ext cx="91440" cy="91440"/>
          </a:xfrm>
          <a:prstGeom prst="ellipse">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3" name="Rectangle 20">
            <a:extLst>
              <a:ext uri="{FF2B5EF4-FFF2-40B4-BE49-F238E27FC236}">
                <a16:creationId xmlns:a16="http://schemas.microsoft.com/office/drawing/2014/main" id="{C7D8DE35-18E9-B2F8-EBB6-F5D39FC00825}"/>
              </a:ext>
            </a:extLst>
          </p:cNvPr>
          <p:cNvSpPr/>
          <p:nvPr/>
        </p:nvSpPr>
        <p:spPr>
          <a:xfrm>
            <a:off x="475488" y="2862942"/>
            <a:ext cx="1005840" cy="91440"/>
          </a:xfrm>
          <a:prstGeom prst="rect">
            <a:avLst/>
          </a:prstGeom>
          <a:solidFill>
            <a:srgbClr val="E3E6E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4" name="Rectangle 21">
            <a:extLst>
              <a:ext uri="{FF2B5EF4-FFF2-40B4-BE49-F238E27FC236}">
                <a16:creationId xmlns:a16="http://schemas.microsoft.com/office/drawing/2014/main" id="{5A60E50B-1463-C428-350C-6B20BB14F600}"/>
              </a:ext>
            </a:extLst>
          </p:cNvPr>
          <p:cNvSpPr/>
          <p:nvPr/>
        </p:nvSpPr>
        <p:spPr>
          <a:xfrm>
            <a:off x="475488" y="3000102"/>
            <a:ext cx="2286000" cy="64008"/>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5" name="Rectangle 22">
            <a:extLst>
              <a:ext uri="{FF2B5EF4-FFF2-40B4-BE49-F238E27FC236}">
                <a16:creationId xmlns:a16="http://schemas.microsoft.com/office/drawing/2014/main" id="{51632E22-3CBA-3EB1-097C-B5A452ACFB3F}"/>
              </a:ext>
            </a:extLst>
          </p:cNvPr>
          <p:cNvSpPr/>
          <p:nvPr/>
        </p:nvSpPr>
        <p:spPr>
          <a:xfrm>
            <a:off x="475488" y="3109830"/>
            <a:ext cx="2011680" cy="64008"/>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6" name="Rectangle 23">
            <a:extLst>
              <a:ext uri="{FF2B5EF4-FFF2-40B4-BE49-F238E27FC236}">
                <a16:creationId xmlns:a16="http://schemas.microsoft.com/office/drawing/2014/main" id="{A95F03D9-D5D2-F49D-3FA0-8D85F2FD1C45}"/>
              </a:ext>
            </a:extLst>
          </p:cNvPr>
          <p:cNvSpPr/>
          <p:nvPr/>
        </p:nvSpPr>
        <p:spPr>
          <a:xfrm>
            <a:off x="475488" y="3256134"/>
            <a:ext cx="868680" cy="64008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7" name="Rectangle 24">
            <a:extLst>
              <a:ext uri="{FF2B5EF4-FFF2-40B4-BE49-F238E27FC236}">
                <a16:creationId xmlns:a16="http://schemas.microsoft.com/office/drawing/2014/main" id="{9C4DBD8F-DB8B-6351-EA24-784802E89E28}"/>
              </a:ext>
            </a:extLst>
          </p:cNvPr>
          <p:cNvSpPr/>
          <p:nvPr/>
        </p:nvSpPr>
        <p:spPr>
          <a:xfrm>
            <a:off x="1417320" y="3256134"/>
            <a:ext cx="868680" cy="64008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8" name="Rounded Rectangle 25">
            <a:extLst>
              <a:ext uri="{FF2B5EF4-FFF2-40B4-BE49-F238E27FC236}">
                <a16:creationId xmlns:a16="http://schemas.microsoft.com/office/drawing/2014/main" id="{1214AD64-46E6-CE51-6B77-7D205CC291B6}"/>
              </a:ext>
            </a:extLst>
          </p:cNvPr>
          <p:cNvSpPr/>
          <p:nvPr/>
        </p:nvSpPr>
        <p:spPr>
          <a:xfrm>
            <a:off x="825135" y="3159858"/>
            <a:ext cx="1783080" cy="982414"/>
          </a:xfrm>
          <a:prstGeom prst="roundRect">
            <a:avLst/>
          </a:prstGeom>
          <a:solidFill>
            <a:srgbClr val="FFFFFF"/>
          </a:solidFill>
          <a:ln w="254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700" b="0" dirty="0" err="1">
                <a:solidFill>
                  <a:srgbClr val="777777"/>
                </a:solidFill>
                <a:latin typeface="メイリオ" panose="020B0604030504040204" pitchFamily="50" charset="-128"/>
                <a:ea typeface="メイリオ" panose="020B0604030504040204" pitchFamily="50" charset="-128"/>
                <a:cs typeface="メイリオ"/>
              </a:rPr>
              <a:t>ご予約・お問い合わせ前に</a:t>
            </a:r>
            <a:endParaRPr sz="700" b="0" dirty="0">
              <a:solidFill>
                <a:srgbClr val="777777"/>
              </a:solidFill>
              <a:latin typeface="メイリオ" panose="020B0604030504040204" pitchFamily="50" charset="-128"/>
              <a:ea typeface="メイリオ" panose="020B0604030504040204" pitchFamily="50" charset="-128"/>
              <a:cs typeface="メイリオ"/>
            </a:endParaRPr>
          </a:p>
          <a:p>
            <a:pPr algn="ctr">
              <a:spcAft>
                <a:spcPts val="0"/>
              </a:spcAft>
            </a:pPr>
            <a:r>
              <a:rPr sz="900" b="1" dirty="0" err="1">
                <a:solidFill>
                  <a:srgbClr val="1F2A5C"/>
                </a:solidFill>
                <a:latin typeface="メイリオ" panose="020B0604030504040204" pitchFamily="50" charset="-128"/>
                <a:ea typeface="メイリオ" panose="020B0604030504040204" pitchFamily="50" charset="-128"/>
                <a:cs typeface="メイリオ"/>
              </a:rPr>
              <a:t>LINE友だち追加で特典</a:t>
            </a:r>
            <a:r>
              <a:rPr sz="900" b="1" dirty="0">
                <a:solidFill>
                  <a:srgbClr val="1F2A5C"/>
                </a:solidFill>
                <a:latin typeface="メイリオ" panose="020B0604030504040204" pitchFamily="50" charset="-128"/>
                <a:ea typeface="メイリオ" panose="020B0604030504040204" pitchFamily="50" charset="-128"/>
                <a:cs typeface="メイリオ"/>
              </a:rPr>
              <a:t>！</a:t>
            </a:r>
            <a:endParaRPr lang="en-US" sz="900" b="1" dirty="0">
              <a:solidFill>
                <a:srgbClr val="1F2A5C"/>
              </a:solidFill>
              <a:latin typeface="メイリオ" panose="020B0604030504040204" pitchFamily="50" charset="-128"/>
              <a:ea typeface="メイリオ" panose="020B0604030504040204" pitchFamily="50" charset="-128"/>
              <a:cs typeface="メイリオ"/>
            </a:endParaRPr>
          </a:p>
          <a:p>
            <a:pPr algn="ctr">
              <a:spcAft>
                <a:spcPts val="0"/>
              </a:spcAft>
            </a:pPr>
            <a:endParaRPr lang="en-US" sz="900" b="1" dirty="0">
              <a:solidFill>
                <a:srgbClr val="1F2A5C"/>
              </a:solidFill>
              <a:latin typeface="メイリオ" panose="020B0604030504040204" pitchFamily="50" charset="-128"/>
              <a:ea typeface="メイリオ" panose="020B0604030504040204" pitchFamily="50" charset="-128"/>
              <a:cs typeface="メイリオ"/>
            </a:endParaRPr>
          </a:p>
          <a:p>
            <a:pPr algn="ctr">
              <a:spcAft>
                <a:spcPts val="0"/>
              </a:spcAft>
            </a:pPr>
            <a:endParaRPr lang="en-US" sz="900" b="1" dirty="0">
              <a:solidFill>
                <a:srgbClr val="1F2A5C"/>
              </a:solidFill>
              <a:latin typeface="メイリオ" panose="020B0604030504040204" pitchFamily="50" charset="-128"/>
              <a:ea typeface="メイリオ" panose="020B0604030504040204" pitchFamily="50" charset="-128"/>
              <a:cs typeface="メイリオ"/>
            </a:endParaRPr>
          </a:p>
          <a:p>
            <a:pPr algn="ctr">
              <a:spcAft>
                <a:spcPts val="0"/>
              </a:spcAft>
            </a:pPr>
            <a:endParaRPr sz="9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9" name="Rounded Rectangle 26">
            <a:extLst>
              <a:ext uri="{FF2B5EF4-FFF2-40B4-BE49-F238E27FC236}">
                <a16:creationId xmlns:a16="http://schemas.microsoft.com/office/drawing/2014/main" id="{998E2A17-395F-CCDF-55C9-6834BD58C112}"/>
              </a:ext>
            </a:extLst>
          </p:cNvPr>
          <p:cNvSpPr/>
          <p:nvPr/>
        </p:nvSpPr>
        <p:spPr>
          <a:xfrm>
            <a:off x="1099455" y="3688154"/>
            <a:ext cx="1234440" cy="332509"/>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友だち追加</a:t>
            </a:r>
          </a:p>
        </p:txBody>
      </p:sp>
      <p:sp>
        <p:nvSpPr>
          <p:cNvPr id="30" name="Oval 27">
            <a:extLst>
              <a:ext uri="{FF2B5EF4-FFF2-40B4-BE49-F238E27FC236}">
                <a16:creationId xmlns:a16="http://schemas.microsoft.com/office/drawing/2014/main" id="{AD747F76-72D9-179D-BBA8-F6B4DCA2093D}"/>
              </a:ext>
            </a:extLst>
          </p:cNvPr>
          <p:cNvSpPr/>
          <p:nvPr/>
        </p:nvSpPr>
        <p:spPr>
          <a:xfrm>
            <a:off x="596535" y="2995984"/>
            <a:ext cx="292608" cy="266007"/>
          </a:xfrm>
          <a:prstGeom prst="ellipse">
            <a:avLst/>
          </a:prstGeom>
          <a:solidFill>
            <a:srgbClr val="C8102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1</a:t>
            </a:r>
          </a:p>
        </p:txBody>
      </p:sp>
      <p:sp>
        <p:nvSpPr>
          <p:cNvPr id="31" name="Rectangle 28">
            <a:extLst>
              <a:ext uri="{FF2B5EF4-FFF2-40B4-BE49-F238E27FC236}">
                <a16:creationId xmlns:a16="http://schemas.microsoft.com/office/drawing/2014/main" id="{1010E9AC-BCA0-BF47-C7F8-A152DF96AA04}"/>
              </a:ext>
            </a:extLst>
          </p:cNvPr>
          <p:cNvSpPr/>
          <p:nvPr/>
        </p:nvSpPr>
        <p:spPr>
          <a:xfrm>
            <a:off x="384048" y="4234536"/>
            <a:ext cx="2468880" cy="502920"/>
          </a:xfrm>
          <a:prstGeom prst="rect">
            <a:avLst/>
          </a:prstGeom>
          <a:solidFill>
            <a:srgbClr val="FDF0F2"/>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000" b="1" dirty="0">
                <a:solidFill>
                  <a:srgbClr val="C8102E"/>
                </a:solidFill>
                <a:latin typeface="メイリオ" panose="020B0604030504040204" pitchFamily="50" charset="-128"/>
                <a:ea typeface="メイリオ" panose="020B0604030504040204" pitchFamily="50" charset="-128"/>
                <a:cs typeface="メイリオ"/>
              </a:rPr>
              <a:t>① </a:t>
            </a:r>
            <a:r>
              <a:rPr sz="1000" b="1" dirty="0" err="1">
                <a:solidFill>
                  <a:srgbClr val="C8102E"/>
                </a:solidFill>
                <a:latin typeface="メイリオ" panose="020B0604030504040204" pitchFamily="50" charset="-128"/>
                <a:ea typeface="メイリオ" panose="020B0604030504040204" pitchFamily="50" charset="-128"/>
                <a:cs typeface="メイリオ"/>
              </a:rPr>
              <a:t>サイトのポップアップ</a:t>
            </a:r>
            <a:endParaRPr sz="1000" b="1" dirty="0">
              <a:solidFill>
                <a:srgbClr val="C8102E"/>
              </a:solidFill>
              <a:latin typeface="メイリオ" panose="020B0604030504040204" pitchFamily="50" charset="-128"/>
              <a:ea typeface="メイリオ" panose="020B0604030504040204" pitchFamily="50" charset="-128"/>
              <a:cs typeface="メイリオ"/>
            </a:endParaRPr>
          </a:p>
          <a:p>
            <a:pPr algn="l">
              <a:spcAft>
                <a:spcPts val="0"/>
              </a:spcAft>
            </a:pPr>
            <a:r>
              <a:rPr sz="800" b="0" dirty="0" err="1">
                <a:solidFill>
                  <a:srgbClr val="333333"/>
                </a:solidFill>
                <a:latin typeface="メイリオ" panose="020B0604030504040204" pitchFamily="50" charset="-128"/>
                <a:ea typeface="メイリオ" panose="020B0604030504040204" pitchFamily="50" charset="-128"/>
                <a:cs typeface="メイリオ"/>
              </a:rPr>
              <a:t>サイトからLINEへ誘導（専用ツール</a:t>
            </a:r>
            <a:r>
              <a:rPr sz="800" b="0" dirty="0">
                <a:solidFill>
                  <a:srgbClr val="333333"/>
                </a:solidFill>
                <a:latin typeface="メイリオ" panose="020B0604030504040204" pitchFamily="50" charset="-128"/>
                <a:ea typeface="メイリオ" panose="020B0604030504040204" pitchFamily="50" charset="-128"/>
                <a:cs typeface="メイリオ"/>
              </a:rPr>
              <a:t>）</a:t>
            </a:r>
          </a:p>
        </p:txBody>
      </p:sp>
      <p:sp>
        <p:nvSpPr>
          <p:cNvPr id="32" name="Rectangle 29">
            <a:extLst>
              <a:ext uri="{FF2B5EF4-FFF2-40B4-BE49-F238E27FC236}">
                <a16:creationId xmlns:a16="http://schemas.microsoft.com/office/drawing/2014/main" id="{C9B761A3-7BC1-BEDC-5294-579F8513A3B8}"/>
              </a:ext>
            </a:extLst>
          </p:cNvPr>
          <p:cNvSpPr/>
          <p:nvPr/>
        </p:nvSpPr>
        <p:spPr>
          <a:xfrm>
            <a:off x="384048" y="4900742"/>
            <a:ext cx="2468880" cy="1463040"/>
          </a:xfrm>
          <a:prstGeom prst="rect">
            <a:avLst/>
          </a:prstGeom>
          <a:solidFill>
            <a:srgbClr val="FFFFFF"/>
          </a:solid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33" name="Rectangle 30">
            <a:extLst>
              <a:ext uri="{FF2B5EF4-FFF2-40B4-BE49-F238E27FC236}">
                <a16:creationId xmlns:a16="http://schemas.microsoft.com/office/drawing/2014/main" id="{D5B2D1C3-B341-4022-F0D3-00797EE985D3}"/>
              </a:ext>
            </a:extLst>
          </p:cNvPr>
          <p:cNvSpPr/>
          <p:nvPr/>
        </p:nvSpPr>
        <p:spPr>
          <a:xfrm>
            <a:off x="384048" y="4900742"/>
            <a:ext cx="2468880" cy="29260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④ タグ・セグメント</a:t>
            </a:r>
          </a:p>
        </p:txBody>
      </p:sp>
      <p:sp>
        <p:nvSpPr>
          <p:cNvPr id="34" name="Oval 31">
            <a:extLst>
              <a:ext uri="{FF2B5EF4-FFF2-40B4-BE49-F238E27FC236}">
                <a16:creationId xmlns:a16="http://schemas.microsoft.com/office/drawing/2014/main" id="{44AA6966-72C4-4DBF-CD4A-516799942AE3}"/>
              </a:ext>
            </a:extLst>
          </p:cNvPr>
          <p:cNvSpPr/>
          <p:nvPr/>
        </p:nvSpPr>
        <p:spPr>
          <a:xfrm>
            <a:off x="502920" y="5266502"/>
            <a:ext cx="256032" cy="256032"/>
          </a:xfrm>
          <a:prstGeom prst="ellipse">
            <a:avLst/>
          </a:prstGeom>
          <a:solidFill>
            <a:srgbClr val="B8C2DA"/>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35" name="Rectangle 32">
            <a:extLst>
              <a:ext uri="{FF2B5EF4-FFF2-40B4-BE49-F238E27FC236}">
                <a16:creationId xmlns:a16="http://schemas.microsoft.com/office/drawing/2014/main" id="{7E386317-C0CE-5DF8-898B-CDBB3753252D}"/>
              </a:ext>
            </a:extLst>
          </p:cNvPr>
          <p:cNvSpPr/>
          <p:nvPr/>
        </p:nvSpPr>
        <p:spPr>
          <a:xfrm>
            <a:off x="822960" y="5275646"/>
            <a:ext cx="640080" cy="2377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l">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Aさん</a:t>
            </a:r>
          </a:p>
        </p:txBody>
      </p:sp>
      <p:sp>
        <p:nvSpPr>
          <p:cNvPr id="36" name="Rounded Rectangle 33">
            <a:extLst>
              <a:ext uri="{FF2B5EF4-FFF2-40B4-BE49-F238E27FC236}">
                <a16:creationId xmlns:a16="http://schemas.microsoft.com/office/drawing/2014/main" id="{FDBC4478-2C7F-2573-7388-907010AB0607}"/>
              </a:ext>
            </a:extLst>
          </p:cNvPr>
          <p:cNvSpPr/>
          <p:nvPr/>
        </p:nvSpPr>
        <p:spPr>
          <a:xfrm>
            <a:off x="502920" y="5586542"/>
            <a:ext cx="1051560" cy="246888"/>
          </a:xfrm>
          <a:prstGeom prst="round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700" b="1">
                <a:solidFill>
                  <a:srgbClr val="FFFFFF"/>
                </a:solidFill>
                <a:latin typeface="メイリオ" panose="020B0604030504040204" pitchFamily="50" charset="-128"/>
                <a:ea typeface="メイリオ" panose="020B0604030504040204" pitchFamily="50" charset="-128"/>
                <a:cs typeface="メイリオ"/>
              </a:rPr>
              <a:t>運動に興味</a:t>
            </a:r>
          </a:p>
        </p:txBody>
      </p:sp>
      <p:sp>
        <p:nvSpPr>
          <p:cNvPr id="37" name="Rounded Rectangle 34">
            <a:extLst>
              <a:ext uri="{FF2B5EF4-FFF2-40B4-BE49-F238E27FC236}">
                <a16:creationId xmlns:a16="http://schemas.microsoft.com/office/drawing/2014/main" id="{8BC31972-FFC1-17C4-77C9-69243CB4E570}"/>
              </a:ext>
            </a:extLst>
          </p:cNvPr>
          <p:cNvSpPr/>
          <p:nvPr/>
        </p:nvSpPr>
        <p:spPr>
          <a:xfrm>
            <a:off x="1627632" y="5586542"/>
            <a:ext cx="1097280" cy="246888"/>
          </a:xfrm>
          <a:prstGeom prst="round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700" b="1">
                <a:solidFill>
                  <a:srgbClr val="FFFFFF"/>
                </a:solidFill>
                <a:latin typeface="メイリオ" panose="020B0604030504040204" pitchFamily="50" charset="-128"/>
                <a:ea typeface="メイリオ" panose="020B0604030504040204" pitchFamily="50" charset="-128"/>
                <a:cs typeface="メイリオ"/>
              </a:rPr>
              <a:t>乗車5回以上</a:t>
            </a:r>
          </a:p>
        </p:txBody>
      </p:sp>
      <p:sp>
        <p:nvSpPr>
          <p:cNvPr id="38" name="Rectangle 35">
            <a:extLst>
              <a:ext uri="{FF2B5EF4-FFF2-40B4-BE49-F238E27FC236}">
                <a16:creationId xmlns:a16="http://schemas.microsoft.com/office/drawing/2014/main" id="{EFFFAAD6-D553-33A2-0CDA-D0F89C23C45A}"/>
              </a:ext>
            </a:extLst>
          </p:cNvPr>
          <p:cNvSpPr/>
          <p:nvPr/>
        </p:nvSpPr>
        <p:spPr>
          <a:xfrm>
            <a:off x="475488" y="5879150"/>
            <a:ext cx="228600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t"/>
          <a:lstStyle/>
          <a:p>
            <a:pPr algn="l">
              <a:spcAft>
                <a:spcPts val="0"/>
              </a:spcAft>
            </a:pPr>
            <a:r>
              <a:rPr sz="800" b="1" dirty="0" err="1">
                <a:solidFill>
                  <a:srgbClr val="1F2A5C"/>
                </a:solidFill>
                <a:latin typeface="メイリオ" panose="020B0604030504040204" pitchFamily="50" charset="-128"/>
                <a:ea typeface="メイリオ" panose="020B0604030504040204" pitchFamily="50" charset="-128"/>
                <a:cs typeface="メイリオ"/>
              </a:rPr>
              <a:t>タグで対象を絞る</a:t>
            </a:r>
            <a:endParaRPr lang="en-US" sz="800" b="1" dirty="0">
              <a:solidFill>
                <a:srgbClr val="1F2A5C"/>
              </a:solidFill>
              <a:latin typeface="メイリオ" panose="020B0604030504040204" pitchFamily="50" charset="-128"/>
              <a:ea typeface="メイリオ" panose="020B0604030504040204" pitchFamily="50" charset="-128"/>
              <a:cs typeface="メイリオ"/>
            </a:endParaRPr>
          </a:p>
          <a:p>
            <a:pPr algn="l">
              <a:spcAft>
                <a:spcPts val="0"/>
              </a:spcAft>
            </a:pPr>
            <a:r>
              <a:rPr sz="800" b="1" dirty="0">
                <a:solidFill>
                  <a:srgbClr val="1F2A5C"/>
                </a:solidFill>
                <a:latin typeface="メイリオ" panose="020B0604030504040204" pitchFamily="50" charset="-128"/>
                <a:ea typeface="メイリオ" panose="020B0604030504040204" pitchFamily="50" charset="-128"/>
                <a:cs typeface="メイリオ"/>
              </a:rPr>
              <a:t>→「</a:t>
            </a:r>
            <a:r>
              <a:rPr sz="800" b="1" dirty="0" err="1">
                <a:solidFill>
                  <a:srgbClr val="1F2A5C"/>
                </a:solidFill>
                <a:latin typeface="メイリオ" panose="020B0604030504040204" pitchFamily="50" charset="-128"/>
                <a:ea typeface="メイリオ" panose="020B0604030504040204" pitchFamily="50" charset="-128"/>
                <a:cs typeface="メイリオ"/>
              </a:rPr>
              <a:t>運動に興味」の人だけに配信</a:t>
            </a:r>
            <a:endParaRPr sz="800" b="1" dirty="0">
              <a:solidFill>
                <a:srgbClr val="1F2A5C"/>
              </a:solidFill>
              <a:latin typeface="メイリオ" panose="020B0604030504040204" pitchFamily="50" charset="-128"/>
              <a:ea typeface="メイリオ" panose="020B0604030504040204" pitchFamily="50" charset="-128"/>
              <a:cs typeface="メイリオ"/>
            </a:endParaRPr>
          </a:p>
          <a:p>
            <a:pPr algn="l">
              <a:spcAft>
                <a:spcPts val="0"/>
              </a:spcAft>
            </a:pPr>
            <a:r>
              <a:rPr sz="700" b="0" dirty="0" err="1">
                <a:solidFill>
                  <a:srgbClr val="777777"/>
                </a:solidFill>
                <a:latin typeface="メイリオ" panose="020B0604030504040204" pitchFamily="50" charset="-128"/>
                <a:ea typeface="メイリオ" panose="020B0604030504040204" pitchFamily="50" charset="-128"/>
                <a:cs typeface="メイリオ"/>
              </a:rPr>
              <a:t>標準＋APIツール</a:t>
            </a:r>
            <a:endParaRPr sz="700" b="0" dirty="0">
              <a:solidFill>
                <a:srgbClr val="777777"/>
              </a:solidFill>
              <a:latin typeface="メイリオ" panose="020B0604030504040204" pitchFamily="50" charset="-128"/>
              <a:ea typeface="メイリオ" panose="020B0604030504040204" pitchFamily="50" charset="-128"/>
              <a:cs typeface="メイリオ"/>
            </a:endParaRPr>
          </a:p>
        </p:txBody>
      </p:sp>
      <p:sp>
        <p:nvSpPr>
          <p:cNvPr id="39" name="Rounded Rectangle 36">
            <a:extLst>
              <a:ext uri="{FF2B5EF4-FFF2-40B4-BE49-F238E27FC236}">
                <a16:creationId xmlns:a16="http://schemas.microsoft.com/office/drawing/2014/main" id="{EB89F4C5-3674-C37F-0213-9BCB6D7C0FCB}"/>
              </a:ext>
            </a:extLst>
          </p:cNvPr>
          <p:cNvSpPr/>
          <p:nvPr/>
        </p:nvSpPr>
        <p:spPr>
          <a:xfrm>
            <a:off x="3200400" y="2663021"/>
            <a:ext cx="2514600" cy="3865418"/>
          </a:xfrm>
          <a:prstGeom prst="roundRect">
            <a:avLst/>
          </a:prstGeom>
          <a:solidFill>
            <a:srgbClr val="FFFFFF"/>
          </a:solidFill>
          <a:ln w="38100">
            <a:solidFill>
              <a:srgbClr val="333333"/>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40" name="Rectangle 38">
            <a:extLst>
              <a:ext uri="{FF2B5EF4-FFF2-40B4-BE49-F238E27FC236}">
                <a16:creationId xmlns:a16="http://schemas.microsoft.com/office/drawing/2014/main" id="{B3A9B786-A08F-9876-275C-37DD07EED86E}"/>
              </a:ext>
            </a:extLst>
          </p:cNvPr>
          <p:cNvSpPr/>
          <p:nvPr/>
        </p:nvSpPr>
        <p:spPr>
          <a:xfrm>
            <a:off x="3255264" y="2853798"/>
            <a:ext cx="2404872" cy="3310128"/>
          </a:xfrm>
          <a:prstGeom prst="rect">
            <a:avLst/>
          </a:prstGeom>
          <a:solidFill>
            <a:srgbClr val="A8BDD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41" name="Rounded Rectangle 40">
            <a:extLst>
              <a:ext uri="{FF2B5EF4-FFF2-40B4-BE49-F238E27FC236}">
                <a16:creationId xmlns:a16="http://schemas.microsoft.com/office/drawing/2014/main" id="{24EFF532-6FA6-26BB-0FC6-B24E4302C463}"/>
              </a:ext>
            </a:extLst>
          </p:cNvPr>
          <p:cNvSpPr/>
          <p:nvPr/>
        </p:nvSpPr>
        <p:spPr>
          <a:xfrm>
            <a:off x="3611880" y="2768505"/>
            <a:ext cx="1783080" cy="31602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dirty="0" err="1">
                <a:solidFill>
                  <a:srgbClr val="333333"/>
                </a:solidFill>
                <a:latin typeface="メイリオ" panose="020B0604030504040204" pitchFamily="50" charset="-128"/>
                <a:ea typeface="メイリオ" panose="020B0604030504040204" pitchFamily="50" charset="-128"/>
                <a:cs typeface="メイリオ"/>
              </a:rPr>
              <a:t>友だち追加ありがとう！特典</a:t>
            </a:r>
            <a:r>
              <a:rPr lang="ja-JP" altLang="en-US" sz="800" b="0" dirty="0">
                <a:solidFill>
                  <a:srgbClr val="333333"/>
                </a:solidFill>
                <a:latin typeface="メイリオ" panose="020B0604030504040204" pitchFamily="50" charset="-128"/>
                <a:ea typeface="メイリオ" panose="020B0604030504040204" pitchFamily="50" charset="-128"/>
                <a:cs typeface="メイリオ"/>
              </a:rPr>
              <a:t>は</a:t>
            </a:r>
            <a:r>
              <a:rPr lang="en-US" altLang="ja-JP" sz="800" b="0" dirty="0">
                <a:solidFill>
                  <a:srgbClr val="333333"/>
                </a:solidFill>
                <a:latin typeface="メイリオ" panose="020B0604030504040204" pitchFamily="50" charset="-128"/>
                <a:ea typeface="メイリオ" panose="020B0604030504040204" pitchFamily="50" charset="-128"/>
                <a:cs typeface="メイリオ"/>
              </a:rPr>
              <a:t>…</a:t>
            </a:r>
            <a:endParaRPr sz="800" b="0" dirty="0">
              <a:solidFill>
                <a:srgbClr val="333333"/>
              </a:solidFill>
              <a:latin typeface="メイリオ" panose="020B0604030504040204" pitchFamily="50" charset="-128"/>
              <a:ea typeface="メイリオ" panose="020B0604030504040204" pitchFamily="50" charset="-128"/>
              <a:cs typeface="メイリオ"/>
            </a:endParaRPr>
          </a:p>
        </p:txBody>
      </p:sp>
      <p:sp>
        <p:nvSpPr>
          <p:cNvPr id="42" name="Oval 41">
            <a:extLst>
              <a:ext uri="{FF2B5EF4-FFF2-40B4-BE49-F238E27FC236}">
                <a16:creationId xmlns:a16="http://schemas.microsoft.com/office/drawing/2014/main" id="{D7BDF01D-C3F2-A3DE-0264-B338980A05DB}"/>
              </a:ext>
            </a:extLst>
          </p:cNvPr>
          <p:cNvSpPr/>
          <p:nvPr/>
        </p:nvSpPr>
        <p:spPr>
          <a:xfrm>
            <a:off x="3310128" y="3274422"/>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43" name="Rounded Rectangle 42">
            <a:extLst>
              <a:ext uri="{FF2B5EF4-FFF2-40B4-BE49-F238E27FC236}">
                <a16:creationId xmlns:a16="http://schemas.microsoft.com/office/drawing/2014/main" id="{4600E2F1-69A4-314B-7CDE-2291AF5A0480}"/>
              </a:ext>
            </a:extLst>
          </p:cNvPr>
          <p:cNvSpPr/>
          <p:nvPr/>
        </p:nvSpPr>
        <p:spPr>
          <a:xfrm>
            <a:off x="3611880" y="3321789"/>
            <a:ext cx="1371600" cy="23358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お子様の興味は？</a:t>
            </a:r>
          </a:p>
        </p:txBody>
      </p:sp>
      <p:sp>
        <p:nvSpPr>
          <p:cNvPr id="44" name="Rounded Rectangle 43">
            <a:extLst>
              <a:ext uri="{FF2B5EF4-FFF2-40B4-BE49-F238E27FC236}">
                <a16:creationId xmlns:a16="http://schemas.microsoft.com/office/drawing/2014/main" id="{8F18330F-E519-5A48-F5E6-F01F2E7FAE51}"/>
              </a:ext>
            </a:extLst>
          </p:cNvPr>
          <p:cNvSpPr/>
          <p:nvPr/>
        </p:nvSpPr>
        <p:spPr>
          <a:xfrm>
            <a:off x="3611880" y="3640182"/>
            <a:ext cx="475488" cy="237744"/>
          </a:xfrm>
          <a:prstGeom prst="roundRect">
            <a:avLst/>
          </a:prstGeom>
          <a:solidFill>
            <a:srgbClr val="FFFFFF"/>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700" b="1">
                <a:solidFill>
                  <a:srgbClr val="06C755"/>
                </a:solidFill>
                <a:latin typeface="メイリオ" panose="020B0604030504040204" pitchFamily="50" charset="-128"/>
                <a:ea typeface="メイリオ" panose="020B0604030504040204" pitchFamily="50" charset="-128"/>
                <a:cs typeface="メイリオ"/>
              </a:rPr>
              <a:t>英語</a:t>
            </a:r>
          </a:p>
        </p:txBody>
      </p:sp>
      <p:sp>
        <p:nvSpPr>
          <p:cNvPr id="45" name="Rounded Rectangle 44">
            <a:extLst>
              <a:ext uri="{FF2B5EF4-FFF2-40B4-BE49-F238E27FC236}">
                <a16:creationId xmlns:a16="http://schemas.microsoft.com/office/drawing/2014/main" id="{EA318321-B2AF-46BA-7FE3-7773EC6AACFE}"/>
              </a:ext>
            </a:extLst>
          </p:cNvPr>
          <p:cNvSpPr/>
          <p:nvPr/>
        </p:nvSpPr>
        <p:spPr>
          <a:xfrm>
            <a:off x="4123944" y="3640182"/>
            <a:ext cx="475488" cy="237744"/>
          </a:xfrm>
          <a:prstGeom prst="roundRect">
            <a:avLst/>
          </a:prstGeom>
          <a:solidFill>
            <a:srgbClr val="06C755"/>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700" b="1">
                <a:solidFill>
                  <a:srgbClr val="FFFFFF"/>
                </a:solidFill>
                <a:latin typeface="メイリオ" panose="020B0604030504040204" pitchFamily="50" charset="-128"/>
                <a:ea typeface="メイリオ" panose="020B0604030504040204" pitchFamily="50" charset="-128"/>
                <a:cs typeface="メイリオ"/>
              </a:rPr>
              <a:t>運動</a:t>
            </a:r>
          </a:p>
        </p:txBody>
      </p:sp>
      <p:sp>
        <p:nvSpPr>
          <p:cNvPr id="46" name="Rounded Rectangle 45">
            <a:extLst>
              <a:ext uri="{FF2B5EF4-FFF2-40B4-BE49-F238E27FC236}">
                <a16:creationId xmlns:a16="http://schemas.microsoft.com/office/drawing/2014/main" id="{671CB2FB-6AD7-FF9C-FB8A-30A83CB7BDBC}"/>
              </a:ext>
            </a:extLst>
          </p:cNvPr>
          <p:cNvSpPr/>
          <p:nvPr/>
        </p:nvSpPr>
        <p:spPr>
          <a:xfrm>
            <a:off x="4636008" y="3640182"/>
            <a:ext cx="475488" cy="237744"/>
          </a:xfrm>
          <a:prstGeom prst="roundRect">
            <a:avLst/>
          </a:prstGeom>
          <a:solidFill>
            <a:srgbClr val="FFFFFF"/>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700" b="1">
                <a:solidFill>
                  <a:srgbClr val="06C755"/>
                </a:solidFill>
                <a:latin typeface="メイリオ" panose="020B0604030504040204" pitchFamily="50" charset="-128"/>
                <a:ea typeface="メイリオ" panose="020B0604030504040204" pitchFamily="50" charset="-128"/>
                <a:cs typeface="メイリオ"/>
              </a:rPr>
              <a:t>知育</a:t>
            </a:r>
          </a:p>
        </p:txBody>
      </p:sp>
      <p:sp>
        <p:nvSpPr>
          <p:cNvPr id="47" name="Rounded Rectangle 46">
            <a:extLst>
              <a:ext uri="{FF2B5EF4-FFF2-40B4-BE49-F238E27FC236}">
                <a16:creationId xmlns:a16="http://schemas.microsoft.com/office/drawing/2014/main" id="{7F504588-536C-8EE6-8E6F-816EF8C24633}"/>
              </a:ext>
            </a:extLst>
          </p:cNvPr>
          <p:cNvSpPr/>
          <p:nvPr/>
        </p:nvSpPr>
        <p:spPr>
          <a:xfrm>
            <a:off x="5166360" y="3640182"/>
            <a:ext cx="457200" cy="237744"/>
          </a:xfrm>
          <a:prstGeom prst="round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700" b="1" dirty="0">
                <a:solidFill>
                  <a:srgbClr val="FFFFFF"/>
                </a:solidFill>
                <a:latin typeface="メイリオ" panose="020B0604030504040204" pitchFamily="50" charset="-128"/>
                <a:ea typeface="メイリオ" panose="020B0604030504040204" pitchFamily="50" charset="-128"/>
                <a:cs typeface="メイリオ"/>
              </a:rPr>
              <a:t>＋</a:t>
            </a:r>
            <a:r>
              <a:rPr sz="700" b="1" dirty="0" err="1">
                <a:solidFill>
                  <a:srgbClr val="FFFFFF"/>
                </a:solidFill>
                <a:latin typeface="メイリオ" panose="020B0604030504040204" pitchFamily="50" charset="-128"/>
                <a:ea typeface="メイリオ" panose="020B0604030504040204" pitchFamily="50" charset="-128"/>
                <a:cs typeface="メイリオ"/>
              </a:rPr>
              <a:t>タグ</a:t>
            </a:r>
            <a:endParaRPr sz="700" b="1" dirty="0">
              <a:solidFill>
                <a:srgbClr val="FFFFFF"/>
              </a:solidFill>
              <a:latin typeface="メイリオ" panose="020B0604030504040204" pitchFamily="50" charset="-128"/>
              <a:ea typeface="メイリオ" panose="020B0604030504040204" pitchFamily="50" charset="-128"/>
              <a:cs typeface="メイリオ"/>
            </a:endParaRPr>
          </a:p>
        </p:txBody>
      </p:sp>
      <p:sp>
        <p:nvSpPr>
          <p:cNvPr id="48" name="Oval 47">
            <a:extLst>
              <a:ext uri="{FF2B5EF4-FFF2-40B4-BE49-F238E27FC236}">
                <a16:creationId xmlns:a16="http://schemas.microsoft.com/office/drawing/2014/main" id="{39641FC3-997E-E41B-0786-B2A8B72615F1}"/>
              </a:ext>
            </a:extLst>
          </p:cNvPr>
          <p:cNvSpPr/>
          <p:nvPr/>
        </p:nvSpPr>
        <p:spPr>
          <a:xfrm>
            <a:off x="3310128" y="4024230"/>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49" name="Rounded Rectangle 48">
            <a:extLst>
              <a:ext uri="{FF2B5EF4-FFF2-40B4-BE49-F238E27FC236}">
                <a16:creationId xmlns:a16="http://schemas.microsoft.com/office/drawing/2014/main" id="{D1AA4CAE-145A-9C37-0213-1B07344EFDA8}"/>
              </a:ext>
            </a:extLst>
          </p:cNvPr>
          <p:cNvSpPr/>
          <p:nvPr/>
        </p:nvSpPr>
        <p:spPr>
          <a:xfrm>
            <a:off x="3611880" y="4018959"/>
            <a:ext cx="1783080" cy="30228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【Day3】運動指導のご紹介</a:t>
            </a:r>
          </a:p>
        </p:txBody>
      </p:sp>
      <p:sp>
        <p:nvSpPr>
          <p:cNvPr id="50" name="Oval 49">
            <a:extLst>
              <a:ext uri="{FF2B5EF4-FFF2-40B4-BE49-F238E27FC236}">
                <a16:creationId xmlns:a16="http://schemas.microsoft.com/office/drawing/2014/main" id="{D7FC1F60-741B-1216-E3C2-B9A9825969FD}"/>
              </a:ext>
            </a:extLst>
          </p:cNvPr>
          <p:cNvSpPr/>
          <p:nvPr/>
        </p:nvSpPr>
        <p:spPr>
          <a:xfrm>
            <a:off x="3310128" y="4600302"/>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51" name="Rounded Rectangle 50">
            <a:extLst>
              <a:ext uri="{FF2B5EF4-FFF2-40B4-BE49-F238E27FC236}">
                <a16:creationId xmlns:a16="http://schemas.microsoft.com/office/drawing/2014/main" id="{4B728E47-8A05-CAAD-5316-3E29B59A0677}"/>
              </a:ext>
            </a:extLst>
          </p:cNvPr>
          <p:cNvSpPr/>
          <p:nvPr/>
        </p:nvSpPr>
        <p:spPr>
          <a:xfrm>
            <a:off x="3611880" y="4595031"/>
            <a:ext cx="1783080" cy="30228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【今月】夏のイベント開催</a:t>
            </a:r>
          </a:p>
        </p:txBody>
      </p:sp>
      <p:sp>
        <p:nvSpPr>
          <p:cNvPr id="52" name="Rounded Rectangle 51">
            <a:extLst>
              <a:ext uri="{FF2B5EF4-FFF2-40B4-BE49-F238E27FC236}">
                <a16:creationId xmlns:a16="http://schemas.microsoft.com/office/drawing/2014/main" id="{EDE632CC-3F09-E201-A757-0B2AF49C1E03}"/>
              </a:ext>
            </a:extLst>
          </p:cNvPr>
          <p:cNvSpPr/>
          <p:nvPr/>
        </p:nvSpPr>
        <p:spPr>
          <a:xfrm>
            <a:off x="4434840" y="5084934"/>
            <a:ext cx="1097280" cy="237744"/>
          </a:xfrm>
          <a:prstGeom prst="roundRect">
            <a:avLst/>
          </a:prstGeom>
          <a:solidFill>
            <a:srgbClr val="B7E36B"/>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700" b="0">
                <a:solidFill>
                  <a:srgbClr val="333333"/>
                </a:solidFill>
                <a:latin typeface="メイリオ" panose="020B0604030504040204" pitchFamily="50" charset="-128"/>
                <a:ea typeface="メイリオ" panose="020B0604030504040204" pitchFamily="50" charset="-128"/>
                <a:cs typeface="メイリオ"/>
              </a:rPr>
              <a:t>料金を教えて</a:t>
            </a:r>
          </a:p>
        </p:txBody>
      </p:sp>
      <p:sp>
        <p:nvSpPr>
          <p:cNvPr id="53" name="Oval 52">
            <a:extLst>
              <a:ext uri="{FF2B5EF4-FFF2-40B4-BE49-F238E27FC236}">
                <a16:creationId xmlns:a16="http://schemas.microsoft.com/office/drawing/2014/main" id="{33F79F6F-0ADE-256D-5DA4-A82E51FAF5E9}"/>
              </a:ext>
            </a:extLst>
          </p:cNvPr>
          <p:cNvSpPr/>
          <p:nvPr/>
        </p:nvSpPr>
        <p:spPr>
          <a:xfrm>
            <a:off x="3310128" y="5377542"/>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54" name="Rounded Rectangle 53">
            <a:extLst>
              <a:ext uri="{FF2B5EF4-FFF2-40B4-BE49-F238E27FC236}">
                <a16:creationId xmlns:a16="http://schemas.microsoft.com/office/drawing/2014/main" id="{442A5F6A-8638-8BB7-0CCD-0A2E2B0A2BCC}"/>
              </a:ext>
            </a:extLst>
          </p:cNvPr>
          <p:cNvSpPr/>
          <p:nvPr/>
        </p:nvSpPr>
        <p:spPr>
          <a:xfrm>
            <a:off x="3611880" y="5395155"/>
            <a:ext cx="1463040" cy="27480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料金はこちらです→</a:t>
            </a:r>
          </a:p>
        </p:txBody>
      </p:sp>
      <p:sp>
        <p:nvSpPr>
          <p:cNvPr id="55" name="Rectangle 54">
            <a:extLst>
              <a:ext uri="{FF2B5EF4-FFF2-40B4-BE49-F238E27FC236}">
                <a16:creationId xmlns:a16="http://schemas.microsoft.com/office/drawing/2014/main" id="{3692DFC3-6CB4-FCCE-9844-CF7F277EAFA4}"/>
              </a:ext>
            </a:extLst>
          </p:cNvPr>
          <p:cNvSpPr/>
          <p:nvPr/>
        </p:nvSpPr>
        <p:spPr>
          <a:xfrm>
            <a:off x="3255264" y="6042006"/>
            <a:ext cx="2404872" cy="457200"/>
          </a:xfrm>
          <a:prstGeom prst="rect">
            <a:avLst/>
          </a:prstGeom>
          <a:solidFill>
            <a:srgbClr val="FFFFFF"/>
          </a:solidFill>
          <a:ln w="12700">
            <a:solidFill>
              <a:srgbClr val="BBBBBB"/>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56" name="Rectangle 55">
            <a:extLst>
              <a:ext uri="{FF2B5EF4-FFF2-40B4-BE49-F238E27FC236}">
                <a16:creationId xmlns:a16="http://schemas.microsoft.com/office/drawing/2014/main" id="{F986ADF8-29C3-6A68-1DFA-FFA26561F2B3}"/>
              </a:ext>
            </a:extLst>
          </p:cNvPr>
          <p:cNvSpPr/>
          <p:nvPr/>
        </p:nvSpPr>
        <p:spPr>
          <a:xfrm>
            <a:off x="3273552" y="6060294"/>
            <a:ext cx="585216" cy="420624"/>
          </a:xfrm>
          <a:prstGeom prst="rect">
            <a:avLst/>
          </a:prstGeom>
          <a:solidFill>
            <a:srgbClr val="F3F5FA"/>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予約</a:t>
            </a:r>
          </a:p>
        </p:txBody>
      </p:sp>
      <p:sp>
        <p:nvSpPr>
          <p:cNvPr id="57" name="Rectangle 56">
            <a:extLst>
              <a:ext uri="{FF2B5EF4-FFF2-40B4-BE49-F238E27FC236}">
                <a16:creationId xmlns:a16="http://schemas.microsoft.com/office/drawing/2014/main" id="{3AB1081A-487F-780B-49C7-1270ED530C1F}"/>
              </a:ext>
            </a:extLst>
          </p:cNvPr>
          <p:cNvSpPr/>
          <p:nvPr/>
        </p:nvSpPr>
        <p:spPr>
          <a:xfrm>
            <a:off x="3867912" y="6060294"/>
            <a:ext cx="585216" cy="420624"/>
          </a:xfrm>
          <a:prstGeom prst="rect">
            <a:avLst/>
          </a:prstGeom>
          <a:solidFill>
            <a:srgbClr val="F3F5FA"/>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質問</a:t>
            </a:r>
          </a:p>
        </p:txBody>
      </p:sp>
      <p:sp>
        <p:nvSpPr>
          <p:cNvPr id="59" name="Rectangle 57">
            <a:extLst>
              <a:ext uri="{FF2B5EF4-FFF2-40B4-BE49-F238E27FC236}">
                <a16:creationId xmlns:a16="http://schemas.microsoft.com/office/drawing/2014/main" id="{6F0CCA9C-BDA8-04BF-077D-3A8F5CFF41C8}"/>
              </a:ext>
            </a:extLst>
          </p:cNvPr>
          <p:cNvSpPr/>
          <p:nvPr/>
        </p:nvSpPr>
        <p:spPr>
          <a:xfrm>
            <a:off x="4462272" y="6060294"/>
            <a:ext cx="585216" cy="420624"/>
          </a:xfrm>
          <a:prstGeom prst="rect">
            <a:avLst/>
          </a:prstGeom>
          <a:solidFill>
            <a:srgbClr val="F3F5FA"/>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特典</a:t>
            </a:r>
          </a:p>
        </p:txBody>
      </p:sp>
      <p:sp>
        <p:nvSpPr>
          <p:cNvPr id="60" name="Rectangle 58">
            <a:extLst>
              <a:ext uri="{FF2B5EF4-FFF2-40B4-BE49-F238E27FC236}">
                <a16:creationId xmlns:a16="http://schemas.microsoft.com/office/drawing/2014/main" id="{985C54A4-91FC-0879-5A7C-BF14447F2D4C}"/>
              </a:ext>
            </a:extLst>
          </p:cNvPr>
          <p:cNvSpPr/>
          <p:nvPr/>
        </p:nvSpPr>
        <p:spPr>
          <a:xfrm>
            <a:off x="5056632" y="6060294"/>
            <a:ext cx="585216" cy="420624"/>
          </a:xfrm>
          <a:prstGeom prst="rect">
            <a:avLst/>
          </a:prstGeom>
          <a:solidFill>
            <a:srgbClr val="F3F5FA"/>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店舗</a:t>
            </a:r>
          </a:p>
        </p:txBody>
      </p:sp>
      <p:sp>
        <p:nvSpPr>
          <p:cNvPr id="61" name="Oval 60">
            <a:extLst>
              <a:ext uri="{FF2B5EF4-FFF2-40B4-BE49-F238E27FC236}">
                <a16:creationId xmlns:a16="http://schemas.microsoft.com/office/drawing/2014/main" id="{078D547B-19C0-D1D7-0B0A-A47E1EF12496}"/>
              </a:ext>
            </a:extLst>
          </p:cNvPr>
          <p:cNvSpPr/>
          <p:nvPr/>
        </p:nvSpPr>
        <p:spPr>
          <a:xfrm>
            <a:off x="3063240" y="3210414"/>
            <a:ext cx="274320" cy="274320"/>
          </a:xfrm>
          <a:prstGeom prst="ellipse">
            <a:avLst/>
          </a:prstGeom>
          <a:solidFill>
            <a:srgbClr val="C8102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3</a:t>
            </a:r>
          </a:p>
        </p:txBody>
      </p:sp>
      <p:sp>
        <p:nvSpPr>
          <p:cNvPr id="62" name="Oval 61">
            <a:extLst>
              <a:ext uri="{FF2B5EF4-FFF2-40B4-BE49-F238E27FC236}">
                <a16:creationId xmlns:a16="http://schemas.microsoft.com/office/drawing/2014/main" id="{D5B5DA36-D1AC-3FF4-B014-CB1D23230DF3}"/>
              </a:ext>
            </a:extLst>
          </p:cNvPr>
          <p:cNvSpPr/>
          <p:nvPr/>
        </p:nvSpPr>
        <p:spPr>
          <a:xfrm>
            <a:off x="3063240" y="3914502"/>
            <a:ext cx="274320" cy="274320"/>
          </a:xfrm>
          <a:prstGeom prst="ellipse">
            <a:avLst/>
          </a:prstGeom>
          <a:solidFill>
            <a:srgbClr val="C8102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5</a:t>
            </a:r>
          </a:p>
        </p:txBody>
      </p:sp>
      <p:sp>
        <p:nvSpPr>
          <p:cNvPr id="63" name="Oval 62">
            <a:extLst>
              <a:ext uri="{FF2B5EF4-FFF2-40B4-BE49-F238E27FC236}">
                <a16:creationId xmlns:a16="http://schemas.microsoft.com/office/drawing/2014/main" id="{AD9506F4-3424-385A-C649-D53A66ECE0FA}"/>
              </a:ext>
            </a:extLst>
          </p:cNvPr>
          <p:cNvSpPr/>
          <p:nvPr/>
        </p:nvSpPr>
        <p:spPr>
          <a:xfrm>
            <a:off x="3063240" y="4481430"/>
            <a:ext cx="274320" cy="274320"/>
          </a:xfrm>
          <a:prstGeom prst="ellipse">
            <a:avLst/>
          </a:prstGeom>
          <a:solidFill>
            <a:srgbClr val="C8102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6</a:t>
            </a:r>
          </a:p>
        </p:txBody>
      </p:sp>
      <p:sp>
        <p:nvSpPr>
          <p:cNvPr id="64" name="Oval 63">
            <a:extLst>
              <a:ext uri="{FF2B5EF4-FFF2-40B4-BE49-F238E27FC236}">
                <a16:creationId xmlns:a16="http://schemas.microsoft.com/office/drawing/2014/main" id="{E17B94F9-0158-3E3C-FFDC-922E33C08ACA}"/>
              </a:ext>
            </a:extLst>
          </p:cNvPr>
          <p:cNvSpPr/>
          <p:nvPr/>
        </p:nvSpPr>
        <p:spPr>
          <a:xfrm>
            <a:off x="3063240" y="5286102"/>
            <a:ext cx="274320" cy="274320"/>
          </a:xfrm>
          <a:prstGeom prst="ellipse">
            <a:avLst/>
          </a:prstGeom>
          <a:solidFill>
            <a:srgbClr val="1F2A5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8</a:t>
            </a:r>
          </a:p>
        </p:txBody>
      </p:sp>
      <p:sp>
        <p:nvSpPr>
          <p:cNvPr id="65" name="Oval 64">
            <a:extLst>
              <a:ext uri="{FF2B5EF4-FFF2-40B4-BE49-F238E27FC236}">
                <a16:creationId xmlns:a16="http://schemas.microsoft.com/office/drawing/2014/main" id="{C5EFD1D0-F44A-23A1-ADF0-04BFFF1243A0}"/>
              </a:ext>
            </a:extLst>
          </p:cNvPr>
          <p:cNvSpPr/>
          <p:nvPr/>
        </p:nvSpPr>
        <p:spPr>
          <a:xfrm>
            <a:off x="3063240" y="5987142"/>
            <a:ext cx="274320" cy="274320"/>
          </a:xfrm>
          <a:prstGeom prst="ellipse">
            <a:avLst/>
          </a:prstGeom>
          <a:solidFill>
            <a:srgbClr val="1F2A5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7</a:t>
            </a:r>
          </a:p>
        </p:txBody>
      </p:sp>
      <p:cxnSp>
        <p:nvCxnSpPr>
          <p:cNvPr id="66" name="Connector 65">
            <a:extLst>
              <a:ext uri="{FF2B5EF4-FFF2-40B4-BE49-F238E27FC236}">
                <a16:creationId xmlns:a16="http://schemas.microsoft.com/office/drawing/2014/main" id="{1B3B9544-3929-8790-DDDE-E6205C63DB3B}"/>
              </a:ext>
            </a:extLst>
          </p:cNvPr>
          <p:cNvCxnSpPr/>
          <p:nvPr/>
        </p:nvCxnSpPr>
        <p:spPr>
          <a:xfrm>
            <a:off x="5715000" y="2862942"/>
            <a:ext cx="274320" cy="0"/>
          </a:xfrm>
          <a:prstGeom prst="line">
            <a:avLst/>
          </a:prstGeom>
          <a:ln w="19050">
            <a:solidFill>
              <a:srgbClr val="1F2A5C"/>
            </a:solidFill>
          </a:ln>
        </p:spPr>
        <p:style>
          <a:lnRef idx="2">
            <a:schemeClr val="accent1"/>
          </a:lnRef>
          <a:fillRef idx="0">
            <a:schemeClr val="accent1"/>
          </a:fillRef>
          <a:effectRef idx="1">
            <a:schemeClr val="accent1"/>
          </a:effectRef>
          <a:fontRef idx="minor">
            <a:schemeClr val="tx1"/>
          </a:fontRef>
        </p:style>
      </p:cxnSp>
      <p:sp>
        <p:nvSpPr>
          <p:cNvPr id="67" name="Rectangle 66">
            <a:extLst>
              <a:ext uri="{FF2B5EF4-FFF2-40B4-BE49-F238E27FC236}">
                <a16:creationId xmlns:a16="http://schemas.microsoft.com/office/drawing/2014/main" id="{BACF9AB3-5E23-75E5-2907-1B4CAA7E7697}"/>
              </a:ext>
            </a:extLst>
          </p:cNvPr>
          <p:cNvSpPr/>
          <p:nvPr/>
        </p:nvSpPr>
        <p:spPr>
          <a:xfrm>
            <a:off x="5989320" y="2561190"/>
            <a:ext cx="3538728" cy="566928"/>
          </a:xfrm>
          <a:prstGeom prst="rect">
            <a:avLst/>
          </a:prstGeom>
          <a:solidFill>
            <a:srgbClr val="FFFFFF"/>
          </a:solidFill>
          <a:ln w="15875">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68" name="Rectangle 67">
            <a:extLst>
              <a:ext uri="{FF2B5EF4-FFF2-40B4-BE49-F238E27FC236}">
                <a16:creationId xmlns:a16="http://schemas.microsoft.com/office/drawing/2014/main" id="{D99B972D-7A0F-C085-4B94-F0E1D1E5B217}"/>
              </a:ext>
            </a:extLst>
          </p:cNvPr>
          <p:cNvSpPr/>
          <p:nvPr/>
        </p:nvSpPr>
        <p:spPr>
          <a:xfrm>
            <a:off x="5989320" y="2561190"/>
            <a:ext cx="73152" cy="56692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69" name="Rectangle 68">
            <a:extLst>
              <a:ext uri="{FF2B5EF4-FFF2-40B4-BE49-F238E27FC236}">
                <a16:creationId xmlns:a16="http://schemas.microsoft.com/office/drawing/2014/main" id="{16F41EB6-80FA-E920-A132-BB4988500C60}"/>
              </a:ext>
            </a:extLst>
          </p:cNvPr>
          <p:cNvSpPr/>
          <p:nvPr/>
        </p:nvSpPr>
        <p:spPr>
          <a:xfrm>
            <a:off x="6108192" y="2579478"/>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1F2A5C"/>
                </a:solidFill>
                <a:latin typeface="メイリオ" panose="020B0604030504040204" pitchFamily="50" charset="-128"/>
                <a:ea typeface="メイリオ" panose="020B0604030504040204" pitchFamily="50" charset="-128"/>
                <a:cs typeface="メイリオ"/>
              </a:rPr>
              <a:t>2　挨拶メッセージ</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追加直後に自動で届く最初のメッセージ</a:t>
            </a:r>
          </a:p>
          <a:p>
            <a:pPr algn="l">
              <a:spcAft>
                <a:spcPts val="0"/>
              </a:spcAft>
            </a:pPr>
            <a:r>
              <a:rPr sz="700" b="1">
                <a:solidFill>
                  <a:srgbClr val="1F2A5C"/>
                </a:solidFill>
                <a:latin typeface="メイリオ" panose="020B0604030504040204" pitchFamily="50" charset="-128"/>
                <a:ea typeface="メイリオ" panose="020B0604030504040204" pitchFamily="50" charset="-128"/>
                <a:cs typeface="メイリオ"/>
              </a:rPr>
              <a:t>初期標準設定｜標準機能</a:t>
            </a:r>
          </a:p>
        </p:txBody>
      </p:sp>
      <p:cxnSp>
        <p:nvCxnSpPr>
          <p:cNvPr id="70" name="Connector 69">
            <a:extLst>
              <a:ext uri="{FF2B5EF4-FFF2-40B4-BE49-F238E27FC236}">
                <a16:creationId xmlns:a16="http://schemas.microsoft.com/office/drawing/2014/main" id="{1CC8A23C-C7AE-2F6C-E6D0-69403F4AE719}"/>
              </a:ext>
            </a:extLst>
          </p:cNvPr>
          <p:cNvCxnSpPr/>
          <p:nvPr/>
        </p:nvCxnSpPr>
        <p:spPr>
          <a:xfrm>
            <a:off x="5715000" y="3457302"/>
            <a:ext cx="274320" cy="0"/>
          </a:xfrm>
          <a:prstGeom prst="line">
            <a:avLst/>
          </a:prstGeom>
          <a:ln w="19050">
            <a:solidFill>
              <a:srgbClr val="C8102E"/>
            </a:solidFill>
          </a:ln>
        </p:spPr>
        <p:style>
          <a:lnRef idx="2">
            <a:schemeClr val="accent1"/>
          </a:lnRef>
          <a:fillRef idx="0">
            <a:schemeClr val="accent1"/>
          </a:fillRef>
          <a:effectRef idx="1">
            <a:schemeClr val="accent1"/>
          </a:effectRef>
          <a:fontRef idx="minor">
            <a:schemeClr val="tx1"/>
          </a:fontRef>
        </p:style>
      </p:cxnSp>
      <p:sp>
        <p:nvSpPr>
          <p:cNvPr id="71" name="Rectangle 70">
            <a:extLst>
              <a:ext uri="{FF2B5EF4-FFF2-40B4-BE49-F238E27FC236}">
                <a16:creationId xmlns:a16="http://schemas.microsoft.com/office/drawing/2014/main" id="{2878551C-954D-5600-4A28-2FB6B2FC835B}"/>
              </a:ext>
            </a:extLst>
          </p:cNvPr>
          <p:cNvSpPr/>
          <p:nvPr/>
        </p:nvSpPr>
        <p:spPr>
          <a:xfrm>
            <a:off x="5989320" y="3164694"/>
            <a:ext cx="3538728" cy="566928"/>
          </a:xfrm>
          <a:prstGeom prst="rect">
            <a:avLst/>
          </a:prstGeom>
          <a:solidFill>
            <a:srgbClr val="FFFFFF"/>
          </a:solid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72" name="Rectangle 71">
            <a:extLst>
              <a:ext uri="{FF2B5EF4-FFF2-40B4-BE49-F238E27FC236}">
                <a16:creationId xmlns:a16="http://schemas.microsoft.com/office/drawing/2014/main" id="{08D588BD-CE61-D530-7D53-445F6FE2028D}"/>
              </a:ext>
            </a:extLst>
          </p:cNvPr>
          <p:cNvSpPr/>
          <p:nvPr/>
        </p:nvSpPr>
        <p:spPr>
          <a:xfrm>
            <a:off x="5989320" y="3164694"/>
            <a:ext cx="73152" cy="5669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73" name="Rectangle 72">
            <a:extLst>
              <a:ext uri="{FF2B5EF4-FFF2-40B4-BE49-F238E27FC236}">
                <a16:creationId xmlns:a16="http://schemas.microsoft.com/office/drawing/2014/main" id="{BEFBEC83-9F5E-D6AF-38B6-828597BBE02B}"/>
              </a:ext>
            </a:extLst>
          </p:cNvPr>
          <p:cNvSpPr/>
          <p:nvPr/>
        </p:nvSpPr>
        <p:spPr>
          <a:xfrm>
            <a:off x="6108192" y="3182982"/>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C8102E"/>
                </a:solidFill>
                <a:latin typeface="メイリオ" panose="020B0604030504040204" pitchFamily="50" charset="-128"/>
                <a:ea typeface="メイリオ" panose="020B0604030504040204" pitchFamily="50" charset="-128"/>
                <a:cs typeface="メイリオ"/>
              </a:rPr>
              <a:t>3　アンケート</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1タップで回答。興味・状況を把握</a:t>
            </a:r>
          </a:p>
          <a:p>
            <a:pPr algn="l">
              <a:spcAft>
                <a:spcPts val="0"/>
              </a:spcAft>
            </a:pPr>
            <a:r>
              <a:rPr sz="700" b="1">
                <a:solidFill>
                  <a:srgbClr val="C8102E"/>
                </a:solidFill>
                <a:latin typeface="メイリオ" panose="020B0604030504040204" pitchFamily="50" charset="-128"/>
                <a:ea typeface="メイリオ" panose="020B0604030504040204" pitchFamily="50" charset="-128"/>
                <a:cs typeface="メイリオ"/>
              </a:rPr>
              <a:t>運用施策｜標準（簡易）／APIツール</a:t>
            </a:r>
          </a:p>
        </p:txBody>
      </p:sp>
      <p:cxnSp>
        <p:nvCxnSpPr>
          <p:cNvPr id="74" name="Connector 73">
            <a:extLst>
              <a:ext uri="{FF2B5EF4-FFF2-40B4-BE49-F238E27FC236}">
                <a16:creationId xmlns:a16="http://schemas.microsoft.com/office/drawing/2014/main" id="{087854F0-E07A-106C-2F55-5F4540F70FC7}"/>
              </a:ext>
            </a:extLst>
          </p:cNvPr>
          <p:cNvCxnSpPr/>
          <p:nvPr/>
        </p:nvCxnSpPr>
        <p:spPr>
          <a:xfrm>
            <a:off x="5715000" y="4143102"/>
            <a:ext cx="274320" cy="0"/>
          </a:xfrm>
          <a:prstGeom prst="line">
            <a:avLst/>
          </a:prstGeom>
          <a:ln w="19050">
            <a:solidFill>
              <a:srgbClr val="C8102E"/>
            </a:solidFill>
          </a:ln>
        </p:spPr>
        <p:style>
          <a:lnRef idx="2">
            <a:schemeClr val="accent1"/>
          </a:lnRef>
          <a:fillRef idx="0">
            <a:schemeClr val="accent1"/>
          </a:fillRef>
          <a:effectRef idx="1">
            <a:schemeClr val="accent1"/>
          </a:effectRef>
          <a:fontRef idx="minor">
            <a:schemeClr val="tx1"/>
          </a:fontRef>
        </p:style>
      </p:cxnSp>
      <p:sp>
        <p:nvSpPr>
          <p:cNvPr id="75" name="Rectangle 74">
            <a:extLst>
              <a:ext uri="{FF2B5EF4-FFF2-40B4-BE49-F238E27FC236}">
                <a16:creationId xmlns:a16="http://schemas.microsoft.com/office/drawing/2014/main" id="{5E635C83-4255-D874-02BA-723D8D3945A1}"/>
              </a:ext>
            </a:extLst>
          </p:cNvPr>
          <p:cNvSpPr/>
          <p:nvPr/>
        </p:nvSpPr>
        <p:spPr>
          <a:xfrm>
            <a:off x="5989320" y="3841350"/>
            <a:ext cx="3538728" cy="566928"/>
          </a:xfrm>
          <a:prstGeom prst="rect">
            <a:avLst/>
          </a:prstGeom>
          <a:solidFill>
            <a:srgbClr val="FFFFFF"/>
          </a:solid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76" name="Rectangle 75">
            <a:extLst>
              <a:ext uri="{FF2B5EF4-FFF2-40B4-BE49-F238E27FC236}">
                <a16:creationId xmlns:a16="http://schemas.microsoft.com/office/drawing/2014/main" id="{DA813A00-D7BA-7CEB-2811-E995F53B6411}"/>
              </a:ext>
            </a:extLst>
          </p:cNvPr>
          <p:cNvSpPr/>
          <p:nvPr/>
        </p:nvSpPr>
        <p:spPr>
          <a:xfrm>
            <a:off x="5989320" y="3841350"/>
            <a:ext cx="73152" cy="5669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77" name="Rectangle 76">
            <a:extLst>
              <a:ext uri="{FF2B5EF4-FFF2-40B4-BE49-F238E27FC236}">
                <a16:creationId xmlns:a16="http://schemas.microsoft.com/office/drawing/2014/main" id="{37095BF6-3F59-87B8-0E59-07F70CAF7197}"/>
              </a:ext>
            </a:extLst>
          </p:cNvPr>
          <p:cNvSpPr/>
          <p:nvPr/>
        </p:nvSpPr>
        <p:spPr>
          <a:xfrm>
            <a:off x="6108192" y="3859638"/>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C8102E"/>
                </a:solidFill>
                <a:latin typeface="メイリオ" panose="020B0604030504040204" pitchFamily="50" charset="-128"/>
                <a:ea typeface="メイリオ" panose="020B0604030504040204" pitchFamily="50" charset="-128"/>
                <a:cs typeface="メイリオ"/>
              </a:rPr>
              <a:t>5　ステップ配信</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追加日などを起点に、日数で自動配信</a:t>
            </a:r>
          </a:p>
          <a:p>
            <a:pPr algn="l">
              <a:spcAft>
                <a:spcPts val="0"/>
              </a:spcAft>
            </a:pPr>
            <a:r>
              <a:rPr sz="700" b="1">
                <a:solidFill>
                  <a:srgbClr val="C8102E"/>
                </a:solidFill>
                <a:latin typeface="メイリオ" panose="020B0604030504040204" pitchFamily="50" charset="-128"/>
                <a:ea typeface="メイリオ" panose="020B0604030504040204" pitchFamily="50" charset="-128"/>
                <a:cs typeface="メイリオ"/>
              </a:rPr>
              <a:t>運用施策｜APIツール</a:t>
            </a:r>
          </a:p>
        </p:txBody>
      </p:sp>
      <p:cxnSp>
        <p:nvCxnSpPr>
          <p:cNvPr id="78" name="Connector 77">
            <a:extLst>
              <a:ext uri="{FF2B5EF4-FFF2-40B4-BE49-F238E27FC236}">
                <a16:creationId xmlns:a16="http://schemas.microsoft.com/office/drawing/2014/main" id="{14DA0944-ACF0-26E9-C341-0F08287E50E0}"/>
              </a:ext>
            </a:extLst>
          </p:cNvPr>
          <p:cNvCxnSpPr/>
          <p:nvPr/>
        </p:nvCxnSpPr>
        <p:spPr>
          <a:xfrm>
            <a:off x="5715000" y="4737462"/>
            <a:ext cx="274320" cy="0"/>
          </a:xfrm>
          <a:prstGeom prst="line">
            <a:avLst/>
          </a:prstGeom>
          <a:ln w="19050">
            <a:solidFill>
              <a:srgbClr val="C8102E"/>
            </a:solidFill>
          </a:ln>
        </p:spPr>
        <p:style>
          <a:lnRef idx="2">
            <a:schemeClr val="accent1"/>
          </a:lnRef>
          <a:fillRef idx="0">
            <a:schemeClr val="accent1"/>
          </a:fillRef>
          <a:effectRef idx="1">
            <a:schemeClr val="accent1"/>
          </a:effectRef>
          <a:fontRef idx="minor">
            <a:schemeClr val="tx1"/>
          </a:fontRef>
        </p:style>
      </p:cxnSp>
      <p:sp>
        <p:nvSpPr>
          <p:cNvPr id="79" name="Rectangle 78">
            <a:extLst>
              <a:ext uri="{FF2B5EF4-FFF2-40B4-BE49-F238E27FC236}">
                <a16:creationId xmlns:a16="http://schemas.microsoft.com/office/drawing/2014/main" id="{04741443-9216-D183-86C7-C1D3D8CD0F86}"/>
              </a:ext>
            </a:extLst>
          </p:cNvPr>
          <p:cNvSpPr/>
          <p:nvPr/>
        </p:nvSpPr>
        <p:spPr>
          <a:xfrm>
            <a:off x="5989320" y="4463142"/>
            <a:ext cx="3538728" cy="566928"/>
          </a:xfrm>
          <a:prstGeom prst="rect">
            <a:avLst/>
          </a:prstGeom>
          <a:solidFill>
            <a:srgbClr val="FFFFFF"/>
          </a:solid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0" name="Rectangle 79">
            <a:extLst>
              <a:ext uri="{FF2B5EF4-FFF2-40B4-BE49-F238E27FC236}">
                <a16:creationId xmlns:a16="http://schemas.microsoft.com/office/drawing/2014/main" id="{EF62B91B-5616-0CBB-42CD-ABFAF3770BE1}"/>
              </a:ext>
            </a:extLst>
          </p:cNvPr>
          <p:cNvSpPr/>
          <p:nvPr/>
        </p:nvSpPr>
        <p:spPr>
          <a:xfrm>
            <a:off x="5989320" y="4463142"/>
            <a:ext cx="73152" cy="5669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1" name="Rectangle 80">
            <a:extLst>
              <a:ext uri="{FF2B5EF4-FFF2-40B4-BE49-F238E27FC236}">
                <a16:creationId xmlns:a16="http://schemas.microsoft.com/office/drawing/2014/main" id="{2D902E01-6B95-274E-8EFB-9F3B88059A6D}"/>
              </a:ext>
            </a:extLst>
          </p:cNvPr>
          <p:cNvSpPr/>
          <p:nvPr/>
        </p:nvSpPr>
        <p:spPr>
          <a:xfrm>
            <a:off x="6108192" y="4481429"/>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C8102E"/>
                </a:solidFill>
                <a:latin typeface="メイリオ" panose="020B0604030504040204" pitchFamily="50" charset="-128"/>
                <a:ea typeface="メイリオ" panose="020B0604030504040204" pitchFamily="50" charset="-128"/>
                <a:cs typeface="メイリオ"/>
              </a:rPr>
              <a:t>6　企画配信</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季節・キャンペーンに合わせた定期配信</a:t>
            </a:r>
          </a:p>
          <a:p>
            <a:pPr algn="l">
              <a:spcAft>
                <a:spcPts val="0"/>
              </a:spcAft>
            </a:pPr>
            <a:r>
              <a:rPr sz="700" b="1">
                <a:solidFill>
                  <a:srgbClr val="C8102E"/>
                </a:solidFill>
                <a:latin typeface="メイリオ" panose="020B0604030504040204" pitchFamily="50" charset="-128"/>
                <a:ea typeface="メイリオ" panose="020B0604030504040204" pitchFamily="50" charset="-128"/>
                <a:cs typeface="メイリオ"/>
              </a:rPr>
              <a:t>運用施策｜標準機能</a:t>
            </a:r>
          </a:p>
        </p:txBody>
      </p:sp>
      <p:cxnSp>
        <p:nvCxnSpPr>
          <p:cNvPr id="82" name="Connector 81">
            <a:extLst>
              <a:ext uri="{FF2B5EF4-FFF2-40B4-BE49-F238E27FC236}">
                <a16:creationId xmlns:a16="http://schemas.microsoft.com/office/drawing/2014/main" id="{9FBE9224-F179-3806-57FD-B70E3DD7299F}"/>
              </a:ext>
            </a:extLst>
          </p:cNvPr>
          <p:cNvCxnSpPr/>
          <p:nvPr/>
        </p:nvCxnSpPr>
        <p:spPr>
          <a:xfrm>
            <a:off x="5715000" y="5423262"/>
            <a:ext cx="274320" cy="0"/>
          </a:xfrm>
          <a:prstGeom prst="line">
            <a:avLst/>
          </a:prstGeom>
          <a:ln w="19050">
            <a:solidFill>
              <a:srgbClr val="1F2A5C"/>
            </a:solidFill>
          </a:ln>
        </p:spPr>
        <p:style>
          <a:lnRef idx="2">
            <a:schemeClr val="accent1"/>
          </a:lnRef>
          <a:fillRef idx="0">
            <a:schemeClr val="accent1"/>
          </a:fillRef>
          <a:effectRef idx="1">
            <a:schemeClr val="accent1"/>
          </a:effectRef>
          <a:fontRef idx="minor">
            <a:schemeClr val="tx1"/>
          </a:fontRef>
        </p:style>
      </p:cxnSp>
      <p:sp>
        <p:nvSpPr>
          <p:cNvPr id="83" name="Rectangle 82">
            <a:extLst>
              <a:ext uri="{FF2B5EF4-FFF2-40B4-BE49-F238E27FC236}">
                <a16:creationId xmlns:a16="http://schemas.microsoft.com/office/drawing/2014/main" id="{1AB67702-2E81-6221-4139-488E660CAB4E}"/>
              </a:ext>
            </a:extLst>
          </p:cNvPr>
          <p:cNvSpPr/>
          <p:nvPr/>
        </p:nvSpPr>
        <p:spPr>
          <a:xfrm>
            <a:off x="5989320" y="5121510"/>
            <a:ext cx="3538728" cy="566928"/>
          </a:xfrm>
          <a:prstGeom prst="rect">
            <a:avLst/>
          </a:prstGeom>
          <a:solidFill>
            <a:srgbClr val="FFFFFF"/>
          </a:solidFill>
          <a:ln w="15875">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4" name="Rectangle 83">
            <a:extLst>
              <a:ext uri="{FF2B5EF4-FFF2-40B4-BE49-F238E27FC236}">
                <a16:creationId xmlns:a16="http://schemas.microsoft.com/office/drawing/2014/main" id="{3938AC4A-CD97-D0B1-CB8F-46DDCFAE35FE}"/>
              </a:ext>
            </a:extLst>
          </p:cNvPr>
          <p:cNvSpPr/>
          <p:nvPr/>
        </p:nvSpPr>
        <p:spPr>
          <a:xfrm>
            <a:off x="5989320" y="5121510"/>
            <a:ext cx="73152" cy="56692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5" name="Rectangle 84">
            <a:extLst>
              <a:ext uri="{FF2B5EF4-FFF2-40B4-BE49-F238E27FC236}">
                <a16:creationId xmlns:a16="http://schemas.microsoft.com/office/drawing/2014/main" id="{E093121A-3AE3-1B04-1572-43FD309CC342}"/>
              </a:ext>
            </a:extLst>
          </p:cNvPr>
          <p:cNvSpPr/>
          <p:nvPr/>
        </p:nvSpPr>
        <p:spPr>
          <a:xfrm>
            <a:off x="6108192" y="5139797"/>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dirty="0">
                <a:solidFill>
                  <a:srgbClr val="1F2A5C"/>
                </a:solidFill>
                <a:latin typeface="メイリオ" panose="020B0604030504040204" pitchFamily="50" charset="-128"/>
                <a:ea typeface="メイリオ" panose="020B0604030504040204" pitchFamily="50" charset="-128"/>
                <a:cs typeface="メイリオ"/>
              </a:rPr>
              <a:t>8　</a:t>
            </a:r>
            <a:r>
              <a:rPr sz="1000" b="1" dirty="0" err="1">
                <a:solidFill>
                  <a:srgbClr val="1F2A5C"/>
                </a:solidFill>
                <a:latin typeface="メイリオ" panose="020B0604030504040204" pitchFamily="50" charset="-128"/>
                <a:ea typeface="メイリオ" panose="020B0604030504040204" pitchFamily="50" charset="-128"/>
                <a:cs typeface="メイリオ"/>
              </a:rPr>
              <a:t>自動応答</a:t>
            </a:r>
            <a:endParaRPr sz="1000" b="1" dirty="0">
              <a:solidFill>
                <a:srgbClr val="1F2A5C"/>
              </a:solidFill>
              <a:latin typeface="メイリオ" panose="020B0604030504040204" pitchFamily="50" charset="-128"/>
              <a:ea typeface="メイリオ" panose="020B0604030504040204" pitchFamily="50" charset="-128"/>
              <a:cs typeface="メイリオ"/>
            </a:endParaRPr>
          </a:p>
          <a:p>
            <a:pPr algn="l">
              <a:spcAft>
                <a:spcPts val="0"/>
              </a:spcAft>
            </a:pPr>
            <a:r>
              <a:rPr sz="800" b="0" dirty="0" err="1">
                <a:solidFill>
                  <a:srgbClr val="333333"/>
                </a:solidFill>
                <a:latin typeface="メイリオ" panose="020B0604030504040204" pitchFamily="50" charset="-128"/>
                <a:ea typeface="メイリオ" panose="020B0604030504040204" pitchFamily="50" charset="-128"/>
                <a:cs typeface="メイリオ"/>
              </a:rPr>
              <a:t>キーワードに自動で返信</a:t>
            </a:r>
            <a:endParaRPr sz="800" b="0" dirty="0">
              <a:solidFill>
                <a:srgbClr val="333333"/>
              </a:solidFill>
              <a:latin typeface="メイリオ" panose="020B0604030504040204" pitchFamily="50" charset="-128"/>
              <a:ea typeface="メイリオ" panose="020B0604030504040204" pitchFamily="50" charset="-128"/>
              <a:cs typeface="メイリオ"/>
            </a:endParaRPr>
          </a:p>
          <a:p>
            <a:pPr algn="l">
              <a:spcAft>
                <a:spcPts val="0"/>
              </a:spcAft>
            </a:pPr>
            <a:r>
              <a:rPr sz="700" b="1" dirty="0" err="1">
                <a:solidFill>
                  <a:srgbClr val="1F2A5C"/>
                </a:solidFill>
                <a:latin typeface="メイリオ" panose="020B0604030504040204" pitchFamily="50" charset="-128"/>
                <a:ea typeface="メイリオ" panose="020B0604030504040204" pitchFamily="50" charset="-128"/>
                <a:cs typeface="メイリオ"/>
              </a:rPr>
              <a:t>初期標準設定｜標準（FAQ・有人は別途</a:t>
            </a:r>
            <a:r>
              <a:rPr sz="700" b="1" dirty="0">
                <a:solidFill>
                  <a:srgbClr val="1F2A5C"/>
                </a:solidFill>
                <a:latin typeface="メイリオ" panose="020B0604030504040204" pitchFamily="50" charset="-128"/>
                <a:ea typeface="メイリオ" panose="020B0604030504040204" pitchFamily="50" charset="-128"/>
                <a:cs typeface="メイリオ"/>
              </a:rPr>
              <a:t>）</a:t>
            </a:r>
          </a:p>
        </p:txBody>
      </p:sp>
      <p:cxnSp>
        <p:nvCxnSpPr>
          <p:cNvPr id="86" name="Connector 85">
            <a:extLst>
              <a:ext uri="{FF2B5EF4-FFF2-40B4-BE49-F238E27FC236}">
                <a16:creationId xmlns:a16="http://schemas.microsoft.com/office/drawing/2014/main" id="{4A507D46-E245-9BC1-8E49-9B98A20927EE}"/>
              </a:ext>
            </a:extLst>
          </p:cNvPr>
          <p:cNvCxnSpPr/>
          <p:nvPr/>
        </p:nvCxnSpPr>
        <p:spPr>
          <a:xfrm>
            <a:off x="5715000" y="6170022"/>
            <a:ext cx="274320" cy="0"/>
          </a:xfrm>
          <a:prstGeom prst="line">
            <a:avLst/>
          </a:prstGeom>
          <a:ln w="19050">
            <a:solidFill>
              <a:srgbClr val="1F2A5C"/>
            </a:solidFill>
          </a:ln>
        </p:spPr>
        <p:style>
          <a:lnRef idx="2">
            <a:schemeClr val="accent1"/>
          </a:lnRef>
          <a:fillRef idx="0">
            <a:schemeClr val="accent1"/>
          </a:fillRef>
          <a:effectRef idx="1">
            <a:schemeClr val="accent1"/>
          </a:effectRef>
          <a:fontRef idx="minor">
            <a:schemeClr val="tx1"/>
          </a:fontRef>
        </p:style>
      </p:cxnSp>
      <p:sp>
        <p:nvSpPr>
          <p:cNvPr id="87" name="Rectangle 86">
            <a:extLst>
              <a:ext uri="{FF2B5EF4-FFF2-40B4-BE49-F238E27FC236}">
                <a16:creationId xmlns:a16="http://schemas.microsoft.com/office/drawing/2014/main" id="{BA218128-D353-B007-1B9E-9CC4F4C7DA73}"/>
              </a:ext>
            </a:extLst>
          </p:cNvPr>
          <p:cNvSpPr/>
          <p:nvPr/>
        </p:nvSpPr>
        <p:spPr>
          <a:xfrm>
            <a:off x="5989320" y="5877414"/>
            <a:ext cx="3538728" cy="566928"/>
          </a:xfrm>
          <a:prstGeom prst="rect">
            <a:avLst/>
          </a:prstGeom>
          <a:solidFill>
            <a:srgbClr val="FFFFFF"/>
          </a:solidFill>
          <a:ln w="15875">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8" name="Rectangle 87">
            <a:extLst>
              <a:ext uri="{FF2B5EF4-FFF2-40B4-BE49-F238E27FC236}">
                <a16:creationId xmlns:a16="http://schemas.microsoft.com/office/drawing/2014/main" id="{D31DED20-2693-1ECE-3338-7CEF9571C52B}"/>
              </a:ext>
            </a:extLst>
          </p:cNvPr>
          <p:cNvSpPr/>
          <p:nvPr/>
        </p:nvSpPr>
        <p:spPr>
          <a:xfrm>
            <a:off x="5989320" y="5877414"/>
            <a:ext cx="73152" cy="56692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9" name="Rectangle 88">
            <a:extLst>
              <a:ext uri="{FF2B5EF4-FFF2-40B4-BE49-F238E27FC236}">
                <a16:creationId xmlns:a16="http://schemas.microsoft.com/office/drawing/2014/main" id="{D03442D7-B1E7-5F7B-CB6D-531AF520BA8B}"/>
              </a:ext>
            </a:extLst>
          </p:cNvPr>
          <p:cNvSpPr/>
          <p:nvPr/>
        </p:nvSpPr>
        <p:spPr>
          <a:xfrm>
            <a:off x="6108192" y="5895702"/>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1F2A5C"/>
                </a:solidFill>
                <a:latin typeface="メイリオ" panose="020B0604030504040204" pitchFamily="50" charset="-128"/>
                <a:ea typeface="メイリオ" panose="020B0604030504040204" pitchFamily="50" charset="-128"/>
                <a:cs typeface="メイリオ"/>
              </a:rPr>
              <a:t>7　リッチメニュー</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トーク下部に常時表示。1タップで行動</a:t>
            </a:r>
          </a:p>
          <a:p>
            <a:pPr algn="l">
              <a:spcAft>
                <a:spcPts val="0"/>
              </a:spcAft>
            </a:pPr>
            <a:r>
              <a:rPr sz="700" b="1">
                <a:solidFill>
                  <a:srgbClr val="1F2A5C"/>
                </a:solidFill>
                <a:latin typeface="メイリオ" panose="020B0604030504040204" pitchFamily="50" charset="-128"/>
                <a:ea typeface="メイリオ" panose="020B0604030504040204" pitchFamily="50" charset="-128"/>
                <a:cs typeface="メイリオ"/>
              </a:rPr>
              <a:t>初期標準設定｜標準機能</a:t>
            </a:r>
          </a:p>
        </p:txBody>
      </p:sp>
      <p:sp>
        <p:nvSpPr>
          <p:cNvPr id="90" name="Rectangle 89">
            <a:extLst>
              <a:ext uri="{FF2B5EF4-FFF2-40B4-BE49-F238E27FC236}">
                <a16:creationId xmlns:a16="http://schemas.microsoft.com/office/drawing/2014/main" id="{6504280E-50E9-27C6-B905-70CBC084EA6F}"/>
              </a:ext>
            </a:extLst>
          </p:cNvPr>
          <p:cNvSpPr/>
          <p:nvPr/>
        </p:nvSpPr>
        <p:spPr>
          <a:xfrm>
            <a:off x="384048" y="6822294"/>
            <a:ext cx="91440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600" b="0">
                <a:solidFill>
                  <a:srgbClr val="777777"/>
                </a:solidFill>
                <a:latin typeface="メイリオ" panose="020B0604030504040204" pitchFamily="50" charset="-128"/>
                <a:ea typeface="メイリオ" panose="020B0604030504040204" pitchFamily="50" charset="-128"/>
                <a:cs typeface="メイリオ"/>
              </a:rPr>
              <a:t>※ステップ配信・タグ・出し分けはAPI（拡張）ツールで実現するのが一般的。画面は動作イメージ（文言はサンプル）</a:t>
            </a:r>
          </a:p>
        </p:txBody>
      </p:sp>
      <p:sp>
        <p:nvSpPr>
          <p:cNvPr id="91" name="Rectangle 37">
            <a:extLst>
              <a:ext uri="{FF2B5EF4-FFF2-40B4-BE49-F238E27FC236}">
                <a16:creationId xmlns:a16="http://schemas.microsoft.com/office/drawing/2014/main" id="{815B0ED0-A740-600B-6C02-0EA2C830954C}"/>
              </a:ext>
            </a:extLst>
          </p:cNvPr>
          <p:cNvSpPr/>
          <p:nvPr/>
        </p:nvSpPr>
        <p:spPr>
          <a:xfrm>
            <a:off x="3504539" y="2556296"/>
            <a:ext cx="1493235" cy="233581"/>
          </a:xfrm>
          <a:prstGeom prst="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900" b="1">
                <a:solidFill>
                  <a:srgbClr val="FFFFFF"/>
                </a:solidFill>
                <a:latin typeface="メイリオ" panose="020B0604030504040204" pitchFamily="50" charset="-128"/>
                <a:ea typeface="メイリオ" panose="020B0604030504040204" pitchFamily="50" charset="-128"/>
                <a:cs typeface="メイリオ"/>
              </a:rPr>
              <a:t>公式アカウント</a:t>
            </a:r>
          </a:p>
        </p:txBody>
      </p:sp>
      <p:sp>
        <p:nvSpPr>
          <p:cNvPr id="92" name="Oval 59">
            <a:extLst>
              <a:ext uri="{FF2B5EF4-FFF2-40B4-BE49-F238E27FC236}">
                <a16:creationId xmlns:a16="http://schemas.microsoft.com/office/drawing/2014/main" id="{AE3F0BB7-CAA2-7DC4-5444-A62887C4147B}"/>
              </a:ext>
            </a:extLst>
          </p:cNvPr>
          <p:cNvSpPr/>
          <p:nvPr/>
        </p:nvSpPr>
        <p:spPr>
          <a:xfrm>
            <a:off x="3063240" y="2634342"/>
            <a:ext cx="274320" cy="274320"/>
          </a:xfrm>
          <a:prstGeom prst="ellipse">
            <a:avLst/>
          </a:prstGeom>
          <a:solidFill>
            <a:srgbClr val="1F2A5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2</a:t>
            </a:r>
          </a:p>
        </p:txBody>
      </p:sp>
      <p:sp>
        <p:nvSpPr>
          <p:cNvPr id="93" name="Oval 39">
            <a:extLst>
              <a:ext uri="{FF2B5EF4-FFF2-40B4-BE49-F238E27FC236}">
                <a16:creationId xmlns:a16="http://schemas.microsoft.com/office/drawing/2014/main" id="{BD5572D2-C987-F20B-3DAE-F41EEAF2F9EC}"/>
              </a:ext>
            </a:extLst>
          </p:cNvPr>
          <p:cNvSpPr/>
          <p:nvPr/>
        </p:nvSpPr>
        <p:spPr>
          <a:xfrm>
            <a:off x="3310128" y="2771502"/>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2785488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77116C-C503-AD0E-1DC9-89A610BC5463}"/>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3CAF7A2C-02DA-8C56-48F2-6F9C35F802AB}"/>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7E688361-05C3-950A-7ADB-027296FECB97}"/>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0798B0F8-1488-15A2-554D-D8BA88CE6CBC}"/>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施策一覧</a:t>
            </a:r>
            <a:endParaRPr lang="ja-JP" altLang="en-US" sz="1100" dirty="0"/>
          </a:p>
        </p:txBody>
      </p:sp>
      <p:sp>
        <p:nvSpPr>
          <p:cNvPr id="7" name="テキスト ボックス 6">
            <a:extLst>
              <a:ext uri="{FF2B5EF4-FFF2-40B4-BE49-F238E27FC236}">
                <a16:creationId xmlns:a16="http://schemas.microsoft.com/office/drawing/2014/main" id="{C3DDC107-5B3F-A510-D857-9EB2AC13C8E6}"/>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機能ごとの区分と、各施策への有効度</a:t>
            </a:r>
            <a:endParaRPr lang="ja-JP" altLang="en-US" sz="1000" dirty="0"/>
          </a:p>
        </p:txBody>
      </p:sp>
      <p:sp>
        <p:nvSpPr>
          <p:cNvPr id="9" name="テキスト ボックス 8">
            <a:extLst>
              <a:ext uri="{FF2B5EF4-FFF2-40B4-BE49-F238E27FC236}">
                <a16:creationId xmlns:a16="http://schemas.microsoft.com/office/drawing/2014/main" id="{E73117CB-A562-540A-5859-170849730990}"/>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90" name="Rectangle 89">
            <a:extLst>
              <a:ext uri="{FF2B5EF4-FFF2-40B4-BE49-F238E27FC236}">
                <a16:creationId xmlns:a16="http://schemas.microsoft.com/office/drawing/2014/main" id="{D3CD1414-1712-221C-F683-DBEB34A5718E}"/>
              </a:ext>
            </a:extLst>
          </p:cNvPr>
          <p:cNvSpPr/>
          <p:nvPr/>
        </p:nvSpPr>
        <p:spPr>
          <a:xfrm>
            <a:off x="384048" y="6308486"/>
            <a:ext cx="91440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600" b="0" dirty="0">
                <a:solidFill>
                  <a:srgbClr val="777777"/>
                </a:solidFill>
                <a:latin typeface="メイリオ" panose="020B0604030504040204" pitchFamily="50" charset="-128"/>
                <a:ea typeface="メイリオ" panose="020B0604030504040204" pitchFamily="50" charset="-128"/>
                <a:cs typeface="メイリオ"/>
              </a:rPr>
              <a:t>※</a:t>
            </a:r>
            <a:r>
              <a:rPr sz="600" b="0" dirty="0" err="1">
                <a:solidFill>
                  <a:srgbClr val="777777"/>
                </a:solidFill>
                <a:latin typeface="メイリオ" panose="020B0604030504040204" pitchFamily="50" charset="-128"/>
                <a:ea typeface="メイリオ" panose="020B0604030504040204" pitchFamily="50" charset="-128"/>
                <a:cs typeface="メイリオ"/>
              </a:rPr>
              <a:t>ステップ配信・タグ・出し分けはAPI（拡張）ツールで実現するのが一般的。画面は動作イメージ（文言はサンプル</a:t>
            </a:r>
            <a:r>
              <a:rPr sz="600" b="0" dirty="0">
                <a:solidFill>
                  <a:srgbClr val="777777"/>
                </a:solidFill>
                <a:latin typeface="メイリオ" panose="020B0604030504040204" pitchFamily="50" charset="-128"/>
                <a:ea typeface="メイリオ" panose="020B0604030504040204" pitchFamily="50" charset="-128"/>
                <a:cs typeface="メイリオ"/>
              </a:rPr>
              <a:t>）</a:t>
            </a:r>
          </a:p>
        </p:txBody>
      </p:sp>
      <p:sp>
        <p:nvSpPr>
          <p:cNvPr id="95" name="Rectangle 3">
            <a:extLst>
              <a:ext uri="{FF2B5EF4-FFF2-40B4-BE49-F238E27FC236}">
                <a16:creationId xmlns:a16="http://schemas.microsoft.com/office/drawing/2014/main" id="{49EA327F-E96A-0E42-51BE-B55AF4253D76}"/>
              </a:ext>
            </a:extLst>
          </p:cNvPr>
          <p:cNvSpPr/>
          <p:nvPr/>
        </p:nvSpPr>
        <p:spPr>
          <a:xfrm>
            <a:off x="384048" y="1772236"/>
            <a:ext cx="2167128"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機能</a:t>
            </a:r>
          </a:p>
        </p:txBody>
      </p:sp>
      <p:sp>
        <p:nvSpPr>
          <p:cNvPr id="97" name="Rectangle 4">
            <a:extLst>
              <a:ext uri="{FF2B5EF4-FFF2-40B4-BE49-F238E27FC236}">
                <a16:creationId xmlns:a16="http://schemas.microsoft.com/office/drawing/2014/main" id="{A8E732CD-14AC-5A08-4E7F-82ED6AF4AA6B}"/>
              </a:ext>
            </a:extLst>
          </p:cNvPr>
          <p:cNvSpPr/>
          <p:nvPr/>
        </p:nvSpPr>
        <p:spPr>
          <a:xfrm>
            <a:off x="2578608" y="1772236"/>
            <a:ext cx="1161288"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区分</a:t>
            </a:r>
          </a:p>
        </p:txBody>
      </p:sp>
      <p:sp>
        <p:nvSpPr>
          <p:cNvPr id="99" name="Rectangle 5">
            <a:extLst>
              <a:ext uri="{FF2B5EF4-FFF2-40B4-BE49-F238E27FC236}">
                <a16:creationId xmlns:a16="http://schemas.microsoft.com/office/drawing/2014/main" id="{D2E91A74-DE49-482E-7EBE-AD0D0EE66A34}"/>
              </a:ext>
            </a:extLst>
          </p:cNvPr>
          <p:cNvSpPr/>
          <p:nvPr/>
        </p:nvSpPr>
        <p:spPr>
          <a:xfrm>
            <a:off x="3767328"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1 露出強化</a:t>
            </a:r>
          </a:p>
        </p:txBody>
      </p:sp>
      <p:sp>
        <p:nvSpPr>
          <p:cNvPr id="101" name="Rectangle 6">
            <a:extLst>
              <a:ext uri="{FF2B5EF4-FFF2-40B4-BE49-F238E27FC236}">
                <a16:creationId xmlns:a16="http://schemas.microsoft.com/office/drawing/2014/main" id="{C4777D6E-7DF6-A05E-5153-229B34E8BA1D}"/>
              </a:ext>
            </a:extLst>
          </p:cNvPr>
          <p:cNvSpPr/>
          <p:nvPr/>
        </p:nvSpPr>
        <p:spPr>
          <a:xfrm>
            <a:off x="4919472"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2 CV</a:t>
            </a:r>
          </a:p>
        </p:txBody>
      </p:sp>
      <p:sp>
        <p:nvSpPr>
          <p:cNvPr id="103" name="Rectangle 7">
            <a:extLst>
              <a:ext uri="{FF2B5EF4-FFF2-40B4-BE49-F238E27FC236}">
                <a16:creationId xmlns:a16="http://schemas.microsoft.com/office/drawing/2014/main" id="{7EC19AA3-119E-E5FD-C316-5A3BEA9CE35A}"/>
              </a:ext>
            </a:extLst>
          </p:cNvPr>
          <p:cNvSpPr/>
          <p:nvPr/>
        </p:nvSpPr>
        <p:spPr>
          <a:xfrm>
            <a:off x="6071616"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3 LTV・質</a:t>
            </a:r>
          </a:p>
        </p:txBody>
      </p:sp>
      <p:sp>
        <p:nvSpPr>
          <p:cNvPr id="105" name="Rectangle 8">
            <a:extLst>
              <a:ext uri="{FF2B5EF4-FFF2-40B4-BE49-F238E27FC236}">
                <a16:creationId xmlns:a16="http://schemas.microsoft.com/office/drawing/2014/main" id="{54AC6625-CD1A-C326-598A-628F361B05A1}"/>
              </a:ext>
            </a:extLst>
          </p:cNvPr>
          <p:cNvSpPr/>
          <p:nvPr/>
        </p:nvSpPr>
        <p:spPr>
          <a:xfrm>
            <a:off x="7223760"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4 リピート</a:t>
            </a:r>
          </a:p>
        </p:txBody>
      </p:sp>
      <p:sp>
        <p:nvSpPr>
          <p:cNvPr id="107" name="Rectangle 9">
            <a:extLst>
              <a:ext uri="{FF2B5EF4-FFF2-40B4-BE49-F238E27FC236}">
                <a16:creationId xmlns:a16="http://schemas.microsoft.com/office/drawing/2014/main" id="{5E88DC84-02C4-EEA1-3E9D-0DFFE020630D}"/>
              </a:ext>
            </a:extLst>
          </p:cNvPr>
          <p:cNvSpPr/>
          <p:nvPr/>
        </p:nvSpPr>
        <p:spPr>
          <a:xfrm>
            <a:off x="8375904"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5 コミュニティ</a:t>
            </a:r>
          </a:p>
        </p:txBody>
      </p:sp>
      <p:sp>
        <p:nvSpPr>
          <p:cNvPr id="109" name="Rectangle 10">
            <a:extLst>
              <a:ext uri="{FF2B5EF4-FFF2-40B4-BE49-F238E27FC236}">
                <a16:creationId xmlns:a16="http://schemas.microsoft.com/office/drawing/2014/main" id="{F8AF94DD-6BD0-815B-7F96-916DA7A75686}"/>
              </a:ext>
            </a:extLst>
          </p:cNvPr>
          <p:cNvSpPr/>
          <p:nvPr/>
        </p:nvSpPr>
        <p:spPr>
          <a:xfrm>
            <a:off x="384048" y="2148229"/>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① ポップアップ</a:t>
            </a:r>
          </a:p>
        </p:txBody>
      </p:sp>
      <p:sp>
        <p:nvSpPr>
          <p:cNvPr id="111" name="Rectangle 11">
            <a:extLst>
              <a:ext uri="{FF2B5EF4-FFF2-40B4-BE49-F238E27FC236}">
                <a16:creationId xmlns:a16="http://schemas.microsoft.com/office/drawing/2014/main" id="{EAC07884-840F-9E39-DF22-1A68ACDBB41F}"/>
              </a:ext>
            </a:extLst>
          </p:cNvPr>
          <p:cNvSpPr/>
          <p:nvPr/>
        </p:nvSpPr>
        <p:spPr>
          <a:xfrm>
            <a:off x="2578608" y="2148229"/>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入口</a:t>
            </a:r>
          </a:p>
        </p:txBody>
      </p:sp>
      <p:sp>
        <p:nvSpPr>
          <p:cNvPr id="113" name="Rectangle 12">
            <a:extLst>
              <a:ext uri="{FF2B5EF4-FFF2-40B4-BE49-F238E27FC236}">
                <a16:creationId xmlns:a16="http://schemas.microsoft.com/office/drawing/2014/main" id="{311D7915-7E63-7CCC-0695-EFC6BA2C3ADA}"/>
              </a:ext>
            </a:extLst>
          </p:cNvPr>
          <p:cNvSpPr/>
          <p:nvPr/>
        </p:nvSpPr>
        <p:spPr>
          <a:xfrm>
            <a:off x="3767328" y="2148229"/>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15" name="Rectangle 13">
            <a:extLst>
              <a:ext uri="{FF2B5EF4-FFF2-40B4-BE49-F238E27FC236}">
                <a16:creationId xmlns:a16="http://schemas.microsoft.com/office/drawing/2014/main" id="{60BE805D-C095-F8E7-7A94-0B18AEB6F84C}"/>
              </a:ext>
            </a:extLst>
          </p:cNvPr>
          <p:cNvSpPr/>
          <p:nvPr/>
        </p:nvSpPr>
        <p:spPr>
          <a:xfrm>
            <a:off x="4919472" y="2148229"/>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17" name="Rectangle 14">
            <a:extLst>
              <a:ext uri="{FF2B5EF4-FFF2-40B4-BE49-F238E27FC236}">
                <a16:creationId xmlns:a16="http://schemas.microsoft.com/office/drawing/2014/main" id="{39625F34-980E-D2C8-E6DD-8B8B44D77878}"/>
              </a:ext>
            </a:extLst>
          </p:cNvPr>
          <p:cNvSpPr/>
          <p:nvPr/>
        </p:nvSpPr>
        <p:spPr>
          <a:xfrm>
            <a:off x="6071616" y="2148229"/>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19" name="Rectangle 15">
            <a:extLst>
              <a:ext uri="{FF2B5EF4-FFF2-40B4-BE49-F238E27FC236}">
                <a16:creationId xmlns:a16="http://schemas.microsoft.com/office/drawing/2014/main" id="{24EDAC7A-83AC-8541-1B88-A1D93D0649D0}"/>
              </a:ext>
            </a:extLst>
          </p:cNvPr>
          <p:cNvSpPr/>
          <p:nvPr/>
        </p:nvSpPr>
        <p:spPr>
          <a:xfrm>
            <a:off x="7223760" y="2148229"/>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21" name="Rectangle 16">
            <a:extLst>
              <a:ext uri="{FF2B5EF4-FFF2-40B4-BE49-F238E27FC236}">
                <a16:creationId xmlns:a16="http://schemas.microsoft.com/office/drawing/2014/main" id="{4DC3437B-9697-00DC-A150-0F58E0E7685B}"/>
              </a:ext>
            </a:extLst>
          </p:cNvPr>
          <p:cNvSpPr/>
          <p:nvPr/>
        </p:nvSpPr>
        <p:spPr>
          <a:xfrm>
            <a:off x="8375904" y="2148229"/>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23" name="Rectangle 17">
            <a:extLst>
              <a:ext uri="{FF2B5EF4-FFF2-40B4-BE49-F238E27FC236}">
                <a16:creationId xmlns:a16="http://schemas.microsoft.com/office/drawing/2014/main" id="{A38047BC-377A-0AF5-F712-50F5C69AF30C}"/>
              </a:ext>
            </a:extLst>
          </p:cNvPr>
          <p:cNvSpPr/>
          <p:nvPr/>
        </p:nvSpPr>
        <p:spPr>
          <a:xfrm>
            <a:off x="384048" y="2643310"/>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② 挨拶メッセージ</a:t>
            </a:r>
          </a:p>
        </p:txBody>
      </p:sp>
      <p:sp>
        <p:nvSpPr>
          <p:cNvPr id="125" name="Rectangle 18">
            <a:extLst>
              <a:ext uri="{FF2B5EF4-FFF2-40B4-BE49-F238E27FC236}">
                <a16:creationId xmlns:a16="http://schemas.microsoft.com/office/drawing/2014/main" id="{A9F3AEF1-F5C3-F86D-A4DE-DC40884A3A77}"/>
              </a:ext>
            </a:extLst>
          </p:cNvPr>
          <p:cNvSpPr/>
          <p:nvPr/>
        </p:nvSpPr>
        <p:spPr>
          <a:xfrm>
            <a:off x="2578608" y="2643310"/>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1F2A5C"/>
                </a:solidFill>
                <a:latin typeface="メイリオ"/>
                <a:ea typeface="メイリオ"/>
                <a:cs typeface="メイリオ"/>
              </a:rPr>
              <a:t>初期標準</a:t>
            </a:r>
          </a:p>
        </p:txBody>
      </p:sp>
      <p:sp>
        <p:nvSpPr>
          <p:cNvPr id="127" name="Rectangle 19">
            <a:extLst>
              <a:ext uri="{FF2B5EF4-FFF2-40B4-BE49-F238E27FC236}">
                <a16:creationId xmlns:a16="http://schemas.microsoft.com/office/drawing/2014/main" id="{1A5FF7DD-0DFB-757E-EED7-59CFFD8427A5}"/>
              </a:ext>
            </a:extLst>
          </p:cNvPr>
          <p:cNvSpPr/>
          <p:nvPr/>
        </p:nvSpPr>
        <p:spPr>
          <a:xfrm>
            <a:off x="3767328" y="2643310"/>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29" name="Rectangle 20">
            <a:extLst>
              <a:ext uri="{FF2B5EF4-FFF2-40B4-BE49-F238E27FC236}">
                <a16:creationId xmlns:a16="http://schemas.microsoft.com/office/drawing/2014/main" id="{74E363AF-90CC-FE97-A178-1488F203CCC6}"/>
              </a:ext>
            </a:extLst>
          </p:cNvPr>
          <p:cNvSpPr/>
          <p:nvPr/>
        </p:nvSpPr>
        <p:spPr>
          <a:xfrm>
            <a:off x="4919472" y="2643310"/>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31" name="Rectangle 21">
            <a:extLst>
              <a:ext uri="{FF2B5EF4-FFF2-40B4-BE49-F238E27FC236}">
                <a16:creationId xmlns:a16="http://schemas.microsoft.com/office/drawing/2014/main" id="{6AC96041-BB43-D3DA-9D34-9C915166E941}"/>
              </a:ext>
            </a:extLst>
          </p:cNvPr>
          <p:cNvSpPr/>
          <p:nvPr/>
        </p:nvSpPr>
        <p:spPr>
          <a:xfrm>
            <a:off x="6071616" y="2643310"/>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33" name="Rectangle 22">
            <a:extLst>
              <a:ext uri="{FF2B5EF4-FFF2-40B4-BE49-F238E27FC236}">
                <a16:creationId xmlns:a16="http://schemas.microsoft.com/office/drawing/2014/main" id="{06964474-BEB7-B1A3-7CC2-7091782D3005}"/>
              </a:ext>
            </a:extLst>
          </p:cNvPr>
          <p:cNvSpPr/>
          <p:nvPr/>
        </p:nvSpPr>
        <p:spPr>
          <a:xfrm>
            <a:off x="7223760" y="2643310"/>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35" name="Rectangle 23">
            <a:extLst>
              <a:ext uri="{FF2B5EF4-FFF2-40B4-BE49-F238E27FC236}">
                <a16:creationId xmlns:a16="http://schemas.microsoft.com/office/drawing/2014/main" id="{8D23914E-C971-EE96-4111-076CA6C88E76}"/>
              </a:ext>
            </a:extLst>
          </p:cNvPr>
          <p:cNvSpPr/>
          <p:nvPr/>
        </p:nvSpPr>
        <p:spPr>
          <a:xfrm>
            <a:off x="8375904" y="2643310"/>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37" name="Rectangle 24">
            <a:extLst>
              <a:ext uri="{FF2B5EF4-FFF2-40B4-BE49-F238E27FC236}">
                <a16:creationId xmlns:a16="http://schemas.microsoft.com/office/drawing/2014/main" id="{9A69F835-F2FD-D659-DCE3-F67F1A44358D}"/>
              </a:ext>
            </a:extLst>
          </p:cNvPr>
          <p:cNvSpPr/>
          <p:nvPr/>
        </p:nvSpPr>
        <p:spPr>
          <a:xfrm>
            <a:off x="384048" y="3138391"/>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③ アンケート</a:t>
            </a:r>
          </a:p>
        </p:txBody>
      </p:sp>
      <p:sp>
        <p:nvSpPr>
          <p:cNvPr id="139" name="Rectangle 25">
            <a:extLst>
              <a:ext uri="{FF2B5EF4-FFF2-40B4-BE49-F238E27FC236}">
                <a16:creationId xmlns:a16="http://schemas.microsoft.com/office/drawing/2014/main" id="{73D5E841-C5F6-49BC-FC6C-246893B9A073}"/>
              </a:ext>
            </a:extLst>
          </p:cNvPr>
          <p:cNvSpPr/>
          <p:nvPr/>
        </p:nvSpPr>
        <p:spPr>
          <a:xfrm>
            <a:off x="2578608" y="3138391"/>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運用</a:t>
            </a:r>
          </a:p>
        </p:txBody>
      </p:sp>
      <p:sp>
        <p:nvSpPr>
          <p:cNvPr id="141" name="Rectangle 26">
            <a:extLst>
              <a:ext uri="{FF2B5EF4-FFF2-40B4-BE49-F238E27FC236}">
                <a16:creationId xmlns:a16="http://schemas.microsoft.com/office/drawing/2014/main" id="{6E33CD1B-69FA-AAA6-AC07-587E543F496B}"/>
              </a:ext>
            </a:extLst>
          </p:cNvPr>
          <p:cNvSpPr/>
          <p:nvPr/>
        </p:nvSpPr>
        <p:spPr>
          <a:xfrm>
            <a:off x="3767328" y="3138391"/>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43" name="Rectangle 27">
            <a:extLst>
              <a:ext uri="{FF2B5EF4-FFF2-40B4-BE49-F238E27FC236}">
                <a16:creationId xmlns:a16="http://schemas.microsoft.com/office/drawing/2014/main" id="{B1237B51-61FD-415A-B88D-9D4093177C7E}"/>
              </a:ext>
            </a:extLst>
          </p:cNvPr>
          <p:cNvSpPr/>
          <p:nvPr/>
        </p:nvSpPr>
        <p:spPr>
          <a:xfrm>
            <a:off x="4919472" y="3138391"/>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45" name="Rectangle 28">
            <a:extLst>
              <a:ext uri="{FF2B5EF4-FFF2-40B4-BE49-F238E27FC236}">
                <a16:creationId xmlns:a16="http://schemas.microsoft.com/office/drawing/2014/main" id="{698EED6C-FFE7-DAA0-F5E4-938EB0082F32}"/>
              </a:ext>
            </a:extLst>
          </p:cNvPr>
          <p:cNvSpPr/>
          <p:nvPr/>
        </p:nvSpPr>
        <p:spPr>
          <a:xfrm>
            <a:off x="6071616" y="3138391"/>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47" name="Rectangle 29">
            <a:extLst>
              <a:ext uri="{FF2B5EF4-FFF2-40B4-BE49-F238E27FC236}">
                <a16:creationId xmlns:a16="http://schemas.microsoft.com/office/drawing/2014/main" id="{39F28ADA-54CB-21A9-D4E0-5A9FC11D5B5E}"/>
              </a:ext>
            </a:extLst>
          </p:cNvPr>
          <p:cNvSpPr/>
          <p:nvPr/>
        </p:nvSpPr>
        <p:spPr>
          <a:xfrm>
            <a:off x="7223760" y="3138391"/>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49" name="Rectangle 30">
            <a:extLst>
              <a:ext uri="{FF2B5EF4-FFF2-40B4-BE49-F238E27FC236}">
                <a16:creationId xmlns:a16="http://schemas.microsoft.com/office/drawing/2014/main" id="{05051530-F83D-00C2-4F87-FEB4B1CF2797}"/>
              </a:ext>
            </a:extLst>
          </p:cNvPr>
          <p:cNvSpPr/>
          <p:nvPr/>
        </p:nvSpPr>
        <p:spPr>
          <a:xfrm>
            <a:off x="8375904" y="3138391"/>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51" name="Rectangle 31">
            <a:extLst>
              <a:ext uri="{FF2B5EF4-FFF2-40B4-BE49-F238E27FC236}">
                <a16:creationId xmlns:a16="http://schemas.microsoft.com/office/drawing/2014/main" id="{61A04942-3698-E590-BEA7-6EF906A190B1}"/>
              </a:ext>
            </a:extLst>
          </p:cNvPr>
          <p:cNvSpPr/>
          <p:nvPr/>
        </p:nvSpPr>
        <p:spPr>
          <a:xfrm>
            <a:off x="384048" y="3633472"/>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④ タグ・セグメント</a:t>
            </a:r>
          </a:p>
        </p:txBody>
      </p:sp>
      <p:sp>
        <p:nvSpPr>
          <p:cNvPr id="153" name="Rectangle 32">
            <a:extLst>
              <a:ext uri="{FF2B5EF4-FFF2-40B4-BE49-F238E27FC236}">
                <a16:creationId xmlns:a16="http://schemas.microsoft.com/office/drawing/2014/main" id="{1E39E853-C262-3BCD-C77F-9B94DE1F207C}"/>
              </a:ext>
            </a:extLst>
          </p:cNvPr>
          <p:cNvSpPr/>
          <p:nvPr/>
        </p:nvSpPr>
        <p:spPr>
          <a:xfrm>
            <a:off x="2578608" y="3633472"/>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運用</a:t>
            </a:r>
          </a:p>
        </p:txBody>
      </p:sp>
      <p:sp>
        <p:nvSpPr>
          <p:cNvPr id="155" name="Rectangle 33">
            <a:extLst>
              <a:ext uri="{FF2B5EF4-FFF2-40B4-BE49-F238E27FC236}">
                <a16:creationId xmlns:a16="http://schemas.microsoft.com/office/drawing/2014/main" id="{7DDE9A5B-F57A-CB76-B304-0E68CA66FC16}"/>
              </a:ext>
            </a:extLst>
          </p:cNvPr>
          <p:cNvSpPr/>
          <p:nvPr/>
        </p:nvSpPr>
        <p:spPr>
          <a:xfrm>
            <a:off x="3767328" y="363347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57" name="Rectangle 34">
            <a:extLst>
              <a:ext uri="{FF2B5EF4-FFF2-40B4-BE49-F238E27FC236}">
                <a16:creationId xmlns:a16="http://schemas.microsoft.com/office/drawing/2014/main" id="{3A07BE12-AC72-F155-28A9-47640CE9BCD1}"/>
              </a:ext>
            </a:extLst>
          </p:cNvPr>
          <p:cNvSpPr/>
          <p:nvPr/>
        </p:nvSpPr>
        <p:spPr>
          <a:xfrm>
            <a:off x="4919472" y="363347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59" name="Rectangle 35">
            <a:extLst>
              <a:ext uri="{FF2B5EF4-FFF2-40B4-BE49-F238E27FC236}">
                <a16:creationId xmlns:a16="http://schemas.microsoft.com/office/drawing/2014/main" id="{027726E8-B7E9-98DB-B7EA-DD4F11AB37AF}"/>
              </a:ext>
            </a:extLst>
          </p:cNvPr>
          <p:cNvSpPr/>
          <p:nvPr/>
        </p:nvSpPr>
        <p:spPr>
          <a:xfrm>
            <a:off x="6071616" y="3633472"/>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61" name="Rectangle 36">
            <a:extLst>
              <a:ext uri="{FF2B5EF4-FFF2-40B4-BE49-F238E27FC236}">
                <a16:creationId xmlns:a16="http://schemas.microsoft.com/office/drawing/2014/main" id="{BD93EC24-9E89-5DFD-1A06-5A3F18ADE95C}"/>
              </a:ext>
            </a:extLst>
          </p:cNvPr>
          <p:cNvSpPr/>
          <p:nvPr/>
        </p:nvSpPr>
        <p:spPr>
          <a:xfrm>
            <a:off x="7223760" y="3633472"/>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63" name="Rectangle 37">
            <a:extLst>
              <a:ext uri="{FF2B5EF4-FFF2-40B4-BE49-F238E27FC236}">
                <a16:creationId xmlns:a16="http://schemas.microsoft.com/office/drawing/2014/main" id="{CC63009F-72DA-DCD6-5469-085A390B1CFE}"/>
              </a:ext>
            </a:extLst>
          </p:cNvPr>
          <p:cNvSpPr/>
          <p:nvPr/>
        </p:nvSpPr>
        <p:spPr>
          <a:xfrm>
            <a:off x="8375904" y="363347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65" name="Rectangle 38">
            <a:extLst>
              <a:ext uri="{FF2B5EF4-FFF2-40B4-BE49-F238E27FC236}">
                <a16:creationId xmlns:a16="http://schemas.microsoft.com/office/drawing/2014/main" id="{7B60F0BC-54A4-8C7F-5CFA-B0D158A96A5B}"/>
              </a:ext>
            </a:extLst>
          </p:cNvPr>
          <p:cNvSpPr/>
          <p:nvPr/>
        </p:nvSpPr>
        <p:spPr>
          <a:xfrm>
            <a:off x="384048" y="4128552"/>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⑤ ステップ配信</a:t>
            </a:r>
          </a:p>
        </p:txBody>
      </p:sp>
      <p:sp>
        <p:nvSpPr>
          <p:cNvPr id="167" name="Rectangle 39">
            <a:extLst>
              <a:ext uri="{FF2B5EF4-FFF2-40B4-BE49-F238E27FC236}">
                <a16:creationId xmlns:a16="http://schemas.microsoft.com/office/drawing/2014/main" id="{806AF363-F59B-F87D-1131-F239AB9F2E26}"/>
              </a:ext>
            </a:extLst>
          </p:cNvPr>
          <p:cNvSpPr/>
          <p:nvPr/>
        </p:nvSpPr>
        <p:spPr>
          <a:xfrm>
            <a:off x="2578608" y="4128552"/>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運用</a:t>
            </a:r>
          </a:p>
        </p:txBody>
      </p:sp>
      <p:sp>
        <p:nvSpPr>
          <p:cNvPr id="169" name="Rectangle 40">
            <a:extLst>
              <a:ext uri="{FF2B5EF4-FFF2-40B4-BE49-F238E27FC236}">
                <a16:creationId xmlns:a16="http://schemas.microsoft.com/office/drawing/2014/main" id="{75CC7116-0D68-AEE0-F3AA-5738E7C9F663}"/>
              </a:ext>
            </a:extLst>
          </p:cNvPr>
          <p:cNvSpPr/>
          <p:nvPr/>
        </p:nvSpPr>
        <p:spPr>
          <a:xfrm>
            <a:off x="3767328" y="412855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71" name="Rectangle 41">
            <a:extLst>
              <a:ext uri="{FF2B5EF4-FFF2-40B4-BE49-F238E27FC236}">
                <a16:creationId xmlns:a16="http://schemas.microsoft.com/office/drawing/2014/main" id="{0331AD44-DDB1-9676-B388-6C92C21A0A0D}"/>
              </a:ext>
            </a:extLst>
          </p:cNvPr>
          <p:cNvSpPr/>
          <p:nvPr/>
        </p:nvSpPr>
        <p:spPr>
          <a:xfrm>
            <a:off x="4919472" y="4128552"/>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73" name="Rectangle 42">
            <a:extLst>
              <a:ext uri="{FF2B5EF4-FFF2-40B4-BE49-F238E27FC236}">
                <a16:creationId xmlns:a16="http://schemas.microsoft.com/office/drawing/2014/main" id="{E8FFC0A2-2357-92B7-1C19-EEA69C76294B}"/>
              </a:ext>
            </a:extLst>
          </p:cNvPr>
          <p:cNvSpPr/>
          <p:nvPr/>
        </p:nvSpPr>
        <p:spPr>
          <a:xfrm>
            <a:off x="6071616" y="4128552"/>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75" name="Rectangle 43">
            <a:extLst>
              <a:ext uri="{FF2B5EF4-FFF2-40B4-BE49-F238E27FC236}">
                <a16:creationId xmlns:a16="http://schemas.microsoft.com/office/drawing/2014/main" id="{6B13204F-831A-41C7-355D-11C8A35D7F53}"/>
              </a:ext>
            </a:extLst>
          </p:cNvPr>
          <p:cNvSpPr/>
          <p:nvPr/>
        </p:nvSpPr>
        <p:spPr>
          <a:xfrm>
            <a:off x="7223760" y="412855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77" name="Rectangle 44">
            <a:extLst>
              <a:ext uri="{FF2B5EF4-FFF2-40B4-BE49-F238E27FC236}">
                <a16:creationId xmlns:a16="http://schemas.microsoft.com/office/drawing/2014/main" id="{97032AD7-3026-A0FE-32F3-DD27D7313366}"/>
              </a:ext>
            </a:extLst>
          </p:cNvPr>
          <p:cNvSpPr/>
          <p:nvPr/>
        </p:nvSpPr>
        <p:spPr>
          <a:xfrm>
            <a:off x="8375904" y="412855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79" name="Rectangle 45">
            <a:extLst>
              <a:ext uri="{FF2B5EF4-FFF2-40B4-BE49-F238E27FC236}">
                <a16:creationId xmlns:a16="http://schemas.microsoft.com/office/drawing/2014/main" id="{3ADF3E0A-9911-06FB-98B2-85AD95D9DC05}"/>
              </a:ext>
            </a:extLst>
          </p:cNvPr>
          <p:cNvSpPr/>
          <p:nvPr/>
        </p:nvSpPr>
        <p:spPr>
          <a:xfrm>
            <a:off x="384048" y="4623634"/>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⑥ 企画配信</a:t>
            </a:r>
          </a:p>
        </p:txBody>
      </p:sp>
      <p:sp>
        <p:nvSpPr>
          <p:cNvPr id="181" name="Rectangle 46">
            <a:extLst>
              <a:ext uri="{FF2B5EF4-FFF2-40B4-BE49-F238E27FC236}">
                <a16:creationId xmlns:a16="http://schemas.microsoft.com/office/drawing/2014/main" id="{81A43C7F-2A31-08D4-D136-672F79B135F4}"/>
              </a:ext>
            </a:extLst>
          </p:cNvPr>
          <p:cNvSpPr/>
          <p:nvPr/>
        </p:nvSpPr>
        <p:spPr>
          <a:xfrm>
            <a:off x="2578608" y="4623634"/>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運用</a:t>
            </a:r>
          </a:p>
        </p:txBody>
      </p:sp>
      <p:sp>
        <p:nvSpPr>
          <p:cNvPr id="183" name="Rectangle 47">
            <a:extLst>
              <a:ext uri="{FF2B5EF4-FFF2-40B4-BE49-F238E27FC236}">
                <a16:creationId xmlns:a16="http://schemas.microsoft.com/office/drawing/2014/main" id="{AC663C8A-1A44-5E0D-18DB-CDEBA22BD084}"/>
              </a:ext>
            </a:extLst>
          </p:cNvPr>
          <p:cNvSpPr/>
          <p:nvPr/>
        </p:nvSpPr>
        <p:spPr>
          <a:xfrm>
            <a:off x="3767328" y="4623634"/>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85" name="Rectangle 48">
            <a:extLst>
              <a:ext uri="{FF2B5EF4-FFF2-40B4-BE49-F238E27FC236}">
                <a16:creationId xmlns:a16="http://schemas.microsoft.com/office/drawing/2014/main" id="{593C58F8-7428-8726-B84F-B1A8BF819D76}"/>
              </a:ext>
            </a:extLst>
          </p:cNvPr>
          <p:cNvSpPr/>
          <p:nvPr/>
        </p:nvSpPr>
        <p:spPr>
          <a:xfrm>
            <a:off x="4919472" y="4623634"/>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87" name="Rectangle 49">
            <a:extLst>
              <a:ext uri="{FF2B5EF4-FFF2-40B4-BE49-F238E27FC236}">
                <a16:creationId xmlns:a16="http://schemas.microsoft.com/office/drawing/2014/main" id="{623B2847-331D-6B25-8DD7-9819D7D1BA82}"/>
              </a:ext>
            </a:extLst>
          </p:cNvPr>
          <p:cNvSpPr/>
          <p:nvPr/>
        </p:nvSpPr>
        <p:spPr>
          <a:xfrm>
            <a:off x="6071616" y="4623634"/>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89" name="Rectangle 50">
            <a:extLst>
              <a:ext uri="{FF2B5EF4-FFF2-40B4-BE49-F238E27FC236}">
                <a16:creationId xmlns:a16="http://schemas.microsoft.com/office/drawing/2014/main" id="{EA6E0F6C-83E1-4256-F51C-9E8CC7E87158}"/>
              </a:ext>
            </a:extLst>
          </p:cNvPr>
          <p:cNvSpPr/>
          <p:nvPr/>
        </p:nvSpPr>
        <p:spPr>
          <a:xfrm>
            <a:off x="7223760" y="4623634"/>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91" name="Rectangle 51">
            <a:extLst>
              <a:ext uri="{FF2B5EF4-FFF2-40B4-BE49-F238E27FC236}">
                <a16:creationId xmlns:a16="http://schemas.microsoft.com/office/drawing/2014/main" id="{30FBCC1D-C3D9-761F-4E3B-CDF1D885FD38}"/>
              </a:ext>
            </a:extLst>
          </p:cNvPr>
          <p:cNvSpPr/>
          <p:nvPr/>
        </p:nvSpPr>
        <p:spPr>
          <a:xfrm>
            <a:off x="8375904" y="4623634"/>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93" name="Rectangle 52">
            <a:extLst>
              <a:ext uri="{FF2B5EF4-FFF2-40B4-BE49-F238E27FC236}">
                <a16:creationId xmlns:a16="http://schemas.microsoft.com/office/drawing/2014/main" id="{9F969861-65E2-7DEA-1D8D-3C991DC6FCAD}"/>
              </a:ext>
            </a:extLst>
          </p:cNvPr>
          <p:cNvSpPr/>
          <p:nvPr/>
        </p:nvSpPr>
        <p:spPr>
          <a:xfrm>
            <a:off x="384048" y="5118715"/>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⑦ リッチメニュー</a:t>
            </a:r>
          </a:p>
        </p:txBody>
      </p:sp>
      <p:sp>
        <p:nvSpPr>
          <p:cNvPr id="195" name="Rectangle 53">
            <a:extLst>
              <a:ext uri="{FF2B5EF4-FFF2-40B4-BE49-F238E27FC236}">
                <a16:creationId xmlns:a16="http://schemas.microsoft.com/office/drawing/2014/main" id="{FEB00F4C-6D07-AD41-CDD3-7D400EE74D94}"/>
              </a:ext>
            </a:extLst>
          </p:cNvPr>
          <p:cNvSpPr/>
          <p:nvPr/>
        </p:nvSpPr>
        <p:spPr>
          <a:xfrm>
            <a:off x="2578608" y="5118715"/>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1F2A5C"/>
                </a:solidFill>
                <a:latin typeface="メイリオ"/>
                <a:ea typeface="メイリオ"/>
                <a:cs typeface="メイリオ"/>
              </a:rPr>
              <a:t>初期標準</a:t>
            </a:r>
          </a:p>
        </p:txBody>
      </p:sp>
      <p:sp>
        <p:nvSpPr>
          <p:cNvPr id="197" name="Rectangle 54">
            <a:extLst>
              <a:ext uri="{FF2B5EF4-FFF2-40B4-BE49-F238E27FC236}">
                <a16:creationId xmlns:a16="http://schemas.microsoft.com/office/drawing/2014/main" id="{474006B6-8EF9-5160-0A19-AAD059407EE5}"/>
              </a:ext>
            </a:extLst>
          </p:cNvPr>
          <p:cNvSpPr/>
          <p:nvPr/>
        </p:nvSpPr>
        <p:spPr>
          <a:xfrm>
            <a:off x="3767328" y="5118715"/>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99" name="Rectangle 55">
            <a:extLst>
              <a:ext uri="{FF2B5EF4-FFF2-40B4-BE49-F238E27FC236}">
                <a16:creationId xmlns:a16="http://schemas.microsoft.com/office/drawing/2014/main" id="{835DFC8E-494C-23F3-5A75-365D4389E0A1}"/>
              </a:ext>
            </a:extLst>
          </p:cNvPr>
          <p:cNvSpPr/>
          <p:nvPr/>
        </p:nvSpPr>
        <p:spPr>
          <a:xfrm>
            <a:off x="4919472" y="5118715"/>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201" name="Rectangle 56">
            <a:extLst>
              <a:ext uri="{FF2B5EF4-FFF2-40B4-BE49-F238E27FC236}">
                <a16:creationId xmlns:a16="http://schemas.microsoft.com/office/drawing/2014/main" id="{508AA054-C140-CE04-06DD-6D9CFC991D51}"/>
              </a:ext>
            </a:extLst>
          </p:cNvPr>
          <p:cNvSpPr/>
          <p:nvPr/>
        </p:nvSpPr>
        <p:spPr>
          <a:xfrm>
            <a:off x="6071616" y="5118715"/>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203" name="Rectangle 57">
            <a:extLst>
              <a:ext uri="{FF2B5EF4-FFF2-40B4-BE49-F238E27FC236}">
                <a16:creationId xmlns:a16="http://schemas.microsoft.com/office/drawing/2014/main" id="{0A32F90C-518A-01EC-ACCD-61CF0DA46AE2}"/>
              </a:ext>
            </a:extLst>
          </p:cNvPr>
          <p:cNvSpPr/>
          <p:nvPr/>
        </p:nvSpPr>
        <p:spPr>
          <a:xfrm>
            <a:off x="7223760" y="5118715"/>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205" name="Rectangle 58">
            <a:extLst>
              <a:ext uri="{FF2B5EF4-FFF2-40B4-BE49-F238E27FC236}">
                <a16:creationId xmlns:a16="http://schemas.microsoft.com/office/drawing/2014/main" id="{E5905130-E57A-E645-DD15-13FCB3239157}"/>
              </a:ext>
            </a:extLst>
          </p:cNvPr>
          <p:cNvSpPr/>
          <p:nvPr/>
        </p:nvSpPr>
        <p:spPr>
          <a:xfrm>
            <a:off x="8375904" y="5118715"/>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207" name="Rectangle 59">
            <a:extLst>
              <a:ext uri="{FF2B5EF4-FFF2-40B4-BE49-F238E27FC236}">
                <a16:creationId xmlns:a16="http://schemas.microsoft.com/office/drawing/2014/main" id="{670A42D2-0E96-12D3-B85F-5BE6BFDE1675}"/>
              </a:ext>
            </a:extLst>
          </p:cNvPr>
          <p:cNvSpPr/>
          <p:nvPr/>
        </p:nvSpPr>
        <p:spPr>
          <a:xfrm>
            <a:off x="384048" y="5613796"/>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⑧ 自動応答</a:t>
            </a:r>
          </a:p>
        </p:txBody>
      </p:sp>
      <p:sp>
        <p:nvSpPr>
          <p:cNvPr id="209" name="Rectangle 60">
            <a:extLst>
              <a:ext uri="{FF2B5EF4-FFF2-40B4-BE49-F238E27FC236}">
                <a16:creationId xmlns:a16="http://schemas.microsoft.com/office/drawing/2014/main" id="{BA384BB0-B57F-BDEA-8AFD-F70160763ED6}"/>
              </a:ext>
            </a:extLst>
          </p:cNvPr>
          <p:cNvSpPr/>
          <p:nvPr/>
        </p:nvSpPr>
        <p:spPr>
          <a:xfrm>
            <a:off x="2578608" y="5613796"/>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1F2A5C"/>
                </a:solidFill>
                <a:latin typeface="メイリオ"/>
                <a:ea typeface="メイリオ"/>
                <a:cs typeface="メイリオ"/>
              </a:rPr>
              <a:t>初期標準</a:t>
            </a:r>
          </a:p>
        </p:txBody>
      </p:sp>
      <p:sp>
        <p:nvSpPr>
          <p:cNvPr id="211" name="Rectangle 61">
            <a:extLst>
              <a:ext uri="{FF2B5EF4-FFF2-40B4-BE49-F238E27FC236}">
                <a16:creationId xmlns:a16="http://schemas.microsoft.com/office/drawing/2014/main" id="{8CF9A974-AF48-0226-F298-3354D9E8A871}"/>
              </a:ext>
            </a:extLst>
          </p:cNvPr>
          <p:cNvSpPr/>
          <p:nvPr/>
        </p:nvSpPr>
        <p:spPr>
          <a:xfrm>
            <a:off x="3767328"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213" name="Rectangle 62">
            <a:extLst>
              <a:ext uri="{FF2B5EF4-FFF2-40B4-BE49-F238E27FC236}">
                <a16:creationId xmlns:a16="http://schemas.microsoft.com/office/drawing/2014/main" id="{4AF384A8-31D1-31F4-4E26-ECFC1A5A1189}"/>
              </a:ext>
            </a:extLst>
          </p:cNvPr>
          <p:cNvSpPr/>
          <p:nvPr/>
        </p:nvSpPr>
        <p:spPr>
          <a:xfrm>
            <a:off x="4919472"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215" name="Rectangle 63">
            <a:extLst>
              <a:ext uri="{FF2B5EF4-FFF2-40B4-BE49-F238E27FC236}">
                <a16:creationId xmlns:a16="http://schemas.microsoft.com/office/drawing/2014/main" id="{EBB135C8-694D-04ED-2331-A114B5F6A2E2}"/>
              </a:ext>
            </a:extLst>
          </p:cNvPr>
          <p:cNvSpPr/>
          <p:nvPr/>
        </p:nvSpPr>
        <p:spPr>
          <a:xfrm>
            <a:off x="6071616"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217" name="Rectangle 64">
            <a:extLst>
              <a:ext uri="{FF2B5EF4-FFF2-40B4-BE49-F238E27FC236}">
                <a16:creationId xmlns:a16="http://schemas.microsoft.com/office/drawing/2014/main" id="{7BE70E8C-EF6D-E9D1-E47E-1FD6C3CCD3C9}"/>
              </a:ext>
            </a:extLst>
          </p:cNvPr>
          <p:cNvSpPr/>
          <p:nvPr/>
        </p:nvSpPr>
        <p:spPr>
          <a:xfrm>
            <a:off x="7223760"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219" name="Rectangle 65">
            <a:extLst>
              <a:ext uri="{FF2B5EF4-FFF2-40B4-BE49-F238E27FC236}">
                <a16:creationId xmlns:a16="http://schemas.microsoft.com/office/drawing/2014/main" id="{1EE8F08D-6C1C-22F4-2DD7-D1DDB06A7245}"/>
              </a:ext>
            </a:extLst>
          </p:cNvPr>
          <p:cNvSpPr/>
          <p:nvPr/>
        </p:nvSpPr>
        <p:spPr>
          <a:xfrm>
            <a:off x="8375904"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221" name="Rectangle 66">
            <a:extLst>
              <a:ext uri="{FF2B5EF4-FFF2-40B4-BE49-F238E27FC236}">
                <a16:creationId xmlns:a16="http://schemas.microsoft.com/office/drawing/2014/main" id="{5AB0CFB9-851A-14A5-120D-2BF5670B93F5}"/>
              </a:ext>
            </a:extLst>
          </p:cNvPr>
          <p:cNvSpPr/>
          <p:nvPr/>
        </p:nvSpPr>
        <p:spPr>
          <a:xfrm>
            <a:off x="384048" y="6124303"/>
            <a:ext cx="91440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800" b="0" dirty="0">
                <a:solidFill>
                  <a:srgbClr val="777777"/>
                </a:solidFill>
                <a:latin typeface="メイリオ"/>
                <a:ea typeface="メイリオ"/>
                <a:cs typeface="メイリオ"/>
              </a:rPr>
              <a:t>※</a:t>
            </a:r>
            <a:r>
              <a:rPr sz="800" b="0" dirty="0" err="1">
                <a:solidFill>
                  <a:srgbClr val="777777"/>
                </a:solidFill>
                <a:latin typeface="メイリオ"/>
                <a:ea typeface="メイリオ"/>
                <a:cs typeface="メイリオ"/>
              </a:rPr>
              <a:t>当社想定の整理</a:t>
            </a:r>
            <a:r>
              <a:rPr sz="800" b="0" dirty="0">
                <a:solidFill>
                  <a:srgbClr val="777777"/>
                </a:solidFill>
                <a:latin typeface="メイリオ"/>
                <a:ea typeface="メイリオ"/>
                <a:cs typeface="メイリオ"/>
              </a:rPr>
              <a:t>。「</a:t>
            </a:r>
            <a:r>
              <a:rPr sz="800" b="0" dirty="0" err="1">
                <a:solidFill>
                  <a:srgbClr val="777777"/>
                </a:solidFill>
                <a:latin typeface="メイリオ"/>
                <a:ea typeface="メイリオ"/>
                <a:cs typeface="メイリオ"/>
              </a:rPr>
              <a:t>初期標準」は構築時に設定する標準機能</a:t>
            </a:r>
            <a:r>
              <a:rPr sz="800" b="0" dirty="0">
                <a:solidFill>
                  <a:srgbClr val="777777"/>
                </a:solidFill>
                <a:latin typeface="メイリオ"/>
                <a:ea typeface="メイリオ"/>
                <a:cs typeface="メイリオ"/>
              </a:rPr>
              <a:t>、「</a:t>
            </a:r>
            <a:r>
              <a:rPr sz="800" b="0" dirty="0" err="1">
                <a:solidFill>
                  <a:srgbClr val="777777"/>
                </a:solidFill>
                <a:latin typeface="メイリオ"/>
                <a:ea typeface="メイリオ"/>
                <a:cs typeface="メイリオ"/>
              </a:rPr>
              <a:t>運用</a:t>
            </a:r>
            <a:r>
              <a:rPr sz="800" b="0" dirty="0">
                <a:solidFill>
                  <a:srgbClr val="777777"/>
                </a:solidFill>
                <a:latin typeface="メイリオ"/>
                <a:ea typeface="メイリオ"/>
                <a:cs typeface="メイリオ"/>
              </a:rPr>
              <a:t>」「</a:t>
            </a:r>
            <a:r>
              <a:rPr sz="800" b="0" dirty="0" err="1">
                <a:solidFill>
                  <a:srgbClr val="777777"/>
                </a:solidFill>
                <a:latin typeface="メイリオ"/>
                <a:ea typeface="メイリオ"/>
                <a:cs typeface="メイリオ"/>
              </a:rPr>
              <a:t>入口」は運用しながら改善する施策</a:t>
            </a:r>
            <a:endParaRPr sz="800" b="0" dirty="0">
              <a:solidFill>
                <a:srgbClr val="777777"/>
              </a:solidFill>
              <a:latin typeface="メイリオ"/>
              <a:ea typeface="メイリオ"/>
              <a:cs typeface="メイリオ"/>
            </a:endParaRPr>
          </a:p>
        </p:txBody>
      </p:sp>
    </p:spTree>
    <p:extLst>
      <p:ext uri="{BB962C8B-B14F-4D97-AF65-F5344CB8AC3E}">
        <p14:creationId xmlns:p14="http://schemas.microsoft.com/office/powerpoint/2010/main" val="25879365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87B4AD-1796-B65E-602B-007A8E1FBA10}"/>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5A1212B-9A99-C03C-9B39-B48B0013BC6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施策の考え方（短期：ステップ配信）</a:t>
            </a:r>
          </a:p>
        </p:txBody>
      </p:sp>
      <p:sp>
        <p:nvSpPr>
          <p:cNvPr id="8" name="正方形/長方形 7">
            <a:extLst>
              <a:ext uri="{FF2B5EF4-FFF2-40B4-BE49-F238E27FC236}">
                <a16:creationId xmlns:a16="http://schemas.microsoft.com/office/drawing/2014/main" id="{77655FAD-2CE9-1ACF-42D9-A55667D797D3}"/>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rPr>
              <a:t>ステップ配信</a:t>
            </a:r>
            <a:endParaRPr kumimoji="1" lang="ja-JP" altLang="en-US" sz="1400" dirty="0">
              <a:latin typeface="メイリオ" panose="020B0604030504040204" pitchFamily="50" charset="-128"/>
              <a:ea typeface="メイリオ" panose="020B0604030504040204" pitchFamily="50" charset="-128"/>
            </a:endParaRPr>
          </a:p>
        </p:txBody>
      </p:sp>
      <p:sp>
        <p:nvSpPr>
          <p:cNvPr id="10" name="Google Shape;752;p28">
            <a:extLst>
              <a:ext uri="{FF2B5EF4-FFF2-40B4-BE49-F238E27FC236}">
                <a16:creationId xmlns:a16="http://schemas.microsoft.com/office/drawing/2014/main" id="{B56FE2F8-7980-8B94-6C87-C3C5C519D1BB}"/>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ユーザーニーズが高まったタイミング（業界キーワードの検索）を軸に</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ja-JP" altLang="en-US" sz="1600" b="1" dirty="0">
                <a:latin typeface="メイリオ" panose="020B0604030504040204" pitchFamily="50" charset="-128"/>
                <a:ea typeface="メイリオ" panose="020B0604030504040204" pitchFamily="50" charset="-128"/>
                <a:cs typeface="Meiryo"/>
                <a:sym typeface="Meiryo"/>
              </a:rPr>
              <a:t>比較されるサービスや懸念軸を参照し、ステップ配信を構築。</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877" name="四角形: 角を丸くする 876">
            <a:extLst>
              <a:ext uri="{FF2B5EF4-FFF2-40B4-BE49-F238E27FC236}">
                <a16:creationId xmlns:a16="http://schemas.microsoft.com/office/drawing/2014/main" id="{A27EA2E2-51F5-1DC6-547F-CC48303CA4E1}"/>
              </a:ext>
            </a:extLst>
          </p:cNvPr>
          <p:cNvSpPr/>
          <p:nvPr/>
        </p:nvSpPr>
        <p:spPr>
          <a:xfrm>
            <a:off x="4756154" y="160947"/>
            <a:ext cx="1752679" cy="269057"/>
          </a:xfrm>
          <a:prstGeom prst="round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ご提案時に詳細記載</a:t>
            </a:r>
          </a:p>
        </p:txBody>
      </p:sp>
      <p:pic>
        <p:nvPicPr>
          <p:cNvPr id="262" name="図 261">
            <a:extLst>
              <a:ext uri="{FF2B5EF4-FFF2-40B4-BE49-F238E27FC236}">
                <a16:creationId xmlns:a16="http://schemas.microsoft.com/office/drawing/2014/main" id="{B2125166-5E25-29DA-D966-FEA0209E7D2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70698" y="2159248"/>
            <a:ext cx="7040655" cy="4107050"/>
          </a:xfrm>
          <a:prstGeom prst="rect">
            <a:avLst/>
          </a:prstGeom>
        </p:spPr>
      </p:pic>
      <p:sp>
        <p:nvSpPr>
          <p:cNvPr id="263" name="正方形/長方形 262">
            <a:extLst>
              <a:ext uri="{FF2B5EF4-FFF2-40B4-BE49-F238E27FC236}">
                <a16:creationId xmlns:a16="http://schemas.microsoft.com/office/drawing/2014/main" id="{748363DA-2C29-7135-6BD0-55F74CF1062A}"/>
              </a:ext>
            </a:extLst>
          </p:cNvPr>
          <p:cNvSpPr/>
          <p:nvPr/>
        </p:nvSpPr>
        <p:spPr>
          <a:xfrm>
            <a:off x="528369" y="6219402"/>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solidFill>
                <a:latin typeface="メイリオ" panose="020B0604030504040204" pitchFamily="50" charset="-128"/>
                <a:ea typeface="メイリオ" panose="020B0604030504040204" pitchFamily="50" charset="-128"/>
              </a:rPr>
              <a:t>該当ワードの検索</a:t>
            </a:r>
            <a:r>
              <a:rPr kumimoji="1" lang="en-US" altLang="ja-JP" sz="1050" b="1" dirty="0">
                <a:solidFill>
                  <a:schemeClr val="tx1"/>
                </a:solidFill>
                <a:latin typeface="メイリオ" panose="020B0604030504040204" pitchFamily="50" charset="-128"/>
                <a:ea typeface="メイリオ" panose="020B0604030504040204" pitchFamily="50" charset="-128"/>
              </a:rPr>
              <a:t>”</a:t>
            </a:r>
            <a:r>
              <a:rPr kumimoji="1" lang="ja-JP" altLang="en-US" sz="1050" b="1" dirty="0">
                <a:solidFill>
                  <a:schemeClr val="tx1"/>
                </a:solidFill>
                <a:latin typeface="メイリオ" panose="020B0604030504040204" pitchFamily="50" charset="-128"/>
                <a:ea typeface="メイリオ" panose="020B0604030504040204" pitchFamily="50" charset="-128"/>
              </a:rPr>
              <a:t>前</a:t>
            </a:r>
            <a:r>
              <a:rPr kumimoji="1" lang="en-US" altLang="ja-JP" sz="1050" b="1" dirty="0">
                <a:solidFill>
                  <a:schemeClr val="tx1"/>
                </a:solidFill>
                <a:latin typeface="メイリオ" panose="020B0604030504040204" pitchFamily="50" charset="-128"/>
                <a:ea typeface="メイリオ" panose="020B0604030504040204" pitchFamily="50" charset="-128"/>
              </a:rPr>
              <a:t>”15</a:t>
            </a:r>
            <a:r>
              <a:rPr kumimoji="1" lang="ja-JP" altLang="en-US" sz="1050" b="1" dirty="0">
                <a:solidFill>
                  <a:schemeClr val="tx1"/>
                </a:solidFill>
                <a:latin typeface="メイリオ" panose="020B0604030504040204" pitchFamily="50" charset="-128"/>
                <a:ea typeface="メイリオ" panose="020B0604030504040204" pitchFamily="50" charset="-128"/>
              </a:rPr>
              <a:t>日</a:t>
            </a:r>
          </a:p>
        </p:txBody>
      </p:sp>
      <p:sp>
        <p:nvSpPr>
          <p:cNvPr id="264" name="正方形/長方形 263">
            <a:extLst>
              <a:ext uri="{FF2B5EF4-FFF2-40B4-BE49-F238E27FC236}">
                <a16:creationId xmlns:a16="http://schemas.microsoft.com/office/drawing/2014/main" id="{E30C2E59-75D1-61B8-7100-9431FCDA1BB0}"/>
              </a:ext>
            </a:extLst>
          </p:cNvPr>
          <p:cNvSpPr/>
          <p:nvPr/>
        </p:nvSpPr>
        <p:spPr>
          <a:xfrm>
            <a:off x="4547374" y="6219402"/>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rPr>
              <a:t>該当ワードの検索</a:t>
            </a:r>
            <a:r>
              <a:rPr lang="en-US" altLang="ja-JP" sz="1050" b="1" dirty="0">
                <a:solidFill>
                  <a:schemeClr val="tx1"/>
                </a:solidFill>
                <a:latin typeface="メイリオ" panose="020B0604030504040204" pitchFamily="50" charset="-128"/>
                <a:ea typeface="メイリオ" panose="020B0604030504040204" pitchFamily="50" charset="-128"/>
              </a:rPr>
              <a:t>”</a:t>
            </a:r>
            <a:r>
              <a:rPr lang="ja-JP" altLang="en-US" sz="1050" b="1" dirty="0">
                <a:solidFill>
                  <a:schemeClr val="tx1"/>
                </a:solidFill>
                <a:latin typeface="メイリオ" panose="020B0604030504040204" pitchFamily="50" charset="-128"/>
                <a:ea typeface="メイリオ" panose="020B0604030504040204" pitchFamily="50" charset="-128"/>
              </a:rPr>
              <a:t>後</a:t>
            </a:r>
            <a:r>
              <a:rPr lang="en-US" altLang="ja-JP" sz="1050" b="1" dirty="0">
                <a:solidFill>
                  <a:schemeClr val="tx1"/>
                </a:solidFill>
                <a:latin typeface="メイリオ" panose="020B0604030504040204" pitchFamily="50" charset="-128"/>
                <a:ea typeface="メイリオ" panose="020B0604030504040204" pitchFamily="50" charset="-128"/>
              </a:rPr>
              <a:t>”15</a:t>
            </a:r>
            <a:r>
              <a:rPr lang="ja-JP" altLang="en-US" sz="1050" b="1" dirty="0">
                <a:solidFill>
                  <a:schemeClr val="tx1"/>
                </a:solidFill>
                <a:latin typeface="メイリオ" panose="020B0604030504040204" pitchFamily="50" charset="-128"/>
                <a:ea typeface="メイリオ" panose="020B0604030504040204" pitchFamily="50" charset="-128"/>
              </a:rPr>
              <a:t>日</a:t>
            </a:r>
          </a:p>
        </p:txBody>
      </p:sp>
      <p:cxnSp>
        <p:nvCxnSpPr>
          <p:cNvPr id="265" name="直線矢印コネクタ 264">
            <a:extLst>
              <a:ext uri="{FF2B5EF4-FFF2-40B4-BE49-F238E27FC236}">
                <a16:creationId xmlns:a16="http://schemas.microsoft.com/office/drawing/2014/main" id="{D5256C44-BCFD-25DA-BA57-DCD0FDFF9A61}"/>
              </a:ext>
            </a:extLst>
          </p:cNvPr>
          <p:cNvCxnSpPr>
            <a:cxnSpLocks/>
          </p:cNvCxnSpPr>
          <p:nvPr/>
        </p:nvCxnSpPr>
        <p:spPr>
          <a:xfrm flipV="1">
            <a:off x="245734" y="1875367"/>
            <a:ext cx="0" cy="4562932"/>
          </a:xfrm>
          <a:prstGeom prst="straightConnector1">
            <a:avLst/>
          </a:prstGeom>
          <a:ln w="15875">
            <a:solidFill>
              <a:schemeClr val="tx1">
                <a:lumMod val="65000"/>
                <a:lumOff val="35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66" name="テキスト ボックス 265">
            <a:extLst>
              <a:ext uri="{FF2B5EF4-FFF2-40B4-BE49-F238E27FC236}">
                <a16:creationId xmlns:a16="http://schemas.microsoft.com/office/drawing/2014/main" id="{7C17D56F-1AC6-34AD-A4BB-4EC0DABD016D}"/>
              </a:ext>
            </a:extLst>
          </p:cNvPr>
          <p:cNvSpPr txBox="1"/>
          <p:nvPr/>
        </p:nvSpPr>
        <p:spPr>
          <a:xfrm>
            <a:off x="174707" y="2012591"/>
            <a:ext cx="1079863" cy="253916"/>
          </a:xfrm>
          <a:prstGeom prst="rect">
            <a:avLst/>
          </a:prstGeom>
          <a:noFill/>
        </p:spPr>
        <p:txBody>
          <a:bodyPr wrap="square">
            <a:spAutoFit/>
          </a:bodyPr>
          <a:lstStyle/>
          <a:p>
            <a:r>
              <a:rPr lang="ja-JP" altLang="en-US" sz="1050" b="1" dirty="0">
                <a:solidFill>
                  <a:srgbClr val="FF0000"/>
                </a:solidFill>
                <a:latin typeface="メイリオ" panose="020B0604030504040204" pitchFamily="50" charset="-128"/>
                <a:ea typeface="メイリオ" panose="020B0604030504040204" pitchFamily="50" charset="-128"/>
              </a:rPr>
              <a:t>検索</a:t>
            </a:r>
            <a:r>
              <a:rPr lang="en-US" altLang="ja-JP" sz="1050" b="1" dirty="0">
                <a:solidFill>
                  <a:srgbClr val="FF0000"/>
                </a:solidFill>
                <a:latin typeface="メイリオ" panose="020B0604030504040204" pitchFamily="50" charset="-128"/>
                <a:ea typeface="メイリオ" panose="020B0604030504040204" pitchFamily="50" charset="-128"/>
              </a:rPr>
              <a:t>Vol:</a:t>
            </a:r>
            <a:r>
              <a:rPr lang="ja-JP" altLang="en-US" sz="1050" b="1" dirty="0">
                <a:solidFill>
                  <a:srgbClr val="FF0000"/>
                </a:solidFill>
                <a:latin typeface="メイリオ" panose="020B0604030504040204" pitchFamily="50" charset="-128"/>
                <a:ea typeface="メイリオ" panose="020B0604030504040204" pitchFamily="50" charset="-128"/>
              </a:rPr>
              <a:t>多</a:t>
            </a:r>
            <a:endParaRPr kumimoji="1" lang="ja-JP" altLang="en-US" sz="1050" b="1" dirty="0">
              <a:solidFill>
                <a:srgbClr val="FF0000"/>
              </a:solidFill>
              <a:latin typeface="メイリオ" panose="020B0604030504040204" pitchFamily="50" charset="-128"/>
              <a:ea typeface="メイリオ" panose="020B0604030504040204" pitchFamily="50" charset="-128"/>
            </a:endParaRPr>
          </a:p>
        </p:txBody>
      </p:sp>
      <p:sp>
        <p:nvSpPr>
          <p:cNvPr id="267" name="正方形/長方形 266">
            <a:extLst>
              <a:ext uri="{FF2B5EF4-FFF2-40B4-BE49-F238E27FC236}">
                <a16:creationId xmlns:a16="http://schemas.microsoft.com/office/drawing/2014/main" id="{AD15A6B3-E0B8-2B6E-5872-4F23BABCE27E}"/>
              </a:ext>
            </a:extLst>
          </p:cNvPr>
          <p:cNvSpPr/>
          <p:nvPr/>
        </p:nvSpPr>
        <p:spPr>
          <a:xfrm>
            <a:off x="4547375" y="1702353"/>
            <a:ext cx="946084" cy="4472105"/>
          </a:xfrm>
          <a:prstGeom prst="rect">
            <a:avLst/>
          </a:prstGeom>
          <a:solidFill>
            <a:srgbClr val="04FA0A">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68" name="図 267" descr="LINE公式アカウントのロゴを活用しよう！注意点やNG例も合わせて解説 - LINEマーケティングツールFANVO">
            <a:extLst>
              <a:ext uri="{FF2B5EF4-FFF2-40B4-BE49-F238E27FC236}">
                <a16:creationId xmlns:a16="http://schemas.microsoft.com/office/drawing/2014/main" id="{4024ED2F-A038-044E-2128-7BF7E408248D}"/>
              </a:ext>
            </a:extLst>
          </p:cNvPr>
          <p:cNvPicPr>
            <a:picLocks noChangeAspect="1"/>
          </p:cNvPicPr>
          <p:nvPr/>
        </p:nvPicPr>
        <p:blipFill>
          <a:blip r:embed="rId3"/>
          <a:stretch>
            <a:fillRect/>
          </a:stretch>
        </p:blipFill>
        <p:spPr>
          <a:xfrm>
            <a:off x="4410371" y="1580689"/>
            <a:ext cx="419340" cy="418460"/>
          </a:xfrm>
          <a:prstGeom prst="rect">
            <a:avLst/>
          </a:prstGeom>
        </p:spPr>
      </p:pic>
      <p:sp>
        <p:nvSpPr>
          <p:cNvPr id="269" name="テキスト ボックス 268">
            <a:extLst>
              <a:ext uri="{FF2B5EF4-FFF2-40B4-BE49-F238E27FC236}">
                <a16:creationId xmlns:a16="http://schemas.microsoft.com/office/drawing/2014/main" id="{3EAD58A7-446F-1E3A-A612-6D6F889B81B1}"/>
              </a:ext>
            </a:extLst>
          </p:cNvPr>
          <p:cNvSpPr txBox="1"/>
          <p:nvPr/>
        </p:nvSpPr>
        <p:spPr>
          <a:xfrm>
            <a:off x="4739629" y="1744562"/>
            <a:ext cx="1195820" cy="430887"/>
          </a:xfrm>
          <a:prstGeom prst="rect">
            <a:avLst/>
          </a:prstGeom>
          <a:noFill/>
        </p:spPr>
        <p:txBody>
          <a:bodyPr wrap="square">
            <a:spAutoFit/>
          </a:bodyPr>
          <a:lstStyle/>
          <a:p>
            <a:r>
              <a:rPr lang="en-US" altLang="ja-JP" sz="1100" b="1" dirty="0">
                <a:latin typeface="Meiryo"/>
                <a:ea typeface="Meiryo"/>
                <a:cs typeface="Meiryo"/>
                <a:sym typeface="Meiryo"/>
              </a:rPr>
              <a:t>OA</a:t>
            </a:r>
            <a:r>
              <a:rPr lang="ja-JP" altLang="en-US" sz="1100" b="1" dirty="0">
                <a:latin typeface="Meiryo"/>
                <a:ea typeface="Meiryo"/>
                <a:cs typeface="Meiryo"/>
                <a:sym typeface="Meiryo"/>
              </a:rPr>
              <a:t>追加想定</a:t>
            </a:r>
            <a:endParaRPr lang="en-US" altLang="ja-JP" sz="1100" b="1" dirty="0">
              <a:latin typeface="Meiryo"/>
              <a:ea typeface="Meiryo"/>
              <a:cs typeface="Meiryo"/>
              <a:sym typeface="Meiryo"/>
            </a:endParaRPr>
          </a:p>
          <a:p>
            <a:r>
              <a:rPr lang="en-US" altLang="ja-JP" sz="1000" b="1" dirty="0">
                <a:solidFill>
                  <a:srgbClr val="00B050"/>
                </a:solidFill>
                <a:latin typeface="Meiryo"/>
                <a:ea typeface="Meiryo"/>
                <a:sym typeface="Meiryo"/>
              </a:rPr>
              <a:t>※</a:t>
            </a:r>
            <a:r>
              <a:rPr lang="ja-JP" altLang="en-US" sz="1000" b="1" dirty="0">
                <a:solidFill>
                  <a:srgbClr val="00B050"/>
                </a:solidFill>
                <a:latin typeface="Meiryo"/>
                <a:ea typeface="Meiryo"/>
                <a:sym typeface="Meiryo"/>
              </a:rPr>
              <a:t>検索</a:t>
            </a:r>
            <a:r>
              <a:rPr lang="en-US" altLang="ja-JP" sz="1000" b="1" dirty="0">
                <a:solidFill>
                  <a:srgbClr val="00B050"/>
                </a:solidFill>
                <a:latin typeface="Meiryo"/>
                <a:ea typeface="Meiryo"/>
                <a:sym typeface="Meiryo"/>
              </a:rPr>
              <a:t>0-1</a:t>
            </a:r>
            <a:r>
              <a:rPr lang="ja-JP" altLang="en-US" sz="1000" b="1" dirty="0">
                <a:solidFill>
                  <a:srgbClr val="00B050"/>
                </a:solidFill>
                <a:latin typeface="Meiryo"/>
                <a:ea typeface="Meiryo"/>
                <a:sym typeface="Meiryo"/>
              </a:rPr>
              <a:t>日後</a:t>
            </a:r>
            <a:endParaRPr lang="ja-JP" altLang="en-US" sz="1050" dirty="0">
              <a:solidFill>
                <a:srgbClr val="00B050"/>
              </a:solidFill>
            </a:endParaRPr>
          </a:p>
        </p:txBody>
      </p:sp>
      <p:sp>
        <p:nvSpPr>
          <p:cNvPr id="270" name="四角形: 角を丸くする 269">
            <a:extLst>
              <a:ext uri="{FF2B5EF4-FFF2-40B4-BE49-F238E27FC236}">
                <a16:creationId xmlns:a16="http://schemas.microsoft.com/office/drawing/2014/main" id="{77F6F52A-D5A9-4873-22B4-9CE879E47445}"/>
              </a:ext>
            </a:extLst>
          </p:cNvPr>
          <p:cNvSpPr/>
          <p:nvPr/>
        </p:nvSpPr>
        <p:spPr>
          <a:xfrm>
            <a:off x="7920174" y="1851176"/>
            <a:ext cx="1185818" cy="253916"/>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800" dirty="0">
                <a:solidFill>
                  <a:schemeClr val="tx1"/>
                </a:solidFill>
                <a:latin typeface="メイリオ" panose="020B0604030504040204" pitchFamily="50" charset="-128"/>
                <a:ea typeface="メイリオ" panose="020B0604030504040204" pitchFamily="50" charset="-128"/>
              </a:rPr>
              <a:t>ブランド名</a:t>
            </a:r>
          </a:p>
        </p:txBody>
      </p:sp>
      <p:sp>
        <p:nvSpPr>
          <p:cNvPr id="271" name="四角形: 角を丸くする 270">
            <a:extLst>
              <a:ext uri="{FF2B5EF4-FFF2-40B4-BE49-F238E27FC236}">
                <a16:creationId xmlns:a16="http://schemas.microsoft.com/office/drawing/2014/main" id="{BDF2EB8F-D2D1-3527-8285-48540FD924E7}"/>
              </a:ext>
            </a:extLst>
          </p:cNvPr>
          <p:cNvSpPr/>
          <p:nvPr/>
        </p:nvSpPr>
        <p:spPr>
          <a:xfrm>
            <a:off x="7920174" y="2146211"/>
            <a:ext cx="1185818" cy="253916"/>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800" dirty="0">
                <a:solidFill>
                  <a:schemeClr val="tx1"/>
                </a:solidFill>
                <a:latin typeface="メイリオ" panose="020B0604030504040204" pitchFamily="50" charset="-128"/>
                <a:ea typeface="メイリオ" panose="020B0604030504040204" pitchFamily="50" charset="-128"/>
              </a:rPr>
              <a:t>稼ぎ方</a:t>
            </a:r>
          </a:p>
        </p:txBody>
      </p:sp>
      <p:sp>
        <p:nvSpPr>
          <p:cNvPr id="272" name="四角形: 角を丸くする 271">
            <a:extLst>
              <a:ext uri="{FF2B5EF4-FFF2-40B4-BE49-F238E27FC236}">
                <a16:creationId xmlns:a16="http://schemas.microsoft.com/office/drawing/2014/main" id="{8E99E04D-7CD5-C5BF-1D3C-9103098EBCA6}"/>
              </a:ext>
            </a:extLst>
          </p:cNvPr>
          <p:cNvSpPr/>
          <p:nvPr/>
        </p:nvSpPr>
        <p:spPr>
          <a:xfrm>
            <a:off x="7920174" y="2435334"/>
            <a:ext cx="1185818" cy="253916"/>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800" dirty="0">
                <a:solidFill>
                  <a:schemeClr val="tx1"/>
                </a:solidFill>
                <a:latin typeface="メイリオ" panose="020B0604030504040204" pitchFamily="50" charset="-128"/>
                <a:ea typeface="メイリオ" panose="020B0604030504040204" pitchFamily="50" charset="-128"/>
              </a:rPr>
              <a:t>条件</a:t>
            </a:r>
          </a:p>
        </p:txBody>
      </p:sp>
      <p:sp>
        <p:nvSpPr>
          <p:cNvPr id="273" name="四角形: 角を丸くする 272">
            <a:extLst>
              <a:ext uri="{FF2B5EF4-FFF2-40B4-BE49-F238E27FC236}">
                <a16:creationId xmlns:a16="http://schemas.microsoft.com/office/drawing/2014/main" id="{D99442CD-A18C-BBDA-3029-1A885B9960E8}"/>
              </a:ext>
            </a:extLst>
          </p:cNvPr>
          <p:cNvSpPr/>
          <p:nvPr/>
        </p:nvSpPr>
        <p:spPr>
          <a:xfrm>
            <a:off x="7920174" y="2730369"/>
            <a:ext cx="1185818" cy="253916"/>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800" dirty="0">
                <a:solidFill>
                  <a:schemeClr val="tx1"/>
                </a:solidFill>
                <a:latin typeface="メイリオ" panose="020B0604030504040204" pitchFamily="50" charset="-128"/>
                <a:ea typeface="メイリオ" panose="020B0604030504040204" pitchFamily="50" charset="-128"/>
              </a:rPr>
              <a:t>準備</a:t>
            </a:r>
          </a:p>
        </p:txBody>
      </p:sp>
      <p:sp>
        <p:nvSpPr>
          <p:cNvPr id="274" name="四角形: 角を丸くする 273">
            <a:extLst>
              <a:ext uri="{FF2B5EF4-FFF2-40B4-BE49-F238E27FC236}">
                <a16:creationId xmlns:a16="http://schemas.microsoft.com/office/drawing/2014/main" id="{57B4D6DC-CAFB-1523-7FD8-8ADDCB817F59}"/>
              </a:ext>
            </a:extLst>
          </p:cNvPr>
          <p:cNvSpPr/>
          <p:nvPr/>
        </p:nvSpPr>
        <p:spPr>
          <a:xfrm>
            <a:off x="4430176" y="2222541"/>
            <a:ext cx="89092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75" name="四角形: 角を丸くする 274">
            <a:extLst>
              <a:ext uri="{FF2B5EF4-FFF2-40B4-BE49-F238E27FC236}">
                <a16:creationId xmlns:a16="http://schemas.microsoft.com/office/drawing/2014/main" id="{648709C7-ABDE-FD09-E0E9-FB2A90A7D915}"/>
              </a:ext>
            </a:extLst>
          </p:cNvPr>
          <p:cNvSpPr/>
          <p:nvPr/>
        </p:nvSpPr>
        <p:spPr>
          <a:xfrm>
            <a:off x="4440171" y="2614367"/>
            <a:ext cx="553194"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76" name="四角形: 角を丸くする 275">
            <a:extLst>
              <a:ext uri="{FF2B5EF4-FFF2-40B4-BE49-F238E27FC236}">
                <a16:creationId xmlns:a16="http://schemas.microsoft.com/office/drawing/2014/main" id="{264110F6-78DC-CB60-F894-12888B0DA45D}"/>
              </a:ext>
            </a:extLst>
          </p:cNvPr>
          <p:cNvSpPr/>
          <p:nvPr/>
        </p:nvSpPr>
        <p:spPr>
          <a:xfrm>
            <a:off x="5108095" y="2788018"/>
            <a:ext cx="377839"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77" name="四角形: 角を丸くする 276">
            <a:extLst>
              <a:ext uri="{FF2B5EF4-FFF2-40B4-BE49-F238E27FC236}">
                <a16:creationId xmlns:a16="http://schemas.microsoft.com/office/drawing/2014/main" id="{11FC472F-1256-6150-5E6B-04426396E2D1}"/>
              </a:ext>
            </a:extLst>
          </p:cNvPr>
          <p:cNvSpPr/>
          <p:nvPr/>
        </p:nvSpPr>
        <p:spPr>
          <a:xfrm>
            <a:off x="4465229" y="3003100"/>
            <a:ext cx="669364"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78" name="四角形: 角を丸くする 277">
            <a:extLst>
              <a:ext uri="{FF2B5EF4-FFF2-40B4-BE49-F238E27FC236}">
                <a16:creationId xmlns:a16="http://schemas.microsoft.com/office/drawing/2014/main" id="{4C2B40CF-6D8E-F71B-185D-D702A82E2A43}"/>
              </a:ext>
            </a:extLst>
          </p:cNvPr>
          <p:cNvSpPr/>
          <p:nvPr/>
        </p:nvSpPr>
        <p:spPr>
          <a:xfrm>
            <a:off x="4538760" y="3163120"/>
            <a:ext cx="41562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79" name="四角形: 角を丸くする 278">
            <a:extLst>
              <a:ext uri="{FF2B5EF4-FFF2-40B4-BE49-F238E27FC236}">
                <a16:creationId xmlns:a16="http://schemas.microsoft.com/office/drawing/2014/main" id="{45B59A38-F8C6-C42D-7574-E2FF7042AE90}"/>
              </a:ext>
            </a:extLst>
          </p:cNvPr>
          <p:cNvSpPr/>
          <p:nvPr/>
        </p:nvSpPr>
        <p:spPr>
          <a:xfrm>
            <a:off x="4538760" y="3307900"/>
            <a:ext cx="41562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80" name="四角形: 角を丸くする 279">
            <a:extLst>
              <a:ext uri="{FF2B5EF4-FFF2-40B4-BE49-F238E27FC236}">
                <a16:creationId xmlns:a16="http://schemas.microsoft.com/office/drawing/2014/main" id="{E29ADD9E-7F8D-49A0-E6AA-790EEDEE5943}"/>
              </a:ext>
            </a:extLst>
          </p:cNvPr>
          <p:cNvSpPr/>
          <p:nvPr/>
        </p:nvSpPr>
        <p:spPr>
          <a:xfrm>
            <a:off x="5092506" y="3210562"/>
            <a:ext cx="457185"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81" name="四角形: 角を丸くする 280">
            <a:extLst>
              <a:ext uri="{FF2B5EF4-FFF2-40B4-BE49-F238E27FC236}">
                <a16:creationId xmlns:a16="http://schemas.microsoft.com/office/drawing/2014/main" id="{C98FDF97-E805-0CF9-2ABB-FB20CFDAC769}"/>
              </a:ext>
            </a:extLst>
          </p:cNvPr>
          <p:cNvSpPr/>
          <p:nvPr/>
        </p:nvSpPr>
        <p:spPr>
          <a:xfrm>
            <a:off x="5256597" y="3708545"/>
            <a:ext cx="809930"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82" name="四角形: 角を丸くする 281">
            <a:extLst>
              <a:ext uri="{FF2B5EF4-FFF2-40B4-BE49-F238E27FC236}">
                <a16:creationId xmlns:a16="http://schemas.microsoft.com/office/drawing/2014/main" id="{6FF4D3C7-346A-FD7A-0140-5BDB3814F5DF}"/>
              </a:ext>
            </a:extLst>
          </p:cNvPr>
          <p:cNvSpPr/>
          <p:nvPr/>
        </p:nvSpPr>
        <p:spPr>
          <a:xfrm>
            <a:off x="6463002" y="3473585"/>
            <a:ext cx="60851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83" name="四角形: 角を丸くする 282">
            <a:extLst>
              <a:ext uri="{FF2B5EF4-FFF2-40B4-BE49-F238E27FC236}">
                <a16:creationId xmlns:a16="http://schemas.microsoft.com/office/drawing/2014/main" id="{15337B10-BF50-6162-8383-C57471268A6C}"/>
              </a:ext>
            </a:extLst>
          </p:cNvPr>
          <p:cNvSpPr/>
          <p:nvPr/>
        </p:nvSpPr>
        <p:spPr>
          <a:xfrm>
            <a:off x="7107865" y="3363052"/>
            <a:ext cx="60851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84" name="四角形: 角を丸くする 283">
            <a:extLst>
              <a:ext uri="{FF2B5EF4-FFF2-40B4-BE49-F238E27FC236}">
                <a16:creationId xmlns:a16="http://schemas.microsoft.com/office/drawing/2014/main" id="{C00607CC-C2C0-082C-A629-DBF8827ACDA1}"/>
              </a:ext>
            </a:extLst>
          </p:cNvPr>
          <p:cNvSpPr/>
          <p:nvPr/>
        </p:nvSpPr>
        <p:spPr>
          <a:xfrm>
            <a:off x="6983873" y="3602201"/>
            <a:ext cx="41562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85" name="四角形: 角を丸くする 284">
            <a:extLst>
              <a:ext uri="{FF2B5EF4-FFF2-40B4-BE49-F238E27FC236}">
                <a16:creationId xmlns:a16="http://schemas.microsoft.com/office/drawing/2014/main" id="{DED31FB8-5981-1699-7E47-E63C2CDF2733}"/>
              </a:ext>
            </a:extLst>
          </p:cNvPr>
          <p:cNvSpPr/>
          <p:nvPr/>
        </p:nvSpPr>
        <p:spPr>
          <a:xfrm>
            <a:off x="6539957" y="3769706"/>
            <a:ext cx="553194" cy="112162"/>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86" name="四角形: 角を丸くする 285">
            <a:extLst>
              <a:ext uri="{FF2B5EF4-FFF2-40B4-BE49-F238E27FC236}">
                <a16:creationId xmlns:a16="http://schemas.microsoft.com/office/drawing/2014/main" id="{6C0DA8B8-EF5F-2004-3A70-3C35247F0547}"/>
              </a:ext>
            </a:extLst>
          </p:cNvPr>
          <p:cNvSpPr/>
          <p:nvPr/>
        </p:nvSpPr>
        <p:spPr>
          <a:xfrm>
            <a:off x="4581430" y="3614361"/>
            <a:ext cx="41562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87" name="四角形: 角を丸くする 286">
            <a:extLst>
              <a:ext uri="{FF2B5EF4-FFF2-40B4-BE49-F238E27FC236}">
                <a16:creationId xmlns:a16="http://schemas.microsoft.com/office/drawing/2014/main" id="{5EF617D1-C54D-C2F7-FACE-AA8ED59378B4}"/>
              </a:ext>
            </a:extLst>
          </p:cNvPr>
          <p:cNvSpPr/>
          <p:nvPr/>
        </p:nvSpPr>
        <p:spPr>
          <a:xfrm>
            <a:off x="4453969" y="3743901"/>
            <a:ext cx="457185"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88" name="四角形: 角を丸くする 287">
            <a:extLst>
              <a:ext uri="{FF2B5EF4-FFF2-40B4-BE49-F238E27FC236}">
                <a16:creationId xmlns:a16="http://schemas.microsoft.com/office/drawing/2014/main" id="{0020B300-7F43-9571-10A7-85E6E01A202B}"/>
              </a:ext>
            </a:extLst>
          </p:cNvPr>
          <p:cNvSpPr/>
          <p:nvPr/>
        </p:nvSpPr>
        <p:spPr>
          <a:xfrm>
            <a:off x="4443926" y="4178444"/>
            <a:ext cx="669364"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89" name="四角形: 角を丸くする 288">
            <a:extLst>
              <a:ext uri="{FF2B5EF4-FFF2-40B4-BE49-F238E27FC236}">
                <a16:creationId xmlns:a16="http://schemas.microsoft.com/office/drawing/2014/main" id="{F4F1E079-4ABF-7D8E-D4C7-CBD397B37E12}"/>
              </a:ext>
            </a:extLst>
          </p:cNvPr>
          <p:cNvSpPr/>
          <p:nvPr/>
        </p:nvSpPr>
        <p:spPr>
          <a:xfrm>
            <a:off x="5210558" y="3812684"/>
            <a:ext cx="736300"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90" name="四角形: 角を丸くする 289">
            <a:extLst>
              <a:ext uri="{FF2B5EF4-FFF2-40B4-BE49-F238E27FC236}">
                <a16:creationId xmlns:a16="http://schemas.microsoft.com/office/drawing/2014/main" id="{5E992E10-AF72-A434-2ADA-41B8A708A624}"/>
              </a:ext>
            </a:extLst>
          </p:cNvPr>
          <p:cNvSpPr/>
          <p:nvPr/>
        </p:nvSpPr>
        <p:spPr>
          <a:xfrm>
            <a:off x="6441380" y="3942340"/>
            <a:ext cx="41562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91" name="四角形: 角を丸くする 290">
            <a:extLst>
              <a:ext uri="{FF2B5EF4-FFF2-40B4-BE49-F238E27FC236}">
                <a16:creationId xmlns:a16="http://schemas.microsoft.com/office/drawing/2014/main" id="{42228D9B-722B-0E4B-DD19-F9FB38B664DC}"/>
              </a:ext>
            </a:extLst>
          </p:cNvPr>
          <p:cNvSpPr/>
          <p:nvPr/>
        </p:nvSpPr>
        <p:spPr>
          <a:xfrm>
            <a:off x="5334496" y="4214148"/>
            <a:ext cx="1078017"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92" name="四角形: 角を丸くする 291">
            <a:extLst>
              <a:ext uri="{FF2B5EF4-FFF2-40B4-BE49-F238E27FC236}">
                <a16:creationId xmlns:a16="http://schemas.microsoft.com/office/drawing/2014/main" id="{1B760E6F-8F2D-A3C1-1321-292481C0B71B}"/>
              </a:ext>
            </a:extLst>
          </p:cNvPr>
          <p:cNvSpPr/>
          <p:nvPr/>
        </p:nvSpPr>
        <p:spPr>
          <a:xfrm>
            <a:off x="6325614" y="4101436"/>
            <a:ext cx="669364"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93" name="四角形: 角を丸くする 292">
            <a:extLst>
              <a:ext uri="{FF2B5EF4-FFF2-40B4-BE49-F238E27FC236}">
                <a16:creationId xmlns:a16="http://schemas.microsoft.com/office/drawing/2014/main" id="{47438004-C566-021E-BD06-9A7726DC3F91}"/>
              </a:ext>
            </a:extLst>
          </p:cNvPr>
          <p:cNvSpPr/>
          <p:nvPr/>
        </p:nvSpPr>
        <p:spPr>
          <a:xfrm>
            <a:off x="7460640" y="3860200"/>
            <a:ext cx="41562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94" name="四角形: 角を丸くする 293">
            <a:extLst>
              <a:ext uri="{FF2B5EF4-FFF2-40B4-BE49-F238E27FC236}">
                <a16:creationId xmlns:a16="http://schemas.microsoft.com/office/drawing/2014/main" id="{482F231F-2E3E-CBDF-D4ED-1D2B911E89AC}"/>
              </a:ext>
            </a:extLst>
          </p:cNvPr>
          <p:cNvSpPr/>
          <p:nvPr/>
        </p:nvSpPr>
        <p:spPr>
          <a:xfrm>
            <a:off x="3749928" y="4119134"/>
            <a:ext cx="669364" cy="130299"/>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95" name="四角形: 角を丸くする 294">
            <a:extLst>
              <a:ext uri="{FF2B5EF4-FFF2-40B4-BE49-F238E27FC236}">
                <a16:creationId xmlns:a16="http://schemas.microsoft.com/office/drawing/2014/main" id="{6B233052-61AB-4EF5-4EB9-11728880266A}"/>
              </a:ext>
            </a:extLst>
          </p:cNvPr>
          <p:cNvSpPr/>
          <p:nvPr/>
        </p:nvSpPr>
        <p:spPr>
          <a:xfrm>
            <a:off x="4429145" y="3859403"/>
            <a:ext cx="669364" cy="130299"/>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96" name="四角形: 角を丸くする 295">
            <a:extLst>
              <a:ext uri="{FF2B5EF4-FFF2-40B4-BE49-F238E27FC236}">
                <a16:creationId xmlns:a16="http://schemas.microsoft.com/office/drawing/2014/main" id="{AEF2F52B-97EB-67A2-0D65-41503C8D5E2B}"/>
              </a:ext>
            </a:extLst>
          </p:cNvPr>
          <p:cNvSpPr/>
          <p:nvPr/>
        </p:nvSpPr>
        <p:spPr>
          <a:xfrm>
            <a:off x="2756920" y="4766183"/>
            <a:ext cx="736300" cy="130299"/>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97" name="四角形: 角を丸くする 296">
            <a:extLst>
              <a:ext uri="{FF2B5EF4-FFF2-40B4-BE49-F238E27FC236}">
                <a16:creationId xmlns:a16="http://schemas.microsoft.com/office/drawing/2014/main" id="{AEFAA46D-AA7E-06C1-0E3F-5617A90B218C}"/>
              </a:ext>
            </a:extLst>
          </p:cNvPr>
          <p:cNvSpPr/>
          <p:nvPr/>
        </p:nvSpPr>
        <p:spPr>
          <a:xfrm>
            <a:off x="3736994" y="4467964"/>
            <a:ext cx="457185" cy="107685"/>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98" name="四角形: 角を丸くする 297">
            <a:extLst>
              <a:ext uri="{FF2B5EF4-FFF2-40B4-BE49-F238E27FC236}">
                <a16:creationId xmlns:a16="http://schemas.microsoft.com/office/drawing/2014/main" id="{965BED0E-7EEC-BCC1-6356-484A486810A4}"/>
              </a:ext>
            </a:extLst>
          </p:cNvPr>
          <p:cNvSpPr/>
          <p:nvPr/>
        </p:nvSpPr>
        <p:spPr>
          <a:xfrm>
            <a:off x="4031512" y="3230352"/>
            <a:ext cx="502904"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99" name="四角形: 角を丸くする 298">
            <a:extLst>
              <a:ext uri="{FF2B5EF4-FFF2-40B4-BE49-F238E27FC236}">
                <a16:creationId xmlns:a16="http://schemas.microsoft.com/office/drawing/2014/main" id="{A6648F68-D530-9C30-3691-755A110BC79C}"/>
              </a:ext>
            </a:extLst>
          </p:cNvPr>
          <p:cNvSpPr/>
          <p:nvPr/>
        </p:nvSpPr>
        <p:spPr>
          <a:xfrm>
            <a:off x="4450076" y="4269459"/>
            <a:ext cx="553194"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00" name="四角形: 角を丸くする 299">
            <a:extLst>
              <a:ext uri="{FF2B5EF4-FFF2-40B4-BE49-F238E27FC236}">
                <a16:creationId xmlns:a16="http://schemas.microsoft.com/office/drawing/2014/main" id="{0A4660C2-7870-2FE0-7D10-A97173885CB0}"/>
              </a:ext>
            </a:extLst>
          </p:cNvPr>
          <p:cNvSpPr/>
          <p:nvPr/>
        </p:nvSpPr>
        <p:spPr>
          <a:xfrm>
            <a:off x="4495655" y="3955550"/>
            <a:ext cx="608513"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01" name="四角形: 角を丸くする 300">
            <a:extLst>
              <a:ext uri="{FF2B5EF4-FFF2-40B4-BE49-F238E27FC236}">
                <a16:creationId xmlns:a16="http://schemas.microsoft.com/office/drawing/2014/main" id="{2C6EA167-8321-ADEA-C42F-6EFFCF4F993A}"/>
              </a:ext>
            </a:extLst>
          </p:cNvPr>
          <p:cNvSpPr/>
          <p:nvPr/>
        </p:nvSpPr>
        <p:spPr>
          <a:xfrm>
            <a:off x="4480414" y="4443160"/>
            <a:ext cx="608513"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02" name="四角形: 角を丸くする 301">
            <a:extLst>
              <a:ext uri="{FF2B5EF4-FFF2-40B4-BE49-F238E27FC236}">
                <a16:creationId xmlns:a16="http://schemas.microsoft.com/office/drawing/2014/main" id="{E5D15C42-0DDE-0335-E18E-7FA58E44C491}"/>
              </a:ext>
            </a:extLst>
          </p:cNvPr>
          <p:cNvSpPr/>
          <p:nvPr/>
        </p:nvSpPr>
        <p:spPr>
          <a:xfrm>
            <a:off x="5179526" y="4308059"/>
            <a:ext cx="415623"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03" name="四角形: 角を丸くする 302">
            <a:extLst>
              <a:ext uri="{FF2B5EF4-FFF2-40B4-BE49-F238E27FC236}">
                <a16:creationId xmlns:a16="http://schemas.microsoft.com/office/drawing/2014/main" id="{1FF1BF67-D98D-EB02-7F43-E78BB1CEBDF9}"/>
              </a:ext>
            </a:extLst>
          </p:cNvPr>
          <p:cNvSpPr/>
          <p:nvPr/>
        </p:nvSpPr>
        <p:spPr>
          <a:xfrm>
            <a:off x="6480429" y="3858946"/>
            <a:ext cx="736300"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04" name="四角形: 角を丸くする 303">
            <a:extLst>
              <a:ext uri="{FF2B5EF4-FFF2-40B4-BE49-F238E27FC236}">
                <a16:creationId xmlns:a16="http://schemas.microsoft.com/office/drawing/2014/main" id="{7101B57F-C421-CD23-6914-13C841438FC8}"/>
              </a:ext>
            </a:extLst>
          </p:cNvPr>
          <p:cNvSpPr/>
          <p:nvPr/>
        </p:nvSpPr>
        <p:spPr>
          <a:xfrm>
            <a:off x="3436133" y="3767763"/>
            <a:ext cx="457185"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05" name="四角形: 角を丸くする 304">
            <a:extLst>
              <a:ext uri="{FF2B5EF4-FFF2-40B4-BE49-F238E27FC236}">
                <a16:creationId xmlns:a16="http://schemas.microsoft.com/office/drawing/2014/main" id="{855FA62A-0C78-C189-C405-7C9CC080527C}"/>
              </a:ext>
            </a:extLst>
          </p:cNvPr>
          <p:cNvSpPr/>
          <p:nvPr/>
        </p:nvSpPr>
        <p:spPr>
          <a:xfrm>
            <a:off x="3842968" y="3370533"/>
            <a:ext cx="457185"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06" name="四角形: 角を丸くする 305">
            <a:extLst>
              <a:ext uri="{FF2B5EF4-FFF2-40B4-BE49-F238E27FC236}">
                <a16:creationId xmlns:a16="http://schemas.microsoft.com/office/drawing/2014/main" id="{7EF4132B-5340-62C3-820B-A62F2E7068AF}"/>
              </a:ext>
            </a:extLst>
          </p:cNvPr>
          <p:cNvSpPr/>
          <p:nvPr/>
        </p:nvSpPr>
        <p:spPr>
          <a:xfrm>
            <a:off x="2122038" y="4172396"/>
            <a:ext cx="553194"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07" name="四角形: 角を丸くする 306">
            <a:extLst>
              <a:ext uri="{FF2B5EF4-FFF2-40B4-BE49-F238E27FC236}">
                <a16:creationId xmlns:a16="http://schemas.microsoft.com/office/drawing/2014/main" id="{BA9CBE67-F190-76DA-BC74-18D24B084C64}"/>
              </a:ext>
            </a:extLst>
          </p:cNvPr>
          <p:cNvSpPr/>
          <p:nvPr/>
        </p:nvSpPr>
        <p:spPr>
          <a:xfrm>
            <a:off x="3082158" y="4157156"/>
            <a:ext cx="553194"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08" name="四角形: 角を丸くする 307">
            <a:extLst>
              <a:ext uri="{FF2B5EF4-FFF2-40B4-BE49-F238E27FC236}">
                <a16:creationId xmlns:a16="http://schemas.microsoft.com/office/drawing/2014/main" id="{F1D90042-85C2-DD7A-DDD4-BE3E1D67C788}"/>
              </a:ext>
            </a:extLst>
          </p:cNvPr>
          <p:cNvSpPr/>
          <p:nvPr/>
        </p:nvSpPr>
        <p:spPr>
          <a:xfrm>
            <a:off x="3287898" y="4561016"/>
            <a:ext cx="553194"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09" name="四角形: 角を丸くする 308">
            <a:extLst>
              <a:ext uri="{FF2B5EF4-FFF2-40B4-BE49-F238E27FC236}">
                <a16:creationId xmlns:a16="http://schemas.microsoft.com/office/drawing/2014/main" id="{477C4023-E323-6539-8C66-AD953761862D}"/>
              </a:ext>
            </a:extLst>
          </p:cNvPr>
          <p:cNvSpPr/>
          <p:nvPr/>
        </p:nvSpPr>
        <p:spPr>
          <a:xfrm>
            <a:off x="6569446" y="2945246"/>
            <a:ext cx="809930"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310" name="四角形: 角を丸くする 309">
            <a:extLst>
              <a:ext uri="{FF2B5EF4-FFF2-40B4-BE49-F238E27FC236}">
                <a16:creationId xmlns:a16="http://schemas.microsoft.com/office/drawing/2014/main" id="{E9725BC4-7279-9559-8ACF-391FBB297F53}"/>
              </a:ext>
            </a:extLst>
          </p:cNvPr>
          <p:cNvSpPr/>
          <p:nvPr/>
        </p:nvSpPr>
        <p:spPr>
          <a:xfrm>
            <a:off x="6270701" y="2771805"/>
            <a:ext cx="502904"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11" name="四角形: 角を丸くする 310">
            <a:extLst>
              <a:ext uri="{FF2B5EF4-FFF2-40B4-BE49-F238E27FC236}">
                <a16:creationId xmlns:a16="http://schemas.microsoft.com/office/drawing/2014/main" id="{70EF0A6A-480C-B8DE-E1E0-8EE4356E3256}"/>
              </a:ext>
            </a:extLst>
          </p:cNvPr>
          <p:cNvSpPr/>
          <p:nvPr/>
        </p:nvSpPr>
        <p:spPr>
          <a:xfrm>
            <a:off x="5507998" y="3495837"/>
            <a:ext cx="553194"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12" name="四角形: 角を丸くする 311">
            <a:extLst>
              <a:ext uri="{FF2B5EF4-FFF2-40B4-BE49-F238E27FC236}">
                <a16:creationId xmlns:a16="http://schemas.microsoft.com/office/drawing/2014/main" id="{DDA4E65B-9A4E-1B81-A022-47ED7B0F1535}"/>
              </a:ext>
            </a:extLst>
          </p:cNvPr>
          <p:cNvSpPr/>
          <p:nvPr/>
        </p:nvSpPr>
        <p:spPr>
          <a:xfrm>
            <a:off x="5978885" y="3632681"/>
            <a:ext cx="60851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13" name="四角形: 角を丸くする 312">
            <a:extLst>
              <a:ext uri="{FF2B5EF4-FFF2-40B4-BE49-F238E27FC236}">
                <a16:creationId xmlns:a16="http://schemas.microsoft.com/office/drawing/2014/main" id="{C555FC1D-139B-EB7F-F671-BF6E8D138577}"/>
              </a:ext>
            </a:extLst>
          </p:cNvPr>
          <p:cNvSpPr/>
          <p:nvPr/>
        </p:nvSpPr>
        <p:spPr>
          <a:xfrm>
            <a:off x="5782123" y="3945114"/>
            <a:ext cx="60851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14" name="四角形: 角を丸くする 313">
            <a:extLst>
              <a:ext uri="{FF2B5EF4-FFF2-40B4-BE49-F238E27FC236}">
                <a16:creationId xmlns:a16="http://schemas.microsoft.com/office/drawing/2014/main" id="{2422CEF7-7C80-0FC1-7954-9DE818ACEA92}"/>
              </a:ext>
            </a:extLst>
          </p:cNvPr>
          <p:cNvSpPr/>
          <p:nvPr/>
        </p:nvSpPr>
        <p:spPr>
          <a:xfrm>
            <a:off x="6977679" y="3258168"/>
            <a:ext cx="890923"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315" name="四角形: 角を丸くする 314">
            <a:extLst>
              <a:ext uri="{FF2B5EF4-FFF2-40B4-BE49-F238E27FC236}">
                <a16:creationId xmlns:a16="http://schemas.microsoft.com/office/drawing/2014/main" id="{32BCB8E4-8A1D-CE20-F2B4-CB2ED0C64BDF}"/>
              </a:ext>
            </a:extLst>
          </p:cNvPr>
          <p:cNvSpPr/>
          <p:nvPr/>
        </p:nvSpPr>
        <p:spPr>
          <a:xfrm>
            <a:off x="7163402" y="3950896"/>
            <a:ext cx="502904"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317" name="四角形: 角を丸くする 316">
            <a:extLst>
              <a:ext uri="{FF2B5EF4-FFF2-40B4-BE49-F238E27FC236}">
                <a16:creationId xmlns:a16="http://schemas.microsoft.com/office/drawing/2014/main" id="{C420241E-F0EC-38F1-D980-105E86BCFBBF}"/>
              </a:ext>
            </a:extLst>
          </p:cNvPr>
          <p:cNvSpPr/>
          <p:nvPr/>
        </p:nvSpPr>
        <p:spPr>
          <a:xfrm>
            <a:off x="7033862" y="3752776"/>
            <a:ext cx="502904"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319" name="四角形: 角を丸くする 318">
            <a:extLst>
              <a:ext uri="{FF2B5EF4-FFF2-40B4-BE49-F238E27FC236}">
                <a16:creationId xmlns:a16="http://schemas.microsoft.com/office/drawing/2014/main" id="{8FE01BBE-38A4-0C79-4FB2-E279446EEB31}"/>
              </a:ext>
            </a:extLst>
          </p:cNvPr>
          <p:cNvSpPr/>
          <p:nvPr/>
        </p:nvSpPr>
        <p:spPr>
          <a:xfrm>
            <a:off x="6172685" y="4436849"/>
            <a:ext cx="502904"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32" name="四角形: 角を丸くする 831">
            <a:extLst>
              <a:ext uri="{FF2B5EF4-FFF2-40B4-BE49-F238E27FC236}">
                <a16:creationId xmlns:a16="http://schemas.microsoft.com/office/drawing/2014/main" id="{24AFCB84-EA86-8DAD-4310-70F3B81580FD}"/>
              </a:ext>
            </a:extLst>
          </p:cNvPr>
          <p:cNvSpPr/>
          <p:nvPr/>
        </p:nvSpPr>
        <p:spPr>
          <a:xfrm>
            <a:off x="6644345" y="4427125"/>
            <a:ext cx="608513"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33" name="四角形: 角を丸くする 832">
            <a:extLst>
              <a:ext uri="{FF2B5EF4-FFF2-40B4-BE49-F238E27FC236}">
                <a16:creationId xmlns:a16="http://schemas.microsoft.com/office/drawing/2014/main" id="{B55CFC40-A739-CA5B-C3C0-197909FE3032}"/>
              </a:ext>
            </a:extLst>
          </p:cNvPr>
          <p:cNvSpPr/>
          <p:nvPr/>
        </p:nvSpPr>
        <p:spPr>
          <a:xfrm>
            <a:off x="6577062" y="4543139"/>
            <a:ext cx="258069"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834" name="四角形: 角を丸くする 833">
            <a:extLst>
              <a:ext uri="{FF2B5EF4-FFF2-40B4-BE49-F238E27FC236}">
                <a16:creationId xmlns:a16="http://schemas.microsoft.com/office/drawing/2014/main" id="{96EC41A0-C5D7-FAF2-6C6A-C87FEF82D426}"/>
              </a:ext>
            </a:extLst>
          </p:cNvPr>
          <p:cNvSpPr/>
          <p:nvPr/>
        </p:nvSpPr>
        <p:spPr>
          <a:xfrm>
            <a:off x="5318151" y="4550759"/>
            <a:ext cx="809930"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835" name="四角形: 角を丸くする 834">
            <a:extLst>
              <a:ext uri="{FF2B5EF4-FFF2-40B4-BE49-F238E27FC236}">
                <a16:creationId xmlns:a16="http://schemas.microsoft.com/office/drawing/2014/main" id="{14A04D8E-EFA0-D548-10C0-172114965470}"/>
              </a:ext>
            </a:extLst>
          </p:cNvPr>
          <p:cNvSpPr/>
          <p:nvPr/>
        </p:nvSpPr>
        <p:spPr>
          <a:xfrm>
            <a:off x="5098820" y="4459319"/>
            <a:ext cx="60851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836" name="四角形: 角を丸くする 835">
            <a:extLst>
              <a:ext uri="{FF2B5EF4-FFF2-40B4-BE49-F238E27FC236}">
                <a16:creationId xmlns:a16="http://schemas.microsoft.com/office/drawing/2014/main" id="{8DBBEA3A-0514-7F70-0ED1-F954671FAC05}"/>
              </a:ext>
            </a:extLst>
          </p:cNvPr>
          <p:cNvSpPr/>
          <p:nvPr/>
        </p:nvSpPr>
        <p:spPr>
          <a:xfrm>
            <a:off x="5242233" y="3333940"/>
            <a:ext cx="415623"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37" name="四角形: 角を丸くする 836">
            <a:extLst>
              <a:ext uri="{FF2B5EF4-FFF2-40B4-BE49-F238E27FC236}">
                <a16:creationId xmlns:a16="http://schemas.microsoft.com/office/drawing/2014/main" id="{DA8BCC63-5614-5103-FA21-B706A6409F98}"/>
              </a:ext>
            </a:extLst>
          </p:cNvPr>
          <p:cNvSpPr/>
          <p:nvPr/>
        </p:nvSpPr>
        <p:spPr>
          <a:xfrm>
            <a:off x="4364503" y="4530280"/>
            <a:ext cx="890923"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38" name="四角形: 角を丸くする 837">
            <a:extLst>
              <a:ext uri="{FF2B5EF4-FFF2-40B4-BE49-F238E27FC236}">
                <a16:creationId xmlns:a16="http://schemas.microsoft.com/office/drawing/2014/main" id="{CC9B01F5-A1E0-2B4C-AB3A-DAF33E2EDB9D}"/>
              </a:ext>
            </a:extLst>
          </p:cNvPr>
          <p:cNvSpPr/>
          <p:nvPr/>
        </p:nvSpPr>
        <p:spPr>
          <a:xfrm>
            <a:off x="3438962" y="4255960"/>
            <a:ext cx="669364"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39" name="四角形: 角を丸くする 838">
            <a:extLst>
              <a:ext uri="{FF2B5EF4-FFF2-40B4-BE49-F238E27FC236}">
                <a16:creationId xmlns:a16="http://schemas.microsoft.com/office/drawing/2014/main" id="{C3D601C2-E450-D9DB-27D9-7010053DD16D}"/>
              </a:ext>
            </a:extLst>
          </p:cNvPr>
          <p:cNvSpPr/>
          <p:nvPr/>
        </p:nvSpPr>
        <p:spPr>
          <a:xfrm>
            <a:off x="2468347" y="4414875"/>
            <a:ext cx="553194" cy="13029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40" name="四角形: 角を丸くする 839">
            <a:extLst>
              <a:ext uri="{FF2B5EF4-FFF2-40B4-BE49-F238E27FC236}">
                <a16:creationId xmlns:a16="http://schemas.microsoft.com/office/drawing/2014/main" id="{DF5B2D88-3AB4-B9F3-FD41-CE74E6261BA3}"/>
              </a:ext>
            </a:extLst>
          </p:cNvPr>
          <p:cNvSpPr/>
          <p:nvPr/>
        </p:nvSpPr>
        <p:spPr>
          <a:xfrm>
            <a:off x="2140687" y="4292955"/>
            <a:ext cx="553194" cy="13029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41" name="四角形: 角を丸くする 840">
            <a:extLst>
              <a:ext uri="{FF2B5EF4-FFF2-40B4-BE49-F238E27FC236}">
                <a16:creationId xmlns:a16="http://schemas.microsoft.com/office/drawing/2014/main" id="{3B5D113E-EA30-88A6-65EB-B0B493DA1AC0}"/>
              </a:ext>
            </a:extLst>
          </p:cNvPr>
          <p:cNvSpPr/>
          <p:nvPr/>
        </p:nvSpPr>
        <p:spPr>
          <a:xfrm>
            <a:off x="1520570" y="3788925"/>
            <a:ext cx="415623" cy="118454"/>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842" name="四角形: 角を丸くする 841">
            <a:extLst>
              <a:ext uri="{FF2B5EF4-FFF2-40B4-BE49-F238E27FC236}">
                <a16:creationId xmlns:a16="http://schemas.microsoft.com/office/drawing/2014/main" id="{1DCA9EBF-F35E-F449-5F00-49665FEC76AA}"/>
              </a:ext>
            </a:extLst>
          </p:cNvPr>
          <p:cNvSpPr/>
          <p:nvPr/>
        </p:nvSpPr>
        <p:spPr>
          <a:xfrm>
            <a:off x="7092382" y="4073338"/>
            <a:ext cx="809930"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43" name="四角形: 角を丸くする 842">
            <a:extLst>
              <a:ext uri="{FF2B5EF4-FFF2-40B4-BE49-F238E27FC236}">
                <a16:creationId xmlns:a16="http://schemas.microsoft.com/office/drawing/2014/main" id="{A468E33B-16B4-2571-5673-8FF02892353B}"/>
              </a:ext>
            </a:extLst>
          </p:cNvPr>
          <p:cNvSpPr/>
          <p:nvPr/>
        </p:nvSpPr>
        <p:spPr>
          <a:xfrm>
            <a:off x="7335050" y="4164778"/>
            <a:ext cx="553194"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44" name="四角形: 角を丸くする 843">
            <a:extLst>
              <a:ext uri="{FF2B5EF4-FFF2-40B4-BE49-F238E27FC236}">
                <a16:creationId xmlns:a16="http://schemas.microsoft.com/office/drawing/2014/main" id="{92D0A398-14ED-615B-C596-E37EAFB4F147}"/>
              </a:ext>
            </a:extLst>
          </p:cNvPr>
          <p:cNvSpPr/>
          <p:nvPr/>
        </p:nvSpPr>
        <p:spPr>
          <a:xfrm>
            <a:off x="7498928" y="4309558"/>
            <a:ext cx="377839"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45" name="四角形: 角を丸くする 844">
            <a:extLst>
              <a:ext uri="{FF2B5EF4-FFF2-40B4-BE49-F238E27FC236}">
                <a16:creationId xmlns:a16="http://schemas.microsoft.com/office/drawing/2014/main" id="{41F95976-391F-4D69-766D-D259251A0531}"/>
              </a:ext>
            </a:extLst>
          </p:cNvPr>
          <p:cNvSpPr/>
          <p:nvPr/>
        </p:nvSpPr>
        <p:spPr>
          <a:xfrm>
            <a:off x="7184935" y="4484818"/>
            <a:ext cx="457185"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46" name="四角形: 角を丸くする 845">
            <a:extLst>
              <a:ext uri="{FF2B5EF4-FFF2-40B4-BE49-F238E27FC236}">
                <a16:creationId xmlns:a16="http://schemas.microsoft.com/office/drawing/2014/main" id="{4F9FF10C-4B51-0728-397B-931F38BBA346}"/>
              </a:ext>
            </a:extLst>
          </p:cNvPr>
          <p:cNvSpPr/>
          <p:nvPr/>
        </p:nvSpPr>
        <p:spPr>
          <a:xfrm>
            <a:off x="2175646" y="3684595"/>
            <a:ext cx="553194"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47" name="四角形: 角を丸くする 846">
            <a:extLst>
              <a:ext uri="{FF2B5EF4-FFF2-40B4-BE49-F238E27FC236}">
                <a16:creationId xmlns:a16="http://schemas.microsoft.com/office/drawing/2014/main" id="{40A844A6-4AF1-AEC7-79CD-A18A1E728AC1}"/>
              </a:ext>
            </a:extLst>
          </p:cNvPr>
          <p:cNvSpPr/>
          <p:nvPr/>
        </p:nvSpPr>
        <p:spPr>
          <a:xfrm>
            <a:off x="6476593" y="4625136"/>
            <a:ext cx="809930" cy="118454"/>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48" name="四角形: 角を丸くする 847">
            <a:extLst>
              <a:ext uri="{FF2B5EF4-FFF2-40B4-BE49-F238E27FC236}">
                <a16:creationId xmlns:a16="http://schemas.microsoft.com/office/drawing/2014/main" id="{F09E8618-3A5C-2B1D-B885-E58D07968D23}"/>
              </a:ext>
            </a:extLst>
          </p:cNvPr>
          <p:cNvSpPr/>
          <p:nvPr/>
        </p:nvSpPr>
        <p:spPr>
          <a:xfrm>
            <a:off x="3187732" y="5128307"/>
            <a:ext cx="736300"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pic>
        <p:nvPicPr>
          <p:cNvPr id="849" name="図 848" descr="LINEヤフー株式会社」発足 | LINEヤフー株式会社のプレスリリース">
            <a:extLst>
              <a:ext uri="{FF2B5EF4-FFF2-40B4-BE49-F238E27FC236}">
                <a16:creationId xmlns:a16="http://schemas.microsoft.com/office/drawing/2014/main" id="{60D7FCFC-3E1E-701A-1303-62D7A9D128FA}"/>
              </a:ext>
            </a:extLst>
          </p:cNvPr>
          <p:cNvPicPr>
            <a:picLocks noChangeAspect="1"/>
          </p:cNvPicPr>
          <p:nvPr/>
        </p:nvPicPr>
        <p:blipFill>
          <a:blip r:embed="rId4"/>
          <a:stretch>
            <a:fillRect/>
          </a:stretch>
        </p:blipFill>
        <p:spPr>
          <a:xfrm>
            <a:off x="46676" y="1461167"/>
            <a:ext cx="1005885" cy="288352"/>
          </a:xfrm>
          <a:prstGeom prst="rect">
            <a:avLst/>
          </a:prstGeom>
        </p:spPr>
      </p:pic>
      <p:sp>
        <p:nvSpPr>
          <p:cNvPr id="850" name="テキスト ボックス 849">
            <a:extLst>
              <a:ext uri="{FF2B5EF4-FFF2-40B4-BE49-F238E27FC236}">
                <a16:creationId xmlns:a16="http://schemas.microsoft.com/office/drawing/2014/main" id="{3A261F00-4A8B-21CB-F7B0-8CC632CF7CDD}"/>
              </a:ext>
            </a:extLst>
          </p:cNvPr>
          <p:cNvSpPr txBox="1"/>
          <p:nvPr/>
        </p:nvSpPr>
        <p:spPr>
          <a:xfrm>
            <a:off x="1009178" y="1497381"/>
            <a:ext cx="4962524" cy="253916"/>
          </a:xfrm>
          <a:prstGeom prst="rect">
            <a:avLst/>
          </a:prstGeom>
          <a:noFill/>
        </p:spPr>
        <p:txBody>
          <a:bodyPr wrap="square">
            <a:spAutoFit/>
          </a:bodyPr>
          <a:lstStyle/>
          <a:p>
            <a:r>
              <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上位代理店限定での公開データ</a:t>
            </a:r>
          </a:p>
        </p:txBody>
      </p:sp>
      <p:sp>
        <p:nvSpPr>
          <p:cNvPr id="851" name="テキスト ボックス 850">
            <a:extLst>
              <a:ext uri="{FF2B5EF4-FFF2-40B4-BE49-F238E27FC236}">
                <a16:creationId xmlns:a16="http://schemas.microsoft.com/office/drawing/2014/main" id="{3BD55E69-4725-07C2-26E9-B6484FEEF81E}"/>
              </a:ext>
            </a:extLst>
          </p:cNvPr>
          <p:cNvSpPr txBox="1"/>
          <p:nvPr/>
        </p:nvSpPr>
        <p:spPr>
          <a:xfrm>
            <a:off x="1646576" y="2519059"/>
            <a:ext cx="1576252" cy="253916"/>
          </a:xfrm>
          <a:prstGeom prst="rect">
            <a:avLst/>
          </a:prstGeom>
          <a:no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rPr>
              <a:t>の検索前後データ</a:t>
            </a:r>
            <a:endParaRPr kumimoji="1" lang="ja-JP" altLang="en-US" sz="1050" b="1" dirty="0">
              <a:solidFill>
                <a:schemeClr val="tx1"/>
              </a:solidFill>
              <a:latin typeface="メイリオ" panose="020B0604030504040204" pitchFamily="50" charset="-128"/>
              <a:ea typeface="メイリオ" panose="020B0604030504040204" pitchFamily="50" charset="-128"/>
            </a:endParaRPr>
          </a:p>
        </p:txBody>
      </p:sp>
      <p:sp>
        <p:nvSpPr>
          <p:cNvPr id="852" name="正方形/長方形 851">
            <a:extLst>
              <a:ext uri="{FF2B5EF4-FFF2-40B4-BE49-F238E27FC236}">
                <a16:creationId xmlns:a16="http://schemas.microsoft.com/office/drawing/2014/main" id="{461533CA-41F7-8934-E587-4E31271808B7}"/>
              </a:ext>
            </a:extLst>
          </p:cNvPr>
          <p:cNvSpPr/>
          <p:nvPr/>
        </p:nvSpPr>
        <p:spPr>
          <a:xfrm>
            <a:off x="1397588" y="2213387"/>
            <a:ext cx="1571444" cy="2834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転職エージェント</a:t>
            </a:r>
          </a:p>
        </p:txBody>
      </p:sp>
      <p:sp>
        <p:nvSpPr>
          <p:cNvPr id="3" name="矢印: 下 2">
            <a:extLst>
              <a:ext uri="{FF2B5EF4-FFF2-40B4-BE49-F238E27FC236}">
                <a16:creationId xmlns:a16="http://schemas.microsoft.com/office/drawing/2014/main" id="{4F31925E-982C-C749-2736-F69C9019276B}"/>
              </a:ext>
            </a:extLst>
          </p:cNvPr>
          <p:cNvSpPr/>
          <p:nvPr/>
        </p:nvSpPr>
        <p:spPr>
          <a:xfrm rot="16200000">
            <a:off x="7818572" y="4034181"/>
            <a:ext cx="792480" cy="586887"/>
          </a:xfrm>
          <a:prstGeom prst="downArrow">
            <a:avLst/>
          </a:prstGeom>
          <a:gradFill>
            <a:gsLst>
              <a:gs pos="4000">
                <a:schemeClr val="bg1">
                  <a:alpha val="70000"/>
                </a:schemeClr>
              </a:gs>
              <a:gs pos="100000">
                <a:schemeClr val="accent1">
                  <a:lumMod val="60000"/>
                  <a:lumOff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D67EC0E9-2D4D-AC08-2177-AA06F517920B}"/>
              </a:ext>
            </a:extLst>
          </p:cNvPr>
          <p:cNvSpPr txBox="1"/>
          <p:nvPr/>
        </p:nvSpPr>
        <p:spPr>
          <a:xfrm>
            <a:off x="8439270" y="4065718"/>
            <a:ext cx="1461731" cy="523220"/>
          </a:xfrm>
          <a:prstGeom prst="rect">
            <a:avLst/>
          </a:prstGeom>
          <a:noFill/>
        </p:spPr>
        <p:txBody>
          <a:bodyPr wrap="square">
            <a:spAutoFit/>
          </a:bodyPr>
          <a:lstStyle/>
          <a:p>
            <a:r>
              <a:rPr lang="ja-JP" altLang="en-US" sz="800" b="1" dirty="0">
                <a:latin typeface="メイリオ" panose="020B0604030504040204" pitchFamily="50" charset="-128"/>
                <a:ea typeface="メイリオ" panose="020B0604030504040204" pitchFamily="50" charset="-128"/>
              </a:rPr>
              <a:t>長期検討</a:t>
            </a:r>
            <a:r>
              <a:rPr lang="ja-JP" altLang="en-US" sz="800" dirty="0">
                <a:latin typeface="メイリオ" panose="020B0604030504040204" pitchFamily="50" charset="-128"/>
                <a:ea typeface="メイリオ" panose="020B0604030504040204" pitchFamily="50" charset="-128"/>
              </a:rPr>
              <a:t>へ</a:t>
            </a:r>
            <a:endParaRPr lang="en-US" altLang="ja-JP" sz="800" dirty="0">
              <a:latin typeface="メイリオ" panose="020B0604030504040204" pitchFamily="50" charset="-128"/>
              <a:ea typeface="メイリオ" panose="020B0604030504040204" pitchFamily="50" charset="-128"/>
            </a:endParaRPr>
          </a:p>
          <a:p>
            <a:endParaRPr lang="en-US" altLang="ja-JP" sz="400">
              <a:latin typeface="メイリオ" panose="020B0604030504040204" pitchFamily="50" charset="-128"/>
              <a:ea typeface="メイリオ" panose="020B0604030504040204" pitchFamily="50" charset="-128"/>
            </a:endParaRPr>
          </a:p>
          <a:p>
            <a:r>
              <a:rPr lang="ja-JP" altLang="en-US" sz="800">
                <a:solidFill>
                  <a:schemeClr val="tx1">
                    <a:lumMod val="65000"/>
                    <a:lumOff val="35000"/>
                  </a:schemeClr>
                </a:solidFill>
                <a:latin typeface="メイリオ" panose="020B0604030504040204" pitchFamily="50" charset="-128"/>
                <a:ea typeface="メイリオ" panose="020B0604030504040204" pitchFamily="50" charset="-128"/>
              </a:rPr>
              <a:t>（休眠顧客開拓）</a:t>
            </a:r>
            <a:endParaRPr lang="en-US" altLang="ja-JP" sz="800">
              <a:solidFill>
                <a:schemeClr val="tx1">
                  <a:lumMod val="65000"/>
                  <a:lumOff val="35000"/>
                </a:schemeClr>
              </a:solidFill>
              <a:latin typeface="メイリオ" panose="020B0604030504040204" pitchFamily="50" charset="-128"/>
              <a:ea typeface="メイリオ" panose="020B0604030504040204" pitchFamily="50" charset="-128"/>
            </a:endParaRPr>
          </a:p>
          <a:p>
            <a:r>
              <a:rPr kumimoji="1" lang="ja-JP" altLang="en-US" sz="800">
                <a:solidFill>
                  <a:schemeClr val="tx1">
                    <a:lumMod val="65000"/>
                    <a:lumOff val="35000"/>
                  </a:schemeClr>
                </a:solidFill>
                <a:latin typeface="メイリオ" panose="020B0604030504040204" pitchFamily="50" charset="-128"/>
                <a:ea typeface="メイリオ" panose="020B0604030504040204" pitchFamily="50" charset="-128"/>
              </a:rPr>
              <a:t>（検討時期の長期化）</a:t>
            </a:r>
            <a:endParaRPr kumimoji="1" lang="ja-JP" altLang="en-US" sz="8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12" name="四角形: 角を丸くする 11">
            <a:extLst>
              <a:ext uri="{FF2B5EF4-FFF2-40B4-BE49-F238E27FC236}">
                <a16:creationId xmlns:a16="http://schemas.microsoft.com/office/drawing/2014/main" id="{8C4735AA-05E6-2765-3241-F1C0FD49D261}"/>
              </a:ext>
            </a:extLst>
          </p:cNvPr>
          <p:cNvSpPr/>
          <p:nvPr/>
        </p:nvSpPr>
        <p:spPr>
          <a:xfrm>
            <a:off x="8469785" y="4170045"/>
            <a:ext cx="980015" cy="63312"/>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7180365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974A8-2F0E-DE00-F3F1-DE7A55A8B727}"/>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816EC0D3-8B92-C366-931F-8E0D0054419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施策の考え方（短期：ステップ配信）</a:t>
            </a:r>
          </a:p>
        </p:txBody>
      </p:sp>
      <p:sp>
        <p:nvSpPr>
          <p:cNvPr id="8" name="正方形/長方形 7">
            <a:extLst>
              <a:ext uri="{FF2B5EF4-FFF2-40B4-BE49-F238E27FC236}">
                <a16:creationId xmlns:a16="http://schemas.microsoft.com/office/drawing/2014/main" id="{315B3646-9E2E-6F40-2994-87803CA084A9}"/>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rPr>
              <a:t>ステップ配信</a:t>
            </a:r>
          </a:p>
        </p:txBody>
      </p:sp>
      <p:sp>
        <p:nvSpPr>
          <p:cNvPr id="10" name="Google Shape;752;p28">
            <a:extLst>
              <a:ext uri="{FF2B5EF4-FFF2-40B4-BE49-F238E27FC236}">
                <a16:creationId xmlns:a16="http://schemas.microsoft.com/office/drawing/2014/main" id="{6C3BE050-25AB-CAF4-DDEA-32FB95EA3D92}"/>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検討が始まったタイミング（業界キーワードの検索）から段階ごとに</a:t>
            </a:r>
          </a:p>
          <a:p>
            <a:r>
              <a:rPr lang="ja-JP" altLang="en-US" sz="1600" b="1" dirty="0">
                <a:latin typeface="メイリオ" panose="020B0604030504040204" pitchFamily="50" charset="-128"/>
                <a:ea typeface="メイリオ" panose="020B0604030504040204" pitchFamily="50" charset="-128"/>
                <a:cs typeface="Meiryo"/>
                <a:sym typeface="Meiryo"/>
              </a:rPr>
              <a:t>不安を解消し、信頼を積み上げて15日以内に、CVへつなげる配信を構築。</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242" name="四角形: 角を丸くする 241">
            <a:extLst>
              <a:ext uri="{FF2B5EF4-FFF2-40B4-BE49-F238E27FC236}">
                <a16:creationId xmlns:a16="http://schemas.microsoft.com/office/drawing/2014/main" id="{812533A9-C7B7-5409-741D-9F06F60FC4F0}"/>
              </a:ext>
            </a:extLst>
          </p:cNvPr>
          <p:cNvSpPr/>
          <p:nvPr/>
        </p:nvSpPr>
        <p:spPr>
          <a:xfrm>
            <a:off x="4756154" y="160947"/>
            <a:ext cx="1752679" cy="269057"/>
          </a:xfrm>
          <a:prstGeom prst="round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ご提案時に詳細記載</a:t>
            </a:r>
          </a:p>
        </p:txBody>
      </p:sp>
      <p:sp>
        <p:nvSpPr>
          <p:cNvPr id="915" name="TextBox 27">
            <a:extLst>
              <a:ext uri="{FF2B5EF4-FFF2-40B4-BE49-F238E27FC236}">
                <a16:creationId xmlns:a16="http://schemas.microsoft.com/office/drawing/2014/main" id="{5BFBF573-5D82-D526-FDE7-07974DC4CAE4}"/>
              </a:ext>
            </a:extLst>
          </p:cNvPr>
          <p:cNvSpPr txBox="1"/>
          <p:nvPr/>
        </p:nvSpPr>
        <p:spPr>
          <a:xfrm>
            <a:off x="266700" y="5459687"/>
            <a:ext cx="9372600" cy="508216"/>
          </a:xfrm>
          <a:prstGeom prst="rect">
            <a:avLst/>
          </a:prstGeom>
          <a:noFill/>
        </p:spPr>
        <p:txBody>
          <a:bodyPr wrap="square">
            <a:spAutoFit/>
          </a:bodyPr>
          <a:lstStyle/>
          <a:p>
            <a:pPr>
              <a:lnSpc>
                <a:spcPct val="120000"/>
              </a:lnSpc>
              <a:buClr>
                <a:srgbClr val="000000"/>
              </a:buClr>
              <a:buFont typeface="Arial"/>
              <a:buNone/>
            </a:pPr>
            <a:r>
              <a:rPr kumimoji="0" sz="1150" kern="0" dirty="0">
                <a:solidFill>
                  <a:srgbClr val="5A6378"/>
                </a:solidFill>
                <a:latin typeface="メイリオ" panose="020B0604030504040204" pitchFamily="50" charset="-128"/>
                <a:ea typeface="メイリオ" panose="020B0604030504040204" pitchFamily="50" charset="-128"/>
                <a:cs typeface="Arial"/>
                <a:sym typeface="Arial"/>
              </a:rPr>
              <a:t>検索直後の高い検討度（Day0〜2）→ 手続き不安の解消（Day4〜5）→ 比較検討（Day8〜9）</a:t>
            </a:r>
            <a:endParaRPr kumimoji="0" lang="en-US" sz="1150" kern="0" dirty="0">
              <a:solidFill>
                <a:srgbClr val="5A6378"/>
              </a:solidFill>
              <a:latin typeface="メイリオ" panose="020B0604030504040204" pitchFamily="50" charset="-128"/>
              <a:ea typeface="メイリオ" panose="020B0604030504040204" pitchFamily="50" charset="-128"/>
              <a:cs typeface="Arial"/>
              <a:sym typeface="Arial"/>
            </a:endParaRPr>
          </a:p>
          <a:p>
            <a:pPr>
              <a:lnSpc>
                <a:spcPct val="120000"/>
              </a:lnSpc>
              <a:buClr>
                <a:srgbClr val="000000"/>
              </a:buClr>
              <a:buFont typeface="Arial"/>
              <a:buNone/>
            </a:pPr>
            <a:r>
              <a:rPr kumimoji="0" sz="1150" kern="0" dirty="0">
                <a:solidFill>
                  <a:srgbClr val="5A6378"/>
                </a:solidFill>
                <a:latin typeface="メイリオ" panose="020B0604030504040204" pitchFamily="50" charset="-128"/>
                <a:ea typeface="メイリオ" panose="020B0604030504040204" pitchFamily="50" charset="-128"/>
                <a:cs typeface="Arial"/>
                <a:sym typeface="Arial"/>
              </a:rPr>
              <a:t>→ </a:t>
            </a:r>
            <a:r>
              <a:rPr kumimoji="0" sz="1150" kern="0" dirty="0" err="1">
                <a:solidFill>
                  <a:srgbClr val="5A6378"/>
                </a:solidFill>
                <a:latin typeface="メイリオ" panose="020B0604030504040204" pitchFamily="50" charset="-128"/>
                <a:ea typeface="メイリオ" panose="020B0604030504040204" pitchFamily="50" charset="-128"/>
                <a:cs typeface="Arial"/>
                <a:sym typeface="Arial"/>
              </a:rPr>
              <a:t>相談オファ</a:t>
            </a:r>
            <a:r>
              <a:rPr kumimoji="0" sz="1150" kern="0" dirty="0">
                <a:solidFill>
                  <a:srgbClr val="5A6378"/>
                </a:solidFill>
                <a:latin typeface="メイリオ" panose="020B0604030504040204" pitchFamily="50" charset="-128"/>
                <a:ea typeface="メイリオ" panose="020B0604030504040204" pitchFamily="50" charset="-128"/>
                <a:cs typeface="Arial"/>
                <a:sym typeface="Arial"/>
              </a:rPr>
              <a:t>ー（Day12〜15）と、</a:t>
            </a:r>
            <a:r>
              <a:rPr kumimoji="0" sz="1150" b="1" kern="0" dirty="0">
                <a:solidFill>
                  <a:srgbClr val="FF0000"/>
                </a:solidFill>
                <a:latin typeface="メイリオ" panose="020B0604030504040204" pitchFamily="50" charset="-128"/>
                <a:ea typeface="メイリオ" panose="020B0604030504040204" pitchFamily="50" charset="-128"/>
                <a:cs typeface="Arial"/>
                <a:sym typeface="Arial"/>
              </a:rPr>
              <a:t>段階的に信頼を積み上げながら最終コンバージョンへ誘導する</a:t>
            </a:r>
            <a:r>
              <a:rPr kumimoji="0" sz="1150" kern="0" dirty="0">
                <a:solidFill>
                  <a:srgbClr val="5A6378"/>
                </a:solidFill>
                <a:latin typeface="メイリオ" panose="020B0604030504040204" pitchFamily="50" charset="-128"/>
                <a:ea typeface="メイリオ" panose="020B0604030504040204" pitchFamily="50" charset="-128"/>
                <a:cs typeface="Arial"/>
                <a:sym typeface="Arial"/>
              </a:rPr>
              <a:t>設計。</a:t>
            </a:r>
          </a:p>
        </p:txBody>
      </p:sp>
      <p:sp>
        <p:nvSpPr>
          <p:cNvPr id="181" name="Shape 13">
            <a:extLst>
              <a:ext uri="{FF2B5EF4-FFF2-40B4-BE49-F238E27FC236}">
                <a16:creationId xmlns:a16="http://schemas.microsoft.com/office/drawing/2014/main" id="{613DD4CE-3458-6634-E8E7-A78BCB6B80C7}"/>
              </a:ext>
            </a:extLst>
          </p:cNvPr>
          <p:cNvSpPr/>
          <p:nvPr/>
        </p:nvSpPr>
        <p:spPr>
          <a:xfrm>
            <a:off x="548883" y="1835845"/>
            <a:ext cx="1719072" cy="3363172"/>
          </a:xfrm>
          <a:prstGeom prst="roundRect">
            <a:avLst>
              <a:gd name="adj" fmla="val 3191"/>
            </a:avLst>
          </a:prstGeom>
          <a:solidFill>
            <a:srgbClr val="FFFFFF"/>
          </a:solidFill>
          <a:ln w="12700">
            <a:solidFill>
              <a:srgbClr val="DDDDDD"/>
            </a:solidFill>
            <a:prstDash val="solid"/>
          </a:ln>
          <a:effectLst>
            <a:outerShdw blurRad="38100" dist="12700" dir="8100000" algn="bl" rotWithShape="0">
              <a:srgbClr val="AAAAAA">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183" name="Shape 14">
            <a:extLst>
              <a:ext uri="{FF2B5EF4-FFF2-40B4-BE49-F238E27FC236}">
                <a16:creationId xmlns:a16="http://schemas.microsoft.com/office/drawing/2014/main" id="{F241DEE0-466F-BF0F-A5D7-0B83ECC33CF4}"/>
              </a:ext>
            </a:extLst>
          </p:cNvPr>
          <p:cNvSpPr/>
          <p:nvPr/>
        </p:nvSpPr>
        <p:spPr>
          <a:xfrm>
            <a:off x="548883" y="1835845"/>
            <a:ext cx="1719072" cy="585216"/>
          </a:xfrm>
          <a:prstGeom prst="roundRect">
            <a:avLst>
              <a:gd name="adj" fmla="val 9375"/>
            </a:avLst>
          </a:prstGeom>
          <a:solidFill>
            <a:srgbClr val="1F2B5C"/>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185" name="Text 15">
            <a:extLst>
              <a:ext uri="{FF2B5EF4-FFF2-40B4-BE49-F238E27FC236}">
                <a16:creationId xmlns:a16="http://schemas.microsoft.com/office/drawing/2014/main" id="{C3796E8D-94B9-ADB9-C46C-B3B1E855AC20}"/>
              </a:ext>
            </a:extLst>
          </p:cNvPr>
          <p:cNvSpPr/>
          <p:nvPr/>
        </p:nvSpPr>
        <p:spPr>
          <a:xfrm>
            <a:off x="640323" y="1872421"/>
            <a:ext cx="1536192" cy="274320"/>
          </a:xfrm>
          <a:prstGeom prst="rect">
            <a:avLst/>
          </a:prstGeom>
          <a:noFill/>
          <a:ln>
            <a:noFill/>
          </a:ln>
        </p:spPr>
        <p:txBody>
          <a:bodyPr wrap="square" lIns="0" tIns="0" rIns="0" bIns="0" rtlCol="0" anchor="ctr"/>
          <a:lstStyle/>
          <a:p>
            <a:pPr marL="0" indent="0" algn="ctr">
              <a:buNone/>
            </a:pPr>
            <a:r>
              <a:rPr lang="en-US" sz="1500" b="1" dirty="0">
                <a:solidFill>
                  <a:srgbClr val="FFFFFF"/>
                </a:solidFill>
                <a:latin typeface="メイリオ" panose="020B0604030504040204" pitchFamily="50" charset="-128"/>
                <a:ea typeface="メイリオ" panose="020B0604030504040204" pitchFamily="50" charset="-128"/>
                <a:cs typeface="Calibri" pitchFamily="34" charset="-120"/>
              </a:rPr>
              <a:t>Day0</a:t>
            </a:r>
            <a:endParaRPr lang="en-US" sz="1500" dirty="0">
              <a:latin typeface="メイリオ" panose="020B0604030504040204" pitchFamily="50" charset="-128"/>
              <a:ea typeface="メイリオ" panose="020B0604030504040204" pitchFamily="50" charset="-128"/>
            </a:endParaRPr>
          </a:p>
        </p:txBody>
      </p:sp>
      <p:sp>
        <p:nvSpPr>
          <p:cNvPr id="187" name="Text 16">
            <a:extLst>
              <a:ext uri="{FF2B5EF4-FFF2-40B4-BE49-F238E27FC236}">
                <a16:creationId xmlns:a16="http://schemas.microsoft.com/office/drawing/2014/main" id="{40B1EBE9-513F-1DA2-57B8-10DEB735AFF1}"/>
              </a:ext>
            </a:extLst>
          </p:cNvPr>
          <p:cNvSpPr/>
          <p:nvPr/>
        </p:nvSpPr>
        <p:spPr>
          <a:xfrm>
            <a:off x="640323" y="2146741"/>
            <a:ext cx="1536192" cy="201168"/>
          </a:xfrm>
          <a:prstGeom prst="rect">
            <a:avLst/>
          </a:prstGeom>
          <a:noFill/>
          <a:ln>
            <a:noFill/>
          </a:ln>
        </p:spPr>
        <p:txBody>
          <a:bodyPr wrap="square" lIns="0" tIns="0" rIns="0" bIns="0" rtlCol="0" anchor="ctr"/>
          <a:lstStyle/>
          <a:p>
            <a:pPr marL="0" indent="0" algn="ctr">
              <a:buNone/>
            </a:pPr>
            <a:r>
              <a:rPr lang="en-US" sz="900" dirty="0">
                <a:solidFill>
                  <a:srgbClr val="D0E8FF"/>
                </a:solidFill>
                <a:latin typeface="メイリオ" panose="020B0604030504040204" pitchFamily="50" charset="-128"/>
                <a:ea typeface="メイリオ" panose="020B0604030504040204" pitchFamily="50" charset="-128"/>
                <a:cs typeface="Calibri" pitchFamily="34" charset="-120"/>
              </a:rPr>
              <a:t>追加直後：診断</a:t>
            </a:r>
            <a:endParaRPr lang="en-US" sz="900" dirty="0">
              <a:latin typeface="メイリオ" panose="020B0604030504040204" pitchFamily="50" charset="-128"/>
              <a:ea typeface="メイリオ" panose="020B0604030504040204" pitchFamily="50" charset="-128"/>
            </a:endParaRPr>
          </a:p>
        </p:txBody>
      </p:sp>
      <p:sp>
        <p:nvSpPr>
          <p:cNvPr id="189" name="Text 17">
            <a:extLst>
              <a:ext uri="{FF2B5EF4-FFF2-40B4-BE49-F238E27FC236}">
                <a16:creationId xmlns:a16="http://schemas.microsoft.com/office/drawing/2014/main" id="{A58EB949-612E-4D86-A2F6-7E6DFE1C9A09}"/>
              </a:ext>
            </a:extLst>
          </p:cNvPr>
          <p:cNvSpPr/>
          <p:nvPr/>
        </p:nvSpPr>
        <p:spPr>
          <a:xfrm>
            <a:off x="658611" y="2494213"/>
            <a:ext cx="1499616" cy="530352"/>
          </a:xfrm>
          <a:prstGeom prst="rect">
            <a:avLst/>
          </a:prstGeom>
          <a:noFill/>
          <a:ln/>
        </p:spPr>
        <p:txBody>
          <a:bodyPr wrap="square" lIns="0" tIns="0" rIns="0" bIns="0" rtlCol="0" anchor="ctr"/>
          <a:lstStyle/>
          <a:p>
            <a:pPr marL="0" indent="0">
              <a:lnSpc>
                <a:spcPct val="130000"/>
              </a:lnSpc>
              <a:buNone/>
            </a:pPr>
            <a:r>
              <a:rPr lang="en-US" sz="1200" b="1" dirty="0" err="1">
                <a:solidFill>
                  <a:srgbClr val="1F2B5C"/>
                </a:solidFill>
                <a:latin typeface="メイリオ" panose="020B0604030504040204" pitchFamily="50" charset="-128"/>
                <a:ea typeface="メイリオ" panose="020B0604030504040204" pitchFamily="50" charset="-128"/>
                <a:cs typeface="Calibri" pitchFamily="34" charset="-120"/>
              </a:rPr>
              <a:t>ご登録ありがとう</a:t>
            </a:r>
            <a:endParaRPr lang="en-US" sz="1200" dirty="0">
              <a:latin typeface="メイリオ" panose="020B0604030504040204" pitchFamily="50" charset="-128"/>
              <a:ea typeface="メイリオ" panose="020B0604030504040204" pitchFamily="50" charset="-128"/>
            </a:endParaRPr>
          </a:p>
          <a:p>
            <a:pPr marL="0" indent="0">
              <a:lnSpc>
                <a:spcPct val="130000"/>
              </a:lnSpc>
              <a:buNone/>
            </a:pPr>
            <a:r>
              <a:rPr lang="en-US" sz="1200" b="1" dirty="0">
                <a:solidFill>
                  <a:srgbClr val="1F2B5C"/>
                </a:solidFill>
                <a:latin typeface="メイリオ" panose="020B0604030504040204" pitchFamily="50" charset="-128"/>
                <a:ea typeface="メイリオ" panose="020B0604030504040204" pitchFamily="50" charset="-128"/>
                <a:cs typeface="Calibri" pitchFamily="34" charset="-120"/>
              </a:rPr>
              <a:t>ございます！</a:t>
            </a:r>
            <a:endParaRPr lang="en-US" sz="1200" dirty="0">
              <a:latin typeface="メイリオ" panose="020B0604030504040204" pitchFamily="50" charset="-128"/>
              <a:ea typeface="メイリオ" panose="020B0604030504040204" pitchFamily="50" charset="-128"/>
            </a:endParaRPr>
          </a:p>
        </p:txBody>
      </p:sp>
      <p:sp>
        <p:nvSpPr>
          <p:cNvPr id="191" name="Text 18">
            <a:extLst>
              <a:ext uri="{FF2B5EF4-FFF2-40B4-BE49-F238E27FC236}">
                <a16:creationId xmlns:a16="http://schemas.microsoft.com/office/drawing/2014/main" id="{7676C898-C17D-7E2E-B6BF-9ECC1859A649}"/>
              </a:ext>
            </a:extLst>
          </p:cNvPr>
          <p:cNvSpPr/>
          <p:nvPr/>
        </p:nvSpPr>
        <p:spPr>
          <a:xfrm>
            <a:off x="658611" y="3061141"/>
            <a:ext cx="1499616" cy="749808"/>
          </a:xfrm>
          <a:prstGeom prst="rect">
            <a:avLst/>
          </a:prstGeom>
          <a:noFill/>
          <a:ln/>
        </p:spPr>
        <p:txBody>
          <a:bodyPr wrap="square" lIns="0" tIns="0" rIns="0" bIns="0" rtlCol="0" anchor="ctr"/>
          <a:lstStyle/>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3問タップで</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転職フェーズを分岐</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・タグ付け</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（すぐ動く／比較中</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　書類準備中／迷い中）</a:t>
            </a:r>
            <a:endParaRPr lang="en-US" sz="700" dirty="0">
              <a:latin typeface="メイリオ" panose="020B0604030504040204" pitchFamily="50" charset="-128"/>
              <a:ea typeface="メイリオ" panose="020B0604030504040204" pitchFamily="50" charset="-128"/>
            </a:endParaRPr>
          </a:p>
        </p:txBody>
      </p:sp>
      <p:sp>
        <p:nvSpPr>
          <p:cNvPr id="193" name="Shape 19">
            <a:extLst>
              <a:ext uri="{FF2B5EF4-FFF2-40B4-BE49-F238E27FC236}">
                <a16:creationId xmlns:a16="http://schemas.microsoft.com/office/drawing/2014/main" id="{3F13F0D2-3523-AEE0-91B0-8E81E05DDA0A}"/>
              </a:ext>
            </a:extLst>
          </p:cNvPr>
          <p:cNvSpPr/>
          <p:nvPr/>
        </p:nvSpPr>
        <p:spPr>
          <a:xfrm>
            <a:off x="640323" y="3960738"/>
            <a:ext cx="1536192" cy="694944"/>
          </a:xfrm>
          <a:prstGeom prst="roundRect">
            <a:avLst>
              <a:gd name="adj" fmla="val 6579"/>
            </a:avLst>
          </a:prstGeom>
          <a:solidFill>
            <a:srgbClr val="F5F5F5"/>
          </a:solidFill>
          <a:ln w="12700">
            <a:solidFill>
              <a:srgbClr val="DDDDDD"/>
            </a:solid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195" name="Text 20">
            <a:extLst>
              <a:ext uri="{FF2B5EF4-FFF2-40B4-BE49-F238E27FC236}">
                <a16:creationId xmlns:a16="http://schemas.microsoft.com/office/drawing/2014/main" id="{2441CFFD-892A-3183-D026-E486644DEE53}"/>
              </a:ext>
            </a:extLst>
          </p:cNvPr>
          <p:cNvSpPr/>
          <p:nvPr/>
        </p:nvSpPr>
        <p:spPr>
          <a:xfrm>
            <a:off x="713475" y="3997314"/>
            <a:ext cx="1389888" cy="128016"/>
          </a:xfrm>
          <a:prstGeom prst="rect">
            <a:avLst/>
          </a:prstGeom>
          <a:noFill/>
          <a:ln/>
        </p:spPr>
        <p:txBody>
          <a:bodyPr wrap="square" lIns="0" tIns="0" rIns="0" bIns="0" rtlCol="0" anchor="ctr"/>
          <a:lstStyle/>
          <a:p>
            <a:pPr marL="0" indent="0">
              <a:buNone/>
            </a:pPr>
            <a:r>
              <a:rPr lang="en-US" sz="500" b="1" dirty="0">
                <a:solidFill>
                  <a:srgbClr val="888888"/>
                </a:solidFill>
                <a:latin typeface="メイリオ" panose="020B0604030504040204" pitchFamily="50" charset="-128"/>
                <a:ea typeface="メイリオ" panose="020B0604030504040204" pitchFamily="50" charset="-128"/>
                <a:cs typeface="Calibri" pitchFamily="34" charset="-120"/>
              </a:rPr>
              <a:t>[検索データ]</a:t>
            </a:r>
            <a:endParaRPr lang="en-US" sz="500" dirty="0">
              <a:latin typeface="メイリオ" panose="020B0604030504040204" pitchFamily="50" charset="-128"/>
              <a:ea typeface="メイリオ" panose="020B0604030504040204" pitchFamily="50" charset="-128"/>
            </a:endParaRPr>
          </a:p>
        </p:txBody>
      </p:sp>
      <p:sp>
        <p:nvSpPr>
          <p:cNvPr id="197" name="Text 21">
            <a:extLst>
              <a:ext uri="{FF2B5EF4-FFF2-40B4-BE49-F238E27FC236}">
                <a16:creationId xmlns:a16="http://schemas.microsoft.com/office/drawing/2014/main" id="{02E571B0-469E-27C6-416F-54EE99A83950}"/>
              </a:ext>
            </a:extLst>
          </p:cNvPr>
          <p:cNvSpPr/>
          <p:nvPr/>
        </p:nvSpPr>
        <p:spPr>
          <a:xfrm>
            <a:off x="713475" y="4143618"/>
            <a:ext cx="1389888" cy="493776"/>
          </a:xfrm>
          <a:prstGeom prst="rect">
            <a:avLst/>
          </a:prstGeom>
          <a:noFill/>
          <a:ln/>
        </p:spPr>
        <p:txBody>
          <a:bodyPr wrap="square" lIns="0" tIns="0" rIns="0" bIns="0" rtlCol="0" anchor="ctr"/>
          <a:lstStyle/>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（追加直後は検索データなし。アンケート回答でセグメント自動分類）</a:t>
            </a:r>
            <a:endParaRPr lang="en-US" sz="600" dirty="0">
              <a:latin typeface="メイリオ" panose="020B0604030504040204" pitchFamily="50" charset="-128"/>
              <a:ea typeface="メイリオ" panose="020B0604030504040204" pitchFamily="50" charset="-128"/>
            </a:endParaRPr>
          </a:p>
        </p:txBody>
      </p:sp>
      <p:sp>
        <p:nvSpPr>
          <p:cNvPr id="199" name="Shape 22">
            <a:extLst>
              <a:ext uri="{FF2B5EF4-FFF2-40B4-BE49-F238E27FC236}">
                <a16:creationId xmlns:a16="http://schemas.microsoft.com/office/drawing/2014/main" id="{A9B7453E-695C-212F-38BF-388DF6783D18}"/>
              </a:ext>
            </a:extLst>
          </p:cNvPr>
          <p:cNvSpPr/>
          <p:nvPr/>
        </p:nvSpPr>
        <p:spPr>
          <a:xfrm>
            <a:off x="640323" y="4765410"/>
            <a:ext cx="1536192" cy="310896"/>
          </a:xfrm>
          <a:prstGeom prst="roundRect">
            <a:avLst>
              <a:gd name="adj" fmla="val 35294"/>
            </a:avLst>
          </a:prstGeom>
          <a:solidFill>
            <a:srgbClr val="FFFFFF"/>
          </a:solidFill>
          <a:ln w="12700">
            <a:solidFill>
              <a:srgbClr val="1F2B5C"/>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01" name="Text 23">
            <a:extLst>
              <a:ext uri="{FF2B5EF4-FFF2-40B4-BE49-F238E27FC236}">
                <a16:creationId xmlns:a16="http://schemas.microsoft.com/office/drawing/2014/main" id="{8953102A-09F1-A735-DE78-9D1620CCFC78}"/>
              </a:ext>
            </a:extLst>
          </p:cNvPr>
          <p:cNvSpPr/>
          <p:nvPr/>
        </p:nvSpPr>
        <p:spPr>
          <a:xfrm>
            <a:off x="640323" y="4765410"/>
            <a:ext cx="1536192" cy="310896"/>
          </a:xfrm>
          <a:prstGeom prst="rect">
            <a:avLst/>
          </a:prstGeom>
          <a:noFill/>
          <a:ln/>
        </p:spPr>
        <p:txBody>
          <a:bodyPr wrap="square" lIns="0" tIns="0" rIns="0" bIns="0" rtlCol="0" anchor="ctr"/>
          <a:lstStyle/>
          <a:p>
            <a:pPr marL="0" indent="0" algn="ctr">
              <a:buNone/>
            </a:pPr>
            <a:r>
              <a:rPr lang="en-US" sz="950" b="1" dirty="0">
                <a:latin typeface="メイリオ" panose="020B0604030504040204" pitchFamily="50" charset="-128"/>
                <a:ea typeface="メイリオ" panose="020B0604030504040204" pitchFamily="50" charset="-128"/>
                <a:cs typeface="Calibri" pitchFamily="34" charset="-120"/>
              </a:rPr>
              <a:t>3択タップで診断</a:t>
            </a:r>
            <a:endParaRPr lang="en-US" sz="950" dirty="0">
              <a:latin typeface="メイリオ" panose="020B0604030504040204" pitchFamily="50" charset="-128"/>
              <a:ea typeface="メイリオ" panose="020B0604030504040204" pitchFamily="50" charset="-128"/>
            </a:endParaRPr>
          </a:p>
        </p:txBody>
      </p:sp>
      <p:sp>
        <p:nvSpPr>
          <p:cNvPr id="203" name="Shape 24">
            <a:extLst>
              <a:ext uri="{FF2B5EF4-FFF2-40B4-BE49-F238E27FC236}">
                <a16:creationId xmlns:a16="http://schemas.microsoft.com/office/drawing/2014/main" id="{C88FA24B-5601-EF2D-1F8E-3C4F217194A0}"/>
              </a:ext>
            </a:extLst>
          </p:cNvPr>
          <p:cNvSpPr/>
          <p:nvPr/>
        </p:nvSpPr>
        <p:spPr>
          <a:xfrm>
            <a:off x="2341107" y="1835845"/>
            <a:ext cx="1719072" cy="3363172"/>
          </a:xfrm>
          <a:prstGeom prst="roundRect">
            <a:avLst>
              <a:gd name="adj" fmla="val 3191"/>
            </a:avLst>
          </a:prstGeom>
          <a:solidFill>
            <a:srgbClr val="FFFFFF"/>
          </a:solidFill>
          <a:ln w="12700">
            <a:solidFill>
              <a:srgbClr val="DDDDDD"/>
            </a:solidFill>
            <a:prstDash val="solid"/>
          </a:ln>
          <a:effectLst>
            <a:outerShdw blurRad="38100" dist="12700" dir="8100000" algn="bl" rotWithShape="0">
              <a:srgbClr val="AAAAAA">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05" name="Shape 25">
            <a:extLst>
              <a:ext uri="{FF2B5EF4-FFF2-40B4-BE49-F238E27FC236}">
                <a16:creationId xmlns:a16="http://schemas.microsoft.com/office/drawing/2014/main" id="{B6268B67-5D90-26D0-5BCD-52C7F292C8B0}"/>
              </a:ext>
            </a:extLst>
          </p:cNvPr>
          <p:cNvSpPr/>
          <p:nvPr/>
        </p:nvSpPr>
        <p:spPr>
          <a:xfrm>
            <a:off x="2341107" y="1835845"/>
            <a:ext cx="1719072" cy="585216"/>
          </a:xfrm>
          <a:prstGeom prst="roundRect">
            <a:avLst>
              <a:gd name="adj" fmla="val 9375"/>
            </a:avLst>
          </a:prstGeom>
          <a:solidFill>
            <a:srgbClr val="1565C0"/>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07" name="Text 26">
            <a:extLst>
              <a:ext uri="{FF2B5EF4-FFF2-40B4-BE49-F238E27FC236}">
                <a16:creationId xmlns:a16="http://schemas.microsoft.com/office/drawing/2014/main" id="{89D42342-00AC-8FE9-32F8-067BB3EBE2A4}"/>
              </a:ext>
            </a:extLst>
          </p:cNvPr>
          <p:cNvSpPr/>
          <p:nvPr/>
        </p:nvSpPr>
        <p:spPr>
          <a:xfrm>
            <a:off x="2432547" y="1872421"/>
            <a:ext cx="1536192" cy="274320"/>
          </a:xfrm>
          <a:prstGeom prst="rect">
            <a:avLst/>
          </a:prstGeom>
          <a:noFill/>
          <a:ln>
            <a:noFill/>
          </a:ln>
        </p:spPr>
        <p:txBody>
          <a:bodyPr wrap="square" lIns="0" tIns="0" rIns="0" bIns="0" rtlCol="0" anchor="ctr"/>
          <a:lstStyle/>
          <a:p>
            <a:pPr marL="0" indent="0" algn="ctr">
              <a:buNone/>
            </a:pPr>
            <a:r>
              <a:rPr lang="en-US" sz="1500" b="1" dirty="0">
                <a:solidFill>
                  <a:srgbClr val="FFFFFF"/>
                </a:solidFill>
                <a:latin typeface="メイリオ" panose="020B0604030504040204" pitchFamily="50" charset="-128"/>
                <a:ea typeface="メイリオ" panose="020B0604030504040204" pitchFamily="50" charset="-128"/>
                <a:cs typeface="Calibri" pitchFamily="34" charset="-120"/>
              </a:rPr>
              <a:t>Day1〜2</a:t>
            </a:r>
            <a:endParaRPr lang="en-US" sz="1500" dirty="0">
              <a:latin typeface="メイリオ" panose="020B0604030504040204" pitchFamily="50" charset="-128"/>
              <a:ea typeface="メイリオ" panose="020B0604030504040204" pitchFamily="50" charset="-128"/>
            </a:endParaRPr>
          </a:p>
        </p:txBody>
      </p:sp>
      <p:sp>
        <p:nvSpPr>
          <p:cNvPr id="209" name="Text 27">
            <a:extLst>
              <a:ext uri="{FF2B5EF4-FFF2-40B4-BE49-F238E27FC236}">
                <a16:creationId xmlns:a16="http://schemas.microsoft.com/office/drawing/2014/main" id="{DDDA5299-26E4-761F-DC5F-D6ED5EDD3F65}"/>
              </a:ext>
            </a:extLst>
          </p:cNvPr>
          <p:cNvSpPr/>
          <p:nvPr/>
        </p:nvSpPr>
        <p:spPr>
          <a:xfrm>
            <a:off x="2432547" y="2146741"/>
            <a:ext cx="1536192" cy="201168"/>
          </a:xfrm>
          <a:prstGeom prst="rect">
            <a:avLst/>
          </a:prstGeom>
          <a:noFill/>
          <a:ln>
            <a:noFill/>
          </a:ln>
        </p:spPr>
        <p:txBody>
          <a:bodyPr wrap="square" lIns="0" tIns="0" rIns="0" bIns="0" rtlCol="0" anchor="ctr"/>
          <a:lstStyle/>
          <a:p>
            <a:pPr marL="0" indent="0" algn="ctr">
              <a:buNone/>
            </a:pPr>
            <a:r>
              <a:rPr lang="en-US" sz="900" dirty="0">
                <a:solidFill>
                  <a:srgbClr val="D0E8FF"/>
                </a:solidFill>
                <a:latin typeface="メイリオ" panose="020B0604030504040204" pitchFamily="50" charset="-128"/>
                <a:ea typeface="メイリオ" panose="020B0604030504040204" pitchFamily="50" charset="-128"/>
                <a:cs typeface="Calibri" pitchFamily="34" charset="-120"/>
              </a:rPr>
              <a:t>不安の先出し解消</a:t>
            </a:r>
            <a:endParaRPr lang="en-US" sz="900" dirty="0">
              <a:latin typeface="メイリオ" panose="020B0604030504040204" pitchFamily="50" charset="-128"/>
              <a:ea typeface="メイリオ" panose="020B0604030504040204" pitchFamily="50" charset="-128"/>
            </a:endParaRPr>
          </a:p>
        </p:txBody>
      </p:sp>
      <p:sp>
        <p:nvSpPr>
          <p:cNvPr id="211" name="Text 28">
            <a:extLst>
              <a:ext uri="{FF2B5EF4-FFF2-40B4-BE49-F238E27FC236}">
                <a16:creationId xmlns:a16="http://schemas.microsoft.com/office/drawing/2014/main" id="{289FA38A-B858-EAC9-F39D-14780D290081}"/>
              </a:ext>
            </a:extLst>
          </p:cNvPr>
          <p:cNvSpPr/>
          <p:nvPr/>
        </p:nvSpPr>
        <p:spPr>
          <a:xfrm>
            <a:off x="2450835" y="2494213"/>
            <a:ext cx="1499616" cy="530352"/>
          </a:xfrm>
          <a:prstGeom prst="rect">
            <a:avLst/>
          </a:prstGeom>
          <a:noFill/>
          <a:ln/>
        </p:spPr>
        <p:txBody>
          <a:bodyPr wrap="square" lIns="0" tIns="0" rIns="0" bIns="0" rtlCol="0" anchor="ctr"/>
          <a:lstStyle/>
          <a:p>
            <a:pPr marL="0" indent="0">
              <a:lnSpc>
                <a:spcPct val="130000"/>
              </a:lnSpc>
              <a:buNone/>
            </a:pPr>
            <a:r>
              <a:rPr lang="en-US" sz="1200" b="1" dirty="0" err="1">
                <a:solidFill>
                  <a:srgbClr val="1565C0"/>
                </a:solidFill>
                <a:latin typeface="メイリオ" panose="020B0604030504040204" pitchFamily="50" charset="-128"/>
                <a:ea typeface="メイリオ" panose="020B0604030504040204" pitchFamily="50" charset="-128"/>
                <a:cs typeface="Calibri" pitchFamily="34" charset="-120"/>
              </a:rPr>
              <a:t>転職で損しない</a:t>
            </a:r>
            <a:endParaRPr lang="en-US" sz="1200" dirty="0">
              <a:latin typeface="メイリオ" panose="020B0604030504040204" pitchFamily="50" charset="-128"/>
              <a:ea typeface="メイリオ" panose="020B0604030504040204" pitchFamily="50" charset="-128"/>
            </a:endParaRPr>
          </a:p>
          <a:p>
            <a:pPr marL="0" indent="0">
              <a:lnSpc>
                <a:spcPct val="130000"/>
              </a:lnSpc>
              <a:buNone/>
            </a:pPr>
            <a:r>
              <a:rPr lang="en-US" sz="1200" b="1" dirty="0">
                <a:solidFill>
                  <a:srgbClr val="1565C0"/>
                </a:solidFill>
                <a:latin typeface="メイリオ" panose="020B0604030504040204" pitchFamily="50" charset="-128"/>
                <a:ea typeface="メイリオ" panose="020B0604030504040204" pitchFamily="50" charset="-128"/>
                <a:cs typeface="Calibri" pitchFamily="34" charset="-120"/>
              </a:rPr>
              <a:t>3つのポイント</a:t>
            </a:r>
            <a:endParaRPr lang="en-US" sz="1200" dirty="0">
              <a:latin typeface="メイリオ" panose="020B0604030504040204" pitchFamily="50" charset="-128"/>
              <a:ea typeface="メイリオ" panose="020B0604030504040204" pitchFamily="50" charset="-128"/>
            </a:endParaRPr>
          </a:p>
        </p:txBody>
      </p:sp>
      <p:sp>
        <p:nvSpPr>
          <p:cNvPr id="213" name="Text 29">
            <a:extLst>
              <a:ext uri="{FF2B5EF4-FFF2-40B4-BE49-F238E27FC236}">
                <a16:creationId xmlns:a16="http://schemas.microsoft.com/office/drawing/2014/main" id="{150DA1ED-B1CD-1150-347A-518E97A2A6AD}"/>
              </a:ext>
            </a:extLst>
          </p:cNvPr>
          <p:cNvSpPr/>
          <p:nvPr/>
        </p:nvSpPr>
        <p:spPr>
          <a:xfrm>
            <a:off x="2450835" y="3061141"/>
            <a:ext cx="1499616" cy="749808"/>
          </a:xfrm>
          <a:prstGeom prst="rect">
            <a:avLst/>
          </a:prstGeom>
          <a:noFill/>
          <a:ln/>
        </p:spPr>
        <p:txBody>
          <a:bodyPr wrap="square" lIns="0" tIns="0" rIns="0" bIns="0" rtlCol="0" anchor="ctr"/>
          <a:lstStyle/>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「ブラック企業の見分け方」</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「年収交渉で失敗しない方法」</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「エージェントのリアルな使い方」</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不安を先出しして信頼を醸成</a:t>
            </a:r>
            <a:endParaRPr lang="en-US" sz="700" dirty="0">
              <a:latin typeface="メイリオ" panose="020B0604030504040204" pitchFamily="50" charset="-128"/>
              <a:ea typeface="メイリオ" panose="020B0604030504040204" pitchFamily="50" charset="-128"/>
            </a:endParaRPr>
          </a:p>
        </p:txBody>
      </p:sp>
      <p:sp>
        <p:nvSpPr>
          <p:cNvPr id="215" name="Shape 30">
            <a:extLst>
              <a:ext uri="{FF2B5EF4-FFF2-40B4-BE49-F238E27FC236}">
                <a16:creationId xmlns:a16="http://schemas.microsoft.com/office/drawing/2014/main" id="{76E377BC-43E4-750C-D8A2-6481DE03C768}"/>
              </a:ext>
            </a:extLst>
          </p:cNvPr>
          <p:cNvSpPr/>
          <p:nvPr/>
        </p:nvSpPr>
        <p:spPr>
          <a:xfrm>
            <a:off x="2432547" y="3960738"/>
            <a:ext cx="1536192" cy="694944"/>
          </a:xfrm>
          <a:prstGeom prst="roundRect">
            <a:avLst>
              <a:gd name="adj" fmla="val 6579"/>
            </a:avLst>
          </a:prstGeom>
          <a:solidFill>
            <a:srgbClr val="F5F5F5"/>
          </a:solidFill>
          <a:ln w="12700">
            <a:solidFill>
              <a:srgbClr val="DDDDDD"/>
            </a:solid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17" name="Text 31">
            <a:extLst>
              <a:ext uri="{FF2B5EF4-FFF2-40B4-BE49-F238E27FC236}">
                <a16:creationId xmlns:a16="http://schemas.microsoft.com/office/drawing/2014/main" id="{FF84F76B-5C74-7B62-2528-5D8C6B827AAE}"/>
              </a:ext>
            </a:extLst>
          </p:cNvPr>
          <p:cNvSpPr/>
          <p:nvPr/>
        </p:nvSpPr>
        <p:spPr>
          <a:xfrm>
            <a:off x="2505699" y="3997314"/>
            <a:ext cx="1389888" cy="128016"/>
          </a:xfrm>
          <a:prstGeom prst="rect">
            <a:avLst/>
          </a:prstGeom>
          <a:noFill/>
          <a:ln/>
        </p:spPr>
        <p:txBody>
          <a:bodyPr wrap="square" lIns="0" tIns="0" rIns="0" bIns="0" rtlCol="0" anchor="ctr"/>
          <a:lstStyle/>
          <a:p>
            <a:pPr marL="0" indent="0">
              <a:buNone/>
            </a:pPr>
            <a:r>
              <a:rPr lang="en-US" sz="500" b="1" dirty="0">
                <a:solidFill>
                  <a:srgbClr val="888888"/>
                </a:solidFill>
                <a:latin typeface="メイリオ" panose="020B0604030504040204" pitchFamily="50" charset="-128"/>
                <a:ea typeface="メイリオ" panose="020B0604030504040204" pitchFamily="50" charset="-128"/>
                <a:cs typeface="Calibri" pitchFamily="34" charset="-120"/>
              </a:rPr>
              <a:t>[検索データ]</a:t>
            </a:r>
            <a:endParaRPr lang="en-US" sz="500" dirty="0">
              <a:latin typeface="メイリオ" panose="020B0604030504040204" pitchFamily="50" charset="-128"/>
              <a:ea typeface="メイリオ" panose="020B0604030504040204" pitchFamily="50" charset="-128"/>
            </a:endParaRPr>
          </a:p>
        </p:txBody>
      </p:sp>
      <p:sp>
        <p:nvSpPr>
          <p:cNvPr id="219" name="Text 32">
            <a:extLst>
              <a:ext uri="{FF2B5EF4-FFF2-40B4-BE49-F238E27FC236}">
                <a16:creationId xmlns:a16="http://schemas.microsoft.com/office/drawing/2014/main" id="{BF0CE63B-9D9B-B598-BC2E-ED84243D6BD2}"/>
              </a:ext>
            </a:extLst>
          </p:cNvPr>
          <p:cNvSpPr/>
          <p:nvPr/>
        </p:nvSpPr>
        <p:spPr>
          <a:xfrm>
            <a:off x="2505699" y="4143618"/>
            <a:ext cx="1389888" cy="493776"/>
          </a:xfrm>
          <a:prstGeom prst="rect">
            <a:avLst/>
          </a:prstGeom>
          <a:noFill/>
          <a:ln/>
        </p:spPr>
        <p:txBody>
          <a:bodyPr wrap="square" lIns="0" tIns="0" rIns="0" bIns="0" rtlCol="0" anchor="ctr"/>
          <a:lstStyle/>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追加直後は「転職エージェント 使うべきか」「リクルートエージェント 評判」の検索Volが急増。比較・懸念フェーズに完全対応</a:t>
            </a:r>
            <a:endParaRPr lang="en-US" sz="600" dirty="0">
              <a:latin typeface="メイリオ" panose="020B0604030504040204" pitchFamily="50" charset="-128"/>
              <a:ea typeface="メイリオ" panose="020B0604030504040204" pitchFamily="50" charset="-128"/>
            </a:endParaRPr>
          </a:p>
        </p:txBody>
      </p:sp>
      <p:sp>
        <p:nvSpPr>
          <p:cNvPr id="221" name="Shape 33">
            <a:extLst>
              <a:ext uri="{FF2B5EF4-FFF2-40B4-BE49-F238E27FC236}">
                <a16:creationId xmlns:a16="http://schemas.microsoft.com/office/drawing/2014/main" id="{3B3F2D53-D4B6-4F72-F11A-BF340CD1F372}"/>
              </a:ext>
            </a:extLst>
          </p:cNvPr>
          <p:cNvSpPr/>
          <p:nvPr/>
        </p:nvSpPr>
        <p:spPr>
          <a:xfrm>
            <a:off x="2432547" y="4765410"/>
            <a:ext cx="1536192" cy="310896"/>
          </a:xfrm>
          <a:prstGeom prst="roundRect">
            <a:avLst>
              <a:gd name="adj" fmla="val 35294"/>
            </a:avLst>
          </a:prstGeom>
          <a:solidFill>
            <a:srgbClr val="FFFFFF"/>
          </a:solidFill>
          <a:ln w="12700">
            <a:solidFill>
              <a:srgbClr val="1565C0"/>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23" name="Text 34">
            <a:extLst>
              <a:ext uri="{FF2B5EF4-FFF2-40B4-BE49-F238E27FC236}">
                <a16:creationId xmlns:a16="http://schemas.microsoft.com/office/drawing/2014/main" id="{50528FA6-6538-9244-6433-A9A55F723AD1}"/>
              </a:ext>
            </a:extLst>
          </p:cNvPr>
          <p:cNvSpPr/>
          <p:nvPr/>
        </p:nvSpPr>
        <p:spPr>
          <a:xfrm>
            <a:off x="2432547" y="4765410"/>
            <a:ext cx="1536192" cy="310896"/>
          </a:xfrm>
          <a:prstGeom prst="rect">
            <a:avLst/>
          </a:prstGeom>
          <a:noFill/>
          <a:ln/>
        </p:spPr>
        <p:txBody>
          <a:bodyPr wrap="square" lIns="0" tIns="0" rIns="0" bIns="0" rtlCol="0" anchor="ctr"/>
          <a:lstStyle/>
          <a:p>
            <a:pPr marL="0" indent="0" algn="ctr">
              <a:buNone/>
            </a:pPr>
            <a:r>
              <a:rPr lang="en-US" sz="950" b="1" dirty="0" err="1">
                <a:latin typeface="メイリオ" panose="020B0604030504040204" pitchFamily="50" charset="-128"/>
                <a:ea typeface="メイリオ" panose="020B0604030504040204" pitchFamily="50" charset="-128"/>
                <a:cs typeface="Calibri" pitchFamily="34" charset="-120"/>
              </a:rPr>
              <a:t>転職成功事例を見る</a:t>
            </a:r>
            <a:endParaRPr lang="en-US" sz="950" dirty="0">
              <a:latin typeface="メイリオ" panose="020B0604030504040204" pitchFamily="50" charset="-128"/>
              <a:ea typeface="メイリオ" panose="020B0604030504040204" pitchFamily="50" charset="-128"/>
            </a:endParaRPr>
          </a:p>
        </p:txBody>
      </p:sp>
      <p:sp>
        <p:nvSpPr>
          <p:cNvPr id="225" name="Shape 35">
            <a:extLst>
              <a:ext uri="{FF2B5EF4-FFF2-40B4-BE49-F238E27FC236}">
                <a16:creationId xmlns:a16="http://schemas.microsoft.com/office/drawing/2014/main" id="{53797D95-7FA3-EAB7-FD16-E3CAA1B9A8E9}"/>
              </a:ext>
            </a:extLst>
          </p:cNvPr>
          <p:cNvSpPr/>
          <p:nvPr/>
        </p:nvSpPr>
        <p:spPr>
          <a:xfrm>
            <a:off x="4133331" y="1835845"/>
            <a:ext cx="1719072" cy="3363172"/>
          </a:xfrm>
          <a:prstGeom prst="roundRect">
            <a:avLst>
              <a:gd name="adj" fmla="val 3191"/>
            </a:avLst>
          </a:prstGeom>
          <a:solidFill>
            <a:srgbClr val="FFFFFF"/>
          </a:solidFill>
          <a:ln w="12700">
            <a:solidFill>
              <a:srgbClr val="DDDDDD"/>
            </a:solidFill>
            <a:prstDash val="solid"/>
          </a:ln>
          <a:effectLst>
            <a:outerShdw blurRad="38100" dist="12700" dir="8100000" algn="bl" rotWithShape="0">
              <a:srgbClr val="AAAAAA">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27" name="Shape 36">
            <a:extLst>
              <a:ext uri="{FF2B5EF4-FFF2-40B4-BE49-F238E27FC236}">
                <a16:creationId xmlns:a16="http://schemas.microsoft.com/office/drawing/2014/main" id="{629B1933-CCE8-4801-AEDC-00D8587663D2}"/>
              </a:ext>
            </a:extLst>
          </p:cNvPr>
          <p:cNvSpPr/>
          <p:nvPr/>
        </p:nvSpPr>
        <p:spPr>
          <a:xfrm>
            <a:off x="4133331" y="1835845"/>
            <a:ext cx="1719072" cy="585216"/>
          </a:xfrm>
          <a:prstGeom prst="roundRect">
            <a:avLst>
              <a:gd name="adj" fmla="val 9375"/>
            </a:avLst>
          </a:prstGeom>
          <a:solidFill>
            <a:schemeClr val="accent1"/>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29" name="Text 37">
            <a:extLst>
              <a:ext uri="{FF2B5EF4-FFF2-40B4-BE49-F238E27FC236}">
                <a16:creationId xmlns:a16="http://schemas.microsoft.com/office/drawing/2014/main" id="{092214EE-AC44-038C-2722-B308FA576ED9}"/>
              </a:ext>
            </a:extLst>
          </p:cNvPr>
          <p:cNvSpPr/>
          <p:nvPr/>
        </p:nvSpPr>
        <p:spPr>
          <a:xfrm>
            <a:off x="4224771" y="1872421"/>
            <a:ext cx="1536192" cy="274320"/>
          </a:xfrm>
          <a:prstGeom prst="rect">
            <a:avLst/>
          </a:prstGeom>
          <a:noFill/>
          <a:ln>
            <a:noFill/>
          </a:ln>
        </p:spPr>
        <p:txBody>
          <a:bodyPr wrap="square" lIns="0" tIns="0" rIns="0" bIns="0" rtlCol="0" anchor="ctr"/>
          <a:lstStyle/>
          <a:p>
            <a:pPr marL="0" indent="0" algn="ctr">
              <a:buNone/>
            </a:pPr>
            <a:r>
              <a:rPr lang="en-US" sz="1500" b="1" dirty="0">
                <a:solidFill>
                  <a:srgbClr val="FFFFFF"/>
                </a:solidFill>
                <a:latin typeface="メイリオ" panose="020B0604030504040204" pitchFamily="50" charset="-128"/>
                <a:ea typeface="メイリオ" panose="020B0604030504040204" pitchFamily="50" charset="-128"/>
                <a:cs typeface="Calibri" pitchFamily="34" charset="-120"/>
              </a:rPr>
              <a:t>Day4〜5</a:t>
            </a:r>
            <a:endParaRPr lang="en-US" sz="1500" dirty="0">
              <a:latin typeface="メイリオ" panose="020B0604030504040204" pitchFamily="50" charset="-128"/>
              <a:ea typeface="メイリオ" panose="020B0604030504040204" pitchFamily="50" charset="-128"/>
            </a:endParaRPr>
          </a:p>
        </p:txBody>
      </p:sp>
      <p:sp>
        <p:nvSpPr>
          <p:cNvPr id="231" name="Text 38">
            <a:extLst>
              <a:ext uri="{FF2B5EF4-FFF2-40B4-BE49-F238E27FC236}">
                <a16:creationId xmlns:a16="http://schemas.microsoft.com/office/drawing/2014/main" id="{2956D39A-AB56-1D2C-A166-5AD97BF4555B}"/>
              </a:ext>
            </a:extLst>
          </p:cNvPr>
          <p:cNvSpPr/>
          <p:nvPr/>
        </p:nvSpPr>
        <p:spPr>
          <a:xfrm>
            <a:off x="4224771" y="2146741"/>
            <a:ext cx="1536192" cy="201168"/>
          </a:xfrm>
          <a:prstGeom prst="rect">
            <a:avLst/>
          </a:prstGeom>
          <a:noFill/>
          <a:ln>
            <a:noFill/>
          </a:ln>
        </p:spPr>
        <p:txBody>
          <a:bodyPr wrap="square" lIns="0" tIns="0" rIns="0" bIns="0" rtlCol="0" anchor="ctr"/>
          <a:lstStyle/>
          <a:p>
            <a:pPr marL="0" indent="0" algn="ctr">
              <a:buNone/>
            </a:pPr>
            <a:r>
              <a:rPr lang="en-US" sz="900" dirty="0">
                <a:solidFill>
                  <a:srgbClr val="D0E8FF"/>
                </a:solidFill>
                <a:latin typeface="メイリオ" panose="020B0604030504040204" pitchFamily="50" charset="-128"/>
                <a:ea typeface="メイリオ" panose="020B0604030504040204" pitchFamily="50" charset="-128"/>
                <a:cs typeface="Calibri" pitchFamily="34" charset="-120"/>
              </a:rPr>
              <a:t>書類ハードル下げ</a:t>
            </a:r>
            <a:endParaRPr lang="en-US" sz="900" dirty="0">
              <a:latin typeface="メイリオ" panose="020B0604030504040204" pitchFamily="50" charset="-128"/>
              <a:ea typeface="メイリオ" panose="020B0604030504040204" pitchFamily="50" charset="-128"/>
            </a:endParaRPr>
          </a:p>
        </p:txBody>
      </p:sp>
      <p:sp>
        <p:nvSpPr>
          <p:cNvPr id="235" name="Text 39">
            <a:extLst>
              <a:ext uri="{FF2B5EF4-FFF2-40B4-BE49-F238E27FC236}">
                <a16:creationId xmlns:a16="http://schemas.microsoft.com/office/drawing/2014/main" id="{9FD8369A-6329-B6BB-FF1E-783F5AE7FD45}"/>
              </a:ext>
            </a:extLst>
          </p:cNvPr>
          <p:cNvSpPr/>
          <p:nvPr/>
        </p:nvSpPr>
        <p:spPr>
          <a:xfrm>
            <a:off x="4243059" y="2494213"/>
            <a:ext cx="1499616" cy="530352"/>
          </a:xfrm>
          <a:prstGeom prst="rect">
            <a:avLst/>
          </a:prstGeom>
          <a:noFill/>
          <a:ln/>
        </p:spPr>
        <p:txBody>
          <a:bodyPr wrap="square" lIns="0" tIns="0" rIns="0" bIns="0" rtlCol="0" anchor="ctr"/>
          <a:lstStyle/>
          <a:p>
            <a:pPr marL="0" indent="0">
              <a:lnSpc>
                <a:spcPct val="130000"/>
              </a:lnSpc>
              <a:buNone/>
            </a:pPr>
            <a:r>
              <a:rPr lang="en-US" sz="1200" b="1" dirty="0">
                <a:solidFill>
                  <a:schemeClr val="accent1"/>
                </a:solidFill>
                <a:latin typeface="メイリオ" panose="020B0604030504040204" pitchFamily="50" charset="-128"/>
                <a:ea typeface="メイリオ" panose="020B0604030504040204" pitchFamily="50" charset="-128"/>
                <a:cs typeface="Calibri" pitchFamily="34" charset="-120"/>
              </a:rPr>
              <a:t>職務経歴書は</a:t>
            </a:r>
            <a:endParaRPr lang="en-US" sz="1200" dirty="0">
              <a:solidFill>
                <a:schemeClr val="accent1"/>
              </a:solidFill>
              <a:latin typeface="メイリオ" panose="020B0604030504040204" pitchFamily="50" charset="-128"/>
              <a:ea typeface="メイリオ" panose="020B0604030504040204" pitchFamily="50" charset="-128"/>
            </a:endParaRPr>
          </a:p>
          <a:p>
            <a:pPr marL="0" indent="0">
              <a:lnSpc>
                <a:spcPct val="130000"/>
              </a:lnSpc>
              <a:buNone/>
            </a:pPr>
            <a:r>
              <a:rPr lang="en-US" sz="1200" b="1" dirty="0" err="1">
                <a:solidFill>
                  <a:schemeClr val="accent1"/>
                </a:solidFill>
                <a:latin typeface="メイリオ" panose="020B0604030504040204" pitchFamily="50" charset="-128"/>
                <a:ea typeface="メイリオ" panose="020B0604030504040204" pitchFamily="50" charset="-128"/>
                <a:cs typeface="Calibri" pitchFamily="34" charset="-120"/>
              </a:rPr>
              <a:t>これだけ書けばOK</a:t>
            </a:r>
            <a:r>
              <a:rPr lang="en-US" sz="1200" b="1" dirty="0">
                <a:solidFill>
                  <a:schemeClr val="accent1"/>
                </a:solidFill>
                <a:latin typeface="メイリオ" panose="020B0604030504040204" pitchFamily="50" charset="-128"/>
                <a:ea typeface="メイリオ" panose="020B0604030504040204" pitchFamily="50" charset="-128"/>
                <a:cs typeface="Calibri" pitchFamily="34" charset="-120"/>
              </a:rPr>
              <a:t>！</a:t>
            </a:r>
            <a:endParaRPr lang="en-US" sz="1200" dirty="0">
              <a:solidFill>
                <a:schemeClr val="accent1"/>
              </a:solidFill>
              <a:latin typeface="メイリオ" panose="020B0604030504040204" pitchFamily="50" charset="-128"/>
              <a:ea typeface="メイリオ" panose="020B0604030504040204" pitchFamily="50" charset="-128"/>
            </a:endParaRPr>
          </a:p>
        </p:txBody>
      </p:sp>
      <p:sp>
        <p:nvSpPr>
          <p:cNvPr id="237" name="Text 40">
            <a:extLst>
              <a:ext uri="{FF2B5EF4-FFF2-40B4-BE49-F238E27FC236}">
                <a16:creationId xmlns:a16="http://schemas.microsoft.com/office/drawing/2014/main" id="{199D3821-33AB-4ABB-7E4F-446E2E140608}"/>
              </a:ext>
            </a:extLst>
          </p:cNvPr>
          <p:cNvSpPr/>
          <p:nvPr/>
        </p:nvSpPr>
        <p:spPr>
          <a:xfrm>
            <a:off x="4243059" y="3061141"/>
            <a:ext cx="1499616" cy="749808"/>
          </a:xfrm>
          <a:prstGeom prst="rect">
            <a:avLst/>
          </a:prstGeom>
          <a:noFill/>
          <a:ln/>
        </p:spPr>
        <p:txBody>
          <a:bodyPr wrap="square" lIns="0" tIns="0" rIns="0" bIns="0" rtlCol="0" anchor="ctr"/>
          <a:lstStyle/>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応募〜面接の流れを</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4ステップで図解</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職務経歴書テンプレ</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（Word）と自己PR例文10選</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を無料配布</a:t>
            </a:r>
            <a:endParaRPr lang="en-US" sz="700" dirty="0">
              <a:latin typeface="メイリオ" panose="020B0604030504040204" pitchFamily="50" charset="-128"/>
              <a:ea typeface="メイリオ" panose="020B0604030504040204" pitchFamily="50" charset="-128"/>
            </a:endParaRPr>
          </a:p>
        </p:txBody>
      </p:sp>
      <p:sp>
        <p:nvSpPr>
          <p:cNvPr id="240" name="Shape 41">
            <a:extLst>
              <a:ext uri="{FF2B5EF4-FFF2-40B4-BE49-F238E27FC236}">
                <a16:creationId xmlns:a16="http://schemas.microsoft.com/office/drawing/2014/main" id="{FE05CBF8-66A0-3EAA-B719-3E5BEB3DFC1F}"/>
              </a:ext>
            </a:extLst>
          </p:cNvPr>
          <p:cNvSpPr/>
          <p:nvPr/>
        </p:nvSpPr>
        <p:spPr>
          <a:xfrm>
            <a:off x="4224771" y="3960738"/>
            <a:ext cx="1536192" cy="694944"/>
          </a:xfrm>
          <a:prstGeom prst="roundRect">
            <a:avLst>
              <a:gd name="adj" fmla="val 6579"/>
            </a:avLst>
          </a:prstGeom>
          <a:solidFill>
            <a:srgbClr val="F5F5F5"/>
          </a:solidFill>
          <a:ln w="12700">
            <a:solidFill>
              <a:srgbClr val="DDDDDD"/>
            </a:solid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43" name="Text 42">
            <a:extLst>
              <a:ext uri="{FF2B5EF4-FFF2-40B4-BE49-F238E27FC236}">
                <a16:creationId xmlns:a16="http://schemas.microsoft.com/office/drawing/2014/main" id="{598E8C1A-CF8F-CADC-BEB1-4963E41378B1}"/>
              </a:ext>
            </a:extLst>
          </p:cNvPr>
          <p:cNvSpPr/>
          <p:nvPr/>
        </p:nvSpPr>
        <p:spPr>
          <a:xfrm>
            <a:off x="4297923" y="3997314"/>
            <a:ext cx="1389888" cy="128016"/>
          </a:xfrm>
          <a:prstGeom prst="rect">
            <a:avLst/>
          </a:prstGeom>
          <a:noFill/>
          <a:ln/>
        </p:spPr>
        <p:txBody>
          <a:bodyPr wrap="square" lIns="0" tIns="0" rIns="0" bIns="0" rtlCol="0" anchor="ctr"/>
          <a:lstStyle/>
          <a:p>
            <a:pPr marL="0" indent="0">
              <a:buNone/>
            </a:pPr>
            <a:r>
              <a:rPr lang="en-US" sz="500" b="1" dirty="0">
                <a:solidFill>
                  <a:srgbClr val="888888"/>
                </a:solidFill>
                <a:latin typeface="メイリオ" panose="020B0604030504040204" pitchFamily="50" charset="-128"/>
                <a:ea typeface="メイリオ" panose="020B0604030504040204" pitchFamily="50" charset="-128"/>
                <a:cs typeface="Calibri" pitchFamily="34" charset="-120"/>
              </a:rPr>
              <a:t>[検索データ]</a:t>
            </a:r>
            <a:endParaRPr lang="en-US" sz="500" dirty="0">
              <a:latin typeface="メイリオ" panose="020B0604030504040204" pitchFamily="50" charset="-128"/>
              <a:ea typeface="メイリオ" panose="020B0604030504040204" pitchFamily="50" charset="-128"/>
            </a:endParaRPr>
          </a:p>
        </p:txBody>
      </p:sp>
      <p:sp>
        <p:nvSpPr>
          <p:cNvPr id="247" name="Text 43">
            <a:extLst>
              <a:ext uri="{FF2B5EF4-FFF2-40B4-BE49-F238E27FC236}">
                <a16:creationId xmlns:a16="http://schemas.microsoft.com/office/drawing/2014/main" id="{61A890BF-9DE4-3C72-A92B-372EE26EBBC9}"/>
              </a:ext>
            </a:extLst>
          </p:cNvPr>
          <p:cNvSpPr/>
          <p:nvPr/>
        </p:nvSpPr>
        <p:spPr>
          <a:xfrm>
            <a:off x="4297923" y="4143618"/>
            <a:ext cx="1389888" cy="493776"/>
          </a:xfrm>
          <a:prstGeom prst="rect">
            <a:avLst/>
          </a:prstGeom>
          <a:noFill/>
          <a:ln/>
        </p:spPr>
        <p:txBody>
          <a:bodyPr wrap="square" lIns="0" tIns="0" rIns="0" bIns="0" rtlCol="0" anchor="ctr"/>
          <a:lstStyle/>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「職務経歴書 書き方」「自己pr 例文」「転職理由」などの書類準備系クエリが+1〜+5日で急増。後クエリの最大ピークに対応</a:t>
            </a:r>
            <a:endParaRPr lang="en-US" sz="600" dirty="0">
              <a:latin typeface="メイリオ" panose="020B0604030504040204" pitchFamily="50" charset="-128"/>
              <a:ea typeface="メイリオ" panose="020B0604030504040204" pitchFamily="50" charset="-128"/>
            </a:endParaRPr>
          </a:p>
        </p:txBody>
      </p:sp>
      <p:sp>
        <p:nvSpPr>
          <p:cNvPr id="251" name="Shape 44">
            <a:extLst>
              <a:ext uri="{FF2B5EF4-FFF2-40B4-BE49-F238E27FC236}">
                <a16:creationId xmlns:a16="http://schemas.microsoft.com/office/drawing/2014/main" id="{70455440-ACF9-976A-9AAB-2C130E817A9A}"/>
              </a:ext>
            </a:extLst>
          </p:cNvPr>
          <p:cNvSpPr/>
          <p:nvPr/>
        </p:nvSpPr>
        <p:spPr>
          <a:xfrm>
            <a:off x="4224771" y="4765410"/>
            <a:ext cx="1536192" cy="310896"/>
          </a:xfrm>
          <a:prstGeom prst="roundRect">
            <a:avLst>
              <a:gd name="adj" fmla="val 35294"/>
            </a:avLst>
          </a:prstGeom>
          <a:solidFill>
            <a:srgbClr val="FFFFFF"/>
          </a:solidFill>
          <a:ln w="12700">
            <a:solidFill>
              <a:srgbClr val="0D7377"/>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53" name="Text 45">
            <a:extLst>
              <a:ext uri="{FF2B5EF4-FFF2-40B4-BE49-F238E27FC236}">
                <a16:creationId xmlns:a16="http://schemas.microsoft.com/office/drawing/2014/main" id="{7CE38A7E-B59E-4734-BBB2-CDBD38980874}"/>
              </a:ext>
            </a:extLst>
          </p:cNvPr>
          <p:cNvSpPr/>
          <p:nvPr/>
        </p:nvSpPr>
        <p:spPr>
          <a:xfrm>
            <a:off x="4224771" y="4765410"/>
            <a:ext cx="1536192" cy="310896"/>
          </a:xfrm>
          <a:prstGeom prst="rect">
            <a:avLst/>
          </a:prstGeom>
          <a:noFill/>
          <a:ln/>
        </p:spPr>
        <p:txBody>
          <a:bodyPr wrap="square" lIns="0" tIns="0" rIns="0" bIns="0" rtlCol="0" anchor="ctr"/>
          <a:lstStyle/>
          <a:p>
            <a:pPr marL="0" indent="0" algn="ctr">
              <a:buNone/>
            </a:pPr>
            <a:r>
              <a:rPr lang="en-US" sz="950" b="1" dirty="0" err="1">
                <a:latin typeface="メイリオ" panose="020B0604030504040204" pitchFamily="50" charset="-128"/>
                <a:ea typeface="メイリオ" panose="020B0604030504040204" pitchFamily="50" charset="-128"/>
                <a:cs typeface="Calibri" pitchFamily="34" charset="-120"/>
              </a:rPr>
              <a:t>テンプレを受け取る</a:t>
            </a:r>
            <a:endParaRPr lang="en-US" sz="950" dirty="0">
              <a:latin typeface="メイリオ" panose="020B0604030504040204" pitchFamily="50" charset="-128"/>
              <a:ea typeface="メイリオ" panose="020B0604030504040204" pitchFamily="50" charset="-128"/>
            </a:endParaRPr>
          </a:p>
        </p:txBody>
      </p:sp>
      <p:sp>
        <p:nvSpPr>
          <p:cNvPr id="255" name="Shape 46">
            <a:extLst>
              <a:ext uri="{FF2B5EF4-FFF2-40B4-BE49-F238E27FC236}">
                <a16:creationId xmlns:a16="http://schemas.microsoft.com/office/drawing/2014/main" id="{AE76465E-F5D4-326A-00DE-566AF4D0ED4F}"/>
              </a:ext>
            </a:extLst>
          </p:cNvPr>
          <p:cNvSpPr/>
          <p:nvPr/>
        </p:nvSpPr>
        <p:spPr>
          <a:xfrm>
            <a:off x="5925555" y="1835845"/>
            <a:ext cx="1719072" cy="3363172"/>
          </a:xfrm>
          <a:prstGeom prst="roundRect">
            <a:avLst>
              <a:gd name="adj" fmla="val 3191"/>
            </a:avLst>
          </a:prstGeom>
          <a:solidFill>
            <a:srgbClr val="FFFFFF"/>
          </a:solidFill>
          <a:ln w="12700">
            <a:solidFill>
              <a:srgbClr val="DDDDDD"/>
            </a:solidFill>
            <a:prstDash val="solid"/>
          </a:ln>
          <a:effectLst>
            <a:outerShdw blurRad="38100" dist="12700" dir="8100000" algn="bl" rotWithShape="0">
              <a:srgbClr val="AAAAAA">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57" name="Shape 47">
            <a:extLst>
              <a:ext uri="{FF2B5EF4-FFF2-40B4-BE49-F238E27FC236}">
                <a16:creationId xmlns:a16="http://schemas.microsoft.com/office/drawing/2014/main" id="{4CE9A042-BEA8-8E3F-7458-7B837D4C3B49}"/>
              </a:ext>
            </a:extLst>
          </p:cNvPr>
          <p:cNvSpPr/>
          <p:nvPr/>
        </p:nvSpPr>
        <p:spPr>
          <a:xfrm>
            <a:off x="5925555" y="1835845"/>
            <a:ext cx="1719072" cy="585216"/>
          </a:xfrm>
          <a:prstGeom prst="roundRect">
            <a:avLst>
              <a:gd name="adj" fmla="val 9375"/>
            </a:avLst>
          </a:prstGeom>
          <a:solidFill>
            <a:schemeClr val="tx2">
              <a:lumMod val="60000"/>
              <a:lumOff val="40000"/>
            </a:schemeClr>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59" name="Text 48">
            <a:extLst>
              <a:ext uri="{FF2B5EF4-FFF2-40B4-BE49-F238E27FC236}">
                <a16:creationId xmlns:a16="http://schemas.microsoft.com/office/drawing/2014/main" id="{7AF37BD4-4646-F464-3A02-960B3183EDAC}"/>
              </a:ext>
            </a:extLst>
          </p:cNvPr>
          <p:cNvSpPr/>
          <p:nvPr/>
        </p:nvSpPr>
        <p:spPr>
          <a:xfrm>
            <a:off x="6016995" y="1872421"/>
            <a:ext cx="1536192" cy="274320"/>
          </a:xfrm>
          <a:prstGeom prst="rect">
            <a:avLst/>
          </a:prstGeom>
          <a:noFill/>
          <a:ln>
            <a:noFill/>
          </a:ln>
        </p:spPr>
        <p:txBody>
          <a:bodyPr wrap="square" lIns="0" tIns="0" rIns="0" bIns="0" rtlCol="0" anchor="ctr"/>
          <a:lstStyle/>
          <a:p>
            <a:pPr marL="0" indent="0" algn="ctr">
              <a:buNone/>
            </a:pPr>
            <a:r>
              <a:rPr lang="en-US" sz="1500" b="1" dirty="0">
                <a:solidFill>
                  <a:srgbClr val="FFFFFF"/>
                </a:solidFill>
                <a:latin typeface="メイリオ" panose="020B0604030504040204" pitchFamily="50" charset="-128"/>
                <a:ea typeface="メイリオ" panose="020B0604030504040204" pitchFamily="50" charset="-128"/>
                <a:cs typeface="Calibri" pitchFamily="34" charset="-120"/>
              </a:rPr>
              <a:t>Day8〜9</a:t>
            </a:r>
            <a:endParaRPr lang="en-US" sz="1500" dirty="0">
              <a:latin typeface="メイリオ" panose="020B0604030504040204" pitchFamily="50" charset="-128"/>
              <a:ea typeface="メイリオ" panose="020B0604030504040204" pitchFamily="50" charset="-128"/>
            </a:endParaRPr>
          </a:p>
        </p:txBody>
      </p:sp>
      <p:sp>
        <p:nvSpPr>
          <p:cNvPr id="261" name="Text 49">
            <a:extLst>
              <a:ext uri="{FF2B5EF4-FFF2-40B4-BE49-F238E27FC236}">
                <a16:creationId xmlns:a16="http://schemas.microsoft.com/office/drawing/2014/main" id="{A2C54EA1-48FF-25BB-CAB7-CF9E2CE2A6BE}"/>
              </a:ext>
            </a:extLst>
          </p:cNvPr>
          <p:cNvSpPr/>
          <p:nvPr/>
        </p:nvSpPr>
        <p:spPr>
          <a:xfrm>
            <a:off x="6016995" y="2146741"/>
            <a:ext cx="1536192" cy="201168"/>
          </a:xfrm>
          <a:prstGeom prst="rect">
            <a:avLst/>
          </a:prstGeom>
          <a:noFill/>
          <a:ln>
            <a:noFill/>
          </a:ln>
        </p:spPr>
        <p:txBody>
          <a:bodyPr wrap="square" lIns="0" tIns="0" rIns="0" bIns="0" rtlCol="0" anchor="ctr"/>
          <a:lstStyle/>
          <a:p>
            <a:pPr marL="0" indent="0" algn="ctr">
              <a:buNone/>
            </a:pPr>
            <a:r>
              <a:rPr lang="en-US" sz="900" dirty="0">
                <a:solidFill>
                  <a:srgbClr val="D0E8FF"/>
                </a:solidFill>
                <a:latin typeface="メイリオ" panose="020B0604030504040204" pitchFamily="50" charset="-128"/>
                <a:ea typeface="メイリオ" panose="020B0604030504040204" pitchFamily="50" charset="-128"/>
                <a:cs typeface="Calibri" pitchFamily="34" charset="-120"/>
              </a:rPr>
              <a:t>他社比較・選び方</a:t>
            </a:r>
            <a:endParaRPr lang="en-US" sz="900" dirty="0">
              <a:latin typeface="メイリオ" panose="020B0604030504040204" pitchFamily="50" charset="-128"/>
              <a:ea typeface="メイリオ" panose="020B0604030504040204" pitchFamily="50" charset="-128"/>
            </a:endParaRPr>
          </a:p>
        </p:txBody>
      </p:sp>
      <p:sp>
        <p:nvSpPr>
          <p:cNvPr id="263" name="Text 50">
            <a:extLst>
              <a:ext uri="{FF2B5EF4-FFF2-40B4-BE49-F238E27FC236}">
                <a16:creationId xmlns:a16="http://schemas.microsoft.com/office/drawing/2014/main" id="{471AEB23-B4DA-3C81-62CB-E912A644460B}"/>
              </a:ext>
            </a:extLst>
          </p:cNvPr>
          <p:cNvSpPr/>
          <p:nvPr/>
        </p:nvSpPr>
        <p:spPr>
          <a:xfrm>
            <a:off x="6035283" y="2494213"/>
            <a:ext cx="1499616" cy="530352"/>
          </a:xfrm>
          <a:prstGeom prst="rect">
            <a:avLst/>
          </a:prstGeom>
          <a:noFill/>
          <a:ln/>
        </p:spPr>
        <p:txBody>
          <a:bodyPr wrap="square" lIns="0" tIns="0" rIns="0" bIns="0" rtlCol="0" anchor="ctr"/>
          <a:lstStyle/>
          <a:p>
            <a:pPr marL="0" indent="0">
              <a:lnSpc>
                <a:spcPct val="130000"/>
              </a:lnSpc>
              <a:buNone/>
            </a:pPr>
            <a:r>
              <a:rPr lang="en-US" sz="1200" b="1" dirty="0">
                <a:solidFill>
                  <a:schemeClr val="accent1"/>
                </a:solidFill>
                <a:latin typeface="メイリオ" panose="020B0604030504040204" pitchFamily="50" charset="-128"/>
                <a:ea typeface="メイリオ" panose="020B0604030504040204" pitchFamily="50" charset="-128"/>
                <a:cs typeface="Calibri" pitchFamily="34" charset="-120"/>
              </a:rPr>
              <a:t>エージェントの</a:t>
            </a:r>
            <a:endParaRPr lang="en-US" sz="1200" dirty="0">
              <a:solidFill>
                <a:schemeClr val="accent1"/>
              </a:solidFill>
              <a:latin typeface="メイリオ" panose="020B0604030504040204" pitchFamily="50" charset="-128"/>
              <a:ea typeface="メイリオ" panose="020B0604030504040204" pitchFamily="50" charset="-128"/>
            </a:endParaRPr>
          </a:p>
          <a:p>
            <a:pPr marL="0" indent="0">
              <a:lnSpc>
                <a:spcPct val="130000"/>
              </a:lnSpc>
              <a:buNone/>
            </a:pPr>
            <a:r>
              <a:rPr lang="en-US" sz="1200" b="1" dirty="0" err="1">
                <a:solidFill>
                  <a:schemeClr val="accent1"/>
                </a:solidFill>
                <a:latin typeface="メイリオ" panose="020B0604030504040204" pitchFamily="50" charset="-128"/>
                <a:ea typeface="メイリオ" panose="020B0604030504040204" pitchFamily="50" charset="-128"/>
                <a:cs typeface="Calibri" pitchFamily="34" charset="-120"/>
              </a:rPr>
              <a:t>選び方・比較のコツ</a:t>
            </a:r>
            <a:endParaRPr lang="en-US" sz="1200" dirty="0">
              <a:solidFill>
                <a:schemeClr val="accent1"/>
              </a:solidFill>
              <a:latin typeface="メイリオ" panose="020B0604030504040204" pitchFamily="50" charset="-128"/>
              <a:ea typeface="メイリオ" panose="020B0604030504040204" pitchFamily="50" charset="-128"/>
            </a:endParaRPr>
          </a:p>
        </p:txBody>
      </p:sp>
      <p:sp>
        <p:nvSpPr>
          <p:cNvPr id="265" name="Text 51">
            <a:extLst>
              <a:ext uri="{FF2B5EF4-FFF2-40B4-BE49-F238E27FC236}">
                <a16:creationId xmlns:a16="http://schemas.microsoft.com/office/drawing/2014/main" id="{75F01DF6-8600-1DAC-987C-C3554E20E240}"/>
              </a:ext>
            </a:extLst>
          </p:cNvPr>
          <p:cNvSpPr/>
          <p:nvPr/>
        </p:nvSpPr>
        <p:spPr>
          <a:xfrm>
            <a:off x="6035283" y="3061141"/>
            <a:ext cx="1499616" cy="749808"/>
          </a:xfrm>
          <a:prstGeom prst="rect">
            <a:avLst/>
          </a:prstGeom>
          <a:noFill/>
          <a:ln/>
        </p:spPr>
        <p:txBody>
          <a:bodyPr wrap="square" lIns="0" tIns="0" rIns="0" bIns="0" rtlCol="0" anchor="ctr"/>
          <a:lstStyle/>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弊社の強み（USP）を</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他社比較で訴求</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ユーザーの声・実績数値で</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信頼醸成</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LINE限定キャンペーン予告</a:t>
            </a:r>
            <a:endParaRPr lang="en-US" sz="700" dirty="0">
              <a:latin typeface="メイリオ" panose="020B0604030504040204" pitchFamily="50" charset="-128"/>
              <a:ea typeface="メイリオ" panose="020B0604030504040204" pitchFamily="50" charset="-128"/>
            </a:endParaRPr>
          </a:p>
        </p:txBody>
      </p:sp>
      <p:sp>
        <p:nvSpPr>
          <p:cNvPr id="267" name="Shape 52">
            <a:extLst>
              <a:ext uri="{FF2B5EF4-FFF2-40B4-BE49-F238E27FC236}">
                <a16:creationId xmlns:a16="http://schemas.microsoft.com/office/drawing/2014/main" id="{81626C02-0128-391F-1AF0-59D225D419BC}"/>
              </a:ext>
            </a:extLst>
          </p:cNvPr>
          <p:cNvSpPr/>
          <p:nvPr/>
        </p:nvSpPr>
        <p:spPr>
          <a:xfrm>
            <a:off x="6016995" y="3960738"/>
            <a:ext cx="1536192" cy="694944"/>
          </a:xfrm>
          <a:prstGeom prst="roundRect">
            <a:avLst>
              <a:gd name="adj" fmla="val 6579"/>
            </a:avLst>
          </a:prstGeom>
          <a:solidFill>
            <a:srgbClr val="F5F5F5"/>
          </a:solidFill>
          <a:ln w="12700">
            <a:solidFill>
              <a:srgbClr val="DDDDDD"/>
            </a:solid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69" name="Text 53">
            <a:extLst>
              <a:ext uri="{FF2B5EF4-FFF2-40B4-BE49-F238E27FC236}">
                <a16:creationId xmlns:a16="http://schemas.microsoft.com/office/drawing/2014/main" id="{6A730545-9554-14ED-6B2A-1B88A1389EEA}"/>
              </a:ext>
            </a:extLst>
          </p:cNvPr>
          <p:cNvSpPr/>
          <p:nvPr/>
        </p:nvSpPr>
        <p:spPr>
          <a:xfrm>
            <a:off x="6090147" y="3997314"/>
            <a:ext cx="1389888" cy="128016"/>
          </a:xfrm>
          <a:prstGeom prst="rect">
            <a:avLst/>
          </a:prstGeom>
          <a:noFill/>
          <a:ln/>
        </p:spPr>
        <p:txBody>
          <a:bodyPr wrap="square" lIns="0" tIns="0" rIns="0" bIns="0" rtlCol="0" anchor="ctr"/>
          <a:lstStyle/>
          <a:p>
            <a:pPr marL="0" indent="0">
              <a:buNone/>
            </a:pPr>
            <a:r>
              <a:rPr lang="en-US" sz="500" b="1" dirty="0">
                <a:solidFill>
                  <a:srgbClr val="888888"/>
                </a:solidFill>
                <a:latin typeface="メイリオ" panose="020B0604030504040204" pitchFamily="50" charset="-128"/>
                <a:ea typeface="メイリオ" panose="020B0604030504040204" pitchFamily="50" charset="-128"/>
                <a:cs typeface="Calibri" pitchFamily="34" charset="-120"/>
              </a:rPr>
              <a:t>[検索データ]</a:t>
            </a:r>
            <a:endParaRPr lang="en-US" sz="500" dirty="0">
              <a:latin typeface="メイリオ" panose="020B0604030504040204" pitchFamily="50" charset="-128"/>
              <a:ea typeface="メイリオ" panose="020B0604030504040204" pitchFamily="50" charset="-128"/>
            </a:endParaRPr>
          </a:p>
        </p:txBody>
      </p:sp>
      <p:sp>
        <p:nvSpPr>
          <p:cNvPr id="271" name="Text 54">
            <a:extLst>
              <a:ext uri="{FF2B5EF4-FFF2-40B4-BE49-F238E27FC236}">
                <a16:creationId xmlns:a16="http://schemas.microsoft.com/office/drawing/2014/main" id="{D66B723A-593B-D13D-0018-C9E7DAEBCB1C}"/>
              </a:ext>
            </a:extLst>
          </p:cNvPr>
          <p:cNvSpPr/>
          <p:nvPr/>
        </p:nvSpPr>
        <p:spPr>
          <a:xfrm>
            <a:off x="6090147" y="4143618"/>
            <a:ext cx="1389888" cy="493776"/>
          </a:xfrm>
          <a:prstGeom prst="rect">
            <a:avLst/>
          </a:prstGeom>
          <a:noFill/>
          <a:ln/>
        </p:spPr>
        <p:txBody>
          <a:bodyPr wrap="square" lIns="0" tIns="0" rIns="0" bIns="0" rtlCol="0" anchor="ctr"/>
          <a:lstStyle/>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「リクルートエージェント 評判」「ハタラクティブ」「ビズリーチ 評判」等のブランド比較検索が+3〜+7日に集中。比較フェーズに完全対応</a:t>
            </a:r>
            <a:endParaRPr lang="en-US" sz="600" dirty="0">
              <a:latin typeface="メイリオ" panose="020B0604030504040204" pitchFamily="50" charset="-128"/>
              <a:ea typeface="メイリオ" panose="020B0604030504040204" pitchFamily="50" charset="-128"/>
            </a:endParaRPr>
          </a:p>
        </p:txBody>
      </p:sp>
      <p:sp>
        <p:nvSpPr>
          <p:cNvPr id="273" name="Shape 55">
            <a:extLst>
              <a:ext uri="{FF2B5EF4-FFF2-40B4-BE49-F238E27FC236}">
                <a16:creationId xmlns:a16="http://schemas.microsoft.com/office/drawing/2014/main" id="{83516F18-5DB0-D001-7E95-B25134EA6409}"/>
              </a:ext>
            </a:extLst>
          </p:cNvPr>
          <p:cNvSpPr/>
          <p:nvPr/>
        </p:nvSpPr>
        <p:spPr>
          <a:xfrm>
            <a:off x="6016995" y="4765410"/>
            <a:ext cx="1536192" cy="310896"/>
          </a:xfrm>
          <a:prstGeom prst="roundRect">
            <a:avLst>
              <a:gd name="adj" fmla="val 35294"/>
            </a:avLst>
          </a:prstGeom>
          <a:solidFill>
            <a:srgbClr val="FFFFFF"/>
          </a:solidFill>
          <a:ln w="12700">
            <a:solidFill>
              <a:srgbClr val="2E7D32"/>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75" name="Text 56">
            <a:extLst>
              <a:ext uri="{FF2B5EF4-FFF2-40B4-BE49-F238E27FC236}">
                <a16:creationId xmlns:a16="http://schemas.microsoft.com/office/drawing/2014/main" id="{6F27A7FC-1886-3E15-FE13-B49B5E6B58C4}"/>
              </a:ext>
            </a:extLst>
          </p:cNvPr>
          <p:cNvSpPr/>
          <p:nvPr/>
        </p:nvSpPr>
        <p:spPr>
          <a:xfrm>
            <a:off x="6016995" y="4765410"/>
            <a:ext cx="1536192" cy="310896"/>
          </a:xfrm>
          <a:prstGeom prst="rect">
            <a:avLst/>
          </a:prstGeom>
          <a:noFill/>
          <a:ln/>
        </p:spPr>
        <p:txBody>
          <a:bodyPr wrap="square" lIns="0" tIns="0" rIns="0" bIns="0" rtlCol="0" anchor="ctr"/>
          <a:lstStyle/>
          <a:p>
            <a:pPr marL="0" indent="0" algn="ctr">
              <a:buNone/>
            </a:pPr>
            <a:r>
              <a:rPr lang="en-US" sz="950" b="1" dirty="0" err="1">
                <a:latin typeface="メイリオ" panose="020B0604030504040204" pitchFamily="50" charset="-128"/>
                <a:ea typeface="メイリオ" panose="020B0604030504040204" pitchFamily="50" charset="-128"/>
                <a:cs typeface="Calibri" pitchFamily="34" charset="-120"/>
              </a:rPr>
              <a:t>事例・ユーザーの声</a:t>
            </a:r>
            <a:endParaRPr lang="en-US" sz="950" dirty="0">
              <a:latin typeface="メイリオ" panose="020B0604030504040204" pitchFamily="50" charset="-128"/>
              <a:ea typeface="メイリオ" panose="020B0604030504040204" pitchFamily="50" charset="-128"/>
            </a:endParaRPr>
          </a:p>
        </p:txBody>
      </p:sp>
      <p:sp>
        <p:nvSpPr>
          <p:cNvPr id="277" name="Shape 46">
            <a:extLst>
              <a:ext uri="{FF2B5EF4-FFF2-40B4-BE49-F238E27FC236}">
                <a16:creationId xmlns:a16="http://schemas.microsoft.com/office/drawing/2014/main" id="{81FDC777-C320-5C75-D3A4-A08DD76D7E5F}"/>
              </a:ext>
            </a:extLst>
          </p:cNvPr>
          <p:cNvSpPr/>
          <p:nvPr/>
        </p:nvSpPr>
        <p:spPr>
          <a:xfrm>
            <a:off x="7740422" y="1835845"/>
            <a:ext cx="1719072" cy="3363172"/>
          </a:xfrm>
          <a:prstGeom prst="roundRect">
            <a:avLst>
              <a:gd name="adj" fmla="val 3191"/>
            </a:avLst>
          </a:prstGeom>
          <a:solidFill>
            <a:srgbClr val="FFFFFF"/>
          </a:solidFill>
          <a:ln w="12700">
            <a:solidFill>
              <a:srgbClr val="DDDDDD"/>
            </a:solidFill>
            <a:prstDash val="solid"/>
          </a:ln>
          <a:effectLst>
            <a:outerShdw blurRad="38100" dist="12700" dir="8100000" algn="bl" rotWithShape="0">
              <a:srgbClr val="AAAAAA">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79" name="Shape 47">
            <a:extLst>
              <a:ext uri="{FF2B5EF4-FFF2-40B4-BE49-F238E27FC236}">
                <a16:creationId xmlns:a16="http://schemas.microsoft.com/office/drawing/2014/main" id="{3035F905-AAB5-7BEB-2025-12D56AFD692F}"/>
              </a:ext>
            </a:extLst>
          </p:cNvPr>
          <p:cNvSpPr/>
          <p:nvPr/>
        </p:nvSpPr>
        <p:spPr>
          <a:xfrm>
            <a:off x="7740422" y="1835845"/>
            <a:ext cx="1719072" cy="585216"/>
          </a:xfrm>
          <a:prstGeom prst="roundRect">
            <a:avLst>
              <a:gd name="adj" fmla="val 9375"/>
            </a:avLst>
          </a:prstGeom>
          <a:solidFill>
            <a:srgbClr val="FF0000"/>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81" name="Text 48">
            <a:extLst>
              <a:ext uri="{FF2B5EF4-FFF2-40B4-BE49-F238E27FC236}">
                <a16:creationId xmlns:a16="http://schemas.microsoft.com/office/drawing/2014/main" id="{68E2156B-2D0C-D7CD-E58E-0CEE790D2936}"/>
              </a:ext>
            </a:extLst>
          </p:cNvPr>
          <p:cNvSpPr/>
          <p:nvPr/>
        </p:nvSpPr>
        <p:spPr>
          <a:xfrm>
            <a:off x="7831862" y="1872421"/>
            <a:ext cx="1536192" cy="274320"/>
          </a:xfrm>
          <a:prstGeom prst="rect">
            <a:avLst/>
          </a:prstGeom>
          <a:noFill/>
          <a:ln>
            <a:noFill/>
          </a:ln>
        </p:spPr>
        <p:txBody>
          <a:bodyPr wrap="square" lIns="0" tIns="0" rIns="0" bIns="0" rtlCol="0" anchor="ctr"/>
          <a:lstStyle/>
          <a:p>
            <a:pPr marL="0" indent="0" algn="ctr">
              <a:buNone/>
            </a:pPr>
            <a:r>
              <a:rPr lang="en-US" sz="1500" b="1" dirty="0">
                <a:solidFill>
                  <a:srgbClr val="FFFFFF"/>
                </a:solidFill>
                <a:latin typeface="メイリオ" panose="020B0604030504040204" pitchFamily="50" charset="-128"/>
                <a:ea typeface="メイリオ" panose="020B0604030504040204" pitchFamily="50" charset="-128"/>
                <a:cs typeface="Calibri" pitchFamily="34" charset="-120"/>
              </a:rPr>
              <a:t>Day12〜15</a:t>
            </a:r>
            <a:endParaRPr lang="en-US" sz="1500" dirty="0">
              <a:latin typeface="メイリオ" panose="020B0604030504040204" pitchFamily="50" charset="-128"/>
              <a:ea typeface="メイリオ" panose="020B0604030504040204" pitchFamily="50" charset="-128"/>
            </a:endParaRPr>
          </a:p>
        </p:txBody>
      </p:sp>
      <p:sp>
        <p:nvSpPr>
          <p:cNvPr id="283" name="Text 49">
            <a:extLst>
              <a:ext uri="{FF2B5EF4-FFF2-40B4-BE49-F238E27FC236}">
                <a16:creationId xmlns:a16="http://schemas.microsoft.com/office/drawing/2014/main" id="{D56A2492-EC40-760E-3C3E-A80DBBA1A3A6}"/>
              </a:ext>
            </a:extLst>
          </p:cNvPr>
          <p:cNvSpPr/>
          <p:nvPr/>
        </p:nvSpPr>
        <p:spPr>
          <a:xfrm>
            <a:off x="7831862" y="2146741"/>
            <a:ext cx="1536192" cy="201168"/>
          </a:xfrm>
          <a:prstGeom prst="rect">
            <a:avLst/>
          </a:prstGeom>
          <a:noFill/>
          <a:ln>
            <a:noFill/>
          </a:ln>
        </p:spPr>
        <p:txBody>
          <a:bodyPr wrap="square" lIns="0" tIns="0" rIns="0" bIns="0" rtlCol="0" anchor="ctr"/>
          <a:lstStyle/>
          <a:p>
            <a:pPr marL="0" indent="0" algn="ctr">
              <a:buNone/>
            </a:pPr>
            <a:r>
              <a:rPr lang="en-US" sz="900" dirty="0">
                <a:solidFill>
                  <a:srgbClr val="D0E8FF"/>
                </a:solidFill>
                <a:latin typeface="メイリオ" panose="020B0604030504040204" pitchFamily="50" charset="-128"/>
                <a:ea typeface="メイリオ" panose="020B0604030504040204" pitchFamily="50" charset="-128"/>
                <a:cs typeface="Calibri" pitchFamily="34" charset="-120"/>
              </a:rPr>
              <a:t>相談オファー</a:t>
            </a:r>
            <a:endParaRPr lang="en-US" sz="900" dirty="0">
              <a:latin typeface="メイリオ" panose="020B0604030504040204" pitchFamily="50" charset="-128"/>
              <a:ea typeface="メイリオ" panose="020B0604030504040204" pitchFamily="50" charset="-128"/>
            </a:endParaRPr>
          </a:p>
        </p:txBody>
      </p:sp>
      <p:sp>
        <p:nvSpPr>
          <p:cNvPr id="285" name="Text 50">
            <a:extLst>
              <a:ext uri="{FF2B5EF4-FFF2-40B4-BE49-F238E27FC236}">
                <a16:creationId xmlns:a16="http://schemas.microsoft.com/office/drawing/2014/main" id="{A0703C68-0981-D8D2-C5DE-76BA82B621A9}"/>
              </a:ext>
            </a:extLst>
          </p:cNvPr>
          <p:cNvSpPr/>
          <p:nvPr/>
        </p:nvSpPr>
        <p:spPr>
          <a:xfrm>
            <a:off x="7850150" y="2494213"/>
            <a:ext cx="1499616" cy="530352"/>
          </a:xfrm>
          <a:prstGeom prst="rect">
            <a:avLst/>
          </a:prstGeom>
          <a:noFill/>
          <a:ln/>
        </p:spPr>
        <p:txBody>
          <a:bodyPr wrap="square" lIns="0" tIns="0" rIns="0" bIns="0" rtlCol="0" anchor="ctr"/>
          <a:lstStyle/>
          <a:p>
            <a:pPr marL="0" indent="0">
              <a:lnSpc>
                <a:spcPct val="130000"/>
              </a:lnSpc>
              <a:buNone/>
            </a:pPr>
            <a:r>
              <a:rPr lang="ja-JP" altLang="en-US" sz="1200" b="1" dirty="0">
                <a:solidFill>
                  <a:srgbClr val="FF0000"/>
                </a:solidFill>
                <a:latin typeface="メイリオ" panose="020B0604030504040204" pitchFamily="50" charset="-128"/>
                <a:ea typeface="メイリオ" panose="020B0604030504040204" pitchFamily="50" charset="-128"/>
                <a:cs typeface="Calibri" pitchFamily="34" charset="-120"/>
              </a:rPr>
              <a:t>優先相談窓口へ</a:t>
            </a:r>
            <a:endParaRPr lang="en-US" sz="1200" dirty="0">
              <a:solidFill>
                <a:srgbClr val="FF0000"/>
              </a:solidFill>
              <a:latin typeface="メイリオ" panose="020B0604030504040204" pitchFamily="50" charset="-128"/>
              <a:ea typeface="メイリオ" panose="020B0604030504040204" pitchFamily="50" charset="-128"/>
            </a:endParaRPr>
          </a:p>
        </p:txBody>
      </p:sp>
      <p:sp>
        <p:nvSpPr>
          <p:cNvPr id="287" name="Text 51">
            <a:extLst>
              <a:ext uri="{FF2B5EF4-FFF2-40B4-BE49-F238E27FC236}">
                <a16:creationId xmlns:a16="http://schemas.microsoft.com/office/drawing/2014/main" id="{CBAD27DA-89EF-E7ED-15D2-58AF159CACA9}"/>
              </a:ext>
            </a:extLst>
          </p:cNvPr>
          <p:cNvSpPr/>
          <p:nvPr/>
        </p:nvSpPr>
        <p:spPr>
          <a:xfrm>
            <a:off x="7850150" y="3061141"/>
            <a:ext cx="1499616" cy="749808"/>
          </a:xfrm>
          <a:prstGeom prst="rect">
            <a:avLst/>
          </a:prstGeom>
          <a:noFill/>
          <a:ln/>
        </p:spPr>
        <p:txBody>
          <a:bodyPr wrap="square" lIns="0" tIns="0" rIns="0" bIns="0" rtlCol="0" anchor="ctr"/>
          <a:lstStyle/>
          <a:p>
            <a:pPr marL="0" indent="0">
              <a:lnSpc>
                <a:spcPct val="140000"/>
              </a:lnSpc>
              <a:buNone/>
            </a:pPr>
            <a:r>
              <a:rPr lang="ja-JP" altLang="en-US" sz="700" dirty="0">
                <a:solidFill>
                  <a:srgbClr val="494848"/>
                </a:solidFill>
                <a:latin typeface="メイリオ" panose="020B0604030504040204" pitchFamily="50" charset="-128"/>
                <a:ea typeface="メイリオ" panose="020B0604030504040204" pitchFamily="50" charset="-128"/>
                <a:cs typeface="Calibri" pitchFamily="34" charset="-120"/>
              </a:rPr>
              <a:t>担当キャリア</a:t>
            </a:r>
          </a:p>
          <a:p>
            <a:pPr marL="0" indent="0">
              <a:lnSpc>
                <a:spcPct val="140000"/>
              </a:lnSpc>
              <a:buNone/>
            </a:pPr>
            <a:r>
              <a:rPr lang="ja-JP" altLang="en-US" sz="700" dirty="0">
                <a:solidFill>
                  <a:srgbClr val="494848"/>
                </a:solidFill>
                <a:latin typeface="メイリオ" panose="020B0604030504040204" pitchFamily="50" charset="-128"/>
                <a:ea typeface="メイリオ" panose="020B0604030504040204" pitchFamily="50" charset="-128"/>
                <a:cs typeface="Calibri" pitchFamily="34" charset="-120"/>
              </a:rPr>
              <a:t>アドバイザーへの</a:t>
            </a:r>
          </a:p>
          <a:p>
            <a:pPr marL="0" indent="0">
              <a:lnSpc>
                <a:spcPct val="140000"/>
              </a:lnSpc>
              <a:buNone/>
            </a:pPr>
            <a:r>
              <a:rPr lang="ja-JP" altLang="en-US" sz="700" dirty="0">
                <a:solidFill>
                  <a:srgbClr val="494848"/>
                </a:solidFill>
                <a:latin typeface="メイリオ" panose="020B0604030504040204" pitchFamily="50" charset="-128"/>
                <a:ea typeface="メイリオ" panose="020B0604030504040204" pitchFamily="50" charset="-128"/>
                <a:cs typeface="Calibri" pitchFamily="34" charset="-120"/>
              </a:rPr>
              <a:t>直接相談を誘導</a:t>
            </a:r>
          </a:p>
          <a:p>
            <a:pPr marL="0" indent="0">
              <a:lnSpc>
                <a:spcPct val="140000"/>
              </a:lnSpc>
              <a:buNone/>
            </a:pPr>
            <a:r>
              <a:rPr lang="en-US" altLang="ja-JP" sz="700" dirty="0">
                <a:solidFill>
                  <a:srgbClr val="494848"/>
                </a:solidFill>
                <a:latin typeface="メイリオ" panose="020B0604030504040204" pitchFamily="50" charset="-128"/>
                <a:ea typeface="メイリオ" panose="020B0604030504040204" pitchFamily="50" charset="-128"/>
                <a:cs typeface="Calibri" pitchFamily="34" charset="-120"/>
              </a:rPr>
              <a:t>LINE</a:t>
            </a:r>
            <a:r>
              <a:rPr lang="ja-JP" altLang="en-US" sz="700" dirty="0">
                <a:solidFill>
                  <a:srgbClr val="494848"/>
                </a:solidFill>
                <a:latin typeface="メイリオ" panose="020B0604030504040204" pitchFamily="50" charset="-128"/>
                <a:ea typeface="メイリオ" panose="020B0604030504040204" pitchFamily="50" charset="-128"/>
                <a:cs typeface="Calibri" pitchFamily="34" charset="-120"/>
              </a:rPr>
              <a:t>限定特典で後押し</a:t>
            </a:r>
          </a:p>
          <a:p>
            <a:pPr marL="0" indent="0">
              <a:lnSpc>
                <a:spcPct val="140000"/>
              </a:lnSpc>
              <a:buNone/>
            </a:pPr>
            <a:r>
              <a:rPr lang="ja-JP" altLang="en-US" sz="700" dirty="0">
                <a:solidFill>
                  <a:srgbClr val="494848"/>
                </a:solidFill>
                <a:latin typeface="メイリオ" panose="020B0604030504040204" pitchFamily="50" charset="-128"/>
                <a:ea typeface="メイリオ" panose="020B0604030504040204" pitchFamily="50" charset="-128"/>
                <a:cs typeface="Calibri" pitchFamily="34" charset="-120"/>
              </a:rPr>
              <a:t>（優先面談枠・非公開求人）</a:t>
            </a:r>
          </a:p>
        </p:txBody>
      </p:sp>
      <p:sp>
        <p:nvSpPr>
          <p:cNvPr id="289" name="Shape 52">
            <a:extLst>
              <a:ext uri="{FF2B5EF4-FFF2-40B4-BE49-F238E27FC236}">
                <a16:creationId xmlns:a16="http://schemas.microsoft.com/office/drawing/2014/main" id="{01255A9D-11A8-3A64-125C-E28C1B6380B3}"/>
              </a:ext>
            </a:extLst>
          </p:cNvPr>
          <p:cNvSpPr/>
          <p:nvPr/>
        </p:nvSpPr>
        <p:spPr>
          <a:xfrm>
            <a:off x="7831862" y="3960738"/>
            <a:ext cx="1536192" cy="694944"/>
          </a:xfrm>
          <a:prstGeom prst="roundRect">
            <a:avLst>
              <a:gd name="adj" fmla="val 6579"/>
            </a:avLst>
          </a:prstGeom>
          <a:solidFill>
            <a:srgbClr val="F5F5F5"/>
          </a:solidFill>
          <a:ln w="12700">
            <a:solidFill>
              <a:srgbClr val="DDDDDD"/>
            </a:solid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91" name="Text 53">
            <a:extLst>
              <a:ext uri="{FF2B5EF4-FFF2-40B4-BE49-F238E27FC236}">
                <a16:creationId xmlns:a16="http://schemas.microsoft.com/office/drawing/2014/main" id="{8AE4DE94-CD9A-396B-D28D-D8148037F66F}"/>
              </a:ext>
            </a:extLst>
          </p:cNvPr>
          <p:cNvSpPr/>
          <p:nvPr/>
        </p:nvSpPr>
        <p:spPr>
          <a:xfrm>
            <a:off x="7905014" y="3997314"/>
            <a:ext cx="1389888" cy="128016"/>
          </a:xfrm>
          <a:prstGeom prst="rect">
            <a:avLst/>
          </a:prstGeom>
          <a:noFill/>
          <a:ln/>
        </p:spPr>
        <p:txBody>
          <a:bodyPr wrap="square" lIns="0" tIns="0" rIns="0" bIns="0" rtlCol="0" anchor="ctr"/>
          <a:lstStyle/>
          <a:p>
            <a:pPr marL="0" indent="0">
              <a:buNone/>
            </a:pPr>
            <a:r>
              <a:rPr lang="en-US" sz="500" b="1" dirty="0">
                <a:solidFill>
                  <a:srgbClr val="888888"/>
                </a:solidFill>
                <a:latin typeface="メイリオ" panose="020B0604030504040204" pitchFamily="50" charset="-128"/>
                <a:ea typeface="メイリオ" panose="020B0604030504040204" pitchFamily="50" charset="-128"/>
                <a:cs typeface="Calibri" pitchFamily="34" charset="-120"/>
              </a:rPr>
              <a:t>[検索データ]</a:t>
            </a:r>
            <a:endParaRPr lang="en-US" sz="500" dirty="0">
              <a:latin typeface="メイリオ" panose="020B0604030504040204" pitchFamily="50" charset="-128"/>
              <a:ea typeface="メイリオ" panose="020B0604030504040204" pitchFamily="50" charset="-128"/>
            </a:endParaRPr>
          </a:p>
        </p:txBody>
      </p:sp>
      <p:sp>
        <p:nvSpPr>
          <p:cNvPr id="293" name="Text 54">
            <a:extLst>
              <a:ext uri="{FF2B5EF4-FFF2-40B4-BE49-F238E27FC236}">
                <a16:creationId xmlns:a16="http://schemas.microsoft.com/office/drawing/2014/main" id="{8DA89E85-A3D3-6550-47A4-205B7B8B6D62}"/>
              </a:ext>
            </a:extLst>
          </p:cNvPr>
          <p:cNvSpPr/>
          <p:nvPr/>
        </p:nvSpPr>
        <p:spPr>
          <a:xfrm>
            <a:off x="7905014" y="4143618"/>
            <a:ext cx="1389888" cy="493776"/>
          </a:xfrm>
          <a:prstGeom prst="rect">
            <a:avLst/>
          </a:prstGeom>
          <a:noFill/>
          <a:ln/>
        </p:spPr>
        <p:txBody>
          <a:bodyPr wrap="square" lIns="0" tIns="0" rIns="0" bIns="0" rtlCol="0" anchor="ctr"/>
          <a:lstStyle/>
          <a:p>
            <a:pPr marL="0" indent="0">
              <a:lnSpc>
                <a:spcPct val="135000"/>
              </a:lnSpc>
              <a:buNone/>
            </a:pPr>
            <a:r>
              <a:rPr lang="ja-JP" altLang="en-US" sz="600" dirty="0">
                <a:solidFill>
                  <a:srgbClr val="494848"/>
                </a:solidFill>
                <a:latin typeface="メイリオ" panose="020B0604030504040204" pitchFamily="50" charset="-128"/>
                <a:ea typeface="メイリオ" panose="020B0604030504040204" pitchFamily="50" charset="-128"/>
                <a:cs typeface="Calibri" pitchFamily="34" charset="-120"/>
              </a:rPr>
              <a:t>追加</a:t>
            </a:r>
            <a:r>
              <a:rPr lang="en-US" altLang="ja-JP" sz="600" dirty="0">
                <a:solidFill>
                  <a:srgbClr val="494848"/>
                </a:solidFill>
                <a:latin typeface="メイリオ" panose="020B0604030504040204" pitchFamily="50" charset="-128"/>
                <a:ea typeface="メイリオ" panose="020B0604030504040204" pitchFamily="50" charset="-128"/>
                <a:cs typeface="Calibri" pitchFamily="34" charset="-120"/>
              </a:rPr>
              <a:t>15</a:t>
            </a:r>
            <a:r>
              <a:rPr lang="ja-JP" altLang="en-US" sz="600" dirty="0">
                <a:solidFill>
                  <a:srgbClr val="494848"/>
                </a:solidFill>
                <a:latin typeface="メイリオ" panose="020B0604030504040204" pitchFamily="50" charset="-128"/>
                <a:ea typeface="メイリオ" panose="020B0604030504040204" pitchFamily="50" charset="-128"/>
                <a:cs typeface="Calibri" pitchFamily="34" charset="-120"/>
              </a:rPr>
              <a:t>日後は「面接 対策」「転職 失敗 後悔」「自己分析 やり方」など実際に動き始めた層と離脱層に分かれる</a:t>
            </a:r>
          </a:p>
        </p:txBody>
      </p:sp>
      <p:sp>
        <p:nvSpPr>
          <p:cNvPr id="295" name="Shape 55">
            <a:extLst>
              <a:ext uri="{FF2B5EF4-FFF2-40B4-BE49-F238E27FC236}">
                <a16:creationId xmlns:a16="http://schemas.microsoft.com/office/drawing/2014/main" id="{517894E9-DBEF-7477-92C8-3AEB98A883F2}"/>
              </a:ext>
            </a:extLst>
          </p:cNvPr>
          <p:cNvSpPr/>
          <p:nvPr/>
        </p:nvSpPr>
        <p:spPr>
          <a:xfrm>
            <a:off x="7831862" y="4765410"/>
            <a:ext cx="1536192" cy="310896"/>
          </a:xfrm>
          <a:prstGeom prst="roundRect">
            <a:avLst>
              <a:gd name="adj" fmla="val 35294"/>
            </a:avLst>
          </a:prstGeom>
          <a:solidFill>
            <a:srgbClr val="FFFFFF"/>
          </a:solidFill>
          <a:ln w="12700">
            <a:solidFill>
              <a:srgbClr val="2E7D32"/>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97" name="Text 56">
            <a:extLst>
              <a:ext uri="{FF2B5EF4-FFF2-40B4-BE49-F238E27FC236}">
                <a16:creationId xmlns:a16="http://schemas.microsoft.com/office/drawing/2014/main" id="{DDF1E411-39CC-22B3-B963-FAA79AD524DD}"/>
              </a:ext>
            </a:extLst>
          </p:cNvPr>
          <p:cNvSpPr/>
          <p:nvPr/>
        </p:nvSpPr>
        <p:spPr>
          <a:xfrm>
            <a:off x="7831862" y="4765410"/>
            <a:ext cx="1536192" cy="310896"/>
          </a:xfrm>
          <a:prstGeom prst="rect">
            <a:avLst/>
          </a:prstGeom>
          <a:noFill/>
          <a:ln/>
        </p:spPr>
        <p:txBody>
          <a:bodyPr wrap="square" lIns="0" tIns="0" rIns="0" bIns="0" rtlCol="0" anchor="ctr"/>
          <a:lstStyle/>
          <a:p>
            <a:pPr marL="0" indent="0" algn="ctr">
              <a:buNone/>
            </a:pPr>
            <a:r>
              <a:rPr lang="ja-JP" altLang="en-US" sz="950" b="1" dirty="0">
                <a:latin typeface="メイリオ" panose="020B0604030504040204" pitchFamily="50" charset="-128"/>
                <a:ea typeface="メイリオ" panose="020B0604030504040204" pitchFamily="50" charset="-128"/>
                <a:cs typeface="Calibri" pitchFamily="34" charset="-120"/>
              </a:rPr>
              <a:t>無料</a:t>
            </a:r>
            <a:r>
              <a:rPr lang="en-US" altLang="ja-JP" sz="950" b="1" dirty="0">
                <a:latin typeface="メイリオ" panose="020B0604030504040204" pitchFamily="50" charset="-128"/>
                <a:ea typeface="メイリオ" panose="020B0604030504040204" pitchFamily="50" charset="-128"/>
                <a:cs typeface="Calibri" pitchFamily="34" charset="-120"/>
              </a:rPr>
              <a:t>CA</a:t>
            </a:r>
            <a:r>
              <a:rPr lang="ja-JP" altLang="en-US" sz="950" b="1" dirty="0">
                <a:latin typeface="メイリオ" panose="020B0604030504040204" pitchFamily="50" charset="-128"/>
                <a:ea typeface="メイリオ" panose="020B0604030504040204" pitchFamily="50" charset="-128"/>
                <a:cs typeface="Calibri" pitchFamily="34" charset="-120"/>
              </a:rPr>
              <a:t>相談を申し込む</a:t>
            </a:r>
          </a:p>
        </p:txBody>
      </p:sp>
    </p:spTree>
    <p:extLst>
      <p:ext uri="{BB962C8B-B14F-4D97-AF65-F5344CB8AC3E}">
        <p14:creationId xmlns:p14="http://schemas.microsoft.com/office/powerpoint/2010/main" val="29981830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2CB797-9072-5561-562E-D6B91A9591C4}"/>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49D91DB9-7A9D-6C3B-8557-DFE5FEA59B4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施策の考え方（長期：企画配信）</a:t>
            </a:r>
          </a:p>
        </p:txBody>
      </p:sp>
      <p:sp>
        <p:nvSpPr>
          <p:cNvPr id="8" name="正方形/長方形 7">
            <a:extLst>
              <a:ext uri="{FF2B5EF4-FFF2-40B4-BE49-F238E27FC236}">
                <a16:creationId xmlns:a16="http://schemas.microsoft.com/office/drawing/2014/main" id="{0DA40860-795C-02D9-8E20-768167E5BE2B}"/>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rPr>
              <a:t>企画配信</a:t>
            </a:r>
          </a:p>
        </p:txBody>
      </p:sp>
      <p:sp>
        <p:nvSpPr>
          <p:cNvPr id="10" name="Google Shape;752;p28">
            <a:extLst>
              <a:ext uri="{FF2B5EF4-FFF2-40B4-BE49-F238E27FC236}">
                <a16:creationId xmlns:a16="http://schemas.microsoft.com/office/drawing/2014/main" id="{AB994752-49F6-3841-3471-21EFE66BFB15}"/>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再びニーズが高まる時期（シーズナリティ）を軸に、</a:t>
            </a:r>
          </a:p>
          <a:p>
            <a:r>
              <a:rPr lang="en-US" altLang="ja-JP" sz="1600" b="1" dirty="0">
                <a:latin typeface="メイリオ" panose="020B0604030504040204" pitchFamily="50" charset="-128"/>
                <a:ea typeface="メイリオ" panose="020B0604030504040204" pitchFamily="50" charset="-128"/>
                <a:cs typeface="Meiryo"/>
                <a:sym typeface="Meiryo"/>
              </a:rPr>
              <a:t>15</a:t>
            </a:r>
            <a:r>
              <a:rPr lang="ja-JP" altLang="en-US" sz="1600" b="1" dirty="0">
                <a:latin typeface="メイリオ" panose="020B0604030504040204" pitchFamily="50" charset="-128"/>
                <a:ea typeface="メイリオ" panose="020B0604030504040204" pitchFamily="50" charset="-128"/>
                <a:cs typeface="Meiryo"/>
                <a:sym typeface="Meiryo"/>
              </a:rPr>
              <a:t>日を過ぎた友だちにも企画配信で再アプローチし、再活性化を図る。</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pic>
        <p:nvPicPr>
          <p:cNvPr id="5" name="図 4">
            <a:extLst>
              <a:ext uri="{FF2B5EF4-FFF2-40B4-BE49-F238E27FC236}">
                <a16:creationId xmlns:a16="http://schemas.microsoft.com/office/drawing/2014/main" id="{6E74B780-0053-8D9C-7393-EEF0666D1B29}"/>
              </a:ext>
            </a:extLst>
          </p:cNvPr>
          <p:cNvPicPr>
            <a:picLocks noChangeAspect="1"/>
          </p:cNvPicPr>
          <p:nvPr/>
        </p:nvPicPr>
        <p:blipFill>
          <a:blip r:embed="rId2"/>
          <a:stretch>
            <a:fillRect/>
          </a:stretch>
        </p:blipFill>
        <p:spPr>
          <a:xfrm>
            <a:off x="1570034" y="1491240"/>
            <a:ext cx="6765932" cy="2464732"/>
          </a:xfrm>
          <a:prstGeom prst="rect">
            <a:avLst/>
          </a:prstGeom>
        </p:spPr>
      </p:pic>
      <p:sp>
        <p:nvSpPr>
          <p:cNvPr id="9" name="テキスト ボックス 8">
            <a:extLst>
              <a:ext uri="{FF2B5EF4-FFF2-40B4-BE49-F238E27FC236}">
                <a16:creationId xmlns:a16="http://schemas.microsoft.com/office/drawing/2014/main" id="{DC8BF96D-584A-E1C6-6217-4B8E3A069BAC}"/>
              </a:ext>
            </a:extLst>
          </p:cNvPr>
          <p:cNvSpPr txBox="1"/>
          <p:nvPr/>
        </p:nvSpPr>
        <p:spPr>
          <a:xfrm>
            <a:off x="8134788" y="1514702"/>
            <a:ext cx="1576252" cy="253916"/>
          </a:xfrm>
          <a:prstGeom prst="rect">
            <a:avLst/>
          </a:prstGeom>
          <a:no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rPr>
              <a:t>のトレンド情報</a:t>
            </a:r>
            <a:endParaRPr kumimoji="1" lang="ja-JP" altLang="en-US" sz="1050" b="1" dirty="0">
              <a:solidFill>
                <a:schemeClr val="tx1"/>
              </a:solidFill>
              <a:latin typeface="メイリオ" panose="020B0604030504040204" pitchFamily="50" charset="-128"/>
              <a:ea typeface="メイリオ" panose="020B0604030504040204" pitchFamily="50" charset="-128"/>
            </a:endParaRPr>
          </a:p>
        </p:txBody>
      </p:sp>
      <p:sp>
        <p:nvSpPr>
          <p:cNvPr id="12" name="正方形/長方形 11">
            <a:extLst>
              <a:ext uri="{FF2B5EF4-FFF2-40B4-BE49-F238E27FC236}">
                <a16:creationId xmlns:a16="http://schemas.microsoft.com/office/drawing/2014/main" id="{8074073A-1881-D07F-BFBF-D955541CB814}"/>
              </a:ext>
            </a:extLst>
          </p:cNvPr>
          <p:cNvSpPr/>
          <p:nvPr/>
        </p:nvSpPr>
        <p:spPr>
          <a:xfrm>
            <a:off x="6764522" y="1491240"/>
            <a:ext cx="1571444" cy="2834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転職市場</a:t>
            </a:r>
          </a:p>
        </p:txBody>
      </p:sp>
      <p:sp>
        <p:nvSpPr>
          <p:cNvPr id="14" name="四角形: 角を丸くする 13">
            <a:extLst>
              <a:ext uri="{FF2B5EF4-FFF2-40B4-BE49-F238E27FC236}">
                <a16:creationId xmlns:a16="http://schemas.microsoft.com/office/drawing/2014/main" id="{B653501A-660C-CA1C-E5A1-0C83E3991AFA}"/>
              </a:ext>
            </a:extLst>
          </p:cNvPr>
          <p:cNvSpPr/>
          <p:nvPr/>
        </p:nvSpPr>
        <p:spPr>
          <a:xfrm>
            <a:off x="1802673" y="2788236"/>
            <a:ext cx="1619795" cy="991284"/>
          </a:xfrm>
          <a:prstGeom prst="roundRect">
            <a:avLst>
              <a:gd name="adj" fmla="val 9639"/>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16" name="四角形: 角を丸くする 15">
            <a:extLst>
              <a:ext uri="{FF2B5EF4-FFF2-40B4-BE49-F238E27FC236}">
                <a16:creationId xmlns:a16="http://schemas.microsoft.com/office/drawing/2014/main" id="{40A4149F-8AAD-6C2A-9167-96E2456A290A}"/>
              </a:ext>
            </a:extLst>
          </p:cNvPr>
          <p:cNvSpPr/>
          <p:nvPr/>
        </p:nvSpPr>
        <p:spPr>
          <a:xfrm>
            <a:off x="5144727" y="2788236"/>
            <a:ext cx="318813" cy="991284"/>
          </a:xfrm>
          <a:prstGeom prst="roundRect">
            <a:avLst>
              <a:gd name="adj" fmla="val 9639"/>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18" name="四角形: 角を丸くする 17">
            <a:extLst>
              <a:ext uri="{FF2B5EF4-FFF2-40B4-BE49-F238E27FC236}">
                <a16:creationId xmlns:a16="http://schemas.microsoft.com/office/drawing/2014/main" id="{6582B463-2E55-3216-C313-C99DAF3A7B69}"/>
              </a:ext>
            </a:extLst>
          </p:cNvPr>
          <p:cNvSpPr/>
          <p:nvPr/>
        </p:nvSpPr>
        <p:spPr>
          <a:xfrm>
            <a:off x="4756154" y="160947"/>
            <a:ext cx="1752679" cy="269057"/>
          </a:xfrm>
          <a:prstGeom prst="round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ご提案時に詳細記載</a:t>
            </a:r>
          </a:p>
        </p:txBody>
      </p:sp>
      <p:sp>
        <p:nvSpPr>
          <p:cNvPr id="20" name="Shape 29">
            <a:extLst>
              <a:ext uri="{FF2B5EF4-FFF2-40B4-BE49-F238E27FC236}">
                <a16:creationId xmlns:a16="http://schemas.microsoft.com/office/drawing/2014/main" id="{369E970F-2C41-E080-117D-29AFB73E3495}"/>
              </a:ext>
            </a:extLst>
          </p:cNvPr>
          <p:cNvSpPr/>
          <p:nvPr/>
        </p:nvSpPr>
        <p:spPr>
          <a:xfrm>
            <a:off x="3593323" y="4695761"/>
            <a:ext cx="0" cy="73152"/>
          </a:xfrm>
          <a:prstGeom prst="line">
            <a:avLst/>
          </a:prstGeom>
          <a:noFill/>
          <a:ln w="12700">
            <a:solidFill>
              <a:srgbClr val="DDDDDD"/>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2" name="Shape 31">
            <a:extLst>
              <a:ext uri="{FF2B5EF4-FFF2-40B4-BE49-F238E27FC236}">
                <a16:creationId xmlns:a16="http://schemas.microsoft.com/office/drawing/2014/main" id="{FCD65E22-4E82-E3BE-F7D7-233F34810826}"/>
              </a:ext>
            </a:extLst>
          </p:cNvPr>
          <p:cNvSpPr/>
          <p:nvPr/>
        </p:nvSpPr>
        <p:spPr>
          <a:xfrm>
            <a:off x="4060092" y="4695761"/>
            <a:ext cx="0" cy="73152"/>
          </a:xfrm>
          <a:prstGeom prst="line">
            <a:avLst/>
          </a:prstGeom>
          <a:noFill/>
          <a:ln w="12700">
            <a:solidFill>
              <a:srgbClr val="DDDDDD"/>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6" name="矢印: 下 25">
            <a:extLst>
              <a:ext uri="{FF2B5EF4-FFF2-40B4-BE49-F238E27FC236}">
                <a16:creationId xmlns:a16="http://schemas.microsoft.com/office/drawing/2014/main" id="{064EB21E-55AC-291D-BD68-D99487ED9214}"/>
              </a:ext>
            </a:extLst>
          </p:cNvPr>
          <p:cNvSpPr/>
          <p:nvPr/>
        </p:nvSpPr>
        <p:spPr>
          <a:xfrm>
            <a:off x="5341874" y="4326200"/>
            <a:ext cx="792480" cy="586887"/>
          </a:xfrm>
          <a:prstGeom prst="downArrow">
            <a:avLst/>
          </a:prstGeom>
          <a:gradFill>
            <a:gsLst>
              <a:gs pos="4000">
                <a:schemeClr val="bg1">
                  <a:alpha val="35000"/>
                </a:schemeClr>
              </a:gs>
              <a:gs pos="100000">
                <a:schemeClr val="tx2">
                  <a:lumMod val="60000"/>
                  <a:lumOff val="40000"/>
                  <a:alpha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矢印: 下 27">
            <a:extLst>
              <a:ext uri="{FF2B5EF4-FFF2-40B4-BE49-F238E27FC236}">
                <a16:creationId xmlns:a16="http://schemas.microsoft.com/office/drawing/2014/main" id="{FB72B5BF-4992-BBB8-E5B3-E5EBD3C2D3AC}"/>
              </a:ext>
            </a:extLst>
          </p:cNvPr>
          <p:cNvSpPr/>
          <p:nvPr/>
        </p:nvSpPr>
        <p:spPr>
          <a:xfrm>
            <a:off x="2174122" y="4326200"/>
            <a:ext cx="792480" cy="586887"/>
          </a:xfrm>
          <a:prstGeom prst="downArrow">
            <a:avLst/>
          </a:prstGeom>
          <a:gradFill>
            <a:gsLst>
              <a:gs pos="4000">
                <a:schemeClr val="bg1">
                  <a:alpha val="35000"/>
                </a:schemeClr>
              </a:gs>
              <a:gs pos="100000">
                <a:schemeClr val="tx2">
                  <a:lumMod val="60000"/>
                  <a:lumOff val="40000"/>
                  <a:alpha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テキスト ボックス 29">
            <a:extLst>
              <a:ext uri="{FF2B5EF4-FFF2-40B4-BE49-F238E27FC236}">
                <a16:creationId xmlns:a16="http://schemas.microsoft.com/office/drawing/2014/main" id="{9122B12C-726B-347C-08BA-51C1DD7B1B37}"/>
              </a:ext>
            </a:extLst>
          </p:cNvPr>
          <p:cNvSpPr txBox="1"/>
          <p:nvPr/>
        </p:nvSpPr>
        <p:spPr>
          <a:xfrm>
            <a:off x="1518065" y="4007678"/>
            <a:ext cx="2104595" cy="415498"/>
          </a:xfrm>
          <a:prstGeom prst="rect">
            <a:avLst/>
          </a:prstGeom>
          <a:no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sym typeface="Meiryo"/>
              </a:rPr>
              <a:t>再度ニーズ高まったタイミング</a:t>
            </a:r>
            <a:r>
              <a:rPr lang="ja-JP" altLang="en-US" sz="1050" b="1" dirty="0">
                <a:latin typeface="メイリオ" panose="020B0604030504040204" pitchFamily="50" charset="-128"/>
                <a:ea typeface="メイリオ" panose="020B0604030504040204" pitchFamily="50" charset="-128"/>
                <a:sym typeface="Meiryo"/>
              </a:rPr>
              <a:t>で</a:t>
            </a:r>
            <a:endParaRPr lang="en-US" altLang="ja-JP" sz="1050" b="1" dirty="0">
              <a:latin typeface="メイリオ" panose="020B0604030504040204" pitchFamily="50" charset="-128"/>
              <a:ea typeface="メイリオ" panose="020B0604030504040204" pitchFamily="50" charset="-128"/>
              <a:sym typeface="Meiryo"/>
            </a:endParaRPr>
          </a:p>
          <a:p>
            <a:pPr algn="ctr"/>
            <a:r>
              <a:rPr lang="ja-JP" altLang="en-US" sz="1050" b="1" dirty="0">
                <a:latin typeface="メイリオ" panose="020B0604030504040204" pitchFamily="50" charset="-128"/>
                <a:ea typeface="メイリオ" panose="020B0604030504040204" pitchFamily="50" charset="-128"/>
                <a:sym typeface="Meiryo"/>
              </a:rPr>
              <a:t>の再活性化施策として</a:t>
            </a:r>
            <a:endParaRPr lang="en-US" altLang="ja-JP" sz="1000" b="1" dirty="0">
              <a:latin typeface="メイリオ" panose="020B0604030504040204" pitchFamily="50" charset="-128"/>
              <a:ea typeface="メイリオ" panose="020B0604030504040204" pitchFamily="50" charset="-128"/>
              <a:sym typeface="Meiryo"/>
            </a:endParaRPr>
          </a:p>
        </p:txBody>
      </p:sp>
      <p:sp>
        <p:nvSpPr>
          <p:cNvPr id="32" name="テキスト ボックス 31">
            <a:extLst>
              <a:ext uri="{FF2B5EF4-FFF2-40B4-BE49-F238E27FC236}">
                <a16:creationId xmlns:a16="http://schemas.microsoft.com/office/drawing/2014/main" id="{302C7D03-D37A-C26E-B969-DD0DB3163FBC}"/>
              </a:ext>
            </a:extLst>
          </p:cNvPr>
          <p:cNvSpPr txBox="1"/>
          <p:nvPr/>
        </p:nvSpPr>
        <p:spPr>
          <a:xfrm>
            <a:off x="4685816" y="4009455"/>
            <a:ext cx="2104595" cy="415498"/>
          </a:xfrm>
          <a:prstGeom prst="rect">
            <a:avLst/>
          </a:prstGeom>
          <a:no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sym typeface="Meiryo"/>
              </a:rPr>
              <a:t>再度ニーズ高まったタイミング</a:t>
            </a:r>
            <a:r>
              <a:rPr lang="ja-JP" altLang="en-US" sz="1050" b="1" dirty="0">
                <a:latin typeface="メイリオ" panose="020B0604030504040204" pitchFamily="50" charset="-128"/>
                <a:ea typeface="メイリオ" panose="020B0604030504040204" pitchFamily="50" charset="-128"/>
                <a:sym typeface="Meiryo"/>
              </a:rPr>
              <a:t>で</a:t>
            </a:r>
            <a:endParaRPr lang="en-US" altLang="ja-JP" sz="1050" b="1" dirty="0">
              <a:latin typeface="メイリオ" panose="020B0604030504040204" pitchFamily="50" charset="-128"/>
              <a:ea typeface="メイリオ" panose="020B0604030504040204" pitchFamily="50" charset="-128"/>
              <a:sym typeface="Meiryo"/>
            </a:endParaRPr>
          </a:p>
          <a:p>
            <a:pPr algn="ctr"/>
            <a:r>
              <a:rPr lang="ja-JP" altLang="en-US" sz="1050" b="1" dirty="0">
                <a:latin typeface="メイリオ" panose="020B0604030504040204" pitchFamily="50" charset="-128"/>
                <a:ea typeface="メイリオ" panose="020B0604030504040204" pitchFamily="50" charset="-128"/>
                <a:sym typeface="Meiryo"/>
              </a:rPr>
              <a:t>の再活性化施策として</a:t>
            </a:r>
            <a:endParaRPr lang="en-US" altLang="ja-JP" sz="1000" b="1" dirty="0">
              <a:latin typeface="メイリオ" panose="020B0604030504040204" pitchFamily="50" charset="-128"/>
              <a:ea typeface="メイリオ" panose="020B0604030504040204" pitchFamily="50" charset="-128"/>
              <a:sym typeface="Meiryo"/>
            </a:endParaRPr>
          </a:p>
        </p:txBody>
      </p:sp>
      <p:sp>
        <p:nvSpPr>
          <p:cNvPr id="34" name="テキスト ボックス 33">
            <a:extLst>
              <a:ext uri="{FF2B5EF4-FFF2-40B4-BE49-F238E27FC236}">
                <a16:creationId xmlns:a16="http://schemas.microsoft.com/office/drawing/2014/main" id="{A2AD2662-C588-A66D-EA47-21DA7A09CF26}"/>
              </a:ext>
            </a:extLst>
          </p:cNvPr>
          <p:cNvSpPr txBox="1"/>
          <p:nvPr/>
        </p:nvSpPr>
        <p:spPr>
          <a:xfrm>
            <a:off x="7099855" y="4053844"/>
            <a:ext cx="2315055" cy="369332"/>
          </a:xfrm>
          <a:prstGeom prst="rect">
            <a:avLst/>
          </a:prstGeom>
          <a:noFill/>
        </p:spPr>
        <p:txBody>
          <a:bodyPr wrap="square">
            <a:spAutoFit/>
          </a:bodyPr>
          <a:lstStyle/>
          <a:p>
            <a:pPr algn="ctr"/>
            <a:r>
              <a:rPr lang="ja-JP" altLang="en-US" sz="900" dirty="0">
                <a:solidFill>
                  <a:srgbClr val="FF0000"/>
                </a:solidFill>
                <a:latin typeface="メイリオ" panose="020B0604030504040204" pitchFamily="50" charset="-128"/>
                <a:ea typeface="メイリオ" panose="020B0604030504040204" pitchFamily="50" charset="-128"/>
                <a:sym typeface="Meiryo"/>
              </a:rPr>
              <a:t>その他、ニーズが高まる前のタイミング</a:t>
            </a:r>
            <a:endParaRPr lang="en-US" altLang="ja-JP" sz="900" dirty="0">
              <a:solidFill>
                <a:srgbClr val="FF0000"/>
              </a:solidFill>
              <a:latin typeface="メイリオ" panose="020B0604030504040204" pitchFamily="50" charset="-128"/>
              <a:ea typeface="メイリオ" panose="020B0604030504040204" pitchFamily="50" charset="-128"/>
              <a:sym typeface="Meiryo"/>
            </a:endParaRPr>
          </a:p>
          <a:p>
            <a:pPr algn="ctr"/>
            <a:r>
              <a:rPr lang="ja-JP" altLang="en-US" sz="900" dirty="0">
                <a:solidFill>
                  <a:srgbClr val="FF0000"/>
                </a:solidFill>
                <a:latin typeface="メイリオ" panose="020B0604030504040204" pitchFamily="50" charset="-128"/>
                <a:ea typeface="メイリオ" panose="020B0604030504040204" pitchFamily="50" charset="-128"/>
                <a:sym typeface="Meiryo"/>
              </a:rPr>
              <a:t>でアプローチする等の施策に活用。</a:t>
            </a:r>
            <a:endParaRPr lang="en-US" altLang="ja-JP" sz="900" dirty="0">
              <a:solidFill>
                <a:srgbClr val="FF0000"/>
              </a:solidFill>
              <a:latin typeface="メイリオ" panose="020B0604030504040204" pitchFamily="50" charset="-128"/>
              <a:ea typeface="メイリオ" panose="020B0604030504040204" pitchFamily="50" charset="-128"/>
              <a:sym typeface="Meiryo"/>
            </a:endParaRPr>
          </a:p>
        </p:txBody>
      </p:sp>
      <p:cxnSp>
        <p:nvCxnSpPr>
          <p:cNvPr id="36" name="直線矢印コネクタ 35">
            <a:extLst>
              <a:ext uri="{FF2B5EF4-FFF2-40B4-BE49-F238E27FC236}">
                <a16:creationId xmlns:a16="http://schemas.microsoft.com/office/drawing/2014/main" id="{53784701-DE88-24A4-1652-CE66A993AA9A}"/>
              </a:ext>
            </a:extLst>
          </p:cNvPr>
          <p:cNvCxnSpPr>
            <a:cxnSpLocks/>
          </p:cNvCxnSpPr>
          <p:nvPr/>
        </p:nvCxnSpPr>
        <p:spPr>
          <a:xfrm flipH="1" flipV="1">
            <a:off x="4985489" y="3429000"/>
            <a:ext cx="2564755" cy="624844"/>
          </a:xfrm>
          <a:prstGeom prst="straightConnector1">
            <a:avLst/>
          </a:prstGeom>
          <a:ln>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38" name="四角形: 角を丸くする 37">
            <a:extLst>
              <a:ext uri="{FF2B5EF4-FFF2-40B4-BE49-F238E27FC236}">
                <a16:creationId xmlns:a16="http://schemas.microsoft.com/office/drawing/2014/main" id="{9C8551D0-7316-37F3-A274-247A41CF4DC1}"/>
              </a:ext>
            </a:extLst>
          </p:cNvPr>
          <p:cNvSpPr/>
          <p:nvPr/>
        </p:nvSpPr>
        <p:spPr>
          <a:xfrm>
            <a:off x="4785297" y="2794045"/>
            <a:ext cx="318813" cy="991284"/>
          </a:xfrm>
          <a:prstGeom prst="roundRect">
            <a:avLst>
              <a:gd name="adj" fmla="val 9639"/>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 name="Rectangle 2008">
            <a:extLst>
              <a:ext uri="{FF2B5EF4-FFF2-40B4-BE49-F238E27FC236}">
                <a16:creationId xmlns:a16="http://schemas.microsoft.com/office/drawing/2014/main" id="{82B3CC5E-6187-AF51-5435-202392E72C80}"/>
              </a:ext>
            </a:extLst>
          </p:cNvPr>
          <p:cNvSpPr/>
          <p:nvPr/>
        </p:nvSpPr>
        <p:spPr>
          <a:xfrm>
            <a:off x="461554" y="5991604"/>
            <a:ext cx="731096" cy="411480"/>
          </a:xfrm>
          <a:prstGeom prst="rect">
            <a:avLst/>
          </a:prstGeom>
          <a:solidFill>
            <a:srgbClr val="FF000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FFFFFF"/>
                </a:solidFill>
                <a:latin typeface="メイリオ"/>
              </a:rPr>
              <a:t>1月</a:t>
            </a:r>
          </a:p>
        </p:txBody>
      </p:sp>
      <p:sp>
        <p:nvSpPr>
          <p:cNvPr id="7" name="Rectangle 2009">
            <a:extLst>
              <a:ext uri="{FF2B5EF4-FFF2-40B4-BE49-F238E27FC236}">
                <a16:creationId xmlns:a16="http://schemas.microsoft.com/office/drawing/2014/main" id="{5D68C2BC-1361-FE7C-168A-17B777A1C7F5}"/>
              </a:ext>
            </a:extLst>
          </p:cNvPr>
          <p:cNvSpPr/>
          <p:nvPr/>
        </p:nvSpPr>
        <p:spPr>
          <a:xfrm>
            <a:off x="1218050" y="5991604"/>
            <a:ext cx="731096" cy="411480"/>
          </a:xfrm>
          <a:prstGeom prst="rect">
            <a:avLst/>
          </a:prstGeom>
          <a:solidFill>
            <a:srgbClr val="FF000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FFFFFF"/>
                </a:solidFill>
                <a:latin typeface="メイリオ"/>
              </a:rPr>
              <a:t>2月</a:t>
            </a:r>
          </a:p>
        </p:txBody>
      </p:sp>
      <p:sp>
        <p:nvSpPr>
          <p:cNvPr id="13" name="Rectangle 2010">
            <a:extLst>
              <a:ext uri="{FF2B5EF4-FFF2-40B4-BE49-F238E27FC236}">
                <a16:creationId xmlns:a16="http://schemas.microsoft.com/office/drawing/2014/main" id="{59D01DEF-9584-1D24-567F-D446C7F0C7D9}"/>
              </a:ext>
            </a:extLst>
          </p:cNvPr>
          <p:cNvSpPr/>
          <p:nvPr/>
        </p:nvSpPr>
        <p:spPr>
          <a:xfrm>
            <a:off x="1974546" y="5991604"/>
            <a:ext cx="731096" cy="411480"/>
          </a:xfrm>
          <a:prstGeom prst="rect">
            <a:avLst/>
          </a:prstGeom>
          <a:solidFill>
            <a:srgbClr val="FF000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FFFFFF"/>
                </a:solidFill>
                <a:latin typeface="メイリオ"/>
              </a:rPr>
              <a:t>3月</a:t>
            </a:r>
          </a:p>
        </p:txBody>
      </p:sp>
      <p:sp>
        <p:nvSpPr>
          <p:cNvPr id="17" name="Rectangle 2011">
            <a:extLst>
              <a:ext uri="{FF2B5EF4-FFF2-40B4-BE49-F238E27FC236}">
                <a16:creationId xmlns:a16="http://schemas.microsoft.com/office/drawing/2014/main" id="{523206B0-A248-EDFA-FDF7-111D4BDD0015}"/>
              </a:ext>
            </a:extLst>
          </p:cNvPr>
          <p:cNvSpPr/>
          <p:nvPr/>
        </p:nvSpPr>
        <p:spPr>
          <a:xfrm>
            <a:off x="2731042"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rPr>
              <a:t>4月</a:t>
            </a:r>
          </a:p>
        </p:txBody>
      </p:sp>
      <p:sp>
        <p:nvSpPr>
          <p:cNvPr id="21" name="Rectangle 2012">
            <a:extLst>
              <a:ext uri="{FF2B5EF4-FFF2-40B4-BE49-F238E27FC236}">
                <a16:creationId xmlns:a16="http://schemas.microsoft.com/office/drawing/2014/main" id="{38D4CCB3-6A52-E243-EBF3-4D9F3E0779B3}"/>
              </a:ext>
            </a:extLst>
          </p:cNvPr>
          <p:cNvSpPr/>
          <p:nvPr/>
        </p:nvSpPr>
        <p:spPr>
          <a:xfrm>
            <a:off x="3487538" y="5991604"/>
            <a:ext cx="731096" cy="411480"/>
          </a:xfrm>
          <a:prstGeom prst="rect">
            <a:avLst/>
          </a:prstGeom>
          <a:solidFill>
            <a:schemeClr val="tx2"/>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chemeClr val="bg1"/>
                </a:solidFill>
                <a:latin typeface="メイリオ"/>
              </a:rPr>
              <a:t>5月</a:t>
            </a:r>
          </a:p>
        </p:txBody>
      </p:sp>
      <p:sp>
        <p:nvSpPr>
          <p:cNvPr id="24" name="Rectangle 2013">
            <a:extLst>
              <a:ext uri="{FF2B5EF4-FFF2-40B4-BE49-F238E27FC236}">
                <a16:creationId xmlns:a16="http://schemas.microsoft.com/office/drawing/2014/main" id="{D050BF4A-37A5-886C-19CC-8C207D3D37C1}"/>
              </a:ext>
            </a:extLst>
          </p:cNvPr>
          <p:cNvSpPr/>
          <p:nvPr/>
        </p:nvSpPr>
        <p:spPr>
          <a:xfrm>
            <a:off x="4244034"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rPr>
              <a:t>6月</a:t>
            </a:r>
          </a:p>
        </p:txBody>
      </p:sp>
      <p:sp>
        <p:nvSpPr>
          <p:cNvPr id="27" name="Rectangle 2014">
            <a:extLst>
              <a:ext uri="{FF2B5EF4-FFF2-40B4-BE49-F238E27FC236}">
                <a16:creationId xmlns:a16="http://schemas.microsoft.com/office/drawing/2014/main" id="{4E234943-E519-9759-B8F7-FBB7EA6E8FF2}"/>
              </a:ext>
            </a:extLst>
          </p:cNvPr>
          <p:cNvSpPr/>
          <p:nvPr/>
        </p:nvSpPr>
        <p:spPr>
          <a:xfrm>
            <a:off x="5000530"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rPr>
              <a:t>7月</a:t>
            </a:r>
          </a:p>
        </p:txBody>
      </p:sp>
      <p:sp>
        <p:nvSpPr>
          <p:cNvPr id="31" name="Rectangle 2015">
            <a:extLst>
              <a:ext uri="{FF2B5EF4-FFF2-40B4-BE49-F238E27FC236}">
                <a16:creationId xmlns:a16="http://schemas.microsoft.com/office/drawing/2014/main" id="{16A16D33-7293-8E6A-EA78-C8445AA8BB75}"/>
              </a:ext>
            </a:extLst>
          </p:cNvPr>
          <p:cNvSpPr/>
          <p:nvPr/>
        </p:nvSpPr>
        <p:spPr>
          <a:xfrm>
            <a:off x="5757026" y="5991604"/>
            <a:ext cx="731096" cy="411480"/>
          </a:xfrm>
          <a:prstGeom prst="rect">
            <a:avLst/>
          </a:prstGeom>
          <a:solidFill>
            <a:schemeClr val="tx2"/>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FFFFFF"/>
                </a:solidFill>
                <a:latin typeface="メイリオ"/>
              </a:rPr>
              <a:t>8月</a:t>
            </a:r>
          </a:p>
        </p:txBody>
      </p:sp>
      <p:sp>
        <p:nvSpPr>
          <p:cNvPr id="41" name="Rectangle 2018">
            <a:extLst>
              <a:ext uri="{FF2B5EF4-FFF2-40B4-BE49-F238E27FC236}">
                <a16:creationId xmlns:a16="http://schemas.microsoft.com/office/drawing/2014/main" id="{166279AD-7237-976F-70AB-F87C08C60EB8}"/>
              </a:ext>
            </a:extLst>
          </p:cNvPr>
          <p:cNvSpPr/>
          <p:nvPr/>
        </p:nvSpPr>
        <p:spPr>
          <a:xfrm>
            <a:off x="8026514"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dirty="0">
                <a:solidFill>
                  <a:srgbClr val="5A6378"/>
                </a:solidFill>
                <a:latin typeface="メイリオ"/>
              </a:rPr>
              <a:t>11月</a:t>
            </a:r>
          </a:p>
        </p:txBody>
      </p:sp>
      <p:sp>
        <p:nvSpPr>
          <p:cNvPr id="49" name="Rectangle 2013">
            <a:extLst>
              <a:ext uri="{FF2B5EF4-FFF2-40B4-BE49-F238E27FC236}">
                <a16:creationId xmlns:a16="http://schemas.microsoft.com/office/drawing/2014/main" id="{B868ADFE-4DE9-7A15-E80A-94CF625C8681}"/>
              </a:ext>
            </a:extLst>
          </p:cNvPr>
          <p:cNvSpPr/>
          <p:nvPr/>
        </p:nvSpPr>
        <p:spPr>
          <a:xfrm>
            <a:off x="6512070"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lang="en-US" sz="1000" b="0" dirty="0">
                <a:solidFill>
                  <a:srgbClr val="5A6378"/>
                </a:solidFill>
                <a:latin typeface="メイリオ"/>
              </a:rPr>
              <a:t>9</a:t>
            </a:r>
            <a:r>
              <a:rPr sz="1000" b="0" dirty="0">
                <a:solidFill>
                  <a:srgbClr val="5A6378"/>
                </a:solidFill>
                <a:latin typeface="メイリオ"/>
              </a:rPr>
              <a:t>月</a:t>
            </a:r>
          </a:p>
        </p:txBody>
      </p:sp>
      <p:sp>
        <p:nvSpPr>
          <p:cNvPr id="51" name="Rectangle 2014">
            <a:extLst>
              <a:ext uri="{FF2B5EF4-FFF2-40B4-BE49-F238E27FC236}">
                <a16:creationId xmlns:a16="http://schemas.microsoft.com/office/drawing/2014/main" id="{BD5CDE95-1F68-41A7-23B4-5FA5218DD9E7}"/>
              </a:ext>
            </a:extLst>
          </p:cNvPr>
          <p:cNvSpPr/>
          <p:nvPr/>
        </p:nvSpPr>
        <p:spPr>
          <a:xfrm>
            <a:off x="7268566"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lang="en-US" altLang="ja-JP" sz="1000" dirty="0">
                <a:solidFill>
                  <a:srgbClr val="5A6378"/>
                </a:solidFill>
                <a:latin typeface="メイリオ"/>
              </a:rPr>
              <a:t>10</a:t>
            </a:r>
            <a:r>
              <a:rPr sz="1000" b="0" dirty="0">
                <a:solidFill>
                  <a:srgbClr val="5A6378"/>
                </a:solidFill>
                <a:latin typeface="メイリオ"/>
              </a:rPr>
              <a:t>月</a:t>
            </a:r>
          </a:p>
        </p:txBody>
      </p:sp>
      <p:sp>
        <p:nvSpPr>
          <p:cNvPr id="55" name="Rectangle 2018">
            <a:extLst>
              <a:ext uri="{FF2B5EF4-FFF2-40B4-BE49-F238E27FC236}">
                <a16:creationId xmlns:a16="http://schemas.microsoft.com/office/drawing/2014/main" id="{23DE8560-7453-4747-E295-4902AD3135B2}"/>
              </a:ext>
            </a:extLst>
          </p:cNvPr>
          <p:cNvSpPr/>
          <p:nvPr/>
        </p:nvSpPr>
        <p:spPr>
          <a:xfrm>
            <a:off x="8808410"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lang="en-US" sz="1000" b="0" dirty="0">
                <a:solidFill>
                  <a:srgbClr val="5A6378"/>
                </a:solidFill>
                <a:latin typeface="メイリオ"/>
              </a:rPr>
              <a:t>12</a:t>
            </a:r>
            <a:r>
              <a:rPr sz="1000" b="0" dirty="0">
                <a:solidFill>
                  <a:srgbClr val="5A6378"/>
                </a:solidFill>
                <a:latin typeface="メイリオ"/>
              </a:rPr>
              <a:t>月</a:t>
            </a:r>
          </a:p>
        </p:txBody>
      </p:sp>
      <p:sp>
        <p:nvSpPr>
          <p:cNvPr id="6" name="テキスト ボックス 5">
            <a:extLst>
              <a:ext uri="{FF2B5EF4-FFF2-40B4-BE49-F238E27FC236}">
                <a16:creationId xmlns:a16="http://schemas.microsoft.com/office/drawing/2014/main" id="{C5613934-3058-7342-6086-B74E9E936123}"/>
              </a:ext>
            </a:extLst>
          </p:cNvPr>
          <p:cNvSpPr txBox="1"/>
          <p:nvPr/>
        </p:nvSpPr>
        <p:spPr>
          <a:xfrm>
            <a:off x="1333625" y="4709544"/>
            <a:ext cx="2772917" cy="400110"/>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r>
              <a:rPr lang="ja-JP" altLang="ja-JP" sz="1000" dirty="0">
                <a:solidFill>
                  <a:schemeClr val="tx1">
                    <a:lumMod val="65000"/>
                    <a:lumOff val="35000"/>
                  </a:schemeClr>
                </a:solidFill>
                <a:latin typeface="メイリオ" panose="020B0604030504040204" pitchFamily="50" charset="-128"/>
                <a:ea typeface="メイリオ" panose="020B0604030504040204" pitchFamily="50" charset="-128"/>
              </a:rPr>
              <a:t>4月入社に間に合う！求人数が増加する</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ja-JP" sz="1000" dirty="0">
                <a:solidFill>
                  <a:schemeClr val="tx1">
                    <a:lumMod val="65000"/>
                    <a:lumOff val="35000"/>
                  </a:schemeClr>
                </a:solidFill>
                <a:latin typeface="メイリオ" panose="020B0604030504040204" pitchFamily="50" charset="-128"/>
                <a:ea typeface="メイリオ" panose="020B0604030504040204" pitchFamily="50" charset="-128"/>
              </a:rPr>
              <a:t>『狙い目時期』の転職スケジュール」</a:t>
            </a:r>
            <a:endPar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15" name="テキスト ボックス 14">
            <a:extLst>
              <a:ext uri="{FF2B5EF4-FFF2-40B4-BE49-F238E27FC236}">
                <a16:creationId xmlns:a16="http://schemas.microsoft.com/office/drawing/2014/main" id="{68DA1071-AA58-705C-A547-3B4B60150699}"/>
              </a:ext>
            </a:extLst>
          </p:cNvPr>
          <p:cNvSpPr txBox="1"/>
          <p:nvPr/>
        </p:nvSpPr>
        <p:spPr>
          <a:xfrm>
            <a:off x="1333625" y="5183337"/>
            <a:ext cx="2772917" cy="400110"/>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・「今の職場、満足してる？ </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60</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秒でわかる</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あなたの適正年収＆転職市場価値</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診断」</a:t>
            </a:r>
          </a:p>
        </p:txBody>
      </p:sp>
      <p:sp>
        <p:nvSpPr>
          <p:cNvPr id="23" name="テキスト ボックス 22">
            <a:extLst>
              <a:ext uri="{FF2B5EF4-FFF2-40B4-BE49-F238E27FC236}">
                <a16:creationId xmlns:a16="http://schemas.microsoft.com/office/drawing/2014/main" id="{5E084692-8341-F62C-BDA3-93FFBCF87329}"/>
              </a:ext>
            </a:extLst>
          </p:cNvPr>
          <p:cNvSpPr txBox="1"/>
          <p:nvPr/>
        </p:nvSpPr>
        <p:spPr>
          <a:xfrm>
            <a:off x="1319183" y="5657130"/>
            <a:ext cx="2772917" cy="246221"/>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r>
              <a:rPr lang="ja-JP" altLang="ja-JP" sz="1000" dirty="0">
                <a:solidFill>
                  <a:schemeClr val="tx1">
                    <a:lumMod val="65000"/>
                    <a:lumOff val="35000"/>
                  </a:schemeClr>
                </a:solidFill>
                <a:latin typeface="メイリオ" panose="020B0604030504040204" pitchFamily="50" charset="-128"/>
                <a:ea typeface="メイリオ" panose="020B0604030504040204" pitchFamily="50" charset="-128"/>
              </a:rPr>
              <a:t>4月入社に間に合う！求人数が増加する</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9" name="Shape 29">
            <a:extLst>
              <a:ext uri="{FF2B5EF4-FFF2-40B4-BE49-F238E27FC236}">
                <a16:creationId xmlns:a16="http://schemas.microsoft.com/office/drawing/2014/main" id="{B20887B4-FA60-453A-DF70-39F5445ADC5F}"/>
              </a:ext>
            </a:extLst>
          </p:cNvPr>
          <p:cNvSpPr/>
          <p:nvPr/>
        </p:nvSpPr>
        <p:spPr>
          <a:xfrm>
            <a:off x="6604040" y="4681749"/>
            <a:ext cx="0" cy="73152"/>
          </a:xfrm>
          <a:prstGeom prst="line">
            <a:avLst/>
          </a:prstGeom>
          <a:noFill/>
          <a:ln w="12700">
            <a:solidFill>
              <a:srgbClr val="DDDDDD"/>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39" name="テキスト ボックス 38">
            <a:extLst>
              <a:ext uri="{FF2B5EF4-FFF2-40B4-BE49-F238E27FC236}">
                <a16:creationId xmlns:a16="http://schemas.microsoft.com/office/drawing/2014/main" id="{8472013D-5308-599C-BCBD-A2C7ADFD17E4}"/>
              </a:ext>
            </a:extLst>
          </p:cNvPr>
          <p:cNvSpPr txBox="1"/>
          <p:nvPr/>
        </p:nvSpPr>
        <p:spPr>
          <a:xfrm>
            <a:off x="4344342" y="4695532"/>
            <a:ext cx="2772917" cy="246221"/>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新年を迎えるにあたり</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p>
        </p:txBody>
      </p:sp>
      <p:sp>
        <p:nvSpPr>
          <p:cNvPr id="42" name="テキスト ボックス 41">
            <a:extLst>
              <a:ext uri="{FF2B5EF4-FFF2-40B4-BE49-F238E27FC236}">
                <a16:creationId xmlns:a16="http://schemas.microsoft.com/office/drawing/2014/main" id="{159782BD-D49E-7D50-5922-BF0AFE41609D}"/>
              </a:ext>
            </a:extLst>
          </p:cNvPr>
          <p:cNvSpPr txBox="1"/>
          <p:nvPr/>
        </p:nvSpPr>
        <p:spPr>
          <a:xfrm>
            <a:off x="4344342" y="5005823"/>
            <a:ext cx="2772917" cy="246221"/>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求人数が多くなるこの機会に</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46" name="テキスト ボックス 45">
            <a:extLst>
              <a:ext uri="{FF2B5EF4-FFF2-40B4-BE49-F238E27FC236}">
                <a16:creationId xmlns:a16="http://schemas.microsoft.com/office/drawing/2014/main" id="{DFA1ED2F-ED5C-555B-A807-54C30A8D6A03}"/>
              </a:ext>
            </a:extLst>
          </p:cNvPr>
          <p:cNvSpPr txBox="1"/>
          <p:nvPr/>
        </p:nvSpPr>
        <p:spPr>
          <a:xfrm>
            <a:off x="7268565" y="4476013"/>
            <a:ext cx="2442473" cy="861774"/>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LINE</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友だち限定・先行公開」</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・「残りの採用枠 </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1</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名」</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15</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分のオンライン壁打ち</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・テキストだけで完結の</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CA</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質問</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・「あなたに会いたいオファーが</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p>
        </p:txBody>
      </p:sp>
      <p:sp>
        <p:nvSpPr>
          <p:cNvPr id="11" name="テキスト ボックス 10">
            <a:extLst>
              <a:ext uri="{FF2B5EF4-FFF2-40B4-BE49-F238E27FC236}">
                <a16:creationId xmlns:a16="http://schemas.microsoft.com/office/drawing/2014/main" id="{212FC656-86E9-6A8C-0891-DCF1433F5FA2}"/>
              </a:ext>
            </a:extLst>
          </p:cNvPr>
          <p:cNvSpPr txBox="1"/>
          <p:nvPr/>
        </p:nvSpPr>
        <p:spPr>
          <a:xfrm>
            <a:off x="4344341" y="5316114"/>
            <a:ext cx="2772917" cy="246221"/>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お盆で地元に帰って、転職決めた友だちが</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3020113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04695B-DA8B-628A-D7EF-2A8933478684}"/>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630470A8-B84B-B148-A204-2590B401421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45CF9DAE-30BF-EBB4-2738-8B519663A3C2}"/>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03</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1074280A-D5C9-01AC-8681-B924D4C79238}"/>
              </a:ext>
            </a:extLst>
          </p:cNvPr>
          <p:cNvSpPr txBox="1"/>
          <p:nvPr/>
        </p:nvSpPr>
        <p:spPr>
          <a:xfrm>
            <a:off x="1867143" y="1043132"/>
            <a:ext cx="5966217"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施策詳細（</a:t>
            </a:r>
            <a:r>
              <a:rPr lang="en-US" altLang="ja-JP"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DYM</a:t>
            </a:r>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プラン）</a:t>
            </a:r>
          </a:p>
        </p:txBody>
      </p:sp>
      <p:cxnSp>
        <p:nvCxnSpPr>
          <p:cNvPr id="17" name="直線コネクタ 16">
            <a:extLst>
              <a:ext uri="{FF2B5EF4-FFF2-40B4-BE49-F238E27FC236}">
                <a16:creationId xmlns:a16="http://schemas.microsoft.com/office/drawing/2014/main" id="{507E5E5E-0A73-E2C6-D228-2CEEE9F667CD}"/>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313998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B3B216-274D-4EC8-B420-9BD1A2FE6B99}"/>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C88AC88B-A817-4005-424A-224DED0BFBAF}"/>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CA1675F9-B5FA-2EC4-257D-CF7E4918BA44}"/>
              </a:ext>
            </a:extLst>
          </p:cNvPr>
          <p:cNvSpPr/>
          <p:nvPr/>
        </p:nvSpPr>
        <p:spPr>
          <a:xfrm>
            <a:off x="2659553" y="109691"/>
            <a:ext cx="1992986" cy="326496"/>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露出の強化</a:t>
            </a:r>
          </a:p>
        </p:txBody>
      </p:sp>
      <p:sp>
        <p:nvSpPr>
          <p:cNvPr id="4" name="Chevron 13">
            <a:extLst>
              <a:ext uri="{FF2B5EF4-FFF2-40B4-BE49-F238E27FC236}">
                <a16:creationId xmlns:a16="http://schemas.microsoft.com/office/drawing/2014/main" id="{E810FD3A-0007-FF3D-2EE2-9D3DBDBDF9B7}"/>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7" name="Chevron 12">
            <a:extLst>
              <a:ext uri="{FF2B5EF4-FFF2-40B4-BE49-F238E27FC236}">
                <a16:creationId xmlns:a16="http://schemas.microsoft.com/office/drawing/2014/main" id="{FDD7F035-7D30-BE00-2E6D-62EECA96060F}"/>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 name="Chevron 11">
            <a:extLst>
              <a:ext uri="{FF2B5EF4-FFF2-40B4-BE49-F238E27FC236}">
                <a16:creationId xmlns:a16="http://schemas.microsoft.com/office/drawing/2014/main" id="{62FA9A97-2CD9-6261-526D-BDC7E9F59914}"/>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1" name="Chevron 13">
            <a:extLst>
              <a:ext uri="{FF2B5EF4-FFF2-40B4-BE49-F238E27FC236}">
                <a16:creationId xmlns:a16="http://schemas.microsoft.com/office/drawing/2014/main" id="{1F077936-19EC-1BA9-8307-61A4C0787876}"/>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3" name="テキスト ボックス 12">
            <a:extLst>
              <a:ext uri="{FF2B5EF4-FFF2-40B4-BE49-F238E27FC236}">
                <a16:creationId xmlns:a16="http://schemas.microsoft.com/office/drawing/2014/main" id="{BA3C3F08-3D41-4AB0-6301-E28F75F92824}"/>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15" name="テキスト ボックス 14">
            <a:extLst>
              <a:ext uri="{FF2B5EF4-FFF2-40B4-BE49-F238E27FC236}">
                <a16:creationId xmlns:a16="http://schemas.microsoft.com/office/drawing/2014/main" id="{5FB88429-899A-764B-8985-89BDCA69FA89}"/>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17" name="テキスト ボックス 16">
            <a:extLst>
              <a:ext uri="{FF2B5EF4-FFF2-40B4-BE49-F238E27FC236}">
                <a16:creationId xmlns:a16="http://schemas.microsoft.com/office/drawing/2014/main" id="{B7136484-8522-1579-D263-EAACFB1889EB}"/>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19" name="テキスト ボックス 18">
            <a:extLst>
              <a:ext uri="{FF2B5EF4-FFF2-40B4-BE49-F238E27FC236}">
                <a16:creationId xmlns:a16="http://schemas.microsoft.com/office/drawing/2014/main" id="{4979BDA7-0F1E-E435-A28C-9423621EC42F}"/>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27" name="Chevron 11">
            <a:extLst>
              <a:ext uri="{FF2B5EF4-FFF2-40B4-BE49-F238E27FC236}">
                <a16:creationId xmlns:a16="http://schemas.microsoft.com/office/drawing/2014/main" id="{71817687-7D9D-3B4B-F550-ACDFD57436B2}"/>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9" name="Chevron 11">
            <a:extLst>
              <a:ext uri="{FF2B5EF4-FFF2-40B4-BE49-F238E27FC236}">
                <a16:creationId xmlns:a16="http://schemas.microsoft.com/office/drawing/2014/main" id="{554D37E9-1335-2651-1815-E7257F5AF134}"/>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1" name="テキスト ボックス 30">
            <a:extLst>
              <a:ext uri="{FF2B5EF4-FFF2-40B4-BE49-F238E27FC236}">
                <a16:creationId xmlns:a16="http://schemas.microsoft.com/office/drawing/2014/main" id="{E5FD654E-DA39-F87F-E126-D2CA3BCFECFA}"/>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33" name="テキスト ボックス 32">
            <a:extLst>
              <a:ext uri="{FF2B5EF4-FFF2-40B4-BE49-F238E27FC236}">
                <a16:creationId xmlns:a16="http://schemas.microsoft.com/office/drawing/2014/main" id="{ABCB2BE8-6C91-F80E-49A7-AA2E377146D3}"/>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37" name="Chevron 12">
            <a:extLst>
              <a:ext uri="{FF2B5EF4-FFF2-40B4-BE49-F238E27FC236}">
                <a16:creationId xmlns:a16="http://schemas.microsoft.com/office/drawing/2014/main" id="{35150713-047B-D9D4-872A-3A7863929939}"/>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9" name="テキスト ボックス 38">
            <a:extLst>
              <a:ext uri="{FF2B5EF4-FFF2-40B4-BE49-F238E27FC236}">
                <a16:creationId xmlns:a16="http://schemas.microsoft.com/office/drawing/2014/main" id="{D2ED9B44-C4F0-1A57-C3AD-9651A637F2B6}"/>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84" name="正方形/長方形 83">
            <a:extLst>
              <a:ext uri="{FF2B5EF4-FFF2-40B4-BE49-F238E27FC236}">
                <a16:creationId xmlns:a16="http://schemas.microsoft.com/office/drawing/2014/main" id="{3F86528F-074B-2CD3-B672-1A9E0ADF36DE}"/>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86" name="Pentagon 10">
            <a:extLst>
              <a:ext uri="{FF2B5EF4-FFF2-40B4-BE49-F238E27FC236}">
                <a16:creationId xmlns:a16="http://schemas.microsoft.com/office/drawing/2014/main" id="{BC454E1A-6C9B-81E7-66B6-86546B3BD10E}"/>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88" name="テキスト ボックス 87">
            <a:extLst>
              <a:ext uri="{FF2B5EF4-FFF2-40B4-BE49-F238E27FC236}">
                <a16:creationId xmlns:a16="http://schemas.microsoft.com/office/drawing/2014/main" id="{90007845-B74B-5EB8-01A2-F0D0B3B107AA}"/>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6" name="四角形: 角を丸くする 5">
            <a:extLst>
              <a:ext uri="{FF2B5EF4-FFF2-40B4-BE49-F238E27FC236}">
                <a16:creationId xmlns:a16="http://schemas.microsoft.com/office/drawing/2014/main" id="{4A672F05-4819-7C65-3B2F-FE8247A0F4A9}"/>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354330A3-6E6E-081D-CE86-E6E991D271E0}"/>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四角形: 角を丸くする 13">
            <a:extLst>
              <a:ext uri="{FF2B5EF4-FFF2-40B4-BE49-F238E27FC236}">
                <a16:creationId xmlns:a16="http://schemas.microsoft.com/office/drawing/2014/main" id="{80BEFA75-B102-C230-3C22-72F3A514CEB4}"/>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四角形: 角を丸くする 17">
            <a:extLst>
              <a:ext uri="{FF2B5EF4-FFF2-40B4-BE49-F238E27FC236}">
                <a16:creationId xmlns:a16="http://schemas.microsoft.com/office/drawing/2014/main" id="{7F6B650E-CBCB-6054-2356-DEAFE87D97A9}"/>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四角形: 角を丸くする 20">
            <a:extLst>
              <a:ext uri="{FF2B5EF4-FFF2-40B4-BE49-F238E27FC236}">
                <a16:creationId xmlns:a16="http://schemas.microsoft.com/office/drawing/2014/main" id="{F459B5A5-8632-46A3-40F1-E4DEBFD1FCAA}"/>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498969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9D8481-2FDF-C61A-0B28-2BD7FAAB4DC1}"/>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61A98738-2D8B-C136-F3AB-BE9E0F4BE04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E763FE7F-E268-AFB9-8C26-A4EB11BA5AE7}"/>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00"/>
                </a:solidFill>
                <a:latin typeface="メイリオ" panose="020B0604030504040204" pitchFamily="50" charset="-128"/>
                <a:ea typeface="メイリオ" panose="020B0604030504040204" pitchFamily="50" charset="-128"/>
              </a:rPr>
              <a:t>露出の強化</a:t>
            </a:r>
          </a:p>
        </p:txBody>
      </p:sp>
      <p:sp>
        <p:nvSpPr>
          <p:cNvPr id="4" name="Chevron 13">
            <a:extLst>
              <a:ext uri="{FF2B5EF4-FFF2-40B4-BE49-F238E27FC236}">
                <a16:creationId xmlns:a16="http://schemas.microsoft.com/office/drawing/2014/main" id="{29489E76-109A-5A9F-6007-97E43FBE69A2}"/>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7" name="Chevron 12">
            <a:extLst>
              <a:ext uri="{FF2B5EF4-FFF2-40B4-BE49-F238E27FC236}">
                <a16:creationId xmlns:a16="http://schemas.microsoft.com/office/drawing/2014/main" id="{69A3133C-CD4D-8D4C-F0E6-DC6AB18C962D}"/>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 name="Chevron 11">
            <a:extLst>
              <a:ext uri="{FF2B5EF4-FFF2-40B4-BE49-F238E27FC236}">
                <a16:creationId xmlns:a16="http://schemas.microsoft.com/office/drawing/2014/main" id="{F937C8A8-9FC6-659C-E49B-A699CF4D163E}"/>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1" name="Chevron 13">
            <a:extLst>
              <a:ext uri="{FF2B5EF4-FFF2-40B4-BE49-F238E27FC236}">
                <a16:creationId xmlns:a16="http://schemas.microsoft.com/office/drawing/2014/main" id="{D5E8202C-DCA5-0507-F682-9FA900EF692C}"/>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3" name="テキスト ボックス 12">
            <a:extLst>
              <a:ext uri="{FF2B5EF4-FFF2-40B4-BE49-F238E27FC236}">
                <a16:creationId xmlns:a16="http://schemas.microsoft.com/office/drawing/2014/main" id="{6F55644E-8236-43A4-3105-B3F34E3F2103}"/>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15" name="テキスト ボックス 14">
            <a:extLst>
              <a:ext uri="{FF2B5EF4-FFF2-40B4-BE49-F238E27FC236}">
                <a16:creationId xmlns:a16="http://schemas.microsoft.com/office/drawing/2014/main" id="{56BB0C46-5ADE-C304-D02B-B9272585F6C4}"/>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17" name="テキスト ボックス 16">
            <a:extLst>
              <a:ext uri="{FF2B5EF4-FFF2-40B4-BE49-F238E27FC236}">
                <a16:creationId xmlns:a16="http://schemas.microsoft.com/office/drawing/2014/main" id="{6823B628-7016-D96E-3CC4-F63423F806BA}"/>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19" name="テキスト ボックス 18">
            <a:extLst>
              <a:ext uri="{FF2B5EF4-FFF2-40B4-BE49-F238E27FC236}">
                <a16:creationId xmlns:a16="http://schemas.microsoft.com/office/drawing/2014/main" id="{85AC353D-60E1-F353-0855-728BE833FC2C}"/>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37" name="Chevron 12">
            <a:extLst>
              <a:ext uri="{FF2B5EF4-FFF2-40B4-BE49-F238E27FC236}">
                <a16:creationId xmlns:a16="http://schemas.microsoft.com/office/drawing/2014/main" id="{DA5127EF-5223-643E-EDB9-5407299E080D}"/>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9" name="テキスト ボックス 38">
            <a:extLst>
              <a:ext uri="{FF2B5EF4-FFF2-40B4-BE49-F238E27FC236}">
                <a16:creationId xmlns:a16="http://schemas.microsoft.com/office/drawing/2014/main" id="{E14962F6-8671-20EE-0C84-89C4FB4E7CA0}"/>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82" name="正方形/長方形 81">
            <a:extLst>
              <a:ext uri="{FF2B5EF4-FFF2-40B4-BE49-F238E27FC236}">
                <a16:creationId xmlns:a16="http://schemas.microsoft.com/office/drawing/2014/main" id="{E39FFBC3-AAB5-2173-2D6D-3CB0180566B7}"/>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84" name="正方形/長方形 83">
            <a:extLst>
              <a:ext uri="{FF2B5EF4-FFF2-40B4-BE49-F238E27FC236}">
                <a16:creationId xmlns:a16="http://schemas.microsoft.com/office/drawing/2014/main" id="{A77072BE-5118-9AA4-A2E0-18EDA2DCF568}"/>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6" name="Pentagon 10">
            <a:extLst>
              <a:ext uri="{FF2B5EF4-FFF2-40B4-BE49-F238E27FC236}">
                <a16:creationId xmlns:a16="http://schemas.microsoft.com/office/drawing/2014/main" id="{088A33FA-3E05-54E4-570A-B7F80484E448}"/>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10" name="Chevron 11">
            <a:extLst>
              <a:ext uri="{FF2B5EF4-FFF2-40B4-BE49-F238E27FC236}">
                <a16:creationId xmlns:a16="http://schemas.microsoft.com/office/drawing/2014/main" id="{9A8FA9AD-0E1D-35F6-18B9-3EF66776F42F}"/>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4" name="Chevron 11">
            <a:extLst>
              <a:ext uri="{FF2B5EF4-FFF2-40B4-BE49-F238E27FC236}">
                <a16:creationId xmlns:a16="http://schemas.microsoft.com/office/drawing/2014/main" id="{B80A9B91-B735-5AE5-624C-DB7BEDA30516}"/>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8" name="テキスト ボックス 17">
            <a:extLst>
              <a:ext uri="{FF2B5EF4-FFF2-40B4-BE49-F238E27FC236}">
                <a16:creationId xmlns:a16="http://schemas.microsoft.com/office/drawing/2014/main" id="{7FA18697-4D57-2182-57FD-2996F95EC0BB}"/>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21" name="テキスト ボックス 20">
            <a:extLst>
              <a:ext uri="{FF2B5EF4-FFF2-40B4-BE49-F238E27FC236}">
                <a16:creationId xmlns:a16="http://schemas.microsoft.com/office/drawing/2014/main" id="{571916BE-9BC4-A308-6573-898FC7A47F6B}"/>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23" name="テキスト ボックス 22">
            <a:extLst>
              <a:ext uri="{FF2B5EF4-FFF2-40B4-BE49-F238E27FC236}">
                <a16:creationId xmlns:a16="http://schemas.microsoft.com/office/drawing/2014/main" id="{25C076BB-0677-F238-39C9-02E4D26A9F90}"/>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8" name="四角形: 角を丸くする 7">
            <a:extLst>
              <a:ext uri="{FF2B5EF4-FFF2-40B4-BE49-F238E27FC236}">
                <a16:creationId xmlns:a16="http://schemas.microsoft.com/office/drawing/2014/main" id="{3ED11842-B942-C94A-F612-AD82710C5323}"/>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D8CB4BBB-DB36-4D1D-81B3-0D31B0562450}"/>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四角形: 角を丸くする 21">
            <a:extLst>
              <a:ext uri="{FF2B5EF4-FFF2-40B4-BE49-F238E27FC236}">
                <a16:creationId xmlns:a16="http://schemas.microsoft.com/office/drawing/2014/main" id="{B8E2DC18-3E5E-447C-CEDF-5068AF4D0A32}"/>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四角形: 角を丸くする 24">
            <a:extLst>
              <a:ext uri="{FF2B5EF4-FFF2-40B4-BE49-F238E27FC236}">
                <a16:creationId xmlns:a16="http://schemas.microsoft.com/office/drawing/2014/main" id="{5D50EF2A-1185-0E22-D912-9AEA3CB774BC}"/>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四角形: 角を丸くする 26">
            <a:extLst>
              <a:ext uri="{FF2B5EF4-FFF2-40B4-BE49-F238E27FC236}">
                <a16:creationId xmlns:a16="http://schemas.microsoft.com/office/drawing/2014/main" id="{95CDFDF2-ACE7-3D27-F326-7F888F2AC7B9}"/>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6996116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8A5D0F-5075-071F-11BA-7B2A1366AA97}"/>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AFF39C41-BBAA-4AF0-A049-DFB0AE8E1584}"/>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04911599-3976-0BE2-40B0-51ACC39CBFED}"/>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rgbClr val="FFFF00"/>
                </a:solidFill>
                <a:latin typeface="メイリオ" panose="020B0604030504040204" pitchFamily="50" charset="-128"/>
                <a:ea typeface="メイリオ" panose="020B0604030504040204" pitchFamily="50" charset="-128"/>
              </a:rPr>
              <a:t>CV</a:t>
            </a:r>
            <a:r>
              <a:rPr kumimoji="1" lang="ja-JP" altLang="en-US" sz="1200" b="1" dirty="0">
                <a:solidFill>
                  <a:srgbClr val="FFFF00"/>
                </a:solidFill>
                <a:latin typeface="メイリオ" panose="020B0604030504040204" pitchFamily="50" charset="-128"/>
                <a:ea typeface="メイリオ" panose="020B0604030504040204" pitchFamily="50" charset="-128"/>
              </a:rPr>
              <a:t>の最大化</a:t>
            </a:r>
          </a:p>
        </p:txBody>
      </p:sp>
      <p:sp>
        <p:nvSpPr>
          <p:cNvPr id="51" name="Chevron 13">
            <a:extLst>
              <a:ext uri="{FF2B5EF4-FFF2-40B4-BE49-F238E27FC236}">
                <a16:creationId xmlns:a16="http://schemas.microsoft.com/office/drawing/2014/main" id="{F4A886C9-FE65-EAF2-0560-7B118F2A0853}"/>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5" name="Chevron 12">
            <a:extLst>
              <a:ext uri="{FF2B5EF4-FFF2-40B4-BE49-F238E27FC236}">
                <a16:creationId xmlns:a16="http://schemas.microsoft.com/office/drawing/2014/main" id="{38844DA0-F5E5-1A45-00EC-394320B24C31}"/>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7" name="Chevron 11">
            <a:extLst>
              <a:ext uri="{FF2B5EF4-FFF2-40B4-BE49-F238E27FC236}">
                <a16:creationId xmlns:a16="http://schemas.microsoft.com/office/drawing/2014/main" id="{F724F92B-580B-B89B-155A-257BE4A243F8}"/>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9" name="Chevron 13">
            <a:extLst>
              <a:ext uri="{FF2B5EF4-FFF2-40B4-BE49-F238E27FC236}">
                <a16:creationId xmlns:a16="http://schemas.microsoft.com/office/drawing/2014/main" id="{2FC80F6A-1EC7-915D-082F-12807C0FBB3F}"/>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67" name="テキスト ボックス 66">
            <a:extLst>
              <a:ext uri="{FF2B5EF4-FFF2-40B4-BE49-F238E27FC236}">
                <a16:creationId xmlns:a16="http://schemas.microsoft.com/office/drawing/2014/main" id="{83FEBD46-AE15-A94C-5D92-AAB331223E06}"/>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71" name="テキスト ボックス 70">
            <a:extLst>
              <a:ext uri="{FF2B5EF4-FFF2-40B4-BE49-F238E27FC236}">
                <a16:creationId xmlns:a16="http://schemas.microsoft.com/office/drawing/2014/main" id="{04C13BD3-240E-4D3F-E67B-71FB080F80EA}"/>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73" name="テキスト ボックス 72">
            <a:extLst>
              <a:ext uri="{FF2B5EF4-FFF2-40B4-BE49-F238E27FC236}">
                <a16:creationId xmlns:a16="http://schemas.microsoft.com/office/drawing/2014/main" id="{6F7EC4A8-A113-362B-E4F8-1ABE0311DEDC}"/>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75" name="テキスト ボックス 74">
            <a:extLst>
              <a:ext uri="{FF2B5EF4-FFF2-40B4-BE49-F238E27FC236}">
                <a16:creationId xmlns:a16="http://schemas.microsoft.com/office/drawing/2014/main" id="{44766F87-46C0-5918-4D18-E86304A53499}"/>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77" name="正方形/長方形 76">
            <a:extLst>
              <a:ext uri="{FF2B5EF4-FFF2-40B4-BE49-F238E27FC236}">
                <a16:creationId xmlns:a16="http://schemas.microsoft.com/office/drawing/2014/main" id="{9B95ECD3-1A7E-924D-3F0F-41FC24730C6B}"/>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1" name="正方形/長方形 90">
            <a:extLst>
              <a:ext uri="{FF2B5EF4-FFF2-40B4-BE49-F238E27FC236}">
                <a16:creationId xmlns:a16="http://schemas.microsoft.com/office/drawing/2014/main" id="{23860B2B-6C5B-ADF7-C12E-AF8E17FF13BE}"/>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3" name="Pentagon 10">
            <a:extLst>
              <a:ext uri="{FF2B5EF4-FFF2-40B4-BE49-F238E27FC236}">
                <a16:creationId xmlns:a16="http://schemas.microsoft.com/office/drawing/2014/main" id="{B7A320F8-6ED0-8FDE-8D8D-FA43DDE77D55}"/>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6E5F2CF6-FF83-E04E-9531-1DC5EE779FAE}"/>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B164AAA0-8B15-6967-1000-89ADA1733066}"/>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D77B323D-2B30-D972-4650-75C5772F0DFD}"/>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8596EDD7-92C6-DCF0-41B5-5C2035C55EF9}"/>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D8D0F28C-4241-75CC-7936-4CB65160DD9F}"/>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05" name="Chevron 12">
            <a:extLst>
              <a:ext uri="{FF2B5EF4-FFF2-40B4-BE49-F238E27FC236}">
                <a16:creationId xmlns:a16="http://schemas.microsoft.com/office/drawing/2014/main" id="{1EFB2CD0-8FEA-F120-3BD8-EB2D15D982D1}"/>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07" name="テキスト ボックス 106">
            <a:extLst>
              <a:ext uri="{FF2B5EF4-FFF2-40B4-BE49-F238E27FC236}">
                <a16:creationId xmlns:a16="http://schemas.microsoft.com/office/drawing/2014/main" id="{D63C1B14-4B6B-558C-38F0-B4738CA178DB}"/>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4" name="四角形: 角を丸くする 3">
            <a:extLst>
              <a:ext uri="{FF2B5EF4-FFF2-40B4-BE49-F238E27FC236}">
                <a16:creationId xmlns:a16="http://schemas.microsoft.com/office/drawing/2014/main" id="{3F141C4D-4CEC-0747-B5CB-58BA10FE3830}"/>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四角形: 角を丸くする 6">
            <a:extLst>
              <a:ext uri="{FF2B5EF4-FFF2-40B4-BE49-F238E27FC236}">
                <a16:creationId xmlns:a16="http://schemas.microsoft.com/office/drawing/2014/main" id="{0BC92DCD-F746-7AC5-0C7C-F6039EE861BE}"/>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四角形: 角を丸くする 8">
            <a:extLst>
              <a:ext uri="{FF2B5EF4-FFF2-40B4-BE49-F238E27FC236}">
                <a16:creationId xmlns:a16="http://schemas.microsoft.com/office/drawing/2014/main" id="{2DCC85EB-7726-39A6-E767-A7E7AF9FC9AF}"/>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四角形: 角を丸くする 10">
            <a:extLst>
              <a:ext uri="{FF2B5EF4-FFF2-40B4-BE49-F238E27FC236}">
                <a16:creationId xmlns:a16="http://schemas.microsoft.com/office/drawing/2014/main" id="{D941B869-0BE3-91CA-64FF-DE13FF4539A3}"/>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四角形: 角を丸くする 12">
            <a:extLst>
              <a:ext uri="{FF2B5EF4-FFF2-40B4-BE49-F238E27FC236}">
                <a16:creationId xmlns:a16="http://schemas.microsoft.com/office/drawing/2014/main" id="{F7F5C7CD-143E-D046-95E0-587BA9375C6D}"/>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2082787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A47D94-7381-1A9E-617F-B4E17DA3E766}"/>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C55FD271-DD54-8C2A-3532-3C2A03D95615}"/>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CAEED6D7-2A94-A6CB-0BBE-334005590BEA}"/>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rgbClr val="FFFF00"/>
                </a:solidFill>
                <a:latin typeface="メイリオ" panose="020B0604030504040204" pitchFamily="50" charset="-128"/>
                <a:ea typeface="メイリオ" panose="020B0604030504040204" pitchFamily="50" charset="-128"/>
              </a:rPr>
              <a:t>CPO</a:t>
            </a:r>
            <a:r>
              <a:rPr kumimoji="1" lang="ja-JP" altLang="en-US" sz="1200" b="1" dirty="0">
                <a:solidFill>
                  <a:srgbClr val="FFFF00"/>
                </a:solidFill>
                <a:latin typeface="メイリオ" panose="020B0604030504040204" pitchFamily="50" charset="-128"/>
                <a:ea typeface="メイリオ" panose="020B0604030504040204" pitchFamily="50" charset="-128"/>
              </a:rPr>
              <a:t>の改善（</a:t>
            </a:r>
            <a:r>
              <a:rPr kumimoji="1" lang="en-US" altLang="ja-JP" sz="1200" b="1" dirty="0">
                <a:solidFill>
                  <a:srgbClr val="FFFF00"/>
                </a:solidFill>
                <a:latin typeface="メイリオ" panose="020B0604030504040204" pitchFamily="50" charset="-128"/>
                <a:ea typeface="メイリオ" panose="020B0604030504040204" pitchFamily="50" charset="-128"/>
              </a:rPr>
              <a:t>CV</a:t>
            </a:r>
            <a:r>
              <a:rPr kumimoji="1" lang="ja-JP" altLang="en-US" sz="1200" b="1" dirty="0">
                <a:solidFill>
                  <a:srgbClr val="FFFF00"/>
                </a:solidFill>
                <a:latin typeface="メイリオ" panose="020B0604030504040204" pitchFamily="50" charset="-128"/>
                <a:ea typeface="メイリオ" panose="020B0604030504040204" pitchFamily="50" charset="-128"/>
              </a:rPr>
              <a:t>質）</a:t>
            </a:r>
          </a:p>
        </p:txBody>
      </p:sp>
      <p:sp>
        <p:nvSpPr>
          <p:cNvPr id="51" name="Chevron 13">
            <a:extLst>
              <a:ext uri="{FF2B5EF4-FFF2-40B4-BE49-F238E27FC236}">
                <a16:creationId xmlns:a16="http://schemas.microsoft.com/office/drawing/2014/main" id="{1D355FA4-4572-41DB-ADDB-72C9328CFA54}"/>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5" name="Chevron 12">
            <a:extLst>
              <a:ext uri="{FF2B5EF4-FFF2-40B4-BE49-F238E27FC236}">
                <a16:creationId xmlns:a16="http://schemas.microsoft.com/office/drawing/2014/main" id="{35692A60-CF72-AD98-4C83-9F592CF492E0}"/>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9" name="Chevron 13">
            <a:extLst>
              <a:ext uri="{FF2B5EF4-FFF2-40B4-BE49-F238E27FC236}">
                <a16:creationId xmlns:a16="http://schemas.microsoft.com/office/drawing/2014/main" id="{66C0F59A-8A6F-2FF8-83E3-2F298F1F2AC0}"/>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67" name="テキスト ボックス 66">
            <a:extLst>
              <a:ext uri="{FF2B5EF4-FFF2-40B4-BE49-F238E27FC236}">
                <a16:creationId xmlns:a16="http://schemas.microsoft.com/office/drawing/2014/main" id="{55D40F01-14E7-7602-20AC-BAAC200BE3B3}"/>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73" name="テキスト ボックス 72">
            <a:extLst>
              <a:ext uri="{FF2B5EF4-FFF2-40B4-BE49-F238E27FC236}">
                <a16:creationId xmlns:a16="http://schemas.microsoft.com/office/drawing/2014/main" id="{EF5D364D-D947-42EA-9004-919D75BD67E2}"/>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75" name="テキスト ボックス 74">
            <a:extLst>
              <a:ext uri="{FF2B5EF4-FFF2-40B4-BE49-F238E27FC236}">
                <a16:creationId xmlns:a16="http://schemas.microsoft.com/office/drawing/2014/main" id="{7D2B1035-4C9A-C019-739F-BAA82A8C0A80}"/>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93" name="Pentagon 10">
            <a:extLst>
              <a:ext uri="{FF2B5EF4-FFF2-40B4-BE49-F238E27FC236}">
                <a16:creationId xmlns:a16="http://schemas.microsoft.com/office/drawing/2014/main" id="{E7FB1180-9A4A-AE57-1F59-565896215179}"/>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0B0B60C6-5DCD-AEAE-569B-FA25089F13B5}"/>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A4623768-2D8F-7D2D-6B3F-6C18DF141747}"/>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B0A113B5-1B73-69E4-E6AB-E295D6D4D7F6}"/>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9C383105-7C60-9319-5CDD-067E90A78396}"/>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F9F43CC2-32B7-852A-1FBD-45B2EB27CFB5}"/>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1" name="正方形/長方形 10">
            <a:extLst>
              <a:ext uri="{FF2B5EF4-FFF2-40B4-BE49-F238E27FC236}">
                <a16:creationId xmlns:a16="http://schemas.microsoft.com/office/drawing/2014/main" id="{B493BCB4-E00B-E0BE-D79E-5C1F31081B18}"/>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3" name="正方形/長方形 12">
            <a:extLst>
              <a:ext uri="{FF2B5EF4-FFF2-40B4-BE49-F238E27FC236}">
                <a16:creationId xmlns:a16="http://schemas.microsoft.com/office/drawing/2014/main" id="{59ADA20E-51F8-4962-4E73-FE0A21ED1C8D}"/>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5" name="Chevron 12">
            <a:extLst>
              <a:ext uri="{FF2B5EF4-FFF2-40B4-BE49-F238E27FC236}">
                <a16:creationId xmlns:a16="http://schemas.microsoft.com/office/drawing/2014/main" id="{49BBC152-C183-765C-41EA-73A50F842FCD}"/>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7" name="テキスト ボックス 16">
            <a:extLst>
              <a:ext uri="{FF2B5EF4-FFF2-40B4-BE49-F238E27FC236}">
                <a16:creationId xmlns:a16="http://schemas.microsoft.com/office/drawing/2014/main" id="{6961C103-0619-18B0-5114-11BA2CE4CF4F}"/>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19" name="Chevron 11">
            <a:extLst>
              <a:ext uri="{FF2B5EF4-FFF2-40B4-BE49-F238E27FC236}">
                <a16:creationId xmlns:a16="http://schemas.microsoft.com/office/drawing/2014/main" id="{D8CD547B-AAA5-239F-5275-F1E6B4C136D6}"/>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1" name="テキスト ボックス 20">
            <a:extLst>
              <a:ext uri="{FF2B5EF4-FFF2-40B4-BE49-F238E27FC236}">
                <a16:creationId xmlns:a16="http://schemas.microsoft.com/office/drawing/2014/main" id="{8F8D1CD4-558F-D99F-A672-878D8BA20B74}"/>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4" name="四角形: 角を丸くする 3">
            <a:extLst>
              <a:ext uri="{FF2B5EF4-FFF2-40B4-BE49-F238E27FC236}">
                <a16:creationId xmlns:a16="http://schemas.microsoft.com/office/drawing/2014/main" id="{C8DD6A89-9E15-EF97-006E-AAD167825BE6}"/>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四角形: 角を丸くする 6">
            <a:extLst>
              <a:ext uri="{FF2B5EF4-FFF2-40B4-BE49-F238E27FC236}">
                <a16:creationId xmlns:a16="http://schemas.microsoft.com/office/drawing/2014/main" id="{B0607C34-BCAC-36D4-6E5B-D4E83859DFE4}"/>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四角形: 角を丸くする 8">
            <a:extLst>
              <a:ext uri="{FF2B5EF4-FFF2-40B4-BE49-F238E27FC236}">
                <a16:creationId xmlns:a16="http://schemas.microsoft.com/office/drawing/2014/main" id="{EA7B3E98-3D68-0C62-992B-836D9101D961}"/>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四角形: 角を丸くする 11">
            <a:extLst>
              <a:ext uri="{FF2B5EF4-FFF2-40B4-BE49-F238E27FC236}">
                <a16:creationId xmlns:a16="http://schemas.microsoft.com/office/drawing/2014/main" id="{7F965D0E-3CAC-A55D-5335-0187FA81CB54}"/>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4EC9AAED-0E7E-3F8D-0A4E-056B8E955E7A}"/>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7543782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114991-65EE-118F-9D32-76B9BC9A4EB2}"/>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868997F-46B4-7BA9-BC42-4A9C872CA868}"/>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9D47B23B-3577-8555-FFA8-3F6625859F4B}"/>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00"/>
                </a:solidFill>
                <a:latin typeface="メイリオ" panose="020B0604030504040204" pitchFamily="50" charset="-128"/>
                <a:ea typeface="メイリオ" panose="020B0604030504040204" pitchFamily="50" charset="-128"/>
              </a:rPr>
              <a:t>休眠顧客の有効化</a:t>
            </a:r>
          </a:p>
        </p:txBody>
      </p:sp>
      <p:sp>
        <p:nvSpPr>
          <p:cNvPr id="51" name="Chevron 13">
            <a:extLst>
              <a:ext uri="{FF2B5EF4-FFF2-40B4-BE49-F238E27FC236}">
                <a16:creationId xmlns:a16="http://schemas.microsoft.com/office/drawing/2014/main" id="{D8820E1E-FCC6-0351-0262-F0A662620D7E}"/>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9" name="Chevron 13">
            <a:extLst>
              <a:ext uri="{FF2B5EF4-FFF2-40B4-BE49-F238E27FC236}">
                <a16:creationId xmlns:a16="http://schemas.microsoft.com/office/drawing/2014/main" id="{42A824CD-AD31-00AF-D740-24B8329BA211}"/>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67" name="テキスト ボックス 66">
            <a:extLst>
              <a:ext uri="{FF2B5EF4-FFF2-40B4-BE49-F238E27FC236}">
                <a16:creationId xmlns:a16="http://schemas.microsoft.com/office/drawing/2014/main" id="{D974AD9B-8902-BFDF-E4F0-952CE0B08B09}"/>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75" name="テキスト ボックス 74">
            <a:extLst>
              <a:ext uri="{FF2B5EF4-FFF2-40B4-BE49-F238E27FC236}">
                <a16:creationId xmlns:a16="http://schemas.microsoft.com/office/drawing/2014/main" id="{9D71AFEB-56DC-574C-A3FE-D6ED52BB3648}"/>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93" name="Pentagon 10">
            <a:extLst>
              <a:ext uri="{FF2B5EF4-FFF2-40B4-BE49-F238E27FC236}">
                <a16:creationId xmlns:a16="http://schemas.microsoft.com/office/drawing/2014/main" id="{9C35DFC7-047F-4445-6485-A587DE019B83}"/>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37CAF156-89B2-5154-8249-AED0CB0552E6}"/>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40555260-5155-C957-DF45-AA2E0C3AF2D2}"/>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D2BD5B61-1C23-D5EA-685B-AB00A3A95300}"/>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ABA0293E-0A1C-8B4C-AC25-F1D65105B112}"/>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4436E3F3-B650-6233-648E-9FCBA0908DC8}"/>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5" name="Chevron 12">
            <a:extLst>
              <a:ext uri="{FF2B5EF4-FFF2-40B4-BE49-F238E27FC236}">
                <a16:creationId xmlns:a16="http://schemas.microsoft.com/office/drawing/2014/main" id="{66ED729F-B19D-D81D-6F94-82B592CBD5C0}"/>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7" name="テキスト ボックス 16">
            <a:extLst>
              <a:ext uri="{FF2B5EF4-FFF2-40B4-BE49-F238E27FC236}">
                <a16:creationId xmlns:a16="http://schemas.microsoft.com/office/drawing/2014/main" id="{B46A1456-9D10-C361-8904-956CBC7F1CD7}"/>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4" name="正方形/長方形 3">
            <a:extLst>
              <a:ext uri="{FF2B5EF4-FFF2-40B4-BE49-F238E27FC236}">
                <a16:creationId xmlns:a16="http://schemas.microsoft.com/office/drawing/2014/main" id="{F308840B-61C6-BA05-C93D-D818E6E827C3}"/>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6DFDE99D-1BE1-0B34-3609-FD827D701531}"/>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 name="Chevron 12">
            <a:extLst>
              <a:ext uri="{FF2B5EF4-FFF2-40B4-BE49-F238E27FC236}">
                <a16:creationId xmlns:a16="http://schemas.microsoft.com/office/drawing/2014/main" id="{1EE7C547-FD59-69A9-89BE-65E5F3370324}"/>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2" name="テキスト ボックス 11">
            <a:extLst>
              <a:ext uri="{FF2B5EF4-FFF2-40B4-BE49-F238E27FC236}">
                <a16:creationId xmlns:a16="http://schemas.microsoft.com/office/drawing/2014/main" id="{BB4C9F68-E568-903C-F9CF-8C2C3C5BF6C3}"/>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16" name="Chevron 11">
            <a:extLst>
              <a:ext uri="{FF2B5EF4-FFF2-40B4-BE49-F238E27FC236}">
                <a16:creationId xmlns:a16="http://schemas.microsoft.com/office/drawing/2014/main" id="{2047273C-15BE-5CA7-505C-5A86165CEAE9}"/>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201F0B06-F741-FC93-4675-CFD629658555}"/>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6" name="四角形: 角を丸くする 5">
            <a:extLst>
              <a:ext uri="{FF2B5EF4-FFF2-40B4-BE49-F238E27FC236}">
                <a16:creationId xmlns:a16="http://schemas.microsoft.com/office/drawing/2014/main" id="{EB887024-2BBA-BA65-7274-B6C19830B375}"/>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EF085179-F637-C078-F968-9B03AFE0C41E}"/>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四角形: 角を丸くする 12">
            <a:extLst>
              <a:ext uri="{FF2B5EF4-FFF2-40B4-BE49-F238E27FC236}">
                <a16:creationId xmlns:a16="http://schemas.microsoft.com/office/drawing/2014/main" id="{D54D3EDD-30AC-24FB-8D5A-5513D1411FF3}"/>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四角形: 角を丸くする 17">
            <a:extLst>
              <a:ext uri="{FF2B5EF4-FFF2-40B4-BE49-F238E27FC236}">
                <a16:creationId xmlns:a16="http://schemas.microsoft.com/office/drawing/2014/main" id="{A1BBBE87-752F-09D4-9E13-13A9F878286D}"/>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四角形: 角を丸くする 20">
            <a:extLst>
              <a:ext uri="{FF2B5EF4-FFF2-40B4-BE49-F238E27FC236}">
                <a16:creationId xmlns:a16="http://schemas.microsoft.com/office/drawing/2014/main" id="{D870C123-133D-9CF1-6418-078AA9217B26}"/>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7346878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E874BE-BFC0-419C-8849-B9CF0276384A}"/>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57E5823-79CB-79CF-DD07-21851266A6F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1E195F02-0BE8-1161-7792-37774CB37C27}"/>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00"/>
                </a:solidFill>
                <a:latin typeface="メイリオ" panose="020B0604030504040204" pitchFamily="50" charset="-128"/>
                <a:ea typeface="メイリオ" panose="020B0604030504040204" pitchFamily="50" charset="-128"/>
              </a:rPr>
              <a:t>マネタイズ最大化</a:t>
            </a:r>
          </a:p>
        </p:txBody>
      </p:sp>
      <p:sp>
        <p:nvSpPr>
          <p:cNvPr id="59" name="Chevron 13">
            <a:extLst>
              <a:ext uri="{FF2B5EF4-FFF2-40B4-BE49-F238E27FC236}">
                <a16:creationId xmlns:a16="http://schemas.microsoft.com/office/drawing/2014/main" id="{89590842-2A09-C403-C1A7-D0632594BF04}"/>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75" name="テキスト ボックス 74">
            <a:extLst>
              <a:ext uri="{FF2B5EF4-FFF2-40B4-BE49-F238E27FC236}">
                <a16:creationId xmlns:a16="http://schemas.microsoft.com/office/drawing/2014/main" id="{12D9BFE2-CB63-417C-A20D-B9821D0107A5}"/>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93" name="Pentagon 10">
            <a:extLst>
              <a:ext uri="{FF2B5EF4-FFF2-40B4-BE49-F238E27FC236}">
                <a16:creationId xmlns:a16="http://schemas.microsoft.com/office/drawing/2014/main" id="{91C9FB43-DBA3-EA85-05DF-AE178836A78D}"/>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F9CF7B55-ABF2-9927-A557-D4F3EF2DF295}"/>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203D985A-07CB-6B2B-4A38-1E9BA4CDA422}"/>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B3868298-612A-E7EA-3955-A46C112AF68C}"/>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B1C1BD77-0A03-135D-FA57-5809267D4770}"/>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4C224908-2FD0-1514-BACD-7F6558F09AA2}"/>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5" name="Chevron 12">
            <a:extLst>
              <a:ext uri="{FF2B5EF4-FFF2-40B4-BE49-F238E27FC236}">
                <a16:creationId xmlns:a16="http://schemas.microsoft.com/office/drawing/2014/main" id="{8FE0D0D7-6CDA-A5D9-5092-FCB405EBD3A3}"/>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7" name="テキスト ボックス 16">
            <a:extLst>
              <a:ext uri="{FF2B5EF4-FFF2-40B4-BE49-F238E27FC236}">
                <a16:creationId xmlns:a16="http://schemas.microsoft.com/office/drawing/2014/main" id="{12488706-D231-32C7-26F9-D9CFE1BA5E6C}"/>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16" name="Chevron 11">
            <a:extLst>
              <a:ext uri="{FF2B5EF4-FFF2-40B4-BE49-F238E27FC236}">
                <a16:creationId xmlns:a16="http://schemas.microsoft.com/office/drawing/2014/main" id="{0AE256B2-7E32-A02D-D53F-FF495523BBAD}"/>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EE4FEEB2-BD75-74F5-892E-BB00B34A19C1}"/>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6" name="正方形/長方形 5">
            <a:extLst>
              <a:ext uri="{FF2B5EF4-FFF2-40B4-BE49-F238E27FC236}">
                <a16:creationId xmlns:a16="http://schemas.microsoft.com/office/drawing/2014/main" id="{2B757B0D-5672-2DBF-99A3-B8B407F70FEA}"/>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0" name="正方形/長方形 9">
            <a:extLst>
              <a:ext uri="{FF2B5EF4-FFF2-40B4-BE49-F238E27FC236}">
                <a16:creationId xmlns:a16="http://schemas.microsoft.com/office/drawing/2014/main" id="{BCB263E2-823E-545D-4E23-6526BDDF63F7}"/>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3" name="Chevron 13">
            <a:extLst>
              <a:ext uri="{FF2B5EF4-FFF2-40B4-BE49-F238E27FC236}">
                <a16:creationId xmlns:a16="http://schemas.microsoft.com/office/drawing/2014/main" id="{E71A1805-4F7A-19B6-8CAB-65DAB13A046F}"/>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8" name="テキスト ボックス 17">
            <a:extLst>
              <a:ext uri="{FF2B5EF4-FFF2-40B4-BE49-F238E27FC236}">
                <a16:creationId xmlns:a16="http://schemas.microsoft.com/office/drawing/2014/main" id="{A0A85333-5E90-D48C-7292-FEE54783258F}"/>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21" name="Chevron 12">
            <a:extLst>
              <a:ext uri="{FF2B5EF4-FFF2-40B4-BE49-F238E27FC236}">
                <a16:creationId xmlns:a16="http://schemas.microsoft.com/office/drawing/2014/main" id="{1783606B-DD54-1208-7E4B-9811ECD1BB55}"/>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3" name="テキスト ボックス 22">
            <a:extLst>
              <a:ext uri="{FF2B5EF4-FFF2-40B4-BE49-F238E27FC236}">
                <a16:creationId xmlns:a16="http://schemas.microsoft.com/office/drawing/2014/main" id="{92CDBEB6-422E-01E9-0FE6-2116B0ADE9E3}"/>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4" name="四角形: 角を丸くする 3">
            <a:extLst>
              <a:ext uri="{FF2B5EF4-FFF2-40B4-BE49-F238E27FC236}">
                <a16:creationId xmlns:a16="http://schemas.microsoft.com/office/drawing/2014/main" id="{923FB0AD-5795-4174-961E-6636BB6435AD}"/>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四角形: 角を丸くする 7">
            <a:extLst>
              <a:ext uri="{FF2B5EF4-FFF2-40B4-BE49-F238E27FC236}">
                <a16:creationId xmlns:a16="http://schemas.microsoft.com/office/drawing/2014/main" id="{06A126BE-8D6C-B00B-4224-DD59072FF345}"/>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四角形: 角を丸くする 10">
            <a:extLst>
              <a:ext uri="{FF2B5EF4-FFF2-40B4-BE49-F238E27FC236}">
                <a16:creationId xmlns:a16="http://schemas.microsoft.com/office/drawing/2014/main" id="{AF4D2433-0552-CC23-D4A0-E5C59759DDB1}"/>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四角形: 角を丸くする 13">
            <a:extLst>
              <a:ext uri="{FF2B5EF4-FFF2-40B4-BE49-F238E27FC236}">
                <a16:creationId xmlns:a16="http://schemas.microsoft.com/office/drawing/2014/main" id="{367937DA-B7CA-9F47-D5F6-7CB5CBBCCBBD}"/>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四角形: 角を丸くする 21">
            <a:extLst>
              <a:ext uri="{FF2B5EF4-FFF2-40B4-BE49-F238E27FC236}">
                <a16:creationId xmlns:a16="http://schemas.microsoft.com/office/drawing/2014/main" id="{E2E40065-F00C-4873-7138-F81C1E4B9727}"/>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401368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24A889-871E-1630-C077-0DF99367DE7C}"/>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70CBF08D-A75A-0470-2FBB-3028F9D942F1}"/>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3C7D88F4-3C3C-3E2E-C03F-2CCC867D89EC}"/>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00"/>
                </a:solidFill>
                <a:latin typeface="メイリオ" panose="020B0604030504040204" pitchFamily="50" charset="-128"/>
                <a:ea typeface="メイリオ" panose="020B0604030504040204" pitchFamily="50" charset="-128"/>
              </a:rPr>
              <a:t>リピート施策</a:t>
            </a:r>
          </a:p>
        </p:txBody>
      </p:sp>
      <p:sp>
        <p:nvSpPr>
          <p:cNvPr id="51" name="Chevron 13">
            <a:extLst>
              <a:ext uri="{FF2B5EF4-FFF2-40B4-BE49-F238E27FC236}">
                <a16:creationId xmlns:a16="http://schemas.microsoft.com/office/drawing/2014/main" id="{759E7DA1-B0BF-83B4-5B22-46858D37029C}"/>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5" name="Chevron 12">
            <a:extLst>
              <a:ext uri="{FF2B5EF4-FFF2-40B4-BE49-F238E27FC236}">
                <a16:creationId xmlns:a16="http://schemas.microsoft.com/office/drawing/2014/main" id="{E1C272E5-75EC-C617-4703-013CF3754F63}"/>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67" name="テキスト ボックス 66">
            <a:extLst>
              <a:ext uri="{FF2B5EF4-FFF2-40B4-BE49-F238E27FC236}">
                <a16:creationId xmlns:a16="http://schemas.microsoft.com/office/drawing/2014/main" id="{E9DA71D7-9C78-CD2C-7714-F3A95FFC1731}"/>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73" name="テキスト ボックス 72">
            <a:extLst>
              <a:ext uri="{FF2B5EF4-FFF2-40B4-BE49-F238E27FC236}">
                <a16:creationId xmlns:a16="http://schemas.microsoft.com/office/drawing/2014/main" id="{8CCD9A2E-65D9-A3A7-1F9E-9F339A653484}"/>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93" name="Pentagon 10">
            <a:extLst>
              <a:ext uri="{FF2B5EF4-FFF2-40B4-BE49-F238E27FC236}">
                <a16:creationId xmlns:a16="http://schemas.microsoft.com/office/drawing/2014/main" id="{A3BB58FC-6C79-950E-F1BC-61DF96A00F4B}"/>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CF6FF1B6-0073-1D5C-E7B4-9CD1A7C404F5}"/>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F755585F-9990-C994-AFCB-6B55869BB112}"/>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1A586438-3489-526C-D969-F3D159B19FCF}"/>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20A32186-62A1-3BBF-CED6-D509ABE569B8}"/>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29F4C005-9928-FAAC-6A92-971D5F0B969B}"/>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5" name="Chevron 12">
            <a:extLst>
              <a:ext uri="{FF2B5EF4-FFF2-40B4-BE49-F238E27FC236}">
                <a16:creationId xmlns:a16="http://schemas.microsoft.com/office/drawing/2014/main" id="{648B7705-5A53-CB64-8318-08FA7AC165A4}"/>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7" name="テキスト ボックス 16">
            <a:extLst>
              <a:ext uri="{FF2B5EF4-FFF2-40B4-BE49-F238E27FC236}">
                <a16:creationId xmlns:a16="http://schemas.microsoft.com/office/drawing/2014/main" id="{9F8A8E43-9950-E3F2-F3FE-9C9B3CFBF78F}"/>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19" name="Chevron 11">
            <a:extLst>
              <a:ext uri="{FF2B5EF4-FFF2-40B4-BE49-F238E27FC236}">
                <a16:creationId xmlns:a16="http://schemas.microsoft.com/office/drawing/2014/main" id="{B125C3F7-8289-EA3D-F9C3-E4122A1EF6CC}"/>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1" name="テキスト ボックス 20">
            <a:extLst>
              <a:ext uri="{FF2B5EF4-FFF2-40B4-BE49-F238E27FC236}">
                <a16:creationId xmlns:a16="http://schemas.microsoft.com/office/drawing/2014/main" id="{C4497524-AB39-B15B-217D-366289997E7B}"/>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4" name="正方形/長方形 3">
            <a:extLst>
              <a:ext uri="{FF2B5EF4-FFF2-40B4-BE49-F238E27FC236}">
                <a16:creationId xmlns:a16="http://schemas.microsoft.com/office/drawing/2014/main" id="{C49ED30C-CEC0-2E49-5CC6-AB9E06E1664C}"/>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67095497-8A9F-3AE5-CF43-E456608BFED7}"/>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 name="Chevron 13">
            <a:extLst>
              <a:ext uri="{FF2B5EF4-FFF2-40B4-BE49-F238E27FC236}">
                <a16:creationId xmlns:a16="http://schemas.microsoft.com/office/drawing/2014/main" id="{1DE68DC3-7D7A-9CDB-56F3-E6921DE8DBAD}"/>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2" name="テキスト ボックス 11">
            <a:extLst>
              <a:ext uri="{FF2B5EF4-FFF2-40B4-BE49-F238E27FC236}">
                <a16:creationId xmlns:a16="http://schemas.microsoft.com/office/drawing/2014/main" id="{1C592B4B-F240-144A-4EC6-877E40B5DA24}"/>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6" name="四角形: 角を丸くする 5">
            <a:extLst>
              <a:ext uri="{FF2B5EF4-FFF2-40B4-BE49-F238E27FC236}">
                <a16:creationId xmlns:a16="http://schemas.microsoft.com/office/drawing/2014/main" id="{A6208BB2-3F77-CF64-CB2E-3FF447A9F5F7}"/>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4FD2BF1B-521D-CC1A-7BFD-A22AA1142DA0}"/>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四角形: 角を丸くする 12">
            <a:extLst>
              <a:ext uri="{FF2B5EF4-FFF2-40B4-BE49-F238E27FC236}">
                <a16:creationId xmlns:a16="http://schemas.microsoft.com/office/drawing/2014/main" id="{3C915B36-4012-C279-83CB-222ABE1F6039}"/>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49E5CE7E-1D8F-576F-9D97-DFF65D6EF007}"/>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四角形: 角を丸くする 19">
            <a:extLst>
              <a:ext uri="{FF2B5EF4-FFF2-40B4-BE49-F238E27FC236}">
                <a16:creationId xmlns:a16="http://schemas.microsoft.com/office/drawing/2014/main" id="{3D248B8A-3417-C9D7-9DE8-CF0AAB168222}"/>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081639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24268C-F051-0034-8F1C-A9F10B60F8A5}"/>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3FE06A6-86EF-D7B0-BBFB-528ECC073C71}"/>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901D9328-0162-B9BC-14E5-4043C4775398}"/>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00"/>
                </a:solidFill>
                <a:latin typeface="メイリオ" panose="020B0604030504040204" pitchFamily="50" charset="-128"/>
                <a:ea typeface="メイリオ" panose="020B0604030504040204" pitchFamily="50" charset="-128"/>
              </a:rPr>
              <a:t>コミュニティ運営</a:t>
            </a:r>
          </a:p>
        </p:txBody>
      </p:sp>
      <p:sp>
        <p:nvSpPr>
          <p:cNvPr id="51" name="Chevron 13">
            <a:extLst>
              <a:ext uri="{FF2B5EF4-FFF2-40B4-BE49-F238E27FC236}">
                <a16:creationId xmlns:a16="http://schemas.microsoft.com/office/drawing/2014/main" id="{CE22BBFE-2B26-237F-982B-2EA5618B295C}"/>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5" name="Chevron 12">
            <a:extLst>
              <a:ext uri="{FF2B5EF4-FFF2-40B4-BE49-F238E27FC236}">
                <a16:creationId xmlns:a16="http://schemas.microsoft.com/office/drawing/2014/main" id="{80FBA5C2-85D8-876D-21BD-21D8CBF46DCA}"/>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67" name="テキスト ボックス 66">
            <a:extLst>
              <a:ext uri="{FF2B5EF4-FFF2-40B4-BE49-F238E27FC236}">
                <a16:creationId xmlns:a16="http://schemas.microsoft.com/office/drawing/2014/main" id="{414E7487-2F11-DE25-DBC0-3F05BADEBBB5}"/>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73" name="テキスト ボックス 72">
            <a:extLst>
              <a:ext uri="{FF2B5EF4-FFF2-40B4-BE49-F238E27FC236}">
                <a16:creationId xmlns:a16="http://schemas.microsoft.com/office/drawing/2014/main" id="{520F0369-7B38-CED2-FDCE-2A3D5E2FBA45}"/>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93" name="Pentagon 10">
            <a:extLst>
              <a:ext uri="{FF2B5EF4-FFF2-40B4-BE49-F238E27FC236}">
                <a16:creationId xmlns:a16="http://schemas.microsoft.com/office/drawing/2014/main" id="{6ACC63D7-6F52-9BE7-B7F1-06941B3FB662}"/>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41EEE8B7-3911-9FA9-D5E8-3DA2ED3998DE}"/>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00F69354-CC26-C840-A15E-CBD7B45B2E08}"/>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5A3585B4-3CB4-7042-40C9-E33D520250EF}"/>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37372EB0-F5E6-65AF-7C6F-6ED9C8B77FAA}"/>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AA83D2FD-45C9-0F59-802A-AF2C5668C610}"/>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5" name="Chevron 12">
            <a:extLst>
              <a:ext uri="{FF2B5EF4-FFF2-40B4-BE49-F238E27FC236}">
                <a16:creationId xmlns:a16="http://schemas.microsoft.com/office/drawing/2014/main" id="{59DD36B2-96D9-D151-9C00-1072C4868402}"/>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7" name="テキスト ボックス 16">
            <a:extLst>
              <a:ext uri="{FF2B5EF4-FFF2-40B4-BE49-F238E27FC236}">
                <a16:creationId xmlns:a16="http://schemas.microsoft.com/office/drawing/2014/main" id="{439A3FCC-970E-F0D5-83C6-3DB1603A260F}"/>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19" name="Chevron 11">
            <a:extLst>
              <a:ext uri="{FF2B5EF4-FFF2-40B4-BE49-F238E27FC236}">
                <a16:creationId xmlns:a16="http://schemas.microsoft.com/office/drawing/2014/main" id="{FFB75D8D-CCC8-08DA-9374-BDCC4DBC0F84}"/>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1" name="テキスト ボックス 20">
            <a:extLst>
              <a:ext uri="{FF2B5EF4-FFF2-40B4-BE49-F238E27FC236}">
                <a16:creationId xmlns:a16="http://schemas.microsoft.com/office/drawing/2014/main" id="{053B8822-C5C6-7FF1-2E68-9A537E44EC64}"/>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4" name="正方形/長方形 3">
            <a:extLst>
              <a:ext uri="{FF2B5EF4-FFF2-40B4-BE49-F238E27FC236}">
                <a16:creationId xmlns:a16="http://schemas.microsoft.com/office/drawing/2014/main" id="{D30303D8-861D-2829-9C34-EB5B96556F40}"/>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6BF23443-3F44-9153-9179-100EF3B83E19}"/>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 name="Chevron 13">
            <a:extLst>
              <a:ext uri="{FF2B5EF4-FFF2-40B4-BE49-F238E27FC236}">
                <a16:creationId xmlns:a16="http://schemas.microsoft.com/office/drawing/2014/main" id="{09B631BF-2611-3282-49CE-E252DECDE27A}"/>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2" name="テキスト ボックス 11">
            <a:extLst>
              <a:ext uri="{FF2B5EF4-FFF2-40B4-BE49-F238E27FC236}">
                <a16:creationId xmlns:a16="http://schemas.microsoft.com/office/drawing/2014/main" id="{E0CC1822-52C4-D2B9-7FF9-B51A2204E8B1}"/>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6" name="四角形: 角を丸くする 5">
            <a:extLst>
              <a:ext uri="{FF2B5EF4-FFF2-40B4-BE49-F238E27FC236}">
                <a16:creationId xmlns:a16="http://schemas.microsoft.com/office/drawing/2014/main" id="{F9C56CF2-60DE-DF0B-73AB-C8769DA02AE9}"/>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3DC098DF-392C-B85B-2BD7-9024C9265A47}"/>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四角形: 角を丸くする 12">
            <a:extLst>
              <a:ext uri="{FF2B5EF4-FFF2-40B4-BE49-F238E27FC236}">
                <a16:creationId xmlns:a16="http://schemas.microsoft.com/office/drawing/2014/main" id="{34E5D985-1393-630A-EACC-F61C1CA5E4BF}"/>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40043C29-FD63-A762-3BE9-A94DAE22A315}"/>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四角形: 角を丸くする 19">
            <a:extLst>
              <a:ext uri="{FF2B5EF4-FFF2-40B4-BE49-F238E27FC236}">
                <a16:creationId xmlns:a16="http://schemas.microsoft.com/office/drawing/2014/main" id="{0666F0DA-BF7D-5966-BD1A-BE7B1A9ECF9F}"/>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6043742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A1A8D-DF9B-DC16-FB09-828A6A4245CB}"/>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F62311B2-8B20-5404-3961-D924DB3A31A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E54327E7-0F08-0D05-B25E-DE55D46BB2EB}"/>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04</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2D19382B-2C00-B10F-B0BE-D0D83D18ADF1}"/>
              </a:ext>
            </a:extLst>
          </p:cNvPr>
          <p:cNvSpPr txBox="1"/>
          <p:nvPr/>
        </p:nvSpPr>
        <p:spPr>
          <a:xfrm>
            <a:off x="1867143" y="1043132"/>
            <a:ext cx="5966217"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料金形態</a:t>
            </a:r>
          </a:p>
        </p:txBody>
      </p:sp>
      <p:cxnSp>
        <p:nvCxnSpPr>
          <p:cNvPr id="17" name="直線コネクタ 16">
            <a:extLst>
              <a:ext uri="{FF2B5EF4-FFF2-40B4-BE49-F238E27FC236}">
                <a16:creationId xmlns:a16="http://schemas.microsoft.com/office/drawing/2014/main" id="{017042CD-D697-408D-A1BC-4F66A205DD00}"/>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36243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7AA806-E146-213A-7102-2F4072FC82A7}"/>
            </a:ext>
          </a:extLst>
        </p:cNvPr>
        <p:cNvGrpSpPr/>
        <p:nvPr/>
      </p:nvGrpSpPr>
      <p:grpSpPr>
        <a:xfrm>
          <a:off x="0" y="0"/>
          <a:ext cx="0" cy="0"/>
          <a:chOff x="0" y="0"/>
          <a:chExt cx="0" cy="0"/>
        </a:xfrm>
      </p:grpSpPr>
      <p:sp>
        <p:nvSpPr>
          <p:cNvPr id="3" name="Google Shape;752;p28">
            <a:extLst>
              <a:ext uri="{FF2B5EF4-FFF2-40B4-BE49-F238E27FC236}">
                <a16:creationId xmlns:a16="http://schemas.microsoft.com/office/drawing/2014/main" id="{EBB552C6-EF07-EF11-D3A8-416B9A32665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料金プラン</a:t>
            </a:r>
          </a:p>
        </p:txBody>
      </p:sp>
    </p:spTree>
    <p:extLst>
      <p:ext uri="{BB962C8B-B14F-4D97-AF65-F5344CB8AC3E}">
        <p14:creationId xmlns:p14="http://schemas.microsoft.com/office/powerpoint/2010/main" val="438509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094FA4-D911-000B-186B-940B357210A1}"/>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E5360B94-F496-92C9-5C32-EC2AC1564015}"/>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2E4BE408-251A-7ED1-17D3-E2E4ABC5E278}"/>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05</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9B6D6E21-585B-EA4B-DB51-75A8EE77309D}"/>
              </a:ext>
            </a:extLst>
          </p:cNvPr>
          <p:cNvSpPr txBox="1"/>
          <p:nvPr/>
        </p:nvSpPr>
        <p:spPr>
          <a:xfrm>
            <a:off x="1867143" y="1043132"/>
            <a:ext cx="5966217"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サポート体制</a:t>
            </a:r>
          </a:p>
        </p:txBody>
      </p:sp>
      <p:cxnSp>
        <p:nvCxnSpPr>
          <p:cNvPr id="17" name="直線コネクタ 16">
            <a:extLst>
              <a:ext uri="{FF2B5EF4-FFF2-40B4-BE49-F238E27FC236}">
                <a16:creationId xmlns:a16="http://schemas.microsoft.com/office/drawing/2014/main" id="{7E8CBA0C-5F08-1BB2-E25B-5B850FE183D0}"/>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604557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角丸四角形 6"/>
          <p:cNvSpPr/>
          <p:nvPr/>
        </p:nvSpPr>
        <p:spPr>
          <a:xfrm>
            <a:off x="3459839" y="1776142"/>
            <a:ext cx="2986322" cy="447134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8" name="角丸四角形 7"/>
          <p:cNvSpPr/>
          <p:nvPr/>
        </p:nvSpPr>
        <p:spPr>
          <a:xfrm>
            <a:off x="256642" y="1776143"/>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9" name="角丸四角形 8"/>
          <p:cNvSpPr/>
          <p:nvPr/>
        </p:nvSpPr>
        <p:spPr>
          <a:xfrm>
            <a:off x="6663036"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1" name="Google Shape;178;p7"/>
          <p:cNvSpPr txBox="1"/>
          <p:nvPr/>
        </p:nvSpPr>
        <p:spPr>
          <a:xfrm>
            <a:off x="592643"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ポップアップ</a:t>
            </a:r>
            <a:endParaRPr lang="en-US" altLang="ja-JP" sz="2000" b="1" dirty="0">
              <a:solidFill>
                <a:srgbClr val="002060"/>
              </a:solidFill>
              <a:latin typeface="Meiryo"/>
              <a:ea typeface="Meiryo"/>
              <a:cs typeface="Meiryo"/>
              <a:sym typeface="Meiryo"/>
            </a:endParaRPr>
          </a:p>
        </p:txBody>
      </p:sp>
      <p:sp>
        <p:nvSpPr>
          <p:cNvPr id="13" name="Google Shape;178;p7"/>
          <p:cNvSpPr txBox="1"/>
          <p:nvPr/>
        </p:nvSpPr>
        <p:spPr>
          <a:xfrm>
            <a:off x="3795840"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CPF</a:t>
            </a:r>
            <a:r>
              <a:rPr lang="ja-JP" altLang="en-US" sz="2000" b="1" dirty="0">
                <a:solidFill>
                  <a:srgbClr val="002060"/>
                </a:solidFill>
                <a:latin typeface="Meiryo"/>
                <a:ea typeface="Meiryo"/>
                <a:cs typeface="Meiryo"/>
                <a:sym typeface="Meiryo"/>
              </a:rPr>
              <a:t>広告</a:t>
            </a:r>
            <a:endParaRPr lang="en-US" altLang="ja-JP" sz="2000" b="1" dirty="0">
              <a:solidFill>
                <a:srgbClr val="002060"/>
              </a:solidFill>
              <a:latin typeface="Meiryo"/>
              <a:ea typeface="Meiryo"/>
              <a:cs typeface="Meiryo"/>
              <a:sym typeface="Meiryo"/>
            </a:endParaRPr>
          </a:p>
        </p:txBody>
      </p:sp>
      <p:sp>
        <p:nvSpPr>
          <p:cNvPr id="14" name="Google Shape;178;p7"/>
          <p:cNvSpPr txBox="1"/>
          <p:nvPr/>
        </p:nvSpPr>
        <p:spPr>
          <a:xfrm>
            <a:off x="6756033" y="1949959"/>
            <a:ext cx="2800326" cy="76772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サンクス</a:t>
            </a:r>
            <a:r>
              <a:rPr lang="en-US" altLang="ja-JP" sz="2000" b="1" dirty="0">
                <a:solidFill>
                  <a:srgbClr val="002060"/>
                </a:solidFill>
                <a:latin typeface="Meiryo"/>
                <a:ea typeface="Meiryo"/>
                <a:cs typeface="Meiryo"/>
                <a:sym typeface="Meiryo"/>
              </a:rPr>
              <a:t>LINE</a:t>
            </a:r>
            <a:r>
              <a:rPr lang="ja-JP" altLang="en-US" sz="2000" b="1" dirty="0">
                <a:solidFill>
                  <a:srgbClr val="002060"/>
                </a:solidFill>
                <a:latin typeface="Meiryo"/>
                <a:ea typeface="Meiryo"/>
                <a:cs typeface="Meiryo"/>
                <a:sym typeface="Meiryo"/>
              </a:rPr>
              <a:t>誘導</a:t>
            </a:r>
            <a:endParaRPr lang="en-US" altLang="ja-JP" sz="2000" b="1" dirty="0">
              <a:solidFill>
                <a:srgbClr val="002060"/>
              </a:solidFill>
              <a:latin typeface="Meiryo"/>
              <a:ea typeface="Meiryo"/>
              <a:cs typeface="Meiryo"/>
              <a:sym typeface="Meiryo"/>
            </a:endParaRPr>
          </a:p>
        </p:txBody>
      </p:sp>
      <p:sp>
        <p:nvSpPr>
          <p:cNvPr id="16" name="Google Shape;178;p7"/>
          <p:cNvSpPr txBox="1"/>
          <p:nvPr/>
        </p:nvSpPr>
        <p:spPr>
          <a:xfrm>
            <a:off x="92849" y="5014843"/>
            <a:ext cx="2067109"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事例：車買取</a:t>
            </a:r>
            <a:endParaRPr lang="en-US" altLang="ja-JP" sz="1400" dirty="0">
              <a:solidFill>
                <a:schemeClr val="tx1">
                  <a:lumMod val="50000"/>
                  <a:lumOff val="50000"/>
                </a:schemeClr>
              </a:solidFill>
              <a:latin typeface="Meiryo"/>
              <a:ea typeface="Meiryo"/>
              <a:cs typeface="Meiryo"/>
              <a:sym typeface="Meiryo"/>
            </a:endParaRPr>
          </a:p>
        </p:txBody>
      </p:sp>
      <p:pic>
        <p:nvPicPr>
          <p:cNvPr id="2" name="図 1"/>
          <p:cNvPicPr>
            <a:picLocks noChangeAspect="1"/>
          </p:cNvPicPr>
          <p:nvPr/>
        </p:nvPicPr>
        <p:blipFill rotWithShape="1">
          <a:blip r:embed="rId2" cstate="print">
            <a:extLst>
              <a:ext uri="{28A0092B-C50C-407E-A947-70E740481C1C}">
                <a14:useLocalDpi xmlns:a14="http://schemas.microsoft.com/office/drawing/2010/main" val="0"/>
              </a:ext>
            </a:extLst>
          </a:blip>
          <a:srcRect t="34585" b="34763"/>
          <a:stretch/>
        </p:blipFill>
        <p:spPr>
          <a:xfrm>
            <a:off x="314053" y="2324099"/>
            <a:ext cx="2871498" cy="1564723"/>
          </a:xfrm>
          <a:prstGeom prst="rect">
            <a:avLst/>
          </a:prstGeom>
        </p:spPr>
      </p:pic>
      <p:sp>
        <p:nvSpPr>
          <p:cNvPr id="17" name="Google Shape;178;p7"/>
          <p:cNvSpPr txBox="1"/>
          <p:nvPr/>
        </p:nvSpPr>
        <p:spPr>
          <a:xfrm>
            <a:off x="-80913" y="4068767"/>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興味はあるが利用まで</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至らなかったユーザーを</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友だちとして囲い込む。</a:t>
            </a:r>
            <a:endParaRPr lang="en-US" altLang="ja-JP" sz="1400" dirty="0">
              <a:latin typeface="Meiryo"/>
              <a:ea typeface="Meiryo"/>
              <a:cs typeface="Meiryo"/>
              <a:sym typeface="Meiryo"/>
            </a:endParaRPr>
          </a:p>
        </p:txBody>
      </p:sp>
      <p:sp>
        <p:nvSpPr>
          <p:cNvPr id="19" name="Google Shape;178;p7"/>
          <p:cNvSpPr txBox="1"/>
          <p:nvPr/>
        </p:nvSpPr>
        <p:spPr>
          <a:xfrm>
            <a:off x="3161410" y="405305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1400" dirty="0">
                <a:latin typeface="Meiryo"/>
                <a:ea typeface="Meiryo"/>
                <a:cs typeface="Meiryo"/>
                <a:sym typeface="Meiryo"/>
              </a:rPr>
              <a:t>CPF</a:t>
            </a:r>
            <a:r>
              <a:rPr lang="ja-JP" altLang="en-US" sz="1400" dirty="0">
                <a:latin typeface="Meiryo"/>
                <a:ea typeface="Meiryo"/>
                <a:cs typeface="Meiryo"/>
                <a:sym typeface="Meiryo"/>
              </a:rPr>
              <a:t>約</a:t>
            </a:r>
            <a:r>
              <a:rPr lang="en-US" altLang="ja-JP" sz="1400" dirty="0">
                <a:latin typeface="Meiryo"/>
                <a:ea typeface="Meiryo"/>
                <a:cs typeface="Meiryo"/>
                <a:sym typeface="Meiryo"/>
              </a:rPr>
              <a:t>100-200</a:t>
            </a:r>
            <a:r>
              <a:rPr lang="ja-JP" altLang="en-US" sz="1400" dirty="0">
                <a:latin typeface="Meiryo"/>
                <a:ea typeface="Meiryo"/>
                <a:cs typeface="Meiryo"/>
                <a:sym typeface="Meiryo"/>
              </a:rPr>
              <a:t>円台。</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かなり安価かつ成果報酬で</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友だちを増やす広告。</a:t>
            </a:r>
            <a:endParaRPr lang="en-US" altLang="ja-JP" sz="1400" dirty="0">
              <a:latin typeface="Meiryo"/>
              <a:ea typeface="Meiryo"/>
              <a:cs typeface="Meiryo"/>
              <a:sym typeface="Meiryo"/>
            </a:endParaRPr>
          </a:p>
        </p:txBody>
      </p:sp>
      <p:sp>
        <p:nvSpPr>
          <p:cNvPr id="20" name="Google Shape;178;p7"/>
          <p:cNvSpPr txBox="1"/>
          <p:nvPr/>
        </p:nvSpPr>
        <p:spPr>
          <a:xfrm>
            <a:off x="3242964"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事例：アパレル</a:t>
            </a:r>
            <a:endParaRPr lang="en-US" altLang="ja-JP" sz="1400" dirty="0">
              <a:solidFill>
                <a:schemeClr val="tx1">
                  <a:lumMod val="50000"/>
                  <a:lumOff val="50000"/>
                </a:schemeClr>
              </a:solidFill>
              <a:latin typeface="Meiryo"/>
              <a:ea typeface="Meiryo"/>
              <a:cs typeface="Meiryo"/>
              <a:sym typeface="Meiryo"/>
            </a:endParaRPr>
          </a:p>
        </p:txBody>
      </p:sp>
      <p:sp>
        <p:nvSpPr>
          <p:cNvPr id="21" name="Google Shape;178;p7"/>
          <p:cNvSpPr txBox="1"/>
          <p:nvPr/>
        </p:nvSpPr>
        <p:spPr>
          <a:xfrm>
            <a:off x="3639325" y="5328640"/>
            <a:ext cx="2795420"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1</a:t>
            </a:r>
            <a:r>
              <a:rPr lang="ja-JP" altLang="en-US" sz="1200" dirty="0">
                <a:solidFill>
                  <a:schemeClr val="tx1">
                    <a:lumMod val="50000"/>
                    <a:lumOff val="50000"/>
                  </a:schemeClr>
                </a:solidFill>
                <a:latin typeface="Meiryo"/>
                <a:ea typeface="Meiryo"/>
                <a:cs typeface="Meiryo"/>
                <a:sym typeface="Meiryo"/>
              </a:rPr>
              <a:t>人あたり</a:t>
            </a:r>
            <a:r>
              <a:rPr lang="en-US" altLang="ja-JP" sz="1200" dirty="0">
                <a:solidFill>
                  <a:schemeClr val="tx1">
                    <a:lumMod val="50000"/>
                    <a:lumOff val="50000"/>
                  </a:schemeClr>
                </a:solidFill>
                <a:latin typeface="Meiryo"/>
                <a:ea typeface="Meiryo"/>
                <a:cs typeface="Meiryo"/>
                <a:sym typeface="Meiryo"/>
              </a:rPr>
              <a:t>50</a:t>
            </a:r>
            <a:r>
              <a:rPr lang="ja-JP" altLang="en-US" sz="1200" dirty="0">
                <a:solidFill>
                  <a:schemeClr val="tx1">
                    <a:lumMod val="50000"/>
                    <a:lumOff val="50000"/>
                  </a:schemeClr>
                </a:solidFill>
                <a:latin typeface="Meiryo"/>
                <a:ea typeface="Meiryo"/>
                <a:cs typeface="Meiryo"/>
                <a:sym typeface="Meiryo"/>
              </a:rPr>
              <a:t>円で友だち獲得</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経由の購入</a:t>
            </a:r>
            <a:r>
              <a:rPr lang="en-US" altLang="ja-JP" sz="1200" dirty="0">
                <a:solidFill>
                  <a:schemeClr val="tx1">
                    <a:lumMod val="50000"/>
                    <a:lumOff val="50000"/>
                  </a:schemeClr>
                </a:solidFill>
                <a:latin typeface="Meiryo"/>
                <a:ea typeface="Meiryo"/>
                <a:cs typeface="Meiryo"/>
                <a:sym typeface="Meiryo"/>
              </a:rPr>
              <a:t>1.5</a:t>
            </a:r>
            <a:r>
              <a:rPr lang="ja-JP" altLang="en-US" sz="1200" dirty="0">
                <a:solidFill>
                  <a:schemeClr val="tx1">
                    <a:lumMod val="50000"/>
                    <a:lumOff val="50000"/>
                  </a:schemeClr>
                </a:solidFill>
                <a:latin typeface="Meiryo"/>
                <a:ea typeface="Meiryo"/>
                <a:cs typeface="Meiryo"/>
                <a:sym typeface="Meiryo"/>
              </a:rPr>
              <a:t>倍</a:t>
            </a:r>
            <a:endParaRPr lang="en-US" altLang="ja-JP" sz="1200" dirty="0">
              <a:solidFill>
                <a:schemeClr val="tx1">
                  <a:lumMod val="50000"/>
                  <a:lumOff val="50000"/>
                </a:schemeClr>
              </a:solidFill>
              <a:latin typeface="Meiryo"/>
              <a:ea typeface="Meiryo"/>
              <a:cs typeface="Meiryo"/>
              <a:sym typeface="Meiryo"/>
            </a:endParaRPr>
          </a:p>
        </p:txBody>
      </p:sp>
      <p:sp>
        <p:nvSpPr>
          <p:cNvPr id="22" name="Google Shape;178;p7"/>
          <p:cNvSpPr txBox="1"/>
          <p:nvPr/>
        </p:nvSpPr>
        <p:spPr>
          <a:xfrm>
            <a:off x="6434745"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サンクスページに到達した</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ユーザーを自動で</a:t>
            </a:r>
            <a:r>
              <a:rPr lang="en-US" altLang="ja-JP" sz="1400" dirty="0">
                <a:latin typeface="Meiryo"/>
                <a:ea typeface="Meiryo"/>
                <a:cs typeface="Meiryo"/>
                <a:sym typeface="Meiryo"/>
              </a:rPr>
              <a:t>LINE</a:t>
            </a:r>
            <a:r>
              <a:rPr lang="ja-JP" altLang="en-US" sz="1400" dirty="0">
                <a:latin typeface="Meiryo"/>
                <a:ea typeface="Meiryo"/>
                <a:cs typeface="Meiryo"/>
                <a:sym typeface="Meiryo"/>
              </a:rPr>
              <a:t>に誘導。</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友だち追加、追客に活用可能。</a:t>
            </a:r>
            <a:endParaRPr lang="en-US" altLang="ja-JP" sz="1400" dirty="0">
              <a:latin typeface="Meiryo"/>
              <a:ea typeface="Meiryo"/>
              <a:cs typeface="Meiryo"/>
              <a:sym typeface="Meiryo"/>
            </a:endParaRPr>
          </a:p>
        </p:txBody>
      </p:sp>
      <p:sp>
        <p:nvSpPr>
          <p:cNvPr id="23" name="Google Shape;178;p7"/>
          <p:cNvSpPr txBox="1"/>
          <p:nvPr/>
        </p:nvSpPr>
        <p:spPr>
          <a:xfrm>
            <a:off x="6434745"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事例：美容医療</a:t>
            </a:r>
            <a:endParaRPr lang="en-US" altLang="ja-JP" sz="1400" dirty="0">
              <a:solidFill>
                <a:schemeClr val="tx1">
                  <a:lumMod val="50000"/>
                  <a:lumOff val="50000"/>
                </a:schemeClr>
              </a:solidFill>
              <a:latin typeface="Meiryo"/>
              <a:ea typeface="Meiryo"/>
              <a:cs typeface="Meiryo"/>
              <a:sym typeface="Meiryo"/>
            </a:endParaRPr>
          </a:p>
        </p:txBody>
      </p:sp>
      <p:pic>
        <p:nvPicPr>
          <p:cNvPr id="4" name="図 3"/>
          <p:cNvPicPr>
            <a:picLocks noChangeAspect="1"/>
          </p:cNvPicPr>
          <p:nvPr/>
        </p:nvPicPr>
        <p:blipFill>
          <a:blip r:embed="rId3"/>
          <a:stretch>
            <a:fillRect/>
          </a:stretch>
        </p:blipFill>
        <p:spPr>
          <a:xfrm>
            <a:off x="3639325" y="2409907"/>
            <a:ext cx="2627350" cy="1492812"/>
          </a:xfrm>
          <a:prstGeom prst="rect">
            <a:avLst/>
          </a:prstGeom>
        </p:spPr>
      </p:pic>
      <p:sp>
        <p:nvSpPr>
          <p:cNvPr id="24" name="Google Shape;178;p7"/>
          <p:cNvSpPr txBox="1"/>
          <p:nvPr/>
        </p:nvSpPr>
        <p:spPr>
          <a:xfrm>
            <a:off x="440374" y="5328640"/>
            <a:ext cx="2752048" cy="890835"/>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LP</a:t>
            </a:r>
            <a:r>
              <a:rPr lang="ja-JP" altLang="en-US" sz="1200" dirty="0">
                <a:solidFill>
                  <a:schemeClr val="tx1">
                    <a:lumMod val="50000"/>
                    <a:lumOff val="50000"/>
                  </a:schemeClr>
                </a:solidFill>
                <a:latin typeface="Meiryo"/>
                <a:ea typeface="Meiryo"/>
                <a:cs typeface="Meiryo"/>
                <a:sym typeface="Meiryo"/>
              </a:rPr>
              <a:t>離脱ユーザーに対して</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誘導を実施。</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追加から</a:t>
            </a:r>
            <a:r>
              <a:rPr lang="en-US" altLang="ja-JP" sz="1200" dirty="0">
                <a:solidFill>
                  <a:schemeClr val="tx1">
                    <a:lumMod val="50000"/>
                    <a:lumOff val="50000"/>
                  </a:schemeClr>
                </a:solidFill>
                <a:latin typeface="Meiryo"/>
                <a:ea typeface="Meiryo"/>
                <a:cs typeface="Meiryo"/>
                <a:sym typeface="Meiryo"/>
              </a:rPr>
              <a:t>20</a:t>
            </a:r>
            <a:r>
              <a:rPr lang="ja-JP" altLang="en-US" sz="1200" dirty="0">
                <a:solidFill>
                  <a:schemeClr val="tx1">
                    <a:lumMod val="50000"/>
                    <a:lumOff val="50000"/>
                  </a:schemeClr>
                </a:solidFill>
                <a:latin typeface="Meiryo"/>
                <a:ea typeface="Meiryo"/>
                <a:cs typeface="Meiryo"/>
                <a:sym typeface="Meiryo"/>
              </a:rPr>
              <a:t>％が</a:t>
            </a:r>
            <a:r>
              <a:rPr lang="en-US" altLang="ja-JP" sz="1200" dirty="0">
                <a:solidFill>
                  <a:schemeClr val="tx1">
                    <a:lumMod val="50000"/>
                    <a:lumOff val="50000"/>
                  </a:schemeClr>
                </a:solidFill>
                <a:latin typeface="Meiryo"/>
                <a:ea typeface="Meiryo"/>
                <a:cs typeface="Meiryo"/>
                <a:sym typeface="Meiryo"/>
              </a:rPr>
              <a:t>CV</a:t>
            </a:r>
          </a:p>
          <a:p>
            <a:pPr lvl="0">
              <a:buClr>
                <a:schemeClr val="dk1"/>
              </a:buClr>
              <a:buSzPts val="1500"/>
            </a:pPr>
            <a:endParaRPr lang="en-US" altLang="ja-JP" sz="1200" dirty="0">
              <a:solidFill>
                <a:schemeClr val="tx1">
                  <a:lumMod val="50000"/>
                  <a:lumOff val="50000"/>
                </a:schemeClr>
              </a:solidFill>
              <a:latin typeface="Meiryo"/>
              <a:ea typeface="Meiryo"/>
              <a:cs typeface="Meiryo"/>
              <a:sym typeface="Meiryo"/>
            </a:endParaRPr>
          </a:p>
        </p:txBody>
      </p:sp>
      <p:sp>
        <p:nvSpPr>
          <p:cNvPr id="25" name="Google Shape;178;p7"/>
          <p:cNvSpPr txBox="1"/>
          <p:nvPr/>
        </p:nvSpPr>
        <p:spPr>
          <a:xfrm>
            <a:off x="6825208"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導入後友だち増加数が</a:t>
            </a:r>
            <a:r>
              <a:rPr lang="en-US" altLang="ja-JP" sz="1200" dirty="0">
                <a:solidFill>
                  <a:schemeClr val="tx1">
                    <a:lumMod val="50000"/>
                    <a:lumOff val="50000"/>
                  </a:schemeClr>
                </a:solidFill>
                <a:latin typeface="Meiryo"/>
                <a:ea typeface="Meiryo"/>
                <a:cs typeface="Meiryo"/>
                <a:sym typeface="Meiryo"/>
              </a:rPr>
              <a:t>1.5</a:t>
            </a:r>
            <a:r>
              <a:rPr lang="ja-JP" altLang="en-US" sz="1200" dirty="0">
                <a:solidFill>
                  <a:schemeClr val="tx1">
                    <a:lumMod val="50000"/>
                    <a:lumOff val="50000"/>
                  </a:schemeClr>
                </a:solidFill>
                <a:latin typeface="Meiryo"/>
                <a:ea typeface="Meiryo"/>
                <a:cs typeface="Meiryo"/>
                <a:sym typeface="Meiryo"/>
              </a:rPr>
              <a:t>倍に。</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実反響率も</a:t>
            </a:r>
            <a:r>
              <a:rPr lang="en-US" altLang="ja-JP" sz="1200" dirty="0">
                <a:solidFill>
                  <a:schemeClr val="tx1">
                    <a:lumMod val="50000"/>
                    <a:lumOff val="50000"/>
                  </a:schemeClr>
                </a:solidFill>
                <a:latin typeface="Meiryo"/>
                <a:ea typeface="Meiryo"/>
                <a:cs typeface="Meiryo"/>
                <a:sym typeface="Meiryo"/>
              </a:rPr>
              <a:t>40%</a:t>
            </a:r>
            <a:r>
              <a:rPr lang="ja-JP" altLang="en-US" sz="1200" dirty="0">
                <a:solidFill>
                  <a:schemeClr val="tx1">
                    <a:lumMod val="50000"/>
                    <a:lumOff val="50000"/>
                  </a:schemeClr>
                </a:solidFill>
                <a:latin typeface="Meiryo"/>
                <a:ea typeface="Meiryo"/>
                <a:cs typeface="Meiryo"/>
                <a:sym typeface="Meiryo"/>
              </a:rPr>
              <a:t>程度改善。</a:t>
            </a:r>
            <a:endParaRPr lang="en-US" altLang="ja-JP" sz="1200" dirty="0">
              <a:solidFill>
                <a:schemeClr val="tx1">
                  <a:lumMod val="50000"/>
                  <a:lumOff val="50000"/>
                </a:schemeClr>
              </a:solidFill>
              <a:latin typeface="Meiryo"/>
              <a:ea typeface="Meiryo"/>
              <a:cs typeface="Meiryo"/>
              <a:sym typeface="Meiryo"/>
            </a:endParaRPr>
          </a:p>
        </p:txBody>
      </p:sp>
      <p:sp>
        <p:nvSpPr>
          <p:cNvPr id="37" name="角丸四角形 8">
            <a:extLst>
              <a:ext uri="{FF2B5EF4-FFF2-40B4-BE49-F238E27FC236}">
                <a16:creationId xmlns:a16="http://schemas.microsoft.com/office/drawing/2014/main" id="{C9E1ACA7-99C2-0E6B-91F5-B9518FC16E7C}"/>
              </a:ext>
            </a:extLst>
          </p:cNvPr>
          <p:cNvSpPr/>
          <p:nvPr/>
        </p:nvSpPr>
        <p:spPr>
          <a:xfrm>
            <a:off x="3460688"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38" name="Google Shape;178;p7">
            <a:extLst>
              <a:ext uri="{FF2B5EF4-FFF2-40B4-BE49-F238E27FC236}">
                <a16:creationId xmlns:a16="http://schemas.microsoft.com/office/drawing/2014/main" id="{6F13136C-FF05-A088-CA87-3ACA257BC421}"/>
              </a:ext>
            </a:extLst>
          </p:cNvPr>
          <p:cNvSpPr txBox="1"/>
          <p:nvPr/>
        </p:nvSpPr>
        <p:spPr>
          <a:xfrm>
            <a:off x="3796689" y="1949959"/>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通知メッセージ</a:t>
            </a:r>
            <a:endParaRPr lang="en-US" altLang="ja-JP" sz="2000" b="1" dirty="0">
              <a:solidFill>
                <a:srgbClr val="002060"/>
              </a:solidFill>
              <a:latin typeface="Meiryo"/>
              <a:ea typeface="Meiryo"/>
              <a:cs typeface="Meiryo"/>
              <a:sym typeface="Meiryo"/>
            </a:endParaRPr>
          </a:p>
        </p:txBody>
      </p:sp>
      <p:sp>
        <p:nvSpPr>
          <p:cNvPr id="39" name="Google Shape;178;p7">
            <a:extLst>
              <a:ext uri="{FF2B5EF4-FFF2-40B4-BE49-F238E27FC236}">
                <a16:creationId xmlns:a16="http://schemas.microsoft.com/office/drawing/2014/main" id="{07FD580D-9A27-0246-033B-9F6EAE799E8D}"/>
              </a:ext>
            </a:extLst>
          </p:cNvPr>
          <p:cNvSpPr txBox="1"/>
          <p:nvPr/>
        </p:nvSpPr>
        <p:spPr>
          <a:xfrm>
            <a:off x="3232397"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友だちではないユーザーに</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対して予約完了通知などを</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送り友だちを増やす。</a:t>
            </a:r>
            <a:endParaRPr lang="en-US" altLang="ja-JP" sz="1400" dirty="0">
              <a:latin typeface="Meiryo"/>
              <a:ea typeface="Meiryo"/>
              <a:cs typeface="Meiryo"/>
              <a:sym typeface="Meiryo"/>
            </a:endParaRPr>
          </a:p>
        </p:txBody>
      </p:sp>
      <p:sp>
        <p:nvSpPr>
          <p:cNvPr id="40" name="Google Shape;178;p7">
            <a:extLst>
              <a:ext uri="{FF2B5EF4-FFF2-40B4-BE49-F238E27FC236}">
                <a16:creationId xmlns:a16="http://schemas.microsoft.com/office/drawing/2014/main" id="{9F664541-9CBE-3991-FFCD-6CC51F91112E}"/>
              </a:ext>
            </a:extLst>
          </p:cNvPr>
          <p:cNvSpPr txBox="1"/>
          <p:nvPr/>
        </p:nvSpPr>
        <p:spPr>
          <a:xfrm>
            <a:off x="3232397"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事例：宅配ピザ</a:t>
            </a:r>
            <a:endParaRPr lang="en-US" altLang="ja-JP" sz="1400" dirty="0">
              <a:solidFill>
                <a:schemeClr val="tx1">
                  <a:lumMod val="50000"/>
                  <a:lumOff val="50000"/>
                </a:schemeClr>
              </a:solidFill>
              <a:latin typeface="Meiryo"/>
              <a:ea typeface="Meiryo"/>
              <a:cs typeface="Meiryo"/>
              <a:sym typeface="Meiryo"/>
            </a:endParaRPr>
          </a:p>
        </p:txBody>
      </p:sp>
      <p:pic>
        <p:nvPicPr>
          <p:cNvPr id="41" name="図 40">
            <a:extLst>
              <a:ext uri="{FF2B5EF4-FFF2-40B4-BE49-F238E27FC236}">
                <a16:creationId xmlns:a16="http://schemas.microsoft.com/office/drawing/2014/main" id="{EBE29AD0-3B27-DC79-2BA9-92067E22722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68283" y="1481069"/>
            <a:ext cx="2029853" cy="3608629"/>
          </a:xfrm>
          <a:prstGeom prst="rect">
            <a:avLst/>
          </a:prstGeom>
        </p:spPr>
      </p:pic>
      <p:sp>
        <p:nvSpPr>
          <p:cNvPr id="42" name="Google Shape;178;p7">
            <a:extLst>
              <a:ext uri="{FF2B5EF4-FFF2-40B4-BE49-F238E27FC236}">
                <a16:creationId xmlns:a16="http://schemas.microsoft.com/office/drawing/2014/main" id="{D998E418-5C84-71C1-1C83-DA02AB529AF7}"/>
              </a:ext>
            </a:extLst>
          </p:cNvPr>
          <p:cNvSpPr txBox="1"/>
          <p:nvPr/>
        </p:nvSpPr>
        <p:spPr>
          <a:xfrm>
            <a:off x="3622860"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通知メッセージ導入４ヶ月で</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友だち数</a:t>
            </a:r>
            <a:r>
              <a:rPr lang="en-US" altLang="ja-JP" sz="1200" dirty="0">
                <a:solidFill>
                  <a:schemeClr val="tx1">
                    <a:lumMod val="50000"/>
                    <a:lumOff val="50000"/>
                  </a:schemeClr>
                </a:solidFill>
                <a:latin typeface="Meiryo"/>
                <a:ea typeface="Meiryo"/>
                <a:cs typeface="Meiryo"/>
                <a:sym typeface="Meiryo"/>
              </a:rPr>
              <a:t>2</a:t>
            </a:r>
            <a:r>
              <a:rPr lang="ja-JP" altLang="en-US" sz="1200" dirty="0">
                <a:solidFill>
                  <a:schemeClr val="tx1">
                    <a:lumMod val="50000"/>
                    <a:lumOff val="50000"/>
                  </a:schemeClr>
                </a:solidFill>
                <a:latin typeface="Meiryo"/>
                <a:ea typeface="Meiryo"/>
                <a:cs typeface="Meiryo"/>
                <a:sym typeface="Meiryo"/>
              </a:rPr>
              <a:t>倍</a:t>
            </a:r>
            <a:endParaRPr lang="en-US" altLang="ja-JP" sz="1200" dirty="0">
              <a:solidFill>
                <a:schemeClr val="tx1">
                  <a:lumMod val="50000"/>
                  <a:lumOff val="50000"/>
                </a:schemeClr>
              </a:solidFill>
              <a:latin typeface="Meiryo"/>
              <a:ea typeface="Meiryo"/>
              <a:cs typeface="Meiryo"/>
              <a:sym typeface="Meiryo"/>
            </a:endParaRPr>
          </a:p>
        </p:txBody>
      </p:sp>
      <p:pic>
        <p:nvPicPr>
          <p:cNvPr id="1026" name="Picture 2" descr="サンクスページ インスタ無料テンプレートデザイン。イラストや ...">
            <a:extLst>
              <a:ext uri="{FF2B5EF4-FFF2-40B4-BE49-F238E27FC236}">
                <a16:creationId xmlns:a16="http://schemas.microsoft.com/office/drawing/2014/main" id="{EF2FB526-72BA-45FB-7AF8-36501049F967}"/>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8239" b="39628"/>
          <a:stretch>
            <a:fillRect/>
          </a:stretch>
        </p:blipFill>
        <p:spPr bwMode="auto">
          <a:xfrm>
            <a:off x="7001437" y="2549254"/>
            <a:ext cx="2326770" cy="1225425"/>
          </a:xfrm>
          <a:prstGeom prst="rect">
            <a:avLst/>
          </a:prstGeom>
          <a:noFill/>
          <a:extLst>
            <a:ext uri="{909E8E84-426E-40DD-AFC4-6F175D3DCCD1}">
              <a14:hiddenFill xmlns:a14="http://schemas.microsoft.com/office/drawing/2010/main">
                <a:solidFill>
                  <a:srgbClr val="FFFFFF"/>
                </a:solidFill>
              </a14:hiddenFill>
            </a:ext>
          </a:extLst>
        </p:spPr>
      </p:pic>
      <p:sp>
        <p:nvSpPr>
          <p:cNvPr id="3" name="Google Shape;752;p28">
            <a:extLst>
              <a:ext uri="{FF2B5EF4-FFF2-40B4-BE49-F238E27FC236}">
                <a16:creationId xmlns:a16="http://schemas.microsoft.com/office/drawing/2014/main" id="{E6ACC822-B6F9-6C30-928D-BAC3D63D473A}"/>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sp>
        <p:nvSpPr>
          <p:cNvPr id="5" name="Google Shape;178;p7">
            <a:extLst>
              <a:ext uri="{FF2B5EF4-FFF2-40B4-BE49-F238E27FC236}">
                <a16:creationId xmlns:a16="http://schemas.microsoft.com/office/drawing/2014/main" id="{617CCD27-0570-5EC2-D489-ADCA03A0F721}"/>
              </a:ext>
            </a:extLst>
          </p:cNvPr>
          <p:cNvSpPr txBox="1"/>
          <p:nvPr/>
        </p:nvSpPr>
        <p:spPr>
          <a:xfrm>
            <a:off x="77003" y="943920"/>
            <a:ext cx="9751992" cy="398393"/>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600" dirty="0">
                <a:latin typeface="Meiryo"/>
                <a:ea typeface="Meiryo"/>
                <a:cs typeface="Meiryo"/>
                <a:sym typeface="Meiryo"/>
              </a:rPr>
              <a:t>準顕在（獲得見込みが高い）層の</a:t>
            </a:r>
            <a:r>
              <a:rPr lang="ja-JP" altLang="en-US" sz="1600" b="1" dirty="0">
                <a:latin typeface="Meiryo"/>
                <a:ea typeface="Meiryo"/>
                <a:cs typeface="Meiryo"/>
                <a:sym typeface="Meiryo"/>
              </a:rPr>
              <a:t>独自獲得手法が豊富</a:t>
            </a:r>
            <a:r>
              <a:rPr lang="ja-JP" altLang="en-US" sz="1600" dirty="0">
                <a:latin typeface="Meiryo"/>
                <a:ea typeface="Meiryo"/>
                <a:cs typeface="Meiryo"/>
                <a:sym typeface="Meiryo"/>
              </a:rPr>
              <a:t>で尚且つ</a:t>
            </a:r>
            <a:r>
              <a:rPr lang="ja-JP" altLang="en-US" sz="1600" b="1" dirty="0">
                <a:latin typeface="Meiryo"/>
                <a:ea typeface="Meiryo"/>
                <a:cs typeface="Meiryo"/>
                <a:sym typeface="Meiryo"/>
              </a:rPr>
              <a:t>利用までナーチャリング</a:t>
            </a:r>
            <a:endParaRPr lang="en-US" altLang="ja-JP" sz="1600" dirty="0">
              <a:latin typeface="Meiryo"/>
              <a:ea typeface="Meiryo"/>
              <a:cs typeface="Meiryo"/>
              <a:sym typeface="Meiryo"/>
            </a:endParaRPr>
          </a:p>
        </p:txBody>
      </p:sp>
    </p:spTree>
    <p:extLst>
      <p:ext uri="{BB962C8B-B14F-4D97-AF65-F5344CB8AC3E}">
        <p14:creationId xmlns:p14="http://schemas.microsoft.com/office/powerpoint/2010/main" val="30001345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75156-99A2-3647-6F9D-3BD80C596EF5}"/>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B249BA1-EB38-DDA6-8221-FC109239C49F}"/>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新規友だちの追加（ポップアップ）</a:t>
            </a:r>
          </a:p>
        </p:txBody>
      </p:sp>
      <p:grpSp>
        <p:nvGrpSpPr>
          <p:cNvPr id="3" name="グループ化 2">
            <a:extLst>
              <a:ext uri="{FF2B5EF4-FFF2-40B4-BE49-F238E27FC236}">
                <a16:creationId xmlns:a16="http://schemas.microsoft.com/office/drawing/2014/main" id="{EA805D6F-0719-17C7-4E97-2705F1D9A93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0895EF17-7734-EE92-7BF3-5B0ADCDC65B8}"/>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23AD98A9-882F-05AA-BB4E-3FB88AAA7C20}"/>
                </a:ext>
              </a:extLst>
            </p:cNvPr>
            <p:cNvSpPr txBox="1"/>
            <p:nvPr/>
          </p:nvSpPr>
          <p:spPr>
            <a:xfrm>
              <a:off x="687498" y="938979"/>
              <a:ext cx="2746265"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ポップアップ</a:t>
              </a:r>
              <a:endParaRPr kumimoji="1" lang="ja-JP" altLang="en-US" sz="1500" b="1" dirty="0">
                <a:solidFill>
                  <a:schemeClr val="bg1"/>
                </a:solidFill>
                <a:latin typeface="Meiryo" panose="020B0604030504040204" pitchFamily="34" charset="-128"/>
                <a:ea typeface="Meiryo" panose="020B0604030504040204" pitchFamily="34" charset="-128"/>
              </a:endParaRPr>
            </a:p>
          </p:txBody>
        </p:sp>
      </p:grpSp>
      <p:sp>
        <p:nvSpPr>
          <p:cNvPr id="8" name="正方形/長方形 7">
            <a:extLst>
              <a:ext uri="{FF2B5EF4-FFF2-40B4-BE49-F238E27FC236}">
                <a16:creationId xmlns:a16="http://schemas.microsoft.com/office/drawing/2014/main" id="{EB668975-CA29-64DD-88DF-17EAAC94AE3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サイト上の特定アクションを起こしたユーザーに対して</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ポップアップの形で</a:t>
            </a:r>
            <a:r>
              <a:rPr lang="en-US" altLang="ja-JP" sz="1600" dirty="0">
                <a:latin typeface="Meiryo"/>
                <a:ea typeface="Meiryo"/>
                <a:cs typeface="Meiryo"/>
                <a:sym typeface="Meiryo"/>
              </a:rPr>
              <a:t>LINE</a:t>
            </a:r>
            <a:r>
              <a:rPr lang="ja-JP" altLang="en-US" sz="1600" dirty="0">
                <a:latin typeface="Meiryo"/>
                <a:ea typeface="Meiryo"/>
                <a:cs typeface="Meiryo"/>
                <a:sym typeface="Meiryo"/>
              </a:rPr>
              <a:t>誘導の動線を提示。</a:t>
            </a:r>
          </a:p>
        </p:txBody>
      </p:sp>
      <p:pic>
        <p:nvPicPr>
          <p:cNvPr id="6" name="図 5">
            <a:extLst>
              <a:ext uri="{FF2B5EF4-FFF2-40B4-BE49-F238E27FC236}">
                <a16:creationId xmlns:a16="http://schemas.microsoft.com/office/drawing/2014/main" id="{4BC18E84-0DF3-01E6-D82D-0A9DCD2D5F30}"/>
              </a:ext>
            </a:extLst>
          </p:cNvPr>
          <p:cNvPicPr>
            <a:picLocks noChangeAspect="1"/>
          </p:cNvPicPr>
          <p:nvPr/>
        </p:nvPicPr>
        <p:blipFill>
          <a:blip r:embed="rId2"/>
          <a:stretch>
            <a:fillRect/>
          </a:stretch>
        </p:blipFill>
        <p:spPr>
          <a:xfrm>
            <a:off x="5764329" y="2258734"/>
            <a:ext cx="1524677" cy="3096752"/>
          </a:xfrm>
          <a:prstGeom prst="rect">
            <a:avLst/>
          </a:prstGeom>
        </p:spPr>
      </p:pic>
      <p:sp>
        <p:nvSpPr>
          <p:cNvPr id="9" name="テキスト ボックス 8">
            <a:extLst>
              <a:ext uri="{FF2B5EF4-FFF2-40B4-BE49-F238E27FC236}">
                <a16:creationId xmlns:a16="http://schemas.microsoft.com/office/drawing/2014/main" id="{10FACA28-BE3D-80E4-091C-39F6141694C7}"/>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FF0000"/>
                </a:solidFill>
                <a:latin typeface="Meiryo"/>
                <a:ea typeface="Meiryo"/>
                <a:cs typeface="Meiryo"/>
                <a:sym typeface="Meiryo"/>
              </a:rPr>
              <a:t>LINE</a:t>
            </a:r>
            <a:r>
              <a:rPr lang="ja-JP" altLang="en-US" sz="1050" dirty="0">
                <a:solidFill>
                  <a:srgbClr val="FF0000"/>
                </a:solidFill>
                <a:latin typeface="Meiryo"/>
                <a:ea typeface="Meiryo"/>
                <a:cs typeface="Meiryo"/>
                <a:sym typeface="Meiryo"/>
              </a:rPr>
              <a:t>以外の注力動線への誘導も同バナーから実施が可能です。</a:t>
            </a:r>
            <a:endParaRPr lang="ja-JP" altLang="en-US" sz="1050" dirty="0">
              <a:solidFill>
                <a:srgbClr val="FF0000"/>
              </a:solidFill>
            </a:endParaRPr>
          </a:p>
        </p:txBody>
      </p:sp>
      <p:pic>
        <p:nvPicPr>
          <p:cNvPr id="11" name="図 10">
            <a:extLst>
              <a:ext uri="{FF2B5EF4-FFF2-40B4-BE49-F238E27FC236}">
                <a16:creationId xmlns:a16="http://schemas.microsoft.com/office/drawing/2014/main" id="{FC908A63-1EE8-A605-1D4F-460FED9442AA}"/>
              </a:ext>
            </a:extLst>
          </p:cNvPr>
          <p:cNvPicPr>
            <a:picLocks noChangeAspect="1"/>
          </p:cNvPicPr>
          <p:nvPr/>
        </p:nvPicPr>
        <p:blipFill>
          <a:blip r:embed="rId2"/>
          <a:stretch>
            <a:fillRect/>
          </a:stretch>
        </p:blipFill>
        <p:spPr>
          <a:xfrm>
            <a:off x="8032877" y="2846109"/>
            <a:ext cx="1524677" cy="3096752"/>
          </a:xfrm>
          <a:prstGeom prst="rect">
            <a:avLst/>
          </a:prstGeom>
        </p:spPr>
      </p:pic>
      <p:sp>
        <p:nvSpPr>
          <p:cNvPr id="12" name="矢印: 右 11">
            <a:extLst>
              <a:ext uri="{FF2B5EF4-FFF2-40B4-BE49-F238E27FC236}">
                <a16:creationId xmlns:a16="http://schemas.microsoft.com/office/drawing/2014/main" id="{C5B2A6E8-796B-963F-0A04-9B9D1A36ADF0}"/>
              </a:ext>
            </a:extLst>
          </p:cNvPr>
          <p:cNvSpPr/>
          <p:nvPr/>
        </p:nvSpPr>
        <p:spPr>
          <a:xfrm>
            <a:off x="7373222" y="3359435"/>
            <a:ext cx="571500" cy="619125"/>
          </a:xfrm>
          <a:prstGeom prst="rightArrow">
            <a:avLst>
              <a:gd name="adj1" fmla="val 64359"/>
              <a:gd name="adj2" fmla="val 50000"/>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DB49FAB7-0FB8-4D5F-CF13-A19BBA28C8C7}"/>
              </a:ext>
            </a:extLst>
          </p:cNvPr>
          <p:cNvSpPr/>
          <p:nvPr/>
        </p:nvSpPr>
        <p:spPr>
          <a:xfrm>
            <a:off x="8117093" y="3057525"/>
            <a:ext cx="1371145" cy="2585494"/>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Google Shape;51;p19">
            <a:extLst>
              <a:ext uri="{FF2B5EF4-FFF2-40B4-BE49-F238E27FC236}">
                <a16:creationId xmlns:a16="http://schemas.microsoft.com/office/drawing/2014/main" id="{1B34220E-1DA3-AC59-C2DE-15AB3320AC1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1.5</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17" name="Google Shape;51;p19">
            <a:extLst>
              <a:ext uri="{FF2B5EF4-FFF2-40B4-BE49-F238E27FC236}">
                <a16:creationId xmlns:a16="http://schemas.microsoft.com/office/drawing/2014/main" id="{EBA2E7AC-5299-C000-0A43-CCF8CE458AAF}"/>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3</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pic>
        <p:nvPicPr>
          <p:cNvPr id="19" name="図 18">
            <a:extLst>
              <a:ext uri="{FF2B5EF4-FFF2-40B4-BE49-F238E27FC236}">
                <a16:creationId xmlns:a16="http://schemas.microsoft.com/office/drawing/2014/main" id="{98FF8283-5B2F-5018-9D25-736A384B4D23}"/>
              </a:ext>
            </a:extLst>
          </p:cNvPr>
          <p:cNvPicPr>
            <a:picLocks noChangeAspect="1"/>
          </p:cNvPicPr>
          <p:nvPr/>
        </p:nvPicPr>
        <p:blipFill>
          <a:blip r:embed="rId3"/>
          <a:stretch>
            <a:fillRect/>
          </a:stretch>
        </p:blipFill>
        <p:spPr>
          <a:xfrm>
            <a:off x="8263942" y="3752836"/>
            <a:ext cx="1062545" cy="1115066"/>
          </a:xfrm>
          <a:prstGeom prst="rect">
            <a:avLst/>
          </a:prstGeom>
        </p:spPr>
      </p:pic>
      <p:sp>
        <p:nvSpPr>
          <p:cNvPr id="24" name="正方形/長方形 23">
            <a:extLst>
              <a:ext uri="{FF2B5EF4-FFF2-40B4-BE49-F238E27FC236}">
                <a16:creationId xmlns:a16="http://schemas.microsoft.com/office/drawing/2014/main" id="{E4AE5F6C-0BA5-6768-64B9-9CD156133552}"/>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pic>
        <p:nvPicPr>
          <p:cNvPr id="7" name="図 6">
            <a:extLst>
              <a:ext uri="{FF2B5EF4-FFF2-40B4-BE49-F238E27FC236}">
                <a16:creationId xmlns:a16="http://schemas.microsoft.com/office/drawing/2014/main" id="{669C67AE-8870-AB99-9BB8-030F3AB8CB3B}"/>
              </a:ext>
            </a:extLst>
          </p:cNvPr>
          <p:cNvPicPr>
            <a:picLocks noChangeAspect="1"/>
          </p:cNvPicPr>
          <p:nvPr/>
        </p:nvPicPr>
        <p:blipFill>
          <a:blip r:embed="rId4"/>
          <a:stretch>
            <a:fillRect/>
          </a:stretch>
        </p:blipFill>
        <p:spPr>
          <a:xfrm>
            <a:off x="543398" y="4259719"/>
            <a:ext cx="5059180" cy="2191534"/>
          </a:xfrm>
          <a:prstGeom prst="rect">
            <a:avLst/>
          </a:prstGeom>
        </p:spPr>
      </p:pic>
      <p:pic>
        <p:nvPicPr>
          <p:cNvPr id="14" name="図 13">
            <a:extLst>
              <a:ext uri="{FF2B5EF4-FFF2-40B4-BE49-F238E27FC236}">
                <a16:creationId xmlns:a16="http://schemas.microsoft.com/office/drawing/2014/main" id="{CFFD213E-DE33-0075-6E07-F24DBD7A9441}"/>
              </a:ext>
            </a:extLst>
          </p:cNvPr>
          <p:cNvPicPr>
            <a:picLocks noChangeAspect="1"/>
          </p:cNvPicPr>
          <p:nvPr/>
        </p:nvPicPr>
        <p:blipFill>
          <a:blip r:embed="rId5"/>
          <a:stretch>
            <a:fillRect/>
          </a:stretch>
        </p:blipFill>
        <p:spPr>
          <a:xfrm>
            <a:off x="579513" y="1977951"/>
            <a:ext cx="5023065" cy="2231287"/>
          </a:xfrm>
          <a:prstGeom prst="rect">
            <a:avLst/>
          </a:prstGeom>
        </p:spPr>
      </p:pic>
    </p:spTree>
    <p:extLst>
      <p:ext uri="{BB962C8B-B14F-4D97-AF65-F5344CB8AC3E}">
        <p14:creationId xmlns:p14="http://schemas.microsoft.com/office/powerpoint/2010/main" val="10589334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61D1B-00B3-A324-FA45-8227BFE7C87E}"/>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92EBA17-1F28-FC74-FD04-7BBA4028B4C8}"/>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新規友だちの追加（ポップアップ）</a:t>
            </a:r>
          </a:p>
        </p:txBody>
      </p:sp>
      <p:grpSp>
        <p:nvGrpSpPr>
          <p:cNvPr id="3" name="グループ化 2">
            <a:extLst>
              <a:ext uri="{FF2B5EF4-FFF2-40B4-BE49-F238E27FC236}">
                <a16:creationId xmlns:a16="http://schemas.microsoft.com/office/drawing/2014/main" id="{A495E905-6DD4-9945-098D-841CB438C3EE}"/>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460E3190-8E00-961F-6C91-89DE5F3546AF}"/>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214929DF-C4CB-63FB-BAED-F6A1BE2438B2}"/>
                </a:ext>
              </a:extLst>
            </p:cNvPr>
            <p:cNvSpPr txBox="1"/>
            <p:nvPr/>
          </p:nvSpPr>
          <p:spPr>
            <a:xfrm>
              <a:off x="687498" y="938979"/>
              <a:ext cx="2746265"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ポップアップ</a:t>
              </a:r>
              <a:endParaRPr kumimoji="1" lang="ja-JP" altLang="en-US" sz="1500" b="1" dirty="0">
                <a:solidFill>
                  <a:schemeClr val="bg1"/>
                </a:solidFill>
                <a:latin typeface="Meiryo" panose="020B0604030504040204" pitchFamily="34" charset="-128"/>
                <a:ea typeface="Meiryo" panose="020B0604030504040204" pitchFamily="34" charset="-128"/>
              </a:endParaRPr>
            </a:p>
          </p:txBody>
        </p:sp>
      </p:grpSp>
      <p:sp>
        <p:nvSpPr>
          <p:cNvPr id="8" name="正方形/長方形 7">
            <a:extLst>
              <a:ext uri="{FF2B5EF4-FFF2-40B4-BE49-F238E27FC236}">
                <a16:creationId xmlns:a16="http://schemas.microsoft.com/office/drawing/2014/main" id="{200A9277-1702-628D-6325-0D765E09FBE7}"/>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サイト上の特定アクションを起こしたユーザーに対して</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ポップアップの形で</a:t>
            </a:r>
            <a:r>
              <a:rPr lang="en-US" altLang="ja-JP" sz="1600" dirty="0">
                <a:latin typeface="Meiryo"/>
                <a:ea typeface="Meiryo"/>
                <a:cs typeface="Meiryo"/>
                <a:sym typeface="Meiryo"/>
              </a:rPr>
              <a:t>LINE</a:t>
            </a:r>
            <a:r>
              <a:rPr lang="ja-JP" altLang="en-US" sz="1600" dirty="0">
                <a:latin typeface="Meiryo"/>
                <a:ea typeface="Meiryo"/>
                <a:cs typeface="Meiryo"/>
                <a:sym typeface="Meiryo"/>
              </a:rPr>
              <a:t>誘導の動線を提示。</a:t>
            </a:r>
          </a:p>
        </p:txBody>
      </p:sp>
      <p:sp>
        <p:nvSpPr>
          <p:cNvPr id="9" name="テキスト ボックス 8">
            <a:extLst>
              <a:ext uri="{FF2B5EF4-FFF2-40B4-BE49-F238E27FC236}">
                <a16:creationId xmlns:a16="http://schemas.microsoft.com/office/drawing/2014/main" id="{FC59C8DC-A3F5-6C82-BBB6-1DCA2E2FCA1E}"/>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FF0000"/>
                </a:solidFill>
                <a:latin typeface="Meiryo"/>
                <a:ea typeface="Meiryo"/>
                <a:cs typeface="Meiryo"/>
                <a:sym typeface="Meiryo"/>
              </a:rPr>
              <a:t>LINE</a:t>
            </a:r>
            <a:r>
              <a:rPr lang="ja-JP" altLang="en-US" sz="1050" dirty="0">
                <a:solidFill>
                  <a:srgbClr val="FF0000"/>
                </a:solidFill>
                <a:latin typeface="Meiryo"/>
                <a:ea typeface="Meiryo"/>
                <a:cs typeface="Meiryo"/>
                <a:sym typeface="Meiryo"/>
              </a:rPr>
              <a:t>以外の注力動線への誘導も同バナーから実施が可能です。</a:t>
            </a:r>
            <a:endParaRPr lang="ja-JP" altLang="en-US" sz="1050" dirty="0">
              <a:solidFill>
                <a:srgbClr val="FF0000"/>
              </a:solidFill>
            </a:endParaRPr>
          </a:p>
        </p:txBody>
      </p:sp>
      <p:sp>
        <p:nvSpPr>
          <p:cNvPr id="15" name="Google Shape;51;p19">
            <a:extLst>
              <a:ext uri="{FF2B5EF4-FFF2-40B4-BE49-F238E27FC236}">
                <a16:creationId xmlns:a16="http://schemas.microsoft.com/office/drawing/2014/main" id="{ECC096EC-7A42-299D-ADFB-A11583AA36AB}"/>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1.5</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17" name="Google Shape;51;p19">
            <a:extLst>
              <a:ext uri="{FF2B5EF4-FFF2-40B4-BE49-F238E27FC236}">
                <a16:creationId xmlns:a16="http://schemas.microsoft.com/office/drawing/2014/main" id="{C52155A1-F32D-8503-456F-3138842AD308}"/>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3</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pic>
        <p:nvPicPr>
          <p:cNvPr id="10" name="図 9">
            <a:extLst>
              <a:ext uri="{FF2B5EF4-FFF2-40B4-BE49-F238E27FC236}">
                <a16:creationId xmlns:a16="http://schemas.microsoft.com/office/drawing/2014/main" id="{3B15DB85-15F3-FF15-AB96-FDFE17717CDB}"/>
              </a:ext>
            </a:extLst>
          </p:cNvPr>
          <p:cNvPicPr>
            <a:picLocks noChangeAspect="1"/>
          </p:cNvPicPr>
          <p:nvPr/>
        </p:nvPicPr>
        <p:blipFill>
          <a:blip r:embed="rId2"/>
          <a:stretch>
            <a:fillRect/>
          </a:stretch>
        </p:blipFill>
        <p:spPr>
          <a:xfrm>
            <a:off x="1172081" y="1882008"/>
            <a:ext cx="7561838" cy="4661631"/>
          </a:xfrm>
          <a:prstGeom prst="rect">
            <a:avLst/>
          </a:prstGeom>
        </p:spPr>
      </p:pic>
    </p:spTree>
    <p:extLst>
      <p:ext uri="{BB962C8B-B14F-4D97-AF65-F5344CB8AC3E}">
        <p14:creationId xmlns:p14="http://schemas.microsoft.com/office/powerpoint/2010/main" val="42713348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341AF-76F7-F354-A08C-287945F04D7D}"/>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CEDF5177-0A5C-5E57-5AEC-2A3A0A3E97A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（通知メッセージ）</a:t>
            </a:r>
          </a:p>
        </p:txBody>
      </p:sp>
      <p:grpSp>
        <p:nvGrpSpPr>
          <p:cNvPr id="3" name="グループ化 2">
            <a:extLst>
              <a:ext uri="{FF2B5EF4-FFF2-40B4-BE49-F238E27FC236}">
                <a16:creationId xmlns:a16="http://schemas.microsoft.com/office/drawing/2014/main" id="{40037302-E6AA-0829-6AB4-E8C68E0B5350}"/>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596B7C8B-2830-475F-54BD-39885C61FB2A}"/>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5F77E149-8797-8964-2351-34587DDB9A0B}"/>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通知メッセージ</a:t>
              </a:r>
            </a:p>
          </p:txBody>
        </p:sp>
      </p:grpSp>
      <p:sp>
        <p:nvSpPr>
          <p:cNvPr id="9" name="正方形/長方形 8">
            <a:extLst>
              <a:ext uri="{FF2B5EF4-FFF2-40B4-BE49-F238E27FC236}">
                <a16:creationId xmlns:a16="http://schemas.microsoft.com/office/drawing/2014/main" id="{C076E43E-4FBE-86BD-F3B4-70DD95B2A175}"/>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上のアクションユーザー、貴社保有リスト をターゲット</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3BC521D4-BDAA-5741-5164-4E22535838B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10</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77" name="Google Shape;51;p19">
            <a:extLst>
              <a:ext uri="{FF2B5EF4-FFF2-40B4-BE49-F238E27FC236}">
                <a16:creationId xmlns:a16="http://schemas.microsoft.com/office/drawing/2014/main" id="{91E7069A-2F1F-16FB-F2FD-E91D9E716C95}"/>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8</a:t>
            </a:r>
            <a:r>
              <a:rPr lang="ja-JP" altLang="en-US" sz="1400" b="1" i="0" u="none" strike="noStrike" cap="none" dirty="0">
                <a:solidFill>
                  <a:schemeClr val="lt1"/>
                </a:solidFill>
                <a:latin typeface="Meiryo"/>
                <a:ea typeface="Meiryo"/>
                <a:cs typeface="Meiryo"/>
                <a:sym typeface="Meiryo"/>
              </a:rPr>
              <a:t>万円～</a:t>
            </a:r>
            <a:endParaRPr lang="en-US" altLang="ja-JP" sz="1400" b="1" i="0" u="none" strike="noStrike" cap="none" dirty="0">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00"/>
                </a:solidFill>
                <a:latin typeface="Meiryo"/>
                <a:ea typeface="Meiryo"/>
                <a:cs typeface="Meiryo"/>
                <a:sym typeface="Meiryo"/>
              </a:rPr>
              <a:t>+</a:t>
            </a:r>
            <a:r>
              <a:rPr lang="ja-JP" altLang="en-US" sz="1050" b="1" dirty="0">
                <a:solidFill>
                  <a:srgbClr val="FFFF00"/>
                </a:solidFill>
                <a:latin typeface="Meiryo"/>
                <a:ea typeface="Meiryo"/>
                <a:cs typeface="Meiryo"/>
                <a:sym typeface="Meiryo"/>
              </a:rPr>
              <a:t>通数単価：</a:t>
            </a:r>
            <a:r>
              <a:rPr lang="en-US" altLang="ja-JP" sz="1050" b="1" dirty="0">
                <a:solidFill>
                  <a:srgbClr val="FFFF00"/>
                </a:solidFill>
                <a:latin typeface="Meiryo"/>
                <a:ea typeface="Meiryo"/>
                <a:cs typeface="Meiryo"/>
                <a:sym typeface="Meiryo"/>
              </a:rPr>
              <a:t>7</a:t>
            </a:r>
            <a:r>
              <a:rPr lang="ja-JP" altLang="en-US" sz="1050" b="1" dirty="0">
                <a:solidFill>
                  <a:srgbClr val="FFFF00"/>
                </a:solidFill>
                <a:latin typeface="Meiryo"/>
                <a:ea typeface="Meiryo"/>
                <a:cs typeface="Meiryo"/>
                <a:sym typeface="Meiryo"/>
              </a:rPr>
              <a:t>円</a:t>
            </a:r>
            <a:endParaRPr sz="1050" b="1" i="0" u="none" strike="noStrike" cap="none" dirty="0">
              <a:solidFill>
                <a:srgbClr val="FFFF00"/>
              </a:solidFill>
              <a:latin typeface="Meiryo"/>
              <a:ea typeface="Meiryo"/>
              <a:cs typeface="Meiryo"/>
              <a:sym typeface="Meiryo"/>
            </a:endParaRPr>
          </a:p>
        </p:txBody>
      </p:sp>
      <p:sp>
        <p:nvSpPr>
          <p:cNvPr id="79" name="正方形/長方形 78">
            <a:extLst>
              <a:ext uri="{FF2B5EF4-FFF2-40B4-BE49-F238E27FC236}">
                <a16:creationId xmlns:a16="http://schemas.microsoft.com/office/drawing/2014/main" id="{B31CA3DA-9F8B-560D-3F3E-1B37667D3043}"/>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pic>
        <p:nvPicPr>
          <p:cNvPr id="82" name="図 81">
            <a:extLst>
              <a:ext uri="{FF2B5EF4-FFF2-40B4-BE49-F238E27FC236}">
                <a16:creationId xmlns:a16="http://schemas.microsoft.com/office/drawing/2014/main" id="{8B5BACB1-E619-75E8-84E9-0C790B13F4E4}"/>
              </a:ext>
            </a:extLst>
          </p:cNvPr>
          <p:cNvPicPr>
            <a:picLocks noChangeAspect="1"/>
          </p:cNvPicPr>
          <p:nvPr/>
        </p:nvPicPr>
        <p:blipFill>
          <a:blip r:embed="rId2"/>
          <a:stretch>
            <a:fillRect/>
          </a:stretch>
        </p:blipFill>
        <p:spPr>
          <a:xfrm>
            <a:off x="532512" y="4787607"/>
            <a:ext cx="3533302" cy="1714690"/>
          </a:xfrm>
          <a:prstGeom prst="rect">
            <a:avLst/>
          </a:prstGeom>
        </p:spPr>
      </p:pic>
      <p:pic>
        <p:nvPicPr>
          <p:cNvPr id="84" name="図 83">
            <a:extLst>
              <a:ext uri="{FF2B5EF4-FFF2-40B4-BE49-F238E27FC236}">
                <a16:creationId xmlns:a16="http://schemas.microsoft.com/office/drawing/2014/main" id="{A2B50304-2B09-7BB6-6FD5-2122ADB3185D}"/>
              </a:ext>
            </a:extLst>
          </p:cNvPr>
          <p:cNvPicPr>
            <a:picLocks noChangeAspect="1"/>
          </p:cNvPicPr>
          <p:nvPr/>
        </p:nvPicPr>
        <p:blipFill>
          <a:blip r:embed="rId3"/>
          <a:stretch>
            <a:fillRect/>
          </a:stretch>
        </p:blipFill>
        <p:spPr>
          <a:xfrm>
            <a:off x="4065814" y="4801141"/>
            <a:ext cx="1586275" cy="1701156"/>
          </a:xfrm>
          <a:prstGeom prst="rect">
            <a:avLst/>
          </a:prstGeom>
        </p:spPr>
      </p:pic>
      <p:pic>
        <p:nvPicPr>
          <p:cNvPr id="86" name="図 85">
            <a:extLst>
              <a:ext uri="{FF2B5EF4-FFF2-40B4-BE49-F238E27FC236}">
                <a16:creationId xmlns:a16="http://schemas.microsoft.com/office/drawing/2014/main" id="{FBAEE1FF-4E25-D523-E0EA-6A3361C12E5A}"/>
              </a:ext>
            </a:extLst>
          </p:cNvPr>
          <p:cNvPicPr>
            <a:picLocks noChangeAspect="1"/>
          </p:cNvPicPr>
          <p:nvPr/>
        </p:nvPicPr>
        <p:blipFill>
          <a:blip r:embed="rId4"/>
          <a:stretch>
            <a:fillRect/>
          </a:stretch>
        </p:blipFill>
        <p:spPr>
          <a:xfrm>
            <a:off x="5988432" y="2468072"/>
            <a:ext cx="3362361" cy="1977297"/>
          </a:xfrm>
          <a:prstGeom prst="rect">
            <a:avLst/>
          </a:prstGeom>
        </p:spPr>
      </p:pic>
      <p:pic>
        <p:nvPicPr>
          <p:cNvPr id="88" name="図 87">
            <a:extLst>
              <a:ext uri="{FF2B5EF4-FFF2-40B4-BE49-F238E27FC236}">
                <a16:creationId xmlns:a16="http://schemas.microsoft.com/office/drawing/2014/main" id="{3517C81E-3BB9-067B-DB2E-F6109D78F069}"/>
              </a:ext>
            </a:extLst>
          </p:cNvPr>
          <p:cNvPicPr>
            <a:picLocks noChangeAspect="1"/>
          </p:cNvPicPr>
          <p:nvPr/>
        </p:nvPicPr>
        <p:blipFill>
          <a:blip r:embed="rId5"/>
          <a:stretch>
            <a:fillRect/>
          </a:stretch>
        </p:blipFill>
        <p:spPr>
          <a:xfrm>
            <a:off x="5927443" y="4787607"/>
            <a:ext cx="3471994" cy="1626185"/>
          </a:xfrm>
          <a:prstGeom prst="rect">
            <a:avLst/>
          </a:prstGeom>
        </p:spPr>
      </p:pic>
      <p:sp>
        <p:nvSpPr>
          <p:cNvPr id="90" name="正方形/長方形 89">
            <a:extLst>
              <a:ext uri="{FF2B5EF4-FFF2-40B4-BE49-F238E27FC236}">
                <a16:creationId xmlns:a16="http://schemas.microsoft.com/office/drawing/2014/main" id="{DAE064A8-FF19-CBAF-1BB4-15234EAFE4C3}"/>
              </a:ext>
            </a:extLst>
          </p:cNvPr>
          <p:cNvSpPr/>
          <p:nvPr/>
        </p:nvSpPr>
        <p:spPr>
          <a:xfrm>
            <a:off x="5941518" y="2223921"/>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tx1"/>
                </a:solidFill>
                <a:latin typeface="メイリオ" panose="020B0604030504040204" pitchFamily="50" charset="-128"/>
                <a:ea typeface="メイリオ" panose="020B0604030504040204" pitchFamily="50" charset="-128"/>
              </a:rPr>
              <a:t>佐川急便</a:t>
            </a:r>
            <a:endParaRPr kumimoji="1" lang="ja-JP" altLang="en-US" sz="1100" dirty="0">
              <a:solidFill>
                <a:schemeClr val="tx1"/>
              </a:solidFill>
              <a:latin typeface="メイリオ" panose="020B0604030504040204" pitchFamily="50" charset="-128"/>
              <a:ea typeface="メイリオ" panose="020B0604030504040204" pitchFamily="50" charset="-128"/>
            </a:endParaRPr>
          </a:p>
        </p:txBody>
      </p:sp>
      <p:sp>
        <p:nvSpPr>
          <p:cNvPr id="92" name="正方形/長方形 91">
            <a:extLst>
              <a:ext uri="{FF2B5EF4-FFF2-40B4-BE49-F238E27FC236}">
                <a16:creationId xmlns:a16="http://schemas.microsoft.com/office/drawing/2014/main" id="{D4794AD6-6F68-15DB-7568-78E492020B13}"/>
              </a:ext>
            </a:extLst>
          </p:cNvPr>
          <p:cNvSpPr/>
          <p:nvPr/>
        </p:nvSpPr>
        <p:spPr>
          <a:xfrm>
            <a:off x="5941518" y="4499415"/>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solidFill>
                <a:latin typeface="メイリオ" panose="020B0604030504040204" pitchFamily="50" charset="-128"/>
                <a:ea typeface="メイリオ" panose="020B0604030504040204" pitchFamily="50" charset="-128"/>
              </a:rPr>
              <a:t>やまや（</a:t>
            </a:r>
            <a:r>
              <a:rPr kumimoji="1" lang="en-US" altLang="ja-JP" sz="1100" dirty="0">
                <a:solidFill>
                  <a:schemeClr val="tx1"/>
                </a:solidFill>
                <a:latin typeface="メイリオ" panose="020B0604030504040204" pitchFamily="50" charset="-128"/>
                <a:ea typeface="メイリオ" panose="020B0604030504040204" pitchFamily="50" charset="-128"/>
              </a:rPr>
              <a:t>EC</a:t>
            </a:r>
            <a:r>
              <a:rPr kumimoji="1" lang="ja-JP" altLang="en-US" sz="1100" dirty="0">
                <a:solidFill>
                  <a:schemeClr val="tx1"/>
                </a:solidFill>
                <a:latin typeface="メイリオ" panose="020B0604030504040204" pitchFamily="50" charset="-128"/>
                <a:ea typeface="メイリオ" panose="020B0604030504040204" pitchFamily="50" charset="-128"/>
              </a:rPr>
              <a:t>）</a:t>
            </a:r>
          </a:p>
        </p:txBody>
      </p:sp>
      <p:sp>
        <p:nvSpPr>
          <p:cNvPr id="94" name="テキスト ボックス 93">
            <a:extLst>
              <a:ext uri="{FF2B5EF4-FFF2-40B4-BE49-F238E27FC236}">
                <a16:creationId xmlns:a16="http://schemas.microsoft.com/office/drawing/2014/main" id="{89F8E75C-F7C6-511B-BA1F-6EB60A9DEADA}"/>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rPr>
              <a:t>Sales Partner</a:t>
            </a:r>
            <a:r>
              <a:rPr lang="ja-JP" altLang="en-US" sz="900" dirty="0">
                <a:solidFill>
                  <a:srgbClr val="FF0000"/>
                </a:solidFill>
                <a:latin typeface="メイリオ" panose="020B0604030504040204" pitchFamily="50" charset="-128"/>
                <a:ea typeface="メイリオ" panose="020B0604030504040204" pitchFamily="50" charset="-128"/>
              </a:rPr>
              <a:t>、</a:t>
            </a:r>
            <a:r>
              <a:rPr lang="en-US" altLang="ja-JP" sz="900" dirty="0">
                <a:solidFill>
                  <a:srgbClr val="FF0000"/>
                </a:solidFill>
                <a:latin typeface="メイリオ" panose="020B0604030504040204" pitchFamily="50" charset="-128"/>
                <a:ea typeface="メイリオ" panose="020B0604030504040204" pitchFamily="50" charset="-128"/>
              </a:rPr>
              <a:t>Tech Partner</a:t>
            </a:r>
            <a:r>
              <a:rPr lang="ja-JP" altLang="en-US" sz="900" dirty="0">
                <a:solidFill>
                  <a:srgbClr val="FF0000"/>
                </a:solidFill>
                <a:latin typeface="メイリオ" panose="020B0604030504040204" pitchFamily="50" charset="-128"/>
                <a:ea typeface="メイリオ" panose="020B0604030504040204" pitchFamily="50" charset="-128"/>
              </a:rPr>
              <a:t>限定公開の</a:t>
            </a:r>
            <a:r>
              <a:rPr lang="en-US" altLang="ja-JP" sz="900" dirty="0">
                <a:solidFill>
                  <a:srgbClr val="FF0000"/>
                </a:solidFill>
                <a:latin typeface="メイリオ" panose="020B0604030504040204" pitchFamily="50" charset="-128"/>
                <a:ea typeface="メイリオ" panose="020B0604030504040204" pitchFamily="50" charset="-128"/>
              </a:rPr>
              <a:t>API</a:t>
            </a:r>
            <a:r>
              <a:rPr lang="ja-JP" altLang="en-US" sz="900" dirty="0">
                <a:solidFill>
                  <a:srgbClr val="FF0000"/>
                </a:solidFill>
                <a:latin typeface="メイリオ" panose="020B0604030504040204" pitchFamily="50" charset="-128"/>
                <a:ea typeface="メイリオ" panose="020B0604030504040204" pitchFamily="50" charset="-128"/>
              </a:rPr>
              <a:t>を使用した機能です。</a:t>
            </a:r>
          </a:p>
        </p:txBody>
      </p:sp>
      <p:sp>
        <p:nvSpPr>
          <p:cNvPr id="96" name="正方形/長方形 95">
            <a:extLst>
              <a:ext uri="{FF2B5EF4-FFF2-40B4-BE49-F238E27FC236}">
                <a16:creationId xmlns:a16="http://schemas.microsoft.com/office/drawing/2014/main" id="{6569B015-2B51-9A35-9379-E64729B15375}"/>
              </a:ext>
            </a:extLst>
          </p:cNvPr>
          <p:cNvSpPr/>
          <p:nvPr/>
        </p:nvSpPr>
        <p:spPr>
          <a:xfrm>
            <a:off x="543398" y="1938056"/>
            <a:ext cx="4981102"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利用可能シーン</a:t>
            </a:r>
          </a:p>
        </p:txBody>
      </p:sp>
      <p:pic>
        <p:nvPicPr>
          <p:cNvPr id="7" name="図 6">
            <a:extLst>
              <a:ext uri="{FF2B5EF4-FFF2-40B4-BE49-F238E27FC236}">
                <a16:creationId xmlns:a16="http://schemas.microsoft.com/office/drawing/2014/main" id="{00862346-A302-637E-2976-3985B23ED00C}"/>
              </a:ext>
            </a:extLst>
          </p:cNvPr>
          <p:cNvPicPr>
            <a:picLocks noChangeAspect="1"/>
          </p:cNvPicPr>
          <p:nvPr/>
        </p:nvPicPr>
        <p:blipFill>
          <a:blip r:embed="rId6"/>
          <a:stretch>
            <a:fillRect/>
          </a:stretch>
        </p:blipFill>
        <p:spPr>
          <a:xfrm>
            <a:off x="381811" y="2197911"/>
            <a:ext cx="5286856" cy="2497015"/>
          </a:xfrm>
          <a:prstGeom prst="rect">
            <a:avLst/>
          </a:prstGeom>
        </p:spPr>
      </p:pic>
      <p:sp>
        <p:nvSpPr>
          <p:cNvPr id="10" name="テキスト ボックス 9">
            <a:extLst>
              <a:ext uri="{FF2B5EF4-FFF2-40B4-BE49-F238E27FC236}">
                <a16:creationId xmlns:a16="http://schemas.microsoft.com/office/drawing/2014/main" id="{63354FD4-3595-E9AA-7603-C702E42E9BD1}"/>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FF0000"/>
                </a:solidFill>
                <a:latin typeface="メイリオ" panose="020B0604030504040204" pitchFamily="50" charset="-128"/>
                <a:ea typeface="メイリオ" panose="020B0604030504040204" pitchFamily="50" charset="-128"/>
              </a:rPr>
              <a:t>料金プランにより通数単価、利用可能機能が異なります。</a:t>
            </a:r>
          </a:p>
        </p:txBody>
      </p:sp>
    </p:spTree>
    <p:extLst>
      <p:ext uri="{BB962C8B-B14F-4D97-AF65-F5344CB8AC3E}">
        <p14:creationId xmlns:p14="http://schemas.microsoft.com/office/powerpoint/2010/main" val="37310312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EB58E-2E23-6D6E-492D-03C38E7A1D6F}"/>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B579369E-F53C-FDC8-7374-AB2F5B31CD4F}"/>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（通知メッセージ）</a:t>
            </a:r>
          </a:p>
        </p:txBody>
      </p:sp>
      <p:grpSp>
        <p:nvGrpSpPr>
          <p:cNvPr id="3" name="グループ化 2">
            <a:extLst>
              <a:ext uri="{FF2B5EF4-FFF2-40B4-BE49-F238E27FC236}">
                <a16:creationId xmlns:a16="http://schemas.microsoft.com/office/drawing/2014/main" id="{16CDA247-29F1-37E2-FCEA-D79F4493519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BB8D843F-BDAA-6DE1-DFCE-2A6A73C04E2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D91D75E4-A706-8EF4-1ECC-1D62C09F934E}"/>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通知メッセージ</a:t>
              </a:r>
            </a:p>
          </p:txBody>
        </p:sp>
      </p:grpSp>
      <p:sp>
        <p:nvSpPr>
          <p:cNvPr id="9" name="正方形/長方形 8">
            <a:extLst>
              <a:ext uri="{FF2B5EF4-FFF2-40B4-BE49-F238E27FC236}">
                <a16:creationId xmlns:a16="http://schemas.microsoft.com/office/drawing/2014/main" id="{F191580C-EA72-3903-0A46-57D229D5027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上のアクションユーザー、貴社保有リスト をターゲット</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5B83E274-8AAB-1C88-48EF-6D543C0091D3}"/>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10</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77" name="Google Shape;51;p19">
            <a:extLst>
              <a:ext uri="{FF2B5EF4-FFF2-40B4-BE49-F238E27FC236}">
                <a16:creationId xmlns:a16="http://schemas.microsoft.com/office/drawing/2014/main" id="{1ACE7ABA-DEAD-27A6-7DA0-D29E467F0A0D}"/>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8</a:t>
            </a:r>
            <a:r>
              <a:rPr lang="ja-JP" altLang="en-US" sz="1400" b="1" i="0" u="none" strike="noStrike" cap="none" dirty="0">
                <a:solidFill>
                  <a:schemeClr val="lt1"/>
                </a:solidFill>
                <a:latin typeface="Meiryo"/>
                <a:ea typeface="Meiryo"/>
                <a:cs typeface="Meiryo"/>
                <a:sym typeface="Meiryo"/>
              </a:rPr>
              <a:t>万円～</a:t>
            </a:r>
            <a:endParaRPr lang="en-US" altLang="ja-JP" sz="1400" b="1" i="0" u="none" strike="noStrike" cap="none" dirty="0">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00"/>
                </a:solidFill>
                <a:latin typeface="Meiryo"/>
                <a:ea typeface="Meiryo"/>
                <a:cs typeface="Meiryo"/>
                <a:sym typeface="Meiryo"/>
              </a:rPr>
              <a:t>+</a:t>
            </a:r>
            <a:r>
              <a:rPr lang="ja-JP" altLang="en-US" sz="1050" b="1" dirty="0">
                <a:solidFill>
                  <a:srgbClr val="FFFF00"/>
                </a:solidFill>
                <a:latin typeface="Meiryo"/>
                <a:ea typeface="Meiryo"/>
                <a:cs typeface="Meiryo"/>
                <a:sym typeface="Meiryo"/>
              </a:rPr>
              <a:t>通数単価：</a:t>
            </a:r>
            <a:r>
              <a:rPr lang="en-US" altLang="ja-JP" sz="1050" b="1" dirty="0">
                <a:solidFill>
                  <a:srgbClr val="FFFF00"/>
                </a:solidFill>
                <a:latin typeface="Meiryo"/>
                <a:ea typeface="Meiryo"/>
                <a:cs typeface="Meiryo"/>
                <a:sym typeface="Meiryo"/>
              </a:rPr>
              <a:t>7</a:t>
            </a:r>
            <a:r>
              <a:rPr lang="ja-JP" altLang="en-US" sz="1050" b="1" dirty="0">
                <a:solidFill>
                  <a:srgbClr val="FFFF00"/>
                </a:solidFill>
                <a:latin typeface="Meiryo"/>
                <a:ea typeface="Meiryo"/>
                <a:cs typeface="Meiryo"/>
                <a:sym typeface="Meiryo"/>
              </a:rPr>
              <a:t>円</a:t>
            </a:r>
            <a:endParaRPr sz="1050" b="1" i="0" u="none" strike="noStrike" cap="none" dirty="0">
              <a:solidFill>
                <a:srgbClr val="FFFF00"/>
              </a:solidFill>
              <a:latin typeface="Meiryo"/>
              <a:ea typeface="Meiryo"/>
              <a:cs typeface="Meiryo"/>
              <a:sym typeface="Meiryo"/>
            </a:endParaRPr>
          </a:p>
        </p:txBody>
      </p:sp>
      <p:sp>
        <p:nvSpPr>
          <p:cNvPr id="94" name="テキスト ボックス 93">
            <a:extLst>
              <a:ext uri="{FF2B5EF4-FFF2-40B4-BE49-F238E27FC236}">
                <a16:creationId xmlns:a16="http://schemas.microsoft.com/office/drawing/2014/main" id="{6BA13AD6-A7FE-E393-39F7-12604E6F2A59}"/>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rPr>
              <a:t>Sales Partner</a:t>
            </a:r>
            <a:r>
              <a:rPr lang="ja-JP" altLang="en-US" sz="900" dirty="0">
                <a:solidFill>
                  <a:srgbClr val="FF0000"/>
                </a:solidFill>
                <a:latin typeface="メイリオ" panose="020B0604030504040204" pitchFamily="50" charset="-128"/>
                <a:ea typeface="メイリオ" panose="020B0604030504040204" pitchFamily="50" charset="-128"/>
              </a:rPr>
              <a:t>、</a:t>
            </a:r>
            <a:r>
              <a:rPr lang="en-US" altLang="ja-JP" sz="900" dirty="0">
                <a:solidFill>
                  <a:srgbClr val="FF0000"/>
                </a:solidFill>
                <a:latin typeface="メイリオ" panose="020B0604030504040204" pitchFamily="50" charset="-128"/>
                <a:ea typeface="メイリオ" panose="020B0604030504040204" pitchFamily="50" charset="-128"/>
              </a:rPr>
              <a:t>Tech Partner</a:t>
            </a:r>
            <a:r>
              <a:rPr lang="ja-JP" altLang="en-US" sz="900" dirty="0">
                <a:solidFill>
                  <a:srgbClr val="FF0000"/>
                </a:solidFill>
                <a:latin typeface="メイリオ" panose="020B0604030504040204" pitchFamily="50" charset="-128"/>
                <a:ea typeface="メイリオ" panose="020B0604030504040204" pitchFamily="50" charset="-128"/>
              </a:rPr>
              <a:t>限定公開の</a:t>
            </a:r>
            <a:r>
              <a:rPr lang="en-US" altLang="ja-JP" sz="900" dirty="0">
                <a:solidFill>
                  <a:srgbClr val="FF0000"/>
                </a:solidFill>
                <a:latin typeface="メイリオ" panose="020B0604030504040204" pitchFamily="50" charset="-128"/>
                <a:ea typeface="メイリオ" panose="020B0604030504040204" pitchFamily="50" charset="-128"/>
              </a:rPr>
              <a:t>API</a:t>
            </a:r>
            <a:r>
              <a:rPr lang="ja-JP" altLang="en-US" sz="900" dirty="0">
                <a:solidFill>
                  <a:srgbClr val="FF0000"/>
                </a:solidFill>
                <a:latin typeface="メイリオ" panose="020B0604030504040204" pitchFamily="50" charset="-128"/>
                <a:ea typeface="メイリオ" panose="020B0604030504040204" pitchFamily="50" charset="-128"/>
              </a:rPr>
              <a:t>を使用した機能です。</a:t>
            </a:r>
          </a:p>
        </p:txBody>
      </p:sp>
      <p:sp>
        <p:nvSpPr>
          <p:cNvPr id="6" name="テキスト ボックス 5">
            <a:extLst>
              <a:ext uri="{FF2B5EF4-FFF2-40B4-BE49-F238E27FC236}">
                <a16:creationId xmlns:a16="http://schemas.microsoft.com/office/drawing/2014/main" id="{52DBA794-F4DB-834A-6EBA-1F38E3EB8D25}"/>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FF0000"/>
                </a:solidFill>
                <a:latin typeface="メイリオ" panose="020B0604030504040204" pitchFamily="50" charset="-128"/>
                <a:ea typeface="メイリオ" panose="020B0604030504040204" pitchFamily="50" charset="-128"/>
              </a:rPr>
              <a:t>料金プランにより通数単価、利用可能機能が異なります。</a:t>
            </a:r>
          </a:p>
        </p:txBody>
      </p:sp>
      <p:pic>
        <p:nvPicPr>
          <p:cNvPr id="8" name="図 7">
            <a:extLst>
              <a:ext uri="{FF2B5EF4-FFF2-40B4-BE49-F238E27FC236}">
                <a16:creationId xmlns:a16="http://schemas.microsoft.com/office/drawing/2014/main" id="{6FEAB905-6FFF-5D16-B66E-DAD05A44B7D7}"/>
              </a:ext>
            </a:extLst>
          </p:cNvPr>
          <p:cNvPicPr>
            <a:picLocks noChangeAspect="1"/>
          </p:cNvPicPr>
          <p:nvPr/>
        </p:nvPicPr>
        <p:blipFill>
          <a:blip r:embed="rId2"/>
          <a:stretch>
            <a:fillRect/>
          </a:stretch>
        </p:blipFill>
        <p:spPr>
          <a:xfrm>
            <a:off x="543398" y="1953516"/>
            <a:ext cx="8918385" cy="4389153"/>
          </a:xfrm>
          <a:prstGeom prst="rect">
            <a:avLst/>
          </a:prstGeom>
        </p:spPr>
      </p:pic>
      <p:sp>
        <p:nvSpPr>
          <p:cNvPr id="11" name="Google Shape;51;p19">
            <a:extLst>
              <a:ext uri="{FF2B5EF4-FFF2-40B4-BE49-F238E27FC236}">
                <a16:creationId xmlns:a16="http://schemas.microsoft.com/office/drawing/2014/main" id="{3A8AD54E-DAE5-1F54-4C9C-6EA993DDD1A7}"/>
              </a:ext>
            </a:extLst>
          </p:cNvPr>
          <p:cNvSpPr/>
          <p:nvPr/>
        </p:nvSpPr>
        <p:spPr>
          <a:xfrm>
            <a:off x="6635873" y="5673123"/>
            <a:ext cx="2647463" cy="331332"/>
          </a:xfrm>
          <a:prstGeom prst="roundRect">
            <a:avLst>
              <a:gd name="adj" fmla="val 16667"/>
            </a:avLst>
          </a:prstGeom>
          <a:solidFill>
            <a:schemeClr val="tx1">
              <a:lumMod val="50000"/>
              <a:lumOff val="50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100" i="0" u="none" strike="noStrike" cap="none" dirty="0">
                <a:solidFill>
                  <a:schemeClr val="lt1"/>
                </a:solidFill>
                <a:latin typeface="Meiryo"/>
                <a:ea typeface="Meiryo"/>
                <a:cs typeface="Meiryo"/>
                <a:sym typeface="Meiryo"/>
              </a:rPr>
              <a:t>利用可能なシーン一例</a:t>
            </a:r>
            <a:endParaRPr sz="900" i="0" u="none" strike="noStrike" cap="none" dirty="0">
              <a:solidFill>
                <a:srgbClr val="FFFF00"/>
              </a:solidFill>
              <a:latin typeface="Meiryo"/>
              <a:ea typeface="Meiryo"/>
              <a:cs typeface="Meiryo"/>
              <a:sym typeface="Meiryo"/>
            </a:endParaRPr>
          </a:p>
        </p:txBody>
      </p:sp>
    </p:spTree>
    <p:extLst>
      <p:ext uri="{BB962C8B-B14F-4D97-AF65-F5344CB8AC3E}">
        <p14:creationId xmlns:p14="http://schemas.microsoft.com/office/powerpoint/2010/main" val="1795848844"/>
      </p:ext>
    </p:extLst>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2" name="Google Shape;752;p28">
            <a:extLst>
              <a:ext uri="{FF2B5EF4-FFF2-40B4-BE49-F238E27FC236}">
                <a16:creationId xmlns:a16="http://schemas.microsoft.com/office/drawing/2014/main" id="{AA80CD04-9456-70DB-2E44-D3EDB1461933}"/>
              </a:ext>
            </a:extLst>
          </p:cNvPr>
          <p:cNvSpPr txBox="1"/>
          <p:nvPr/>
        </p:nvSpPr>
        <p:spPr>
          <a:xfrm>
            <a:off x="547200" y="136800"/>
            <a:ext cx="6516000" cy="338400"/>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新規友だちの追加（サンクスLINE誘導）</a:t>
            </a:r>
            <a:endParaRPr lang="en-US" altLang="ja-JP" sz="1600" b="1" dirty="0">
              <a:solidFill>
                <a:srgbClr val="002060"/>
              </a:solidFill>
              <a:latin typeface="メイリオ"/>
              <a:ea typeface="メイリオ"/>
              <a:cs typeface="メイリオ"/>
              <a:sym typeface="Meiryo"/>
            </a:endParaRPr>
          </a:p>
        </p:txBody>
      </p:sp>
      <p:sp>
        <p:nvSpPr>
          <p:cNvPr id="16" name="正方形/長方形 15">
            <a:extLst>
              <a:ext uri="{FF2B5EF4-FFF2-40B4-BE49-F238E27FC236}">
                <a16:creationId xmlns:a16="http://schemas.microsoft.com/office/drawing/2014/main" id="{32BBF438-B1EF-A61A-EE3D-69CD39766C7E}"/>
              </a:ext>
            </a:extLst>
          </p:cNvPr>
          <p:cNvSpPr/>
          <p:nvPr/>
        </p:nvSpPr>
        <p:spPr>
          <a:xfrm>
            <a:off x="6123840" y="2144236"/>
            <a:ext cx="2487570"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7" name="正方形/長方形 16">
            <a:extLst>
              <a:ext uri="{FF2B5EF4-FFF2-40B4-BE49-F238E27FC236}">
                <a16:creationId xmlns:a16="http://schemas.microsoft.com/office/drawing/2014/main" id="{1A1E4128-77DC-C871-EE20-5BD43326E078}"/>
              </a:ext>
            </a:extLst>
          </p:cNvPr>
          <p:cNvSpPr/>
          <p:nvPr/>
        </p:nvSpPr>
        <p:spPr>
          <a:xfrm>
            <a:off x="6123841" y="4317370"/>
            <a:ext cx="2487569"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20" name="正方形/長方形 19">
            <a:extLst>
              <a:ext uri="{FF2B5EF4-FFF2-40B4-BE49-F238E27FC236}">
                <a16:creationId xmlns:a16="http://schemas.microsoft.com/office/drawing/2014/main" id="{F37BB268-660A-FEE4-BB39-0E338F1DDC23}"/>
              </a:ext>
            </a:extLst>
          </p:cNvPr>
          <p:cNvSpPr/>
          <p:nvPr/>
        </p:nvSpPr>
        <p:spPr>
          <a:xfrm>
            <a:off x="6161261" y="1989652"/>
            <a:ext cx="1315634"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85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850" b="1" dirty="0">
                <a:solidFill>
                  <a:schemeClr val="tx1"/>
                </a:solidFill>
                <a:latin typeface="メイリオ" panose="020B0604030504040204" pitchFamily="50" charset="-128"/>
                <a:ea typeface="メイリオ" panose="020B0604030504040204" pitchFamily="50" charset="-128"/>
                <a:cs typeface="メイリオ"/>
              </a:rPr>
              <a:t>未追加の場合</a:t>
            </a:r>
          </a:p>
        </p:txBody>
      </p:sp>
      <p:sp>
        <p:nvSpPr>
          <p:cNvPr id="21" name="正方形/長方形 20">
            <a:extLst>
              <a:ext uri="{FF2B5EF4-FFF2-40B4-BE49-F238E27FC236}">
                <a16:creationId xmlns:a16="http://schemas.microsoft.com/office/drawing/2014/main" id="{C9FF4626-FD17-CA1C-8064-F46606D0BCCE}"/>
              </a:ext>
            </a:extLst>
          </p:cNvPr>
          <p:cNvSpPr/>
          <p:nvPr/>
        </p:nvSpPr>
        <p:spPr>
          <a:xfrm>
            <a:off x="6161261" y="4195296"/>
            <a:ext cx="1315634"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85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850" b="1" dirty="0">
                <a:solidFill>
                  <a:schemeClr val="tx1"/>
                </a:solidFill>
                <a:latin typeface="メイリオ" panose="020B0604030504040204" pitchFamily="50" charset="-128"/>
                <a:ea typeface="メイリオ" panose="020B0604030504040204" pitchFamily="50" charset="-128"/>
                <a:cs typeface="メイリオ"/>
              </a:rPr>
              <a:t>追加済みの場合</a:t>
            </a:r>
          </a:p>
        </p:txBody>
      </p:sp>
      <p:cxnSp>
        <p:nvCxnSpPr>
          <p:cNvPr id="23" name="直線矢印コネクタ 22">
            <a:extLst>
              <a:ext uri="{FF2B5EF4-FFF2-40B4-BE49-F238E27FC236}">
                <a16:creationId xmlns:a16="http://schemas.microsoft.com/office/drawing/2014/main" id="{8F202453-7FF9-8AE7-D10D-66F74A74A2F4}"/>
              </a:ext>
            </a:extLst>
          </p:cNvPr>
          <p:cNvCxnSpPr>
            <a:cxnSpLocks/>
          </p:cNvCxnSpPr>
          <p:nvPr/>
        </p:nvCxnSpPr>
        <p:spPr>
          <a:xfrm flipV="1">
            <a:off x="5819550" y="2932418"/>
            <a:ext cx="318138" cy="421706"/>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C92F6E28-BBFF-1A56-AC22-CA16D2F1B1EA}"/>
              </a:ext>
            </a:extLst>
          </p:cNvPr>
          <p:cNvCxnSpPr>
            <a:cxnSpLocks/>
          </p:cNvCxnSpPr>
          <p:nvPr/>
        </p:nvCxnSpPr>
        <p:spPr>
          <a:xfrm>
            <a:off x="5819550" y="3354124"/>
            <a:ext cx="280718" cy="1392760"/>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45" name="図 44" descr="グラフィカル ユーザー インターフェイス, アプリケーション, Teams&#10;&#10;AI 生成コンテンツは誤りを含む可能性があります。">
            <a:extLst>
              <a:ext uri="{FF2B5EF4-FFF2-40B4-BE49-F238E27FC236}">
                <a16:creationId xmlns:a16="http://schemas.microsoft.com/office/drawing/2014/main" id="{E91CA7A5-62B3-F1F8-38C3-DDCE33E1CC3D}"/>
              </a:ext>
            </a:extLst>
          </p:cNvPr>
          <p:cNvPicPr>
            <a:picLocks noChangeAspect="1"/>
          </p:cNvPicPr>
          <p:nvPr/>
        </p:nvPicPr>
        <p:blipFill>
          <a:blip r:embed="rId5" cstate="print">
            <a:extLst>
              <a:ext uri="{28A0092B-C50C-407E-A947-70E740481C1C}">
                <a14:useLocalDpi xmlns:a14="http://schemas.microsoft.com/office/drawing/2010/main" val="0"/>
              </a:ext>
            </a:extLst>
          </a:blip>
          <a:srcRect t="4580"/>
          <a:stretch>
            <a:fillRect/>
          </a:stretch>
        </p:blipFill>
        <p:spPr>
          <a:xfrm>
            <a:off x="7518319" y="2173082"/>
            <a:ext cx="1000253" cy="1694141"/>
          </a:xfrm>
          <a:prstGeom prst="rect">
            <a:avLst/>
          </a:prstGeom>
        </p:spPr>
      </p:pic>
      <p:pic>
        <p:nvPicPr>
          <p:cNvPr id="46" name="図 45" descr="電卓の写真のスマートフォンのスクリーンショット&#10;&#10;AI 生成コンテンツは誤りを含む可能性があります。">
            <a:extLst>
              <a:ext uri="{FF2B5EF4-FFF2-40B4-BE49-F238E27FC236}">
                <a16:creationId xmlns:a16="http://schemas.microsoft.com/office/drawing/2014/main" id="{31EEAD2C-3BE8-0210-FD8E-46D52B30A0AE}"/>
              </a:ext>
            </a:extLst>
          </p:cNvPr>
          <p:cNvPicPr>
            <a:picLocks noChangeAspect="1"/>
          </p:cNvPicPr>
          <p:nvPr/>
        </p:nvPicPr>
        <p:blipFill>
          <a:blip r:embed="rId3" cstate="print">
            <a:extLst>
              <a:ext uri="{28A0092B-C50C-407E-A947-70E740481C1C}">
                <a14:useLocalDpi xmlns:a14="http://schemas.microsoft.com/office/drawing/2010/main" val="0"/>
              </a:ext>
            </a:extLst>
          </a:blip>
          <a:srcRect t="4580"/>
          <a:stretch>
            <a:fillRect/>
          </a:stretch>
        </p:blipFill>
        <p:spPr>
          <a:xfrm>
            <a:off x="7527889" y="4316771"/>
            <a:ext cx="1000253" cy="1694142"/>
          </a:xfrm>
          <a:prstGeom prst="rect">
            <a:avLst/>
          </a:prstGeom>
        </p:spPr>
      </p:pic>
      <p:sp>
        <p:nvSpPr>
          <p:cNvPr id="48" name="テキスト ボックス 47">
            <a:extLst>
              <a:ext uri="{FF2B5EF4-FFF2-40B4-BE49-F238E27FC236}">
                <a16:creationId xmlns:a16="http://schemas.microsoft.com/office/drawing/2014/main" id="{E989AEB3-EF0E-8885-B426-8B6A5E01F40A}"/>
              </a:ext>
            </a:extLst>
          </p:cNvPr>
          <p:cNvSpPr txBox="1"/>
          <p:nvPr/>
        </p:nvSpPr>
        <p:spPr>
          <a:xfrm>
            <a:off x="6161261" y="2335961"/>
            <a:ext cx="1227667" cy="400110"/>
          </a:xfrm>
          <a:prstGeom prst="rect">
            <a:avLst/>
          </a:prstGeom>
          <a:noFill/>
        </p:spPr>
        <p:txBody>
          <a:bodyPr wrap="square" lIns="74295" rIns="74295">
            <a:spAutoFit/>
          </a:bodyPr>
          <a:lstStyle/>
          <a:p>
            <a:r>
              <a:rPr lang="ja-JP" altLang="en-US" sz="1000" b="1" dirty="0">
                <a:latin typeface="メイリオ" panose="020B0604030504040204" pitchFamily="50" charset="-128"/>
                <a:ea typeface="メイリオ" panose="020B0604030504040204" pitchFamily="50" charset="-128"/>
                <a:cs typeface="メイリオ"/>
              </a:rPr>
              <a:t>友だち登録ページ</a:t>
            </a:r>
            <a:r>
              <a:rPr lang="ja-JP" altLang="en-US" sz="1000" dirty="0">
                <a:latin typeface="メイリオ" panose="020B0604030504040204" pitchFamily="50" charset="-128"/>
                <a:ea typeface="メイリオ" panose="020B0604030504040204" pitchFamily="50" charset="-128"/>
                <a:cs typeface="メイリオ"/>
              </a:rPr>
              <a:t>へ遷移する。</a:t>
            </a:r>
          </a:p>
        </p:txBody>
      </p:sp>
      <p:sp>
        <p:nvSpPr>
          <p:cNvPr id="49" name="テキスト ボックス 48">
            <a:extLst>
              <a:ext uri="{FF2B5EF4-FFF2-40B4-BE49-F238E27FC236}">
                <a16:creationId xmlns:a16="http://schemas.microsoft.com/office/drawing/2014/main" id="{4E6D08E3-E0B3-1DF4-0533-E4EE67240415}"/>
              </a:ext>
            </a:extLst>
          </p:cNvPr>
          <p:cNvSpPr txBox="1"/>
          <p:nvPr/>
        </p:nvSpPr>
        <p:spPr>
          <a:xfrm>
            <a:off x="6157879" y="4570201"/>
            <a:ext cx="1338278" cy="400110"/>
          </a:xfrm>
          <a:prstGeom prst="rect">
            <a:avLst/>
          </a:prstGeom>
          <a:noFill/>
        </p:spPr>
        <p:txBody>
          <a:bodyPr wrap="square" lIns="74295" rIns="74295">
            <a:spAutoFit/>
          </a:bodyPr>
          <a:lstStyle/>
          <a:p>
            <a:r>
              <a:rPr lang="ja-JP" altLang="en-US" sz="1000" b="1" dirty="0">
                <a:latin typeface="メイリオ" panose="020B0604030504040204" pitchFamily="50" charset="-128"/>
                <a:ea typeface="メイリオ" panose="020B0604030504040204" pitchFamily="50" charset="-128"/>
                <a:cs typeface="メイリオ"/>
              </a:rPr>
              <a:t>トーク画面</a:t>
            </a:r>
            <a:r>
              <a:rPr lang="ja-JP" altLang="en-US" sz="1000" dirty="0">
                <a:latin typeface="メイリオ" panose="020B0604030504040204" pitchFamily="50" charset="-128"/>
                <a:ea typeface="メイリオ" panose="020B0604030504040204" pitchFamily="50" charset="-128"/>
                <a:cs typeface="メイリオ"/>
              </a:rPr>
              <a:t>へ</a:t>
            </a:r>
            <a:endParaRPr lang="en-US" altLang="ja-JP" sz="1000" dirty="0">
              <a:latin typeface="メイリオ" panose="020B0604030504040204" pitchFamily="50" charset="-128"/>
              <a:ea typeface="メイリオ" panose="020B0604030504040204" pitchFamily="50" charset="-128"/>
              <a:cs typeface="メイリオ"/>
            </a:endParaRPr>
          </a:p>
          <a:p>
            <a:r>
              <a:rPr lang="ja-JP" altLang="en-US" sz="1000" dirty="0">
                <a:latin typeface="メイリオ" panose="020B0604030504040204" pitchFamily="50" charset="-128"/>
                <a:ea typeface="メイリオ" panose="020B0604030504040204" pitchFamily="50" charset="-128"/>
                <a:cs typeface="メイリオ"/>
              </a:rPr>
              <a:t>遷移する。</a:t>
            </a:r>
            <a:endParaRPr lang="en-US" altLang="ja-JP" sz="1000" dirty="0">
              <a:latin typeface="メイリオ" panose="020B0604030504040204" pitchFamily="50" charset="-128"/>
              <a:ea typeface="メイリオ" panose="020B0604030504040204" pitchFamily="50" charset="-128"/>
              <a:cs typeface="メイリオ"/>
            </a:endParaRPr>
          </a:p>
        </p:txBody>
      </p:sp>
      <p:pic>
        <p:nvPicPr>
          <p:cNvPr id="56" name="図 55">
            <a:extLst>
              <a:ext uri="{FF2B5EF4-FFF2-40B4-BE49-F238E27FC236}">
                <a16:creationId xmlns:a16="http://schemas.microsoft.com/office/drawing/2014/main" id="{0B7B313D-7D5F-4357-9B38-DFC3DBC5FCF6}"/>
              </a:ext>
            </a:extLst>
          </p:cNvPr>
          <p:cNvPicPr>
            <a:picLocks noChangeAspect="1"/>
          </p:cNvPicPr>
          <p:nvPr/>
        </p:nvPicPr>
        <p:blipFill>
          <a:blip r:embed="rId10"/>
          <a:stretch>
            <a:fillRect/>
          </a:stretch>
        </p:blipFill>
        <p:spPr>
          <a:xfrm>
            <a:off x="7557873" y="2950101"/>
            <a:ext cx="921141" cy="89556"/>
          </a:xfrm>
          <a:prstGeom prst="rect">
            <a:avLst/>
          </a:prstGeom>
        </p:spPr>
      </p:pic>
      <p:pic>
        <p:nvPicPr>
          <p:cNvPr id="57" name="図 56">
            <a:extLst>
              <a:ext uri="{FF2B5EF4-FFF2-40B4-BE49-F238E27FC236}">
                <a16:creationId xmlns:a16="http://schemas.microsoft.com/office/drawing/2014/main" id="{A8EA42C4-338F-850B-B276-B83DC2A73148}"/>
              </a:ext>
            </a:extLst>
          </p:cNvPr>
          <p:cNvPicPr>
            <a:picLocks noChangeAspect="1"/>
          </p:cNvPicPr>
          <p:nvPr/>
        </p:nvPicPr>
        <p:blipFill>
          <a:blip r:embed="rId8"/>
          <a:stretch>
            <a:fillRect/>
          </a:stretch>
        </p:blipFill>
        <p:spPr>
          <a:xfrm>
            <a:off x="7825776" y="2949394"/>
            <a:ext cx="389971" cy="86660"/>
          </a:xfrm>
          <a:prstGeom prst="rect">
            <a:avLst/>
          </a:prstGeom>
        </p:spPr>
      </p:pic>
      <p:pic>
        <p:nvPicPr>
          <p:cNvPr id="58" name="図 57">
            <a:extLst>
              <a:ext uri="{FF2B5EF4-FFF2-40B4-BE49-F238E27FC236}">
                <a16:creationId xmlns:a16="http://schemas.microsoft.com/office/drawing/2014/main" id="{CCB04072-A708-EEE7-1345-D4C9E9FA9C1D}"/>
              </a:ext>
            </a:extLst>
          </p:cNvPr>
          <p:cNvPicPr>
            <a:picLocks noChangeAspect="1"/>
          </p:cNvPicPr>
          <p:nvPr/>
        </p:nvPicPr>
        <p:blipFill>
          <a:blip r:embed="rId8"/>
          <a:stretch>
            <a:fillRect/>
          </a:stretch>
        </p:blipFill>
        <p:spPr>
          <a:xfrm>
            <a:off x="7849883" y="4314411"/>
            <a:ext cx="271710" cy="60381"/>
          </a:xfrm>
          <a:prstGeom prst="rect">
            <a:avLst/>
          </a:prstGeom>
        </p:spPr>
      </p:pic>
      <p:pic>
        <p:nvPicPr>
          <p:cNvPr id="59" name="図 58">
            <a:extLst>
              <a:ext uri="{FF2B5EF4-FFF2-40B4-BE49-F238E27FC236}">
                <a16:creationId xmlns:a16="http://schemas.microsoft.com/office/drawing/2014/main" id="{EDED354B-362F-AAF7-76A6-52D8547EDC91}"/>
              </a:ext>
            </a:extLst>
          </p:cNvPr>
          <p:cNvPicPr>
            <a:picLocks noChangeAspect="1"/>
          </p:cNvPicPr>
          <p:nvPr/>
        </p:nvPicPr>
        <p:blipFill>
          <a:blip r:embed="rId8"/>
          <a:stretch>
            <a:fillRect/>
          </a:stretch>
        </p:blipFill>
        <p:spPr>
          <a:xfrm>
            <a:off x="7973708" y="4438236"/>
            <a:ext cx="271710" cy="60381"/>
          </a:xfrm>
          <a:prstGeom prst="rect">
            <a:avLst/>
          </a:prstGeom>
        </p:spPr>
      </p:pic>
      <p:sp>
        <p:nvSpPr>
          <p:cNvPr id="1030" name="楕円 1029">
            <a:extLst>
              <a:ext uri="{FF2B5EF4-FFF2-40B4-BE49-F238E27FC236}">
                <a16:creationId xmlns:a16="http://schemas.microsoft.com/office/drawing/2014/main" id="{A0934BB8-8F8D-D4F0-8D59-8F32A6A6E03A}"/>
              </a:ext>
            </a:extLst>
          </p:cNvPr>
          <p:cNvSpPr/>
          <p:nvPr/>
        </p:nvSpPr>
        <p:spPr>
          <a:xfrm>
            <a:off x="7855110" y="2591706"/>
            <a:ext cx="321750" cy="321750"/>
          </a:xfrm>
          <a:prstGeom prst="ellipse">
            <a:avLst/>
          </a:prstGeom>
          <a:solidFill>
            <a:schemeClr val="bg1">
              <a:lumMod val="95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700" dirty="0">
                <a:solidFill>
                  <a:schemeClr val="tx1"/>
                </a:solidFill>
                <a:latin typeface="メイリオ" panose="020B0604030504040204" pitchFamily="50" charset="-128"/>
                <a:ea typeface="メイリオ" panose="020B0604030504040204" pitchFamily="50" charset="-128"/>
                <a:cs typeface="メイリオ"/>
              </a:rPr>
              <a:t>ロゴ</a:t>
            </a:r>
          </a:p>
        </p:txBody>
      </p:sp>
      <p:sp>
        <p:nvSpPr>
          <p:cNvPr id="34" name="正方形/長方形 33">
            <a:extLst>
              <a:ext uri="{FF2B5EF4-FFF2-40B4-BE49-F238E27FC236}">
                <a16:creationId xmlns:a16="http://schemas.microsoft.com/office/drawing/2014/main" id="{A593FC72-954C-48DC-E845-1A5FCE4C9E00}"/>
              </a:ext>
            </a:extLst>
          </p:cNvPr>
          <p:cNvSpPr/>
          <p:nvPr/>
        </p:nvSpPr>
        <p:spPr>
          <a:xfrm>
            <a:off x="693249" y="1644209"/>
            <a:ext cx="1142154" cy="2841034"/>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36" name="二等辺三角形 35">
            <a:extLst>
              <a:ext uri="{FF2B5EF4-FFF2-40B4-BE49-F238E27FC236}">
                <a16:creationId xmlns:a16="http://schemas.microsoft.com/office/drawing/2014/main" id="{626832A8-575E-5E2B-73F4-BE5567514E57}"/>
              </a:ext>
            </a:extLst>
          </p:cNvPr>
          <p:cNvSpPr/>
          <p:nvPr/>
        </p:nvSpPr>
        <p:spPr>
          <a:xfrm rot="5400000">
            <a:off x="1869100" y="2879016"/>
            <a:ext cx="205320" cy="182781"/>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38" name="正方形/長方形 37">
            <a:extLst>
              <a:ext uri="{FF2B5EF4-FFF2-40B4-BE49-F238E27FC236}">
                <a16:creationId xmlns:a16="http://schemas.microsoft.com/office/drawing/2014/main" id="{28671F13-F479-AFF6-9832-C7C00D2D05EE}"/>
              </a:ext>
            </a:extLst>
          </p:cNvPr>
          <p:cNvSpPr/>
          <p:nvPr/>
        </p:nvSpPr>
        <p:spPr>
          <a:xfrm>
            <a:off x="693249" y="4241092"/>
            <a:ext cx="1142154" cy="24415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850" b="1" dirty="0">
                <a:solidFill>
                  <a:schemeClr val="tx1"/>
                </a:solidFill>
                <a:latin typeface="メイリオ" panose="020B0604030504040204" pitchFamily="50" charset="-128"/>
                <a:ea typeface="メイリオ" panose="020B0604030504040204" pitchFamily="50" charset="-128"/>
                <a:cs typeface="メイリオ"/>
              </a:rPr>
              <a:t>フォーム入力</a:t>
            </a:r>
          </a:p>
        </p:txBody>
      </p:sp>
      <p:pic>
        <p:nvPicPr>
          <p:cNvPr id="55" name="図 54">
            <a:extLst>
              <a:ext uri="{FF2B5EF4-FFF2-40B4-BE49-F238E27FC236}">
                <a16:creationId xmlns:a16="http://schemas.microsoft.com/office/drawing/2014/main" id="{8AF12F67-4C9A-867F-4608-8FE9DA811630}"/>
              </a:ext>
            </a:extLst>
          </p:cNvPr>
          <p:cNvPicPr>
            <a:picLocks noChangeAspect="1"/>
          </p:cNvPicPr>
          <p:nvPr/>
        </p:nvPicPr>
        <p:blipFill>
          <a:blip r:embed="rId6"/>
          <a:stretch>
            <a:fillRect/>
          </a:stretch>
        </p:blipFill>
        <p:spPr>
          <a:xfrm>
            <a:off x="760471" y="2042343"/>
            <a:ext cx="1015294" cy="1834505"/>
          </a:xfrm>
          <a:prstGeom prst="rect">
            <a:avLst/>
          </a:prstGeom>
        </p:spPr>
      </p:pic>
      <p:sp>
        <p:nvSpPr>
          <p:cNvPr id="1032" name="正方形/長方形 1031">
            <a:extLst>
              <a:ext uri="{FF2B5EF4-FFF2-40B4-BE49-F238E27FC236}">
                <a16:creationId xmlns:a16="http://schemas.microsoft.com/office/drawing/2014/main" id="{D1D96D42-255C-636E-49E5-2CDA95DD6764}"/>
              </a:ext>
            </a:extLst>
          </p:cNvPr>
          <p:cNvSpPr/>
          <p:nvPr/>
        </p:nvSpPr>
        <p:spPr>
          <a:xfrm>
            <a:off x="2102458" y="1617265"/>
            <a:ext cx="1225682" cy="2841034"/>
          </a:xfrm>
          <a:prstGeom prst="rect">
            <a:avLst/>
          </a:prstGeom>
          <a:solidFill>
            <a:schemeClr val="bg1"/>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034" name="正方形/長方形 1033">
            <a:extLst>
              <a:ext uri="{FF2B5EF4-FFF2-40B4-BE49-F238E27FC236}">
                <a16:creationId xmlns:a16="http://schemas.microsoft.com/office/drawing/2014/main" id="{8693E451-BCB1-207B-6B73-131F2A8588BF}"/>
              </a:ext>
            </a:extLst>
          </p:cNvPr>
          <p:cNvSpPr/>
          <p:nvPr/>
        </p:nvSpPr>
        <p:spPr>
          <a:xfrm>
            <a:off x="2100228" y="4219785"/>
            <a:ext cx="1225683" cy="244151"/>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850" b="1" dirty="0">
                <a:latin typeface="メイリオ" panose="020B0604030504040204" pitchFamily="50" charset="-128"/>
                <a:ea typeface="メイリオ" panose="020B0604030504040204" pitchFamily="50" charset="-128"/>
                <a:cs typeface="メイリオ"/>
              </a:rPr>
              <a:t>サンクス画面へ</a:t>
            </a:r>
            <a:endParaRPr lang="en-US" altLang="ja-JP" sz="850" b="1" dirty="0">
              <a:latin typeface="メイリオ" panose="020B0604030504040204" pitchFamily="50" charset="-128"/>
              <a:ea typeface="メイリオ" panose="020B0604030504040204" pitchFamily="50" charset="-128"/>
              <a:cs typeface="メイリオ"/>
            </a:endParaRPr>
          </a:p>
        </p:txBody>
      </p:sp>
      <p:pic>
        <p:nvPicPr>
          <p:cNvPr id="1038" name="図 1037" descr="テキスト, 手紙&#10;&#10;AI 生成コンテンツは誤りを含む可能性があります。">
            <a:extLst>
              <a:ext uri="{FF2B5EF4-FFF2-40B4-BE49-F238E27FC236}">
                <a16:creationId xmlns:a16="http://schemas.microsoft.com/office/drawing/2014/main" id="{85260668-6C66-A032-FFE0-0276021F9433}"/>
              </a:ext>
            </a:extLst>
          </p:cNvPr>
          <p:cNvPicPr>
            <a:picLocks noChangeAspect="1"/>
          </p:cNvPicPr>
          <p:nvPr/>
        </p:nvPicPr>
        <p:blipFill>
          <a:blip r:embed="rId4" cstate="print">
            <a:extLst>
              <a:ext uri="{28A0092B-C50C-407E-A947-70E740481C1C}">
                <a14:useLocalDpi xmlns:a14="http://schemas.microsoft.com/office/drawing/2010/main" val="0"/>
              </a:ext>
            </a:extLst>
          </a:blip>
          <a:srcRect t="4580"/>
          <a:stretch>
            <a:fillRect/>
          </a:stretch>
        </p:blipFill>
        <p:spPr>
          <a:xfrm>
            <a:off x="2195552" y="2083381"/>
            <a:ext cx="1066362" cy="1789421"/>
          </a:xfrm>
          <a:prstGeom prst="rect">
            <a:avLst/>
          </a:prstGeom>
        </p:spPr>
      </p:pic>
      <p:pic>
        <p:nvPicPr>
          <p:cNvPr id="1039" name="Picture 2" descr="買い物完了！イラスト｜無料イラスト・フリー素材なら「イラストAC」">
            <a:extLst>
              <a:ext uri="{FF2B5EF4-FFF2-40B4-BE49-F238E27FC236}">
                <a16:creationId xmlns:a16="http://schemas.microsoft.com/office/drawing/2014/main" id="{23D05307-D6FE-6284-27D3-3433EE0122E2}"/>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20270" r="23682"/>
          <a:stretch>
            <a:fillRect/>
          </a:stretch>
        </p:blipFill>
        <p:spPr bwMode="auto">
          <a:xfrm>
            <a:off x="3292898" y="1459246"/>
            <a:ext cx="250223" cy="335086"/>
          </a:xfrm>
          <a:prstGeom prst="rect">
            <a:avLst/>
          </a:prstGeom>
          <a:noFill/>
          <a:extLst>
            <a:ext uri="{909E8E84-426E-40DD-AFC4-6F175D3DCCD1}">
              <a14:hiddenFill xmlns:a14="http://schemas.microsoft.com/office/drawing/2010/main">
                <a:solidFill>
                  <a:srgbClr val="FFFFFF"/>
                </a:solidFill>
              </a14:hiddenFill>
            </a:ext>
          </a:extLst>
        </p:spPr>
      </p:pic>
      <p:grpSp>
        <p:nvGrpSpPr>
          <p:cNvPr id="3" name="グループ化 2">
            <a:extLst>
              <a:ext uri="{FF2B5EF4-FFF2-40B4-BE49-F238E27FC236}">
                <a16:creationId xmlns:a16="http://schemas.microsoft.com/office/drawing/2014/main" id="{E76D8F54-2926-2D56-7238-F66ACCBC4F20}"/>
              </a:ext>
            </a:extLst>
          </p:cNvPr>
          <p:cNvGrpSpPr/>
          <p:nvPr/>
        </p:nvGrpSpPr>
        <p:grpSpPr>
          <a:xfrm>
            <a:off x="1261302" y="837894"/>
            <a:ext cx="2523077" cy="485102"/>
            <a:chOff x="507969" y="928495"/>
            <a:chExt cx="3105325" cy="485102"/>
          </a:xfrm>
        </p:grpSpPr>
        <p:sp>
          <p:nvSpPr>
            <p:cNvPr id="4" name="Google Shape;51;p19">
              <a:extLst>
                <a:ext uri="{FF2B5EF4-FFF2-40B4-BE49-F238E27FC236}">
                  <a16:creationId xmlns:a16="http://schemas.microsoft.com/office/drawing/2014/main" id="{98F6BB16-EFC6-9846-2A11-E624E876E64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74282" tIns="45700" rIns="74282"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gn="ctr">
                <a:buSzPts val="1400"/>
              </a:pPr>
              <a:endParaRPr b="1" dirty="0">
                <a:solidFill>
                  <a:schemeClr val="lt1"/>
                </a:solidFill>
                <a:sym typeface="Meiryo"/>
              </a:endParaRPr>
            </a:p>
          </p:txBody>
        </p:sp>
        <p:sp>
          <p:nvSpPr>
            <p:cNvPr id="5" name="テキスト ボックス 4">
              <a:extLst>
                <a:ext uri="{FF2B5EF4-FFF2-40B4-BE49-F238E27FC236}">
                  <a16:creationId xmlns:a16="http://schemas.microsoft.com/office/drawing/2014/main" id="{560EDF30-5F09-B70A-2993-8CD4F9E40EFA}"/>
                </a:ext>
              </a:extLst>
            </p:cNvPr>
            <p:cNvSpPr txBox="1"/>
            <p:nvPr/>
          </p:nvSpPr>
          <p:spPr>
            <a:xfrm>
              <a:off x="1140096" y="988192"/>
              <a:ext cx="1832553" cy="357790"/>
            </a:xfrm>
            <a:prstGeom prst="rect">
              <a:avLst/>
            </a:prstGeom>
            <a:noFill/>
          </p:spPr>
          <p:txBody>
            <a:bodyPr wrap="none" lIns="74295" rIns="74295"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nSpc>
                  <a:spcPct val="120000"/>
                </a:lnSpc>
              </a:pPr>
              <a:r>
                <a:rPr lang="ja-JP" altLang="en-US" sz="1200" b="1" dirty="0">
                  <a:solidFill>
                    <a:schemeClr val="bg1"/>
                  </a:solidFill>
                  <a:latin typeface="メイリオ" panose="020B0604030504040204" pitchFamily="34" charset="-128"/>
                  <a:ea typeface="メイリオ" panose="020B0604030504040204" pitchFamily="34" charset="-128"/>
                </a:rPr>
                <a:t>サンクス</a:t>
              </a:r>
              <a:r>
                <a:rPr lang="en-US" altLang="ja-JP" sz="1200" b="1" dirty="0">
                  <a:solidFill>
                    <a:schemeClr val="bg1"/>
                  </a:solidFill>
                  <a:latin typeface="メイリオ" panose="020B0604030504040204" pitchFamily="34" charset="-128"/>
                  <a:ea typeface="メイリオ" panose="020B0604030504040204" pitchFamily="34" charset="-128"/>
                </a:rPr>
                <a:t>LINE</a:t>
              </a:r>
              <a:r>
                <a:rPr lang="ja-JP" altLang="en-US" sz="1200" b="1" dirty="0">
                  <a:solidFill>
                    <a:schemeClr val="bg1"/>
                  </a:solidFill>
                  <a:latin typeface="メイリオ" panose="020B0604030504040204" pitchFamily="34" charset="-128"/>
                  <a:ea typeface="メイリオ" panose="020B0604030504040204" pitchFamily="34" charset="-128"/>
                </a:rPr>
                <a:t>誘導</a:t>
              </a:r>
            </a:p>
          </p:txBody>
        </p:sp>
      </p:grpSp>
      <p:sp>
        <p:nvSpPr>
          <p:cNvPr id="6" name="正方形/長方形 5">
            <a:extLst>
              <a:ext uri="{FF2B5EF4-FFF2-40B4-BE49-F238E27FC236}">
                <a16:creationId xmlns:a16="http://schemas.microsoft.com/office/drawing/2014/main" id="{8B20BFF3-9D3E-A4D7-FF5A-70927F78FC9D}"/>
              </a:ext>
            </a:extLst>
          </p:cNvPr>
          <p:cNvSpPr/>
          <p:nvPr/>
        </p:nvSpPr>
        <p:spPr>
          <a:xfrm>
            <a:off x="7729169" y="4623314"/>
            <a:ext cx="730843" cy="64967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9" name="正方形/長方形 8">
            <a:extLst>
              <a:ext uri="{FF2B5EF4-FFF2-40B4-BE49-F238E27FC236}">
                <a16:creationId xmlns:a16="http://schemas.microsoft.com/office/drawing/2014/main" id="{DC4FF56C-47EE-47DB-92F1-3F0EF57613D9}"/>
              </a:ext>
            </a:extLst>
          </p:cNvPr>
          <p:cNvSpPr/>
          <p:nvPr/>
        </p:nvSpPr>
        <p:spPr>
          <a:xfrm>
            <a:off x="4180596" y="846996"/>
            <a:ext cx="4575836" cy="307777"/>
          </a:xfrm>
          <a:prstGeom prst="rect">
            <a:avLst/>
          </a:prstGeom>
        </p:spPr>
        <p:txBody>
          <a:bodyPr wrap="square" lIns="74295" rIns="74295">
            <a:spAutoFit/>
          </a:bodyPr>
          <a:lstStyle/>
          <a:p>
            <a:pPr lvl="0">
              <a:buClr>
                <a:schemeClr val="dk1"/>
              </a:buClr>
              <a:buSzPts val="1500"/>
            </a:pPr>
            <a:r>
              <a:rPr lang="ja-JP" altLang="en-US" sz="1400" dirty="0">
                <a:latin typeface="メイリオ"/>
                <a:ea typeface="メイリオ"/>
                <a:cs typeface="メイリオ"/>
                <a:sym typeface="Meiryo"/>
              </a:rPr>
              <a:t>フォーム送信後の</a:t>
            </a:r>
            <a:r>
              <a:rPr lang="en-US" altLang="ja-JP" sz="1400" dirty="0">
                <a:latin typeface="メイリオ"/>
                <a:ea typeface="メイリオ"/>
                <a:cs typeface="メイリオ"/>
                <a:sym typeface="Meiryo"/>
              </a:rPr>
              <a:t>LINE</a:t>
            </a:r>
            <a:r>
              <a:rPr lang="ja-JP" altLang="en-US" sz="1400" dirty="0">
                <a:latin typeface="メイリオ"/>
                <a:ea typeface="メイリオ"/>
                <a:cs typeface="メイリオ"/>
                <a:sym typeface="Meiryo"/>
              </a:rPr>
              <a:t>誘導を自動化するツール</a:t>
            </a:r>
            <a:endParaRPr lang="en-US" altLang="ja-JP" sz="1400" dirty="0">
              <a:latin typeface="メイリオ"/>
              <a:ea typeface="メイリオ"/>
              <a:cs typeface="メイリオ"/>
              <a:sym typeface="Meiryo"/>
            </a:endParaRPr>
          </a:p>
        </p:txBody>
      </p:sp>
      <p:sp>
        <p:nvSpPr>
          <p:cNvPr id="8" name="正方形/長方形 7">
            <a:extLst>
              <a:ext uri="{FF2B5EF4-FFF2-40B4-BE49-F238E27FC236}">
                <a16:creationId xmlns:a16="http://schemas.microsoft.com/office/drawing/2014/main" id="{F5B8C83A-7191-D772-EF88-AE268D007E63}"/>
              </a:ext>
            </a:extLst>
          </p:cNvPr>
          <p:cNvSpPr/>
          <p:nvPr/>
        </p:nvSpPr>
        <p:spPr>
          <a:xfrm>
            <a:off x="6097538" y="1666571"/>
            <a:ext cx="2513872" cy="28474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p>
        </p:txBody>
      </p:sp>
      <p:sp>
        <p:nvSpPr>
          <p:cNvPr id="11" name="正方形/長方形 10">
            <a:extLst>
              <a:ext uri="{FF2B5EF4-FFF2-40B4-BE49-F238E27FC236}">
                <a16:creationId xmlns:a16="http://schemas.microsoft.com/office/drawing/2014/main" id="{189A6A4C-E34E-E7CF-D6DD-C175E600A94D}"/>
              </a:ext>
            </a:extLst>
          </p:cNvPr>
          <p:cNvSpPr/>
          <p:nvPr/>
        </p:nvSpPr>
        <p:spPr>
          <a:xfrm>
            <a:off x="1209560" y="1525688"/>
            <a:ext cx="1510467"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95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WEB</a:t>
            </a:r>
            <a:r>
              <a:rPr lang="ja-JP" altLang="en-US" sz="95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サイト</a:t>
            </a:r>
          </a:p>
        </p:txBody>
      </p:sp>
      <p:pic>
        <p:nvPicPr>
          <p:cNvPr id="18" name="図 17">
            <a:extLst>
              <a:ext uri="{FF2B5EF4-FFF2-40B4-BE49-F238E27FC236}">
                <a16:creationId xmlns:a16="http://schemas.microsoft.com/office/drawing/2014/main" id="{122BEACA-AA0E-EFF8-CDF2-B0A5B58840D0}"/>
              </a:ext>
            </a:extLst>
          </p:cNvPr>
          <p:cNvPicPr>
            <a:picLocks noChangeAspect="1"/>
          </p:cNvPicPr>
          <p:nvPr/>
        </p:nvPicPr>
        <p:blipFill>
          <a:blip r:embed="rId11"/>
          <a:stretch>
            <a:fillRect/>
          </a:stretch>
        </p:blipFill>
        <p:spPr>
          <a:xfrm>
            <a:off x="2412518" y="3590272"/>
            <a:ext cx="379108" cy="69986"/>
          </a:xfrm>
          <a:prstGeom prst="rect">
            <a:avLst/>
          </a:prstGeom>
        </p:spPr>
      </p:pic>
      <p:pic>
        <p:nvPicPr>
          <p:cNvPr id="27" name="図 26">
            <a:extLst>
              <a:ext uri="{FF2B5EF4-FFF2-40B4-BE49-F238E27FC236}">
                <a16:creationId xmlns:a16="http://schemas.microsoft.com/office/drawing/2014/main" id="{D971BE53-7CD8-C375-2A00-B224602AC25F}"/>
              </a:ext>
            </a:extLst>
          </p:cNvPr>
          <p:cNvPicPr>
            <a:picLocks noChangeAspect="1"/>
          </p:cNvPicPr>
          <p:nvPr/>
        </p:nvPicPr>
        <p:blipFill>
          <a:blip r:embed="rId11"/>
          <a:stretch>
            <a:fillRect/>
          </a:stretch>
        </p:blipFill>
        <p:spPr>
          <a:xfrm>
            <a:off x="2234699" y="2111288"/>
            <a:ext cx="379108" cy="69986"/>
          </a:xfrm>
          <a:prstGeom prst="rect">
            <a:avLst/>
          </a:prstGeom>
        </p:spPr>
      </p:pic>
      <p:sp>
        <p:nvSpPr>
          <p:cNvPr id="33" name="四角形: 角を丸くする 32">
            <a:extLst>
              <a:ext uri="{FF2B5EF4-FFF2-40B4-BE49-F238E27FC236}">
                <a16:creationId xmlns:a16="http://schemas.microsoft.com/office/drawing/2014/main" id="{B7D71D80-6086-B1B4-3E2C-EE891B12909E}"/>
              </a:ext>
            </a:extLst>
          </p:cNvPr>
          <p:cNvSpPr/>
          <p:nvPr/>
        </p:nvSpPr>
        <p:spPr>
          <a:xfrm>
            <a:off x="1511868" y="4640731"/>
            <a:ext cx="3960179" cy="659955"/>
          </a:xfrm>
          <a:prstGeom prst="roundRect">
            <a:avLst>
              <a:gd name="adj" fmla="val 25327"/>
            </a:avLst>
          </a:prstGeom>
          <a:solidFill>
            <a:srgbClr val="04FA0A">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1300" dirty="0">
                <a:solidFill>
                  <a:schemeClr val="tx1"/>
                </a:solidFill>
                <a:latin typeface="メイリオ" panose="020B0604030504040204" pitchFamily="50" charset="-128"/>
                <a:ea typeface="メイリオ" panose="020B0604030504040204" pitchFamily="50" charset="-128"/>
              </a:rPr>
              <a:t>フォーム入力内容を</a:t>
            </a:r>
            <a:br>
              <a:rPr lang="en-US" altLang="ja-JP" sz="1300" dirty="0">
                <a:solidFill>
                  <a:schemeClr val="tx1"/>
                </a:solidFill>
                <a:latin typeface="メイリオ" panose="020B0604030504040204" pitchFamily="50" charset="-128"/>
                <a:ea typeface="メイリオ" panose="020B0604030504040204" pitchFamily="50" charset="-128"/>
              </a:rPr>
            </a:br>
            <a:r>
              <a:rPr lang="en-US" altLang="ja-JP" sz="1300" dirty="0">
                <a:solidFill>
                  <a:schemeClr val="tx1"/>
                </a:solidFill>
                <a:latin typeface="メイリオ" panose="020B0604030504040204" pitchFamily="50" charset="-128"/>
                <a:ea typeface="メイリオ" panose="020B0604030504040204" pitchFamily="50" charset="-128"/>
              </a:rPr>
              <a:t>LINE</a:t>
            </a:r>
            <a:r>
              <a:rPr lang="ja-JP" altLang="en-US" sz="1300" dirty="0">
                <a:solidFill>
                  <a:schemeClr val="tx1"/>
                </a:solidFill>
                <a:latin typeface="メイリオ" panose="020B0604030504040204" pitchFamily="50" charset="-128"/>
                <a:ea typeface="メイリオ" panose="020B0604030504040204" pitchFamily="50" charset="-128"/>
              </a:rPr>
              <a:t>トーク入力画面へ引き継ぎ可能</a:t>
            </a:r>
          </a:p>
        </p:txBody>
      </p:sp>
      <p:cxnSp>
        <p:nvCxnSpPr>
          <p:cNvPr id="44" name="直線矢印コネクタ 43">
            <a:extLst>
              <a:ext uri="{FF2B5EF4-FFF2-40B4-BE49-F238E27FC236}">
                <a16:creationId xmlns:a16="http://schemas.microsoft.com/office/drawing/2014/main" id="{666CF79B-D322-06BC-F342-DE710BE7473B}"/>
              </a:ext>
            </a:extLst>
          </p:cNvPr>
          <p:cNvCxnSpPr>
            <a:cxnSpLocks/>
          </p:cNvCxnSpPr>
          <p:nvPr/>
        </p:nvCxnSpPr>
        <p:spPr>
          <a:xfrm flipH="1" flipV="1">
            <a:off x="1145256" y="4485242"/>
            <a:ext cx="515326" cy="485466"/>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1D29A9C3-A3E8-0780-A758-0C8E7E376668}"/>
              </a:ext>
            </a:extLst>
          </p:cNvPr>
          <p:cNvSpPr/>
          <p:nvPr/>
        </p:nvSpPr>
        <p:spPr>
          <a:xfrm>
            <a:off x="5284944" y="2415812"/>
            <a:ext cx="530810" cy="1821208"/>
          </a:xfrm>
          <a:prstGeom prst="rect">
            <a:avLst/>
          </a:prstGeom>
          <a:solidFill>
            <a:srgbClr val="04FA0A">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950" b="1" dirty="0">
                <a:solidFill>
                  <a:schemeClr val="tx1"/>
                </a:solidFill>
                <a:latin typeface="メイリオ" panose="020B0604030504040204" pitchFamily="50" charset="-128"/>
                <a:ea typeface="メイリオ" panose="020B0604030504040204" pitchFamily="50" charset="-128"/>
                <a:cs typeface="メイリオ"/>
              </a:rPr>
              <a:t>DYM</a:t>
            </a:r>
          </a:p>
          <a:p>
            <a:pPr algn="ctr"/>
            <a:r>
              <a:rPr lang="ja-JP" altLang="en-US" sz="950" b="1" dirty="0">
                <a:solidFill>
                  <a:schemeClr val="tx1"/>
                </a:solidFill>
                <a:latin typeface="メイリオ" panose="020B0604030504040204" pitchFamily="50" charset="-128"/>
                <a:ea typeface="メイリオ" panose="020B0604030504040204" pitchFamily="50" charset="-128"/>
                <a:cs typeface="メイリオ"/>
              </a:rPr>
              <a:t>開発</a:t>
            </a:r>
            <a:endParaRPr lang="en-US" altLang="ja-JP" sz="950" b="1"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950" b="1" dirty="0">
                <a:solidFill>
                  <a:schemeClr val="tx1"/>
                </a:solidFill>
                <a:latin typeface="メイリオ" panose="020B0604030504040204" pitchFamily="50" charset="-128"/>
                <a:ea typeface="メイリオ" panose="020B0604030504040204" pitchFamily="50" charset="-128"/>
                <a:cs typeface="メイリオ"/>
              </a:rPr>
              <a:t>ツール</a:t>
            </a:r>
            <a:endParaRPr lang="en-US" altLang="ja-JP" sz="9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48" name="矢印: 右 1047">
            <a:extLst>
              <a:ext uri="{FF2B5EF4-FFF2-40B4-BE49-F238E27FC236}">
                <a16:creationId xmlns:a16="http://schemas.microsoft.com/office/drawing/2014/main" id="{6A5BBE8E-2B42-49E0-686B-A6584B59E72F}"/>
              </a:ext>
            </a:extLst>
          </p:cNvPr>
          <p:cNvSpPr/>
          <p:nvPr/>
        </p:nvSpPr>
        <p:spPr>
          <a:xfrm>
            <a:off x="3398999" y="3203047"/>
            <a:ext cx="1843892" cy="392774"/>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p>
        </p:txBody>
      </p:sp>
      <p:sp>
        <p:nvSpPr>
          <p:cNvPr id="1050" name="吹き出し: 角を丸めた四角形 1049">
            <a:extLst>
              <a:ext uri="{FF2B5EF4-FFF2-40B4-BE49-F238E27FC236}">
                <a16:creationId xmlns:a16="http://schemas.microsoft.com/office/drawing/2014/main" id="{0D7606B7-7AEE-445F-FB97-74913C4A4F60}"/>
              </a:ext>
            </a:extLst>
          </p:cNvPr>
          <p:cNvSpPr/>
          <p:nvPr/>
        </p:nvSpPr>
        <p:spPr>
          <a:xfrm>
            <a:off x="3492025" y="2641849"/>
            <a:ext cx="1624523" cy="476757"/>
          </a:xfrm>
          <a:prstGeom prst="wedgeRoundRectCallout">
            <a:avLst/>
          </a:prstGeom>
          <a:solidFill>
            <a:srgbClr val="FDFDFD"/>
          </a:solidFill>
          <a:ln w="19050">
            <a:solidFill>
              <a:schemeClr val="tx2">
                <a:alpha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r>
              <a:rPr lang="en-US" altLang="ja-JP" sz="1100" dirty="0">
                <a:solidFill>
                  <a:schemeClr val="tx1"/>
                </a:solidFill>
                <a:latin typeface="メイリオ" panose="020B0604030504040204" pitchFamily="50" charset="-128"/>
                <a:ea typeface="メイリオ" panose="020B0604030504040204" pitchFamily="50" charset="-128"/>
              </a:rPr>
              <a:t>CV</a:t>
            </a:r>
            <a:r>
              <a:rPr lang="ja-JP" altLang="en-US" sz="1100" dirty="0">
                <a:solidFill>
                  <a:schemeClr val="tx1"/>
                </a:solidFill>
                <a:latin typeface="メイリオ" panose="020B0604030504040204" pitchFamily="50" charset="-128"/>
                <a:ea typeface="メイリオ" panose="020B0604030504040204" pitchFamily="50" charset="-128"/>
              </a:rPr>
              <a:t>完了後約</a:t>
            </a:r>
            <a:r>
              <a:rPr lang="en-US" altLang="ja-JP" sz="1100" dirty="0">
                <a:solidFill>
                  <a:schemeClr val="tx1"/>
                </a:solidFill>
                <a:latin typeface="メイリオ" panose="020B0604030504040204" pitchFamily="50" charset="-128"/>
                <a:ea typeface="メイリオ" panose="020B0604030504040204" pitchFamily="50" charset="-128"/>
              </a:rPr>
              <a:t>2~3</a:t>
            </a:r>
            <a:r>
              <a:rPr lang="ja-JP" altLang="en-US" sz="1100" dirty="0">
                <a:solidFill>
                  <a:schemeClr val="tx1"/>
                </a:solidFill>
                <a:latin typeface="メイリオ" panose="020B0604030504040204" pitchFamily="50" charset="-128"/>
                <a:ea typeface="メイリオ" panose="020B0604030504040204" pitchFamily="50" charset="-128"/>
              </a:rPr>
              <a:t>秒で</a:t>
            </a:r>
            <a:br>
              <a:rPr lang="en-US" altLang="ja-JP" sz="1100" dirty="0">
                <a:solidFill>
                  <a:schemeClr val="tx1"/>
                </a:solidFill>
                <a:latin typeface="メイリオ" panose="020B0604030504040204" pitchFamily="50" charset="-128"/>
                <a:ea typeface="メイリオ" panose="020B0604030504040204" pitchFamily="50" charset="-128"/>
              </a:rPr>
            </a:br>
            <a:r>
              <a:rPr lang="en-US" altLang="ja-JP" sz="1100" dirty="0">
                <a:solidFill>
                  <a:schemeClr val="tx1"/>
                </a:solidFill>
                <a:latin typeface="メイリオ" panose="020B0604030504040204" pitchFamily="50" charset="-128"/>
                <a:ea typeface="メイリオ" panose="020B0604030504040204" pitchFamily="50" charset="-128"/>
              </a:rPr>
              <a:t>LINE</a:t>
            </a:r>
            <a:r>
              <a:rPr lang="ja-JP" altLang="en-US" sz="1100" dirty="0">
                <a:solidFill>
                  <a:schemeClr val="tx1"/>
                </a:solidFill>
                <a:latin typeface="メイリオ" panose="020B0604030504040204" pitchFamily="50" charset="-128"/>
                <a:ea typeface="メイリオ" panose="020B0604030504040204" pitchFamily="50" charset="-128"/>
              </a:rPr>
              <a:t>へ自動遷移</a:t>
            </a:r>
            <a:endParaRPr lang="en-US" altLang="ja-JP" sz="1100" dirty="0">
              <a:solidFill>
                <a:schemeClr val="tx1"/>
              </a:solidFill>
              <a:latin typeface="メイリオ" panose="020B0604030504040204" pitchFamily="50" charset="-128"/>
              <a:ea typeface="メイリオ" panose="020B0604030504040204" pitchFamily="50" charset="-128"/>
            </a:endParaRPr>
          </a:p>
        </p:txBody>
      </p:sp>
      <p:cxnSp>
        <p:nvCxnSpPr>
          <p:cNvPr id="1052" name="直線矢印コネクタ 1051">
            <a:extLst>
              <a:ext uri="{FF2B5EF4-FFF2-40B4-BE49-F238E27FC236}">
                <a16:creationId xmlns:a16="http://schemas.microsoft.com/office/drawing/2014/main" id="{5B4E7079-E54A-2282-BDB8-487FFE5E8981}"/>
              </a:ext>
            </a:extLst>
          </p:cNvPr>
          <p:cNvCxnSpPr>
            <a:cxnSpLocks/>
          </p:cNvCxnSpPr>
          <p:nvPr/>
        </p:nvCxnSpPr>
        <p:spPr>
          <a:xfrm>
            <a:off x="5242891" y="4971540"/>
            <a:ext cx="2486278" cy="256434"/>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7" name="矢印: 右 6">
            <a:extLst>
              <a:ext uri="{FF2B5EF4-FFF2-40B4-BE49-F238E27FC236}">
                <a16:creationId xmlns:a16="http://schemas.microsoft.com/office/drawing/2014/main" id="{9EC51A72-DCD0-B1E9-7CCE-6674E65DC641}"/>
              </a:ext>
            </a:extLst>
          </p:cNvPr>
          <p:cNvSpPr/>
          <p:nvPr/>
        </p:nvSpPr>
        <p:spPr>
          <a:xfrm rot="5400000">
            <a:off x="6436767" y="3831408"/>
            <a:ext cx="349205" cy="392774"/>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p>
        </p:txBody>
      </p:sp>
      <p:sp>
        <p:nvSpPr>
          <p:cNvPr id="41" name="四角形: 角を丸くする 40">
            <a:extLst>
              <a:ext uri="{FF2B5EF4-FFF2-40B4-BE49-F238E27FC236}">
                <a16:creationId xmlns:a16="http://schemas.microsoft.com/office/drawing/2014/main" id="{3DEB8AF5-27EB-F2A5-5738-9D4876D62932}"/>
              </a:ext>
            </a:extLst>
          </p:cNvPr>
          <p:cNvSpPr/>
          <p:nvPr/>
        </p:nvSpPr>
        <p:spPr>
          <a:xfrm>
            <a:off x="1331634" y="5386674"/>
            <a:ext cx="3965148" cy="1126724"/>
          </a:xfrm>
          <a:prstGeom prst="roundRect">
            <a:avLst>
              <a:gd name="adj" fmla="val 8129"/>
            </a:avLst>
          </a:prstGeom>
          <a:solidFill>
            <a:schemeClr val="bg1">
              <a:lumMod val="85000"/>
            </a:schemeClr>
          </a:solid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43" name="図 42">
            <a:extLst>
              <a:ext uri="{FF2B5EF4-FFF2-40B4-BE49-F238E27FC236}">
                <a16:creationId xmlns:a16="http://schemas.microsoft.com/office/drawing/2014/main" id="{F4AEE4F6-B4F2-3B63-B340-970573C6BC9B}"/>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407362" y="5422614"/>
            <a:ext cx="1068810" cy="1060107"/>
          </a:xfrm>
          <a:prstGeom prst="rect">
            <a:avLst/>
          </a:prstGeom>
        </p:spPr>
      </p:pic>
      <p:sp>
        <p:nvSpPr>
          <p:cNvPr id="50" name="テキスト ボックス 49">
            <a:extLst>
              <a:ext uri="{FF2B5EF4-FFF2-40B4-BE49-F238E27FC236}">
                <a16:creationId xmlns:a16="http://schemas.microsoft.com/office/drawing/2014/main" id="{9E529396-156F-55A0-24A1-E3F30C8D079F}"/>
              </a:ext>
            </a:extLst>
          </p:cNvPr>
          <p:cNvSpPr txBox="1"/>
          <p:nvPr/>
        </p:nvSpPr>
        <p:spPr>
          <a:xfrm>
            <a:off x="2607260" y="6011736"/>
            <a:ext cx="1740223" cy="430887"/>
          </a:xfrm>
          <a:prstGeom prst="rect">
            <a:avLst/>
          </a:prstGeom>
          <a:noFill/>
        </p:spPr>
        <p:txBody>
          <a:bodyPr wrap="square">
            <a:spAutoFit/>
          </a:bodyPr>
          <a:lstStyle/>
          <a:p>
            <a:r>
              <a:rPr lang="ja-JP" altLang="ja-JP" sz="1050" b="1" dirty="0">
                <a:latin typeface="メイリオ" panose="020B0604030504040204" pitchFamily="50" charset="-128"/>
                <a:ea typeface="メイリオ" panose="020B0604030504040204" pitchFamily="50" charset="-128"/>
              </a:rPr>
              <a:t>QRコードを読み取って</a:t>
            </a:r>
            <a:endParaRPr lang="en-US" altLang="ja-JP" sz="1050" b="1" dirty="0">
              <a:latin typeface="メイリオ" panose="020B0604030504040204" pitchFamily="50" charset="-128"/>
              <a:ea typeface="メイリオ" panose="020B0604030504040204" pitchFamily="50" charset="-128"/>
            </a:endParaRPr>
          </a:p>
          <a:p>
            <a:r>
              <a:rPr lang="ja-JP" altLang="ja-JP" sz="1050" b="1" dirty="0">
                <a:latin typeface="メイリオ" panose="020B0604030504040204" pitchFamily="50" charset="-128"/>
                <a:ea typeface="メイリオ" panose="020B0604030504040204" pitchFamily="50" charset="-128"/>
              </a:rPr>
              <a:t>動画を見る（約22秒）</a:t>
            </a:r>
            <a:endParaRPr lang="en-US" altLang="ja-JP" sz="1050" b="1" dirty="0">
              <a:latin typeface="メイリオ" panose="020B0604030504040204" pitchFamily="50" charset="-128"/>
              <a:ea typeface="メイリオ" panose="020B0604030504040204" pitchFamily="50" charset="-128"/>
            </a:endParaRPr>
          </a:p>
        </p:txBody>
      </p:sp>
      <p:sp>
        <p:nvSpPr>
          <p:cNvPr id="52" name="テキスト ボックス 51">
            <a:extLst>
              <a:ext uri="{FF2B5EF4-FFF2-40B4-BE49-F238E27FC236}">
                <a16:creationId xmlns:a16="http://schemas.microsoft.com/office/drawing/2014/main" id="{FA39FB9E-0354-C79E-71A4-67DB6A28B75A}"/>
              </a:ext>
            </a:extLst>
          </p:cNvPr>
          <p:cNvSpPr txBox="1"/>
          <p:nvPr/>
        </p:nvSpPr>
        <p:spPr>
          <a:xfrm>
            <a:off x="4032248" y="5546685"/>
            <a:ext cx="869321" cy="276999"/>
          </a:xfrm>
          <a:prstGeom prst="rect">
            <a:avLst/>
          </a:prstGeom>
          <a:solidFill>
            <a:schemeClr val="tx2"/>
          </a:solidFill>
        </p:spPr>
        <p:txBody>
          <a:bodyPr wrap="square">
            <a:spAutoFit/>
          </a:bodyPr>
          <a:lstStyle/>
          <a:p>
            <a:r>
              <a:rPr lang="ja-JP" altLang="en-US" sz="1200" dirty="0">
                <a:solidFill>
                  <a:schemeClr val="bg1"/>
                </a:solidFill>
                <a:latin typeface="メイリオ" panose="020B0604030504040204" pitchFamily="50" charset="-128"/>
                <a:ea typeface="メイリオ" panose="020B0604030504040204" pitchFamily="50" charset="-128"/>
                <a:hlinkClick r:id="rId7">
                  <a:extLst>
                    <a:ext uri="{A12FA001-AC4F-418D-AE19-62706E023703}">
                      <ahyp:hlinkClr xmlns:ahyp="http://schemas.microsoft.com/office/drawing/2018/hyperlinkcolor" val="tx"/>
                    </a:ext>
                  </a:extLst>
                </a:hlinkClick>
              </a:rPr>
              <a:t>再生</a:t>
            </a:r>
            <a:r>
              <a:rPr lang="ja-JP" altLang="en-US" sz="1200" dirty="0">
                <a:solidFill>
                  <a:srgbClr val="0000FF"/>
                </a:solidFill>
                <a:latin typeface="メイリオ" panose="020B0604030504040204" pitchFamily="50" charset="-128"/>
                <a:ea typeface="メイリオ" panose="020B0604030504040204" pitchFamily="50" charset="-128"/>
                <a:hlinkClick r:id="rId7">
                  <a:extLst>
                    <a:ext uri="{A12FA001-AC4F-418D-AE19-62706E023703}">
                      <ahyp:hlinkClr xmlns:ahyp="http://schemas.microsoft.com/office/drawing/2018/hyperlinkcolor" val="tx"/>
                    </a:ext>
                  </a:extLst>
                </a:hlinkClick>
              </a:rPr>
              <a:t> </a:t>
            </a:r>
            <a:r>
              <a:rPr lang="en-US" altLang="ja-JP" sz="1200" dirty="0">
                <a:solidFill>
                  <a:schemeClr val="bg1"/>
                </a:solidFill>
                <a:latin typeface="メイリオ" panose="020B0604030504040204" pitchFamily="50" charset="-128"/>
                <a:ea typeface="メイリオ" panose="020B0604030504040204" pitchFamily="50" charset="-128"/>
                <a:hlinkClick r:id="rId7">
                  <a:extLst>
                    <a:ext uri="{A12FA001-AC4F-418D-AE19-62706E023703}">
                      <ahyp:hlinkClr xmlns:ahyp="http://schemas.microsoft.com/office/drawing/2018/hyperlinkcolor" val="tx"/>
                    </a:ext>
                  </a:extLst>
                </a:hlinkClick>
              </a:rPr>
              <a:t>[▷]</a:t>
            </a:r>
            <a:endParaRPr lang="ja-JP" altLang="en-US" sz="1200" dirty="0">
              <a:solidFill>
                <a:schemeClr val="bg1"/>
              </a:solidFill>
              <a:latin typeface="メイリオ" panose="020B0604030504040204" pitchFamily="50" charset="-128"/>
              <a:ea typeface="メイリオ" panose="020B0604030504040204" pitchFamily="50" charset="-128"/>
            </a:endParaRPr>
          </a:p>
        </p:txBody>
      </p:sp>
      <p:sp>
        <p:nvSpPr>
          <p:cNvPr id="54" name="テキスト ボックス 53">
            <a:extLst>
              <a:ext uri="{FF2B5EF4-FFF2-40B4-BE49-F238E27FC236}">
                <a16:creationId xmlns:a16="http://schemas.microsoft.com/office/drawing/2014/main" id="{C2099EF7-D4DC-D52C-E0A5-F84C559A9E47}"/>
              </a:ext>
            </a:extLst>
          </p:cNvPr>
          <p:cNvSpPr txBox="1"/>
          <p:nvPr/>
        </p:nvSpPr>
        <p:spPr>
          <a:xfrm>
            <a:off x="2648894" y="5570417"/>
            <a:ext cx="1740223" cy="253916"/>
          </a:xfrm>
          <a:prstGeom prst="rect">
            <a:avLst/>
          </a:prstGeom>
          <a:noFill/>
        </p:spPr>
        <p:txBody>
          <a:bodyPr wrap="square">
            <a:spAutoFit/>
          </a:bodyPr>
          <a:lstStyle/>
          <a:p>
            <a:r>
              <a:rPr lang="ja-JP" altLang="en-US" sz="1050" b="1" dirty="0">
                <a:latin typeface="メイリオ" panose="020B0604030504040204" pitchFamily="50" charset="-128"/>
                <a:ea typeface="メイリオ" panose="020B0604030504040204" pitchFamily="50" charset="-128"/>
              </a:rPr>
              <a:t>クリックして再生</a:t>
            </a:r>
            <a:endParaRPr lang="en-US" altLang="ja-JP" sz="1050" b="1" dirty="0">
              <a:latin typeface="メイリオ" panose="020B0604030504040204" pitchFamily="50" charset="-128"/>
              <a:ea typeface="メイリオ" panose="020B0604030504040204" pitchFamily="50" charset="-128"/>
            </a:endParaRPr>
          </a:p>
        </p:txBody>
      </p:sp>
      <p:sp>
        <p:nvSpPr>
          <p:cNvPr id="1053" name="Rectangle 1052"/>
          <p:cNvSpPr/>
          <p:nvPr/>
        </p:nvSpPr>
        <p:spPr>
          <a:xfrm>
            <a:off x="4178808" y="1216152"/>
            <a:ext cx="1143000" cy="256032"/>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8000" tIns="0" rIns="18000" bIns="0"/>
          <a:lstStyle/>
          <a:p>
            <a:pPr algn="ctr">
              <a:lnSpc>
                <a:spcPct val="110000"/>
              </a:lnSpc>
              <a:spcAft>
                <a:spcPts val="0"/>
              </a:spcAft>
            </a:pPr>
            <a:r>
              <a:rPr sz="1100" b="1">
                <a:solidFill>
                  <a:srgbClr val="FFFFFF"/>
                </a:solidFill>
                <a:latin typeface="メイリオ"/>
                <a:ea typeface="メイリオ"/>
                <a:cs typeface="メイリオ"/>
              </a:rPr>
              <a:t>初期：15万円</a:t>
            </a:r>
          </a:p>
        </p:txBody>
      </p:sp>
      <p:sp>
        <p:nvSpPr>
          <p:cNvPr id="1054" name="Rectangle 1053"/>
          <p:cNvSpPr/>
          <p:nvPr/>
        </p:nvSpPr>
        <p:spPr>
          <a:xfrm>
            <a:off x="5394960" y="1216152"/>
            <a:ext cx="2103120" cy="256032"/>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8000" tIns="0" rIns="18000" bIns="0"/>
          <a:lstStyle/>
          <a:p>
            <a:pPr algn="ctr">
              <a:lnSpc>
                <a:spcPct val="110000"/>
              </a:lnSpc>
              <a:spcAft>
                <a:spcPts val="0"/>
              </a:spcAft>
            </a:pPr>
            <a:r>
              <a:rPr sz="1100" b="1">
                <a:solidFill>
                  <a:srgbClr val="FFFFFF"/>
                </a:solidFill>
                <a:latin typeface="メイリオ"/>
                <a:ea typeface="メイリオ"/>
                <a:cs typeface="メイリオ"/>
              </a:rPr>
              <a:t>月額3万円〜＋設定地点追加</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E371F4F6-3F93-7830-595E-799AA69EA97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sp>
        <p:nvSpPr>
          <p:cNvPr id="2" name="角丸四角形 8">
            <a:extLst>
              <a:ext uri="{FF2B5EF4-FFF2-40B4-BE49-F238E27FC236}">
                <a16:creationId xmlns:a16="http://schemas.microsoft.com/office/drawing/2014/main" id="{FD5318E5-8B5E-2D7D-A660-11170C412EF2}"/>
              </a:ext>
            </a:extLst>
          </p:cNvPr>
          <p:cNvSpPr/>
          <p:nvPr/>
        </p:nvSpPr>
        <p:spPr>
          <a:xfrm>
            <a:off x="6663036"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3" name="Google Shape;178;p7">
            <a:extLst>
              <a:ext uri="{FF2B5EF4-FFF2-40B4-BE49-F238E27FC236}">
                <a16:creationId xmlns:a16="http://schemas.microsoft.com/office/drawing/2014/main" id="{5B7BDCE2-F32C-98D5-860A-09F3912D9718}"/>
              </a:ext>
            </a:extLst>
          </p:cNvPr>
          <p:cNvSpPr txBox="1"/>
          <p:nvPr/>
        </p:nvSpPr>
        <p:spPr>
          <a:xfrm>
            <a:off x="6756034" y="4153224"/>
            <a:ext cx="2800326" cy="67539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オフライン動線</a:t>
            </a:r>
            <a:endParaRPr lang="en-US" altLang="ja-JP" sz="2000" b="1" dirty="0">
              <a:solidFill>
                <a:srgbClr val="002060"/>
              </a:solidFill>
              <a:latin typeface="Meiryo"/>
              <a:ea typeface="Meiryo"/>
              <a:cs typeface="Meiryo"/>
              <a:sym typeface="Meiryo"/>
            </a:endParaRPr>
          </a:p>
          <a:p>
            <a:pPr lvl="0" algn="ctr">
              <a:buClr>
                <a:schemeClr val="dk1"/>
              </a:buClr>
              <a:buSzPts val="1500"/>
            </a:pPr>
            <a:r>
              <a:rPr lang="ja-JP" altLang="en-US" sz="1400" b="1" dirty="0">
                <a:solidFill>
                  <a:srgbClr val="002060"/>
                </a:solidFill>
                <a:latin typeface="Meiryo"/>
                <a:ea typeface="Meiryo"/>
                <a:cs typeface="Meiryo"/>
                <a:sym typeface="Meiryo"/>
              </a:rPr>
              <a:t>ニュースリリース等</a:t>
            </a:r>
            <a:endParaRPr lang="en-US" altLang="ja-JP" sz="1400" b="1" dirty="0">
              <a:solidFill>
                <a:srgbClr val="002060"/>
              </a:solidFill>
              <a:latin typeface="Meiryo"/>
              <a:ea typeface="Meiryo"/>
              <a:cs typeface="Meiryo"/>
              <a:sym typeface="Meiryo"/>
            </a:endParaRPr>
          </a:p>
        </p:txBody>
      </p:sp>
      <p:sp>
        <p:nvSpPr>
          <p:cNvPr id="5" name="角丸四角形 7">
            <a:extLst>
              <a:ext uri="{FF2B5EF4-FFF2-40B4-BE49-F238E27FC236}">
                <a16:creationId xmlns:a16="http://schemas.microsoft.com/office/drawing/2014/main" id="{467076C6-3952-617E-47B1-6B2C5D00137B}"/>
              </a:ext>
            </a:extLst>
          </p:cNvPr>
          <p:cNvSpPr/>
          <p:nvPr/>
        </p:nvSpPr>
        <p:spPr>
          <a:xfrm>
            <a:off x="3462784" y="4090156"/>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6" name="Google Shape;178;p7">
            <a:extLst>
              <a:ext uri="{FF2B5EF4-FFF2-40B4-BE49-F238E27FC236}">
                <a16:creationId xmlns:a16="http://schemas.microsoft.com/office/drawing/2014/main" id="{421A0D53-7019-D33A-B0BD-DBDF4AAB2FEE}"/>
              </a:ext>
            </a:extLst>
          </p:cNvPr>
          <p:cNvSpPr txBox="1"/>
          <p:nvPr/>
        </p:nvSpPr>
        <p:spPr>
          <a:xfrm>
            <a:off x="3563068" y="4245557"/>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WEB</a:t>
            </a:r>
            <a:r>
              <a:rPr lang="ja-JP" altLang="en-US" sz="2000" b="1" dirty="0">
                <a:solidFill>
                  <a:srgbClr val="002060"/>
                </a:solidFill>
                <a:latin typeface="Meiryo"/>
                <a:ea typeface="Meiryo"/>
                <a:cs typeface="Meiryo"/>
                <a:sym typeface="Meiryo"/>
              </a:rPr>
              <a:t>サイト動線整備</a:t>
            </a:r>
            <a:endParaRPr lang="en-US" altLang="ja-JP" sz="2000" b="1" dirty="0">
              <a:solidFill>
                <a:srgbClr val="002060"/>
              </a:solidFill>
              <a:latin typeface="Meiryo"/>
              <a:ea typeface="Meiryo"/>
              <a:cs typeface="Meiryo"/>
              <a:sym typeface="Meiryo"/>
            </a:endParaRPr>
          </a:p>
        </p:txBody>
      </p:sp>
      <p:sp>
        <p:nvSpPr>
          <p:cNvPr id="7" name="角丸四角形 8">
            <a:extLst>
              <a:ext uri="{FF2B5EF4-FFF2-40B4-BE49-F238E27FC236}">
                <a16:creationId xmlns:a16="http://schemas.microsoft.com/office/drawing/2014/main" id="{6248FCF3-6E9E-CB4D-40D9-251911AC2CEF}"/>
              </a:ext>
            </a:extLst>
          </p:cNvPr>
          <p:cNvSpPr/>
          <p:nvPr/>
        </p:nvSpPr>
        <p:spPr>
          <a:xfrm>
            <a:off x="262251"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8" name="Google Shape;178;p7">
            <a:extLst>
              <a:ext uri="{FF2B5EF4-FFF2-40B4-BE49-F238E27FC236}">
                <a16:creationId xmlns:a16="http://schemas.microsoft.com/office/drawing/2014/main" id="{E5C2AF7A-FA8D-3471-762D-FC84F5818E88}"/>
              </a:ext>
            </a:extLst>
          </p:cNvPr>
          <p:cNvSpPr txBox="1"/>
          <p:nvPr/>
        </p:nvSpPr>
        <p:spPr>
          <a:xfrm>
            <a:off x="598393" y="4153224"/>
            <a:ext cx="2314319" cy="644614"/>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友だち紹介</a:t>
            </a:r>
            <a:endParaRPr lang="en-US" altLang="ja-JP" sz="2000" b="1" dirty="0">
              <a:solidFill>
                <a:srgbClr val="002060"/>
              </a:solidFill>
              <a:latin typeface="Meiryo"/>
              <a:ea typeface="Meiryo"/>
              <a:cs typeface="Meiryo"/>
              <a:sym typeface="Meiryo"/>
            </a:endParaRPr>
          </a:p>
          <a:p>
            <a:pPr lvl="0" algn="ctr">
              <a:buClr>
                <a:schemeClr val="dk1"/>
              </a:buClr>
              <a:buSzPts val="1500"/>
            </a:pPr>
            <a:r>
              <a:rPr lang="ja-JP" altLang="en-US" sz="1200" b="1" dirty="0">
                <a:solidFill>
                  <a:srgbClr val="002060"/>
                </a:solidFill>
                <a:latin typeface="Meiryo"/>
                <a:ea typeface="Meiryo"/>
                <a:cs typeface="Meiryo"/>
                <a:sym typeface="Meiryo"/>
              </a:rPr>
              <a:t>（</a:t>
            </a:r>
            <a:r>
              <a:rPr lang="en-US" altLang="ja-JP" sz="1200" b="1" dirty="0">
                <a:solidFill>
                  <a:srgbClr val="002060"/>
                </a:solidFill>
                <a:latin typeface="Meiryo"/>
                <a:ea typeface="Meiryo"/>
                <a:cs typeface="Meiryo"/>
                <a:sym typeface="Meiryo"/>
              </a:rPr>
              <a:t>LINE</a:t>
            </a:r>
            <a:r>
              <a:rPr lang="ja-JP" altLang="en-US" sz="1200" b="1" dirty="0">
                <a:solidFill>
                  <a:srgbClr val="002060"/>
                </a:solidFill>
                <a:latin typeface="Meiryo"/>
                <a:ea typeface="Meiryo"/>
                <a:cs typeface="Meiryo"/>
                <a:sym typeface="Meiryo"/>
              </a:rPr>
              <a:t>ポイントコネクト）</a:t>
            </a:r>
            <a:endParaRPr lang="en-US" altLang="ja-JP" sz="1200" b="1" dirty="0">
              <a:solidFill>
                <a:srgbClr val="002060"/>
              </a:solidFill>
              <a:latin typeface="Meiryo"/>
              <a:ea typeface="Meiryo"/>
              <a:cs typeface="Meiryo"/>
              <a:sym typeface="Meiryo"/>
            </a:endParaRPr>
          </a:p>
        </p:txBody>
      </p:sp>
      <p:sp>
        <p:nvSpPr>
          <p:cNvPr id="9" name="角丸四角形 8">
            <a:extLst>
              <a:ext uri="{FF2B5EF4-FFF2-40B4-BE49-F238E27FC236}">
                <a16:creationId xmlns:a16="http://schemas.microsoft.com/office/drawing/2014/main" id="{B44E38B3-9697-65AF-1E0A-CE143B30BA15}"/>
              </a:ext>
            </a:extLst>
          </p:cNvPr>
          <p:cNvSpPr/>
          <p:nvPr/>
        </p:nvSpPr>
        <p:spPr>
          <a:xfrm>
            <a:off x="6663036"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0" name="Google Shape;178;p7">
            <a:extLst>
              <a:ext uri="{FF2B5EF4-FFF2-40B4-BE49-F238E27FC236}">
                <a16:creationId xmlns:a16="http://schemas.microsoft.com/office/drawing/2014/main" id="{227F189E-B3B2-1E1B-232D-81C3B9F95AF9}"/>
              </a:ext>
            </a:extLst>
          </p:cNvPr>
          <p:cNvSpPr txBox="1"/>
          <p:nvPr/>
        </p:nvSpPr>
        <p:spPr>
          <a:xfrm>
            <a:off x="6756034"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LINE</a:t>
            </a:r>
            <a:r>
              <a:rPr lang="ja-JP" altLang="en-US" sz="2000" b="1" dirty="0">
                <a:solidFill>
                  <a:srgbClr val="002060"/>
                </a:solidFill>
                <a:latin typeface="Meiryo"/>
                <a:ea typeface="Meiryo"/>
                <a:cs typeface="Meiryo"/>
                <a:sym typeface="Meiryo"/>
              </a:rPr>
              <a:t>ポイント</a:t>
            </a:r>
            <a:r>
              <a:rPr lang="en-US" altLang="ja-JP" sz="2000" b="1" dirty="0">
                <a:solidFill>
                  <a:srgbClr val="002060"/>
                </a:solidFill>
                <a:latin typeface="Meiryo"/>
                <a:ea typeface="Meiryo"/>
                <a:cs typeface="Meiryo"/>
                <a:sym typeface="Meiryo"/>
              </a:rPr>
              <a:t>Ads</a:t>
            </a:r>
            <a:endParaRPr lang="en-US" altLang="ja-JP" sz="1400" b="1" dirty="0">
              <a:solidFill>
                <a:srgbClr val="002060"/>
              </a:solidFill>
              <a:latin typeface="Meiryo"/>
              <a:ea typeface="Meiryo"/>
              <a:cs typeface="Meiryo"/>
              <a:sym typeface="Meiryo"/>
            </a:endParaRPr>
          </a:p>
        </p:txBody>
      </p:sp>
      <p:sp>
        <p:nvSpPr>
          <p:cNvPr id="11" name="角丸四角形 7">
            <a:extLst>
              <a:ext uri="{FF2B5EF4-FFF2-40B4-BE49-F238E27FC236}">
                <a16:creationId xmlns:a16="http://schemas.microsoft.com/office/drawing/2014/main" id="{246EA7DE-13D3-9A9C-9E03-EF6250D306DC}"/>
              </a:ext>
            </a:extLst>
          </p:cNvPr>
          <p:cNvSpPr/>
          <p:nvPr/>
        </p:nvSpPr>
        <p:spPr>
          <a:xfrm>
            <a:off x="3462784" y="185655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2" name="Google Shape;178;p7">
            <a:extLst>
              <a:ext uri="{FF2B5EF4-FFF2-40B4-BE49-F238E27FC236}">
                <a16:creationId xmlns:a16="http://schemas.microsoft.com/office/drawing/2014/main" id="{5045D5F0-5F86-568D-455F-0F514426CF62}"/>
              </a:ext>
            </a:extLst>
          </p:cNvPr>
          <p:cNvSpPr txBox="1"/>
          <p:nvPr/>
        </p:nvSpPr>
        <p:spPr>
          <a:xfrm>
            <a:off x="3563068"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スタンプ施策</a:t>
            </a:r>
            <a:endParaRPr lang="en-US" altLang="ja-JP" sz="2000" b="1" dirty="0">
              <a:solidFill>
                <a:srgbClr val="002060"/>
              </a:solidFill>
              <a:latin typeface="Meiryo"/>
              <a:ea typeface="Meiryo"/>
              <a:cs typeface="Meiryo"/>
              <a:sym typeface="Meiryo"/>
            </a:endParaRPr>
          </a:p>
        </p:txBody>
      </p:sp>
      <p:sp>
        <p:nvSpPr>
          <p:cNvPr id="13" name="角丸四角形 8">
            <a:extLst>
              <a:ext uri="{FF2B5EF4-FFF2-40B4-BE49-F238E27FC236}">
                <a16:creationId xmlns:a16="http://schemas.microsoft.com/office/drawing/2014/main" id="{3600FC78-1A6B-42D9-C939-11449F5EA1D7}"/>
              </a:ext>
            </a:extLst>
          </p:cNvPr>
          <p:cNvSpPr/>
          <p:nvPr/>
        </p:nvSpPr>
        <p:spPr>
          <a:xfrm>
            <a:off x="262251"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4" name="Google Shape;178;p7">
            <a:extLst>
              <a:ext uri="{FF2B5EF4-FFF2-40B4-BE49-F238E27FC236}">
                <a16:creationId xmlns:a16="http://schemas.microsoft.com/office/drawing/2014/main" id="{DE80A45D-1C7E-C6F5-E8EB-2D7BDFC995E0}"/>
              </a:ext>
            </a:extLst>
          </p:cNvPr>
          <p:cNvSpPr txBox="1"/>
          <p:nvPr/>
        </p:nvSpPr>
        <p:spPr>
          <a:xfrm>
            <a:off x="598393" y="2011960"/>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CPF</a:t>
            </a:r>
            <a:r>
              <a:rPr lang="ja-JP" altLang="en-US" sz="2000" b="1" dirty="0">
                <a:solidFill>
                  <a:srgbClr val="002060"/>
                </a:solidFill>
                <a:latin typeface="Meiryo"/>
                <a:ea typeface="Meiryo"/>
                <a:cs typeface="Meiryo"/>
                <a:sym typeface="Meiryo"/>
              </a:rPr>
              <a:t>広告</a:t>
            </a:r>
            <a:endParaRPr lang="en-US" altLang="ja-JP" sz="1200" b="1" dirty="0">
              <a:solidFill>
                <a:srgbClr val="002060"/>
              </a:solidFill>
              <a:latin typeface="Meiryo"/>
              <a:ea typeface="Meiryo"/>
              <a:cs typeface="Meiryo"/>
              <a:sym typeface="Meiryo"/>
            </a:endParaRPr>
          </a:p>
        </p:txBody>
      </p:sp>
      <p:sp>
        <p:nvSpPr>
          <p:cNvPr id="16" name="テキスト ボックス 15">
            <a:extLst>
              <a:ext uri="{FF2B5EF4-FFF2-40B4-BE49-F238E27FC236}">
                <a16:creationId xmlns:a16="http://schemas.microsoft.com/office/drawing/2014/main" id="{E2BE065C-FC2C-F8DB-8D4D-6A6CF2961B74}"/>
              </a:ext>
            </a:extLst>
          </p:cNvPr>
          <p:cNvSpPr txBox="1"/>
          <p:nvPr/>
        </p:nvSpPr>
        <p:spPr>
          <a:xfrm>
            <a:off x="6663036" y="5212007"/>
            <a:ext cx="2980713" cy="369332"/>
          </a:xfrm>
          <a:prstGeom prst="rect">
            <a:avLst/>
          </a:prstGeom>
          <a:noFill/>
        </p:spPr>
        <p:txBody>
          <a:bodyPr wrap="square">
            <a:spAutoFit/>
          </a:bodyPr>
          <a:lstStyle/>
          <a:p>
            <a:pPr algn="ctr"/>
            <a:r>
              <a:rPr lang="ja-JP" altLang="en-US" sz="1600" dirty="0">
                <a:latin typeface="Meiryo"/>
                <a:ea typeface="Meiryo"/>
                <a:sym typeface="Meiryo"/>
              </a:rPr>
              <a:t>コンサル発注</a:t>
            </a:r>
            <a:r>
              <a:rPr lang="ja-JP" altLang="en-US" sz="1200" dirty="0">
                <a:latin typeface="Meiryo"/>
                <a:ea typeface="Meiryo"/>
                <a:sym typeface="Meiryo"/>
              </a:rPr>
              <a:t>であれば </a:t>
            </a:r>
            <a:r>
              <a:rPr lang="ja-JP" altLang="en-US" b="1" dirty="0">
                <a:solidFill>
                  <a:srgbClr val="FF0000"/>
                </a:solidFill>
                <a:latin typeface="Meiryo"/>
                <a:ea typeface="Meiryo"/>
                <a:sym typeface="Meiryo"/>
              </a:rPr>
              <a:t>無償</a:t>
            </a:r>
            <a:endParaRPr lang="ja-JP" altLang="en-US" dirty="0">
              <a:solidFill>
                <a:srgbClr val="FF0000"/>
              </a:solidFill>
            </a:endParaRPr>
          </a:p>
        </p:txBody>
      </p:sp>
      <p:sp>
        <p:nvSpPr>
          <p:cNvPr id="18" name="正方形/長方形 17">
            <a:extLst>
              <a:ext uri="{FF2B5EF4-FFF2-40B4-BE49-F238E27FC236}">
                <a16:creationId xmlns:a16="http://schemas.microsoft.com/office/drawing/2014/main" id="{6E06F22F-E0C7-5FD3-4405-6102987BD5DF}"/>
              </a:ext>
            </a:extLst>
          </p:cNvPr>
          <p:cNvSpPr/>
          <p:nvPr/>
        </p:nvSpPr>
        <p:spPr>
          <a:xfrm>
            <a:off x="519852" y="4164059"/>
            <a:ext cx="2453983"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正方形/長方形 18">
            <a:extLst>
              <a:ext uri="{FF2B5EF4-FFF2-40B4-BE49-F238E27FC236}">
                <a16:creationId xmlns:a16="http://schemas.microsoft.com/office/drawing/2014/main" id="{B0050C1C-B390-1662-9BFB-21BE29D83F9A}"/>
              </a:ext>
            </a:extLst>
          </p:cNvPr>
          <p:cNvSpPr/>
          <p:nvPr/>
        </p:nvSpPr>
        <p:spPr>
          <a:xfrm>
            <a:off x="3613540" y="41624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D5EE4289-C478-AD62-AE99-69AE5A069F77}"/>
              </a:ext>
            </a:extLst>
          </p:cNvPr>
          <p:cNvSpPr/>
          <p:nvPr/>
        </p:nvSpPr>
        <p:spPr>
          <a:xfrm>
            <a:off x="6825208" y="4153224"/>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正方形/長方形 20">
            <a:extLst>
              <a:ext uri="{FF2B5EF4-FFF2-40B4-BE49-F238E27FC236}">
                <a16:creationId xmlns:a16="http://schemas.microsoft.com/office/drawing/2014/main" id="{1396C237-CE79-2CD6-FC3A-C050A56E6C7C}"/>
              </a:ext>
            </a:extLst>
          </p:cNvPr>
          <p:cNvSpPr/>
          <p:nvPr/>
        </p:nvSpPr>
        <p:spPr>
          <a:xfrm>
            <a:off x="6825208"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正方形/長方形 21">
            <a:extLst>
              <a:ext uri="{FF2B5EF4-FFF2-40B4-BE49-F238E27FC236}">
                <a16:creationId xmlns:a16="http://schemas.microsoft.com/office/drawing/2014/main" id="{4F441C91-30FF-B254-D31A-0BF09A82F0CC}"/>
              </a:ext>
            </a:extLst>
          </p:cNvPr>
          <p:cNvSpPr/>
          <p:nvPr/>
        </p:nvSpPr>
        <p:spPr>
          <a:xfrm>
            <a:off x="405862" y="19388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a:extLst>
              <a:ext uri="{FF2B5EF4-FFF2-40B4-BE49-F238E27FC236}">
                <a16:creationId xmlns:a16="http://schemas.microsoft.com/office/drawing/2014/main" id="{0444B2FB-B600-A32F-FC5C-CA7414D41D09}"/>
              </a:ext>
            </a:extLst>
          </p:cNvPr>
          <p:cNvSpPr/>
          <p:nvPr/>
        </p:nvSpPr>
        <p:spPr>
          <a:xfrm>
            <a:off x="3627794"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ボックス 24">
            <a:extLst>
              <a:ext uri="{FF2B5EF4-FFF2-40B4-BE49-F238E27FC236}">
                <a16:creationId xmlns:a16="http://schemas.microsoft.com/office/drawing/2014/main" id="{0EB1A30C-0F7E-2CA8-AFC7-86F4D2F0F62E}"/>
              </a:ext>
            </a:extLst>
          </p:cNvPr>
          <p:cNvSpPr txBox="1"/>
          <p:nvPr/>
        </p:nvSpPr>
        <p:spPr>
          <a:xfrm>
            <a:off x="3457175" y="5206261"/>
            <a:ext cx="2980713" cy="369332"/>
          </a:xfrm>
          <a:prstGeom prst="rect">
            <a:avLst/>
          </a:prstGeom>
          <a:noFill/>
        </p:spPr>
        <p:txBody>
          <a:bodyPr wrap="square">
            <a:spAutoFit/>
          </a:bodyPr>
          <a:lstStyle/>
          <a:p>
            <a:pPr algn="ctr"/>
            <a:r>
              <a:rPr lang="ja-JP" altLang="en-US" sz="1600" dirty="0">
                <a:latin typeface="Meiryo"/>
                <a:ea typeface="Meiryo"/>
                <a:sym typeface="Meiryo"/>
              </a:rPr>
              <a:t>コンサル発注</a:t>
            </a:r>
            <a:r>
              <a:rPr lang="ja-JP" altLang="en-US" sz="1200" dirty="0">
                <a:latin typeface="Meiryo"/>
                <a:ea typeface="Meiryo"/>
                <a:sym typeface="Meiryo"/>
              </a:rPr>
              <a:t>であれば </a:t>
            </a:r>
            <a:r>
              <a:rPr lang="ja-JP" altLang="en-US" b="1" dirty="0">
                <a:solidFill>
                  <a:srgbClr val="FF0000"/>
                </a:solidFill>
                <a:latin typeface="Meiryo"/>
                <a:ea typeface="Meiryo"/>
                <a:sym typeface="Meiryo"/>
              </a:rPr>
              <a:t>無償</a:t>
            </a:r>
            <a:endParaRPr lang="ja-JP" altLang="en-US" dirty="0">
              <a:solidFill>
                <a:srgbClr val="FF0000"/>
              </a:solidFill>
            </a:endParaRPr>
          </a:p>
        </p:txBody>
      </p:sp>
      <p:sp>
        <p:nvSpPr>
          <p:cNvPr id="27" name="テキスト ボックス 26">
            <a:extLst>
              <a:ext uri="{FF2B5EF4-FFF2-40B4-BE49-F238E27FC236}">
                <a16:creationId xmlns:a16="http://schemas.microsoft.com/office/drawing/2014/main" id="{E132920A-5E9A-4275-387D-200CCBF9F676}"/>
              </a:ext>
            </a:extLst>
          </p:cNvPr>
          <p:cNvSpPr txBox="1"/>
          <p:nvPr/>
        </p:nvSpPr>
        <p:spPr>
          <a:xfrm>
            <a:off x="251033" y="5206261"/>
            <a:ext cx="2980713" cy="369332"/>
          </a:xfrm>
          <a:prstGeom prst="rect">
            <a:avLst/>
          </a:prstGeom>
          <a:noFill/>
        </p:spPr>
        <p:txBody>
          <a:bodyPr wrap="square">
            <a:spAutoFit/>
          </a:bodyPr>
          <a:lstStyle/>
          <a:p>
            <a:pPr algn="ctr"/>
            <a:r>
              <a:rPr lang="ja-JP" altLang="en-US" b="1" dirty="0">
                <a:solidFill>
                  <a:schemeClr val="tx1">
                    <a:lumMod val="50000"/>
                    <a:lumOff val="50000"/>
                  </a:schemeClr>
                </a:solidFill>
                <a:latin typeface="Meiryo"/>
                <a:ea typeface="Meiryo"/>
                <a:sym typeface="Meiryo"/>
              </a:rPr>
              <a:t>サービス停止中</a:t>
            </a:r>
            <a:endParaRPr lang="ja-JP" altLang="en-US" b="1" dirty="0">
              <a:solidFill>
                <a:schemeClr val="tx1">
                  <a:lumMod val="50000"/>
                  <a:lumOff val="50000"/>
                </a:schemeClr>
              </a:solidFill>
            </a:endParaRPr>
          </a:p>
        </p:txBody>
      </p:sp>
      <p:sp>
        <p:nvSpPr>
          <p:cNvPr id="28" name="テキスト ボックス 27">
            <a:extLst>
              <a:ext uri="{FF2B5EF4-FFF2-40B4-BE49-F238E27FC236}">
                <a16:creationId xmlns:a16="http://schemas.microsoft.com/office/drawing/2014/main" id="{F730E614-90C4-E99C-1611-CBB84BD8881C}"/>
              </a:ext>
            </a:extLst>
          </p:cNvPr>
          <p:cNvSpPr txBox="1"/>
          <p:nvPr/>
        </p:nvSpPr>
        <p:spPr>
          <a:xfrm>
            <a:off x="6680454" y="2978410"/>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（期間合計）</a:t>
            </a:r>
            <a:endParaRPr lang="ja-JP" altLang="en-US" sz="2000" dirty="0">
              <a:solidFill>
                <a:srgbClr val="FF0000"/>
              </a:solidFill>
            </a:endParaRPr>
          </a:p>
        </p:txBody>
      </p:sp>
      <p:sp>
        <p:nvSpPr>
          <p:cNvPr id="29" name="テキスト ボックス 28">
            <a:extLst>
              <a:ext uri="{FF2B5EF4-FFF2-40B4-BE49-F238E27FC236}">
                <a16:creationId xmlns:a16="http://schemas.microsoft.com/office/drawing/2014/main" id="{BD4CB354-FCE0-FE83-2308-4BB89D24B9EE}"/>
              </a:ext>
            </a:extLst>
          </p:cNvPr>
          <p:cNvSpPr txBox="1"/>
          <p:nvPr/>
        </p:nvSpPr>
        <p:spPr>
          <a:xfrm>
            <a:off x="3474593" y="2972664"/>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（期間合計）</a:t>
            </a:r>
            <a:endParaRPr lang="ja-JP" altLang="en-US" sz="2000" dirty="0">
              <a:solidFill>
                <a:srgbClr val="FF0000"/>
              </a:solidFill>
            </a:endParaRPr>
          </a:p>
        </p:txBody>
      </p:sp>
      <p:sp>
        <p:nvSpPr>
          <p:cNvPr id="30" name="テキスト ボックス 29">
            <a:extLst>
              <a:ext uri="{FF2B5EF4-FFF2-40B4-BE49-F238E27FC236}">
                <a16:creationId xmlns:a16="http://schemas.microsoft.com/office/drawing/2014/main" id="{409CCF04-7F2B-649D-F219-27BCA34C2D62}"/>
              </a:ext>
            </a:extLst>
          </p:cNvPr>
          <p:cNvSpPr txBox="1"/>
          <p:nvPr/>
        </p:nvSpPr>
        <p:spPr>
          <a:xfrm>
            <a:off x="268451" y="2972664"/>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a:t>
            </a:r>
            <a:r>
              <a:rPr lang="en-US" altLang="ja-JP" sz="1200" dirty="0">
                <a:latin typeface="Meiryo"/>
                <a:ea typeface="Meiryo"/>
                <a:sym typeface="Meiryo"/>
              </a:rPr>
              <a:t>1</a:t>
            </a:r>
            <a:r>
              <a:rPr lang="ja-JP" altLang="en-US" sz="1200" dirty="0">
                <a:latin typeface="Meiryo"/>
                <a:ea typeface="Meiryo"/>
                <a:sym typeface="Meiryo"/>
              </a:rPr>
              <a:t>ヶ月</a:t>
            </a:r>
            <a:r>
              <a:rPr lang="en-US" altLang="ja-JP" sz="1200" dirty="0">
                <a:latin typeface="Meiryo"/>
                <a:ea typeface="Meiryo"/>
                <a:sym typeface="Meiryo"/>
              </a:rPr>
              <a:t>~</a:t>
            </a:r>
            <a:r>
              <a:rPr lang="ja-JP" altLang="en-US" sz="1200" dirty="0">
                <a:latin typeface="Meiryo"/>
                <a:ea typeface="Meiryo"/>
                <a:sym typeface="Meiryo"/>
              </a:rPr>
              <a:t>）</a:t>
            </a:r>
            <a:endParaRPr lang="ja-JP" altLang="en-US" sz="2000" dirty="0">
              <a:solidFill>
                <a:srgbClr val="FF0000"/>
              </a:solidFill>
            </a:endParaRPr>
          </a:p>
        </p:txBody>
      </p:sp>
      <p:sp>
        <p:nvSpPr>
          <p:cNvPr id="31" name="正方形/長方形 30">
            <a:extLst>
              <a:ext uri="{FF2B5EF4-FFF2-40B4-BE49-F238E27FC236}">
                <a16:creationId xmlns:a16="http://schemas.microsoft.com/office/drawing/2014/main" id="{48479E1B-BB51-2C74-9251-6EC7A8EFC419}"/>
              </a:ext>
            </a:extLst>
          </p:cNvPr>
          <p:cNvSpPr/>
          <p:nvPr/>
        </p:nvSpPr>
        <p:spPr>
          <a:xfrm>
            <a:off x="663410" y="899253"/>
            <a:ext cx="8628148"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ja-JP" altLang="en-US" sz="1600" b="1" dirty="0">
                <a:solidFill>
                  <a:schemeClr val="tx1">
                    <a:lumMod val="65000"/>
                    <a:lumOff val="35000"/>
                  </a:schemeClr>
                </a:solidFill>
                <a:latin typeface="Meiryo"/>
                <a:ea typeface="Meiryo"/>
                <a:cs typeface="Meiryo"/>
                <a:sym typeface="Meiryo"/>
              </a:rPr>
              <a:t>各拡張施策についても</a:t>
            </a:r>
            <a:r>
              <a:rPr lang="en-US" altLang="ja-JP" sz="1600" b="1" dirty="0">
                <a:solidFill>
                  <a:schemeClr val="tx1">
                    <a:lumMod val="65000"/>
                    <a:lumOff val="35000"/>
                  </a:schemeClr>
                </a:solidFill>
                <a:latin typeface="Meiryo"/>
                <a:ea typeface="Meiryo"/>
                <a:cs typeface="Meiryo"/>
                <a:sym typeface="Meiryo"/>
              </a:rPr>
              <a:t>MIN</a:t>
            </a:r>
            <a:r>
              <a:rPr lang="ja-JP" altLang="en-US" sz="1600" b="1" dirty="0">
                <a:solidFill>
                  <a:schemeClr val="tx1">
                    <a:lumMod val="65000"/>
                    <a:lumOff val="35000"/>
                  </a:schemeClr>
                </a:solidFill>
                <a:latin typeface="Meiryo"/>
                <a:ea typeface="Meiryo"/>
                <a:cs typeface="Meiryo"/>
                <a:sym typeface="Meiryo"/>
              </a:rPr>
              <a:t>金額からの発注、動線設計が可能です。</a:t>
            </a:r>
            <a:endParaRPr lang="en-US" altLang="ja-JP" sz="1600" b="1" dirty="0">
              <a:solidFill>
                <a:schemeClr val="tx1">
                  <a:lumMod val="65000"/>
                  <a:lumOff val="35000"/>
                </a:schemeClr>
              </a:solidFill>
              <a:latin typeface="Meiryo"/>
              <a:ea typeface="Meiryo"/>
              <a:cs typeface="Meiryo"/>
              <a:sym typeface="Meiryo"/>
            </a:endParaRPr>
          </a:p>
          <a:p>
            <a:pPr lvl="0" algn="ctr">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友だち追加後の動線設計（特に友だち追加後すぐ）の検証後の拡大施策として用意。</a:t>
            </a:r>
            <a:endParaRPr lang="en-US" altLang="ja-JP" sz="1600" b="1" dirty="0">
              <a:solidFill>
                <a:schemeClr val="tx1">
                  <a:lumMod val="65000"/>
                  <a:lumOff val="35000"/>
                </a:schemeClr>
              </a:solidFill>
              <a:latin typeface="Meiryo"/>
              <a:ea typeface="Meiryo"/>
              <a:cs typeface="Meiryo"/>
              <a:sym typeface="Meiryo"/>
            </a:endParaRPr>
          </a:p>
        </p:txBody>
      </p:sp>
    </p:spTree>
    <p:extLst>
      <p:ext uri="{BB962C8B-B14F-4D97-AF65-F5344CB8AC3E}">
        <p14:creationId xmlns:p14="http://schemas.microsoft.com/office/powerpoint/2010/main" val="172026310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0CEAE-3814-32E7-D45E-2C4EC8610FF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CD37268-DB4A-D96C-3487-68A9F730193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pic>
        <p:nvPicPr>
          <p:cNvPr id="52" name="図 51">
            <a:extLst>
              <a:ext uri="{FF2B5EF4-FFF2-40B4-BE49-F238E27FC236}">
                <a16:creationId xmlns:a16="http://schemas.microsoft.com/office/drawing/2014/main" id="{190D62DD-D102-4473-AB6A-16C880141BF8}"/>
              </a:ext>
            </a:extLst>
          </p:cNvPr>
          <p:cNvPicPr>
            <a:picLocks noChangeAspect="1"/>
          </p:cNvPicPr>
          <p:nvPr/>
        </p:nvPicPr>
        <p:blipFill>
          <a:blip r:embed="rId2"/>
          <a:stretch>
            <a:fillRect/>
          </a:stretch>
        </p:blipFill>
        <p:spPr>
          <a:xfrm>
            <a:off x="554449" y="1858069"/>
            <a:ext cx="4461381" cy="1873780"/>
          </a:xfrm>
          <a:prstGeom prst="rect">
            <a:avLst/>
          </a:prstGeom>
        </p:spPr>
      </p:pic>
      <p:sp>
        <p:nvSpPr>
          <p:cNvPr id="53" name="正方形/長方形 52">
            <a:extLst>
              <a:ext uri="{FF2B5EF4-FFF2-40B4-BE49-F238E27FC236}">
                <a16:creationId xmlns:a16="http://schemas.microsoft.com/office/drawing/2014/main" id="{1E454A9D-8A4D-3389-458B-9DC647A79863}"/>
              </a:ext>
            </a:extLst>
          </p:cNvPr>
          <p:cNvSpPr/>
          <p:nvPr/>
        </p:nvSpPr>
        <p:spPr>
          <a:xfrm>
            <a:off x="419696" y="732614"/>
            <a:ext cx="2365444" cy="67326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lang="en-US" altLang="ja-JP" sz="1600" b="1" dirty="0">
                <a:latin typeface="メイリオ" panose="020B0604030504040204" pitchFamily="50" charset="-128"/>
                <a:ea typeface="メイリオ" panose="020B0604030504040204" pitchFamily="50" charset="-128"/>
              </a:rPr>
              <a:t>LINE</a:t>
            </a:r>
            <a:r>
              <a:rPr lang="ja-JP" altLang="en-US" sz="1600" b="1" dirty="0">
                <a:latin typeface="メイリオ" panose="020B0604030504040204" pitchFamily="50" charset="-128"/>
                <a:ea typeface="メイリオ" panose="020B0604030504040204" pitchFamily="50" charset="-128"/>
              </a:rPr>
              <a:t>広告</a:t>
            </a:r>
            <a:r>
              <a:rPr lang="ja-JP" altLang="en-US" sz="1200" b="1" dirty="0">
                <a:latin typeface="メイリオ" panose="020B0604030504040204" pitchFamily="50" charset="-128"/>
                <a:ea typeface="メイリオ" panose="020B0604030504040204" pitchFamily="50" charset="-128"/>
              </a:rPr>
              <a:t>（友だち追加）</a:t>
            </a:r>
            <a:endParaRPr lang="en-US" altLang="ja-JP" sz="1200" b="1" dirty="0">
              <a:latin typeface="メイリオ" panose="020B0604030504040204" pitchFamily="50" charset="-128"/>
              <a:ea typeface="メイリオ" panose="020B0604030504040204" pitchFamily="50" charset="-128"/>
            </a:endParaRPr>
          </a:p>
          <a:p>
            <a:pPr algn="ctr"/>
            <a:r>
              <a:rPr lang="en-US" altLang="ja-JP" sz="1200" b="1" dirty="0">
                <a:solidFill>
                  <a:srgbClr val="FFFF00"/>
                </a:solidFill>
                <a:latin typeface="メイリオ" panose="020B0604030504040204" pitchFamily="50" charset="-128"/>
                <a:ea typeface="メイリオ" panose="020B0604030504040204" pitchFamily="50" charset="-128"/>
              </a:rPr>
              <a:t>※CPF</a:t>
            </a:r>
            <a:r>
              <a:rPr lang="ja-JP" altLang="en-US" sz="1200" b="1" dirty="0">
                <a:solidFill>
                  <a:srgbClr val="FFFF00"/>
                </a:solidFill>
                <a:latin typeface="メイリオ" panose="020B0604030504040204" pitchFamily="50" charset="-128"/>
                <a:ea typeface="メイリオ" panose="020B0604030504040204" pitchFamily="50" charset="-128"/>
              </a:rPr>
              <a:t>広告</a:t>
            </a:r>
            <a:r>
              <a:rPr lang="en-US" altLang="ja-JP" sz="1200" b="1" dirty="0">
                <a:solidFill>
                  <a:srgbClr val="FFFF00"/>
                </a:solidFill>
                <a:latin typeface="メイリオ" panose="020B0604030504040204" pitchFamily="50" charset="-128"/>
                <a:ea typeface="メイリオ" panose="020B0604030504040204" pitchFamily="50" charset="-128"/>
              </a:rPr>
              <a:t>※</a:t>
            </a:r>
          </a:p>
        </p:txBody>
      </p:sp>
      <p:sp>
        <p:nvSpPr>
          <p:cNvPr id="54" name="正方形/長方形 53">
            <a:extLst>
              <a:ext uri="{FF2B5EF4-FFF2-40B4-BE49-F238E27FC236}">
                <a16:creationId xmlns:a16="http://schemas.microsoft.com/office/drawing/2014/main" id="{CBF7AEFA-2BE6-4972-0C9D-4ED6780F0997}"/>
              </a:ext>
            </a:extLst>
          </p:cNvPr>
          <p:cNvSpPr/>
          <p:nvPr/>
        </p:nvSpPr>
        <p:spPr>
          <a:xfrm>
            <a:off x="2938369" y="776858"/>
            <a:ext cx="6482455"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公式アカウントの友だちを増やすための広告を、</a:t>
            </a:r>
            <a:br>
              <a:rPr lang="en-US" altLang="ja-JP" sz="1600" b="1" dirty="0">
                <a:solidFill>
                  <a:schemeClr val="tx1">
                    <a:lumMod val="65000"/>
                    <a:lumOff val="35000"/>
                  </a:schemeClr>
                </a:solidFill>
                <a:latin typeface="Meiryo"/>
                <a:ea typeface="Meiryo"/>
                <a:cs typeface="Meiryo"/>
                <a:sym typeface="Meiryo"/>
              </a:rPr>
            </a:b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広告の管理画面より</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アプリ内で掲載できる機能。</a:t>
            </a:r>
            <a:endParaRPr lang="en-US" altLang="ja-JP" sz="1600" b="1" dirty="0">
              <a:solidFill>
                <a:schemeClr val="tx1">
                  <a:lumMod val="65000"/>
                  <a:lumOff val="35000"/>
                </a:schemeClr>
              </a:solidFill>
              <a:latin typeface="Meiryo"/>
              <a:ea typeface="Meiryo"/>
              <a:cs typeface="Meiryo"/>
              <a:sym typeface="Meiryo"/>
            </a:endParaRPr>
          </a:p>
        </p:txBody>
      </p:sp>
      <p:grpSp>
        <p:nvGrpSpPr>
          <p:cNvPr id="55" name="グループ化 54">
            <a:extLst>
              <a:ext uri="{FF2B5EF4-FFF2-40B4-BE49-F238E27FC236}">
                <a16:creationId xmlns:a16="http://schemas.microsoft.com/office/drawing/2014/main" id="{AA1E2469-A533-1A69-9E3E-DCA5ECAE64F8}"/>
              </a:ext>
            </a:extLst>
          </p:cNvPr>
          <p:cNvGrpSpPr/>
          <p:nvPr/>
        </p:nvGrpSpPr>
        <p:grpSpPr>
          <a:xfrm>
            <a:off x="516143" y="1563631"/>
            <a:ext cx="2696339" cy="312276"/>
            <a:chOff x="548883" y="1619331"/>
            <a:chExt cx="2696339" cy="312276"/>
          </a:xfrm>
        </p:grpSpPr>
        <p:sp>
          <p:nvSpPr>
            <p:cNvPr id="56" name="四角形: 角を丸くする 55">
              <a:extLst>
                <a:ext uri="{FF2B5EF4-FFF2-40B4-BE49-F238E27FC236}">
                  <a16:creationId xmlns:a16="http://schemas.microsoft.com/office/drawing/2014/main" id="{A2BD085E-2BC4-9C8E-5DC8-B72B3DDB8E8D}"/>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sp>
          <p:nvSpPr>
            <p:cNvPr id="57" name="正方形/長方形 56">
              <a:extLst>
                <a:ext uri="{FF2B5EF4-FFF2-40B4-BE49-F238E27FC236}">
                  <a16:creationId xmlns:a16="http://schemas.microsoft.com/office/drawing/2014/main" id="{560B246B-790F-6D05-28ED-13ABB1AF3BEC}"/>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en-US" altLang="ja-JP" sz="1200" b="1" dirty="0">
                  <a:solidFill>
                    <a:srgbClr val="0070C0"/>
                  </a:solidFill>
                  <a:latin typeface="Meiryo"/>
                  <a:ea typeface="Meiryo"/>
                  <a:cs typeface="Meiryo"/>
                  <a:sym typeface="Meiryo"/>
                </a:rPr>
                <a:t>LINE</a:t>
              </a:r>
              <a:r>
                <a:rPr lang="ja-JP" altLang="en-US" sz="1200" b="1" dirty="0">
                  <a:solidFill>
                    <a:srgbClr val="0070C0"/>
                  </a:solidFill>
                  <a:latin typeface="Meiryo"/>
                  <a:ea typeface="Meiryo"/>
                  <a:cs typeface="Meiryo"/>
                  <a:sym typeface="Meiryo"/>
                </a:rPr>
                <a:t>公式アカウントまでの導線</a:t>
              </a:r>
              <a:endParaRPr lang="en-US" altLang="ja-JP" sz="1200" b="1" dirty="0">
                <a:solidFill>
                  <a:srgbClr val="0070C0"/>
                </a:solidFill>
                <a:latin typeface="Meiryo"/>
                <a:ea typeface="Meiryo"/>
                <a:cs typeface="Meiryo"/>
                <a:sym typeface="Meiryo"/>
              </a:endParaRPr>
            </a:p>
          </p:txBody>
        </p:sp>
      </p:grpSp>
      <p:grpSp>
        <p:nvGrpSpPr>
          <p:cNvPr id="58" name="グループ化 57">
            <a:extLst>
              <a:ext uri="{FF2B5EF4-FFF2-40B4-BE49-F238E27FC236}">
                <a16:creationId xmlns:a16="http://schemas.microsoft.com/office/drawing/2014/main" id="{27EC4882-F1F7-3407-18D9-449D2F776799}"/>
              </a:ext>
            </a:extLst>
          </p:cNvPr>
          <p:cNvGrpSpPr/>
          <p:nvPr/>
        </p:nvGrpSpPr>
        <p:grpSpPr>
          <a:xfrm>
            <a:off x="516142" y="3819645"/>
            <a:ext cx="2696339" cy="312276"/>
            <a:chOff x="548883" y="1619331"/>
            <a:chExt cx="2696339" cy="312276"/>
          </a:xfrm>
        </p:grpSpPr>
        <p:sp>
          <p:nvSpPr>
            <p:cNvPr id="59" name="四角形: 角を丸くする 58">
              <a:extLst>
                <a:ext uri="{FF2B5EF4-FFF2-40B4-BE49-F238E27FC236}">
                  <a16:creationId xmlns:a16="http://schemas.microsoft.com/office/drawing/2014/main" id="{6B1769D7-5324-51AE-1D2D-802E7FFC46C9}"/>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sp>
          <p:nvSpPr>
            <p:cNvPr id="60" name="正方形/長方形 59">
              <a:extLst>
                <a:ext uri="{FF2B5EF4-FFF2-40B4-BE49-F238E27FC236}">
                  <a16:creationId xmlns:a16="http://schemas.microsoft.com/office/drawing/2014/main" id="{A0FD1FD7-9083-04AC-7FC2-C1EDD68A2FCA}"/>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ja-JP" altLang="en-US" sz="1200" b="1" dirty="0">
                  <a:solidFill>
                    <a:srgbClr val="0070C0"/>
                  </a:solidFill>
                  <a:latin typeface="Meiryo"/>
                  <a:ea typeface="Meiryo"/>
                  <a:cs typeface="Meiryo"/>
                  <a:sym typeface="Meiryo"/>
                </a:rPr>
                <a:t>「友だち追加広告」との違い</a:t>
              </a:r>
              <a:endParaRPr lang="en-US" altLang="ja-JP" sz="1200" b="1" dirty="0">
                <a:solidFill>
                  <a:srgbClr val="0070C0"/>
                </a:solidFill>
                <a:latin typeface="Meiryo"/>
                <a:ea typeface="Meiryo"/>
                <a:cs typeface="Meiryo"/>
                <a:sym typeface="Meiryo"/>
              </a:endParaRPr>
            </a:p>
          </p:txBody>
        </p:sp>
      </p:grpSp>
      <p:pic>
        <p:nvPicPr>
          <p:cNvPr id="61" name="table">
            <a:extLst>
              <a:ext uri="{FF2B5EF4-FFF2-40B4-BE49-F238E27FC236}">
                <a16:creationId xmlns:a16="http://schemas.microsoft.com/office/drawing/2014/main" id="{9AC26B4B-6733-A76D-2762-4EE39F3BE270}"/>
              </a:ext>
            </a:extLst>
          </p:cNvPr>
          <p:cNvPicPr>
            <a:picLocks noChangeAspect="1"/>
          </p:cNvPicPr>
          <p:nvPr/>
        </p:nvPicPr>
        <p:blipFill>
          <a:blip r:embed="rId3"/>
          <a:stretch>
            <a:fillRect/>
          </a:stretch>
        </p:blipFill>
        <p:spPr>
          <a:xfrm>
            <a:off x="787611" y="4201880"/>
            <a:ext cx="8672139" cy="2202180"/>
          </a:xfrm>
          <a:prstGeom prst="rect">
            <a:avLst/>
          </a:prstGeom>
        </p:spPr>
      </p:pic>
      <p:sp>
        <p:nvSpPr>
          <p:cNvPr id="62" name="矢印: 右 61">
            <a:extLst>
              <a:ext uri="{FF2B5EF4-FFF2-40B4-BE49-F238E27FC236}">
                <a16:creationId xmlns:a16="http://schemas.microsoft.com/office/drawing/2014/main" id="{FAA46C63-E291-C5BA-59B1-5AA6EB934DE7}"/>
              </a:ext>
            </a:extLst>
          </p:cNvPr>
          <p:cNvSpPr/>
          <p:nvPr/>
        </p:nvSpPr>
        <p:spPr>
          <a:xfrm>
            <a:off x="5232623" y="2618810"/>
            <a:ext cx="430306" cy="352298"/>
          </a:xfrm>
          <a:prstGeom prst="rightArrow">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pic>
        <p:nvPicPr>
          <p:cNvPr id="63" name="図 62">
            <a:extLst>
              <a:ext uri="{FF2B5EF4-FFF2-40B4-BE49-F238E27FC236}">
                <a16:creationId xmlns:a16="http://schemas.microsoft.com/office/drawing/2014/main" id="{15AB3743-9D18-6CD5-EBAE-3179EFAD1455}"/>
              </a:ext>
            </a:extLst>
          </p:cNvPr>
          <p:cNvPicPr>
            <a:picLocks noChangeAspect="1"/>
          </p:cNvPicPr>
          <p:nvPr/>
        </p:nvPicPr>
        <p:blipFill>
          <a:blip r:embed="rId4"/>
          <a:srcRect l="35517" r="35515"/>
          <a:stretch>
            <a:fillRect/>
          </a:stretch>
        </p:blipFill>
        <p:spPr>
          <a:xfrm>
            <a:off x="6038472" y="1875907"/>
            <a:ext cx="917480" cy="1779333"/>
          </a:xfrm>
          <a:prstGeom prst="rect">
            <a:avLst/>
          </a:prstGeom>
        </p:spPr>
      </p:pic>
      <p:sp>
        <p:nvSpPr>
          <p:cNvPr id="64" name="テキスト ボックス 34">
            <a:extLst>
              <a:ext uri="{FF2B5EF4-FFF2-40B4-BE49-F238E27FC236}">
                <a16:creationId xmlns:a16="http://schemas.microsoft.com/office/drawing/2014/main" id="{F684D30B-FB35-7D4D-6BE2-919C8EE56C1F}"/>
              </a:ext>
            </a:extLst>
          </p:cNvPr>
          <p:cNvSpPr txBox="1"/>
          <p:nvPr/>
        </p:nvSpPr>
        <p:spPr>
          <a:xfrm>
            <a:off x="6868291" y="2618810"/>
            <a:ext cx="2705100" cy="52322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kumimoji="1" lang="en-US" altLang="ja-JP" sz="1200" dirty="0">
                <a:latin typeface="メイリオ" panose="020B0604030504040204" pitchFamily="50" charset="-128"/>
                <a:ea typeface="メイリオ" panose="020B0604030504040204" pitchFamily="50" charset="-128"/>
              </a:rPr>
              <a:t>LINE</a:t>
            </a:r>
            <a:r>
              <a:rPr kumimoji="1" lang="ja-JP" altLang="en-US" sz="1200" dirty="0">
                <a:latin typeface="メイリオ" panose="020B0604030504040204" pitchFamily="50" charset="-128"/>
                <a:ea typeface="メイリオ" panose="020B0604030504040204" pitchFamily="50" charset="-128"/>
              </a:rPr>
              <a:t>アプリ内から</a:t>
            </a:r>
            <a:br>
              <a:rPr kumimoji="1" lang="en-US" altLang="ja-JP" sz="1200" dirty="0">
                <a:latin typeface="メイリオ" panose="020B0604030504040204" pitchFamily="50" charset="-128"/>
                <a:ea typeface="メイリオ" panose="020B0604030504040204" pitchFamily="50" charset="-128"/>
              </a:rPr>
            </a:br>
            <a:r>
              <a:rPr kumimoji="1" lang="ja-JP" altLang="en-US" sz="1200" dirty="0">
                <a:latin typeface="メイリオ" panose="020B0604030504040204" pitchFamily="50" charset="-128"/>
                <a:ea typeface="メイリオ" panose="020B0604030504040204" pitchFamily="50" charset="-128"/>
              </a:rPr>
              <a:t>自社アカウントに</a:t>
            </a:r>
            <a:r>
              <a:rPr kumimoji="1" lang="en-US" altLang="ja-JP" sz="1600" b="1" dirty="0">
                <a:solidFill>
                  <a:srgbClr val="33CC33"/>
                </a:solidFill>
                <a:latin typeface="メイリオ" panose="020B0604030504040204" pitchFamily="50" charset="-128"/>
                <a:ea typeface="メイリオ" panose="020B0604030504040204" pitchFamily="50" charset="-128"/>
              </a:rPr>
              <a:t>“</a:t>
            </a:r>
            <a:r>
              <a:rPr kumimoji="1" lang="ja-JP" altLang="en-US" sz="1600" b="1" dirty="0">
                <a:solidFill>
                  <a:srgbClr val="33CC33"/>
                </a:solidFill>
                <a:latin typeface="メイリオ" panose="020B0604030504040204" pitchFamily="50" charset="-128"/>
                <a:ea typeface="メイリオ" panose="020B0604030504040204" pitchFamily="50" charset="-128"/>
              </a:rPr>
              <a:t>直接</a:t>
            </a:r>
            <a:r>
              <a:rPr kumimoji="1" lang="en-US" altLang="ja-JP" sz="1600" b="1" dirty="0">
                <a:solidFill>
                  <a:srgbClr val="33CC33"/>
                </a:solidFill>
                <a:latin typeface="メイリオ" panose="020B0604030504040204" pitchFamily="50" charset="-128"/>
                <a:ea typeface="メイリオ" panose="020B0604030504040204" pitchFamily="50" charset="-128"/>
              </a:rPr>
              <a:t>”</a:t>
            </a:r>
            <a:r>
              <a:rPr kumimoji="1" lang="ja-JP" altLang="en-US" sz="1200" dirty="0">
                <a:latin typeface="メイリオ" panose="020B0604030504040204" pitchFamily="50" charset="-128"/>
                <a:ea typeface="メイリオ" panose="020B0604030504040204" pitchFamily="50" charset="-128"/>
              </a:rPr>
              <a:t>誘導</a:t>
            </a:r>
            <a:endParaRPr kumimoji="1" lang="en-US" altLang="ja-JP" sz="12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57411890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72D1DD-CAE7-7DB8-9684-F3A91B9AE85F}"/>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C357DA0F-C67D-8DDD-608D-27940C40784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26E1192D-9AA2-9014-0964-28399C9BEE8D}"/>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06</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C6DC77DA-F435-23D0-D2CE-3DB2470F38A6}"/>
              </a:ext>
            </a:extLst>
          </p:cNvPr>
          <p:cNvSpPr txBox="1"/>
          <p:nvPr/>
        </p:nvSpPr>
        <p:spPr>
          <a:xfrm>
            <a:off x="1867143" y="1043132"/>
            <a:ext cx="5966217"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次回ご提案に向けて</a:t>
            </a:r>
          </a:p>
        </p:txBody>
      </p:sp>
      <p:cxnSp>
        <p:nvCxnSpPr>
          <p:cNvPr id="17" name="直線コネクタ 16">
            <a:extLst>
              <a:ext uri="{FF2B5EF4-FFF2-40B4-BE49-F238E27FC236}">
                <a16:creationId xmlns:a16="http://schemas.microsoft.com/office/drawing/2014/main" id="{3F50B547-1157-51AB-1A19-0181140945B2}"/>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667232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4FD29-E6FC-0B1A-9DA4-17FF75836D9E}"/>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4048A3F-BF68-8CBE-2D2A-EA19B4DB550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提案に向けて明確化したいポイント①　施策の重要度</a:t>
            </a:r>
          </a:p>
        </p:txBody>
      </p:sp>
      <p:sp>
        <p:nvSpPr>
          <p:cNvPr id="5" name="Rectangle 2">
            <a:extLst>
              <a:ext uri="{FF2B5EF4-FFF2-40B4-BE49-F238E27FC236}">
                <a16:creationId xmlns:a16="http://schemas.microsoft.com/office/drawing/2014/main" id="{234E3E2F-FF11-E565-7999-FABF8B29646D}"/>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1600" b="1">
                <a:solidFill>
                  <a:srgbClr val="4A6FA5"/>
                </a:solidFill>
                <a:latin typeface="メイリオ"/>
                <a:ea typeface="メイリオ"/>
                <a:cs typeface="メイリオ"/>
              </a:rPr>
              <a:t>新規／既存／ファン化／効率化のうち、何を、どの程度重視するか</a:t>
            </a:r>
          </a:p>
        </p:txBody>
      </p:sp>
      <p:sp>
        <p:nvSpPr>
          <p:cNvPr id="7" name="Rectangle 3">
            <a:extLst>
              <a:ext uri="{FF2B5EF4-FFF2-40B4-BE49-F238E27FC236}">
                <a16:creationId xmlns:a16="http://schemas.microsoft.com/office/drawing/2014/main" id="{0E411E5A-CC07-761C-CB20-F06A383B1BB9}"/>
              </a:ext>
            </a:extLst>
          </p:cNvPr>
          <p:cNvSpPr/>
          <p:nvPr/>
        </p:nvSpPr>
        <p:spPr>
          <a:xfrm>
            <a:off x="1632204" y="1746073"/>
            <a:ext cx="1252728" cy="41148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軸</a:t>
            </a:r>
          </a:p>
        </p:txBody>
      </p:sp>
      <p:sp>
        <p:nvSpPr>
          <p:cNvPr id="9" name="Rectangle 4">
            <a:extLst>
              <a:ext uri="{FF2B5EF4-FFF2-40B4-BE49-F238E27FC236}">
                <a16:creationId xmlns:a16="http://schemas.microsoft.com/office/drawing/2014/main" id="{7E370F07-31E8-4A03-CB72-CF991FB2B5C1}"/>
              </a:ext>
            </a:extLst>
          </p:cNvPr>
          <p:cNvSpPr/>
          <p:nvPr/>
        </p:nvSpPr>
        <p:spPr>
          <a:xfrm>
            <a:off x="2912363" y="1746073"/>
            <a:ext cx="3995928" cy="41148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施策の例</a:t>
            </a:r>
          </a:p>
        </p:txBody>
      </p:sp>
      <p:sp>
        <p:nvSpPr>
          <p:cNvPr id="11" name="Rectangle 5">
            <a:extLst>
              <a:ext uri="{FF2B5EF4-FFF2-40B4-BE49-F238E27FC236}">
                <a16:creationId xmlns:a16="http://schemas.microsoft.com/office/drawing/2014/main" id="{3AA8E495-6AA3-81B3-F377-60D6929EA446}"/>
              </a:ext>
            </a:extLst>
          </p:cNvPr>
          <p:cNvSpPr/>
          <p:nvPr/>
        </p:nvSpPr>
        <p:spPr>
          <a:xfrm>
            <a:off x="6935724" y="1746073"/>
            <a:ext cx="1344168" cy="41148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重要度</a:t>
            </a:r>
          </a:p>
        </p:txBody>
      </p:sp>
      <p:sp>
        <p:nvSpPr>
          <p:cNvPr id="18" name="Rectangle 7">
            <a:extLst>
              <a:ext uri="{FF2B5EF4-FFF2-40B4-BE49-F238E27FC236}">
                <a16:creationId xmlns:a16="http://schemas.microsoft.com/office/drawing/2014/main" id="{0DE26C81-EAA6-9BC7-2010-07A0AE499222}"/>
              </a:ext>
            </a:extLst>
          </p:cNvPr>
          <p:cNvSpPr/>
          <p:nvPr/>
        </p:nvSpPr>
        <p:spPr>
          <a:xfrm>
            <a:off x="1632204" y="2194129"/>
            <a:ext cx="1252728" cy="877824"/>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新規</a:t>
            </a:r>
          </a:p>
        </p:txBody>
      </p:sp>
      <p:sp>
        <p:nvSpPr>
          <p:cNvPr id="20" name="Rectangle 8">
            <a:extLst>
              <a:ext uri="{FF2B5EF4-FFF2-40B4-BE49-F238E27FC236}">
                <a16:creationId xmlns:a16="http://schemas.microsoft.com/office/drawing/2014/main" id="{104C26B0-503F-BDBF-1F0A-FBB30E665B09}"/>
              </a:ext>
            </a:extLst>
          </p:cNvPr>
          <p:cNvSpPr/>
          <p:nvPr/>
        </p:nvSpPr>
        <p:spPr>
          <a:xfrm>
            <a:off x="2912363" y="2194129"/>
            <a:ext cx="399592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dirty="0" err="1">
                <a:solidFill>
                  <a:srgbClr val="333333"/>
                </a:solidFill>
                <a:latin typeface="メイリオ"/>
                <a:ea typeface="メイリオ"/>
                <a:cs typeface="メイリオ"/>
              </a:rPr>
              <a:t>友だち追加の入口を増やす</a:t>
            </a:r>
            <a:br>
              <a:rPr sz="1400" b="0" dirty="0" err="1">
                <a:solidFill>
                  <a:srgbClr val="333333"/>
                </a:solidFill>
                <a:latin typeface="メイリオ"/>
                <a:ea typeface="メイリオ"/>
                <a:cs typeface="メイリオ"/>
              </a:rPr>
            </a:br>
            <a:r>
              <a:rPr sz="1400" b="0" dirty="0" err="1">
                <a:solidFill>
                  <a:srgbClr val="333333"/>
                </a:solidFill>
                <a:latin typeface="メイリオ"/>
                <a:ea typeface="メイリオ"/>
                <a:cs typeface="メイリオ"/>
              </a:rPr>
              <a:t>（ポップアップ・広告・店頭）</a:t>
            </a:r>
          </a:p>
        </p:txBody>
      </p:sp>
      <p:sp>
        <p:nvSpPr>
          <p:cNvPr id="23" name="Rectangle 9">
            <a:extLst>
              <a:ext uri="{FF2B5EF4-FFF2-40B4-BE49-F238E27FC236}">
                <a16:creationId xmlns:a16="http://schemas.microsoft.com/office/drawing/2014/main" id="{4D555954-77CD-7E09-CEBD-4C58033525FD}"/>
              </a:ext>
            </a:extLst>
          </p:cNvPr>
          <p:cNvSpPr/>
          <p:nvPr/>
        </p:nvSpPr>
        <p:spPr>
          <a:xfrm>
            <a:off x="6935724" y="2194129"/>
            <a:ext cx="1344168" cy="877824"/>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400" b="0">
                <a:solidFill>
                  <a:srgbClr val="999999"/>
                </a:solidFill>
                <a:latin typeface="メイリオ"/>
                <a:ea typeface="メイリオ"/>
                <a:cs typeface="メイリオ"/>
              </a:rPr>
              <a:t>◎ ○ △</a:t>
            </a:r>
          </a:p>
        </p:txBody>
      </p:sp>
      <p:sp>
        <p:nvSpPr>
          <p:cNvPr id="27" name="Rectangle 11">
            <a:extLst>
              <a:ext uri="{FF2B5EF4-FFF2-40B4-BE49-F238E27FC236}">
                <a16:creationId xmlns:a16="http://schemas.microsoft.com/office/drawing/2014/main" id="{CB2A3195-221A-72EE-7427-467D873BA83B}"/>
              </a:ext>
            </a:extLst>
          </p:cNvPr>
          <p:cNvSpPr/>
          <p:nvPr/>
        </p:nvSpPr>
        <p:spPr>
          <a:xfrm>
            <a:off x="1632204" y="3108529"/>
            <a:ext cx="1252728" cy="877824"/>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既存</a:t>
            </a:r>
          </a:p>
        </p:txBody>
      </p:sp>
      <p:sp>
        <p:nvSpPr>
          <p:cNvPr id="29" name="Rectangle 12">
            <a:extLst>
              <a:ext uri="{FF2B5EF4-FFF2-40B4-BE49-F238E27FC236}">
                <a16:creationId xmlns:a16="http://schemas.microsoft.com/office/drawing/2014/main" id="{A4AC3903-60B0-B8B7-E4C3-00D581DF3EF8}"/>
              </a:ext>
            </a:extLst>
          </p:cNvPr>
          <p:cNvSpPr/>
          <p:nvPr/>
        </p:nvSpPr>
        <p:spPr>
          <a:xfrm>
            <a:off x="2912363" y="3108529"/>
            <a:ext cx="399592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既存の友だち・顧客へのCV・リピート促進</a:t>
            </a:r>
          </a:p>
        </p:txBody>
      </p:sp>
      <p:sp>
        <p:nvSpPr>
          <p:cNvPr id="31" name="Rectangle 13">
            <a:extLst>
              <a:ext uri="{FF2B5EF4-FFF2-40B4-BE49-F238E27FC236}">
                <a16:creationId xmlns:a16="http://schemas.microsoft.com/office/drawing/2014/main" id="{584CF8C4-B5B9-FFE8-EA87-8C8DDDF96F7B}"/>
              </a:ext>
            </a:extLst>
          </p:cNvPr>
          <p:cNvSpPr/>
          <p:nvPr/>
        </p:nvSpPr>
        <p:spPr>
          <a:xfrm>
            <a:off x="6935724" y="3108529"/>
            <a:ext cx="1344168" cy="877824"/>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400" b="0">
                <a:solidFill>
                  <a:srgbClr val="999999"/>
                </a:solidFill>
                <a:latin typeface="メイリオ"/>
                <a:ea typeface="メイリオ"/>
                <a:cs typeface="メイリオ"/>
              </a:rPr>
              <a:t>◎ ○ △</a:t>
            </a:r>
          </a:p>
        </p:txBody>
      </p:sp>
      <p:sp>
        <p:nvSpPr>
          <p:cNvPr id="35" name="Rectangle 15">
            <a:extLst>
              <a:ext uri="{FF2B5EF4-FFF2-40B4-BE49-F238E27FC236}">
                <a16:creationId xmlns:a16="http://schemas.microsoft.com/office/drawing/2014/main" id="{6C54381C-EDB8-6610-8581-D5F4C5355345}"/>
              </a:ext>
            </a:extLst>
          </p:cNvPr>
          <p:cNvSpPr/>
          <p:nvPr/>
        </p:nvSpPr>
        <p:spPr>
          <a:xfrm>
            <a:off x="1632204" y="4022929"/>
            <a:ext cx="1252728" cy="877824"/>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ファン化</a:t>
            </a:r>
          </a:p>
        </p:txBody>
      </p:sp>
      <p:sp>
        <p:nvSpPr>
          <p:cNvPr id="37" name="Rectangle 16">
            <a:extLst>
              <a:ext uri="{FF2B5EF4-FFF2-40B4-BE49-F238E27FC236}">
                <a16:creationId xmlns:a16="http://schemas.microsoft.com/office/drawing/2014/main" id="{9C16E17E-2CCE-D35F-C811-2C0A6D66E20F}"/>
              </a:ext>
            </a:extLst>
          </p:cNvPr>
          <p:cNvSpPr/>
          <p:nvPr/>
        </p:nvSpPr>
        <p:spPr>
          <a:xfrm>
            <a:off x="2912363" y="4022929"/>
            <a:ext cx="399592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限定コミュニティ・特典でLTVを高める</a:t>
            </a:r>
          </a:p>
        </p:txBody>
      </p:sp>
      <p:sp>
        <p:nvSpPr>
          <p:cNvPr id="39" name="Rectangle 17">
            <a:extLst>
              <a:ext uri="{FF2B5EF4-FFF2-40B4-BE49-F238E27FC236}">
                <a16:creationId xmlns:a16="http://schemas.microsoft.com/office/drawing/2014/main" id="{6F107650-F753-AB36-FB6A-2B9143014268}"/>
              </a:ext>
            </a:extLst>
          </p:cNvPr>
          <p:cNvSpPr/>
          <p:nvPr/>
        </p:nvSpPr>
        <p:spPr>
          <a:xfrm>
            <a:off x="6935724" y="4022929"/>
            <a:ext cx="1344168" cy="877824"/>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400" b="0">
                <a:solidFill>
                  <a:srgbClr val="999999"/>
                </a:solidFill>
                <a:latin typeface="メイリオ"/>
                <a:ea typeface="メイリオ"/>
                <a:cs typeface="メイリオ"/>
              </a:rPr>
              <a:t>◎ ○ △</a:t>
            </a:r>
          </a:p>
        </p:txBody>
      </p:sp>
      <p:sp>
        <p:nvSpPr>
          <p:cNvPr id="43" name="Rectangle 19">
            <a:extLst>
              <a:ext uri="{FF2B5EF4-FFF2-40B4-BE49-F238E27FC236}">
                <a16:creationId xmlns:a16="http://schemas.microsoft.com/office/drawing/2014/main" id="{16CB7492-2668-EFB7-5628-A5714FE43E02}"/>
              </a:ext>
            </a:extLst>
          </p:cNvPr>
          <p:cNvSpPr/>
          <p:nvPr/>
        </p:nvSpPr>
        <p:spPr>
          <a:xfrm>
            <a:off x="1632204" y="4937329"/>
            <a:ext cx="1252728" cy="877824"/>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効率化</a:t>
            </a:r>
          </a:p>
        </p:txBody>
      </p:sp>
      <p:sp>
        <p:nvSpPr>
          <p:cNvPr id="45" name="Rectangle 20">
            <a:extLst>
              <a:ext uri="{FF2B5EF4-FFF2-40B4-BE49-F238E27FC236}">
                <a16:creationId xmlns:a16="http://schemas.microsoft.com/office/drawing/2014/main" id="{B7F2AF46-39FB-CD72-C394-6101BBA1E6AE}"/>
              </a:ext>
            </a:extLst>
          </p:cNvPr>
          <p:cNvSpPr/>
          <p:nvPr/>
        </p:nvSpPr>
        <p:spPr>
          <a:xfrm>
            <a:off x="2912363" y="4937329"/>
            <a:ext cx="399592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通数費・運用工数の削減</a:t>
            </a:r>
            <a:br>
              <a:rPr sz="1400" b="0">
                <a:solidFill>
                  <a:srgbClr val="333333"/>
                </a:solidFill>
                <a:latin typeface="メイリオ"/>
                <a:ea typeface="メイリオ"/>
                <a:cs typeface="メイリオ"/>
              </a:rPr>
            </a:br>
            <a:r>
              <a:rPr sz="1400" b="0">
                <a:solidFill>
                  <a:srgbClr val="333333"/>
                </a:solidFill>
                <a:latin typeface="メイリオ"/>
                <a:ea typeface="メイリオ"/>
                <a:cs typeface="メイリオ"/>
              </a:rPr>
              <a:t>（セグメント・自動化）</a:t>
            </a:r>
          </a:p>
        </p:txBody>
      </p:sp>
      <p:sp>
        <p:nvSpPr>
          <p:cNvPr id="47" name="Rectangle 21">
            <a:extLst>
              <a:ext uri="{FF2B5EF4-FFF2-40B4-BE49-F238E27FC236}">
                <a16:creationId xmlns:a16="http://schemas.microsoft.com/office/drawing/2014/main" id="{1C65ED6F-D773-2D2E-6B1F-B627C96E1B17}"/>
              </a:ext>
            </a:extLst>
          </p:cNvPr>
          <p:cNvSpPr/>
          <p:nvPr/>
        </p:nvSpPr>
        <p:spPr>
          <a:xfrm>
            <a:off x="6935724" y="4937329"/>
            <a:ext cx="1344168" cy="877824"/>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400" b="0">
                <a:solidFill>
                  <a:srgbClr val="999999"/>
                </a:solidFill>
                <a:latin typeface="メイリオ"/>
                <a:ea typeface="メイリオ"/>
                <a:cs typeface="メイリオ"/>
              </a:rPr>
              <a:t>◎ ○ △</a:t>
            </a:r>
          </a:p>
        </p:txBody>
      </p:sp>
      <p:sp>
        <p:nvSpPr>
          <p:cNvPr id="51" name="Rectangle 23">
            <a:extLst>
              <a:ext uri="{FF2B5EF4-FFF2-40B4-BE49-F238E27FC236}">
                <a16:creationId xmlns:a16="http://schemas.microsoft.com/office/drawing/2014/main" id="{B53BF0F8-9B97-5A93-DC50-8004A6ADA6B5}"/>
              </a:ext>
            </a:extLst>
          </p:cNvPr>
          <p:cNvSpPr/>
          <p:nvPr/>
        </p:nvSpPr>
        <p:spPr>
          <a:xfrm>
            <a:off x="384048" y="5893528"/>
            <a:ext cx="9144000" cy="548640"/>
          </a:xfrm>
          <a:prstGeom prst="rect">
            <a:avLst/>
          </a:prstGeom>
          <a:solidFill>
            <a:srgbClr val="F3F5FA"/>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37160" tIns="18288" rIns="137160" bIns="18288" rtlCol="0" anchor="ctr"/>
          <a:lstStyle/>
          <a:p>
            <a:pPr algn="ctr">
              <a:spcAft>
                <a:spcPts val="0"/>
              </a:spcAft>
            </a:pPr>
            <a:r>
              <a:rPr sz="1400" b="1">
                <a:solidFill>
                  <a:srgbClr val="1F2A5C"/>
                </a:solidFill>
                <a:latin typeface="メイリオ"/>
                <a:ea typeface="メイリオ"/>
                <a:cs typeface="メイリオ"/>
              </a:rPr>
              <a:t>◎＝最重視／○＝重視／△＝優先度は低い。ヒアリングで記入し、施策の配分と予算の目安に反映する</a:t>
            </a:r>
          </a:p>
        </p:txBody>
      </p:sp>
      <p:sp>
        <p:nvSpPr>
          <p:cNvPr id="53" name="正方形/長方形 52">
            <a:extLst>
              <a:ext uri="{FF2B5EF4-FFF2-40B4-BE49-F238E27FC236}">
                <a16:creationId xmlns:a16="http://schemas.microsoft.com/office/drawing/2014/main" id="{F6341BEF-3885-9CF9-B1B6-B2D4EA06ED5E}"/>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38606982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FDE2BF-63A1-B882-547A-489CE17D8FD7}"/>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2422549E-4218-60BD-B63F-BC5503BDE6D6}"/>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提案に向けて明確化したいポイント②　既存WEBサイトのパワー</a:t>
            </a:r>
          </a:p>
        </p:txBody>
      </p:sp>
      <p:sp>
        <p:nvSpPr>
          <p:cNvPr id="5" name="Rectangle 2">
            <a:extLst>
              <a:ext uri="{FF2B5EF4-FFF2-40B4-BE49-F238E27FC236}">
                <a16:creationId xmlns:a16="http://schemas.microsoft.com/office/drawing/2014/main" id="{29DDE3F2-B3CE-2F35-E720-21B38FDDB0E2}"/>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spcAft>
                <a:spcPts val="300"/>
              </a:spcAft>
            </a:pPr>
            <a:r>
              <a:rPr lang="ja-JP" altLang="en-US" sz="1600" b="1" dirty="0">
                <a:solidFill>
                  <a:srgbClr val="4A6FA5"/>
                </a:solidFill>
                <a:latin typeface="メイリオ"/>
                <a:ea typeface="メイリオ"/>
                <a:cs typeface="メイリオ"/>
              </a:rPr>
              <a:t>流入量・CV・CV地点から、LINEで拾えるユーザーの規模を見積もる</a:t>
            </a:r>
          </a:p>
        </p:txBody>
      </p:sp>
      <p:sp>
        <p:nvSpPr>
          <p:cNvPr id="53" name="正方形/長方形 52">
            <a:extLst>
              <a:ext uri="{FF2B5EF4-FFF2-40B4-BE49-F238E27FC236}">
                <a16:creationId xmlns:a16="http://schemas.microsoft.com/office/drawing/2014/main" id="{407A83F0-AB60-A7A3-0DE3-ADB4AB087238}"/>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
        <p:nvSpPr>
          <p:cNvPr id="4" name="Rectangle 3">
            <a:extLst>
              <a:ext uri="{FF2B5EF4-FFF2-40B4-BE49-F238E27FC236}">
                <a16:creationId xmlns:a16="http://schemas.microsoft.com/office/drawing/2014/main" id="{EBAA925A-E8DA-FF18-93A2-9EA6DA656475}"/>
              </a:ext>
            </a:extLst>
          </p:cNvPr>
          <p:cNvSpPr/>
          <p:nvPr/>
        </p:nvSpPr>
        <p:spPr>
          <a:xfrm>
            <a:off x="1860804" y="1754781"/>
            <a:ext cx="21671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項目</a:t>
            </a:r>
          </a:p>
        </p:txBody>
      </p:sp>
      <p:sp>
        <p:nvSpPr>
          <p:cNvPr id="8" name="Rectangle 4">
            <a:extLst>
              <a:ext uri="{FF2B5EF4-FFF2-40B4-BE49-F238E27FC236}">
                <a16:creationId xmlns:a16="http://schemas.microsoft.com/office/drawing/2014/main" id="{1F99B4A0-CAAB-226D-724F-0101D5180384}"/>
              </a:ext>
            </a:extLst>
          </p:cNvPr>
          <p:cNvSpPr/>
          <p:nvPr/>
        </p:nvSpPr>
        <p:spPr>
          <a:xfrm>
            <a:off x="4055364" y="1754781"/>
            <a:ext cx="39959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確認内容</a:t>
            </a:r>
          </a:p>
        </p:txBody>
      </p:sp>
      <p:sp>
        <p:nvSpPr>
          <p:cNvPr id="15" name="Rectangle 6">
            <a:extLst>
              <a:ext uri="{FF2B5EF4-FFF2-40B4-BE49-F238E27FC236}">
                <a16:creationId xmlns:a16="http://schemas.microsoft.com/office/drawing/2014/main" id="{ECF4FAB5-94CA-8D75-4428-FE51AE61E877}"/>
              </a:ext>
            </a:extLst>
          </p:cNvPr>
          <p:cNvSpPr/>
          <p:nvPr/>
        </p:nvSpPr>
        <p:spPr>
          <a:xfrm>
            <a:off x="1860804" y="2172101"/>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サイトUU（月間）</a:t>
            </a:r>
          </a:p>
        </p:txBody>
      </p:sp>
      <p:sp>
        <p:nvSpPr>
          <p:cNvPr id="17" name="Rectangle 7">
            <a:extLst>
              <a:ext uri="{FF2B5EF4-FFF2-40B4-BE49-F238E27FC236}">
                <a16:creationId xmlns:a16="http://schemas.microsoft.com/office/drawing/2014/main" id="{59ABF4AC-E182-56EE-AF0A-8E996E913D89}"/>
              </a:ext>
            </a:extLst>
          </p:cNvPr>
          <p:cNvSpPr/>
          <p:nvPr/>
        </p:nvSpPr>
        <p:spPr>
          <a:xfrm>
            <a:off x="4055364" y="2172101"/>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サイト全体のユニークユーザー数</a:t>
            </a:r>
          </a:p>
        </p:txBody>
      </p:sp>
      <p:sp>
        <p:nvSpPr>
          <p:cNvPr id="24" name="Rectangle 9">
            <a:extLst>
              <a:ext uri="{FF2B5EF4-FFF2-40B4-BE49-F238E27FC236}">
                <a16:creationId xmlns:a16="http://schemas.microsoft.com/office/drawing/2014/main" id="{D73FA1D7-BEA3-B981-6155-AEFEF0286995}"/>
              </a:ext>
            </a:extLst>
          </p:cNvPr>
          <p:cNvSpPr/>
          <p:nvPr/>
        </p:nvSpPr>
        <p:spPr>
          <a:xfrm>
            <a:off x="1860804" y="2739899"/>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広告UU・広告費用</a:t>
            </a:r>
          </a:p>
        </p:txBody>
      </p:sp>
      <p:sp>
        <p:nvSpPr>
          <p:cNvPr id="28" name="Rectangle 10">
            <a:extLst>
              <a:ext uri="{FF2B5EF4-FFF2-40B4-BE49-F238E27FC236}">
                <a16:creationId xmlns:a16="http://schemas.microsoft.com/office/drawing/2014/main" id="{C1EFEFFE-E7CB-5EE7-1AB5-590315FE3980}"/>
              </a:ext>
            </a:extLst>
          </p:cNvPr>
          <p:cNvSpPr/>
          <p:nvPr/>
        </p:nvSpPr>
        <p:spPr>
          <a:xfrm>
            <a:off x="4055364" y="2739899"/>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広告経由の流入と月間の広告費</a:t>
            </a:r>
          </a:p>
        </p:txBody>
      </p:sp>
      <p:sp>
        <p:nvSpPr>
          <p:cNvPr id="36" name="Rectangle 12">
            <a:extLst>
              <a:ext uri="{FF2B5EF4-FFF2-40B4-BE49-F238E27FC236}">
                <a16:creationId xmlns:a16="http://schemas.microsoft.com/office/drawing/2014/main" id="{697ECEAF-7BB9-7DE2-205B-BF4102EA1DC3}"/>
              </a:ext>
            </a:extLst>
          </p:cNvPr>
          <p:cNvSpPr/>
          <p:nvPr/>
        </p:nvSpPr>
        <p:spPr>
          <a:xfrm>
            <a:off x="1860804" y="3307697"/>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月間CV数</a:t>
            </a:r>
          </a:p>
        </p:txBody>
      </p:sp>
      <p:sp>
        <p:nvSpPr>
          <p:cNvPr id="40" name="Rectangle 13">
            <a:extLst>
              <a:ext uri="{FF2B5EF4-FFF2-40B4-BE49-F238E27FC236}">
                <a16:creationId xmlns:a16="http://schemas.microsoft.com/office/drawing/2014/main" id="{C02F7488-4398-6603-803E-B682EA6639F8}"/>
              </a:ext>
            </a:extLst>
          </p:cNvPr>
          <p:cNvSpPr/>
          <p:nvPr/>
        </p:nvSpPr>
        <p:spPr>
          <a:xfrm>
            <a:off x="4055364" y="3307697"/>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申込・予約・購入などの件数</a:t>
            </a:r>
          </a:p>
        </p:txBody>
      </p:sp>
      <p:sp>
        <p:nvSpPr>
          <p:cNvPr id="48" name="Rectangle 15">
            <a:extLst>
              <a:ext uri="{FF2B5EF4-FFF2-40B4-BE49-F238E27FC236}">
                <a16:creationId xmlns:a16="http://schemas.microsoft.com/office/drawing/2014/main" id="{61F4857C-44FC-330D-6E38-FCB957103270}"/>
              </a:ext>
            </a:extLst>
          </p:cNvPr>
          <p:cNvSpPr/>
          <p:nvPr/>
        </p:nvSpPr>
        <p:spPr>
          <a:xfrm>
            <a:off x="1860804" y="3875494"/>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CV地点</a:t>
            </a:r>
          </a:p>
        </p:txBody>
      </p:sp>
      <p:sp>
        <p:nvSpPr>
          <p:cNvPr id="52" name="Rectangle 16">
            <a:extLst>
              <a:ext uri="{FF2B5EF4-FFF2-40B4-BE49-F238E27FC236}">
                <a16:creationId xmlns:a16="http://schemas.microsoft.com/office/drawing/2014/main" id="{83517BD4-932E-04BC-6215-04A0EC53978D}"/>
              </a:ext>
            </a:extLst>
          </p:cNvPr>
          <p:cNvSpPr/>
          <p:nvPr/>
        </p:nvSpPr>
        <p:spPr>
          <a:xfrm>
            <a:off x="4055364" y="3875494"/>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電話／フォーム／来店予約／購入など</a:t>
            </a:r>
          </a:p>
        </p:txBody>
      </p:sp>
      <p:sp>
        <p:nvSpPr>
          <p:cNvPr id="57" name="Rectangle 18">
            <a:extLst>
              <a:ext uri="{FF2B5EF4-FFF2-40B4-BE49-F238E27FC236}">
                <a16:creationId xmlns:a16="http://schemas.microsoft.com/office/drawing/2014/main" id="{E3B3C022-C821-43A8-BDFA-36760FBCB427}"/>
              </a:ext>
            </a:extLst>
          </p:cNvPr>
          <p:cNvSpPr/>
          <p:nvPr/>
        </p:nvSpPr>
        <p:spPr>
          <a:xfrm>
            <a:off x="1860804" y="4443293"/>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主な流入元</a:t>
            </a:r>
          </a:p>
        </p:txBody>
      </p:sp>
      <p:sp>
        <p:nvSpPr>
          <p:cNvPr id="59" name="Rectangle 19">
            <a:extLst>
              <a:ext uri="{FF2B5EF4-FFF2-40B4-BE49-F238E27FC236}">
                <a16:creationId xmlns:a16="http://schemas.microsoft.com/office/drawing/2014/main" id="{4FEAAEBA-5690-AC8F-8FF3-276F88FCE6A0}"/>
              </a:ext>
            </a:extLst>
          </p:cNvPr>
          <p:cNvSpPr/>
          <p:nvPr/>
        </p:nvSpPr>
        <p:spPr>
          <a:xfrm>
            <a:off x="4055364" y="4443293"/>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SEO・広告・SNS・ディスプレイの比率</a:t>
            </a:r>
          </a:p>
        </p:txBody>
      </p:sp>
      <p:sp>
        <p:nvSpPr>
          <p:cNvPr id="63" name="Rectangle 21">
            <a:extLst>
              <a:ext uri="{FF2B5EF4-FFF2-40B4-BE49-F238E27FC236}">
                <a16:creationId xmlns:a16="http://schemas.microsoft.com/office/drawing/2014/main" id="{7313DF05-AD69-66C6-AA40-BD1CA81439B5}"/>
              </a:ext>
            </a:extLst>
          </p:cNvPr>
          <p:cNvSpPr/>
          <p:nvPr/>
        </p:nvSpPr>
        <p:spPr>
          <a:xfrm>
            <a:off x="1860804" y="5011091"/>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現在のLINE導線</a:t>
            </a:r>
          </a:p>
        </p:txBody>
      </p:sp>
      <p:sp>
        <p:nvSpPr>
          <p:cNvPr id="65" name="Rectangle 22">
            <a:extLst>
              <a:ext uri="{FF2B5EF4-FFF2-40B4-BE49-F238E27FC236}">
                <a16:creationId xmlns:a16="http://schemas.microsoft.com/office/drawing/2014/main" id="{E8EA0A2C-B891-6674-4DCF-61D5975B1186}"/>
              </a:ext>
            </a:extLst>
          </p:cNvPr>
          <p:cNvSpPr/>
          <p:nvPr/>
        </p:nvSpPr>
        <p:spPr>
          <a:xfrm>
            <a:off x="4055364" y="5011091"/>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サイト上の友だち追加の入口の有無</a:t>
            </a:r>
          </a:p>
        </p:txBody>
      </p:sp>
      <p:sp>
        <p:nvSpPr>
          <p:cNvPr id="69" name="Rectangle 24">
            <a:extLst>
              <a:ext uri="{FF2B5EF4-FFF2-40B4-BE49-F238E27FC236}">
                <a16:creationId xmlns:a16="http://schemas.microsoft.com/office/drawing/2014/main" id="{C6E03287-2BFA-C776-5D36-CFA637C8C321}"/>
              </a:ext>
            </a:extLst>
          </p:cNvPr>
          <p:cNvSpPr/>
          <p:nvPr/>
        </p:nvSpPr>
        <p:spPr>
          <a:xfrm>
            <a:off x="1860804" y="5578889"/>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リード保有数・他SNS</a:t>
            </a:r>
          </a:p>
        </p:txBody>
      </p:sp>
      <p:sp>
        <p:nvSpPr>
          <p:cNvPr id="71" name="Rectangle 25">
            <a:extLst>
              <a:ext uri="{FF2B5EF4-FFF2-40B4-BE49-F238E27FC236}">
                <a16:creationId xmlns:a16="http://schemas.microsoft.com/office/drawing/2014/main" id="{FC84BF14-9CF1-6C23-B694-B5ABD998471B}"/>
              </a:ext>
            </a:extLst>
          </p:cNvPr>
          <p:cNvSpPr/>
          <p:nvPr/>
        </p:nvSpPr>
        <p:spPr>
          <a:xfrm>
            <a:off x="4055364" y="5578889"/>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メール会員・他SNSのフォロワー数など</a:t>
            </a:r>
          </a:p>
        </p:txBody>
      </p:sp>
      <p:sp>
        <p:nvSpPr>
          <p:cNvPr id="75" name="Rectangle 27">
            <a:extLst>
              <a:ext uri="{FF2B5EF4-FFF2-40B4-BE49-F238E27FC236}">
                <a16:creationId xmlns:a16="http://schemas.microsoft.com/office/drawing/2014/main" id="{9173779F-195E-9786-2251-C130A6484F81}"/>
              </a:ext>
            </a:extLst>
          </p:cNvPr>
          <p:cNvSpPr/>
          <p:nvPr/>
        </p:nvSpPr>
        <p:spPr>
          <a:xfrm>
            <a:off x="384048" y="6307118"/>
            <a:ext cx="9144000" cy="18736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800" b="0">
                <a:solidFill>
                  <a:srgbClr val="777777"/>
                </a:solidFill>
                <a:latin typeface="メイリオ"/>
                <a:ea typeface="メイリオ"/>
                <a:cs typeface="メイリオ"/>
              </a:rPr>
              <a:t>※数値は貴社ヒアリングおよびGA等の外部計測をもとに想定します</a:t>
            </a:r>
          </a:p>
        </p:txBody>
      </p:sp>
    </p:spTree>
    <p:extLst>
      <p:ext uri="{BB962C8B-B14F-4D97-AF65-F5344CB8AC3E}">
        <p14:creationId xmlns:p14="http://schemas.microsoft.com/office/powerpoint/2010/main" val="330606393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10FB08-13E3-C993-1F60-B189537A26F7}"/>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2637A23C-033D-1544-8EE9-E879FC52D382}"/>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提案に向けて明確化したいポイント③　既存LINE公式アカウント</a:t>
            </a:r>
          </a:p>
        </p:txBody>
      </p:sp>
      <p:sp>
        <p:nvSpPr>
          <p:cNvPr id="5" name="Rectangle 2">
            <a:extLst>
              <a:ext uri="{FF2B5EF4-FFF2-40B4-BE49-F238E27FC236}">
                <a16:creationId xmlns:a16="http://schemas.microsoft.com/office/drawing/2014/main" id="{A3FC988D-B1DD-8205-D73C-DA166AB12BBD}"/>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spcAft>
                <a:spcPts val="300"/>
              </a:spcAft>
            </a:pPr>
            <a:r>
              <a:rPr lang="ja-JP" altLang="en-US" sz="1600" b="1" dirty="0">
                <a:solidFill>
                  <a:srgbClr val="4A6FA5"/>
                </a:solidFill>
                <a:latin typeface="メイリオ"/>
                <a:ea typeface="メイリオ"/>
                <a:cs typeface="メイリオ"/>
              </a:rPr>
              <a:t>現状の規模・活用度・費用から、改善余地を見極める</a:t>
            </a:r>
          </a:p>
        </p:txBody>
      </p:sp>
      <p:sp>
        <p:nvSpPr>
          <p:cNvPr id="53" name="正方形/長方形 52">
            <a:extLst>
              <a:ext uri="{FF2B5EF4-FFF2-40B4-BE49-F238E27FC236}">
                <a16:creationId xmlns:a16="http://schemas.microsoft.com/office/drawing/2014/main" id="{019F89D8-176F-C4D3-FA4F-CC6F45A8E89D}"/>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
        <p:nvSpPr>
          <p:cNvPr id="4" name="Rectangle 3">
            <a:extLst>
              <a:ext uri="{FF2B5EF4-FFF2-40B4-BE49-F238E27FC236}">
                <a16:creationId xmlns:a16="http://schemas.microsoft.com/office/drawing/2014/main" id="{2E9E5595-5564-F6B6-4231-BF3FBBE8BF96}"/>
              </a:ext>
            </a:extLst>
          </p:cNvPr>
          <p:cNvSpPr/>
          <p:nvPr/>
        </p:nvSpPr>
        <p:spPr>
          <a:xfrm>
            <a:off x="1860804" y="1780907"/>
            <a:ext cx="21671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項目</a:t>
            </a:r>
          </a:p>
        </p:txBody>
      </p:sp>
      <p:sp>
        <p:nvSpPr>
          <p:cNvPr id="8" name="Rectangle 4">
            <a:extLst>
              <a:ext uri="{FF2B5EF4-FFF2-40B4-BE49-F238E27FC236}">
                <a16:creationId xmlns:a16="http://schemas.microsoft.com/office/drawing/2014/main" id="{1B2F3472-C219-FE04-0FAB-2471178F9BAE}"/>
              </a:ext>
            </a:extLst>
          </p:cNvPr>
          <p:cNvSpPr/>
          <p:nvPr/>
        </p:nvSpPr>
        <p:spPr>
          <a:xfrm>
            <a:off x="4055364" y="1780907"/>
            <a:ext cx="39959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確認内容</a:t>
            </a:r>
          </a:p>
        </p:txBody>
      </p:sp>
      <p:sp>
        <p:nvSpPr>
          <p:cNvPr id="15" name="Rectangle 6">
            <a:extLst>
              <a:ext uri="{FF2B5EF4-FFF2-40B4-BE49-F238E27FC236}">
                <a16:creationId xmlns:a16="http://schemas.microsoft.com/office/drawing/2014/main" id="{E019A0C2-CAAE-25A0-61D2-699B65C42417}"/>
              </a:ext>
            </a:extLst>
          </p:cNvPr>
          <p:cNvSpPr/>
          <p:nvPr/>
        </p:nvSpPr>
        <p:spPr>
          <a:xfrm>
            <a:off x="1860804" y="2203668"/>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友だち数</a:t>
            </a:r>
          </a:p>
        </p:txBody>
      </p:sp>
      <p:sp>
        <p:nvSpPr>
          <p:cNvPr id="17" name="Rectangle 7">
            <a:extLst>
              <a:ext uri="{FF2B5EF4-FFF2-40B4-BE49-F238E27FC236}">
                <a16:creationId xmlns:a16="http://schemas.microsoft.com/office/drawing/2014/main" id="{18AC0B76-9D3D-7E03-E909-B45DC15D43B6}"/>
              </a:ext>
            </a:extLst>
          </p:cNvPr>
          <p:cNvSpPr/>
          <p:nvPr/>
        </p:nvSpPr>
        <p:spPr>
          <a:xfrm>
            <a:off x="4055364" y="2203668"/>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累計と、直近の月間増加数</a:t>
            </a:r>
          </a:p>
        </p:txBody>
      </p:sp>
      <p:sp>
        <p:nvSpPr>
          <p:cNvPr id="24" name="Rectangle 9">
            <a:extLst>
              <a:ext uri="{FF2B5EF4-FFF2-40B4-BE49-F238E27FC236}">
                <a16:creationId xmlns:a16="http://schemas.microsoft.com/office/drawing/2014/main" id="{382D44E1-F4E2-5751-D452-0D8CCC481730}"/>
              </a:ext>
            </a:extLst>
          </p:cNvPr>
          <p:cNvSpPr/>
          <p:nvPr/>
        </p:nvSpPr>
        <p:spPr>
          <a:xfrm>
            <a:off x="1860804" y="2809782"/>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アクティブ率</a:t>
            </a:r>
          </a:p>
        </p:txBody>
      </p:sp>
      <p:sp>
        <p:nvSpPr>
          <p:cNvPr id="28" name="Rectangle 10">
            <a:extLst>
              <a:ext uri="{FF2B5EF4-FFF2-40B4-BE49-F238E27FC236}">
                <a16:creationId xmlns:a16="http://schemas.microsoft.com/office/drawing/2014/main" id="{8BBA3D2A-3669-05A3-FEA9-C9200F5ACDCB}"/>
              </a:ext>
            </a:extLst>
          </p:cNvPr>
          <p:cNvSpPr/>
          <p:nvPr/>
        </p:nvSpPr>
        <p:spPr>
          <a:xfrm>
            <a:off x="4055364" y="2809782"/>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ブロック率、開封率、クリック率</a:t>
            </a:r>
          </a:p>
        </p:txBody>
      </p:sp>
      <p:sp>
        <p:nvSpPr>
          <p:cNvPr id="36" name="Rectangle 12">
            <a:extLst>
              <a:ext uri="{FF2B5EF4-FFF2-40B4-BE49-F238E27FC236}">
                <a16:creationId xmlns:a16="http://schemas.microsoft.com/office/drawing/2014/main" id="{C5BC36E1-E9EC-5F99-6730-862D59A7268A}"/>
              </a:ext>
            </a:extLst>
          </p:cNvPr>
          <p:cNvSpPr/>
          <p:nvPr/>
        </p:nvSpPr>
        <p:spPr>
          <a:xfrm>
            <a:off x="1860804" y="3424605"/>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月間投稿数</a:t>
            </a:r>
          </a:p>
        </p:txBody>
      </p:sp>
      <p:sp>
        <p:nvSpPr>
          <p:cNvPr id="40" name="Rectangle 13">
            <a:extLst>
              <a:ext uri="{FF2B5EF4-FFF2-40B4-BE49-F238E27FC236}">
                <a16:creationId xmlns:a16="http://schemas.microsoft.com/office/drawing/2014/main" id="{D7C51E36-A3E0-FAF5-4F2A-F634C9ABFEB4}"/>
              </a:ext>
            </a:extLst>
          </p:cNvPr>
          <p:cNvSpPr/>
          <p:nvPr/>
        </p:nvSpPr>
        <p:spPr>
          <a:xfrm>
            <a:off x="4055364" y="3424605"/>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一斉配信・ステップ配信の本数、月間通数</a:t>
            </a:r>
          </a:p>
        </p:txBody>
      </p:sp>
      <p:sp>
        <p:nvSpPr>
          <p:cNvPr id="48" name="Rectangle 15">
            <a:extLst>
              <a:ext uri="{FF2B5EF4-FFF2-40B4-BE49-F238E27FC236}">
                <a16:creationId xmlns:a16="http://schemas.microsoft.com/office/drawing/2014/main" id="{7A4A3E0B-F476-7DC4-F177-948A5D80A39F}"/>
              </a:ext>
            </a:extLst>
          </p:cNvPr>
          <p:cNvSpPr/>
          <p:nvPr/>
        </p:nvSpPr>
        <p:spPr>
          <a:xfrm>
            <a:off x="1860804" y="4030719"/>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契約プラン</a:t>
            </a:r>
          </a:p>
        </p:txBody>
      </p:sp>
      <p:sp>
        <p:nvSpPr>
          <p:cNvPr id="52" name="Rectangle 16">
            <a:extLst>
              <a:ext uri="{FF2B5EF4-FFF2-40B4-BE49-F238E27FC236}">
                <a16:creationId xmlns:a16="http://schemas.microsoft.com/office/drawing/2014/main" id="{A4648CD6-60C7-E224-DC81-0EA8893B695C}"/>
              </a:ext>
            </a:extLst>
          </p:cNvPr>
          <p:cNvSpPr/>
          <p:nvPr/>
        </p:nvSpPr>
        <p:spPr>
          <a:xfrm>
            <a:off x="4055364" y="4030719"/>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LINE公式アカウントの料金プラン</a:t>
            </a:r>
          </a:p>
        </p:txBody>
      </p:sp>
      <p:sp>
        <p:nvSpPr>
          <p:cNvPr id="57" name="Rectangle 18">
            <a:extLst>
              <a:ext uri="{FF2B5EF4-FFF2-40B4-BE49-F238E27FC236}">
                <a16:creationId xmlns:a16="http://schemas.microsoft.com/office/drawing/2014/main" id="{279B2C05-4721-5850-5790-24F42D16195C}"/>
              </a:ext>
            </a:extLst>
          </p:cNvPr>
          <p:cNvSpPr/>
          <p:nvPr/>
        </p:nvSpPr>
        <p:spPr>
          <a:xfrm>
            <a:off x="1860804" y="4645542"/>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契約ツール</a:t>
            </a:r>
          </a:p>
        </p:txBody>
      </p:sp>
      <p:sp>
        <p:nvSpPr>
          <p:cNvPr id="59" name="Rectangle 19">
            <a:extLst>
              <a:ext uri="{FF2B5EF4-FFF2-40B4-BE49-F238E27FC236}">
                <a16:creationId xmlns:a16="http://schemas.microsoft.com/office/drawing/2014/main" id="{072A4C57-A1E2-FE0C-0F9A-495CB437882F}"/>
              </a:ext>
            </a:extLst>
          </p:cNvPr>
          <p:cNvSpPr/>
          <p:nvPr/>
        </p:nvSpPr>
        <p:spPr>
          <a:xfrm>
            <a:off x="4055364" y="4645542"/>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APIツール（Lステップ等）の有無・プラン</a:t>
            </a:r>
          </a:p>
        </p:txBody>
      </p:sp>
      <p:sp>
        <p:nvSpPr>
          <p:cNvPr id="63" name="Rectangle 21">
            <a:extLst>
              <a:ext uri="{FF2B5EF4-FFF2-40B4-BE49-F238E27FC236}">
                <a16:creationId xmlns:a16="http://schemas.microsoft.com/office/drawing/2014/main" id="{F4210959-8935-1BA3-A155-B4D4B1BE79EA}"/>
              </a:ext>
            </a:extLst>
          </p:cNvPr>
          <p:cNvSpPr/>
          <p:nvPr/>
        </p:nvSpPr>
        <p:spPr>
          <a:xfrm>
            <a:off x="1860804" y="5251655"/>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全体費用感</a:t>
            </a:r>
          </a:p>
        </p:txBody>
      </p:sp>
      <p:sp>
        <p:nvSpPr>
          <p:cNvPr id="65" name="Rectangle 22">
            <a:extLst>
              <a:ext uri="{FF2B5EF4-FFF2-40B4-BE49-F238E27FC236}">
                <a16:creationId xmlns:a16="http://schemas.microsoft.com/office/drawing/2014/main" id="{16CDB4BF-4971-BB2D-5EDB-62359C5FCF0B}"/>
              </a:ext>
            </a:extLst>
          </p:cNvPr>
          <p:cNvSpPr/>
          <p:nvPr/>
        </p:nvSpPr>
        <p:spPr>
          <a:xfrm>
            <a:off x="4055364" y="5251655"/>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アカウント費・ツール費・運用費・</a:t>
            </a:r>
            <a:br>
              <a:rPr sz="1400" b="0">
                <a:solidFill>
                  <a:srgbClr val="333333"/>
                </a:solidFill>
                <a:latin typeface="メイリオ"/>
                <a:ea typeface="メイリオ"/>
                <a:cs typeface="メイリオ"/>
              </a:rPr>
            </a:br>
            <a:r>
              <a:rPr sz="1400" b="0">
                <a:solidFill>
                  <a:srgbClr val="333333"/>
                </a:solidFill>
                <a:latin typeface="メイリオ"/>
                <a:ea typeface="メイリオ"/>
                <a:cs typeface="メイリオ"/>
              </a:rPr>
              <a:t>通数費の月額合計</a:t>
            </a:r>
          </a:p>
        </p:txBody>
      </p:sp>
      <p:sp>
        <p:nvSpPr>
          <p:cNvPr id="69" name="Rectangle 24">
            <a:extLst>
              <a:ext uri="{FF2B5EF4-FFF2-40B4-BE49-F238E27FC236}">
                <a16:creationId xmlns:a16="http://schemas.microsoft.com/office/drawing/2014/main" id="{809B7433-BAD1-B81E-97BD-B889CD809E11}"/>
              </a:ext>
            </a:extLst>
          </p:cNvPr>
          <p:cNvSpPr/>
          <p:nvPr/>
        </p:nvSpPr>
        <p:spPr>
          <a:xfrm>
            <a:off x="384048" y="6000207"/>
            <a:ext cx="9144000" cy="502920"/>
          </a:xfrm>
          <a:prstGeom prst="rect">
            <a:avLst/>
          </a:prstGeom>
          <a:solidFill>
            <a:srgbClr val="F3F5FA"/>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37160" tIns="18288" rIns="137160" bIns="18288" rtlCol="0" anchor="ctr"/>
          <a:lstStyle/>
          <a:p>
            <a:pPr algn="ctr">
              <a:spcAft>
                <a:spcPts val="0"/>
              </a:spcAft>
            </a:pPr>
            <a:r>
              <a:rPr sz="1400" b="1">
                <a:solidFill>
                  <a:srgbClr val="1F2A5C"/>
                </a:solidFill>
                <a:latin typeface="メイリオ"/>
                <a:ea typeface="メイリオ"/>
                <a:cs typeface="メイリオ"/>
              </a:rPr>
              <a:t>アクティブ率・通数費の現状を見て、セグメント配信などで改善できる範囲を提案に反映する</a:t>
            </a:r>
          </a:p>
        </p:txBody>
      </p:sp>
    </p:spTree>
    <p:extLst>
      <p:ext uri="{BB962C8B-B14F-4D97-AF65-F5344CB8AC3E}">
        <p14:creationId xmlns:p14="http://schemas.microsoft.com/office/powerpoint/2010/main" val="236310567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6C866B-D0C2-7EA1-2C00-9FD2CFA7473A}"/>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649E6FCE-AA7B-DE7B-9452-E5F490B34B37}"/>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提案に向けて明確化したいポイント④　その他</a:t>
            </a:r>
          </a:p>
        </p:txBody>
      </p:sp>
      <p:sp>
        <p:nvSpPr>
          <p:cNvPr id="5" name="Rectangle 2">
            <a:extLst>
              <a:ext uri="{FF2B5EF4-FFF2-40B4-BE49-F238E27FC236}">
                <a16:creationId xmlns:a16="http://schemas.microsoft.com/office/drawing/2014/main" id="{2A2003E7-DEBA-516C-5544-9E84FEB0FAAA}"/>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spcAft>
                <a:spcPts val="300"/>
              </a:spcAft>
            </a:pPr>
            <a:r>
              <a:rPr lang="ja-JP" altLang="en-US" sz="1600" b="1" dirty="0">
                <a:solidFill>
                  <a:srgbClr val="4A6FA5"/>
                </a:solidFill>
                <a:latin typeface="メイリオ"/>
                <a:ea typeface="メイリオ"/>
                <a:cs typeface="メイリオ"/>
              </a:rPr>
              <a:t>配信の体制や社内の確認の流れなど、運用の進め方に関わる確認事項</a:t>
            </a:r>
          </a:p>
        </p:txBody>
      </p:sp>
      <p:sp>
        <p:nvSpPr>
          <p:cNvPr id="53" name="正方形/長方形 52">
            <a:extLst>
              <a:ext uri="{FF2B5EF4-FFF2-40B4-BE49-F238E27FC236}">
                <a16:creationId xmlns:a16="http://schemas.microsoft.com/office/drawing/2014/main" id="{5161E2C4-62DD-580C-6DB6-319F2E18B5A8}"/>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
        <p:nvSpPr>
          <p:cNvPr id="4" name="Rectangle 3">
            <a:extLst>
              <a:ext uri="{FF2B5EF4-FFF2-40B4-BE49-F238E27FC236}">
                <a16:creationId xmlns:a16="http://schemas.microsoft.com/office/drawing/2014/main" id="{2E9E5595-5564-F6B6-4231-BF3FBBE8BF96}"/>
              </a:ext>
            </a:extLst>
          </p:cNvPr>
          <p:cNvSpPr/>
          <p:nvPr/>
        </p:nvSpPr>
        <p:spPr>
          <a:xfrm>
            <a:off x="1860804" y="1780907"/>
            <a:ext cx="21671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項目</a:t>
            </a:r>
          </a:p>
        </p:txBody>
      </p:sp>
      <p:sp>
        <p:nvSpPr>
          <p:cNvPr id="8" name="Rectangle 4">
            <a:extLst>
              <a:ext uri="{FF2B5EF4-FFF2-40B4-BE49-F238E27FC236}">
                <a16:creationId xmlns:a16="http://schemas.microsoft.com/office/drawing/2014/main" id="{1B2F3472-C219-FE04-0FAB-2471178F9BAE}"/>
              </a:ext>
            </a:extLst>
          </p:cNvPr>
          <p:cNvSpPr/>
          <p:nvPr/>
        </p:nvSpPr>
        <p:spPr>
          <a:xfrm>
            <a:off x="4055364" y="1780907"/>
            <a:ext cx="39959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確認内容</a:t>
            </a:r>
          </a:p>
        </p:txBody>
      </p:sp>
      <p:sp>
        <p:nvSpPr>
          <p:cNvPr id="15" name="Rectangle 6">
            <a:extLst>
              <a:ext uri="{FF2B5EF4-FFF2-40B4-BE49-F238E27FC236}">
                <a16:creationId xmlns:a16="http://schemas.microsoft.com/office/drawing/2014/main" id="{E019A0C2-CAAE-25A0-61D2-699B65C42417}"/>
              </a:ext>
            </a:extLst>
          </p:cNvPr>
          <p:cNvSpPr/>
          <p:nvPr/>
        </p:nvSpPr>
        <p:spPr>
          <a:xfrm>
            <a:off x="1860804" y="2203668"/>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配信の確認体制</a:t>
            </a:r>
          </a:p>
        </p:txBody>
      </p:sp>
      <p:sp>
        <p:nvSpPr>
          <p:cNvPr id="17" name="Rectangle 7">
            <a:extLst>
              <a:ext uri="{FF2B5EF4-FFF2-40B4-BE49-F238E27FC236}">
                <a16:creationId xmlns:a16="http://schemas.microsoft.com/office/drawing/2014/main" id="{18AC0B76-9D3D-7E03-E909-B45DC15D43B6}"/>
              </a:ext>
            </a:extLst>
          </p:cNvPr>
          <p:cNvSpPr/>
          <p:nvPr/>
        </p:nvSpPr>
        <p:spPr>
          <a:xfrm>
            <a:off x="4055364" y="2203668"/>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確認する方・承認の流れ・確認にかかる日数</a:t>
            </a:r>
          </a:p>
        </p:txBody>
      </p:sp>
      <p:sp>
        <p:nvSpPr>
          <p:cNvPr id="15" name="Rectangle 6">
            <a:extLst>
              <a:ext uri="{FF2B5EF4-FFF2-40B4-BE49-F238E27FC236}">
                <a16:creationId xmlns:a16="http://schemas.microsoft.com/office/drawing/2014/main" id="{E019A0C2-CAAE-25A0-61D2-699B65C42417}"/>
              </a:ext>
            </a:extLst>
          </p:cNvPr>
          <p:cNvSpPr/>
          <p:nvPr/>
        </p:nvSpPr>
        <p:spPr>
          <a:xfrm>
            <a:off x="1860804" y="2811744"/>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窓口・素材</a:t>
            </a:r>
          </a:p>
        </p:txBody>
      </p:sp>
      <p:sp>
        <p:nvSpPr>
          <p:cNvPr id="17" name="Rectangle 7">
            <a:extLst>
              <a:ext uri="{FF2B5EF4-FFF2-40B4-BE49-F238E27FC236}">
                <a16:creationId xmlns:a16="http://schemas.microsoft.com/office/drawing/2014/main" id="{18AC0B76-9D3D-7E03-E909-B45DC15D43B6}"/>
              </a:ext>
            </a:extLst>
          </p:cNvPr>
          <p:cNvSpPr/>
          <p:nvPr/>
        </p:nvSpPr>
        <p:spPr>
          <a:xfrm>
            <a:off x="4055364" y="2811744"/>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社内の窓口、写真・事例などの素材</a:t>
            </a:r>
          </a:p>
        </p:txBody>
      </p:sp>
      <p:sp>
        <p:nvSpPr>
          <p:cNvPr id="15" name="Rectangle 6">
            <a:extLst>
              <a:ext uri="{FF2B5EF4-FFF2-40B4-BE49-F238E27FC236}">
                <a16:creationId xmlns:a16="http://schemas.microsoft.com/office/drawing/2014/main" id="{E019A0C2-CAAE-25A0-61D2-699B65C42417}"/>
              </a:ext>
            </a:extLst>
          </p:cNvPr>
          <p:cNvSpPr/>
          <p:nvPr/>
        </p:nvSpPr>
        <p:spPr>
          <a:xfrm>
            <a:off x="1860804" y="3419820"/>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年間の予定</a:t>
            </a:r>
          </a:p>
        </p:txBody>
      </p:sp>
      <p:sp>
        <p:nvSpPr>
          <p:cNvPr id="17" name="Rectangle 7">
            <a:extLst>
              <a:ext uri="{FF2B5EF4-FFF2-40B4-BE49-F238E27FC236}">
                <a16:creationId xmlns:a16="http://schemas.microsoft.com/office/drawing/2014/main" id="{18AC0B76-9D3D-7E03-E909-B45DC15D43B6}"/>
              </a:ext>
            </a:extLst>
          </p:cNvPr>
          <p:cNvSpPr/>
          <p:nvPr/>
        </p:nvSpPr>
        <p:spPr>
          <a:xfrm>
            <a:off x="4055364" y="3419820"/>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繁忙期・キャンペーン・イベントの時期</a:t>
            </a:r>
          </a:p>
        </p:txBody>
      </p:sp>
      <p:sp>
        <p:nvSpPr>
          <p:cNvPr id="15" name="Rectangle 6">
            <a:extLst>
              <a:ext uri="{FF2B5EF4-FFF2-40B4-BE49-F238E27FC236}">
                <a16:creationId xmlns:a16="http://schemas.microsoft.com/office/drawing/2014/main" id="{E019A0C2-CAAE-25A0-61D2-699B65C42417}"/>
              </a:ext>
            </a:extLst>
          </p:cNvPr>
          <p:cNvSpPr/>
          <p:nvPr/>
        </p:nvSpPr>
        <p:spPr>
          <a:xfrm>
            <a:off x="1860804" y="4027896"/>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予約・顧客管理</a:t>
            </a:r>
          </a:p>
        </p:txBody>
      </p:sp>
      <p:sp>
        <p:nvSpPr>
          <p:cNvPr id="17" name="Rectangle 7">
            <a:extLst>
              <a:ext uri="{FF2B5EF4-FFF2-40B4-BE49-F238E27FC236}">
                <a16:creationId xmlns:a16="http://schemas.microsoft.com/office/drawing/2014/main" id="{18AC0B76-9D3D-7E03-E909-B45DC15D43B6}"/>
              </a:ext>
            </a:extLst>
          </p:cNvPr>
          <p:cNvSpPr/>
          <p:nvPr/>
        </p:nvSpPr>
        <p:spPr>
          <a:xfrm>
            <a:off x="4055364" y="4027896"/>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使っているシステムと、LINE連携の可否</a:t>
            </a:r>
          </a:p>
        </p:txBody>
      </p:sp>
      <p:sp>
        <p:nvSpPr>
          <p:cNvPr id="15" name="Rectangle 6">
            <a:extLst>
              <a:ext uri="{FF2B5EF4-FFF2-40B4-BE49-F238E27FC236}">
                <a16:creationId xmlns:a16="http://schemas.microsoft.com/office/drawing/2014/main" id="{E019A0C2-CAAE-25A0-61D2-699B65C42417}"/>
              </a:ext>
            </a:extLst>
          </p:cNvPr>
          <p:cNvSpPr/>
          <p:nvPr/>
        </p:nvSpPr>
        <p:spPr>
          <a:xfrm>
            <a:off x="1860804" y="4635972"/>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表現の決まり</a:t>
            </a:r>
          </a:p>
        </p:txBody>
      </p:sp>
      <p:sp>
        <p:nvSpPr>
          <p:cNvPr id="17" name="Rectangle 7">
            <a:extLst>
              <a:ext uri="{FF2B5EF4-FFF2-40B4-BE49-F238E27FC236}">
                <a16:creationId xmlns:a16="http://schemas.microsoft.com/office/drawing/2014/main" id="{18AC0B76-9D3D-7E03-E909-B45DC15D43B6}"/>
              </a:ext>
            </a:extLst>
          </p:cNvPr>
          <p:cNvSpPr/>
          <p:nvPr/>
        </p:nvSpPr>
        <p:spPr>
          <a:xfrm>
            <a:off x="4055364" y="4635972"/>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業法・社内ルールで使えない表現</a:t>
            </a:r>
          </a:p>
        </p:txBody>
      </p:sp>
      <p:sp>
        <p:nvSpPr>
          <p:cNvPr id="69" name="Rectangle 24">
            <a:extLst>
              <a:ext uri="{FF2B5EF4-FFF2-40B4-BE49-F238E27FC236}">
                <a16:creationId xmlns:a16="http://schemas.microsoft.com/office/drawing/2014/main" id="{A485A409-0FAF-105F-F311-A3F789094A81}"/>
              </a:ext>
            </a:extLst>
          </p:cNvPr>
          <p:cNvSpPr/>
          <p:nvPr/>
        </p:nvSpPr>
        <p:spPr>
          <a:xfrm>
            <a:off x="384048" y="6000207"/>
            <a:ext cx="9144000" cy="502920"/>
          </a:xfrm>
          <a:prstGeom prst="rect">
            <a:avLst/>
          </a:prstGeom>
          <a:solidFill>
            <a:srgbClr val="F3F5FA"/>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37160" tIns="18288" rIns="137160" bIns="18288" rtlCol="0" anchor="ctr"/>
          <a:lstStyle/>
          <a:p>
            <a:pPr algn="ctr">
              <a:spcAft>
                <a:spcPts val="0"/>
              </a:spcAft>
            </a:pPr>
            <a:r>
              <a:rPr lang="en-US" altLang="ja-JP" sz="1400" b="1" dirty="0">
                <a:solidFill>
                  <a:srgbClr val="1F2A5C"/>
                </a:solidFill>
                <a:latin typeface="メイリオ"/>
                <a:ea typeface="メイリオ"/>
                <a:cs typeface="メイリオ"/>
              </a:rPr>
              <a:t>LINE Official</a:t>
            </a:r>
            <a:r>
              <a:rPr lang="ja-JP" altLang="en-US" sz="1400" b="1" dirty="0">
                <a:solidFill>
                  <a:srgbClr val="1F2A5C"/>
                </a:solidFill>
                <a:latin typeface="メイリオ"/>
                <a:ea typeface="メイリオ"/>
                <a:cs typeface="メイリオ"/>
              </a:rPr>
              <a:t> </a:t>
            </a:r>
            <a:r>
              <a:rPr lang="en-US" altLang="ja-JP" sz="1400" b="1" dirty="0">
                <a:solidFill>
                  <a:srgbClr val="1F2A5C"/>
                </a:solidFill>
                <a:latin typeface="メイリオ"/>
                <a:ea typeface="メイリオ"/>
                <a:cs typeface="メイリオ"/>
              </a:rPr>
              <a:t>Manager</a:t>
            </a:r>
            <a:r>
              <a:rPr lang="ja-JP" altLang="en-US" sz="1400" b="1" dirty="0">
                <a:solidFill>
                  <a:srgbClr val="1F2A5C"/>
                </a:solidFill>
                <a:latin typeface="メイリオ"/>
                <a:ea typeface="メイリオ"/>
                <a:cs typeface="メイリオ"/>
              </a:rPr>
              <a:t>、</a:t>
            </a:r>
            <a:r>
              <a:rPr lang="en-US" altLang="ja-JP" sz="1400" b="1" dirty="0">
                <a:solidFill>
                  <a:srgbClr val="1F2A5C"/>
                </a:solidFill>
                <a:latin typeface="メイリオ"/>
                <a:ea typeface="メイリオ"/>
                <a:cs typeface="メイリオ"/>
              </a:rPr>
              <a:t>API</a:t>
            </a:r>
            <a:r>
              <a:rPr lang="ja-JP" altLang="en-US" sz="1400" b="1" dirty="0">
                <a:solidFill>
                  <a:srgbClr val="1F2A5C"/>
                </a:solidFill>
                <a:latin typeface="メイリオ"/>
                <a:ea typeface="メイリオ"/>
                <a:cs typeface="メイリオ"/>
              </a:rPr>
              <a:t>ツール等、配信にかかわる管理画面の共有をいただければ詳細なご提案が可能</a:t>
            </a:r>
            <a:endParaRPr sz="1400" b="1" dirty="0">
              <a:solidFill>
                <a:srgbClr val="1F2A5C"/>
              </a:solidFill>
              <a:latin typeface="メイリオ"/>
              <a:ea typeface="メイリオ"/>
              <a:cs typeface="メイリオ"/>
            </a:endParaRPr>
          </a:p>
        </p:txBody>
      </p:sp>
    </p:spTree>
    <p:extLst>
      <p:ext uri="{BB962C8B-B14F-4D97-AF65-F5344CB8AC3E}">
        <p14:creationId xmlns:p14="http://schemas.microsoft.com/office/powerpoint/2010/main" val="163495325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8"/>
          <p:cNvSpPr>
            <a:spLocks noChangeArrowheads="1"/>
          </p:cNvSpPr>
          <p:nvPr/>
        </p:nvSpPr>
        <p:spPr bwMode="auto">
          <a:xfrm>
            <a:off x="1649030" y="5820984"/>
            <a:ext cx="6192837" cy="37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lvl="1" fontAlgn="base">
              <a:spcBef>
                <a:spcPct val="20000"/>
              </a:spcBef>
              <a:spcAft>
                <a:spcPct val="0"/>
              </a:spcAft>
              <a:defRPr/>
            </a:pPr>
            <a:r>
              <a:rPr lang="ja-JP" altLang="en-US" sz="831" b="1" dirty="0">
                <a:solidFill>
                  <a:prstClr val="black"/>
                </a:solidFill>
                <a:latin typeface="メイリオ"/>
                <a:ea typeface="メイリオ"/>
                <a:cs typeface="メイリオ"/>
              </a:rPr>
              <a:t>株式会社</a:t>
            </a:r>
            <a:r>
              <a:rPr lang="en-US" altLang="ja-JP" sz="831" b="1" dirty="0">
                <a:solidFill>
                  <a:prstClr val="black"/>
                </a:solidFill>
                <a:latin typeface="メイリオ"/>
                <a:ea typeface="メイリオ"/>
                <a:cs typeface="メイリオ"/>
              </a:rPr>
              <a:t>DYM</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141-0032</a:t>
            </a:r>
            <a:r>
              <a:rPr lang="ja-JP" altLang="en-US" sz="831" b="1" dirty="0">
                <a:solidFill>
                  <a:prstClr val="black"/>
                </a:solidFill>
                <a:latin typeface="メイリオ"/>
                <a:ea typeface="メイリオ"/>
                <a:cs typeface="メイリオ"/>
              </a:rPr>
              <a:t>　東京都品川区大崎</a:t>
            </a:r>
            <a:r>
              <a:rPr lang="en-US" altLang="ja-JP" sz="831" b="1" dirty="0">
                <a:solidFill>
                  <a:prstClr val="black"/>
                </a:solidFill>
                <a:latin typeface="メイリオ"/>
                <a:ea typeface="メイリオ"/>
                <a:cs typeface="メイリオ"/>
              </a:rPr>
              <a:t>1-11-2</a:t>
            </a:r>
            <a:r>
              <a:rPr lang="ja-JP" altLang="en-US" sz="831" b="1" dirty="0">
                <a:solidFill>
                  <a:prstClr val="black"/>
                </a:solidFill>
                <a:latin typeface="メイリオ"/>
                <a:ea typeface="メイリオ"/>
                <a:cs typeface="メイリオ"/>
              </a:rPr>
              <a:t>　ゲートシティ大崎イーストタワー</a:t>
            </a:r>
            <a:r>
              <a:rPr lang="en-US" altLang="ja-JP" sz="831" b="1" dirty="0">
                <a:solidFill>
                  <a:prstClr val="black"/>
                </a:solidFill>
                <a:latin typeface="メイリオ"/>
                <a:ea typeface="メイリオ"/>
                <a:cs typeface="メイリオ"/>
              </a:rPr>
              <a:t>10</a:t>
            </a:r>
            <a:r>
              <a:rPr lang="ja-JP" altLang="en-US" sz="831" b="1" dirty="0">
                <a:solidFill>
                  <a:prstClr val="black"/>
                </a:solidFill>
                <a:latin typeface="メイリオ"/>
                <a:ea typeface="メイリオ"/>
                <a:cs typeface="メイリオ"/>
              </a:rPr>
              <a:t>階</a:t>
            </a:r>
            <a:endParaRPr lang="en-US" altLang="ja-JP" sz="831" b="1" dirty="0">
              <a:solidFill>
                <a:prstClr val="black"/>
              </a:solidFill>
              <a:latin typeface="メイリオ"/>
              <a:ea typeface="メイリオ"/>
              <a:cs typeface="メイリオ"/>
            </a:endParaRPr>
          </a:p>
          <a:p>
            <a:pPr marL="0" lvl="1" fontAlgn="base">
              <a:spcBef>
                <a:spcPct val="20000"/>
              </a:spcBef>
              <a:spcAft>
                <a:spcPct val="0"/>
              </a:spcAft>
              <a:defRPr/>
            </a:pPr>
            <a:r>
              <a:rPr lang="en-US" altLang="ja-JP" sz="831" b="1" dirty="0">
                <a:solidFill>
                  <a:prstClr val="black"/>
                </a:solidFill>
                <a:latin typeface="メイリオ"/>
                <a:ea typeface="メイリオ"/>
                <a:cs typeface="メイリオ"/>
              </a:rPr>
              <a:t>TEL: 03-5745-0200</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FAX: 03-3779-8720 </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http://dym.asia   </a:t>
            </a:r>
            <a:r>
              <a:rPr lang="ja-JP" altLang="en-US" sz="831" b="1" dirty="0">
                <a:solidFill>
                  <a:prstClr val="black"/>
                </a:solidFill>
                <a:latin typeface="メイリオ"/>
                <a:ea typeface="メイリオ"/>
                <a:cs typeface="メイリオ"/>
              </a:rPr>
              <a:t>代表取締役　水谷佑毅</a:t>
            </a:r>
          </a:p>
        </p:txBody>
      </p:sp>
      <p:pic>
        <p:nvPicPr>
          <p:cNvPr id="24" name="図 1"/>
          <p:cNvPicPr>
            <a:picLocks noChangeAspect="1"/>
          </p:cNvPicPr>
          <p:nvPr/>
        </p:nvPicPr>
        <p:blipFill rotWithShape="1">
          <a:blip r:embed="rId3" cstate="email">
            <a:extLst>
              <a:ext uri="{28A0092B-C50C-407E-A947-70E740481C1C}">
                <a14:useLocalDpi xmlns:a14="http://schemas.microsoft.com/office/drawing/2010/main"/>
              </a:ext>
            </a:extLst>
          </a:blip>
          <a:srcRect l="-1647" r="-11171"/>
          <a:stretch/>
        </p:blipFill>
        <p:spPr bwMode="auto">
          <a:xfrm>
            <a:off x="543897" y="5895365"/>
            <a:ext cx="1100981" cy="224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テキスト ボックス 2"/>
          <p:cNvSpPr txBox="1"/>
          <p:nvPr/>
        </p:nvSpPr>
        <p:spPr>
          <a:xfrm>
            <a:off x="5070232" y="5597769"/>
            <a:ext cx="184731" cy="369332"/>
          </a:xfrm>
          <a:prstGeom prst="rect">
            <a:avLst/>
          </a:prstGeom>
          <a:noFill/>
        </p:spPr>
        <p:txBody>
          <a:bodyPr wrap="none" rtlCol="0">
            <a:spAutoFit/>
          </a:bodyPr>
          <a:lstStyle/>
          <a:p>
            <a:pPr fontAlgn="base">
              <a:spcBef>
                <a:spcPct val="0"/>
              </a:spcBef>
              <a:spcAft>
                <a:spcPct val="0"/>
              </a:spcAft>
              <a:defRPr/>
            </a:pPr>
            <a:endParaRPr lang="ja-JP" altLang="en-US">
              <a:solidFill>
                <a:prstClr val="black"/>
              </a:solidFill>
              <a:latin typeface="Arial" pitchFamily="34" charset="0"/>
              <a:ea typeface="ＭＳ Ｐゴシック" pitchFamily="50" charset="-128"/>
            </a:endParaRPr>
          </a:p>
        </p:txBody>
      </p:sp>
      <p:sp>
        <p:nvSpPr>
          <p:cNvPr id="18" name="正方形/長方形 17"/>
          <p:cNvSpPr/>
          <p:nvPr/>
        </p:nvSpPr>
        <p:spPr>
          <a:xfrm>
            <a:off x="2170038" y="989684"/>
            <a:ext cx="5565924" cy="369332"/>
          </a:xfrm>
          <a:prstGeom prst="rect">
            <a:avLst/>
          </a:prstGeom>
        </p:spPr>
        <p:txBody>
          <a:bodyPr wrap="square">
            <a:spAutoFit/>
          </a:bodyPr>
          <a:lstStyle/>
          <a:p>
            <a:pPr algn="ctr" fontAlgn="base">
              <a:spcBef>
                <a:spcPct val="20000"/>
              </a:spcBef>
              <a:spcAft>
                <a:spcPct val="0"/>
              </a:spcAft>
              <a:defRPr/>
            </a:pPr>
            <a:r>
              <a:rPr lang="ja-JP" altLang="en-US" b="1" dirty="0">
                <a:solidFill>
                  <a:prstClr val="black"/>
                </a:solidFill>
                <a:latin typeface="メイリオ" charset="0"/>
                <a:ea typeface="メイリオ" charset="0"/>
                <a:cs typeface="メイリオ" charset="0"/>
              </a:rPr>
              <a:t>貴社の明るい未来に必ず貢献致します。</a:t>
            </a:r>
          </a:p>
        </p:txBody>
      </p:sp>
      <p:sp>
        <p:nvSpPr>
          <p:cNvPr id="14" name="正方形/長方形 13"/>
          <p:cNvSpPr/>
          <p:nvPr/>
        </p:nvSpPr>
        <p:spPr>
          <a:xfrm>
            <a:off x="382695" y="2698377"/>
            <a:ext cx="598220" cy="205890"/>
          </a:xfrm>
          <a:prstGeom prst="rect">
            <a:avLst/>
          </a:prstGeom>
        </p:spPr>
        <p:txBody>
          <a:bodyPr wrap="square">
            <a:spAutoFit/>
          </a:bodyPr>
          <a:lstStyle/>
          <a:p>
            <a:pPr algn="ctr" fontAlgn="base">
              <a:spcBef>
                <a:spcPct val="20000"/>
              </a:spcBef>
              <a:spcAft>
                <a:spcPct val="0"/>
              </a:spcAft>
              <a:defRPr/>
            </a:pPr>
            <a:r>
              <a:rPr lang="ja-JP" altLang="en-US" sz="738">
                <a:solidFill>
                  <a:srgbClr val="FFFFFF"/>
                </a:solidFill>
                <a:latin typeface="メイリオ" charset="0"/>
                <a:ea typeface="メイリオ" charset="0"/>
                <a:cs typeface="メイリオ" charset="0"/>
              </a:rPr>
              <a:t>本社</a:t>
            </a:r>
          </a:p>
        </p:txBody>
      </p:sp>
      <p:sp>
        <p:nvSpPr>
          <p:cNvPr id="15" name="正方形/長方形 14"/>
          <p:cNvSpPr/>
          <p:nvPr/>
        </p:nvSpPr>
        <p:spPr>
          <a:xfrm>
            <a:off x="368300" y="2355213"/>
            <a:ext cx="756684" cy="215444"/>
          </a:xfrm>
          <a:prstGeom prst="rect">
            <a:avLst/>
          </a:prstGeom>
        </p:spPr>
        <p:txBody>
          <a:bodyPr wrap="square">
            <a:spAutoFit/>
          </a:bodyPr>
          <a:lstStyle/>
          <a:p>
            <a:pPr algn="ctr" fontAlgn="base">
              <a:spcBef>
                <a:spcPct val="20000"/>
              </a:spcBef>
              <a:spcAft>
                <a:spcPct val="0"/>
              </a:spcAft>
              <a:defRPr/>
            </a:pPr>
            <a:r>
              <a:rPr lang="ja-JP" altLang="en-US" sz="800" dirty="0">
                <a:solidFill>
                  <a:srgbClr val="FFFFFF"/>
                </a:solidFill>
                <a:latin typeface="メイリオ" charset="0"/>
                <a:ea typeface="メイリオ" charset="0"/>
                <a:cs typeface="メイリオ" charset="0"/>
              </a:rPr>
              <a:t>本社</a:t>
            </a:r>
          </a:p>
        </p:txBody>
      </p:sp>
      <p:grpSp>
        <p:nvGrpSpPr>
          <p:cNvPr id="22" name="グループ化 21">
            <a:extLst>
              <a:ext uri="{FF2B5EF4-FFF2-40B4-BE49-F238E27FC236}">
                <a16:creationId xmlns:a16="http://schemas.microsoft.com/office/drawing/2014/main" id="{05A1AABC-CDB8-5B83-4CFD-649967A361BF}"/>
              </a:ext>
            </a:extLst>
          </p:cNvPr>
          <p:cNvGrpSpPr/>
          <p:nvPr/>
        </p:nvGrpSpPr>
        <p:grpSpPr>
          <a:xfrm>
            <a:off x="381002" y="1772817"/>
            <a:ext cx="9143999" cy="3314853"/>
            <a:chOff x="1" y="1772816"/>
            <a:chExt cx="9143999" cy="3314853"/>
          </a:xfrm>
        </p:grpSpPr>
        <p:pic>
          <p:nvPicPr>
            <p:cNvPr id="21" name="図 20" descr="ポーズをとる男性グループ&#10;&#10;自動的に生成された説明">
              <a:extLst>
                <a:ext uri="{FF2B5EF4-FFF2-40B4-BE49-F238E27FC236}">
                  <a16:creationId xmlns:a16="http://schemas.microsoft.com/office/drawing/2014/main" id="{4927F40E-D146-C638-5583-C9DC2984722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42" r="4076"/>
            <a:stretch/>
          </p:blipFill>
          <p:spPr>
            <a:xfrm>
              <a:off x="6973793" y="3518745"/>
              <a:ext cx="2170207" cy="1567781"/>
            </a:xfrm>
            <a:prstGeom prst="rect">
              <a:avLst/>
            </a:prstGeom>
          </p:spPr>
        </p:pic>
        <p:pic>
          <p:nvPicPr>
            <p:cNvPr id="16" name="図 15" descr="白いシャツを着ている男性&#10;&#10;中程度の精度で自動的に生成された説明">
              <a:extLst>
                <a:ext uri="{FF2B5EF4-FFF2-40B4-BE49-F238E27FC236}">
                  <a16:creationId xmlns:a16="http://schemas.microsoft.com/office/drawing/2014/main" id="{2ECDFCA7-8611-D865-F999-FDCD0EC212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83808" y="3519888"/>
              <a:ext cx="1989985" cy="1567781"/>
            </a:xfrm>
            <a:prstGeom prst="rect">
              <a:avLst/>
            </a:prstGeom>
          </p:spPr>
        </p:pic>
        <p:pic>
          <p:nvPicPr>
            <p:cNvPr id="10" name="図 9" descr="スーツを着た男性たち&#10;&#10;自動的に生成された説明">
              <a:extLst>
                <a:ext uri="{FF2B5EF4-FFF2-40B4-BE49-F238E27FC236}">
                  <a16:creationId xmlns:a16="http://schemas.microsoft.com/office/drawing/2014/main" id="{9D3AD52A-1514-4350-FFDD-09984B3666E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0703" r="10363"/>
            <a:stretch/>
          </p:blipFill>
          <p:spPr>
            <a:xfrm>
              <a:off x="7299681" y="1773979"/>
              <a:ext cx="1842624" cy="1745909"/>
            </a:xfrm>
            <a:prstGeom prst="rect">
              <a:avLst/>
            </a:prstGeom>
          </p:spPr>
        </p:pic>
        <p:pic>
          <p:nvPicPr>
            <p:cNvPr id="7" name="図 6" descr="講堂にいる人たち&#10;&#10;中程度の精度で自動的に生成された説明">
              <a:extLst>
                <a:ext uri="{FF2B5EF4-FFF2-40B4-BE49-F238E27FC236}">
                  <a16:creationId xmlns:a16="http://schemas.microsoft.com/office/drawing/2014/main" id="{B1CA0DFF-0DAF-D5BD-8D9F-8AFB103E269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12" t="12879" r="2477"/>
            <a:stretch/>
          </p:blipFill>
          <p:spPr>
            <a:xfrm>
              <a:off x="1" y="1772816"/>
              <a:ext cx="5089778" cy="3314853"/>
            </a:xfrm>
            <a:prstGeom prst="rect">
              <a:avLst/>
            </a:prstGeom>
          </p:spPr>
        </p:pic>
        <p:pic>
          <p:nvPicPr>
            <p:cNvPr id="11" name="図 10" descr="スーツを着た男性グループの写真&#10;&#10;低い精度で自動的に生成された説明">
              <a:extLst>
                <a:ext uri="{FF2B5EF4-FFF2-40B4-BE49-F238E27FC236}">
                  <a16:creationId xmlns:a16="http://schemas.microsoft.com/office/drawing/2014/main" id="{FEFAFF33-EFBF-C67E-586A-08D93AF295F8}"/>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8595" r="6763"/>
            <a:stretch/>
          </p:blipFill>
          <p:spPr>
            <a:xfrm>
              <a:off x="5089779" y="1772836"/>
              <a:ext cx="2215315" cy="1745909"/>
            </a:xfrm>
            <a:prstGeom prst="rect">
              <a:avLst/>
            </a:prstGeom>
          </p:spPr>
        </p:pic>
      </p:grpSp>
      <p:sp>
        <p:nvSpPr>
          <p:cNvPr id="6" name="正方形/長方形 5">
            <a:extLst>
              <a:ext uri="{FF2B5EF4-FFF2-40B4-BE49-F238E27FC236}">
                <a16:creationId xmlns:a16="http://schemas.microsoft.com/office/drawing/2014/main" id="{238B92EF-519D-929F-4345-5BAC445EF234}"/>
              </a:ext>
            </a:extLst>
          </p:cNvPr>
          <p:cNvSpPr/>
          <p:nvPr/>
        </p:nvSpPr>
        <p:spPr>
          <a:xfrm>
            <a:off x="128016" y="6620256"/>
            <a:ext cx="2852928" cy="237744"/>
          </a:xfrm>
          <a:prstGeom prst="rect">
            <a:avLst/>
          </a:prstGeom>
          <a:solidFill>
            <a:srgbClr val="191F54"/>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正方形/長方形 1">
            <a:extLst>
              <a:ext uri="{FF2B5EF4-FFF2-40B4-BE49-F238E27FC236}">
                <a16:creationId xmlns:a16="http://schemas.microsoft.com/office/drawing/2014/main" id="{A949B271-D24D-666E-90F2-EA616E1EABC2}"/>
              </a:ext>
            </a:extLst>
          </p:cNvPr>
          <p:cNvSpPr/>
          <p:nvPr/>
        </p:nvSpPr>
        <p:spPr>
          <a:xfrm>
            <a:off x="368300" y="0"/>
            <a:ext cx="9537700" cy="51497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185355464"/>
      </p:ext>
    </p:extLst>
  </p:cSld>
  <p:clrMapOvr>
    <a:masterClrMapping/>
  </p:clrMapOvr>
  <p:transition spd="slow"/>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145287</TotalTime>
  <Words>3756</Words>
  <Application>Microsoft Office PowerPoint</Application>
  <PresentationFormat>A4 210 x 297 mm</PresentationFormat>
  <Paragraphs>870</Paragraphs>
  <Slides>43</Slides>
  <Notes>1</Notes>
  <HiddenSlides>0</HiddenSlides>
  <MMClips>0</MMClips>
  <ScaleCrop>false</ScaleCrop>
  <HeadingPairs>
    <vt:vector size="6" baseType="variant">
      <vt:variant>
        <vt:lpstr>使用されているフォント</vt:lpstr>
      </vt:variant>
      <vt:variant>
        <vt:i4>5</vt:i4>
      </vt:variant>
      <vt:variant>
        <vt:lpstr>テーマ</vt:lpstr>
      </vt:variant>
      <vt:variant>
        <vt:i4>2</vt:i4>
      </vt:variant>
      <vt:variant>
        <vt:lpstr>スライド タイトル</vt:lpstr>
      </vt:variant>
      <vt:variant>
        <vt:i4>43</vt:i4>
      </vt:variant>
    </vt:vector>
  </HeadingPairs>
  <TitlesOfParts>
    <vt:vector size="50" baseType="lpstr">
      <vt:lpstr>メイリオ</vt:lpstr>
      <vt:lpstr>メイリオ</vt:lpstr>
      <vt:lpstr>Arial</vt:lpstr>
      <vt:lpstr>Calibri</vt:lpstr>
      <vt:lpstr>Century Gothic</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殿村 亮太</cp:lastModifiedBy>
  <cp:revision>1982</cp:revision>
  <cp:lastPrinted>2022-11-01T11:38:14Z</cp:lastPrinted>
  <dcterms:created xsi:type="dcterms:W3CDTF">2015-09-04T09:21:15Z</dcterms:created>
  <dcterms:modified xsi:type="dcterms:W3CDTF">2026-10-24T07:35:09Z</dcterms:modified>
</cp:coreProperties>
</file>