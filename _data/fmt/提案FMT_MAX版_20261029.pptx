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7"/>
  </p:notesMasterIdLst>
  <p:handoutMasterIdLst>
    <p:handoutMasterId r:id="rId58"/>
  </p:handoutMasterIdLst>
  <p:sldIdLst>
    <p:sldId id="2363" r:id="rId3"/>
    <p:sldId id="2726" r:id="rId4"/>
    <p:sldId id="3152" r:id="rId5"/>
    <p:sldId id="2721" r:id="rId6"/>
    <p:sldId id="2723" r:id="rId7"/>
    <p:sldId id="2724" r:id="rId8"/>
    <p:sldId id="2364" r:id="rId9"/>
    <p:sldId id="2365" r:id="rId10"/>
    <p:sldId id="2725" r:id="rId11"/>
    <p:sldId id="2913" r:id="rId12"/>
    <p:sldId id="2727" r:id="rId13"/>
    <p:sldId id="3131" r:id="rId14"/>
    <p:sldId id="3132" r:id="rId15"/>
    <p:sldId id="3150" r:id="rId16"/>
    <p:sldId id="2732" r:id="rId17"/>
    <p:sldId id="2733" r:id="rId18"/>
    <p:sldId id="2728" r:id="rId22"/>
    <p:sldId id="3147" r:id="rId23"/>
    <p:sldId id="3148" r:id="rId24"/>
    <p:sldId id="3141" r:id="rId25"/>
    <p:sldId id="3142" r:id="rId26"/>
    <p:sldId id="3143" r:id="rId27"/>
    <p:sldId id="3145" r:id="rId28"/>
    <p:sldId id="3144" r:id="rId29"/>
    <p:sldId id="3146" r:id="rId30"/>
    <p:sldId id="2972" r:id="rId19"/>
    <p:sldId id="2975" r:id="rId20"/>
    <p:sldId id="2974" r:id="rId21"/>
    <p:sldId id="2729" r:id="rId31"/>
    <p:sldId id="2951" r:id="rId32"/>
    <p:sldId id="2839" r:id="rId33"/>
    <p:sldId id="2740" r:id="rId34"/>
    <p:sldId id="2755" r:id="rId35"/>
    <p:sldId id="2730" r:id="rId36"/>
    <p:sldId id="2595" r:id="rId37"/>
    <p:sldId id="2566" r:id="rId38"/>
    <p:sldId id="2569" r:id="rId39"/>
    <p:sldId id="2915" r:id="rId40"/>
    <p:sldId id="2619" r:id="rId41"/>
    <p:sldId id="3136" r:id="rId42"/>
    <p:sldId id="3137" r:id="rId43"/>
    <p:sldId id="3138" r:id="rId44"/>
    <p:sldId id="3139" r:id="rId45"/>
    <p:sldId id="3140" r:id="rId46"/>
    <p:sldId id="2563" r:id="rId48"/>
    <p:sldId id="2959" r:id="rId49"/>
    <p:sldId id="2970" r:id="rId50"/>
    <p:sldId id="2968" r:id="rId51"/>
    <p:sldId id="2969" r:id="rId52"/>
    <p:sldId id="3151" r:id="rId53"/>
    <p:sldId id="2575" r:id="rId54"/>
    <p:sldId id="2910" r:id="rId55"/>
    <p:sldId id="1169" r:id="rId5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26.xml"/><Relationship Id="rId20" Type="http://schemas.openxmlformats.org/officeDocument/2006/relationships/slide" Target="slides/slide27.xml"/><Relationship Id="rId21" Type="http://schemas.openxmlformats.org/officeDocument/2006/relationships/slide" Target="slides/slide28.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notesMaster" Target="notesMasters/notesMaster1.xml"/><Relationship Id="rId58" Type="http://schemas.openxmlformats.org/officeDocument/2006/relationships/handoutMaster" Target="handoutMasters/handout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2026/10/28</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325021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jpeg"/><Relationship Id="rId4" Type="http://schemas.openxmlformats.org/officeDocument/2006/relationships/image" Target="../media/image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image" Target="../media/image2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7.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9.jpeg"/><Relationship Id="rId4" Type="http://schemas.openxmlformats.org/officeDocument/2006/relationships/image" Target="../media/image40.jpe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svg"/><Relationship Id="rId8" Type="http://schemas.openxmlformats.org/officeDocument/2006/relationships/image" Target="../media/image4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jpg"/><Relationship Id="rId3" Type="http://schemas.openxmlformats.org/officeDocument/2006/relationships/image" Target="../media/image66.jp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jpeg"/><Relationship Id="rId8" Type="http://schemas.openxmlformats.org/officeDocument/2006/relationships/image" Target="../media/image71.jpg"/><Relationship Id="rId9" Type="http://schemas.openxmlformats.org/officeDocument/2006/relationships/image" Target="../media/image72.png"/><Relationship Id="rId10" Type="http://schemas.openxmlformats.org/officeDocument/2006/relationships/image" Target="../media/image73.png"/><Relationship Id="rId11" Type="http://schemas.openxmlformats.org/officeDocument/2006/relationships/hyperlink" Target="https://youtube.com/shorts/0qI4QgrOppQ"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7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emf"/><Relationship Id="rId4" Type="http://schemas.openxmlformats.org/officeDocument/2006/relationships/image" Target="../media/image77.jpeg"/><Relationship Id="rId5" Type="http://schemas.openxmlformats.org/officeDocument/2006/relationships/image" Target="../media/image78.jpeg"/><Relationship Id="rId6" Type="http://schemas.openxmlformats.org/officeDocument/2006/relationships/image" Target="../media/image79.jpeg"/><Relationship Id="rId7" Type="http://schemas.openxmlformats.org/officeDocument/2006/relationships/image" Target="../media/image80.jpeg"/><Relationship Id="rId8" Type="http://schemas.openxmlformats.org/officeDocument/2006/relationships/image" Target="../media/image8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MAX</a:t>
            </a:r>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2B273-7697-D76C-B709-A46B064F573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0553DA5-5DE0-BD33-70D4-FC02F33113D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6" name="図 5">
            <a:extLst>
              <a:ext uri="{FF2B5EF4-FFF2-40B4-BE49-F238E27FC236}">
                <a16:creationId xmlns:a16="http://schemas.microsoft.com/office/drawing/2014/main" id="{CFA9FEA4-17EA-590D-125E-FAC8C6AD3583}"/>
              </a:ext>
            </a:extLst>
          </p:cNvPr>
          <p:cNvPicPr>
            <a:picLocks noChangeAspect="1"/>
          </p:cNvPicPr>
          <p:nvPr/>
        </p:nvPicPr>
        <p:blipFill>
          <a:blip r:embed="rId2"/>
          <a:srcRect b="947"/>
          <a:stretch>
            <a:fillRect/>
          </a:stretch>
        </p:blipFill>
        <p:spPr>
          <a:xfrm>
            <a:off x="10340" y="821330"/>
            <a:ext cx="9885321" cy="5476601"/>
          </a:xfrm>
          <a:prstGeom prst="rect">
            <a:avLst/>
          </a:prstGeom>
        </p:spPr>
      </p:pic>
    </p:spTree>
    <p:extLst>
      <p:ext uri="{BB962C8B-B14F-4D97-AF65-F5344CB8AC3E}">
        <p14:creationId xmlns:p14="http://schemas.microsoft.com/office/powerpoint/2010/main" val="130297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1624169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B216-274D-4EC8-B420-9BD1A2FE6B99}"/>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LINEの友だちへ</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Rectangle 88"/>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90" name="Rectangle 89"/>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サイト来訪・広告・店頭・既存顧客</a:t>
            </a:r>
          </a:p>
          <a:p>
            <a:pPr algn="l">
              <a:lnSpc>
                <a:spcPct val="110000"/>
              </a:lnSpc>
              <a:spcAft>
                <a:spcPts val="0"/>
              </a:spcAft>
            </a:pPr>
            <a:r>
              <a:rPr sz="1050" b="0">
                <a:solidFill>
                  <a:srgbClr val="333333"/>
                </a:solidFill>
                <a:latin typeface="メイリオ"/>
                <a:ea typeface="メイリオ"/>
                <a:cs typeface="メイリオ"/>
              </a:rPr>
              <a:t>ポップアップ／サンクスLINE誘導／</a:t>
            </a:r>
          </a:p>
          <a:p>
            <a:pPr algn="l">
              <a:lnSpc>
                <a:spcPct val="110000"/>
              </a:lnSpc>
              <a:spcAft>
                <a:spcPts val="0"/>
              </a:spcAft>
            </a:pPr>
            <a:r>
              <a:rPr sz="1050" b="0">
                <a:solidFill>
                  <a:srgbClr val="333333"/>
                </a:solidFill>
                <a:latin typeface="メイリオ"/>
                <a:ea typeface="メイリオ"/>
                <a:cs typeface="メイリオ"/>
              </a:rPr>
              <a:t>通知メッセージ／店頭のQR</a:t>
            </a:r>
          </a:p>
        </p:txBody>
      </p:sp>
      <p:sp>
        <p:nvSpPr>
          <p:cNvPr id="91" name="TextBox 90"/>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93" name="Rectangle 92"/>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友だち追加</a:t>
            </a:r>
          </a:p>
        </p:txBody>
      </p:sp>
      <p:sp>
        <p:nvSpPr>
          <p:cNvPr id="94" name="TextBox 93"/>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96" name="Rectangle 95"/>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あいさつメッセージ・アンケート</a:t>
            </a:r>
          </a:p>
        </p:txBody>
      </p:sp>
      <p:sp>
        <p:nvSpPr>
          <p:cNvPr id="97" name="TextBox 96"/>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8" name="Rectangle 97"/>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99" name="Rectangle 98"/>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友だちとしてつながり続ける</a:t>
            </a:r>
          </a:p>
        </p:txBody>
      </p:sp>
      <p:sp>
        <p:nvSpPr>
          <p:cNvPr id="100" name="TextBox 99"/>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サイトを離れる方、申込み済みの方、</a:t>
            </a:r>
          </a:p>
          <a:p>
            <a:pPr algn="l">
              <a:lnSpc>
                <a:spcPct val="105000"/>
              </a:lnSpc>
              <a:spcAft>
                <a:spcPts val="200"/>
              </a:spcAft>
            </a:pPr>
            <a:r>
              <a:rPr sz="1200" b="0">
                <a:solidFill>
                  <a:srgbClr val="333333"/>
                </a:solidFill>
                <a:latin typeface="メイリオ"/>
                <a:ea typeface="メイリオ"/>
                <a:cs typeface="メイリオ"/>
              </a:rPr>
              <a:t>既存顧客を、LINEの友だちとして残す</a:t>
            </a:r>
          </a:p>
        </p:txBody>
      </p:sp>
      <p:sp>
        <p:nvSpPr>
          <p:cNvPr id="101" name="TextBox 100"/>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サイト来訪者／申込み完了の方／</a:t>
            </a:r>
          </a:p>
          <a:p>
            <a:pPr algn="l">
              <a:lnSpc>
                <a:spcPct val="105000"/>
              </a:lnSpc>
              <a:spcAft>
                <a:spcPts val="200"/>
              </a:spcAft>
            </a:pPr>
            <a:r>
              <a:rPr sz="1200" b="0">
                <a:solidFill>
                  <a:srgbClr val="333333"/>
                </a:solidFill>
                <a:latin typeface="メイリオ"/>
                <a:ea typeface="メイリオ"/>
                <a:cs typeface="メイリオ"/>
              </a:rPr>
              <a:t>保有リストの顧客／店頭の来店客</a:t>
            </a:r>
          </a:p>
        </p:txBody>
      </p:sp>
      <p:sp>
        <p:nvSpPr>
          <p:cNvPr id="102" name="TextBox 101"/>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ポップアップ／サンクスLINE誘導／</a:t>
            </a:r>
          </a:p>
          <a:p>
            <a:pPr algn="l">
              <a:lnSpc>
                <a:spcPct val="105000"/>
              </a:lnSpc>
              <a:spcAft>
                <a:spcPts val="200"/>
              </a:spcAft>
            </a:pPr>
            <a:r>
              <a:rPr sz="1200" b="0">
                <a:solidFill>
                  <a:srgbClr val="333333"/>
                </a:solidFill>
                <a:latin typeface="メイリオ"/>
                <a:ea typeface="メイリオ"/>
                <a:cs typeface="メイリオ"/>
              </a:rPr>
              <a:t>保有リストへの通知メッセージ／</a:t>
            </a:r>
          </a:p>
          <a:p>
            <a:pPr algn="l">
              <a:lnSpc>
                <a:spcPct val="105000"/>
              </a:lnSpc>
              <a:spcAft>
                <a:spcPts val="200"/>
              </a:spcAft>
            </a:pPr>
            <a:r>
              <a:rPr sz="1200" b="0">
                <a:solidFill>
                  <a:srgbClr val="333333"/>
                </a:solidFill>
                <a:latin typeface="メイリオ"/>
                <a:ea typeface="メイリオ"/>
                <a:cs typeface="メイリオ"/>
              </a:rPr>
              <a:t>店頭POP・チラシのQR</a:t>
            </a:r>
          </a:p>
        </p:txBody>
      </p:sp>
      <p:sp>
        <p:nvSpPr>
          <p:cNvPr id="103" name="TextBox 102"/>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友だち追加数／入口ごとの追加数／</a:t>
            </a:r>
          </a:p>
          <a:p>
            <a:pPr algn="l">
              <a:lnSpc>
                <a:spcPct val="105000"/>
              </a:lnSpc>
              <a:spcAft>
                <a:spcPts val="200"/>
              </a:spcAft>
            </a:pPr>
            <a:r>
              <a:rPr sz="1200" b="0">
                <a:solidFill>
                  <a:srgbClr val="333333"/>
                </a:solidFill>
                <a:latin typeface="メイリオ"/>
                <a:ea typeface="メイリオ"/>
                <a:cs typeface="メイリオ"/>
              </a:rPr>
              <a:t>友だち1人あたりの獲得費用</a:t>
            </a:r>
          </a:p>
        </p:txBody>
      </p:sp>
    </p:spTree>
    <p:extLst>
      <p:ext uri="{BB962C8B-B14F-4D97-AF65-F5344CB8AC3E}">
        <p14:creationId xmlns:p14="http://schemas.microsoft.com/office/powerpoint/2010/main" val="249896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1-2FDF-C61A-0B28-2BD7FAAB4DC1}"/>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Rectangle 84"/>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86" name="Rectangle 85"/>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友だち全体</a:t>
            </a:r>
          </a:p>
        </p:txBody>
      </p:sp>
      <p:sp>
        <p:nvSpPr>
          <p:cNvPr id="87" name="TextBox 86"/>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8" name="Rectangle 87"/>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89" name="Rectangle 88"/>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リッチメニューに最新情報の入口</a:t>
            </a:r>
          </a:p>
        </p:txBody>
      </p:sp>
      <p:sp>
        <p:nvSpPr>
          <p:cNvPr id="90" name="TextBox 89"/>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1" name="Rectangle 90"/>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92" name="Rectangle 91"/>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企画配信</a:t>
            </a:r>
          </a:p>
          <a:p>
            <a:pPr algn="l">
              <a:lnSpc>
                <a:spcPct val="110000"/>
              </a:lnSpc>
              <a:spcAft>
                <a:spcPts val="0"/>
              </a:spcAft>
            </a:pPr>
            <a:r>
              <a:rPr sz="1050" b="0">
                <a:solidFill>
                  <a:srgbClr val="333333"/>
                </a:solidFill>
                <a:latin typeface="メイリオ"/>
                <a:ea typeface="メイリオ"/>
                <a:cs typeface="メイリオ"/>
              </a:rPr>
              <a:t>新商品・イベント・季節の情報</a:t>
            </a:r>
          </a:p>
        </p:txBody>
      </p:sp>
      <p:sp>
        <p:nvSpPr>
          <p:cNvPr id="93" name="TextBox 92"/>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4" name="Rectangle 93"/>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95" name="Rectangle 94"/>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サイト・イベントページへの来訪</a:t>
            </a:r>
          </a:p>
        </p:txBody>
      </p:sp>
      <p:sp>
        <p:nvSpPr>
          <p:cNvPr id="96" name="TextBox 95"/>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新商品・イベントを広く知らせ、</a:t>
            </a:r>
          </a:p>
          <a:p>
            <a:pPr algn="l">
              <a:lnSpc>
                <a:spcPct val="105000"/>
              </a:lnSpc>
              <a:spcAft>
                <a:spcPts val="200"/>
              </a:spcAft>
            </a:pPr>
            <a:r>
              <a:rPr sz="1200" b="0">
                <a:solidFill>
                  <a:srgbClr val="333333"/>
                </a:solidFill>
                <a:latin typeface="メイリオ"/>
                <a:ea typeface="メイリオ"/>
                <a:cs typeface="メイリオ"/>
              </a:rPr>
              <a:t>接触の量を増やす</a:t>
            </a:r>
          </a:p>
        </p:txBody>
      </p:sp>
      <p:sp>
        <p:nvSpPr>
          <p:cNvPr id="97" name="TextBox 96"/>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友だち全体（反応の少ない方も含む）</a:t>
            </a:r>
          </a:p>
        </p:txBody>
      </p:sp>
      <p:sp>
        <p:nvSpPr>
          <p:cNvPr id="98" name="TextBox 97"/>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季節・キャンペーンに合わせた企画配信／</a:t>
            </a:r>
          </a:p>
          <a:p>
            <a:pPr algn="l">
              <a:lnSpc>
                <a:spcPct val="105000"/>
              </a:lnSpc>
              <a:spcAft>
                <a:spcPts val="200"/>
              </a:spcAft>
            </a:pPr>
            <a:r>
              <a:rPr sz="1200" b="0">
                <a:solidFill>
                  <a:srgbClr val="333333"/>
                </a:solidFill>
                <a:latin typeface="メイリオ"/>
                <a:ea typeface="メイリオ"/>
                <a:cs typeface="メイリオ"/>
              </a:rPr>
              <a:t>リッチメニューに最新情報の入口／</a:t>
            </a:r>
          </a:p>
          <a:p>
            <a:pPr algn="l">
              <a:lnSpc>
                <a:spcPct val="105000"/>
              </a:lnSpc>
              <a:spcAft>
                <a:spcPts val="200"/>
              </a:spcAft>
            </a:pPr>
            <a:r>
              <a:rPr sz="1200" b="0">
                <a:solidFill>
                  <a:srgbClr val="333333"/>
                </a:solidFill>
                <a:latin typeface="メイリオ"/>
                <a:ea typeface="メイリオ"/>
                <a:cs typeface="メイリオ"/>
              </a:rPr>
              <a:t>配信の時期は検索の動きに合わせる</a:t>
            </a:r>
          </a:p>
        </p:txBody>
      </p:sp>
      <p:sp>
        <p:nvSpPr>
          <p:cNvPr id="99" name="TextBox 98"/>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友だち数／配信到達数／開封率</a:t>
            </a:r>
          </a:p>
        </p:txBody>
      </p:sp>
    </p:spTree>
    <p:extLst>
      <p:ext uri="{BB962C8B-B14F-4D97-AF65-F5344CB8AC3E}">
        <p14:creationId xmlns:p14="http://schemas.microsoft.com/office/powerpoint/2010/main" val="2699611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5D0F-5075-071F-11BA-7B2A1366AA9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Rectangle 107"/>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9" name="Rectangle 108"/>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友だち追加から15日以内の方</a:t>
            </a:r>
          </a:p>
        </p:txBody>
      </p:sp>
      <p:sp>
        <p:nvSpPr>
          <p:cNvPr id="110" name="TextBox 109"/>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12" name="Rectangle 111"/>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Day0 アンケート・診断</a:t>
            </a:r>
          </a:p>
        </p:txBody>
      </p:sp>
      <p:sp>
        <p:nvSpPr>
          <p:cNvPr id="113" name="TextBox 112"/>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5" name="Rectangle 114"/>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ステップ配信（Day0〜15）</a:t>
            </a:r>
          </a:p>
        </p:txBody>
      </p:sp>
      <p:sp>
        <p:nvSpPr>
          <p:cNvPr id="116" name="TextBox 115"/>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7" name="Rectangle 116"/>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8" name="Rectangle 117"/>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申込み・予約（CV）</a:t>
            </a:r>
          </a:p>
        </p:txBody>
      </p:sp>
      <p:sp>
        <p:nvSpPr>
          <p:cNvPr id="119" name="TextBox 118"/>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友だち追加の直後の反応が高い時期に、</a:t>
            </a:r>
          </a:p>
          <a:p>
            <a:pPr algn="l">
              <a:lnSpc>
                <a:spcPct val="105000"/>
              </a:lnSpc>
              <a:spcAft>
                <a:spcPts val="200"/>
              </a:spcAft>
            </a:pPr>
            <a:r>
              <a:rPr sz="1200" b="0">
                <a:solidFill>
                  <a:srgbClr val="333333"/>
                </a:solidFill>
                <a:latin typeface="メイリオ"/>
                <a:ea typeface="メイリオ"/>
                <a:cs typeface="メイリオ"/>
              </a:rPr>
              <a:t>WEBの申込み・予約や来店につなげる</a:t>
            </a:r>
          </a:p>
        </p:txBody>
      </p:sp>
      <p:sp>
        <p:nvSpPr>
          <p:cNvPr id="120" name="TextBox 119"/>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友だち追加から15日以内の方</a:t>
            </a:r>
          </a:p>
          <a:p>
            <a:pPr algn="l">
              <a:lnSpc>
                <a:spcPct val="105000"/>
              </a:lnSpc>
              <a:spcAft>
                <a:spcPts val="200"/>
              </a:spcAft>
            </a:pPr>
            <a:r>
              <a:rPr sz="1200" b="0">
                <a:solidFill>
                  <a:srgbClr val="333333"/>
                </a:solidFill>
                <a:latin typeface="メイリオ"/>
                <a:ea typeface="メイリオ"/>
                <a:cs typeface="メイリオ"/>
              </a:rPr>
              <a:t>（検討度が高い方）</a:t>
            </a:r>
          </a:p>
        </p:txBody>
      </p:sp>
      <p:sp>
        <p:nvSpPr>
          <p:cNvPr id="121" name="TextBox 120"/>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前後検索をもとに、疑問に順に答える</a:t>
            </a:r>
          </a:p>
          <a:p>
            <a:pPr algn="l">
              <a:lnSpc>
                <a:spcPct val="105000"/>
              </a:lnSpc>
              <a:spcAft>
                <a:spcPts val="200"/>
              </a:spcAft>
            </a:pPr>
            <a:r>
              <a:rPr sz="1200" b="0">
                <a:solidFill>
                  <a:srgbClr val="333333"/>
                </a:solidFill>
                <a:latin typeface="メイリオ"/>
                <a:ea typeface="メイリオ"/>
                <a:cs typeface="メイリオ"/>
              </a:rPr>
              <a:t>ステップ配信／回答で配信を出し分け／</a:t>
            </a:r>
          </a:p>
          <a:p>
            <a:pPr algn="l">
              <a:lnSpc>
                <a:spcPct val="105000"/>
              </a:lnSpc>
              <a:spcAft>
                <a:spcPts val="200"/>
              </a:spcAft>
            </a:pPr>
            <a:r>
              <a:rPr sz="1200" b="0">
                <a:solidFill>
                  <a:srgbClr val="333333"/>
                </a:solidFill>
                <a:latin typeface="メイリオ"/>
                <a:ea typeface="メイリオ"/>
                <a:cs typeface="メイリオ"/>
              </a:rPr>
              <a:t>リッチメニューから申込みへ</a:t>
            </a:r>
          </a:p>
        </p:txBody>
      </p:sp>
      <p:sp>
        <p:nvSpPr>
          <p:cNvPr id="122" name="TextBox 121"/>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CV数／CVR／CPA</a:t>
            </a:r>
          </a:p>
        </p:txBody>
      </p:sp>
    </p:spTree>
    <p:extLst>
      <p:ext uri="{BB962C8B-B14F-4D97-AF65-F5344CB8AC3E}">
        <p14:creationId xmlns:p14="http://schemas.microsoft.com/office/powerpoint/2010/main" val="3208278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7D94-7381-1A9E-617F-B4E17DA3E766}"/>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CPO</a:t>
            </a:r>
            <a:r>
              <a:rPr kumimoji="1" lang="ja-JP" altLang="en-US" sz="1200" b="1" dirty="0">
                <a:solidFill>
                  <a:srgbClr val="FFFF00"/>
                </a:solidFill>
                <a:latin typeface="メイリオ" panose="020B0604030504040204" pitchFamily="50" charset="-128"/>
                <a:ea typeface="メイリオ" panose="020B0604030504040204" pitchFamily="50" charset="-128"/>
              </a:rPr>
              <a:t>の改善（</a:t>
            </a: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申込み・予約の完了画面</a:t>
            </a:r>
          </a:p>
          <a:p>
            <a:pPr algn="l">
              <a:lnSpc>
                <a:spcPct val="110000"/>
              </a:lnSpc>
              <a:spcAft>
                <a:spcPts val="0"/>
              </a:spcAft>
            </a:pPr>
            <a:r>
              <a:rPr sz="1050" b="0">
                <a:solidFill>
                  <a:srgbClr val="333333"/>
                </a:solidFill>
                <a:latin typeface="メイリオ"/>
                <a:ea typeface="メイリオ"/>
                <a:cs typeface="メイリオ"/>
              </a:rPr>
              <a:t>サンクスLINE誘導</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友だち追加・タグ付け</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予約確認・前日のお知らせ</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来店・面談・購入</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来店・面談・購入まで進む方を増やし、</a:t>
            </a:r>
          </a:p>
          <a:p>
            <a:pPr algn="l">
              <a:lnSpc>
                <a:spcPct val="105000"/>
              </a:lnSpc>
              <a:spcAft>
                <a:spcPts val="200"/>
              </a:spcAft>
            </a:pPr>
            <a:r>
              <a:rPr sz="1200" b="0">
                <a:solidFill>
                  <a:srgbClr val="333333"/>
                </a:solidFill>
                <a:latin typeface="メイリオ"/>
                <a:ea typeface="メイリオ"/>
                <a:cs typeface="メイリオ"/>
              </a:rPr>
              <a:t>成果1件あたりの費用（CPO）を下げる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申込み・予約・資料請求をした方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アンケートで検討度を分けてタグ付け／</a:t>
            </a:r>
          </a:p>
          <a:p>
            <a:pPr algn="l">
              <a:lnSpc>
                <a:spcPct val="105000"/>
              </a:lnSpc>
              <a:spcAft>
                <a:spcPts val="200"/>
              </a:spcAft>
            </a:pPr>
            <a:r>
              <a:rPr sz="1200" b="0">
                <a:solidFill>
                  <a:srgbClr val="333333"/>
                </a:solidFill>
                <a:latin typeface="メイリオ"/>
                <a:ea typeface="メイリオ"/>
                <a:cs typeface="メイリオ"/>
              </a:rPr>
              <a:t>予約確認・前日のお知らせ／</a:t>
            </a:r>
          </a:p>
          <a:p>
            <a:pPr algn="l">
              <a:lnSpc>
                <a:spcPct val="105000"/>
              </a:lnSpc>
              <a:spcAft>
                <a:spcPts val="200"/>
              </a:spcAft>
            </a:pPr>
            <a:r>
              <a:rPr sz="1200" b="0">
                <a:solidFill>
                  <a:srgbClr val="333333"/>
                </a:solidFill>
                <a:latin typeface="メイリオ"/>
                <a:ea typeface="メイリオ"/>
                <a:cs typeface="メイリオ"/>
              </a:rPr>
              <a:t>来店・面談の前の不安を解消する配信</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来店率・面談率／キャンセル率／CPO</a:t>
            </a:r>
          </a:p>
        </p:txBody>
      </p:sp>
    </p:spTree>
    <p:extLst>
      <p:ext uri="{BB962C8B-B14F-4D97-AF65-F5344CB8AC3E}">
        <p14:creationId xmlns:p14="http://schemas.microsoft.com/office/powerpoint/2010/main" val="1754378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4991-65EE-118F-9D32-76B9BC9A4EB2}"/>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一定期間、反応のない友だち</a:t>
            </a:r>
          </a:p>
          <a:p>
            <a:pPr algn="l">
              <a:lnSpc>
                <a:spcPct val="110000"/>
              </a:lnSpc>
              <a:spcAft>
                <a:spcPts val="0"/>
              </a:spcAft>
            </a:pPr>
            <a:r>
              <a:rPr sz="1050" b="0">
                <a:solidFill>
                  <a:srgbClr val="333333"/>
                </a:solidFill>
                <a:latin typeface="メイリオ"/>
                <a:ea typeface="メイリオ"/>
                <a:cs typeface="メイリオ"/>
              </a:rPr>
              <a:t>開封・クリックなし</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タグで反応のない方を絞り込む</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再アプローチの企画配信</a:t>
            </a:r>
          </a:p>
          <a:p>
            <a:pPr algn="l">
              <a:lnSpc>
                <a:spcPct val="110000"/>
              </a:lnSpc>
              <a:spcAft>
                <a:spcPts val="0"/>
              </a:spcAft>
            </a:pPr>
            <a:r>
              <a:rPr sz="1050" b="0">
                <a:solidFill>
                  <a:srgbClr val="333333"/>
                </a:solidFill>
                <a:latin typeface="メイリオ"/>
                <a:ea typeface="メイリオ"/>
                <a:cs typeface="メイリオ"/>
              </a:rPr>
              <a:t>検討が再び高まる時期・新しい情報・限定の特典</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再び申込み・予約（CV）へ</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反応が止まった友だちを掘り起こし、</a:t>
            </a:r>
          </a:p>
          <a:p>
            <a:pPr algn="l">
              <a:lnSpc>
                <a:spcPct val="105000"/>
              </a:lnSpc>
              <a:spcAft>
                <a:spcPts val="200"/>
              </a:spcAft>
            </a:pPr>
            <a:r>
              <a:rPr sz="1200" b="0">
                <a:solidFill>
                  <a:srgbClr val="333333"/>
                </a:solidFill>
                <a:latin typeface="メイリオ"/>
                <a:ea typeface="メイリオ"/>
                <a:cs typeface="メイリオ"/>
              </a:rPr>
              <a:t>もう一度検討の対象に戻す</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追加から15日を過ぎ、反応のない方／</a:t>
            </a:r>
          </a:p>
          <a:p>
            <a:pPr algn="l">
              <a:lnSpc>
                <a:spcPct val="105000"/>
              </a:lnSpc>
              <a:spcAft>
                <a:spcPts val="200"/>
              </a:spcAft>
            </a:pPr>
            <a:r>
              <a:rPr sz="1200" b="0">
                <a:solidFill>
                  <a:srgbClr val="333333"/>
                </a:solidFill>
                <a:latin typeface="メイリオ"/>
                <a:ea typeface="メイリオ"/>
                <a:cs typeface="メイリオ"/>
              </a:rPr>
              <a:t>申込みまで進まなかった方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反応の有無でタグを分けて配信／</a:t>
            </a:r>
          </a:p>
          <a:p>
            <a:pPr algn="l">
              <a:lnSpc>
                <a:spcPct val="105000"/>
              </a:lnSpc>
              <a:spcAft>
                <a:spcPts val="200"/>
              </a:spcAft>
            </a:pPr>
            <a:r>
              <a:rPr sz="1200" b="0">
                <a:solidFill>
                  <a:srgbClr val="333333"/>
                </a:solidFill>
                <a:latin typeface="メイリオ"/>
                <a:ea typeface="メイリオ"/>
                <a:cs typeface="メイリオ"/>
              </a:rPr>
              <a:t>検索が再び増える時期の企画配信／</a:t>
            </a:r>
          </a:p>
          <a:p>
            <a:pPr algn="l">
              <a:lnSpc>
                <a:spcPct val="105000"/>
              </a:lnSpc>
              <a:spcAft>
                <a:spcPts val="200"/>
              </a:spcAft>
            </a:pPr>
            <a:r>
              <a:rPr sz="1200" b="0">
                <a:solidFill>
                  <a:srgbClr val="333333"/>
                </a:solidFill>
                <a:latin typeface="メイリオ"/>
                <a:ea typeface="メイリオ"/>
                <a:cs typeface="メイリオ"/>
              </a:rPr>
              <a:t>アンケートで今の状況を聞き直す</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再開封率／再クリック率／休眠からのCV数</a:t>
            </a:r>
          </a:p>
        </p:txBody>
      </p:sp>
    </p:spTree>
    <p:extLst>
      <p:ext uri="{BB962C8B-B14F-4D97-AF65-F5344CB8AC3E}">
        <p14:creationId xmlns:p14="http://schemas.microsoft.com/office/powerpoint/2010/main" val="1734687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74BE-BFC0-419C-8849-B9CF0276384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申込み・予約・検討中の方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アンケート・タグで検討度を分ける</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購入・契約の後押しの配信</a:t>
            </a:r>
          </a:p>
          <a:p>
            <a:pPr algn="l">
              <a:lnSpc>
                <a:spcPct val="110000"/>
              </a:lnSpc>
              <a:spcAft>
                <a:spcPts val="0"/>
              </a:spcAft>
            </a:pPr>
            <a:r>
              <a:rPr sz="1050" b="0">
                <a:solidFill>
                  <a:srgbClr val="333333"/>
                </a:solidFill>
                <a:latin typeface="メイリオ"/>
                <a:ea typeface="メイリオ"/>
                <a:cs typeface="メイリオ"/>
              </a:rPr>
              <a:t>比較のポイント・費用・よくある質問</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購入・契約</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検討度の高い方を取りこぼさず、</a:t>
            </a:r>
          </a:p>
          <a:p>
            <a:pPr algn="l">
              <a:lnSpc>
                <a:spcPct val="105000"/>
              </a:lnSpc>
              <a:spcAft>
                <a:spcPts val="200"/>
              </a:spcAft>
            </a:pPr>
            <a:r>
              <a:rPr sz="1200" b="0">
                <a:solidFill>
                  <a:srgbClr val="333333"/>
                </a:solidFill>
                <a:latin typeface="メイリオ"/>
                <a:ea typeface="メイリオ"/>
                <a:cs typeface="メイリオ"/>
              </a:rPr>
              <a:t>購入・契約まで進める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申込み・予約をした方／</a:t>
            </a:r>
          </a:p>
          <a:p>
            <a:pPr algn="l">
              <a:lnSpc>
                <a:spcPct val="105000"/>
              </a:lnSpc>
              <a:spcAft>
                <a:spcPts val="200"/>
              </a:spcAft>
            </a:pPr>
            <a:r>
              <a:rPr sz="1200" b="0">
                <a:solidFill>
                  <a:srgbClr val="333333"/>
                </a:solidFill>
                <a:latin typeface="メイリオ"/>
                <a:ea typeface="メイリオ"/>
                <a:cs typeface="メイリオ"/>
              </a:rPr>
              <a:t>検討度が高いとタグ付けされた方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購入・契約前の不安に答える配信／</a:t>
            </a:r>
          </a:p>
          <a:p>
            <a:pPr algn="l">
              <a:lnSpc>
                <a:spcPct val="105000"/>
              </a:lnSpc>
              <a:spcAft>
                <a:spcPts val="200"/>
              </a:spcAft>
            </a:pPr>
            <a:r>
              <a:rPr sz="1200" b="0">
                <a:solidFill>
                  <a:srgbClr val="333333"/>
                </a:solidFill>
                <a:latin typeface="メイリオ"/>
                <a:ea typeface="メイリオ"/>
                <a:cs typeface="メイリオ"/>
              </a:rPr>
              <a:t>個別チャットでの相談の受け付け／</a:t>
            </a:r>
          </a:p>
          <a:p>
            <a:pPr algn="l">
              <a:lnSpc>
                <a:spcPct val="105000"/>
              </a:lnSpc>
              <a:spcAft>
                <a:spcPts val="200"/>
              </a:spcAft>
            </a:pPr>
            <a:r>
              <a:rPr sz="1200" b="0">
                <a:solidFill>
                  <a:srgbClr val="333333"/>
                </a:solidFill>
                <a:latin typeface="メイリオ"/>
                <a:ea typeface="メイリオ"/>
                <a:cs typeface="メイリオ"/>
              </a:rPr>
              <a:t>期限付きの特典の案内</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購入・契約数／成約率／CPO</a:t>
            </a:r>
          </a:p>
        </p:txBody>
      </p:sp>
    </p:spTree>
    <p:extLst>
      <p:ext uri="{BB962C8B-B14F-4D97-AF65-F5344CB8AC3E}">
        <p14:creationId xmlns:p14="http://schemas.microsoft.com/office/powerpoint/2010/main" val="340136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A889-871E-1630-C077-0DF99367DE7C}"/>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購入・来店した方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購入・来店の内容でタグ付け</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次の購入・来店のタイミングに合わせた配信</a:t>
            </a:r>
          </a:p>
          <a:p>
            <a:pPr algn="l">
              <a:lnSpc>
                <a:spcPct val="110000"/>
              </a:lnSpc>
              <a:spcAft>
                <a:spcPts val="0"/>
              </a:spcAft>
            </a:pPr>
            <a:r>
              <a:rPr sz="1050" b="0">
                <a:solidFill>
                  <a:srgbClr val="333333"/>
                </a:solidFill>
                <a:latin typeface="メイリオ"/>
                <a:ea typeface="メイリオ"/>
                <a:cs typeface="メイリオ"/>
              </a:rPr>
              <a:t>ステップ配信・企画配信</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再購入・再来店・関連商品の購入</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再購入・再来店のタイミングで、</a:t>
            </a:r>
          </a:p>
          <a:p>
            <a:pPr algn="l">
              <a:lnSpc>
                <a:spcPct val="105000"/>
              </a:lnSpc>
              <a:spcAft>
                <a:spcPts val="200"/>
              </a:spcAft>
            </a:pPr>
            <a:r>
              <a:rPr sz="1200" b="0">
                <a:solidFill>
                  <a:srgbClr val="333333"/>
                </a:solidFill>
                <a:latin typeface="メイリオ"/>
                <a:ea typeface="メイリオ"/>
                <a:cs typeface="メイリオ"/>
              </a:rPr>
              <a:t>必要な方に必要な情報を届ける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購入・来店した方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購入からの日数を起点にしたステップ配信／</a:t>
            </a:r>
          </a:p>
          <a:p>
            <a:pPr algn="l">
              <a:lnSpc>
                <a:spcPct val="105000"/>
              </a:lnSpc>
              <a:spcAft>
                <a:spcPts val="200"/>
              </a:spcAft>
            </a:pPr>
            <a:r>
              <a:rPr sz="1200" b="0">
                <a:solidFill>
                  <a:srgbClr val="333333"/>
                </a:solidFill>
                <a:latin typeface="メイリオ"/>
                <a:ea typeface="メイリオ"/>
                <a:cs typeface="メイリオ"/>
              </a:rPr>
              <a:t>購入内容に合わせた関連商品の案内／</a:t>
            </a:r>
          </a:p>
          <a:p>
            <a:pPr algn="l">
              <a:lnSpc>
                <a:spcPct val="105000"/>
              </a:lnSpc>
              <a:spcAft>
                <a:spcPts val="200"/>
              </a:spcAft>
            </a:pPr>
            <a:r>
              <a:rPr sz="1200" b="0">
                <a:solidFill>
                  <a:srgbClr val="333333"/>
                </a:solidFill>
                <a:latin typeface="メイリオ"/>
                <a:ea typeface="メイリオ"/>
                <a:cs typeface="メイリオ"/>
              </a:rPr>
              <a:t>次回の予約の案内</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リピート率／再来店数／購入間隔</a:t>
            </a:r>
          </a:p>
        </p:txBody>
      </p:sp>
    </p:spTree>
    <p:extLst>
      <p:ext uri="{BB962C8B-B14F-4D97-AF65-F5344CB8AC3E}">
        <p14:creationId xmlns:p14="http://schemas.microsoft.com/office/powerpoint/2010/main" val="2708163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268C-F051-0034-8F1C-A9F10B60F8A5}"/>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会員・ファン</a:t>
            </a:r>
          </a:p>
          <a:p>
            <a:pPr algn="l">
              <a:lnSpc>
                <a:spcPct val="110000"/>
              </a:lnSpc>
              <a:spcAft>
                <a:spcPts val="0"/>
              </a:spcAft>
            </a:pPr>
            <a:r>
              <a:rPr sz="1050" b="0">
                <a:solidFill>
                  <a:srgbClr val="333333"/>
                </a:solidFill>
                <a:latin typeface="メイリオ"/>
                <a:ea typeface="メイリオ"/>
                <a:cs typeface="メイリオ"/>
              </a:rPr>
              <a:t>購入・来店をくり返す方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会員・ファンのタグ付け</a:t>
            </a:r>
          </a:p>
          <a:p>
            <a:pPr algn="l">
              <a:lnSpc>
                <a:spcPct val="110000"/>
              </a:lnSpc>
              <a:spcAft>
                <a:spcPts val="0"/>
              </a:spcAft>
            </a:pPr>
            <a:r>
              <a:rPr sz="1050" b="0">
                <a:solidFill>
                  <a:srgbClr val="333333"/>
                </a:solidFill>
                <a:latin typeface="メイリオ"/>
                <a:ea typeface="メイリオ"/>
                <a:cs typeface="メイリオ"/>
              </a:rPr>
              <a:t>リッチメニューに会員向けの入口</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会員向けの限定情報・特典・イベントの案内</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継続利用・紹介</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会員・ファン向けに限定情報と特典を届け、</a:t>
            </a:r>
          </a:p>
          <a:p>
            <a:pPr algn="l">
              <a:lnSpc>
                <a:spcPct val="105000"/>
              </a:lnSpc>
              <a:spcAft>
                <a:spcPts val="200"/>
              </a:spcAft>
            </a:pPr>
            <a:r>
              <a:rPr sz="1200" b="0">
                <a:solidFill>
                  <a:srgbClr val="333333"/>
                </a:solidFill>
                <a:latin typeface="メイリオ"/>
                <a:ea typeface="メイリオ"/>
                <a:cs typeface="メイリオ"/>
              </a:rPr>
              <a:t>つながりを強くする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会員の方／</a:t>
            </a:r>
          </a:p>
          <a:p>
            <a:pPr algn="l">
              <a:lnSpc>
                <a:spcPct val="105000"/>
              </a:lnSpc>
              <a:spcAft>
                <a:spcPts val="200"/>
              </a:spcAft>
            </a:pPr>
            <a:r>
              <a:rPr sz="1200" b="0">
                <a:solidFill>
                  <a:srgbClr val="333333"/>
                </a:solidFill>
                <a:latin typeface="メイリオ"/>
                <a:ea typeface="メイリオ"/>
                <a:cs typeface="メイリオ"/>
              </a:rPr>
              <a:t>購入・来店をくり返している方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会員だけに届く限定情報・先行案内／</a:t>
            </a:r>
          </a:p>
          <a:p>
            <a:pPr algn="l">
              <a:lnSpc>
                <a:spcPct val="105000"/>
              </a:lnSpc>
              <a:spcAft>
                <a:spcPts val="200"/>
              </a:spcAft>
            </a:pPr>
            <a:r>
              <a:rPr sz="1200" b="0">
                <a:solidFill>
                  <a:srgbClr val="333333"/>
                </a:solidFill>
                <a:latin typeface="メイリオ"/>
                <a:ea typeface="メイリオ"/>
                <a:cs typeface="メイリオ"/>
              </a:rPr>
              <a:t>会員向けイベントの案内／</a:t>
            </a:r>
          </a:p>
          <a:p>
            <a:pPr algn="l">
              <a:lnSpc>
                <a:spcPct val="105000"/>
              </a:lnSpc>
              <a:spcAft>
                <a:spcPts val="200"/>
              </a:spcAft>
            </a:pPr>
            <a:r>
              <a:rPr sz="1200" b="0">
                <a:solidFill>
                  <a:srgbClr val="333333"/>
                </a:solidFill>
                <a:latin typeface="メイリオ"/>
                <a:ea typeface="メイリオ"/>
                <a:cs typeface="メイリオ"/>
              </a:rPr>
              <a:t>友だちへの紹介の案内</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会員数／反応率／参加率／紹介数</a:t>
            </a:r>
          </a:p>
        </p:txBody>
      </p:sp>
    </p:spTree>
    <p:extLst>
      <p:ext uri="{BB962C8B-B14F-4D97-AF65-F5344CB8AC3E}">
        <p14:creationId xmlns:p14="http://schemas.microsoft.com/office/powerpoint/2010/main" val="2604374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図 261">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528369"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547374"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547375" y="1702353"/>
            <a:ext cx="946084"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41037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739629"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ブランド名</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稼ぎ方</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条件</a:t>
            </a:r>
          </a:p>
        </p:txBody>
      </p:sp>
      <p:sp>
        <p:nvSpPr>
          <p:cNvPr id="273" name="四角形: 角を丸くする 272">
            <a:extLst>
              <a:ext uri="{FF2B5EF4-FFF2-40B4-BE49-F238E27FC236}">
                <a16:creationId xmlns:a16="http://schemas.microsoft.com/office/drawing/2014/main" id="{D99442CD-A18C-BBDA-3029-1A885B9960E8}"/>
              </a:ext>
            </a:extLst>
          </p:cNvPr>
          <p:cNvSpPr/>
          <p:nvPr/>
        </p:nvSpPr>
        <p:spPr>
          <a:xfrm>
            <a:off x="7920174" y="273036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準備</a:t>
            </a:r>
          </a:p>
        </p:txBody>
      </p:sp>
      <p:sp>
        <p:nvSpPr>
          <p:cNvPr id="274" name="四角形: 角を丸くする 273">
            <a:extLst>
              <a:ext uri="{FF2B5EF4-FFF2-40B4-BE49-F238E27FC236}">
                <a16:creationId xmlns:a16="http://schemas.microsoft.com/office/drawing/2014/main" id="{57B4D6DC-CAFB-1523-7FD8-8ADDCB817F59}"/>
              </a:ext>
            </a:extLst>
          </p:cNvPr>
          <p:cNvSpPr/>
          <p:nvPr/>
        </p:nvSpPr>
        <p:spPr>
          <a:xfrm>
            <a:off x="4430176" y="2222541"/>
            <a:ext cx="8909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5" name="四角形: 角を丸くする 274">
            <a:extLst>
              <a:ext uri="{FF2B5EF4-FFF2-40B4-BE49-F238E27FC236}">
                <a16:creationId xmlns:a16="http://schemas.microsoft.com/office/drawing/2014/main" id="{648709C7-ABDE-FD09-E0E9-FB2A90A7D915}"/>
              </a:ext>
            </a:extLst>
          </p:cNvPr>
          <p:cNvSpPr/>
          <p:nvPr/>
        </p:nvSpPr>
        <p:spPr>
          <a:xfrm>
            <a:off x="4440171" y="261436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6" name="四角形: 角を丸くする 275">
            <a:extLst>
              <a:ext uri="{FF2B5EF4-FFF2-40B4-BE49-F238E27FC236}">
                <a16:creationId xmlns:a16="http://schemas.microsoft.com/office/drawing/2014/main" id="{264110F6-78DC-CB60-F894-12888B0DA45D}"/>
              </a:ext>
            </a:extLst>
          </p:cNvPr>
          <p:cNvSpPr/>
          <p:nvPr/>
        </p:nvSpPr>
        <p:spPr>
          <a:xfrm>
            <a:off x="5108095" y="2788018"/>
            <a:ext cx="37783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7" name="四角形: 角を丸くする 276">
            <a:extLst>
              <a:ext uri="{FF2B5EF4-FFF2-40B4-BE49-F238E27FC236}">
                <a16:creationId xmlns:a16="http://schemas.microsoft.com/office/drawing/2014/main" id="{11FC472F-1256-6150-5E6B-04426396E2D1}"/>
              </a:ext>
            </a:extLst>
          </p:cNvPr>
          <p:cNvSpPr/>
          <p:nvPr/>
        </p:nvSpPr>
        <p:spPr>
          <a:xfrm>
            <a:off x="4465229" y="3003100"/>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8" name="四角形: 角を丸くする 277">
            <a:extLst>
              <a:ext uri="{FF2B5EF4-FFF2-40B4-BE49-F238E27FC236}">
                <a16:creationId xmlns:a16="http://schemas.microsoft.com/office/drawing/2014/main" id="{4C2B40CF-6D8E-F71B-185D-D702A82E2A43}"/>
              </a:ext>
            </a:extLst>
          </p:cNvPr>
          <p:cNvSpPr/>
          <p:nvPr/>
        </p:nvSpPr>
        <p:spPr>
          <a:xfrm>
            <a:off x="4538760" y="316312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9" name="四角形: 角を丸くする 278">
            <a:extLst>
              <a:ext uri="{FF2B5EF4-FFF2-40B4-BE49-F238E27FC236}">
                <a16:creationId xmlns:a16="http://schemas.microsoft.com/office/drawing/2014/main" id="{45B59A38-F8C6-C42D-7574-E2FF7042AE90}"/>
              </a:ext>
            </a:extLst>
          </p:cNvPr>
          <p:cNvSpPr/>
          <p:nvPr/>
        </p:nvSpPr>
        <p:spPr>
          <a:xfrm>
            <a:off x="4538760" y="33079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0" name="四角形: 角を丸くする 279">
            <a:extLst>
              <a:ext uri="{FF2B5EF4-FFF2-40B4-BE49-F238E27FC236}">
                <a16:creationId xmlns:a16="http://schemas.microsoft.com/office/drawing/2014/main" id="{E29ADD9E-7F8D-49A0-E6AA-790EEDEE5943}"/>
              </a:ext>
            </a:extLst>
          </p:cNvPr>
          <p:cNvSpPr/>
          <p:nvPr/>
        </p:nvSpPr>
        <p:spPr>
          <a:xfrm>
            <a:off x="5092506" y="3210562"/>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1" name="四角形: 角を丸くする 280">
            <a:extLst>
              <a:ext uri="{FF2B5EF4-FFF2-40B4-BE49-F238E27FC236}">
                <a16:creationId xmlns:a16="http://schemas.microsoft.com/office/drawing/2014/main" id="{C98FDF97-E805-0CF9-2ABB-FB20CFDAC769}"/>
              </a:ext>
            </a:extLst>
          </p:cNvPr>
          <p:cNvSpPr/>
          <p:nvPr/>
        </p:nvSpPr>
        <p:spPr>
          <a:xfrm>
            <a:off x="5256597" y="3708545"/>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2" name="四角形: 角を丸くする 281">
            <a:extLst>
              <a:ext uri="{FF2B5EF4-FFF2-40B4-BE49-F238E27FC236}">
                <a16:creationId xmlns:a16="http://schemas.microsoft.com/office/drawing/2014/main" id="{6FF4D3C7-346A-FD7A-0140-5BDB3814F5DF}"/>
              </a:ext>
            </a:extLst>
          </p:cNvPr>
          <p:cNvSpPr/>
          <p:nvPr/>
        </p:nvSpPr>
        <p:spPr>
          <a:xfrm>
            <a:off x="6463002" y="3473585"/>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3" name="四角形: 角を丸くする 282">
            <a:extLst>
              <a:ext uri="{FF2B5EF4-FFF2-40B4-BE49-F238E27FC236}">
                <a16:creationId xmlns:a16="http://schemas.microsoft.com/office/drawing/2014/main" id="{15337B10-BF50-6162-8383-C57471268A6C}"/>
              </a:ext>
            </a:extLst>
          </p:cNvPr>
          <p:cNvSpPr/>
          <p:nvPr/>
        </p:nvSpPr>
        <p:spPr>
          <a:xfrm>
            <a:off x="7107865" y="3363052"/>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4" name="四角形: 角を丸くする 283">
            <a:extLst>
              <a:ext uri="{FF2B5EF4-FFF2-40B4-BE49-F238E27FC236}">
                <a16:creationId xmlns:a16="http://schemas.microsoft.com/office/drawing/2014/main" id="{C00607CC-C2C0-082C-A629-DBF8827ACDA1}"/>
              </a:ext>
            </a:extLst>
          </p:cNvPr>
          <p:cNvSpPr/>
          <p:nvPr/>
        </p:nvSpPr>
        <p:spPr>
          <a:xfrm>
            <a:off x="6983873" y="360220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5" name="四角形: 角を丸くする 284">
            <a:extLst>
              <a:ext uri="{FF2B5EF4-FFF2-40B4-BE49-F238E27FC236}">
                <a16:creationId xmlns:a16="http://schemas.microsoft.com/office/drawing/2014/main" id="{DED31FB8-5981-1699-7E47-E63C2CDF2733}"/>
              </a:ext>
            </a:extLst>
          </p:cNvPr>
          <p:cNvSpPr/>
          <p:nvPr/>
        </p:nvSpPr>
        <p:spPr>
          <a:xfrm>
            <a:off x="6539957" y="3769706"/>
            <a:ext cx="553194" cy="11216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6" name="四角形: 角を丸くする 285">
            <a:extLst>
              <a:ext uri="{FF2B5EF4-FFF2-40B4-BE49-F238E27FC236}">
                <a16:creationId xmlns:a16="http://schemas.microsoft.com/office/drawing/2014/main" id="{6C0DA8B8-EF5F-2004-3A70-3C35247F0547}"/>
              </a:ext>
            </a:extLst>
          </p:cNvPr>
          <p:cNvSpPr/>
          <p:nvPr/>
        </p:nvSpPr>
        <p:spPr>
          <a:xfrm>
            <a:off x="4581430" y="361436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7" name="四角形: 角を丸くする 286">
            <a:extLst>
              <a:ext uri="{FF2B5EF4-FFF2-40B4-BE49-F238E27FC236}">
                <a16:creationId xmlns:a16="http://schemas.microsoft.com/office/drawing/2014/main" id="{5EF617D1-C54D-C2F7-FACE-AA8ED59378B4}"/>
              </a:ext>
            </a:extLst>
          </p:cNvPr>
          <p:cNvSpPr/>
          <p:nvPr/>
        </p:nvSpPr>
        <p:spPr>
          <a:xfrm>
            <a:off x="4453969" y="3743901"/>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8" name="四角形: 角を丸くする 287">
            <a:extLst>
              <a:ext uri="{FF2B5EF4-FFF2-40B4-BE49-F238E27FC236}">
                <a16:creationId xmlns:a16="http://schemas.microsoft.com/office/drawing/2014/main" id="{0020B300-7F43-9571-10A7-85E6E01A202B}"/>
              </a:ext>
            </a:extLst>
          </p:cNvPr>
          <p:cNvSpPr/>
          <p:nvPr/>
        </p:nvSpPr>
        <p:spPr>
          <a:xfrm>
            <a:off x="4443926" y="4178444"/>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9" name="四角形: 角を丸くする 288">
            <a:extLst>
              <a:ext uri="{FF2B5EF4-FFF2-40B4-BE49-F238E27FC236}">
                <a16:creationId xmlns:a16="http://schemas.microsoft.com/office/drawing/2014/main" id="{F4F1E079-4ABF-7D8E-D4C7-CBD397B37E12}"/>
              </a:ext>
            </a:extLst>
          </p:cNvPr>
          <p:cNvSpPr/>
          <p:nvPr/>
        </p:nvSpPr>
        <p:spPr>
          <a:xfrm>
            <a:off x="5210558" y="3812684"/>
            <a:ext cx="73630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0" name="四角形: 角を丸くする 289">
            <a:extLst>
              <a:ext uri="{FF2B5EF4-FFF2-40B4-BE49-F238E27FC236}">
                <a16:creationId xmlns:a16="http://schemas.microsoft.com/office/drawing/2014/main" id="{5E992E10-AF72-A434-2ADA-41B8A708A624}"/>
              </a:ext>
            </a:extLst>
          </p:cNvPr>
          <p:cNvSpPr/>
          <p:nvPr/>
        </p:nvSpPr>
        <p:spPr>
          <a:xfrm>
            <a:off x="6441380" y="394234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1" name="四角形: 角を丸くする 290">
            <a:extLst>
              <a:ext uri="{FF2B5EF4-FFF2-40B4-BE49-F238E27FC236}">
                <a16:creationId xmlns:a16="http://schemas.microsoft.com/office/drawing/2014/main" id="{42228D9B-722B-0E4B-DD19-F9FB38B664DC}"/>
              </a:ext>
            </a:extLst>
          </p:cNvPr>
          <p:cNvSpPr/>
          <p:nvPr/>
        </p:nvSpPr>
        <p:spPr>
          <a:xfrm>
            <a:off x="5334496" y="4214148"/>
            <a:ext cx="1078017"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2" name="四角形: 角を丸くする 291">
            <a:extLst>
              <a:ext uri="{FF2B5EF4-FFF2-40B4-BE49-F238E27FC236}">
                <a16:creationId xmlns:a16="http://schemas.microsoft.com/office/drawing/2014/main" id="{1B760E6F-8F2D-A3C1-1321-292481C0B71B}"/>
              </a:ext>
            </a:extLst>
          </p:cNvPr>
          <p:cNvSpPr/>
          <p:nvPr/>
        </p:nvSpPr>
        <p:spPr>
          <a:xfrm>
            <a:off x="6325614" y="4101436"/>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3" name="四角形: 角を丸くする 292">
            <a:extLst>
              <a:ext uri="{FF2B5EF4-FFF2-40B4-BE49-F238E27FC236}">
                <a16:creationId xmlns:a16="http://schemas.microsoft.com/office/drawing/2014/main" id="{47438004-C566-021E-BD06-9A7726DC3F91}"/>
              </a:ext>
            </a:extLst>
          </p:cNvPr>
          <p:cNvSpPr/>
          <p:nvPr/>
        </p:nvSpPr>
        <p:spPr>
          <a:xfrm>
            <a:off x="7460640" y="38602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4" name="四角形: 角を丸くする 293">
            <a:extLst>
              <a:ext uri="{FF2B5EF4-FFF2-40B4-BE49-F238E27FC236}">
                <a16:creationId xmlns:a16="http://schemas.microsoft.com/office/drawing/2014/main" id="{482F231F-2E3E-CBDF-D4ED-1D2B911E89AC}"/>
              </a:ext>
            </a:extLst>
          </p:cNvPr>
          <p:cNvSpPr/>
          <p:nvPr/>
        </p:nvSpPr>
        <p:spPr>
          <a:xfrm>
            <a:off x="3749928" y="4119134"/>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5" name="四角形: 角を丸くする 294">
            <a:extLst>
              <a:ext uri="{FF2B5EF4-FFF2-40B4-BE49-F238E27FC236}">
                <a16:creationId xmlns:a16="http://schemas.microsoft.com/office/drawing/2014/main" id="{6B233052-61AB-4EF5-4EB9-11728880266A}"/>
              </a:ext>
            </a:extLst>
          </p:cNvPr>
          <p:cNvSpPr/>
          <p:nvPr/>
        </p:nvSpPr>
        <p:spPr>
          <a:xfrm>
            <a:off x="4429145" y="3859403"/>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6" name="四角形: 角を丸くする 295">
            <a:extLst>
              <a:ext uri="{FF2B5EF4-FFF2-40B4-BE49-F238E27FC236}">
                <a16:creationId xmlns:a16="http://schemas.microsoft.com/office/drawing/2014/main" id="{AEF2F52B-97EB-67A2-0D65-41503C8D5E2B}"/>
              </a:ext>
            </a:extLst>
          </p:cNvPr>
          <p:cNvSpPr/>
          <p:nvPr/>
        </p:nvSpPr>
        <p:spPr>
          <a:xfrm>
            <a:off x="2756920" y="4766183"/>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7" name="四角形: 角を丸くする 296">
            <a:extLst>
              <a:ext uri="{FF2B5EF4-FFF2-40B4-BE49-F238E27FC236}">
                <a16:creationId xmlns:a16="http://schemas.microsoft.com/office/drawing/2014/main" id="{AEFAA46D-AA7E-06C1-0E3F-5617A90B218C}"/>
              </a:ext>
            </a:extLst>
          </p:cNvPr>
          <p:cNvSpPr/>
          <p:nvPr/>
        </p:nvSpPr>
        <p:spPr>
          <a:xfrm>
            <a:off x="3736994" y="4467964"/>
            <a:ext cx="457185" cy="10768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8" name="四角形: 角を丸くする 297">
            <a:extLst>
              <a:ext uri="{FF2B5EF4-FFF2-40B4-BE49-F238E27FC236}">
                <a16:creationId xmlns:a16="http://schemas.microsoft.com/office/drawing/2014/main" id="{965BED0E-7EEC-BCC1-6356-484A486810A4}"/>
              </a:ext>
            </a:extLst>
          </p:cNvPr>
          <p:cNvSpPr/>
          <p:nvPr/>
        </p:nvSpPr>
        <p:spPr>
          <a:xfrm>
            <a:off x="4031512" y="3230352"/>
            <a:ext cx="50290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9" name="四角形: 角を丸くする 298">
            <a:extLst>
              <a:ext uri="{FF2B5EF4-FFF2-40B4-BE49-F238E27FC236}">
                <a16:creationId xmlns:a16="http://schemas.microsoft.com/office/drawing/2014/main" id="{A6648F68-D530-9C30-3691-755A110BC79C}"/>
              </a:ext>
            </a:extLst>
          </p:cNvPr>
          <p:cNvSpPr/>
          <p:nvPr/>
        </p:nvSpPr>
        <p:spPr>
          <a:xfrm>
            <a:off x="4450076" y="4269459"/>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0" name="四角形: 角を丸くする 299">
            <a:extLst>
              <a:ext uri="{FF2B5EF4-FFF2-40B4-BE49-F238E27FC236}">
                <a16:creationId xmlns:a16="http://schemas.microsoft.com/office/drawing/2014/main" id="{0A4660C2-7870-2FE0-7D10-A97173885CB0}"/>
              </a:ext>
            </a:extLst>
          </p:cNvPr>
          <p:cNvSpPr/>
          <p:nvPr/>
        </p:nvSpPr>
        <p:spPr>
          <a:xfrm>
            <a:off x="4495655" y="395555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1" name="四角形: 角を丸くする 300">
            <a:extLst>
              <a:ext uri="{FF2B5EF4-FFF2-40B4-BE49-F238E27FC236}">
                <a16:creationId xmlns:a16="http://schemas.microsoft.com/office/drawing/2014/main" id="{2C6EA167-8321-ADEA-C42F-6EFFCF4F993A}"/>
              </a:ext>
            </a:extLst>
          </p:cNvPr>
          <p:cNvSpPr/>
          <p:nvPr/>
        </p:nvSpPr>
        <p:spPr>
          <a:xfrm>
            <a:off x="4480414" y="444316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2" name="四角形: 角を丸くする 301">
            <a:extLst>
              <a:ext uri="{FF2B5EF4-FFF2-40B4-BE49-F238E27FC236}">
                <a16:creationId xmlns:a16="http://schemas.microsoft.com/office/drawing/2014/main" id="{E5D15C42-0DDE-0335-E18E-7FA58E44C491}"/>
              </a:ext>
            </a:extLst>
          </p:cNvPr>
          <p:cNvSpPr/>
          <p:nvPr/>
        </p:nvSpPr>
        <p:spPr>
          <a:xfrm>
            <a:off x="5179526" y="4308059"/>
            <a:ext cx="41562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3" name="四角形: 角を丸くする 302">
            <a:extLst>
              <a:ext uri="{FF2B5EF4-FFF2-40B4-BE49-F238E27FC236}">
                <a16:creationId xmlns:a16="http://schemas.microsoft.com/office/drawing/2014/main" id="{1FF1BF67-D98D-EB02-7F43-E78BB1CEBDF9}"/>
              </a:ext>
            </a:extLst>
          </p:cNvPr>
          <p:cNvSpPr/>
          <p:nvPr/>
        </p:nvSpPr>
        <p:spPr>
          <a:xfrm>
            <a:off x="6480429" y="3858946"/>
            <a:ext cx="736300"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4" name="四角形: 角を丸くする 303">
            <a:extLst>
              <a:ext uri="{FF2B5EF4-FFF2-40B4-BE49-F238E27FC236}">
                <a16:creationId xmlns:a16="http://schemas.microsoft.com/office/drawing/2014/main" id="{7101B57F-C421-CD23-6914-13C841438FC8}"/>
              </a:ext>
            </a:extLst>
          </p:cNvPr>
          <p:cNvSpPr/>
          <p:nvPr/>
        </p:nvSpPr>
        <p:spPr>
          <a:xfrm>
            <a:off x="3436133" y="376776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5" name="四角形: 角を丸くする 304">
            <a:extLst>
              <a:ext uri="{FF2B5EF4-FFF2-40B4-BE49-F238E27FC236}">
                <a16:creationId xmlns:a16="http://schemas.microsoft.com/office/drawing/2014/main" id="{855FA62A-0C78-C189-C405-7C9CC080527C}"/>
              </a:ext>
            </a:extLst>
          </p:cNvPr>
          <p:cNvSpPr/>
          <p:nvPr/>
        </p:nvSpPr>
        <p:spPr>
          <a:xfrm>
            <a:off x="3842968" y="337053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6" name="四角形: 角を丸くする 305">
            <a:extLst>
              <a:ext uri="{FF2B5EF4-FFF2-40B4-BE49-F238E27FC236}">
                <a16:creationId xmlns:a16="http://schemas.microsoft.com/office/drawing/2014/main" id="{7EF4132B-5340-62C3-820B-A62F2E7068AF}"/>
              </a:ext>
            </a:extLst>
          </p:cNvPr>
          <p:cNvSpPr/>
          <p:nvPr/>
        </p:nvSpPr>
        <p:spPr>
          <a:xfrm>
            <a:off x="2122038" y="417239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7" name="四角形: 角を丸くする 306">
            <a:extLst>
              <a:ext uri="{FF2B5EF4-FFF2-40B4-BE49-F238E27FC236}">
                <a16:creationId xmlns:a16="http://schemas.microsoft.com/office/drawing/2014/main" id="{BA9CBE67-F190-76DA-BC74-18D24B084C64}"/>
              </a:ext>
            </a:extLst>
          </p:cNvPr>
          <p:cNvSpPr/>
          <p:nvPr/>
        </p:nvSpPr>
        <p:spPr>
          <a:xfrm>
            <a:off x="3082158" y="415715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8" name="四角形: 角を丸くする 307">
            <a:extLst>
              <a:ext uri="{FF2B5EF4-FFF2-40B4-BE49-F238E27FC236}">
                <a16:creationId xmlns:a16="http://schemas.microsoft.com/office/drawing/2014/main" id="{F1D90042-85C2-DD7A-DDD4-BE3E1D67C788}"/>
              </a:ext>
            </a:extLst>
          </p:cNvPr>
          <p:cNvSpPr/>
          <p:nvPr/>
        </p:nvSpPr>
        <p:spPr>
          <a:xfrm>
            <a:off x="3287898" y="456101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9" name="四角形: 角を丸くする 308">
            <a:extLst>
              <a:ext uri="{FF2B5EF4-FFF2-40B4-BE49-F238E27FC236}">
                <a16:creationId xmlns:a16="http://schemas.microsoft.com/office/drawing/2014/main" id="{477C4023-E323-6539-8C66-AD953761862D}"/>
              </a:ext>
            </a:extLst>
          </p:cNvPr>
          <p:cNvSpPr/>
          <p:nvPr/>
        </p:nvSpPr>
        <p:spPr>
          <a:xfrm>
            <a:off x="6569446" y="2945246"/>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0" name="四角形: 角を丸くする 309">
            <a:extLst>
              <a:ext uri="{FF2B5EF4-FFF2-40B4-BE49-F238E27FC236}">
                <a16:creationId xmlns:a16="http://schemas.microsoft.com/office/drawing/2014/main" id="{E9725BC4-7279-9559-8ACF-391FBB297F53}"/>
              </a:ext>
            </a:extLst>
          </p:cNvPr>
          <p:cNvSpPr/>
          <p:nvPr/>
        </p:nvSpPr>
        <p:spPr>
          <a:xfrm>
            <a:off x="6270701" y="2771805"/>
            <a:ext cx="50290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1" name="四角形: 角を丸くする 310">
            <a:extLst>
              <a:ext uri="{FF2B5EF4-FFF2-40B4-BE49-F238E27FC236}">
                <a16:creationId xmlns:a16="http://schemas.microsoft.com/office/drawing/2014/main" id="{70EF0A6A-480C-B8DE-E1E0-8EE4356E3256}"/>
              </a:ext>
            </a:extLst>
          </p:cNvPr>
          <p:cNvSpPr/>
          <p:nvPr/>
        </p:nvSpPr>
        <p:spPr>
          <a:xfrm>
            <a:off x="5507998" y="349583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2" name="四角形: 角を丸くする 311">
            <a:extLst>
              <a:ext uri="{FF2B5EF4-FFF2-40B4-BE49-F238E27FC236}">
                <a16:creationId xmlns:a16="http://schemas.microsoft.com/office/drawing/2014/main" id="{DDA4E65B-9A4E-1B81-A022-47ED7B0F1535}"/>
              </a:ext>
            </a:extLst>
          </p:cNvPr>
          <p:cNvSpPr/>
          <p:nvPr/>
        </p:nvSpPr>
        <p:spPr>
          <a:xfrm>
            <a:off x="5978885" y="3632681"/>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3" name="四角形: 角を丸くする 312">
            <a:extLst>
              <a:ext uri="{FF2B5EF4-FFF2-40B4-BE49-F238E27FC236}">
                <a16:creationId xmlns:a16="http://schemas.microsoft.com/office/drawing/2014/main" id="{C555FC1D-139B-EB7F-F671-BF6E8D138577}"/>
              </a:ext>
            </a:extLst>
          </p:cNvPr>
          <p:cNvSpPr/>
          <p:nvPr/>
        </p:nvSpPr>
        <p:spPr>
          <a:xfrm>
            <a:off x="5782123" y="3945114"/>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4" name="四角形: 角を丸くする 313">
            <a:extLst>
              <a:ext uri="{FF2B5EF4-FFF2-40B4-BE49-F238E27FC236}">
                <a16:creationId xmlns:a16="http://schemas.microsoft.com/office/drawing/2014/main" id="{2422CEF7-7C80-0FC1-7954-9DE818ACEA92}"/>
              </a:ext>
            </a:extLst>
          </p:cNvPr>
          <p:cNvSpPr/>
          <p:nvPr/>
        </p:nvSpPr>
        <p:spPr>
          <a:xfrm>
            <a:off x="6977679" y="3258168"/>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5" name="四角形: 角を丸くする 314">
            <a:extLst>
              <a:ext uri="{FF2B5EF4-FFF2-40B4-BE49-F238E27FC236}">
                <a16:creationId xmlns:a16="http://schemas.microsoft.com/office/drawing/2014/main" id="{32BCB8E4-8A1D-CE20-F2B4-CB2ED0C64BDF}"/>
              </a:ext>
            </a:extLst>
          </p:cNvPr>
          <p:cNvSpPr/>
          <p:nvPr/>
        </p:nvSpPr>
        <p:spPr>
          <a:xfrm>
            <a:off x="7163402" y="395089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7" name="四角形: 角を丸くする 316">
            <a:extLst>
              <a:ext uri="{FF2B5EF4-FFF2-40B4-BE49-F238E27FC236}">
                <a16:creationId xmlns:a16="http://schemas.microsoft.com/office/drawing/2014/main" id="{C420241E-F0EC-38F1-D980-105E86BCFBBF}"/>
              </a:ext>
            </a:extLst>
          </p:cNvPr>
          <p:cNvSpPr/>
          <p:nvPr/>
        </p:nvSpPr>
        <p:spPr>
          <a:xfrm>
            <a:off x="7033862" y="375277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9" name="四角形: 角を丸くする 318">
            <a:extLst>
              <a:ext uri="{FF2B5EF4-FFF2-40B4-BE49-F238E27FC236}">
                <a16:creationId xmlns:a16="http://schemas.microsoft.com/office/drawing/2014/main" id="{8FE01BBE-38A4-0C79-4FB2-E279446EEB31}"/>
              </a:ext>
            </a:extLst>
          </p:cNvPr>
          <p:cNvSpPr/>
          <p:nvPr/>
        </p:nvSpPr>
        <p:spPr>
          <a:xfrm>
            <a:off x="6172685" y="4436849"/>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2" name="四角形: 角を丸くする 831">
            <a:extLst>
              <a:ext uri="{FF2B5EF4-FFF2-40B4-BE49-F238E27FC236}">
                <a16:creationId xmlns:a16="http://schemas.microsoft.com/office/drawing/2014/main" id="{24AFCB84-EA86-8DAD-4310-70F3B81580FD}"/>
              </a:ext>
            </a:extLst>
          </p:cNvPr>
          <p:cNvSpPr/>
          <p:nvPr/>
        </p:nvSpPr>
        <p:spPr>
          <a:xfrm>
            <a:off x="6644345" y="4427125"/>
            <a:ext cx="60851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3" name="四角形: 角を丸くする 832">
            <a:extLst>
              <a:ext uri="{FF2B5EF4-FFF2-40B4-BE49-F238E27FC236}">
                <a16:creationId xmlns:a16="http://schemas.microsoft.com/office/drawing/2014/main" id="{B55CFC40-A739-CA5B-C3C0-197909FE3032}"/>
              </a:ext>
            </a:extLst>
          </p:cNvPr>
          <p:cNvSpPr/>
          <p:nvPr/>
        </p:nvSpPr>
        <p:spPr>
          <a:xfrm>
            <a:off x="6577062" y="4543139"/>
            <a:ext cx="25806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4" name="四角形: 角を丸くする 833">
            <a:extLst>
              <a:ext uri="{FF2B5EF4-FFF2-40B4-BE49-F238E27FC236}">
                <a16:creationId xmlns:a16="http://schemas.microsoft.com/office/drawing/2014/main" id="{96EC41A0-C5D7-FAF2-6C6A-C87FEF82D426}"/>
              </a:ext>
            </a:extLst>
          </p:cNvPr>
          <p:cNvSpPr/>
          <p:nvPr/>
        </p:nvSpPr>
        <p:spPr>
          <a:xfrm>
            <a:off x="5318151" y="4550759"/>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5" name="四角形: 角を丸くする 834">
            <a:extLst>
              <a:ext uri="{FF2B5EF4-FFF2-40B4-BE49-F238E27FC236}">
                <a16:creationId xmlns:a16="http://schemas.microsoft.com/office/drawing/2014/main" id="{14A04D8E-EFA0-D548-10C0-172114965470}"/>
              </a:ext>
            </a:extLst>
          </p:cNvPr>
          <p:cNvSpPr/>
          <p:nvPr/>
        </p:nvSpPr>
        <p:spPr>
          <a:xfrm>
            <a:off x="5098820" y="4459319"/>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6" name="四角形: 角を丸くする 835">
            <a:extLst>
              <a:ext uri="{FF2B5EF4-FFF2-40B4-BE49-F238E27FC236}">
                <a16:creationId xmlns:a16="http://schemas.microsoft.com/office/drawing/2014/main" id="{8DBBEA3A-0514-7F70-0ED1-F954671FAC05}"/>
              </a:ext>
            </a:extLst>
          </p:cNvPr>
          <p:cNvSpPr/>
          <p:nvPr/>
        </p:nvSpPr>
        <p:spPr>
          <a:xfrm>
            <a:off x="5242233" y="3333940"/>
            <a:ext cx="4156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7" name="四角形: 角を丸くする 836">
            <a:extLst>
              <a:ext uri="{FF2B5EF4-FFF2-40B4-BE49-F238E27FC236}">
                <a16:creationId xmlns:a16="http://schemas.microsoft.com/office/drawing/2014/main" id="{DA8BCC63-5614-5103-FA21-B706A6409F98}"/>
              </a:ext>
            </a:extLst>
          </p:cNvPr>
          <p:cNvSpPr/>
          <p:nvPr/>
        </p:nvSpPr>
        <p:spPr>
          <a:xfrm>
            <a:off x="4364503" y="4530280"/>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8" name="四角形: 角を丸くする 837">
            <a:extLst>
              <a:ext uri="{FF2B5EF4-FFF2-40B4-BE49-F238E27FC236}">
                <a16:creationId xmlns:a16="http://schemas.microsoft.com/office/drawing/2014/main" id="{CC9B01F5-A1E0-2B4C-AB3A-DAF33E2EDB9D}"/>
              </a:ext>
            </a:extLst>
          </p:cNvPr>
          <p:cNvSpPr/>
          <p:nvPr/>
        </p:nvSpPr>
        <p:spPr>
          <a:xfrm>
            <a:off x="3438962" y="4255960"/>
            <a:ext cx="66936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9" name="四角形: 角を丸くする 838">
            <a:extLst>
              <a:ext uri="{FF2B5EF4-FFF2-40B4-BE49-F238E27FC236}">
                <a16:creationId xmlns:a16="http://schemas.microsoft.com/office/drawing/2014/main" id="{C3D601C2-E450-D9DB-27D9-7010053DD16D}"/>
              </a:ext>
            </a:extLst>
          </p:cNvPr>
          <p:cNvSpPr/>
          <p:nvPr/>
        </p:nvSpPr>
        <p:spPr>
          <a:xfrm>
            <a:off x="2468347" y="441487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0" name="四角形: 角を丸くする 839">
            <a:extLst>
              <a:ext uri="{FF2B5EF4-FFF2-40B4-BE49-F238E27FC236}">
                <a16:creationId xmlns:a16="http://schemas.microsoft.com/office/drawing/2014/main" id="{DF5B2D88-3AB4-B9F3-FD41-CE74E6261BA3}"/>
              </a:ext>
            </a:extLst>
          </p:cNvPr>
          <p:cNvSpPr/>
          <p:nvPr/>
        </p:nvSpPr>
        <p:spPr>
          <a:xfrm>
            <a:off x="2140687" y="429295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1" name="四角形: 角を丸くする 840">
            <a:extLst>
              <a:ext uri="{FF2B5EF4-FFF2-40B4-BE49-F238E27FC236}">
                <a16:creationId xmlns:a16="http://schemas.microsoft.com/office/drawing/2014/main" id="{3B5D113E-EA30-88A6-65EB-B0B493DA1AC0}"/>
              </a:ext>
            </a:extLst>
          </p:cNvPr>
          <p:cNvSpPr/>
          <p:nvPr/>
        </p:nvSpPr>
        <p:spPr>
          <a:xfrm>
            <a:off x="1520570" y="3788925"/>
            <a:ext cx="415623" cy="118454"/>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2" name="四角形: 角を丸くする 841">
            <a:extLst>
              <a:ext uri="{FF2B5EF4-FFF2-40B4-BE49-F238E27FC236}">
                <a16:creationId xmlns:a16="http://schemas.microsoft.com/office/drawing/2014/main" id="{1DCA9EBF-F35E-F449-5F00-49665FEC76AA}"/>
              </a:ext>
            </a:extLst>
          </p:cNvPr>
          <p:cNvSpPr/>
          <p:nvPr/>
        </p:nvSpPr>
        <p:spPr>
          <a:xfrm>
            <a:off x="7092382" y="4073338"/>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3" name="四角形: 角を丸くする 842">
            <a:extLst>
              <a:ext uri="{FF2B5EF4-FFF2-40B4-BE49-F238E27FC236}">
                <a16:creationId xmlns:a16="http://schemas.microsoft.com/office/drawing/2014/main" id="{A468E33B-16B4-2571-5673-8FF02892353B}"/>
              </a:ext>
            </a:extLst>
          </p:cNvPr>
          <p:cNvSpPr/>
          <p:nvPr/>
        </p:nvSpPr>
        <p:spPr>
          <a:xfrm>
            <a:off x="7335050" y="4164778"/>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4" name="四角形: 角を丸くする 843">
            <a:extLst>
              <a:ext uri="{FF2B5EF4-FFF2-40B4-BE49-F238E27FC236}">
                <a16:creationId xmlns:a16="http://schemas.microsoft.com/office/drawing/2014/main" id="{92D0A398-14ED-615B-C596-E37EAFB4F147}"/>
              </a:ext>
            </a:extLst>
          </p:cNvPr>
          <p:cNvSpPr/>
          <p:nvPr/>
        </p:nvSpPr>
        <p:spPr>
          <a:xfrm>
            <a:off x="7498928" y="4309558"/>
            <a:ext cx="377839"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5" name="四角形: 角を丸くする 844">
            <a:extLst>
              <a:ext uri="{FF2B5EF4-FFF2-40B4-BE49-F238E27FC236}">
                <a16:creationId xmlns:a16="http://schemas.microsoft.com/office/drawing/2014/main" id="{41F95976-391F-4D69-766D-D259251A0531}"/>
              </a:ext>
            </a:extLst>
          </p:cNvPr>
          <p:cNvSpPr/>
          <p:nvPr/>
        </p:nvSpPr>
        <p:spPr>
          <a:xfrm>
            <a:off x="7184935" y="4484818"/>
            <a:ext cx="457185"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6" name="四角形: 角を丸くする 845">
            <a:extLst>
              <a:ext uri="{FF2B5EF4-FFF2-40B4-BE49-F238E27FC236}">
                <a16:creationId xmlns:a16="http://schemas.microsoft.com/office/drawing/2014/main" id="{4F9FF10C-4B51-0728-397B-931F38BBA346}"/>
              </a:ext>
            </a:extLst>
          </p:cNvPr>
          <p:cNvSpPr/>
          <p:nvPr/>
        </p:nvSpPr>
        <p:spPr>
          <a:xfrm>
            <a:off x="2175646" y="368459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7" name="四角形: 角を丸くする 846">
            <a:extLst>
              <a:ext uri="{FF2B5EF4-FFF2-40B4-BE49-F238E27FC236}">
                <a16:creationId xmlns:a16="http://schemas.microsoft.com/office/drawing/2014/main" id="{40A844A6-4AF1-AEC7-79CD-A18A1E728AC1}"/>
              </a:ext>
            </a:extLst>
          </p:cNvPr>
          <p:cNvSpPr/>
          <p:nvPr/>
        </p:nvSpPr>
        <p:spPr>
          <a:xfrm>
            <a:off x="6476593" y="4625136"/>
            <a:ext cx="809930" cy="11845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8" name="四角形: 角を丸くする 847">
            <a:extLst>
              <a:ext uri="{FF2B5EF4-FFF2-40B4-BE49-F238E27FC236}">
                <a16:creationId xmlns:a16="http://schemas.microsoft.com/office/drawing/2014/main" id="{F09E8618-3A5C-2B1D-B885-E58D07968D23}"/>
              </a:ext>
            </a:extLst>
          </p:cNvPr>
          <p:cNvSpPr/>
          <p:nvPr/>
        </p:nvSpPr>
        <p:spPr>
          <a:xfrm>
            <a:off x="3187732" y="5128307"/>
            <a:ext cx="73630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転職エージェント</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18036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相談オファ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転職フェーズを分岐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（すぐ動く／比較中</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　書類準備中／迷い中）</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（追加直後は検索データなし。アンケート回答でセグメント自動分類）</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3択タップで診断</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不安の先出し解消</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転職で損しない</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565C0"/>
                </a:solidFill>
                <a:latin typeface="メイリオ" panose="020B0604030504040204" pitchFamily="50" charset="-128"/>
                <a:ea typeface="メイリオ" panose="020B0604030504040204" pitchFamily="50" charset="-128"/>
                <a:cs typeface="Calibri" pitchFamily="34" charset="-120"/>
              </a:rPr>
              <a:t>3つのポイント</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「ブラック企業の見分け方」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「年収交渉で失敗しない方法」</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「エージェントのリアルな使い方」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不安を先出しして信頼を醸成</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追加直後は「転職エージェント 使うべきか」「リクルートエージェント 評判」の検索Volが急増。比較・懸念フェーズに完全対応</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転職成功事例を見る</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Day4〜5</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書類ハードル下げ</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職務経歴書は</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これだけ書けばOK</a:t>
            </a: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応募〜面接の流れを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4ステップで図解</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職務経歴書テンプレ</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（Word）と自己PR例文10選</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を無料配布</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「職務経歴書 書き方」「自己pr 例文」「転職理由」などの書類準備系クエリが+1〜+5日で急増。後クエリの最大ピークに対応</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テンプレを受け取る</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エージェントの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選び方・比較のコツ</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弊社の強み（USP）を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他社比較で訴求</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ユーザーの声・実績数値で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信頼醸成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LINE限定キャンペーン予告</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「リクルートエージェント 評判」「ハタラクティブ」「ビズリーチ 評判」等のブランド比較検索が+3〜+7日に集中。比較フェーズに完全対応</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事例・ユーザーの声</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相談オファー</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優先相談窓口へ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担当キャリア</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アドバイザーへの</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直接相談を誘導</a:t>
            </a:r>
          </a:p>
          <a:p>
            <a:pPr marL="0" indent="0">
              <a:lnSpc>
                <a:spcPct val="140000"/>
              </a:lnSpc>
              <a:buNone/>
            </a:pPr>
            <a:r>
              <a:rPr lang="en-US" altLang="ja-JP" sz="700" dirty="0">
                <a:solidFill>
                  <a:srgbClr val="494848"/>
                </a:solidFill>
                <a:latin typeface="メイリオ" panose="020B0604030504040204" pitchFamily="50" charset="-128"/>
                <a:ea typeface="メイリオ" panose="020B0604030504040204" pitchFamily="50" charset="-128"/>
                <a:cs typeface="Calibri" pitchFamily="34" charset="-120"/>
              </a:rPr>
              <a:t>LINE</a:t>
            </a: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限定特典で後押し</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（優先面談枠・非公開求人）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追加</a:t>
            </a:r>
            <a:r>
              <a:rPr lang="en-US" altLang="ja-JP" sz="600" dirty="0">
                <a:solidFill>
                  <a:srgbClr val="494848"/>
                </a:solidFill>
                <a:latin typeface="メイリオ" panose="020B0604030504040204" pitchFamily="50" charset="-128"/>
                <a:ea typeface="メイリオ" panose="020B0604030504040204" pitchFamily="50" charset="-128"/>
                <a:cs typeface="Calibri" pitchFamily="34" charset="-120"/>
              </a:rPr>
              <a:t>15</a:t>
            </a: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日後は「面接 対策」「転職 失敗 後悔」「自己分析 やり方」など実際に動き始めた層と離脱層に分かれる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無料</a:t>
            </a:r>
            <a:r>
              <a:rPr lang="en-US" altLang="ja-JP" sz="950" b="1" dirty="0">
                <a:latin typeface="メイリオ" panose="020B0604030504040204" pitchFamily="50" charset="-128"/>
                <a:ea typeface="メイリオ" panose="020B0604030504040204" pitchFamily="50" charset="-128"/>
                <a:cs typeface="Calibri" pitchFamily="34" charset="-120"/>
              </a:rPr>
              <a:t>CA</a:t>
            </a:r>
            <a:r>
              <a:rPr lang="ja-JP" altLang="en-US" sz="950" b="1" dirty="0">
                <a:latin typeface="メイリオ" panose="020B0604030504040204" pitchFamily="50" charset="-128"/>
                <a:ea typeface="メイリオ" panose="020B0604030504040204" pitchFamily="50" charset="-128"/>
                <a:cs typeface="Calibri" pitchFamily="34" charset="-120"/>
              </a:rPr>
              <a:t>相談を申し込む</a:t>
            </a:r>
          </a:p>
        </p:txBody>
      </p:sp>
    </p:spTree>
    <p:extLst>
      <p:ext uri="{BB962C8B-B14F-4D97-AF65-F5344CB8AC3E}">
        <p14:creationId xmlns:p14="http://schemas.microsoft.com/office/powerpoint/2010/main" val="2998183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転職市場</a:t>
            </a:r>
          </a:p>
        </p:txBody>
      </p:sp>
      <p:sp>
        <p:nvSpPr>
          <p:cNvPr id="14" name="四角形: 角を丸くする 13">
            <a:extLst>
              <a:ext uri="{FF2B5EF4-FFF2-40B4-BE49-F238E27FC236}">
                <a16:creationId xmlns:a16="http://schemas.microsoft.com/office/drawing/2014/main" id="{B653501A-660C-CA1C-E5A1-0C83E3991AFA}"/>
              </a:ext>
            </a:extLst>
          </p:cNvPr>
          <p:cNvSpPr/>
          <p:nvPr/>
        </p:nvSpPr>
        <p:spPr>
          <a:xfrm>
            <a:off x="1802673" y="2788236"/>
            <a:ext cx="1619795"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A4149F-8AAD-6C2A-9167-96E2456A290A}"/>
              </a:ext>
            </a:extLst>
          </p:cNvPr>
          <p:cNvSpPr/>
          <p:nvPr/>
        </p:nvSpPr>
        <p:spPr>
          <a:xfrm>
            <a:off x="5144727" y="2788236"/>
            <a:ext cx="318813"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4985489" y="3429000"/>
            <a:ext cx="2564755" cy="624844"/>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4785297" y="2794045"/>
            <a:ext cx="318813" cy="991284"/>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08">
            <a:extLst>
              <a:ext uri="{FF2B5EF4-FFF2-40B4-BE49-F238E27FC236}">
                <a16:creationId xmlns:a16="http://schemas.microsoft.com/office/drawing/2014/main" id="{82B3CC5E-6187-AF51-5435-202392E72C80}"/>
              </a:ext>
            </a:extLst>
          </p:cNvPr>
          <p:cNvSpPr/>
          <p:nvPr/>
        </p:nvSpPr>
        <p:spPr>
          <a:xfrm>
            <a:off x="461554"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7" name="Rectangle 2009">
            <a:extLst>
              <a:ext uri="{FF2B5EF4-FFF2-40B4-BE49-F238E27FC236}">
                <a16:creationId xmlns:a16="http://schemas.microsoft.com/office/drawing/2014/main" id="{5D68C2BC-1361-FE7C-168A-17B777A1C7F5}"/>
              </a:ext>
            </a:extLst>
          </p:cNvPr>
          <p:cNvSpPr/>
          <p:nvPr/>
        </p:nvSpPr>
        <p:spPr>
          <a:xfrm>
            <a:off x="121805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3" name="Rectangle 2010">
            <a:extLst>
              <a:ext uri="{FF2B5EF4-FFF2-40B4-BE49-F238E27FC236}">
                <a16:creationId xmlns:a16="http://schemas.microsoft.com/office/drawing/2014/main" id="{59D01DEF-9584-1D24-567F-D446C7F0C7D9}"/>
              </a:ext>
            </a:extLst>
          </p:cNvPr>
          <p:cNvSpPr/>
          <p:nvPr/>
        </p:nvSpPr>
        <p:spPr>
          <a:xfrm>
            <a:off x="1974546"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2">
            <a:extLst>
              <a:ext uri="{FF2B5EF4-FFF2-40B4-BE49-F238E27FC236}">
                <a16:creationId xmlns:a16="http://schemas.microsoft.com/office/drawing/2014/main" id="{38D4CCB3-6A52-E243-EBF3-4D9F3E0779B3}"/>
              </a:ext>
            </a:extLst>
          </p:cNvPr>
          <p:cNvSpPr/>
          <p:nvPr/>
        </p:nvSpPr>
        <p:spPr>
          <a:xfrm>
            <a:off x="3487538"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5月</a:t>
            </a:r>
          </a:p>
        </p:txBody>
      </p:sp>
      <p:sp>
        <p:nvSpPr>
          <p:cNvPr id="24" name="Rectangle 2013">
            <a:extLst>
              <a:ext uri="{FF2B5EF4-FFF2-40B4-BE49-F238E27FC236}">
                <a16:creationId xmlns:a16="http://schemas.microsoft.com/office/drawing/2014/main" id="{D050BF4A-37A5-886C-19CC-8C207D3D37C1}"/>
              </a:ext>
            </a:extLst>
          </p:cNvPr>
          <p:cNvSpPr/>
          <p:nvPr/>
        </p:nvSpPr>
        <p:spPr>
          <a:xfrm>
            <a:off x="424403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7" name="Rectangle 2014">
            <a:extLst>
              <a:ext uri="{FF2B5EF4-FFF2-40B4-BE49-F238E27FC236}">
                <a16:creationId xmlns:a16="http://schemas.microsoft.com/office/drawing/2014/main" id="{4E234943-E519-9759-B8F7-FBB7EA6E8FF2}"/>
              </a:ext>
            </a:extLst>
          </p:cNvPr>
          <p:cNvSpPr/>
          <p:nvPr/>
        </p:nvSpPr>
        <p:spPr>
          <a:xfrm>
            <a:off x="500053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31" name="Rectangle 2015">
            <a:extLst>
              <a:ext uri="{FF2B5EF4-FFF2-40B4-BE49-F238E27FC236}">
                <a16:creationId xmlns:a16="http://schemas.microsoft.com/office/drawing/2014/main" id="{16A16D33-7293-8E6A-EA78-C8445AA8BB75}"/>
              </a:ext>
            </a:extLst>
          </p:cNvPr>
          <p:cNvSpPr/>
          <p:nvPr/>
        </p:nvSpPr>
        <p:spPr>
          <a:xfrm>
            <a:off x="5757026"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41" name="Rectangle 2018">
            <a:extLst>
              <a:ext uri="{FF2B5EF4-FFF2-40B4-BE49-F238E27FC236}">
                <a16:creationId xmlns:a16="http://schemas.microsoft.com/office/drawing/2014/main" id="{166279AD-7237-976F-70AB-F87C08C60EB8}"/>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dirty="0">
                <a:solidFill>
                  <a:srgbClr val="5A6378"/>
                </a:solidFill>
                <a:latin typeface="メイリオ"/>
              </a:rPr>
              <a:t>11月</a:t>
            </a:r>
          </a:p>
        </p:txBody>
      </p:sp>
      <p:sp>
        <p:nvSpPr>
          <p:cNvPr id="49" name="Rectangle 2013">
            <a:extLst>
              <a:ext uri="{FF2B5EF4-FFF2-40B4-BE49-F238E27FC236}">
                <a16:creationId xmlns:a16="http://schemas.microsoft.com/office/drawing/2014/main" id="{B868ADFE-4DE9-7A15-E80A-94CF625C8681}"/>
              </a:ext>
            </a:extLst>
          </p:cNvPr>
          <p:cNvSpPr/>
          <p:nvPr/>
        </p:nvSpPr>
        <p:spPr>
          <a:xfrm>
            <a:off x="651207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9</a:t>
            </a:r>
            <a:r>
              <a:rPr sz="1000" b="0" dirty="0">
                <a:solidFill>
                  <a:srgbClr val="5A6378"/>
                </a:solidFill>
                <a:latin typeface="メイリオ"/>
              </a:rPr>
              <a:t>月</a:t>
            </a:r>
          </a:p>
        </p:txBody>
      </p:sp>
      <p:sp>
        <p:nvSpPr>
          <p:cNvPr id="51" name="Rectangle 2014">
            <a:extLst>
              <a:ext uri="{FF2B5EF4-FFF2-40B4-BE49-F238E27FC236}">
                <a16:creationId xmlns:a16="http://schemas.microsoft.com/office/drawing/2014/main" id="{BD5CDE95-1F68-41A7-23B4-5FA5218DD9E7}"/>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altLang="ja-JP" sz="1000" dirty="0">
                <a:solidFill>
                  <a:srgbClr val="5A6378"/>
                </a:solidFill>
                <a:latin typeface="メイリオ"/>
              </a:rPr>
              <a:t>10</a:t>
            </a:r>
            <a:r>
              <a:rPr sz="1000" b="0" dirty="0">
                <a:solidFill>
                  <a:srgbClr val="5A6378"/>
                </a:solidFill>
                <a:latin typeface="メイリオ"/>
              </a:rPr>
              <a:t>月</a:t>
            </a:r>
          </a:p>
        </p:txBody>
      </p:sp>
      <p:sp>
        <p:nvSpPr>
          <p:cNvPr id="55" name="Rectangle 2018">
            <a:extLst>
              <a:ext uri="{FF2B5EF4-FFF2-40B4-BE49-F238E27FC236}">
                <a16:creationId xmlns:a16="http://schemas.microsoft.com/office/drawing/2014/main" id="{23DE8560-7453-4747-E295-4902AD3135B2}"/>
              </a:ext>
            </a:extLst>
          </p:cNvPr>
          <p:cNvSpPr/>
          <p:nvPr/>
        </p:nvSpPr>
        <p:spPr>
          <a:xfrm>
            <a:off x="880841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12</a:t>
            </a:r>
            <a:r>
              <a:rPr sz="1000" b="0" dirty="0">
                <a:solidFill>
                  <a:srgbClr val="5A6378"/>
                </a:solidFill>
                <a:latin typeface="メイリオ"/>
              </a:rPr>
              <a:t>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『狙い目時期』の転職スケジュール」</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・「今の職場、満足してる？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60</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秒でわかる</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あなたの適正年収＆転職市場価値</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診断」</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新年を迎えるにあたり</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求人数が多くなるこの機会に</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・「残りの採用枠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名」</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15</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分のオンライン壁打ち</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・テキストだけで完結の</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CA</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質問</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・「あなたに会いたいオファーが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お盆で地元に帰って、転職決めた友だちが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02011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転職ユーザーのカスタマージャーニー（8フェーズ）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5-10</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6" name="テキスト ボックス 5">
            <a:extLst>
              <a:ext uri="{FF2B5EF4-FFF2-40B4-BE49-F238E27FC236}">
                <a16:creationId xmlns:a16="http://schemas.microsoft.com/office/drawing/2014/main" id="{14EEAC90-C9E7-2110-180C-DAC5C9A3E290}"/>
              </a:ext>
            </a:extLst>
          </p:cNvPr>
          <p:cNvSpPr txBox="1"/>
          <p:nvPr/>
        </p:nvSpPr>
        <p:spPr>
          <a:xfrm>
            <a:off x="320847" y="3458307"/>
            <a:ext cx="3538935" cy="246221"/>
          </a:xfrm>
          <a:prstGeom prst="rect">
            <a:avLst/>
          </a:prstGeom>
          <a:solidFill>
            <a:schemeClr val="bg1">
              <a:alpha val="65000"/>
            </a:schemeClr>
          </a:solidFill>
        </p:spPr>
        <p:txBody>
          <a:bodyPr wrap="square">
            <a:spAutoFit/>
          </a:bodyPr>
          <a:lstStyle/>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初期設計も</a:t>
            </a:r>
            <a:r>
              <a:rPr kumimoji="1" lang="en-US" altLang="ja-JP" sz="1000" dirty="0">
                <a:solidFill>
                  <a:srgbClr val="FF0000"/>
                </a:solidFill>
                <a:latin typeface="メイリオ" panose="020B0604030504040204" pitchFamily="50" charset="-128"/>
                <a:ea typeface="メイリオ" panose="020B0604030504040204" pitchFamily="50" charset="-128"/>
              </a:rPr>
              <a:t>3</a:t>
            </a:r>
            <a:r>
              <a:rPr kumimoji="1" lang="ja-JP" altLang="en-US" sz="1000" dirty="0">
                <a:solidFill>
                  <a:srgbClr val="FF0000"/>
                </a:solidFill>
                <a:latin typeface="メイリオ" panose="020B0604030504040204" pitchFamily="50" charset="-128"/>
                <a:ea typeface="メイリオ" panose="020B0604030504040204" pitchFamily="50" charset="-128"/>
              </a:rPr>
              <a:t>か月に</a:t>
            </a:r>
            <a:r>
              <a:rPr kumimoji="1" lang="en-US" altLang="ja-JP" sz="1000" dirty="0">
                <a:solidFill>
                  <a:srgbClr val="FF0000"/>
                </a:solidFill>
                <a:latin typeface="メイリオ" panose="020B0604030504040204" pitchFamily="50" charset="-128"/>
                <a:ea typeface="メイリオ" panose="020B0604030504040204" pitchFamily="50" charset="-128"/>
              </a:rPr>
              <a:t>1</a:t>
            </a:r>
            <a:r>
              <a:rPr kumimoji="1" lang="ja-JP" altLang="en-US" sz="1000" dirty="0">
                <a:solidFill>
                  <a:srgbClr val="FF0000"/>
                </a:solidFill>
                <a:latin typeface="メイリオ" panose="020B0604030504040204" pitchFamily="50" charset="-128"/>
                <a:ea typeface="メイリオ" panose="020B0604030504040204" pitchFamily="50" charset="-128"/>
              </a:rPr>
              <a:t>回の頻度で設計の見直しを行います。</a:t>
            </a:r>
          </a:p>
        </p:txBody>
      </p:sp>
    </p:spTree>
    <p:extLst>
      <p:ext uri="{BB962C8B-B14F-4D97-AF65-F5344CB8AC3E}">
        <p14:creationId xmlns:p14="http://schemas.microsoft.com/office/powerpoint/2010/main" val="2369353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1FAE-54F0-68FB-0777-049A7824330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0D2538F-E1B8-8AE5-0CD4-42EA268B5D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によるご提供プラン</a:t>
            </a:r>
          </a:p>
        </p:txBody>
      </p:sp>
      <p:pic>
        <p:nvPicPr>
          <p:cNvPr id="12" name="図 11" descr="アイコン が含まれている画像&#10;&#10;AI 生成コンテンツは誤りを含む可能性があります。">
            <a:extLst>
              <a:ext uri="{FF2B5EF4-FFF2-40B4-BE49-F238E27FC236}">
                <a16:creationId xmlns:a16="http://schemas.microsoft.com/office/drawing/2014/main" id="{DA698D6F-CD58-6385-1BCA-1E3129DEE1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108" y="1416099"/>
            <a:ext cx="1106285" cy="737523"/>
          </a:xfrm>
          <a:prstGeom prst="rect">
            <a:avLst/>
          </a:prstGeom>
        </p:spPr>
      </p:pic>
      <p:sp>
        <p:nvSpPr>
          <p:cNvPr id="41" name="正方形/長方形 40">
            <a:extLst>
              <a:ext uri="{FF2B5EF4-FFF2-40B4-BE49-F238E27FC236}">
                <a16:creationId xmlns:a16="http://schemas.microsoft.com/office/drawing/2014/main" id="{83976F76-8A4B-AFB5-EE98-67FE261517F3}"/>
              </a:ext>
            </a:extLst>
          </p:cNvPr>
          <p:cNvSpPr/>
          <p:nvPr/>
        </p:nvSpPr>
        <p:spPr>
          <a:xfrm>
            <a:off x="1123324" y="1813322"/>
            <a:ext cx="3368922"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Google Shape;752;p28">
            <a:extLst>
              <a:ext uri="{FF2B5EF4-FFF2-40B4-BE49-F238E27FC236}">
                <a16:creationId xmlns:a16="http://schemas.microsoft.com/office/drawing/2014/main" id="{8185E67B-5C3A-B719-9811-C4C631E8B2F4}"/>
              </a:ext>
            </a:extLst>
          </p:cNvPr>
          <p:cNvSpPr txBox="1"/>
          <p:nvPr/>
        </p:nvSpPr>
        <p:spPr>
          <a:xfrm>
            <a:off x="1147590" y="1615603"/>
            <a:ext cx="483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よりご提供できるプラン一覧</a:t>
            </a:r>
          </a:p>
        </p:txBody>
      </p:sp>
      <p:sp>
        <p:nvSpPr>
          <p:cNvPr id="2" name="Google Shape;752;p28">
            <a:extLst>
              <a:ext uri="{FF2B5EF4-FFF2-40B4-BE49-F238E27FC236}">
                <a16:creationId xmlns:a16="http://schemas.microsoft.com/office/drawing/2014/main" id="{9D5A302D-F00E-0C43-E9D8-F1DB17CF4EC0}"/>
              </a:ext>
            </a:extLst>
          </p:cNvPr>
          <p:cNvSpPr txBox="1"/>
          <p:nvPr/>
        </p:nvSpPr>
        <p:spPr>
          <a:xfrm>
            <a:off x="661098" y="824235"/>
            <a:ext cx="8437327" cy="307736"/>
          </a:xfrm>
          <a:prstGeom prst="rect">
            <a:avLst/>
          </a:prstGeom>
          <a:noFill/>
          <a:ln>
            <a:noFill/>
          </a:ln>
        </p:spPr>
        <p:txBody>
          <a:bodyPr spcFirstLastPara="1" wrap="square" lIns="91425" tIns="45700" rIns="91425" bIns="45700" anchor="ctr" anchorCtr="0">
            <a:spAutoFit/>
          </a:bodyPr>
          <a:lstStyle/>
          <a:p>
            <a:pPr lvl="0"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貴社課題感・予算感・施策規模感に合わせて、複数のプランでの提案が可能です。</a:t>
            </a:r>
            <a:endPar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8D454AA9-AD97-90CA-946B-22BBC421527A}"/>
              </a:ext>
            </a:extLst>
          </p:cNvPr>
          <p:cNvSpPr/>
          <p:nvPr/>
        </p:nvSpPr>
        <p:spPr>
          <a:xfrm>
            <a:off x="506322" y="2770359"/>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5" name="正方形/長方形 4">
            <a:extLst>
              <a:ext uri="{FF2B5EF4-FFF2-40B4-BE49-F238E27FC236}">
                <a16:creationId xmlns:a16="http://schemas.microsoft.com/office/drawing/2014/main" id="{EEC8E70F-A694-0D6C-4FF1-315A6E9F733E}"/>
              </a:ext>
            </a:extLst>
          </p:cNvPr>
          <p:cNvSpPr/>
          <p:nvPr/>
        </p:nvSpPr>
        <p:spPr>
          <a:xfrm>
            <a:off x="506322" y="4666973"/>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初動設計</a:t>
            </a:r>
            <a:r>
              <a:rPr lang="ja-JP" altLang="en-US" sz="1400" dirty="0">
                <a:latin typeface="メイリオ" panose="020B0604030504040204" pitchFamily="50" charset="-128"/>
                <a:ea typeface="メイリオ" panose="020B0604030504040204" pitchFamily="50" charset="-128"/>
              </a:rPr>
              <a:t>のみ</a:t>
            </a:r>
            <a:r>
              <a:rPr kumimoji="1" lang="ja-JP" altLang="en-US" sz="1400" dirty="0">
                <a:latin typeface="メイリオ" panose="020B0604030504040204" pitchFamily="50" charset="-128"/>
                <a:ea typeface="メイリオ" panose="020B0604030504040204" pitchFamily="50" charset="-128"/>
              </a:rPr>
              <a:t>プラン</a:t>
            </a:r>
          </a:p>
        </p:txBody>
      </p:sp>
      <p:sp>
        <p:nvSpPr>
          <p:cNvPr id="6" name="正方形/長方形 5">
            <a:extLst>
              <a:ext uri="{FF2B5EF4-FFF2-40B4-BE49-F238E27FC236}">
                <a16:creationId xmlns:a16="http://schemas.microsoft.com/office/drawing/2014/main" id="{951ADC50-2D6D-823F-2EEF-A053535442BE}"/>
              </a:ext>
            </a:extLst>
          </p:cNvPr>
          <p:cNvSpPr/>
          <p:nvPr/>
        </p:nvSpPr>
        <p:spPr>
          <a:xfrm>
            <a:off x="506322" y="5615281"/>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運用代行・効率改善プラン</a:t>
            </a:r>
          </a:p>
        </p:txBody>
      </p:sp>
      <p:sp>
        <p:nvSpPr>
          <p:cNvPr id="7" name="正方形/長方形 6">
            <a:extLst>
              <a:ext uri="{FF2B5EF4-FFF2-40B4-BE49-F238E27FC236}">
                <a16:creationId xmlns:a16="http://schemas.microsoft.com/office/drawing/2014/main" id="{ED866F59-8FC1-9200-5700-DE2EEF3AF79A}"/>
              </a:ext>
            </a:extLst>
          </p:cNvPr>
          <p:cNvSpPr/>
          <p:nvPr/>
        </p:nvSpPr>
        <p:spPr>
          <a:xfrm>
            <a:off x="506322" y="3718666"/>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D7A43CC0-345F-22EA-1EA2-259B21EA4E19}"/>
              </a:ext>
            </a:extLst>
          </p:cNvPr>
          <p:cNvSpPr/>
          <p:nvPr/>
        </p:nvSpPr>
        <p:spPr>
          <a:xfrm>
            <a:off x="3477934"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B41ABFD0-4DA0-5335-346F-E7FA981B5FD9}"/>
              </a:ext>
            </a:extLst>
          </p:cNvPr>
          <p:cNvSpPr/>
          <p:nvPr/>
        </p:nvSpPr>
        <p:spPr>
          <a:xfrm>
            <a:off x="3477934"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en-US" altLang="ja-JP" sz="1200" dirty="0">
                <a:solidFill>
                  <a:schemeClr val="tx1"/>
                </a:solidFill>
                <a:latin typeface="メイリオ" panose="020B0604030504040204" pitchFamily="50" charset="-128"/>
                <a:ea typeface="メイリオ" panose="020B0604030504040204" pitchFamily="50" charset="-128"/>
              </a:rPr>
              <a:t>GA</a:t>
            </a:r>
            <a:r>
              <a:rPr lang="ja-JP" altLang="en-US" sz="1200" dirty="0">
                <a:solidFill>
                  <a:schemeClr val="tx1"/>
                </a:solidFill>
                <a:latin typeface="メイリオ" panose="020B0604030504040204" pitchFamily="50" charset="-128"/>
                <a:ea typeface="メイリオ" panose="020B0604030504040204" pitchFamily="50" charset="-128"/>
              </a:rPr>
              <a:t>計測、ステップ配信を構築します</a:t>
            </a:r>
            <a:endParaRPr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AD61DD43-5145-183F-4944-CF28902E2BB5}"/>
              </a:ext>
            </a:extLst>
          </p:cNvPr>
          <p:cNvSpPr/>
          <p:nvPr/>
        </p:nvSpPr>
        <p:spPr>
          <a:xfrm>
            <a:off x="3477934"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投稿数により変動</a:t>
            </a:r>
            <a:r>
              <a:rPr lang="en-US" altLang="ja-JP" sz="1050" dirty="0">
                <a:solidFill>
                  <a:schemeClr val="tx1"/>
                </a:solidFill>
                <a:latin typeface="メイリオ" panose="020B0604030504040204" pitchFamily="50" charset="-128"/>
                <a:ea typeface="メイリオ" panose="020B0604030504040204" pitchFamily="50" charset="-128"/>
              </a:rPr>
              <a:t>(3</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万円</a:t>
            </a:r>
            <a:r>
              <a:rPr lang="en-US" altLang="ja-JP" sz="1050" dirty="0">
                <a:solidFill>
                  <a:schemeClr val="tx1"/>
                </a:solidFill>
                <a:latin typeface="メイリオ" panose="020B0604030504040204" pitchFamily="50" charset="-128"/>
                <a:ea typeface="メイリオ" panose="020B0604030504040204" pitchFamily="50" charset="-128"/>
              </a:rPr>
              <a:t>6</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11" name="正方形/長方形 10">
            <a:extLst>
              <a:ext uri="{FF2B5EF4-FFF2-40B4-BE49-F238E27FC236}">
                <a16:creationId xmlns:a16="http://schemas.microsoft.com/office/drawing/2014/main" id="{AEBE1332-3E19-248E-DB59-7DA92679932C}"/>
              </a:ext>
            </a:extLst>
          </p:cNvPr>
          <p:cNvSpPr/>
          <p:nvPr/>
        </p:nvSpPr>
        <p:spPr>
          <a:xfrm>
            <a:off x="3477934"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2A0C2CFB-F02A-8049-96FD-FD6CF42B0E7A}"/>
              </a:ext>
            </a:extLst>
          </p:cNvPr>
          <p:cNvSpPr/>
          <p:nvPr/>
        </p:nvSpPr>
        <p:spPr>
          <a:xfrm>
            <a:off x="6517118"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20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4" name="正方形/長方形 13">
            <a:extLst>
              <a:ext uri="{FF2B5EF4-FFF2-40B4-BE49-F238E27FC236}">
                <a16:creationId xmlns:a16="http://schemas.microsoft.com/office/drawing/2014/main" id="{E6CA090D-A0FE-B83F-F9D4-7F2081B321AC}"/>
              </a:ext>
            </a:extLst>
          </p:cNvPr>
          <p:cNvSpPr/>
          <p:nvPr/>
        </p:nvSpPr>
        <p:spPr>
          <a:xfrm>
            <a:off x="6517118"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アカウント費用のみ発生</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75000"/>
                  </a:schemeClr>
                </a:solidFill>
                <a:latin typeface="メイリオ" panose="020B0604030504040204" pitchFamily="50" charset="-128"/>
                <a:ea typeface="メイリオ" panose="020B0604030504040204" pitchFamily="50" charset="-128"/>
              </a:rPr>
              <a:t>※</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機能導入の場合は別途費用（</a:t>
            </a:r>
            <a:r>
              <a:rPr lang="en-US" altLang="ja-JP" sz="1050" dirty="0">
                <a:solidFill>
                  <a:schemeClr val="bg1">
                    <a:lumMod val="75000"/>
                  </a:schemeClr>
                </a:solidFill>
                <a:latin typeface="メイリオ" panose="020B0604030504040204" pitchFamily="50" charset="-128"/>
                <a:ea typeface="メイリオ" panose="020B0604030504040204" pitchFamily="50" charset="-128"/>
              </a:rPr>
              <a:t>Fee</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）が発生</a:t>
            </a:r>
            <a:endParaRPr lang="en-US" altLang="ja-JP" sz="1050"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EE3D57F9-87AE-6E15-36E0-FB1FCC357320}"/>
              </a:ext>
            </a:extLst>
          </p:cNvPr>
          <p:cNvSpPr/>
          <p:nvPr/>
        </p:nvSpPr>
        <p:spPr>
          <a:xfrm>
            <a:off x="6517118"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5</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〜/10</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6</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6" name="正方形/長方形 15">
            <a:extLst>
              <a:ext uri="{FF2B5EF4-FFF2-40B4-BE49-F238E27FC236}">
                <a16:creationId xmlns:a16="http://schemas.microsoft.com/office/drawing/2014/main" id="{CA00712D-E4EC-DEB7-454F-CD087FC64AB8}"/>
              </a:ext>
            </a:extLst>
          </p:cNvPr>
          <p:cNvSpPr/>
          <p:nvPr/>
        </p:nvSpPr>
        <p:spPr>
          <a:xfrm>
            <a:off x="6517118"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単価</a:t>
            </a:r>
            <a:r>
              <a:rPr lang="en-US" altLang="ja-JP" b="1"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成果数により変動</a:t>
            </a:r>
            <a:endParaRPr lang="en-US" altLang="ja-JP" sz="12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アカウント費とツール費は発生します</a:t>
            </a:r>
            <a:endParaRPr lang="en-US" altLang="ja-JP" sz="7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B3C94D54-28FD-BEBF-AEF0-979D8BE80231}"/>
              </a:ext>
            </a:extLst>
          </p:cNvPr>
          <p:cNvSpPr txBox="1"/>
          <p:nvPr/>
        </p:nvSpPr>
        <p:spPr>
          <a:xfrm>
            <a:off x="3569145"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初期費用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91B5A2B5-E8BF-32E8-3229-6262A8849DFA}"/>
              </a:ext>
            </a:extLst>
          </p:cNvPr>
          <p:cNvSpPr txBox="1"/>
          <p:nvPr/>
        </p:nvSpPr>
        <p:spPr>
          <a:xfrm>
            <a:off x="6608329"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月額費用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F2E30823-4A97-1E61-22CA-60C942910619}"/>
              </a:ext>
            </a:extLst>
          </p:cNvPr>
          <p:cNvSpPr txBox="1"/>
          <p:nvPr/>
        </p:nvSpPr>
        <p:spPr>
          <a:xfrm>
            <a:off x="4864912" y="15167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いずれも</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6</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か月</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の契約となります。</a:t>
            </a:r>
            <a:endParaRPr lang="ja-JP" altLang="en-US" sz="1200" b="1" dirty="0">
              <a:solidFill>
                <a:srgbClr val="FF0000"/>
              </a:solidFill>
            </a:endParaRPr>
          </a:p>
        </p:txBody>
      </p:sp>
      <p:sp>
        <p:nvSpPr>
          <p:cNvPr id="25" name="テキスト ボックス 24">
            <a:extLst>
              <a:ext uri="{FF2B5EF4-FFF2-40B4-BE49-F238E27FC236}">
                <a16:creationId xmlns:a16="http://schemas.microsoft.com/office/drawing/2014/main" id="{D33F2179-B983-907C-4091-A1C6C62D52D4}"/>
              </a:ext>
            </a:extLst>
          </p:cNvPr>
          <p:cNvSpPr txBox="1"/>
          <p:nvPr/>
        </p:nvSpPr>
        <p:spPr>
          <a:xfrm>
            <a:off x="4879760" y="17518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開発やツール導入の場合は別途費用が発生します。</a:t>
            </a:r>
            <a:endParaRPr lang="ja-JP" altLang="en-US" sz="1200" b="1" dirty="0">
              <a:solidFill>
                <a:srgbClr val="FF0000"/>
              </a:solidFill>
            </a:endParaRPr>
          </a:p>
        </p:txBody>
      </p:sp>
      <p:sp>
        <p:nvSpPr>
          <p:cNvPr id="18" name="正方形/長方形 17">
            <a:extLst>
              <a:ext uri="{FF2B5EF4-FFF2-40B4-BE49-F238E27FC236}">
                <a16:creationId xmlns:a16="http://schemas.microsoft.com/office/drawing/2014/main" id="{6C7D4DA1-1231-53FE-3BA9-7E10A6828C3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2182976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28F20-05AF-7B34-5B14-225CADFA40E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CBC79D5-B48C-EA1F-E7C8-2470B18780C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D61F0D43-1EC8-C807-64DC-BE9799A02F79}"/>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3" name="Google Shape;752;p28">
            <a:extLst>
              <a:ext uri="{FF2B5EF4-FFF2-40B4-BE49-F238E27FC236}">
                <a16:creationId xmlns:a16="http://schemas.microsoft.com/office/drawing/2014/main" id="{690D08B2-6972-E80D-2DA1-D0B4EE8CE831}"/>
              </a:ext>
            </a:extLst>
          </p:cNvPr>
          <p:cNvSpPr txBox="1"/>
          <p:nvPr/>
        </p:nvSpPr>
        <p:spPr>
          <a:xfrm>
            <a:off x="2914650" y="859443"/>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latin typeface="メイリオ" panose="020B0604030504040204" pitchFamily="50" charset="-128"/>
                <a:ea typeface="メイリオ" panose="020B0604030504040204" pitchFamily="50" charset="-128"/>
                <a:cs typeface="Meiryo"/>
                <a:sym typeface="Meiryo"/>
              </a:rPr>
              <a:t>オーソドックスなコンサルプラン。月間企画数により費用を設定。</a:t>
            </a:r>
          </a:p>
        </p:txBody>
      </p:sp>
      <p:sp>
        <p:nvSpPr>
          <p:cNvPr id="7" name="正方形/長方形 6">
            <a:extLst>
              <a:ext uri="{FF2B5EF4-FFF2-40B4-BE49-F238E27FC236}">
                <a16:creationId xmlns:a16="http://schemas.microsoft.com/office/drawing/2014/main" id="{9640D725-6CB1-3362-4D55-D2D874EE3245}"/>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aphicFrame>
        <p:nvGraphicFramePr>
          <p:cNvPr id="10" name="表 9">
            <a:extLst>
              <a:ext uri="{FF2B5EF4-FFF2-40B4-BE49-F238E27FC236}">
                <a16:creationId xmlns:a16="http://schemas.microsoft.com/office/drawing/2014/main" id="{C9C27775-D0B4-87CE-2D50-752D4FF8706F}"/>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sp>
        <p:nvSpPr>
          <p:cNvPr id="12" name="テキスト ボックス 11">
            <a:extLst>
              <a:ext uri="{FF2B5EF4-FFF2-40B4-BE49-F238E27FC236}">
                <a16:creationId xmlns:a16="http://schemas.microsoft.com/office/drawing/2014/main" id="{78F7A265-899D-CCF4-2C14-ED5BB94EA90E}"/>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20" name="表 19">
            <a:extLst>
              <a:ext uri="{FF2B5EF4-FFF2-40B4-BE49-F238E27FC236}">
                <a16:creationId xmlns:a16="http://schemas.microsoft.com/office/drawing/2014/main" id="{35A17481-69F7-B4A9-E021-97EE397EC507}"/>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1" name="表 20">
            <a:extLst>
              <a:ext uri="{FF2B5EF4-FFF2-40B4-BE49-F238E27FC236}">
                <a16:creationId xmlns:a16="http://schemas.microsoft.com/office/drawing/2014/main" id="{389502D4-BA2A-6A1C-BF6C-A371B6D109FD}"/>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2" name="表 21">
            <a:extLst>
              <a:ext uri="{FF2B5EF4-FFF2-40B4-BE49-F238E27FC236}">
                <a16:creationId xmlns:a16="http://schemas.microsoft.com/office/drawing/2014/main" id="{1AEA4D62-5A51-5D4C-668D-F5733449D649}"/>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 name="正方形/長方形 1">
            <a:extLst>
              <a:ext uri="{FF2B5EF4-FFF2-40B4-BE49-F238E27FC236}">
                <a16:creationId xmlns:a16="http://schemas.microsoft.com/office/drawing/2014/main" id="{C482A5B9-1B77-7CB2-3577-651B908CC4DA}"/>
              </a:ext>
            </a:extLst>
          </p:cNvPr>
          <p:cNvSpPr/>
          <p:nvPr/>
        </p:nvSpPr>
        <p:spPr>
          <a:xfrm>
            <a:off x="706726" y="1556872"/>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メイリオ" panose="020B0604030504040204" pitchFamily="50" charset="-128"/>
                <a:ea typeface="メイリオ" panose="020B0604030504040204" pitchFamily="50" charset="-128"/>
              </a:rPr>
              <a:t>20</a:t>
            </a:r>
            <a:r>
              <a:rPr kumimoji="1" lang="ja-JP" altLang="en-US" sz="1600" b="1" dirty="0">
                <a:solidFill>
                  <a:schemeClr val="tx1"/>
                </a:solidFill>
                <a:latin typeface="メイリオ" panose="020B0604030504040204" pitchFamily="50" charset="-128"/>
                <a:ea typeface="メイリオ" panose="020B0604030504040204" pitchFamily="50" charset="-128"/>
              </a:rPr>
              <a:t>万円</a:t>
            </a:r>
            <a:r>
              <a:rPr kumimoji="1" lang="ja-JP" altLang="en-US" sz="1400" b="1" dirty="0">
                <a:solidFill>
                  <a:schemeClr val="tx1"/>
                </a:solidFill>
                <a:latin typeface="メイリオ" panose="020B0604030504040204" pitchFamily="50" charset="-128"/>
                <a:ea typeface="メイリオ" panose="020B0604030504040204" pitchFamily="50" charset="-128"/>
              </a:rPr>
              <a:t> </a:t>
            </a:r>
            <a:r>
              <a:rPr kumimoji="1"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74AE0EC-48BF-DC77-08FD-383C4B76F73E}"/>
              </a:ext>
            </a:extLst>
          </p:cNvPr>
          <p:cNvSpPr/>
          <p:nvPr/>
        </p:nvSpPr>
        <p:spPr>
          <a:xfrm>
            <a:off x="706726" y="2183457"/>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30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6" name="正方形/長方形 5">
            <a:extLst>
              <a:ext uri="{FF2B5EF4-FFF2-40B4-BE49-F238E27FC236}">
                <a16:creationId xmlns:a16="http://schemas.microsoft.com/office/drawing/2014/main" id="{89600F16-6DFB-0370-C7A6-875494596D74}"/>
              </a:ext>
            </a:extLst>
          </p:cNvPr>
          <p:cNvSpPr/>
          <p:nvPr/>
        </p:nvSpPr>
        <p:spPr>
          <a:xfrm>
            <a:off x="706726" y="2815389"/>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11" name="正方形/長方形 10">
            <a:extLst>
              <a:ext uri="{FF2B5EF4-FFF2-40B4-BE49-F238E27FC236}">
                <a16:creationId xmlns:a16="http://schemas.microsoft.com/office/drawing/2014/main" id="{81506C69-8126-9C2B-FABF-119E315AF939}"/>
              </a:ext>
            </a:extLst>
          </p:cNvPr>
          <p:cNvSpPr/>
          <p:nvPr/>
        </p:nvSpPr>
        <p:spPr>
          <a:xfrm>
            <a:off x="3088448" y="1556872"/>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３</a:t>
            </a:r>
            <a:r>
              <a:rPr kumimoji="1" lang="ja-JP" altLang="en-US" sz="2000" dirty="0">
                <a:solidFill>
                  <a:schemeClr val="tx1"/>
                </a:solidFill>
                <a:latin typeface="メイリオ" panose="020B0604030504040204" pitchFamily="50" charset="-128"/>
                <a:ea typeface="メイリオ" panose="020B0604030504040204" pitchFamily="50" charset="-128"/>
              </a:rPr>
              <a:t>投稿</a:t>
            </a:r>
            <a:r>
              <a:rPr kumimoji="1" lang="ja-JP" altLang="en-US" sz="1200" dirty="0">
                <a:solidFill>
                  <a:schemeClr val="tx1"/>
                </a:solidFill>
                <a:latin typeface="メイリオ" panose="020B0604030504040204" pitchFamily="50" charset="-128"/>
                <a:ea typeface="メイリオ" panose="020B0604030504040204" pitchFamily="50" charset="-128"/>
              </a:rPr>
              <a:t> </a:t>
            </a:r>
            <a:r>
              <a:rPr kumimoji="1"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B15A40AA-7F6C-2AC4-1C14-0AC66212601F}"/>
              </a:ext>
            </a:extLst>
          </p:cNvPr>
          <p:cNvSpPr/>
          <p:nvPr/>
        </p:nvSpPr>
        <p:spPr>
          <a:xfrm>
            <a:off x="3088448" y="2183457"/>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５投稿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5" name="正方形/長方形 14">
            <a:extLst>
              <a:ext uri="{FF2B5EF4-FFF2-40B4-BE49-F238E27FC236}">
                <a16:creationId xmlns:a16="http://schemas.microsoft.com/office/drawing/2014/main" id="{83D790EB-0222-5E5B-FEEC-80F16C159B19}"/>
              </a:ext>
            </a:extLst>
          </p:cNvPr>
          <p:cNvSpPr/>
          <p:nvPr/>
        </p:nvSpPr>
        <p:spPr>
          <a:xfrm>
            <a:off x="3088448" y="2815389"/>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９投稿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6" name="正方形/長方形 15">
            <a:extLst>
              <a:ext uri="{FF2B5EF4-FFF2-40B4-BE49-F238E27FC236}">
                <a16:creationId xmlns:a16="http://schemas.microsoft.com/office/drawing/2014/main" id="{584F8FA8-652A-A0F8-874C-3E9B80EB3F4B}"/>
              </a:ext>
            </a:extLst>
          </p:cNvPr>
          <p:cNvSpPr/>
          <p:nvPr/>
        </p:nvSpPr>
        <p:spPr>
          <a:xfrm>
            <a:off x="5107595" y="1550011"/>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chemeClr val="tx1"/>
                </a:solidFill>
                <a:latin typeface="メイリオ" panose="020B0604030504040204" pitchFamily="50" charset="-128"/>
                <a:ea typeface="メイリオ" panose="020B0604030504040204" pitchFamily="50" charset="-128"/>
              </a:rPr>
              <a:t>レポート対応：有 </a:t>
            </a:r>
            <a:r>
              <a:rPr lang="en-US" altLang="ja-JP" sz="1050" b="1" dirty="0">
                <a:solidFill>
                  <a:schemeClr val="tx1"/>
                </a:solidFill>
                <a:latin typeface="メイリオ" panose="020B0604030504040204" pitchFamily="50" charset="-128"/>
                <a:ea typeface="メイリオ" panose="020B0604030504040204" pitchFamily="50" charset="-128"/>
              </a:rPr>
              <a:t>/ </a:t>
            </a:r>
            <a:r>
              <a:rPr lang="ja-JP" altLang="en-US" sz="1050" b="1" dirty="0">
                <a:solidFill>
                  <a:schemeClr val="tx1"/>
                </a:solidFill>
                <a:latin typeface="メイリオ" panose="020B0604030504040204" pitchFamily="50" charset="-128"/>
                <a:ea typeface="メイリオ" panose="020B0604030504040204" pitchFamily="50" charset="-128"/>
              </a:rPr>
              <a:t>定例会：</a:t>
            </a:r>
            <a:r>
              <a:rPr lang="en-US" altLang="ja-JP" sz="1050" b="1" dirty="0">
                <a:solidFill>
                  <a:schemeClr val="tx1"/>
                </a:solidFill>
                <a:latin typeface="メイリオ" panose="020B0604030504040204" pitchFamily="50" charset="-128"/>
                <a:ea typeface="メイリオ" panose="020B0604030504040204" pitchFamily="50" charset="-128"/>
              </a:rPr>
              <a:t>3</a:t>
            </a:r>
            <a:r>
              <a:rPr lang="ja-JP" altLang="en-US" sz="1050" b="1" dirty="0">
                <a:solidFill>
                  <a:schemeClr val="tx1"/>
                </a:solidFill>
                <a:latin typeface="メイリオ" panose="020B0604030504040204" pitchFamily="50" charset="-128"/>
                <a:ea typeface="メイリオ" panose="020B0604030504040204" pitchFamily="50" charset="-128"/>
              </a:rPr>
              <a:t>か月に</a:t>
            </a:r>
            <a:r>
              <a:rPr lang="en-US" altLang="ja-JP" sz="1050" b="1" dirty="0">
                <a:solidFill>
                  <a:schemeClr val="tx1"/>
                </a:solidFill>
                <a:latin typeface="メイリオ" panose="020B0604030504040204" pitchFamily="50" charset="-128"/>
                <a:ea typeface="メイリオ" panose="020B0604030504040204" pitchFamily="50" charset="-128"/>
              </a:rPr>
              <a:t>1</a:t>
            </a:r>
            <a:r>
              <a:rPr lang="ja-JP" altLang="en-US" sz="1050" b="1" dirty="0">
                <a:solidFill>
                  <a:schemeClr val="tx1"/>
                </a:solidFill>
                <a:latin typeface="メイリオ" panose="020B0604030504040204" pitchFamily="50" charset="-128"/>
                <a:ea typeface="メイリオ" panose="020B0604030504040204" pitchFamily="50" charset="-128"/>
              </a:rPr>
              <a:t>回。</a:t>
            </a:r>
            <a:endParaRPr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4076E51B-9B1D-9885-A1EF-A14722C86109}"/>
              </a:ext>
            </a:extLst>
          </p:cNvPr>
          <p:cNvSpPr/>
          <p:nvPr/>
        </p:nvSpPr>
        <p:spPr>
          <a:xfrm>
            <a:off x="5107595" y="2176596"/>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CD9CFCA-70E9-24BE-9FC5-7AA490583C16}"/>
              </a:ext>
            </a:extLst>
          </p:cNvPr>
          <p:cNvSpPr/>
          <p:nvPr/>
        </p:nvSpPr>
        <p:spPr>
          <a:xfrm>
            <a:off x="5107595" y="2808528"/>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D5DC77C-BB7C-1DC7-BA4A-AF3ECCC137A1}"/>
              </a:ext>
            </a:extLst>
          </p:cNvPr>
          <p:cNvSpPr/>
          <p:nvPr/>
        </p:nvSpPr>
        <p:spPr>
          <a:xfrm>
            <a:off x="548881" y="1405687"/>
            <a:ext cx="8859613"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CD3409E3-7B2F-6541-B533-69689AE3B73B}"/>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1554308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6251-095F-A186-E17A-8A0E4C5D95A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859443"/>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8" name="正方形/長方形 7">
            <a:extLst>
              <a:ext uri="{FF2B5EF4-FFF2-40B4-BE49-F238E27FC236}">
                <a16:creationId xmlns:a16="http://schemas.microsoft.com/office/drawing/2014/main" id="{FFB1B171-05E1-F3C6-1EBE-EBC6AA97A939}"/>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2DE66FC-7E13-76D6-A2AE-003C514A6B15}"/>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1" name="表 10">
            <a:extLst>
              <a:ext uri="{FF2B5EF4-FFF2-40B4-BE49-F238E27FC236}">
                <a16:creationId xmlns:a16="http://schemas.microsoft.com/office/drawing/2014/main" id="{AB699F68-6D67-CD60-1CF9-54BD45B04FBA}"/>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graphicFrame>
        <p:nvGraphicFramePr>
          <p:cNvPr id="12" name="表 11">
            <a:extLst>
              <a:ext uri="{FF2B5EF4-FFF2-40B4-BE49-F238E27FC236}">
                <a16:creationId xmlns:a16="http://schemas.microsoft.com/office/drawing/2014/main" id="{F91A02FC-5E04-6D49-4A4E-97104D3E348C}"/>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3" name="表 12">
            <a:extLst>
              <a:ext uri="{FF2B5EF4-FFF2-40B4-BE49-F238E27FC236}">
                <a16:creationId xmlns:a16="http://schemas.microsoft.com/office/drawing/2014/main" id="{C2727225-26CE-D16E-9C5D-1FBD426B841E}"/>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4" name="表 13">
            <a:extLst>
              <a:ext uri="{FF2B5EF4-FFF2-40B4-BE49-F238E27FC236}">
                <a16:creationId xmlns:a16="http://schemas.microsoft.com/office/drawing/2014/main" id="{6568ED1F-4ADB-05EB-EAF7-6D88C325C7BB}"/>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rPr>
              <a:t>成果件数 </a:t>
            </a:r>
            <a:r>
              <a:rPr lang="en-US" altLang="ja-JP" sz="1400" b="1" dirty="0">
                <a:solidFill>
                  <a:schemeClr val="tx1"/>
                </a:solidFill>
                <a:latin typeface="メイリオ" panose="020B0604030504040204" pitchFamily="50" charset="-128"/>
                <a:ea typeface="メイリオ" panose="020B0604030504040204" pitchFamily="50" charset="-128"/>
              </a:rPr>
              <a:t>× </a:t>
            </a:r>
            <a:r>
              <a:rPr lang="ja-JP" altLang="en-US" sz="1400" b="1" dirty="0">
                <a:solidFill>
                  <a:schemeClr val="tx1"/>
                </a:solidFill>
                <a:latin typeface="メイリオ" panose="020B0604030504040204" pitchFamily="50" charset="-128"/>
                <a:ea typeface="メイリオ" panose="020B0604030504040204" pitchFamily="50" charset="-128"/>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アカウント費</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ツール費</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rPr>
              <a:t>＋</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複数の</a:t>
            </a: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数を増加。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2750968"/>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導入ツールに応じて費用発生</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上限通数を設定して運営可能</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成果件数は</a:t>
            </a:r>
            <a:r>
              <a:rPr lang="en-US" altLang="ja-JP" sz="800" dirty="0">
                <a:solidFill>
                  <a:srgbClr val="FF0000"/>
                </a:solidFill>
                <a:latin typeface="メイリオ" panose="020B0604030504040204" pitchFamily="50" charset="-128"/>
                <a:ea typeface="メイリオ" panose="020B0604030504040204" pitchFamily="50" charset="-128"/>
              </a:rPr>
              <a:t>GA</a:t>
            </a:r>
            <a:r>
              <a:rPr lang="ja-JP" altLang="en-US" sz="800" dirty="0">
                <a:solidFill>
                  <a:srgbClr val="FF0000"/>
                </a:solidFill>
                <a:latin typeface="メイリオ" panose="020B0604030504040204" pitchFamily="50" charset="-128"/>
                <a:ea typeface="メイリオ" panose="020B0604030504040204" pitchFamily="50" charset="-128"/>
              </a:rPr>
              <a:t>、他ツールでの計測</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成果報酬単価は広告</a:t>
            </a:r>
            <a:r>
              <a:rPr lang="en-US" altLang="ja-JP" sz="800" dirty="0">
                <a:solidFill>
                  <a:srgbClr val="FF0000"/>
                </a:solidFill>
                <a:latin typeface="メイリオ" panose="020B0604030504040204" pitchFamily="50" charset="-128"/>
                <a:ea typeface="メイリオ" panose="020B0604030504040204" pitchFamily="50" charset="-128"/>
              </a:rPr>
              <a:t>CPA</a:t>
            </a:r>
            <a:r>
              <a:rPr lang="ja-JP" altLang="en-US" sz="800" dirty="0">
                <a:solidFill>
                  <a:srgbClr val="FF0000"/>
                </a:solidFill>
                <a:latin typeface="メイリオ" panose="020B0604030504040204" pitchFamily="50" charset="-128"/>
                <a:ea typeface="メイリオ" panose="020B0604030504040204" pitchFamily="50" charset="-128"/>
              </a:rPr>
              <a:t>に基づき設定</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80A369CB-95D9-6607-0494-7E11C05DB30B}"/>
              </a:ext>
            </a:extLst>
          </p:cNvPr>
          <p:cNvSpPr/>
          <p:nvPr/>
        </p:nvSpPr>
        <p:spPr>
          <a:xfrm>
            <a:off x="5186487" y="1789945"/>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latin typeface="メイリオ" panose="020B0604030504040204" pitchFamily="50" charset="-128"/>
                <a:ea typeface="メイリオ" panose="020B0604030504040204" pitchFamily="50" charset="-128"/>
              </a:rPr>
              <a:t>離脱防止</a:t>
            </a:r>
          </a:p>
        </p:txBody>
      </p:sp>
      <p:sp>
        <p:nvSpPr>
          <p:cNvPr id="20" name="正方形/長方形 19">
            <a:extLst>
              <a:ext uri="{FF2B5EF4-FFF2-40B4-BE49-F238E27FC236}">
                <a16:creationId xmlns:a16="http://schemas.microsoft.com/office/drawing/2014/main" id="{EC40B420-994F-D333-3411-E864E0430DDC}"/>
              </a:ext>
            </a:extLst>
          </p:cNvPr>
          <p:cNvSpPr/>
          <p:nvPr/>
        </p:nvSpPr>
        <p:spPr>
          <a:xfrm>
            <a:off x="5186487" y="2204881"/>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bg1"/>
                </a:solidFill>
                <a:latin typeface="メイリオ" panose="020B0604030504040204" pitchFamily="50" charset="-128"/>
                <a:ea typeface="メイリオ" panose="020B0604030504040204" pitchFamily="50" charset="-128"/>
              </a:rPr>
              <a:t>CPF</a:t>
            </a:r>
            <a:r>
              <a:rPr lang="ja-JP" altLang="en-US" sz="900" dirty="0">
                <a:solidFill>
                  <a:schemeClr val="bg1"/>
                </a:solidFill>
                <a:latin typeface="メイリオ" panose="020B0604030504040204" pitchFamily="50" charset="-128"/>
                <a:ea typeface="メイリオ" panose="020B0604030504040204" pitchFamily="50" charset="-128"/>
              </a:rPr>
              <a:t>広告</a:t>
            </a:r>
            <a:endParaRPr kumimoji="1"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3036028"/>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cxnSp>
        <p:nvCxnSpPr>
          <p:cNvPr id="41" name="直線矢印コネクタ 40">
            <a:extLst>
              <a:ext uri="{FF2B5EF4-FFF2-40B4-BE49-F238E27FC236}">
                <a16:creationId xmlns:a16="http://schemas.microsoft.com/office/drawing/2014/main" id="{3C75F8CA-AB1D-7749-481F-57570BE4B193}"/>
              </a:ext>
            </a:extLst>
          </p:cNvPr>
          <p:cNvCxnSpPr>
            <a:cxnSpLocks/>
            <a:stCxn id="16" idx="3"/>
          </p:cNvCxnSpPr>
          <p:nvPr/>
        </p:nvCxnSpPr>
        <p:spPr>
          <a:xfrm>
            <a:off x="6029717" y="1873253"/>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C7C50C22-3D43-6C8E-7118-95F98A2DC0F9}"/>
              </a:ext>
            </a:extLst>
          </p:cNvPr>
          <p:cNvSpPr/>
          <p:nvPr/>
        </p:nvSpPr>
        <p:spPr>
          <a:xfrm>
            <a:off x="8502373" y="1789945"/>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50" name="正方形/長方形 49">
            <a:extLst>
              <a:ext uri="{FF2B5EF4-FFF2-40B4-BE49-F238E27FC236}">
                <a16:creationId xmlns:a16="http://schemas.microsoft.com/office/drawing/2014/main" id="{D2356226-E20C-9118-F99F-C9E163470ACF}"/>
              </a:ext>
            </a:extLst>
          </p:cNvPr>
          <p:cNvSpPr/>
          <p:nvPr/>
        </p:nvSpPr>
        <p:spPr>
          <a:xfrm>
            <a:off x="7302164" y="1986273"/>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bg1"/>
                </a:solidFill>
                <a:latin typeface="メイリオ" panose="020B0604030504040204" pitchFamily="50" charset="-128"/>
                <a:ea typeface="メイリオ" panose="020B0604030504040204" pitchFamily="50" charset="-128"/>
              </a:rPr>
              <a:t>未回答</a:t>
            </a:r>
          </a:p>
        </p:txBody>
      </p:sp>
      <p:sp>
        <p:nvSpPr>
          <p:cNvPr id="51" name="正方形/長方形 50">
            <a:extLst>
              <a:ext uri="{FF2B5EF4-FFF2-40B4-BE49-F238E27FC236}">
                <a16:creationId xmlns:a16="http://schemas.microsoft.com/office/drawing/2014/main" id="{B78951B1-4D17-2544-74F5-B18E0BD48A94}"/>
              </a:ext>
            </a:extLst>
          </p:cNvPr>
          <p:cNvSpPr/>
          <p:nvPr/>
        </p:nvSpPr>
        <p:spPr>
          <a:xfrm>
            <a:off x="8502373" y="1980991"/>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cxnSp>
        <p:nvCxnSpPr>
          <p:cNvPr id="54" name="コネクタ: カギ線 53">
            <a:extLst>
              <a:ext uri="{FF2B5EF4-FFF2-40B4-BE49-F238E27FC236}">
                <a16:creationId xmlns:a16="http://schemas.microsoft.com/office/drawing/2014/main" id="{9AAF7DE6-A4BF-3A79-F5FB-1D24DC5D4A56}"/>
              </a:ext>
            </a:extLst>
          </p:cNvPr>
          <p:cNvCxnSpPr>
            <a:stCxn id="16" idx="3"/>
            <a:endCxn id="50" idx="1"/>
          </p:cNvCxnSpPr>
          <p:nvPr/>
        </p:nvCxnSpPr>
        <p:spPr>
          <a:xfrm>
            <a:off x="6029717" y="1873253"/>
            <a:ext cx="1272447" cy="196328"/>
          </a:xfrm>
          <a:prstGeom prst="bentConnector3">
            <a:avLst>
              <a:gd name="adj1" fmla="val 7021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76ACAA41-83DB-CA83-5B7D-33F8FDF68E1F}"/>
              </a:ext>
            </a:extLst>
          </p:cNvPr>
          <p:cNvCxnSpPr>
            <a:cxnSpLocks/>
            <a:stCxn id="16" idx="3"/>
            <a:endCxn id="51" idx="1"/>
          </p:cNvCxnSpPr>
          <p:nvPr/>
        </p:nvCxnSpPr>
        <p:spPr>
          <a:xfrm>
            <a:off x="6029717" y="1873253"/>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正方形/長方形 60">
            <a:extLst>
              <a:ext uri="{FF2B5EF4-FFF2-40B4-BE49-F238E27FC236}">
                <a16:creationId xmlns:a16="http://schemas.microsoft.com/office/drawing/2014/main" id="{C1825D74-634C-9E36-9ECC-717EDC08D01D}"/>
              </a:ext>
            </a:extLst>
          </p:cNvPr>
          <p:cNvSpPr/>
          <p:nvPr/>
        </p:nvSpPr>
        <p:spPr>
          <a:xfrm>
            <a:off x="7302164" y="1795227"/>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2" name="正方形/長方形 61">
            <a:extLst>
              <a:ext uri="{FF2B5EF4-FFF2-40B4-BE49-F238E27FC236}">
                <a16:creationId xmlns:a16="http://schemas.microsoft.com/office/drawing/2014/main" id="{5151ACBE-C823-12BC-893C-27BAE6932995}"/>
              </a:ext>
            </a:extLst>
          </p:cNvPr>
          <p:cNvSpPr/>
          <p:nvPr/>
        </p:nvSpPr>
        <p:spPr>
          <a:xfrm>
            <a:off x="6101955" y="1792712"/>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3</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cxnSp>
        <p:nvCxnSpPr>
          <p:cNvPr id="63" name="直線矢印コネクタ 62">
            <a:extLst>
              <a:ext uri="{FF2B5EF4-FFF2-40B4-BE49-F238E27FC236}">
                <a16:creationId xmlns:a16="http://schemas.microsoft.com/office/drawing/2014/main" id="{4579CA69-5B2F-0843-0A27-914CF103589C}"/>
              </a:ext>
            </a:extLst>
          </p:cNvPr>
          <p:cNvCxnSpPr>
            <a:cxnSpLocks/>
          </p:cNvCxnSpPr>
          <p:nvPr/>
        </p:nvCxnSpPr>
        <p:spPr>
          <a:xfrm>
            <a:off x="6029717" y="2297422"/>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8F57977B-34B8-7FE2-E800-D3FDB3F4B342}"/>
              </a:ext>
            </a:extLst>
          </p:cNvPr>
          <p:cNvCxnSpPr>
            <a:cxnSpLocks/>
          </p:cNvCxnSpPr>
          <p:nvPr/>
        </p:nvCxnSpPr>
        <p:spPr>
          <a:xfrm>
            <a:off x="6029717" y="2297422"/>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B4580F79-A6B6-6CB7-42C9-9E72234E928E}"/>
              </a:ext>
            </a:extLst>
          </p:cNvPr>
          <p:cNvSpPr/>
          <p:nvPr/>
        </p:nvSpPr>
        <p:spPr>
          <a:xfrm>
            <a:off x="6101955" y="2207648"/>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7" name="正方形/長方形 66">
            <a:extLst>
              <a:ext uri="{FF2B5EF4-FFF2-40B4-BE49-F238E27FC236}">
                <a16:creationId xmlns:a16="http://schemas.microsoft.com/office/drawing/2014/main" id="{1AE63C1F-BD64-D8ED-A701-8ADCA2511466}"/>
              </a:ext>
            </a:extLst>
          </p:cNvPr>
          <p:cNvSpPr/>
          <p:nvPr/>
        </p:nvSpPr>
        <p:spPr>
          <a:xfrm>
            <a:off x="7302164" y="2210163"/>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8" name="正方形/長方形 67">
            <a:extLst>
              <a:ext uri="{FF2B5EF4-FFF2-40B4-BE49-F238E27FC236}">
                <a16:creationId xmlns:a16="http://schemas.microsoft.com/office/drawing/2014/main" id="{64057BAB-625B-5994-36D5-E83BE7E59586}"/>
              </a:ext>
            </a:extLst>
          </p:cNvPr>
          <p:cNvSpPr/>
          <p:nvPr/>
        </p:nvSpPr>
        <p:spPr>
          <a:xfrm>
            <a:off x="8502373" y="2204881"/>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30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9" name="正方形/長方形 68">
            <a:extLst>
              <a:ext uri="{FF2B5EF4-FFF2-40B4-BE49-F238E27FC236}">
                <a16:creationId xmlns:a16="http://schemas.microsoft.com/office/drawing/2014/main" id="{878D4A23-0BCD-1E38-061D-650AD132E3D9}"/>
              </a:ext>
            </a:extLst>
          </p:cNvPr>
          <p:cNvSpPr/>
          <p:nvPr/>
        </p:nvSpPr>
        <p:spPr>
          <a:xfrm>
            <a:off x="8502373" y="2394616"/>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40982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計測環境の構築</a:t>
            </a:r>
            <a:endParaRPr kumimoji="1" lang="ja-JP" altLang="en-US" sz="1600" b="1"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a:xfrm>
            <a:off x="466638" y="1802924"/>
            <a:ext cx="898708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Google Shape;156;p7"/>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7" name="正方形/長方形 6"/>
          <p:cNvSpPr/>
          <p:nvPr/>
        </p:nvSpPr>
        <p:spPr>
          <a:xfrm>
            <a:off x="390709" y="1971785"/>
            <a:ext cx="8988624"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設定イメージ</a:t>
            </a:r>
            <a:endParaRPr kumimoji="1" lang="ja-JP" altLang="en-US" sz="1200" b="1" dirty="0">
              <a:latin typeface="メイリオ" panose="020B0604030504040204" pitchFamily="50" charset="-128"/>
              <a:ea typeface="メイリオ" panose="020B0604030504040204" pitchFamily="50" charset="-128"/>
            </a:endParaRPr>
          </a:p>
        </p:txBody>
      </p:sp>
      <p:graphicFrame>
        <p:nvGraphicFramePr>
          <p:cNvPr id="8" name="表 7"/>
          <p:cNvGraphicFramePr>
            <a:graphicFrameLocks noGrp="1"/>
          </p:cNvGraphicFramePr>
          <p:nvPr/>
        </p:nvGraphicFramePr>
        <p:xfrm>
          <a:off x="394861" y="2273528"/>
          <a:ext cx="8988618" cy="1631076"/>
        </p:xfrm>
        <a:graphic>
          <a:graphicData uri="http://schemas.openxmlformats.org/drawingml/2006/table">
            <a:tbl>
              <a:tblPr/>
              <a:tblGrid>
                <a:gridCol w="616271">
                  <a:extLst>
                    <a:ext uri="{9D8B030D-6E8A-4147-A177-3AD203B41FA5}">
                      <a16:colId xmlns:a16="http://schemas.microsoft.com/office/drawing/2014/main" val="1670584577"/>
                    </a:ext>
                  </a:extLst>
                </a:gridCol>
                <a:gridCol w="584117">
                  <a:extLst>
                    <a:ext uri="{9D8B030D-6E8A-4147-A177-3AD203B41FA5}">
                      <a16:colId xmlns:a16="http://schemas.microsoft.com/office/drawing/2014/main" val="783239229"/>
                    </a:ext>
                  </a:extLst>
                </a:gridCol>
                <a:gridCol w="594835">
                  <a:extLst>
                    <a:ext uri="{9D8B030D-6E8A-4147-A177-3AD203B41FA5}">
                      <a16:colId xmlns:a16="http://schemas.microsoft.com/office/drawing/2014/main" val="2882545821"/>
                    </a:ext>
                  </a:extLst>
                </a:gridCol>
                <a:gridCol w="594835">
                  <a:extLst>
                    <a:ext uri="{9D8B030D-6E8A-4147-A177-3AD203B41FA5}">
                      <a16:colId xmlns:a16="http://schemas.microsoft.com/office/drawing/2014/main" val="1085754342"/>
                    </a:ext>
                  </a:extLst>
                </a:gridCol>
                <a:gridCol w="594835">
                  <a:extLst>
                    <a:ext uri="{9D8B030D-6E8A-4147-A177-3AD203B41FA5}">
                      <a16:colId xmlns:a16="http://schemas.microsoft.com/office/drawing/2014/main" val="3609874806"/>
                    </a:ext>
                  </a:extLst>
                </a:gridCol>
                <a:gridCol w="594835">
                  <a:extLst>
                    <a:ext uri="{9D8B030D-6E8A-4147-A177-3AD203B41FA5}">
                      <a16:colId xmlns:a16="http://schemas.microsoft.com/office/drawing/2014/main" val="1613786001"/>
                    </a:ext>
                  </a:extLst>
                </a:gridCol>
                <a:gridCol w="594835">
                  <a:extLst>
                    <a:ext uri="{9D8B030D-6E8A-4147-A177-3AD203B41FA5}">
                      <a16:colId xmlns:a16="http://schemas.microsoft.com/office/drawing/2014/main" val="2234954468"/>
                    </a:ext>
                  </a:extLst>
                </a:gridCol>
                <a:gridCol w="594835">
                  <a:extLst>
                    <a:ext uri="{9D8B030D-6E8A-4147-A177-3AD203B41FA5}">
                      <a16:colId xmlns:a16="http://schemas.microsoft.com/office/drawing/2014/main" val="1983969397"/>
                    </a:ext>
                  </a:extLst>
                </a:gridCol>
                <a:gridCol w="594835">
                  <a:extLst>
                    <a:ext uri="{9D8B030D-6E8A-4147-A177-3AD203B41FA5}">
                      <a16:colId xmlns:a16="http://schemas.microsoft.com/office/drawing/2014/main" val="38530890"/>
                    </a:ext>
                  </a:extLst>
                </a:gridCol>
                <a:gridCol w="594835">
                  <a:extLst>
                    <a:ext uri="{9D8B030D-6E8A-4147-A177-3AD203B41FA5}">
                      <a16:colId xmlns:a16="http://schemas.microsoft.com/office/drawing/2014/main" val="4265005170"/>
                    </a:ext>
                  </a:extLst>
                </a:gridCol>
                <a:gridCol w="594835">
                  <a:extLst>
                    <a:ext uri="{9D8B030D-6E8A-4147-A177-3AD203B41FA5}">
                      <a16:colId xmlns:a16="http://schemas.microsoft.com/office/drawing/2014/main" val="2342412426"/>
                    </a:ext>
                  </a:extLst>
                </a:gridCol>
                <a:gridCol w="594835">
                  <a:extLst>
                    <a:ext uri="{9D8B030D-6E8A-4147-A177-3AD203B41FA5}">
                      <a16:colId xmlns:a16="http://schemas.microsoft.com/office/drawing/2014/main" val="1958758615"/>
                    </a:ext>
                  </a:extLst>
                </a:gridCol>
                <a:gridCol w="650210">
                  <a:extLst>
                    <a:ext uri="{9D8B030D-6E8A-4147-A177-3AD203B41FA5}">
                      <a16:colId xmlns:a16="http://schemas.microsoft.com/office/drawing/2014/main" val="3616243268"/>
                    </a:ext>
                  </a:extLst>
                </a:gridCol>
                <a:gridCol w="594835">
                  <a:extLst>
                    <a:ext uri="{9D8B030D-6E8A-4147-A177-3AD203B41FA5}">
                      <a16:colId xmlns:a16="http://schemas.microsoft.com/office/drawing/2014/main" val="689028932"/>
                    </a:ext>
                  </a:extLst>
                </a:gridCol>
                <a:gridCol w="594835">
                  <a:extLst>
                    <a:ext uri="{9D8B030D-6E8A-4147-A177-3AD203B41FA5}">
                      <a16:colId xmlns:a16="http://schemas.microsoft.com/office/drawing/2014/main" val="3105858647"/>
                    </a:ext>
                  </a:extLst>
                </a:gridCol>
              </a:tblGrid>
              <a:tr h="135923">
                <a:tc gridSpan="2">
                  <a:txBody>
                    <a:bodyPr/>
                    <a:lstStyle/>
                    <a:p>
                      <a:pPr algn="l" fontAlgn="ct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■月間の</a:t>
                      </a: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KPI</a:t>
                      </a: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a:noFill/>
                    </a:lnL>
                    <a:lnR>
                      <a:noFill/>
                    </a:lnR>
                    <a:lnT>
                      <a:noFill/>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extLst>
                  <a:ext uri="{0D108BD9-81ED-4DB2-BD59-A6C34878D82A}">
                    <a16:rowId xmlns:a16="http://schemas.microsoft.com/office/drawing/2014/main" val="759026655"/>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extLst>
                  <a:ext uri="{0D108BD9-81ED-4DB2-BD59-A6C34878D82A}">
                    <a16:rowId xmlns:a16="http://schemas.microsoft.com/office/drawing/2014/main" val="2732671633"/>
                  </a:ext>
                </a:extLst>
              </a:tr>
              <a:tr h="135923">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647146513"/>
                  </a:ext>
                </a:extLst>
              </a:tr>
              <a:tr h="135923">
                <a:tc gridSpan="2">
                  <a:txBody>
                    <a:bodyPr/>
                    <a:lstStyle/>
                    <a:p>
                      <a:pPr algn="l" fontAlgn="ctr"/>
                      <a:r>
                        <a:rPr lang="ja-JP" altLang="en-US" sz="600" b="1" i="0" u="none" strike="noStrike" dirty="0">
                          <a:solidFill>
                            <a:srgbClr val="000000"/>
                          </a:solidFill>
                          <a:effectLst/>
                          <a:latin typeface="メイリオ" panose="020B0604030504040204" pitchFamily="50" charset="-128"/>
                          <a:ea typeface="メイリオ" panose="020B0604030504040204" pitchFamily="50" charset="-128"/>
                        </a:rPr>
                        <a:t>■月次データ（概要）</a:t>
                      </a: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extLst>
                  <a:ext uri="{0D108BD9-81ED-4DB2-BD59-A6C34878D82A}">
                    <a16:rowId xmlns:a16="http://schemas.microsoft.com/office/drawing/2014/main" val="2623514694"/>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変換用</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extLst>
                  <a:ext uri="{0D108BD9-81ED-4DB2-BD59-A6C34878D82A}">
                    <a16:rowId xmlns:a16="http://schemas.microsoft.com/office/drawing/2014/main" val="2368346719"/>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20250101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184,548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22,901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77.0%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¥14,063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01818814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181,780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82,916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¥20,455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42232307"/>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179,053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53,464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57.7%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¥28,125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49141896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176,367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82,279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¥37,500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705770834"/>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20240901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173,722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24,240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617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¥40,909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777529875"/>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20240801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171,116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39,665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86.0%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¥699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¥45,000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532772668"/>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20240701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168,549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74,478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44.6%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1,321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FF0000"/>
                          </a:solidFill>
                          <a:effectLst/>
                          <a:latin typeface="メイリオ" panose="020B0604030504040204" pitchFamily="50" charset="-128"/>
                          <a:ea typeface="メイリオ" panose="020B0604030504040204" pitchFamily="50" charset="-128"/>
                        </a:rPr>
                        <a:t>¥56,250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526691278"/>
                  </a:ext>
                </a:extLst>
              </a:tr>
            </a:tbl>
          </a:graphicData>
        </a:graphic>
      </p:graphicFrame>
      <p:sp>
        <p:nvSpPr>
          <p:cNvPr id="9" name="正方形/長方形 8"/>
          <p:cNvSpPr/>
          <p:nvPr/>
        </p:nvSpPr>
        <p:spPr>
          <a:xfrm>
            <a:off x="5164183" y="2352739"/>
            <a:ext cx="4219296" cy="1762616"/>
          </a:xfrm>
          <a:prstGeom prst="rect">
            <a:avLst/>
          </a:prstGeom>
          <a:noFill/>
          <a:ln>
            <a:solidFill>
              <a:schemeClr val="tx2">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7192964" y="3902953"/>
            <a:ext cx="2206519" cy="209848"/>
          </a:xfrm>
          <a:prstGeom prst="rect">
            <a:avLst/>
          </a:prstGeom>
        </p:spPr>
        <p:txBody>
          <a:bodyPr wrap="none">
            <a:spAutoFit/>
          </a:bodyPr>
          <a:lstStyle/>
          <a:p>
            <a:r>
              <a:rPr lang="en-US" altLang="ja-JP" sz="1050" b="1" dirty="0">
                <a:solidFill>
                  <a:schemeClr val="tx1">
                    <a:lumMod val="65000"/>
                    <a:lumOff val="35000"/>
                  </a:schemeClr>
                </a:solidFill>
                <a:latin typeface="Meiryo"/>
                <a:ea typeface="Meiryo"/>
                <a:cs typeface="Meiryo"/>
                <a:sym typeface="Meiryo"/>
              </a:rPr>
              <a:t>GA</a:t>
            </a:r>
            <a:r>
              <a:rPr lang="ja-JP" altLang="en-US" sz="1050" b="1" dirty="0">
                <a:solidFill>
                  <a:schemeClr val="tx1">
                    <a:lumMod val="65000"/>
                    <a:lumOff val="35000"/>
                  </a:schemeClr>
                </a:solidFill>
                <a:latin typeface="Meiryo"/>
                <a:ea typeface="Meiryo"/>
                <a:cs typeface="Meiryo"/>
                <a:sym typeface="Meiryo"/>
              </a:rPr>
              <a:t>管理画面上で計測し、数値反映</a:t>
            </a:r>
            <a:endParaRPr lang="ja-JP" altLang="en-US" sz="1050" dirty="0"/>
          </a:p>
        </p:txBody>
      </p:sp>
      <p:sp>
        <p:nvSpPr>
          <p:cNvPr id="16" name="右矢印 15"/>
          <p:cNvSpPr/>
          <p:nvPr/>
        </p:nvSpPr>
        <p:spPr>
          <a:xfrm>
            <a:off x="4570905" y="4720337"/>
            <a:ext cx="717764" cy="680165"/>
          </a:xfrm>
          <a:prstGeom prst="rightArrow">
            <a:avLst>
              <a:gd name="adj1" fmla="val 65364"/>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1717" y="4408755"/>
            <a:ext cx="1685243" cy="2001227"/>
          </a:xfrm>
          <a:prstGeom prst="rect">
            <a:avLst/>
          </a:prstGeom>
        </p:spPr>
      </p:pic>
      <p:pic>
        <p:nvPicPr>
          <p:cNvPr id="18" name="図 17"/>
          <p:cNvPicPr>
            <a:picLocks noChangeAspect="1"/>
          </p:cNvPicPr>
          <p:nvPr/>
        </p:nvPicPr>
        <p:blipFill rotWithShape="1">
          <a:blip r:embed="rId4" cstate="print">
            <a:extLst>
              <a:ext uri="{28A0092B-C50C-407E-A947-70E740481C1C}">
                <a14:useLocalDpi xmlns:a14="http://schemas.microsoft.com/office/drawing/2010/main" val="0"/>
              </a:ext>
            </a:extLst>
          </a:blip>
          <a:srcRect r="4805" b="31533"/>
          <a:stretch/>
        </p:blipFill>
        <p:spPr>
          <a:xfrm>
            <a:off x="934688" y="5400502"/>
            <a:ext cx="1403563" cy="1009480"/>
          </a:xfrm>
          <a:prstGeom prst="rect">
            <a:avLst/>
          </a:prstGeom>
        </p:spPr>
      </p:pic>
      <p:pic>
        <p:nvPicPr>
          <p:cNvPr id="19" name="図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6163" y="4408755"/>
            <a:ext cx="1685243" cy="2001227"/>
          </a:xfrm>
          <a:prstGeom prst="rect">
            <a:avLst/>
          </a:prstGeom>
        </p:spPr>
      </p:pic>
      <p:pic>
        <p:nvPicPr>
          <p:cNvPr id="21" name="図 20"/>
          <p:cNvPicPr>
            <a:picLocks noChangeAspect="1"/>
          </p:cNvPicPr>
          <p:nvPr/>
        </p:nvPicPr>
        <p:blipFill>
          <a:blip r:embed="rId5"/>
          <a:stretch>
            <a:fillRect/>
          </a:stretch>
        </p:blipFill>
        <p:spPr>
          <a:xfrm>
            <a:off x="5535676" y="4826463"/>
            <a:ext cx="1309023" cy="542766"/>
          </a:xfrm>
          <a:prstGeom prst="rect">
            <a:avLst/>
          </a:prstGeom>
        </p:spPr>
      </p:pic>
      <p:sp>
        <p:nvSpPr>
          <p:cNvPr id="22" name="楕円 21"/>
          <p:cNvSpPr/>
          <p:nvPr/>
        </p:nvSpPr>
        <p:spPr>
          <a:xfrm>
            <a:off x="7644705" y="5440910"/>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売上</a:t>
            </a:r>
          </a:p>
        </p:txBody>
      </p:sp>
      <p:sp>
        <p:nvSpPr>
          <p:cNvPr id="24" name="楕円 23"/>
          <p:cNvSpPr/>
          <p:nvPr/>
        </p:nvSpPr>
        <p:spPr>
          <a:xfrm>
            <a:off x="6613630" y="5424347"/>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CV</a:t>
            </a:r>
            <a:endPar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5" name="楕円 24"/>
          <p:cNvSpPr/>
          <p:nvPr/>
        </p:nvSpPr>
        <p:spPr>
          <a:xfrm>
            <a:off x="5459174" y="5424348"/>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有効（</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mcv</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a:xfrm>
            <a:off x="6785986" y="5037438"/>
            <a:ext cx="2492990" cy="276999"/>
          </a:xfrm>
          <a:prstGeom prst="rect">
            <a:avLst/>
          </a:prstGeom>
        </p:spPr>
        <p:txBody>
          <a:bodyPr wrap="none">
            <a:spAutoFit/>
          </a:bodyPr>
          <a:lstStyle/>
          <a:p>
            <a:r>
              <a:rPr lang="ja-JP" altLang="en-US" sz="1200" b="1" dirty="0">
                <a:latin typeface="Meiryo"/>
                <a:ea typeface="Meiryo"/>
                <a:cs typeface="Meiryo"/>
                <a:sym typeface="Meiryo"/>
              </a:rPr>
              <a:t>管理画面を成果としてレポート化</a:t>
            </a:r>
            <a:endParaRPr lang="ja-JP" altLang="en-US" sz="1200" b="1" dirty="0"/>
          </a:p>
        </p:txBody>
      </p:sp>
      <p:sp>
        <p:nvSpPr>
          <p:cNvPr id="27" name="正方形/長方形 26"/>
          <p:cNvSpPr/>
          <p:nvPr/>
        </p:nvSpPr>
        <p:spPr>
          <a:xfrm>
            <a:off x="5895888" y="6013913"/>
            <a:ext cx="2762295" cy="261610"/>
          </a:xfrm>
          <a:prstGeom prst="rect">
            <a:avLst/>
          </a:prstGeom>
        </p:spPr>
        <p:txBody>
          <a:bodyPr wrap="none">
            <a:spAutoFit/>
          </a:bodyPr>
          <a:lstStyle/>
          <a:p>
            <a:r>
              <a:rPr lang="en-US" altLang="ja-JP" sz="1100" dirty="0">
                <a:solidFill>
                  <a:schemeClr val="tx1">
                    <a:lumMod val="50000"/>
                    <a:lumOff val="50000"/>
                  </a:schemeClr>
                </a:solidFill>
                <a:latin typeface="Meiryo"/>
                <a:ea typeface="Meiryo"/>
                <a:sym typeface="Meiryo"/>
              </a:rPr>
              <a:t>※</a:t>
            </a:r>
            <a:r>
              <a:rPr lang="en-US" altLang="ja-JP" sz="1100" dirty="0" err="1">
                <a:solidFill>
                  <a:schemeClr val="tx1">
                    <a:lumMod val="50000"/>
                    <a:lumOff val="50000"/>
                  </a:schemeClr>
                </a:solidFill>
                <a:latin typeface="Meiryo"/>
                <a:ea typeface="Meiryo"/>
                <a:sym typeface="Meiryo"/>
              </a:rPr>
              <a:t>AdEbis</a:t>
            </a:r>
            <a:r>
              <a:rPr lang="ja-JP" altLang="en-US" sz="1100" dirty="0">
                <a:solidFill>
                  <a:schemeClr val="tx1">
                    <a:lumMod val="50000"/>
                    <a:lumOff val="50000"/>
                  </a:schemeClr>
                </a:solidFill>
                <a:latin typeface="Meiryo"/>
                <a:ea typeface="Meiryo"/>
                <a:sym typeface="Meiryo"/>
              </a:rPr>
              <a:t>等の外部ツールの対応も可能。</a:t>
            </a:r>
            <a:endParaRPr lang="ja-JP" altLang="en-US" sz="1100" dirty="0">
              <a:solidFill>
                <a:schemeClr val="tx1">
                  <a:lumMod val="50000"/>
                  <a:lumOff val="50000"/>
                </a:schemeClr>
              </a:solidFill>
            </a:endParaRPr>
          </a:p>
        </p:txBody>
      </p:sp>
      <p:sp>
        <p:nvSpPr>
          <p:cNvPr id="28" name="正方形/長方形 27"/>
          <p:cNvSpPr/>
          <p:nvPr/>
        </p:nvSpPr>
        <p:spPr>
          <a:xfrm>
            <a:off x="390709" y="4227706"/>
            <a:ext cx="4219296" cy="277788"/>
          </a:xfrm>
          <a:prstGeom prst="rect">
            <a:avLst/>
          </a:prstGeom>
          <a:solidFill>
            <a:srgbClr val="00C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アプリ上</a:t>
            </a:r>
            <a:endParaRPr kumimoji="1" lang="ja-JP" altLang="en-US" sz="1200" b="1" dirty="0">
              <a:latin typeface="メイリオ" panose="020B0604030504040204" pitchFamily="50" charset="-128"/>
              <a:ea typeface="メイリオ" panose="020B0604030504040204" pitchFamily="50" charset="-128"/>
            </a:endParaRPr>
          </a:p>
        </p:txBody>
      </p:sp>
      <p:pic>
        <p:nvPicPr>
          <p:cNvPr id="1034"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1882803" y="6009237"/>
            <a:ext cx="542505" cy="3829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3827252" y="6144220"/>
            <a:ext cx="542505" cy="38294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グループ化 40"/>
          <p:cNvGrpSpPr/>
          <p:nvPr/>
        </p:nvGrpSpPr>
        <p:grpSpPr>
          <a:xfrm>
            <a:off x="1802228" y="5899367"/>
            <a:ext cx="125343" cy="138465"/>
            <a:chOff x="4245087" y="1539805"/>
            <a:chExt cx="325106" cy="269830"/>
          </a:xfrm>
        </p:grpSpPr>
        <p:sp>
          <p:nvSpPr>
            <p:cNvPr id="42" name="二等辺三角形 41"/>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二等辺三角形 42"/>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二等辺三角形 43"/>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4" name="グループ化 53"/>
          <p:cNvGrpSpPr/>
          <p:nvPr/>
        </p:nvGrpSpPr>
        <p:grpSpPr>
          <a:xfrm>
            <a:off x="3722470" y="6025641"/>
            <a:ext cx="125343" cy="138465"/>
            <a:chOff x="4245087" y="1539805"/>
            <a:chExt cx="325106" cy="269830"/>
          </a:xfrm>
        </p:grpSpPr>
        <p:sp>
          <p:nvSpPr>
            <p:cNvPr id="55" name="二等辺三角形 54"/>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二等辺三角形 55"/>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二等辺三角形 56"/>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正方形/長方形 32"/>
          <p:cNvSpPr/>
          <p:nvPr/>
        </p:nvSpPr>
        <p:spPr>
          <a:xfrm>
            <a:off x="5180187" y="4221922"/>
            <a:ext cx="4219296"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WEB</a:t>
            </a:r>
            <a:r>
              <a:rPr lang="ja-JP" altLang="en-US" sz="1200" b="1" dirty="0">
                <a:latin typeface="メイリオ" panose="020B0604030504040204" pitchFamily="50" charset="-128"/>
                <a:ea typeface="メイリオ" panose="020B0604030504040204" pitchFamily="50" charset="-128"/>
              </a:rPr>
              <a:t>サイト上</a:t>
            </a:r>
            <a:endParaRPr kumimoji="1" lang="ja-JP" altLang="en-US" sz="1200" b="1" dirty="0">
              <a:latin typeface="メイリオ" panose="020B0604030504040204" pitchFamily="50" charset="-128"/>
              <a:ea typeface="メイリオ" panose="020B0604030504040204" pitchFamily="50" charset="-128"/>
            </a:endParaRPr>
          </a:p>
        </p:txBody>
      </p:sp>
      <p:pic>
        <p:nvPicPr>
          <p:cNvPr id="10" name="図 9"/>
          <p:cNvPicPr>
            <a:picLocks noChangeAspect="1"/>
          </p:cNvPicPr>
          <p:nvPr/>
        </p:nvPicPr>
        <p:blipFill>
          <a:blip r:embed="rId7"/>
          <a:stretch>
            <a:fillRect/>
          </a:stretch>
        </p:blipFill>
        <p:spPr>
          <a:xfrm>
            <a:off x="2758013" y="4552453"/>
            <a:ext cx="1379725" cy="919257"/>
          </a:xfrm>
          <a:prstGeom prst="rect">
            <a:avLst/>
          </a:prstGeom>
        </p:spPr>
      </p:pic>
      <p:sp>
        <p:nvSpPr>
          <p:cNvPr id="11" name="正方形/長方形 10">
            <a:extLst>
              <a:ext uri="{FF2B5EF4-FFF2-40B4-BE49-F238E27FC236}">
                <a16:creationId xmlns:a16="http://schemas.microsoft.com/office/drawing/2014/main" id="{22778390-5C65-8A0B-FBCC-331F4769C279}"/>
              </a:ext>
            </a:extLst>
          </p:cNvPr>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2" name="Google Shape;156;p7">
            <a:extLst>
              <a:ext uri="{FF2B5EF4-FFF2-40B4-BE49-F238E27FC236}">
                <a16:creationId xmlns:a16="http://schemas.microsoft.com/office/drawing/2014/main" id="{6FA8B775-64BA-CC75-EC39-92A06C7D5702}"/>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29946349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384048"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1664207"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687568"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384048"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1664207"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5687568" y="21941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384048"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1664207"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687568" y="31085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384048"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1664207"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687568" y="40229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384048"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54" name="Rectangle 6">
            <a:extLst>
              <a:ext uri="{FF2B5EF4-FFF2-40B4-BE49-F238E27FC236}">
                <a16:creationId xmlns:a16="http://schemas.microsoft.com/office/drawing/2014/main" id="{3006611C-155B-26D2-87F5-F1073BED0DD5}"/>
              </a:ext>
            </a:extLst>
          </p:cNvPr>
          <p:cNvSpPr/>
          <p:nvPr/>
        </p:nvSpPr>
        <p:spPr>
          <a:xfrm>
            <a:off x="7059168" y="1746073"/>
            <a:ext cx="244144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55" name="Rectangle 10">
            <a:extLst>
              <a:ext uri="{FF2B5EF4-FFF2-40B4-BE49-F238E27FC236}">
                <a16:creationId xmlns:a16="http://schemas.microsoft.com/office/drawing/2014/main" id="{86F1D30D-393D-E40A-6D1C-9AFE711E6551}"/>
              </a:ext>
            </a:extLst>
          </p:cNvPr>
          <p:cNvSpPr/>
          <p:nvPr/>
        </p:nvSpPr>
        <p:spPr>
          <a:xfrm>
            <a:off x="7059168" y="21941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56" name="Rectangle 14">
            <a:extLst>
              <a:ext uri="{FF2B5EF4-FFF2-40B4-BE49-F238E27FC236}">
                <a16:creationId xmlns:a16="http://schemas.microsoft.com/office/drawing/2014/main" id="{BDC1EB93-A86A-84CE-F73E-2149AD61E5FC}"/>
              </a:ext>
            </a:extLst>
          </p:cNvPr>
          <p:cNvSpPr/>
          <p:nvPr/>
        </p:nvSpPr>
        <p:spPr>
          <a:xfrm>
            <a:off x="7059168" y="31085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57" name="Rectangle 18">
            <a:extLst>
              <a:ext uri="{FF2B5EF4-FFF2-40B4-BE49-F238E27FC236}">
                <a16:creationId xmlns:a16="http://schemas.microsoft.com/office/drawing/2014/main" id="{188A2264-AC44-69F3-AADC-6C99A3918A5E}"/>
              </a:ext>
            </a:extLst>
          </p:cNvPr>
          <p:cNvSpPr/>
          <p:nvPr/>
        </p:nvSpPr>
        <p:spPr>
          <a:xfrm>
            <a:off x="7059168" y="40229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58" name="Rectangle 22">
            <a:extLst>
              <a:ext uri="{FF2B5EF4-FFF2-40B4-BE49-F238E27FC236}">
                <a16:creationId xmlns:a16="http://schemas.microsoft.com/office/drawing/2014/main" id="{E8B63E0D-903B-EFBB-A4FF-728A697ABE8D}"/>
              </a:ext>
            </a:extLst>
          </p:cNvPr>
          <p:cNvSpPr/>
          <p:nvPr/>
        </p:nvSpPr>
        <p:spPr>
          <a:xfrm>
            <a:off x="7059168" y="49373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45" name="Rectangle 20">
            <a:extLst>
              <a:ext uri="{FF2B5EF4-FFF2-40B4-BE49-F238E27FC236}">
                <a16:creationId xmlns:a16="http://schemas.microsoft.com/office/drawing/2014/main" id="{B7F2AF46-39FB-CD72-C394-6101BBA1E6AE}"/>
              </a:ext>
            </a:extLst>
          </p:cNvPr>
          <p:cNvSpPr/>
          <p:nvPr/>
        </p:nvSpPr>
        <p:spPr>
          <a:xfrm>
            <a:off x="1664207"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687568" y="49373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384048"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578608"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384048"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578608"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384048"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578608"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384048"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578608"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384048"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578608"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384048"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578608"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384048"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578608"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384048"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6" name="Rectangle 5">
            <a:extLst>
              <a:ext uri="{FF2B5EF4-FFF2-40B4-BE49-F238E27FC236}">
                <a16:creationId xmlns:a16="http://schemas.microsoft.com/office/drawing/2014/main" id="{B38F1B92-D634-77F8-3356-02B435E0FAEE}"/>
              </a:ext>
            </a:extLst>
          </p:cNvPr>
          <p:cNvSpPr/>
          <p:nvPr/>
        </p:nvSpPr>
        <p:spPr>
          <a:xfrm>
            <a:off x="6601968" y="1754781"/>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7" name="Rectangle 8">
            <a:extLst>
              <a:ext uri="{FF2B5EF4-FFF2-40B4-BE49-F238E27FC236}">
                <a16:creationId xmlns:a16="http://schemas.microsoft.com/office/drawing/2014/main" id="{192BDBE0-827A-A566-E2C7-3CE69EF889BE}"/>
              </a:ext>
            </a:extLst>
          </p:cNvPr>
          <p:cNvSpPr/>
          <p:nvPr/>
        </p:nvSpPr>
        <p:spPr>
          <a:xfrm>
            <a:off x="6601968" y="217210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8" name="Rectangle 11">
            <a:extLst>
              <a:ext uri="{FF2B5EF4-FFF2-40B4-BE49-F238E27FC236}">
                <a16:creationId xmlns:a16="http://schemas.microsoft.com/office/drawing/2014/main" id="{DF2E3318-BC22-D10A-07C4-5D09E1B00A87}"/>
              </a:ext>
            </a:extLst>
          </p:cNvPr>
          <p:cNvSpPr/>
          <p:nvPr/>
        </p:nvSpPr>
        <p:spPr>
          <a:xfrm>
            <a:off x="6601968" y="273989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9" name="Rectangle 14">
            <a:extLst>
              <a:ext uri="{FF2B5EF4-FFF2-40B4-BE49-F238E27FC236}">
                <a16:creationId xmlns:a16="http://schemas.microsoft.com/office/drawing/2014/main" id="{2F30D830-C8E5-B05E-3354-E6780E4D8F34}"/>
              </a:ext>
            </a:extLst>
          </p:cNvPr>
          <p:cNvSpPr/>
          <p:nvPr/>
        </p:nvSpPr>
        <p:spPr>
          <a:xfrm>
            <a:off x="6601968" y="3307697"/>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0" name="Rectangle 17">
            <a:extLst>
              <a:ext uri="{FF2B5EF4-FFF2-40B4-BE49-F238E27FC236}">
                <a16:creationId xmlns:a16="http://schemas.microsoft.com/office/drawing/2014/main" id="{68B146F0-A9E6-7C8D-DC20-A149DB41E5D2}"/>
              </a:ext>
            </a:extLst>
          </p:cNvPr>
          <p:cNvSpPr/>
          <p:nvPr/>
        </p:nvSpPr>
        <p:spPr>
          <a:xfrm>
            <a:off x="6601968" y="3875494"/>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1" name="Rectangle 20">
            <a:extLst>
              <a:ext uri="{FF2B5EF4-FFF2-40B4-BE49-F238E27FC236}">
                <a16:creationId xmlns:a16="http://schemas.microsoft.com/office/drawing/2014/main" id="{886B0D5C-0C30-0B30-0BA4-E1C772ECF373}"/>
              </a:ext>
            </a:extLst>
          </p:cNvPr>
          <p:cNvSpPr/>
          <p:nvPr/>
        </p:nvSpPr>
        <p:spPr>
          <a:xfrm>
            <a:off x="6601968" y="4443293"/>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2" name="Rectangle 23">
            <a:extLst>
              <a:ext uri="{FF2B5EF4-FFF2-40B4-BE49-F238E27FC236}">
                <a16:creationId xmlns:a16="http://schemas.microsoft.com/office/drawing/2014/main" id="{22594C73-0280-1178-5856-83C2C8C7B870}"/>
              </a:ext>
            </a:extLst>
          </p:cNvPr>
          <p:cNvSpPr/>
          <p:nvPr/>
        </p:nvSpPr>
        <p:spPr>
          <a:xfrm>
            <a:off x="6601968" y="501109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3" name="Rectangle 26">
            <a:extLst>
              <a:ext uri="{FF2B5EF4-FFF2-40B4-BE49-F238E27FC236}">
                <a16:creationId xmlns:a16="http://schemas.microsoft.com/office/drawing/2014/main" id="{646B48C3-12AF-E6E5-8AEE-F4C5DD2EEC0C}"/>
              </a:ext>
            </a:extLst>
          </p:cNvPr>
          <p:cNvSpPr/>
          <p:nvPr/>
        </p:nvSpPr>
        <p:spPr>
          <a:xfrm>
            <a:off x="6601968" y="557888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1" name="Rectangle 25">
            <a:extLst>
              <a:ext uri="{FF2B5EF4-FFF2-40B4-BE49-F238E27FC236}">
                <a16:creationId xmlns:a16="http://schemas.microsoft.com/office/drawing/2014/main" id="{FC84BF14-9CF1-6C23-B694-B5ABD998471B}"/>
              </a:ext>
            </a:extLst>
          </p:cNvPr>
          <p:cNvSpPr/>
          <p:nvPr/>
        </p:nvSpPr>
        <p:spPr>
          <a:xfrm>
            <a:off x="2578608"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384048"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384048"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384048"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384048"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384048"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384048"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384048"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70" name="Rectangle 5">
            <a:extLst>
              <a:ext uri="{FF2B5EF4-FFF2-40B4-BE49-F238E27FC236}">
                <a16:creationId xmlns:a16="http://schemas.microsoft.com/office/drawing/2014/main" id="{5BA3C8AC-F83B-8887-50C2-B4AED74F4F54}"/>
              </a:ext>
            </a:extLst>
          </p:cNvPr>
          <p:cNvSpPr/>
          <p:nvPr/>
        </p:nvSpPr>
        <p:spPr>
          <a:xfrm>
            <a:off x="6601968" y="1780907"/>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1" name="Rectangle 8">
            <a:extLst>
              <a:ext uri="{FF2B5EF4-FFF2-40B4-BE49-F238E27FC236}">
                <a16:creationId xmlns:a16="http://schemas.microsoft.com/office/drawing/2014/main" id="{090C52B4-5C5E-4082-D9D0-B3F682D1D56B}"/>
              </a:ext>
            </a:extLst>
          </p:cNvPr>
          <p:cNvSpPr/>
          <p:nvPr/>
        </p:nvSpPr>
        <p:spPr>
          <a:xfrm>
            <a:off x="6601968" y="2203668"/>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2" name="Rectangle 11">
            <a:extLst>
              <a:ext uri="{FF2B5EF4-FFF2-40B4-BE49-F238E27FC236}">
                <a16:creationId xmlns:a16="http://schemas.microsoft.com/office/drawing/2014/main" id="{5D95E04F-E0EF-7048-CE4F-52EF8E06A51C}"/>
              </a:ext>
            </a:extLst>
          </p:cNvPr>
          <p:cNvSpPr/>
          <p:nvPr/>
        </p:nvSpPr>
        <p:spPr>
          <a:xfrm>
            <a:off x="6601968" y="280978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3" name="Rectangle 14">
            <a:extLst>
              <a:ext uri="{FF2B5EF4-FFF2-40B4-BE49-F238E27FC236}">
                <a16:creationId xmlns:a16="http://schemas.microsoft.com/office/drawing/2014/main" id="{8DF123B9-F9C1-F5AC-B9B8-847E3B54BB6E}"/>
              </a:ext>
            </a:extLst>
          </p:cNvPr>
          <p:cNvSpPr/>
          <p:nvPr/>
        </p:nvSpPr>
        <p:spPr>
          <a:xfrm>
            <a:off x="6601968" y="342460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4" name="Rectangle 17">
            <a:extLst>
              <a:ext uri="{FF2B5EF4-FFF2-40B4-BE49-F238E27FC236}">
                <a16:creationId xmlns:a16="http://schemas.microsoft.com/office/drawing/2014/main" id="{8586DBF7-7FC5-FCBD-008A-A179145000C4}"/>
              </a:ext>
            </a:extLst>
          </p:cNvPr>
          <p:cNvSpPr/>
          <p:nvPr/>
        </p:nvSpPr>
        <p:spPr>
          <a:xfrm>
            <a:off x="6601968" y="4030719"/>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0">
            <a:extLst>
              <a:ext uri="{FF2B5EF4-FFF2-40B4-BE49-F238E27FC236}">
                <a16:creationId xmlns:a16="http://schemas.microsoft.com/office/drawing/2014/main" id="{DB7FB4C0-51C6-3078-A140-B7A1B50F861A}"/>
              </a:ext>
            </a:extLst>
          </p:cNvPr>
          <p:cNvSpPr/>
          <p:nvPr/>
        </p:nvSpPr>
        <p:spPr>
          <a:xfrm>
            <a:off x="6601968" y="464554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6" name="Rectangle 23">
            <a:extLst>
              <a:ext uri="{FF2B5EF4-FFF2-40B4-BE49-F238E27FC236}">
                <a16:creationId xmlns:a16="http://schemas.microsoft.com/office/drawing/2014/main" id="{0B10266D-13DE-7185-5A31-5B2D7BD7491A}"/>
              </a:ext>
            </a:extLst>
          </p:cNvPr>
          <p:cNvSpPr/>
          <p:nvPr/>
        </p:nvSpPr>
        <p:spPr>
          <a:xfrm>
            <a:off x="6601968" y="525165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146604</TotalTime>
  <Words>5688</Words>
  <Application>Microsoft Office PowerPoint</Application>
  <PresentationFormat>A4 210 x 297 mm</PresentationFormat>
  <Paragraphs>1420</Paragraphs>
  <Slides>54</Slides>
  <Notes>6</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54</vt:i4>
      </vt:variant>
    </vt:vector>
  </HeadingPairs>
  <TitlesOfParts>
    <vt:vector size="61" baseType="lpstr">
      <vt:lpstr>Arial</vt:lpstr>
      <vt:lpstr>Calibri</vt:lpstr>
      <vt:lpstr>Century Gothic</vt:lpstr>
      <vt:lpstr>メイリオ</vt:lpstr>
      <vt:lpstr>メイリオ</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1983</cp:revision>
  <cp:lastPrinted>2022-11-01T11:38:14Z</cp:lastPrinted>
  <dcterms:created xsi:type="dcterms:W3CDTF">2015-09-04T09:21:15Z</dcterms:created>
  <dcterms:modified xsi:type="dcterms:W3CDTF">2026-10-29T08:17:35Z</dcterms:modified>
</cp:coreProperties>
</file>