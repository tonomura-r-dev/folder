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6"/>
  </p:notesMasterIdLst>
  <p:handoutMasterIdLst>
    <p:handoutMasterId r:id="rId57"/>
  </p:handoutMasterIdLst>
  <p:sldIdLst>
    <p:sldId id="2363" r:id="rId3"/>
    <p:sldId id="2726" r:id="rId4"/>
    <p:sldId id="3152" r:id="rId5"/>
    <p:sldId id="2721" r:id="rId6"/>
    <p:sldId id="2723" r:id="rId7"/>
    <p:sldId id="2724" r:id="rId8"/>
    <p:sldId id="2364" r:id="rId9"/>
    <p:sldId id="2365" r:id="rId10"/>
    <p:sldId id="2725" r:id="rId11"/>
    <p:sldId id="2913" r:id="rId12"/>
    <p:sldId id="2727" r:id="rId13"/>
    <p:sldId id="3131" r:id="rId14"/>
    <p:sldId id="3132" r:id="rId15"/>
    <p:sldId id="3150" r:id="rId16"/>
    <p:sldId id="2732" r:id="rId17"/>
    <p:sldId id="2733" r:id="rId18"/>
    <p:sldId id="2728" r:id="rId19"/>
    <p:sldId id="3147" r:id="rId20"/>
    <p:sldId id="3148" r:id="rId21"/>
    <p:sldId id="3141" r:id="rId22"/>
    <p:sldId id="3142" r:id="rId23"/>
    <p:sldId id="3143" r:id="rId24"/>
    <p:sldId id="3145" r:id="rId25"/>
    <p:sldId id="3144" r:id="rId26"/>
    <p:sldId id="3146" r:id="rId27"/>
    <p:sldId id="2972" r:id="rId28"/>
    <p:sldId id="2975" r:id="rId29"/>
    <p:sldId id="2974" r:id="rId30"/>
    <p:sldId id="2729" r:id="rId31"/>
    <p:sldId id="2951" r:id="rId32"/>
    <p:sldId id="2839" r:id="rId33"/>
    <p:sldId id="2740" r:id="rId34"/>
    <p:sldId id="2755" r:id="rId35"/>
    <p:sldId id="2730" r:id="rId36"/>
    <p:sldId id="2595" r:id="rId37"/>
    <p:sldId id="2566" r:id="rId38"/>
    <p:sldId id="2569" r:id="rId39"/>
    <p:sldId id="2915" r:id="rId40"/>
    <p:sldId id="2619" r:id="rId41"/>
    <p:sldId id="3136" r:id="rId42"/>
    <p:sldId id="3137" r:id="rId43"/>
    <p:sldId id="3138" r:id="rId44"/>
    <p:sldId id="3139" r:id="rId45"/>
    <p:sldId id="3140" r:id="rId46"/>
    <p:sldId id="2563" r:id="rId47"/>
    <p:sldId id="2959" r:id="rId48"/>
    <p:sldId id="2970" r:id="rId49"/>
    <p:sldId id="2968" r:id="rId50"/>
    <p:sldId id="2969" r:id="rId51"/>
    <p:sldId id="3151" r:id="rId52"/>
    <p:sldId id="2575" r:id="rId53"/>
    <p:sldId id="2910" r:id="rId54"/>
    <p:sldId id="1169" r:id="rId5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25021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jpeg"/></Relationships>
</file>

<file path=ppt/slides/_rels/slide3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jpe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4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71.jpg"/><Relationship Id="rId3" Type="http://schemas.openxmlformats.org/officeDocument/2006/relationships/image" Target="../media/image66.jpg"/><Relationship Id="rId7" Type="http://schemas.openxmlformats.org/officeDocument/2006/relationships/image" Target="../media/image70.jpeg"/><Relationship Id="rId2" Type="http://schemas.openxmlformats.org/officeDocument/2006/relationships/image" Target="../media/image65.jp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hyperlink" Target="https://youtube.com/shorts/0qI4QgrOppQ" TargetMode="External"/><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3.xml.rels><?xml version="1.0" encoding="UTF-8" standalone="yes"?>
<Relationships xmlns="http://schemas.openxmlformats.org/package/2006/relationships"><Relationship Id="rId8" Type="http://schemas.openxmlformats.org/officeDocument/2006/relationships/image" Target="../media/image81.jpeg"/><Relationship Id="rId3" Type="http://schemas.openxmlformats.org/officeDocument/2006/relationships/image" Target="../media/image3.emf"/><Relationship Id="rId7" Type="http://schemas.openxmlformats.org/officeDocument/2006/relationships/image" Target="../media/image80.jpe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9.jpeg"/><Relationship Id="rId5" Type="http://schemas.openxmlformats.org/officeDocument/2006/relationships/image" Target="../media/image78.jpeg"/><Relationship Id="rId4" Type="http://schemas.openxmlformats.org/officeDocument/2006/relationships/image" Target="../media/image7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B273-7697-D76C-B709-A46B064F573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0553DA5-5DE0-BD33-70D4-FC02F33113D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extLst>
      <p:ext uri="{BB962C8B-B14F-4D97-AF65-F5344CB8AC3E}">
        <p14:creationId xmlns:p14="http://schemas.microsoft.com/office/powerpoint/2010/main" val="130297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162416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LINEの友だちへ</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Rectangle 88"/>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90" name="Rectangle 89"/>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サイト来訪・広告・店頭・既存顧客</a:t>
            </a:r>
          </a:p>
          <a:p>
            <a:pPr algn="l">
              <a:lnSpc>
                <a:spcPct val="110000"/>
              </a:lnSpc>
              <a:spcAft>
                <a:spcPts val="0"/>
              </a:spcAft>
            </a:pPr>
            <a:r>
              <a:rPr sz="1050" b="0">
                <a:solidFill>
                  <a:srgbClr val="333333"/>
                </a:solidFill>
                <a:latin typeface="メイリオ"/>
                <a:ea typeface="メイリオ"/>
                <a:cs typeface="メイリオ"/>
              </a:rPr>
              <a:t>ポップアップ／サンクスLINE誘導／</a:t>
            </a:r>
          </a:p>
          <a:p>
            <a:pPr algn="l">
              <a:lnSpc>
                <a:spcPct val="110000"/>
              </a:lnSpc>
              <a:spcAft>
                <a:spcPts val="0"/>
              </a:spcAft>
            </a:pPr>
            <a:r>
              <a:rPr sz="1050" b="0">
                <a:solidFill>
                  <a:srgbClr val="333333"/>
                </a:solidFill>
                <a:latin typeface="メイリオ"/>
                <a:ea typeface="メイリオ"/>
                <a:cs typeface="メイリオ"/>
              </a:rPr>
              <a:t>通知メッセージ／店頭のQR</a:t>
            </a:r>
          </a:p>
        </p:txBody>
      </p:sp>
      <p:sp>
        <p:nvSpPr>
          <p:cNvPr id="91" name="TextBox 90"/>
          <p:cNvSpPr txBox="1"/>
          <p:nvPr/>
        </p:nvSpPr>
        <p:spPr>
          <a:xfrm>
            <a:off x="854964" y="3177539"/>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93" name="Rectangle 92"/>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友だち追加</a:t>
            </a:r>
          </a:p>
        </p:txBody>
      </p:sp>
      <p:sp>
        <p:nvSpPr>
          <p:cNvPr id="94" name="TextBox 93"/>
          <p:cNvSpPr txBox="1"/>
          <p:nvPr/>
        </p:nvSpPr>
        <p:spPr>
          <a:xfrm>
            <a:off x="854964" y="3945635"/>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6" name="Rectangle 95"/>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あいさつメッセージ・アンケート</a:t>
            </a:r>
          </a:p>
        </p:txBody>
      </p:sp>
      <p:sp>
        <p:nvSpPr>
          <p:cNvPr id="97" name="TextBox 96"/>
          <p:cNvSpPr txBox="1"/>
          <p:nvPr/>
        </p:nvSpPr>
        <p:spPr>
          <a:xfrm>
            <a:off x="854964" y="4713731"/>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8" name="Rectangle 97"/>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9" name="Rectangle 98"/>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友だちとしてつながり続ける</a:t>
            </a:r>
          </a:p>
        </p:txBody>
      </p:sp>
      <p:sp>
        <p:nvSpPr>
          <p:cNvPr id="100" name="TextBox 99"/>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サイトを離れる方、申込み済みの方、</a:t>
            </a:r>
          </a:p>
          <a:p>
            <a:pPr algn="l">
              <a:lnSpc>
                <a:spcPct val="105000"/>
              </a:lnSpc>
              <a:spcAft>
                <a:spcPts val="200"/>
              </a:spcAft>
            </a:pPr>
            <a:r>
              <a:rPr sz="1200" b="0">
                <a:solidFill>
                  <a:srgbClr val="333333"/>
                </a:solidFill>
                <a:latin typeface="メイリオ"/>
                <a:ea typeface="メイリオ"/>
                <a:cs typeface="メイリオ"/>
              </a:rPr>
              <a:t>既存顧客を、LINEの友だちとして残す</a:t>
            </a:r>
          </a:p>
        </p:txBody>
      </p:sp>
      <p:sp>
        <p:nvSpPr>
          <p:cNvPr id="101" name="TextBox 100"/>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サイト来訪者／申込み完了の方／</a:t>
            </a:r>
          </a:p>
          <a:p>
            <a:pPr algn="l">
              <a:lnSpc>
                <a:spcPct val="105000"/>
              </a:lnSpc>
              <a:spcAft>
                <a:spcPts val="200"/>
              </a:spcAft>
            </a:pPr>
            <a:r>
              <a:rPr sz="1200" b="0">
                <a:solidFill>
                  <a:srgbClr val="333333"/>
                </a:solidFill>
                <a:latin typeface="メイリオ"/>
                <a:ea typeface="メイリオ"/>
                <a:cs typeface="メイリオ"/>
              </a:rPr>
              <a:t>保有リストの顧客／店頭の来店客</a:t>
            </a:r>
          </a:p>
        </p:txBody>
      </p:sp>
      <p:sp>
        <p:nvSpPr>
          <p:cNvPr id="102" name="TextBox 101"/>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ポップアップ／サンクスLINE誘導／</a:t>
            </a:r>
          </a:p>
          <a:p>
            <a:pPr algn="l">
              <a:lnSpc>
                <a:spcPct val="105000"/>
              </a:lnSpc>
              <a:spcAft>
                <a:spcPts val="200"/>
              </a:spcAft>
            </a:pPr>
            <a:r>
              <a:rPr sz="1200" b="0">
                <a:solidFill>
                  <a:srgbClr val="333333"/>
                </a:solidFill>
                <a:latin typeface="メイリオ"/>
                <a:ea typeface="メイリオ"/>
                <a:cs typeface="メイリオ"/>
              </a:rPr>
              <a:t>保有リストへの通知メッセージ／</a:t>
            </a:r>
          </a:p>
          <a:p>
            <a:pPr algn="l">
              <a:lnSpc>
                <a:spcPct val="105000"/>
              </a:lnSpc>
              <a:spcAft>
                <a:spcPts val="200"/>
              </a:spcAft>
            </a:pPr>
            <a:r>
              <a:rPr sz="1200" b="0">
                <a:solidFill>
                  <a:srgbClr val="333333"/>
                </a:solidFill>
                <a:latin typeface="メイリオ"/>
                <a:ea typeface="メイリオ"/>
                <a:cs typeface="メイリオ"/>
              </a:rPr>
              <a:t>店頭POP・チラシのQR</a:t>
            </a:r>
          </a:p>
        </p:txBody>
      </p:sp>
      <p:sp>
        <p:nvSpPr>
          <p:cNvPr id="103" name="TextBox 102"/>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友だち追加数／入口ごとの追加数／</a:t>
            </a:r>
          </a:p>
          <a:p>
            <a:pPr algn="l">
              <a:lnSpc>
                <a:spcPct val="105000"/>
              </a:lnSpc>
              <a:spcAft>
                <a:spcPts val="200"/>
              </a:spcAft>
            </a:pPr>
            <a:r>
              <a:rPr sz="1200" b="0">
                <a:solidFill>
                  <a:srgbClr val="333333"/>
                </a:solidFill>
                <a:latin typeface="メイリオ"/>
                <a:ea typeface="メイリオ"/>
                <a:cs typeface="メイリオ"/>
              </a:rPr>
              <a:t>友だち1人あたりの獲得費用</a:t>
            </a:r>
          </a:p>
        </p:txBody>
      </p:sp>
    </p:spTree>
    <p:extLst>
      <p:ext uri="{BB962C8B-B14F-4D97-AF65-F5344CB8AC3E}">
        <p14:creationId xmlns:p14="http://schemas.microsoft.com/office/powerpoint/2010/main" val="249896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Rectangle 84"/>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86" name="Rectangle 85"/>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友だち全体</a:t>
            </a:r>
          </a:p>
        </p:txBody>
      </p:sp>
      <p:sp>
        <p:nvSpPr>
          <p:cNvPr id="87" name="TextBox 86"/>
          <p:cNvSpPr txBox="1"/>
          <p:nvPr/>
        </p:nvSpPr>
        <p:spPr>
          <a:xfrm>
            <a:off x="854964" y="3177539"/>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8" name="Rectangle 87"/>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89" name="Rectangle 88"/>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リッチメニューに最新情報の入口</a:t>
            </a:r>
          </a:p>
        </p:txBody>
      </p:sp>
      <p:sp>
        <p:nvSpPr>
          <p:cNvPr id="90" name="TextBox 89"/>
          <p:cNvSpPr txBox="1"/>
          <p:nvPr/>
        </p:nvSpPr>
        <p:spPr>
          <a:xfrm>
            <a:off x="854964" y="3945635"/>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1" name="Rectangle 90"/>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2" name="Rectangle 91"/>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企画配信</a:t>
            </a:r>
          </a:p>
          <a:p>
            <a:pPr algn="l">
              <a:lnSpc>
                <a:spcPct val="110000"/>
              </a:lnSpc>
              <a:spcAft>
                <a:spcPts val="0"/>
              </a:spcAft>
            </a:pPr>
            <a:r>
              <a:rPr sz="1050" b="0">
                <a:solidFill>
                  <a:srgbClr val="333333"/>
                </a:solidFill>
                <a:latin typeface="メイリオ"/>
                <a:ea typeface="メイリオ"/>
                <a:cs typeface="メイリオ"/>
              </a:rPr>
              <a:t>新商品・イベント・季節の情報</a:t>
            </a:r>
          </a:p>
        </p:txBody>
      </p:sp>
      <p:sp>
        <p:nvSpPr>
          <p:cNvPr id="93" name="TextBox 92"/>
          <p:cNvSpPr txBox="1"/>
          <p:nvPr/>
        </p:nvSpPr>
        <p:spPr>
          <a:xfrm>
            <a:off x="854964" y="4713731"/>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4" name="Rectangle 93"/>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5" name="Rectangle 94"/>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サイト・イベントページへの来訪</a:t>
            </a:r>
          </a:p>
        </p:txBody>
      </p:sp>
      <p:sp>
        <p:nvSpPr>
          <p:cNvPr id="96" name="TextBox 95"/>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新商品・イベントを広く知らせ、</a:t>
            </a:r>
          </a:p>
          <a:p>
            <a:pPr algn="l">
              <a:lnSpc>
                <a:spcPct val="105000"/>
              </a:lnSpc>
              <a:spcAft>
                <a:spcPts val="200"/>
              </a:spcAft>
            </a:pPr>
            <a:r>
              <a:rPr sz="1200" b="0">
                <a:solidFill>
                  <a:srgbClr val="333333"/>
                </a:solidFill>
                <a:latin typeface="メイリオ"/>
                <a:ea typeface="メイリオ"/>
                <a:cs typeface="メイリオ"/>
              </a:rPr>
              <a:t>接触の量を増やす</a:t>
            </a:r>
          </a:p>
        </p:txBody>
      </p:sp>
      <p:sp>
        <p:nvSpPr>
          <p:cNvPr id="97" name="TextBox 96"/>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友だち全体（反応の少ない方も含む）</a:t>
            </a:r>
          </a:p>
        </p:txBody>
      </p:sp>
      <p:sp>
        <p:nvSpPr>
          <p:cNvPr id="98" name="TextBox 97"/>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季節・キャンペーンに合わせた企画配信／</a:t>
            </a:r>
          </a:p>
          <a:p>
            <a:pPr algn="l">
              <a:lnSpc>
                <a:spcPct val="105000"/>
              </a:lnSpc>
              <a:spcAft>
                <a:spcPts val="200"/>
              </a:spcAft>
            </a:pPr>
            <a:r>
              <a:rPr sz="1200" b="0">
                <a:solidFill>
                  <a:srgbClr val="333333"/>
                </a:solidFill>
                <a:latin typeface="メイリオ"/>
                <a:ea typeface="メイリオ"/>
                <a:cs typeface="メイリオ"/>
              </a:rPr>
              <a:t>リッチメニューに最新情報の入口／</a:t>
            </a:r>
          </a:p>
          <a:p>
            <a:pPr algn="l">
              <a:lnSpc>
                <a:spcPct val="105000"/>
              </a:lnSpc>
              <a:spcAft>
                <a:spcPts val="200"/>
              </a:spcAft>
            </a:pPr>
            <a:r>
              <a:rPr sz="1200" b="0">
                <a:solidFill>
                  <a:srgbClr val="333333"/>
                </a:solidFill>
                <a:latin typeface="メイリオ"/>
                <a:ea typeface="メイリオ"/>
                <a:cs typeface="メイリオ"/>
              </a:rPr>
              <a:t>配信の時期は検索の動きに合わせる</a:t>
            </a:r>
          </a:p>
        </p:txBody>
      </p:sp>
      <p:sp>
        <p:nvSpPr>
          <p:cNvPr id="99" name="TextBox 98"/>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友だち数／配信到達数／開封率</a:t>
            </a:r>
          </a:p>
        </p:txBody>
      </p:sp>
    </p:spTree>
    <p:extLst>
      <p:ext uri="{BB962C8B-B14F-4D97-AF65-F5344CB8AC3E}">
        <p14:creationId xmlns:p14="http://schemas.microsoft.com/office/powerpoint/2010/main" val="2699611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Rectangle 107"/>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9" name="Rectangle 108"/>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友だち追加から15日以内の方</a:t>
            </a:r>
          </a:p>
        </p:txBody>
      </p:sp>
      <p:sp>
        <p:nvSpPr>
          <p:cNvPr id="110" name="TextBox 109"/>
          <p:cNvSpPr txBox="1"/>
          <p:nvPr/>
        </p:nvSpPr>
        <p:spPr>
          <a:xfrm>
            <a:off x="854964" y="3177539"/>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12" name="Rectangle 111"/>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Day0 アンケート・診断</a:t>
            </a:r>
          </a:p>
        </p:txBody>
      </p:sp>
      <p:sp>
        <p:nvSpPr>
          <p:cNvPr id="113" name="TextBox 112"/>
          <p:cNvSpPr txBox="1"/>
          <p:nvPr/>
        </p:nvSpPr>
        <p:spPr>
          <a:xfrm>
            <a:off x="854964" y="3945635"/>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5" name="Rectangle 114"/>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ステップ配信（Day0〜15）</a:t>
            </a:r>
          </a:p>
        </p:txBody>
      </p:sp>
      <p:sp>
        <p:nvSpPr>
          <p:cNvPr id="116" name="TextBox 115"/>
          <p:cNvSpPr txBox="1"/>
          <p:nvPr/>
        </p:nvSpPr>
        <p:spPr>
          <a:xfrm>
            <a:off x="854964" y="4713731"/>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7" name="Rectangle 116"/>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8" name="Rectangle 117"/>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申込み・予約（CV）</a:t>
            </a:r>
          </a:p>
        </p:txBody>
      </p:sp>
      <p:sp>
        <p:nvSpPr>
          <p:cNvPr id="119" name="TextBox 118"/>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友だち追加の直後の反応が高い時期に、</a:t>
            </a:r>
          </a:p>
          <a:p>
            <a:pPr algn="l">
              <a:lnSpc>
                <a:spcPct val="105000"/>
              </a:lnSpc>
              <a:spcAft>
                <a:spcPts val="200"/>
              </a:spcAft>
            </a:pPr>
            <a:r>
              <a:rPr sz="1200" b="0">
                <a:solidFill>
                  <a:srgbClr val="333333"/>
                </a:solidFill>
                <a:latin typeface="メイリオ"/>
                <a:ea typeface="メイリオ"/>
                <a:cs typeface="メイリオ"/>
              </a:rPr>
              <a:t>WEBの申込み・予約や来店につなげる</a:t>
            </a:r>
          </a:p>
        </p:txBody>
      </p:sp>
      <p:sp>
        <p:nvSpPr>
          <p:cNvPr id="120" name="TextBox 119"/>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友だち追加から15日以内の方</a:t>
            </a:r>
          </a:p>
          <a:p>
            <a:pPr algn="l">
              <a:lnSpc>
                <a:spcPct val="105000"/>
              </a:lnSpc>
              <a:spcAft>
                <a:spcPts val="200"/>
              </a:spcAft>
            </a:pPr>
            <a:r>
              <a:rPr sz="1200" b="0">
                <a:solidFill>
                  <a:srgbClr val="333333"/>
                </a:solidFill>
                <a:latin typeface="メイリオ"/>
                <a:ea typeface="メイリオ"/>
                <a:cs typeface="メイリオ"/>
              </a:rPr>
              <a:t>（検討度が高い方）</a:t>
            </a:r>
          </a:p>
        </p:txBody>
      </p:sp>
      <p:sp>
        <p:nvSpPr>
          <p:cNvPr id="121" name="TextBox 120"/>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前後検索をもとに、疑問に順に答える</a:t>
            </a:r>
          </a:p>
          <a:p>
            <a:pPr algn="l">
              <a:lnSpc>
                <a:spcPct val="105000"/>
              </a:lnSpc>
              <a:spcAft>
                <a:spcPts val="200"/>
              </a:spcAft>
            </a:pPr>
            <a:r>
              <a:rPr sz="1200" b="0">
                <a:solidFill>
                  <a:srgbClr val="333333"/>
                </a:solidFill>
                <a:latin typeface="メイリオ"/>
                <a:ea typeface="メイリオ"/>
                <a:cs typeface="メイリオ"/>
              </a:rPr>
              <a:t>ステップ配信／回答で配信を出し分け／</a:t>
            </a:r>
          </a:p>
          <a:p>
            <a:pPr algn="l">
              <a:lnSpc>
                <a:spcPct val="105000"/>
              </a:lnSpc>
              <a:spcAft>
                <a:spcPts val="200"/>
              </a:spcAft>
            </a:pPr>
            <a:r>
              <a:rPr sz="1200" b="0">
                <a:solidFill>
                  <a:srgbClr val="333333"/>
                </a:solidFill>
                <a:latin typeface="メイリオ"/>
                <a:ea typeface="メイリオ"/>
                <a:cs typeface="メイリオ"/>
              </a:rPr>
              <a:t>リッチメニューから申込みへ</a:t>
            </a:r>
          </a:p>
        </p:txBody>
      </p:sp>
      <p:sp>
        <p:nvSpPr>
          <p:cNvPr id="122" name="TextBox 121"/>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CV数／CVR／CPA</a:t>
            </a:r>
          </a:p>
        </p:txBody>
      </p:sp>
    </p:spTree>
    <p:extLst>
      <p:ext uri="{BB962C8B-B14F-4D97-AF65-F5344CB8AC3E}">
        <p14:creationId xmlns:p14="http://schemas.microsoft.com/office/powerpoint/2010/main" val="3208278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申込み・予約の完了画面</a:t>
            </a:r>
          </a:p>
          <a:p>
            <a:pPr algn="l">
              <a:lnSpc>
                <a:spcPct val="110000"/>
              </a:lnSpc>
              <a:spcAft>
                <a:spcPts val="0"/>
              </a:spcAft>
            </a:pPr>
            <a:r>
              <a:rPr sz="1050" b="0">
                <a:solidFill>
                  <a:srgbClr val="333333"/>
                </a:solidFill>
                <a:latin typeface="メイリオ"/>
                <a:ea typeface="メイリオ"/>
                <a:cs typeface="メイリオ"/>
              </a:rPr>
              <a:t>サンクスLINE誘導</a:t>
            </a:r>
          </a:p>
        </p:txBody>
      </p:sp>
      <p:sp>
        <p:nvSpPr>
          <p:cNvPr id="106" name="TextBox 105"/>
          <p:cNvSpPr txBox="1"/>
          <p:nvPr/>
        </p:nvSpPr>
        <p:spPr>
          <a:xfrm>
            <a:off x="854964" y="3177539"/>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友だち追加・タグ付け</a:t>
            </a:r>
          </a:p>
        </p:txBody>
      </p:sp>
      <p:sp>
        <p:nvSpPr>
          <p:cNvPr id="109" name="TextBox 108"/>
          <p:cNvSpPr txBox="1"/>
          <p:nvPr/>
        </p:nvSpPr>
        <p:spPr>
          <a:xfrm>
            <a:off x="854964" y="3945635"/>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予約確認・前日のお知らせ</a:t>
            </a:r>
          </a:p>
        </p:txBody>
      </p:sp>
      <p:sp>
        <p:nvSpPr>
          <p:cNvPr id="112" name="TextBox 111"/>
          <p:cNvSpPr txBox="1"/>
          <p:nvPr/>
        </p:nvSpPr>
        <p:spPr>
          <a:xfrm>
            <a:off x="854964" y="4713731"/>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来店・面談・購入</a:t>
            </a:r>
          </a:p>
        </p:txBody>
      </p:sp>
      <p:sp>
        <p:nvSpPr>
          <p:cNvPr id="115" name="TextBox 114"/>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来店・面談・購入まで進む方を増やし、</a:t>
            </a:r>
          </a:p>
          <a:p>
            <a:pPr algn="l">
              <a:lnSpc>
                <a:spcPct val="105000"/>
              </a:lnSpc>
              <a:spcAft>
                <a:spcPts val="200"/>
              </a:spcAft>
            </a:pPr>
            <a:r>
              <a:rPr sz="1200" b="0">
                <a:solidFill>
                  <a:srgbClr val="333333"/>
                </a:solidFill>
                <a:latin typeface="メイリオ"/>
                <a:ea typeface="メイリオ"/>
                <a:cs typeface="メイリオ"/>
              </a:rPr>
              <a:t>成果1件あたりの費用（CPO）を下げる</a:t>
            </a:r>
          </a:p>
        </p:txBody>
      </p:sp>
      <p:sp>
        <p:nvSpPr>
          <p:cNvPr id="116" name="TextBox 115"/>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申込み・予約・資料請求をした方</a:t>
            </a:r>
          </a:p>
        </p:txBody>
      </p:sp>
      <p:sp>
        <p:nvSpPr>
          <p:cNvPr id="117" name="TextBox 116"/>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アンケートで検討度を分けてタグ付け／</a:t>
            </a:r>
          </a:p>
          <a:p>
            <a:pPr algn="l">
              <a:lnSpc>
                <a:spcPct val="105000"/>
              </a:lnSpc>
              <a:spcAft>
                <a:spcPts val="200"/>
              </a:spcAft>
            </a:pPr>
            <a:r>
              <a:rPr sz="1200" b="0">
                <a:solidFill>
                  <a:srgbClr val="333333"/>
                </a:solidFill>
                <a:latin typeface="メイリオ"/>
                <a:ea typeface="メイリオ"/>
                <a:cs typeface="メイリオ"/>
              </a:rPr>
              <a:t>予約確認・前日のお知らせ／</a:t>
            </a:r>
          </a:p>
          <a:p>
            <a:pPr algn="l">
              <a:lnSpc>
                <a:spcPct val="105000"/>
              </a:lnSpc>
              <a:spcAft>
                <a:spcPts val="200"/>
              </a:spcAft>
            </a:pPr>
            <a:r>
              <a:rPr sz="1200" b="0">
                <a:solidFill>
                  <a:srgbClr val="333333"/>
                </a:solidFill>
                <a:latin typeface="メイリオ"/>
                <a:ea typeface="メイリオ"/>
                <a:cs typeface="メイリオ"/>
              </a:rPr>
              <a:t>来店・面談の前の不安を解消する配信</a:t>
            </a:r>
          </a:p>
        </p:txBody>
      </p:sp>
      <p:sp>
        <p:nvSpPr>
          <p:cNvPr id="118" name="TextBox 117"/>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来店率・面談率／キャンセル率／CPO</a:t>
            </a:r>
          </a:p>
        </p:txBody>
      </p:sp>
    </p:spTree>
    <p:extLst>
      <p:ext uri="{BB962C8B-B14F-4D97-AF65-F5344CB8AC3E}">
        <p14:creationId xmlns:p14="http://schemas.microsoft.com/office/powerpoint/2010/main" val="1754378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一定期間、反応のない友だち</a:t>
            </a:r>
          </a:p>
          <a:p>
            <a:pPr algn="l">
              <a:lnSpc>
                <a:spcPct val="110000"/>
              </a:lnSpc>
              <a:spcAft>
                <a:spcPts val="0"/>
              </a:spcAft>
            </a:pPr>
            <a:r>
              <a:rPr sz="1050" b="0">
                <a:solidFill>
                  <a:srgbClr val="333333"/>
                </a:solidFill>
                <a:latin typeface="メイリオ"/>
                <a:ea typeface="メイリオ"/>
                <a:cs typeface="メイリオ"/>
              </a:rPr>
              <a:t>開封・クリックなし</a:t>
            </a:r>
          </a:p>
        </p:txBody>
      </p:sp>
      <p:sp>
        <p:nvSpPr>
          <p:cNvPr id="106" name="TextBox 105"/>
          <p:cNvSpPr txBox="1"/>
          <p:nvPr/>
        </p:nvSpPr>
        <p:spPr>
          <a:xfrm>
            <a:off x="854964" y="3177539"/>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タグで反応のない方を絞り込む</a:t>
            </a:r>
          </a:p>
        </p:txBody>
      </p:sp>
      <p:sp>
        <p:nvSpPr>
          <p:cNvPr id="109" name="TextBox 108"/>
          <p:cNvSpPr txBox="1"/>
          <p:nvPr/>
        </p:nvSpPr>
        <p:spPr>
          <a:xfrm>
            <a:off x="854964" y="3945635"/>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再アプローチの企画配信</a:t>
            </a:r>
          </a:p>
          <a:p>
            <a:pPr algn="l">
              <a:lnSpc>
                <a:spcPct val="110000"/>
              </a:lnSpc>
              <a:spcAft>
                <a:spcPts val="0"/>
              </a:spcAft>
            </a:pPr>
            <a:r>
              <a:rPr sz="1050" b="0">
                <a:solidFill>
                  <a:srgbClr val="333333"/>
                </a:solidFill>
                <a:latin typeface="メイリオ"/>
                <a:ea typeface="メイリオ"/>
                <a:cs typeface="メイリオ"/>
              </a:rPr>
              <a:t>検討が再び高まる時期・新しい情報・限定の特典</a:t>
            </a:r>
          </a:p>
        </p:txBody>
      </p:sp>
      <p:sp>
        <p:nvSpPr>
          <p:cNvPr id="112" name="TextBox 111"/>
          <p:cNvSpPr txBox="1"/>
          <p:nvPr/>
        </p:nvSpPr>
        <p:spPr>
          <a:xfrm>
            <a:off x="854964" y="4713731"/>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再び申込み・予約（CV）へ</a:t>
            </a:r>
          </a:p>
        </p:txBody>
      </p:sp>
      <p:sp>
        <p:nvSpPr>
          <p:cNvPr id="115" name="TextBox 114"/>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反応が止まった友だちを掘り起こし、</a:t>
            </a:r>
          </a:p>
          <a:p>
            <a:pPr algn="l">
              <a:lnSpc>
                <a:spcPct val="105000"/>
              </a:lnSpc>
              <a:spcAft>
                <a:spcPts val="200"/>
              </a:spcAft>
            </a:pPr>
            <a:r>
              <a:rPr sz="1200" b="0">
                <a:solidFill>
                  <a:srgbClr val="333333"/>
                </a:solidFill>
                <a:latin typeface="メイリオ"/>
                <a:ea typeface="メイリオ"/>
                <a:cs typeface="メイリオ"/>
              </a:rPr>
              <a:t>もう一度検討の対象に戻す</a:t>
            </a:r>
          </a:p>
        </p:txBody>
      </p:sp>
      <p:sp>
        <p:nvSpPr>
          <p:cNvPr id="116" name="TextBox 115"/>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追加から15日を過ぎ、反応のない方／</a:t>
            </a:r>
          </a:p>
          <a:p>
            <a:pPr algn="l">
              <a:lnSpc>
                <a:spcPct val="105000"/>
              </a:lnSpc>
              <a:spcAft>
                <a:spcPts val="200"/>
              </a:spcAft>
            </a:pPr>
            <a:r>
              <a:rPr sz="1200" b="0">
                <a:solidFill>
                  <a:srgbClr val="333333"/>
                </a:solidFill>
                <a:latin typeface="メイリオ"/>
                <a:ea typeface="メイリオ"/>
                <a:cs typeface="メイリオ"/>
              </a:rPr>
              <a:t>申込みまで進まなかった方</a:t>
            </a:r>
          </a:p>
        </p:txBody>
      </p:sp>
      <p:sp>
        <p:nvSpPr>
          <p:cNvPr id="117" name="TextBox 116"/>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反応の有無でタグを分けて配信／</a:t>
            </a:r>
          </a:p>
          <a:p>
            <a:pPr algn="l">
              <a:lnSpc>
                <a:spcPct val="105000"/>
              </a:lnSpc>
              <a:spcAft>
                <a:spcPts val="200"/>
              </a:spcAft>
            </a:pPr>
            <a:r>
              <a:rPr sz="1200" b="0">
                <a:solidFill>
                  <a:srgbClr val="333333"/>
                </a:solidFill>
                <a:latin typeface="メイリオ"/>
                <a:ea typeface="メイリオ"/>
                <a:cs typeface="メイリオ"/>
              </a:rPr>
              <a:t>検索が再び増える時期の企画配信／</a:t>
            </a:r>
          </a:p>
          <a:p>
            <a:pPr algn="l">
              <a:lnSpc>
                <a:spcPct val="105000"/>
              </a:lnSpc>
              <a:spcAft>
                <a:spcPts val="200"/>
              </a:spcAft>
            </a:pPr>
            <a:r>
              <a:rPr sz="1200" b="0">
                <a:solidFill>
                  <a:srgbClr val="333333"/>
                </a:solidFill>
                <a:latin typeface="メイリオ"/>
                <a:ea typeface="メイリオ"/>
                <a:cs typeface="メイリオ"/>
              </a:rPr>
              <a:t>アンケートで今の状況を聞き直す</a:t>
            </a:r>
          </a:p>
        </p:txBody>
      </p:sp>
      <p:sp>
        <p:nvSpPr>
          <p:cNvPr id="118" name="TextBox 117"/>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再開封率／再クリック率／休眠からのCV数</a:t>
            </a:r>
          </a:p>
        </p:txBody>
      </p:sp>
    </p:spTree>
    <p:extLst>
      <p:ext uri="{BB962C8B-B14F-4D97-AF65-F5344CB8AC3E}">
        <p14:creationId xmlns:p14="http://schemas.microsoft.com/office/powerpoint/2010/main" val="1734687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申込み・予約・検討中の方</a:t>
            </a:r>
          </a:p>
        </p:txBody>
      </p:sp>
      <p:sp>
        <p:nvSpPr>
          <p:cNvPr id="106" name="TextBox 105"/>
          <p:cNvSpPr txBox="1"/>
          <p:nvPr/>
        </p:nvSpPr>
        <p:spPr>
          <a:xfrm>
            <a:off x="854964" y="3177539"/>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アンケート・タグで検討度を分ける</a:t>
            </a:r>
          </a:p>
        </p:txBody>
      </p:sp>
      <p:sp>
        <p:nvSpPr>
          <p:cNvPr id="109" name="TextBox 108"/>
          <p:cNvSpPr txBox="1"/>
          <p:nvPr/>
        </p:nvSpPr>
        <p:spPr>
          <a:xfrm>
            <a:off x="854964" y="3945635"/>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購入・契約の後押しの配信</a:t>
            </a:r>
          </a:p>
          <a:p>
            <a:pPr algn="l">
              <a:lnSpc>
                <a:spcPct val="110000"/>
              </a:lnSpc>
              <a:spcAft>
                <a:spcPts val="0"/>
              </a:spcAft>
            </a:pPr>
            <a:r>
              <a:rPr sz="1050" b="0">
                <a:solidFill>
                  <a:srgbClr val="333333"/>
                </a:solidFill>
                <a:latin typeface="メイリオ"/>
                <a:ea typeface="メイリオ"/>
                <a:cs typeface="メイリオ"/>
              </a:rPr>
              <a:t>比較のポイント・費用・よくある質問</a:t>
            </a:r>
          </a:p>
        </p:txBody>
      </p:sp>
      <p:sp>
        <p:nvSpPr>
          <p:cNvPr id="112" name="TextBox 111"/>
          <p:cNvSpPr txBox="1"/>
          <p:nvPr/>
        </p:nvSpPr>
        <p:spPr>
          <a:xfrm>
            <a:off x="854964" y="4713731"/>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購入・契約</a:t>
            </a:r>
          </a:p>
        </p:txBody>
      </p:sp>
      <p:sp>
        <p:nvSpPr>
          <p:cNvPr id="115" name="TextBox 114"/>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検討度の高い方を取りこぼさず、</a:t>
            </a:r>
          </a:p>
          <a:p>
            <a:pPr algn="l">
              <a:lnSpc>
                <a:spcPct val="105000"/>
              </a:lnSpc>
              <a:spcAft>
                <a:spcPts val="200"/>
              </a:spcAft>
            </a:pPr>
            <a:r>
              <a:rPr sz="1200" b="0">
                <a:solidFill>
                  <a:srgbClr val="333333"/>
                </a:solidFill>
                <a:latin typeface="メイリオ"/>
                <a:ea typeface="メイリオ"/>
                <a:cs typeface="メイリオ"/>
              </a:rPr>
              <a:t>購入・契約まで進める</a:t>
            </a:r>
          </a:p>
        </p:txBody>
      </p:sp>
      <p:sp>
        <p:nvSpPr>
          <p:cNvPr id="116" name="TextBox 115"/>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申込み・予約をした方／</a:t>
            </a:r>
          </a:p>
          <a:p>
            <a:pPr algn="l">
              <a:lnSpc>
                <a:spcPct val="105000"/>
              </a:lnSpc>
              <a:spcAft>
                <a:spcPts val="200"/>
              </a:spcAft>
            </a:pPr>
            <a:r>
              <a:rPr sz="1200" b="0">
                <a:solidFill>
                  <a:srgbClr val="333333"/>
                </a:solidFill>
                <a:latin typeface="メイリオ"/>
                <a:ea typeface="メイリオ"/>
                <a:cs typeface="メイリオ"/>
              </a:rPr>
              <a:t>検討度が高いとタグ付けされた方</a:t>
            </a:r>
          </a:p>
        </p:txBody>
      </p:sp>
      <p:sp>
        <p:nvSpPr>
          <p:cNvPr id="117" name="TextBox 116"/>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購入・契約前の不安に答える配信／</a:t>
            </a:r>
          </a:p>
          <a:p>
            <a:pPr algn="l">
              <a:lnSpc>
                <a:spcPct val="105000"/>
              </a:lnSpc>
              <a:spcAft>
                <a:spcPts val="200"/>
              </a:spcAft>
            </a:pPr>
            <a:r>
              <a:rPr sz="1200" b="0">
                <a:solidFill>
                  <a:srgbClr val="333333"/>
                </a:solidFill>
                <a:latin typeface="メイリオ"/>
                <a:ea typeface="メイリオ"/>
                <a:cs typeface="メイリオ"/>
              </a:rPr>
              <a:t>個別チャットでの相談の受け付け／</a:t>
            </a:r>
          </a:p>
          <a:p>
            <a:pPr algn="l">
              <a:lnSpc>
                <a:spcPct val="105000"/>
              </a:lnSpc>
              <a:spcAft>
                <a:spcPts val="200"/>
              </a:spcAft>
            </a:pPr>
            <a:r>
              <a:rPr sz="1200" b="0">
                <a:solidFill>
                  <a:srgbClr val="333333"/>
                </a:solidFill>
                <a:latin typeface="メイリオ"/>
                <a:ea typeface="メイリオ"/>
                <a:cs typeface="メイリオ"/>
              </a:rPr>
              <a:t>期限付きの特典の案内</a:t>
            </a:r>
          </a:p>
        </p:txBody>
      </p:sp>
      <p:sp>
        <p:nvSpPr>
          <p:cNvPr id="118" name="TextBox 117"/>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購入・契約数／成約率／CPO</a:t>
            </a:r>
          </a:p>
        </p:txBody>
      </p:sp>
    </p:spTree>
    <p:extLst>
      <p:ext uri="{BB962C8B-B14F-4D97-AF65-F5344CB8AC3E}">
        <p14:creationId xmlns:p14="http://schemas.microsoft.com/office/powerpoint/2010/main" val="340136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購入・来店した方</a:t>
            </a:r>
          </a:p>
        </p:txBody>
      </p:sp>
      <p:sp>
        <p:nvSpPr>
          <p:cNvPr id="106" name="TextBox 105"/>
          <p:cNvSpPr txBox="1"/>
          <p:nvPr/>
        </p:nvSpPr>
        <p:spPr>
          <a:xfrm>
            <a:off x="854964" y="3177539"/>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購入・来店の内容でタグ付け</a:t>
            </a:r>
          </a:p>
        </p:txBody>
      </p:sp>
      <p:sp>
        <p:nvSpPr>
          <p:cNvPr id="109" name="TextBox 108"/>
          <p:cNvSpPr txBox="1"/>
          <p:nvPr/>
        </p:nvSpPr>
        <p:spPr>
          <a:xfrm>
            <a:off x="854964" y="3945635"/>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次の購入・来店のタイミングに合わせた配信</a:t>
            </a:r>
          </a:p>
          <a:p>
            <a:pPr algn="l">
              <a:lnSpc>
                <a:spcPct val="110000"/>
              </a:lnSpc>
              <a:spcAft>
                <a:spcPts val="0"/>
              </a:spcAft>
            </a:pPr>
            <a:r>
              <a:rPr sz="1050" b="0">
                <a:solidFill>
                  <a:srgbClr val="333333"/>
                </a:solidFill>
                <a:latin typeface="メイリオ"/>
                <a:ea typeface="メイリオ"/>
                <a:cs typeface="メイリオ"/>
              </a:rPr>
              <a:t>ステップ配信・企画配信</a:t>
            </a:r>
          </a:p>
        </p:txBody>
      </p:sp>
      <p:sp>
        <p:nvSpPr>
          <p:cNvPr id="112" name="TextBox 111"/>
          <p:cNvSpPr txBox="1"/>
          <p:nvPr/>
        </p:nvSpPr>
        <p:spPr>
          <a:xfrm>
            <a:off x="854964" y="4713731"/>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再購入・再来店・関連商品の購入</a:t>
            </a:r>
          </a:p>
        </p:txBody>
      </p:sp>
      <p:sp>
        <p:nvSpPr>
          <p:cNvPr id="115" name="TextBox 114"/>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再購入・再来店のタイミングで、</a:t>
            </a:r>
          </a:p>
          <a:p>
            <a:pPr algn="l">
              <a:lnSpc>
                <a:spcPct val="105000"/>
              </a:lnSpc>
              <a:spcAft>
                <a:spcPts val="200"/>
              </a:spcAft>
            </a:pPr>
            <a:r>
              <a:rPr sz="1200" b="0">
                <a:solidFill>
                  <a:srgbClr val="333333"/>
                </a:solidFill>
                <a:latin typeface="メイリオ"/>
                <a:ea typeface="メイリオ"/>
                <a:cs typeface="メイリオ"/>
              </a:rPr>
              <a:t>必要な方に必要な情報を届ける</a:t>
            </a:r>
          </a:p>
        </p:txBody>
      </p:sp>
      <p:sp>
        <p:nvSpPr>
          <p:cNvPr id="116" name="TextBox 115"/>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購入・来店した方</a:t>
            </a:r>
          </a:p>
        </p:txBody>
      </p:sp>
      <p:sp>
        <p:nvSpPr>
          <p:cNvPr id="117" name="TextBox 116"/>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購入からの日数を起点にしたステップ配信／</a:t>
            </a:r>
          </a:p>
          <a:p>
            <a:pPr algn="l">
              <a:lnSpc>
                <a:spcPct val="105000"/>
              </a:lnSpc>
              <a:spcAft>
                <a:spcPts val="200"/>
              </a:spcAft>
            </a:pPr>
            <a:r>
              <a:rPr sz="1200" b="0">
                <a:solidFill>
                  <a:srgbClr val="333333"/>
                </a:solidFill>
                <a:latin typeface="メイリオ"/>
                <a:ea typeface="メイリオ"/>
                <a:cs typeface="メイリオ"/>
              </a:rPr>
              <a:t>購入内容に合わせた関連商品の案内／</a:t>
            </a:r>
          </a:p>
          <a:p>
            <a:pPr algn="l">
              <a:lnSpc>
                <a:spcPct val="105000"/>
              </a:lnSpc>
              <a:spcAft>
                <a:spcPts val="200"/>
              </a:spcAft>
            </a:pPr>
            <a:r>
              <a:rPr sz="1200" b="0">
                <a:solidFill>
                  <a:srgbClr val="333333"/>
                </a:solidFill>
                <a:latin typeface="メイリオ"/>
                <a:ea typeface="メイリオ"/>
                <a:cs typeface="メイリオ"/>
              </a:rPr>
              <a:t>次回の予約の案内</a:t>
            </a:r>
          </a:p>
        </p:txBody>
      </p:sp>
      <p:sp>
        <p:nvSpPr>
          <p:cNvPr id="118" name="TextBox 117"/>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リピート率／再来店数／購入間隔</a:t>
            </a:r>
          </a:p>
        </p:txBody>
      </p:sp>
    </p:spTree>
    <p:extLst>
      <p:ext uri="{BB962C8B-B14F-4D97-AF65-F5344CB8AC3E}">
        <p14:creationId xmlns:p14="http://schemas.microsoft.com/office/powerpoint/2010/main" val="2708163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会員・ファン</a:t>
            </a:r>
          </a:p>
          <a:p>
            <a:pPr algn="l">
              <a:lnSpc>
                <a:spcPct val="110000"/>
              </a:lnSpc>
              <a:spcAft>
                <a:spcPts val="0"/>
              </a:spcAft>
            </a:pPr>
            <a:r>
              <a:rPr sz="1050" b="0">
                <a:solidFill>
                  <a:srgbClr val="333333"/>
                </a:solidFill>
                <a:latin typeface="メイリオ"/>
                <a:ea typeface="メイリオ"/>
                <a:cs typeface="メイリオ"/>
              </a:rPr>
              <a:t>購入・来店をくり返す方</a:t>
            </a:r>
          </a:p>
        </p:txBody>
      </p:sp>
      <p:sp>
        <p:nvSpPr>
          <p:cNvPr id="106" name="TextBox 105"/>
          <p:cNvSpPr txBox="1"/>
          <p:nvPr/>
        </p:nvSpPr>
        <p:spPr>
          <a:xfrm>
            <a:off x="854964" y="3177539"/>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会員・ファンのタグ付け</a:t>
            </a:r>
          </a:p>
          <a:p>
            <a:pPr algn="l">
              <a:lnSpc>
                <a:spcPct val="110000"/>
              </a:lnSpc>
              <a:spcAft>
                <a:spcPts val="0"/>
              </a:spcAft>
            </a:pPr>
            <a:r>
              <a:rPr sz="1050" b="0">
                <a:solidFill>
                  <a:srgbClr val="333333"/>
                </a:solidFill>
                <a:latin typeface="メイリオ"/>
                <a:ea typeface="メイリオ"/>
                <a:cs typeface="メイリオ"/>
              </a:rPr>
              <a:t>リッチメニューに会員向けの入口</a:t>
            </a:r>
          </a:p>
        </p:txBody>
      </p:sp>
      <p:sp>
        <p:nvSpPr>
          <p:cNvPr id="109" name="TextBox 108"/>
          <p:cNvSpPr txBox="1"/>
          <p:nvPr/>
        </p:nvSpPr>
        <p:spPr>
          <a:xfrm>
            <a:off x="854964" y="3945635"/>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会員向けの限定情報・特典・イベントの案内</a:t>
            </a:r>
          </a:p>
        </p:txBody>
      </p:sp>
      <p:sp>
        <p:nvSpPr>
          <p:cNvPr id="112" name="TextBox 111"/>
          <p:cNvSpPr txBox="1"/>
          <p:nvPr/>
        </p:nvSpPr>
        <p:spPr>
          <a:xfrm>
            <a:off x="854964" y="4713731"/>
            <a:ext cx="777239" cy="182880"/>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64800" tIns="10800" rIns="43200" bIns="10800" rtlCol="0" anchor="ctr"/>
          <a:lstStyle/>
          <a:p>
            <a:pPr algn="l">
              <a:lnSpc>
                <a:spcPct val="110000"/>
              </a:lnSpc>
              <a:spcAft>
                <a:spcPts val="0"/>
              </a:spcAft>
            </a:pPr>
            <a:r>
              <a:rPr sz="1400" b="1">
                <a:solidFill>
                  <a:srgbClr val="1F2A5C"/>
                </a:solidFill>
                <a:latin typeface="メイリオ"/>
                <a:ea typeface="メイリオ"/>
                <a:cs typeface="メイリオ"/>
              </a:rPr>
              <a:t>継続利用・紹介</a:t>
            </a:r>
          </a:p>
        </p:txBody>
      </p:sp>
      <p:sp>
        <p:nvSpPr>
          <p:cNvPr id="115" name="TextBox 114"/>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会員・ファン向けに限定情報と特典を届け、</a:t>
            </a:r>
          </a:p>
          <a:p>
            <a:pPr algn="l">
              <a:lnSpc>
                <a:spcPct val="105000"/>
              </a:lnSpc>
              <a:spcAft>
                <a:spcPts val="200"/>
              </a:spcAft>
            </a:pPr>
            <a:r>
              <a:rPr sz="1200" b="0">
                <a:solidFill>
                  <a:srgbClr val="333333"/>
                </a:solidFill>
                <a:latin typeface="メイリオ"/>
                <a:ea typeface="メイリオ"/>
                <a:cs typeface="メイリオ"/>
              </a:rPr>
              <a:t>つながりを強くする</a:t>
            </a:r>
          </a:p>
        </p:txBody>
      </p:sp>
      <p:sp>
        <p:nvSpPr>
          <p:cNvPr id="116" name="TextBox 115"/>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会員の方／</a:t>
            </a:r>
          </a:p>
          <a:p>
            <a:pPr algn="l">
              <a:lnSpc>
                <a:spcPct val="105000"/>
              </a:lnSpc>
              <a:spcAft>
                <a:spcPts val="200"/>
              </a:spcAft>
            </a:pPr>
            <a:r>
              <a:rPr sz="1200" b="0">
                <a:solidFill>
                  <a:srgbClr val="333333"/>
                </a:solidFill>
                <a:latin typeface="メイリオ"/>
                <a:ea typeface="メイリオ"/>
                <a:cs typeface="メイリオ"/>
              </a:rPr>
              <a:t>購入・来店をくり返している方</a:t>
            </a:r>
          </a:p>
        </p:txBody>
      </p:sp>
      <p:sp>
        <p:nvSpPr>
          <p:cNvPr id="117" name="TextBox 116"/>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会員だけに届く限定情報・先行案内／</a:t>
            </a:r>
          </a:p>
          <a:p>
            <a:pPr algn="l">
              <a:lnSpc>
                <a:spcPct val="105000"/>
              </a:lnSpc>
              <a:spcAft>
                <a:spcPts val="200"/>
              </a:spcAft>
            </a:pPr>
            <a:r>
              <a:rPr sz="1200" b="0">
                <a:solidFill>
                  <a:srgbClr val="333333"/>
                </a:solidFill>
                <a:latin typeface="メイリオ"/>
                <a:ea typeface="メイリオ"/>
                <a:cs typeface="メイリオ"/>
              </a:rPr>
              <a:t>会員向けイベントの案内／</a:t>
            </a:r>
          </a:p>
          <a:p>
            <a:pPr algn="l">
              <a:lnSpc>
                <a:spcPct val="105000"/>
              </a:lnSpc>
              <a:spcAft>
                <a:spcPts val="200"/>
              </a:spcAft>
            </a:pPr>
            <a:r>
              <a:rPr sz="1200" b="0">
                <a:solidFill>
                  <a:srgbClr val="333333"/>
                </a:solidFill>
                <a:latin typeface="メイリオ"/>
                <a:ea typeface="メイリオ"/>
                <a:cs typeface="メイリオ"/>
              </a:rPr>
              <a:t>友だちへの紹介の案内</a:t>
            </a:r>
          </a:p>
        </p:txBody>
      </p:sp>
      <p:sp>
        <p:nvSpPr>
          <p:cNvPr id="118" name="TextBox 117"/>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会員数／反応率／参加率／紹介数</a:t>
            </a:r>
          </a:p>
        </p:txBody>
      </p:sp>
    </p:spTree>
    <p:extLst>
      <p:ext uri="{BB962C8B-B14F-4D97-AF65-F5344CB8AC3E}">
        <p14:creationId xmlns:p14="http://schemas.microsoft.com/office/powerpoint/2010/main" val="2604374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相談オファ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応募〜面接の流れを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相談オファー</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5-10</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6" name="テキスト ボックス 5">
            <a:extLst>
              <a:ext uri="{FF2B5EF4-FFF2-40B4-BE49-F238E27FC236}">
                <a16:creationId xmlns:a16="http://schemas.microsoft.com/office/drawing/2014/main" id="{14EEAC90-C9E7-2110-180C-DAC5C9A3E290}"/>
              </a:ext>
            </a:extLst>
          </p:cNvPr>
          <p:cNvSpPr txBox="1"/>
          <p:nvPr/>
        </p:nvSpPr>
        <p:spPr>
          <a:xfrm>
            <a:off x="320847" y="3458307"/>
            <a:ext cx="3538935" cy="246221"/>
          </a:xfrm>
          <a:prstGeom prst="rect">
            <a:avLst/>
          </a:prstGeom>
          <a:solidFill>
            <a:schemeClr val="bg1">
              <a:alpha val="65000"/>
            </a:schemeClr>
          </a:solidFill>
        </p:spPr>
        <p:txBody>
          <a:bodyPr wrap="square">
            <a:spAutoFit/>
          </a:bodyPr>
          <a:lstStyle/>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初期設計も</a:t>
            </a:r>
            <a:r>
              <a:rPr kumimoji="1" lang="en-US" altLang="ja-JP" sz="1000" dirty="0">
                <a:solidFill>
                  <a:srgbClr val="FF0000"/>
                </a:solidFill>
                <a:latin typeface="メイリオ" panose="020B0604030504040204" pitchFamily="50" charset="-128"/>
                <a:ea typeface="メイリオ" panose="020B0604030504040204" pitchFamily="50" charset="-128"/>
              </a:rPr>
              <a:t>3</a:t>
            </a:r>
            <a:r>
              <a:rPr kumimoji="1" lang="ja-JP" altLang="en-US" sz="1000" dirty="0">
                <a:solidFill>
                  <a:srgbClr val="FF0000"/>
                </a:solidFill>
                <a:latin typeface="メイリオ" panose="020B0604030504040204" pitchFamily="50" charset="-128"/>
                <a:ea typeface="メイリオ" panose="020B0604030504040204" pitchFamily="50" charset="-128"/>
              </a:rPr>
              <a:t>か月に</a:t>
            </a:r>
            <a:r>
              <a:rPr kumimoji="1" lang="en-US" altLang="ja-JP" sz="1000" dirty="0">
                <a:solidFill>
                  <a:srgbClr val="FF0000"/>
                </a:solidFill>
                <a:latin typeface="メイリオ" panose="020B0604030504040204" pitchFamily="50" charset="-128"/>
                <a:ea typeface="メイリオ" panose="020B0604030504040204" pitchFamily="50" charset="-128"/>
              </a:rPr>
              <a:t>1</a:t>
            </a:r>
            <a:r>
              <a:rPr kumimoji="1" lang="ja-JP" altLang="en-US" sz="1000" dirty="0">
                <a:solidFill>
                  <a:srgbClr val="FF0000"/>
                </a:solidFill>
                <a:latin typeface="メイリオ" panose="020B0604030504040204" pitchFamily="50" charset="-128"/>
                <a:ea typeface="メイリオ" panose="020B0604030504040204" pitchFamily="50" charset="-128"/>
              </a:rPr>
              <a:t>回の頻度で設計の見直しを行います。</a:t>
            </a:r>
          </a:p>
        </p:txBody>
      </p:sp>
    </p:spTree>
    <p:extLst>
      <p:ext uri="{BB962C8B-B14F-4D97-AF65-F5344CB8AC3E}">
        <p14:creationId xmlns:p14="http://schemas.microsoft.com/office/powerpoint/2010/main" val="2369353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1FAE-54F0-68FB-0777-049A7824330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0D2538F-E1B8-8AE5-0CD4-42EA268B5D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によるご提供プラン</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DA698D6F-CD58-6385-1BCA-1E3129DEE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41" name="正方形/長方形 40">
            <a:extLst>
              <a:ext uri="{FF2B5EF4-FFF2-40B4-BE49-F238E27FC236}">
                <a16:creationId xmlns:a16="http://schemas.microsoft.com/office/drawing/2014/main" id="{83976F76-8A4B-AFB5-EE98-67FE261517F3}"/>
              </a:ext>
            </a:extLst>
          </p:cNvPr>
          <p:cNvSpPr/>
          <p:nvPr/>
        </p:nvSpPr>
        <p:spPr>
          <a:xfrm>
            <a:off x="1123324" y="1813322"/>
            <a:ext cx="336892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8185E67B-5C3A-B719-9811-C4C631E8B2F4}"/>
              </a:ext>
            </a:extLst>
          </p:cNvPr>
          <p:cNvSpPr txBox="1"/>
          <p:nvPr/>
        </p:nvSpPr>
        <p:spPr>
          <a:xfrm>
            <a:off x="1147590" y="1615603"/>
            <a:ext cx="483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よりご提供できるプラン一覧</a:t>
            </a:r>
          </a:p>
        </p:txBody>
      </p:sp>
      <p:sp>
        <p:nvSpPr>
          <p:cNvPr id="2" name="Google Shape;752;p28">
            <a:extLst>
              <a:ext uri="{FF2B5EF4-FFF2-40B4-BE49-F238E27FC236}">
                <a16:creationId xmlns:a16="http://schemas.microsoft.com/office/drawing/2014/main" id="{9D5A302D-F00E-0C43-E9D8-F1DB17CF4EC0}"/>
              </a:ext>
            </a:extLst>
          </p:cNvPr>
          <p:cNvSpPr txBox="1"/>
          <p:nvPr/>
        </p:nvSpPr>
        <p:spPr>
          <a:xfrm>
            <a:off x="661098" y="824235"/>
            <a:ext cx="8437327" cy="307736"/>
          </a:xfrm>
          <a:prstGeom prst="rect">
            <a:avLst/>
          </a:prstGeom>
          <a:noFill/>
          <a:ln>
            <a:noFill/>
          </a:ln>
        </p:spPr>
        <p:txBody>
          <a:bodyPr spcFirstLastPara="1" wrap="square" lIns="91425" tIns="45700" rIns="91425" bIns="45700" anchor="ctr" anchorCtr="0">
            <a:spAutoFit/>
          </a:bodyPr>
          <a:lstStyle/>
          <a:p>
            <a:pPr lvl="0"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貴社課題感・予算感・施策規模感に合わせて、複数のプランでの提案が可能です。</a:t>
            </a:r>
            <a:endPar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8D454AA9-AD97-90CA-946B-22BBC421527A}"/>
              </a:ext>
            </a:extLst>
          </p:cNvPr>
          <p:cNvSpPr/>
          <p:nvPr/>
        </p:nvSpPr>
        <p:spPr>
          <a:xfrm>
            <a:off x="506322" y="2770359"/>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5" name="正方形/長方形 4">
            <a:extLst>
              <a:ext uri="{FF2B5EF4-FFF2-40B4-BE49-F238E27FC236}">
                <a16:creationId xmlns:a16="http://schemas.microsoft.com/office/drawing/2014/main" id="{EEC8E70F-A694-0D6C-4FF1-315A6E9F733E}"/>
              </a:ext>
            </a:extLst>
          </p:cNvPr>
          <p:cNvSpPr/>
          <p:nvPr/>
        </p:nvSpPr>
        <p:spPr>
          <a:xfrm>
            <a:off x="506322" y="4666973"/>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初動設計</a:t>
            </a:r>
            <a:r>
              <a:rPr lang="ja-JP" altLang="en-US" sz="1400" dirty="0">
                <a:latin typeface="メイリオ" panose="020B0604030504040204" pitchFamily="50" charset="-128"/>
                <a:ea typeface="メイリオ" panose="020B0604030504040204" pitchFamily="50" charset="-128"/>
              </a:rPr>
              <a:t>のみ</a:t>
            </a:r>
            <a:r>
              <a:rPr kumimoji="1" lang="ja-JP" altLang="en-US" sz="1400" dirty="0">
                <a:latin typeface="メイリオ" panose="020B0604030504040204" pitchFamily="50" charset="-128"/>
                <a:ea typeface="メイリオ" panose="020B0604030504040204" pitchFamily="50" charset="-128"/>
              </a:rPr>
              <a:t>プラン</a:t>
            </a:r>
          </a:p>
        </p:txBody>
      </p:sp>
      <p:sp>
        <p:nvSpPr>
          <p:cNvPr id="6" name="正方形/長方形 5">
            <a:extLst>
              <a:ext uri="{FF2B5EF4-FFF2-40B4-BE49-F238E27FC236}">
                <a16:creationId xmlns:a16="http://schemas.microsoft.com/office/drawing/2014/main" id="{951ADC50-2D6D-823F-2EEF-A053535442BE}"/>
              </a:ext>
            </a:extLst>
          </p:cNvPr>
          <p:cNvSpPr/>
          <p:nvPr/>
        </p:nvSpPr>
        <p:spPr>
          <a:xfrm>
            <a:off x="506322" y="5615281"/>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運用代行・効率改善プラン</a:t>
            </a:r>
          </a:p>
        </p:txBody>
      </p:sp>
      <p:sp>
        <p:nvSpPr>
          <p:cNvPr id="7" name="正方形/長方形 6">
            <a:extLst>
              <a:ext uri="{FF2B5EF4-FFF2-40B4-BE49-F238E27FC236}">
                <a16:creationId xmlns:a16="http://schemas.microsoft.com/office/drawing/2014/main" id="{ED866F59-8FC1-9200-5700-DE2EEF3AF79A}"/>
              </a:ext>
            </a:extLst>
          </p:cNvPr>
          <p:cNvSpPr/>
          <p:nvPr/>
        </p:nvSpPr>
        <p:spPr>
          <a:xfrm>
            <a:off x="506322" y="3718666"/>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D7A43CC0-345F-22EA-1EA2-259B21EA4E19}"/>
              </a:ext>
            </a:extLst>
          </p:cNvPr>
          <p:cNvSpPr/>
          <p:nvPr/>
        </p:nvSpPr>
        <p:spPr>
          <a:xfrm>
            <a:off x="3477934"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B41ABFD0-4DA0-5335-346F-E7FA981B5FD9}"/>
              </a:ext>
            </a:extLst>
          </p:cNvPr>
          <p:cNvSpPr/>
          <p:nvPr/>
        </p:nvSpPr>
        <p:spPr>
          <a:xfrm>
            <a:off x="3477934"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en-US" altLang="ja-JP" sz="1200" dirty="0">
                <a:solidFill>
                  <a:schemeClr val="tx1"/>
                </a:solidFill>
                <a:latin typeface="メイリオ" panose="020B0604030504040204" pitchFamily="50" charset="-128"/>
                <a:ea typeface="メイリオ" panose="020B0604030504040204" pitchFamily="50" charset="-128"/>
              </a:rPr>
              <a:t>GA</a:t>
            </a:r>
            <a:r>
              <a:rPr lang="ja-JP" altLang="en-US" sz="1200" dirty="0">
                <a:solidFill>
                  <a:schemeClr val="tx1"/>
                </a:solidFill>
                <a:latin typeface="メイリオ" panose="020B0604030504040204" pitchFamily="50" charset="-128"/>
                <a:ea typeface="メイリオ" panose="020B0604030504040204" pitchFamily="50" charset="-128"/>
              </a:rPr>
              <a:t>計測、ステップ配信を構築します</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AD61DD43-5145-183F-4944-CF28902E2BB5}"/>
              </a:ext>
            </a:extLst>
          </p:cNvPr>
          <p:cNvSpPr/>
          <p:nvPr/>
        </p:nvSpPr>
        <p:spPr>
          <a:xfrm>
            <a:off x="3477934"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投稿数により変動</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万円</a:t>
            </a:r>
            <a:r>
              <a:rPr lang="en-US" altLang="ja-JP" sz="1050" dirty="0">
                <a:solidFill>
                  <a:schemeClr val="tx1"/>
                </a:solidFill>
                <a:latin typeface="メイリオ" panose="020B0604030504040204" pitchFamily="50" charset="-128"/>
                <a:ea typeface="メイリオ" panose="020B0604030504040204" pitchFamily="50" charset="-128"/>
              </a:rPr>
              <a:t>6</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11" name="正方形/長方形 10">
            <a:extLst>
              <a:ext uri="{FF2B5EF4-FFF2-40B4-BE49-F238E27FC236}">
                <a16:creationId xmlns:a16="http://schemas.microsoft.com/office/drawing/2014/main" id="{AEBE1332-3E19-248E-DB59-7DA92679932C}"/>
              </a:ext>
            </a:extLst>
          </p:cNvPr>
          <p:cNvSpPr/>
          <p:nvPr/>
        </p:nvSpPr>
        <p:spPr>
          <a:xfrm>
            <a:off x="3477934"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2A0C2CFB-F02A-8049-96FD-FD6CF42B0E7A}"/>
              </a:ext>
            </a:extLst>
          </p:cNvPr>
          <p:cNvSpPr/>
          <p:nvPr/>
        </p:nvSpPr>
        <p:spPr>
          <a:xfrm>
            <a:off x="6517118"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20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E6CA090D-A0FE-B83F-F9D4-7F2081B321AC}"/>
              </a:ext>
            </a:extLst>
          </p:cNvPr>
          <p:cNvSpPr/>
          <p:nvPr/>
        </p:nvSpPr>
        <p:spPr>
          <a:xfrm>
            <a:off x="6517118"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アカウント費用のみ発生</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75000"/>
                  </a:schemeClr>
                </a:solidFill>
                <a:latin typeface="メイリオ" panose="020B0604030504040204" pitchFamily="50" charset="-128"/>
                <a:ea typeface="メイリオ" panose="020B0604030504040204" pitchFamily="50" charset="-128"/>
              </a:rPr>
              <a:t>※</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機能導入の場合は別途費用（</a:t>
            </a:r>
            <a:r>
              <a:rPr lang="en-US" altLang="ja-JP" sz="1050" dirty="0">
                <a:solidFill>
                  <a:schemeClr val="bg1">
                    <a:lumMod val="75000"/>
                  </a:schemeClr>
                </a:solidFill>
                <a:latin typeface="メイリオ" panose="020B0604030504040204" pitchFamily="50" charset="-128"/>
                <a:ea typeface="メイリオ" panose="020B0604030504040204" pitchFamily="50" charset="-128"/>
              </a:rPr>
              <a:t>Fee</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）が発生</a:t>
            </a:r>
            <a:endParaRPr lang="en-US" altLang="ja-JP" sz="1050"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EE3D57F9-87AE-6E15-36E0-FB1FCC357320}"/>
              </a:ext>
            </a:extLst>
          </p:cNvPr>
          <p:cNvSpPr/>
          <p:nvPr/>
        </p:nvSpPr>
        <p:spPr>
          <a:xfrm>
            <a:off x="6517118"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5</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〜/10</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6</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6" name="正方形/長方形 15">
            <a:extLst>
              <a:ext uri="{FF2B5EF4-FFF2-40B4-BE49-F238E27FC236}">
                <a16:creationId xmlns:a16="http://schemas.microsoft.com/office/drawing/2014/main" id="{CA00712D-E4EC-DEB7-454F-CD087FC64AB8}"/>
              </a:ext>
            </a:extLst>
          </p:cNvPr>
          <p:cNvSpPr/>
          <p:nvPr/>
        </p:nvSpPr>
        <p:spPr>
          <a:xfrm>
            <a:off x="6517118"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単価</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成果数により変動</a:t>
            </a:r>
            <a:endPar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アカウント費とツール費は発生します</a:t>
            </a:r>
            <a:endParaRPr lang="en-US" altLang="ja-JP" sz="7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B3C94D54-28FD-BEBF-AEF0-979D8BE80231}"/>
              </a:ext>
            </a:extLst>
          </p:cNvPr>
          <p:cNvSpPr txBox="1"/>
          <p:nvPr/>
        </p:nvSpPr>
        <p:spPr>
          <a:xfrm>
            <a:off x="3569145"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初期費用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91B5A2B5-E8BF-32E8-3229-6262A8849DFA}"/>
              </a:ext>
            </a:extLst>
          </p:cNvPr>
          <p:cNvSpPr txBox="1"/>
          <p:nvPr/>
        </p:nvSpPr>
        <p:spPr>
          <a:xfrm>
            <a:off x="6608329"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月額費用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F2E30823-4A97-1E61-22CA-60C942910619}"/>
              </a:ext>
            </a:extLst>
          </p:cNvPr>
          <p:cNvSpPr txBox="1"/>
          <p:nvPr/>
        </p:nvSpPr>
        <p:spPr>
          <a:xfrm>
            <a:off x="4864912" y="15167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いずれも</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6</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か月</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の契約となります。</a:t>
            </a:r>
            <a:endParaRPr lang="ja-JP" altLang="en-US" sz="1200" b="1" dirty="0">
              <a:solidFill>
                <a:srgbClr val="FF0000"/>
              </a:solidFill>
            </a:endParaRPr>
          </a:p>
        </p:txBody>
      </p:sp>
      <p:sp>
        <p:nvSpPr>
          <p:cNvPr id="25" name="テキスト ボックス 24">
            <a:extLst>
              <a:ext uri="{FF2B5EF4-FFF2-40B4-BE49-F238E27FC236}">
                <a16:creationId xmlns:a16="http://schemas.microsoft.com/office/drawing/2014/main" id="{D33F2179-B983-907C-4091-A1C6C62D52D4}"/>
              </a:ext>
            </a:extLst>
          </p:cNvPr>
          <p:cNvSpPr txBox="1"/>
          <p:nvPr/>
        </p:nvSpPr>
        <p:spPr>
          <a:xfrm>
            <a:off x="4879760" y="17518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開発やツール導入の場合は別途費用が発生します。</a:t>
            </a:r>
            <a:endParaRPr lang="ja-JP" altLang="en-US" sz="1200" b="1" dirty="0">
              <a:solidFill>
                <a:srgbClr val="FF0000"/>
              </a:solidFill>
            </a:endParaRPr>
          </a:p>
        </p:txBody>
      </p:sp>
      <p:sp>
        <p:nvSpPr>
          <p:cNvPr id="18" name="正方形/長方形 17">
            <a:extLst>
              <a:ext uri="{FF2B5EF4-FFF2-40B4-BE49-F238E27FC236}">
                <a16:creationId xmlns:a16="http://schemas.microsoft.com/office/drawing/2014/main" id="{6C7D4DA1-1231-53FE-3BA9-7E10A6828C3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2182976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8F20-05AF-7B34-5B14-225CADFA40E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CBC79D5-B48C-EA1F-E7C8-2470B18780C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D61F0D43-1EC8-C807-64DC-BE9799A02F79}"/>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3" name="Google Shape;752;p28">
            <a:extLst>
              <a:ext uri="{FF2B5EF4-FFF2-40B4-BE49-F238E27FC236}">
                <a16:creationId xmlns:a16="http://schemas.microsoft.com/office/drawing/2014/main" id="{690D08B2-6972-E80D-2DA1-D0B4EE8CE831}"/>
              </a:ext>
            </a:extLst>
          </p:cNvPr>
          <p:cNvSpPr txBox="1"/>
          <p:nvPr/>
        </p:nvSpPr>
        <p:spPr>
          <a:xfrm>
            <a:off x="2914650" y="859443"/>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latin typeface="メイリオ" panose="020B0604030504040204" pitchFamily="50" charset="-128"/>
                <a:ea typeface="メイリオ" panose="020B0604030504040204" pitchFamily="50" charset="-128"/>
                <a:cs typeface="Meiryo"/>
                <a:sym typeface="Meiryo"/>
              </a:rPr>
              <a:t>オーソドックスなコンサルプラン。月間企画数により費用を設定。</a:t>
            </a:r>
          </a:p>
        </p:txBody>
      </p:sp>
      <p:sp>
        <p:nvSpPr>
          <p:cNvPr id="7" name="正方形/長方形 6">
            <a:extLst>
              <a:ext uri="{FF2B5EF4-FFF2-40B4-BE49-F238E27FC236}">
                <a16:creationId xmlns:a16="http://schemas.microsoft.com/office/drawing/2014/main" id="{9640D725-6CB1-3362-4D55-D2D874EE3245}"/>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10" name="表 9">
            <a:extLst>
              <a:ext uri="{FF2B5EF4-FFF2-40B4-BE49-F238E27FC236}">
                <a16:creationId xmlns:a16="http://schemas.microsoft.com/office/drawing/2014/main" id="{C9C27775-D0B4-87CE-2D50-752D4FF8706F}"/>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sp>
        <p:nvSpPr>
          <p:cNvPr id="12" name="テキスト ボックス 11">
            <a:extLst>
              <a:ext uri="{FF2B5EF4-FFF2-40B4-BE49-F238E27FC236}">
                <a16:creationId xmlns:a16="http://schemas.microsoft.com/office/drawing/2014/main" id="{78F7A265-899D-CCF4-2C14-ED5BB94EA90E}"/>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20" name="表 19">
            <a:extLst>
              <a:ext uri="{FF2B5EF4-FFF2-40B4-BE49-F238E27FC236}">
                <a16:creationId xmlns:a16="http://schemas.microsoft.com/office/drawing/2014/main" id="{35A17481-69F7-B4A9-E021-97EE397EC507}"/>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1" name="表 20">
            <a:extLst>
              <a:ext uri="{FF2B5EF4-FFF2-40B4-BE49-F238E27FC236}">
                <a16:creationId xmlns:a16="http://schemas.microsoft.com/office/drawing/2014/main" id="{389502D4-BA2A-6A1C-BF6C-A371B6D109FD}"/>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2" name="表 21">
            <a:extLst>
              <a:ext uri="{FF2B5EF4-FFF2-40B4-BE49-F238E27FC236}">
                <a16:creationId xmlns:a16="http://schemas.microsoft.com/office/drawing/2014/main" id="{1AEA4D62-5A51-5D4C-668D-F5733449D649}"/>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 name="正方形/長方形 1">
            <a:extLst>
              <a:ext uri="{FF2B5EF4-FFF2-40B4-BE49-F238E27FC236}">
                <a16:creationId xmlns:a16="http://schemas.microsoft.com/office/drawing/2014/main" id="{C482A5B9-1B77-7CB2-3577-651B908CC4DA}"/>
              </a:ext>
            </a:extLst>
          </p:cNvPr>
          <p:cNvSpPr/>
          <p:nvPr/>
        </p:nvSpPr>
        <p:spPr>
          <a:xfrm>
            <a:off x="706726" y="1556872"/>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メイリオ" panose="020B0604030504040204" pitchFamily="50" charset="-128"/>
                <a:ea typeface="メイリオ" panose="020B0604030504040204" pitchFamily="50" charset="-128"/>
              </a:rPr>
              <a:t>20</a:t>
            </a:r>
            <a:r>
              <a:rPr kumimoji="1" lang="ja-JP" altLang="en-US" sz="1600" b="1" dirty="0">
                <a:solidFill>
                  <a:schemeClr val="tx1"/>
                </a:solidFill>
                <a:latin typeface="メイリオ" panose="020B0604030504040204" pitchFamily="50" charset="-128"/>
                <a:ea typeface="メイリオ" panose="020B0604030504040204" pitchFamily="50" charset="-128"/>
              </a:rPr>
              <a:t>万円</a:t>
            </a:r>
            <a:r>
              <a:rPr kumimoji="1" lang="ja-JP" altLang="en-US" sz="1400" b="1" dirty="0">
                <a:solidFill>
                  <a:schemeClr val="tx1"/>
                </a:solidFill>
                <a:latin typeface="メイリオ" panose="020B0604030504040204" pitchFamily="50" charset="-128"/>
                <a:ea typeface="メイリオ" panose="020B0604030504040204" pitchFamily="50" charset="-128"/>
              </a:rPr>
              <a:t> </a:t>
            </a:r>
            <a:r>
              <a:rPr kumimoji="1"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74AE0EC-48BF-DC77-08FD-383C4B76F73E}"/>
              </a:ext>
            </a:extLst>
          </p:cNvPr>
          <p:cNvSpPr/>
          <p:nvPr/>
        </p:nvSpPr>
        <p:spPr>
          <a:xfrm>
            <a:off x="706726" y="2183457"/>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30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6" name="正方形/長方形 5">
            <a:extLst>
              <a:ext uri="{FF2B5EF4-FFF2-40B4-BE49-F238E27FC236}">
                <a16:creationId xmlns:a16="http://schemas.microsoft.com/office/drawing/2014/main" id="{89600F16-6DFB-0370-C7A6-875494596D74}"/>
              </a:ext>
            </a:extLst>
          </p:cNvPr>
          <p:cNvSpPr/>
          <p:nvPr/>
        </p:nvSpPr>
        <p:spPr>
          <a:xfrm>
            <a:off x="706726" y="2815389"/>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11" name="正方形/長方形 10">
            <a:extLst>
              <a:ext uri="{FF2B5EF4-FFF2-40B4-BE49-F238E27FC236}">
                <a16:creationId xmlns:a16="http://schemas.microsoft.com/office/drawing/2014/main" id="{81506C69-8126-9C2B-FABF-119E315AF939}"/>
              </a:ext>
            </a:extLst>
          </p:cNvPr>
          <p:cNvSpPr/>
          <p:nvPr/>
        </p:nvSpPr>
        <p:spPr>
          <a:xfrm>
            <a:off x="3088448" y="1556872"/>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３</a:t>
            </a:r>
            <a:r>
              <a:rPr kumimoji="1" lang="ja-JP" altLang="en-US" sz="2000" dirty="0">
                <a:solidFill>
                  <a:schemeClr val="tx1"/>
                </a:solidFill>
                <a:latin typeface="メイリオ" panose="020B0604030504040204" pitchFamily="50" charset="-128"/>
                <a:ea typeface="メイリオ" panose="020B0604030504040204" pitchFamily="50" charset="-128"/>
              </a:rPr>
              <a:t>投稿</a:t>
            </a:r>
            <a:r>
              <a:rPr kumimoji="1" lang="ja-JP" altLang="en-US" sz="1200" dirty="0">
                <a:solidFill>
                  <a:schemeClr val="tx1"/>
                </a:solidFill>
                <a:latin typeface="メイリオ" panose="020B0604030504040204" pitchFamily="50" charset="-128"/>
                <a:ea typeface="メイリオ" panose="020B0604030504040204" pitchFamily="50" charset="-128"/>
              </a:rPr>
              <a:t> </a:t>
            </a:r>
            <a:r>
              <a:rPr kumimoji="1"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B15A40AA-7F6C-2AC4-1C14-0AC66212601F}"/>
              </a:ext>
            </a:extLst>
          </p:cNvPr>
          <p:cNvSpPr/>
          <p:nvPr/>
        </p:nvSpPr>
        <p:spPr>
          <a:xfrm>
            <a:off x="3088448" y="2183457"/>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５投稿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5" name="正方形/長方形 14">
            <a:extLst>
              <a:ext uri="{FF2B5EF4-FFF2-40B4-BE49-F238E27FC236}">
                <a16:creationId xmlns:a16="http://schemas.microsoft.com/office/drawing/2014/main" id="{83D790EB-0222-5E5B-FEEC-80F16C159B19}"/>
              </a:ext>
            </a:extLst>
          </p:cNvPr>
          <p:cNvSpPr/>
          <p:nvPr/>
        </p:nvSpPr>
        <p:spPr>
          <a:xfrm>
            <a:off x="3088448" y="2815389"/>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９投稿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6" name="正方形/長方形 15">
            <a:extLst>
              <a:ext uri="{FF2B5EF4-FFF2-40B4-BE49-F238E27FC236}">
                <a16:creationId xmlns:a16="http://schemas.microsoft.com/office/drawing/2014/main" id="{584F8FA8-652A-A0F8-874C-3E9B80EB3F4B}"/>
              </a:ext>
            </a:extLst>
          </p:cNvPr>
          <p:cNvSpPr/>
          <p:nvPr/>
        </p:nvSpPr>
        <p:spPr>
          <a:xfrm>
            <a:off x="5107595" y="1550011"/>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chemeClr val="tx1"/>
                </a:solidFill>
                <a:latin typeface="メイリオ" panose="020B0604030504040204" pitchFamily="50" charset="-128"/>
                <a:ea typeface="メイリオ" panose="020B0604030504040204" pitchFamily="50" charset="-128"/>
              </a:rPr>
              <a:t>レポート対応：有 </a:t>
            </a:r>
            <a:r>
              <a:rPr lang="en-US" altLang="ja-JP" sz="1050" b="1" dirty="0">
                <a:solidFill>
                  <a:schemeClr val="tx1"/>
                </a:solidFill>
                <a:latin typeface="メイリオ" panose="020B0604030504040204" pitchFamily="50" charset="-128"/>
                <a:ea typeface="メイリオ" panose="020B0604030504040204" pitchFamily="50" charset="-128"/>
              </a:rPr>
              <a:t>/ </a:t>
            </a:r>
            <a:r>
              <a:rPr lang="ja-JP" altLang="en-US" sz="1050" b="1" dirty="0">
                <a:solidFill>
                  <a:schemeClr val="tx1"/>
                </a:solidFill>
                <a:latin typeface="メイリオ" panose="020B0604030504040204" pitchFamily="50" charset="-128"/>
                <a:ea typeface="メイリオ" panose="020B0604030504040204" pitchFamily="50" charset="-128"/>
              </a:rPr>
              <a:t>定例会：</a:t>
            </a:r>
            <a:r>
              <a:rPr lang="en-US" altLang="ja-JP" sz="1050" b="1" dirty="0">
                <a:solidFill>
                  <a:schemeClr val="tx1"/>
                </a:solidFill>
                <a:latin typeface="メイリオ" panose="020B0604030504040204" pitchFamily="50" charset="-128"/>
                <a:ea typeface="メイリオ" panose="020B0604030504040204" pitchFamily="50" charset="-128"/>
              </a:rPr>
              <a:t>3</a:t>
            </a:r>
            <a:r>
              <a:rPr lang="ja-JP" altLang="en-US" sz="1050" b="1" dirty="0">
                <a:solidFill>
                  <a:schemeClr val="tx1"/>
                </a:solidFill>
                <a:latin typeface="メイリオ" panose="020B0604030504040204" pitchFamily="50" charset="-128"/>
                <a:ea typeface="メイリオ" panose="020B0604030504040204" pitchFamily="50" charset="-128"/>
              </a:rPr>
              <a:t>か月に</a:t>
            </a:r>
            <a:r>
              <a:rPr lang="en-US" altLang="ja-JP" sz="1050" b="1" dirty="0">
                <a:solidFill>
                  <a:schemeClr val="tx1"/>
                </a:solidFill>
                <a:latin typeface="メイリオ" panose="020B0604030504040204" pitchFamily="50" charset="-128"/>
                <a:ea typeface="メイリオ" panose="020B0604030504040204" pitchFamily="50" charset="-128"/>
              </a:rPr>
              <a:t>1</a:t>
            </a:r>
            <a:r>
              <a:rPr lang="ja-JP" altLang="en-US" sz="1050" b="1" dirty="0">
                <a:solidFill>
                  <a:schemeClr val="tx1"/>
                </a:solidFill>
                <a:latin typeface="メイリオ" panose="020B0604030504040204" pitchFamily="50" charset="-128"/>
                <a:ea typeface="メイリオ" panose="020B0604030504040204" pitchFamily="50" charset="-128"/>
              </a:rPr>
              <a:t>回。</a:t>
            </a:r>
            <a:endParaRPr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4076E51B-9B1D-9885-A1EF-A14722C86109}"/>
              </a:ext>
            </a:extLst>
          </p:cNvPr>
          <p:cNvSpPr/>
          <p:nvPr/>
        </p:nvSpPr>
        <p:spPr>
          <a:xfrm>
            <a:off x="5107595" y="2176596"/>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CD9CFCA-70E9-24BE-9FC5-7AA490583C16}"/>
              </a:ext>
            </a:extLst>
          </p:cNvPr>
          <p:cNvSpPr/>
          <p:nvPr/>
        </p:nvSpPr>
        <p:spPr>
          <a:xfrm>
            <a:off x="5107595" y="2808528"/>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D5DC77C-BB7C-1DC7-BA4A-AF3ECCC137A1}"/>
              </a:ext>
            </a:extLst>
          </p:cNvPr>
          <p:cNvSpPr/>
          <p:nvPr/>
        </p:nvSpPr>
        <p:spPr>
          <a:xfrm>
            <a:off x="548881" y="1405687"/>
            <a:ext cx="8859613"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CD3409E3-7B2F-6541-B533-69689AE3B73B}"/>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1554308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859443"/>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8" name="正方形/長方形 7">
            <a:extLst>
              <a:ext uri="{FF2B5EF4-FFF2-40B4-BE49-F238E27FC236}">
                <a16:creationId xmlns:a16="http://schemas.microsoft.com/office/drawing/2014/main" id="{FFB1B171-05E1-F3C6-1EBE-EBC6AA97A939}"/>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2DE66FC-7E13-76D6-A2AE-003C514A6B15}"/>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1" name="表 10">
            <a:extLst>
              <a:ext uri="{FF2B5EF4-FFF2-40B4-BE49-F238E27FC236}">
                <a16:creationId xmlns:a16="http://schemas.microsoft.com/office/drawing/2014/main" id="{AB699F68-6D67-CD60-1CF9-54BD45B04FBA}"/>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00"/>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graphicFrame>
        <p:nvGraphicFramePr>
          <p:cNvPr id="12" name="表 11">
            <a:extLst>
              <a:ext uri="{FF2B5EF4-FFF2-40B4-BE49-F238E27FC236}">
                <a16:creationId xmlns:a16="http://schemas.microsoft.com/office/drawing/2014/main" id="{F91A02FC-5E04-6D49-4A4E-97104D3E348C}"/>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3" name="表 12">
            <a:extLst>
              <a:ext uri="{FF2B5EF4-FFF2-40B4-BE49-F238E27FC236}">
                <a16:creationId xmlns:a16="http://schemas.microsoft.com/office/drawing/2014/main" id="{C2727225-26CE-D16E-9C5D-1FBD426B841E}"/>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4" name="表 13">
            <a:extLst>
              <a:ext uri="{FF2B5EF4-FFF2-40B4-BE49-F238E27FC236}">
                <a16:creationId xmlns:a16="http://schemas.microsoft.com/office/drawing/2014/main" id="{6568ED1F-4ADB-05EB-EAF7-6D88C325C7BB}"/>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rPr>
              <a:t>成果件数 </a:t>
            </a:r>
            <a:r>
              <a:rPr lang="en-US" altLang="ja-JP" sz="1400" b="1" dirty="0">
                <a:solidFill>
                  <a:schemeClr val="tx1"/>
                </a:solidFill>
                <a:latin typeface="メイリオ" panose="020B0604030504040204" pitchFamily="50" charset="-128"/>
                <a:ea typeface="メイリオ" panose="020B0604030504040204" pitchFamily="50" charset="-128"/>
              </a:rPr>
              <a:t>× </a:t>
            </a:r>
            <a:r>
              <a:rPr lang="ja-JP" altLang="en-US" sz="1400" b="1" dirty="0">
                <a:solidFill>
                  <a:schemeClr val="tx1"/>
                </a:solidFill>
                <a:latin typeface="メイリオ" panose="020B0604030504040204" pitchFamily="50" charset="-128"/>
                <a:ea typeface="メイリオ" panose="020B0604030504040204" pitchFamily="50" charset="-128"/>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アカウント費</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ツール費</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rPr>
              <a:t>＋</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複数の</a:t>
            </a: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数を増加。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2750968"/>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成果件数は</a:t>
            </a:r>
            <a:r>
              <a:rPr lang="en-US" altLang="ja-JP" sz="800" dirty="0">
                <a:solidFill>
                  <a:srgbClr val="FF0000"/>
                </a:solidFill>
                <a:latin typeface="メイリオ" panose="020B0604030504040204" pitchFamily="50" charset="-128"/>
                <a:ea typeface="メイリオ" panose="020B0604030504040204" pitchFamily="50" charset="-128"/>
              </a:rPr>
              <a:t>GA</a:t>
            </a:r>
            <a:r>
              <a:rPr lang="ja-JP" altLang="en-US" sz="800" dirty="0">
                <a:solidFill>
                  <a:srgbClr val="FF0000"/>
                </a:solidFill>
                <a:latin typeface="メイリオ" panose="020B0604030504040204" pitchFamily="50" charset="-128"/>
                <a:ea typeface="メイリオ" panose="020B0604030504040204" pitchFamily="50" charset="-128"/>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rPr>
              <a:t>CPA</a:t>
            </a:r>
            <a:r>
              <a:rPr lang="ja-JP" altLang="en-US" sz="800" dirty="0">
                <a:solidFill>
                  <a:srgbClr val="FF0000"/>
                </a:solidFill>
                <a:latin typeface="メイリオ" panose="020B0604030504040204" pitchFamily="50" charset="-128"/>
                <a:ea typeface="メイリオ" panose="020B0604030504040204" pitchFamily="50" charset="-128"/>
              </a:rPr>
              <a:t>に基づき設定</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80A369CB-95D9-6607-0494-7E11C05DB30B}"/>
              </a:ext>
            </a:extLst>
          </p:cNvPr>
          <p:cNvSpPr/>
          <p:nvPr/>
        </p:nvSpPr>
        <p:spPr>
          <a:xfrm>
            <a:off x="5186487" y="1789945"/>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latin typeface="メイリオ" panose="020B0604030504040204" pitchFamily="50" charset="-128"/>
                <a:ea typeface="メイリオ" panose="020B0604030504040204" pitchFamily="50" charset="-128"/>
              </a:rPr>
              <a:t>離脱防止</a:t>
            </a:r>
          </a:p>
        </p:txBody>
      </p:sp>
      <p:sp>
        <p:nvSpPr>
          <p:cNvPr id="20" name="正方形/長方形 19">
            <a:extLst>
              <a:ext uri="{FF2B5EF4-FFF2-40B4-BE49-F238E27FC236}">
                <a16:creationId xmlns:a16="http://schemas.microsoft.com/office/drawing/2014/main" id="{EC40B420-994F-D333-3411-E864E0430DDC}"/>
              </a:ext>
            </a:extLst>
          </p:cNvPr>
          <p:cNvSpPr/>
          <p:nvPr/>
        </p:nvSpPr>
        <p:spPr>
          <a:xfrm>
            <a:off x="5186487" y="2204881"/>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bg1"/>
                </a:solidFill>
                <a:latin typeface="メイリオ" panose="020B0604030504040204" pitchFamily="50" charset="-128"/>
                <a:ea typeface="メイリオ" panose="020B0604030504040204" pitchFamily="50" charset="-128"/>
              </a:rPr>
              <a:t>CPF</a:t>
            </a:r>
            <a:r>
              <a:rPr lang="ja-JP" altLang="en-US" sz="900" dirty="0">
                <a:solidFill>
                  <a:schemeClr val="bg1"/>
                </a:solidFill>
                <a:latin typeface="メイリオ" panose="020B0604030504040204" pitchFamily="50" charset="-128"/>
                <a:ea typeface="メイリオ" panose="020B0604030504040204" pitchFamily="50" charset="-128"/>
              </a:rPr>
              <a:t>広告</a:t>
            </a:r>
            <a:endParaRPr kumimoji="1"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3036028"/>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cxnSp>
        <p:nvCxnSpPr>
          <p:cNvPr id="41" name="直線矢印コネクタ 40">
            <a:extLst>
              <a:ext uri="{FF2B5EF4-FFF2-40B4-BE49-F238E27FC236}">
                <a16:creationId xmlns:a16="http://schemas.microsoft.com/office/drawing/2014/main" id="{3C75F8CA-AB1D-7749-481F-57570BE4B193}"/>
              </a:ext>
            </a:extLst>
          </p:cNvPr>
          <p:cNvCxnSpPr>
            <a:cxnSpLocks/>
            <a:stCxn id="16" idx="3"/>
          </p:cNvCxnSpPr>
          <p:nvPr/>
        </p:nvCxnSpPr>
        <p:spPr>
          <a:xfrm>
            <a:off x="6029717" y="1873253"/>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7C50C22-3D43-6C8E-7118-95F98A2DC0F9}"/>
              </a:ext>
            </a:extLst>
          </p:cNvPr>
          <p:cNvSpPr/>
          <p:nvPr/>
        </p:nvSpPr>
        <p:spPr>
          <a:xfrm>
            <a:off x="8502373" y="1789945"/>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50" name="正方形/長方形 49">
            <a:extLst>
              <a:ext uri="{FF2B5EF4-FFF2-40B4-BE49-F238E27FC236}">
                <a16:creationId xmlns:a16="http://schemas.microsoft.com/office/drawing/2014/main" id="{D2356226-E20C-9118-F99F-C9E163470ACF}"/>
              </a:ext>
            </a:extLst>
          </p:cNvPr>
          <p:cNvSpPr/>
          <p:nvPr/>
        </p:nvSpPr>
        <p:spPr>
          <a:xfrm>
            <a:off x="7302164" y="1986273"/>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bg1"/>
                </a:solidFill>
                <a:latin typeface="メイリオ" panose="020B0604030504040204" pitchFamily="50" charset="-128"/>
                <a:ea typeface="メイリオ" panose="020B0604030504040204" pitchFamily="50" charset="-128"/>
              </a:rPr>
              <a:t>未回答</a:t>
            </a:r>
          </a:p>
        </p:txBody>
      </p:sp>
      <p:sp>
        <p:nvSpPr>
          <p:cNvPr id="51" name="正方形/長方形 50">
            <a:extLst>
              <a:ext uri="{FF2B5EF4-FFF2-40B4-BE49-F238E27FC236}">
                <a16:creationId xmlns:a16="http://schemas.microsoft.com/office/drawing/2014/main" id="{B78951B1-4D17-2544-74F5-B18E0BD48A94}"/>
              </a:ext>
            </a:extLst>
          </p:cNvPr>
          <p:cNvSpPr/>
          <p:nvPr/>
        </p:nvSpPr>
        <p:spPr>
          <a:xfrm>
            <a:off x="8502373" y="1980991"/>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cxnSp>
        <p:nvCxnSpPr>
          <p:cNvPr id="54" name="コネクタ: カギ線 53">
            <a:extLst>
              <a:ext uri="{FF2B5EF4-FFF2-40B4-BE49-F238E27FC236}">
                <a16:creationId xmlns:a16="http://schemas.microsoft.com/office/drawing/2014/main" id="{9AAF7DE6-A4BF-3A79-F5FB-1D24DC5D4A56}"/>
              </a:ext>
            </a:extLst>
          </p:cNvPr>
          <p:cNvCxnSpPr>
            <a:stCxn id="16" idx="3"/>
            <a:endCxn id="50" idx="1"/>
          </p:cNvCxnSpPr>
          <p:nvPr/>
        </p:nvCxnSpPr>
        <p:spPr>
          <a:xfrm>
            <a:off x="6029717" y="1873253"/>
            <a:ext cx="1272447" cy="196328"/>
          </a:xfrm>
          <a:prstGeom prst="bentConnector3">
            <a:avLst>
              <a:gd name="adj1" fmla="val 7021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76ACAA41-83DB-CA83-5B7D-33F8FDF68E1F}"/>
              </a:ext>
            </a:extLst>
          </p:cNvPr>
          <p:cNvCxnSpPr>
            <a:cxnSpLocks/>
            <a:stCxn id="16" idx="3"/>
            <a:endCxn id="51" idx="1"/>
          </p:cNvCxnSpPr>
          <p:nvPr/>
        </p:nvCxnSpPr>
        <p:spPr>
          <a:xfrm>
            <a:off x="6029717" y="1873253"/>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C1825D74-634C-9E36-9ECC-717EDC08D01D}"/>
              </a:ext>
            </a:extLst>
          </p:cNvPr>
          <p:cNvSpPr/>
          <p:nvPr/>
        </p:nvSpPr>
        <p:spPr>
          <a:xfrm>
            <a:off x="7302164" y="1795227"/>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2" name="正方形/長方形 61">
            <a:extLst>
              <a:ext uri="{FF2B5EF4-FFF2-40B4-BE49-F238E27FC236}">
                <a16:creationId xmlns:a16="http://schemas.microsoft.com/office/drawing/2014/main" id="{5151ACBE-C823-12BC-893C-27BAE6932995}"/>
              </a:ext>
            </a:extLst>
          </p:cNvPr>
          <p:cNvSpPr/>
          <p:nvPr/>
        </p:nvSpPr>
        <p:spPr>
          <a:xfrm>
            <a:off x="6101955" y="1792712"/>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3</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cxnSp>
        <p:nvCxnSpPr>
          <p:cNvPr id="63" name="直線矢印コネクタ 62">
            <a:extLst>
              <a:ext uri="{FF2B5EF4-FFF2-40B4-BE49-F238E27FC236}">
                <a16:creationId xmlns:a16="http://schemas.microsoft.com/office/drawing/2014/main" id="{4579CA69-5B2F-0843-0A27-914CF103589C}"/>
              </a:ext>
            </a:extLst>
          </p:cNvPr>
          <p:cNvCxnSpPr>
            <a:cxnSpLocks/>
          </p:cNvCxnSpPr>
          <p:nvPr/>
        </p:nvCxnSpPr>
        <p:spPr>
          <a:xfrm>
            <a:off x="6029717" y="2297422"/>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8F57977B-34B8-7FE2-E800-D3FDB3F4B342}"/>
              </a:ext>
            </a:extLst>
          </p:cNvPr>
          <p:cNvCxnSpPr>
            <a:cxnSpLocks/>
          </p:cNvCxnSpPr>
          <p:nvPr/>
        </p:nvCxnSpPr>
        <p:spPr>
          <a:xfrm>
            <a:off x="6029717" y="2297422"/>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B4580F79-A6B6-6CB7-42C9-9E72234E928E}"/>
              </a:ext>
            </a:extLst>
          </p:cNvPr>
          <p:cNvSpPr/>
          <p:nvPr/>
        </p:nvSpPr>
        <p:spPr>
          <a:xfrm>
            <a:off x="6101955" y="2207648"/>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7" name="正方形/長方形 66">
            <a:extLst>
              <a:ext uri="{FF2B5EF4-FFF2-40B4-BE49-F238E27FC236}">
                <a16:creationId xmlns:a16="http://schemas.microsoft.com/office/drawing/2014/main" id="{1AE63C1F-BD64-D8ED-A701-8ADCA2511466}"/>
              </a:ext>
            </a:extLst>
          </p:cNvPr>
          <p:cNvSpPr/>
          <p:nvPr/>
        </p:nvSpPr>
        <p:spPr>
          <a:xfrm>
            <a:off x="7302164" y="2210163"/>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8" name="正方形/長方形 67">
            <a:extLst>
              <a:ext uri="{FF2B5EF4-FFF2-40B4-BE49-F238E27FC236}">
                <a16:creationId xmlns:a16="http://schemas.microsoft.com/office/drawing/2014/main" id="{64057BAB-625B-5994-36D5-E83BE7E59586}"/>
              </a:ext>
            </a:extLst>
          </p:cNvPr>
          <p:cNvSpPr/>
          <p:nvPr/>
        </p:nvSpPr>
        <p:spPr>
          <a:xfrm>
            <a:off x="8502373" y="2204881"/>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30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9" name="正方形/長方形 68">
            <a:extLst>
              <a:ext uri="{FF2B5EF4-FFF2-40B4-BE49-F238E27FC236}">
                <a16:creationId xmlns:a16="http://schemas.microsoft.com/office/drawing/2014/main" id="{878D4A23-0BCD-1E38-061D-650AD132E3D9}"/>
              </a:ext>
            </a:extLst>
          </p:cNvPr>
          <p:cNvSpPr/>
          <p:nvPr/>
        </p:nvSpPr>
        <p:spPr>
          <a:xfrm>
            <a:off x="8502373" y="2394616"/>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extLst>
      <p:ext uri="{BB962C8B-B14F-4D97-AF65-F5344CB8AC3E}">
        <p14:creationId xmlns:p14="http://schemas.microsoft.com/office/powerpoint/2010/main" val="40982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4"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5"/>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7"/>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29946349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54"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5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56"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57"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58"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6"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7"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8"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9"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0"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2"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836762" y="1780907"/>
            <a:ext cx="1714414"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836762" y="2203668"/>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836762" y="2809782"/>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836762" y="3424605"/>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836762" y="4030719"/>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836762" y="4645542"/>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836762" y="5251655"/>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70" name="Rectangle 5">
            <a:extLst>
              <a:ext uri="{FF2B5EF4-FFF2-40B4-BE49-F238E27FC236}">
                <a16:creationId xmlns:a16="http://schemas.microsoft.com/office/drawing/2014/main" id="{5BA3C8AC-F83B-8887-50C2-B4AED74F4F54}"/>
              </a:ext>
            </a:extLst>
          </p:cNvPr>
          <p:cNvSpPr/>
          <p:nvPr/>
        </p:nvSpPr>
        <p:spPr>
          <a:xfrm>
            <a:off x="6601968" y="1780907"/>
            <a:ext cx="2395383"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1" name="Rectangle 8">
            <a:extLst>
              <a:ext uri="{FF2B5EF4-FFF2-40B4-BE49-F238E27FC236}">
                <a16:creationId xmlns:a16="http://schemas.microsoft.com/office/drawing/2014/main" id="{090C52B4-5C5E-4082-D9D0-B3F682D1D56B}"/>
              </a:ext>
            </a:extLst>
          </p:cNvPr>
          <p:cNvSpPr/>
          <p:nvPr/>
        </p:nvSpPr>
        <p:spPr>
          <a:xfrm>
            <a:off x="6601968" y="2203668"/>
            <a:ext cx="2395383"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2" name="Rectangle 11">
            <a:extLst>
              <a:ext uri="{FF2B5EF4-FFF2-40B4-BE49-F238E27FC236}">
                <a16:creationId xmlns:a16="http://schemas.microsoft.com/office/drawing/2014/main" id="{5D95E04F-E0EF-7048-CE4F-52EF8E06A51C}"/>
              </a:ext>
            </a:extLst>
          </p:cNvPr>
          <p:cNvSpPr/>
          <p:nvPr/>
        </p:nvSpPr>
        <p:spPr>
          <a:xfrm>
            <a:off x="6601968" y="2809782"/>
            <a:ext cx="2395383"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3" name="Rectangle 14">
            <a:extLst>
              <a:ext uri="{FF2B5EF4-FFF2-40B4-BE49-F238E27FC236}">
                <a16:creationId xmlns:a16="http://schemas.microsoft.com/office/drawing/2014/main" id="{8DF123B9-F9C1-F5AC-B9B8-847E3B54BB6E}"/>
              </a:ext>
            </a:extLst>
          </p:cNvPr>
          <p:cNvSpPr/>
          <p:nvPr/>
        </p:nvSpPr>
        <p:spPr>
          <a:xfrm>
            <a:off x="6601968" y="3424605"/>
            <a:ext cx="2395383"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4" name="Rectangle 17">
            <a:extLst>
              <a:ext uri="{FF2B5EF4-FFF2-40B4-BE49-F238E27FC236}">
                <a16:creationId xmlns:a16="http://schemas.microsoft.com/office/drawing/2014/main" id="{8586DBF7-7FC5-FCBD-008A-A179145000C4}"/>
              </a:ext>
            </a:extLst>
          </p:cNvPr>
          <p:cNvSpPr/>
          <p:nvPr/>
        </p:nvSpPr>
        <p:spPr>
          <a:xfrm>
            <a:off x="6601968" y="4030719"/>
            <a:ext cx="2395383"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0">
            <a:extLst>
              <a:ext uri="{FF2B5EF4-FFF2-40B4-BE49-F238E27FC236}">
                <a16:creationId xmlns:a16="http://schemas.microsoft.com/office/drawing/2014/main" id="{DB7FB4C0-51C6-3078-A140-B7A1B50F861A}"/>
              </a:ext>
            </a:extLst>
          </p:cNvPr>
          <p:cNvSpPr/>
          <p:nvPr/>
        </p:nvSpPr>
        <p:spPr>
          <a:xfrm>
            <a:off x="6601968" y="4645542"/>
            <a:ext cx="2395383"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6" name="Rectangle 23">
            <a:extLst>
              <a:ext uri="{FF2B5EF4-FFF2-40B4-BE49-F238E27FC236}">
                <a16:creationId xmlns:a16="http://schemas.microsoft.com/office/drawing/2014/main" id="{0B10266D-13DE-7185-5A31-5B2D7BD7491A}"/>
              </a:ext>
            </a:extLst>
          </p:cNvPr>
          <p:cNvSpPr/>
          <p:nvPr/>
        </p:nvSpPr>
        <p:spPr>
          <a:xfrm>
            <a:off x="6601968" y="5251655"/>
            <a:ext cx="2395383"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836762" y="6000207"/>
            <a:ext cx="8160589"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146605</TotalTime>
  <Words>6149</Words>
  <Application>Microsoft Office PowerPoint</Application>
  <PresentationFormat>A4 210 x 297 mm</PresentationFormat>
  <Paragraphs>1629</Paragraphs>
  <Slides>53</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53</vt:i4>
      </vt:variant>
    </vt:vector>
  </HeadingPairs>
  <TitlesOfParts>
    <vt:vector size="60" baseType="lpstr">
      <vt:lpstr>Arial</vt:lpstr>
      <vt:lpstr>Calibri</vt:lpstr>
      <vt:lpstr>Century Gothic</vt:lpstr>
      <vt:lpstr>メイリオ</vt:lpstr>
      <vt:lpstr>メイリオ</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1984</cp:revision>
  <cp:lastPrinted>2022-11-01T11:38:14Z</cp:lastPrinted>
  <dcterms:created xsi:type="dcterms:W3CDTF">2015-09-04T09:21:15Z</dcterms:created>
  <dcterms:modified xsi:type="dcterms:W3CDTF">2026-10-29T09:00:34Z</dcterms:modified>
</cp:coreProperties>
</file>