
<file path=[Content_Types].xml><?xml version="1.0" encoding="utf-8"?>
<Types xmlns="http://schemas.openxmlformats.org/package/2006/content-types">
  <Default Extension="emf" ContentType="image/x-emf"/>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handoutMasters/handoutMaster1.xml" ContentType="application/vnd.openxmlformats-officedocument.presentationml.handoutMaster+xml"/>
  <Override PartName="/ppt/media/image48.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4" r:id="rId1"/>
    <p:sldMasterId id="2147483687" r:id="rId2"/>
  </p:sldMasterIdLst>
  <p:notesMasterIdLst>
    <p:notesMasterId r:id="rId56"/>
  </p:notesMasterIdLst>
  <p:handoutMasterIdLst>
    <p:handoutMasterId r:id="rId57"/>
  </p:handoutMasterIdLst>
  <p:sldIdLst>
    <p:sldId id="2363" r:id="rId3"/>
    <p:sldId id="2726" r:id="rId4"/>
    <p:sldId id="3152" r:id="rId5"/>
    <p:sldId id="2721" r:id="rId6"/>
    <p:sldId id="2723" r:id="rId7"/>
    <p:sldId id="2724" r:id="rId8"/>
    <p:sldId id="2364" r:id="rId9"/>
    <p:sldId id="2365" r:id="rId10"/>
    <p:sldId id="2725" r:id="rId11"/>
    <p:sldId id="2913" r:id="rId12"/>
    <p:sldId id="2727" r:id="rId13"/>
    <p:sldId id="3131" r:id="rId14"/>
    <p:sldId id="3132" r:id="rId15"/>
    <p:sldId id="3150" r:id="rId16"/>
    <p:sldId id="2732" r:id="rId17"/>
    <p:sldId id="2733" r:id="rId18"/>
    <p:sldId id="2728" r:id="rId19"/>
    <p:sldId id="3147" r:id="rId20"/>
    <p:sldId id="3148" r:id="rId21"/>
    <p:sldId id="3141" r:id="rId22"/>
    <p:sldId id="3142" r:id="rId23"/>
    <p:sldId id="3143" r:id="rId24"/>
    <p:sldId id="3145" r:id="rId25"/>
    <p:sldId id="3144" r:id="rId26"/>
    <p:sldId id="3146" r:id="rId27"/>
    <p:sldId id="2972" r:id="rId28"/>
    <p:sldId id="2975" r:id="rId29"/>
    <p:sldId id="2974" r:id="rId30"/>
    <p:sldId id="2729" r:id="rId31"/>
    <p:sldId id="2951" r:id="rId32"/>
    <p:sldId id="2839" r:id="rId33"/>
    <p:sldId id="2740" r:id="rId34"/>
    <p:sldId id="2755" r:id="rId35"/>
    <p:sldId id="2730" r:id="rId36"/>
    <p:sldId id="2595" r:id="rId37"/>
    <p:sldId id="2566" r:id="rId38"/>
    <p:sldId id="2569" r:id="rId39"/>
    <p:sldId id="2915" r:id="rId40"/>
    <p:sldId id="2619" r:id="rId41"/>
    <p:sldId id="3136" r:id="rId42"/>
    <p:sldId id="3137" r:id="rId43"/>
    <p:sldId id="3138" r:id="rId44"/>
    <p:sldId id="3139" r:id="rId45"/>
    <p:sldId id="3140" r:id="rId46"/>
    <p:sldId id="2563" r:id="rId47"/>
    <p:sldId id="2959" r:id="rId48"/>
    <p:sldId id="2970" r:id="rId49"/>
    <p:sldId id="2968" r:id="rId50"/>
    <p:sldId id="2969" r:id="rId51"/>
    <p:sldId id="3151" r:id="rId52"/>
    <p:sldId id="2575" r:id="rId53"/>
    <p:sldId id="2910" r:id="rId54"/>
    <p:sldId id="1169" r:id="rId55"/>
  </p:sldIdLst>
  <p:sldSz cx="9906000" cy="6858000" type="A4"/>
  <p:notesSz cx="6807200" cy="9939338"/>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3158" userDrawn="1">
          <p15:clr>
            <a:srgbClr val="A4A3A4"/>
          </p15:clr>
        </p15:guide>
        <p15:guide id="2" pos="308"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4FA0A"/>
    <a:srgbClr val="173559"/>
    <a:srgbClr val="FDFDFD"/>
    <a:srgbClr val="2080FF"/>
    <a:srgbClr val="1D8DFF"/>
    <a:srgbClr val="515457"/>
    <a:srgbClr val="F6A454"/>
    <a:srgbClr val="EAEEF4"/>
    <a:srgbClr val="2D6CB9"/>
    <a:srgbClr val="D1D9E8"/>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中間スタイル 2 - アクセント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B301B821-A1FF-4177-AEE7-76D212191A09}" styleName="中間スタイル 1 - アクセント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69012ECD-51FC-41F1-AA8D-1B2483CD663E}" styleName="淡色スタイル 2 - アクセント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8157" autoAdjust="0"/>
    <p:restoredTop sz="94424" autoAdjust="0"/>
  </p:normalViewPr>
  <p:slideViewPr>
    <p:cSldViewPr snapToGrid="0">
      <p:cViewPr varScale="1">
        <p:scale>
          <a:sx n="74" d="100"/>
          <a:sy n="74" d="100"/>
        </p:scale>
        <p:origin x="784" y="44"/>
      </p:cViewPr>
      <p:guideLst>
        <p:guide orient="horz" pos="3158"/>
        <p:guide pos="308"/>
      </p:guideLst>
    </p:cSldViewPr>
  </p:slideViewPr>
  <p:notesTextViewPr>
    <p:cViewPr>
      <p:scale>
        <a:sx n="1" d="1"/>
        <a:sy n="1" d="1"/>
      </p:scale>
      <p:origin x="0" y="0"/>
    </p:cViewPr>
  </p:notesTextViewPr>
  <p:sorterViewPr>
    <p:cViewPr>
      <p:scale>
        <a:sx n="100" d="100"/>
        <a:sy n="100" d="100"/>
      </p:scale>
      <p:origin x="0" y="-3072"/>
    </p:cViewPr>
  </p:sorterViewPr>
  <p:notesViewPr>
    <p:cSldViewPr snapToGrid="0">
      <p:cViewPr varScale="1">
        <p:scale>
          <a:sx n="79" d="100"/>
          <a:sy n="79" d="100"/>
        </p:scale>
        <p:origin x="4014" y="102"/>
      </p:cViewPr>
      <p:guideLst/>
    </p:cSldViewPr>
  </p:notesViewPr>
  <p:gridSpacing cx="1080001" cy="1080001"/>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slide" Target="slides/slide9.xml"/><Relationship Id="rId12" Type="http://schemas.openxmlformats.org/officeDocument/2006/relationships/slide" Target="slides/slide10.xml"/><Relationship Id="rId13" Type="http://schemas.openxmlformats.org/officeDocument/2006/relationships/slide" Target="slides/slide11.xml"/><Relationship Id="rId14" Type="http://schemas.openxmlformats.org/officeDocument/2006/relationships/slide" Target="slides/slide12.xml"/><Relationship Id="rId15" Type="http://schemas.openxmlformats.org/officeDocument/2006/relationships/slide" Target="slides/slide13.xml"/><Relationship Id="rId16" Type="http://schemas.openxmlformats.org/officeDocument/2006/relationships/slide" Target="slides/slide14.xml"/><Relationship Id="rId17" Type="http://schemas.openxmlformats.org/officeDocument/2006/relationships/slide" Target="slides/slide15.xml"/><Relationship Id="rId18" Type="http://schemas.openxmlformats.org/officeDocument/2006/relationships/slide" Target="slides/slide16.xml"/><Relationship Id="rId19" Type="http://schemas.openxmlformats.org/officeDocument/2006/relationships/slide" Target="slides/slide17.xml"/><Relationship Id="rId20" Type="http://schemas.openxmlformats.org/officeDocument/2006/relationships/slide" Target="slides/slide18.xml"/><Relationship Id="rId21" Type="http://schemas.openxmlformats.org/officeDocument/2006/relationships/slide" Target="slides/slide19.xml"/><Relationship Id="rId22" Type="http://schemas.openxmlformats.org/officeDocument/2006/relationships/slide" Target="slides/slide20.xml"/><Relationship Id="rId23" Type="http://schemas.openxmlformats.org/officeDocument/2006/relationships/slide" Target="slides/slide21.xml"/><Relationship Id="rId24" Type="http://schemas.openxmlformats.org/officeDocument/2006/relationships/slide" Target="slides/slide22.xml"/><Relationship Id="rId25" Type="http://schemas.openxmlformats.org/officeDocument/2006/relationships/slide" Target="slides/slide23.xml"/><Relationship Id="rId26" Type="http://schemas.openxmlformats.org/officeDocument/2006/relationships/slide" Target="slides/slide24.xml"/><Relationship Id="rId27" Type="http://schemas.openxmlformats.org/officeDocument/2006/relationships/slide" Target="slides/slide25.xml"/><Relationship Id="rId28" Type="http://schemas.openxmlformats.org/officeDocument/2006/relationships/slide" Target="slides/slide26.xml"/><Relationship Id="rId29" Type="http://schemas.openxmlformats.org/officeDocument/2006/relationships/slide" Target="slides/slide27.xml"/><Relationship Id="rId30" Type="http://schemas.openxmlformats.org/officeDocument/2006/relationships/slide" Target="slides/slide28.xml"/><Relationship Id="rId31" Type="http://schemas.openxmlformats.org/officeDocument/2006/relationships/slide" Target="slides/slide29.xml"/><Relationship Id="rId32" Type="http://schemas.openxmlformats.org/officeDocument/2006/relationships/slide" Target="slides/slide30.xml"/><Relationship Id="rId33" Type="http://schemas.openxmlformats.org/officeDocument/2006/relationships/slide" Target="slides/slide31.xml"/><Relationship Id="rId34" Type="http://schemas.openxmlformats.org/officeDocument/2006/relationships/slide" Target="slides/slide32.xml"/><Relationship Id="rId35" Type="http://schemas.openxmlformats.org/officeDocument/2006/relationships/slide" Target="slides/slide33.xml"/><Relationship Id="rId36" Type="http://schemas.openxmlformats.org/officeDocument/2006/relationships/slide" Target="slides/slide34.xml"/><Relationship Id="rId37" Type="http://schemas.openxmlformats.org/officeDocument/2006/relationships/slide" Target="slides/slide35.xml"/><Relationship Id="rId38" Type="http://schemas.openxmlformats.org/officeDocument/2006/relationships/slide" Target="slides/slide36.xml"/><Relationship Id="rId39" Type="http://schemas.openxmlformats.org/officeDocument/2006/relationships/slide" Target="slides/slide37.xml"/><Relationship Id="rId40" Type="http://schemas.openxmlformats.org/officeDocument/2006/relationships/slide" Target="slides/slide38.xml"/><Relationship Id="rId41" Type="http://schemas.openxmlformats.org/officeDocument/2006/relationships/slide" Target="slides/slide39.xml"/><Relationship Id="rId42" Type="http://schemas.openxmlformats.org/officeDocument/2006/relationships/slide" Target="slides/slide40.xml"/><Relationship Id="rId43" Type="http://schemas.openxmlformats.org/officeDocument/2006/relationships/slide" Target="slides/slide41.xml"/><Relationship Id="rId44" Type="http://schemas.openxmlformats.org/officeDocument/2006/relationships/slide" Target="slides/slide42.xml"/><Relationship Id="rId45" Type="http://schemas.openxmlformats.org/officeDocument/2006/relationships/slide" Target="slides/slide43.xml"/><Relationship Id="rId46" Type="http://schemas.openxmlformats.org/officeDocument/2006/relationships/slide" Target="slides/slide44.xml"/><Relationship Id="rId47" Type="http://schemas.openxmlformats.org/officeDocument/2006/relationships/slide" Target="slides/slide45.xml"/><Relationship Id="rId48" Type="http://schemas.openxmlformats.org/officeDocument/2006/relationships/slide" Target="slides/slide46.xml"/><Relationship Id="rId49" Type="http://schemas.openxmlformats.org/officeDocument/2006/relationships/slide" Target="slides/slide47.xml"/><Relationship Id="rId50" Type="http://schemas.openxmlformats.org/officeDocument/2006/relationships/slide" Target="slides/slide48.xml"/><Relationship Id="rId51" Type="http://schemas.openxmlformats.org/officeDocument/2006/relationships/slide" Target="slides/slide49.xml"/><Relationship Id="rId52" Type="http://schemas.openxmlformats.org/officeDocument/2006/relationships/slide" Target="slides/slide50.xml"/><Relationship Id="rId53" Type="http://schemas.openxmlformats.org/officeDocument/2006/relationships/slide" Target="slides/slide51.xml"/><Relationship Id="rId54" Type="http://schemas.openxmlformats.org/officeDocument/2006/relationships/slide" Target="slides/slide52.xml"/><Relationship Id="rId55" Type="http://schemas.openxmlformats.org/officeDocument/2006/relationships/slide" Target="slides/slide53.xml"/><Relationship Id="rId56" Type="http://schemas.openxmlformats.org/officeDocument/2006/relationships/notesMaster" Target="notesMasters/notesMaster1.xml"/><Relationship Id="rId57" Type="http://schemas.openxmlformats.org/officeDocument/2006/relationships/handoutMaster" Target="handoutMasters/handoutMaster1.xml"/><Relationship Id="rId58" Type="http://schemas.openxmlformats.org/officeDocument/2006/relationships/presProps" Target="presProps.xml"/><Relationship Id="rId59" Type="http://schemas.openxmlformats.org/officeDocument/2006/relationships/viewProps" Target="viewProps.xml"/><Relationship Id="rId60" Type="http://schemas.openxmlformats.org/officeDocument/2006/relationships/theme" Target="theme/theme1.xml"/><Relationship Id="rId61"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フッター プレースホルダー 3"/>
          <p:cNvSpPr>
            <a:spLocks noGrp="1"/>
          </p:cNvSpPr>
          <p:nvPr>
            <p:ph type="ftr" sz="quarter" idx="2"/>
          </p:nvPr>
        </p:nvSpPr>
        <p:spPr>
          <a:xfrm>
            <a:off x="0" y="9441662"/>
            <a:ext cx="2949420" cy="497676"/>
          </a:xfrm>
          <a:prstGeom prst="rect">
            <a:avLst/>
          </a:prstGeom>
        </p:spPr>
        <p:txBody>
          <a:bodyPr vert="horz" lIns="90561" tIns="45280" rIns="90561" bIns="45280" rtlCol="0" anchor="b"/>
          <a:lstStyle>
            <a:lvl1pPr algn="l">
              <a:defRPr sz="1200"/>
            </a:lvl1pPr>
          </a:lstStyle>
          <a:p>
            <a:endParaRPr kumimoji="1" lang="ja-JP" altLang="en-US"/>
          </a:p>
        </p:txBody>
      </p:sp>
      <p:sp>
        <p:nvSpPr>
          <p:cNvPr id="5" name="スライド番号プレースホルダー 4"/>
          <p:cNvSpPr>
            <a:spLocks noGrp="1"/>
          </p:cNvSpPr>
          <p:nvPr>
            <p:ph type="sldNum" sz="quarter" idx="3"/>
          </p:nvPr>
        </p:nvSpPr>
        <p:spPr>
          <a:xfrm>
            <a:off x="3856210" y="9441662"/>
            <a:ext cx="2949420" cy="497676"/>
          </a:xfrm>
          <a:prstGeom prst="rect">
            <a:avLst/>
          </a:prstGeom>
        </p:spPr>
        <p:txBody>
          <a:bodyPr vert="horz" lIns="90561" tIns="45280" rIns="90561" bIns="45280" rtlCol="0" anchor="b"/>
          <a:lstStyle>
            <a:lvl1pPr algn="r">
              <a:defRPr sz="1200"/>
            </a:lvl1pPr>
          </a:lstStyle>
          <a:p>
            <a:fld id="{7B45B759-5475-4693-BFD4-53BF6401E48A}" type="slidenum">
              <a:rPr kumimoji="1" lang="ja-JP" altLang="en-US" smtClean="0"/>
              <a:t>‹#›</a:t>
            </a:fld>
            <a:endParaRPr kumimoji="1" lang="ja-JP" altLang="en-US"/>
          </a:p>
        </p:txBody>
      </p:sp>
    </p:spTree>
    <p:extLst>
      <p:ext uri="{BB962C8B-B14F-4D97-AF65-F5344CB8AC3E}">
        <p14:creationId xmlns:p14="http://schemas.microsoft.com/office/powerpoint/2010/main" val="325953079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1" y="2"/>
            <a:ext cx="2950528" cy="497524"/>
          </a:xfrm>
          <a:prstGeom prst="rect">
            <a:avLst/>
          </a:prstGeom>
        </p:spPr>
        <p:txBody>
          <a:bodyPr vert="horz" lIns="91529" tIns="45765" rIns="91529" bIns="45765" rtlCol="0"/>
          <a:lstStyle>
            <a:lvl1pPr algn="l">
              <a:defRPr sz="1200"/>
            </a:lvl1pPr>
          </a:lstStyle>
          <a:p>
            <a:endParaRPr kumimoji="1" lang="ja-JP" altLang="en-US"/>
          </a:p>
        </p:txBody>
      </p:sp>
      <p:sp>
        <p:nvSpPr>
          <p:cNvPr id="3" name="日付プレースホルダー 2"/>
          <p:cNvSpPr>
            <a:spLocks noGrp="1"/>
          </p:cNvSpPr>
          <p:nvPr>
            <p:ph type="dt" idx="1"/>
          </p:nvPr>
        </p:nvSpPr>
        <p:spPr>
          <a:xfrm>
            <a:off x="3855082" y="2"/>
            <a:ext cx="2950528" cy="497524"/>
          </a:xfrm>
          <a:prstGeom prst="rect">
            <a:avLst/>
          </a:prstGeom>
        </p:spPr>
        <p:txBody>
          <a:bodyPr vert="horz" lIns="91529" tIns="45765" rIns="91529" bIns="45765" rtlCol="0"/>
          <a:lstStyle>
            <a:lvl1pPr algn="r">
              <a:defRPr sz="1200"/>
            </a:lvl1pPr>
          </a:lstStyle>
          <a:p>
            <a:fld id="{6AF8158D-F6B1-45E0-9831-E70689DC8490}" type="datetimeFigureOut">
              <a:rPr kumimoji="1" lang="ja-JP" altLang="en-US" smtClean="0"/>
              <a:t>2026/10/29</a:t>
            </a:fld>
            <a:endParaRPr kumimoji="1" lang="ja-JP" altLang="en-US"/>
          </a:p>
        </p:txBody>
      </p:sp>
      <p:sp>
        <p:nvSpPr>
          <p:cNvPr id="4" name="スライド イメージ プレースホルダー 3"/>
          <p:cNvSpPr>
            <a:spLocks noGrp="1" noRot="1" noChangeAspect="1"/>
          </p:cNvSpPr>
          <p:nvPr>
            <p:ph type="sldImg" idx="2"/>
          </p:nvPr>
        </p:nvSpPr>
        <p:spPr>
          <a:xfrm>
            <a:off x="981075" y="1243013"/>
            <a:ext cx="4845050" cy="3354387"/>
          </a:xfrm>
          <a:prstGeom prst="rect">
            <a:avLst/>
          </a:prstGeom>
          <a:noFill/>
          <a:ln w="12700">
            <a:solidFill>
              <a:prstClr val="black"/>
            </a:solidFill>
          </a:ln>
        </p:spPr>
        <p:txBody>
          <a:bodyPr vert="horz" lIns="91529" tIns="45765" rIns="91529" bIns="45765" rtlCol="0" anchor="ctr"/>
          <a:lstStyle/>
          <a:p>
            <a:endParaRPr lang="ja-JP" altLang="en-US"/>
          </a:p>
        </p:txBody>
      </p:sp>
      <p:sp>
        <p:nvSpPr>
          <p:cNvPr id="5" name="ノート プレースホルダー 4"/>
          <p:cNvSpPr>
            <a:spLocks noGrp="1"/>
          </p:cNvSpPr>
          <p:nvPr>
            <p:ph type="body" sz="quarter" idx="3"/>
          </p:nvPr>
        </p:nvSpPr>
        <p:spPr>
          <a:xfrm>
            <a:off x="680402" y="4782901"/>
            <a:ext cx="5446396" cy="3913426"/>
          </a:xfrm>
          <a:prstGeom prst="rect">
            <a:avLst/>
          </a:prstGeom>
        </p:spPr>
        <p:txBody>
          <a:bodyPr vert="horz" lIns="91529" tIns="45765" rIns="91529" bIns="45765"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1" y="9441817"/>
            <a:ext cx="2950528" cy="497524"/>
          </a:xfrm>
          <a:prstGeom prst="rect">
            <a:avLst/>
          </a:prstGeom>
        </p:spPr>
        <p:txBody>
          <a:bodyPr vert="horz" lIns="91529" tIns="45765" rIns="91529" bIns="45765"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55082" y="9441817"/>
            <a:ext cx="2950528" cy="497524"/>
          </a:xfrm>
          <a:prstGeom prst="rect">
            <a:avLst/>
          </a:prstGeom>
        </p:spPr>
        <p:txBody>
          <a:bodyPr vert="horz" lIns="91529" tIns="45765" rIns="91529" bIns="45765" rtlCol="0" anchor="b"/>
          <a:lstStyle>
            <a:lvl1pPr algn="r">
              <a:defRPr sz="1200"/>
            </a:lvl1pPr>
          </a:lstStyle>
          <a:p>
            <a:fld id="{022E43C0-6795-4B13-B37C-259C826D4B6A}" type="slidenum">
              <a:rPr kumimoji="1" lang="ja-JP" altLang="en-US" smtClean="0"/>
              <a:t>‹#›</a:t>
            </a:fld>
            <a:endParaRPr kumimoji="1" lang="ja-JP" altLang="en-US"/>
          </a:p>
        </p:txBody>
      </p:sp>
    </p:spTree>
    <p:extLst>
      <p:ext uri="{BB962C8B-B14F-4D97-AF65-F5344CB8AC3E}">
        <p14:creationId xmlns:p14="http://schemas.microsoft.com/office/powerpoint/2010/main" val="640918907"/>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solidFill>
                <a:schemeClr val="tx1">
                  <a:lumMod val="65000"/>
                  <a:lumOff val="35000"/>
                </a:schemeClr>
              </a:solidFill>
            </a:endParaRPr>
          </a:p>
        </p:txBody>
      </p:sp>
      <p:sp>
        <p:nvSpPr>
          <p:cNvPr id="4" name="スライド番号プレースホルダー 3"/>
          <p:cNvSpPr>
            <a:spLocks noGrp="1"/>
          </p:cNvSpPr>
          <p:nvPr>
            <p:ph type="sldNum" sz="quarter" idx="10"/>
          </p:nvPr>
        </p:nvSpPr>
        <p:spPr/>
        <p:txBody>
          <a:bodyPr/>
          <a:lstStyle/>
          <a:p>
            <a:fld id="{022E43C0-6795-4B13-B37C-259C826D4B6A}" type="slidenum">
              <a:rPr kumimoji="1" lang="ja-JP" altLang="en-US" smtClean="0"/>
              <a:t>35</a:t>
            </a:fld>
            <a:endParaRPr kumimoji="1" lang="ja-JP" altLang="en-US"/>
          </a:p>
        </p:txBody>
      </p:sp>
    </p:spTree>
    <p:extLst>
      <p:ext uri="{BB962C8B-B14F-4D97-AF65-F5344CB8AC3E}">
        <p14:creationId xmlns:p14="http://schemas.microsoft.com/office/powerpoint/2010/main" val="152232489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022E43C0-6795-4B13-B37C-259C826D4B6A}" type="slidenum">
              <a:rPr kumimoji="1" lang="ja-JP" altLang="en-US" smtClean="0"/>
              <a:t>36</a:t>
            </a:fld>
            <a:endParaRPr kumimoji="1" lang="ja-JP" altLang="en-US"/>
          </a:p>
        </p:txBody>
      </p:sp>
    </p:spTree>
    <p:extLst>
      <p:ext uri="{BB962C8B-B14F-4D97-AF65-F5344CB8AC3E}">
        <p14:creationId xmlns:p14="http://schemas.microsoft.com/office/powerpoint/2010/main" val="183506441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022E43C0-6795-4B13-B37C-259C826D4B6A}" type="slidenum">
              <a:rPr kumimoji="1" lang="ja-JP" altLang="en-US" smtClean="0"/>
              <a:t>37</a:t>
            </a:fld>
            <a:endParaRPr kumimoji="1" lang="ja-JP" altLang="en-US"/>
          </a:p>
        </p:txBody>
      </p:sp>
    </p:spTree>
    <p:extLst>
      <p:ext uri="{BB962C8B-B14F-4D97-AF65-F5344CB8AC3E}">
        <p14:creationId xmlns:p14="http://schemas.microsoft.com/office/powerpoint/2010/main" val="32502120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DB6ADA-9EE0-91AA-01F0-865797FB3369}"/>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E48D7824-B497-EEC9-3C27-6A309145FC0A}"/>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A893DCE5-B0D5-3EB2-202E-F260807F7109}"/>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F8AE7A32-4756-AD3E-9E41-6DB0BE31AC45}"/>
              </a:ext>
            </a:extLst>
          </p:cNvPr>
          <p:cNvSpPr>
            <a:spLocks noGrp="1"/>
          </p:cNvSpPr>
          <p:nvPr>
            <p:ph type="sldNum" sz="quarter" idx="10"/>
          </p:nvPr>
        </p:nvSpPr>
        <p:spPr/>
        <p:txBody>
          <a:bodyPr/>
          <a:lstStyle/>
          <a:p>
            <a:fld id="{022E43C0-6795-4B13-B37C-259C826D4B6A}" type="slidenum">
              <a:rPr kumimoji="1" lang="ja-JP" altLang="en-US" smtClean="0"/>
              <a:t>38</a:t>
            </a:fld>
            <a:endParaRPr kumimoji="1" lang="ja-JP" altLang="en-US"/>
          </a:p>
        </p:txBody>
      </p:sp>
    </p:spTree>
    <p:extLst>
      <p:ext uri="{BB962C8B-B14F-4D97-AF65-F5344CB8AC3E}">
        <p14:creationId xmlns:p14="http://schemas.microsoft.com/office/powerpoint/2010/main" val="322614683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022E43C0-6795-4B13-B37C-259C826D4B6A}" type="slidenum">
              <a:rPr kumimoji="1" lang="ja-JP" altLang="en-US" smtClean="0"/>
              <a:t>39</a:t>
            </a:fld>
            <a:endParaRPr kumimoji="1" lang="ja-JP" altLang="en-US"/>
          </a:p>
        </p:txBody>
      </p:sp>
    </p:spTree>
    <p:extLst>
      <p:ext uri="{BB962C8B-B14F-4D97-AF65-F5344CB8AC3E}">
        <p14:creationId xmlns:p14="http://schemas.microsoft.com/office/powerpoint/2010/main" val="371762245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フッター プレースホルダー 3"/>
          <p:cNvSpPr>
            <a:spLocks noGrp="1"/>
          </p:cNvSpPr>
          <p:nvPr>
            <p:ph type="ftr" sz="quarter" idx="10"/>
          </p:nvPr>
        </p:nvSpPr>
        <p:spPr/>
        <p:txBody>
          <a:bodyPr/>
          <a:lstStyle/>
          <a:p>
            <a:pPr defTabSz="956886">
              <a:defRPr/>
            </a:pPr>
            <a:endParaRPr lang="ja-JP" altLang="en-US">
              <a:solidFill>
                <a:prstClr val="black"/>
              </a:solidFill>
              <a:latin typeface="Calibri"/>
              <a:ea typeface="ＭＳ Ｐゴシック" panose="020B0600070205080204" pitchFamily="50" charset="-128"/>
            </a:endParaRPr>
          </a:p>
        </p:txBody>
      </p:sp>
      <p:sp>
        <p:nvSpPr>
          <p:cNvPr id="5" name="スライド番号プレースホルダー 4"/>
          <p:cNvSpPr>
            <a:spLocks noGrp="1"/>
          </p:cNvSpPr>
          <p:nvPr>
            <p:ph type="sldNum" sz="quarter" idx="11"/>
          </p:nvPr>
        </p:nvSpPr>
        <p:spPr/>
        <p:txBody>
          <a:bodyPr/>
          <a:lstStyle/>
          <a:p>
            <a:pPr defTabSz="956886">
              <a:defRPr/>
            </a:pPr>
            <a:fld id="{929202D6-C1F5-472A-A72F-285F233F82C2}" type="slidenum">
              <a:rPr lang="ja-JP" altLang="en-US">
                <a:solidFill>
                  <a:prstClr val="black"/>
                </a:solidFill>
                <a:latin typeface="Calibri"/>
                <a:ea typeface="ＭＳ Ｐゴシック" panose="020B0600070205080204" pitchFamily="50" charset="-128"/>
              </a:rPr>
              <a:pPr defTabSz="956886">
                <a:defRPr/>
              </a:pPr>
              <a:t>53</a:t>
            </a:fld>
            <a:endParaRPr lang="ja-JP" altLang="en-US">
              <a:solidFill>
                <a:prstClr val="black"/>
              </a:solidFill>
              <a:latin typeface="Calibri"/>
              <a:ea typeface="ＭＳ Ｐゴシック" panose="020B0600070205080204" pitchFamily="50" charset="-128"/>
            </a:endParaRPr>
          </a:p>
        </p:txBody>
      </p:sp>
    </p:spTree>
    <p:extLst>
      <p:ext uri="{BB962C8B-B14F-4D97-AF65-F5344CB8AC3E}">
        <p14:creationId xmlns:p14="http://schemas.microsoft.com/office/powerpoint/2010/main" val="37920873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2_タイトルとコンテンツ">
    <p:spTree>
      <p:nvGrpSpPr>
        <p:cNvPr id="1" name=""/>
        <p:cNvGrpSpPr/>
        <p:nvPr/>
      </p:nvGrpSpPr>
      <p:grpSpPr>
        <a:xfrm>
          <a:off x="0" y="0"/>
          <a:ext cx="0" cy="0"/>
          <a:chOff x="0" y="0"/>
          <a:chExt cx="0" cy="0"/>
        </a:xfrm>
      </p:grpSpPr>
      <p:sp>
        <p:nvSpPr>
          <p:cNvPr id="2" name="正方形/長方形 1"/>
          <p:cNvSpPr/>
          <p:nvPr userDrawn="1"/>
        </p:nvSpPr>
        <p:spPr>
          <a:xfrm>
            <a:off x="9398000" y="6591300"/>
            <a:ext cx="419100" cy="266700"/>
          </a:xfrm>
          <a:prstGeom prst="rect">
            <a:avLst/>
          </a:prstGeom>
          <a:solidFill>
            <a:srgbClr val="191F5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758107768"/>
      </p:ext>
    </p:extLst>
  </p:cSld>
  <p:clrMapOvr>
    <a:masterClrMapping/>
  </p:clrMapOvr>
  <p:hf hdr="0" dt="0"/>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4_タイトルとコンテンツ">
    <p:spTree>
      <p:nvGrpSpPr>
        <p:cNvPr id="1" name=""/>
        <p:cNvGrpSpPr/>
        <p:nvPr/>
      </p:nvGrpSpPr>
      <p:grpSpPr>
        <a:xfrm>
          <a:off x="0" y="0"/>
          <a:ext cx="0" cy="0"/>
          <a:chOff x="0" y="0"/>
          <a:chExt cx="0" cy="0"/>
        </a:xfrm>
      </p:grpSpPr>
      <p:cxnSp>
        <p:nvCxnSpPr>
          <p:cNvPr id="5" name="直線コネクタ 4"/>
          <p:cNvCxnSpPr/>
          <p:nvPr/>
        </p:nvCxnSpPr>
        <p:spPr>
          <a:xfrm>
            <a:off x="0" y="548680"/>
            <a:ext cx="9906000" cy="0"/>
          </a:xfrm>
          <a:prstGeom prst="line">
            <a:avLst/>
          </a:prstGeom>
          <a:ln>
            <a:solidFill>
              <a:srgbClr val="191F54"/>
            </a:solidFill>
          </a:ln>
          <a:effectLst/>
        </p:spPr>
        <p:style>
          <a:lnRef idx="2">
            <a:schemeClr val="accent1"/>
          </a:lnRef>
          <a:fillRef idx="0">
            <a:schemeClr val="accent1"/>
          </a:fillRef>
          <a:effectRef idx="1">
            <a:schemeClr val="accent1"/>
          </a:effectRef>
          <a:fontRef idx="minor">
            <a:schemeClr val="tx1"/>
          </a:fontRef>
        </p:style>
      </p:cxnSp>
      <p:sp>
        <p:nvSpPr>
          <p:cNvPr id="7" name="正方形/長方形 6"/>
          <p:cNvSpPr/>
          <p:nvPr/>
        </p:nvSpPr>
        <p:spPr>
          <a:xfrm>
            <a:off x="0" y="0"/>
            <a:ext cx="451204" cy="548680"/>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sz="1800">
              <a:solidFill>
                <a:prstClr val="white"/>
              </a:solidFill>
            </a:endParaRPr>
          </a:p>
        </p:txBody>
      </p:sp>
    </p:spTree>
    <p:extLst>
      <p:ext uri="{BB962C8B-B14F-4D97-AF65-F5344CB8AC3E}">
        <p14:creationId xmlns:p14="http://schemas.microsoft.com/office/powerpoint/2010/main" val="1958189266"/>
      </p:ext>
    </p:extLst>
  </p:cSld>
  <p:clrMapOvr>
    <a:masterClrMapping/>
  </p:clrMapOvr>
  <p:hf hdr="0" dt="0"/>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1_タイトル スライド">
    <p:spTree>
      <p:nvGrpSpPr>
        <p:cNvPr id="1" name=""/>
        <p:cNvGrpSpPr/>
        <p:nvPr/>
      </p:nvGrpSpPr>
      <p:grpSpPr>
        <a:xfrm>
          <a:off x="0" y="0"/>
          <a:ext cx="0" cy="0"/>
          <a:chOff x="0" y="0"/>
          <a:chExt cx="0" cy="0"/>
        </a:xfrm>
      </p:grpSpPr>
    </p:spTree>
    <p:extLst>
      <p:ext uri="{BB962C8B-B14F-4D97-AF65-F5344CB8AC3E}">
        <p14:creationId xmlns:p14="http://schemas.microsoft.com/office/powerpoint/2010/main" val="378521234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 Id="rId5" Type="http://schemas.openxmlformats.org/officeDocument/2006/relationships/image" Target="../media/image1.png"/><Relationship Id="rId6" Type="http://schemas.openxmlformats.org/officeDocument/2006/relationships/image" Target="../media/image2.png"/></Relationships>
</file>

<file path=ppt/slideMasters/_rels/slideMaster2.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image" Target="../media/image3.emf"/></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2" name="図 1"/>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8151357" y="72255"/>
            <a:ext cx="1598627" cy="424153"/>
          </a:xfrm>
          <a:prstGeom prst="rect">
            <a:avLst/>
          </a:prstGeom>
        </p:spPr>
      </p:pic>
      <p:pic>
        <p:nvPicPr>
          <p:cNvPr id="5" name="図 4"/>
          <p:cNvPicPr>
            <a:picLocks noChangeAspect="1"/>
          </p:cNvPicPr>
          <p:nvPr/>
        </p:nvPicPr>
        <p:blipFill>
          <a:blip r:embed="rId6"/>
          <a:stretch>
            <a:fillRect/>
          </a:stretch>
        </p:blipFill>
        <p:spPr>
          <a:xfrm>
            <a:off x="8151355" y="32333"/>
            <a:ext cx="1653069" cy="635796"/>
          </a:xfrm>
          <a:prstGeom prst="rect">
            <a:avLst/>
          </a:prstGeom>
        </p:spPr>
      </p:pic>
      <p:sp>
        <p:nvSpPr>
          <p:cNvPr id="6" name="正方形/長方形 5"/>
          <p:cNvSpPr/>
          <p:nvPr/>
        </p:nvSpPr>
        <p:spPr>
          <a:xfrm>
            <a:off x="0" y="6552728"/>
            <a:ext cx="9906000" cy="332656"/>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sz="1800">
              <a:solidFill>
                <a:prstClr val="white"/>
              </a:solidFill>
            </a:endParaRPr>
          </a:p>
        </p:txBody>
      </p:sp>
      <p:sp>
        <p:nvSpPr>
          <p:cNvPr id="8" name="スライド番号プレースホルダ 1"/>
          <p:cNvSpPr txBox="1">
            <a:spLocks/>
          </p:cNvSpPr>
          <p:nvPr/>
        </p:nvSpPr>
        <p:spPr>
          <a:xfrm>
            <a:off x="7594600" y="6552729"/>
            <a:ext cx="2311400" cy="365125"/>
          </a:xfrm>
          <a:prstGeom prst="rect">
            <a:avLst/>
          </a:prstGeom>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fld id="{9FC100E3-15F5-4145-A942-47DB1D8B776D}" type="slidenum">
              <a:rPr lang="ja-JP" altLang="en-US" sz="1400" b="1" smtClean="0">
                <a:solidFill>
                  <a:schemeClr val="bg1"/>
                </a:solidFill>
                <a:latin typeface="メイリオ" panose="020B0604030504040204" pitchFamily="50" charset="-128"/>
                <a:ea typeface="メイリオ" panose="020B0604030504040204" pitchFamily="50" charset="-128"/>
                <a:cs typeface="メイリオ" panose="020B0604030504040204" pitchFamily="50" charset="-128"/>
              </a:rPr>
              <a:pPr algn="r"/>
              <a:t>‹#›</a:t>
            </a:fld>
            <a:endParaRPr lang="ja-JP" altLang="en-US" sz="1400" b="1" dirty="0">
              <a:solidFill>
                <a:schemeClr val="bg1"/>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9" name="テキスト ボックス 8"/>
          <p:cNvSpPr txBox="1">
            <a:spLocks noChangeArrowheads="1"/>
          </p:cNvSpPr>
          <p:nvPr userDrawn="1"/>
        </p:nvSpPr>
        <p:spPr bwMode="auto">
          <a:xfrm>
            <a:off x="116569" y="6597932"/>
            <a:ext cx="3666301"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kumimoji="1" sz="2400">
                <a:solidFill>
                  <a:schemeClr val="tx1"/>
                </a:solidFill>
                <a:latin typeface="Arial" charset="0"/>
                <a:ea typeface="ＭＳ Ｐゴシック" charset="0"/>
                <a:cs typeface="ＭＳ Ｐゴシック" charset="0"/>
              </a:defRPr>
            </a:lvl1pPr>
            <a:lvl2pPr marL="742950" indent="-285750">
              <a:defRPr kumimoji="1" sz="2400">
                <a:solidFill>
                  <a:schemeClr val="tx1"/>
                </a:solidFill>
                <a:latin typeface="Arial" charset="0"/>
                <a:ea typeface="ＭＳ Ｐゴシック" charset="0"/>
              </a:defRPr>
            </a:lvl2pPr>
            <a:lvl3pPr marL="1143000" indent="-228600">
              <a:defRPr kumimoji="1" sz="2400">
                <a:solidFill>
                  <a:schemeClr val="tx1"/>
                </a:solidFill>
                <a:latin typeface="Arial" charset="0"/>
                <a:ea typeface="ＭＳ Ｐゴシック" charset="0"/>
              </a:defRPr>
            </a:lvl3pPr>
            <a:lvl4pPr marL="1600200" indent="-228600">
              <a:defRPr kumimoji="1" sz="2400">
                <a:solidFill>
                  <a:schemeClr val="tx1"/>
                </a:solidFill>
                <a:latin typeface="Arial" charset="0"/>
                <a:ea typeface="ＭＳ Ｐゴシック" charset="0"/>
              </a:defRPr>
            </a:lvl4pPr>
            <a:lvl5pPr marL="2057400" indent="-228600">
              <a:defRPr kumimoji="1" sz="2400">
                <a:solidFill>
                  <a:schemeClr val="tx1"/>
                </a:solidFill>
                <a:latin typeface="Arial" charset="0"/>
                <a:ea typeface="ＭＳ Ｐゴシック" charset="0"/>
              </a:defRPr>
            </a:lvl5pPr>
            <a:lvl6pPr marL="2514600" indent="-228600" fontAlgn="base">
              <a:spcBef>
                <a:spcPct val="0"/>
              </a:spcBef>
              <a:spcAft>
                <a:spcPct val="0"/>
              </a:spcAft>
              <a:defRPr kumimoji="1" sz="2400">
                <a:solidFill>
                  <a:schemeClr val="tx1"/>
                </a:solidFill>
                <a:latin typeface="Arial" charset="0"/>
                <a:ea typeface="ＭＳ Ｐゴシック" charset="0"/>
              </a:defRPr>
            </a:lvl6pPr>
            <a:lvl7pPr marL="2971800" indent="-228600" fontAlgn="base">
              <a:spcBef>
                <a:spcPct val="0"/>
              </a:spcBef>
              <a:spcAft>
                <a:spcPct val="0"/>
              </a:spcAft>
              <a:defRPr kumimoji="1" sz="2400">
                <a:solidFill>
                  <a:schemeClr val="tx1"/>
                </a:solidFill>
                <a:latin typeface="Arial" charset="0"/>
                <a:ea typeface="ＭＳ Ｐゴシック" charset="0"/>
              </a:defRPr>
            </a:lvl7pPr>
            <a:lvl8pPr marL="3429000" indent="-228600" fontAlgn="base">
              <a:spcBef>
                <a:spcPct val="0"/>
              </a:spcBef>
              <a:spcAft>
                <a:spcPct val="0"/>
              </a:spcAft>
              <a:defRPr kumimoji="1" sz="2400">
                <a:solidFill>
                  <a:schemeClr val="tx1"/>
                </a:solidFill>
                <a:latin typeface="Arial" charset="0"/>
                <a:ea typeface="ＭＳ Ｐゴシック" charset="0"/>
              </a:defRPr>
            </a:lvl8pPr>
            <a:lvl9pPr marL="3886200" indent="-228600" fontAlgn="base">
              <a:spcBef>
                <a:spcPct val="0"/>
              </a:spcBef>
              <a:spcAft>
                <a:spcPct val="0"/>
              </a:spcAft>
              <a:defRPr kumimoji="1" sz="2400">
                <a:solidFill>
                  <a:schemeClr val="tx1"/>
                </a:solidFill>
                <a:latin typeface="Arial" charset="0"/>
                <a:ea typeface="ＭＳ Ｐゴシック" charset="0"/>
              </a:defRPr>
            </a:lvl9pPr>
          </a:lstStyle>
          <a:p>
            <a:pPr>
              <a:defRPr/>
            </a:pPr>
            <a:r>
              <a:rPr lang="en-US" altLang="ja-JP" sz="800" b="1" dirty="0">
                <a:solidFill>
                  <a:schemeClr val="bg1"/>
                </a:solidFill>
                <a:latin typeface="メイリオ"/>
                <a:ea typeface="メイリオ"/>
                <a:cs typeface="メイリオ"/>
              </a:rPr>
              <a:t>Copyright(c) DYM Co., Ltd</a:t>
            </a:r>
            <a:r>
              <a:rPr lang="ja-JP" altLang="en-US" sz="800" b="1" dirty="0" err="1">
                <a:solidFill>
                  <a:schemeClr val="bg1"/>
                </a:solidFill>
                <a:latin typeface="メイリオ"/>
                <a:ea typeface="メイリオ"/>
                <a:cs typeface="メイリオ"/>
              </a:rPr>
              <a:t>．</a:t>
            </a:r>
            <a:r>
              <a:rPr lang="en-US" altLang="ja-JP" sz="800" b="1" dirty="0">
                <a:solidFill>
                  <a:schemeClr val="bg1"/>
                </a:solidFill>
                <a:latin typeface="メイリオ"/>
                <a:ea typeface="メイリオ"/>
                <a:cs typeface="メイリオ"/>
              </a:rPr>
              <a:t> All Rights Reserved.</a:t>
            </a:r>
          </a:p>
        </p:txBody>
      </p:sp>
    </p:spTree>
    <p:extLst>
      <p:ext uri="{BB962C8B-B14F-4D97-AF65-F5344CB8AC3E}">
        <p14:creationId xmlns:p14="http://schemas.microsoft.com/office/powerpoint/2010/main" val="345870335"/>
      </p:ext>
    </p:extLst>
  </p:cSld>
  <p:clrMap bg1="lt1" tx1="dk1" bg2="lt2" tx2="dk2" accent1="accent1" accent2="accent2" accent3="accent3" accent4="accent4" accent5="accent5" accent6="accent6" hlink="hlink" folHlink="folHlink"/>
  <p:sldLayoutIdLst>
    <p:sldLayoutId id="2147483676" r:id="rId1"/>
    <p:sldLayoutId id="2147483683" r:id="rId2"/>
    <p:sldLayoutId id="2147483689" r:id="rId3"/>
  </p:sldLayoutIdLst>
  <p:hf hdr="0" dt="0"/>
  <p:txStyles>
    <p:titleStyle>
      <a:lvl1pPr algn="ctr" rtl="0" eaLnBrk="1" fontAlgn="base" hangingPunct="1">
        <a:spcBef>
          <a:spcPct val="0"/>
        </a:spcBef>
        <a:spcAft>
          <a:spcPct val="0"/>
        </a:spcAft>
        <a:defRPr kumimoji="1" sz="4400" kern="1200">
          <a:solidFill>
            <a:schemeClr val="tx1"/>
          </a:solidFill>
          <a:latin typeface="+mj-lt"/>
          <a:ea typeface="+mj-ea"/>
          <a:cs typeface="+mj-cs"/>
        </a:defRPr>
      </a:lvl1pPr>
      <a:lvl2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2pPr>
      <a:lvl3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3pPr>
      <a:lvl4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4pPr>
      <a:lvl5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5pPr>
      <a:lvl6pPr marL="4572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6pPr>
      <a:lvl7pPr marL="9144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7pPr>
      <a:lvl8pPr marL="13716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8pPr>
      <a:lvl9pPr marL="18288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9pPr>
    </p:titleStyle>
    <p:bodyStyle>
      <a:lvl1pPr marL="342900" indent="-342900" algn="l" rtl="0" eaLnBrk="1" fontAlgn="base" hangingPunct="1">
        <a:spcBef>
          <a:spcPct val="20000"/>
        </a:spcBef>
        <a:spcAft>
          <a:spcPct val="0"/>
        </a:spcAft>
        <a:buFont typeface="Arial" charset="0"/>
        <a:buChar char="•"/>
        <a:defRPr kumimoji="1" sz="3200" kern="1200">
          <a:solidFill>
            <a:schemeClr val="tx1"/>
          </a:solidFill>
          <a:latin typeface="+mn-lt"/>
          <a:ea typeface="+mn-ea"/>
          <a:cs typeface="+mn-cs"/>
        </a:defRPr>
      </a:lvl1pPr>
      <a:lvl2pPr marL="742950" indent="-285750" algn="l" rtl="0" eaLnBrk="1" fontAlgn="base" hangingPunct="1">
        <a:spcBef>
          <a:spcPct val="20000"/>
        </a:spcBef>
        <a:spcAft>
          <a:spcPct val="0"/>
        </a:spcAft>
        <a:buFont typeface="Arial" charset="0"/>
        <a:buChar char="–"/>
        <a:defRPr kumimoji="1" sz="2800" kern="1200">
          <a:solidFill>
            <a:schemeClr val="tx1"/>
          </a:solidFill>
          <a:latin typeface="+mn-lt"/>
          <a:ea typeface="+mn-ea"/>
          <a:cs typeface="+mn-cs"/>
        </a:defRPr>
      </a:lvl2pPr>
      <a:lvl3pPr marL="1143000" indent="-228600" algn="l" rtl="0" eaLnBrk="1" fontAlgn="base" hangingPunct="1">
        <a:spcBef>
          <a:spcPct val="20000"/>
        </a:spcBef>
        <a:spcAft>
          <a:spcPct val="0"/>
        </a:spcAft>
        <a:buFont typeface="Arial" charset="0"/>
        <a:buChar char="•"/>
        <a:defRPr kumimoji="1" sz="2400" kern="1200">
          <a:solidFill>
            <a:schemeClr val="tx1"/>
          </a:solidFill>
          <a:latin typeface="+mn-lt"/>
          <a:ea typeface="+mn-ea"/>
          <a:cs typeface="+mn-cs"/>
        </a:defRPr>
      </a:lvl3pPr>
      <a:lvl4pPr marL="1600200" indent="-228600" algn="l"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4pPr>
      <a:lvl5pPr marL="2057400" indent="-228600" algn="l"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5" name="正方形/長方形 4"/>
          <p:cNvSpPr/>
          <p:nvPr/>
        </p:nvSpPr>
        <p:spPr>
          <a:xfrm>
            <a:off x="0" y="6552728"/>
            <a:ext cx="9906000" cy="332656"/>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a:solidFill>
                <a:prstClr val="white"/>
              </a:solidFill>
            </a:endParaRPr>
          </a:p>
        </p:txBody>
      </p:sp>
      <p:sp>
        <p:nvSpPr>
          <p:cNvPr id="10" name="テキスト ボックス 9"/>
          <p:cNvSpPr txBox="1">
            <a:spLocks noChangeArrowheads="1"/>
          </p:cNvSpPr>
          <p:nvPr/>
        </p:nvSpPr>
        <p:spPr bwMode="auto">
          <a:xfrm>
            <a:off x="116569" y="6597932"/>
            <a:ext cx="3666301"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kumimoji="1" sz="2400">
                <a:solidFill>
                  <a:schemeClr val="tx1"/>
                </a:solidFill>
                <a:latin typeface="Arial" charset="0"/>
                <a:ea typeface="ＭＳ Ｐゴシック" charset="0"/>
                <a:cs typeface="ＭＳ Ｐゴシック" charset="0"/>
              </a:defRPr>
            </a:lvl1pPr>
            <a:lvl2pPr marL="742950" indent="-285750">
              <a:defRPr kumimoji="1" sz="2400">
                <a:solidFill>
                  <a:schemeClr val="tx1"/>
                </a:solidFill>
                <a:latin typeface="Arial" charset="0"/>
                <a:ea typeface="ＭＳ Ｐゴシック" charset="0"/>
              </a:defRPr>
            </a:lvl2pPr>
            <a:lvl3pPr marL="1143000" indent="-228600">
              <a:defRPr kumimoji="1" sz="2400">
                <a:solidFill>
                  <a:schemeClr val="tx1"/>
                </a:solidFill>
                <a:latin typeface="Arial" charset="0"/>
                <a:ea typeface="ＭＳ Ｐゴシック" charset="0"/>
              </a:defRPr>
            </a:lvl3pPr>
            <a:lvl4pPr marL="1600200" indent="-228600">
              <a:defRPr kumimoji="1" sz="2400">
                <a:solidFill>
                  <a:schemeClr val="tx1"/>
                </a:solidFill>
                <a:latin typeface="Arial" charset="0"/>
                <a:ea typeface="ＭＳ Ｐゴシック" charset="0"/>
              </a:defRPr>
            </a:lvl4pPr>
            <a:lvl5pPr marL="2057400" indent="-228600">
              <a:defRPr kumimoji="1" sz="2400">
                <a:solidFill>
                  <a:schemeClr val="tx1"/>
                </a:solidFill>
                <a:latin typeface="Arial" charset="0"/>
                <a:ea typeface="ＭＳ Ｐゴシック" charset="0"/>
              </a:defRPr>
            </a:lvl5pPr>
            <a:lvl6pPr marL="2514600" indent="-228600" fontAlgn="base">
              <a:spcBef>
                <a:spcPct val="0"/>
              </a:spcBef>
              <a:spcAft>
                <a:spcPct val="0"/>
              </a:spcAft>
              <a:defRPr kumimoji="1" sz="2400">
                <a:solidFill>
                  <a:schemeClr val="tx1"/>
                </a:solidFill>
                <a:latin typeface="Arial" charset="0"/>
                <a:ea typeface="ＭＳ Ｐゴシック" charset="0"/>
              </a:defRPr>
            </a:lvl6pPr>
            <a:lvl7pPr marL="2971800" indent="-228600" fontAlgn="base">
              <a:spcBef>
                <a:spcPct val="0"/>
              </a:spcBef>
              <a:spcAft>
                <a:spcPct val="0"/>
              </a:spcAft>
              <a:defRPr kumimoji="1" sz="2400">
                <a:solidFill>
                  <a:schemeClr val="tx1"/>
                </a:solidFill>
                <a:latin typeface="Arial" charset="0"/>
                <a:ea typeface="ＭＳ Ｐゴシック" charset="0"/>
              </a:defRPr>
            </a:lvl7pPr>
            <a:lvl8pPr marL="3429000" indent="-228600" fontAlgn="base">
              <a:spcBef>
                <a:spcPct val="0"/>
              </a:spcBef>
              <a:spcAft>
                <a:spcPct val="0"/>
              </a:spcAft>
              <a:defRPr kumimoji="1" sz="2400">
                <a:solidFill>
                  <a:schemeClr val="tx1"/>
                </a:solidFill>
                <a:latin typeface="Arial" charset="0"/>
                <a:ea typeface="ＭＳ Ｐゴシック" charset="0"/>
              </a:defRPr>
            </a:lvl8pPr>
            <a:lvl9pPr marL="3886200" indent="-228600" fontAlgn="base">
              <a:spcBef>
                <a:spcPct val="0"/>
              </a:spcBef>
              <a:spcAft>
                <a:spcPct val="0"/>
              </a:spcAft>
              <a:defRPr kumimoji="1" sz="2400">
                <a:solidFill>
                  <a:schemeClr val="tx1"/>
                </a:solidFill>
                <a:latin typeface="Arial" charset="0"/>
                <a:ea typeface="ＭＳ Ｐゴシック" charset="0"/>
              </a:defRPr>
            </a:lvl9pPr>
          </a:lstStyle>
          <a:p>
            <a:pPr>
              <a:defRPr/>
            </a:pPr>
            <a:r>
              <a:rPr lang="en-US" altLang="ja-JP" sz="800" b="1" dirty="0">
                <a:solidFill>
                  <a:prstClr val="white"/>
                </a:solidFill>
                <a:latin typeface="メイリオ"/>
                <a:ea typeface="メイリオ"/>
                <a:cs typeface="メイリオ"/>
              </a:rPr>
              <a:t>Copyright(c) DYM Co., </a:t>
            </a:r>
            <a:r>
              <a:rPr lang="en-US" altLang="ja-JP" sz="800" b="1" dirty="0" err="1">
                <a:solidFill>
                  <a:prstClr val="white"/>
                </a:solidFill>
                <a:latin typeface="メイリオ"/>
                <a:ea typeface="メイリオ"/>
                <a:cs typeface="メイリオ"/>
              </a:rPr>
              <a:t>Ltd.All</a:t>
            </a:r>
            <a:r>
              <a:rPr lang="en-US" altLang="ja-JP" sz="800" b="1" dirty="0">
                <a:solidFill>
                  <a:prstClr val="white"/>
                </a:solidFill>
                <a:latin typeface="メイリオ"/>
                <a:ea typeface="メイリオ"/>
                <a:cs typeface="メイリオ"/>
              </a:rPr>
              <a:t> Rights Reserved.</a:t>
            </a:r>
          </a:p>
        </p:txBody>
      </p:sp>
      <p:sp>
        <p:nvSpPr>
          <p:cNvPr id="8" name="正方形/長方形 7"/>
          <p:cNvSpPr/>
          <p:nvPr/>
        </p:nvSpPr>
        <p:spPr>
          <a:xfrm>
            <a:off x="0" y="0"/>
            <a:ext cx="416496" cy="548680"/>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a:solidFill>
                <a:prstClr val="white"/>
              </a:solidFill>
            </a:endParaRPr>
          </a:p>
        </p:txBody>
      </p:sp>
      <p:cxnSp>
        <p:nvCxnSpPr>
          <p:cNvPr id="4" name="直線コネクタ 3"/>
          <p:cNvCxnSpPr/>
          <p:nvPr/>
        </p:nvCxnSpPr>
        <p:spPr>
          <a:xfrm>
            <a:off x="0" y="548680"/>
            <a:ext cx="9906000" cy="0"/>
          </a:xfrm>
          <a:prstGeom prst="line">
            <a:avLst/>
          </a:prstGeom>
          <a:ln>
            <a:solidFill>
              <a:srgbClr val="00324B"/>
            </a:solidFill>
          </a:ln>
          <a:effectLst/>
        </p:spPr>
        <p:style>
          <a:lnRef idx="2">
            <a:schemeClr val="accent1"/>
          </a:lnRef>
          <a:fillRef idx="0">
            <a:schemeClr val="accent1"/>
          </a:fillRef>
          <a:effectRef idx="1">
            <a:schemeClr val="accent1"/>
          </a:effectRef>
          <a:fontRef idx="minor">
            <a:schemeClr val="tx1"/>
          </a:fontRef>
        </p:style>
      </p:cxnSp>
      <p:pic>
        <p:nvPicPr>
          <p:cNvPr id="9" name="図 1"/>
          <p:cNvPicPr>
            <a:picLocks/>
          </p:cNvPicPr>
          <p:nvPr userDrawn="1"/>
        </p:nvPicPr>
        <p:blipFill rotWithShape="1">
          <a:blip r:embed="rId2" cstate="hqprint">
            <a:extLst>
              <a:ext uri="{28A0092B-C50C-407E-A947-70E740481C1C}">
                <a14:useLocalDpi xmlns:a14="http://schemas.microsoft.com/office/drawing/2010/main" val="0"/>
              </a:ext>
            </a:extLst>
          </a:blip>
          <a:srcRect l="-1647" r="-11171"/>
          <a:stretch/>
        </p:blipFill>
        <p:spPr bwMode="auto">
          <a:xfrm>
            <a:off x="8619408" y="161057"/>
            <a:ext cx="1192729" cy="26331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 name="スライド番号プレースホルダ 1"/>
          <p:cNvSpPr txBox="1">
            <a:spLocks/>
          </p:cNvSpPr>
          <p:nvPr userDrawn="1"/>
        </p:nvSpPr>
        <p:spPr>
          <a:xfrm>
            <a:off x="7545288" y="6571255"/>
            <a:ext cx="2133600" cy="216000"/>
          </a:xfrm>
          <a:prstGeom prst="rect">
            <a:avLst/>
          </a:prstGeom>
        </p:spPr>
        <p:txBody>
          <a:bodyPr tIns="25200"/>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fld id="{9FC100E3-15F5-4145-A942-47DB1D8B776D}" type="slidenum">
              <a:rPr lang="ja-JP" altLang="en-US" sz="1400" i="1" smtClean="0">
                <a:solidFill>
                  <a:prstClr val="white"/>
                </a:solidFill>
                <a:latin typeface="Century Gothic" panose="020B0502020202020204" pitchFamily="34" charset="0"/>
              </a:rPr>
              <a:pPr algn="r"/>
              <a:t>‹#›</a:t>
            </a:fld>
            <a:endParaRPr lang="ja-JP" altLang="en-US" sz="1400" i="1" dirty="0">
              <a:solidFill>
                <a:prstClr val="white"/>
              </a:solidFill>
              <a:latin typeface="Century Gothic" panose="020B0502020202020204" pitchFamily="34" charset="0"/>
            </a:endParaRPr>
          </a:p>
        </p:txBody>
      </p:sp>
    </p:spTree>
    <p:extLst>
      <p:ext uri="{BB962C8B-B14F-4D97-AF65-F5344CB8AC3E}">
        <p14:creationId xmlns:p14="http://schemas.microsoft.com/office/powerpoint/2010/main" val="611138245"/>
      </p:ext>
    </p:extLst>
  </p:cSld>
  <p:clrMap bg1="lt1" tx1="dk1" bg2="lt2" tx2="dk2" accent1="accent1" accent2="accent2" accent3="accent3" accent4="accent4" accent5="accent5" accent6="accent6" hlink="hlink" folHlink="folHlink"/>
  <p:hf hdr="0" dt="0"/>
  <p:txStyles>
    <p:titleStyle>
      <a:lvl1pPr algn="ctr" defTabSz="457200" rtl="0" eaLnBrk="1" fontAlgn="base" hangingPunct="1">
        <a:spcBef>
          <a:spcPct val="0"/>
        </a:spcBef>
        <a:spcAft>
          <a:spcPct val="0"/>
        </a:spcAft>
        <a:defRPr kumimoji="1" sz="4400" kern="1200">
          <a:solidFill>
            <a:schemeClr val="tx1"/>
          </a:solidFill>
          <a:latin typeface="+mj-lt"/>
          <a:ea typeface="+mj-ea"/>
          <a:cs typeface="ＭＳ Ｐゴシック" charset="0"/>
        </a:defRPr>
      </a:lvl1pPr>
      <a:lvl2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2pPr>
      <a:lvl3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3pPr>
      <a:lvl4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4pPr>
      <a:lvl5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5pPr>
      <a:lvl6pPr marL="4572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6pPr>
      <a:lvl7pPr marL="9144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7pPr>
      <a:lvl8pPr marL="13716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8pPr>
      <a:lvl9pPr marL="18288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9pPr>
    </p:titleStyle>
    <p:bodyStyle>
      <a:lvl1pPr marL="342900" indent="-342900" algn="l" defTabSz="457200" rtl="0" eaLnBrk="1" fontAlgn="base" hangingPunct="1">
        <a:spcBef>
          <a:spcPct val="20000"/>
        </a:spcBef>
        <a:spcAft>
          <a:spcPct val="0"/>
        </a:spcAft>
        <a:buFont typeface="Arial" charset="0"/>
        <a:buChar char="•"/>
        <a:defRPr kumimoji="1" sz="3200" kern="1200">
          <a:solidFill>
            <a:schemeClr val="tx1"/>
          </a:solidFill>
          <a:latin typeface="+mn-lt"/>
          <a:ea typeface="+mn-ea"/>
          <a:cs typeface="ＭＳ Ｐゴシック" charset="0"/>
        </a:defRPr>
      </a:lvl1pPr>
      <a:lvl2pPr marL="742950" indent="-285750" algn="l" defTabSz="457200" rtl="0" eaLnBrk="1" fontAlgn="base" hangingPunct="1">
        <a:spcBef>
          <a:spcPct val="20000"/>
        </a:spcBef>
        <a:spcAft>
          <a:spcPct val="0"/>
        </a:spcAft>
        <a:buFont typeface="Arial" charset="0"/>
        <a:buChar char="–"/>
        <a:defRPr kumimoji="1" sz="2800" kern="1200">
          <a:solidFill>
            <a:schemeClr val="tx1"/>
          </a:solidFill>
          <a:latin typeface="+mn-lt"/>
          <a:ea typeface="+mn-ea"/>
          <a:cs typeface="+mn-cs"/>
        </a:defRPr>
      </a:lvl2pPr>
      <a:lvl3pPr marL="1143000" indent="-228600" algn="l" defTabSz="457200" rtl="0" eaLnBrk="1" fontAlgn="base" hangingPunct="1">
        <a:spcBef>
          <a:spcPct val="20000"/>
        </a:spcBef>
        <a:spcAft>
          <a:spcPct val="0"/>
        </a:spcAft>
        <a:buFont typeface="Arial" charset="0"/>
        <a:buChar char="•"/>
        <a:defRPr kumimoji="1" sz="2400" kern="1200">
          <a:solidFill>
            <a:schemeClr val="tx1"/>
          </a:solidFill>
          <a:latin typeface="+mn-lt"/>
          <a:ea typeface="+mn-ea"/>
          <a:cs typeface="+mn-cs"/>
        </a:defRPr>
      </a:lvl3pPr>
      <a:lvl4pPr marL="1600200" indent="-228600" algn="l" defTabSz="457200"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4pPr>
      <a:lvl5pPr marL="2057400" indent="-228600" algn="l" defTabSz="457200"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9pPr>
    </p:bodyStyle>
    <p:otherStyle>
      <a:defPPr>
        <a:defRPr lang="ja-JP"/>
      </a:defPPr>
      <a:lvl1pPr marL="0" algn="l" defTabSz="457200" rtl="0" eaLnBrk="1" latinLnBrk="0" hangingPunct="1">
        <a:defRPr kumimoji="1" sz="1800" kern="1200">
          <a:solidFill>
            <a:schemeClr val="tx1"/>
          </a:solidFill>
          <a:latin typeface="+mn-lt"/>
          <a:ea typeface="+mn-ea"/>
          <a:cs typeface="+mn-cs"/>
        </a:defRPr>
      </a:lvl1pPr>
      <a:lvl2pPr marL="457200" algn="l" defTabSz="457200" rtl="0" eaLnBrk="1" latinLnBrk="0" hangingPunct="1">
        <a:defRPr kumimoji="1" sz="1800" kern="1200">
          <a:solidFill>
            <a:schemeClr val="tx1"/>
          </a:solidFill>
          <a:latin typeface="+mn-lt"/>
          <a:ea typeface="+mn-ea"/>
          <a:cs typeface="+mn-cs"/>
        </a:defRPr>
      </a:lvl2pPr>
      <a:lvl3pPr marL="914400" algn="l" defTabSz="457200" rtl="0" eaLnBrk="1" latinLnBrk="0" hangingPunct="1">
        <a:defRPr kumimoji="1" sz="1800" kern="1200">
          <a:solidFill>
            <a:schemeClr val="tx1"/>
          </a:solidFill>
          <a:latin typeface="+mn-lt"/>
          <a:ea typeface="+mn-ea"/>
          <a:cs typeface="+mn-cs"/>
        </a:defRPr>
      </a:lvl3pPr>
      <a:lvl4pPr marL="1371600" algn="l" defTabSz="457200" rtl="0" eaLnBrk="1" latinLnBrk="0" hangingPunct="1">
        <a:defRPr kumimoji="1" sz="1800" kern="1200">
          <a:solidFill>
            <a:schemeClr val="tx1"/>
          </a:solidFill>
          <a:latin typeface="+mn-lt"/>
          <a:ea typeface="+mn-ea"/>
          <a:cs typeface="+mn-cs"/>
        </a:defRPr>
      </a:lvl4pPr>
      <a:lvl5pPr marL="1828800" algn="l" defTabSz="457200" rtl="0" eaLnBrk="1" latinLnBrk="0" hangingPunct="1">
        <a:defRPr kumimoji="1" sz="1800" kern="1200">
          <a:solidFill>
            <a:schemeClr val="tx1"/>
          </a:solidFill>
          <a:latin typeface="+mn-lt"/>
          <a:ea typeface="+mn-ea"/>
          <a:cs typeface="+mn-cs"/>
        </a:defRPr>
      </a:lvl5pPr>
      <a:lvl6pPr marL="2286000" algn="l" defTabSz="457200" rtl="0" eaLnBrk="1" latinLnBrk="0" hangingPunct="1">
        <a:defRPr kumimoji="1" sz="1800" kern="1200">
          <a:solidFill>
            <a:schemeClr val="tx1"/>
          </a:solidFill>
          <a:latin typeface="+mn-lt"/>
          <a:ea typeface="+mn-ea"/>
          <a:cs typeface="+mn-cs"/>
        </a:defRPr>
      </a:lvl6pPr>
      <a:lvl7pPr marL="2743200" algn="l" defTabSz="457200" rtl="0" eaLnBrk="1" latinLnBrk="0" hangingPunct="1">
        <a:defRPr kumimoji="1" sz="1800" kern="1200">
          <a:solidFill>
            <a:schemeClr val="tx1"/>
          </a:solidFill>
          <a:latin typeface="+mn-lt"/>
          <a:ea typeface="+mn-ea"/>
          <a:cs typeface="+mn-cs"/>
        </a:defRPr>
      </a:lvl7pPr>
      <a:lvl8pPr marL="3200400" algn="l" defTabSz="457200" rtl="0" eaLnBrk="1" latinLnBrk="0" hangingPunct="1">
        <a:defRPr kumimoji="1" sz="1800" kern="1200">
          <a:solidFill>
            <a:schemeClr val="tx1"/>
          </a:solidFill>
          <a:latin typeface="+mn-lt"/>
          <a:ea typeface="+mn-ea"/>
          <a:cs typeface="+mn-cs"/>
        </a:defRPr>
      </a:lvl8pPr>
      <a:lvl9pPr marL="3657600" algn="l" defTabSz="4572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png"/><Relationship Id="rId3" Type="http://schemas.openxmlformats.org/officeDocument/2006/relationships/image" Target="../media/image8.jpeg"/><Relationship Id="rId4" Type="http://schemas.openxmlformats.org/officeDocument/2006/relationships/image" Target="../media/image9.png"/><Relationship Id="rId5" Type="http://schemas.openxmlformats.org/officeDocument/2006/relationships/image" Target="../media/image10.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 Id="rId6" Type="http://schemas.openxmlformats.org/officeDocument/2006/relationships/image" Target="../media/image15.png"/><Relationship Id="rId7" Type="http://schemas.openxmlformats.org/officeDocument/2006/relationships/image" Target="../media/image16.png"/><Relationship Id="rId8" Type="http://schemas.openxmlformats.org/officeDocument/2006/relationships/image" Target="../media/image17.jpe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8.png"/><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image" Target="../media/image2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0.png"/><Relationship Id="rId3" Type="http://schemas.openxmlformats.org/officeDocument/2006/relationships/image" Target="../media/image21.png"/><Relationship Id="rId4" Type="http://schemas.openxmlformats.org/officeDocument/2006/relationships/image" Target="../media/image18.png"/><Relationship Id="rId5" Type="http://schemas.openxmlformats.org/officeDocument/2006/relationships/image" Target="../media/image1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2.png"/><Relationship Id="rId3" Type="http://schemas.openxmlformats.org/officeDocument/2006/relationships/image" Target="../media/image23.jpe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4.png"/><Relationship Id="rId3" Type="http://schemas.openxmlformats.org/officeDocument/2006/relationships/image" Target="../media/image25.png"/><Relationship Id="rId4" Type="http://schemas.openxmlformats.org/officeDocument/2006/relationships/image" Target="../media/image26.jpe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7.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8.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29.png"/><Relationship Id="rId4" Type="http://schemas.openxmlformats.org/officeDocument/2006/relationships/image" Target="../media/image30.png"/><Relationship Id="rId5" Type="http://schemas.openxmlformats.org/officeDocument/2006/relationships/image" Target="../media/image31.png"/><Relationship Id="rId6" Type="http://schemas.openxmlformats.org/officeDocument/2006/relationships/image" Target="../media/image32.png"/><Relationship Id="rId7" Type="http://schemas.openxmlformats.org/officeDocument/2006/relationships/image" Target="../media/image33.png"/><Relationship Id="rId8" Type="http://schemas.openxmlformats.org/officeDocument/2006/relationships/image" Target="../media/image34.png"/><Relationship Id="rId9" Type="http://schemas.openxmlformats.org/officeDocument/2006/relationships/image" Target="../media/image35.png"/><Relationship Id="rId10" Type="http://schemas.openxmlformats.org/officeDocument/2006/relationships/image" Target="../media/image36.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image" Target="../media/image37.png"/><Relationship Id="rId4" Type="http://schemas.openxmlformats.org/officeDocument/2006/relationships/image" Target="../media/image38.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39.jpeg"/><Relationship Id="rId4" Type="http://schemas.openxmlformats.org/officeDocument/2006/relationships/image" Target="../media/image40.jpeg"/><Relationship Id="rId5" Type="http://schemas.openxmlformats.org/officeDocument/2006/relationships/image" Target="../media/image41.png"/><Relationship Id="rId6" Type="http://schemas.openxmlformats.org/officeDocument/2006/relationships/image" Target="../media/image42.png"/><Relationship Id="rId7" Type="http://schemas.openxmlformats.org/officeDocument/2006/relationships/image" Target="../media/image43.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44.png"/><Relationship Id="rId4" Type="http://schemas.openxmlformats.org/officeDocument/2006/relationships/image" Target="../media/image45.png"/><Relationship Id="rId5" Type="http://schemas.openxmlformats.org/officeDocument/2006/relationships/image" Target="../media/image46.png"/><Relationship Id="rId6" Type="http://schemas.openxmlformats.org/officeDocument/2006/relationships/image" Target="../media/image47.png"/><Relationship Id="rId7" Type="http://schemas.openxmlformats.org/officeDocument/2006/relationships/image" Target="../media/image48.svg"/><Relationship Id="rId8" Type="http://schemas.openxmlformats.org/officeDocument/2006/relationships/image" Target="../media/image49.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0.png"/><Relationship Id="rId3" Type="http://schemas.openxmlformats.org/officeDocument/2006/relationships/image" Target="../media/image51.png"/><Relationship Id="rId4" Type="http://schemas.openxmlformats.org/officeDocument/2006/relationships/image" Target="../media/image52.png"/><Relationship Id="rId5" Type="http://schemas.openxmlformats.org/officeDocument/2006/relationships/image" Target="../media/image53.jpe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4.png"/><Relationship Id="rId3" Type="http://schemas.openxmlformats.org/officeDocument/2006/relationships/image" Target="../media/image55.png"/><Relationship Id="rId4" Type="http://schemas.openxmlformats.org/officeDocument/2006/relationships/image" Target="../media/image56.png"/><Relationship Id="rId5" Type="http://schemas.openxmlformats.org/officeDocument/2006/relationships/image" Target="../media/image57.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8.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9.png"/><Relationship Id="rId3" Type="http://schemas.openxmlformats.org/officeDocument/2006/relationships/image" Target="../media/image60.png"/><Relationship Id="rId4" Type="http://schemas.openxmlformats.org/officeDocument/2006/relationships/image" Target="../media/image61.png"/><Relationship Id="rId5" Type="http://schemas.openxmlformats.org/officeDocument/2006/relationships/image" Target="../media/image62.png"/><Relationship Id="rId6" Type="http://schemas.openxmlformats.org/officeDocument/2006/relationships/image" Target="../media/image63.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4.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5.jpg"/><Relationship Id="rId3" Type="http://schemas.openxmlformats.org/officeDocument/2006/relationships/image" Target="../media/image66.jpg"/><Relationship Id="rId4" Type="http://schemas.openxmlformats.org/officeDocument/2006/relationships/image" Target="../media/image67.png"/><Relationship Id="rId5" Type="http://schemas.openxmlformats.org/officeDocument/2006/relationships/image" Target="../media/image68.png"/><Relationship Id="rId6" Type="http://schemas.openxmlformats.org/officeDocument/2006/relationships/image" Target="../media/image69.png"/><Relationship Id="rId7" Type="http://schemas.openxmlformats.org/officeDocument/2006/relationships/image" Target="../media/image70.jpeg"/><Relationship Id="rId8" Type="http://schemas.openxmlformats.org/officeDocument/2006/relationships/image" Target="../media/image71.jpg"/><Relationship Id="rId9" Type="http://schemas.openxmlformats.org/officeDocument/2006/relationships/image" Target="../media/image72.png"/><Relationship Id="rId10" Type="http://schemas.openxmlformats.org/officeDocument/2006/relationships/image" Target="../media/image73.png"/><Relationship Id="rId11" Type="http://schemas.openxmlformats.org/officeDocument/2006/relationships/hyperlink" Target="https://youtube.com/shorts/0qI4QgrOppQ" TargetMode="Externa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4.png"/><Relationship Id="rId3" Type="http://schemas.openxmlformats.org/officeDocument/2006/relationships/image" Target="../media/image75.png"/><Relationship Id="rId4" Type="http://schemas.openxmlformats.org/officeDocument/2006/relationships/image" Target="../media/image76.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image" Target="../media/image3.emf"/><Relationship Id="rId4" Type="http://schemas.openxmlformats.org/officeDocument/2006/relationships/image" Target="../media/image77.jpeg"/><Relationship Id="rId5" Type="http://schemas.openxmlformats.org/officeDocument/2006/relationships/image" Target="../media/image78.jpeg"/><Relationship Id="rId6" Type="http://schemas.openxmlformats.org/officeDocument/2006/relationships/image" Target="../media/image79.jpeg"/><Relationship Id="rId7" Type="http://schemas.openxmlformats.org/officeDocument/2006/relationships/image" Target="../media/image80.jpeg"/><Relationship Id="rId8" Type="http://schemas.openxmlformats.org/officeDocument/2006/relationships/image" Target="../media/image81.jpe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a:extLst>
              <a:ext uri="{FF2B5EF4-FFF2-40B4-BE49-F238E27FC236}">
                <a16:creationId xmlns:a16="http://schemas.microsoft.com/office/drawing/2014/main" id="{69A0322D-BA5F-9122-1E12-FB7AC2AF15A5}"/>
              </a:ext>
            </a:extLst>
          </p:cNvPr>
          <p:cNvSpPr/>
          <p:nvPr/>
        </p:nvSpPr>
        <p:spPr>
          <a:xfrm>
            <a:off x="1665887" y="2533105"/>
            <a:ext cx="6574236" cy="584775"/>
          </a:xfrm>
          <a:prstGeom prst="rect">
            <a:avLst/>
          </a:prstGeom>
        </p:spPr>
        <p:txBody>
          <a:bodyPr wrap="none">
            <a:spAutoFit/>
          </a:bodyPr>
          <a:lstStyle/>
          <a:p>
            <a:pPr algn="ctr"/>
            <a:r>
              <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a:t>
            </a: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公式アカウント運用のご提案</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6" name="正方形/長方形 5">
            <a:extLst>
              <a:ext uri="{FF2B5EF4-FFF2-40B4-BE49-F238E27FC236}">
                <a16:creationId xmlns:a16="http://schemas.microsoft.com/office/drawing/2014/main" id="{3CC59398-53B4-E01E-A60C-6C13628FCBFB}"/>
              </a:ext>
            </a:extLst>
          </p:cNvPr>
          <p:cNvSpPr/>
          <p:nvPr/>
        </p:nvSpPr>
        <p:spPr>
          <a:xfrm>
            <a:off x="1613481" y="2224725"/>
            <a:ext cx="6626632" cy="338554"/>
          </a:xfrm>
          <a:prstGeom prst="rect">
            <a:avLst/>
          </a:prstGeom>
        </p:spPr>
        <p:txBody>
          <a:bodyPr wrap="square">
            <a:spAutoFit/>
          </a:bodyPr>
          <a:lstStyle/>
          <a:p>
            <a:pPr algn="ctr"/>
            <a:r>
              <a:rPr lang="ja-JP" altLang="en-US" sz="1600" dirty="0">
                <a:solidFill>
                  <a:schemeClr val="tx1">
                    <a:lumMod val="50000"/>
                    <a:lumOff val="50000"/>
                  </a:schemeClr>
                </a:solidFill>
                <a:latin typeface="Meiryo" panose="020B0604030504040204" pitchFamily="34" charset="-128"/>
                <a:ea typeface="Meiryo" panose="020B0604030504040204" pitchFamily="34" charset="-128"/>
              </a:rPr>
              <a:t>最上位パートナーの知見を活用し、獲得に強い動線を構築する</a:t>
            </a:r>
          </a:p>
        </p:txBody>
      </p:sp>
      <p:cxnSp>
        <p:nvCxnSpPr>
          <p:cNvPr id="5" name="直線コネクタ 4">
            <a:extLst>
              <a:ext uri="{FF2B5EF4-FFF2-40B4-BE49-F238E27FC236}">
                <a16:creationId xmlns:a16="http://schemas.microsoft.com/office/drawing/2014/main" id="{B532C1C8-7FE6-8830-B27C-27941421F5F9}"/>
              </a:ext>
            </a:extLst>
          </p:cNvPr>
          <p:cNvCxnSpPr>
            <a:cxnSpLocks/>
          </p:cNvCxnSpPr>
          <p:nvPr/>
        </p:nvCxnSpPr>
        <p:spPr>
          <a:xfrm>
            <a:off x="1337175" y="3199966"/>
            <a:ext cx="7231660" cy="0"/>
          </a:xfrm>
          <a:prstGeom prst="line">
            <a:avLst/>
          </a:prstGeom>
          <a:ln w="190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pic>
        <p:nvPicPr>
          <p:cNvPr id="9" name="図 8" descr="背景パターン&#10;&#10;AI 生成コンテンツは誤りを含む可能性があります。">
            <a:extLst>
              <a:ext uri="{FF2B5EF4-FFF2-40B4-BE49-F238E27FC236}">
                <a16:creationId xmlns:a16="http://schemas.microsoft.com/office/drawing/2014/main" id="{FFE022E1-8FF6-B4B4-B955-17E7CFA96460}"/>
              </a:ext>
            </a:extLst>
          </p:cNvPr>
          <p:cNvPicPr>
            <a:picLocks noChangeAspect="1"/>
          </p:cNvPicPr>
          <p:nvPr/>
        </p:nvPicPr>
        <p:blipFill>
          <a:blip r:embed="rId2"/>
          <a:stretch>
            <a:fillRect/>
          </a:stretch>
        </p:blipFill>
        <p:spPr>
          <a:xfrm>
            <a:off x="-1" y="0"/>
            <a:ext cx="8159931" cy="766354"/>
          </a:xfrm>
          <a:prstGeom prst="rect">
            <a:avLst/>
          </a:prstGeom>
        </p:spPr>
      </p:pic>
      <p:pic>
        <p:nvPicPr>
          <p:cNvPr id="10" name="図 9" descr="背景パターン&#10;&#10;AI 生成コンテンツは誤りを含む可能性があります。">
            <a:extLst>
              <a:ext uri="{FF2B5EF4-FFF2-40B4-BE49-F238E27FC236}">
                <a16:creationId xmlns:a16="http://schemas.microsoft.com/office/drawing/2014/main" id="{0F2999B3-5873-C495-70F5-12487911C618}"/>
              </a:ext>
            </a:extLst>
          </p:cNvPr>
          <p:cNvPicPr>
            <a:picLocks noChangeAspect="1"/>
          </p:cNvPicPr>
          <p:nvPr/>
        </p:nvPicPr>
        <p:blipFill>
          <a:blip r:embed="rId2"/>
          <a:stretch>
            <a:fillRect/>
          </a:stretch>
        </p:blipFill>
        <p:spPr>
          <a:xfrm>
            <a:off x="7863840" y="494114"/>
            <a:ext cx="2042161" cy="272239"/>
          </a:xfrm>
          <a:prstGeom prst="rect">
            <a:avLst/>
          </a:prstGeom>
        </p:spPr>
      </p:pic>
      <p:sp>
        <p:nvSpPr>
          <p:cNvPr id="7" name="テキスト ボックス 6">
            <a:extLst>
              <a:ext uri="{FF2B5EF4-FFF2-40B4-BE49-F238E27FC236}">
                <a16:creationId xmlns:a16="http://schemas.microsoft.com/office/drawing/2014/main" id="{7170AE42-913D-895E-A1DE-6A899FE53370}"/>
              </a:ext>
            </a:extLst>
          </p:cNvPr>
          <p:cNvSpPr txBox="1"/>
          <p:nvPr/>
        </p:nvSpPr>
        <p:spPr>
          <a:xfrm>
            <a:off x="291974" y="263665"/>
            <a:ext cx="4965824" cy="338554"/>
          </a:xfrm>
          <a:prstGeom prst="rect">
            <a:avLst/>
          </a:prstGeom>
          <a:noFill/>
        </p:spPr>
        <p:txBody>
          <a:bodyPr wrap="square">
            <a:spAutoFit/>
          </a:bodyPr>
          <a:lstStyle/>
          <a:p>
            <a:r>
              <a:rPr lang="en-US" altLang="ja-JP" sz="1600" b="1" dirty="0">
                <a:solidFill>
                  <a:schemeClr val="tx1">
                    <a:lumMod val="50000"/>
                    <a:lumOff val="50000"/>
                  </a:schemeClr>
                </a:solidFill>
                <a:latin typeface="Meiryo" panose="020B0604030504040204" pitchFamily="34" charset="-128"/>
                <a:ea typeface="Meiryo" panose="020B0604030504040204" pitchFamily="34" charset="-128"/>
              </a:rPr>
              <a:t>MAX</a:t>
            </a:r>
            <a:r>
              <a:rPr lang="ja-JP" altLang="en-US" sz="1600" b="1" dirty="0">
                <a:solidFill>
                  <a:schemeClr val="tx1">
                    <a:lumMod val="50000"/>
                    <a:lumOff val="50000"/>
                  </a:schemeClr>
                </a:solidFill>
                <a:latin typeface="Meiryo" panose="020B0604030504040204" pitchFamily="34" charset="-128"/>
                <a:ea typeface="Meiryo" panose="020B0604030504040204" pitchFamily="34" charset="-128"/>
              </a:rPr>
              <a:t>版</a:t>
            </a:r>
          </a:p>
        </p:txBody>
      </p:sp>
    </p:spTree>
    <p:extLst>
      <p:ext uri="{BB962C8B-B14F-4D97-AF65-F5344CB8AC3E}">
        <p14:creationId xmlns:p14="http://schemas.microsoft.com/office/powerpoint/2010/main" val="394459803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8E14BD-61D8-2EDF-00C5-CC99878DCBE4}"/>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D26128CF-BCED-5375-A761-44A2026897C7}"/>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弊社紹介</a:t>
            </a:r>
          </a:p>
        </p:txBody>
      </p:sp>
      <p:pic>
        <p:nvPicPr>
          <p:cNvPr id="2" name="図 1">
            <a:extLst>
              <a:ext uri="{FF2B5EF4-FFF2-40B4-BE49-F238E27FC236}">
                <a16:creationId xmlns:a16="http://schemas.microsoft.com/office/drawing/2014/main" id="{EE2AAF13-DB10-C453-237D-21D704CF1C48}"/>
              </a:ext>
            </a:extLst>
          </p:cNvPr>
          <p:cNvPicPr>
            <a:picLocks noChangeAspect="1"/>
          </p:cNvPicPr>
          <p:nvPr/>
        </p:nvPicPr>
        <p:blipFill>
          <a:blip r:embed="rId2"/>
          <a:stretch>
            <a:fillRect/>
          </a:stretch>
        </p:blipFill>
        <p:spPr>
          <a:xfrm>
            <a:off x="97593" y="604446"/>
            <a:ext cx="9710814" cy="5910368"/>
          </a:xfrm>
          <a:prstGeom prst="rect">
            <a:avLst/>
          </a:prstGeom>
        </p:spPr>
      </p:pic>
    </p:spTree>
    <p:extLst>
      <p:ext uri="{BB962C8B-B14F-4D97-AF65-F5344CB8AC3E}">
        <p14:creationId xmlns:p14="http://schemas.microsoft.com/office/powerpoint/2010/main" val="240437132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82B273-7697-D76C-B709-A46B064F5735}"/>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E0553DA5-5DE0-BD33-70D4-FC02F33113D3}"/>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弊社紹介</a:t>
            </a:r>
          </a:p>
        </p:txBody>
      </p:sp>
      <p:pic>
        <p:nvPicPr>
          <p:cNvPr id="6" name="図 5">
            <a:extLst>
              <a:ext uri="{FF2B5EF4-FFF2-40B4-BE49-F238E27FC236}">
                <a16:creationId xmlns:a16="http://schemas.microsoft.com/office/drawing/2014/main" id="{CFA9FEA4-17EA-590D-125E-FAC8C6AD3583}"/>
              </a:ext>
            </a:extLst>
          </p:cNvPr>
          <p:cNvPicPr>
            <a:picLocks noChangeAspect="1"/>
          </p:cNvPicPr>
          <p:nvPr/>
        </p:nvPicPr>
        <p:blipFill>
          <a:blip r:embed="rId2"/>
          <a:srcRect b="947"/>
          <a:stretch>
            <a:fillRect/>
          </a:stretch>
        </p:blipFill>
        <p:spPr>
          <a:xfrm>
            <a:off x="10340" y="821330"/>
            <a:ext cx="9885321" cy="5476601"/>
          </a:xfrm>
          <a:prstGeom prst="rect">
            <a:avLst/>
          </a:prstGeom>
        </p:spPr>
      </p:pic>
    </p:spTree>
    <p:extLst>
      <p:ext uri="{BB962C8B-B14F-4D97-AF65-F5344CB8AC3E}">
        <p14:creationId xmlns:p14="http://schemas.microsoft.com/office/powerpoint/2010/main" val="130297881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89E1EF-F184-F7BC-2DF2-9E9641908D82}"/>
            </a:ext>
          </a:extLst>
        </p:cNvPr>
        <p:cNvGrpSpPr/>
        <p:nvPr/>
      </p:nvGrpSpPr>
      <p:grpSpPr>
        <a:xfrm>
          <a:off x="0" y="0"/>
          <a:ext cx="0" cy="0"/>
          <a:chOff x="0" y="0"/>
          <a:chExt cx="0" cy="0"/>
        </a:xfrm>
      </p:grpSpPr>
      <p:pic>
        <p:nvPicPr>
          <p:cNvPr id="58" name="図 57" descr="文字と写真のスクリーンショット&#10;&#10;AI 生成コンテンツは誤りを含む可能性があります。">
            <a:extLst>
              <a:ext uri="{FF2B5EF4-FFF2-40B4-BE49-F238E27FC236}">
                <a16:creationId xmlns:a16="http://schemas.microsoft.com/office/drawing/2014/main" id="{BC098C34-07FA-B015-C970-B8433D9E8BE3}"/>
              </a:ext>
            </a:extLst>
          </p:cNvPr>
          <p:cNvPicPr>
            <a:picLocks noChangeAspect="1"/>
          </p:cNvPicPr>
          <p:nvPr/>
        </p:nvPicPr>
        <p:blipFill>
          <a:blip r:embed="rId2" cstate="print">
            <a:extLst>
              <a:ext uri="{28A0092B-C50C-407E-A947-70E740481C1C}">
                <a14:useLocalDpi xmlns:a14="http://schemas.microsoft.com/office/drawing/2010/main" val="0"/>
              </a:ext>
            </a:extLst>
          </a:blip>
          <a:srcRect l="33846" t="3967" r="34188" b="52442"/>
          <a:stretch>
            <a:fillRect/>
          </a:stretch>
        </p:blipFill>
        <p:spPr>
          <a:xfrm>
            <a:off x="489022" y="5068469"/>
            <a:ext cx="2046003" cy="1464812"/>
          </a:xfrm>
          <a:prstGeom prst="rect">
            <a:avLst/>
          </a:prstGeom>
        </p:spPr>
      </p:pic>
      <p:sp>
        <p:nvSpPr>
          <p:cNvPr id="33" name="正方形/長方形 32">
            <a:extLst>
              <a:ext uri="{FF2B5EF4-FFF2-40B4-BE49-F238E27FC236}">
                <a16:creationId xmlns:a16="http://schemas.microsoft.com/office/drawing/2014/main" id="{1E52F929-5FD7-9413-24A8-2725B04E4908}"/>
              </a:ext>
            </a:extLst>
          </p:cNvPr>
          <p:cNvSpPr/>
          <p:nvPr/>
        </p:nvSpPr>
        <p:spPr>
          <a:xfrm>
            <a:off x="388723" y="1082314"/>
            <a:ext cx="9129600" cy="1005648"/>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2025</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年</a:t>
            </a: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11</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月、株式会社</a:t>
            </a: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LINE</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ヤフー社が主催する </a:t>
            </a: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”LINE</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ヤフー </a:t>
            </a: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Partner Award 2025” </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に株式会社</a:t>
            </a: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DYM</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が参加。</a:t>
            </a:r>
            <a:b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b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弊社は</a:t>
            </a: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LINE</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公式アカウントによるビジネス拡大に最も貢献したとして、</a:t>
            </a:r>
            <a:r>
              <a:rPr lang="ja-JP" altLang="en-US" sz="1200" b="1" dirty="0">
                <a:solidFill>
                  <a:srgbClr val="C00000"/>
                </a:solidFill>
                <a:latin typeface="メイリオ" panose="020B0604030504040204" pitchFamily="50" charset="-128"/>
                <a:ea typeface="メイリオ" panose="020B0604030504040204" pitchFamily="50" charset="-128"/>
              </a:rPr>
              <a:t>「</a:t>
            </a:r>
            <a:r>
              <a:rPr lang="en-US" altLang="ja-JP" sz="1200" b="1" dirty="0">
                <a:solidFill>
                  <a:srgbClr val="C00000"/>
                </a:solidFill>
                <a:latin typeface="メイリオ" panose="020B0604030504040204" pitchFamily="50" charset="-128"/>
                <a:ea typeface="メイリオ" panose="020B0604030504040204" pitchFamily="50" charset="-128"/>
              </a:rPr>
              <a:t>Best LINE</a:t>
            </a:r>
            <a:r>
              <a:rPr lang="ja-JP" altLang="en-US" sz="1200" b="1" dirty="0">
                <a:solidFill>
                  <a:srgbClr val="C00000"/>
                </a:solidFill>
                <a:latin typeface="メイリオ" panose="020B0604030504040204" pitchFamily="50" charset="-128"/>
                <a:ea typeface="メイリオ" panose="020B0604030504040204" pitchFamily="50" charset="-128"/>
              </a:rPr>
              <a:t>公式アカウント </a:t>
            </a:r>
            <a:r>
              <a:rPr lang="en-US" altLang="ja-JP" sz="1200" b="1" dirty="0">
                <a:solidFill>
                  <a:srgbClr val="C00000"/>
                </a:solidFill>
                <a:latin typeface="メイリオ" panose="020B0604030504040204" pitchFamily="50" charset="-128"/>
                <a:ea typeface="メイリオ" panose="020B0604030504040204" pitchFamily="50" charset="-128"/>
              </a:rPr>
              <a:t>Growth</a:t>
            </a:r>
            <a:r>
              <a:rPr lang="en-US" altLang="ja-JP" sz="700" b="1" dirty="0">
                <a:solidFill>
                  <a:srgbClr val="C00000"/>
                </a:solidFill>
                <a:latin typeface="メイリオ" panose="020B0604030504040204" pitchFamily="50" charset="-128"/>
                <a:ea typeface="メイリオ" panose="020B0604030504040204" pitchFamily="50" charset="-128"/>
              </a:rPr>
              <a:t>※</a:t>
            </a:r>
            <a:r>
              <a:rPr lang="ja-JP" altLang="en-US" sz="1200" b="1" dirty="0">
                <a:solidFill>
                  <a:srgbClr val="C00000"/>
                </a:solidFill>
                <a:latin typeface="メイリオ" panose="020B0604030504040204" pitchFamily="50" charset="-128"/>
                <a:ea typeface="メイリオ" panose="020B0604030504040204" pitchFamily="50" charset="-128"/>
              </a:rPr>
              <a:t>」</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を受賞。</a:t>
            </a:r>
            <a:b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b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2026</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年現在、</a:t>
            </a: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LINE</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公式アカウントの</a:t>
            </a:r>
            <a:r>
              <a:rPr lang="ja-JP" altLang="en-US" sz="1200" b="1" dirty="0">
                <a:solidFill>
                  <a:srgbClr val="000000">
                    <a:lumMod val="95000"/>
                    <a:lumOff val="5000"/>
                  </a:srgbClr>
                </a:solidFill>
                <a:latin typeface="メイリオ" panose="020B0604030504040204" pitchFamily="50" charset="-128"/>
                <a:ea typeface="メイリオ" panose="020B0604030504040204" pitchFamily="50" charset="-128"/>
              </a:rPr>
              <a:t>取扱社数は</a:t>
            </a:r>
            <a:r>
              <a:rPr lang="en-US" altLang="ja-JP" sz="1200" b="1" dirty="0">
                <a:solidFill>
                  <a:srgbClr val="000000">
                    <a:lumMod val="95000"/>
                    <a:lumOff val="5000"/>
                  </a:srgbClr>
                </a:solidFill>
                <a:latin typeface="メイリオ" panose="020B0604030504040204" pitchFamily="50" charset="-128"/>
                <a:ea typeface="メイリオ" panose="020B0604030504040204" pitchFamily="50" charset="-128"/>
              </a:rPr>
              <a:t>100</a:t>
            </a:r>
            <a:r>
              <a:rPr lang="ja-JP" altLang="en-US" sz="1200" b="1" dirty="0">
                <a:solidFill>
                  <a:srgbClr val="000000">
                    <a:lumMod val="95000"/>
                    <a:lumOff val="5000"/>
                  </a:srgbClr>
                </a:solidFill>
                <a:latin typeface="メイリオ" panose="020B0604030504040204" pitchFamily="50" charset="-128"/>
                <a:ea typeface="メイリオ" panose="020B0604030504040204" pitchFamily="50" charset="-128"/>
              </a:rPr>
              <a:t>社以上、</a:t>
            </a:r>
            <a:r>
              <a:rPr lang="en-US" altLang="ja-JP" sz="1200" b="1" dirty="0">
                <a:solidFill>
                  <a:srgbClr val="000000">
                    <a:lumMod val="95000"/>
                    <a:lumOff val="5000"/>
                  </a:srgbClr>
                </a:solidFill>
                <a:latin typeface="メイリオ" panose="020B0604030504040204" pitchFamily="50" charset="-128"/>
                <a:ea typeface="メイリオ" panose="020B0604030504040204" pitchFamily="50" charset="-128"/>
              </a:rPr>
              <a:t>400</a:t>
            </a:r>
            <a:r>
              <a:rPr lang="ja-JP" altLang="en-US" sz="1200" b="1" dirty="0">
                <a:solidFill>
                  <a:srgbClr val="000000">
                    <a:lumMod val="95000"/>
                    <a:lumOff val="5000"/>
                  </a:srgbClr>
                </a:solidFill>
                <a:latin typeface="メイリオ" panose="020B0604030504040204" pitchFamily="50" charset="-128"/>
                <a:ea typeface="メイリオ" panose="020B0604030504040204" pitchFamily="50" charset="-128"/>
              </a:rPr>
              <a:t>アカウント以上まで拡大</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しており関連サービスも展開中。</a:t>
            </a:r>
            <a:endPar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endParaRPr>
          </a:p>
          <a:p>
            <a:pPr algn="r"/>
            <a:r>
              <a:rPr lang="en-US" altLang="ja-JP" sz="900" dirty="0">
                <a:solidFill>
                  <a:schemeClr val="tx1">
                    <a:lumMod val="65000"/>
                    <a:lumOff val="35000"/>
                  </a:schemeClr>
                </a:solidFill>
                <a:latin typeface="メイリオ" panose="020B0604030504040204" pitchFamily="50" charset="-128"/>
                <a:ea typeface="メイリオ" panose="020B0604030504040204" pitchFamily="50" charset="-128"/>
              </a:rPr>
              <a:t>※ LINE</a:t>
            </a:r>
            <a:r>
              <a:rPr lang="ja-JP" altLang="en-US" sz="900" dirty="0">
                <a:solidFill>
                  <a:schemeClr val="tx1">
                    <a:lumMod val="65000"/>
                    <a:lumOff val="35000"/>
                  </a:schemeClr>
                </a:solidFill>
                <a:latin typeface="メイリオ" panose="020B0604030504040204" pitchFamily="50" charset="-128"/>
                <a:ea typeface="メイリオ" panose="020B0604030504040204" pitchFamily="50" charset="-128"/>
              </a:rPr>
              <a:t>公式アカウントを活用し、ビジネス拡大に最も貢献したパートナーに贈られる賞です。</a:t>
            </a:r>
            <a:endParaRPr lang="en-US" altLang="ja-JP"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22" name="Google Shape;752;p28">
            <a:extLst>
              <a:ext uri="{FF2B5EF4-FFF2-40B4-BE49-F238E27FC236}">
                <a16:creationId xmlns:a16="http://schemas.microsoft.com/office/drawing/2014/main" id="{C34101C7-CA6C-6ED6-33D4-C2B82BDA5473}"/>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a:solidFill>
                  <a:srgbClr val="323366"/>
                </a:solidFill>
                <a:latin typeface="メイリオ" panose="020B0604030504040204" pitchFamily="50" charset="-128"/>
                <a:ea typeface="メイリオ" panose="020B0604030504040204" pitchFamily="50" charset="-128"/>
                <a:cs typeface="Meiryo"/>
                <a:sym typeface="Meiryo"/>
              </a:rPr>
              <a:t>弊社実績</a:t>
            </a:r>
            <a:endPar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endParaRPr>
          </a:p>
        </p:txBody>
      </p:sp>
      <p:sp>
        <p:nvSpPr>
          <p:cNvPr id="49" name="正方形/長方形 48">
            <a:extLst>
              <a:ext uri="{FF2B5EF4-FFF2-40B4-BE49-F238E27FC236}">
                <a16:creationId xmlns:a16="http://schemas.microsoft.com/office/drawing/2014/main" id="{9685C0AB-6B7A-94C5-EFA8-756E59EE714E}"/>
              </a:ext>
            </a:extLst>
          </p:cNvPr>
          <p:cNvSpPr/>
          <p:nvPr/>
        </p:nvSpPr>
        <p:spPr>
          <a:xfrm>
            <a:off x="388723" y="2116303"/>
            <a:ext cx="9128554" cy="307777"/>
          </a:xfrm>
          <a:prstGeom prst="rect">
            <a:avLst/>
          </a:prstGeom>
          <a:solidFill>
            <a:schemeClr val="bg1">
              <a:lumMod val="65000"/>
            </a:schemeClr>
          </a:solidFill>
          <a:ln>
            <a:solidFill>
              <a:schemeClr val="bg1">
                <a:lumMod val="65000"/>
              </a:schemeClr>
            </a:solidFill>
          </a:ln>
        </p:spPr>
        <p:txBody>
          <a:bodyPr wrap="square">
            <a:spAutoFit/>
          </a:bodyPr>
          <a:lstStyle/>
          <a:p>
            <a:pPr lvl="0" algn="ctr">
              <a:buClr>
                <a:srgbClr val="002060"/>
              </a:buClr>
              <a:buSzPts val="1600"/>
            </a:pPr>
            <a:r>
              <a:rPr lang="ja-JP" altLang="en-US" sz="1400" b="1">
                <a:solidFill>
                  <a:schemeClr val="bg1"/>
                </a:solidFill>
                <a:latin typeface="Meiryo"/>
                <a:ea typeface="Meiryo"/>
                <a:cs typeface="Meiryo"/>
                <a:sym typeface="Meiryo"/>
              </a:rPr>
              <a:t>弊社受賞遍歴 </a:t>
            </a:r>
            <a:r>
              <a:rPr lang="en-US" altLang="ja-JP" sz="1400" b="1">
                <a:solidFill>
                  <a:schemeClr val="bg1"/>
                </a:solidFill>
                <a:latin typeface="Meiryo"/>
                <a:ea typeface="Meiryo"/>
                <a:cs typeface="Meiryo"/>
                <a:sym typeface="Meiryo"/>
              </a:rPr>
              <a:t>Since.2024</a:t>
            </a:r>
            <a:r>
              <a:rPr lang="ja-JP" altLang="en-US" sz="1400" b="1">
                <a:solidFill>
                  <a:schemeClr val="bg1"/>
                </a:solidFill>
                <a:latin typeface="Meiryo"/>
                <a:ea typeface="Meiryo"/>
                <a:cs typeface="Meiryo"/>
                <a:sym typeface="Meiryo"/>
              </a:rPr>
              <a:t>年</a:t>
            </a:r>
            <a:r>
              <a:rPr lang="en-US" altLang="ja-JP" sz="1400" b="1">
                <a:solidFill>
                  <a:schemeClr val="bg1"/>
                </a:solidFill>
                <a:latin typeface="Meiryo"/>
                <a:ea typeface="Meiryo"/>
                <a:cs typeface="Meiryo"/>
                <a:sym typeface="Meiryo"/>
              </a:rPr>
              <a:t>5</a:t>
            </a:r>
            <a:r>
              <a:rPr lang="ja-JP" altLang="en-US" sz="1400" b="1">
                <a:solidFill>
                  <a:schemeClr val="bg1"/>
                </a:solidFill>
                <a:latin typeface="Meiryo"/>
                <a:ea typeface="Meiryo"/>
                <a:cs typeface="Meiryo"/>
                <a:sym typeface="Meiryo"/>
              </a:rPr>
              <a:t>月～</a:t>
            </a:r>
            <a:endParaRPr lang="en-US" altLang="ja-JP" sz="1400" b="1" dirty="0">
              <a:solidFill>
                <a:schemeClr val="bg1"/>
              </a:solidFill>
              <a:latin typeface="Meiryo"/>
              <a:ea typeface="Meiryo"/>
              <a:cs typeface="Meiryo"/>
              <a:sym typeface="Meiryo"/>
            </a:endParaRPr>
          </a:p>
        </p:txBody>
      </p:sp>
      <p:sp>
        <p:nvSpPr>
          <p:cNvPr id="50" name="テキスト プレースホルダー 2">
            <a:extLst>
              <a:ext uri="{FF2B5EF4-FFF2-40B4-BE49-F238E27FC236}">
                <a16:creationId xmlns:a16="http://schemas.microsoft.com/office/drawing/2014/main" id="{18B78559-32E9-7E98-9E42-625866BF0637}"/>
              </a:ext>
            </a:extLst>
          </p:cNvPr>
          <p:cNvSpPr txBox="1">
            <a:spLocks/>
          </p:cNvSpPr>
          <p:nvPr/>
        </p:nvSpPr>
        <p:spPr>
          <a:xfrm>
            <a:off x="4741655" y="135388"/>
            <a:ext cx="3604551" cy="356140"/>
          </a:xfrm>
          <a:prstGeom prst="rect">
            <a:avLst/>
          </a:prstGeom>
        </p:spPr>
        <p:txBody>
          <a:bodyPr lIns="0" tIns="0" rIns="0" bIns="0" anchor="t"/>
          <a:lstStyle>
            <a:lvl1pPr marL="0" indent="0" algn="l" defTabSz="914400" rtl="0" eaLnBrk="1" latinLnBrk="0" hangingPunct="1">
              <a:lnSpc>
                <a:spcPct val="130000"/>
              </a:lnSpc>
              <a:spcBef>
                <a:spcPts val="0"/>
              </a:spcBef>
              <a:buFont typeface="Arial" panose="020B0604020202020204" pitchFamily="34" charset="0"/>
              <a:buNone/>
              <a:defRPr kumimoji="1" sz="1400" kern="1200">
                <a:solidFill>
                  <a:schemeClr val="tx1">
                    <a:lumMod val="95000"/>
                    <a:lumOff val="5000"/>
                  </a:schemeClr>
                </a:solidFill>
                <a:latin typeface="Meiryo" panose="020B0604030504040204" pitchFamily="34" charset="-128"/>
                <a:ea typeface="Meiryo" panose="020B0604030504040204" pitchFamily="34"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539750" lvl="0" indent="-539750">
              <a:tabLst>
                <a:tab pos="447675" algn="l"/>
              </a:tabLst>
              <a:defRPr/>
            </a:pPr>
            <a:r>
              <a:rPr lang="en-US" altLang="ja-JP" sz="800" dirty="0">
                <a:solidFill>
                  <a:srgbClr val="000000">
                    <a:lumMod val="95000"/>
                    <a:lumOff val="5000"/>
                  </a:srgbClr>
                </a:solidFill>
              </a:rPr>
              <a:t>【</a:t>
            </a:r>
            <a:r>
              <a:rPr lang="ja-JP" altLang="en-US" sz="800" dirty="0">
                <a:solidFill>
                  <a:srgbClr val="000000">
                    <a:lumMod val="95000"/>
                    <a:lumOff val="5000"/>
                  </a:srgbClr>
                </a:solidFill>
              </a:rPr>
              <a:t>参考情報</a:t>
            </a:r>
            <a:r>
              <a:rPr lang="en-US" altLang="ja-JP" sz="800" dirty="0">
                <a:solidFill>
                  <a:srgbClr val="000000">
                    <a:lumMod val="95000"/>
                    <a:lumOff val="5000"/>
                  </a:srgbClr>
                </a:solidFill>
              </a:rPr>
              <a:t>】</a:t>
            </a:r>
          </a:p>
          <a:p>
            <a:pPr marL="88900" lvl="0">
              <a:tabLst>
                <a:tab pos="447675" algn="l"/>
              </a:tabLst>
              <a:defRPr/>
            </a:pPr>
            <a:r>
              <a:rPr lang="en-US" altLang="ja-JP" sz="800" dirty="0">
                <a:solidFill>
                  <a:srgbClr val="000000">
                    <a:lumMod val="95000"/>
                    <a:lumOff val="5000"/>
                  </a:srgbClr>
                </a:solidFill>
              </a:rPr>
              <a:t>https://prtimes.jp/main/html/rd/p/000000412.000027235.html</a:t>
            </a:r>
            <a:endParaRPr lang="en-US" altLang="ja-JP" sz="1100" dirty="0">
              <a:solidFill>
                <a:srgbClr val="000000">
                  <a:lumMod val="95000"/>
                  <a:lumOff val="5000"/>
                </a:srgbClr>
              </a:solidFill>
            </a:endParaRPr>
          </a:p>
        </p:txBody>
      </p:sp>
      <p:sp>
        <p:nvSpPr>
          <p:cNvPr id="45" name="正方形/長方形 44">
            <a:extLst>
              <a:ext uri="{FF2B5EF4-FFF2-40B4-BE49-F238E27FC236}">
                <a16:creationId xmlns:a16="http://schemas.microsoft.com/office/drawing/2014/main" id="{02177995-9B5C-9C4B-3202-5DD03969179E}"/>
              </a:ext>
            </a:extLst>
          </p:cNvPr>
          <p:cNvSpPr/>
          <p:nvPr/>
        </p:nvSpPr>
        <p:spPr>
          <a:xfrm>
            <a:off x="495424" y="4784484"/>
            <a:ext cx="3561143" cy="276999"/>
          </a:xfrm>
          <a:prstGeom prst="rect">
            <a:avLst/>
          </a:prstGeom>
          <a:solidFill>
            <a:schemeClr val="bg1">
              <a:lumMod val="65000"/>
            </a:schemeClr>
          </a:solidFill>
          <a:ln>
            <a:solidFill>
              <a:schemeClr val="bg1">
                <a:lumMod val="65000"/>
              </a:schemeClr>
            </a:solidFill>
          </a:ln>
        </p:spPr>
        <p:txBody>
          <a:bodyPr wrap="square">
            <a:spAutoFit/>
          </a:bodyPr>
          <a:lstStyle/>
          <a:p>
            <a:pPr lvl="0" algn="ctr">
              <a:buClr>
                <a:srgbClr val="002060"/>
              </a:buClr>
              <a:buSzPts val="1600"/>
            </a:pPr>
            <a:r>
              <a:rPr lang="ja-JP" altLang="en-US" sz="1200" b="1" dirty="0">
                <a:solidFill>
                  <a:schemeClr val="bg1"/>
                </a:solidFill>
                <a:latin typeface="Meiryo"/>
                <a:ea typeface="Meiryo"/>
                <a:cs typeface="Meiryo"/>
                <a:sym typeface="Meiryo"/>
              </a:rPr>
              <a:t>最上位となる </a:t>
            </a:r>
            <a:r>
              <a:rPr lang="en-US" altLang="ja-JP" sz="1200" b="1" dirty="0">
                <a:solidFill>
                  <a:schemeClr val="bg1"/>
                </a:solidFill>
                <a:latin typeface="Meiryo"/>
                <a:ea typeface="Meiryo"/>
                <a:cs typeface="Meiryo"/>
                <a:sym typeface="Meiryo"/>
              </a:rPr>
              <a:t>Sales Partner Premier</a:t>
            </a:r>
          </a:p>
        </p:txBody>
      </p:sp>
      <p:sp>
        <p:nvSpPr>
          <p:cNvPr id="55" name="正方形/長方形 54">
            <a:extLst>
              <a:ext uri="{FF2B5EF4-FFF2-40B4-BE49-F238E27FC236}">
                <a16:creationId xmlns:a16="http://schemas.microsoft.com/office/drawing/2014/main" id="{0E12B4F2-0482-55A4-443A-115FC30E22E8}"/>
              </a:ext>
            </a:extLst>
          </p:cNvPr>
          <p:cNvSpPr/>
          <p:nvPr/>
        </p:nvSpPr>
        <p:spPr>
          <a:xfrm>
            <a:off x="4362995" y="4784484"/>
            <a:ext cx="5165666" cy="276999"/>
          </a:xfrm>
          <a:prstGeom prst="rect">
            <a:avLst/>
          </a:prstGeom>
          <a:solidFill>
            <a:schemeClr val="bg1">
              <a:lumMod val="65000"/>
            </a:schemeClr>
          </a:solidFill>
          <a:ln>
            <a:solidFill>
              <a:schemeClr val="bg1">
                <a:lumMod val="65000"/>
              </a:schemeClr>
            </a:solidFill>
          </a:ln>
        </p:spPr>
        <p:txBody>
          <a:bodyPr wrap="square">
            <a:spAutoFit/>
          </a:bodyPr>
          <a:lstStyle/>
          <a:p>
            <a:pPr algn="ctr">
              <a:buClr>
                <a:srgbClr val="002060"/>
              </a:buClr>
              <a:buSzPts val="1600"/>
            </a:pPr>
            <a:r>
              <a:rPr lang="en-US" altLang="ja-JP" sz="1200" b="1" dirty="0">
                <a:solidFill>
                  <a:schemeClr val="bg1"/>
                </a:solidFill>
                <a:latin typeface="Meiryo"/>
                <a:ea typeface="Meiryo"/>
                <a:cs typeface="Meiryo"/>
                <a:sym typeface="Meiryo"/>
              </a:rPr>
              <a:t>Best LINE</a:t>
            </a:r>
            <a:r>
              <a:rPr lang="ja-JP" altLang="en-US" sz="1200" b="1" dirty="0">
                <a:solidFill>
                  <a:schemeClr val="bg1"/>
                </a:solidFill>
                <a:latin typeface="Meiryo"/>
                <a:ea typeface="Meiryo"/>
                <a:cs typeface="Meiryo"/>
                <a:sym typeface="Meiryo"/>
              </a:rPr>
              <a:t>公式アカウント </a:t>
            </a:r>
            <a:r>
              <a:rPr lang="en-US" altLang="ja-JP" sz="1200" b="1" dirty="0">
                <a:solidFill>
                  <a:schemeClr val="bg1"/>
                </a:solidFill>
                <a:latin typeface="Meiryo"/>
                <a:ea typeface="Meiryo"/>
                <a:cs typeface="Meiryo"/>
                <a:sym typeface="Meiryo"/>
              </a:rPr>
              <a:t>Growth </a:t>
            </a:r>
            <a:r>
              <a:rPr lang="ja-JP" altLang="en-US" sz="1200" b="1" dirty="0">
                <a:solidFill>
                  <a:schemeClr val="bg1"/>
                </a:solidFill>
                <a:latin typeface="Meiryo"/>
                <a:ea typeface="Meiryo"/>
                <a:cs typeface="Meiryo"/>
                <a:sym typeface="Meiryo"/>
              </a:rPr>
              <a:t>の受賞を受ける</a:t>
            </a:r>
            <a:endParaRPr lang="en-US" altLang="ja-JP" sz="1200" b="1" dirty="0">
              <a:solidFill>
                <a:schemeClr val="bg1"/>
              </a:solidFill>
              <a:latin typeface="Meiryo"/>
              <a:ea typeface="Meiryo"/>
              <a:cs typeface="Meiryo"/>
              <a:sym typeface="Meiryo"/>
            </a:endParaRPr>
          </a:p>
        </p:txBody>
      </p:sp>
      <p:cxnSp>
        <p:nvCxnSpPr>
          <p:cNvPr id="2082" name="直線コネクタ 2081">
            <a:extLst>
              <a:ext uri="{FF2B5EF4-FFF2-40B4-BE49-F238E27FC236}">
                <a16:creationId xmlns:a16="http://schemas.microsoft.com/office/drawing/2014/main" id="{530411FF-29F9-73B2-C470-CBF0BA20AC73}"/>
              </a:ext>
            </a:extLst>
          </p:cNvPr>
          <p:cNvCxnSpPr>
            <a:cxnSpLocks/>
          </p:cNvCxnSpPr>
          <p:nvPr/>
        </p:nvCxnSpPr>
        <p:spPr>
          <a:xfrm>
            <a:off x="3212877" y="2980676"/>
            <a:ext cx="6240687" cy="0"/>
          </a:xfrm>
          <a:prstGeom prst="line">
            <a:avLst/>
          </a:prstGeom>
          <a:ln w="76200">
            <a:solidFill>
              <a:srgbClr val="10253F"/>
            </a:solidFill>
          </a:ln>
        </p:spPr>
        <p:style>
          <a:lnRef idx="1">
            <a:schemeClr val="accent1"/>
          </a:lnRef>
          <a:fillRef idx="0">
            <a:schemeClr val="accent1"/>
          </a:fillRef>
          <a:effectRef idx="0">
            <a:schemeClr val="accent1"/>
          </a:effectRef>
          <a:fontRef idx="minor">
            <a:schemeClr val="tx1"/>
          </a:fontRef>
        </p:style>
      </p:cxnSp>
      <p:cxnSp>
        <p:nvCxnSpPr>
          <p:cNvPr id="2085" name="直線コネクタ 2084">
            <a:extLst>
              <a:ext uri="{FF2B5EF4-FFF2-40B4-BE49-F238E27FC236}">
                <a16:creationId xmlns:a16="http://schemas.microsoft.com/office/drawing/2014/main" id="{D7948E6E-45A1-2B8A-2983-5CE3031B129A}"/>
              </a:ext>
            </a:extLst>
          </p:cNvPr>
          <p:cNvCxnSpPr>
            <a:cxnSpLocks/>
          </p:cNvCxnSpPr>
          <p:nvPr/>
        </p:nvCxnSpPr>
        <p:spPr>
          <a:xfrm>
            <a:off x="412752" y="3985954"/>
            <a:ext cx="5253034" cy="0"/>
          </a:xfrm>
          <a:prstGeom prst="line">
            <a:avLst/>
          </a:prstGeom>
          <a:ln w="76200">
            <a:solidFill>
              <a:srgbClr val="10253F"/>
            </a:solidFill>
          </a:ln>
        </p:spPr>
        <p:style>
          <a:lnRef idx="1">
            <a:schemeClr val="accent1"/>
          </a:lnRef>
          <a:fillRef idx="0">
            <a:schemeClr val="accent1"/>
          </a:fillRef>
          <a:effectRef idx="0">
            <a:schemeClr val="accent1"/>
          </a:effectRef>
          <a:fontRef idx="minor">
            <a:schemeClr val="tx1"/>
          </a:fontRef>
        </p:style>
      </p:cxnSp>
      <p:sp>
        <p:nvSpPr>
          <p:cNvPr id="2086" name="フローチャート: 結合子 2085">
            <a:extLst>
              <a:ext uri="{FF2B5EF4-FFF2-40B4-BE49-F238E27FC236}">
                <a16:creationId xmlns:a16="http://schemas.microsoft.com/office/drawing/2014/main" id="{19617C5C-724A-7FCE-22E5-5B2ECC96F048}"/>
              </a:ext>
            </a:extLst>
          </p:cNvPr>
          <p:cNvSpPr/>
          <p:nvPr/>
        </p:nvSpPr>
        <p:spPr>
          <a:xfrm>
            <a:off x="3076995" y="2743198"/>
            <a:ext cx="452718" cy="452718"/>
          </a:xfrm>
          <a:prstGeom prst="flowChartConnector">
            <a:avLst/>
          </a:prstGeom>
          <a:solidFill>
            <a:srgbClr val="10253F"/>
          </a:solidFill>
          <a:ln>
            <a:solidFill>
              <a:srgbClr val="102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87" name="フローチャート: 結合子 2086">
            <a:extLst>
              <a:ext uri="{FF2B5EF4-FFF2-40B4-BE49-F238E27FC236}">
                <a16:creationId xmlns:a16="http://schemas.microsoft.com/office/drawing/2014/main" id="{C7AB064F-FD75-D23A-C3F2-7F831805457C}"/>
              </a:ext>
            </a:extLst>
          </p:cNvPr>
          <p:cNvSpPr/>
          <p:nvPr/>
        </p:nvSpPr>
        <p:spPr>
          <a:xfrm>
            <a:off x="970449" y="3759595"/>
            <a:ext cx="452718" cy="452718"/>
          </a:xfrm>
          <a:prstGeom prst="flowChartConnector">
            <a:avLst/>
          </a:prstGeom>
          <a:solidFill>
            <a:srgbClr val="10253F"/>
          </a:solidFill>
          <a:ln>
            <a:solidFill>
              <a:srgbClr val="102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89" name="フローチャート: 結合子 2088">
            <a:extLst>
              <a:ext uri="{FF2B5EF4-FFF2-40B4-BE49-F238E27FC236}">
                <a16:creationId xmlns:a16="http://schemas.microsoft.com/office/drawing/2014/main" id="{CE0B51F4-2695-E1D7-F353-BA60386FABE4}"/>
              </a:ext>
            </a:extLst>
          </p:cNvPr>
          <p:cNvSpPr/>
          <p:nvPr/>
        </p:nvSpPr>
        <p:spPr>
          <a:xfrm>
            <a:off x="7801859" y="2743198"/>
            <a:ext cx="452718" cy="452718"/>
          </a:xfrm>
          <a:prstGeom prst="flowChartConnector">
            <a:avLst/>
          </a:prstGeom>
          <a:solidFill>
            <a:srgbClr val="10253F"/>
          </a:solidFill>
          <a:ln>
            <a:solidFill>
              <a:srgbClr val="102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90" name="フローチャート: 結合子 2089">
            <a:extLst>
              <a:ext uri="{FF2B5EF4-FFF2-40B4-BE49-F238E27FC236}">
                <a16:creationId xmlns:a16="http://schemas.microsoft.com/office/drawing/2014/main" id="{6F2861A8-2376-2999-4214-6F268B03A3E1}"/>
              </a:ext>
            </a:extLst>
          </p:cNvPr>
          <p:cNvSpPr/>
          <p:nvPr/>
        </p:nvSpPr>
        <p:spPr>
          <a:xfrm>
            <a:off x="5439427" y="2743198"/>
            <a:ext cx="452718" cy="452718"/>
          </a:xfrm>
          <a:prstGeom prst="flowChartConnector">
            <a:avLst/>
          </a:prstGeom>
          <a:solidFill>
            <a:srgbClr val="10253F"/>
          </a:solidFill>
          <a:ln>
            <a:solidFill>
              <a:srgbClr val="102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92" name="フローチャート: 結合子 2091">
            <a:extLst>
              <a:ext uri="{FF2B5EF4-FFF2-40B4-BE49-F238E27FC236}">
                <a16:creationId xmlns:a16="http://schemas.microsoft.com/office/drawing/2014/main" id="{11455BE0-024C-CCCF-549A-5895CCF6FCA5}"/>
              </a:ext>
            </a:extLst>
          </p:cNvPr>
          <p:cNvSpPr/>
          <p:nvPr/>
        </p:nvSpPr>
        <p:spPr>
          <a:xfrm>
            <a:off x="5454960" y="3739586"/>
            <a:ext cx="452718" cy="452718"/>
          </a:xfrm>
          <a:prstGeom prst="flowChartConnector">
            <a:avLst/>
          </a:prstGeom>
          <a:solidFill>
            <a:srgbClr val="10253F"/>
          </a:solidFill>
          <a:ln>
            <a:solidFill>
              <a:srgbClr val="102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93" name="フローチャート: 結合子 2092">
            <a:extLst>
              <a:ext uri="{FF2B5EF4-FFF2-40B4-BE49-F238E27FC236}">
                <a16:creationId xmlns:a16="http://schemas.microsoft.com/office/drawing/2014/main" id="{6A2B7AEE-64D5-5687-4D90-BFEBFB87978F}"/>
              </a:ext>
            </a:extLst>
          </p:cNvPr>
          <p:cNvSpPr/>
          <p:nvPr/>
        </p:nvSpPr>
        <p:spPr>
          <a:xfrm>
            <a:off x="3076995" y="3776603"/>
            <a:ext cx="452718" cy="452718"/>
          </a:xfrm>
          <a:prstGeom prst="flowChartConnector">
            <a:avLst/>
          </a:prstGeom>
          <a:solidFill>
            <a:srgbClr val="10253F"/>
          </a:solidFill>
          <a:ln>
            <a:solidFill>
              <a:srgbClr val="102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94" name="テキスト ボックス 2093">
            <a:extLst>
              <a:ext uri="{FF2B5EF4-FFF2-40B4-BE49-F238E27FC236}">
                <a16:creationId xmlns:a16="http://schemas.microsoft.com/office/drawing/2014/main" id="{F181EC8C-1DAE-5AF7-1C4D-4C86090B08E7}"/>
              </a:ext>
            </a:extLst>
          </p:cNvPr>
          <p:cNvSpPr txBox="1"/>
          <p:nvPr/>
        </p:nvSpPr>
        <p:spPr>
          <a:xfrm>
            <a:off x="2824561" y="2498440"/>
            <a:ext cx="957586" cy="246221"/>
          </a:xfrm>
          <a:prstGeom prst="rect">
            <a:avLst/>
          </a:prstGeom>
          <a:noFill/>
        </p:spPr>
        <p:txBody>
          <a:bodyPr wrap="square" rtlCol="0">
            <a:spAutoFit/>
          </a:bodyPr>
          <a:lstStyle/>
          <a:p>
            <a:pPr algn="ctr"/>
            <a:r>
              <a:rPr kumimoji="1" lang="en-US" altLang="ja-JP" sz="1000">
                <a:latin typeface="メイリオ" panose="020B0604030504040204" pitchFamily="50" charset="-128"/>
                <a:ea typeface="メイリオ" panose="020B0604030504040204" pitchFamily="50" charset="-128"/>
              </a:rPr>
              <a:t>2024</a:t>
            </a:r>
            <a:r>
              <a:rPr kumimoji="1" lang="ja-JP" altLang="en-US" sz="1000">
                <a:latin typeface="メイリオ" panose="020B0604030504040204" pitchFamily="50" charset="-128"/>
                <a:ea typeface="メイリオ" panose="020B0604030504040204" pitchFamily="50" charset="-128"/>
              </a:rPr>
              <a:t>年</a:t>
            </a:r>
            <a:r>
              <a:rPr kumimoji="1" lang="en-US" altLang="ja-JP" sz="1000">
                <a:latin typeface="メイリオ" panose="020B0604030504040204" pitchFamily="50" charset="-128"/>
                <a:ea typeface="メイリオ" panose="020B0604030504040204" pitchFamily="50" charset="-128"/>
              </a:rPr>
              <a:t>5</a:t>
            </a:r>
            <a:r>
              <a:rPr kumimoji="1" lang="ja-JP" altLang="en-US" sz="1000">
                <a:latin typeface="メイリオ" panose="020B0604030504040204" pitchFamily="50" charset="-128"/>
                <a:ea typeface="メイリオ" panose="020B0604030504040204" pitchFamily="50" charset="-128"/>
              </a:rPr>
              <a:t>月</a:t>
            </a:r>
          </a:p>
        </p:txBody>
      </p:sp>
      <p:sp>
        <p:nvSpPr>
          <p:cNvPr id="2095" name="テキスト ボックス 2094">
            <a:extLst>
              <a:ext uri="{FF2B5EF4-FFF2-40B4-BE49-F238E27FC236}">
                <a16:creationId xmlns:a16="http://schemas.microsoft.com/office/drawing/2014/main" id="{E9F47648-05F6-7064-8968-91D3649440CE}"/>
              </a:ext>
            </a:extLst>
          </p:cNvPr>
          <p:cNvSpPr txBox="1"/>
          <p:nvPr/>
        </p:nvSpPr>
        <p:spPr>
          <a:xfrm>
            <a:off x="5232177" y="2496209"/>
            <a:ext cx="957586" cy="246221"/>
          </a:xfrm>
          <a:prstGeom prst="rect">
            <a:avLst/>
          </a:prstGeom>
          <a:noFill/>
        </p:spPr>
        <p:txBody>
          <a:bodyPr wrap="square" rtlCol="0">
            <a:spAutoFit/>
          </a:bodyPr>
          <a:lstStyle/>
          <a:p>
            <a:pPr algn="ctr"/>
            <a:r>
              <a:rPr kumimoji="1" lang="en-US" altLang="ja-JP" sz="1000">
                <a:latin typeface="メイリオ" panose="020B0604030504040204" pitchFamily="50" charset="-128"/>
                <a:ea typeface="メイリオ" panose="020B0604030504040204" pitchFamily="50" charset="-128"/>
              </a:rPr>
              <a:t>2024</a:t>
            </a:r>
            <a:r>
              <a:rPr kumimoji="1" lang="ja-JP" altLang="en-US" sz="1000">
                <a:latin typeface="メイリオ" panose="020B0604030504040204" pitchFamily="50" charset="-128"/>
                <a:ea typeface="メイリオ" panose="020B0604030504040204" pitchFamily="50" charset="-128"/>
              </a:rPr>
              <a:t>年</a:t>
            </a:r>
            <a:r>
              <a:rPr lang="en-US" altLang="ja-JP" sz="1000">
                <a:latin typeface="メイリオ" panose="020B0604030504040204" pitchFamily="50" charset="-128"/>
                <a:ea typeface="メイリオ" panose="020B0604030504040204" pitchFamily="50" charset="-128"/>
              </a:rPr>
              <a:t>12</a:t>
            </a:r>
            <a:r>
              <a:rPr kumimoji="1" lang="ja-JP" altLang="en-US" sz="1000">
                <a:latin typeface="メイリオ" panose="020B0604030504040204" pitchFamily="50" charset="-128"/>
                <a:ea typeface="メイリオ" panose="020B0604030504040204" pitchFamily="50" charset="-128"/>
              </a:rPr>
              <a:t>月</a:t>
            </a:r>
          </a:p>
        </p:txBody>
      </p:sp>
      <p:sp>
        <p:nvSpPr>
          <p:cNvPr id="2096" name="テキスト ボックス 2095">
            <a:extLst>
              <a:ext uri="{FF2B5EF4-FFF2-40B4-BE49-F238E27FC236}">
                <a16:creationId xmlns:a16="http://schemas.microsoft.com/office/drawing/2014/main" id="{2C8EEABD-6A90-AA4E-FBA6-2819EBF654DE}"/>
              </a:ext>
            </a:extLst>
          </p:cNvPr>
          <p:cNvSpPr txBox="1"/>
          <p:nvPr/>
        </p:nvSpPr>
        <p:spPr>
          <a:xfrm>
            <a:off x="7623567" y="2492162"/>
            <a:ext cx="957586" cy="246221"/>
          </a:xfrm>
          <a:prstGeom prst="rect">
            <a:avLst/>
          </a:prstGeom>
          <a:noFill/>
        </p:spPr>
        <p:txBody>
          <a:bodyPr wrap="square" rtlCol="0">
            <a:spAutoFit/>
          </a:bodyPr>
          <a:lstStyle/>
          <a:p>
            <a:pPr algn="ctr"/>
            <a:r>
              <a:rPr kumimoji="1" lang="en-US" altLang="ja-JP" sz="1000">
                <a:latin typeface="メイリオ" panose="020B0604030504040204" pitchFamily="50" charset="-128"/>
                <a:ea typeface="メイリオ" panose="020B0604030504040204" pitchFamily="50" charset="-128"/>
              </a:rPr>
              <a:t>2025</a:t>
            </a:r>
            <a:r>
              <a:rPr kumimoji="1" lang="ja-JP" altLang="en-US" sz="1000">
                <a:latin typeface="メイリオ" panose="020B0604030504040204" pitchFamily="50" charset="-128"/>
                <a:ea typeface="メイリオ" panose="020B0604030504040204" pitchFamily="50" charset="-128"/>
              </a:rPr>
              <a:t>年</a:t>
            </a:r>
            <a:r>
              <a:rPr kumimoji="1" lang="en-US" altLang="ja-JP" sz="1000">
                <a:latin typeface="メイリオ" panose="020B0604030504040204" pitchFamily="50" charset="-128"/>
                <a:ea typeface="メイリオ" panose="020B0604030504040204" pitchFamily="50" charset="-128"/>
              </a:rPr>
              <a:t>5</a:t>
            </a:r>
            <a:r>
              <a:rPr kumimoji="1" lang="ja-JP" altLang="en-US" sz="1000">
                <a:latin typeface="メイリオ" panose="020B0604030504040204" pitchFamily="50" charset="-128"/>
                <a:ea typeface="メイリオ" panose="020B0604030504040204" pitchFamily="50" charset="-128"/>
              </a:rPr>
              <a:t>月</a:t>
            </a:r>
          </a:p>
        </p:txBody>
      </p:sp>
      <p:sp>
        <p:nvSpPr>
          <p:cNvPr id="2098" name="テキスト ボックス 2097">
            <a:extLst>
              <a:ext uri="{FF2B5EF4-FFF2-40B4-BE49-F238E27FC236}">
                <a16:creationId xmlns:a16="http://schemas.microsoft.com/office/drawing/2014/main" id="{CE12257A-0E7E-B895-AF8E-D15F7AA1D62A}"/>
              </a:ext>
            </a:extLst>
          </p:cNvPr>
          <p:cNvSpPr txBox="1"/>
          <p:nvPr/>
        </p:nvSpPr>
        <p:spPr>
          <a:xfrm>
            <a:off x="2895696" y="3511221"/>
            <a:ext cx="957586" cy="246221"/>
          </a:xfrm>
          <a:prstGeom prst="rect">
            <a:avLst/>
          </a:prstGeom>
          <a:noFill/>
          <a:ln>
            <a:noFill/>
          </a:ln>
        </p:spPr>
        <p:txBody>
          <a:bodyPr wrap="square" rtlCol="0">
            <a:spAutoFit/>
          </a:bodyPr>
          <a:lstStyle/>
          <a:p>
            <a:pPr algn="ctr"/>
            <a:r>
              <a:rPr kumimoji="1" lang="en-US" altLang="ja-JP" sz="1000">
                <a:latin typeface="メイリオ" panose="020B0604030504040204" pitchFamily="50" charset="-128"/>
                <a:ea typeface="メイリオ" panose="020B0604030504040204" pitchFamily="50" charset="-128"/>
              </a:rPr>
              <a:t>2025</a:t>
            </a:r>
            <a:r>
              <a:rPr kumimoji="1" lang="ja-JP" altLang="en-US" sz="1000">
                <a:latin typeface="メイリオ" panose="020B0604030504040204" pitchFamily="50" charset="-128"/>
                <a:ea typeface="メイリオ" panose="020B0604030504040204" pitchFamily="50" charset="-128"/>
              </a:rPr>
              <a:t>年</a:t>
            </a:r>
            <a:r>
              <a:rPr lang="en-US" altLang="ja-JP" sz="1000">
                <a:latin typeface="メイリオ" panose="020B0604030504040204" pitchFamily="50" charset="-128"/>
                <a:ea typeface="メイリオ" panose="020B0604030504040204" pitchFamily="50" charset="-128"/>
              </a:rPr>
              <a:t>10</a:t>
            </a:r>
            <a:r>
              <a:rPr kumimoji="1" lang="ja-JP" altLang="en-US" sz="1000">
                <a:latin typeface="メイリオ" panose="020B0604030504040204" pitchFamily="50" charset="-128"/>
                <a:ea typeface="メイリオ" panose="020B0604030504040204" pitchFamily="50" charset="-128"/>
              </a:rPr>
              <a:t>月</a:t>
            </a:r>
          </a:p>
        </p:txBody>
      </p:sp>
      <p:sp>
        <p:nvSpPr>
          <p:cNvPr id="2099" name="テキスト ボックス 2098">
            <a:extLst>
              <a:ext uri="{FF2B5EF4-FFF2-40B4-BE49-F238E27FC236}">
                <a16:creationId xmlns:a16="http://schemas.microsoft.com/office/drawing/2014/main" id="{82EEA8C2-D18D-B5B9-3D3F-C9BE318BD901}"/>
              </a:ext>
            </a:extLst>
          </p:cNvPr>
          <p:cNvSpPr txBox="1"/>
          <p:nvPr/>
        </p:nvSpPr>
        <p:spPr>
          <a:xfrm>
            <a:off x="589609" y="3475317"/>
            <a:ext cx="957586" cy="246221"/>
          </a:xfrm>
          <a:prstGeom prst="rect">
            <a:avLst/>
          </a:prstGeom>
          <a:noFill/>
          <a:ln>
            <a:noFill/>
          </a:ln>
        </p:spPr>
        <p:txBody>
          <a:bodyPr wrap="square" rtlCol="0">
            <a:spAutoFit/>
          </a:bodyPr>
          <a:lstStyle/>
          <a:p>
            <a:pPr algn="ctr"/>
            <a:r>
              <a:rPr kumimoji="1" lang="en-US" altLang="ja-JP" sz="1000">
                <a:latin typeface="メイリオ" panose="020B0604030504040204" pitchFamily="50" charset="-128"/>
                <a:ea typeface="メイリオ" panose="020B0604030504040204" pitchFamily="50" charset="-128"/>
              </a:rPr>
              <a:t>2025</a:t>
            </a:r>
            <a:r>
              <a:rPr kumimoji="1" lang="ja-JP" altLang="en-US" sz="1000">
                <a:latin typeface="メイリオ" panose="020B0604030504040204" pitchFamily="50" charset="-128"/>
                <a:ea typeface="メイリオ" panose="020B0604030504040204" pitchFamily="50" charset="-128"/>
              </a:rPr>
              <a:t>年</a:t>
            </a:r>
            <a:r>
              <a:rPr kumimoji="1" lang="en-US" altLang="ja-JP" sz="1000">
                <a:latin typeface="メイリオ" panose="020B0604030504040204" pitchFamily="50" charset="-128"/>
                <a:ea typeface="メイリオ" panose="020B0604030504040204" pitchFamily="50" charset="-128"/>
              </a:rPr>
              <a:t>8</a:t>
            </a:r>
            <a:r>
              <a:rPr kumimoji="1" lang="ja-JP" altLang="en-US" sz="1000">
                <a:latin typeface="メイリオ" panose="020B0604030504040204" pitchFamily="50" charset="-128"/>
                <a:ea typeface="メイリオ" panose="020B0604030504040204" pitchFamily="50" charset="-128"/>
              </a:rPr>
              <a:t>月</a:t>
            </a:r>
          </a:p>
        </p:txBody>
      </p:sp>
      <p:sp>
        <p:nvSpPr>
          <p:cNvPr id="2101" name="テキスト ボックス 2100">
            <a:extLst>
              <a:ext uri="{FF2B5EF4-FFF2-40B4-BE49-F238E27FC236}">
                <a16:creationId xmlns:a16="http://schemas.microsoft.com/office/drawing/2014/main" id="{E6D4C90C-BD24-1939-D716-C6450E2AD8FC}"/>
              </a:ext>
            </a:extLst>
          </p:cNvPr>
          <p:cNvSpPr txBox="1"/>
          <p:nvPr/>
        </p:nvSpPr>
        <p:spPr>
          <a:xfrm>
            <a:off x="309563" y="4310547"/>
            <a:ext cx="1966105" cy="215444"/>
          </a:xfrm>
          <a:prstGeom prst="rect">
            <a:avLst/>
          </a:prstGeom>
          <a:noFill/>
          <a:ln>
            <a:noFill/>
          </a:ln>
        </p:spPr>
        <p:txBody>
          <a:bodyPr wrap="square" rtlCol="0">
            <a:spAutoFit/>
          </a:bodyPr>
          <a:lstStyle/>
          <a:p>
            <a:pPr algn="ctr"/>
            <a:r>
              <a:rPr lang="ja-JP" altLang="en-US" sz="800" b="1">
                <a:solidFill>
                  <a:srgbClr val="C00000"/>
                </a:solidFill>
                <a:latin typeface="メイリオ" panose="020B0604030504040204" pitchFamily="50" charset="-128"/>
                <a:ea typeface="メイリオ" panose="020B0604030504040204" pitchFamily="50" charset="-128"/>
              </a:rPr>
              <a:t>単月</a:t>
            </a:r>
            <a:r>
              <a:rPr lang="en-US" altLang="ja-JP" sz="800" b="1">
                <a:solidFill>
                  <a:srgbClr val="C00000"/>
                </a:solidFill>
                <a:latin typeface="メイリオ" panose="020B0604030504040204" pitchFamily="50" charset="-128"/>
                <a:ea typeface="メイリオ" panose="020B0604030504040204" pitchFamily="50" charset="-128"/>
              </a:rPr>
              <a:t>6000</a:t>
            </a:r>
            <a:r>
              <a:rPr lang="ja-JP" altLang="en-US" sz="800" b="1">
                <a:solidFill>
                  <a:srgbClr val="C00000"/>
                </a:solidFill>
                <a:latin typeface="メイリオ" panose="020B0604030504040204" pitchFamily="50" charset="-128"/>
                <a:ea typeface="メイリオ" panose="020B0604030504040204" pitchFamily="50" charset="-128"/>
              </a:rPr>
              <a:t>万円</a:t>
            </a:r>
            <a:r>
              <a:rPr lang="ja-JP" altLang="en-US" sz="800">
                <a:latin typeface="メイリオ" panose="020B0604030504040204" pitchFamily="50" charset="-128"/>
                <a:ea typeface="メイリオ" panose="020B0604030504040204" pitchFamily="50" charset="-128"/>
              </a:rPr>
              <a:t>の取り扱いを突破。</a:t>
            </a:r>
            <a:endParaRPr kumimoji="1" lang="ja-JP" altLang="en-US" sz="800">
              <a:latin typeface="メイリオ" panose="020B0604030504040204" pitchFamily="50" charset="-128"/>
              <a:ea typeface="メイリオ" panose="020B0604030504040204" pitchFamily="50" charset="-128"/>
            </a:endParaRPr>
          </a:p>
        </p:txBody>
      </p:sp>
      <p:sp>
        <p:nvSpPr>
          <p:cNvPr id="2102" name="テキスト ボックス 2101">
            <a:extLst>
              <a:ext uri="{FF2B5EF4-FFF2-40B4-BE49-F238E27FC236}">
                <a16:creationId xmlns:a16="http://schemas.microsoft.com/office/drawing/2014/main" id="{756F6552-3CAE-3310-D96A-5D847F286859}"/>
              </a:ext>
            </a:extLst>
          </p:cNvPr>
          <p:cNvSpPr txBox="1"/>
          <p:nvPr/>
        </p:nvSpPr>
        <p:spPr>
          <a:xfrm>
            <a:off x="2105787" y="3209363"/>
            <a:ext cx="2612987" cy="338554"/>
          </a:xfrm>
          <a:prstGeom prst="rect">
            <a:avLst/>
          </a:prstGeom>
          <a:noFill/>
          <a:ln>
            <a:noFill/>
          </a:ln>
        </p:spPr>
        <p:txBody>
          <a:bodyPr wrap="square" rtlCol="0">
            <a:spAutoFit/>
          </a:bodyPr>
          <a:lstStyle/>
          <a:p>
            <a:pPr algn="ctr"/>
            <a:r>
              <a:rPr kumimoji="1" lang="en-US" altLang="ja-JP" sz="800" dirty="0">
                <a:latin typeface="メイリオ" panose="020B0604030504040204" pitchFamily="50" charset="-128"/>
                <a:ea typeface="メイリオ" panose="020B0604030504040204" pitchFamily="50" charset="-128"/>
              </a:rPr>
              <a:t>2024</a:t>
            </a:r>
            <a:r>
              <a:rPr kumimoji="1" lang="ja-JP" altLang="en-US" sz="800" dirty="0">
                <a:latin typeface="メイリオ" panose="020B0604030504040204" pitchFamily="50" charset="-128"/>
                <a:ea typeface="メイリオ" panose="020B0604030504040204" pitchFamily="50" charset="-128"/>
              </a:rPr>
              <a:t>年度上半期の</a:t>
            </a:r>
            <a:r>
              <a:rPr kumimoji="1" lang="en-US" altLang="ja-JP" sz="800" dirty="0">
                <a:latin typeface="メイリオ" panose="020B0604030504040204" pitchFamily="50" charset="-128"/>
                <a:ea typeface="メイリオ" panose="020B0604030504040204" pitchFamily="50" charset="-128"/>
              </a:rPr>
              <a:t>Sales Partner</a:t>
            </a:r>
            <a:r>
              <a:rPr kumimoji="1" lang="ja-JP" altLang="en-US" sz="800" dirty="0">
                <a:latin typeface="メイリオ" panose="020B0604030504040204" pitchFamily="50" charset="-128"/>
                <a:ea typeface="メイリオ" panose="020B0604030504040204" pitchFamily="50" charset="-128"/>
              </a:rPr>
              <a:t>「</a:t>
            </a:r>
            <a:r>
              <a:rPr kumimoji="1" lang="en-US" altLang="ja-JP" sz="800" dirty="0">
                <a:latin typeface="メイリオ" panose="020B0604030504040204" pitchFamily="50" charset="-128"/>
                <a:ea typeface="メイリオ" panose="020B0604030504040204" pitchFamily="50" charset="-128"/>
              </a:rPr>
              <a:t>Premier</a:t>
            </a:r>
            <a:r>
              <a:rPr kumimoji="1" lang="ja-JP" altLang="en-US" sz="800" dirty="0">
                <a:latin typeface="メイリオ" panose="020B0604030504040204" pitchFamily="50" charset="-128"/>
                <a:ea typeface="メイリオ" panose="020B0604030504040204" pitchFamily="50" charset="-128"/>
              </a:rPr>
              <a:t>」に認定</a:t>
            </a:r>
            <a:r>
              <a:rPr lang="ja-JP" altLang="en-US" sz="800" dirty="0">
                <a:latin typeface="メイリオ" panose="020B0604030504040204" pitchFamily="50" charset="-128"/>
                <a:ea typeface="メイリオ" panose="020B0604030504040204" pitchFamily="50" charset="-128"/>
              </a:rPr>
              <a:t>。</a:t>
            </a:r>
            <a:endParaRPr lang="en-US" altLang="ja-JP" sz="800" dirty="0">
              <a:latin typeface="メイリオ" panose="020B0604030504040204" pitchFamily="50" charset="-128"/>
              <a:ea typeface="メイリオ" panose="020B0604030504040204" pitchFamily="50" charset="-128"/>
            </a:endParaRPr>
          </a:p>
          <a:p>
            <a:pPr algn="ctr"/>
            <a:r>
              <a:rPr lang="ja-JP" altLang="en-US" sz="800" b="1" dirty="0">
                <a:solidFill>
                  <a:srgbClr val="C00000"/>
                </a:solidFill>
                <a:latin typeface="メイリオ" panose="020B0604030504040204" pitchFamily="50" charset="-128"/>
                <a:ea typeface="メイリオ" panose="020B0604030504040204" pitchFamily="50" charset="-128"/>
              </a:rPr>
              <a:t>上位</a:t>
            </a:r>
            <a:r>
              <a:rPr lang="en-US" altLang="ja-JP" sz="800" b="1" dirty="0">
                <a:solidFill>
                  <a:srgbClr val="C00000"/>
                </a:solidFill>
                <a:latin typeface="メイリオ" panose="020B0604030504040204" pitchFamily="50" charset="-128"/>
                <a:ea typeface="メイリオ" panose="020B0604030504040204" pitchFamily="50" charset="-128"/>
              </a:rPr>
              <a:t>20</a:t>
            </a:r>
            <a:r>
              <a:rPr lang="ja-JP" altLang="en-US" sz="800" b="1" dirty="0">
                <a:solidFill>
                  <a:srgbClr val="C00000"/>
                </a:solidFill>
                <a:latin typeface="メイリオ" panose="020B0604030504040204" pitchFamily="50" charset="-128"/>
                <a:ea typeface="メイリオ" panose="020B0604030504040204" pitchFamily="50" charset="-128"/>
              </a:rPr>
              <a:t>位タイ</a:t>
            </a:r>
            <a:endParaRPr lang="en-US" altLang="ja-JP" sz="800" b="1" dirty="0">
              <a:solidFill>
                <a:srgbClr val="C00000"/>
              </a:solidFill>
              <a:latin typeface="メイリオ" panose="020B0604030504040204" pitchFamily="50" charset="-128"/>
              <a:ea typeface="メイリオ" panose="020B0604030504040204" pitchFamily="50" charset="-128"/>
            </a:endParaRPr>
          </a:p>
        </p:txBody>
      </p:sp>
      <p:sp>
        <p:nvSpPr>
          <p:cNvPr id="2103" name="テキスト ボックス 2102">
            <a:extLst>
              <a:ext uri="{FF2B5EF4-FFF2-40B4-BE49-F238E27FC236}">
                <a16:creationId xmlns:a16="http://schemas.microsoft.com/office/drawing/2014/main" id="{D5793D3E-32A5-A172-B93D-F2E02806685C}"/>
              </a:ext>
            </a:extLst>
          </p:cNvPr>
          <p:cNvSpPr txBox="1"/>
          <p:nvPr/>
        </p:nvSpPr>
        <p:spPr>
          <a:xfrm>
            <a:off x="4837113" y="3209363"/>
            <a:ext cx="1767520" cy="215444"/>
          </a:xfrm>
          <a:prstGeom prst="rect">
            <a:avLst/>
          </a:prstGeom>
          <a:noFill/>
          <a:ln>
            <a:noFill/>
          </a:ln>
        </p:spPr>
        <p:txBody>
          <a:bodyPr wrap="square" rtlCol="0">
            <a:spAutoFit/>
          </a:bodyPr>
          <a:lstStyle/>
          <a:p>
            <a:pPr algn="ctr"/>
            <a:r>
              <a:rPr lang="ja-JP" altLang="en-US" sz="800" b="1">
                <a:solidFill>
                  <a:srgbClr val="C00000"/>
                </a:solidFill>
                <a:latin typeface="メイリオ" panose="020B0604030504040204" pitchFamily="50" charset="-128"/>
                <a:ea typeface="メイリオ" panose="020B0604030504040204" pitchFamily="50" charset="-128"/>
              </a:rPr>
              <a:t>単月</a:t>
            </a:r>
            <a:r>
              <a:rPr lang="en-US" altLang="ja-JP" sz="800" b="1">
                <a:solidFill>
                  <a:srgbClr val="C00000"/>
                </a:solidFill>
                <a:latin typeface="メイリオ" panose="020B0604030504040204" pitchFamily="50" charset="-128"/>
                <a:ea typeface="メイリオ" panose="020B0604030504040204" pitchFamily="50" charset="-128"/>
              </a:rPr>
              <a:t>2000</a:t>
            </a:r>
            <a:r>
              <a:rPr lang="ja-JP" altLang="en-US" sz="800" b="1">
                <a:solidFill>
                  <a:srgbClr val="C00000"/>
                </a:solidFill>
                <a:latin typeface="メイリオ" panose="020B0604030504040204" pitchFamily="50" charset="-128"/>
                <a:ea typeface="メイリオ" panose="020B0604030504040204" pitchFamily="50" charset="-128"/>
              </a:rPr>
              <a:t>万円</a:t>
            </a:r>
            <a:r>
              <a:rPr lang="ja-JP" altLang="en-US" sz="800">
                <a:latin typeface="メイリオ" panose="020B0604030504040204" pitchFamily="50" charset="-128"/>
                <a:ea typeface="メイリオ" panose="020B0604030504040204" pitchFamily="50" charset="-128"/>
              </a:rPr>
              <a:t>の取り扱いを突破。</a:t>
            </a:r>
            <a:endParaRPr lang="en-US" altLang="ja-JP" sz="800">
              <a:latin typeface="メイリオ" panose="020B0604030504040204" pitchFamily="50" charset="-128"/>
              <a:ea typeface="メイリオ" panose="020B0604030504040204" pitchFamily="50" charset="-128"/>
            </a:endParaRPr>
          </a:p>
        </p:txBody>
      </p:sp>
      <p:sp>
        <p:nvSpPr>
          <p:cNvPr id="2104" name="テキスト ボックス 2103">
            <a:extLst>
              <a:ext uri="{FF2B5EF4-FFF2-40B4-BE49-F238E27FC236}">
                <a16:creationId xmlns:a16="http://schemas.microsoft.com/office/drawing/2014/main" id="{89EE1600-592C-F991-FBB3-472A73DB5551}"/>
              </a:ext>
            </a:extLst>
          </p:cNvPr>
          <p:cNvSpPr txBox="1"/>
          <p:nvPr/>
        </p:nvSpPr>
        <p:spPr>
          <a:xfrm>
            <a:off x="1858111" y="4310547"/>
            <a:ext cx="3234807" cy="338554"/>
          </a:xfrm>
          <a:prstGeom prst="rect">
            <a:avLst/>
          </a:prstGeom>
          <a:noFill/>
          <a:ln>
            <a:noFill/>
          </a:ln>
        </p:spPr>
        <p:txBody>
          <a:bodyPr wrap="square" rtlCol="0">
            <a:spAutoFit/>
          </a:bodyPr>
          <a:lstStyle/>
          <a:p>
            <a:pPr algn="ctr"/>
            <a:r>
              <a:rPr kumimoji="1" lang="ja-JP" altLang="en-US" sz="800">
                <a:latin typeface="メイリオ" panose="020B0604030504040204" pitchFamily="50" charset="-128"/>
                <a:ea typeface="メイリオ" panose="020B0604030504040204" pitchFamily="50" charset="-128"/>
              </a:rPr>
              <a:t>前回に続き、最高グレードである</a:t>
            </a:r>
            <a:r>
              <a:rPr lang="ja-JP" altLang="en-US" sz="800">
                <a:latin typeface="メイリオ" panose="020B0604030504040204" pitchFamily="50" charset="-128"/>
                <a:ea typeface="メイリオ" panose="020B0604030504040204" pitchFamily="50" charset="-128"/>
              </a:rPr>
              <a:t>「</a:t>
            </a:r>
            <a:r>
              <a:rPr lang="en-US" altLang="ja-JP" sz="800">
                <a:latin typeface="メイリオ" panose="020B0604030504040204" pitchFamily="50" charset="-128"/>
                <a:ea typeface="メイリオ" panose="020B0604030504040204" pitchFamily="50" charset="-128"/>
              </a:rPr>
              <a:t>Premier</a:t>
            </a:r>
            <a:r>
              <a:rPr lang="ja-JP" altLang="en-US" sz="800">
                <a:latin typeface="メイリオ" panose="020B0604030504040204" pitchFamily="50" charset="-128"/>
                <a:ea typeface="メイリオ" panose="020B0604030504040204" pitchFamily="50" charset="-128"/>
              </a:rPr>
              <a:t>」に認定。</a:t>
            </a:r>
            <a:endParaRPr lang="en-US" altLang="ja-JP" sz="800">
              <a:latin typeface="メイリオ" panose="020B0604030504040204" pitchFamily="50" charset="-128"/>
              <a:ea typeface="メイリオ" panose="020B0604030504040204" pitchFamily="50" charset="-128"/>
            </a:endParaRPr>
          </a:p>
          <a:p>
            <a:pPr algn="ctr"/>
            <a:r>
              <a:rPr kumimoji="1" lang="ja-JP" altLang="en-US" sz="800" b="1">
                <a:solidFill>
                  <a:srgbClr val="C00000"/>
                </a:solidFill>
                <a:latin typeface="メイリオ" panose="020B0604030504040204" pitchFamily="50" charset="-128"/>
                <a:ea typeface="メイリオ" panose="020B0604030504040204" pitchFamily="50" charset="-128"/>
              </a:rPr>
              <a:t>上位</a:t>
            </a:r>
            <a:r>
              <a:rPr kumimoji="1" lang="en-US" altLang="ja-JP" sz="800" b="1">
                <a:solidFill>
                  <a:srgbClr val="C00000"/>
                </a:solidFill>
                <a:latin typeface="メイリオ" panose="020B0604030504040204" pitchFamily="50" charset="-128"/>
                <a:ea typeface="メイリオ" panose="020B0604030504040204" pitchFamily="50" charset="-128"/>
              </a:rPr>
              <a:t>12</a:t>
            </a:r>
            <a:r>
              <a:rPr kumimoji="1" lang="ja-JP" altLang="en-US" sz="800" b="1">
                <a:solidFill>
                  <a:srgbClr val="C00000"/>
                </a:solidFill>
                <a:latin typeface="メイリオ" panose="020B0604030504040204" pitchFamily="50" charset="-128"/>
                <a:ea typeface="メイリオ" panose="020B0604030504040204" pitchFamily="50" charset="-128"/>
              </a:rPr>
              <a:t>位タイ</a:t>
            </a:r>
          </a:p>
        </p:txBody>
      </p:sp>
      <p:sp>
        <p:nvSpPr>
          <p:cNvPr id="2105" name="テキスト ボックス 2104">
            <a:extLst>
              <a:ext uri="{FF2B5EF4-FFF2-40B4-BE49-F238E27FC236}">
                <a16:creationId xmlns:a16="http://schemas.microsoft.com/office/drawing/2014/main" id="{735B8649-944E-38AC-EFE9-3FF466013418}"/>
              </a:ext>
            </a:extLst>
          </p:cNvPr>
          <p:cNvSpPr txBox="1"/>
          <p:nvPr/>
        </p:nvSpPr>
        <p:spPr>
          <a:xfrm>
            <a:off x="6722972" y="3209363"/>
            <a:ext cx="2758776" cy="338554"/>
          </a:xfrm>
          <a:prstGeom prst="rect">
            <a:avLst/>
          </a:prstGeom>
          <a:noFill/>
          <a:ln>
            <a:noFill/>
          </a:ln>
        </p:spPr>
        <p:txBody>
          <a:bodyPr wrap="square" rtlCol="0">
            <a:spAutoFit/>
          </a:bodyPr>
          <a:lstStyle/>
          <a:p>
            <a:pPr algn="ctr"/>
            <a:r>
              <a:rPr lang="ja-JP" altLang="en-US" sz="800">
                <a:latin typeface="メイリオ" panose="020B0604030504040204" pitchFamily="50" charset="-128"/>
                <a:ea typeface="メイリオ" panose="020B0604030504040204" pitchFamily="50" charset="-128"/>
              </a:rPr>
              <a:t>前回に続き、最高グレードである「</a:t>
            </a:r>
            <a:r>
              <a:rPr lang="en-US" altLang="ja-JP" sz="800">
                <a:latin typeface="メイリオ" panose="020B0604030504040204" pitchFamily="50" charset="-128"/>
                <a:ea typeface="メイリオ" panose="020B0604030504040204" pitchFamily="50" charset="-128"/>
              </a:rPr>
              <a:t>Premier</a:t>
            </a:r>
            <a:r>
              <a:rPr lang="ja-JP" altLang="en-US" sz="800">
                <a:latin typeface="メイリオ" panose="020B0604030504040204" pitchFamily="50" charset="-128"/>
                <a:ea typeface="メイリオ" panose="020B0604030504040204" pitchFamily="50" charset="-128"/>
              </a:rPr>
              <a:t>」に認定。</a:t>
            </a:r>
            <a:r>
              <a:rPr lang="ja-JP" altLang="en-US" sz="800" b="1">
                <a:solidFill>
                  <a:srgbClr val="C00000"/>
                </a:solidFill>
                <a:latin typeface="メイリオ" panose="020B0604030504040204" pitchFamily="50" charset="-128"/>
                <a:ea typeface="メイリオ" panose="020B0604030504040204" pitchFamily="50" charset="-128"/>
              </a:rPr>
              <a:t>上位</a:t>
            </a:r>
            <a:r>
              <a:rPr lang="en-US" altLang="ja-JP" sz="800" b="1">
                <a:solidFill>
                  <a:srgbClr val="C00000"/>
                </a:solidFill>
                <a:latin typeface="メイリオ" panose="020B0604030504040204" pitchFamily="50" charset="-128"/>
                <a:ea typeface="メイリオ" panose="020B0604030504040204" pitchFamily="50" charset="-128"/>
              </a:rPr>
              <a:t>15</a:t>
            </a:r>
            <a:r>
              <a:rPr lang="ja-JP" altLang="en-US" sz="800" b="1">
                <a:solidFill>
                  <a:srgbClr val="C00000"/>
                </a:solidFill>
                <a:latin typeface="メイリオ" panose="020B0604030504040204" pitchFamily="50" charset="-128"/>
                <a:ea typeface="メイリオ" panose="020B0604030504040204" pitchFamily="50" charset="-128"/>
              </a:rPr>
              <a:t>位タイ</a:t>
            </a:r>
            <a:endParaRPr lang="en-US" altLang="ja-JP" sz="800" b="1">
              <a:solidFill>
                <a:srgbClr val="C00000"/>
              </a:solidFill>
              <a:latin typeface="メイリオ" panose="020B0604030504040204" pitchFamily="50" charset="-128"/>
              <a:ea typeface="メイリオ" panose="020B0604030504040204" pitchFamily="50" charset="-128"/>
            </a:endParaRPr>
          </a:p>
        </p:txBody>
      </p:sp>
      <p:sp>
        <p:nvSpPr>
          <p:cNvPr id="2110" name="テキスト ボックス 2109">
            <a:extLst>
              <a:ext uri="{FF2B5EF4-FFF2-40B4-BE49-F238E27FC236}">
                <a16:creationId xmlns:a16="http://schemas.microsoft.com/office/drawing/2014/main" id="{9364E84A-3501-3480-3E86-4181D9EDDE0D}"/>
              </a:ext>
            </a:extLst>
          </p:cNvPr>
          <p:cNvSpPr txBox="1"/>
          <p:nvPr/>
        </p:nvSpPr>
        <p:spPr>
          <a:xfrm>
            <a:off x="5204477" y="3512494"/>
            <a:ext cx="957586" cy="246221"/>
          </a:xfrm>
          <a:prstGeom prst="rect">
            <a:avLst/>
          </a:prstGeom>
          <a:noFill/>
          <a:ln>
            <a:noFill/>
          </a:ln>
        </p:spPr>
        <p:txBody>
          <a:bodyPr wrap="square" rtlCol="0">
            <a:spAutoFit/>
          </a:bodyPr>
          <a:lstStyle/>
          <a:p>
            <a:pPr algn="ctr"/>
            <a:r>
              <a:rPr kumimoji="1" lang="ja-JP" altLang="en-US" sz="1000">
                <a:latin typeface="メイリオ" panose="020B0604030504040204" pitchFamily="50" charset="-128"/>
                <a:ea typeface="メイリオ" panose="020B0604030504040204" pitchFamily="50" charset="-128"/>
              </a:rPr>
              <a:t>現在</a:t>
            </a:r>
          </a:p>
        </p:txBody>
      </p:sp>
      <p:sp>
        <p:nvSpPr>
          <p:cNvPr id="2111" name="テキスト ボックス 2110">
            <a:extLst>
              <a:ext uri="{FF2B5EF4-FFF2-40B4-BE49-F238E27FC236}">
                <a16:creationId xmlns:a16="http://schemas.microsoft.com/office/drawing/2014/main" id="{915149AC-7723-29BD-6D17-D471CC831F56}"/>
              </a:ext>
            </a:extLst>
          </p:cNvPr>
          <p:cNvSpPr txBox="1"/>
          <p:nvPr/>
        </p:nvSpPr>
        <p:spPr>
          <a:xfrm>
            <a:off x="4684085" y="4310547"/>
            <a:ext cx="2335280" cy="338554"/>
          </a:xfrm>
          <a:prstGeom prst="rect">
            <a:avLst/>
          </a:prstGeom>
          <a:noFill/>
          <a:ln>
            <a:noFill/>
          </a:ln>
        </p:spPr>
        <p:txBody>
          <a:bodyPr wrap="square" rtlCol="0">
            <a:spAutoFit/>
          </a:bodyPr>
          <a:lstStyle/>
          <a:p>
            <a:pPr algn="ctr"/>
            <a:r>
              <a:rPr lang="ja-JP" altLang="en-US" sz="800" dirty="0">
                <a:latin typeface="メイリオ" panose="020B0604030504040204" pitchFamily="50" charset="-128"/>
                <a:ea typeface="メイリオ" panose="020B0604030504040204" pitchFamily="50" charset="-128"/>
              </a:rPr>
              <a:t>「</a:t>
            </a:r>
            <a:r>
              <a:rPr lang="en-US" altLang="ja-JP" sz="800" dirty="0">
                <a:latin typeface="メイリオ" panose="020B0604030504040204" pitchFamily="50" charset="-128"/>
                <a:ea typeface="メイリオ" panose="020B0604030504040204" pitchFamily="50" charset="-128"/>
              </a:rPr>
              <a:t>Best LINE</a:t>
            </a:r>
            <a:r>
              <a:rPr lang="ja-JP" altLang="en-US" sz="800" dirty="0">
                <a:latin typeface="メイリオ" panose="020B0604030504040204" pitchFamily="50" charset="-128"/>
                <a:ea typeface="メイリオ" panose="020B0604030504040204" pitchFamily="50" charset="-128"/>
              </a:rPr>
              <a:t>公式アカウント </a:t>
            </a:r>
            <a:r>
              <a:rPr lang="en-US" altLang="ja-JP" sz="800" dirty="0">
                <a:latin typeface="メイリオ" panose="020B0604030504040204" pitchFamily="50" charset="-128"/>
                <a:ea typeface="メイリオ" panose="020B0604030504040204" pitchFamily="50" charset="-128"/>
              </a:rPr>
              <a:t>Growth</a:t>
            </a:r>
            <a:r>
              <a:rPr lang="ja-JP" altLang="en-US" sz="800" dirty="0">
                <a:latin typeface="メイリオ" panose="020B0604030504040204" pitchFamily="50" charset="-128"/>
                <a:ea typeface="メイリオ" panose="020B0604030504040204" pitchFamily="50" charset="-128"/>
              </a:rPr>
              <a:t>」部門で</a:t>
            </a:r>
            <a:r>
              <a:rPr lang="en-US" altLang="ja-JP" sz="800" dirty="0">
                <a:latin typeface="メイリオ" panose="020B0604030504040204" pitchFamily="50" charset="-128"/>
                <a:ea typeface="メイリオ" panose="020B0604030504040204" pitchFamily="50" charset="-128"/>
              </a:rPr>
              <a:t>LINE</a:t>
            </a:r>
            <a:r>
              <a:rPr lang="ja-JP" altLang="en-US" sz="800" dirty="0">
                <a:latin typeface="メイリオ" panose="020B0604030504040204" pitchFamily="50" charset="-128"/>
                <a:ea typeface="メイリオ" panose="020B0604030504040204" pitchFamily="50" charset="-128"/>
              </a:rPr>
              <a:t>ヤフー社から表彰をいただきました。</a:t>
            </a:r>
            <a:endParaRPr kumimoji="1" lang="ja-JP" altLang="en-US" sz="800" dirty="0">
              <a:latin typeface="メイリオ" panose="020B0604030504040204" pitchFamily="50" charset="-128"/>
              <a:ea typeface="メイリオ" panose="020B0604030504040204" pitchFamily="50" charset="-128"/>
            </a:endParaRPr>
          </a:p>
        </p:txBody>
      </p:sp>
      <p:sp>
        <p:nvSpPr>
          <p:cNvPr id="8" name="正方形/長方形 7">
            <a:extLst>
              <a:ext uri="{FF2B5EF4-FFF2-40B4-BE49-F238E27FC236}">
                <a16:creationId xmlns:a16="http://schemas.microsoft.com/office/drawing/2014/main" id="{F974FA57-9312-73D0-6461-C65486B6B90A}"/>
              </a:ext>
            </a:extLst>
          </p:cNvPr>
          <p:cNvSpPr/>
          <p:nvPr/>
        </p:nvSpPr>
        <p:spPr>
          <a:xfrm>
            <a:off x="388723" y="675734"/>
            <a:ext cx="9128556" cy="349010"/>
          </a:xfrm>
          <a:prstGeom prst="rect">
            <a:avLst/>
          </a:prstGeom>
          <a:solidFill>
            <a:schemeClr val="bg1">
              <a:lumMod val="65000"/>
            </a:schemeClr>
          </a:solidFill>
          <a:ln>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 name="正方形/長方形 2">
            <a:extLst>
              <a:ext uri="{FF2B5EF4-FFF2-40B4-BE49-F238E27FC236}">
                <a16:creationId xmlns:a16="http://schemas.microsoft.com/office/drawing/2014/main" id="{4661DF32-128A-6B77-5F5D-76D78A1B8378}"/>
              </a:ext>
            </a:extLst>
          </p:cNvPr>
          <p:cNvSpPr/>
          <p:nvPr/>
        </p:nvSpPr>
        <p:spPr>
          <a:xfrm>
            <a:off x="2853632" y="700332"/>
            <a:ext cx="6663645" cy="306000"/>
          </a:xfrm>
          <a:prstGeom prst="rect">
            <a:avLst/>
          </a:prstGeom>
          <a:solidFill>
            <a:srgbClr val="10253F"/>
          </a:solidFill>
        </p:spPr>
        <p:txBody>
          <a:bodyPr wrap="square">
            <a:spAutoFit/>
          </a:bodyPr>
          <a:lstStyle/>
          <a:p>
            <a:pPr lvl="0">
              <a:buClr>
                <a:srgbClr val="002060"/>
              </a:buClr>
              <a:buSzPts val="1600"/>
            </a:pPr>
            <a:r>
              <a:rPr lang="en-US" altLang="ja-JP" sz="1300" b="1">
                <a:solidFill>
                  <a:schemeClr val="bg1"/>
                </a:solidFill>
                <a:latin typeface="Meiryo"/>
                <a:ea typeface="Meiryo"/>
                <a:cs typeface="Meiryo"/>
                <a:sym typeface="Meiryo"/>
              </a:rPr>
              <a:t>LINE</a:t>
            </a:r>
            <a:r>
              <a:rPr lang="ja-JP" altLang="en-US" sz="1300" b="1">
                <a:solidFill>
                  <a:schemeClr val="bg1"/>
                </a:solidFill>
                <a:latin typeface="Meiryo"/>
                <a:ea typeface="Meiryo"/>
                <a:cs typeface="Meiryo"/>
                <a:sym typeface="Meiryo"/>
              </a:rPr>
              <a:t>ヤフー </a:t>
            </a:r>
            <a:r>
              <a:rPr lang="en-US" altLang="ja-JP" sz="1300" b="1">
                <a:solidFill>
                  <a:schemeClr val="bg1"/>
                </a:solidFill>
                <a:latin typeface="Meiryo"/>
                <a:ea typeface="Meiryo"/>
                <a:cs typeface="Meiryo"/>
                <a:sym typeface="Meiryo"/>
              </a:rPr>
              <a:t>Partner Award 2025</a:t>
            </a:r>
            <a:r>
              <a:rPr lang="ja-JP" altLang="en-US" sz="1300" b="1">
                <a:solidFill>
                  <a:schemeClr val="bg1"/>
                </a:solidFill>
                <a:latin typeface="Meiryo"/>
                <a:ea typeface="Meiryo"/>
                <a:cs typeface="Meiryo"/>
                <a:sym typeface="Meiryo"/>
              </a:rPr>
              <a:t>にて「</a:t>
            </a:r>
            <a:r>
              <a:rPr lang="en-US" altLang="ja-JP" sz="1300" b="1">
                <a:solidFill>
                  <a:schemeClr val="bg1"/>
                </a:solidFill>
                <a:latin typeface="Meiryo"/>
                <a:ea typeface="Meiryo"/>
                <a:cs typeface="Meiryo"/>
                <a:sym typeface="Meiryo"/>
              </a:rPr>
              <a:t>Best LINE</a:t>
            </a:r>
            <a:r>
              <a:rPr lang="ja-JP" altLang="en-US" sz="1300" b="1">
                <a:solidFill>
                  <a:schemeClr val="bg1"/>
                </a:solidFill>
                <a:latin typeface="Meiryo"/>
                <a:ea typeface="Meiryo"/>
                <a:cs typeface="Meiryo"/>
                <a:sym typeface="Meiryo"/>
              </a:rPr>
              <a:t>公式アカウント </a:t>
            </a:r>
            <a:r>
              <a:rPr lang="en-US" altLang="ja-JP" sz="1300" b="1">
                <a:solidFill>
                  <a:schemeClr val="bg1"/>
                </a:solidFill>
                <a:latin typeface="Meiryo"/>
                <a:ea typeface="Meiryo"/>
                <a:cs typeface="Meiryo"/>
                <a:sym typeface="Meiryo"/>
              </a:rPr>
              <a:t>Growth</a:t>
            </a:r>
            <a:r>
              <a:rPr lang="ja-JP" altLang="en-US" sz="1300" b="1">
                <a:solidFill>
                  <a:schemeClr val="bg1"/>
                </a:solidFill>
                <a:latin typeface="Meiryo"/>
                <a:ea typeface="Meiryo"/>
                <a:cs typeface="Meiryo"/>
                <a:sym typeface="Meiryo"/>
              </a:rPr>
              <a:t>」受賞</a:t>
            </a:r>
            <a:endParaRPr lang="en-US" altLang="ja-JP" sz="1300" b="1" dirty="0">
              <a:solidFill>
                <a:schemeClr val="bg1"/>
              </a:solidFill>
              <a:latin typeface="Meiryo"/>
              <a:ea typeface="Meiryo"/>
              <a:cs typeface="Meiryo"/>
              <a:sym typeface="Meiryo"/>
            </a:endParaRPr>
          </a:p>
        </p:txBody>
      </p:sp>
      <p:sp>
        <p:nvSpPr>
          <p:cNvPr id="6" name="正方形/長方形 5">
            <a:extLst>
              <a:ext uri="{FF2B5EF4-FFF2-40B4-BE49-F238E27FC236}">
                <a16:creationId xmlns:a16="http://schemas.microsoft.com/office/drawing/2014/main" id="{DEE7F595-5FAC-C5CD-0B26-580B6DF09A53}"/>
              </a:ext>
            </a:extLst>
          </p:cNvPr>
          <p:cNvSpPr/>
          <p:nvPr/>
        </p:nvSpPr>
        <p:spPr>
          <a:xfrm>
            <a:off x="432943" y="700332"/>
            <a:ext cx="2391617" cy="306000"/>
          </a:xfrm>
          <a:prstGeom prst="rect">
            <a:avLst/>
          </a:prstGeom>
          <a:solidFill>
            <a:srgbClr val="10253F"/>
          </a:solidFill>
        </p:spPr>
        <p:txBody>
          <a:bodyPr wrap="square">
            <a:spAutoFit/>
          </a:bodyPr>
          <a:lstStyle/>
          <a:p>
            <a:pPr lvl="0" algn="ctr">
              <a:buClr>
                <a:srgbClr val="002060"/>
              </a:buClr>
              <a:buSzPts val="1600"/>
            </a:pPr>
            <a:r>
              <a:rPr lang="en-US" altLang="ja-JP" sz="1400" b="1">
                <a:solidFill>
                  <a:schemeClr val="bg1"/>
                </a:solidFill>
                <a:latin typeface="Meiryo"/>
                <a:ea typeface="Meiryo"/>
                <a:cs typeface="Meiryo"/>
                <a:sym typeface="Meiryo"/>
              </a:rPr>
              <a:t>DYM × LINEOA</a:t>
            </a:r>
            <a:endParaRPr lang="en-US" altLang="ja-JP" sz="1400" b="1" dirty="0">
              <a:solidFill>
                <a:schemeClr val="bg1"/>
              </a:solidFill>
              <a:latin typeface="Meiryo"/>
              <a:ea typeface="Meiryo"/>
              <a:cs typeface="Meiryo"/>
              <a:sym typeface="Meiryo"/>
            </a:endParaRPr>
          </a:p>
        </p:txBody>
      </p:sp>
      <p:pic>
        <p:nvPicPr>
          <p:cNvPr id="56" name="Picture 2">
            <a:extLst>
              <a:ext uri="{FF2B5EF4-FFF2-40B4-BE49-F238E27FC236}">
                <a16:creationId xmlns:a16="http://schemas.microsoft.com/office/drawing/2014/main" id="{6B503BF7-985B-8770-4643-5E3EB6E5562A}"/>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069689" y="5150774"/>
            <a:ext cx="1929199" cy="1286131"/>
          </a:xfrm>
          <a:prstGeom prst="rect">
            <a:avLst/>
          </a:prstGeom>
          <a:noFill/>
          <a:extLst>
            <a:ext uri="{909E8E84-426E-40DD-AFC4-6F175D3DCCD1}">
              <a14:hiddenFill xmlns:a14="http://schemas.microsoft.com/office/drawing/2010/main">
                <a:solidFill>
                  <a:srgbClr val="FFFFFF"/>
                </a:solidFill>
              </a14:hiddenFill>
            </a:ext>
          </a:extLst>
        </p:spPr>
      </p:pic>
      <p:sp>
        <p:nvSpPr>
          <p:cNvPr id="2" name="テキスト プレースホルダー 2">
            <a:extLst>
              <a:ext uri="{FF2B5EF4-FFF2-40B4-BE49-F238E27FC236}">
                <a16:creationId xmlns:a16="http://schemas.microsoft.com/office/drawing/2014/main" id="{761ADAB8-B668-8B05-EDE6-B5003466E015}"/>
              </a:ext>
            </a:extLst>
          </p:cNvPr>
          <p:cNvSpPr txBox="1">
            <a:spLocks/>
          </p:cNvSpPr>
          <p:nvPr/>
        </p:nvSpPr>
        <p:spPr>
          <a:xfrm>
            <a:off x="8209814" y="6217102"/>
            <a:ext cx="676273" cy="157797"/>
          </a:xfrm>
          <a:prstGeom prst="rect">
            <a:avLst/>
          </a:prstGeom>
        </p:spPr>
        <p:txBody>
          <a:bodyPr lIns="0" tIns="0" rIns="0" bIns="0" anchor="t"/>
          <a:lstStyle>
            <a:lvl1pPr marL="0" indent="0" algn="l" defTabSz="914400" rtl="0" eaLnBrk="1" latinLnBrk="0" hangingPunct="1">
              <a:lnSpc>
                <a:spcPct val="130000"/>
              </a:lnSpc>
              <a:spcBef>
                <a:spcPts val="0"/>
              </a:spcBef>
              <a:buFont typeface="Arial" panose="020B0604020202020204" pitchFamily="34" charset="0"/>
              <a:buNone/>
              <a:defRPr kumimoji="1" sz="1400" kern="1200">
                <a:solidFill>
                  <a:schemeClr val="tx1">
                    <a:lumMod val="95000"/>
                    <a:lumOff val="5000"/>
                  </a:schemeClr>
                </a:solidFill>
                <a:latin typeface="Meiryo" panose="020B0604030504040204" pitchFamily="34" charset="-128"/>
                <a:ea typeface="Meiryo" panose="020B0604030504040204" pitchFamily="34"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lvl="0">
              <a:defRPr/>
            </a:pPr>
            <a:r>
              <a:rPr lang="en-US" altLang="ja-JP" sz="700">
                <a:solidFill>
                  <a:schemeClr val="bg1"/>
                </a:solidFill>
              </a:rPr>
              <a:t>※</a:t>
            </a:r>
            <a:r>
              <a:rPr lang="ja-JP" altLang="en-US" sz="700">
                <a:solidFill>
                  <a:schemeClr val="bg1"/>
                </a:solidFill>
              </a:rPr>
              <a:t>受賞時の</a:t>
            </a:r>
            <a:r>
              <a:rPr lang="en-US" altLang="ja-JP" sz="700">
                <a:solidFill>
                  <a:schemeClr val="bg1"/>
                </a:solidFill>
              </a:rPr>
              <a:t>1</a:t>
            </a:r>
            <a:r>
              <a:rPr lang="ja-JP" altLang="en-US" sz="700">
                <a:solidFill>
                  <a:schemeClr val="bg1"/>
                </a:solidFill>
              </a:rPr>
              <a:t>枚</a:t>
            </a:r>
            <a:endParaRPr lang="en-US" altLang="ja-JP" sz="700" dirty="0">
              <a:solidFill>
                <a:schemeClr val="bg1"/>
              </a:solidFill>
            </a:endParaRPr>
          </a:p>
        </p:txBody>
      </p:sp>
      <p:pic>
        <p:nvPicPr>
          <p:cNvPr id="7" name="図 6" descr="アイコン が含まれている画像&#10;&#10;AI 生成コンテンツは誤りを含む可能性があります。">
            <a:extLst>
              <a:ext uri="{FF2B5EF4-FFF2-40B4-BE49-F238E27FC236}">
                <a16:creationId xmlns:a16="http://schemas.microsoft.com/office/drawing/2014/main" id="{1FAB445F-372A-C0D2-7552-790613769A34}"/>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4408069" y="4654614"/>
            <a:ext cx="2886575" cy="2294826"/>
          </a:xfrm>
          <a:prstGeom prst="rect">
            <a:avLst/>
          </a:prstGeom>
        </p:spPr>
      </p:pic>
      <p:sp>
        <p:nvSpPr>
          <p:cNvPr id="10" name="テキスト ボックス 9">
            <a:extLst>
              <a:ext uri="{FF2B5EF4-FFF2-40B4-BE49-F238E27FC236}">
                <a16:creationId xmlns:a16="http://schemas.microsoft.com/office/drawing/2014/main" id="{F7A1F49B-800C-42EE-5308-93E8C2B2E88F}"/>
              </a:ext>
            </a:extLst>
          </p:cNvPr>
          <p:cNvSpPr txBox="1"/>
          <p:nvPr/>
        </p:nvSpPr>
        <p:spPr>
          <a:xfrm>
            <a:off x="2535025" y="5767731"/>
            <a:ext cx="4963884" cy="646331"/>
          </a:xfrm>
          <a:prstGeom prst="rect">
            <a:avLst/>
          </a:prstGeom>
          <a:noFill/>
        </p:spPr>
        <p:txBody>
          <a:bodyPr wrap="square">
            <a:spAutoFit/>
          </a:bodyPr>
          <a:lstStyle/>
          <a:p>
            <a:r>
              <a:rPr lang="ja-JP" altLang="en-US" sz="900" dirty="0">
                <a:solidFill>
                  <a:srgbClr val="000000">
                    <a:lumMod val="95000"/>
                    <a:lumOff val="5000"/>
                  </a:srgbClr>
                </a:solidFill>
                <a:latin typeface="メイリオ" panose="020B0604030504040204" pitchFamily="50" charset="-128"/>
                <a:ea typeface="メイリオ" panose="020B0604030504040204" pitchFamily="50" charset="-128"/>
              </a:rPr>
              <a:t>現在</a:t>
            </a:r>
            <a:r>
              <a:rPr lang="en-US" altLang="ja-JP" sz="900" dirty="0">
                <a:solidFill>
                  <a:srgbClr val="000000">
                    <a:lumMod val="95000"/>
                    <a:lumOff val="5000"/>
                  </a:srgbClr>
                </a:solidFill>
                <a:latin typeface="メイリオ" panose="020B0604030504040204" pitchFamily="50" charset="-128"/>
                <a:ea typeface="メイリオ" panose="020B0604030504040204" pitchFamily="50" charset="-128"/>
              </a:rPr>
              <a:t>Sales Partner Premier</a:t>
            </a:r>
          </a:p>
          <a:p>
            <a:r>
              <a:rPr lang="ja-JP" altLang="en-US" sz="900" dirty="0">
                <a:solidFill>
                  <a:srgbClr val="000000">
                    <a:lumMod val="95000"/>
                    <a:lumOff val="5000"/>
                  </a:srgbClr>
                </a:solidFill>
                <a:latin typeface="メイリオ" panose="020B0604030504040204" pitchFamily="50" charset="-128"/>
                <a:ea typeface="メイリオ" panose="020B0604030504040204" pitchFamily="50" charset="-128"/>
              </a:rPr>
              <a:t>は</a:t>
            </a:r>
            <a:r>
              <a:rPr lang="en-US" altLang="ja-JP" sz="900" dirty="0">
                <a:solidFill>
                  <a:srgbClr val="000000">
                    <a:lumMod val="95000"/>
                    <a:lumOff val="5000"/>
                  </a:srgbClr>
                </a:solidFill>
                <a:latin typeface="メイリオ" panose="020B0604030504040204" pitchFamily="50" charset="-128"/>
                <a:ea typeface="メイリオ" panose="020B0604030504040204" pitchFamily="50" charset="-128"/>
              </a:rPr>
              <a:t>DYM</a:t>
            </a:r>
            <a:r>
              <a:rPr lang="ja-JP" altLang="en-US" sz="900" dirty="0">
                <a:solidFill>
                  <a:srgbClr val="000000">
                    <a:lumMod val="95000"/>
                    <a:lumOff val="5000"/>
                  </a:srgbClr>
                </a:solidFill>
                <a:latin typeface="メイリオ" panose="020B0604030504040204" pitchFamily="50" charset="-128"/>
                <a:ea typeface="メイリオ" panose="020B0604030504040204" pitchFamily="50" charset="-128"/>
              </a:rPr>
              <a:t>を合わせて</a:t>
            </a:r>
            <a:r>
              <a:rPr lang="en-US" altLang="ja-JP" sz="900" b="1" dirty="0">
                <a:solidFill>
                  <a:srgbClr val="000000">
                    <a:lumMod val="95000"/>
                    <a:lumOff val="5000"/>
                  </a:srgbClr>
                </a:solidFill>
                <a:latin typeface="メイリオ" panose="020B0604030504040204" pitchFamily="50" charset="-128"/>
                <a:ea typeface="メイリオ" panose="020B0604030504040204" pitchFamily="50" charset="-128"/>
              </a:rPr>
              <a:t>12</a:t>
            </a:r>
            <a:r>
              <a:rPr lang="ja-JP" altLang="en-US" sz="900" b="1" dirty="0">
                <a:solidFill>
                  <a:srgbClr val="000000">
                    <a:lumMod val="95000"/>
                    <a:lumOff val="5000"/>
                  </a:srgbClr>
                </a:solidFill>
                <a:latin typeface="メイリオ" panose="020B0604030504040204" pitchFamily="50" charset="-128"/>
                <a:ea typeface="メイリオ" panose="020B0604030504040204" pitchFamily="50" charset="-128"/>
              </a:rPr>
              <a:t>社が認定</a:t>
            </a:r>
            <a:r>
              <a:rPr lang="ja-JP" altLang="en-US" sz="900" dirty="0">
                <a:solidFill>
                  <a:srgbClr val="000000">
                    <a:lumMod val="95000"/>
                    <a:lumOff val="5000"/>
                  </a:srgbClr>
                </a:solidFill>
                <a:latin typeface="メイリオ" panose="020B0604030504040204" pitchFamily="50" charset="-128"/>
                <a:ea typeface="メイリオ" panose="020B0604030504040204" pitchFamily="50" charset="-128"/>
              </a:rPr>
              <a:t>。</a:t>
            </a:r>
            <a:endParaRPr lang="en-US" altLang="ja-JP" sz="900" dirty="0">
              <a:solidFill>
                <a:srgbClr val="000000">
                  <a:lumMod val="95000"/>
                  <a:lumOff val="5000"/>
                </a:srgbClr>
              </a:solidFill>
              <a:latin typeface="メイリオ" panose="020B0604030504040204" pitchFamily="50" charset="-128"/>
              <a:ea typeface="メイリオ" panose="020B0604030504040204" pitchFamily="50" charset="-128"/>
            </a:endParaRPr>
          </a:p>
          <a:p>
            <a:endParaRPr lang="en-US" altLang="ja-JP" sz="900" dirty="0">
              <a:solidFill>
                <a:srgbClr val="000000">
                  <a:lumMod val="95000"/>
                  <a:lumOff val="5000"/>
                </a:srgbClr>
              </a:solidFill>
              <a:latin typeface="メイリオ" panose="020B0604030504040204" pitchFamily="50" charset="-128"/>
              <a:ea typeface="メイリオ" panose="020B0604030504040204" pitchFamily="50" charset="-128"/>
            </a:endParaRPr>
          </a:p>
          <a:p>
            <a:r>
              <a:rPr lang="en-US" altLang="ja-JP" sz="900" dirty="0">
                <a:solidFill>
                  <a:srgbClr val="000000">
                    <a:lumMod val="95000"/>
                    <a:lumOff val="5000"/>
                  </a:srgbClr>
                </a:solidFill>
                <a:latin typeface="メイリオ" panose="020B0604030504040204" pitchFamily="50" charset="-128"/>
                <a:ea typeface="メイリオ" panose="020B0604030504040204" pitchFamily="50" charset="-128"/>
              </a:rPr>
              <a:t>※</a:t>
            </a:r>
            <a:r>
              <a:rPr lang="ja-JP" altLang="en-US" sz="900" dirty="0">
                <a:solidFill>
                  <a:srgbClr val="000000">
                    <a:lumMod val="95000"/>
                    <a:lumOff val="5000"/>
                  </a:srgbClr>
                </a:solidFill>
                <a:latin typeface="メイリオ" panose="020B0604030504040204" pitchFamily="50" charset="-128"/>
                <a:ea typeface="メイリオ" panose="020B0604030504040204" pitchFamily="50" charset="-128"/>
              </a:rPr>
              <a:t>未上場企業では</a:t>
            </a:r>
            <a:r>
              <a:rPr lang="ja-JP" altLang="en-US" sz="900" b="1" dirty="0">
                <a:solidFill>
                  <a:srgbClr val="000000">
                    <a:lumMod val="95000"/>
                    <a:lumOff val="5000"/>
                  </a:srgbClr>
                </a:solidFill>
                <a:latin typeface="メイリオ" panose="020B0604030504040204" pitchFamily="50" charset="-128"/>
                <a:ea typeface="メイリオ" panose="020B0604030504040204" pitchFamily="50" charset="-128"/>
              </a:rPr>
              <a:t>唯一で最上位</a:t>
            </a:r>
            <a:r>
              <a:rPr lang="ja-JP" altLang="en-US" sz="900" dirty="0">
                <a:solidFill>
                  <a:srgbClr val="000000">
                    <a:lumMod val="95000"/>
                    <a:lumOff val="5000"/>
                  </a:srgbClr>
                </a:solidFill>
                <a:latin typeface="メイリオ" panose="020B0604030504040204" pitchFamily="50" charset="-128"/>
                <a:ea typeface="メイリオ" panose="020B0604030504040204" pitchFamily="50" charset="-128"/>
              </a:rPr>
              <a:t>。</a:t>
            </a:r>
            <a:endParaRPr lang="ja-JP" altLang="en-US" sz="900" dirty="0"/>
          </a:p>
        </p:txBody>
      </p:sp>
      <p:pic>
        <p:nvPicPr>
          <p:cNvPr id="5" name="図 4">
            <a:extLst>
              <a:ext uri="{FF2B5EF4-FFF2-40B4-BE49-F238E27FC236}">
                <a16:creationId xmlns:a16="http://schemas.microsoft.com/office/drawing/2014/main" id="{1F013E1B-3D36-6118-A1E8-A84BF28EDEC2}"/>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88996" y="4759370"/>
            <a:ext cx="2664636" cy="2074350"/>
          </a:xfrm>
          <a:prstGeom prst="rect">
            <a:avLst/>
          </a:prstGeom>
        </p:spPr>
      </p:pic>
    </p:spTree>
    <p:extLst>
      <p:ext uri="{BB962C8B-B14F-4D97-AF65-F5344CB8AC3E}">
        <p14:creationId xmlns:p14="http://schemas.microsoft.com/office/powerpoint/2010/main" val="332055576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E5861D-E2B1-5330-6864-9B051B1B450A}"/>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10815731-3923-DF64-2497-E7A37D053AD8}"/>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弊社ポジショニング</a:t>
            </a:r>
          </a:p>
        </p:txBody>
      </p:sp>
      <p:sp>
        <p:nvSpPr>
          <p:cNvPr id="2" name="正方形/長方形 1">
            <a:extLst>
              <a:ext uri="{FF2B5EF4-FFF2-40B4-BE49-F238E27FC236}">
                <a16:creationId xmlns:a16="http://schemas.microsoft.com/office/drawing/2014/main" id="{6EE73D80-19A8-1B22-3E67-207FD67693A3}"/>
              </a:ext>
            </a:extLst>
          </p:cNvPr>
          <p:cNvSpPr/>
          <p:nvPr/>
        </p:nvSpPr>
        <p:spPr>
          <a:xfrm>
            <a:off x="414745" y="1861522"/>
            <a:ext cx="4383678" cy="1657101"/>
          </a:xfrm>
          <a:prstGeom prst="rect">
            <a:avLst/>
          </a:prstGeom>
          <a:no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a:solidFill>
                <a:schemeClr val="tx1"/>
              </a:solidFill>
              <a:latin typeface="メイリオ" panose="020B0604030504040204" pitchFamily="50" charset="-128"/>
              <a:ea typeface="メイリオ" panose="020B0604030504040204" pitchFamily="50" charset="-128"/>
            </a:endParaRPr>
          </a:p>
        </p:txBody>
      </p:sp>
      <p:sp>
        <p:nvSpPr>
          <p:cNvPr id="5" name="正方形/長方形 4">
            <a:extLst>
              <a:ext uri="{FF2B5EF4-FFF2-40B4-BE49-F238E27FC236}">
                <a16:creationId xmlns:a16="http://schemas.microsoft.com/office/drawing/2014/main" id="{CD2306FC-4175-2C00-0D17-32F2AAC51C82}"/>
              </a:ext>
            </a:extLst>
          </p:cNvPr>
          <p:cNvSpPr/>
          <p:nvPr/>
        </p:nvSpPr>
        <p:spPr>
          <a:xfrm>
            <a:off x="4892040" y="1861522"/>
            <a:ext cx="4383678" cy="1657101"/>
          </a:xfrm>
          <a:prstGeom prst="rect">
            <a:avLst/>
          </a:prstGeom>
          <a:no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a:latin typeface="メイリオ" panose="020B0604030504040204" pitchFamily="50" charset="-128"/>
              <a:ea typeface="メイリオ" panose="020B0604030504040204" pitchFamily="50" charset="-128"/>
            </a:endParaRPr>
          </a:p>
        </p:txBody>
      </p:sp>
      <p:sp>
        <p:nvSpPr>
          <p:cNvPr id="10" name="正方形/長方形 9">
            <a:extLst>
              <a:ext uri="{FF2B5EF4-FFF2-40B4-BE49-F238E27FC236}">
                <a16:creationId xmlns:a16="http://schemas.microsoft.com/office/drawing/2014/main" id="{9ED6AD3F-541D-3FC5-0062-3F2A923253C9}"/>
              </a:ext>
            </a:extLst>
          </p:cNvPr>
          <p:cNvSpPr/>
          <p:nvPr/>
        </p:nvSpPr>
        <p:spPr>
          <a:xfrm>
            <a:off x="414745" y="4308273"/>
            <a:ext cx="4383678" cy="1657101"/>
          </a:xfrm>
          <a:prstGeom prst="rect">
            <a:avLst/>
          </a:prstGeom>
          <a:no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a:latin typeface="メイリオ" panose="020B0604030504040204" pitchFamily="50" charset="-128"/>
              <a:ea typeface="メイリオ" panose="020B0604030504040204" pitchFamily="50" charset="-128"/>
            </a:endParaRPr>
          </a:p>
        </p:txBody>
      </p:sp>
      <p:sp>
        <p:nvSpPr>
          <p:cNvPr id="11" name="正方形/長方形 10">
            <a:extLst>
              <a:ext uri="{FF2B5EF4-FFF2-40B4-BE49-F238E27FC236}">
                <a16:creationId xmlns:a16="http://schemas.microsoft.com/office/drawing/2014/main" id="{D4D20F90-DB1A-B6A0-8607-C0C93118158E}"/>
              </a:ext>
            </a:extLst>
          </p:cNvPr>
          <p:cNvSpPr/>
          <p:nvPr/>
        </p:nvSpPr>
        <p:spPr>
          <a:xfrm>
            <a:off x="4892040" y="4308273"/>
            <a:ext cx="4383678" cy="1657101"/>
          </a:xfrm>
          <a:prstGeom prst="rect">
            <a:avLst/>
          </a:prstGeom>
          <a:no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a:latin typeface="メイリオ" panose="020B0604030504040204" pitchFamily="50" charset="-128"/>
              <a:ea typeface="メイリオ" panose="020B0604030504040204" pitchFamily="50" charset="-128"/>
            </a:endParaRPr>
          </a:p>
        </p:txBody>
      </p:sp>
      <p:sp>
        <p:nvSpPr>
          <p:cNvPr id="12" name="正方形/長方形 11">
            <a:extLst>
              <a:ext uri="{FF2B5EF4-FFF2-40B4-BE49-F238E27FC236}">
                <a16:creationId xmlns:a16="http://schemas.microsoft.com/office/drawing/2014/main" id="{94608CEE-4C85-001A-2579-A0A698688995}"/>
              </a:ext>
            </a:extLst>
          </p:cNvPr>
          <p:cNvSpPr/>
          <p:nvPr/>
        </p:nvSpPr>
        <p:spPr>
          <a:xfrm>
            <a:off x="414745" y="1861523"/>
            <a:ext cx="4383678" cy="324689"/>
          </a:xfrm>
          <a:prstGeom prst="rect">
            <a:avLst/>
          </a:prstGeom>
          <a:solidFill>
            <a:schemeClr val="tx2">
              <a:lumMod val="20000"/>
              <a:lumOff val="80000"/>
            </a:schemeClr>
          </a:solid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solidFill>
                <a:latin typeface="メイリオ" panose="020B0604030504040204" pitchFamily="50" charset="-128"/>
                <a:ea typeface="メイリオ" panose="020B0604030504040204" pitchFamily="50" charset="-128"/>
              </a:rPr>
              <a:t>ツール会社　</a:t>
            </a:r>
          </a:p>
        </p:txBody>
      </p:sp>
      <p:sp>
        <p:nvSpPr>
          <p:cNvPr id="13" name="正方形/長方形 12">
            <a:extLst>
              <a:ext uri="{FF2B5EF4-FFF2-40B4-BE49-F238E27FC236}">
                <a16:creationId xmlns:a16="http://schemas.microsoft.com/office/drawing/2014/main" id="{59A99E6E-D460-C2CE-3554-D4177944BCC1}"/>
              </a:ext>
            </a:extLst>
          </p:cNvPr>
          <p:cNvSpPr/>
          <p:nvPr/>
        </p:nvSpPr>
        <p:spPr>
          <a:xfrm>
            <a:off x="4892040" y="1861523"/>
            <a:ext cx="4383678" cy="324689"/>
          </a:xfrm>
          <a:prstGeom prst="rect">
            <a:avLst/>
          </a:prstGeom>
          <a:solidFill>
            <a:schemeClr val="tx2">
              <a:lumMod val="20000"/>
              <a:lumOff val="80000"/>
            </a:schemeClr>
          </a:solid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solidFill>
                <a:latin typeface="メイリオ" panose="020B0604030504040204" pitchFamily="50" charset="-128"/>
                <a:ea typeface="メイリオ" panose="020B0604030504040204" pitchFamily="50" charset="-128"/>
              </a:rPr>
              <a:t> コンサル会社</a:t>
            </a:r>
          </a:p>
        </p:txBody>
      </p:sp>
      <p:sp>
        <p:nvSpPr>
          <p:cNvPr id="14" name="正方形/長方形 13">
            <a:extLst>
              <a:ext uri="{FF2B5EF4-FFF2-40B4-BE49-F238E27FC236}">
                <a16:creationId xmlns:a16="http://schemas.microsoft.com/office/drawing/2014/main" id="{B9B23A0A-C181-F52D-CE83-83252D57916D}"/>
              </a:ext>
            </a:extLst>
          </p:cNvPr>
          <p:cNvSpPr/>
          <p:nvPr/>
        </p:nvSpPr>
        <p:spPr>
          <a:xfrm>
            <a:off x="414745" y="4295574"/>
            <a:ext cx="4383678" cy="324689"/>
          </a:xfrm>
          <a:prstGeom prst="rect">
            <a:avLst/>
          </a:prstGeom>
          <a:solidFill>
            <a:schemeClr val="tx2">
              <a:lumMod val="20000"/>
              <a:lumOff val="80000"/>
            </a:schemeClr>
          </a:solid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solidFill>
                <a:latin typeface="メイリオ" panose="020B0604030504040204" pitchFamily="50" charset="-128"/>
                <a:ea typeface="メイリオ" panose="020B0604030504040204" pitchFamily="50" charset="-128"/>
              </a:rPr>
              <a:t>広告専業の代理店</a:t>
            </a:r>
          </a:p>
        </p:txBody>
      </p:sp>
      <p:sp>
        <p:nvSpPr>
          <p:cNvPr id="15" name="正方形/長方形 14">
            <a:extLst>
              <a:ext uri="{FF2B5EF4-FFF2-40B4-BE49-F238E27FC236}">
                <a16:creationId xmlns:a16="http://schemas.microsoft.com/office/drawing/2014/main" id="{735511C6-7F11-A23D-F1BA-0FACD703798D}"/>
              </a:ext>
            </a:extLst>
          </p:cNvPr>
          <p:cNvSpPr/>
          <p:nvPr/>
        </p:nvSpPr>
        <p:spPr>
          <a:xfrm>
            <a:off x="4892040" y="4295574"/>
            <a:ext cx="4383678" cy="324689"/>
          </a:xfrm>
          <a:prstGeom prst="rect">
            <a:avLst/>
          </a:prstGeom>
          <a:solidFill>
            <a:schemeClr val="tx2">
              <a:lumMod val="20000"/>
              <a:lumOff val="80000"/>
            </a:schemeClr>
          </a:solid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solidFill>
                <a:latin typeface="メイリオ" panose="020B0604030504040204" pitchFamily="50" charset="-128"/>
                <a:ea typeface="メイリオ" panose="020B0604030504040204" pitchFamily="50" charset="-128"/>
              </a:rPr>
              <a:t>他</a:t>
            </a:r>
            <a:r>
              <a:rPr kumimoji="1" lang="en-US" altLang="ja-JP" sz="1000" dirty="0">
                <a:solidFill>
                  <a:schemeClr val="tx1"/>
                </a:solidFill>
                <a:latin typeface="メイリオ" panose="020B0604030504040204" pitchFamily="50" charset="-128"/>
                <a:ea typeface="メイリオ" panose="020B0604030504040204" pitchFamily="50" charset="-128"/>
              </a:rPr>
              <a:t>CRM</a:t>
            </a:r>
            <a:r>
              <a:rPr kumimoji="1" lang="ja-JP" altLang="en-US" sz="1000" dirty="0">
                <a:solidFill>
                  <a:schemeClr val="tx1"/>
                </a:solidFill>
                <a:latin typeface="メイリオ" panose="020B0604030504040204" pitchFamily="50" charset="-128"/>
                <a:ea typeface="メイリオ" panose="020B0604030504040204" pitchFamily="50" charset="-128"/>
              </a:rPr>
              <a:t>の会社</a:t>
            </a:r>
          </a:p>
        </p:txBody>
      </p:sp>
      <p:pic>
        <p:nvPicPr>
          <p:cNvPr id="21" name="図 20" descr="文字が書かれている&#10;&#10;AI 生成コンテンツは誤りを含む可能性があります。">
            <a:extLst>
              <a:ext uri="{FF2B5EF4-FFF2-40B4-BE49-F238E27FC236}">
                <a16:creationId xmlns:a16="http://schemas.microsoft.com/office/drawing/2014/main" id="{2521257E-D1E1-307C-8244-A7D93D470795}"/>
              </a:ext>
            </a:extLst>
          </p:cNvPr>
          <p:cNvPicPr>
            <a:picLocks noChangeAspect="1"/>
          </p:cNvPicPr>
          <p:nvPr/>
        </p:nvPicPr>
        <p:blipFill>
          <a:blip r:embed="rId2"/>
          <a:stretch>
            <a:fillRect/>
          </a:stretch>
        </p:blipFill>
        <p:spPr>
          <a:xfrm>
            <a:off x="1086533" y="2288778"/>
            <a:ext cx="1323427" cy="315679"/>
          </a:xfrm>
          <a:prstGeom prst="rect">
            <a:avLst/>
          </a:prstGeom>
        </p:spPr>
      </p:pic>
      <p:pic>
        <p:nvPicPr>
          <p:cNvPr id="1026" name="Picture 2" descr="特定商取引法に関する表示 | Lステップ（エルステップ）公式_LINE公式アカウント特化のマーケティングツール">
            <a:extLst>
              <a:ext uri="{FF2B5EF4-FFF2-40B4-BE49-F238E27FC236}">
                <a16:creationId xmlns:a16="http://schemas.microsoft.com/office/drawing/2014/main" id="{E86AB3B4-1E56-4227-88BE-FA673F023348}"/>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36417" y="2199280"/>
            <a:ext cx="831168" cy="467532"/>
          </a:xfrm>
          <a:prstGeom prst="rect">
            <a:avLst/>
          </a:prstGeom>
          <a:noFill/>
          <a:extLst>
            <a:ext uri="{909E8E84-426E-40DD-AFC4-6F175D3DCCD1}">
              <a14:hiddenFill xmlns:a14="http://schemas.microsoft.com/office/drawing/2010/main">
                <a:solidFill>
                  <a:srgbClr val="FFFFFF"/>
                </a:solidFill>
              </a14:hiddenFill>
            </a:ext>
          </a:extLst>
        </p:spPr>
      </p:pic>
      <p:sp>
        <p:nvSpPr>
          <p:cNvPr id="26" name="乗算記号 25">
            <a:extLst>
              <a:ext uri="{FF2B5EF4-FFF2-40B4-BE49-F238E27FC236}">
                <a16:creationId xmlns:a16="http://schemas.microsoft.com/office/drawing/2014/main" id="{676235DE-33EB-2E33-33D6-74D321860C39}"/>
              </a:ext>
            </a:extLst>
          </p:cNvPr>
          <p:cNvSpPr/>
          <p:nvPr/>
        </p:nvSpPr>
        <p:spPr>
          <a:xfrm>
            <a:off x="6198323" y="1838911"/>
            <a:ext cx="360000" cy="360000"/>
          </a:xfrm>
          <a:prstGeom prst="mathMultiply">
            <a:avLst>
              <a:gd name="adj1" fmla="val 4915"/>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7" name="乗算記号 26">
            <a:extLst>
              <a:ext uri="{FF2B5EF4-FFF2-40B4-BE49-F238E27FC236}">
                <a16:creationId xmlns:a16="http://schemas.microsoft.com/office/drawing/2014/main" id="{7C31A50F-57BD-64E8-DE3F-3A8FB722D839}"/>
              </a:ext>
            </a:extLst>
          </p:cNvPr>
          <p:cNvSpPr/>
          <p:nvPr/>
        </p:nvSpPr>
        <p:spPr>
          <a:xfrm>
            <a:off x="1472312" y="4277918"/>
            <a:ext cx="360000" cy="360000"/>
          </a:xfrm>
          <a:prstGeom prst="mathMultiply">
            <a:avLst>
              <a:gd name="adj1" fmla="val 4915"/>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8" name="乗算記号 27">
            <a:extLst>
              <a:ext uri="{FF2B5EF4-FFF2-40B4-BE49-F238E27FC236}">
                <a16:creationId xmlns:a16="http://schemas.microsoft.com/office/drawing/2014/main" id="{9B7C9A4B-096B-D2DD-08B8-D421AB634155}"/>
              </a:ext>
            </a:extLst>
          </p:cNvPr>
          <p:cNvSpPr/>
          <p:nvPr/>
        </p:nvSpPr>
        <p:spPr>
          <a:xfrm>
            <a:off x="1734353" y="1838911"/>
            <a:ext cx="360000" cy="360000"/>
          </a:xfrm>
          <a:prstGeom prst="mathMultiply">
            <a:avLst>
              <a:gd name="adj1" fmla="val 4915"/>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9" name="乗算記号 28">
            <a:extLst>
              <a:ext uri="{FF2B5EF4-FFF2-40B4-BE49-F238E27FC236}">
                <a16:creationId xmlns:a16="http://schemas.microsoft.com/office/drawing/2014/main" id="{E3AD3032-8560-946E-0D20-D2977D17F027}"/>
              </a:ext>
            </a:extLst>
          </p:cNvPr>
          <p:cNvSpPr/>
          <p:nvPr/>
        </p:nvSpPr>
        <p:spPr>
          <a:xfrm>
            <a:off x="6128651" y="4274166"/>
            <a:ext cx="360000" cy="360000"/>
          </a:xfrm>
          <a:prstGeom prst="mathMultiply">
            <a:avLst>
              <a:gd name="adj1" fmla="val 4915"/>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028" name="Picture 4" descr="Salesforceってなに？初心者でも簡単にわかる！導入のメリットと基本機能について | CONCENTO">
            <a:extLst>
              <a:ext uri="{FF2B5EF4-FFF2-40B4-BE49-F238E27FC236}">
                <a16:creationId xmlns:a16="http://schemas.microsoft.com/office/drawing/2014/main" id="{A10BCEF0-052F-BF99-39E9-5BA577F00F74}"/>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l="23384" t="14322" r="25004" b="16405"/>
          <a:stretch>
            <a:fillRect/>
          </a:stretch>
        </p:blipFill>
        <p:spPr bwMode="auto">
          <a:xfrm>
            <a:off x="5388428" y="4704431"/>
            <a:ext cx="441441" cy="311537"/>
          </a:xfrm>
          <a:prstGeom prst="rect">
            <a:avLst/>
          </a:prstGeom>
          <a:ln>
            <a:noFill/>
          </a:ln>
        </p:spPr>
        <p:style>
          <a:lnRef idx="2">
            <a:schemeClr val="dk1"/>
          </a:lnRef>
          <a:fillRef idx="1">
            <a:schemeClr val="lt1"/>
          </a:fillRef>
          <a:effectRef idx="0">
            <a:schemeClr val="dk1"/>
          </a:effectRef>
          <a:fontRef idx="minor">
            <a:schemeClr val="dk1"/>
          </a:fontRef>
        </p:style>
      </p:pic>
      <p:pic>
        <p:nvPicPr>
          <p:cNvPr id="31" name="図 30" descr="挿絵, 抽象 が含まれている画像&#10;&#10;AI 生成コンテンツは誤りを含む可能性があります。">
            <a:extLst>
              <a:ext uri="{FF2B5EF4-FFF2-40B4-BE49-F238E27FC236}">
                <a16:creationId xmlns:a16="http://schemas.microsoft.com/office/drawing/2014/main" id="{172999E0-2479-CF51-1EFC-C4CA794CEC4E}"/>
              </a:ext>
            </a:extLst>
          </p:cNvPr>
          <p:cNvPicPr>
            <a:picLocks noChangeAspect="1"/>
          </p:cNvPicPr>
          <p:nvPr/>
        </p:nvPicPr>
        <p:blipFill>
          <a:blip r:embed="rId5"/>
          <a:stretch>
            <a:fillRect/>
          </a:stretch>
        </p:blipFill>
        <p:spPr>
          <a:xfrm>
            <a:off x="5864283" y="4761290"/>
            <a:ext cx="682242" cy="197819"/>
          </a:xfrm>
          <a:prstGeom prst="rect">
            <a:avLst/>
          </a:prstGeom>
        </p:spPr>
      </p:pic>
      <p:pic>
        <p:nvPicPr>
          <p:cNvPr id="33" name="図 32" descr="黒い背景に白い文字がある&#10;&#10;AI 生成コンテンツは誤りを含む可能性があります。">
            <a:extLst>
              <a:ext uri="{FF2B5EF4-FFF2-40B4-BE49-F238E27FC236}">
                <a16:creationId xmlns:a16="http://schemas.microsoft.com/office/drawing/2014/main" id="{474C051E-B596-1651-549B-F1BDC6EA898F}"/>
              </a:ext>
            </a:extLst>
          </p:cNvPr>
          <p:cNvPicPr>
            <a:picLocks noChangeAspect="1"/>
          </p:cNvPicPr>
          <p:nvPr/>
        </p:nvPicPr>
        <p:blipFill>
          <a:blip r:embed="rId6"/>
          <a:stretch>
            <a:fillRect/>
          </a:stretch>
        </p:blipFill>
        <p:spPr>
          <a:xfrm>
            <a:off x="6580939" y="4739795"/>
            <a:ext cx="1225076" cy="219314"/>
          </a:xfrm>
          <a:prstGeom prst="rect">
            <a:avLst/>
          </a:prstGeom>
        </p:spPr>
      </p:pic>
      <p:sp>
        <p:nvSpPr>
          <p:cNvPr id="35" name="テキスト ボックス 34">
            <a:extLst>
              <a:ext uri="{FF2B5EF4-FFF2-40B4-BE49-F238E27FC236}">
                <a16:creationId xmlns:a16="http://schemas.microsoft.com/office/drawing/2014/main" id="{A53AB6D9-AEB5-ECF4-8C73-A7EFC4F05EF1}"/>
              </a:ext>
            </a:extLst>
          </p:cNvPr>
          <p:cNvSpPr txBox="1"/>
          <p:nvPr/>
        </p:nvSpPr>
        <p:spPr>
          <a:xfrm>
            <a:off x="4866072" y="2288778"/>
            <a:ext cx="4459715" cy="246221"/>
          </a:xfrm>
          <a:prstGeom prst="rect">
            <a:avLst/>
          </a:prstGeom>
          <a:noFill/>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rPr>
              <a:t>システム管理会社・ツール運用会社・デザイン会社</a:t>
            </a:r>
            <a:endParaRPr kumimoji="1" lang="ja-JP" altLang="en-US" sz="1000" b="1" dirty="0">
              <a:solidFill>
                <a:schemeClr val="tx1"/>
              </a:solidFill>
              <a:latin typeface="メイリオ" panose="020B0604030504040204" pitchFamily="50" charset="-128"/>
              <a:ea typeface="メイリオ" panose="020B0604030504040204" pitchFamily="50" charset="-128"/>
            </a:endParaRPr>
          </a:p>
        </p:txBody>
      </p:sp>
      <p:pic>
        <p:nvPicPr>
          <p:cNvPr id="1030" name="Picture 6" descr="お知らせ一覧｜LINEマーケティングや販促・顧客管理ならLiny">
            <a:extLst>
              <a:ext uri="{FF2B5EF4-FFF2-40B4-BE49-F238E27FC236}">
                <a16:creationId xmlns:a16="http://schemas.microsoft.com/office/drawing/2014/main" id="{A11EE7F3-23DE-A03C-6953-9FC6DABEDA85}"/>
              </a:ext>
            </a:extLst>
          </p:cNvPr>
          <p:cNvPicPr>
            <a:picLocks noChangeAspect="1" noChangeArrowheads="1"/>
          </p:cNvPicPr>
          <p:nvPr/>
        </p:nvPicPr>
        <p:blipFill rotWithShape="1">
          <a:blip r:embed="rId7" cstate="print">
            <a:extLst>
              <a:ext uri="{28A0092B-C50C-407E-A947-70E740481C1C}">
                <a14:useLocalDpi xmlns:a14="http://schemas.microsoft.com/office/drawing/2010/main" val="0"/>
              </a:ext>
            </a:extLst>
          </a:blip>
          <a:srcRect l="21448" t="26478" r="21237" b="27778"/>
          <a:stretch>
            <a:fillRect/>
          </a:stretch>
        </p:blipFill>
        <p:spPr bwMode="auto">
          <a:xfrm>
            <a:off x="3335235" y="2294514"/>
            <a:ext cx="571287" cy="304207"/>
          </a:xfrm>
          <a:prstGeom prst="rect">
            <a:avLst/>
          </a:prstGeom>
          <a:noFill/>
          <a:extLst>
            <a:ext uri="{909E8E84-426E-40DD-AFC4-6F175D3DCCD1}">
              <a14:hiddenFill xmlns:a14="http://schemas.microsoft.com/office/drawing/2010/main">
                <a:solidFill>
                  <a:srgbClr val="FFFFFF"/>
                </a:solidFill>
              </a14:hiddenFill>
            </a:ext>
          </a:extLst>
        </p:spPr>
      </p:pic>
      <p:pic>
        <p:nvPicPr>
          <p:cNvPr id="1032" name="Picture 8" descr="Shopify Japan 株式会社のプレスリリース｜PR TIMES">
            <a:extLst>
              <a:ext uri="{FF2B5EF4-FFF2-40B4-BE49-F238E27FC236}">
                <a16:creationId xmlns:a16="http://schemas.microsoft.com/office/drawing/2014/main" id="{1BF2471A-3689-B39E-D841-0A5CEE63B028}"/>
              </a:ext>
            </a:extLst>
          </p:cNvPr>
          <p:cNvPicPr>
            <a:picLocks noChangeAspect="1" noChangeArrowheads="1"/>
          </p:cNvPicPr>
          <p:nvPr/>
        </p:nvPicPr>
        <p:blipFill>
          <a:blip r:embed="rId8" cstate="print">
            <a:extLst>
              <a:ext uri="{28A0092B-C50C-407E-A947-70E740481C1C}">
                <a14:useLocalDpi xmlns:a14="http://schemas.microsoft.com/office/drawing/2010/main" val="0"/>
              </a:ext>
            </a:extLst>
          </a:blip>
          <a:srcRect/>
          <a:stretch>
            <a:fillRect/>
          </a:stretch>
        </p:blipFill>
        <p:spPr bwMode="auto">
          <a:xfrm>
            <a:off x="7938796" y="4740053"/>
            <a:ext cx="799200" cy="228571"/>
          </a:xfrm>
          <a:prstGeom prst="rect">
            <a:avLst/>
          </a:prstGeom>
          <a:noFill/>
          <a:extLst>
            <a:ext uri="{909E8E84-426E-40DD-AFC4-6F175D3DCCD1}">
              <a14:hiddenFill xmlns:a14="http://schemas.microsoft.com/office/drawing/2010/main">
                <a:solidFill>
                  <a:srgbClr val="FFFFFF"/>
                </a:solidFill>
              </a14:hiddenFill>
            </a:ext>
          </a:extLst>
        </p:spPr>
      </p:pic>
      <p:sp>
        <p:nvSpPr>
          <p:cNvPr id="36" name="テキスト ボックス 35">
            <a:extLst>
              <a:ext uri="{FF2B5EF4-FFF2-40B4-BE49-F238E27FC236}">
                <a16:creationId xmlns:a16="http://schemas.microsoft.com/office/drawing/2014/main" id="{EB20A091-C336-4BDE-54E9-33ECF6B1EC77}"/>
              </a:ext>
            </a:extLst>
          </p:cNvPr>
          <p:cNvSpPr txBox="1"/>
          <p:nvPr/>
        </p:nvSpPr>
        <p:spPr>
          <a:xfrm>
            <a:off x="362665" y="4754506"/>
            <a:ext cx="4459715" cy="246221"/>
          </a:xfrm>
          <a:prstGeom prst="rect">
            <a:avLst/>
          </a:prstGeom>
          <a:noFill/>
        </p:spPr>
        <p:txBody>
          <a:bodyPr wrap="square">
            <a:spAutoFit/>
          </a:bodyPr>
          <a:lstStyle/>
          <a:p>
            <a:pPr algn="ctr"/>
            <a:r>
              <a:rPr lang="en-US" altLang="ja-JP" sz="1000" b="1" dirty="0">
                <a:latin typeface="メイリオ" panose="020B0604030504040204" pitchFamily="50" charset="-128"/>
                <a:ea typeface="メイリオ" panose="020B0604030504040204" pitchFamily="50" charset="-128"/>
              </a:rPr>
              <a:t>LINE</a:t>
            </a:r>
            <a:r>
              <a:rPr lang="ja-JP" altLang="en-US" sz="1000" b="1" dirty="0">
                <a:latin typeface="メイリオ" panose="020B0604030504040204" pitchFamily="50" charset="-128"/>
                <a:ea typeface="メイリオ" panose="020B0604030504040204" pitchFamily="50" charset="-128"/>
              </a:rPr>
              <a:t>ヤフーのパッケージ商品などの拡販</a:t>
            </a:r>
            <a:endParaRPr kumimoji="1" lang="ja-JP" altLang="en-US" sz="1000" b="1" dirty="0">
              <a:solidFill>
                <a:schemeClr val="tx1"/>
              </a:solidFill>
              <a:latin typeface="メイリオ" panose="020B0604030504040204" pitchFamily="50" charset="-128"/>
              <a:ea typeface="メイリオ" panose="020B0604030504040204" pitchFamily="50" charset="-128"/>
            </a:endParaRPr>
          </a:p>
        </p:txBody>
      </p:sp>
      <p:sp>
        <p:nvSpPr>
          <p:cNvPr id="6" name="テキスト ボックス 5">
            <a:extLst>
              <a:ext uri="{FF2B5EF4-FFF2-40B4-BE49-F238E27FC236}">
                <a16:creationId xmlns:a16="http://schemas.microsoft.com/office/drawing/2014/main" id="{63CD4067-EE53-3C90-C918-C15397527FBF}"/>
              </a:ext>
            </a:extLst>
          </p:cNvPr>
          <p:cNvSpPr txBox="1"/>
          <p:nvPr/>
        </p:nvSpPr>
        <p:spPr>
          <a:xfrm>
            <a:off x="459470" y="2738645"/>
            <a:ext cx="4311647" cy="553998"/>
          </a:xfrm>
          <a:prstGeom prst="rect">
            <a:avLst/>
          </a:prstGeom>
          <a:noFill/>
        </p:spPr>
        <p:txBody>
          <a:bodyPr wrap="square">
            <a:spAutoFit/>
          </a:bodyPr>
          <a:lstStyle/>
          <a:p>
            <a:pPr algn="ctr"/>
            <a:r>
              <a:rPr kumimoji="1"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・ツールによって、適用される機能自体に差分がある。</a:t>
            </a:r>
            <a:endParaRPr kumimoji="1" lang="en-US" altLang="ja-JP" sz="10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 </a:t>
            </a:r>
            <a:r>
              <a:rPr kumimoji="1" lang="en-US" altLang="ja-JP" sz="1000" dirty="0">
                <a:solidFill>
                  <a:schemeClr val="tx1">
                    <a:lumMod val="50000"/>
                    <a:lumOff val="50000"/>
                  </a:schemeClr>
                </a:solidFill>
                <a:latin typeface="メイリオ" panose="020B0604030504040204" pitchFamily="50" charset="-128"/>
                <a:ea typeface="メイリオ" panose="020B0604030504040204" pitchFamily="50" charset="-128"/>
              </a:rPr>
              <a:t>API</a:t>
            </a:r>
            <a:r>
              <a:rPr kumimoji="1"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ツールが</a:t>
            </a:r>
            <a:r>
              <a:rPr kumimoji="1" lang="en-US" altLang="ja-JP" sz="1000" dirty="0">
                <a:solidFill>
                  <a:schemeClr val="tx1">
                    <a:lumMod val="50000"/>
                    <a:lumOff val="50000"/>
                  </a:schemeClr>
                </a:solidFill>
                <a:latin typeface="メイリオ" panose="020B0604030504040204" pitchFamily="50" charset="-128"/>
                <a:ea typeface="メイリオ" panose="020B0604030504040204" pitchFamily="50" charset="-128"/>
              </a:rPr>
              <a:t>1</a:t>
            </a:r>
            <a:r>
              <a:rPr kumimoji="1"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社のみの独占となり、切替えが難しい。</a:t>
            </a:r>
            <a:endParaRPr kumimoji="1" lang="en-US" altLang="ja-JP" sz="10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・コンサルも依頼の場合に費用が大きくなるリスク。</a:t>
            </a:r>
            <a:endParaRPr kumimoji="1" lang="ja-JP" altLang="en-US" sz="1000" dirty="0">
              <a:solidFill>
                <a:schemeClr val="tx1">
                  <a:lumMod val="50000"/>
                  <a:lumOff val="50000"/>
                </a:schemeClr>
              </a:solidFill>
              <a:latin typeface="メイリオ" panose="020B0604030504040204" pitchFamily="50" charset="-128"/>
              <a:ea typeface="メイリオ" panose="020B0604030504040204" pitchFamily="50" charset="-128"/>
            </a:endParaRPr>
          </a:p>
        </p:txBody>
      </p:sp>
      <p:sp>
        <p:nvSpPr>
          <p:cNvPr id="7" name="テキスト ボックス 6">
            <a:extLst>
              <a:ext uri="{FF2B5EF4-FFF2-40B4-BE49-F238E27FC236}">
                <a16:creationId xmlns:a16="http://schemas.microsoft.com/office/drawing/2014/main" id="{EBA4D737-3559-5FE1-B418-3302CBFCB9A9}"/>
              </a:ext>
            </a:extLst>
          </p:cNvPr>
          <p:cNvSpPr txBox="1"/>
          <p:nvPr/>
        </p:nvSpPr>
        <p:spPr>
          <a:xfrm>
            <a:off x="4928055" y="2733229"/>
            <a:ext cx="4311647" cy="553998"/>
          </a:xfrm>
          <a:prstGeom prst="rect">
            <a:avLst/>
          </a:prstGeom>
          <a:noFill/>
        </p:spPr>
        <p:txBody>
          <a:bodyPr wrap="square">
            <a:spAutoFit/>
          </a:bodyPr>
          <a:lstStyle/>
          <a:p>
            <a:pPr algn="ct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・ツール外注により費用が大きくなる可能性がある。</a:t>
            </a:r>
            <a:endPar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a:t>
            </a:r>
            <a:r>
              <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rPr>
              <a:t>OA</a:t>
            </a: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運用自体に対する知見が少ない。</a:t>
            </a:r>
            <a:endPar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・一部利用できない機能が存在する（</a:t>
            </a:r>
            <a:r>
              <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rPr>
              <a:t>Option API</a:t>
            </a: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他）。</a:t>
            </a:r>
          </a:p>
        </p:txBody>
      </p:sp>
      <p:sp>
        <p:nvSpPr>
          <p:cNvPr id="8" name="テキスト ボックス 7">
            <a:extLst>
              <a:ext uri="{FF2B5EF4-FFF2-40B4-BE49-F238E27FC236}">
                <a16:creationId xmlns:a16="http://schemas.microsoft.com/office/drawing/2014/main" id="{C16446F7-FB27-00FA-5115-4A5251550BE6}"/>
              </a:ext>
            </a:extLst>
          </p:cNvPr>
          <p:cNvSpPr txBox="1"/>
          <p:nvPr/>
        </p:nvSpPr>
        <p:spPr>
          <a:xfrm>
            <a:off x="461608" y="5199061"/>
            <a:ext cx="4311647" cy="553998"/>
          </a:xfrm>
          <a:prstGeom prst="rect">
            <a:avLst/>
          </a:prstGeom>
          <a:noFill/>
        </p:spPr>
        <p:txBody>
          <a:bodyPr wrap="square">
            <a:spAutoFit/>
          </a:bodyPr>
          <a:lstStyle/>
          <a:p>
            <a:pPr algn="ct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a:t>
            </a:r>
            <a:r>
              <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rPr>
              <a:t>OA</a:t>
            </a: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運用部隊を備えていない可能性がある。</a:t>
            </a:r>
            <a:endPar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・パッケージ売りが中心で非アクティブユーザーが増加。</a:t>
            </a:r>
            <a:endPar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・コンサルも依頼の場合に費用が大きくなるリスク。</a:t>
            </a:r>
          </a:p>
        </p:txBody>
      </p:sp>
      <p:sp>
        <p:nvSpPr>
          <p:cNvPr id="9" name="テキスト ボックス 8">
            <a:extLst>
              <a:ext uri="{FF2B5EF4-FFF2-40B4-BE49-F238E27FC236}">
                <a16:creationId xmlns:a16="http://schemas.microsoft.com/office/drawing/2014/main" id="{19EE3868-DB7E-927E-8B36-00939FCE4211}"/>
              </a:ext>
            </a:extLst>
          </p:cNvPr>
          <p:cNvSpPr txBox="1"/>
          <p:nvPr/>
        </p:nvSpPr>
        <p:spPr>
          <a:xfrm>
            <a:off x="4930193" y="5316755"/>
            <a:ext cx="4311647" cy="400110"/>
          </a:xfrm>
          <a:prstGeom prst="rect">
            <a:avLst/>
          </a:prstGeom>
          <a:noFill/>
        </p:spPr>
        <p:txBody>
          <a:bodyPr wrap="square" anchor="ctr">
            <a:spAutoFit/>
          </a:bodyPr>
          <a:lstStyle/>
          <a:p>
            <a:pPr algn="ct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a:t>
            </a:r>
            <a:r>
              <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rPr>
              <a:t>CRM</a:t>
            </a: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側の</a:t>
            </a:r>
            <a:r>
              <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rPr>
              <a:t>API</a:t>
            </a: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利用時に通常より高単価になりやすい。</a:t>
            </a:r>
            <a:endPar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a:t>
            </a:r>
            <a:r>
              <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rPr>
              <a:t>OA</a:t>
            </a: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単体での運用知見の乏しさ。</a:t>
            </a:r>
            <a:endPar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endParaRPr>
          </a:p>
        </p:txBody>
      </p:sp>
      <p:sp>
        <p:nvSpPr>
          <p:cNvPr id="17" name="正方形/長方形 16">
            <a:extLst>
              <a:ext uri="{FF2B5EF4-FFF2-40B4-BE49-F238E27FC236}">
                <a16:creationId xmlns:a16="http://schemas.microsoft.com/office/drawing/2014/main" id="{189FFC9F-CF2D-25AD-00C7-208E47BC4C66}"/>
              </a:ext>
            </a:extLst>
          </p:cNvPr>
          <p:cNvSpPr/>
          <p:nvPr/>
        </p:nvSpPr>
        <p:spPr>
          <a:xfrm>
            <a:off x="3361317" y="1908015"/>
            <a:ext cx="1355280" cy="243944"/>
          </a:xfrm>
          <a:prstGeom prst="rect">
            <a:avLst/>
          </a:prstGeom>
          <a:solidFill>
            <a:schemeClr val="tx2"/>
          </a:solid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bg1"/>
                </a:solidFill>
                <a:latin typeface="メイリオ" panose="020B0604030504040204" pitchFamily="50" charset="-128"/>
                <a:ea typeface="メイリオ" panose="020B0604030504040204" pitchFamily="50" charset="-128"/>
              </a:rPr>
              <a:t>自動化・効率化</a:t>
            </a:r>
          </a:p>
        </p:txBody>
      </p:sp>
      <p:sp>
        <p:nvSpPr>
          <p:cNvPr id="18" name="正方形/長方形 17">
            <a:extLst>
              <a:ext uri="{FF2B5EF4-FFF2-40B4-BE49-F238E27FC236}">
                <a16:creationId xmlns:a16="http://schemas.microsoft.com/office/drawing/2014/main" id="{122AB27F-120A-6587-2E9E-7D2F5F3B4407}"/>
              </a:ext>
            </a:extLst>
          </p:cNvPr>
          <p:cNvSpPr/>
          <p:nvPr/>
        </p:nvSpPr>
        <p:spPr>
          <a:xfrm>
            <a:off x="7854818" y="1902839"/>
            <a:ext cx="1355280" cy="243944"/>
          </a:xfrm>
          <a:prstGeom prst="rect">
            <a:avLst/>
          </a:prstGeom>
          <a:solidFill>
            <a:schemeClr val="tx2"/>
          </a:solid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bg1"/>
                </a:solidFill>
                <a:latin typeface="メイリオ" panose="020B0604030504040204" pitchFamily="50" charset="-128"/>
                <a:ea typeface="メイリオ" panose="020B0604030504040204" pitchFamily="50" charset="-128"/>
              </a:rPr>
              <a:t>リッチ化</a:t>
            </a:r>
          </a:p>
        </p:txBody>
      </p:sp>
      <p:sp>
        <p:nvSpPr>
          <p:cNvPr id="19" name="正方形/長方形 18">
            <a:extLst>
              <a:ext uri="{FF2B5EF4-FFF2-40B4-BE49-F238E27FC236}">
                <a16:creationId xmlns:a16="http://schemas.microsoft.com/office/drawing/2014/main" id="{56DB3229-AC80-A545-1A7F-30968AF568EC}"/>
              </a:ext>
            </a:extLst>
          </p:cNvPr>
          <p:cNvSpPr/>
          <p:nvPr/>
        </p:nvSpPr>
        <p:spPr>
          <a:xfrm>
            <a:off x="3386263" y="4343224"/>
            <a:ext cx="1355280" cy="243944"/>
          </a:xfrm>
          <a:prstGeom prst="rect">
            <a:avLst/>
          </a:prstGeom>
          <a:solidFill>
            <a:schemeClr val="tx2"/>
          </a:solid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bg1"/>
                </a:solidFill>
                <a:latin typeface="メイリオ" panose="020B0604030504040204" pitchFamily="50" charset="-128"/>
                <a:ea typeface="メイリオ" panose="020B0604030504040204" pitchFamily="50" charset="-128"/>
              </a:rPr>
              <a:t>リード母数拡大</a:t>
            </a:r>
          </a:p>
        </p:txBody>
      </p:sp>
      <p:sp>
        <p:nvSpPr>
          <p:cNvPr id="20" name="正方形/長方形 19">
            <a:extLst>
              <a:ext uri="{FF2B5EF4-FFF2-40B4-BE49-F238E27FC236}">
                <a16:creationId xmlns:a16="http://schemas.microsoft.com/office/drawing/2014/main" id="{21D29B7F-EC01-1021-44F2-D37D7A2E27DC}"/>
              </a:ext>
            </a:extLst>
          </p:cNvPr>
          <p:cNvSpPr/>
          <p:nvPr/>
        </p:nvSpPr>
        <p:spPr>
          <a:xfrm>
            <a:off x="7879764" y="4338048"/>
            <a:ext cx="1355280" cy="243944"/>
          </a:xfrm>
          <a:prstGeom prst="rect">
            <a:avLst/>
          </a:prstGeom>
          <a:solidFill>
            <a:schemeClr val="tx2"/>
          </a:solid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bg1"/>
                </a:solidFill>
                <a:latin typeface="メイリオ" panose="020B0604030504040204" pitchFamily="50" charset="-128"/>
                <a:ea typeface="メイリオ" panose="020B0604030504040204" pitchFamily="50" charset="-128"/>
              </a:rPr>
              <a:t>自動化・効率化</a:t>
            </a:r>
          </a:p>
        </p:txBody>
      </p:sp>
      <p:sp>
        <p:nvSpPr>
          <p:cNvPr id="22" name="正方形/長方形 21">
            <a:extLst>
              <a:ext uri="{FF2B5EF4-FFF2-40B4-BE49-F238E27FC236}">
                <a16:creationId xmlns:a16="http://schemas.microsoft.com/office/drawing/2014/main" id="{2B94E779-B2D3-DA1A-5386-88EC8B7F7A2A}"/>
              </a:ext>
            </a:extLst>
          </p:cNvPr>
          <p:cNvSpPr/>
          <p:nvPr/>
        </p:nvSpPr>
        <p:spPr>
          <a:xfrm>
            <a:off x="486784" y="738200"/>
            <a:ext cx="9005456" cy="59385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1400" dirty="0">
                <a:solidFill>
                  <a:schemeClr val="tx1"/>
                </a:solidFill>
                <a:latin typeface="メイリオ" panose="020B0604030504040204" pitchFamily="50" charset="-128"/>
                <a:ea typeface="メイリオ" panose="020B0604030504040204" pitchFamily="50" charset="-128"/>
              </a:rPr>
              <a:t>各種パートナー企業との連携から、幅広い</a:t>
            </a:r>
            <a:r>
              <a:rPr lang="en-US" altLang="ja-JP" sz="1400" dirty="0">
                <a:solidFill>
                  <a:schemeClr val="tx1"/>
                </a:solidFill>
                <a:latin typeface="メイリオ" panose="020B0604030504040204" pitchFamily="50" charset="-128"/>
                <a:ea typeface="メイリオ" panose="020B0604030504040204" pitchFamily="50" charset="-128"/>
              </a:rPr>
              <a:t>LINEOA</a:t>
            </a:r>
            <a:r>
              <a:rPr lang="ja-JP" altLang="en-US" sz="1400" dirty="0">
                <a:solidFill>
                  <a:schemeClr val="tx1"/>
                </a:solidFill>
                <a:latin typeface="メイリオ" panose="020B0604030504040204" pitchFamily="50" charset="-128"/>
                <a:ea typeface="メイリオ" panose="020B0604030504040204" pitchFamily="50" charset="-128"/>
              </a:rPr>
              <a:t>業務に対して対応が可能。</a:t>
            </a:r>
            <a:endParaRPr lang="en-US" altLang="ja-JP" sz="1400" dirty="0">
              <a:solidFill>
                <a:schemeClr val="tx1"/>
              </a:solidFill>
              <a:latin typeface="メイリオ" panose="020B0604030504040204" pitchFamily="50" charset="-128"/>
              <a:ea typeface="メイリオ" panose="020B0604030504040204" pitchFamily="50" charset="-128"/>
            </a:endParaRPr>
          </a:p>
          <a:p>
            <a:pPr algn="ctr"/>
            <a:r>
              <a:rPr lang="ja-JP" altLang="en-US" sz="1400" dirty="0">
                <a:solidFill>
                  <a:schemeClr val="tx1"/>
                </a:solidFill>
                <a:latin typeface="メイリオ" panose="020B0604030504040204" pitchFamily="50" charset="-128"/>
                <a:ea typeface="メイリオ" panose="020B0604030504040204" pitchFamily="50" charset="-128"/>
              </a:rPr>
              <a:t>貴社社内部隊と連携して、一部委託もご相談いただけます。</a:t>
            </a: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30" name="テキスト ボックス 29">
            <a:extLst>
              <a:ext uri="{FF2B5EF4-FFF2-40B4-BE49-F238E27FC236}">
                <a16:creationId xmlns:a16="http://schemas.microsoft.com/office/drawing/2014/main" id="{DB41465D-5D30-6E80-78F0-EEE5C4A9C571}"/>
              </a:ext>
            </a:extLst>
          </p:cNvPr>
          <p:cNvSpPr txBox="1"/>
          <p:nvPr/>
        </p:nvSpPr>
        <p:spPr>
          <a:xfrm>
            <a:off x="269967" y="3632378"/>
            <a:ext cx="687006" cy="261610"/>
          </a:xfrm>
          <a:prstGeom prst="rect">
            <a:avLst/>
          </a:prstGeom>
          <a:solidFill>
            <a:schemeClr val="tx2">
              <a:lumMod val="50000"/>
            </a:schemeClr>
          </a:solidFill>
        </p:spPr>
        <p:txBody>
          <a:bodyPr wrap="square">
            <a:spAutoFit/>
          </a:bodyPr>
          <a:lstStyle/>
          <a:p>
            <a:r>
              <a:rPr lang="en-US" altLang="ja-JP" sz="1100" b="1" dirty="0">
                <a:solidFill>
                  <a:schemeClr val="bg1"/>
                </a:solidFill>
                <a:latin typeface="メイリオ" panose="020B0604030504040204" pitchFamily="50" charset="-128"/>
                <a:ea typeface="メイリオ" panose="020B0604030504040204" pitchFamily="50" charset="-128"/>
              </a:rPr>
              <a:t>DYM</a:t>
            </a:r>
            <a:r>
              <a:rPr lang="ja-JP" altLang="en-US" sz="1100" b="1" dirty="0">
                <a:solidFill>
                  <a:schemeClr val="bg1"/>
                </a:solidFill>
                <a:latin typeface="メイリオ" panose="020B0604030504040204" pitchFamily="50" charset="-128"/>
                <a:ea typeface="メイリオ" panose="020B0604030504040204" pitchFamily="50" charset="-128"/>
              </a:rPr>
              <a:t>→</a:t>
            </a:r>
            <a:endParaRPr lang="ja-JP" altLang="en-US" sz="1100" dirty="0">
              <a:solidFill>
                <a:schemeClr val="bg1"/>
              </a:solidFill>
            </a:endParaRPr>
          </a:p>
        </p:txBody>
      </p:sp>
      <p:sp>
        <p:nvSpPr>
          <p:cNvPr id="34" name="テキスト ボックス 33">
            <a:extLst>
              <a:ext uri="{FF2B5EF4-FFF2-40B4-BE49-F238E27FC236}">
                <a16:creationId xmlns:a16="http://schemas.microsoft.com/office/drawing/2014/main" id="{0144DC71-37E5-DA34-FDBB-69F2A1BEA8E0}"/>
              </a:ext>
            </a:extLst>
          </p:cNvPr>
          <p:cNvSpPr txBox="1"/>
          <p:nvPr/>
        </p:nvSpPr>
        <p:spPr>
          <a:xfrm>
            <a:off x="4741544" y="3629460"/>
            <a:ext cx="687006" cy="261610"/>
          </a:xfrm>
          <a:prstGeom prst="rect">
            <a:avLst/>
          </a:prstGeom>
          <a:solidFill>
            <a:schemeClr val="tx2">
              <a:lumMod val="50000"/>
            </a:schemeClr>
          </a:solidFill>
        </p:spPr>
        <p:txBody>
          <a:bodyPr wrap="square">
            <a:spAutoFit/>
          </a:bodyPr>
          <a:lstStyle/>
          <a:p>
            <a:r>
              <a:rPr lang="en-US" altLang="ja-JP" sz="1100" b="1" dirty="0">
                <a:solidFill>
                  <a:schemeClr val="bg1"/>
                </a:solidFill>
                <a:latin typeface="メイリオ" panose="020B0604030504040204" pitchFamily="50" charset="-128"/>
                <a:ea typeface="メイリオ" panose="020B0604030504040204" pitchFamily="50" charset="-128"/>
              </a:rPr>
              <a:t>DYM</a:t>
            </a:r>
            <a:r>
              <a:rPr lang="ja-JP" altLang="en-US" sz="1100" b="1" dirty="0">
                <a:solidFill>
                  <a:schemeClr val="bg1"/>
                </a:solidFill>
                <a:latin typeface="メイリオ" panose="020B0604030504040204" pitchFamily="50" charset="-128"/>
                <a:ea typeface="メイリオ" panose="020B0604030504040204" pitchFamily="50" charset="-128"/>
              </a:rPr>
              <a:t>→</a:t>
            </a:r>
            <a:endParaRPr lang="ja-JP" altLang="en-US" sz="1100" dirty="0">
              <a:solidFill>
                <a:schemeClr val="bg1"/>
              </a:solidFill>
            </a:endParaRPr>
          </a:p>
        </p:txBody>
      </p:sp>
      <p:sp>
        <p:nvSpPr>
          <p:cNvPr id="38" name="テキスト ボックス 37">
            <a:extLst>
              <a:ext uri="{FF2B5EF4-FFF2-40B4-BE49-F238E27FC236}">
                <a16:creationId xmlns:a16="http://schemas.microsoft.com/office/drawing/2014/main" id="{AF15CFA9-BA43-360D-D26E-040407A743A9}"/>
              </a:ext>
            </a:extLst>
          </p:cNvPr>
          <p:cNvSpPr txBox="1"/>
          <p:nvPr/>
        </p:nvSpPr>
        <p:spPr>
          <a:xfrm>
            <a:off x="269967" y="6081294"/>
            <a:ext cx="687006" cy="261610"/>
          </a:xfrm>
          <a:prstGeom prst="rect">
            <a:avLst/>
          </a:prstGeom>
          <a:solidFill>
            <a:schemeClr val="tx2">
              <a:lumMod val="50000"/>
            </a:schemeClr>
          </a:solidFill>
        </p:spPr>
        <p:txBody>
          <a:bodyPr wrap="square">
            <a:spAutoFit/>
          </a:bodyPr>
          <a:lstStyle/>
          <a:p>
            <a:r>
              <a:rPr lang="en-US" altLang="ja-JP" sz="1100" b="1" dirty="0">
                <a:solidFill>
                  <a:schemeClr val="bg1"/>
                </a:solidFill>
                <a:latin typeface="メイリオ" panose="020B0604030504040204" pitchFamily="50" charset="-128"/>
                <a:ea typeface="メイリオ" panose="020B0604030504040204" pitchFamily="50" charset="-128"/>
              </a:rPr>
              <a:t>DYM</a:t>
            </a:r>
            <a:r>
              <a:rPr lang="ja-JP" altLang="en-US" sz="1100" b="1" dirty="0">
                <a:solidFill>
                  <a:schemeClr val="bg1"/>
                </a:solidFill>
                <a:latin typeface="メイリオ" panose="020B0604030504040204" pitchFamily="50" charset="-128"/>
                <a:ea typeface="メイリオ" panose="020B0604030504040204" pitchFamily="50" charset="-128"/>
              </a:rPr>
              <a:t>→</a:t>
            </a:r>
            <a:endParaRPr lang="ja-JP" altLang="en-US" sz="1100" dirty="0">
              <a:solidFill>
                <a:schemeClr val="bg1"/>
              </a:solidFill>
            </a:endParaRPr>
          </a:p>
        </p:txBody>
      </p:sp>
      <p:sp>
        <p:nvSpPr>
          <p:cNvPr id="40" name="テキスト ボックス 39">
            <a:extLst>
              <a:ext uri="{FF2B5EF4-FFF2-40B4-BE49-F238E27FC236}">
                <a16:creationId xmlns:a16="http://schemas.microsoft.com/office/drawing/2014/main" id="{240BE338-3054-2BB1-6A31-C90BDCFE06A9}"/>
              </a:ext>
            </a:extLst>
          </p:cNvPr>
          <p:cNvSpPr txBox="1"/>
          <p:nvPr/>
        </p:nvSpPr>
        <p:spPr>
          <a:xfrm>
            <a:off x="4741544" y="6078376"/>
            <a:ext cx="687006" cy="261610"/>
          </a:xfrm>
          <a:prstGeom prst="rect">
            <a:avLst/>
          </a:prstGeom>
          <a:solidFill>
            <a:schemeClr val="tx2">
              <a:lumMod val="50000"/>
            </a:schemeClr>
          </a:solidFill>
        </p:spPr>
        <p:txBody>
          <a:bodyPr wrap="square">
            <a:spAutoFit/>
          </a:bodyPr>
          <a:lstStyle/>
          <a:p>
            <a:r>
              <a:rPr lang="en-US" altLang="ja-JP" sz="1100" b="1" dirty="0">
                <a:solidFill>
                  <a:schemeClr val="bg1"/>
                </a:solidFill>
                <a:latin typeface="メイリオ" panose="020B0604030504040204" pitchFamily="50" charset="-128"/>
                <a:ea typeface="メイリオ" panose="020B0604030504040204" pitchFamily="50" charset="-128"/>
              </a:rPr>
              <a:t>DYM</a:t>
            </a:r>
            <a:r>
              <a:rPr lang="ja-JP" altLang="en-US" sz="1100" b="1" dirty="0">
                <a:solidFill>
                  <a:schemeClr val="bg1"/>
                </a:solidFill>
                <a:latin typeface="メイリオ" panose="020B0604030504040204" pitchFamily="50" charset="-128"/>
                <a:ea typeface="メイリオ" panose="020B0604030504040204" pitchFamily="50" charset="-128"/>
              </a:rPr>
              <a:t>→</a:t>
            </a:r>
            <a:endParaRPr lang="ja-JP" altLang="en-US" sz="1100" dirty="0">
              <a:solidFill>
                <a:schemeClr val="bg1"/>
              </a:solidFill>
            </a:endParaRPr>
          </a:p>
        </p:txBody>
      </p:sp>
      <p:sp>
        <p:nvSpPr>
          <p:cNvPr id="41" name="テキスト ボックス 40">
            <a:extLst>
              <a:ext uri="{FF2B5EF4-FFF2-40B4-BE49-F238E27FC236}">
                <a16:creationId xmlns:a16="http://schemas.microsoft.com/office/drawing/2014/main" id="{C0326F10-43FF-1E4A-8F3D-ED5A80FA014B}"/>
              </a:ext>
            </a:extLst>
          </p:cNvPr>
          <p:cNvSpPr txBox="1"/>
          <p:nvPr/>
        </p:nvSpPr>
        <p:spPr>
          <a:xfrm>
            <a:off x="956972" y="3530330"/>
            <a:ext cx="3842445" cy="461665"/>
          </a:xfrm>
          <a:prstGeom prst="rect">
            <a:avLst/>
          </a:prstGeom>
          <a:noFill/>
        </p:spPr>
        <p:txBody>
          <a:bodyPr wrap="square">
            <a:spAutoFit/>
          </a:bodyPr>
          <a:lstStyle/>
          <a:p>
            <a:pPr algn="ctr"/>
            <a:r>
              <a:rPr lang="ja-JP" altLang="en-US" sz="1200" b="1" dirty="0">
                <a:solidFill>
                  <a:schemeClr val="tx2"/>
                </a:solidFill>
                <a:latin typeface="メイリオ" panose="020B0604030504040204" pitchFamily="50" charset="-128"/>
                <a:ea typeface="メイリオ" panose="020B0604030504040204" pitchFamily="50" charset="-128"/>
              </a:rPr>
              <a:t>各種実績の多いツール企業と連携している為、</a:t>
            </a:r>
            <a:endParaRPr lang="en-US" altLang="ja-JP" sz="1200" b="1">
              <a:solidFill>
                <a:schemeClr val="tx2"/>
              </a:solidFill>
              <a:latin typeface="メイリオ" panose="020B0604030504040204" pitchFamily="50" charset="-128"/>
              <a:ea typeface="メイリオ" panose="020B0604030504040204" pitchFamily="50" charset="-128"/>
            </a:endParaRPr>
          </a:p>
          <a:p>
            <a:pPr algn="ctr"/>
            <a:r>
              <a:rPr kumimoji="1" lang="ja-JP" altLang="en-US" sz="1200" b="1">
                <a:solidFill>
                  <a:schemeClr val="tx2"/>
                </a:solidFill>
                <a:latin typeface="メイリオ" panose="020B0604030504040204" pitchFamily="50" charset="-128"/>
                <a:ea typeface="メイリオ" panose="020B0604030504040204" pitchFamily="50" charset="-128"/>
              </a:rPr>
              <a:t>将来的</a:t>
            </a:r>
            <a:r>
              <a:rPr kumimoji="1" lang="ja-JP" altLang="en-US" sz="1200" b="1" dirty="0">
                <a:solidFill>
                  <a:schemeClr val="tx2"/>
                </a:solidFill>
                <a:latin typeface="メイリオ" panose="020B0604030504040204" pitchFamily="50" charset="-128"/>
                <a:ea typeface="メイリオ" panose="020B0604030504040204" pitchFamily="50" charset="-128"/>
              </a:rPr>
              <a:t>な運用プランに合わせてツール選定をサポート。</a:t>
            </a:r>
          </a:p>
        </p:txBody>
      </p:sp>
      <p:sp>
        <p:nvSpPr>
          <p:cNvPr id="42" name="テキスト ボックス 41">
            <a:extLst>
              <a:ext uri="{FF2B5EF4-FFF2-40B4-BE49-F238E27FC236}">
                <a16:creationId xmlns:a16="http://schemas.microsoft.com/office/drawing/2014/main" id="{D6EF5007-A21E-89B0-31EE-98FC1F7BE5FB}"/>
              </a:ext>
            </a:extLst>
          </p:cNvPr>
          <p:cNvSpPr txBox="1"/>
          <p:nvPr/>
        </p:nvSpPr>
        <p:spPr>
          <a:xfrm>
            <a:off x="5428549" y="3527412"/>
            <a:ext cx="3842445" cy="461665"/>
          </a:xfrm>
          <a:prstGeom prst="rect">
            <a:avLst/>
          </a:prstGeom>
          <a:noFill/>
        </p:spPr>
        <p:txBody>
          <a:bodyPr wrap="square">
            <a:spAutoFit/>
          </a:bodyPr>
          <a:lstStyle/>
          <a:p>
            <a:pPr algn="ctr"/>
            <a:r>
              <a:rPr lang="en-US" altLang="ja-JP" sz="1200" b="1" dirty="0">
                <a:solidFill>
                  <a:schemeClr val="tx2"/>
                </a:solidFill>
                <a:latin typeface="メイリオ" panose="020B0604030504040204" pitchFamily="50" charset="-128"/>
                <a:ea typeface="メイリオ" panose="020B0604030504040204" pitchFamily="50" charset="-128"/>
              </a:rPr>
              <a:t>DYM</a:t>
            </a:r>
            <a:r>
              <a:rPr lang="ja-JP" altLang="en-US" sz="1200" b="1" dirty="0">
                <a:solidFill>
                  <a:schemeClr val="tx2"/>
                </a:solidFill>
                <a:latin typeface="メイリオ" panose="020B0604030504040204" pitchFamily="50" charset="-128"/>
                <a:ea typeface="メイリオ" panose="020B0604030504040204" pitchFamily="50" charset="-128"/>
              </a:rPr>
              <a:t>が商流に入ることにより限定の割引プランや</a:t>
            </a:r>
            <a:endParaRPr lang="en-US" altLang="ja-JP" sz="1200" b="1" dirty="0">
              <a:solidFill>
                <a:schemeClr val="tx2"/>
              </a:solidFill>
              <a:latin typeface="メイリオ" panose="020B0604030504040204" pitchFamily="50" charset="-128"/>
              <a:ea typeface="メイリオ" panose="020B0604030504040204" pitchFamily="50" charset="-128"/>
            </a:endParaRPr>
          </a:p>
          <a:p>
            <a:pPr algn="ctr"/>
            <a:r>
              <a:rPr kumimoji="1" lang="ja-JP" altLang="en-US" sz="1200" b="1" dirty="0">
                <a:solidFill>
                  <a:schemeClr val="tx2"/>
                </a:solidFill>
                <a:latin typeface="メイリオ" panose="020B0604030504040204" pitchFamily="50" charset="-128"/>
                <a:ea typeface="メイリオ" panose="020B0604030504040204" pitchFamily="50" charset="-128"/>
              </a:rPr>
              <a:t>拡張機能（一部</a:t>
            </a:r>
            <a:r>
              <a:rPr kumimoji="1" lang="en-US" altLang="ja-JP" sz="1200" b="1" dirty="0">
                <a:solidFill>
                  <a:schemeClr val="tx2"/>
                </a:solidFill>
                <a:latin typeface="メイリオ" panose="020B0604030504040204" pitchFamily="50" charset="-128"/>
                <a:ea typeface="メイリオ" panose="020B0604030504040204" pitchFamily="50" charset="-128"/>
              </a:rPr>
              <a:t>β</a:t>
            </a:r>
            <a:r>
              <a:rPr lang="ja-JP" altLang="en-US" sz="1200" b="1" dirty="0">
                <a:solidFill>
                  <a:schemeClr val="tx2"/>
                </a:solidFill>
                <a:latin typeface="メイリオ" panose="020B0604030504040204" pitchFamily="50" charset="-128"/>
                <a:ea typeface="メイリオ" panose="020B0604030504040204" pitchFamily="50" charset="-128"/>
              </a:rPr>
              <a:t>版）の展開を可能に。</a:t>
            </a:r>
            <a:endParaRPr kumimoji="1" lang="ja-JP" altLang="en-US" sz="1200" b="1" dirty="0">
              <a:solidFill>
                <a:schemeClr val="tx2"/>
              </a:solidFill>
              <a:latin typeface="メイリオ" panose="020B0604030504040204" pitchFamily="50" charset="-128"/>
              <a:ea typeface="メイリオ" panose="020B0604030504040204" pitchFamily="50" charset="-128"/>
            </a:endParaRPr>
          </a:p>
        </p:txBody>
      </p:sp>
      <p:sp>
        <p:nvSpPr>
          <p:cNvPr id="43" name="テキスト ボックス 42">
            <a:extLst>
              <a:ext uri="{FF2B5EF4-FFF2-40B4-BE49-F238E27FC236}">
                <a16:creationId xmlns:a16="http://schemas.microsoft.com/office/drawing/2014/main" id="{674B7463-4A8E-D0FC-FDB4-5BB44B5E2FB2}"/>
              </a:ext>
            </a:extLst>
          </p:cNvPr>
          <p:cNvSpPr txBox="1"/>
          <p:nvPr/>
        </p:nvSpPr>
        <p:spPr>
          <a:xfrm>
            <a:off x="956972" y="5979246"/>
            <a:ext cx="3842445" cy="461665"/>
          </a:xfrm>
          <a:prstGeom prst="rect">
            <a:avLst/>
          </a:prstGeom>
          <a:noFill/>
        </p:spPr>
        <p:txBody>
          <a:bodyPr wrap="square">
            <a:spAutoFit/>
          </a:bodyPr>
          <a:lstStyle/>
          <a:p>
            <a:pPr algn="ctr"/>
            <a:r>
              <a:rPr lang="ja-JP" altLang="en-US" sz="1200" b="1" dirty="0">
                <a:solidFill>
                  <a:schemeClr val="tx2"/>
                </a:solidFill>
                <a:latin typeface="メイリオ" panose="020B0604030504040204" pitchFamily="50" charset="-128"/>
                <a:ea typeface="メイリオ" panose="020B0604030504040204" pitchFamily="50" charset="-128"/>
              </a:rPr>
              <a:t>運用実務におけるアウトソースとして活用し、</a:t>
            </a:r>
            <a:endParaRPr lang="en-US" altLang="ja-JP" sz="1200" b="1" dirty="0">
              <a:solidFill>
                <a:schemeClr val="tx2"/>
              </a:solidFill>
              <a:latin typeface="メイリオ" panose="020B0604030504040204" pitchFamily="50" charset="-128"/>
              <a:ea typeface="メイリオ" panose="020B0604030504040204" pitchFamily="50" charset="-128"/>
            </a:endParaRPr>
          </a:p>
          <a:p>
            <a:pPr algn="ctr"/>
            <a:r>
              <a:rPr kumimoji="1" lang="ja-JP" altLang="en-US" sz="1200" b="1" dirty="0">
                <a:solidFill>
                  <a:schemeClr val="tx2"/>
                </a:solidFill>
                <a:latin typeface="メイリオ" panose="020B0604030504040204" pitchFamily="50" charset="-128"/>
                <a:ea typeface="メイリオ" panose="020B0604030504040204" pitchFamily="50" charset="-128"/>
              </a:rPr>
              <a:t>既存の運用領域における効率化をサポート。</a:t>
            </a:r>
          </a:p>
        </p:txBody>
      </p:sp>
      <p:sp>
        <p:nvSpPr>
          <p:cNvPr id="44" name="テキスト ボックス 43">
            <a:extLst>
              <a:ext uri="{FF2B5EF4-FFF2-40B4-BE49-F238E27FC236}">
                <a16:creationId xmlns:a16="http://schemas.microsoft.com/office/drawing/2014/main" id="{C373F1E9-22BB-9E8C-628E-A261897C133F}"/>
              </a:ext>
            </a:extLst>
          </p:cNvPr>
          <p:cNvSpPr txBox="1"/>
          <p:nvPr/>
        </p:nvSpPr>
        <p:spPr>
          <a:xfrm>
            <a:off x="5428549" y="5976328"/>
            <a:ext cx="3842445" cy="461665"/>
          </a:xfrm>
          <a:prstGeom prst="rect">
            <a:avLst/>
          </a:prstGeom>
          <a:noFill/>
        </p:spPr>
        <p:txBody>
          <a:bodyPr wrap="square">
            <a:spAutoFit/>
          </a:bodyPr>
          <a:lstStyle/>
          <a:p>
            <a:pPr algn="ctr"/>
            <a:r>
              <a:rPr kumimoji="1" lang="en-US" altLang="ja-JP" sz="1200" b="1" dirty="0">
                <a:solidFill>
                  <a:schemeClr val="tx2"/>
                </a:solidFill>
                <a:latin typeface="メイリオ" panose="020B0604030504040204" pitchFamily="50" charset="-128"/>
                <a:ea typeface="メイリオ" panose="020B0604030504040204" pitchFamily="50" charset="-128"/>
              </a:rPr>
              <a:t>OAM(</a:t>
            </a:r>
            <a:r>
              <a:rPr kumimoji="1" lang="ja-JP" altLang="en-US" sz="1200" b="1" dirty="0">
                <a:solidFill>
                  <a:schemeClr val="tx2"/>
                </a:solidFill>
                <a:latin typeface="メイリオ" panose="020B0604030504040204" pitchFamily="50" charset="-128"/>
                <a:ea typeface="メイリオ" panose="020B0604030504040204" pitchFamily="50" charset="-128"/>
              </a:rPr>
              <a:t>公式管理画面</a:t>
            </a:r>
            <a:r>
              <a:rPr kumimoji="1" lang="en-US" altLang="ja-JP" sz="1200" b="1" dirty="0">
                <a:solidFill>
                  <a:schemeClr val="tx2"/>
                </a:solidFill>
                <a:latin typeface="メイリオ" panose="020B0604030504040204" pitchFamily="50" charset="-128"/>
                <a:ea typeface="メイリオ" panose="020B0604030504040204" pitchFamily="50" charset="-128"/>
              </a:rPr>
              <a:t>)</a:t>
            </a:r>
            <a:r>
              <a:rPr kumimoji="1" lang="ja-JP" altLang="en-US" sz="1200" b="1" dirty="0">
                <a:solidFill>
                  <a:schemeClr val="tx2"/>
                </a:solidFill>
                <a:latin typeface="メイリオ" panose="020B0604030504040204" pitchFamily="50" charset="-128"/>
                <a:ea typeface="メイリオ" panose="020B0604030504040204" pitchFamily="50" charset="-128"/>
              </a:rPr>
              <a:t>と併用しながらコストカット。</a:t>
            </a:r>
            <a:endParaRPr kumimoji="1" lang="en-US" altLang="ja-JP" sz="1200" b="1" dirty="0">
              <a:solidFill>
                <a:schemeClr val="tx2"/>
              </a:solidFill>
              <a:latin typeface="メイリオ" panose="020B0604030504040204" pitchFamily="50" charset="-128"/>
              <a:ea typeface="メイリオ" panose="020B0604030504040204" pitchFamily="50" charset="-128"/>
            </a:endParaRPr>
          </a:p>
          <a:p>
            <a:pPr algn="ctr"/>
            <a:r>
              <a:rPr lang="ja-JP" altLang="en-US" sz="1200" b="1" dirty="0">
                <a:solidFill>
                  <a:schemeClr val="tx2"/>
                </a:solidFill>
                <a:latin typeface="メイリオ" panose="020B0604030504040204" pitchFamily="50" charset="-128"/>
                <a:ea typeface="メイリオ" panose="020B0604030504040204" pitchFamily="50" charset="-128"/>
              </a:rPr>
              <a:t>また複数ステップ配信の組み合わせで効率化も。</a:t>
            </a:r>
            <a:endParaRPr kumimoji="1" lang="ja-JP" altLang="en-US" sz="1200" b="1" dirty="0">
              <a:solidFill>
                <a:schemeClr val="tx2"/>
              </a:solidFill>
              <a:latin typeface="メイリオ" panose="020B0604030504040204" pitchFamily="50" charset="-128"/>
              <a:ea typeface="メイリオ" panose="020B0604030504040204" pitchFamily="50" charset="-128"/>
            </a:endParaRPr>
          </a:p>
        </p:txBody>
      </p:sp>
      <p:sp>
        <p:nvSpPr>
          <p:cNvPr id="16" name="テキスト ボックス 15">
            <a:extLst>
              <a:ext uri="{FF2B5EF4-FFF2-40B4-BE49-F238E27FC236}">
                <a16:creationId xmlns:a16="http://schemas.microsoft.com/office/drawing/2014/main" id="{09F8FD3D-D156-D73A-268D-4BD2C4EFA147}"/>
              </a:ext>
            </a:extLst>
          </p:cNvPr>
          <p:cNvSpPr txBox="1"/>
          <p:nvPr/>
        </p:nvSpPr>
        <p:spPr>
          <a:xfrm>
            <a:off x="1659517" y="1322455"/>
            <a:ext cx="6603340" cy="260597"/>
          </a:xfrm>
          <a:prstGeom prst="rect">
            <a:avLst/>
          </a:prstGeom>
          <a:noFill/>
        </p:spPr>
        <p:txBody>
          <a:bodyPr wrap="square">
            <a:spAutoFit/>
          </a:bodyPr>
          <a:lstStyle/>
          <a:p>
            <a:pPr algn="ctr"/>
            <a:r>
              <a:rPr lang="en-US" altLang="ja-JP" sz="1050" dirty="0">
                <a:solidFill>
                  <a:srgbClr val="FF0000"/>
                </a:solidFill>
                <a:latin typeface="メイリオ" panose="020B0604030504040204" pitchFamily="50" charset="-128"/>
                <a:ea typeface="メイリオ" panose="020B0604030504040204" pitchFamily="50" charset="-128"/>
              </a:rPr>
              <a:t>※</a:t>
            </a:r>
            <a:r>
              <a:rPr lang="ja-JP" altLang="en-US" sz="1050" dirty="0">
                <a:solidFill>
                  <a:srgbClr val="FF0000"/>
                </a:solidFill>
                <a:latin typeface="メイリオ" panose="020B0604030504040204" pitchFamily="50" charset="-128"/>
                <a:ea typeface="メイリオ" panose="020B0604030504040204" pitchFamily="50" charset="-128"/>
              </a:rPr>
              <a:t>現状運用環境に合わせた成果報酬プランやコストカットの監修なども提示が可能です。</a:t>
            </a:r>
            <a:endParaRPr lang="ja-JP" altLang="en-US" sz="1200" dirty="0">
              <a:solidFill>
                <a:srgbClr val="FF0000"/>
              </a:solidFill>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91138102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0D8079-0D33-0F1A-6794-86CD36E2B42B}"/>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4B54CA7C-C9CE-3E1A-8C0B-D9DC3FFCBAE8}"/>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chemeClr val="bg1">
                    <a:lumMod val="65000"/>
                  </a:schemeClr>
                </a:solidFill>
                <a:latin typeface="メイリオ" panose="020B0604030504040204" pitchFamily="50" charset="-128"/>
                <a:ea typeface="メイリオ" panose="020B0604030504040204" pitchFamily="50" charset="-128"/>
                <a:cs typeface="Meiryo"/>
                <a:sym typeface="Meiryo"/>
              </a:rPr>
              <a:t>アジェンダ</a:t>
            </a:r>
          </a:p>
        </p:txBody>
      </p:sp>
      <p:sp>
        <p:nvSpPr>
          <p:cNvPr id="14" name="Google Shape;752;p28">
            <a:extLst>
              <a:ext uri="{FF2B5EF4-FFF2-40B4-BE49-F238E27FC236}">
                <a16:creationId xmlns:a16="http://schemas.microsoft.com/office/drawing/2014/main" id="{88CD823C-3E61-5E93-B9FE-BD623737FC13}"/>
              </a:ext>
            </a:extLst>
          </p:cNvPr>
          <p:cNvSpPr txBox="1"/>
          <p:nvPr/>
        </p:nvSpPr>
        <p:spPr>
          <a:xfrm>
            <a:off x="602223" y="1104688"/>
            <a:ext cx="1104657" cy="584735"/>
          </a:xfrm>
          <a:prstGeom prst="rect">
            <a:avLst/>
          </a:prstGeom>
          <a:noFill/>
          <a:ln>
            <a:noFill/>
          </a:ln>
        </p:spPr>
        <p:txBody>
          <a:bodyPr spcFirstLastPara="1" wrap="square" lIns="91425" tIns="45700" rIns="91425" bIns="45700" anchor="ctr" anchorCtr="0">
            <a:spAutoFit/>
          </a:bodyPr>
          <a:lstStyle/>
          <a:p>
            <a:pPr lvl="0"/>
            <a:r>
              <a:rPr lang="en-US" altLang="ja-JP" sz="3200" b="1" dirty="0">
                <a:solidFill>
                  <a:srgbClr val="323366"/>
                </a:solidFill>
                <a:latin typeface="メイリオ" panose="020B0604030504040204" pitchFamily="50" charset="-128"/>
                <a:ea typeface="メイリオ" panose="020B0604030504040204" pitchFamily="50" charset="-128"/>
                <a:cs typeface="Meiryo"/>
                <a:sym typeface="Meiryo"/>
              </a:rPr>
              <a:t>01</a:t>
            </a:r>
            <a:endParaRPr lang="ja-JP" altLang="en-US" sz="3200" b="1" dirty="0">
              <a:solidFill>
                <a:srgbClr val="323366"/>
              </a:solidFill>
              <a:latin typeface="メイリオ" panose="020B0604030504040204" pitchFamily="50" charset="-128"/>
              <a:ea typeface="メイリオ" panose="020B0604030504040204" pitchFamily="50" charset="-128"/>
              <a:cs typeface="Meiryo"/>
              <a:sym typeface="Meiryo"/>
            </a:endParaRPr>
          </a:p>
        </p:txBody>
      </p:sp>
      <p:sp>
        <p:nvSpPr>
          <p:cNvPr id="16" name="Google Shape;752;p28">
            <a:extLst>
              <a:ext uri="{FF2B5EF4-FFF2-40B4-BE49-F238E27FC236}">
                <a16:creationId xmlns:a16="http://schemas.microsoft.com/office/drawing/2014/main" id="{403775D4-CF2D-3023-3056-9E596BBE8648}"/>
              </a:ext>
            </a:extLst>
          </p:cNvPr>
          <p:cNvSpPr txBox="1"/>
          <p:nvPr/>
        </p:nvSpPr>
        <p:spPr>
          <a:xfrm>
            <a:off x="1867143" y="1043132"/>
            <a:ext cx="5028957" cy="707846"/>
          </a:xfrm>
          <a:prstGeom prst="rect">
            <a:avLst/>
          </a:prstGeom>
          <a:noFill/>
          <a:ln>
            <a:noFill/>
          </a:ln>
        </p:spPr>
        <p:txBody>
          <a:bodyPr spcFirstLastPara="1" wrap="square" lIns="91425" tIns="45700" rIns="91425" bIns="45700" anchor="ctr" anchorCtr="0">
            <a:spAutoFit/>
          </a:bodyPr>
          <a:lstStyle/>
          <a:p>
            <a:pPr lvl="0"/>
            <a:r>
              <a:rPr lang="ja-JP" altLang="en-US" sz="4000" b="1" dirty="0">
                <a:solidFill>
                  <a:schemeClr val="tx1">
                    <a:lumMod val="65000"/>
                    <a:lumOff val="35000"/>
                  </a:schemeClr>
                </a:solidFill>
                <a:latin typeface="メイリオ" panose="020B0604030504040204" pitchFamily="50" charset="-128"/>
                <a:ea typeface="メイリオ" panose="020B0604030504040204" pitchFamily="50" charset="-128"/>
                <a:cs typeface="Meiryo"/>
                <a:sym typeface="Meiryo"/>
              </a:rPr>
              <a:t>施策背景</a:t>
            </a:r>
          </a:p>
        </p:txBody>
      </p:sp>
      <p:cxnSp>
        <p:nvCxnSpPr>
          <p:cNvPr id="17" name="直線コネクタ 16">
            <a:extLst>
              <a:ext uri="{FF2B5EF4-FFF2-40B4-BE49-F238E27FC236}">
                <a16:creationId xmlns:a16="http://schemas.microsoft.com/office/drawing/2014/main" id="{24E0D700-8F0C-AA59-0C53-7B51F6E65BAA}"/>
              </a:ext>
            </a:extLst>
          </p:cNvPr>
          <p:cNvCxnSpPr>
            <a:cxnSpLocks/>
          </p:cNvCxnSpPr>
          <p:nvPr/>
        </p:nvCxnSpPr>
        <p:spPr>
          <a:xfrm>
            <a:off x="608527" y="1681803"/>
            <a:ext cx="944805" cy="0"/>
          </a:xfrm>
          <a:prstGeom prst="line">
            <a:avLst/>
          </a:prstGeom>
          <a:ln w="57150">
            <a:solidFill>
              <a:srgbClr val="10253F"/>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7642642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A42436-AC50-73E1-6EBE-63A7C5BBF420}"/>
            </a:ext>
          </a:extLst>
        </p:cNvPr>
        <p:cNvGrpSpPr/>
        <p:nvPr/>
      </p:nvGrpSpPr>
      <p:grpSpPr>
        <a:xfrm>
          <a:off x="0" y="0"/>
          <a:ext cx="0" cy="0"/>
          <a:chOff x="0" y="0"/>
          <a:chExt cx="0" cy="0"/>
        </a:xfrm>
      </p:grpSpPr>
      <p:sp>
        <p:nvSpPr>
          <p:cNvPr id="58" name="正方形/長方形 57">
            <a:extLst>
              <a:ext uri="{FF2B5EF4-FFF2-40B4-BE49-F238E27FC236}">
                <a16:creationId xmlns:a16="http://schemas.microsoft.com/office/drawing/2014/main" id="{6C8986CB-406D-05C6-C63F-77B94833C597}"/>
              </a:ext>
            </a:extLst>
          </p:cNvPr>
          <p:cNvSpPr/>
          <p:nvPr/>
        </p:nvSpPr>
        <p:spPr>
          <a:xfrm>
            <a:off x="96788" y="1045811"/>
            <a:ext cx="1935768" cy="21878"/>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5" name="テキスト ボックス 4">
            <a:extLst>
              <a:ext uri="{FF2B5EF4-FFF2-40B4-BE49-F238E27FC236}">
                <a16:creationId xmlns:a16="http://schemas.microsoft.com/office/drawing/2014/main" id="{F31CD8C5-8C6B-79E9-DFB1-36686BF9F962}"/>
              </a:ext>
            </a:extLst>
          </p:cNvPr>
          <p:cNvSpPr txBox="1"/>
          <p:nvPr/>
        </p:nvSpPr>
        <p:spPr>
          <a:xfrm>
            <a:off x="96788" y="619405"/>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市況の変化</a:t>
            </a:r>
            <a:endParaRPr lang="ja-JP" altLang="en-US" sz="1100" dirty="0"/>
          </a:p>
        </p:txBody>
      </p:sp>
      <p:sp>
        <p:nvSpPr>
          <p:cNvPr id="7" name="テキスト ボックス 6">
            <a:extLst>
              <a:ext uri="{FF2B5EF4-FFF2-40B4-BE49-F238E27FC236}">
                <a16:creationId xmlns:a16="http://schemas.microsoft.com/office/drawing/2014/main" id="{0F9B49E5-148A-C9A5-79D8-759C503842CE}"/>
              </a:ext>
            </a:extLst>
          </p:cNvPr>
          <p:cNvSpPr txBox="1"/>
          <p:nvPr/>
        </p:nvSpPr>
        <p:spPr>
          <a:xfrm>
            <a:off x="96788" y="1202790"/>
            <a:ext cx="9687414" cy="307777"/>
          </a:xfrm>
          <a:prstGeom prst="rect">
            <a:avLst/>
          </a:prstGeom>
          <a:noFill/>
        </p:spPr>
        <p:txBody>
          <a:bodyPr wrap="square">
            <a:spAutoFit/>
          </a:bodyPr>
          <a:lstStyle/>
          <a:p>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市況の変化に伴い、リスト保有・マネタイズ・</a:t>
            </a:r>
            <a:r>
              <a:rPr lang="en-US" altLang="ja-JP"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LTV</a:t>
            </a:r>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の重要性は拡大している。</a:t>
            </a:r>
            <a:endParaRPr lang="ja-JP" altLang="en-US" sz="1000" dirty="0"/>
          </a:p>
        </p:txBody>
      </p:sp>
      <p:sp>
        <p:nvSpPr>
          <p:cNvPr id="9" name="テキスト ボックス 8">
            <a:extLst>
              <a:ext uri="{FF2B5EF4-FFF2-40B4-BE49-F238E27FC236}">
                <a16:creationId xmlns:a16="http://schemas.microsoft.com/office/drawing/2014/main" id="{E8BEF693-34F0-FCA3-0D13-025ADA077FA4}"/>
              </a:ext>
            </a:extLst>
          </p:cNvPr>
          <p:cNvSpPr txBox="1"/>
          <p:nvPr/>
        </p:nvSpPr>
        <p:spPr>
          <a:xfrm>
            <a:off x="460785" y="91159"/>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 前提調査</a:t>
            </a:r>
            <a:endParaRPr lang="ja-JP" altLang="en-US" sz="1100" dirty="0"/>
          </a:p>
        </p:txBody>
      </p:sp>
      <p:sp>
        <p:nvSpPr>
          <p:cNvPr id="11" name="正方形/長方形 10">
            <a:extLst>
              <a:ext uri="{FF2B5EF4-FFF2-40B4-BE49-F238E27FC236}">
                <a16:creationId xmlns:a16="http://schemas.microsoft.com/office/drawing/2014/main" id="{0F0E6BAB-8E00-CEF9-3F7F-B243C9622CE9}"/>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12" name="Rectangle 3">
            <a:extLst>
              <a:ext uri="{FF2B5EF4-FFF2-40B4-BE49-F238E27FC236}">
                <a16:creationId xmlns:a16="http://schemas.microsoft.com/office/drawing/2014/main" id="{AD99B47E-7A67-A20F-FA23-6FFE48B38289}"/>
              </a:ext>
            </a:extLst>
          </p:cNvPr>
          <p:cNvSpPr/>
          <p:nvPr/>
        </p:nvSpPr>
        <p:spPr>
          <a:xfrm>
            <a:off x="426720" y="1872996"/>
            <a:ext cx="155448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t"/>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300"/>
              </a:spcAft>
            </a:pPr>
            <a:r>
              <a:rPr sz="1100" b="1">
                <a:solidFill>
                  <a:srgbClr val="1F2A5C"/>
                </a:solidFill>
                <a:latin typeface="メイリオ" panose="020B0604030504040204" pitchFamily="50" charset="-128"/>
                <a:ea typeface="メイリオ" panose="020B0604030504040204" pitchFamily="50" charset="-128"/>
              </a:rPr>
              <a:t>変化</a:t>
            </a:r>
          </a:p>
        </p:txBody>
      </p:sp>
      <p:sp>
        <p:nvSpPr>
          <p:cNvPr id="13" name="Rectangle 4">
            <a:extLst>
              <a:ext uri="{FF2B5EF4-FFF2-40B4-BE49-F238E27FC236}">
                <a16:creationId xmlns:a16="http://schemas.microsoft.com/office/drawing/2014/main" id="{3E0DC48D-92CE-9229-ADC8-397327218608}"/>
              </a:ext>
            </a:extLst>
          </p:cNvPr>
          <p:cNvSpPr/>
          <p:nvPr/>
        </p:nvSpPr>
        <p:spPr>
          <a:xfrm>
            <a:off x="2118360" y="1872996"/>
            <a:ext cx="26517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t"/>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300"/>
              </a:spcAft>
            </a:pPr>
            <a:r>
              <a:rPr sz="1100" b="1">
                <a:solidFill>
                  <a:srgbClr val="1F2A5C"/>
                </a:solidFill>
                <a:latin typeface="メイリオ" panose="020B0604030504040204" pitchFamily="50" charset="-128"/>
                <a:ea typeface="メイリオ" panose="020B0604030504040204" pitchFamily="50" charset="-128"/>
              </a:rPr>
              <a:t>背景データ</a:t>
            </a:r>
          </a:p>
        </p:txBody>
      </p:sp>
      <p:sp>
        <p:nvSpPr>
          <p:cNvPr id="14" name="Rectangle 5">
            <a:extLst>
              <a:ext uri="{FF2B5EF4-FFF2-40B4-BE49-F238E27FC236}">
                <a16:creationId xmlns:a16="http://schemas.microsoft.com/office/drawing/2014/main" id="{E32730EA-2FDC-122D-34A0-22348B3965AF}"/>
              </a:ext>
            </a:extLst>
          </p:cNvPr>
          <p:cNvSpPr/>
          <p:nvPr/>
        </p:nvSpPr>
        <p:spPr>
          <a:xfrm>
            <a:off x="4907280" y="1872996"/>
            <a:ext cx="2011679"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t"/>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300"/>
              </a:spcAft>
            </a:pPr>
            <a:r>
              <a:rPr lang="ja-JP" altLang="en-US" sz="1100" b="1" dirty="0">
                <a:solidFill>
                  <a:srgbClr val="1F2A5C"/>
                </a:solidFill>
                <a:latin typeface="メイリオ" panose="020B0604030504040204" pitchFamily="50" charset="-128"/>
                <a:ea typeface="メイリオ" panose="020B0604030504040204" pitchFamily="50" charset="-128"/>
              </a:rPr>
              <a:t>マーケティング</a:t>
            </a:r>
            <a:r>
              <a:rPr sz="1100" b="1" dirty="0" err="1">
                <a:solidFill>
                  <a:srgbClr val="1F2A5C"/>
                </a:solidFill>
                <a:latin typeface="メイリオ" panose="020B0604030504040204" pitchFamily="50" charset="-128"/>
                <a:ea typeface="メイリオ" panose="020B0604030504040204" pitchFamily="50" charset="-128"/>
              </a:rPr>
              <a:t>への影響</a:t>
            </a:r>
            <a:endParaRPr sz="1100" b="1" dirty="0">
              <a:solidFill>
                <a:srgbClr val="1F2A5C"/>
              </a:solidFill>
              <a:latin typeface="メイリオ" panose="020B0604030504040204" pitchFamily="50" charset="-128"/>
              <a:ea typeface="メイリオ" panose="020B0604030504040204" pitchFamily="50" charset="-128"/>
            </a:endParaRPr>
          </a:p>
        </p:txBody>
      </p:sp>
      <p:sp>
        <p:nvSpPr>
          <p:cNvPr id="15" name="Rectangle 6">
            <a:extLst>
              <a:ext uri="{FF2B5EF4-FFF2-40B4-BE49-F238E27FC236}">
                <a16:creationId xmlns:a16="http://schemas.microsoft.com/office/drawing/2014/main" id="{E20F6A55-5A9A-17DC-163C-8353499D7D59}"/>
              </a:ext>
            </a:extLst>
          </p:cNvPr>
          <p:cNvSpPr/>
          <p:nvPr/>
        </p:nvSpPr>
        <p:spPr>
          <a:xfrm>
            <a:off x="7056120" y="1872996"/>
            <a:ext cx="24231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t"/>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300"/>
              </a:spcAft>
            </a:pPr>
            <a:r>
              <a:rPr sz="1100" b="1">
                <a:solidFill>
                  <a:srgbClr val="C8102E"/>
                </a:solidFill>
                <a:latin typeface="メイリオ" panose="020B0604030504040204" pitchFamily="50" charset="-128"/>
                <a:ea typeface="メイリオ" panose="020B0604030504040204" pitchFamily="50" charset="-128"/>
              </a:rPr>
              <a:t>LINE OAでの対応</a:t>
            </a:r>
          </a:p>
        </p:txBody>
      </p:sp>
      <p:sp>
        <p:nvSpPr>
          <p:cNvPr id="16" name="Rectangle 7">
            <a:extLst>
              <a:ext uri="{FF2B5EF4-FFF2-40B4-BE49-F238E27FC236}">
                <a16:creationId xmlns:a16="http://schemas.microsoft.com/office/drawing/2014/main" id="{5C785CCD-8743-8281-EE42-652E7CC6C711}"/>
              </a:ext>
            </a:extLst>
          </p:cNvPr>
          <p:cNvSpPr/>
          <p:nvPr/>
        </p:nvSpPr>
        <p:spPr>
          <a:xfrm>
            <a:off x="381000" y="2193036"/>
            <a:ext cx="1600200" cy="978408"/>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36576" rIns="109728"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200"/>
              </a:spcAft>
            </a:pPr>
            <a:r>
              <a:rPr sz="1800" b="1">
                <a:solidFill>
                  <a:srgbClr val="FFFFFF"/>
                </a:solidFill>
                <a:latin typeface="メイリオ" panose="020B0604030504040204" pitchFamily="50" charset="-128"/>
                <a:ea typeface="メイリオ" panose="020B0604030504040204" pitchFamily="50" charset="-128"/>
              </a:rPr>
              <a:t>①</a:t>
            </a:r>
          </a:p>
          <a:p>
            <a:pPr algn="l">
              <a:spcAft>
                <a:spcPts val="300"/>
              </a:spcAft>
            </a:pPr>
            <a:r>
              <a:rPr sz="1200" b="1">
                <a:solidFill>
                  <a:srgbClr val="FFFFFF"/>
                </a:solidFill>
                <a:latin typeface="メイリオ" panose="020B0604030504040204" pitchFamily="50" charset="-128"/>
                <a:ea typeface="メイリオ" panose="020B0604030504040204" pitchFamily="50" charset="-128"/>
              </a:rPr>
              <a:t>広告接点の早期化</a:t>
            </a:r>
          </a:p>
        </p:txBody>
      </p:sp>
      <p:sp>
        <p:nvSpPr>
          <p:cNvPr id="17" name="Rectangle 8">
            <a:extLst>
              <a:ext uri="{FF2B5EF4-FFF2-40B4-BE49-F238E27FC236}">
                <a16:creationId xmlns:a16="http://schemas.microsoft.com/office/drawing/2014/main" id="{51B35245-DA01-007C-B2BF-E2F0A67DC3C4}"/>
              </a:ext>
            </a:extLst>
          </p:cNvPr>
          <p:cNvSpPr/>
          <p:nvPr/>
        </p:nvSpPr>
        <p:spPr>
          <a:xfrm>
            <a:off x="2072640" y="2193036"/>
            <a:ext cx="2697480" cy="978408"/>
          </a:xfrm>
          <a:prstGeom prst="rect">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36576" rIns="109728"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100"/>
              </a:spcAft>
            </a:pPr>
            <a:r>
              <a:rPr sz="1800" b="1" dirty="0">
                <a:solidFill>
                  <a:srgbClr val="1F2A5C"/>
                </a:solidFill>
                <a:latin typeface="メイリオ" panose="020B0604030504040204" pitchFamily="50" charset="-128"/>
                <a:ea typeface="メイリオ" panose="020B0604030504040204" pitchFamily="50" charset="-128"/>
              </a:rPr>
              <a:t>7,249億円</a:t>
            </a:r>
          </a:p>
          <a:p>
            <a:pPr algn="l">
              <a:spcAft>
                <a:spcPts val="300"/>
              </a:spcAft>
            </a:pPr>
            <a:r>
              <a:rPr sz="950" b="0" dirty="0">
                <a:solidFill>
                  <a:srgbClr val="777777"/>
                </a:solidFill>
                <a:latin typeface="メイリオ" panose="020B0604030504040204" pitchFamily="50" charset="-128"/>
                <a:ea typeface="メイリオ" panose="020B0604030504040204" pitchFamily="50" charset="-128"/>
              </a:rPr>
              <a:t>動画広告市場（2024年・前年比115.9%）。</a:t>
            </a:r>
            <a:r>
              <a:rPr sz="950" b="1" dirty="0">
                <a:solidFill>
                  <a:srgbClr val="777777"/>
                </a:solidFill>
                <a:latin typeface="メイリオ" panose="020B0604030504040204" pitchFamily="50" charset="-128"/>
                <a:ea typeface="メイリオ" panose="020B0604030504040204" pitchFamily="50" charset="-128"/>
              </a:rPr>
              <a:t>縦型動画は前年比171.1%</a:t>
            </a:r>
          </a:p>
        </p:txBody>
      </p:sp>
      <p:sp>
        <p:nvSpPr>
          <p:cNvPr id="18" name="Rectangle 9">
            <a:extLst>
              <a:ext uri="{FF2B5EF4-FFF2-40B4-BE49-F238E27FC236}">
                <a16:creationId xmlns:a16="http://schemas.microsoft.com/office/drawing/2014/main" id="{8A01196A-31FA-AA2D-83D7-5C664ABF1B2A}"/>
              </a:ext>
            </a:extLst>
          </p:cNvPr>
          <p:cNvSpPr/>
          <p:nvPr/>
        </p:nvSpPr>
        <p:spPr>
          <a:xfrm>
            <a:off x="4861560" y="2193036"/>
            <a:ext cx="2057400" cy="978408"/>
          </a:xfrm>
          <a:prstGeom prst="rect">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36576" rIns="109728"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300"/>
              </a:spcAft>
            </a:pPr>
            <a:r>
              <a:rPr sz="1000" b="0" dirty="0" err="1">
                <a:solidFill>
                  <a:srgbClr val="333333"/>
                </a:solidFill>
                <a:latin typeface="メイリオ" panose="020B0604030504040204" pitchFamily="50" charset="-128"/>
                <a:ea typeface="メイリオ" panose="020B0604030504040204" pitchFamily="50" charset="-128"/>
              </a:rPr>
              <a:t>購入前の接触が増え</a:t>
            </a:r>
            <a:r>
              <a:rPr sz="1000" b="0" dirty="0">
                <a:solidFill>
                  <a:srgbClr val="333333"/>
                </a:solidFill>
                <a:latin typeface="メイリオ" panose="020B0604030504040204" pitchFamily="50" charset="-128"/>
                <a:ea typeface="メイリオ" panose="020B0604030504040204" pitchFamily="50" charset="-128"/>
              </a:rPr>
              <a:t>、</a:t>
            </a:r>
            <a:endParaRPr lang="en-US" sz="1000" b="0" dirty="0">
              <a:solidFill>
                <a:srgbClr val="333333"/>
              </a:solidFill>
              <a:latin typeface="メイリオ" panose="020B0604030504040204" pitchFamily="50" charset="-128"/>
              <a:ea typeface="メイリオ" panose="020B0604030504040204" pitchFamily="50" charset="-128"/>
            </a:endParaRPr>
          </a:p>
          <a:p>
            <a:pPr algn="l">
              <a:spcAft>
                <a:spcPts val="300"/>
              </a:spcAft>
            </a:pPr>
            <a:r>
              <a:rPr sz="1000" b="0" dirty="0" err="1">
                <a:solidFill>
                  <a:srgbClr val="333333"/>
                </a:solidFill>
                <a:latin typeface="メイリオ" panose="020B0604030504040204" pitchFamily="50" charset="-128"/>
                <a:ea typeface="メイリオ" panose="020B0604030504040204" pitchFamily="50" charset="-128"/>
              </a:rPr>
              <a:t>CVだけで接点の価値が見えない</a:t>
            </a:r>
            <a:endParaRPr sz="1000" b="0" dirty="0">
              <a:solidFill>
                <a:srgbClr val="333333"/>
              </a:solidFill>
              <a:latin typeface="メイリオ" panose="020B0604030504040204" pitchFamily="50" charset="-128"/>
              <a:ea typeface="メイリオ" panose="020B0604030504040204" pitchFamily="50" charset="-128"/>
            </a:endParaRPr>
          </a:p>
        </p:txBody>
      </p:sp>
      <p:sp>
        <p:nvSpPr>
          <p:cNvPr id="19" name="Rectangle 10">
            <a:extLst>
              <a:ext uri="{FF2B5EF4-FFF2-40B4-BE49-F238E27FC236}">
                <a16:creationId xmlns:a16="http://schemas.microsoft.com/office/drawing/2014/main" id="{CA8C05AB-C62C-76A1-00F4-F4DE182A4C8A}"/>
              </a:ext>
            </a:extLst>
          </p:cNvPr>
          <p:cNvSpPr/>
          <p:nvPr/>
        </p:nvSpPr>
        <p:spPr>
          <a:xfrm>
            <a:off x="7010400" y="2193036"/>
            <a:ext cx="2514600" cy="978408"/>
          </a:xfrm>
          <a:prstGeom prst="rect">
            <a:avLst/>
          </a:prstGeom>
          <a:solidFill>
            <a:srgbClr val="E4EAF6"/>
          </a:solidFill>
          <a:ln w="12700">
            <a:solidFill>
              <a:srgbClr val="C8102E"/>
            </a:solidFill>
          </a:ln>
          <a:effectLst/>
        </p:spPr>
        <p:style>
          <a:lnRef idx="1">
            <a:schemeClr val="accent1"/>
          </a:lnRef>
          <a:fillRef idx="3">
            <a:schemeClr val="accent1"/>
          </a:fillRef>
          <a:effectRef idx="2">
            <a:schemeClr val="accent1"/>
          </a:effectRef>
          <a:fontRef idx="minor">
            <a:schemeClr val="lt1"/>
          </a:fontRef>
        </p:style>
        <p:txBody>
          <a:bodyPr wrap="square" lIns="128016" tIns="36576" rIns="128016"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300"/>
              </a:spcAft>
            </a:pPr>
            <a:r>
              <a:rPr sz="1150" b="1" dirty="0" err="1">
                <a:solidFill>
                  <a:srgbClr val="1F2A5C"/>
                </a:solidFill>
                <a:latin typeface="メイリオ" panose="020B0604030504040204" pitchFamily="50" charset="-128"/>
                <a:ea typeface="メイリオ" panose="020B0604030504040204" pitchFamily="50" charset="-128"/>
              </a:rPr>
              <a:t>CV前に友だち化し</a:t>
            </a:r>
            <a:r>
              <a:rPr sz="1150" b="1" dirty="0">
                <a:solidFill>
                  <a:srgbClr val="1F2A5C"/>
                </a:solidFill>
                <a:latin typeface="メイリオ" panose="020B0604030504040204" pitchFamily="50" charset="-128"/>
                <a:ea typeface="メイリオ" panose="020B0604030504040204" pitchFamily="50" charset="-128"/>
              </a:rPr>
              <a:t>、</a:t>
            </a:r>
            <a:endParaRPr lang="en-US" sz="1150" b="1" dirty="0">
              <a:solidFill>
                <a:srgbClr val="1F2A5C"/>
              </a:solidFill>
              <a:latin typeface="メイリオ" panose="020B0604030504040204" pitchFamily="50" charset="-128"/>
              <a:ea typeface="メイリオ" panose="020B0604030504040204" pitchFamily="50" charset="-128"/>
            </a:endParaRPr>
          </a:p>
          <a:p>
            <a:pPr algn="l">
              <a:spcAft>
                <a:spcPts val="300"/>
              </a:spcAft>
            </a:pPr>
            <a:r>
              <a:rPr sz="1150" b="1" dirty="0" err="1">
                <a:solidFill>
                  <a:srgbClr val="1F2A5C"/>
                </a:solidFill>
                <a:latin typeface="メイリオ" panose="020B0604030504040204" pitchFamily="50" charset="-128"/>
                <a:ea typeface="メイリオ" panose="020B0604030504040204" pitchFamily="50" charset="-128"/>
              </a:rPr>
              <a:t>検討中も接点を維持する</a:t>
            </a:r>
            <a:endParaRPr sz="1150" b="1" dirty="0">
              <a:solidFill>
                <a:srgbClr val="1F2A5C"/>
              </a:solidFill>
              <a:latin typeface="メイリオ" panose="020B0604030504040204" pitchFamily="50" charset="-128"/>
              <a:ea typeface="メイリオ" panose="020B0604030504040204" pitchFamily="50" charset="-128"/>
            </a:endParaRPr>
          </a:p>
        </p:txBody>
      </p:sp>
      <p:sp>
        <p:nvSpPr>
          <p:cNvPr id="20" name="Rectangle 11">
            <a:extLst>
              <a:ext uri="{FF2B5EF4-FFF2-40B4-BE49-F238E27FC236}">
                <a16:creationId xmlns:a16="http://schemas.microsoft.com/office/drawing/2014/main" id="{A17D7EF3-1AC3-4FC4-0524-407D9564A31C}"/>
              </a:ext>
            </a:extLst>
          </p:cNvPr>
          <p:cNvSpPr/>
          <p:nvPr/>
        </p:nvSpPr>
        <p:spPr>
          <a:xfrm>
            <a:off x="381000" y="3244596"/>
            <a:ext cx="1600200" cy="978408"/>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36576" rIns="109728"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200"/>
              </a:spcAft>
            </a:pPr>
            <a:r>
              <a:rPr sz="1800" b="1">
                <a:solidFill>
                  <a:srgbClr val="FFFFFF"/>
                </a:solidFill>
                <a:latin typeface="メイリオ" panose="020B0604030504040204" pitchFamily="50" charset="-128"/>
                <a:ea typeface="メイリオ" panose="020B0604030504040204" pitchFamily="50" charset="-128"/>
              </a:rPr>
              <a:t>②</a:t>
            </a:r>
          </a:p>
          <a:p>
            <a:pPr algn="l">
              <a:spcAft>
                <a:spcPts val="300"/>
              </a:spcAft>
            </a:pPr>
            <a:r>
              <a:rPr sz="1200" b="1">
                <a:solidFill>
                  <a:srgbClr val="FFFFFF"/>
                </a:solidFill>
                <a:latin typeface="メイリオ" panose="020B0604030504040204" pitchFamily="50" charset="-128"/>
                <a:ea typeface="メイリオ" panose="020B0604030504040204" pitchFamily="50" charset="-128"/>
              </a:rPr>
              <a:t>CPCの高騰</a:t>
            </a:r>
          </a:p>
        </p:txBody>
      </p:sp>
      <p:sp>
        <p:nvSpPr>
          <p:cNvPr id="21" name="Rectangle 12">
            <a:extLst>
              <a:ext uri="{FF2B5EF4-FFF2-40B4-BE49-F238E27FC236}">
                <a16:creationId xmlns:a16="http://schemas.microsoft.com/office/drawing/2014/main" id="{9C9A8D6A-35C3-09FD-E00C-AF890038B7F2}"/>
              </a:ext>
            </a:extLst>
          </p:cNvPr>
          <p:cNvSpPr/>
          <p:nvPr/>
        </p:nvSpPr>
        <p:spPr>
          <a:xfrm>
            <a:off x="2072640" y="3244596"/>
            <a:ext cx="2697480" cy="978408"/>
          </a:xfrm>
          <a:prstGeom prst="rect">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36576" rIns="109728"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100"/>
              </a:spcAft>
            </a:pPr>
            <a:r>
              <a:rPr sz="1800" b="1" dirty="0">
                <a:solidFill>
                  <a:srgbClr val="1F2A5C"/>
                </a:solidFill>
                <a:latin typeface="メイリオ" panose="020B0604030504040204" pitchFamily="50" charset="-128"/>
                <a:ea typeface="メイリオ" panose="020B0604030504040204" pitchFamily="50" charset="-128"/>
              </a:rPr>
              <a:t>1兆1,931億円</a:t>
            </a:r>
          </a:p>
          <a:p>
            <a:pPr algn="l">
              <a:spcAft>
                <a:spcPts val="300"/>
              </a:spcAft>
            </a:pPr>
            <a:r>
              <a:rPr sz="950" b="0" dirty="0">
                <a:solidFill>
                  <a:srgbClr val="777777"/>
                </a:solidFill>
                <a:latin typeface="メイリオ" panose="020B0604030504040204" pitchFamily="50" charset="-128"/>
                <a:ea typeface="メイリオ" panose="020B0604030504040204" pitchFamily="50" charset="-128"/>
              </a:rPr>
              <a:t>検索連動型広告（前年比111.2%）。ネット広告媒体費は2兆9,611億円</a:t>
            </a:r>
          </a:p>
        </p:txBody>
      </p:sp>
      <p:sp>
        <p:nvSpPr>
          <p:cNvPr id="22" name="Rectangle 13">
            <a:extLst>
              <a:ext uri="{FF2B5EF4-FFF2-40B4-BE49-F238E27FC236}">
                <a16:creationId xmlns:a16="http://schemas.microsoft.com/office/drawing/2014/main" id="{45BA9884-66A6-4B9C-6CA2-F04CF341DAAF}"/>
              </a:ext>
            </a:extLst>
          </p:cNvPr>
          <p:cNvSpPr/>
          <p:nvPr/>
        </p:nvSpPr>
        <p:spPr>
          <a:xfrm>
            <a:off x="4861560" y="3244596"/>
            <a:ext cx="2057400" cy="978408"/>
          </a:xfrm>
          <a:prstGeom prst="rect">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36576" rIns="109728"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300"/>
              </a:spcAft>
            </a:pPr>
            <a:r>
              <a:rPr sz="1000" b="0" dirty="0" err="1">
                <a:solidFill>
                  <a:srgbClr val="333333"/>
                </a:solidFill>
                <a:latin typeface="メイリオ" panose="020B0604030504040204" pitchFamily="50" charset="-128"/>
                <a:ea typeface="メイリオ" panose="020B0604030504040204" pitchFamily="50" charset="-128"/>
              </a:rPr>
              <a:t>入札競争が続き、離脱した</a:t>
            </a:r>
            <a:endParaRPr lang="en-US" sz="1000" b="0" dirty="0">
              <a:solidFill>
                <a:srgbClr val="333333"/>
              </a:solidFill>
              <a:latin typeface="メイリオ" panose="020B0604030504040204" pitchFamily="50" charset="-128"/>
              <a:ea typeface="メイリオ" panose="020B0604030504040204" pitchFamily="50" charset="-128"/>
            </a:endParaRPr>
          </a:p>
          <a:p>
            <a:pPr algn="l">
              <a:spcAft>
                <a:spcPts val="300"/>
              </a:spcAft>
            </a:pPr>
            <a:r>
              <a:rPr sz="1000" b="0" dirty="0" err="1">
                <a:solidFill>
                  <a:srgbClr val="333333"/>
                </a:solidFill>
                <a:latin typeface="メイリオ" panose="020B0604030504040204" pitchFamily="50" charset="-128"/>
                <a:ea typeface="メイリオ" panose="020B0604030504040204" pitchFamily="50" charset="-128"/>
              </a:rPr>
              <a:t>流入の広告費が回収できない</a:t>
            </a:r>
            <a:endParaRPr lang="en-US" sz="1000" b="0" dirty="0">
              <a:solidFill>
                <a:srgbClr val="333333"/>
              </a:solidFill>
              <a:latin typeface="メイリオ" panose="020B0604030504040204" pitchFamily="50" charset="-128"/>
              <a:ea typeface="メイリオ" panose="020B0604030504040204" pitchFamily="50" charset="-128"/>
            </a:endParaRPr>
          </a:p>
          <a:p>
            <a:pPr algn="l">
              <a:spcAft>
                <a:spcPts val="300"/>
              </a:spcAft>
            </a:pPr>
            <a:r>
              <a:rPr lang="en-US" altLang="ja-JP" sz="1000" b="1" dirty="0">
                <a:solidFill>
                  <a:srgbClr val="333333"/>
                </a:solidFill>
                <a:latin typeface="メイリオ" panose="020B0604030504040204" pitchFamily="50" charset="-128"/>
                <a:ea typeface="メイリオ" panose="020B0604030504040204" pitchFamily="50" charset="-128"/>
              </a:rPr>
              <a:t>3</a:t>
            </a:r>
            <a:r>
              <a:rPr lang="ja-JP" altLang="en-US" sz="1000" b="1" dirty="0">
                <a:solidFill>
                  <a:srgbClr val="333333"/>
                </a:solidFill>
                <a:latin typeface="メイリオ" panose="020B0604030504040204" pitchFamily="50" charset="-128"/>
                <a:ea typeface="メイリオ" panose="020B0604030504040204" pitchFamily="50" charset="-128"/>
              </a:rPr>
              <a:t>年前比：</a:t>
            </a:r>
            <a:r>
              <a:rPr lang="en-US" altLang="ja-JP" sz="1000" b="1" dirty="0">
                <a:solidFill>
                  <a:srgbClr val="333333"/>
                </a:solidFill>
                <a:latin typeface="メイリオ" panose="020B0604030504040204" pitchFamily="50" charset="-128"/>
                <a:ea typeface="メイリオ" panose="020B0604030504040204" pitchFamily="50" charset="-128"/>
              </a:rPr>
              <a:t>32%</a:t>
            </a:r>
            <a:r>
              <a:rPr lang="ja-JP" altLang="en-US" sz="1000" b="1" dirty="0">
                <a:solidFill>
                  <a:srgbClr val="333333"/>
                </a:solidFill>
                <a:latin typeface="メイリオ" panose="020B0604030504040204" pitchFamily="50" charset="-128"/>
                <a:ea typeface="メイリオ" panose="020B0604030504040204" pitchFamily="50" charset="-128"/>
              </a:rPr>
              <a:t>程度増</a:t>
            </a:r>
            <a:endParaRPr sz="1000" b="1" dirty="0">
              <a:solidFill>
                <a:srgbClr val="333333"/>
              </a:solidFill>
              <a:latin typeface="メイリオ" panose="020B0604030504040204" pitchFamily="50" charset="-128"/>
              <a:ea typeface="メイリオ" panose="020B0604030504040204" pitchFamily="50" charset="-128"/>
            </a:endParaRPr>
          </a:p>
        </p:txBody>
      </p:sp>
      <p:sp>
        <p:nvSpPr>
          <p:cNvPr id="23" name="Rectangle 14">
            <a:extLst>
              <a:ext uri="{FF2B5EF4-FFF2-40B4-BE49-F238E27FC236}">
                <a16:creationId xmlns:a16="http://schemas.microsoft.com/office/drawing/2014/main" id="{0F279B57-A5CD-5ABE-1169-BA1B16859218}"/>
              </a:ext>
            </a:extLst>
          </p:cNvPr>
          <p:cNvSpPr/>
          <p:nvPr/>
        </p:nvSpPr>
        <p:spPr>
          <a:xfrm>
            <a:off x="7010400" y="3244596"/>
            <a:ext cx="2514600" cy="978408"/>
          </a:xfrm>
          <a:prstGeom prst="rect">
            <a:avLst/>
          </a:prstGeom>
          <a:solidFill>
            <a:srgbClr val="E4EAF6"/>
          </a:solidFill>
          <a:ln w="12700">
            <a:solidFill>
              <a:srgbClr val="C8102E"/>
            </a:solidFill>
          </a:ln>
          <a:effectLst/>
        </p:spPr>
        <p:style>
          <a:lnRef idx="1">
            <a:schemeClr val="accent1"/>
          </a:lnRef>
          <a:fillRef idx="3">
            <a:schemeClr val="accent1"/>
          </a:fillRef>
          <a:effectRef idx="2">
            <a:schemeClr val="accent1"/>
          </a:effectRef>
          <a:fontRef idx="minor">
            <a:schemeClr val="lt1"/>
          </a:fontRef>
        </p:style>
        <p:txBody>
          <a:bodyPr wrap="square" lIns="128016" tIns="36576" rIns="128016"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300"/>
              </a:spcAft>
            </a:pPr>
            <a:r>
              <a:rPr sz="1150" b="1" dirty="0" err="1">
                <a:solidFill>
                  <a:srgbClr val="1F2A5C"/>
                </a:solidFill>
                <a:latin typeface="メイリオ" panose="020B0604030504040204" pitchFamily="50" charset="-128"/>
                <a:ea typeface="メイリオ" panose="020B0604030504040204" pitchFamily="50" charset="-128"/>
              </a:rPr>
              <a:t>離脱後も友だち化し</a:t>
            </a:r>
            <a:r>
              <a:rPr sz="1150" b="1" dirty="0">
                <a:solidFill>
                  <a:srgbClr val="1F2A5C"/>
                </a:solidFill>
                <a:latin typeface="メイリオ" panose="020B0604030504040204" pitchFamily="50" charset="-128"/>
                <a:ea typeface="メイリオ" panose="020B0604030504040204" pitchFamily="50" charset="-128"/>
              </a:rPr>
              <a:t>、</a:t>
            </a:r>
            <a:endParaRPr lang="en-US" sz="1150" b="1" dirty="0">
              <a:solidFill>
                <a:srgbClr val="1F2A5C"/>
              </a:solidFill>
              <a:latin typeface="メイリオ" panose="020B0604030504040204" pitchFamily="50" charset="-128"/>
              <a:ea typeface="メイリオ" panose="020B0604030504040204" pitchFamily="50" charset="-128"/>
            </a:endParaRPr>
          </a:p>
          <a:p>
            <a:pPr algn="l">
              <a:spcAft>
                <a:spcPts val="300"/>
              </a:spcAft>
            </a:pPr>
            <a:r>
              <a:rPr lang="ja-JP" altLang="en-US" sz="1150" b="1" dirty="0">
                <a:solidFill>
                  <a:srgbClr val="FF0000"/>
                </a:solidFill>
                <a:latin typeface="メイリオ" panose="020B0604030504040204" pitchFamily="50" charset="-128"/>
                <a:ea typeface="メイリオ" panose="020B0604030504040204" pitchFamily="50" charset="-128"/>
              </a:rPr>
              <a:t>セグメント配信</a:t>
            </a:r>
            <a:r>
              <a:rPr lang="ja-JP" altLang="en-US" sz="1150" b="1" dirty="0">
                <a:solidFill>
                  <a:srgbClr val="1F2A5C"/>
                </a:solidFill>
                <a:latin typeface="メイリオ" panose="020B0604030504040204" pitchFamily="50" charset="-128"/>
                <a:ea typeface="メイリオ" panose="020B0604030504040204" pitchFamily="50" charset="-128"/>
              </a:rPr>
              <a:t>で</a:t>
            </a:r>
            <a:r>
              <a:rPr sz="1150" b="1" dirty="0" err="1">
                <a:solidFill>
                  <a:srgbClr val="1F2A5C"/>
                </a:solidFill>
                <a:latin typeface="メイリオ" panose="020B0604030504040204" pitchFamily="50" charset="-128"/>
                <a:ea typeface="メイリオ" panose="020B0604030504040204" pitchFamily="50" charset="-128"/>
              </a:rPr>
              <a:t>CV回収する</a:t>
            </a:r>
            <a:endParaRPr sz="1150" b="1" dirty="0">
              <a:solidFill>
                <a:srgbClr val="1F2A5C"/>
              </a:solidFill>
              <a:latin typeface="メイリオ" panose="020B0604030504040204" pitchFamily="50" charset="-128"/>
              <a:ea typeface="メイリオ" panose="020B0604030504040204" pitchFamily="50" charset="-128"/>
            </a:endParaRPr>
          </a:p>
        </p:txBody>
      </p:sp>
      <p:sp>
        <p:nvSpPr>
          <p:cNvPr id="24" name="Rectangle 15">
            <a:extLst>
              <a:ext uri="{FF2B5EF4-FFF2-40B4-BE49-F238E27FC236}">
                <a16:creationId xmlns:a16="http://schemas.microsoft.com/office/drawing/2014/main" id="{63F6C682-E819-BB1D-789F-194C9870942B}"/>
              </a:ext>
            </a:extLst>
          </p:cNvPr>
          <p:cNvSpPr/>
          <p:nvPr/>
        </p:nvSpPr>
        <p:spPr>
          <a:xfrm>
            <a:off x="381000" y="4296156"/>
            <a:ext cx="1600200" cy="978408"/>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36576" rIns="109728"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200"/>
              </a:spcAft>
            </a:pPr>
            <a:r>
              <a:rPr sz="1800" b="1">
                <a:solidFill>
                  <a:srgbClr val="FFFFFF"/>
                </a:solidFill>
                <a:latin typeface="メイリオ" panose="020B0604030504040204" pitchFamily="50" charset="-128"/>
                <a:ea typeface="メイリオ" panose="020B0604030504040204" pitchFamily="50" charset="-128"/>
              </a:rPr>
              <a:t>③</a:t>
            </a:r>
          </a:p>
          <a:p>
            <a:pPr algn="l">
              <a:spcAft>
                <a:spcPts val="300"/>
              </a:spcAft>
            </a:pPr>
            <a:r>
              <a:rPr sz="1200" b="1">
                <a:solidFill>
                  <a:srgbClr val="FFFFFF"/>
                </a:solidFill>
                <a:latin typeface="メイリオ" panose="020B0604030504040204" pitchFamily="50" charset="-128"/>
                <a:ea typeface="メイリオ" panose="020B0604030504040204" pitchFamily="50" charset="-128"/>
              </a:rPr>
              <a:t>リマケリストの難化</a:t>
            </a:r>
          </a:p>
        </p:txBody>
      </p:sp>
      <p:sp>
        <p:nvSpPr>
          <p:cNvPr id="25" name="Rectangle 16">
            <a:extLst>
              <a:ext uri="{FF2B5EF4-FFF2-40B4-BE49-F238E27FC236}">
                <a16:creationId xmlns:a16="http://schemas.microsoft.com/office/drawing/2014/main" id="{CE444CC6-8444-A56B-53F6-34549AA5E5D5}"/>
              </a:ext>
            </a:extLst>
          </p:cNvPr>
          <p:cNvSpPr/>
          <p:nvPr/>
        </p:nvSpPr>
        <p:spPr>
          <a:xfrm>
            <a:off x="2072640" y="4296156"/>
            <a:ext cx="2697480" cy="978408"/>
          </a:xfrm>
          <a:prstGeom prst="rect">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36576" rIns="109728"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100"/>
              </a:spcAft>
            </a:pPr>
            <a:r>
              <a:rPr sz="1800" b="1" dirty="0">
                <a:solidFill>
                  <a:srgbClr val="1F2A5C"/>
                </a:solidFill>
                <a:latin typeface="メイリオ" panose="020B0604030504040204" pitchFamily="50" charset="-128"/>
                <a:ea typeface="メイリオ" panose="020B0604030504040204" pitchFamily="50" charset="-128"/>
              </a:rPr>
              <a:t>7日／24時間</a:t>
            </a:r>
          </a:p>
          <a:p>
            <a:pPr algn="l">
              <a:spcAft>
                <a:spcPts val="300"/>
              </a:spcAft>
            </a:pPr>
            <a:r>
              <a:rPr sz="950" b="0" dirty="0">
                <a:solidFill>
                  <a:srgbClr val="777777"/>
                </a:solidFill>
                <a:latin typeface="メイリオ" panose="020B0604030504040204" pitchFamily="50" charset="-128"/>
                <a:ea typeface="メイリオ" panose="020B0604030504040204" pitchFamily="50" charset="-128"/>
              </a:rPr>
              <a:t>Safariの保持期間上限（2022年秋〜）。2020年に全面ブロック、法改正で同意・通知も必要</a:t>
            </a:r>
          </a:p>
        </p:txBody>
      </p:sp>
      <p:sp>
        <p:nvSpPr>
          <p:cNvPr id="26" name="Rectangle 17">
            <a:extLst>
              <a:ext uri="{FF2B5EF4-FFF2-40B4-BE49-F238E27FC236}">
                <a16:creationId xmlns:a16="http://schemas.microsoft.com/office/drawing/2014/main" id="{A35C0F42-C61B-5793-966E-BE564AA54CFB}"/>
              </a:ext>
            </a:extLst>
          </p:cNvPr>
          <p:cNvSpPr/>
          <p:nvPr/>
        </p:nvSpPr>
        <p:spPr>
          <a:xfrm>
            <a:off x="4861560" y="4296156"/>
            <a:ext cx="2057400" cy="978408"/>
          </a:xfrm>
          <a:prstGeom prst="rect">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36576" rIns="109728"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300"/>
              </a:spcAft>
            </a:pPr>
            <a:r>
              <a:rPr sz="1000" b="0">
                <a:solidFill>
                  <a:srgbClr val="333333"/>
                </a:solidFill>
                <a:latin typeface="メイリオ" panose="020B0604030504040204" pitchFamily="50" charset="-128"/>
                <a:ea typeface="メイリオ" panose="020B0604030504040204" pitchFamily="50" charset="-128"/>
              </a:rPr>
              <a:t>再訪問者リストを長く持てない</a:t>
            </a:r>
          </a:p>
        </p:txBody>
      </p:sp>
      <p:sp>
        <p:nvSpPr>
          <p:cNvPr id="27" name="Rectangle 18">
            <a:extLst>
              <a:ext uri="{FF2B5EF4-FFF2-40B4-BE49-F238E27FC236}">
                <a16:creationId xmlns:a16="http://schemas.microsoft.com/office/drawing/2014/main" id="{DF93DF39-4FD7-9BA0-BEEB-470FA702AFD7}"/>
              </a:ext>
            </a:extLst>
          </p:cNvPr>
          <p:cNvSpPr/>
          <p:nvPr/>
        </p:nvSpPr>
        <p:spPr>
          <a:xfrm>
            <a:off x="7010400" y="4296156"/>
            <a:ext cx="2514600" cy="978408"/>
          </a:xfrm>
          <a:prstGeom prst="rect">
            <a:avLst/>
          </a:prstGeom>
          <a:solidFill>
            <a:srgbClr val="E4EAF6"/>
          </a:solidFill>
          <a:ln w="12700">
            <a:solidFill>
              <a:srgbClr val="C8102E"/>
            </a:solidFill>
          </a:ln>
          <a:effectLst/>
        </p:spPr>
        <p:style>
          <a:lnRef idx="1">
            <a:schemeClr val="accent1"/>
          </a:lnRef>
          <a:fillRef idx="3">
            <a:schemeClr val="accent1"/>
          </a:fillRef>
          <a:effectRef idx="2">
            <a:schemeClr val="accent1"/>
          </a:effectRef>
          <a:fontRef idx="minor">
            <a:schemeClr val="lt1"/>
          </a:fontRef>
        </p:style>
        <p:txBody>
          <a:bodyPr wrap="square" lIns="128016" tIns="36576" rIns="128016"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300"/>
              </a:spcAft>
            </a:pPr>
            <a:r>
              <a:rPr sz="1150" b="1" dirty="0" err="1">
                <a:solidFill>
                  <a:srgbClr val="1F2A5C"/>
                </a:solidFill>
                <a:latin typeface="メイリオ" panose="020B0604030504040204" pitchFamily="50" charset="-128"/>
                <a:ea typeface="メイリオ" panose="020B0604030504040204" pitchFamily="50" charset="-128"/>
              </a:rPr>
              <a:t>許諾済みの自社リストとして</a:t>
            </a:r>
            <a:endParaRPr lang="en-US" sz="1150" b="1" dirty="0">
              <a:solidFill>
                <a:srgbClr val="1F2A5C"/>
              </a:solidFill>
              <a:latin typeface="メイリオ" panose="020B0604030504040204" pitchFamily="50" charset="-128"/>
              <a:ea typeface="メイリオ" panose="020B0604030504040204" pitchFamily="50" charset="-128"/>
            </a:endParaRPr>
          </a:p>
          <a:p>
            <a:pPr algn="l">
              <a:spcAft>
                <a:spcPts val="300"/>
              </a:spcAft>
            </a:pPr>
            <a:r>
              <a:rPr sz="1150" b="1" dirty="0" err="1">
                <a:solidFill>
                  <a:srgbClr val="1F2A5C"/>
                </a:solidFill>
                <a:latin typeface="メイリオ" panose="020B0604030504040204" pitchFamily="50" charset="-128"/>
                <a:ea typeface="メイリオ" panose="020B0604030504040204" pitchFamily="50" charset="-128"/>
              </a:rPr>
              <a:t>友だちを保持する</a:t>
            </a:r>
            <a:endParaRPr sz="1150" b="1" dirty="0">
              <a:solidFill>
                <a:srgbClr val="1F2A5C"/>
              </a:solidFill>
              <a:latin typeface="メイリオ" panose="020B0604030504040204" pitchFamily="50" charset="-128"/>
              <a:ea typeface="メイリオ" panose="020B0604030504040204" pitchFamily="50" charset="-128"/>
            </a:endParaRPr>
          </a:p>
        </p:txBody>
      </p:sp>
      <p:sp>
        <p:nvSpPr>
          <p:cNvPr id="28" name="Rectangle 19">
            <a:extLst>
              <a:ext uri="{FF2B5EF4-FFF2-40B4-BE49-F238E27FC236}">
                <a16:creationId xmlns:a16="http://schemas.microsoft.com/office/drawing/2014/main" id="{4AD57304-3963-5332-753B-F508A6F0B113}"/>
              </a:ext>
            </a:extLst>
          </p:cNvPr>
          <p:cNvSpPr/>
          <p:nvPr/>
        </p:nvSpPr>
        <p:spPr>
          <a:xfrm>
            <a:off x="381000" y="5347716"/>
            <a:ext cx="1600200" cy="978408"/>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36576" rIns="109728"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200"/>
              </a:spcAft>
            </a:pPr>
            <a:r>
              <a:rPr sz="1800" b="1" dirty="0">
                <a:solidFill>
                  <a:srgbClr val="FFFFFF"/>
                </a:solidFill>
                <a:latin typeface="メイリオ" panose="020B0604030504040204" pitchFamily="50" charset="-128"/>
                <a:ea typeface="メイリオ" panose="020B0604030504040204" pitchFamily="50" charset="-128"/>
              </a:rPr>
              <a:t>④</a:t>
            </a:r>
          </a:p>
          <a:p>
            <a:pPr algn="l">
              <a:spcAft>
                <a:spcPts val="300"/>
              </a:spcAft>
            </a:pPr>
            <a:r>
              <a:rPr sz="1200" b="1" dirty="0" err="1">
                <a:solidFill>
                  <a:srgbClr val="FFFFFF"/>
                </a:solidFill>
                <a:latin typeface="メイリオ" panose="020B0604030504040204" pitchFamily="50" charset="-128"/>
                <a:ea typeface="メイリオ" panose="020B0604030504040204" pitchFamily="50" charset="-128"/>
              </a:rPr>
              <a:t>選択肢</a:t>
            </a:r>
            <a:r>
              <a:rPr lang="ja-JP" altLang="en-US" sz="1200" b="1" dirty="0">
                <a:solidFill>
                  <a:srgbClr val="FFFFFF"/>
                </a:solidFill>
                <a:latin typeface="メイリオ" panose="020B0604030504040204" pitchFamily="50" charset="-128"/>
                <a:ea typeface="メイリオ" panose="020B0604030504040204" pitchFamily="50" charset="-128"/>
              </a:rPr>
              <a:t>の</a:t>
            </a:r>
            <a:r>
              <a:rPr sz="1200" b="1" dirty="0">
                <a:solidFill>
                  <a:srgbClr val="FFFFFF"/>
                </a:solidFill>
                <a:latin typeface="メイリオ" panose="020B0604030504040204" pitchFamily="50" charset="-128"/>
                <a:ea typeface="メイリオ" panose="020B0604030504040204" pitchFamily="50" charset="-128"/>
              </a:rPr>
              <a:t>増</a:t>
            </a:r>
            <a:r>
              <a:rPr lang="ja-JP" altLang="en-US" sz="1200" b="1" dirty="0">
                <a:solidFill>
                  <a:srgbClr val="FFFFFF"/>
                </a:solidFill>
                <a:latin typeface="メイリオ" panose="020B0604030504040204" pitchFamily="50" charset="-128"/>
                <a:ea typeface="メイリオ" panose="020B0604030504040204" pitchFamily="50" charset="-128"/>
              </a:rPr>
              <a:t>加</a:t>
            </a:r>
            <a:endParaRPr lang="en-US" sz="1200" b="1" dirty="0">
              <a:solidFill>
                <a:srgbClr val="FFFFFF"/>
              </a:solidFill>
              <a:latin typeface="メイリオ" panose="020B0604030504040204" pitchFamily="50" charset="-128"/>
              <a:ea typeface="メイリオ" panose="020B0604030504040204" pitchFamily="50" charset="-128"/>
            </a:endParaRPr>
          </a:p>
          <a:p>
            <a:pPr algn="l">
              <a:spcAft>
                <a:spcPts val="300"/>
              </a:spcAft>
            </a:pPr>
            <a:r>
              <a:rPr sz="1200" b="1" dirty="0" err="1">
                <a:solidFill>
                  <a:srgbClr val="FFFFFF"/>
                </a:solidFill>
                <a:latin typeface="メイリオ" panose="020B0604030504040204" pitchFamily="50" charset="-128"/>
                <a:ea typeface="メイリオ" panose="020B0604030504040204" pitchFamily="50" charset="-128"/>
              </a:rPr>
              <a:t>検討長期化</a:t>
            </a:r>
            <a:endParaRPr sz="1200" b="1" dirty="0">
              <a:solidFill>
                <a:srgbClr val="FFFFFF"/>
              </a:solidFill>
              <a:latin typeface="メイリオ" panose="020B0604030504040204" pitchFamily="50" charset="-128"/>
              <a:ea typeface="メイリオ" panose="020B0604030504040204" pitchFamily="50" charset="-128"/>
            </a:endParaRPr>
          </a:p>
        </p:txBody>
      </p:sp>
      <p:sp>
        <p:nvSpPr>
          <p:cNvPr id="29" name="Rectangle 20">
            <a:extLst>
              <a:ext uri="{FF2B5EF4-FFF2-40B4-BE49-F238E27FC236}">
                <a16:creationId xmlns:a16="http://schemas.microsoft.com/office/drawing/2014/main" id="{4C419739-A588-2E5A-0FCA-992B80A6DB23}"/>
              </a:ext>
            </a:extLst>
          </p:cNvPr>
          <p:cNvSpPr/>
          <p:nvPr/>
        </p:nvSpPr>
        <p:spPr>
          <a:xfrm>
            <a:off x="2072640" y="5347716"/>
            <a:ext cx="2697480" cy="978408"/>
          </a:xfrm>
          <a:prstGeom prst="rect">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36576" rIns="109728"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100"/>
              </a:spcAft>
            </a:pPr>
            <a:r>
              <a:rPr sz="1800" b="1" dirty="0">
                <a:solidFill>
                  <a:srgbClr val="1F2A5C"/>
                </a:solidFill>
                <a:latin typeface="メイリオ" panose="020B0604030504040204" pitchFamily="50" charset="-128"/>
                <a:ea typeface="メイリオ" panose="020B0604030504040204" pitchFamily="50" charset="-128"/>
              </a:rPr>
              <a:t>9,900万人</a:t>
            </a:r>
          </a:p>
          <a:p>
            <a:pPr algn="l">
              <a:spcAft>
                <a:spcPts val="300"/>
              </a:spcAft>
            </a:pPr>
            <a:r>
              <a:rPr sz="950" b="0" dirty="0">
                <a:solidFill>
                  <a:srgbClr val="777777"/>
                </a:solidFill>
                <a:latin typeface="メイリオ" panose="020B0604030504040204" pitchFamily="50" charset="-128"/>
                <a:ea typeface="メイリオ" panose="020B0604030504040204" pitchFamily="50" charset="-128"/>
              </a:rPr>
              <a:t>LINE月間利用者（2025年6月末）。広告費は前年比110.2%で比較対象が増加</a:t>
            </a:r>
          </a:p>
        </p:txBody>
      </p:sp>
      <p:sp>
        <p:nvSpPr>
          <p:cNvPr id="30" name="Rectangle 21">
            <a:extLst>
              <a:ext uri="{FF2B5EF4-FFF2-40B4-BE49-F238E27FC236}">
                <a16:creationId xmlns:a16="http://schemas.microsoft.com/office/drawing/2014/main" id="{4DBE8D20-D000-63F5-78E8-0E87974E1648}"/>
              </a:ext>
            </a:extLst>
          </p:cNvPr>
          <p:cNvSpPr/>
          <p:nvPr/>
        </p:nvSpPr>
        <p:spPr>
          <a:xfrm>
            <a:off x="4861560" y="5347716"/>
            <a:ext cx="2057400" cy="978408"/>
          </a:xfrm>
          <a:prstGeom prst="rect">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36576" rIns="109728"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300"/>
              </a:spcAft>
            </a:pPr>
            <a:r>
              <a:rPr sz="1000" b="0" dirty="0">
                <a:solidFill>
                  <a:srgbClr val="333333"/>
                </a:solidFill>
                <a:latin typeface="メイリオ" panose="020B0604030504040204" pitchFamily="50" charset="-128"/>
                <a:ea typeface="メイリオ" panose="020B0604030504040204" pitchFamily="50" charset="-128"/>
              </a:rPr>
              <a:t>1回の接触では決まらず、</a:t>
            </a:r>
            <a:endParaRPr lang="en-US" sz="1000" b="0" dirty="0">
              <a:solidFill>
                <a:srgbClr val="333333"/>
              </a:solidFill>
              <a:latin typeface="メイリオ" panose="020B0604030504040204" pitchFamily="50" charset="-128"/>
              <a:ea typeface="メイリオ" panose="020B0604030504040204" pitchFamily="50" charset="-128"/>
            </a:endParaRPr>
          </a:p>
          <a:p>
            <a:pPr algn="l">
              <a:spcAft>
                <a:spcPts val="300"/>
              </a:spcAft>
            </a:pPr>
            <a:r>
              <a:rPr sz="1000" b="0" dirty="0" err="1">
                <a:solidFill>
                  <a:srgbClr val="333333"/>
                </a:solidFill>
                <a:latin typeface="メイリオ" panose="020B0604030504040204" pitchFamily="50" charset="-128"/>
                <a:ea typeface="メイリオ" panose="020B0604030504040204" pitchFamily="50" charset="-128"/>
              </a:rPr>
              <a:t>離脱後の追客が要る</a:t>
            </a:r>
            <a:endParaRPr sz="1000" b="0" dirty="0">
              <a:solidFill>
                <a:srgbClr val="333333"/>
              </a:solidFill>
              <a:latin typeface="メイリオ" panose="020B0604030504040204" pitchFamily="50" charset="-128"/>
              <a:ea typeface="メイリオ" panose="020B0604030504040204" pitchFamily="50" charset="-128"/>
            </a:endParaRPr>
          </a:p>
        </p:txBody>
      </p:sp>
      <p:sp>
        <p:nvSpPr>
          <p:cNvPr id="31" name="Rectangle 22">
            <a:extLst>
              <a:ext uri="{FF2B5EF4-FFF2-40B4-BE49-F238E27FC236}">
                <a16:creationId xmlns:a16="http://schemas.microsoft.com/office/drawing/2014/main" id="{E546F08F-DCDF-7DC5-B4A8-B1568842B1C8}"/>
              </a:ext>
            </a:extLst>
          </p:cNvPr>
          <p:cNvSpPr/>
          <p:nvPr/>
        </p:nvSpPr>
        <p:spPr>
          <a:xfrm>
            <a:off x="7010400" y="5347716"/>
            <a:ext cx="2514600" cy="978408"/>
          </a:xfrm>
          <a:prstGeom prst="rect">
            <a:avLst/>
          </a:prstGeom>
          <a:solidFill>
            <a:srgbClr val="E4EAF6"/>
          </a:solidFill>
          <a:ln w="12700">
            <a:solidFill>
              <a:srgbClr val="C8102E"/>
            </a:solidFill>
          </a:ln>
          <a:effectLst/>
        </p:spPr>
        <p:style>
          <a:lnRef idx="1">
            <a:schemeClr val="accent1"/>
          </a:lnRef>
          <a:fillRef idx="3">
            <a:schemeClr val="accent1"/>
          </a:fillRef>
          <a:effectRef idx="2">
            <a:schemeClr val="accent1"/>
          </a:effectRef>
          <a:fontRef idx="minor">
            <a:schemeClr val="lt1"/>
          </a:fontRef>
        </p:style>
        <p:txBody>
          <a:bodyPr wrap="square" lIns="128016" tIns="36576" rIns="128016"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300"/>
              </a:spcAft>
            </a:pPr>
            <a:r>
              <a:rPr sz="1150" b="1" dirty="0" err="1">
                <a:solidFill>
                  <a:srgbClr val="1F2A5C"/>
                </a:solidFill>
                <a:latin typeface="メイリオ" panose="020B0604030504040204" pitchFamily="50" charset="-128"/>
                <a:ea typeface="メイリオ" panose="020B0604030504040204" pitchFamily="50" charset="-128"/>
              </a:rPr>
              <a:t>検討段階に合わせて</a:t>
            </a:r>
            <a:endParaRPr lang="en-US" sz="1150" b="1" dirty="0">
              <a:solidFill>
                <a:srgbClr val="1F2A5C"/>
              </a:solidFill>
              <a:latin typeface="メイリオ" panose="020B0604030504040204" pitchFamily="50" charset="-128"/>
              <a:ea typeface="メイリオ" panose="020B0604030504040204" pitchFamily="50" charset="-128"/>
            </a:endParaRPr>
          </a:p>
          <a:p>
            <a:pPr algn="l">
              <a:spcAft>
                <a:spcPts val="300"/>
              </a:spcAft>
            </a:pPr>
            <a:r>
              <a:rPr sz="1150" b="1" dirty="0" err="1">
                <a:solidFill>
                  <a:srgbClr val="FF0000"/>
                </a:solidFill>
                <a:latin typeface="メイリオ" panose="020B0604030504040204" pitchFamily="50" charset="-128"/>
                <a:ea typeface="メイリオ" panose="020B0604030504040204" pitchFamily="50" charset="-128"/>
              </a:rPr>
              <a:t>ステップ配信</a:t>
            </a:r>
            <a:r>
              <a:rPr sz="1150" b="1" dirty="0" err="1">
                <a:solidFill>
                  <a:srgbClr val="1F2A5C"/>
                </a:solidFill>
                <a:latin typeface="メイリオ" panose="020B0604030504040204" pitchFamily="50" charset="-128"/>
                <a:ea typeface="メイリオ" panose="020B0604030504040204" pitchFamily="50" charset="-128"/>
              </a:rPr>
              <a:t>で接触する</a:t>
            </a:r>
            <a:endParaRPr sz="1150" b="1" dirty="0">
              <a:solidFill>
                <a:srgbClr val="1F2A5C"/>
              </a:solidFill>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276938170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6542F3-A366-2F77-BD90-8553126BF310}"/>
            </a:ext>
          </a:extLst>
        </p:cNvPr>
        <p:cNvGrpSpPr/>
        <p:nvPr/>
      </p:nvGrpSpPr>
      <p:grpSpPr>
        <a:xfrm>
          <a:off x="0" y="0"/>
          <a:ext cx="0" cy="0"/>
          <a:chOff x="0" y="0"/>
          <a:chExt cx="0" cy="0"/>
        </a:xfrm>
      </p:grpSpPr>
      <p:sp>
        <p:nvSpPr>
          <p:cNvPr id="58" name="正方形/長方形 57">
            <a:extLst>
              <a:ext uri="{FF2B5EF4-FFF2-40B4-BE49-F238E27FC236}">
                <a16:creationId xmlns:a16="http://schemas.microsoft.com/office/drawing/2014/main" id="{10EB49B5-9FC5-84CA-4DB1-FD1822B1AD4A}"/>
              </a:ext>
            </a:extLst>
          </p:cNvPr>
          <p:cNvSpPr/>
          <p:nvPr/>
        </p:nvSpPr>
        <p:spPr>
          <a:xfrm>
            <a:off x="96788" y="1045811"/>
            <a:ext cx="1935768" cy="21878"/>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3" name="正方形/長方形 2">
            <a:extLst>
              <a:ext uri="{FF2B5EF4-FFF2-40B4-BE49-F238E27FC236}">
                <a16:creationId xmlns:a16="http://schemas.microsoft.com/office/drawing/2014/main" id="{AAE0FF34-E36F-DACD-C81B-257EFD178A28}"/>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5" name="テキスト ボックス 4">
            <a:extLst>
              <a:ext uri="{FF2B5EF4-FFF2-40B4-BE49-F238E27FC236}">
                <a16:creationId xmlns:a16="http://schemas.microsoft.com/office/drawing/2014/main" id="{ACBE40DF-02FF-09AD-254C-C183AF288F03}"/>
              </a:ext>
            </a:extLst>
          </p:cNvPr>
          <p:cNvSpPr txBox="1"/>
          <p:nvPr/>
        </p:nvSpPr>
        <p:spPr>
          <a:xfrm>
            <a:off x="96788" y="619405"/>
            <a:ext cx="4961186" cy="369332"/>
          </a:xfrm>
          <a:prstGeom prst="rect">
            <a:avLst/>
          </a:prstGeom>
          <a:noFill/>
        </p:spPr>
        <p:txBody>
          <a:bodyPr wrap="square">
            <a:spAutoFit/>
          </a:bodyPr>
          <a:lstStyle/>
          <a:p>
            <a:r>
              <a:rPr lang="en-US" altLang="ja-JP"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LINEOA</a:t>
            </a:r>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公式基礎</a:t>
            </a:r>
            <a:endParaRPr lang="ja-JP" altLang="en-US" sz="1100" dirty="0"/>
          </a:p>
        </p:txBody>
      </p:sp>
      <p:sp>
        <p:nvSpPr>
          <p:cNvPr id="7" name="テキスト ボックス 6">
            <a:extLst>
              <a:ext uri="{FF2B5EF4-FFF2-40B4-BE49-F238E27FC236}">
                <a16:creationId xmlns:a16="http://schemas.microsoft.com/office/drawing/2014/main" id="{6F82A582-FD96-0975-8BC7-695742F3474E}"/>
              </a:ext>
            </a:extLst>
          </p:cNvPr>
          <p:cNvSpPr txBox="1"/>
          <p:nvPr/>
        </p:nvSpPr>
        <p:spPr>
          <a:xfrm>
            <a:off x="96788" y="1202790"/>
            <a:ext cx="9687414" cy="307777"/>
          </a:xfrm>
          <a:prstGeom prst="rect">
            <a:avLst/>
          </a:prstGeom>
          <a:noFill/>
        </p:spPr>
        <p:txBody>
          <a:bodyPr wrap="square">
            <a:spAutoFit/>
          </a:bodyPr>
          <a:lstStyle/>
          <a:p>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市況変化に伴い、</a:t>
            </a:r>
            <a:r>
              <a:rPr lang="en-US" altLang="ja-JP"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a:t>
            </a:r>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施策の必要性が増加。反応率の高い</a:t>
            </a:r>
            <a:r>
              <a:rPr lang="en-US" altLang="ja-JP"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a:t>
            </a:r>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公式を効率化することでマーケティングを最適化。</a:t>
            </a:r>
            <a:endParaRPr lang="ja-JP" altLang="en-US" sz="1000" dirty="0"/>
          </a:p>
        </p:txBody>
      </p:sp>
      <p:sp>
        <p:nvSpPr>
          <p:cNvPr id="9" name="テキスト ボックス 8">
            <a:extLst>
              <a:ext uri="{FF2B5EF4-FFF2-40B4-BE49-F238E27FC236}">
                <a16:creationId xmlns:a16="http://schemas.microsoft.com/office/drawing/2014/main" id="{AA2B66CF-65F8-FB43-708F-6D49976FCE64}"/>
              </a:ext>
            </a:extLst>
          </p:cNvPr>
          <p:cNvSpPr txBox="1"/>
          <p:nvPr/>
        </p:nvSpPr>
        <p:spPr>
          <a:xfrm>
            <a:off x="460785" y="91159"/>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 前提調査</a:t>
            </a:r>
            <a:endParaRPr lang="ja-JP" altLang="en-US" sz="1100" dirty="0"/>
          </a:p>
        </p:txBody>
      </p:sp>
      <p:pic>
        <p:nvPicPr>
          <p:cNvPr id="23" name="図 22">
            <a:extLst>
              <a:ext uri="{FF2B5EF4-FFF2-40B4-BE49-F238E27FC236}">
                <a16:creationId xmlns:a16="http://schemas.microsoft.com/office/drawing/2014/main" id="{A3ED5CD5-2475-1675-D861-6DF0FEF85224}"/>
              </a:ext>
            </a:extLst>
          </p:cNvPr>
          <p:cNvPicPr>
            <a:picLocks noChangeAspect="1"/>
          </p:cNvPicPr>
          <p:nvPr/>
        </p:nvPicPr>
        <p:blipFill>
          <a:blip r:embed="rId2"/>
          <a:stretch>
            <a:fillRect/>
          </a:stretch>
        </p:blipFill>
        <p:spPr>
          <a:xfrm>
            <a:off x="4731535" y="1769209"/>
            <a:ext cx="4865885" cy="2313349"/>
          </a:xfrm>
          <a:prstGeom prst="rect">
            <a:avLst/>
          </a:prstGeom>
        </p:spPr>
      </p:pic>
      <p:pic>
        <p:nvPicPr>
          <p:cNvPr id="55" name="図 54">
            <a:extLst>
              <a:ext uri="{FF2B5EF4-FFF2-40B4-BE49-F238E27FC236}">
                <a16:creationId xmlns:a16="http://schemas.microsoft.com/office/drawing/2014/main" id="{6F101A2A-4E40-54D6-6EFF-FC688C1D2F0B}"/>
              </a:ext>
            </a:extLst>
          </p:cNvPr>
          <p:cNvPicPr>
            <a:picLocks noChangeAspect="1"/>
          </p:cNvPicPr>
          <p:nvPr/>
        </p:nvPicPr>
        <p:blipFill>
          <a:blip r:embed="rId3"/>
          <a:stretch>
            <a:fillRect/>
          </a:stretch>
        </p:blipFill>
        <p:spPr>
          <a:xfrm>
            <a:off x="121721" y="1796423"/>
            <a:ext cx="4547463" cy="2282442"/>
          </a:xfrm>
          <a:prstGeom prst="rect">
            <a:avLst/>
          </a:prstGeom>
        </p:spPr>
      </p:pic>
      <p:pic>
        <p:nvPicPr>
          <p:cNvPr id="4" name="図 3">
            <a:extLst>
              <a:ext uri="{FF2B5EF4-FFF2-40B4-BE49-F238E27FC236}">
                <a16:creationId xmlns:a16="http://schemas.microsoft.com/office/drawing/2014/main" id="{E64EEB20-E6D7-1754-B863-CE02D1637BAF}"/>
              </a:ext>
            </a:extLst>
          </p:cNvPr>
          <p:cNvPicPr>
            <a:picLocks noChangeAspect="1"/>
          </p:cNvPicPr>
          <p:nvPr/>
        </p:nvPicPr>
        <p:blipFill>
          <a:blip r:embed="rId4"/>
          <a:stretch>
            <a:fillRect/>
          </a:stretch>
        </p:blipFill>
        <p:spPr>
          <a:xfrm>
            <a:off x="4743273" y="4163531"/>
            <a:ext cx="5026817" cy="2263604"/>
          </a:xfrm>
          <a:prstGeom prst="rect">
            <a:avLst/>
          </a:prstGeom>
        </p:spPr>
      </p:pic>
      <p:pic>
        <p:nvPicPr>
          <p:cNvPr id="8" name="図 7">
            <a:extLst>
              <a:ext uri="{FF2B5EF4-FFF2-40B4-BE49-F238E27FC236}">
                <a16:creationId xmlns:a16="http://schemas.microsoft.com/office/drawing/2014/main" id="{4155BE30-8F47-BE42-0733-C328ACCE19E0}"/>
              </a:ext>
            </a:extLst>
          </p:cNvPr>
          <p:cNvPicPr>
            <a:picLocks noChangeAspect="1"/>
          </p:cNvPicPr>
          <p:nvPr/>
        </p:nvPicPr>
        <p:blipFill>
          <a:blip r:embed="rId5"/>
          <a:stretch>
            <a:fillRect/>
          </a:stretch>
        </p:blipFill>
        <p:spPr>
          <a:xfrm>
            <a:off x="144233" y="4162283"/>
            <a:ext cx="4502439" cy="2249497"/>
          </a:xfrm>
          <a:prstGeom prst="rect">
            <a:avLst/>
          </a:prstGeom>
        </p:spPr>
      </p:pic>
    </p:spTree>
    <p:extLst>
      <p:ext uri="{BB962C8B-B14F-4D97-AF65-F5344CB8AC3E}">
        <p14:creationId xmlns:p14="http://schemas.microsoft.com/office/powerpoint/2010/main" val="88681943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85F785-21C2-3B5C-6EEA-F1CBBF75AF74}"/>
            </a:ext>
          </a:extLst>
        </p:cNvPr>
        <p:cNvGrpSpPr/>
        <p:nvPr/>
      </p:nvGrpSpPr>
      <p:grpSpPr>
        <a:xfrm>
          <a:off x="0" y="0"/>
          <a:ext cx="0" cy="0"/>
          <a:chOff x="0" y="0"/>
          <a:chExt cx="0" cy="0"/>
        </a:xfrm>
      </p:grpSpPr>
      <p:sp>
        <p:nvSpPr>
          <p:cNvPr id="58" name="正方形/長方形 57">
            <a:extLst>
              <a:ext uri="{FF2B5EF4-FFF2-40B4-BE49-F238E27FC236}">
                <a16:creationId xmlns:a16="http://schemas.microsoft.com/office/drawing/2014/main" id="{0A6CFA27-8734-0256-59C9-95D2B252C115}"/>
              </a:ext>
            </a:extLst>
          </p:cNvPr>
          <p:cNvSpPr/>
          <p:nvPr/>
        </p:nvSpPr>
        <p:spPr>
          <a:xfrm>
            <a:off x="96788" y="1045811"/>
            <a:ext cx="1935768" cy="21878"/>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5" name="テキスト ボックス 4">
            <a:extLst>
              <a:ext uri="{FF2B5EF4-FFF2-40B4-BE49-F238E27FC236}">
                <a16:creationId xmlns:a16="http://schemas.microsoft.com/office/drawing/2014/main" id="{3705FD20-7673-B4F7-9F0F-FDAA55CE0655}"/>
              </a:ext>
            </a:extLst>
          </p:cNvPr>
          <p:cNvSpPr txBox="1"/>
          <p:nvPr/>
        </p:nvSpPr>
        <p:spPr>
          <a:xfrm>
            <a:off x="96788" y="619405"/>
            <a:ext cx="4961186" cy="369332"/>
          </a:xfrm>
          <a:prstGeom prst="rect">
            <a:avLst/>
          </a:prstGeom>
          <a:noFill/>
        </p:spPr>
        <p:txBody>
          <a:bodyPr wrap="square">
            <a:spAutoFit/>
          </a:bodyPr>
          <a:lstStyle/>
          <a:p>
            <a:r>
              <a:rPr lang="en-US" altLang="ja-JP"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LINEOA</a:t>
            </a:r>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公式基礎</a:t>
            </a:r>
            <a:endParaRPr lang="ja-JP" altLang="en-US" sz="1100" dirty="0"/>
          </a:p>
        </p:txBody>
      </p:sp>
      <p:sp>
        <p:nvSpPr>
          <p:cNvPr id="7" name="テキスト ボックス 6">
            <a:extLst>
              <a:ext uri="{FF2B5EF4-FFF2-40B4-BE49-F238E27FC236}">
                <a16:creationId xmlns:a16="http://schemas.microsoft.com/office/drawing/2014/main" id="{4C9CF45E-C71E-D1AB-5CC4-7A1544E4139F}"/>
              </a:ext>
            </a:extLst>
          </p:cNvPr>
          <p:cNvSpPr txBox="1"/>
          <p:nvPr/>
        </p:nvSpPr>
        <p:spPr>
          <a:xfrm>
            <a:off x="96788" y="1202790"/>
            <a:ext cx="7594930" cy="307777"/>
          </a:xfrm>
          <a:prstGeom prst="rect">
            <a:avLst/>
          </a:prstGeom>
          <a:noFill/>
        </p:spPr>
        <p:txBody>
          <a:bodyPr wrap="square">
            <a:spAutoFit/>
          </a:bodyPr>
          <a:lstStyle/>
          <a:p>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市況変化の中で、</a:t>
            </a:r>
            <a:r>
              <a:rPr lang="en-US" altLang="ja-JP"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a:t>
            </a:r>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公式アカウントを導入・最適化すべき</a:t>
            </a:r>
            <a:r>
              <a:rPr lang="en-US" altLang="ja-JP"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4</a:t>
            </a:r>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つの理由</a:t>
            </a:r>
            <a:endParaRPr lang="ja-JP" altLang="en-US" sz="1000" dirty="0"/>
          </a:p>
        </p:txBody>
      </p:sp>
      <p:sp>
        <p:nvSpPr>
          <p:cNvPr id="9" name="テキスト ボックス 8">
            <a:extLst>
              <a:ext uri="{FF2B5EF4-FFF2-40B4-BE49-F238E27FC236}">
                <a16:creationId xmlns:a16="http://schemas.microsoft.com/office/drawing/2014/main" id="{2466A3D1-79A2-FC11-5F03-CB24F3F95CFB}"/>
              </a:ext>
            </a:extLst>
          </p:cNvPr>
          <p:cNvSpPr txBox="1"/>
          <p:nvPr/>
        </p:nvSpPr>
        <p:spPr>
          <a:xfrm>
            <a:off x="460785" y="91159"/>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 前提調査</a:t>
            </a:r>
            <a:endParaRPr lang="ja-JP" altLang="en-US" sz="1100" dirty="0"/>
          </a:p>
        </p:txBody>
      </p:sp>
      <p:pic>
        <p:nvPicPr>
          <p:cNvPr id="70" name="図 69">
            <a:extLst>
              <a:ext uri="{FF2B5EF4-FFF2-40B4-BE49-F238E27FC236}">
                <a16:creationId xmlns:a16="http://schemas.microsoft.com/office/drawing/2014/main" id="{BD57C684-39A2-ED1F-858B-037F82BEC993}"/>
              </a:ext>
            </a:extLst>
          </p:cNvPr>
          <p:cNvPicPr>
            <a:picLocks noChangeAspect="1"/>
          </p:cNvPicPr>
          <p:nvPr/>
        </p:nvPicPr>
        <p:blipFill>
          <a:blip r:embed="rId2"/>
          <a:stretch>
            <a:fillRect/>
          </a:stretch>
        </p:blipFill>
        <p:spPr>
          <a:xfrm>
            <a:off x="4743273" y="4163531"/>
            <a:ext cx="5026817" cy="2263604"/>
          </a:xfrm>
          <a:prstGeom prst="rect">
            <a:avLst/>
          </a:prstGeom>
        </p:spPr>
      </p:pic>
      <p:pic>
        <p:nvPicPr>
          <p:cNvPr id="72" name="図 71">
            <a:extLst>
              <a:ext uri="{FF2B5EF4-FFF2-40B4-BE49-F238E27FC236}">
                <a16:creationId xmlns:a16="http://schemas.microsoft.com/office/drawing/2014/main" id="{CAD0F638-4BB5-8204-757C-602FB0EFC388}"/>
              </a:ext>
            </a:extLst>
          </p:cNvPr>
          <p:cNvPicPr>
            <a:picLocks noChangeAspect="1"/>
          </p:cNvPicPr>
          <p:nvPr/>
        </p:nvPicPr>
        <p:blipFill>
          <a:blip r:embed="rId3"/>
          <a:stretch>
            <a:fillRect/>
          </a:stretch>
        </p:blipFill>
        <p:spPr>
          <a:xfrm>
            <a:off x="144233" y="4162283"/>
            <a:ext cx="4502439" cy="2249497"/>
          </a:xfrm>
          <a:prstGeom prst="rect">
            <a:avLst/>
          </a:prstGeom>
        </p:spPr>
      </p:pic>
      <p:pic>
        <p:nvPicPr>
          <p:cNvPr id="89" name="図 88">
            <a:extLst>
              <a:ext uri="{FF2B5EF4-FFF2-40B4-BE49-F238E27FC236}">
                <a16:creationId xmlns:a16="http://schemas.microsoft.com/office/drawing/2014/main" id="{1E7DD73A-5ACE-57F2-3D84-1CCFDEA9CEE5}"/>
              </a:ext>
            </a:extLst>
          </p:cNvPr>
          <p:cNvPicPr>
            <a:picLocks noChangeAspect="1"/>
          </p:cNvPicPr>
          <p:nvPr/>
        </p:nvPicPr>
        <p:blipFill>
          <a:blip r:embed="rId4"/>
          <a:stretch>
            <a:fillRect/>
          </a:stretch>
        </p:blipFill>
        <p:spPr>
          <a:xfrm>
            <a:off x="4731535" y="1777918"/>
            <a:ext cx="4865885" cy="2313349"/>
          </a:xfrm>
          <a:prstGeom prst="rect">
            <a:avLst/>
          </a:prstGeom>
        </p:spPr>
      </p:pic>
      <p:pic>
        <p:nvPicPr>
          <p:cNvPr id="91" name="図 90">
            <a:extLst>
              <a:ext uri="{FF2B5EF4-FFF2-40B4-BE49-F238E27FC236}">
                <a16:creationId xmlns:a16="http://schemas.microsoft.com/office/drawing/2014/main" id="{FCAF1797-0FF8-82BA-FC52-3C1CCD7A2ED5}"/>
              </a:ext>
            </a:extLst>
          </p:cNvPr>
          <p:cNvPicPr>
            <a:picLocks noChangeAspect="1"/>
          </p:cNvPicPr>
          <p:nvPr/>
        </p:nvPicPr>
        <p:blipFill>
          <a:blip r:embed="rId5"/>
          <a:stretch>
            <a:fillRect/>
          </a:stretch>
        </p:blipFill>
        <p:spPr>
          <a:xfrm>
            <a:off x="121721" y="1805132"/>
            <a:ext cx="4547463" cy="2282442"/>
          </a:xfrm>
          <a:prstGeom prst="rect">
            <a:avLst/>
          </a:prstGeom>
        </p:spPr>
      </p:pic>
      <p:sp>
        <p:nvSpPr>
          <p:cNvPr id="109" name="正方形/長方形 108">
            <a:extLst>
              <a:ext uri="{FF2B5EF4-FFF2-40B4-BE49-F238E27FC236}">
                <a16:creationId xmlns:a16="http://schemas.microsoft.com/office/drawing/2014/main" id="{75E2613C-ECFC-1043-6B48-5CC36CDAEA49}"/>
              </a:ext>
            </a:extLst>
          </p:cNvPr>
          <p:cNvSpPr/>
          <p:nvPr/>
        </p:nvSpPr>
        <p:spPr>
          <a:xfrm>
            <a:off x="79632" y="1705966"/>
            <a:ext cx="9721727" cy="4805339"/>
          </a:xfrm>
          <a:prstGeom prst="rect">
            <a:avLst/>
          </a:prstGeom>
          <a:solidFill>
            <a:schemeClr val="bg1">
              <a:alpha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111" name="正方形/長方形 110">
            <a:extLst>
              <a:ext uri="{FF2B5EF4-FFF2-40B4-BE49-F238E27FC236}">
                <a16:creationId xmlns:a16="http://schemas.microsoft.com/office/drawing/2014/main" id="{99739246-55F4-690F-7FCA-3A6125F81DC0}"/>
              </a:ext>
            </a:extLst>
          </p:cNvPr>
          <p:cNvSpPr/>
          <p:nvPr/>
        </p:nvSpPr>
        <p:spPr>
          <a:xfrm>
            <a:off x="212090" y="1717992"/>
            <a:ext cx="4646483" cy="2328629"/>
          </a:xfrm>
          <a:prstGeom prst="rect">
            <a:avLst/>
          </a:prstGeom>
          <a:solidFill>
            <a:schemeClr val="bg1">
              <a:lumMod val="85000"/>
              <a:alpha val="4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b="1" dirty="0">
                <a:solidFill>
                  <a:schemeClr val="tx1"/>
                </a:solidFill>
                <a:latin typeface="メイリオ" panose="020B0604030504040204" pitchFamily="50" charset="-128"/>
                <a:ea typeface="メイリオ" panose="020B0604030504040204" pitchFamily="50" charset="-128"/>
              </a:rPr>
              <a:t>LINE</a:t>
            </a:r>
            <a:r>
              <a:rPr lang="ja-JP" altLang="en-US" sz="2000" b="1" dirty="0">
                <a:solidFill>
                  <a:schemeClr val="tx1"/>
                </a:solidFill>
                <a:latin typeface="メイリオ" panose="020B0604030504040204" pitchFamily="50" charset="-128"/>
                <a:ea typeface="メイリオ" panose="020B0604030504040204" pitchFamily="50" charset="-128"/>
              </a:rPr>
              <a:t>施策の重要性</a:t>
            </a:r>
            <a:endParaRPr lang="en-US" altLang="ja-JP" sz="2000" b="1" dirty="0">
              <a:solidFill>
                <a:schemeClr val="tx1"/>
              </a:solidFill>
              <a:latin typeface="メイリオ" panose="020B0604030504040204" pitchFamily="50" charset="-128"/>
              <a:ea typeface="メイリオ" panose="020B0604030504040204" pitchFamily="50" charset="-128"/>
            </a:endParaRPr>
          </a:p>
          <a:p>
            <a:pPr algn="ctr"/>
            <a:endParaRPr lang="en-US" altLang="ja-JP" sz="1400" b="1" dirty="0">
              <a:solidFill>
                <a:schemeClr val="tx1"/>
              </a:solidFill>
              <a:latin typeface="メイリオ" panose="020B0604030504040204" pitchFamily="50" charset="-128"/>
              <a:ea typeface="メイリオ" panose="020B0604030504040204" pitchFamily="50" charset="-128"/>
            </a:endParaRPr>
          </a:p>
          <a:p>
            <a:pPr algn="ctr"/>
            <a:r>
              <a:rPr lang="ja-JP" altLang="en-US" sz="1400" b="1" dirty="0">
                <a:solidFill>
                  <a:schemeClr val="tx1"/>
                </a:solidFill>
                <a:latin typeface="メイリオ" panose="020B0604030504040204" pitchFamily="50" charset="-128"/>
                <a:ea typeface="メイリオ" panose="020B0604030504040204" pitchFamily="50" charset="-128"/>
              </a:rPr>
              <a:t>開封率、開封時間ともに高効率</a:t>
            </a:r>
            <a:r>
              <a:rPr lang="ja-JP" altLang="en-US" sz="1400" dirty="0">
                <a:solidFill>
                  <a:schemeClr val="tx1"/>
                </a:solidFill>
                <a:latin typeface="メイリオ" panose="020B0604030504040204" pitchFamily="50" charset="-128"/>
                <a:ea typeface="メイリオ" panose="020B0604030504040204" pitchFamily="50" charset="-128"/>
              </a:rPr>
              <a:t>。</a:t>
            </a:r>
            <a:endParaRPr lang="en-US" altLang="ja-JP" sz="1400" dirty="0">
              <a:solidFill>
                <a:schemeClr val="tx1"/>
              </a:solidFill>
              <a:latin typeface="メイリオ" panose="020B0604030504040204" pitchFamily="50" charset="-128"/>
              <a:ea typeface="メイリオ" panose="020B0604030504040204" pitchFamily="50" charset="-128"/>
            </a:endParaRPr>
          </a:p>
          <a:p>
            <a:pPr algn="ctr"/>
            <a:r>
              <a:rPr lang="ja-JP" altLang="en-US" sz="1400" dirty="0">
                <a:solidFill>
                  <a:schemeClr val="tx1"/>
                </a:solidFill>
                <a:latin typeface="メイリオ" panose="020B0604030504040204" pitchFamily="50" charset="-128"/>
                <a:ea typeface="メイリオ" panose="020B0604030504040204" pitchFamily="50" charset="-128"/>
              </a:rPr>
              <a:t>今後のマーケティングに必須のチャネル。</a:t>
            </a: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113" name="正方形/長方形 112">
            <a:extLst>
              <a:ext uri="{FF2B5EF4-FFF2-40B4-BE49-F238E27FC236}">
                <a16:creationId xmlns:a16="http://schemas.microsoft.com/office/drawing/2014/main" id="{36DF7064-F61C-CF57-16F4-3ED4FE3F0D7A}"/>
              </a:ext>
            </a:extLst>
          </p:cNvPr>
          <p:cNvSpPr/>
          <p:nvPr/>
        </p:nvSpPr>
        <p:spPr>
          <a:xfrm>
            <a:off x="4929998" y="1717020"/>
            <a:ext cx="4646483" cy="2328629"/>
          </a:xfrm>
          <a:prstGeom prst="rect">
            <a:avLst/>
          </a:prstGeom>
          <a:solidFill>
            <a:schemeClr val="bg1">
              <a:lumMod val="85000"/>
              <a:alpha val="4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000" b="1" dirty="0">
                <a:solidFill>
                  <a:schemeClr val="tx1"/>
                </a:solidFill>
                <a:latin typeface="メイリオ" panose="020B0604030504040204" pitchFamily="50" charset="-128"/>
                <a:ea typeface="メイリオ" panose="020B0604030504040204" pitchFamily="50" charset="-128"/>
              </a:rPr>
              <a:t>友だち追加後の最適化</a:t>
            </a:r>
            <a:endParaRPr lang="en-US" altLang="ja-JP" sz="2000" b="1" dirty="0">
              <a:solidFill>
                <a:schemeClr val="tx1"/>
              </a:solidFill>
              <a:latin typeface="メイリオ" panose="020B0604030504040204" pitchFamily="50" charset="-128"/>
              <a:ea typeface="メイリオ" panose="020B0604030504040204" pitchFamily="50" charset="-128"/>
            </a:endParaRPr>
          </a:p>
          <a:p>
            <a:pPr algn="ctr"/>
            <a:endParaRPr lang="en-US" altLang="ja-JP" sz="1400" b="1" dirty="0">
              <a:solidFill>
                <a:schemeClr val="tx1"/>
              </a:solidFill>
              <a:latin typeface="メイリオ" panose="020B0604030504040204" pitchFamily="50" charset="-128"/>
              <a:ea typeface="メイリオ" panose="020B0604030504040204" pitchFamily="50" charset="-128"/>
            </a:endParaRPr>
          </a:p>
          <a:p>
            <a:pPr algn="ctr"/>
            <a:r>
              <a:rPr lang="en-US" altLang="ja-JP" sz="1400" dirty="0">
                <a:solidFill>
                  <a:schemeClr val="tx1"/>
                </a:solidFill>
                <a:latin typeface="メイリオ" panose="020B0604030504040204" pitchFamily="50" charset="-128"/>
                <a:ea typeface="メイリオ" panose="020B0604030504040204" pitchFamily="50" charset="-128"/>
              </a:rPr>
              <a:t>LINE</a:t>
            </a:r>
            <a:r>
              <a:rPr lang="ja-JP" altLang="en-US" sz="1400" dirty="0">
                <a:solidFill>
                  <a:schemeClr val="tx1"/>
                </a:solidFill>
                <a:latin typeface="メイリオ" panose="020B0604030504040204" pitchFamily="50" charset="-128"/>
                <a:ea typeface="メイリオ" panose="020B0604030504040204" pitchFamily="50" charset="-128"/>
              </a:rPr>
              <a:t>友だち追加後</a:t>
            </a:r>
            <a:r>
              <a:rPr lang="en-US" altLang="ja-JP" sz="1400" dirty="0">
                <a:solidFill>
                  <a:schemeClr val="tx1"/>
                </a:solidFill>
                <a:latin typeface="メイリオ" panose="020B0604030504040204" pitchFamily="50" charset="-128"/>
                <a:ea typeface="メイリオ" panose="020B0604030504040204" pitchFamily="50" charset="-128"/>
              </a:rPr>
              <a:t>30</a:t>
            </a:r>
            <a:r>
              <a:rPr lang="ja-JP" altLang="en-US" sz="1400" dirty="0">
                <a:solidFill>
                  <a:schemeClr val="tx1"/>
                </a:solidFill>
                <a:latin typeface="メイリオ" panose="020B0604030504040204" pitchFamily="50" charset="-128"/>
                <a:ea typeface="メイリオ" panose="020B0604030504040204" pitchFamily="50" charset="-128"/>
              </a:rPr>
              <a:t>日、</a:t>
            </a:r>
            <a:endParaRPr lang="en-US" altLang="ja-JP" sz="1400" dirty="0">
              <a:solidFill>
                <a:schemeClr val="tx1"/>
              </a:solidFill>
              <a:latin typeface="メイリオ" panose="020B0604030504040204" pitchFamily="50" charset="-128"/>
              <a:ea typeface="メイリオ" panose="020B0604030504040204" pitchFamily="50" charset="-128"/>
            </a:endParaRPr>
          </a:p>
          <a:p>
            <a:pPr algn="ctr"/>
            <a:r>
              <a:rPr lang="ja-JP" altLang="en-US" sz="1400" b="1" dirty="0">
                <a:solidFill>
                  <a:schemeClr val="tx1"/>
                </a:solidFill>
                <a:latin typeface="メイリオ" panose="020B0604030504040204" pitchFamily="50" charset="-128"/>
                <a:ea typeface="メイリオ" panose="020B0604030504040204" pitchFamily="50" charset="-128"/>
              </a:rPr>
              <a:t>初期誘導の最適化は重要性が高い</a:t>
            </a:r>
            <a:r>
              <a:rPr lang="ja-JP" altLang="en-US" sz="1400" dirty="0">
                <a:solidFill>
                  <a:schemeClr val="tx1"/>
                </a:solidFill>
                <a:latin typeface="メイリオ" panose="020B0604030504040204" pitchFamily="50" charset="-128"/>
                <a:ea typeface="メイリオ" panose="020B0604030504040204" pitchFamily="50" charset="-128"/>
              </a:rPr>
              <a:t>。</a:t>
            </a: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115" name="正方形/長方形 114">
            <a:extLst>
              <a:ext uri="{FF2B5EF4-FFF2-40B4-BE49-F238E27FC236}">
                <a16:creationId xmlns:a16="http://schemas.microsoft.com/office/drawing/2014/main" id="{B413D49B-5D6C-8C2D-7652-878361DCE9FD}"/>
              </a:ext>
            </a:extLst>
          </p:cNvPr>
          <p:cNvSpPr/>
          <p:nvPr/>
        </p:nvSpPr>
        <p:spPr>
          <a:xfrm>
            <a:off x="212090" y="4103895"/>
            <a:ext cx="4646483" cy="2328629"/>
          </a:xfrm>
          <a:prstGeom prst="rect">
            <a:avLst/>
          </a:prstGeom>
          <a:solidFill>
            <a:schemeClr val="bg1">
              <a:lumMod val="85000"/>
              <a:alpha val="4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000" b="1" dirty="0">
                <a:solidFill>
                  <a:srgbClr val="FF0000"/>
                </a:solidFill>
                <a:latin typeface="メイリオ" panose="020B0604030504040204" pitchFamily="50" charset="-128"/>
                <a:ea typeface="メイリオ" panose="020B0604030504040204" pitchFamily="50" charset="-128"/>
              </a:rPr>
              <a:t>集客</a:t>
            </a:r>
            <a:r>
              <a:rPr kumimoji="1" lang="en-US" altLang="ja-JP" sz="2000" b="1" dirty="0">
                <a:solidFill>
                  <a:srgbClr val="FF0000"/>
                </a:solidFill>
                <a:latin typeface="メイリオ" panose="020B0604030504040204" pitchFamily="50" charset="-128"/>
                <a:ea typeface="メイリオ" panose="020B0604030504040204" pitchFamily="50" charset="-128"/>
              </a:rPr>
              <a:t>CPA</a:t>
            </a:r>
            <a:r>
              <a:rPr kumimoji="1" lang="ja-JP" altLang="en-US" sz="2000" b="1" dirty="0">
                <a:solidFill>
                  <a:srgbClr val="FF0000"/>
                </a:solidFill>
                <a:latin typeface="メイリオ" panose="020B0604030504040204" pitchFamily="50" charset="-128"/>
                <a:ea typeface="メイリオ" panose="020B0604030504040204" pitchFamily="50" charset="-128"/>
              </a:rPr>
              <a:t>改善の必要性</a:t>
            </a:r>
            <a:endParaRPr kumimoji="1" lang="en-US" altLang="ja-JP" sz="2000" b="1" dirty="0">
              <a:solidFill>
                <a:srgbClr val="FF0000"/>
              </a:solidFill>
              <a:latin typeface="メイリオ" panose="020B0604030504040204" pitchFamily="50" charset="-128"/>
              <a:ea typeface="メイリオ" panose="020B0604030504040204" pitchFamily="50" charset="-128"/>
            </a:endParaRPr>
          </a:p>
          <a:p>
            <a:pPr algn="ctr"/>
            <a:endParaRPr lang="en-US" altLang="ja-JP" sz="1400" b="1" dirty="0">
              <a:solidFill>
                <a:srgbClr val="FF0000"/>
              </a:solidFill>
              <a:latin typeface="メイリオ" panose="020B0604030504040204" pitchFamily="50" charset="-128"/>
              <a:ea typeface="メイリオ" panose="020B0604030504040204" pitchFamily="50" charset="-128"/>
            </a:endParaRPr>
          </a:p>
          <a:p>
            <a:pPr algn="ctr"/>
            <a:r>
              <a:rPr kumimoji="1" lang="ja-JP" altLang="en-US" sz="1400" dirty="0">
                <a:solidFill>
                  <a:srgbClr val="FF0000"/>
                </a:solidFill>
                <a:latin typeface="メイリオ" panose="020B0604030504040204" pitchFamily="50" charset="-128"/>
                <a:ea typeface="メイリオ" panose="020B0604030504040204" pitchFamily="50" charset="-128"/>
              </a:rPr>
              <a:t>広告離脱の</a:t>
            </a:r>
            <a:r>
              <a:rPr kumimoji="1" lang="en-US" altLang="ja-JP" sz="1400" dirty="0">
                <a:solidFill>
                  <a:srgbClr val="FF0000"/>
                </a:solidFill>
                <a:latin typeface="メイリオ" panose="020B0604030504040204" pitchFamily="50" charset="-128"/>
                <a:ea typeface="メイリオ" panose="020B0604030504040204" pitchFamily="50" charset="-128"/>
              </a:rPr>
              <a:t>98%</a:t>
            </a:r>
            <a:r>
              <a:rPr kumimoji="1" lang="ja-JP" altLang="en-US" sz="1400" dirty="0">
                <a:solidFill>
                  <a:srgbClr val="FF0000"/>
                </a:solidFill>
                <a:latin typeface="メイリオ" panose="020B0604030504040204" pitchFamily="50" charset="-128"/>
                <a:ea typeface="メイリオ" panose="020B0604030504040204" pitchFamily="50" charset="-128"/>
              </a:rPr>
              <a:t>は接触が難しい。</a:t>
            </a:r>
            <a:endParaRPr kumimoji="1" lang="en-US" altLang="ja-JP" sz="1400" dirty="0">
              <a:solidFill>
                <a:srgbClr val="FF0000"/>
              </a:solidFill>
              <a:latin typeface="メイリオ" panose="020B0604030504040204" pitchFamily="50" charset="-128"/>
              <a:ea typeface="メイリオ" panose="020B0604030504040204" pitchFamily="50" charset="-128"/>
            </a:endParaRPr>
          </a:p>
          <a:p>
            <a:pPr algn="ctr"/>
            <a:r>
              <a:rPr lang="ja-JP" altLang="en-US" sz="1400" b="1" dirty="0">
                <a:solidFill>
                  <a:srgbClr val="FF0000"/>
                </a:solidFill>
                <a:latin typeface="メイリオ" panose="020B0604030504040204" pitchFamily="50" charset="-128"/>
                <a:ea typeface="メイリオ" panose="020B0604030504040204" pitchFamily="50" charset="-128"/>
              </a:rPr>
              <a:t>離脱理由を洗い出し再追客へ</a:t>
            </a:r>
            <a:r>
              <a:rPr lang="ja-JP" altLang="en-US" sz="1400" dirty="0">
                <a:solidFill>
                  <a:srgbClr val="FF0000"/>
                </a:solidFill>
                <a:latin typeface="メイリオ" panose="020B0604030504040204" pitchFamily="50" charset="-128"/>
                <a:ea typeface="メイリオ" panose="020B0604030504040204" pitchFamily="50" charset="-128"/>
              </a:rPr>
              <a:t>乗せる。</a:t>
            </a:r>
            <a:endParaRPr kumimoji="1" lang="en-US" altLang="ja-JP" sz="1400" dirty="0">
              <a:solidFill>
                <a:srgbClr val="FF0000"/>
              </a:solidFill>
              <a:latin typeface="メイリオ" panose="020B0604030504040204" pitchFamily="50" charset="-128"/>
              <a:ea typeface="メイリオ" panose="020B0604030504040204" pitchFamily="50" charset="-128"/>
            </a:endParaRPr>
          </a:p>
        </p:txBody>
      </p:sp>
      <p:sp>
        <p:nvSpPr>
          <p:cNvPr id="119" name="正方形/長方形 118">
            <a:extLst>
              <a:ext uri="{FF2B5EF4-FFF2-40B4-BE49-F238E27FC236}">
                <a16:creationId xmlns:a16="http://schemas.microsoft.com/office/drawing/2014/main" id="{C700F13F-7FE1-285C-0D95-84AA99805426}"/>
              </a:ext>
            </a:extLst>
          </p:cNvPr>
          <p:cNvSpPr/>
          <p:nvPr/>
        </p:nvSpPr>
        <p:spPr>
          <a:xfrm>
            <a:off x="4929998" y="4103895"/>
            <a:ext cx="4646483" cy="2328629"/>
          </a:xfrm>
          <a:prstGeom prst="rect">
            <a:avLst/>
          </a:prstGeom>
          <a:solidFill>
            <a:schemeClr val="bg1">
              <a:lumMod val="85000"/>
              <a:alpha val="4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b="1" dirty="0">
                <a:solidFill>
                  <a:srgbClr val="FF0000"/>
                </a:solidFill>
                <a:latin typeface="メイリオ" panose="020B0604030504040204" pitchFamily="50" charset="-128"/>
                <a:ea typeface="メイリオ" panose="020B0604030504040204" pitchFamily="50" charset="-128"/>
              </a:rPr>
              <a:t>CPO</a:t>
            </a:r>
            <a:r>
              <a:rPr lang="ja-JP" altLang="en-US" sz="2000" b="1" dirty="0">
                <a:solidFill>
                  <a:srgbClr val="FF0000"/>
                </a:solidFill>
                <a:latin typeface="メイリオ" panose="020B0604030504040204" pitchFamily="50" charset="-128"/>
                <a:ea typeface="メイリオ" panose="020B0604030504040204" pitchFamily="50" charset="-128"/>
              </a:rPr>
              <a:t>・</a:t>
            </a:r>
            <a:r>
              <a:rPr lang="en-US" altLang="ja-JP" sz="2000" b="1" dirty="0">
                <a:solidFill>
                  <a:srgbClr val="FF0000"/>
                </a:solidFill>
                <a:latin typeface="メイリオ" panose="020B0604030504040204" pitchFamily="50" charset="-128"/>
                <a:ea typeface="メイリオ" panose="020B0604030504040204" pitchFamily="50" charset="-128"/>
              </a:rPr>
              <a:t>CPA</a:t>
            </a:r>
            <a:r>
              <a:rPr lang="ja-JP" altLang="en-US" sz="2000" b="1" dirty="0">
                <a:solidFill>
                  <a:srgbClr val="FF0000"/>
                </a:solidFill>
                <a:latin typeface="メイリオ" panose="020B0604030504040204" pitchFamily="50" charset="-128"/>
                <a:ea typeface="メイリオ" panose="020B0604030504040204" pitchFamily="50" charset="-128"/>
              </a:rPr>
              <a:t>改善</a:t>
            </a:r>
            <a:endParaRPr lang="en-US" altLang="ja-JP" sz="2000" b="1" dirty="0">
              <a:solidFill>
                <a:srgbClr val="FF0000"/>
              </a:solidFill>
              <a:latin typeface="メイリオ" panose="020B0604030504040204" pitchFamily="50" charset="-128"/>
              <a:ea typeface="メイリオ" panose="020B0604030504040204" pitchFamily="50" charset="-128"/>
            </a:endParaRPr>
          </a:p>
          <a:p>
            <a:pPr algn="ctr"/>
            <a:endParaRPr lang="en-US" altLang="ja-JP" sz="1400" b="1" dirty="0">
              <a:solidFill>
                <a:srgbClr val="FF0000"/>
              </a:solidFill>
              <a:latin typeface="メイリオ" panose="020B0604030504040204" pitchFamily="50" charset="-128"/>
              <a:ea typeface="メイリオ" panose="020B0604030504040204" pitchFamily="50" charset="-128"/>
            </a:endParaRPr>
          </a:p>
          <a:p>
            <a:pPr algn="ctr"/>
            <a:r>
              <a:rPr lang="ja-JP" altLang="en-US" sz="1400" dirty="0">
                <a:solidFill>
                  <a:srgbClr val="FF0000"/>
                </a:solidFill>
                <a:latin typeface="メイリオ" panose="020B0604030504040204" pitchFamily="50" charset="-128"/>
                <a:ea typeface="メイリオ" panose="020B0604030504040204" pitchFamily="50" charset="-128"/>
              </a:rPr>
              <a:t>成果地点、課金地点には、</a:t>
            </a:r>
            <a:endParaRPr lang="en-US" altLang="ja-JP" sz="1400" dirty="0">
              <a:solidFill>
                <a:srgbClr val="FF0000"/>
              </a:solidFill>
              <a:latin typeface="メイリオ" panose="020B0604030504040204" pitchFamily="50" charset="-128"/>
              <a:ea typeface="メイリオ" panose="020B0604030504040204" pitchFamily="50" charset="-128"/>
            </a:endParaRPr>
          </a:p>
          <a:p>
            <a:pPr algn="ctr"/>
            <a:r>
              <a:rPr lang="en-US" altLang="ja-JP" sz="1400" b="1" dirty="0">
                <a:solidFill>
                  <a:srgbClr val="FF0000"/>
                </a:solidFill>
                <a:latin typeface="メイリオ" panose="020B0604030504040204" pitchFamily="50" charset="-128"/>
                <a:ea typeface="メイリオ" panose="020B0604030504040204" pitchFamily="50" charset="-128"/>
              </a:rPr>
              <a:t>LINE</a:t>
            </a:r>
            <a:r>
              <a:rPr lang="ja-JP" altLang="en-US" sz="1400" b="1" dirty="0">
                <a:solidFill>
                  <a:srgbClr val="FF0000"/>
                </a:solidFill>
                <a:latin typeface="メイリオ" panose="020B0604030504040204" pitchFamily="50" charset="-128"/>
                <a:ea typeface="メイリオ" panose="020B0604030504040204" pitchFamily="50" charset="-128"/>
              </a:rPr>
              <a:t>追加から平均</a:t>
            </a:r>
            <a:r>
              <a:rPr lang="en-US" altLang="ja-JP" sz="1400" b="1" dirty="0">
                <a:solidFill>
                  <a:srgbClr val="FF0000"/>
                </a:solidFill>
                <a:latin typeface="メイリオ" panose="020B0604030504040204" pitchFamily="50" charset="-128"/>
                <a:ea typeface="メイリオ" panose="020B0604030504040204" pitchFamily="50" charset="-128"/>
              </a:rPr>
              <a:t>3%</a:t>
            </a:r>
            <a:r>
              <a:rPr lang="ja-JP" altLang="en-US" sz="1400" b="1" dirty="0">
                <a:solidFill>
                  <a:srgbClr val="FF0000"/>
                </a:solidFill>
                <a:latin typeface="メイリオ" panose="020B0604030504040204" pitchFamily="50" charset="-128"/>
                <a:ea typeface="メイリオ" panose="020B0604030504040204" pitchFamily="50" charset="-128"/>
              </a:rPr>
              <a:t>が到達</a:t>
            </a:r>
            <a:r>
              <a:rPr lang="ja-JP" altLang="en-US" sz="1400" dirty="0">
                <a:solidFill>
                  <a:srgbClr val="FF0000"/>
                </a:solidFill>
                <a:latin typeface="メイリオ" panose="020B0604030504040204" pitchFamily="50" charset="-128"/>
                <a:ea typeface="メイリオ" panose="020B0604030504040204" pitchFamily="50" charset="-128"/>
              </a:rPr>
              <a:t>する。</a:t>
            </a:r>
            <a:endParaRPr lang="en-US" altLang="ja-JP" sz="1400" dirty="0">
              <a:solidFill>
                <a:srgbClr val="FF0000"/>
              </a:solidFill>
              <a:latin typeface="メイリオ" panose="020B0604030504040204" pitchFamily="50" charset="-128"/>
              <a:ea typeface="メイリオ" panose="020B0604030504040204" pitchFamily="50" charset="-128"/>
            </a:endParaRPr>
          </a:p>
        </p:txBody>
      </p:sp>
      <p:sp>
        <p:nvSpPr>
          <p:cNvPr id="123" name="テキスト ボックス 122">
            <a:extLst>
              <a:ext uri="{FF2B5EF4-FFF2-40B4-BE49-F238E27FC236}">
                <a16:creationId xmlns:a16="http://schemas.microsoft.com/office/drawing/2014/main" id="{9E10ACB5-DE72-A1D7-3234-7AA6EA065B02}"/>
              </a:ext>
            </a:extLst>
          </p:cNvPr>
          <p:cNvSpPr txBox="1"/>
          <p:nvPr/>
        </p:nvSpPr>
        <p:spPr>
          <a:xfrm>
            <a:off x="5001123" y="5732571"/>
            <a:ext cx="4512622" cy="230832"/>
          </a:xfrm>
          <a:prstGeom prst="rect">
            <a:avLst/>
          </a:prstGeom>
          <a:noFill/>
        </p:spPr>
        <p:txBody>
          <a:bodyPr wrap="square">
            <a:spAutoFit/>
          </a:bodyPr>
          <a:lstStyle/>
          <a:p>
            <a:pPr algn="ctr"/>
            <a:r>
              <a:rPr lang="ja-JP" altLang="en-US" sz="900" dirty="0">
                <a:solidFill>
                  <a:srgbClr val="FF0000"/>
                </a:solidFill>
                <a:latin typeface="メイリオ" panose="020B0604030504040204" pitchFamily="50" charset="-128"/>
                <a:ea typeface="メイリオ" panose="020B0604030504040204" pitchFamily="50" charset="-128"/>
              </a:rPr>
              <a:t>友だち追加動線により変動します。</a:t>
            </a:r>
            <a:endParaRPr lang="ja-JP" altLang="en-US" sz="1050" dirty="0"/>
          </a:p>
        </p:txBody>
      </p:sp>
      <p:sp>
        <p:nvSpPr>
          <p:cNvPr id="125" name="正方形/長方形 124">
            <a:extLst>
              <a:ext uri="{FF2B5EF4-FFF2-40B4-BE49-F238E27FC236}">
                <a16:creationId xmlns:a16="http://schemas.microsoft.com/office/drawing/2014/main" id="{8AA79FF8-045D-B91F-3862-26BD57F723BA}"/>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181905972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752;p28">
            <a:extLst>
              <a:ext uri="{FF2B5EF4-FFF2-40B4-BE49-F238E27FC236}">
                <a16:creationId xmlns:a16="http://schemas.microsoft.com/office/drawing/2014/main" id="{E371F4F6-3F93-7830-595E-799AA69EA971}"/>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実例紹介 </a:t>
            </a:r>
            <a:r>
              <a:rPr lang="en-US" altLang="ja-JP" sz="1600" b="1" dirty="0">
                <a:solidFill>
                  <a:srgbClr val="323366"/>
                </a:solidFill>
                <a:latin typeface="メイリオ" panose="020B0604030504040204" pitchFamily="50" charset="-128"/>
                <a:ea typeface="メイリオ" panose="020B0604030504040204" pitchFamily="50" charset="-128"/>
                <a:cs typeface="Meiryo"/>
                <a:sym typeface="Meiryo"/>
              </a:rPr>
              <a:t>- </a:t>
            </a:r>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弊社実績について</a:t>
            </a:r>
          </a:p>
        </p:txBody>
      </p:sp>
      <p:graphicFrame>
        <p:nvGraphicFramePr>
          <p:cNvPr id="3" name="表 2">
            <a:extLst>
              <a:ext uri="{FF2B5EF4-FFF2-40B4-BE49-F238E27FC236}">
                <a16:creationId xmlns:a16="http://schemas.microsoft.com/office/drawing/2014/main" id="{9A6B81D2-7F85-D98D-ED15-FD61A8068EF9}"/>
              </a:ext>
            </a:extLst>
          </p:cNvPr>
          <p:cNvGraphicFramePr>
            <a:graphicFrameLocks noGrp="1"/>
          </p:cNvGraphicFramePr>
          <p:nvPr/>
        </p:nvGraphicFramePr>
        <p:xfrm>
          <a:off x="381000" y="809625"/>
          <a:ext cx="9191625" cy="5485142"/>
        </p:xfrm>
        <a:graphic>
          <a:graphicData uri="http://schemas.openxmlformats.org/drawingml/2006/table">
            <a:tbl>
              <a:tblPr/>
              <a:tblGrid>
                <a:gridCol w="1819275">
                  <a:extLst>
                    <a:ext uri="{9D8B030D-6E8A-4147-A177-3AD203B41FA5}">
                      <a16:colId xmlns:a16="http://schemas.microsoft.com/office/drawing/2014/main" val="1856077232"/>
                    </a:ext>
                  </a:extLst>
                </a:gridCol>
                <a:gridCol w="828675">
                  <a:extLst>
                    <a:ext uri="{9D8B030D-6E8A-4147-A177-3AD203B41FA5}">
                      <a16:colId xmlns:a16="http://schemas.microsoft.com/office/drawing/2014/main" val="2505763101"/>
                    </a:ext>
                  </a:extLst>
                </a:gridCol>
                <a:gridCol w="2856379">
                  <a:extLst>
                    <a:ext uri="{9D8B030D-6E8A-4147-A177-3AD203B41FA5}">
                      <a16:colId xmlns:a16="http://schemas.microsoft.com/office/drawing/2014/main" val="415261329"/>
                    </a:ext>
                  </a:extLst>
                </a:gridCol>
                <a:gridCol w="3687296">
                  <a:extLst>
                    <a:ext uri="{9D8B030D-6E8A-4147-A177-3AD203B41FA5}">
                      <a16:colId xmlns:a16="http://schemas.microsoft.com/office/drawing/2014/main" val="2991975434"/>
                    </a:ext>
                  </a:extLst>
                </a:gridCol>
              </a:tblGrid>
              <a:tr h="371475">
                <a:tc>
                  <a:txBody>
                    <a:bodyPr/>
                    <a:lstStyle/>
                    <a:p>
                      <a:pPr algn="ctr" fontAlgn="ctr">
                        <a:buNone/>
                      </a:pPr>
                      <a:r>
                        <a:rPr lang="ja-JP" altLang="en-US" sz="1400" b="1" i="0" u="none" strike="noStrike" dirty="0">
                          <a:solidFill>
                            <a:schemeClr val="bg1"/>
                          </a:solidFill>
                          <a:effectLst/>
                          <a:latin typeface="メイリオ" panose="020B0604030504040204" pitchFamily="50" charset="-128"/>
                          <a:ea typeface="メイリオ" panose="020B0604030504040204" pitchFamily="50" charset="-128"/>
                        </a:rPr>
                        <a:t>業界</a:t>
                      </a: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191F54"/>
                    </a:solidFill>
                  </a:tcPr>
                </a:tc>
                <a:tc>
                  <a:txBody>
                    <a:bodyPr/>
                    <a:lstStyle/>
                    <a:p>
                      <a:pPr algn="ctr" fontAlgn="ctr">
                        <a:buNone/>
                      </a:pPr>
                      <a:r>
                        <a:rPr lang="ja-JP" altLang="en-US" sz="1400" b="1" i="0" u="none" strike="noStrike" dirty="0">
                          <a:solidFill>
                            <a:schemeClr val="bg1"/>
                          </a:solidFill>
                          <a:effectLst/>
                          <a:latin typeface="メイリオ" panose="020B0604030504040204" pitchFamily="50" charset="-128"/>
                          <a:ea typeface="メイリオ" panose="020B0604030504040204" pitchFamily="50" charset="-128"/>
                        </a:rPr>
                        <a:t>運用期間</a:t>
                      </a: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191F54"/>
                    </a:solidFill>
                  </a:tcPr>
                </a:tc>
                <a:tc>
                  <a:txBody>
                    <a:bodyPr/>
                    <a:lstStyle/>
                    <a:p>
                      <a:pPr algn="ctr" fontAlgn="ctr">
                        <a:buNone/>
                      </a:pPr>
                      <a:r>
                        <a:rPr lang="ja-JP" altLang="en-US" sz="1400" b="1" i="0" u="none" strike="noStrike" dirty="0">
                          <a:solidFill>
                            <a:schemeClr val="bg1"/>
                          </a:solidFill>
                          <a:effectLst/>
                          <a:latin typeface="メイリオ" panose="020B0604030504040204" pitchFamily="50" charset="-128"/>
                          <a:ea typeface="メイリオ" panose="020B0604030504040204" pitchFamily="50" charset="-128"/>
                        </a:rPr>
                        <a:t>施策インパクト</a:t>
                      </a: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191F54"/>
                    </a:solidFill>
                  </a:tcPr>
                </a:tc>
                <a:tc>
                  <a:txBody>
                    <a:bodyPr/>
                    <a:lstStyle/>
                    <a:p>
                      <a:pPr algn="ctr" fontAlgn="ctr">
                        <a:buNone/>
                      </a:pPr>
                      <a:r>
                        <a:rPr lang="ja-JP" altLang="en-US" sz="1400" b="1" i="0" u="none" strike="noStrike" dirty="0">
                          <a:solidFill>
                            <a:schemeClr val="bg1"/>
                          </a:solidFill>
                          <a:effectLst/>
                          <a:latin typeface="メイリオ" panose="020B0604030504040204" pitchFamily="50" charset="-128"/>
                          <a:ea typeface="メイリオ" panose="020B0604030504040204" pitchFamily="50" charset="-128"/>
                        </a:rPr>
                        <a:t>施策内容</a:t>
                      </a: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191F54"/>
                    </a:solidFill>
                  </a:tcPr>
                </a:tc>
                <a:extLst>
                  <a:ext uri="{0D108BD9-81ED-4DB2-BD59-A6C34878D82A}">
                    <a16:rowId xmlns:a16="http://schemas.microsoft.com/office/drawing/2014/main" val="369463423"/>
                  </a:ext>
                </a:extLst>
              </a:tr>
              <a:tr h="1028103">
                <a:tc>
                  <a:txBody>
                    <a:bodyPr/>
                    <a:lstStyle/>
                    <a:p>
                      <a:pPr algn="ctr" fontAlgn="ctr">
                        <a:buNone/>
                      </a:pPr>
                      <a:r>
                        <a:rPr lang="ja-JP" altLang="en-US" sz="1200" b="1" i="0" u="none" strike="noStrike" dirty="0">
                          <a:solidFill>
                            <a:srgbClr val="191F54"/>
                          </a:solidFill>
                          <a:effectLst/>
                          <a:latin typeface="メイリオ" panose="020B0604030504040204" pitchFamily="50" charset="-128"/>
                          <a:ea typeface="メイリオ" panose="020B0604030504040204" pitchFamily="50" charset="-128"/>
                        </a:rPr>
                        <a:t>人材</a:t>
                      </a:r>
                      <a:endParaRPr lang="en-US" altLang="ja-JP" sz="1200" b="1" i="0" u="none" strike="noStrike" dirty="0">
                        <a:solidFill>
                          <a:srgbClr val="191F54"/>
                        </a:solidFill>
                        <a:effectLst/>
                        <a:latin typeface="メイリオ" panose="020B0604030504040204" pitchFamily="50" charset="-128"/>
                        <a:ea typeface="メイリオ" panose="020B0604030504040204" pitchFamily="50" charset="-128"/>
                      </a:endParaRPr>
                    </a:p>
                    <a:p>
                      <a:pPr algn="ctr" fontAlgn="ctr">
                        <a:buNone/>
                      </a:pPr>
                      <a:r>
                        <a:rPr lang="ja-JP" altLang="en-US" sz="1200" b="1" i="0" u="none" strike="noStrike" dirty="0">
                          <a:solidFill>
                            <a:srgbClr val="191F54"/>
                          </a:solidFill>
                          <a:effectLst/>
                          <a:latin typeface="メイリオ" panose="020B0604030504040204" pitchFamily="50" charset="-128"/>
                          <a:ea typeface="メイリオ" panose="020B0604030504040204" pitchFamily="50" charset="-128"/>
                        </a:rPr>
                        <a:t>（資格職・専門職転職）</a:t>
                      </a: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accent1">
                        <a:lumMod val="20000"/>
                        <a:lumOff val="80000"/>
                      </a:schemeClr>
                    </a:solidFill>
                  </a:tcPr>
                </a:tc>
                <a:tc>
                  <a:txBody>
                    <a:bodyPr/>
                    <a:lstStyle/>
                    <a:p>
                      <a:pPr algn="ctr" fontAlgn="ctr">
                        <a:buNone/>
                      </a:pPr>
                      <a:r>
                        <a:rPr lang="en-US" altLang="ja-JP" sz="1100" b="1"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8</a:t>
                      </a:r>
                      <a:r>
                        <a:rPr lang="ja-JP" altLang="en-US" sz="1100" b="1"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ヶ月</a:t>
                      </a: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88900" indent="0" algn="l" fontAlgn="ctr">
                        <a:lnSpc>
                          <a:spcPct val="100000"/>
                        </a:lnSpc>
                        <a:buNone/>
                      </a:pP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■月間求人応募数</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b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2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br>
                        <a:rPr lang="en-US" altLang="ja-JP"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r>
                        <a:rPr lang="en-US" altLang="ja-JP" sz="1600" b="1" i="0" u="none" strike="noStrike" dirty="0">
                          <a:solidFill>
                            <a:srgbClr val="C00000"/>
                          </a:solidFill>
                          <a:effectLst/>
                          <a:latin typeface="メイリオ" panose="020B0604030504040204" pitchFamily="50" charset="-128"/>
                          <a:ea typeface="メイリオ" panose="020B0604030504040204" pitchFamily="50" charset="-128"/>
                        </a:rPr>
                        <a:t>2</a:t>
                      </a:r>
                      <a:r>
                        <a:rPr lang="ja-JP" altLang="en-US" sz="1600" b="1" i="0" u="none" strike="noStrike" dirty="0">
                          <a:solidFill>
                            <a:srgbClr val="C00000"/>
                          </a:solidFill>
                          <a:effectLst/>
                          <a:latin typeface="メイリオ" panose="020B0604030504040204" pitchFamily="50" charset="-128"/>
                          <a:ea typeface="メイリオ" panose="020B0604030504040204" pitchFamily="50" charset="-128"/>
                        </a:rPr>
                        <a:t>倍</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2</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件</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 4</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件）</a:t>
                      </a:r>
                      <a:br>
                        <a:rPr lang="en-US" altLang="ja-JP" sz="18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4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b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CPA</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換算</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b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2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br>
                        <a:rPr lang="en-US" altLang="ja-JP"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r>
                        <a:rPr lang="en-US" altLang="ja-JP" sz="1600" b="1" i="0" u="none" strike="noStrike" dirty="0">
                          <a:solidFill>
                            <a:srgbClr val="C00000"/>
                          </a:solidFill>
                          <a:effectLst/>
                          <a:latin typeface="メイリオ" panose="020B0604030504040204" pitchFamily="50" charset="-128"/>
                          <a:ea typeface="メイリオ" panose="020B0604030504040204" pitchFamily="50" charset="-128"/>
                        </a:rPr>
                        <a:t>30</a:t>
                      </a:r>
                      <a:r>
                        <a:rPr lang="ja-JP" altLang="en-US" sz="1600" b="1" i="0" u="none" strike="noStrike" dirty="0">
                          <a:solidFill>
                            <a:srgbClr val="C00000"/>
                          </a:solidFill>
                          <a:effectLst/>
                          <a:latin typeface="メイリオ" panose="020B0604030504040204" pitchFamily="50" charset="-128"/>
                          <a:ea typeface="メイリオ" panose="020B0604030504040204" pitchFamily="50" charset="-128"/>
                        </a:rPr>
                        <a:t>％改善</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¥145,000 → ¥102,000</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endParaRPr lang="en-US" altLang="ja-JP"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endParaRP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88900" indent="0" algn="l" fontAlgn="ctr">
                        <a:buNone/>
                      </a:pP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・アンケートによる</a:t>
                      </a:r>
                      <a:r>
                        <a:rPr lang="ja-JP" altLang="en-US" sz="1200" b="1" i="0" u="sng" strike="noStrike" dirty="0">
                          <a:solidFill>
                            <a:srgbClr val="C00000"/>
                          </a:solidFill>
                          <a:effectLst/>
                          <a:latin typeface="メイリオ" panose="020B0604030504040204" pitchFamily="50" charset="-128"/>
                          <a:ea typeface="メイリオ" panose="020B0604030504040204" pitchFamily="50" charset="-128"/>
                        </a:rPr>
                        <a:t>ユーザーセグメントの取得</a:t>
                      </a:r>
                      <a:br>
                        <a:rPr lang="en-US" altLang="ja-JP" sz="1200" b="1" i="0" u="sng" strike="noStrike" dirty="0">
                          <a:solidFill>
                            <a:srgbClr val="C00000"/>
                          </a:solidFill>
                          <a:effectLst/>
                          <a:latin typeface="メイリオ" panose="020B0604030504040204" pitchFamily="50" charset="-128"/>
                          <a:ea typeface="メイリオ" panose="020B0604030504040204" pitchFamily="50" charset="-128"/>
                        </a:rPr>
                      </a:br>
                      <a:r>
                        <a:rPr lang="ja-JP" altLang="en-US" sz="400" b="1" i="0" u="sng" strike="noStrike" dirty="0">
                          <a:solidFill>
                            <a:srgbClr val="C00000"/>
                          </a:solidFill>
                          <a:effectLst/>
                          <a:latin typeface="メイリオ" panose="020B0604030504040204" pitchFamily="50" charset="-128"/>
                          <a:ea typeface="メイリオ" panose="020B0604030504040204" pitchFamily="50" charset="-128"/>
                        </a:rPr>
                        <a:t>　</a:t>
                      </a:r>
                      <a:b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・セグメント配信による</a:t>
                      </a:r>
                      <a:r>
                        <a:rPr lang="ja-JP" altLang="en-US" sz="1200" b="1" i="0" u="sng" strike="noStrike" dirty="0">
                          <a:solidFill>
                            <a:srgbClr val="C00000"/>
                          </a:solidFill>
                          <a:effectLst/>
                          <a:latin typeface="メイリオ" panose="020B0604030504040204" pitchFamily="50" charset="-128"/>
                          <a:ea typeface="メイリオ" panose="020B0604030504040204" pitchFamily="50" charset="-128"/>
                        </a:rPr>
                        <a:t>パーソナライズされた追客</a:t>
                      </a:r>
                      <a:endParaRPr lang="ja-JP" altLang="en-US" sz="1100" b="1" i="0" u="sng" strike="noStrike" dirty="0">
                        <a:solidFill>
                          <a:srgbClr val="C00000"/>
                        </a:solidFill>
                        <a:effectLst/>
                        <a:latin typeface="メイリオ" panose="020B0604030504040204" pitchFamily="50" charset="-128"/>
                        <a:ea typeface="メイリオ" panose="020B0604030504040204" pitchFamily="50" charset="-128"/>
                      </a:endParaRP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534378025"/>
                  </a:ext>
                </a:extLst>
              </a:tr>
              <a:tr h="1021391">
                <a:tc>
                  <a:txBody>
                    <a:bodyPr/>
                    <a:lstStyle/>
                    <a:p>
                      <a:pPr algn="ctr" fontAlgn="ctr">
                        <a:buNone/>
                      </a:pPr>
                      <a:r>
                        <a:rPr lang="ja-JP" altLang="en-US" sz="1200" b="1" i="0" u="none" strike="noStrike" dirty="0">
                          <a:solidFill>
                            <a:srgbClr val="191F54"/>
                          </a:solidFill>
                          <a:effectLst/>
                          <a:latin typeface="メイリオ" panose="020B0604030504040204" pitchFamily="50" charset="-128"/>
                          <a:ea typeface="メイリオ" panose="020B0604030504040204" pitchFamily="50" charset="-128"/>
                        </a:rPr>
                        <a:t>不動産</a:t>
                      </a:r>
                      <a:endParaRPr lang="en-US" altLang="ja-JP" sz="1200" b="1" i="0" u="none" strike="noStrike" dirty="0">
                        <a:solidFill>
                          <a:srgbClr val="191F54"/>
                        </a:solidFill>
                        <a:effectLst/>
                        <a:latin typeface="メイリオ" panose="020B0604030504040204" pitchFamily="50" charset="-128"/>
                        <a:ea typeface="メイリオ" panose="020B0604030504040204" pitchFamily="50" charset="-128"/>
                      </a:endParaRPr>
                    </a:p>
                    <a:p>
                      <a:pPr algn="ctr" fontAlgn="ctr">
                        <a:buNone/>
                      </a:pPr>
                      <a:r>
                        <a:rPr lang="ja-JP" altLang="en-US" sz="1200" b="1" i="0" u="none" strike="noStrike" dirty="0">
                          <a:solidFill>
                            <a:srgbClr val="191F54"/>
                          </a:solidFill>
                          <a:effectLst/>
                          <a:latin typeface="メイリオ" panose="020B0604030504040204" pitchFamily="50" charset="-128"/>
                          <a:ea typeface="メイリオ" panose="020B0604030504040204" pitchFamily="50" charset="-128"/>
                        </a:rPr>
                        <a:t>（住宅メーカー）</a:t>
                      </a: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accent1">
                        <a:lumMod val="20000"/>
                        <a:lumOff val="80000"/>
                      </a:schemeClr>
                    </a:solidFill>
                  </a:tcPr>
                </a:tc>
                <a:tc>
                  <a:txBody>
                    <a:bodyPr/>
                    <a:lstStyle/>
                    <a:p>
                      <a:pPr algn="ctr" fontAlgn="ctr">
                        <a:buNone/>
                      </a:pPr>
                      <a:r>
                        <a:rPr lang="en-US" altLang="ja-JP" sz="1100" b="1"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10</a:t>
                      </a:r>
                      <a:r>
                        <a:rPr lang="ja-JP" altLang="en-US" sz="1100" b="1"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ヶ月</a:t>
                      </a: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88900" indent="0" algn="l" fontAlgn="ctr">
                        <a:lnSpc>
                          <a:spcPct val="100000"/>
                        </a:lnSpc>
                        <a:buNone/>
                      </a:pP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■月間来場・資料請求件数</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p>
                    <a:p>
                      <a:pPr marL="88900" indent="0" algn="l" fontAlgn="ctr">
                        <a:lnSpc>
                          <a:spcPct val="100000"/>
                        </a:lnSpc>
                        <a:buNone/>
                      </a:pPr>
                      <a:r>
                        <a:rPr lang="ja-JP" altLang="en-US" sz="2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endParaRPr lang="en-US" altLang="ja-JP" sz="2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endParaRPr>
                    </a:p>
                    <a:p>
                      <a:pPr marL="88900" indent="0" algn="l" fontAlgn="ctr">
                        <a:lnSpc>
                          <a:spcPct val="100000"/>
                        </a:lnSpc>
                        <a:buNone/>
                      </a:pP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r>
                        <a:rPr lang="en-US" altLang="ja-JP" sz="1600" b="1" i="0" u="none" strike="noStrike" dirty="0">
                          <a:solidFill>
                            <a:srgbClr val="C00000"/>
                          </a:solidFill>
                          <a:effectLst/>
                          <a:latin typeface="メイリオ" panose="020B0604030504040204" pitchFamily="50" charset="-128"/>
                          <a:ea typeface="メイリオ" panose="020B0604030504040204" pitchFamily="50" charset="-128"/>
                        </a:rPr>
                        <a:t>12</a:t>
                      </a:r>
                      <a:r>
                        <a:rPr lang="ja-JP" altLang="en-US" sz="1600" b="1" i="0" u="none" strike="noStrike" dirty="0">
                          <a:solidFill>
                            <a:srgbClr val="C00000"/>
                          </a:solidFill>
                          <a:effectLst/>
                          <a:latin typeface="メイリオ" panose="020B0604030504040204" pitchFamily="50" charset="-128"/>
                          <a:ea typeface="メイリオ" panose="020B0604030504040204" pitchFamily="50" charset="-128"/>
                        </a:rPr>
                        <a:t>倍</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5</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件 → </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60</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件）</a:t>
                      </a:r>
                      <a:endPar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endParaRPr>
                    </a:p>
                    <a:p>
                      <a:pPr marL="88900" indent="0" algn="l" fontAlgn="ctr">
                        <a:lnSpc>
                          <a:spcPct val="100000"/>
                        </a:lnSpc>
                        <a:buNone/>
                      </a:pPr>
                      <a:r>
                        <a:rPr lang="ja-JP" altLang="en-US" sz="4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b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CPA</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換算</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p>
                    <a:p>
                      <a:pPr marL="88900" indent="0" algn="l" fontAlgn="ctr">
                        <a:lnSpc>
                          <a:spcPct val="100000"/>
                        </a:lnSpc>
                        <a:buNone/>
                      </a:pPr>
                      <a:r>
                        <a:rPr lang="ja-JP" altLang="en-US" sz="2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b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r>
                        <a:rPr lang="en-US" altLang="ja-JP" sz="1600" b="1" i="0" u="none" strike="noStrike" dirty="0">
                          <a:solidFill>
                            <a:srgbClr val="C00000"/>
                          </a:solidFill>
                          <a:effectLst/>
                          <a:latin typeface="メイリオ" panose="020B0604030504040204" pitchFamily="50" charset="-128"/>
                          <a:ea typeface="メイリオ" panose="020B0604030504040204" pitchFamily="50" charset="-128"/>
                        </a:rPr>
                        <a:t>92</a:t>
                      </a:r>
                      <a:r>
                        <a:rPr lang="ja-JP" altLang="en-US" sz="1600" b="1" i="0" u="none" strike="noStrike" dirty="0">
                          <a:solidFill>
                            <a:srgbClr val="C00000"/>
                          </a:solidFill>
                          <a:effectLst/>
                          <a:latin typeface="メイリオ" panose="020B0604030504040204" pitchFamily="50" charset="-128"/>
                          <a:ea typeface="メイリオ" panose="020B0604030504040204" pitchFamily="50" charset="-128"/>
                        </a:rPr>
                        <a:t>％改善</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¥150,000 → ¥12,500</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endPar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endParaRP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88900" indent="0" algn="l" fontAlgn="ctr">
                        <a:buNone/>
                      </a:pP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r>
                        <a:rPr lang="ja-JP" altLang="en-US" sz="1200" b="1" i="0" u="sng" strike="noStrike" dirty="0">
                          <a:solidFill>
                            <a:srgbClr val="C00000"/>
                          </a:solidFill>
                          <a:effectLst/>
                          <a:latin typeface="メイリオ" panose="020B0604030504040204" pitchFamily="50" charset="-128"/>
                          <a:ea typeface="メイリオ" panose="020B0604030504040204" pitchFamily="50" charset="-128"/>
                        </a:rPr>
                        <a:t>離脱防止バナー</a:t>
                      </a: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による友だち増加促進</a:t>
                      </a:r>
                      <a:br>
                        <a:rPr lang="en-US" altLang="ja-JP"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4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b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r>
                        <a:rPr lang="ja-JP" altLang="en-US" sz="1200" b="1" i="0" u="sng" strike="noStrike" dirty="0">
                          <a:solidFill>
                            <a:srgbClr val="C00000"/>
                          </a:solidFill>
                          <a:effectLst/>
                          <a:latin typeface="メイリオ" panose="020B0604030504040204" pitchFamily="50" charset="-128"/>
                          <a:ea typeface="メイリオ" panose="020B0604030504040204" pitchFamily="50" charset="-128"/>
                        </a:rPr>
                        <a:t>ペルソナに合わせた動線・クリエイティブ</a:t>
                      </a: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の設計</a:t>
                      </a: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409117311"/>
                  </a:ext>
                </a:extLst>
              </a:tr>
              <a:tr h="1021391">
                <a:tc>
                  <a:txBody>
                    <a:bodyPr/>
                    <a:lstStyle/>
                    <a:p>
                      <a:pPr algn="ctr" fontAlgn="ctr">
                        <a:buNone/>
                      </a:pPr>
                      <a:r>
                        <a:rPr lang="en-US" sz="1200" b="1" i="0" u="none" strike="noStrike" dirty="0">
                          <a:solidFill>
                            <a:srgbClr val="191F54"/>
                          </a:solidFill>
                          <a:effectLst/>
                          <a:latin typeface="メイリオ" panose="020B0604030504040204" pitchFamily="50" charset="-128"/>
                          <a:ea typeface="メイリオ" panose="020B0604030504040204" pitchFamily="50" charset="-128"/>
                        </a:rPr>
                        <a:t>EC</a:t>
                      </a:r>
                    </a:p>
                    <a:p>
                      <a:pPr algn="ctr" fontAlgn="ctr">
                        <a:buNone/>
                      </a:pPr>
                      <a:r>
                        <a:rPr lang="en-US" sz="1200" b="1" i="0" u="none" strike="noStrike" dirty="0">
                          <a:solidFill>
                            <a:srgbClr val="191F54"/>
                          </a:solidFill>
                          <a:effectLst/>
                          <a:latin typeface="メイリオ" panose="020B0604030504040204" pitchFamily="50" charset="-128"/>
                          <a:ea typeface="メイリオ" panose="020B0604030504040204" pitchFamily="50" charset="-128"/>
                        </a:rPr>
                        <a:t>（</a:t>
                      </a:r>
                      <a:r>
                        <a:rPr lang="ja-JP" altLang="en-US" sz="1200" b="1" i="0" u="none" strike="noStrike" dirty="0">
                          <a:solidFill>
                            <a:srgbClr val="191F54"/>
                          </a:solidFill>
                          <a:effectLst/>
                          <a:latin typeface="メイリオ" panose="020B0604030504040204" pitchFamily="50" charset="-128"/>
                          <a:ea typeface="メイリオ" panose="020B0604030504040204" pitchFamily="50" charset="-128"/>
                        </a:rPr>
                        <a:t>総合</a:t>
                      </a:r>
                      <a:r>
                        <a:rPr lang="en-US" sz="1200" b="1" i="0" u="none" strike="noStrike" dirty="0">
                          <a:solidFill>
                            <a:srgbClr val="191F54"/>
                          </a:solidFill>
                          <a:effectLst/>
                          <a:latin typeface="メイリオ" panose="020B0604030504040204" pitchFamily="50" charset="-128"/>
                          <a:ea typeface="メイリオ" panose="020B0604030504040204" pitchFamily="50" charset="-128"/>
                        </a:rPr>
                        <a:t>EC）</a:t>
                      </a: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accent1">
                        <a:lumMod val="20000"/>
                        <a:lumOff val="80000"/>
                      </a:schemeClr>
                    </a:solidFill>
                  </a:tcPr>
                </a:tc>
                <a:tc>
                  <a:txBody>
                    <a:bodyPr/>
                    <a:lstStyle/>
                    <a:p>
                      <a:pPr algn="ctr" fontAlgn="ctr">
                        <a:buNone/>
                      </a:pPr>
                      <a:r>
                        <a:rPr lang="en-US" altLang="ja-JP" sz="1100" b="1"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1</a:t>
                      </a:r>
                      <a:r>
                        <a:rPr lang="ja-JP" altLang="en-US" sz="1100" b="1"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年</a:t>
                      </a:r>
                      <a:r>
                        <a:rPr lang="en-US" altLang="ja-JP" sz="1100" b="1"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8</a:t>
                      </a:r>
                      <a:r>
                        <a:rPr lang="ja-JP" altLang="en-US" sz="1100" b="1"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ヶ月</a:t>
                      </a: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88900" indent="0" algn="l" fontAlgn="ctr">
                        <a:lnSpc>
                          <a:spcPct val="100000"/>
                        </a:lnSpc>
                        <a:buNone/>
                      </a:pP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■月間</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CV</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件数</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p>
                    <a:p>
                      <a:pPr marL="88900" indent="0" algn="l" fontAlgn="ctr">
                        <a:lnSpc>
                          <a:spcPct val="100000"/>
                        </a:lnSpc>
                        <a:buNone/>
                      </a:pPr>
                      <a:r>
                        <a:rPr lang="ja-JP" altLang="en-US" sz="2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endParaRPr lang="en-US" altLang="ja-JP" sz="2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endParaRPr>
                    </a:p>
                    <a:p>
                      <a:pPr marL="88900" indent="0" algn="l" fontAlgn="ctr">
                        <a:lnSpc>
                          <a:spcPct val="100000"/>
                        </a:lnSpc>
                        <a:buNone/>
                      </a:pP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r>
                        <a:rPr lang="en-US" altLang="ja-JP" sz="1600" b="1" i="0" u="none" strike="noStrike" dirty="0">
                          <a:solidFill>
                            <a:srgbClr val="C00000"/>
                          </a:solidFill>
                          <a:effectLst/>
                          <a:latin typeface="メイリオ" panose="020B0604030504040204" pitchFamily="50" charset="-128"/>
                          <a:ea typeface="メイリオ" panose="020B0604030504040204" pitchFamily="50" charset="-128"/>
                        </a:rPr>
                        <a:t>4.3</a:t>
                      </a:r>
                      <a:r>
                        <a:rPr lang="ja-JP" altLang="en-US" sz="1600" b="1" i="0" u="none" strike="noStrike" dirty="0">
                          <a:solidFill>
                            <a:srgbClr val="C00000"/>
                          </a:solidFill>
                          <a:effectLst/>
                          <a:latin typeface="メイリオ" panose="020B0604030504040204" pitchFamily="50" charset="-128"/>
                          <a:ea typeface="メイリオ" panose="020B0604030504040204" pitchFamily="50" charset="-128"/>
                        </a:rPr>
                        <a:t>倍</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120</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件 → </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520</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件）</a:t>
                      </a:r>
                      <a:endPar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endParaRPr>
                    </a:p>
                    <a:p>
                      <a:pPr marL="88900" indent="0" algn="l" fontAlgn="ctr">
                        <a:lnSpc>
                          <a:spcPct val="100000"/>
                        </a:lnSpc>
                        <a:buNone/>
                      </a:pPr>
                      <a:r>
                        <a:rPr lang="ja-JP" altLang="en-US" sz="4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b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ROAS</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換算</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p>
                    <a:p>
                      <a:pPr marL="88900" indent="0" algn="l" fontAlgn="ctr">
                        <a:lnSpc>
                          <a:spcPct val="100000"/>
                        </a:lnSpc>
                        <a:buNone/>
                      </a:pPr>
                      <a:r>
                        <a:rPr lang="ja-JP" altLang="en-US" sz="2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b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r>
                        <a:rPr lang="en-US" altLang="ja-JP" sz="1600" b="1" i="0" u="none" strike="noStrike" dirty="0">
                          <a:solidFill>
                            <a:srgbClr val="C00000"/>
                          </a:solidFill>
                          <a:effectLst/>
                          <a:latin typeface="メイリオ" panose="020B0604030504040204" pitchFamily="50" charset="-128"/>
                          <a:ea typeface="メイリオ" panose="020B0604030504040204" pitchFamily="50" charset="-128"/>
                        </a:rPr>
                        <a:t>92</a:t>
                      </a:r>
                      <a:r>
                        <a:rPr lang="ja-JP" altLang="en-US" sz="1600" b="1" i="0" u="none" strike="noStrike" dirty="0">
                          <a:solidFill>
                            <a:srgbClr val="C00000"/>
                          </a:solidFill>
                          <a:effectLst/>
                          <a:latin typeface="メイリオ" panose="020B0604030504040204" pitchFamily="50" charset="-128"/>
                          <a:ea typeface="メイリオ" panose="020B0604030504040204" pitchFamily="50" charset="-128"/>
                        </a:rPr>
                        <a:t>％改善</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¥150,000 → ¥12,500</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endPar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endParaRP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88900" indent="0" algn="l" fontAlgn="ctr">
                        <a:buNone/>
                      </a:pP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r>
                        <a:rPr lang="ja-JP" altLang="en-US" sz="1200" b="1" i="0" u="sng" strike="noStrike" dirty="0">
                          <a:solidFill>
                            <a:srgbClr val="C00000"/>
                          </a:solidFill>
                          <a:effectLst/>
                          <a:latin typeface="メイリオ" panose="020B0604030504040204" pitchFamily="50" charset="-128"/>
                          <a:ea typeface="メイリオ" panose="020B0604030504040204" pitchFamily="50" charset="-128"/>
                        </a:rPr>
                        <a:t>離脱防止バナーと</a:t>
                      </a:r>
                      <a:r>
                        <a:rPr lang="en-US" altLang="ja-JP" sz="1200" b="1" i="0" u="sng" strike="noStrike" dirty="0">
                          <a:solidFill>
                            <a:srgbClr val="C00000"/>
                          </a:solidFill>
                          <a:effectLst/>
                          <a:latin typeface="メイリオ" panose="020B0604030504040204" pitchFamily="50" charset="-128"/>
                          <a:ea typeface="メイリオ" panose="020B0604030504040204" pitchFamily="50" charset="-128"/>
                        </a:rPr>
                        <a:t>CPF</a:t>
                      </a: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を活用した友だち増加</a:t>
                      </a:r>
                      <a:br>
                        <a:rPr lang="en-US" altLang="ja-JP"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4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b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・アンケートを実施し、</a:t>
                      </a:r>
                      <a:r>
                        <a:rPr lang="ja-JP" altLang="en-US" sz="1200" b="1" i="0" u="sng" strike="noStrike" dirty="0">
                          <a:solidFill>
                            <a:srgbClr val="C00000"/>
                          </a:solidFill>
                          <a:effectLst/>
                          <a:latin typeface="メイリオ" panose="020B0604030504040204" pitchFamily="50" charset="-128"/>
                          <a:ea typeface="メイリオ" panose="020B0604030504040204" pitchFamily="50" charset="-128"/>
                        </a:rPr>
                        <a:t>カゴ落ちユーザーを中心に</a:t>
                      </a:r>
                      <a:br>
                        <a:rPr lang="ja-JP" altLang="en-US" sz="1200" b="1" i="0" u="sng" strike="noStrike" dirty="0">
                          <a:solidFill>
                            <a:srgbClr val="C00000"/>
                          </a:solidFill>
                          <a:effectLst/>
                          <a:latin typeface="メイリオ" panose="020B0604030504040204" pitchFamily="50" charset="-128"/>
                          <a:ea typeface="メイリオ" panose="020B0604030504040204" pitchFamily="50" charset="-128"/>
                        </a:rPr>
                      </a:br>
                      <a:r>
                        <a:rPr lang="ja-JP" altLang="en-US" sz="1200" b="0" i="0" u="none" strike="noStrike" dirty="0">
                          <a:solidFill>
                            <a:srgbClr val="C00000"/>
                          </a:solidFill>
                          <a:effectLst/>
                          <a:latin typeface="メイリオ" panose="020B0604030504040204" pitchFamily="50" charset="-128"/>
                          <a:ea typeface="メイリオ" panose="020B0604030504040204" pitchFamily="50" charset="-128"/>
                        </a:rPr>
                        <a:t>　</a:t>
                      </a:r>
                      <a:r>
                        <a:rPr lang="ja-JP" altLang="en-US" sz="1200" b="1" i="0" u="sng" strike="noStrike" dirty="0">
                          <a:solidFill>
                            <a:srgbClr val="C00000"/>
                          </a:solidFill>
                          <a:effectLst/>
                          <a:latin typeface="メイリオ" panose="020B0604030504040204" pitchFamily="50" charset="-128"/>
                          <a:ea typeface="メイリオ" panose="020B0604030504040204" pitchFamily="50" charset="-128"/>
                        </a:rPr>
                        <a:t>期間限定商品・高単価商品の情報を配信</a:t>
                      </a:r>
                      <a:endParaRPr lang="ja-JP" altLang="en-US" sz="1100" b="1" i="0" u="sng" strike="noStrike" dirty="0">
                        <a:solidFill>
                          <a:srgbClr val="C00000"/>
                        </a:solidFill>
                        <a:effectLst/>
                        <a:latin typeface="メイリオ" panose="020B0604030504040204" pitchFamily="50" charset="-128"/>
                        <a:ea typeface="メイリオ" panose="020B0604030504040204" pitchFamily="50" charset="-128"/>
                      </a:endParaRP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603009258"/>
                  </a:ext>
                </a:extLst>
              </a:tr>
              <a:tr h="1021391">
                <a:tc>
                  <a:txBody>
                    <a:bodyPr/>
                    <a:lstStyle/>
                    <a:p>
                      <a:pPr algn="ctr" fontAlgn="ctr">
                        <a:buNone/>
                      </a:pPr>
                      <a:r>
                        <a:rPr lang="ja-JP" altLang="en-US" sz="1200" b="1" i="0" u="none" strike="noStrike" dirty="0">
                          <a:solidFill>
                            <a:srgbClr val="191F54"/>
                          </a:solidFill>
                          <a:effectLst/>
                          <a:latin typeface="メイリオ" panose="020B0604030504040204" pitchFamily="50" charset="-128"/>
                          <a:ea typeface="メイリオ" panose="020B0604030504040204" pitchFamily="50" charset="-128"/>
                        </a:rPr>
                        <a:t>美容クリニック</a:t>
                      </a:r>
                      <a:endParaRPr lang="en-US" altLang="ja-JP" sz="1200" b="1" i="0" u="none" strike="noStrike" dirty="0">
                        <a:solidFill>
                          <a:srgbClr val="191F54"/>
                        </a:solidFill>
                        <a:effectLst/>
                        <a:latin typeface="メイリオ" panose="020B0604030504040204" pitchFamily="50" charset="-128"/>
                        <a:ea typeface="メイリオ" panose="020B0604030504040204" pitchFamily="50" charset="-128"/>
                      </a:endParaRPr>
                    </a:p>
                    <a:p>
                      <a:pPr algn="ctr" fontAlgn="ctr">
                        <a:buNone/>
                      </a:pPr>
                      <a:r>
                        <a:rPr lang="ja-JP" altLang="en-US" sz="1200" b="1" i="0" u="none" strike="noStrike" dirty="0">
                          <a:solidFill>
                            <a:srgbClr val="191F54"/>
                          </a:solidFill>
                          <a:effectLst/>
                          <a:latin typeface="メイリオ" panose="020B0604030504040204" pitchFamily="50" charset="-128"/>
                          <a:ea typeface="メイリオ" panose="020B0604030504040204" pitchFamily="50" charset="-128"/>
                        </a:rPr>
                        <a:t>（美肌治療）</a:t>
                      </a: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accent1">
                        <a:lumMod val="20000"/>
                        <a:lumOff val="80000"/>
                      </a:schemeClr>
                    </a:solidFill>
                  </a:tcPr>
                </a:tc>
                <a:tc>
                  <a:txBody>
                    <a:bodyPr/>
                    <a:lstStyle/>
                    <a:p>
                      <a:pPr algn="ctr" fontAlgn="ctr">
                        <a:buNone/>
                      </a:pPr>
                      <a:r>
                        <a:rPr lang="en-US" altLang="ja-JP" sz="1100" b="1"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1</a:t>
                      </a:r>
                      <a:r>
                        <a:rPr lang="ja-JP" altLang="en-US" sz="1100" b="1" i="0" u="none" strike="noStrike">
                          <a:solidFill>
                            <a:schemeClr val="tx1">
                              <a:lumMod val="65000"/>
                              <a:lumOff val="35000"/>
                            </a:schemeClr>
                          </a:solidFill>
                          <a:effectLst/>
                          <a:latin typeface="メイリオ" panose="020B0604030504040204" pitchFamily="50" charset="-128"/>
                          <a:ea typeface="メイリオ" panose="020B0604030504040204" pitchFamily="50" charset="-128"/>
                        </a:rPr>
                        <a:t>年</a:t>
                      </a:r>
                      <a:endParaRPr lang="ja-JP" altLang="en-US" sz="1100" b="1"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endParaRP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88900" indent="0" algn="l" fontAlgn="ctr">
                        <a:lnSpc>
                          <a:spcPct val="100000"/>
                        </a:lnSpc>
                        <a:buNone/>
                      </a:pP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■月間</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CV</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件数</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p>
                    <a:p>
                      <a:pPr marL="88900" indent="0" algn="l" fontAlgn="ctr">
                        <a:lnSpc>
                          <a:spcPct val="100000"/>
                        </a:lnSpc>
                        <a:buNone/>
                      </a:pPr>
                      <a:r>
                        <a:rPr lang="ja-JP" altLang="en-US" sz="2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endParaRPr lang="en-US" altLang="ja-JP" sz="2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endParaRPr>
                    </a:p>
                    <a:p>
                      <a:pPr marL="88900" indent="0" algn="l" fontAlgn="ctr">
                        <a:lnSpc>
                          <a:spcPct val="100000"/>
                        </a:lnSpc>
                        <a:buNone/>
                      </a:pP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r>
                        <a:rPr lang="en-US" altLang="ja-JP" sz="1600" b="1" i="0" u="none" strike="noStrike" dirty="0">
                          <a:solidFill>
                            <a:srgbClr val="C00000"/>
                          </a:solidFill>
                          <a:effectLst/>
                          <a:latin typeface="メイリオ" panose="020B0604030504040204" pitchFamily="50" charset="-128"/>
                          <a:ea typeface="メイリオ" panose="020B0604030504040204" pitchFamily="50" charset="-128"/>
                        </a:rPr>
                        <a:t>4</a:t>
                      </a:r>
                      <a:r>
                        <a:rPr lang="ja-JP" altLang="en-US" sz="1600" b="1" i="0" u="none" strike="noStrike" dirty="0">
                          <a:solidFill>
                            <a:srgbClr val="C00000"/>
                          </a:solidFill>
                          <a:effectLst/>
                          <a:latin typeface="メイリオ" panose="020B0604030504040204" pitchFamily="50" charset="-128"/>
                          <a:ea typeface="メイリオ" panose="020B0604030504040204" pitchFamily="50" charset="-128"/>
                        </a:rPr>
                        <a:t>倍</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15</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件 → </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60</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件）</a:t>
                      </a:r>
                      <a:endPar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endParaRPr>
                    </a:p>
                    <a:p>
                      <a:pPr marL="88900" indent="0" algn="l" fontAlgn="ctr">
                        <a:lnSpc>
                          <a:spcPct val="100000"/>
                        </a:lnSpc>
                        <a:buNone/>
                      </a:pPr>
                      <a:r>
                        <a:rPr lang="ja-JP" altLang="en-US" sz="4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b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ROAS</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換算</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p>
                    <a:p>
                      <a:pPr marL="88900" indent="0" algn="l" fontAlgn="ctr">
                        <a:lnSpc>
                          <a:spcPct val="100000"/>
                        </a:lnSpc>
                        <a:buNone/>
                      </a:pPr>
                      <a:r>
                        <a:rPr lang="ja-JP" altLang="en-US" sz="2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b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r>
                        <a:rPr lang="en-US" altLang="ja-JP" sz="1600" b="1" i="0" u="none" strike="noStrike" dirty="0">
                          <a:solidFill>
                            <a:srgbClr val="C00000"/>
                          </a:solidFill>
                          <a:effectLst/>
                          <a:latin typeface="メイリオ" panose="020B0604030504040204" pitchFamily="50" charset="-128"/>
                          <a:ea typeface="メイリオ" panose="020B0604030504040204" pitchFamily="50" charset="-128"/>
                        </a:rPr>
                        <a:t>63</a:t>
                      </a:r>
                      <a:r>
                        <a:rPr lang="ja-JP" altLang="en-US" sz="1600" b="1" i="0" u="none" strike="noStrike" dirty="0">
                          <a:solidFill>
                            <a:srgbClr val="C00000"/>
                          </a:solidFill>
                          <a:effectLst/>
                          <a:latin typeface="メイリオ" panose="020B0604030504040204" pitchFamily="50" charset="-128"/>
                          <a:ea typeface="メイリオ" panose="020B0604030504040204" pitchFamily="50" charset="-128"/>
                        </a:rPr>
                        <a:t>％改善</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¥32,000 → ¥12,000</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endParaRPr lang="en-US" altLang="ja-JP"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endParaRP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88900" indent="0" algn="l" fontAlgn="ctr">
                        <a:buNone/>
                      </a:pP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r>
                        <a:rPr lang="ja-JP" altLang="en-US" sz="1200" b="1" i="0" u="sng" strike="noStrike" dirty="0">
                          <a:solidFill>
                            <a:srgbClr val="C00000"/>
                          </a:solidFill>
                          <a:effectLst/>
                          <a:latin typeface="メイリオ" panose="020B0604030504040204" pitchFamily="50" charset="-128"/>
                          <a:ea typeface="メイリオ" panose="020B0604030504040204" pitchFamily="50" charset="-128"/>
                        </a:rPr>
                        <a:t>ビフォーアフターがわかるクリエイティブ</a:t>
                      </a: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を配信</a:t>
                      </a:r>
                      <a:br>
                        <a:rPr lang="en-US" altLang="ja-JP"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4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b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r>
                        <a:rPr lang="ja-JP" altLang="en-US" sz="1200" b="1" i="0" u="sng" strike="noStrike" dirty="0">
                          <a:solidFill>
                            <a:srgbClr val="C00000"/>
                          </a:solidFill>
                          <a:effectLst/>
                          <a:latin typeface="メイリオ" panose="020B0604030504040204" pitchFamily="50" charset="-128"/>
                          <a:ea typeface="メイリオ" panose="020B0604030504040204" pitchFamily="50" charset="-128"/>
                        </a:rPr>
                        <a:t>個別メッセージを利用したユーザー個々への追客</a:t>
                      </a: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665115858"/>
                  </a:ext>
                </a:extLst>
              </a:tr>
              <a:tr h="1021391">
                <a:tc>
                  <a:txBody>
                    <a:bodyPr/>
                    <a:lstStyle/>
                    <a:p>
                      <a:pPr algn="ctr" fontAlgn="ctr">
                        <a:buNone/>
                      </a:pPr>
                      <a:r>
                        <a:rPr lang="ja-JP" altLang="en-US" sz="1200" b="1" i="0" u="none" strike="noStrike" dirty="0">
                          <a:solidFill>
                            <a:srgbClr val="191F54"/>
                          </a:solidFill>
                          <a:effectLst/>
                          <a:latin typeface="メイリオ" panose="020B0604030504040204" pitchFamily="50" charset="-128"/>
                          <a:ea typeface="メイリオ" panose="020B0604030504040204" pitchFamily="50" charset="-128"/>
                        </a:rPr>
                        <a:t>美容クリニック</a:t>
                      </a:r>
                      <a:endParaRPr lang="en-US" altLang="ja-JP" sz="1200" b="1" i="0" u="none" strike="noStrike" dirty="0">
                        <a:solidFill>
                          <a:srgbClr val="191F54"/>
                        </a:solidFill>
                        <a:effectLst/>
                        <a:latin typeface="メイリオ" panose="020B0604030504040204" pitchFamily="50" charset="-128"/>
                        <a:ea typeface="メイリオ" panose="020B0604030504040204" pitchFamily="50" charset="-128"/>
                      </a:endParaRPr>
                    </a:p>
                    <a:p>
                      <a:pPr algn="ctr" fontAlgn="ctr">
                        <a:buNone/>
                      </a:pPr>
                      <a:r>
                        <a:rPr lang="ja-JP" altLang="en-US" sz="1200" b="1" i="0" u="none" strike="noStrike" dirty="0">
                          <a:solidFill>
                            <a:srgbClr val="191F54"/>
                          </a:solidFill>
                          <a:effectLst/>
                          <a:latin typeface="メイリオ" panose="020B0604030504040204" pitchFamily="50" charset="-128"/>
                          <a:ea typeface="メイリオ" panose="020B0604030504040204" pitchFamily="50" charset="-128"/>
                        </a:rPr>
                        <a:t>（痩身）</a:t>
                      </a: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accent1">
                        <a:lumMod val="20000"/>
                        <a:lumOff val="80000"/>
                      </a:schemeClr>
                    </a:solidFill>
                  </a:tcPr>
                </a:tc>
                <a:tc>
                  <a:txBody>
                    <a:bodyPr/>
                    <a:lstStyle/>
                    <a:p>
                      <a:pPr algn="ctr" fontAlgn="ctr">
                        <a:buNone/>
                      </a:pPr>
                      <a:r>
                        <a:rPr lang="en-US" altLang="ja-JP" sz="1100" b="1"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3</a:t>
                      </a:r>
                      <a:r>
                        <a:rPr lang="ja-JP" altLang="en-US" sz="1100" b="1"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年</a:t>
                      </a:r>
                      <a:r>
                        <a:rPr lang="en-US" altLang="ja-JP" sz="1100" b="1"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4</a:t>
                      </a:r>
                      <a:r>
                        <a:rPr lang="ja-JP" altLang="en-US" sz="1100" b="1"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ヶ月</a:t>
                      </a: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88900" indent="0" algn="l" fontAlgn="ctr">
                        <a:lnSpc>
                          <a:spcPct val="100000"/>
                        </a:lnSpc>
                        <a:buNone/>
                      </a:pP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■月間</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CV</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件数</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p>
                    <a:p>
                      <a:pPr marL="88900" indent="0" algn="l" fontAlgn="ctr">
                        <a:lnSpc>
                          <a:spcPct val="100000"/>
                        </a:lnSpc>
                        <a:buNone/>
                      </a:pPr>
                      <a:r>
                        <a:rPr lang="ja-JP" altLang="en-US" sz="2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endParaRPr lang="en-US" altLang="ja-JP" sz="2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endParaRPr>
                    </a:p>
                    <a:p>
                      <a:pPr marL="88900" indent="0" algn="l" fontAlgn="ctr">
                        <a:lnSpc>
                          <a:spcPct val="100000"/>
                        </a:lnSpc>
                        <a:buNone/>
                      </a:pP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r>
                        <a:rPr lang="ja-JP" altLang="en-US" sz="1100" b="1" i="0" u="none" strike="noStrike" dirty="0">
                          <a:solidFill>
                            <a:srgbClr val="C00000"/>
                          </a:solidFill>
                          <a:effectLst/>
                          <a:latin typeface="メイリオ" panose="020B0604030504040204" pitchFamily="50" charset="-128"/>
                          <a:ea typeface="メイリオ" panose="020B0604030504040204" pitchFamily="50" charset="-128"/>
                        </a:rPr>
                        <a:t>開設から</a:t>
                      </a:r>
                      <a:r>
                        <a:rPr lang="en-US" altLang="ja-JP" sz="1600" b="1" i="0" u="none" strike="noStrike" dirty="0">
                          <a:solidFill>
                            <a:srgbClr val="C00000"/>
                          </a:solidFill>
                          <a:effectLst/>
                          <a:latin typeface="メイリオ" panose="020B0604030504040204" pitchFamily="50" charset="-128"/>
                          <a:ea typeface="メイリオ" panose="020B0604030504040204" pitchFamily="50" charset="-128"/>
                        </a:rPr>
                        <a:t>45</a:t>
                      </a:r>
                      <a:r>
                        <a:rPr lang="ja-JP" altLang="en-US" sz="1600" b="1" i="0" u="none" strike="noStrike" dirty="0">
                          <a:solidFill>
                            <a:srgbClr val="C00000"/>
                          </a:solidFill>
                          <a:effectLst/>
                          <a:latin typeface="メイリオ" panose="020B0604030504040204" pitchFamily="50" charset="-128"/>
                          <a:ea typeface="メイリオ" panose="020B0604030504040204" pitchFamily="50" charset="-128"/>
                        </a:rPr>
                        <a:t>件</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N/A</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 </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45</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件）</a:t>
                      </a:r>
                      <a:endPar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endParaRPr>
                    </a:p>
                    <a:p>
                      <a:pPr marL="88900" indent="0" algn="l" fontAlgn="ctr">
                        <a:lnSpc>
                          <a:spcPct val="100000"/>
                        </a:lnSpc>
                        <a:buNone/>
                      </a:pPr>
                      <a:r>
                        <a:rPr lang="ja-JP" altLang="en-US" sz="4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b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CPA</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換算</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p>
                    <a:p>
                      <a:pPr marL="88900" indent="0" algn="l" fontAlgn="ctr">
                        <a:lnSpc>
                          <a:spcPct val="100000"/>
                        </a:lnSpc>
                        <a:buNone/>
                      </a:pPr>
                      <a:r>
                        <a:rPr lang="ja-JP" altLang="en-US" sz="2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b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r>
                        <a:rPr lang="ja-JP" altLang="en-US" sz="1100" b="1" i="0" u="none" strike="noStrike" dirty="0">
                          <a:solidFill>
                            <a:srgbClr val="C00000"/>
                          </a:solidFill>
                          <a:effectLst/>
                          <a:latin typeface="メイリオ" panose="020B0604030504040204" pitchFamily="50" charset="-128"/>
                          <a:ea typeface="メイリオ" panose="020B0604030504040204" pitchFamily="50" charset="-128"/>
                        </a:rPr>
                        <a:t>開設から</a:t>
                      </a:r>
                      <a:r>
                        <a:rPr lang="en-US" altLang="ja-JP" sz="1600" b="1" i="0" u="none" strike="noStrike" dirty="0">
                          <a:solidFill>
                            <a:srgbClr val="C00000"/>
                          </a:solidFill>
                          <a:effectLst/>
                          <a:latin typeface="メイリオ" panose="020B0604030504040204" pitchFamily="50" charset="-128"/>
                          <a:ea typeface="メイリオ" panose="020B0604030504040204" pitchFamily="50" charset="-128"/>
                        </a:rPr>
                        <a:t>1</a:t>
                      </a:r>
                      <a:r>
                        <a:rPr lang="ja-JP" altLang="en-US" sz="1600" b="1" i="0" u="none" strike="noStrike" dirty="0">
                          <a:solidFill>
                            <a:srgbClr val="C00000"/>
                          </a:solidFill>
                          <a:effectLst/>
                          <a:latin typeface="メイリオ" panose="020B0604030504040204" pitchFamily="50" charset="-128"/>
                          <a:ea typeface="メイリオ" panose="020B0604030504040204" pitchFamily="50" charset="-128"/>
                        </a:rPr>
                        <a:t>万円台</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N/A → ¥10,700</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endParaRPr lang="en-US" altLang="ja-JP"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endParaRP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88900" indent="0" algn="l" fontAlgn="ctr">
                        <a:buNone/>
                      </a:pP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r>
                        <a:rPr lang="ja-JP" altLang="en-US" sz="1200" b="1" i="0" u="sng" strike="noStrike" dirty="0">
                          <a:solidFill>
                            <a:srgbClr val="C00000"/>
                          </a:solidFill>
                          <a:effectLst/>
                          <a:latin typeface="メイリオ" panose="020B0604030504040204" pitchFamily="50" charset="-128"/>
                          <a:ea typeface="メイリオ" panose="020B0604030504040204" pitchFamily="50" charset="-128"/>
                        </a:rPr>
                        <a:t>ビフォーアフターがわかるクリエイティブ</a:t>
                      </a: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を配信</a:t>
                      </a:r>
                      <a:br>
                        <a:rPr lang="en-US" altLang="ja-JP"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4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b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・アンケート動線を設定し、</a:t>
                      </a:r>
                      <a:r>
                        <a:rPr lang="ja-JP" altLang="en-US" sz="1200" b="1" i="0" u="sng" strike="noStrike" dirty="0">
                          <a:solidFill>
                            <a:srgbClr val="C00000"/>
                          </a:solidFill>
                          <a:effectLst/>
                          <a:latin typeface="メイリオ" panose="020B0604030504040204" pitchFamily="50" charset="-128"/>
                          <a:ea typeface="メイリオ" panose="020B0604030504040204" pitchFamily="50" charset="-128"/>
                        </a:rPr>
                        <a:t>悩み別のシナリオを用意</a:t>
                      </a:r>
                      <a:endParaRPr lang="ja-JP" altLang="en-US" sz="1100" b="1" i="0" u="sng" strike="noStrike" dirty="0">
                        <a:solidFill>
                          <a:srgbClr val="C00000"/>
                        </a:solidFill>
                        <a:effectLst/>
                        <a:latin typeface="メイリオ" panose="020B0604030504040204" pitchFamily="50" charset="-128"/>
                        <a:ea typeface="メイリオ" panose="020B0604030504040204" pitchFamily="50" charset="-128"/>
                      </a:endParaRP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147929865"/>
                  </a:ext>
                </a:extLst>
              </a:tr>
            </a:tbl>
          </a:graphicData>
        </a:graphic>
      </p:graphicFrame>
    </p:spTree>
    <p:extLst>
      <p:ext uri="{BB962C8B-B14F-4D97-AF65-F5344CB8AC3E}">
        <p14:creationId xmlns:p14="http://schemas.microsoft.com/office/powerpoint/2010/main" val="162416957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3BF2E0-298A-DE54-F38D-F332A9024833}"/>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EFE01AEC-8FF5-06AC-4A88-BD6045B9E3F6}"/>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chemeClr val="bg1">
                    <a:lumMod val="65000"/>
                  </a:schemeClr>
                </a:solidFill>
                <a:latin typeface="メイリオ" panose="020B0604030504040204" pitchFamily="50" charset="-128"/>
                <a:ea typeface="メイリオ" panose="020B0604030504040204" pitchFamily="50" charset="-128"/>
                <a:cs typeface="Meiryo"/>
                <a:sym typeface="Meiryo"/>
              </a:rPr>
              <a:t>アジェンダ</a:t>
            </a:r>
          </a:p>
        </p:txBody>
      </p:sp>
      <p:sp>
        <p:nvSpPr>
          <p:cNvPr id="14" name="Google Shape;752;p28">
            <a:extLst>
              <a:ext uri="{FF2B5EF4-FFF2-40B4-BE49-F238E27FC236}">
                <a16:creationId xmlns:a16="http://schemas.microsoft.com/office/drawing/2014/main" id="{7016A7A6-DF0F-17C1-E44D-81012735C6E3}"/>
              </a:ext>
            </a:extLst>
          </p:cNvPr>
          <p:cNvSpPr txBox="1"/>
          <p:nvPr/>
        </p:nvSpPr>
        <p:spPr>
          <a:xfrm>
            <a:off x="602223" y="1104688"/>
            <a:ext cx="1104657" cy="584735"/>
          </a:xfrm>
          <a:prstGeom prst="rect">
            <a:avLst/>
          </a:prstGeom>
          <a:noFill/>
          <a:ln>
            <a:noFill/>
          </a:ln>
        </p:spPr>
        <p:txBody>
          <a:bodyPr spcFirstLastPara="1" wrap="square" lIns="91425" tIns="45700" rIns="91425" bIns="45700" anchor="ctr" anchorCtr="0">
            <a:spAutoFit/>
          </a:bodyPr>
          <a:lstStyle/>
          <a:p>
            <a:pPr lvl="0"/>
            <a:r>
              <a:rPr lang="en-US" altLang="ja-JP" sz="3200" b="1" dirty="0">
                <a:solidFill>
                  <a:srgbClr val="323366"/>
                </a:solidFill>
                <a:latin typeface="メイリオ" panose="020B0604030504040204" pitchFamily="50" charset="-128"/>
                <a:ea typeface="メイリオ" panose="020B0604030504040204" pitchFamily="50" charset="-128"/>
                <a:cs typeface="Meiryo"/>
                <a:sym typeface="Meiryo"/>
              </a:rPr>
              <a:t>02</a:t>
            </a:r>
            <a:endParaRPr lang="ja-JP" altLang="en-US" sz="3200" b="1" dirty="0">
              <a:solidFill>
                <a:srgbClr val="323366"/>
              </a:solidFill>
              <a:latin typeface="メイリオ" panose="020B0604030504040204" pitchFamily="50" charset="-128"/>
              <a:ea typeface="メイリオ" panose="020B0604030504040204" pitchFamily="50" charset="-128"/>
              <a:cs typeface="Meiryo"/>
              <a:sym typeface="Meiryo"/>
            </a:endParaRPr>
          </a:p>
        </p:txBody>
      </p:sp>
      <p:sp>
        <p:nvSpPr>
          <p:cNvPr id="16" name="Google Shape;752;p28">
            <a:extLst>
              <a:ext uri="{FF2B5EF4-FFF2-40B4-BE49-F238E27FC236}">
                <a16:creationId xmlns:a16="http://schemas.microsoft.com/office/drawing/2014/main" id="{FD928B8B-A353-F88C-1716-B9953B8561FD}"/>
              </a:ext>
            </a:extLst>
          </p:cNvPr>
          <p:cNvSpPr txBox="1"/>
          <p:nvPr/>
        </p:nvSpPr>
        <p:spPr>
          <a:xfrm>
            <a:off x="1867143" y="1043132"/>
            <a:ext cx="5028957" cy="707846"/>
          </a:xfrm>
          <a:prstGeom prst="rect">
            <a:avLst/>
          </a:prstGeom>
          <a:noFill/>
          <a:ln>
            <a:noFill/>
          </a:ln>
        </p:spPr>
        <p:txBody>
          <a:bodyPr spcFirstLastPara="1" wrap="square" lIns="91425" tIns="45700" rIns="91425" bIns="45700" anchor="ctr" anchorCtr="0">
            <a:spAutoFit/>
          </a:bodyPr>
          <a:lstStyle/>
          <a:p>
            <a:pPr lvl="0"/>
            <a:r>
              <a:rPr lang="en-US" altLang="ja-JP" sz="4000" b="1" dirty="0">
                <a:solidFill>
                  <a:schemeClr val="tx1">
                    <a:lumMod val="65000"/>
                    <a:lumOff val="35000"/>
                  </a:schemeClr>
                </a:solidFill>
                <a:latin typeface="メイリオ" panose="020B0604030504040204" pitchFamily="50" charset="-128"/>
                <a:ea typeface="メイリオ" panose="020B0604030504040204" pitchFamily="50" charset="-128"/>
                <a:cs typeface="Meiryo"/>
                <a:sym typeface="Meiryo"/>
              </a:rPr>
              <a:t>LINE</a:t>
            </a:r>
            <a:r>
              <a:rPr lang="ja-JP" altLang="en-US" sz="4000" b="1" dirty="0">
                <a:solidFill>
                  <a:schemeClr val="tx1">
                    <a:lumMod val="65000"/>
                    <a:lumOff val="35000"/>
                  </a:schemeClr>
                </a:solidFill>
                <a:latin typeface="メイリオ" panose="020B0604030504040204" pitchFamily="50" charset="-128"/>
                <a:ea typeface="メイリオ" panose="020B0604030504040204" pitchFamily="50" charset="-128"/>
                <a:cs typeface="Meiryo"/>
                <a:sym typeface="Meiryo"/>
              </a:rPr>
              <a:t>施策全体図</a:t>
            </a:r>
          </a:p>
        </p:txBody>
      </p:sp>
      <p:cxnSp>
        <p:nvCxnSpPr>
          <p:cNvPr id="17" name="直線コネクタ 16">
            <a:extLst>
              <a:ext uri="{FF2B5EF4-FFF2-40B4-BE49-F238E27FC236}">
                <a16:creationId xmlns:a16="http://schemas.microsoft.com/office/drawing/2014/main" id="{DE9E7AD0-8EFD-8BF5-38BD-5DDFF49DC62F}"/>
              </a:ext>
            </a:extLst>
          </p:cNvPr>
          <p:cNvCxnSpPr>
            <a:cxnSpLocks/>
          </p:cNvCxnSpPr>
          <p:nvPr/>
        </p:nvCxnSpPr>
        <p:spPr>
          <a:xfrm>
            <a:off x="608527" y="1681803"/>
            <a:ext cx="944805" cy="0"/>
          </a:xfrm>
          <a:prstGeom prst="line">
            <a:avLst/>
          </a:prstGeom>
          <a:ln w="57150">
            <a:solidFill>
              <a:srgbClr val="10253F"/>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20752516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AA833-D3F3-93C3-12E0-73EBD257A29B}"/>
            </a:ext>
          </a:extLst>
        </p:cNvPr>
        <p:cNvGrpSpPr/>
        <p:nvPr/>
      </p:nvGrpSpPr>
      <p:grpSpPr>
        <a:xfrm>
          <a:off x="0" y="0"/>
          <a:ext cx="0" cy="0"/>
          <a:chOff x="0" y="0"/>
          <a:chExt cx="0" cy="0"/>
        </a:xfrm>
      </p:grpSpPr>
      <p:sp>
        <p:nvSpPr>
          <p:cNvPr id="58" name="正方形/長方形 57">
            <a:extLst>
              <a:ext uri="{FF2B5EF4-FFF2-40B4-BE49-F238E27FC236}">
                <a16:creationId xmlns:a16="http://schemas.microsoft.com/office/drawing/2014/main" id="{AEDFC864-0FC1-906B-B68E-650BA4B41D40}"/>
              </a:ext>
            </a:extLst>
          </p:cNvPr>
          <p:cNvSpPr/>
          <p:nvPr/>
        </p:nvSpPr>
        <p:spPr>
          <a:xfrm>
            <a:off x="96788" y="1045811"/>
            <a:ext cx="1935768" cy="21878"/>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3" name="正方形/長方形 2">
            <a:extLst>
              <a:ext uri="{FF2B5EF4-FFF2-40B4-BE49-F238E27FC236}">
                <a16:creationId xmlns:a16="http://schemas.microsoft.com/office/drawing/2014/main" id="{DF535991-533F-EFBE-4AEE-48F51BFAA707}"/>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5" name="テキスト ボックス 4">
            <a:extLst>
              <a:ext uri="{FF2B5EF4-FFF2-40B4-BE49-F238E27FC236}">
                <a16:creationId xmlns:a16="http://schemas.microsoft.com/office/drawing/2014/main" id="{A6CD0D3C-91C0-AC26-EA06-0D9436780C74}"/>
              </a:ext>
            </a:extLst>
          </p:cNvPr>
          <p:cNvSpPr txBox="1"/>
          <p:nvPr/>
        </p:nvSpPr>
        <p:spPr>
          <a:xfrm>
            <a:off x="96788" y="619405"/>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ユーザーファネルの考え方</a:t>
            </a:r>
            <a:endParaRPr lang="ja-JP" altLang="en-US" sz="1100" dirty="0"/>
          </a:p>
        </p:txBody>
      </p:sp>
      <p:sp>
        <p:nvSpPr>
          <p:cNvPr id="7" name="テキスト ボックス 6">
            <a:extLst>
              <a:ext uri="{FF2B5EF4-FFF2-40B4-BE49-F238E27FC236}">
                <a16:creationId xmlns:a16="http://schemas.microsoft.com/office/drawing/2014/main" id="{E2E43B61-D3D6-CF9F-215E-9E9F057C93FC}"/>
              </a:ext>
            </a:extLst>
          </p:cNvPr>
          <p:cNvSpPr txBox="1"/>
          <p:nvPr/>
        </p:nvSpPr>
        <p:spPr>
          <a:xfrm>
            <a:off x="96788" y="1202790"/>
            <a:ext cx="9687414" cy="307777"/>
          </a:xfrm>
          <a:prstGeom prst="rect">
            <a:avLst/>
          </a:prstGeom>
          <a:noFill/>
        </p:spPr>
        <p:txBody>
          <a:bodyPr wrap="square">
            <a:spAutoFit/>
          </a:bodyPr>
          <a:lstStyle/>
          <a:p>
            <a:r>
              <a:rPr lang="ja-JP" altLang="en-US" sz="14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集客・友だち追加</a:t>
            </a:r>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 から </a:t>
            </a:r>
            <a:r>
              <a:rPr lang="ja-JP" altLang="en-US" sz="14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育成・反響</a:t>
            </a:r>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 までの全体動線設計</a:t>
            </a:r>
            <a:endParaRPr lang="ja-JP" altLang="en-US" sz="1000" dirty="0"/>
          </a:p>
        </p:txBody>
      </p:sp>
      <p:sp>
        <p:nvSpPr>
          <p:cNvPr id="9" name="テキスト ボックス 8">
            <a:extLst>
              <a:ext uri="{FF2B5EF4-FFF2-40B4-BE49-F238E27FC236}">
                <a16:creationId xmlns:a16="http://schemas.microsoft.com/office/drawing/2014/main" id="{68CB1203-9B68-6A7A-DAA2-3E7F946368F0}"/>
              </a:ext>
            </a:extLst>
          </p:cNvPr>
          <p:cNvSpPr txBox="1"/>
          <p:nvPr/>
        </p:nvSpPr>
        <p:spPr>
          <a:xfrm>
            <a:off x="460785" y="91159"/>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 前提調査</a:t>
            </a:r>
            <a:endParaRPr lang="ja-JP" altLang="en-US" sz="1100" dirty="0"/>
          </a:p>
        </p:txBody>
      </p:sp>
      <p:cxnSp>
        <p:nvCxnSpPr>
          <p:cNvPr id="48" name="直線コネクタ 47">
            <a:extLst>
              <a:ext uri="{FF2B5EF4-FFF2-40B4-BE49-F238E27FC236}">
                <a16:creationId xmlns:a16="http://schemas.microsoft.com/office/drawing/2014/main" id="{8D0721AE-E7E5-698E-E773-F2614C0DBB07}"/>
              </a:ext>
            </a:extLst>
          </p:cNvPr>
          <p:cNvCxnSpPr>
            <a:cxnSpLocks/>
          </p:cNvCxnSpPr>
          <p:nvPr/>
        </p:nvCxnSpPr>
        <p:spPr>
          <a:xfrm>
            <a:off x="240222" y="1892621"/>
            <a:ext cx="0" cy="2882641"/>
          </a:xfrm>
          <a:prstGeom prst="line">
            <a:avLst/>
          </a:prstGeom>
          <a:ln w="6350">
            <a:solidFill>
              <a:srgbClr val="FFC000"/>
            </a:solidFill>
            <a:prstDash val="sysDash"/>
          </a:ln>
        </p:spPr>
        <p:style>
          <a:lnRef idx="1">
            <a:schemeClr val="accent1"/>
          </a:lnRef>
          <a:fillRef idx="0">
            <a:schemeClr val="accent1"/>
          </a:fillRef>
          <a:effectRef idx="0">
            <a:schemeClr val="accent1"/>
          </a:effectRef>
          <a:fontRef idx="minor">
            <a:schemeClr val="tx1"/>
          </a:fontRef>
        </p:style>
      </p:cxnSp>
      <p:cxnSp>
        <p:nvCxnSpPr>
          <p:cNvPr id="49" name="直線コネクタ 48">
            <a:extLst>
              <a:ext uri="{FF2B5EF4-FFF2-40B4-BE49-F238E27FC236}">
                <a16:creationId xmlns:a16="http://schemas.microsoft.com/office/drawing/2014/main" id="{3BFFC88E-A589-D631-D366-94F280EFF67D}"/>
              </a:ext>
            </a:extLst>
          </p:cNvPr>
          <p:cNvCxnSpPr>
            <a:cxnSpLocks/>
          </p:cNvCxnSpPr>
          <p:nvPr/>
        </p:nvCxnSpPr>
        <p:spPr>
          <a:xfrm>
            <a:off x="1600733" y="1904263"/>
            <a:ext cx="0" cy="2882641"/>
          </a:xfrm>
          <a:prstGeom prst="line">
            <a:avLst/>
          </a:prstGeom>
          <a:ln w="6350">
            <a:solidFill>
              <a:srgbClr val="FFC000"/>
            </a:solidFill>
            <a:prstDash val="sysDash"/>
          </a:ln>
        </p:spPr>
        <p:style>
          <a:lnRef idx="1">
            <a:schemeClr val="accent1"/>
          </a:lnRef>
          <a:fillRef idx="0">
            <a:schemeClr val="accent1"/>
          </a:fillRef>
          <a:effectRef idx="0">
            <a:schemeClr val="accent1"/>
          </a:effectRef>
          <a:fontRef idx="minor">
            <a:schemeClr val="tx1"/>
          </a:fontRef>
        </p:style>
      </p:cxnSp>
      <p:cxnSp>
        <p:nvCxnSpPr>
          <p:cNvPr id="50" name="直線コネクタ 49">
            <a:extLst>
              <a:ext uri="{FF2B5EF4-FFF2-40B4-BE49-F238E27FC236}">
                <a16:creationId xmlns:a16="http://schemas.microsoft.com/office/drawing/2014/main" id="{D90E23BB-3076-5B7D-82F3-8433A2B09D1F}"/>
              </a:ext>
            </a:extLst>
          </p:cNvPr>
          <p:cNvCxnSpPr>
            <a:cxnSpLocks/>
          </p:cNvCxnSpPr>
          <p:nvPr/>
        </p:nvCxnSpPr>
        <p:spPr>
          <a:xfrm>
            <a:off x="2773855" y="1904263"/>
            <a:ext cx="0" cy="2882641"/>
          </a:xfrm>
          <a:prstGeom prst="line">
            <a:avLst/>
          </a:prstGeom>
          <a:ln w="6350">
            <a:solidFill>
              <a:srgbClr val="FFC000"/>
            </a:solidFill>
            <a:prstDash val="sysDash"/>
          </a:ln>
        </p:spPr>
        <p:style>
          <a:lnRef idx="1">
            <a:schemeClr val="accent1"/>
          </a:lnRef>
          <a:fillRef idx="0">
            <a:schemeClr val="accent1"/>
          </a:fillRef>
          <a:effectRef idx="0">
            <a:schemeClr val="accent1"/>
          </a:effectRef>
          <a:fontRef idx="minor">
            <a:schemeClr val="tx1"/>
          </a:fontRef>
        </p:style>
      </p:cxnSp>
      <p:cxnSp>
        <p:nvCxnSpPr>
          <p:cNvPr id="52" name="直線コネクタ 51">
            <a:extLst>
              <a:ext uri="{FF2B5EF4-FFF2-40B4-BE49-F238E27FC236}">
                <a16:creationId xmlns:a16="http://schemas.microsoft.com/office/drawing/2014/main" id="{6558815C-4A36-8DFA-3258-ADAC642B44B6}"/>
              </a:ext>
            </a:extLst>
          </p:cNvPr>
          <p:cNvCxnSpPr>
            <a:cxnSpLocks/>
          </p:cNvCxnSpPr>
          <p:nvPr/>
        </p:nvCxnSpPr>
        <p:spPr>
          <a:xfrm>
            <a:off x="3936993" y="1892621"/>
            <a:ext cx="0" cy="4305308"/>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cxnSp>
        <p:nvCxnSpPr>
          <p:cNvPr id="53" name="直線コネクタ 52">
            <a:extLst>
              <a:ext uri="{FF2B5EF4-FFF2-40B4-BE49-F238E27FC236}">
                <a16:creationId xmlns:a16="http://schemas.microsoft.com/office/drawing/2014/main" id="{9B24DBF0-6A3A-0783-C6E3-74B28D837D9E}"/>
              </a:ext>
            </a:extLst>
          </p:cNvPr>
          <p:cNvCxnSpPr>
            <a:cxnSpLocks/>
          </p:cNvCxnSpPr>
          <p:nvPr/>
        </p:nvCxnSpPr>
        <p:spPr>
          <a:xfrm>
            <a:off x="5079515" y="1940964"/>
            <a:ext cx="0" cy="4305308"/>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cxnSp>
        <p:nvCxnSpPr>
          <p:cNvPr id="54" name="直線コネクタ 53">
            <a:extLst>
              <a:ext uri="{FF2B5EF4-FFF2-40B4-BE49-F238E27FC236}">
                <a16:creationId xmlns:a16="http://schemas.microsoft.com/office/drawing/2014/main" id="{D9F92929-7F37-647E-2D3E-0EB84FFB20D1}"/>
              </a:ext>
            </a:extLst>
          </p:cNvPr>
          <p:cNvCxnSpPr>
            <a:cxnSpLocks/>
          </p:cNvCxnSpPr>
          <p:nvPr/>
        </p:nvCxnSpPr>
        <p:spPr>
          <a:xfrm>
            <a:off x="6233170" y="1911584"/>
            <a:ext cx="0" cy="4305308"/>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cxnSp>
        <p:nvCxnSpPr>
          <p:cNvPr id="55" name="直線コネクタ 54">
            <a:extLst>
              <a:ext uri="{FF2B5EF4-FFF2-40B4-BE49-F238E27FC236}">
                <a16:creationId xmlns:a16="http://schemas.microsoft.com/office/drawing/2014/main" id="{A53FD7B1-4120-4E04-0DDF-B4B54EDB9BFD}"/>
              </a:ext>
            </a:extLst>
          </p:cNvPr>
          <p:cNvCxnSpPr>
            <a:cxnSpLocks/>
          </p:cNvCxnSpPr>
          <p:nvPr/>
        </p:nvCxnSpPr>
        <p:spPr>
          <a:xfrm>
            <a:off x="7398333" y="1901842"/>
            <a:ext cx="0" cy="4305308"/>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cxnSp>
        <p:nvCxnSpPr>
          <p:cNvPr id="114" name="直線コネクタ 113">
            <a:extLst>
              <a:ext uri="{FF2B5EF4-FFF2-40B4-BE49-F238E27FC236}">
                <a16:creationId xmlns:a16="http://schemas.microsoft.com/office/drawing/2014/main" id="{565A72C8-45FF-A070-3E5F-46A3A7352507}"/>
              </a:ext>
            </a:extLst>
          </p:cNvPr>
          <p:cNvCxnSpPr>
            <a:cxnSpLocks/>
          </p:cNvCxnSpPr>
          <p:nvPr/>
        </p:nvCxnSpPr>
        <p:spPr>
          <a:xfrm>
            <a:off x="9719357" y="2048213"/>
            <a:ext cx="0" cy="4154701"/>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cxnSp>
        <p:nvCxnSpPr>
          <p:cNvPr id="311" name="直線コネクタ 310">
            <a:extLst>
              <a:ext uri="{FF2B5EF4-FFF2-40B4-BE49-F238E27FC236}">
                <a16:creationId xmlns:a16="http://schemas.microsoft.com/office/drawing/2014/main" id="{490BDABD-2035-40BF-A521-7BBCDAFC6FFE}"/>
              </a:ext>
            </a:extLst>
          </p:cNvPr>
          <p:cNvCxnSpPr>
            <a:cxnSpLocks/>
          </p:cNvCxnSpPr>
          <p:nvPr/>
        </p:nvCxnSpPr>
        <p:spPr>
          <a:xfrm>
            <a:off x="8549009" y="2036711"/>
            <a:ext cx="0" cy="4154701"/>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pic>
        <p:nvPicPr>
          <p:cNvPr id="345" name="図 344">
            <a:extLst>
              <a:ext uri="{FF2B5EF4-FFF2-40B4-BE49-F238E27FC236}">
                <a16:creationId xmlns:a16="http://schemas.microsoft.com/office/drawing/2014/main" id="{89F7A10B-75A8-6EC6-A69F-413DDACCFE56}"/>
              </a:ext>
            </a:extLst>
          </p:cNvPr>
          <p:cNvPicPr>
            <a:picLocks noChangeAspect="1"/>
          </p:cNvPicPr>
          <p:nvPr/>
        </p:nvPicPr>
        <p:blipFill>
          <a:blip r:embed="rId2"/>
          <a:stretch>
            <a:fillRect/>
          </a:stretch>
        </p:blipFill>
        <p:spPr>
          <a:xfrm>
            <a:off x="117307" y="1707348"/>
            <a:ext cx="9666895" cy="952587"/>
          </a:xfrm>
          <a:prstGeom prst="rect">
            <a:avLst/>
          </a:prstGeom>
        </p:spPr>
      </p:pic>
      <p:sp>
        <p:nvSpPr>
          <p:cNvPr id="348" name="Pentagon 10">
            <a:extLst>
              <a:ext uri="{FF2B5EF4-FFF2-40B4-BE49-F238E27FC236}">
                <a16:creationId xmlns:a16="http://schemas.microsoft.com/office/drawing/2014/main" id="{D60CF545-0B19-2223-E0F6-EE6FBF96A846}"/>
              </a:ext>
            </a:extLst>
          </p:cNvPr>
          <p:cNvSpPr/>
          <p:nvPr/>
        </p:nvSpPr>
        <p:spPr>
          <a:xfrm>
            <a:off x="240491" y="1840092"/>
            <a:ext cx="1360371" cy="731520"/>
          </a:xfrm>
          <a:prstGeom prst="homePlate">
            <a:avLst/>
          </a:prstGeom>
          <a:solidFill>
            <a:schemeClr val="bg1">
              <a:lumMod val="6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lang="en-US" altLang="ja-JP" sz="1300" b="1" dirty="0">
              <a:solidFill>
                <a:srgbClr val="FFFFFF"/>
              </a:solidFill>
              <a:latin typeface="メイリオ"/>
              <a:ea typeface="メイリオ"/>
              <a:cs typeface="メイリオ"/>
            </a:endParaRPr>
          </a:p>
        </p:txBody>
      </p:sp>
      <p:sp>
        <p:nvSpPr>
          <p:cNvPr id="349" name="Chevron 11">
            <a:extLst>
              <a:ext uri="{FF2B5EF4-FFF2-40B4-BE49-F238E27FC236}">
                <a16:creationId xmlns:a16="http://schemas.microsoft.com/office/drawing/2014/main" id="{6D6E4BCF-267F-981F-EDFF-6E6633C27F06}"/>
              </a:ext>
            </a:extLst>
          </p:cNvPr>
          <p:cNvSpPr/>
          <p:nvPr/>
        </p:nvSpPr>
        <p:spPr>
          <a:xfrm>
            <a:off x="1277140" y="1840092"/>
            <a:ext cx="1482455" cy="731520"/>
          </a:xfrm>
          <a:prstGeom prst="chevron">
            <a:avLst/>
          </a:prstGeom>
          <a:solidFill>
            <a:schemeClr val="accent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350" name="Chevron 12">
            <a:extLst>
              <a:ext uri="{FF2B5EF4-FFF2-40B4-BE49-F238E27FC236}">
                <a16:creationId xmlns:a16="http://schemas.microsoft.com/office/drawing/2014/main" id="{EC978F15-CE92-BED7-7057-8873621D3985}"/>
              </a:ext>
            </a:extLst>
          </p:cNvPr>
          <p:cNvSpPr/>
          <p:nvPr/>
        </p:nvSpPr>
        <p:spPr>
          <a:xfrm>
            <a:off x="3597060" y="1840092"/>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351" name="Chevron 13">
            <a:extLst>
              <a:ext uri="{FF2B5EF4-FFF2-40B4-BE49-F238E27FC236}">
                <a16:creationId xmlns:a16="http://schemas.microsoft.com/office/drawing/2014/main" id="{326837EC-FB23-5C3F-80BE-2EB4C32996AB}"/>
              </a:ext>
            </a:extLst>
          </p:cNvPr>
          <p:cNvSpPr/>
          <p:nvPr/>
        </p:nvSpPr>
        <p:spPr>
          <a:xfrm>
            <a:off x="7076940" y="1840092"/>
            <a:ext cx="1482455" cy="731520"/>
          </a:xfrm>
          <a:prstGeom prst="chevron">
            <a:avLst/>
          </a:prstGeom>
          <a:solidFill>
            <a:schemeClr val="tx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352" name="Chevron 11">
            <a:extLst>
              <a:ext uri="{FF2B5EF4-FFF2-40B4-BE49-F238E27FC236}">
                <a16:creationId xmlns:a16="http://schemas.microsoft.com/office/drawing/2014/main" id="{F00C946B-3DA8-CABA-0BC5-3A47F04D04EB}"/>
              </a:ext>
            </a:extLst>
          </p:cNvPr>
          <p:cNvSpPr/>
          <p:nvPr/>
        </p:nvSpPr>
        <p:spPr>
          <a:xfrm>
            <a:off x="2437100" y="1840092"/>
            <a:ext cx="1482455" cy="731520"/>
          </a:xfrm>
          <a:prstGeom prst="chevron">
            <a:avLst/>
          </a:prstGeom>
          <a:solidFill>
            <a:schemeClr val="accent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353" name="Chevron 12">
            <a:extLst>
              <a:ext uri="{FF2B5EF4-FFF2-40B4-BE49-F238E27FC236}">
                <a16:creationId xmlns:a16="http://schemas.microsoft.com/office/drawing/2014/main" id="{4734BA7D-D5B4-15DE-E6B2-03A372158F7F}"/>
              </a:ext>
            </a:extLst>
          </p:cNvPr>
          <p:cNvSpPr/>
          <p:nvPr/>
        </p:nvSpPr>
        <p:spPr>
          <a:xfrm>
            <a:off x="5916980" y="1840092"/>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354" name="Chevron 11">
            <a:extLst>
              <a:ext uri="{FF2B5EF4-FFF2-40B4-BE49-F238E27FC236}">
                <a16:creationId xmlns:a16="http://schemas.microsoft.com/office/drawing/2014/main" id="{394E8B7C-CBBB-1A12-4306-5A441E1EEA9D}"/>
              </a:ext>
            </a:extLst>
          </p:cNvPr>
          <p:cNvSpPr/>
          <p:nvPr/>
        </p:nvSpPr>
        <p:spPr>
          <a:xfrm>
            <a:off x="4757020" y="1840092"/>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355" name="Chevron 13">
            <a:extLst>
              <a:ext uri="{FF2B5EF4-FFF2-40B4-BE49-F238E27FC236}">
                <a16:creationId xmlns:a16="http://schemas.microsoft.com/office/drawing/2014/main" id="{EB635053-C38A-55EE-802F-AC6DA46611CC}"/>
              </a:ext>
            </a:extLst>
          </p:cNvPr>
          <p:cNvSpPr/>
          <p:nvPr/>
        </p:nvSpPr>
        <p:spPr>
          <a:xfrm>
            <a:off x="8236902" y="1840092"/>
            <a:ext cx="1482455" cy="731520"/>
          </a:xfrm>
          <a:prstGeom prst="chevron">
            <a:avLst/>
          </a:prstGeom>
          <a:solidFill>
            <a:schemeClr val="tx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356" name="テキスト ボックス 355">
            <a:extLst>
              <a:ext uri="{FF2B5EF4-FFF2-40B4-BE49-F238E27FC236}">
                <a16:creationId xmlns:a16="http://schemas.microsoft.com/office/drawing/2014/main" id="{473AD700-DED1-D270-A19A-6794676F7FBF}"/>
              </a:ext>
            </a:extLst>
          </p:cNvPr>
          <p:cNvSpPr txBox="1"/>
          <p:nvPr/>
        </p:nvSpPr>
        <p:spPr>
          <a:xfrm>
            <a:off x="1594177" y="1990408"/>
            <a:ext cx="811635"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サイト</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離脱</a:t>
            </a:r>
          </a:p>
        </p:txBody>
      </p:sp>
      <p:sp>
        <p:nvSpPr>
          <p:cNvPr id="357" name="テキスト ボックス 356">
            <a:extLst>
              <a:ext uri="{FF2B5EF4-FFF2-40B4-BE49-F238E27FC236}">
                <a16:creationId xmlns:a16="http://schemas.microsoft.com/office/drawing/2014/main" id="{8D0682B5-5691-0BAD-1DEA-C5B42E971AE4}"/>
              </a:ext>
            </a:extLst>
          </p:cNvPr>
          <p:cNvSpPr txBox="1"/>
          <p:nvPr/>
        </p:nvSpPr>
        <p:spPr>
          <a:xfrm>
            <a:off x="2765459" y="2075045"/>
            <a:ext cx="811635"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育成</a:t>
            </a:r>
          </a:p>
        </p:txBody>
      </p:sp>
      <p:sp>
        <p:nvSpPr>
          <p:cNvPr id="358" name="テキスト ボックス 357">
            <a:extLst>
              <a:ext uri="{FF2B5EF4-FFF2-40B4-BE49-F238E27FC236}">
                <a16:creationId xmlns:a16="http://schemas.microsoft.com/office/drawing/2014/main" id="{58A1D426-1AFD-A9B8-69FC-8C2417EF20DC}"/>
              </a:ext>
            </a:extLst>
          </p:cNvPr>
          <p:cNvSpPr txBox="1"/>
          <p:nvPr/>
        </p:nvSpPr>
        <p:spPr>
          <a:xfrm>
            <a:off x="422895" y="2075045"/>
            <a:ext cx="811635"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接触</a:t>
            </a:r>
          </a:p>
        </p:txBody>
      </p:sp>
      <p:sp>
        <p:nvSpPr>
          <p:cNvPr id="359" name="テキスト ボックス 358">
            <a:extLst>
              <a:ext uri="{FF2B5EF4-FFF2-40B4-BE49-F238E27FC236}">
                <a16:creationId xmlns:a16="http://schemas.microsoft.com/office/drawing/2014/main" id="{805EA854-7800-18C4-DB2F-0B1684AFD649}"/>
              </a:ext>
            </a:extLst>
          </p:cNvPr>
          <p:cNvSpPr txBox="1"/>
          <p:nvPr/>
        </p:nvSpPr>
        <p:spPr>
          <a:xfrm>
            <a:off x="7398333" y="2075045"/>
            <a:ext cx="982079"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マネタイズ</a:t>
            </a:r>
          </a:p>
        </p:txBody>
      </p:sp>
      <p:sp>
        <p:nvSpPr>
          <p:cNvPr id="360" name="テキスト ボックス 359">
            <a:extLst>
              <a:ext uri="{FF2B5EF4-FFF2-40B4-BE49-F238E27FC236}">
                <a16:creationId xmlns:a16="http://schemas.microsoft.com/office/drawing/2014/main" id="{1DCB6D4B-003C-2B81-10F1-B8085D0EF871}"/>
              </a:ext>
            </a:extLst>
          </p:cNvPr>
          <p:cNvSpPr txBox="1"/>
          <p:nvPr/>
        </p:nvSpPr>
        <p:spPr>
          <a:xfrm>
            <a:off x="3936741" y="1990408"/>
            <a:ext cx="811635"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リード</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獲得</a:t>
            </a:r>
          </a:p>
        </p:txBody>
      </p:sp>
      <p:sp>
        <p:nvSpPr>
          <p:cNvPr id="361" name="テキスト ボックス 360">
            <a:extLst>
              <a:ext uri="{FF2B5EF4-FFF2-40B4-BE49-F238E27FC236}">
                <a16:creationId xmlns:a16="http://schemas.microsoft.com/office/drawing/2014/main" id="{5694FDD1-6764-7963-230E-B55B3C5E6AE8}"/>
              </a:ext>
            </a:extLst>
          </p:cNvPr>
          <p:cNvSpPr txBox="1"/>
          <p:nvPr/>
        </p:nvSpPr>
        <p:spPr>
          <a:xfrm>
            <a:off x="5108023" y="1990407"/>
            <a:ext cx="811635" cy="430887"/>
          </a:xfrm>
          <a:prstGeom prst="rect">
            <a:avLst/>
          </a:prstGeom>
          <a:solidFill>
            <a:schemeClr val="accent1">
              <a:lumMod val="75000"/>
            </a:schemeClr>
          </a:solid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有効</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リード化</a:t>
            </a:r>
          </a:p>
        </p:txBody>
      </p:sp>
      <p:sp>
        <p:nvSpPr>
          <p:cNvPr id="362" name="テキスト ボックス 361">
            <a:extLst>
              <a:ext uri="{FF2B5EF4-FFF2-40B4-BE49-F238E27FC236}">
                <a16:creationId xmlns:a16="http://schemas.microsoft.com/office/drawing/2014/main" id="{4FFDA1D0-E62A-A391-F7C2-2B8A8B4FAC30}"/>
              </a:ext>
            </a:extLst>
          </p:cNvPr>
          <p:cNvSpPr txBox="1"/>
          <p:nvPr/>
        </p:nvSpPr>
        <p:spPr>
          <a:xfrm>
            <a:off x="6279305" y="1990408"/>
            <a:ext cx="811635" cy="430887"/>
          </a:xfrm>
          <a:prstGeom prst="rect">
            <a:avLst/>
          </a:prstGeom>
          <a:solidFill>
            <a:schemeClr val="accent1">
              <a:lumMod val="75000"/>
            </a:schemeClr>
          </a:solid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リード</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再育成</a:t>
            </a:r>
          </a:p>
        </p:txBody>
      </p:sp>
      <p:sp>
        <p:nvSpPr>
          <p:cNvPr id="363" name="テキスト ボックス 362">
            <a:extLst>
              <a:ext uri="{FF2B5EF4-FFF2-40B4-BE49-F238E27FC236}">
                <a16:creationId xmlns:a16="http://schemas.microsoft.com/office/drawing/2014/main" id="{950238DC-BC8D-67A5-9664-2467CA1CCC24}"/>
              </a:ext>
            </a:extLst>
          </p:cNvPr>
          <p:cNvSpPr txBox="1"/>
          <p:nvPr/>
        </p:nvSpPr>
        <p:spPr>
          <a:xfrm>
            <a:off x="8565884" y="1990407"/>
            <a:ext cx="982079"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リピート</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クロスセル</a:t>
            </a:r>
          </a:p>
        </p:txBody>
      </p:sp>
      <p:sp>
        <p:nvSpPr>
          <p:cNvPr id="392" name="正方形/長方形 391">
            <a:extLst>
              <a:ext uri="{FF2B5EF4-FFF2-40B4-BE49-F238E27FC236}">
                <a16:creationId xmlns:a16="http://schemas.microsoft.com/office/drawing/2014/main" id="{F2695BAE-49A0-C99D-85EB-9666DE14C4B0}"/>
              </a:ext>
            </a:extLst>
          </p:cNvPr>
          <p:cNvSpPr/>
          <p:nvPr/>
        </p:nvSpPr>
        <p:spPr>
          <a:xfrm>
            <a:off x="134519" y="2643132"/>
            <a:ext cx="9687414" cy="1895567"/>
          </a:xfrm>
          <a:prstGeom prst="rect">
            <a:avLst/>
          </a:prstGeom>
          <a:solidFill>
            <a:schemeClr val="bg1">
              <a:lumMod val="95000"/>
              <a:alpha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399" name="正方形/長方形 398">
            <a:extLst>
              <a:ext uri="{FF2B5EF4-FFF2-40B4-BE49-F238E27FC236}">
                <a16:creationId xmlns:a16="http://schemas.microsoft.com/office/drawing/2014/main" id="{0D7E2DB9-3642-9C9A-E851-E5DD52315F1D}"/>
              </a:ext>
            </a:extLst>
          </p:cNvPr>
          <p:cNvSpPr/>
          <p:nvPr/>
        </p:nvSpPr>
        <p:spPr>
          <a:xfrm>
            <a:off x="2646720" y="4590888"/>
            <a:ext cx="7175212" cy="1895567"/>
          </a:xfrm>
          <a:prstGeom prst="rect">
            <a:avLst/>
          </a:prstGeom>
          <a:solidFill>
            <a:schemeClr val="bg1">
              <a:lumMod val="95000"/>
              <a:alpha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400" dirty="0">
              <a:solidFill>
                <a:schemeClr val="tx1"/>
              </a:solidFill>
              <a:latin typeface="メイリオ" panose="020B0604030504040204" pitchFamily="50" charset="-128"/>
              <a:ea typeface="メイリオ" panose="020B0604030504040204" pitchFamily="50" charset="-128"/>
            </a:endParaRPr>
          </a:p>
        </p:txBody>
      </p:sp>
      <p:cxnSp>
        <p:nvCxnSpPr>
          <p:cNvPr id="428" name="直線矢印コネクタ 427">
            <a:extLst>
              <a:ext uri="{FF2B5EF4-FFF2-40B4-BE49-F238E27FC236}">
                <a16:creationId xmlns:a16="http://schemas.microsoft.com/office/drawing/2014/main" id="{4DD36FC2-6468-F5B5-EFB8-BBFB2CF7F452}"/>
              </a:ext>
            </a:extLst>
          </p:cNvPr>
          <p:cNvCxnSpPr>
            <a:cxnSpLocks/>
          </p:cNvCxnSpPr>
          <p:nvPr/>
        </p:nvCxnSpPr>
        <p:spPr>
          <a:xfrm>
            <a:off x="3366878" y="3750175"/>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29" name="テキスト ボックス 428">
            <a:extLst>
              <a:ext uri="{FF2B5EF4-FFF2-40B4-BE49-F238E27FC236}">
                <a16:creationId xmlns:a16="http://schemas.microsoft.com/office/drawing/2014/main" id="{52205788-B1CC-5FF9-ED78-B6DD32267E17}"/>
              </a:ext>
            </a:extLst>
          </p:cNvPr>
          <p:cNvSpPr txBox="1"/>
          <p:nvPr/>
        </p:nvSpPr>
        <p:spPr>
          <a:xfrm>
            <a:off x="3735917" y="3616391"/>
            <a:ext cx="1288637" cy="230832"/>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900" b="1" dirty="0">
                <a:latin typeface="メイリオ" panose="020B0604030504040204" pitchFamily="50" charset="-128"/>
                <a:ea typeface="メイリオ" panose="020B0604030504040204" pitchFamily="50" charset="-128"/>
                <a:cs typeface="Meiryo"/>
                <a:sym typeface="Meiryo"/>
              </a:rPr>
              <a:t>通知メッセージ</a:t>
            </a:r>
            <a:endParaRPr lang="ja-JP" altLang="en-US" sz="900" b="1" dirty="0"/>
          </a:p>
        </p:txBody>
      </p:sp>
      <p:cxnSp>
        <p:nvCxnSpPr>
          <p:cNvPr id="430" name="直線矢印コネクタ 429">
            <a:extLst>
              <a:ext uri="{FF2B5EF4-FFF2-40B4-BE49-F238E27FC236}">
                <a16:creationId xmlns:a16="http://schemas.microsoft.com/office/drawing/2014/main" id="{923E43E2-8157-8C38-4A7C-C186793E6650}"/>
              </a:ext>
            </a:extLst>
          </p:cNvPr>
          <p:cNvCxnSpPr>
            <a:cxnSpLocks/>
          </p:cNvCxnSpPr>
          <p:nvPr/>
        </p:nvCxnSpPr>
        <p:spPr>
          <a:xfrm>
            <a:off x="3366878" y="4003408"/>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31" name="テキスト ボックス 430">
            <a:extLst>
              <a:ext uri="{FF2B5EF4-FFF2-40B4-BE49-F238E27FC236}">
                <a16:creationId xmlns:a16="http://schemas.microsoft.com/office/drawing/2014/main" id="{9B46B511-7630-9D21-552D-BAD1DCEC8387}"/>
              </a:ext>
            </a:extLst>
          </p:cNvPr>
          <p:cNvSpPr txBox="1"/>
          <p:nvPr/>
        </p:nvSpPr>
        <p:spPr>
          <a:xfrm>
            <a:off x="3735917" y="3869624"/>
            <a:ext cx="1288637" cy="230832"/>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900" b="1" dirty="0">
                <a:latin typeface="メイリオ" panose="020B0604030504040204" pitchFamily="50" charset="-128"/>
                <a:ea typeface="メイリオ" panose="020B0604030504040204" pitchFamily="50" charset="-128"/>
                <a:cs typeface="Meiryo"/>
                <a:sym typeface="Meiryo"/>
              </a:rPr>
              <a:t>サンクス</a:t>
            </a:r>
            <a:r>
              <a:rPr lang="en-US" altLang="ja-JP" sz="900" b="1" dirty="0">
                <a:latin typeface="メイリオ" panose="020B0604030504040204" pitchFamily="50" charset="-128"/>
                <a:ea typeface="メイリオ" panose="020B0604030504040204" pitchFamily="50" charset="-128"/>
                <a:cs typeface="Meiryo"/>
                <a:sym typeface="Meiryo"/>
              </a:rPr>
              <a:t>LINE</a:t>
            </a:r>
            <a:r>
              <a:rPr lang="ja-JP" altLang="en-US" sz="900" b="1" dirty="0">
                <a:latin typeface="メイリオ" panose="020B0604030504040204" pitchFamily="50" charset="-128"/>
                <a:ea typeface="メイリオ" panose="020B0604030504040204" pitchFamily="50" charset="-128"/>
                <a:cs typeface="Meiryo"/>
                <a:sym typeface="Meiryo"/>
              </a:rPr>
              <a:t>誘導</a:t>
            </a:r>
            <a:endParaRPr lang="ja-JP" altLang="en-US" sz="900" b="1" dirty="0"/>
          </a:p>
        </p:txBody>
      </p:sp>
      <p:cxnSp>
        <p:nvCxnSpPr>
          <p:cNvPr id="432" name="直線矢印コネクタ 431">
            <a:extLst>
              <a:ext uri="{FF2B5EF4-FFF2-40B4-BE49-F238E27FC236}">
                <a16:creationId xmlns:a16="http://schemas.microsoft.com/office/drawing/2014/main" id="{64D8562C-014D-DFB4-2D01-7479448659D1}"/>
              </a:ext>
            </a:extLst>
          </p:cNvPr>
          <p:cNvCxnSpPr>
            <a:cxnSpLocks/>
          </p:cNvCxnSpPr>
          <p:nvPr/>
        </p:nvCxnSpPr>
        <p:spPr>
          <a:xfrm>
            <a:off x="1275980" y="3570877"/>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33" name="テキスト ボックス 432">
            <a:extLst>
              <a:ext uri="{FF2B5EF4-FFF2-40B4-BE49-F238E27FC236}">
                <a16:creationId xmlns:a16="http://schemas.microsoft.com/office/drawing/2014/main" id="{540E1D19-5457-9319-2789-430F63EC5A42}"/>
              </a:ext>
            </a:extLst>
          </p:cNvPr>
          <p:cNvSpPr txBox="1"/>
          <p:nvPr/>
        </p:nvSpPr>
        <p:spPr>
          <a:xfrm>
            <a:off x="1645019" y="3437093"/>
            <a:ext cx="1288637" cy="230832"/>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900" b="1" dirty="0">
                <a:latin typeface="メイリオ" panose="020B0604030504040204" pitchFamily="50" charset="-128"/>
                <a:ea typeface="メイリオ" panose="020B0604030504040204" pitchFamily="50" charset="-128"/>
                <a:cs typeface="Meiryo"/>
                <a:sym typeface="Meiryo"/>
              </a:rPr>
              <a:t>通知メッセージ</a:t>
            </a:r>
            <a:endParaRPr lang="ja-JP" altLang="en-US" sz="900" b="1" dirty="0"/>
          </a:p>
        </p:txBody>
      </p:sp>
      <p:cxnSp>
        <p:nvCxnSpPr>
          <p:cNvPr id="434" name="直線矢印コネクタ 433">
            <a:extLst>
              <a:ext uri="{FF2B5EF4-FFF2-40B4-BE49-F238E27FC236}">
                <a16:creationId xmlns:a16="http://schemas.microsoft.com/office/drawing/2014/main" id="{490155E9-25FB-3090-382A-CA0B7F87F965}"/>
              </a:ext>
            </a:extLst>
          </p:cNvPr>
          <p:cNvCxnSpPr>
            <a:cxnSpLocks/>
          </p:cNvCxnSpPr>
          <p:nvPr/>
        </p:nvCxnSpPr>
        <p:spPr>
          <a:xfrm>
            <a:off x="1275980" y="3802022"/>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35" name="テキスト ボックス 434">
            <a:extLst>
              <a:ext uri="{FF2B5EF4-FFF2-40B4-BE49-F238E27FC236}">
                <a16:creationId xmlns:a16="http://schemas.microsoft.com/office/drawing/2014/main" id="{08D35021-E114-E4DF-FF22-BF7BE0CDF4D8}"/>
              </a:ext>
            </a:extLst>
          </p:cNvPr>
          <p:cNvSpPr txBox="1"/>
          <p:nvPr/>
        </p:nvSpPr>
        <p:spPr>
          <a:xfrm>
            <a:off x="1645019" y="3668238"/>
            <a:ext cx="1288637" cy="230832"/>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900" b="1" dirty="0">
                <a:latin typeface="メイリオ" panose="020B0604030504040204" pitchFamily="50" charset="-128"/>
                <a:ea typeface="メイリオ" panose="020B0604030504040204" pitchFamily="50" charset="-128"/>
              </a:rPr>
              <a:t>サイト動線の整備</a:t>
            </a:r>
          </a:p>
        </p:txBody>
      </p:sp>
      <p:cxnSp>
        <p:nvCxnSpPr>
          <p:cNvPr id="436" name="直線矢印コネクタ 435">
            <a:extLst>
              <a:ext uri="{FF2B5EF4-FFF2-40B4-BE49-F238E27FC236}">
                <a16:creationId xmlns:a16="http://schemas.microsoft.com/office/drawing/2014/main" id="{6840C346-E790-A413-26C5-79129D6F5FB7}"/>
              </a:ext>
            </a:extLst>
          </p:cNvPr>
          <p:cNvCxnSpPr>
            <a:cxnSpLocks/>
          </p:cNvCxnSpPr>
          <p:nvPr/>
        </p:nvCxnSpPr>
        <p:spPr>
          <a:xfrm>
            <a:off x="3825040" y="3439859"/>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37" name="テキスト ボックス 436">
            <a:extLst>
              <a:ext uri="{FF2B5EF4-FFF2-40B4-BE49-F238E27FC236}">
                <a16:creationId xmlns:a16="http://schemas.microsoft.com/office/drawing/2014/main" id="{715CC99E-9A08-159E-0120-31020FC33D0F}"/>
              </a:ext>
            </a:extLst>
          </p:cNvPr>
          <p:cNvSpPr txBox="1"/>
          <p:nvPr/>
        </p:nvSpPr>
        <p:spPr>
          <a:xfrm>
            <a:off x="4194079" y="3306075"/>
            <a:ext cx="1288637" cy="230832"/>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900" b="1" dirty="0">
                <a:latin typeface="メイリオ" panose="020B0604030504040204" pitchFamily="50" charset="-128"/>
                <a:ea typeface="メイリオ" panose="020B0604030504040204" pitchFamily="50" charset="-128"/>
                <a:cs typeface="Meiryo"/>
                <a:sym typeface="Meiryo"/>
              </a:rPr>
              <a:t>既存リストの活用</a:t>
            </a:r>
            <a:endParaRPr lang="en-US" altLang="ja-JP" sz="900" b="1" dirty="0">
              <a:latin typeface="メイリオ" panose="020B0604030504040204" pitchFamily="50" charset="-128"/>
              <a:ea typeface="メイリオ" panose="020B0604030504040204" pitchFamily="50" charset="-128"/>
              <a:cs typeface="Meiryo"/>
              <a:sym typeface="Meiryo"/>
            </a:endParaRPr>
          </a:p>
        </p:txBody>
      </p:sp>
      <p:cxnSp>
        <p:nvCxnSpPr>
          <p:cNvPr id="438" name="直線矢印コネクタ 437">
            <a:extLst>
              <a:ext uri="{FF2B5EF4-FFF2-40B4-BE49-F238E27FC236}">
                <a16:creationId xmlns:a16="http://schemas.microsoft.com/office/drawing/2014/main" id="{C26FDFF8-ECDB-0D20-5A53-4F74EF6D93F8}"/>
              </a:ext>
            </a:extLst>
          </p:cNvPr>
          <p:cNvCxnSpPr>
            <a:cxnSpLocks/>
          </p:cNvCxnSpPr>
          <p:nvPr/>
        </p:nvCxnSpPr>
        <p:spPr>
          <a:xfrm>
            <a:off x="5418772" y="3746239"/>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39" name="テキスト ボックス 438">
            <a:extLst>
              <a:ext uri="{FF2B5EF4-FFF2-40B4-BE49-F238E27FC236}">
                <a16:creationId xmlns:a16="http://schemas.microsoft.com/office/drawing/2014/main" id="{03517788-8A00-3CE9-B8A0-DC9904CB9E29}"/>
              </a:ext>
            </a:extLst>
          </p:cNvPr>
          <p:cNvSpPr txBox="1"/>
          <p:nvPr/>
        </p:nvSpPr>
        <p:spPr>
          <a:xfrm>
            <a:off x="5787811" y="3612455"/>
            <a:ext cx="1288637" cy="230832"/>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900" b="1" dirty="0">
                <a:latin typeface="メイリオ" panose="020B0604030504040204" pitchFamily="50" charset="-128"/>
                <a:ea typeface="メイリオ" panose="020B0604030504040204" pitchFamily="50" charset="-128"/>
                <a:cs typeface="Meiryo"/>
                <a:sym typeface="Meiryo"/>
              </a:rPr>
              <a:t>通知メッセージ</a:t>
            </a:r>
            <a:endParaRPr lang="ja-JP" altLang="en-US" sz="900" b="1" dirty="0"/>
          </a:p>
        </p:txBody>
      </p:sp>
      <p:cxnSp>
        <p:nvCxnSpPr>
          <p:cNvPr id="440" name="直線矢印コネクタ 439">
            <a:extLst>
              <a:ext uri="{FF2B5EF4-FFF2-40B4-BE49-F238E27FC236}">
                <a16:creationId xmlns:a16="http://schemas.microsoft.com/office/drawing/2014/main" id="{8A08B47D-236B-D58F-E880-0E520352BC81}"/>
              </a:ext>
            </a:extLst>
          </p:cNvPr>
          <p:cNvCxnSpPr>
            <a:cxnSpLocks/>
          </p:cNvCxnSpPr>
          <p:nvPr/>
        </p:nvCxnSpPr>
        <p:spPr>
          <a:xfrm>
            <a:off x="5418772" y="4009075"/>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41" name="テキスト ボックス 440">
            <a:extLst>
              <a:ext uri="{FF2B5EF4-FFF2-40B4-BE49-F238E27FC236}">
                <a16:creationId xmlns:a16="http://schemas.microsoft.com/office/drawing/2014/main" id="{8376E216-AB77-BC34-74BE-9C14746155C3}"/>
              </a:ext>
            </a:extLst>
          </p:cNvPr>
          <p:cNvSpPr txBox="1"/>
          <p:nvPr/>
        </p:nvSpPr>
        <p:spPr>
          <a:xfrm>
            <a:off x="5787811" y="3875291"/>
            <a:ext cx="1288637" cy="230832"/>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900" b="1" dirty="0">
                <a:latin typeface="メイリオ" panose="020B0604030504040204" pitchFamily="50" charset="-128"/>
                <a:ea typeface="メイリオ" panose="020B0604030504040204" pitchFamily="50" charset="-128"/>
                <a:cs typeface="Meiryo"/>
                <a:sym typeface="Meiryo"/>
              </a:rPr>
              <a:t>サンクス</a:t>
            </a:r>
            <a:r>
              <a:rPr lang="en-US" altLang="ja-JP" sz="900" b="1" dirty="0">
                <a:latin typeface="メイリオ" panose="020B0604030504040204" pitchFamily="50" charset="-128"/>
                <a:ea typeface="メイリオ" panose="020B0604030504040204" pitchFamily="50" charset="-128"/>
                <a:cs typeface="Meiryo"/>
                <a:sym typeface="Meiryo"/>
              </a:rPr>
              <a:t>LINE</a:t>
            </a:r>
            <a:r>
              <a:rPr lang="ja-JP" altLang="en-US" sz="900" b="1" dirty="0">
                <a:latin typeface="メイリオ" panose="020B0604030504040204" pitchFamily="50" charset="-128"/>
                <a:ea typeface="メイリオ" panose="020B0604030504040204" pitchFamily="50" charset="-128"/>
                <a:cs typeface="Meiryo"/>
                <a:sym typeface="Meiryo"/>
              </a:rPr>
              <a:t>誘導</a:t>
            </a:r>
            <a:endParaRPr lang="ja-JP" altLang="en-US" sz="900" b="1" dirty="0"/>
          </a:p>
        </p:txBody>
      </p:sp>
      <p:cxnSp>
        <p:nvCxnSpPr>
          <p:cNvPr id="442" name="直線矢印コネクタ 441">
            <a:extLst>
              <a:ext uri="{FF2B5EF4-FFF2-40B4-BE49-F238E27FC236}">
                <a16:creationId xmlns:a16="http://schemas.microsoft.com/office/drawing/2014/main" id="{D6F7AD1E-A403-6C2E-4207-BA25C2D7BCC6}"/>
              </a:ext>
            </a:extLst>
          </p:cNvPr>
          <p:cNvCxnSpPr>
            <a:cxnSpLocks/>
          </p:cNvCxnSpPr>
          <p:nvPr/>
        </p:nvCxnSpPr>
        <p:spPr>
          <a:xfrm>
            <a:off x="675354" y="4048370"/>
            <a:ext cx="1503674"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43" name="テキスト ボックス 442">
            <a:extLst>
              <a:ext uri="{FF2B5EF4-FFF2-40B4-BE49-F238E27FC236}">
                <a16:creationId xmlns:a16="http://schemas.microsoft.com/office/drawing/2014/main" id="{7D798DBD-5393-6131-8034-EC789105D05B}"/>
              </a:ext>
            </a:extLst>
          </p:cNvPr>
          <p:cNvSpPr txBox="1"/>
          <p:nvPr/>
        </p:nvSpPr>
        <p:spPr>
          <a:xfrm>
            <a:off x="908229" y="3944309"/>
            <a:ext cx="1095075" cy="230832"/>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en-US" altLang="ja-JP" sz="900"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SNS/</a:t>
            </a:r>
            <a:r>
              <a:rPr lang="ja-JP" altLang="en-US" sz="900"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メルマガ</a:t>
            </a:r>
            <a:endParaRPr lang="ja-JP" altLang="en-US" sz="900" dirty="0">
              <a:solidFill>
                <a:schemeClr val="tx1">
                  <a:lumMod val="50000"/>
                  <a:lumOff val="50000"/>
                </a:schemeClr>
              </a:solidFill>
            </a:endParaRPr>
          </a:p>
        </p:txBody>
      </p:sp>
      <p:cxnSp>
        <p:nvCxnSpPr>
          <p:cNvPr id="444" name="直線矢印コネクタ 443">
            <a:extLst>
              <a:ext uri="{FF2B5EF4-FFF2-40B4-BE49-F238E27FC236}">
                <a16:creationId xmlns:a16="http://schemas.microsoft.com/office/drawing/2014/main" id="{527AED14-C910-4D3E-987F-EA62ABD18D90}"/>
              </a:ext>
            </a:extLst>
          </p:cNvPr>
          <p:cNvCxnSpPr>
            <a:cxnSpLocks/>
          </p:cNvCxnSpPr>
          <p:nvPr/>
        </p:nvCxnSpPr>
        <p:spPr>
          <a:xfrm>
            <a:off x="672248" y="4315115"/>
            <a:ext cx="1503674"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45" name="テキスト ボックス 444">
            <a:extLst>
              <a:ext uri="{FF2B5EF4-FFF2-40B4-BE49-F238E27FC236}">
                <a16:creationId xmlns:a16="http://schemas.microsoft.com/office/drawing/2014/main" id="{9644DD32-D05B-DE83-7791-37895274BDE9}"/>
              </a:ext>
            </a:extLst>
          </p:cNvPr>
          <p:cNvSpPr txBox="1"/>
          <p:nvPr/>
        </p:nvSpPr>
        <p:spPr>
          <a:xfrm>
            <a:off x="894117" y="4203750"/>
            <a:ext cx="1117086" cy="231238"/>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800"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店内ポップ・チラシ</a:t>
            </a:r>
            <a:endParaRPr lang="ja-JP" altLang="en-US" sz="800" dirty="0">
              <a:solidFill>
                <a:schemeClr val="tx1">
                  <a:lumMod val="50000"/>
                  <a:lumOff val="50000"/>
                </a:schemeClr>
              </a:solidFill>
            </a:endParaRPr>
          </a:p>
        </p:txBody>
      </p:sp>
      <p:cxnSp>
        <p:nvCxnSpPr>
          <p:cNvPr id="446" name="直線矢印コネクタ 445">
            <a:extLst>
              <a:ext uri="{FF2B5EF4-FFF2-40B4-BE49-F238E27FC236}">
                <a16:creationId xmlns:a16="http://schemas.microsoft.com/office/drawing/2014/main" id="{D3D532EE-6712-DE63-E452-E8BEAA167260}"/>
              </a:ext>
            </a:extLst>
          </p:cNvPr>
          <p:cNvCxnSpPr>
            <a:cxnSpLocks/>
          </p:cNvCxnSpPr>
          <p:nvPr/>
        </p:nvCxnSpPr>
        <p:spPr>
          <a:xfrm>
            <a:off x="7458966" y="3862297"/>
            <a:ext cx="2184020"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47" name="テキスト ボックス 446">
            <a:extLst>
              <a:ext uri="{FF2B5EF4-FFF2-40B4-BE49-F238E27FC236}">
                <a16:creationId xmlns:a16="http://schemas.microsoft.com/office/drawing/2014/main" id="{DCDD6E46-B8C3-8536-41F9-F39EB73CBD24}"/>
              </a:ext>
            </a:extLst>
          </p:cNvPr>
          <p:cNvSpPr txBox="1"/>
          <p:nvPr/>
        </p:nvSpPr>
        <p:spPr>
          <a:xfrm>
            <a:off x="8013302" y="3728513"/>
            <a:ext cx="1064989" cy="230832"/>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en-US" altLang="ja-JP" sz="9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ID</a:t>
            </a:r>
            <a:r>
              <a:rPr lang="ja-JP" altLang="en-US" sz="9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a:t>
            </a:r>
            <a:r>
              <a:rPr lang="en-US" altLang="ja-JP" sz="9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CRM</a:t>
            </a:r>
            <a:r>
              <a:rPr lang="ja-JP" altLang="en-US" sz="9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連携</a:t>
            </a:r>
            <a:endParaRPr lang="ja-JP" altLang="en-US" sz="900" b="1" dirty="0">
              <a:solidFill>
                <a:schemeClr val="tx1">
                  <a:lumMod val="50000"/>
                  <a:lumOff val="50000"/>
                </a:schemeClr>
              </a:solidFill>
            </a:endParaRPr>
          </a:p>
        </p:txBody>
      </p:sp>
      <p:cxnSp>
        <p:nvCxnSpPr>
          <p:cNvPr id="448" name="直線矢印コネクタ 447">
            <a:extLst>
              <a:ext uri="{FF2B5EF4-FFF2-40B4-BE49-F238E27FC236}">
                <a16:creationId xmlns:a16="http://schemas.microsoft.com/office/drawing/2014/main" id="{B94F8848-87A6-4A24-C2DE-D4A5BD2787D7}"/>
              </a:ext>
            </a:extLst>
          </p:cNvPr>
          <p:cNvCxnSpPr>
            <a:cxnSpLocks/>
          </p:cNvCxnSpPr>
          <p:nvPr/>
        </p:nvCxnSpPr>
        <p:spPr>
          <a:xfrm>
            <a:off x="313007" y="3382504"/>
            <a:ext cx="124270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49" name="テキスト ボックス 448">
            <a:extLst>
              <a:ext uri="{FF2B5EF4-FFF2-40B4-BE49-F238E27FC236}">
                <a16:creationId xmlns:a16="http://schemas.microsoft.com/office/drawing/2014/main" id="{88C02960-866B-6E8C-A752-2889BC37BC11}"/>
              </a:ext>
            </a:extLst>
          </p:cNvPr>
          <p:cNvSpPr txBox="1"/>
          <p:nvPr/>
        </p:nvSpPr>
        <p:spPr>
          <a:xfrm>
            <a:off x="588964" y="3278443"/>
            <a:ext cx="747951" cy="230832"/>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cs typeface="Meiryo"/>
                <a:sym typeface="Meiryo"/>
              </a:rPr>
              <a:t>CPF</a:t>
            </a:r>
            <a:r>
              <a:rPr lang="ja-JP" altLang="en-US" sz="900" b="1" dirty="0">
                <a:latin typeface="メイリオ" panose="020B0604030504040204" pitchFamily="50" charset="-128"/>
                <a:ea typeface="メイリオ" panose="020B0604030504040204" pitchFamily="50" charset="-128"/>
                <a:cs typeface="Meiryo"/>
                <a:sym typeface="Meiryo"/>
              </a:rPr>
              <a:t>広告</a:t>
            </a:r>
            <a:endParaRPr lang="ja-JP" altLang="en-US" sz="900" b="1" dirty="0"/>
          </a:p>
        </p:txBody>
      </p:sp>
      <p:cxnSp>
        <p:nvCxnSpPr>
          <p:cNvPr id="450" name="直線矢印コネクタ 449">
            <a:extLst>
              <a:ext uri="{FF2B5EF4-FFF2-40B4-BE49-F238E27FC236}">
                <a16:creationId xmlns:a16="http://schemas.microsoft.com/office/drawing/2014/main" id="{3F2ACC73-0643-27D8-F1B3-1B871FCEF141}"/>
              </a:ext>
            </a:extLst>
          </p:cNvPr>
          <p:cNvCxnSpPr>
            <a:cxnSpLocks/>
          </p:cNvCxnSpPr>
          <p:nvPr/>
        </p:nvCxnSpPr>
        <p:spPr>
          <a:xfrm>
            <a:off x="258586" y="2898668"/>
            <a:ext cx="3207836" cy="0"/>
          </a:xfrm>
          <a:prstGeom prst="straightConnector1">
            <a:avLst/>
          </a:prstGeom>
          <a:ln w="28575">
            <a:solidFill>
              <a:srgbClr val="04FA0A"/>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451" name="直線矢印コネクタ 450">
            <a:extLst>
              <a:ext uri="{FF2B5EF4-FFF2-40B4-BE49-F238E27FC236}">
                <a16:creationId xmlns:a16="http://schemas.microsoft.com/office/drawing/2014/main" id="{C2DCC080-98CE-945F-96A2-C42DE7E0C936}"/>
              </a:ext>
            </a:extLst>
          </p:cNvPr>
          <p:cNvCxnSpPr>
            <a:cxnSpLocks/>
          </p:cNvCxnSpPr>
          <p:nvPr/>
        </p:nvCxnSpPr>
        <p:spPr>
          <a:xfrm>
            <a:off x="3534258" y="2887662"/>
            <a:ext cx="2482432" cy="0"/>
          </a:xfrm>
          <a:prstGeom prst="straightConnector1">
            <a:avLst/>
          </a:prstGeom>
          <a:ln w="28575">
            <a:solidFill>
              <a:srgbClr val="04FA0A"/>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452" name="テキスト ボックス 451">
            <a:extLst>
              <a:ext uri="{FF2B5EF4-FFF2-40B4-BE49-F238E27FC236}">
                <a16:creationId xmlns:a16="http://schemas.microsoft.com/office/drawing/2014/main" id="{46C960EE-3214-11A7-C2A3-07025A9849E3}"/>
              </a:ext>
            </a:extLst>
          </p:cNvPr>
          <p:cNvSpPr txBox="1"/>
          <p:nvPr/>
        </p:nvSpPr>
        <p:spPr>
          <a:xfrm>
            <a:off x="1262357" y="2775091"/>
            <a:ext cx="1319856" cy="230832"/>
          </a:xfrm>
          <a:prstGeom prst="rect">
            <a:avLst/>
          </a:prstGeom>
          <a:solidFill>
            <a:schemeClr val="bg1"/>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cs typeface="Meiryo"/>
                <a:sym typeface="Meiryo"/>
              </a:rPr>
              <a:t>WEB</a:t>
            </a:r>
            <a:r>
              <a:rPr lang="ja-JP" altLang="en-US" sz="900" b="1" dirty="0">
                <a:latin typeface="メイリオ" panose="020B0604030504040204" pitchFamily="50" charset="-128"/>
                <a:ea typeface="メイリオ" panose="020B0604030504040204" pitchFamily="50" charset="-128"/>
                <a:cs typeface="Meiryo"/>
                <a:sym typeface="Meiryo"/>
              </a:rPr>
              <a:t>→</a:t>
            </a:r>
            <a:r>
              <a:rPr lang="en-US" altLang="ja-JP" sz="900" b="1" dirty="0">
                <a:latin typeface="メイリオ" panose="020B0604030504040204" pitchFamily="50" charset="-128"/>
                <a:ea typeface="メイリオ" panose="020B0604030504040204" pitchFamily="50" charset="-128"/>
                <a:cs typeface="Meiryo"/>
                <a:sym typeface="Meiryo"/>
              </a:rPr>
              <a:t>LINEOA</a:t>
            </a:r>
            <a:r>
              <a:rPr lang="ja-JP" altLang="en-US" sz="900" b="1" dirty="0">
                <a:latin typeface="メイリオ" panose="020B0604030504040204" pitchFamily="50" charset="-128"/>
                <a:ea typeface="メイリオ" panose="020B0604030504040204" pitchFamily="50" charset="-128"/>
                <a:cs typeface="Meiryo"/>
                <a:sym typeface="Meiryo"/>
              </a:rPr>
              <a:t>領域</a:t>
            </a:r>
            <a:endParaRPr lang="ja-JP" altLang="en-US" sz="900" dirty="0"/>
          </a:p>
        </p:txBody>
      </p:sp>
      <p:sp>
        <p:nvSpPr>
          <p:cNvPr id="453" name="テキスト ボックス 452">
            <a:extLst>
              <a:ext uri="{FF2B5EF4-FFF2-40B4-BE49-F238E27FC236}">
                <a16:creationId xmlns:a16="http://schemas.microsoft.com/office/drawing/2014/main" id="{6035DF7C-B4BD-5EC8-7209-4196763C930C}"/>
              </a:ext>
            </a:extLst>
          </p:cNvPr>
          <p:cNvSpPr txBox="1"/>
          <p:nvPr/>
        </p:nvSpPr>
        <p:spPr>
          <a:xfrm>
            <a:off x="3961298" y="2771249"/>
            <a:ext cx="1597026" cy="230832"/>
          </a:xfrm>
          <a:prstGeom prst="rect">
            <a:avLst/>
          </a:prstGeom>
          <a:solidFill>
            <a:schemeClr val="bg1"/>
          </a:solidFill>
        </p:spPr>
        <p:txBody>
          <a:bodyPr wrap="square">
            <a:spAutoFit/>
          </a:bodyPr>
          <a:lstStyle/>
          <a:p>
            <a:pPr algn="ctr"/>
            <a:r>
              <a:rPr lang="ja-JP" altLang="en-US" sz="900" b="1" dirty="0">
                <a:latin typeface="メイリオ" panose="020B0604030504040204" pitchFamily="50" charset="-128"/>
                <a:ea typeface="メイリオ" panose="020B0604030504040204" pitchFamily="50" charset="-128"/>
                <a:cs typeface="Meiryo"/>
                <a:sym typeface="Meiryo"/>
              </a:rPr>
              <a:t>オフライン→</a:t>
            </a:r>
            <a:r>
              <a:rPr lang="en-US" altLang="ja-JP" sz="900" b="1" dirty="0">
                <a:latin typeface="メイリオ" panose="020B0604030504040204" pitchFamily="50" charset="-128"/>
                <a:ea typeface="メイリオ" panose="020B0604030504040204" pitchFamily="50" charset="-128"/>
                <a:cs typeface="Meiryo"/>
                <a:sym typeface="Meiryo"/>
              </a:rPr>
              <a:t>LINEOA</a:t>
            </a:r>
            <a:r>
              <a:rPr lang="ja-JP" altLang="en-US" sz="900" b="1" dirty="0">
                <a:latin typeface="メイリオ" panose="020B0604030504040204" pitchFamily="50" charset="-128"/>
                <a:ea typeface="メイリオ" panose="020B0604030504040204" pitchFamily="50" charset="-128"/>
                <a:cs typeface="Meiryo"/>
                <a:sym typeface="Meiryo"/>
              </a:rPr>
              <a:t>領域</a:t>
            </a:r>
            <a:endParaRPr lang="ja-JP" altLang="en-US" sz="900" dirty="0"/>
          </a:p>
        </p:txBody>
      </p:sp>
      <p:sp>
        <p:nvSpPr>
          <p:cNvPr id="454" name="正方形/長方形 453">
            <a:extLst>
              <a:ext uri="{FF2B5EF4-FFF2-40B4-BE49-F238E27FC236}">
                <a16:creationId xmlns:a16="http://schemas.microsoft.com/office/drawing/2014/main" id="{E33317FD-3364-4CC0-4FE2-E3D336A50C78}"/>
              </a:ext>
            </a:extLst>
          </p:cNvPr>
          <p:cNvSpPr/>
          <p:nvPr/>
        </p:nvSpPr>
        <p:spPr>
          <a:xfrm>
            <a:off x="240222" y="3031675"/>
            <a:ext cx="5776468" cy="242559"/>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00" dirty="0">
                <a:latin typeface="メイリオ" panose="020B0604030504040204" pitchFamily="50" charset="-128"/>
                <a:ea typeface="メイリオ" panose="020B0604030504040204" pitchFamily="50" charset="-128"/>
              </a:rPr>
              <a:t>どう</a:t>
            </a:r>
            <a:r>
              <a:rPr kumimoji="1" lang="ja-JP" altLang="en-US" sz="1000" dirty="0">
                <a:latin typeface="メイリオ" panose="020B0604030504040204" pitchFamily="50" charset="-128"/>
                <a:ea typeface="メイリオ" panose="020B0604030504040204" pitchFamily="50" charset="-128"/>
              </a:rPr>
              <a:t>友だち追加させるか？</a:t>
            </a:r>
            <a:r>
              <a:rPr kumimoji="1" lang="ja-JP" altLang="en-US" sz="1000" dirty="0">
                <a:solidFill>
                  <a:srgbClr val="FFFF00"/>
                </a:solidFill>
                <a:latin typeface="メイリオ" panose="020B0604030504040204" pitchFamily="50" charset="-128"/>
                <a:ea typeface="メイリオ" panose="020B0604030504040204" pitchFamily="50" charset="-128"/>
              </a:rPr>
              <a:t>（</a:t>
            </a:r>
            <a:r>
              <a:rPr kumimoji="1" lang="en-US" altLang="ja-JP" sz="1000" dirty="0">
                <a:solidFill>
                  <a:srgbClr val="FFFF00"/>
                </a:solidFill>
                <a:latin typeface="メイリオ" panose="020B0604030504040204" pitchFamily="50" charset="-128"/>
                <a:ea typeface="メイリオ" panose="020B0604030504040204" pitchFamily="50" charset="-128"/>
              </a:rPr>
              <a:t>WEB</a:t>
            </a:r>
            <a:r>
              <a:rPr kumimoji="1" lang="ja-JP" altLang="en-US" sz="1000" dirty="0">
                <a:solidFill>
                  <a:srgbClr val="FFFF00"/>
                </a:solidFill>
                <a:latin typeface="メイリオ" panose="020B0604030504040204" pitchFamily="50" charset="-128"/>
                <a:ea typeface="メイリオ" panose="020B0604030504040204" pitchFamily="50" charset="-128"/>
              </a:rPr>
              <a:t>→</a:t>
            </a:r>
            <a:r>
              <a:rPr kumimoji="1" lang="en-US" altLang="ja-JP" sz="1000" dirty="0">
                <a:solidFill>
                  <a:srgbClr val="FFFF00"/>
                </a:solidFill>
                <a:latin typeface="メイリオ" panose="020B0604030504040204" pitchFamily="50" charset="-128"/>
                <a:ea typeface="メイリオ" panose="020B0604030504040204" pitchFamily="50" charset="-128"/>
              </a:rPr>
              <a:t>LINE</a:t>
            </a:r>
            <a:r>
              <a:rPr kumimoji="1" lang="ja-JP" altLang="en-US" sz="1000" dirty="0">
                <a:solidFill>
                  <a:srgbClr val="FFFF00"/>
                </a:solidFill>
                <a:latin typeface="メイリオ" panose="020B0604030504040204" pitchFamily="50" charset="-128"/>
                <a:ea typeface="メイリオ" panose="020B0604030504040204" pitchFamily="50" charset="-128"/>
              </a:rPr>
              <a:t>）</a:t>
            </a:r>
          </a:p>
        </p:txBody>
      </p:sp>
      <p:cxnSp>
        <p:nvCxnSpPr>
          <p:cNvPr id="455" name="直線矢印コネクタ 454">
            <a:extLst>
              <a:ext uri="{FF2B5EF4-FFF2-40B4-BE49-F238E27FC236}">
                <a16:creationId xmlns:a16="http://schemas.microsoft.com/office/drawing/2014/main" id="{69C05BA8-18F6-F344-3C54-A5E03AFE2368}"/>
              </a:ext>
            </a:extLst>
          </p:cNvPr>
          <p:cNvCxnSpPr>
            <a:cxnSpLocks/>
          </p:cNvCxnSpPr>
          <p:nvPr/>
        </p:nvCxnSpPr>
        <p:spPr>
          <a:xfrm>
            <a:off x="2892769" y="4798575"/>
            <a:ext cx="6752172" cy="0"/>
          </a:xfrm>
          <a:prstGeom prst="straightConnector1">
            <a:avLst/>
          </a:prstGeom>
          <a:ln w="28575">
            <a:solidFill>
              <a:schemeClr val="tx1"/>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456" name="テキスト ボックス 455">
            <a:extLst>
              <a:ext uri="{FF2B5EF4-FFF2-40B4-BE49-F238E27FC236}">
                <a16:creationId xmlns:a16="http://schemas.microsoft.com/office/drawing/2014/main" id="{5B6D9466-EC9E-4057-AB18-8974D147F3E8}"/>
              </a:ext>
            </a:extLst>
          </p:cNvPr>
          <p:cNvSpPr txBox="1"/>
          <p:nvPr/>
        </p:nvSpPr>
        <p:spPr>
          <a:xfrm>
            <a:off x="5430583" y="4657308"/>
            <a:ext cx="1581214" cy="261610"/>
          </a:xfrm>
          <a:prstGeom prst="rect">
            <a:avLst/>
          </a:prstGeom>
          <a:solidFill>
            <a:schemeClr val="bg1"/>
          </a:solidFill>
        </p:spPr>
        <p:txBody>
          <a:bodyPr wrap="square">
            <a:spAutoFit/>
          </a:bodyPr>
          <a:lstStyle/>
          <a:p>
            <a:pPr algn="ctr"/>
            <a:r>
              <a:rPr lang="en-US" altLang="ja-JP" sz="1050" b="1" dirty="0">
                <a:latin typeface="メイリオ" panose="020B0604030504040204" pitchFamily="50" charset="-128"/>
                <a:ea typeface="メイリオ" panose="020B0604030504040204" pitchFamily="50" charset="-128"/>
                <a:cs typeface="Meiryo"/>
                <a:sym typeface="Meiryo"/>
              </a:rPr>
              <a:t>LINEOA</a:t>
            </a:r>
            <a:r>
              <a:rPr lang="ja-JP" altLang="en-US" sz="1050" b="1" dirty="0">
                <a:latin typeface="メイリオ" panose="020B0604030504040204" pitchFamily="50" charset="-128"/>
                <a:ea typeface="メイリオ" panose="020B0604030504040204" pitchFamily="50" charset="-128"/>
                <a:cs typeface="Meiryo"/>
                <a:sym typeface="Meiryo"/>
              </a:rPr>
              <a:t>➙</a:t>
            </a:r>
            <a:r>
              <a:rPr lang="en-US" altLang="ja-JP" sz="1050" b="1" dirty="0">
                <a:latin typeface="メイリオ" panose="020B0604030504040204" pitchFamily="50" charset="-128"/>
                <a:ea typeface="メイリオ" panose="020B0604030504040204" pitchFamily="50" charset="-128"/>
                <a:cs typeface="Meiryo"/>
                <a:sym typeface="Meiryo"/>
              </a:rPr>
              <a:t>WEB</a:t>
            </a:r>
            <a:r>
              <a:rPr lang="ja-JP" altLang="en-US" sz="1050" b="1" dirty="0">
                <a:latin typeface="メイリオ" panose="020B0604030504040204" pitchFamily="50" charset="-128"/>
                <a:ea typeface="メイリオ" panose="020B0604030504040204" pitchFamily="50" charset="-128"/>
                <a:cs typeface="Meiryo"/>
                <a:sym typeface="Meiryo"/>
              </a:rPr>
              <a:t>領域</a:t>
            </a:r>
            <a:endParaRPr lang="ja-JP" altLang="en-US" sz="1050" dirty="0"/>
          </a:p>
        </p:txBody>
      </p:sp>
      <p:cxnSp>
        <p:nvCxnSpPr>
          <p:cNvPr id="457" name="直線矢印コネクタ 456">
            <a:extLst>
              <a:ext uri="{FF2B5EF4-FFF2-40B4-BE49-F238E27FC236}">
                <a16:creationId xmlns:a16="http://schemas.microsoft.com/office/drawing/2014/main" id="{B9C84515-E6C9-A256-421E-9C3EFEBBFF17}"/>
              </a:ext>
            </a:extLst>
          </p:cNvPr>
          <p:cNvCxnSpPr>
            <a:cxnSpLocks/>
          </p:cNvCxnSpPr>
          <p:nvPr/>
        </p:nvCxnSpPr>
        <p:spPr>
          <a:xfrm>
            <a:off x="7622020" y="5365753"/>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58" name="テキスト ボックス 457">
            <a:extLst>
              <a:ext uri="{FF2B5EF4-FFF2-40B4-BE49-F238E27FC236}">
                <a16:creationId xmlns:a16="http://schemas.microsoft.com/office/drawing/2014/main" id="{7E002B77-EFC0-55F3-D3E6-100837F9B195}"/>
              </a:ext>
            </a:extLst>
          </p:cNvPr>
          <p:cNvSpPr txBox="1"/>
          <p:nvPr/>
        </p:nvSpPr>
        <p:spPr>
          <a:xfrm>
            <a:off x="8102883" y="5231969"/>
            <a:ext cx="1064989" cy="230832"/>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9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フォロー体制</a:t>
            </a:r>
            <a:endParaRPr lang="ja-JP" altLang="en-US" sz="900" b="1" dirty="0">
              <a:solidFill>
                <a:schemeClr val="tx1">
                  <a:lumMod val="50000"/>
                  <a:lumOff val="50000"/>
                </a:schemeClr>
              </a:solidFill>
            </a:endParaRPr>
          </a:p>
        </p:txBody>
      </p:sp>
      <p:cxnSp>
        <p:nvCxnSpPr>
          <p:cNvPr id="459" name="直線矢印コネクタ 458">
            <a:extLst>
              <a:ext uri="{FF2B5EF4-FFF2-40B4-BE49-F238E27FC236}">
                <a16:creationId xmlns:a16="http://schemas.microsoft.com/office/drawing/2014/main" id="{03BD82C1-8BEC-3E49-C1DA-A1C214DB1C8C}"/>
              </a:ext>
            </a:extLst>
          </p:cNvPr>
          <p:cNvCxnSpPr>
            <a:cxnSpLocks/>
          </p:cNvCxnSpPr>
          <p:nvPr/>
        </p:nvCxnSpPr>
        <p:spPr>
          <a:xfrm>
            <a:off x="4443737" y="5364283"/>
            <a:ext cx="2982482"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60" name="テキスト ボックス 459">
            <a:extLst>
              <a:ext uri="{FF2B5EF4-FFF2-40B4-BE49-F238E27FC236}">
                <a16:creationId xmlns:a16="http://schemas.microsoft.com/office/drawing/2014/main" id="{919F797F-1B6A-876C-B468-E147B3D97E8A}"/>
              </a:ext>
            </a:extLst>
          </p:cNvPr>
          <p:cNvSpPr txBox="1"/>
          <p:nvPr/>
        </p:nvSpPr>
        <p:spPr>
          <a:xfrm>
            <a:off x="5470240" y="5239208"/>
            <a:ext cx="1064989" cy="230832"/>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900" b="1" dirty="0">
                <a:latin typeface="メイリオ" panose="020B0604030504040204" pitchFamily="50" charset="-128"/>
                <a:ea typeface="メイリオ" panose="020B0604030504040204" pitchFamily="50" charset="-128"/>
                <a:cs typeface="Meiryo"/>
                <a:sym typeface="Meiryo"/>
              </a:rPr>
              <a:t>ステップ配信</a:t>
            </a:r>
            <a:endParaRPr lang="ja-JP" altLang="en-US" sz="900" b="1" dirty="0"/>
          </a:p>
        </p:txBody>
      </p:sp>
      <p:cxnSp>
        <p:nvCxnSpPr>
          <p:cNvPr id="461" name="直線矢印コネクタ 460">
            <a:extLst>
              <a:ext uri="{FF2B5EF4-FFF2-40B4-BE49-F238E27FC236}">
                <a16:creationId xmlns:a16="http://schemas.microsoft.com/office/drawing/2014/main" id="{C96E67E6-B364-7DED-CDB8-DDCEEFB96AD2}"/>
              </a:ext>
            </a:extLst>
          </p:cNvPr>
          <p:cNvCxnSpPr>
            <a:cxnSpLocks/>
          </p:cNvCxnSpPr>
          <p:nvPr/>
        </p:nvCxnSpPr>
        <p:spPr>
          <a:xfrm>
            <a:off x="4443578" y="5637399"/>
            <a:ext cx="2982482"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62" name="テキスト ボックス 461">
            <a:extLst>
              <a:ext uri="{FF2B5EF4-FFF2-40B4-BE49-F238E27FC236}">
                <a16:creationId xmlns:a16="http://schemas.microsoft.com/office/drawing/2014/main" id="{335DB4AB-DEFA-E356-751F-7106100F929E}"/>
              </a:ext>
            </a:extLst>
          </p:cNvPr>
          <p:cNvSpPr txBox="1"/>
          <p:nvPr/>
        </p:nvSpPr>
        <p:spPr>
          <a:xfrm>
            <a:off x="5470081" y="5512324"/>
            <a:ext cx="1064989" cy="230832"/>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900" b="1" dirty="0">
                <a:latin typeface="メイリオ" panose="020B0604030504040204" pitchFamily="50" charset="-128"/>
                <a:ea typeface="メイリオ" panose="020B0604030504040204" pitchFamily="50" charset="-128"/>
                <a:cs typeface="Meiryo"/>
                <a:sym typeface="Meiryo"/>
              </a:rPr>
              <a:t>企画配信</a:t>
            </a:r>
            <a:endParaRPr lang="ja-JP" altLang="en-US" sz="900" b="1" dirty="0"/>
          </a:p>
        </p:txBody>
      </p:sp>
      <p:cxnSp>
        <p:nvCxnSpPr>
          <p:cNvPr id="463" name="直線矢印コネクタ 462">
            <a:extLst>
              <a:ext uri="{FF2B5EF4-FFF2-40B4-BE49-F238E27FC236}">
                <a16:creationId xmlns:a16="http://schemas.microsoft.com/office/drawing/2014/main" id="{7884810E-3E89-4CCB-C00C-B386A34717E4}"/>
              </a:ext>
            </a:extLst>
          </p:cNvPr>
          <p:cNvCxnSpPr>
            <a:cxnSpLocks/>
          </p:cNvCxnSpPr>
          <p:nvPr/>
        </p:nvCxnSpPr>
        <p:spPr>
          <a:xfrm>
            <a:off x="3989118" y="5852186"/>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64" name="テキスト ボックス 463">
            <a:extLst>
              <a:ext uri="{FF2B5EF4-FFF2-40B4-BE49-F238E27FC236}">
                <a16:creationId xmlns:a16="http://schemas.microsoft.com/office/drawing/2014/main" id="{6FD45AC0-2372-776F-6D16-846C0FB7AC64}"/>
              </a:ext>
            </a:extLst>
          </p:cNvPr>
          <p:cNvSpPr txBox="1"/>
          <p:nvPr/>
        </p:nvSpPr>
        <p:spPr>
          <a:xfrm>
            <a:off x="4304358" y="5753281"/>
            <a:ext cx="1288637" cy="209847"/>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900" b="1" dirty="0">
                <a:latin typeface="メイリオ" panose="020B0604030504040204" pitchFamily="50" charset="-128"/>
                <a:ea typeface="メイリオ" panose="020B0604030504040204" pitchFamily="50" charset="-128"/>
                <a:cs typeface="Meiryo"/>
                <a:sym typeface="Meiryo"/>
              </a:rPr>
              <a:t>アンケート回収</a:t>
            </a:r>
            <a:endParaRPr lang="ja-JP" altLang="en-US" sz="900" b="1" dirty="0"/>
          </a:p>
        </p:txBody>
      </p:sp>
      <p:cxnSp>
        <p:nvCxnSpPr>
          <p:cNvPr id="465" name="直線矢印コネクタ 464">
            <a:extLst>
              <a:ext uri="{FF2B5EF4-FFF2-40B4-BE49-F238E27FC236}">
                <a16:creationId xmlns:a16="http://schemas.microsoft.com/office/drawing/2014/main" id="{5BF3558A-EBED-81EE-B158-28A7CA5D6693}"/>
              </a:ext>
            </a:extLst>
          </p:cNvPr>
          <p:cNvCxnSpPr>
            <a:cxnSpLocks/>
          </p:cNvCxnSpPr>
          <p:nvPr/>
        </p:nvCxnSpPr>
        <p:spPr>
          <a:xfrm>
            <a:off x="3986817" y="6094511"/>
            <a:ext cx="2027163" cy="6111"/>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66" name="テキスト ボックス 465">
            <a:extLst>
              <a:ext uri="{FF2B5EF4-FFF2-40B4-BE49-F238E27FC236}">
                <a16:creationId xmlns:a16="http://schemas.microsoft.com/office/drawing/2014/main" id="{001266CB-AC56-8914-0ACE-8B554DB19B76}"/>
              </a:ext>
            </a:extLst>
          </p:cNvPr>
          <p:cNvSpPr txBox="1"/>
          <p:nvPr/>
        </p:nvSpPr>
        <p:spPr>
          <a:xfrm>
            <a:off x="4319604" y="5997197"/>
            <a:ext cx="1288637" cy="209847"/>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900" b="1" dirty="0">
                <a:latin typeface="メイリオ" panose="020B0604030504040204" pitchFamily="50" charset="-128"/>
                <a:ea typeface="メイリオ" panose="020B0604030504040204" pitchFamily="50" charset="-128"/>
                <a:cs typeface="Meiryo"/>
                <a:sym typeface="Meiryo"/>
              </a:rPr>
              <a:t>スコアリング等</a:t>
            </a:r>
            <a:endParaRPr lang="ja-JP" altLang="en-US" sz="900" b="1" dirty="0"/>
          </a:p>
        </p:txBody>
      </p:sp>
      <p:cxnSp>
        <p:nvCxnSpPr>
          <p:cNvPr id="467" name="直線矢印コネクタ 466">
            <a:extLst>
              <a:ext uri="{FF2B5EF4-FFF2-40B4-BE49-F238E27FC236}">
                <a16:creationId xmlns:a16="http://schemas.microsoft.com/office/drawing/2014/main" id="{1B403718-ABF2-11BC-1A05-A9E208B7C0F7}"/>
              </a:ext>
            </a:extLst>
          </p:cNvPr>
          <p:cNvCxnSpPr>
            <a:cxnSpLocks/>
          </p:cNvCxnSpPr>
          <p:nvPr/>
        </p:nvCxnSpPr>
        <p:spPr>
          <a:xfrm>
            <a:off x="7042649" y="5856102"/>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468" name="直線矢印コネクタ 467">
            <a:extLst>
              <a:ext uri="{FF2B5EF4-FFF2-40B4-BE49-F238E27FC236}">
                <a16:creationId xmlns:a16="http://schemas.microsoft.com/office/drawing/2014/main" id="{B31EBA12-BB45-627B-A1FD-F44E077537B1}"/>
              </a:ext>
            </a:extLst>
          </p:cNvPr>
          <p:cNvCxnSpPr>
            <a:cxnSpLocks/>
          </p:cNvCxnSpPr>
          <p:nvPr/>
        </p:nvCxnSpPr>
        <p:spPr>
          <a:xfrm>
            <a:off x="6911926" y="6113619"/>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69" name="テキスト ボックス 468">
            <a:extLst>
              <a:ext uri="{FF2B5EF4-FFF2-40B4-BE49-F238E27FC236}">
                <a16:creationId xmlns:a16="http://schemas.microsoft.com/office/drawing/2014/main" id="{B0C05E5D-44B4-DA5D-7C04-0BDC8A4602CE}"/>
              </a:ext>
            </a:extLst>
          </p:cNvPr>
          <p:cNvSpPr txBox="1"/>
          <p:nvPr/>
        </p:nvSpPr>
        <p:spPr>
          <a:xfrm>
            <a:off x="7260372" y="6007902"/>
            <a:ext cx="1288637" cy="230832"/>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9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ショップカード</a:t>
            </a:r>
            <a:endParaRPr lang="ja-JP" altLang="en-US" sz="900" b="1" dirty="0">
              <a:solidFill>
                <a:schemeClr val="tx1">
                  <a:lumMod val="50000"/>
                  <a:lumOff val="50000"/>
                </a:schemeClr>
              </a:solidFill>
            </a:endParaRPr>
          </a:p>
        </p:txBody>
      </p:sp>
      <p:pic>
        <p:nvPicPr>
          <p:cNvPr id="470" name="図 469">
            <a:extLst>
              <a:ext uri="{FF2B5EF4-FFF2-40B4-BE49-F238E27FC236}">
                <a16:creationId xmlns:a16="http://schemas.microsoft.com/office/drawing/2014/main" id="{2F4B65BB-B8AA-5045-2074-C574F9423E61}"/>
              </a:ext>
            </a:extLst>
          </p:cNvPr>
          <p:cNvPicPr>
            <a:picLocks noChangeAspect="1"/>
          </p:cNvPicPr>
          <p:nvPr/>
        </p:nvPicPr>
        <p:blipFill>
          <a:blip r:embed="rId3" cstate="print">
            <a:extLst>
              <a:ext uri="{28A0092B-C50C-407E-A947-70E740481C1C}">
                <a14:useLocalDpi xmlns:a14="http://schemas.microsoft.com/office/drawing/2010/main" val="0"/>
              </a:ext>
            </a:extLst>
          </a:blip>
          <a:srcRect t="4981" b="4075"/>
          <a:stretch>
            <a:fillRect/>
          </a:stretch>
        </p:blipFill>
        <p:spPr>
          <a:xfrm>
            <a:off x="2929897" y="4918748"/>
            <a:ext cx="703970" cy="1385346"/>
          </a:xfrm>
          <a:prstGeom prst="rect">
            <a:avLst/>
          </a:prstGeom>
        </p:spPr>
      </p:pic>
      <p:sp>
        <p:nvSpPr>
          <p:cNvPr id="471" name="正方形/長方形 470">
            <a:extLst>
              <a:ext uri="{FF2B5EF4-FFF2-40B4-BE49-F238E27FC236}">
                <a16:creationId xmlns:a16="http://schemas.microsoft.com/office/drawing/2014/main" id="{D22C9FBF-7B93-079A-E87E-A4C967CD0194}"/>
              </a:ext>
            </a:extLst>
          </p:cNvPr>
          <p:cNvSpPr/>
          <p:nvPr/>
        </p:nvSpPr>
        <p:spPr>
          <a:xfrm>
            <a:off x="3832763" y="5206936"/>
            <a:ext cx="2944325" cy="1076098"/>
          </a:xfrm>
          <a:prstGeom prst="rect">
            <a:avLst/>
          </a:prstGeom>
          <a:noFill/>
          <a:ln w="15875">
            <a:solidFill>
              <a:schemeClr val="accent1"/>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72" name="テキスト ボックス 471">
            <a:extLst>
              <a:ext uri="{FF2B5EF4-FFF2-40B4-BE49-F238E27FC236}">
                <a16:creationId xmlns:a16="http://schemas.microsoft.com/office/drawing/2014/main" id="{89B35388-9C44-6C01-ACAA-2E691617E119}"/>
              </a:ext>
            </a:extLst>
          </p:cNvPr>
          <p:cNvSpPr txBox="1"/>
          <p:nvPr/>
        </p:nvSpPr>
        <p:spPr>
          <a:xfrm>
            <a:off x="5647624" y="6173593"/>
            <a:ext cx="1207049" cy="200055"/>
          </a:xfrm>
          <a:prstGeom prst="rect">
            <a:avLst/>
          </a:prstGeom>
          <a:solidFill>
            <a:schemeClr val="tx2"/>
          </a:solidFill>
          <a:ln>
            <a:noFill/>
          </a:ln>
        </p:spPr>
        <p:txBody>
          <a:bodyPr wrap="square">
            <a:spAutoFit/>
          </a:bodyPr>
          <a:lstStyle/>
          <a:p>
            <a:pPr algn="ctr">
              <a:buNone/>
            </a:pPr>
            <a:r>
              <a:rPr lang="ja-JP" altLang="en-US" sz="700" dirty="0">
                <a:solidFill>
                  <a:schemeClr val="bg1"/>
                </a:solidFill>
                <a:latin typeface="メイリオ" panose="020B0604030504040204" pitchFamily="50" charset="-128"/>
                <a:ea typeface="メイリオ" panose="020B0604030504040204" pitchFamily="50" charset="-128"/>
              </a:rPr>
              <a:t>短期と長期で各自設計</a:t>
            </a:r>
            <a:endParaRPr lang="ja-JP" altLang="ja-JP" sz="700" dirty="0">
              <a:solidFill>
                <a:schemeClr val="bg1"/>
              </a:solidFill>
              <a:latin typeface="メイリオ" panose="020B0604030504040204" pitchFamily="50" charset="-128"/>
              <a:ea typeface="メイリオ" panose="020B0604030504040204" pitchFamily="50" charset="-128"/>
            </a:endParaRPr>
          </a:p>
        </p:txBody>
      </p:sp>
      <p:sp>
        <p:nvSpPr>
          <p:cNvPr id="473" name="テキスト ボックス 472">
            <a:extLst>
              <a:ext uri="{FF2B5EF4-FFF2-40B4-BE49-F238E27FC236}">
                <a16:creationId xmlns:a16="http://schemas.microsoft.com/office/drawing/2014/main" id="{BD1C4614-6833-006B-0695-58E26A5CFFB7}"/>
              </a:ext>
            </a:extLst>
          </p:cNvPr>
          <p:cNvSpPr txBox="1"/>
          <p:nvPr/>
        </p:nvSpPr>
        <p:spPr>
          <a:xfrm>
            <a:off x="7434640" y="5741676"/>
            <a:ext cx="1288637" cy="230832"/>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9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リサーチ回収</a:t>
            </a:r>
            <a:endParaRPr lang="ja-JP" altLang="en-US" sz="900" b="1" dirty="0">
              <a:solidFill>
                <a:schemeClr val="tx1">
                  <a:lumMod val="50000"/>
                  <a:lumOff val="50000"/>
                </a:schemeClr>
              </a:solidFill>
            </a:endParaRPr>
          </a:p>
        </p:txBody>
      </p:sp>
      <p:sp>
        <p:nvSpPr>
          <p:cNvPr id="474" name="正方形/長方形 473">
            <a:extLst>
              <a:ext uri="{FF2B5EF4-FFF2-40B4-BE49-F238E27FC236}">
                <a16:creationId xmlns:a16="http://schemas.microsoft.com/office/drawing/2014/main" id="{149FC944-C0B9-A202-3A0B-03CB7D89620A}"/>
              </a:ext>
            </a:extLst>
          </p:cNvPr>
          <p:cNvSpPr/>
          <p:nvPr/>
        </p:nvSpPr>
        <p:spPr>
          <a:xfrm>
            <a:off x="3046381" y="4921782"/>
            <a:ext cx="6619128" cy="242559"/>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00" dirty="0">
                <a:latin typeface="メイリオ" panose="020B0604030504040204" pitchFamily="50" charset="-128"/>
                <a:ea typeface="メイリオ" panose="020B0604030504040204" pitchFamily="50" charset="-128"/>
              </a:rPr>
              <a:t>どう</a:t>
            </a:r>
            <a:r>
              <a:rPr kumimoji="1" lang="ja-JP" altLang="en-US" sz="1000" dirty="0">
                <a:latin typeface="メイリオ" panose="020B0604030504040204" pitchFamily="50" charset="-128"/>
                <a:ea typeface="メイリオ" panose="020B0604030504040204" pitchFamily="50" charset="-128"/>
              </a:rPr>
              <a:t>友だちをアクションに結びつけるか？</a:t>
            </a:r>
            <a:r>
              <a:rPr kumimoji="1" lang="ja-JP" altLang="en-US" sz="1000" dirty="0">
                <a:solidFill>
                  <a:srgbClr val="FFFF00"/>
                </a:solidFill>
                <a:latin typeface="メイリオ" panose="020B0604030504040204" pitchFamily="50" charset="-128"/>
                <a:ea typeface="メイリオ" panose="020B0604030504040204" pitchFamily="50" charset="-128"/>
              </a:rPr>
              <a:t>（</a:t>
            </a:r>
            <a:r>
              <a:rPr kumimoji="1" lang="en-US" altLang="ja-JP" sz="1000" dirty="0">
                <a:solidFill>
                  <a:srgbClr val="FFFF00"/>
                </a:solidFill>
                <a:latin typeface="メイリオ" panose="020B0604030504040204" pitchFamily="50" charset="-128"/>
                <a:ea typeface="メイリオ" panose="020B0604030504040204" pitchFamily="50" charset="-128"/>
              </a:rPr>
              <a:t>LINE</a:t>
            </a:r>
            <a:r>
              <a:rPr kumimoji="1" lang="ja-JP" altLang="en-US" sz="1000" dirty="0">
                <a:solidFill>
                  <a:srgbClr val="FFFF00"/>
                </a:solidFill>
                <a:latin typeface="メイリオ" panose="020B0604030504040204" pitchFamily="50" charset="-128"/>
                <a:ea typeface="メイリオ" panose="020B0604030504040204" pitchFamily="50" charset="-128"/>
              </a:rPr>
              <a:t>→反響）</a:t>
            </a:r>
          </a:p>
        </p:txBody>
      </p:sp>
    </p:spTree>
    <p:extLst>
      <p:ext uri="{BB962C8B-B14F-4D97-AF65-F5344CB8AC3E}">
        <p14:creationId xmlns:p14="http://schemas.microsoft.com/office/powerpoint/2010/main" val="346446818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143DE1-3ED3-F966-F6AD-4C1C8BF7CC0E}"/>
            </a:ext>
          </a:extLst>
        </p:cNvPr>
        <p:cNvGrpSpPr/>
        <p:nvPr/>
      </p:nvGrpSpPr>
      <p:grpSpPr>
        <a:xfrm>
          <a:off x="0" y="0"/>
          <a:ext cx="0" cy="0"/>
          <a:chOff x="0" y="0"/>
          <a:chExt cx="0" cy="0"/>
        </a:xfrm>
      </p:grpSpPr>
      <p:sp>
        <p:nvSpPr>
          <p:cNvPr id="58" name="正方形/長方形 57">
            <a:extLst>
              <a:ext uri="{FF2B5EF4-FFF2-40B4-BE49-F238E27FC236}">
                <a16:creationId xmlns:a16="http://schemas.microsoft.com/office/drawing/2014/main" id="{2E6701D8-9A90-E152-7C18-C7706967BB9A}"/>
              </a:ext>
            </a:extLst>
          </p:cNvPr>
          <p:cNvSpPr/>
          <p:nvPr/>
        </p:nvSpPr>
        <p:spPr>
          <a:xfrm>
            <a:off x="96788" y="1045811"/>
            <a:ext cx="1935768" cy="21878"/>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3" name="正方形/長方形 2">
            <a:extLst>
              <a:ext uri="{FF2B5EF4-FFF2-40B4-BE49-F238E27FC236}">
                <a16:creationId xmlns:a16="http://schemas.microsoft.com/office/drawing/2014/main" id="{1E62FB26-1D1E-5A11-19DE-1FB175754D5C}"/>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5" name="テキスト ボックス 4">
            <a:extLst>
              <a:ext uri="{FF2B5EF4-FFF2-40B4-BE49-F238E27FC236}">
                <a16:creationId xmlns:a16="http://schemas.microsoft.com/office/drawing/2014/main" id="{6598B957-A9E7-BDB0-A5F6-72D1122A5B6E}"/>
              </a:ext>
            </a:extLst>
          </p:cNvPr>
          <p:cNvSpPr txBox="1"/>
          <p:nvPr/>
        </p:nvSpPr>
        <p:spPr>
          <a:xfrm>
            <a:off x="96788" y="619405"/>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施策パターン（主要５パターン）</a:t>
            </a:r>
            <a:endParaRPr lang="ja-JP" altLang="en-US" sz="1100" dirty="0"/>
          </a:p>
        </p:txBody>
      </p:sp>
      <p:sp>
        <p:nvSpPr>
          <p:cNvPr id="7" name="テキスト ボックス 6">
            <a:extLst>
              <a:ext uri="{FF2B5EF4-FFF2-40B4-BE49-F238E27FC236}">
                <a16:creationId xmlns:a16="http://schemas.microsoft.com/office/drawing/2014/main" id="{45E74368-07DB-CE00-62F1-E5548485D6FB}"/>
              </a:ext>
            </a:extLst>
          </p:cNvPr>
          <p:cNvSpPr txBox="1"/>
          <p:nvPr/>
        </p:nvSpPr>
        <p:spPr>
          <a:xfrm>
            <a:off x="96788" y="1202790"/>
            <a:ext cx="9687414" cy="307777"/>
          </a:xfrm>
          <a:prstGeom prst="rect">
            <a:avLst/>
          </a:prstGeom>
          <a:noFill/>
        </p:spPr>
        <p:txBody>
          <a:bodyPr wrap="square">
            <a:spAutoFit/>
          </a:bodyPr>
          <a:lstStyle/>
          <a:p>
            <a:r>
              <a:rPr lang="en-US" altLang="ja-JP"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a:t>
            </a:r>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運用で追うべき重要指標（</a:t>
            </a:r>
            <a:r>
              <a:rPr lang="en-US" altLang="ja-JP"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KPI</a:t>
            </a:r>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）と、目的に応じた</a:t>
            </a:r>
            <a:r>
              <a:rPr lang="en-US" altLang="ja-JP"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5</a:t>
            </a:r>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つの施策方針</a:t>
            </a:r>
            <a:endParaRPr lang="ja-JP" altLang="en-US" sz="1000" dirty="0"/>
          </a:p>
        </p:txBody>
      </p:sp>
      <p:sp>
        <p:nvSpPr>
          <p:cNvPr id="9" name="テキスト ボックス 8">
            <a:extLst>
              <a:ext uri="{FF2B5EF4-FFF2-40B4-BE49-F238E27FC236}">
                <a16:creationId xmlns:a16="http://schemas.microsoft.com/office/drawing/2014/main" id="{29ADE9C4-EDB0-BC95-CE8E-626E80FB4D48}"/>
              </a:ext>
            </a:extLst>
          </p:cNvPr>
          <p:cNvSpPr txBox="1"/>
          <p:nvPr/>
        </p:nvSpPr>
        <p:spPr>
          <a:xfrm>
            <a:off x="460785" y="91159"/>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 前提調査</a:t>
            </a:r>
            <a:endParaRPr lang="ja-JP" altLang="en-US" sz="1100" dirty="0"/>
          </a:p>
        </p:txBody>
      </p:sp>
      <p:sp>
        <p:nvSpPr>
          <p:cNvPr id="12" name="Rectangle 4">
            <a:extLst>
              <a:ext uri="{FF2B5EF4-FFF2-40B4-BE49-F238E27FC236}">
                <a16:creationId xmlns:a16="http://schemas.microsoft.com/office/drawing/2014/main" id="{49E79A83-D923-CF9A-2A1A-3D2E1673FD4A}"/>
              </a:ext>
            </a:extLst>
          </p:cNvPr>
          <p:cNvSpPr/>
          <p:nvPr/>
        </p:nvSpPr>
        <p:spPr>
          <a:xfrm>
            <a:off x="408432" y="2163060"/>
            <a:ext cx="1773936" cy="6858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250" b="1" dirty="0" err="1">
                <a:solidFill>
                  <a:srgbClr val="FFFFFF"/>
                </a:solidFill>
                <a:latin typeface="メイリオ"/>
                <a:ea typeface="メイリオ"/>
                <a:cs typeface="メイリオ"/>
              </a:rPr>
              <a:t>露出強化</a:t>
            </a:r>
            <a:endParaRPr sz="1250" b="1" dirty="0">
              <a:solidFill>
                <a:srgbClr val="FFFFFF"/>
              </a:solidFill>
              <a:latin typeface="メイリオ"/>
              <a:ea typeface="メイリオ"/>
              <a:cs typeface="メイリオ"/>
            </a:endParaRPr>
          </a:p>
          <a:p>
            <a:pPr algn="ctr">
              <a:spcAft>
                <a:spcPts val="0"/>
              </a:spcAft>
            </a:pPr>
            <a:r>
              <a:rPr sz="950" b="0" dirty="0" err="1">
                <a:solidFill>
                  <a:srgbClr val="FFFFFF"/>
                </a:solidFill>
                <a:latin typeface="メイリオ"/>
                <a:ea typeface="メイリオ"/>
                <a:cs typeface="メイリオ"/>
              </a:rPr>
              <a:t>ブランディング・告知</a:t>
            </a:r>
            <a:endParaRPr sz="950" b="0" dirty="0">
              <a:solidFill>
                <a:srgbClr val="FFFFFF"/>
              </a:solidFill>
              <a:latin typeface="メイリオ"/>
              <a:ea typeface="メイリオ"/>
              <a:cs typeface="メイリオ"/>
            </a:endParaRPr>
          </a:p>
        </p:txBody>
      </p:sp>
      <p:sp>
        <p:nvSpPr>
          <p:cNvPr id="16" name="Rectangle 5">
            <a:extLst>
              <a:ext uri="{FF2B5EF4-FFF2-40B4-BE49-F238E27FC236}">
                <a16:creationId xmlns:a16="http://schemas.microsoft.com/office/drawing/2014/main" id="{155E13D8-2298-8094-68E3-69F442818216}"/>
              </a:ext>
            </a:extLst>
          </p:cNvPr>
          <p:cNvSpPr/>
          <p:nvPr/>
        </p:nvSpPr>
        <p:spPr>
          <a:xfrm>
            <a:off x="408432" y="2887178"/>
            <a:ext cx="1773936" cy="256032"/>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chemeClr val="tx2"/>
                </a:solidFill>
                <a:latin typeface="メイリオ"/>
                <a:ea typeface="メイリオ"/>
                <a:cs typeface="メイリオ"/>
              </a:rPr>
              <a:t>目的</a:t>
            </a:r>
          </a:p>
        </p:txBody>
      </p:sp>
      <p:sp>
        <p:nvSpPr>
          <p:cNvPr id="20" name="Rectangle 6">
            <a:extLst>
              <a:ext uri="{FF2B5EF4-FFF2-40B4-BE49-F238E27FC236}">
                <a16:creationId xmlns:a16="http://schemas.microsoft.com/office/drawing/2014/main" id="{6C7DBB20-26A1-8B8F-32D4-0B15E548F56E}"/>
              </a:ext>
            </a:extLst>
          </p:cNvPr>
          <p:cNvSpPr/>
          <p:nvPr/>
        </p:nvSpPr>
        <p:spPr>
          <a:xfrm>
            <a:off x="408432" y="3143209"/>
            <a:ext cx="1773936" cy="896112"/>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100" b="1" dirty="0" err="1">
                <a:solidFill>
                  <a:srgbClr val="333333"/>
                </a:solidFill>
                <a:latin typeface="メイリオ"/>
                <a:ea typeface="メイリオ"/>
                <a:cs typeface="メイリオ"/>
              </a:rPr>
              <a:t>新商品・イベントを</a:t>
            </a:r>
            <a:endParaRPr lang="en-US" sz="1100" b="1" dirty="0">
              <a:solidFill>
                <a:srgbClr val="333333"/>
              </a:solidFill>
              <a:latin typeface="メイリオ"/>
              <a:ea typeface="メイリオ"/>
              <a:cs typeface="メイリオ"/>
            </a:endParaRPr>
          </a:p>
          <a:p>
            <a:pPr algn="l">
              <a:spcAft>
                <a:spcPts val="0"/>
              </a:spcAft>
            </a:pPr>
            <a:r>
              <a:rPr sz="1100" b="1" dirty="0" err="1">
                <a:solidFill>
                  <a:srgbClr val="333333"/>
                </a:solidFill>
                <a:latin typeface="メイリオ"/>
                <a:ea typeface="メイリオ"/>
                <a:cs typeface="メイリオ"/>
              </a:rPr>
              <a:t>広く知らせ、接触量</a:t>
            </a:r>
            <a:r>
              <a:rPr lang="ja-JP" altLang="en-US" sz="1100" b="1" dirty="0">
                <a:solidFill>
                  <a:srgbClr val="333333"/>
                </a:solidFill>
                <a:latin typeface="メイリオ"/>
                <a:ea typeface="メイリオ"/>
                <a:cs typeface="メイリオ"/>
              </a:rPr>
              <a:t>増加</a:t>
            </a:r>
            <a:endParaRPr sz="1100" b="1" dirty="0">
              <a:solidFill>
                <a:srgbClr val="333333"/>
              </a:solidFill>
              <a:latin typeface="メイリオ"/>
              <a:ea typeface="メイリオ"/>
              <a:cs typeface="メイリオ"/>
            </a:endParaRPr>
          </a:p>
        </p:txBody>
      </p:sp>
      <p:sp>
        <p:nvSpPr>
          <p:cNvPr id="24" name="Rectangle 7">
            <a:extLst>
              <a:ext uri="{FF2B5EF4-FFF2-40B4-BE49-F238E27FC236}">
                <a16:creationId xmlns:a16="http://schemas.microsoft.com/office/drawing/2014/main" id="{6811CAAE-5198-A8F3-058F-450EB5ADBA4E}"/>
              </a:ext>
            </a:extLst>
          </p:cNvPr>
          <p:cNvSpPr/>
          <p:nvPr/>
        </p:nvSpPr>
        <p:spPr>
          <a:xfrm>
            <a:off x="408432" y="4147747"/>
            <a:ext cx="1773936" cy="256032"/>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chemeClr val="tx2"/>
                </a:solidFill>
                <a:latin typeface="メイリオ"/>
                <a:ea typeface="メイリオ"/>
                <a:cs typeface="メイリオ"/>
              </a:rPr>
              <a:t>追う指標</a:t>
            </a:r>
          </a:p>
        </p:txBody>
      </p:sp>
      <p:sp>
        <p:nvSpPr>
          <p:cNvPr id="28" name="Rectangle 8">
            <a:extLst>
              <a:ext uri="{FF2B5EF4-FFF2-40B4-BE49-F238E27FC236}">
                <a16:creationId xmlns:a16="http://schemas.microsoft.com/office/drawing/2014/main" id="{1C3C93C7-EF49-8EB4-41C3-62A45A431458}"/>
              </a:ext>
            </a:extLst>
          </p:cNvPr>
          <p:cNvSpPr/>
          <p:nvPr/>
        </p:nvSpPr>
        <p:spPr>
          <a:xfrm>
            <a:off x="408432" y="4403161"/>
            <a:ext cx="1773936" cy="740588"/>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000" b="0">
                <a:solidFill>
                  <a:schemeClr val="tx1">
                    <a:lumMod val="65000"/>
                    <a:lumOff val="35000"/>
                  </a:schemeClr>
                </a:solidFill>
                <a:latin typeface="メイリオ"/>
                <a:ea typeface="メイリオ"/>
                <a:cs typeface="メイリオ"/>
              </a:rPr>
              <a:t>友だち数／配信到達数／開封率</a:t>
            </a:r>
          </a:p>
        </p:txBody>
      </p:sp>
      <p:sp>
        <p:nvSpPr>
          <p:cNvPr id="32" name="Rectangle 9">
            <a:extLst>
              <a:ext uri="{FF2B5EF4-FFF2-40B4-BE49-F238E27FC236}">
                <a16:creationId xmlns:a16="http://schemas.microsoft.com/office/drawing/2014/main" id="{24002695-377E-A008-465B-19DAB55618DC}"/>
              </a:ext>
            </a:extLst>
          </p:cNvPr>
          <p:cNvSpPr/>
          <p:nvPr/>
        </p:nvSpPr>
        <p:spPr>
          <a:xfrm>
            <a:off x="408432" y="5251553"/>
            <a:ext cx="1773936" cy="256032"/>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chemeClr val="tx1"/>
                </a:solidFill>
                <a:latin typeface="メイリオ"/>
                <a:ea typeface="メイリオ"/>
                <a:cs typeface="メイリオ"/>
              </a:rPr>
              <a:t>向いている機能</a:t>
            </a:r>
          </a:p>
        </p:txBody>
      </p:sp>
      <p:sp>
        <p:nvSpPr>
          <p:cNvPr id="36" name="Rectangle 10">
            <a:extLst>
              <a:ext uri="{FF2B5EF4-FFF2-40B4-BE49-F238E27FC236}">
                <a16:creationId xmlns:a16="http://schemas.microsoft.com/office/drawing/2014/main" id="{83F02ED9-D873-788D-4F8B-840F449F5E67}"/>
              </a:ext>
            </a:extLst>
          </p:cNvPr>
          <p:cNvSpPr/>
          <p:nvPr/>
        </p:nvSpPr>
        <p:spPr>
          <a:xfrm>
            <a:off x="408432" y="5515675"/>
            <a:ext cx="1773936" cy="740588"/>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000" b="0">
                <a:solidFill>
                  <a:schemeClr val="tx1">
                    <a:lumMod val="65000"/>
                    <a:lumOff val="35000"/>
                  </a:schemeClr>
                </a:solidFill>
                <a:latin typeface="メイリオ"/>
                <a:ea typeface="メイリオ"/>
                <a:cs typeface="メイリオ"/>
              </a:rPr>
              <a:t>企画配信／リッチメニュー</a:t>
            </a:r>
          </a:p>
        </p:txBody>
      </p:sp>
      <p:sp>
        <p:nvSpPr>
          <p:cNvPr id="41" name="Rectangle 12">
            <a:extLst>
              <a:ext uri="{FF2B5EF4-FFF2-40B4-BE49-F238E27FC236}">
                <a16:creationId xmlns:a16="http://schemas.microsoft.com/office/drawing/2014/main" id="{88068114-91B2-5D9E-47D2-54CBE30DEF89}"/>
              </a:ext>
            </a:extLst>
          </p:cNvPr>
          <p:cNvSpPr/>
          <p:nvPr/>
        </p:nvSpPr>
        <p:spPr>
          <a:xfrm>
            <a:off x="2237232" y="2163060"/>
            <a:ext cx="1773936" cy="6858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250" b="1" dirty="0">
                <a:solidFill>
                  <a:srgbClr val="FFFFFF"/>
                </a:solidFill>
                <a:latin typeface="メイリオ"/>
                <a:ea typeface="メイリオ"/>
                <a:cs typeface="メイリオ"/>
              </a:rPr>
              <a:t>CV</a:t>
            </a:r>
            <a:r>
              <a:rPr lang="ja-JP" altLang="en-US" sz="1250" b="1" dirty="0">
                <a:solidFill>
                  <a:srgbClr val="FFFFFF"/>
                </a:solidFill>
                <a:latin typeface="メイリオ"/>
                <a:ea typeface="メイリオ"/>
                <a:cs typeface="メイリオ"/>
              </a:rPr>
              <a:t>最大化</a:t>
            </a:r>
            <a:endParaRPr sz="1250" b="1" dirty="0">
              <a:solidFill>
                <a:srgbClr val="FFFFFF"/>
              </a:solidFill>
              <a:latin typeface="メイリオ"/>
              <a:ea typeface="メイリオ"/>
              <a:cs typeface="メイリオ"/>
            </a:endParaRPr>
          </a:p>
          <a:p>
            <a:pPr algn="ctr">
              <a:spcAft>
                <a:spcPts val="0"/>
              </a:spcAft>
            </a:pPr>
            <a:r>
              <a:rPr sz="950" b="0" dirty="0" err="1">
                <a:solidFill>
                  <a:srgbClr val="FFFFFF"/>
                </a:solidFill>
                <a:latin typeface="メイリオ"/>
                <a:ea typeface="メイリオ"/>
                <a:cs typeface="メイリオ"/>
              </a:rPr>
              <a:t>WEB・実店舗</a:t>
            </a:r>
            <a:endParaRPr sz="950" b="0" dirty="0">
              <a:solidFill>
                <a:srgbClr val="FFFFFF"/>
              </a:solidFill>
              <a:latin typeface="メイリオ"/>
              <a:ea typeface="メイリオ"/>
              <a:cs typeface="メイリオ"/>
            </a:endParaRPr>
          </a:p>
        </p:txBody>
      </p:sp>
      <p:sp>
        <p:nvSpPr>
          <p:cNvPr id="43" name="Rectangle 13">
            <a:extLst>
              <a:ext uri="{FF2B5EF4-FFF2-40B4-BE49-F238E27FC236}">
                <a16:creationId xmlns:a16="http://schemas.microsoft.com/office/drawing/2014/main" id="{35D95F17-69A9-BFB0-0DEF-22C0EB725ED0}"/>
              </a:ext>
            </a:extLst>
          </p:cNvPr>
          <p:cNvSpPr/>
          <p:nvPr/>
        </p:nvSpPr>
        <p:spPr>
          <a:xfrm>
            <a:off x="2237232" y="2887178"/>
            <a:ext cx="1773936" cy="256032"/>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chemeClr val="tx2"/>
                </a:solidFill>
                <a:latin typeface="メイリオ"/>
                <a:ea typeface="メイリオ"/>
                <a:cs typeface="メイリオ"/>
              </a:rPr>
              <a:t>目的</a:t>
            </a:r>
          </a:p>
        </p:txBody>
      </p:sp>
      <p:sp>
        <p:nvSpPr>
          <p:cNvPr id="45" name="Rectangle 14">
            <a:extLst>
              <a:ext uri="{FF2B5EF4-FFF2-40B4-BE49-F238E27FC236}">
                <a16:creationId xmlns:a16="http://schemas.microsoft.com/office/drawing/2014/main" id="{AF16D352-C907-9B65-3BE4-49A79ABEB20F}"/>
              </a:ext>
            </a:extLst>
          </p:cNvPr>
          <p:cNvSpPr/>
          <p:nvPr/>
        </p:nvSpPr>
        <p:spPr>
          <a:xfrm>
            <a:off x="2237232" y="3143209"/>
            <a:ext cx="1773936" cy="896112"/>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100" b="1" dirty="0" err="1">
                <a:solidFill>
                  <a:srgbClr val="333333"/>
                </a:solidFill>
                <a:latin typeface="メイリオ"/>
                <a:ea typeface="メイリオ"/>
                <a:cs typeface="メイリオ"/>
              </a:rPr>
              <a:t>WEBの申込・予約や</a:t>
            </a:r>
            <a:r>
              <a:rPr sz="1100" b="1" dirty="0">
                <a:solidFill>
                  <a:srgbClr val="333333"/>
                </a:solidFill>
                <a:latin typeface="メイリオ"/>
                <a:ea typeface="メイリオ"/>
                <a:cs typeface="メイリオ"/>
              </a:rPr>
              <a:t>、</a:t>
            </a:r>
            <a:endParaRPr lang="en-US" sz="1100" b="1" dirty="0">
              <a:solidFill>
                <a:srgbClr val="333333"/>
              </a:solidFill>
              <a:latin typeface="メイリオ"/>
              <a:ea typeface="メイリオ"/>
              <a:cs typeface="メイリオ"/>
            </a:endParaRPr>
          </a:p>
          <a:p>
            <a:pPr algn="l">
              <a:spcAft>
                <a:spcPts val="0"/>
              </a:spcAft>
            </a:pPr>
            <a:r>
              <a:rPr sz="1100" b="1" dirty="0" err="1">
                <a:solidFill>
                  <a:srgbClr val="333333"/>
                </a:solidFill>
                <a:latin typeface="メイリオ"/>
                <a:ea typeface="メイリオ"/>
                <a:cs typeface="メイリオ"/>
              </a:rPr>
              <a:t>実店舗の来店</a:t>
            </a:r>
            <a:r>
              <a:rPr sz="1100" b="1" dirty="0">
                <a:solidFill>
                  <a:srgbClr val="333333"/>
                </a:solidFill>
                <a:latin typeface="メイリオ"/>
                <a:ea typeface="メイリオ"/>
                <a:cs typeface="メイリオ"/>
              </a:rPr>
              <a:t>・</a:t>
            </a:r>
            <a:r>
              <a:rPr lang="ja-JP" altLang="en-US" sz="1100" b="1" dirty="0">
                <a:solidFill>
                  <a:srgbClr val="333333"/>
                </a:solidFill>
                <a:latin typeface="メイリオ"/>
                <a:ea typeface="メイリオ"/>
                <a:cs typeface="メイリオ"/>
              </a:rPr>
              <a:t>購入に</a:t>
            </a:r>
            <a:endParaRPr sz="1100" b="1" dirty="0">
              <a:solidFill>
                <a:srgbClr val="333333"/>
              </a:solidFill>
              <a:latin typeface="メイリオ"/>
              <a:ea typeface="メイリオ"/>
              <a:cs typeface="メイリオ"/>
            </a:endParaRPr>
          </a:p>
        </p:txBody>
      </p:sp>
      <p:sp>
        <p:nvSpPr>
          <p:cNvPr id="47" name="Rectangle 15">
            <a:extLst>
              <a:ext uri="{FF2B5EF4-FFF2-40B4-BE49-F238E27FC236}">
                <a16:creationId xmlns:a16="http://schemas.microsoft.com/office/drawing/2014/main" id="{ECF548BA-4F25-D357-FFD9-560CFBC52E16}"/>
              </a:ext>
            </a:extLst>
          </p:cNvPr>
          <p:cNvSpPr/>
          <p:nvPr/>
        </p:nvSpPr>
        <p:spPr>
          <a:xfrm>
            <a:off x="2237232" y="4147747"/>
            <a:ext cx="1773936" cy="256032"/>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chemeClr val="tx2"/>
                </a:solidFill>
                <a:latin typeface="メイリオ"/>
                <a:ea typeface="メイリオ"/>
                <a:cs typeface="メイリオ"/>
              </a:rPr>
              <a:t>追う指標</a:t>
            </a:r>
          </a:p>
        </p:txBody>
      </p:sp>
      <p:sp>
        <p:nvSpPr>
          <p:cNvPr id="49" name="Rectangle 16">
            <a:extLst>
              <a:ext uri="{FF2B5EF4-FFF2-40B4-BE49-F238E27FC236}">
                <a16:creationId xmlns:a16="http://schemas.microsoft.com/office/drawing/2014/main" id="{4CD5FF1A-1457-7314-0F3D-AA97E2FA4A98}"/>
              </a:ext>
            </a:extLst>
          </p:cNvPr>
          <p:cNvSpPr/>
          <p:nvPr/>
        </p:nvSpPr>
        <p:spPr>
          <a:xfrm>
            <a:off x="2237232" y="4403161"/>
            <a:ext cx="1773936" cy="740588"/>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000" b="0">
                <a:solidFill>
                  <a:schemeClr val="tx1">
                    <a:lumMod val="65000"/>
                    <a:lumOff val="35000"/>
                  </a:schemeClr>
                </a:solidFill>
                <a:latin typeface="メイリオ"/>
                <a:ea typeface="メイリオ"/>
                <a:cs typeface="メイリオ"/>
              </a:rPr>
              <a:t>CV数／CVR／CPA／来店数</a:t>
            </a:r>
          </a:p>
        </p:txBody>
      </p:sp>
      <p:sp>
        <p:nvSpPr>
          <p:cNvPr id="51" name="Rectangle 17">
            <a:extLst>
              <a:ext uri="{FF2B5EF4-FFF2-40B4-BE49-F238E27FC236}">
                <a16:creationId xmlns:a16="http://schemas.microsoft.com/office/drawing/2014/main" id="{12D05AB9-222E-9902-8290-186E965B6FC0}"/>
              </a:ext>
            </a:extLst>
          </p:cNvPr>
          <p:cNvSpPr/>
          <p:nvPr/>
        </p:nvSpPr>
        <p:spPr>
          <a:xfrm>
            <a:off x="2237232" y="5251553"/>
            <a:ext cx="1773936" cy="256032"/>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chemeClr val="tx1"/>
                </a:solidFill>
                <a:latin typeface="メイリオ"/>
                <a:ea typeface="メイリオ"/>
                <a:cs typeface="メイリオ"/>
              </a:rPr>
              <a:t>向いている機能</a:t>
            </a:r>
          </a:p>
        </p:txBody>
      </p:sp>
      <p:sp>
        <p:nvSpPr>
          <p:cNvPr id="53" name="Rectangle 18">
            <a:extLst>
              <a:ext uri="{FF2B5EF4-FFF2-40B4-BE49-F238E27FC236}">
                <a16:creationId xmlns:a16="http://schemas.microsoft.com/office/drawing/2014/main" id="{DC3C0252-EAC5-F636-A132-78E1C2C2B2AA}"/>
              </a:ext>
            </a:extLst>
          </p:cNvPr>
          <p:cNvSpPr/>
          <p:nvPr/>
        </p:nvSpPr>
        <p:spPr>
          <a:xfrm>
            <a:off x="2237232" y="5515675"/>
            <a:ext cx="1773936" cy="740588"/>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000" b="0">
                <a:solidFill>
                  <a:schemeClr val="tx1">
                    <a:lumMod val="65000"/>
                    <a:lumOff val="35000"/>
                  </a:schemeClr>
                </a:solidFill>
                <a:latin typeface="メイリオ"/>
                <a:ea typeface="メイリオ"/>
                <a:cs typeface="メイリオ"/>
              </a:rPr>
              <a:t>ポップアップ／ステップ配信／リッチメニュー</a:t>
            </a:r>
          </a:p>
        </p:txBody>
      </p:sp>
      <p:sp>
        <p:nvSpPr>
          <p:cNvPr id="57" name="Rectangle 20">
            <a:extLst>
              <a:ext uri="{FF2B5EF4-FFF2-40B4-BE49-F238E27FC236}">
                <a16:creationId xmlns:a16="http://schemas.microsoft.com/office/drawing/2014/main" id="{AB9E57D2-9C3A-6A00-A6E2-0F2E56AC5C82}"/>
              </a:ext>
            </a:extLst>
          </p:cNvPr>
          <p:cNvSpPr/>
          <p:nvPr/>
        </p:nvSpPr>
        <p:spPr>
          <a:xfrm>
            <a:off x="4066032" y="2163060"/>
            <a:ext cx="1773936" cy="6858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250" b="1">
                <a:solidFill>
                  <a:srgbClr val="FFFFFF"/>
                </a:solidFill>
                <a:latin typeface="メイリオ"/>
                <a:ea typeface="メイリオ"/>
                <a:cs typeface="メイリオ"/>
              </a:rPr>
              <a:t>LTV・ユーザーの質</a:t>
            </a:r>
          </a:p>
          <a:p>
            <a:pPr algn="ctr">
              <a:spcAft>
                <a:spcPts val="0"/>
              </a:spcAft>
            </a:pPr>
            <a:r>
              <a:rPr sz="950" b="0">
                <a:solidFill>
                  <a:srgbClr val="FFFFFF"/>
                </a:solidFill>
                <a:latin typeface="メイリオ"/>
                <a:ea typeface="メイリオ"/>
                <a:cs typeface="メイリオ"/>
              </a:rPr>
              <a:t>優良顧客の育成</a:t>
            </a:r>
          </a:p>
        </p:txBody>
      </p:sp>
      <p:sp>
        <p:nvSpPr>
          <p:cNvPr id="60" name="Rectangle 21">
            <a:extLst>
              <a:ext uri="{FF2B5EF4-FFF2-40B4-BE49-F238E27FC236}">
                <a16:creationId xmlns:a16="http://schemas.microsoft.com/office/drawing/2014/main" id="{8A9C7FAF-EA45-CF24-B656-908F5442F50C}"/>
              </a:ext>
            </a:extLst>
          </p:cNvPr>
          <p:cNvSpPr/>
          <p:nvPr/>
        </p:nvSpPr>
        <p:spPr>
          <a:xfrm>
            <a:off x="4066032" y="2887178"/>
            <a:ext cx="1773936" cy="256032"/>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chemeClr val="tx2"/>
                </a:solidFill>
                <a:latin typeface="メイリオ"/>
                <a:ea typeface="メイリオ"/>
                <a:cs typeface="メイリオ"/>
              </a:rPr>
              <a:t>目的</a:t>
            </a:r>
          </a:p>
        </p:txBody>
      </p:sp>
      <p:sp>
        <p:nvSpPr>
          <p:cNvPr id="62" name="Rectangle 22">
            <a:extLst>
              <a:ext uri="{FF2B5EF4-FFF2-40B4-BE49-F238E27FC236}">
                <a16:creationId xmlns:a16="http://schemas.microsoft.com/office/drawing/2014/main" id="{6CC7BF41-8887-8361-4328-893877256850}"/>
              </a:ext>
            </a:extLst>
          </p:cNvPr>
          <p:cNvSpPr/>
          <p:nvPr/>
        </p:nvSpPr>
        <p:spPr>
          <a:xfrm>
            <a:off x="4066032" y="3143209"/>
            <a:ext cx="1773936" cy="896112"/>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100" b="1" dirty="0" err="1">
                <a:solidFill>
                  <a:srgbClr val="333333"/>
                </a:solidFill>
                <a:latin typeface="メイリオ"/>
                <a:ea typeface="メイリオ"/>
                <a:cs typeface="メイリオ"/>
              </a:rPr>
              <a:t>優良な見込み・顧客を</a:t>
            </a:r>
            <a:endParaRPr lang="en-US" sz="1100" b="1" dirty="0">
              <a:solidFill>
                <a:srgbClr val="333333"/>
              </a:solidFill>
              <a:latin typeface="メイリオ"/>
              <a:ea typeface="メイリオ"/>
              <a:cs typeface="メイリオ"/>
            </a:endParaRPr>
          </a:p>
          <a:p>
            <a:pPr algn="l">
              <a:spcAft>
                <a:spcPts val="0"/>
              </a:spcAft>
            </a:pPr>
            <a:r>
              <a:rPr sz="1100" b="1" dirty="0" err="1">
                <a:solidFill>
                  <a:srgbClr val="333333"/>
                </a:solidFill>
                <a:latin typeface="メイリオ"/>
                <a:ea typeface="メイリオ"/>
                <a:cs typeface="メイリオ"/>
              </a:rPr>
              <a:t>見極め、育てる</a:t>
            </a:r>
            <a:endParaRPr sz="1100" b="1" dirty="0">
              <a:solidFill>
                <a:srgbClr val="333333"/>
              </a:solidFill>
              <a:latin typeface="メイリオ"/>
              <a:ea typeface="メイリオ"/>
              <a:cs typeface="メイリオ"/>
            </a:endParaRPr>
          </a:p>
        </p:txBody>
      </p:sp>
      <p:sp>
        <p:nvSpPr>
          <p:cNvPr id="64" name="Rectangle 23">
            <a:extLst>
              <a:ext uri="{FF2B5EF4-FFF2-40B4-BE49-F238E27FC236}">
                <a16:creationId xmlns:a16="http://schemas.microsoft.com/office/drawing/2014/main" id="{0DDBE270-09C3-11A4-38F6-4AD200C9C94D}"/>
              </a:ext>
            </a:extLst>
          </p:cNvPr>
          <p:cNvSpPr/>
          <p:nvPr/>
        </p:nvSpPr>
        <p:spPr>
          <a:xfrm>
            <a:off x="4066032" y="4147747"/>
            <a:ext cx="1773936" cy="256032"/>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chemeClr val="tx2"/>
                </a:solidFill>
                <a:latin typeface="メイリオ"/>
                <a:ea typeface="メイリオ"/>
                <a:cs typeface="メイリオ"/>
              </a:rPr>
              <a:t>追う指標</a:t>
            </a:r>
          </a:p>
        </p:txBody>
      </p:sp>
      <p:sp>
        <p:nvSpPr>
          <p:cNvPr id="66" name="Rectangle 24">
            <a:extLst>
              <a:ext uri="{FF2B5EF4-FFF2-40B4-BE49-F238E27FC236}">
                <a16:creationId xmlns:a16="http://schemas.microsoft.com/office/drawing/2014/main" id="{A6EECE04-D4EC-CDF0-B34C-60A31C1CDC8D}"/>
              </a:ext>
            </a:extLst>
          </p:cNvPr>
          <p:cNvSpPr/>
          <p:nvPr/>
        </p:nvSpPr>
        <p:spPr>
          <a:xfrm>
            <a:off x="4066032" y="4403161"/>
            <a:ext cx="1773936" cy="740588"/>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000" b="0">
                <a:solidFill>
                  <a:schemeClr val="tx1">
                    <a:lumMod val="65000"/>
                    <a:lumOff val="35000"/>
                  </a:schemeClr>
                </a:solidFill>
                <a:latin typeface="メイリオ"/>
                <a:ea typeface="メイリオ"/>
                <a:cs typeface="メイリオ"/>
              </a:rPr>
              <a:t>アクティブ率／ブロック率／継続率／客単価</a:t>
            </a:r>
          </a:p>
        </p:txBody>
      </p:sp>
      <p:sp>
        <p:nvSpPr>
          <p:cNvPr id="68" name="Rectangle 25">
            <a:extLst>
              <a:ext uri="{FF2B5EF4-FFF2-40B4-BE49-F238E27FC236}">
                <a16:creationId xmlns:a16="http://schemas.microsoft.com/office/drawing/2014/main" id="{EBC8045D-930A-FA3E-65AE-3A756DDEA8D0}"/>
              </a:ext>
            </a:extLst>
          </p:cNvPr>
          <p:cNvSpPr/>
          <p:nvPr/>
        </p:nvSpPr>
        <p:spPr>
          <a:xfrm>
            <a:off x="4066032" y="5251553"/>
            <a:ext cx="1773936" cy="256032"/>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chemeClr val="tx1"/>
                </a:solidFill>
                <a:latin typeface="メイリオ"/>
                <a:ea typeface="メイリオ"/>
                <a:cs typeface="メイリオ"/>
              </a:rPr>
              <a:t>向いている機能</a:t>
            </a:r>
          </a:p>
        </p:txBody>
      </p:sp>
      <p:sp>
        <p:nvSpPr>
          <p:cNvPr id="70" name="Rectangle 26">
            <a:extLst>
              <a:ext uri="{FF2B5EF4-FFF2-40B4-BE49-F238E27FC236}">
                <a16:creationId xmlns:a16="http://schemas.microsoft.com/office/drawing/2014/main" id="{FAB78CD6-C04D-A78B-1979-D1C6E3031729}"/>
              </a:ext>
            </a:extLst>
          </p:cNvPr>
          <p:cNvSpPr/>
          <p:nvPr/>
        </p:nvSpPr>
        <p:spPr>
          <a:xfrm>
            <a:off x="4066032" y="5515675"/>
            <a:ext cx="1773936" cy="740588"/>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000" b="0">
                <a:solidFill>
                  <a:schemeClr val="tx1">
                    <a:lumMod val="65000"/>
                    <a:lumOff val="35000"/>
                  </a:schemeClr>
                </a:solidFill>
                <a:latin typeface="メイリオ"/>
                <a:ea typeface="メイリオ"/>
                <a:cs typeface="メイリオ"/>
              </a:rPr>
              <a:t>アンケート／タグ・セグメント／挨拶メッセージ</a:t>
            </a:r>
          </a:p>
        </p:txBody>
      </p:sp>
      <p:sp>
        <p:nvSpPr>
          <p:cNvPr id="74" name="Rectangle 28">
            <a:extLst>
              <a:ext uri="{FF2B5EF4-FFF2-40B4-BE49-F238E27FC236}">
                <a16:creationId xmlns:a16="http://schemas.microsoft.com/office/drawing/2014/main" id="{D6A1A411-0761-977A-6EC4-652572684D97}"/>
              </a:ext>
            </a:extLst>
          </p:cNvPr>
          <p:cNvSpPr/>
          <p:nvPr/>
        </p:nvSpPr>
        <p:spPr>
          <a:xfrm>
            <a:off x="5894832" y="2163060"/>
            <a:ext cx="1773936" cy="6858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250" b="1">
                <a:solidFill>
                  <a:srgbClr val="FFFFFF"/>
                </a:solidFill>
                <a:latin typeface="メイリオ"/>
                <a:ea typeface="メイリオ"/>
                <a:cs typeface="メイリオ"/>
              </a:rPr>
              <a:t>リピート</a:t>
            </a:r>
          </a:p>
          <a:p>
            <a:pPr algn="ctr">
              <a:spcAft>
                <a:spcPts val="0"/>
              </a:spcAft>
            </a:pPr>
            <a:r>
              <a:rPr sz="950" b="0">
                <a:solidFill>
                  <a:srgbClr val="FFFFFF"/>
                </a:solidFill>
                <a:latin typeface="メイリオ"/>
                <a:ea typeface="メイリオ"/>
                <a:cs typeface="メイリオ"/>
              </a:rPr>
              <a:t>再購入・再来店</a:t>
            </a:r>
          </a:p>
        </p:txBody>
      </p:sp>
      <p:sp>
        <p:nvSpPr>
          <p:cNvPr id="76" name="Rectangle 29">
            <a:extLst>
              <a:ext uri="{FF2B5EF4-FFF2-40B4-BE49-F238E27FC236}">
                <a16:creationId xmlns:a16="http://schemas.microsoft.com/office/drawing/2014/main" id="{75906DAF-D632-DFE1-A336-7943CDAA5379}"/>
              </a:ext>
            </a:extLst>
          </p:cNvPr>
          <p:cNvSpPr/>
          <p:nvPr/>
        </p:nvSpPr>
        <p:spPr>
          <a:xfrm>
            <a:off x="5894832" y="2887178"/>
            <a:ext cx="1773936" cy="256032"/>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chemeClr val="tx2"/>
                </a:solidFill>
                <a:latin typeface="メイリオ"/>
                <a:ea typeface="メイリオ"/>
                <a:cs typeface="メイリオ"/>
              </a:rPr>
              <a:t>目的</a:t>
            </a:r>
          </a:p>
        </p:txBody>
      </p:sp>
      <p:sp>
        <p:nvSpPr>
          <p:cNvPr id="78" name="Rectangle 30">
            <a:extLst>
              <a:ext uri="{FF2B5EF4-FFF2-40B4-BE49-F238E27FC236}">
                <a16:creationId xmlns:a16="http://schemas.microsoft.com/office/drawing/2014/main" id="{CD032C05-9EE1-EF04-2AFC-D7D5BC88127F}"/>
              </a:ext>
            </a:extLst>
          </p:cNvPr>
          <p:cNvSpPr/>
          <p:nvPr/>
        </p:nvSpPr>
        <p:spPr>
          <a:xfrm>
            <a:off x="5894832" y="3143209"/>
            <a:ext cx="1773936" cy="896112"/>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100" b="1" dirty="0" err="1">
                <a:solidFill>
                  <a:srgbClr val="333333"/>
                </a:solidFill>
                <a:latin typeface="メイリオ"/>
                <a:ea typeface="メイリオ"/>
                <a:cs typeface="メイリオ"/>
              </a:rPr>
              <a:t>再購入・再来店の</a:t>
            </a:r>
            <a:endParaRPr lang="en-US" sz="1100" b="1" dirty="0">
              <a:solidFill>
                <a:srgbClr val="333333"/>
              </a:solidFill>
              <a:latin typeface="メイリオ"/>
              <a:ea typeface="メイリオ"/>
              <a:cs typeface="メイリオ"/>
            </a:endParaRPr>
          </a:p>
          <a:p>
            <a:pPr algn="l">
              <a:spcAft>
                <a:spcPts val="0"/>
              </a:spcAft>
            </a:pPr>
            <a:r>
              <a:rPr sz="1100" b="1" dirty="0" err="1">
                <a:solidFill>
                  <a:srgbClr val="333333"/>
                </a:solidFill>
                <a:latin typeface="メイリオ"/>
                <a:ea typeface="メイリオ"/>
                <a:cs typeface="メイリオ"/>
              </a:rPr>
              <a:t>タイミングで必要な人</a:t>
            </a:r>
            <a:r>
              <a:rPr lang="ja-JP" altLang="en-US" sz="1100" b="1" dirty="0">
                <a:solidFill>
                  <a:srgbClr val="333333"/>
                </a:solidFill>
                <a:latin typeface="メイリオ"/>
                <a:ea typeface="メイリオ"/>
                <a:cs typeface="メイリオ"/>
              </a:rPr>
              <a:t>へ</a:t>
            </a:r>
            <a:endParaRPr sz="1100" b="1" dirty="0">
              <a:solidFill>
                <a:srgbClr val="333333"/>
              </a:solidFill>
              <a:latin typeface="メイリオ"/>
              <a:ea typeface="メイリオ"/>
              <a:cs typeface="メイリオ"/>
            </a:endParaRPr>
          </a:p>
        </p:txBody>
      </p:sp>
      <p:sp>
        <p:nvSpPr>
          <p:cNvPr id="80" name="Rectangle 31">
            <a:extLst>
              <a:ext uri="{FF2B5EF4-FFF2-40B4-BE49-F238E27FC236}">
                <a16:creationId xmlns:a16="http://schemas.microsoft.com/office/drawing/2014/main" id="{BFF607A5-74EE-9D3F-E07E-23B5DAB0505C}"/>
              </a:ext>
            </a:extLst>
          </p:cNvPr>
          <p:cNvSpPr/>
          <p:nvPr/>
        </p:nvSpPr>
        <p:spPr>
          <a:xfrm>
            <a:off x="5894832" y="4147747"/>
            <a:ext cx="1773936" cy="256032"/>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chemeClr val="tx2"/>
                </a:solidFill>
                <a:latin typeface="メイリオ"/>
                <a:ea typeface="メイリオ"/>
                <a:cs typeface="メイリオ"/>
              </a:rPr>
              <a:t>追う指標</a:t>
            </a:r>
          </a:p>
        </p:txBody>
      </p:sp>
      <p:sp>
        <p:nvSpPr>
          <p:cNvPr id="82" name="Rectangle 32">
            <a:extLst>
              <a:ext uri="{FF2B5EF4-FFF2-40B4-BE49-F238E27FC236}">
                <a16:creationId xmlns:a16="http://schemas.microsoft.com/office/drawing/2014/main" id="{50FD0BE7-952B-2A01-998C-6E1602F9524C}"/>
              </a:ext>
            </a:extLst>
          </p:cNvPr>
          <p:cNvSpPr/>
          <p:nvPr/>
        </p:nvSpPr>
        <p:spPr>
          <a:xfrm>
            <a:off x="5894832" y="4403161"/>
            <a:ext cx="1773936" cy="740588"/>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000" b="0">
                <a:solidFill>
                  <a:schemeClr val="tx1">
                    <a:lumMod val="65000"/>
                    <a:lumOff val="35000"/>
                  </a:schemeClr>
                </a:solidFill>
                <a:latin typeface="メイリオ"/>
                <a:ea typeface="メイリオ"/>
                <a:cs typeface="メイリオ"/>
              </a:rPr>
              <a:t>リピート率／再来店数／購入間隔</a:t>
            </a:r>
          </a:p>
        </p:txBody>
      </p:sp>
      <p:sp>
        <p:nvSpPr>
          <p:cNvPr id="84" name="Rectangle 33">
            <a:extLst>
              <a:ext uri="{FF2B5EF4-FFF2-40B4-BE49-F238E27FC236}">
                <a16:creationId xmlns:a16="http://schemas.microsoft.com/office/drawing/2014/main" id="{FC2A570B-9E54-FAC3-01D5-C53C4A413CC4}"/>
              </a:ext>
            </a:extLst>
          </p:cNvPr>
          <p:cNvSpPr/>
          <p:nvPr/>
        </p:nvSpPr>
        <p:spPr>
          <a:xfrm>
            <a:off x="5894832" y="5251553"/>
            <a:ext cx="1773936" cy="256032"/>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chemeClr val="tx1"/>
                </a:solidFill>
                <a:latin typeface="メイリオ"/>
                <a:ea typeface="メイリオ"/>
                <a:cs typeface="メイリオ"/>
              </a:rPr>
              <a:t>向いている機能</a:t>
            </a:r>
          </a:p>
        </p:txBody>
      </p:sp>
      <p:sp>
        <p:nvSpPr>
          <p:cNvPr id="86" name="Rectangle 34">
            <a:extLst>
              <a:ext uri="{FF2B5EF4-FFF2-40B4-BE49-F238E27FC236}">
                <a16:creationId xmlns:a16="http://schemas.microsoft.com/office/drawing/2014/main" id="{CC3A9112-7923-428F-67F2-2231466F8C27}"/>
              </a:ext>
            </a:extLst>
          </p:cNvPr>
          <p:cNvSpPr/>
          <p:nvPr/>
        </p:nvSpPr>
        <p:spPr>
          <a:xfrm>
            <a:off x="5894832" y="5515675"/>
            <a:ext cx="1773936" cy="740588"/>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000" b="0">
                <a:solidFill>
                  <a:schemeClr val="tx1">
                    <a:lumMod val="65000"/>
                    <a:lumOff val="35000"/>
                  </a:schemeClr>
                </a:solidFill>
                <a:latin typeface="メイリオ"/>
                <a:ea typeface="メイリオ"/>
                <a:cs typeface="メイリオ"/>
              </a:rPr>
              <a:t>企画配信／セグメント／ステップ配信</a:t>
            </a:r>
          </a:p>
        </p:txBody>
      </p:sp>
      <p:sp>
        <p:nvSpPr>
          <p:cNvPr id="90" name="Rectangle 36">
            <a:extLst>
              <a:ext uri="{FF2B5EF4-FFF2-40B4-BE49-F238E27FC236}">
                <a16:creationId xmlns:a16="http://schemas.microsoft.com/office/drawing/2014/main" id="{E81296C5-352B-E383-B51D-61DCBDFB5FD6}"/>
              </a:ext>
            </a:extLst>
          </p:cNvPr>
          <p:cNvSpPr/>
          <p:nvPr/>
        </p:nvSpPr>
        <p:spPr>
          <a:xfrm>
            <a:off x="7723632" y="2163060"/>
            <a:ext cx="1773936" cy="685800"/>
          </a:xfrm>
          <a:prstGeom prst="rect">
            <a:avLst/>
          </a:prstGeom>
          <a:solidFill>
            <a:schemeClr val="tx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250" b="1">
                <a:solidFill>
                  <a:srgbClr val="FFFFFF"/>
                </a:solidFill>
                <a:latin typeface="メイリオ"/>
                <a:ea typeface="メイリオ"/>
                <a:cs typeface="メイリオ"/>
              </a:rPr>
              <a:t>限定コミュニティ運営</a:t>
            </a:r>
          </a:p>
          <a:p>
            <a:pPr algn="ctr">
              <a:spcAft>
                <a:spcPts val="0"/>
              </a:spcAft>
            </a:pPr>
            <a:r>
              <a:rPr sz="950" b="0">
                <a:solidFill>
                  <a:srgbClr val="FFFFFF"/>
                </a:solidFill>
                <a:latin typeface="メイリオ"/>
                <a:ea typeface="メイリオ"/>
                <a:cs typeface="メイリオ"/>
              </a:rPr>
              <a:t>ファン化</a:t>
            </a:r>
          </a:p>
        </p:txBody>
      </p:sp>
      <p:sp>
        <p:nvSpPr>
          <p:cNvPr id="92" name="Rectangle 37">
            <a:extLst>
              <a:ext uri="{FF2B5EF4-FFF2-40B4-BE49-F238E27FC236}">
                <a16:creationId xmlns:a16="http://schemas.microsoft.com/office/drawing/2014/main" id="{4F8A6AAC-536B-B6BB-71E9-3125F900E9F4}"/>
              </a:ext>
            </a:extLst>
          </p:cNvPr>
          <p:cNvSpPr/>
          <p:nvPr/>
        </p:nvSpPr>
        <p:spPr>
          <a:xfrm>
            <a:off x="7723632" y="2887178"/>
            <a:ext cx="1773936" cy="256032"/>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chemeClr val="tx2"/>
                </a:solidFill>
                <a:latin typeface="メイリオ"/>
                <a:ea typeface="メイリオ"/>
                <a:cs typeface="メイリオ"/>
              </a:rPr>
              <a:t>目的</a:t>
            </a:r>
          </a:p>
        </p:txBody>
      </p:sp>
      <p:sp>
        <p:nvSpPr>
          <p:cNvPr id="94" name="Rectangle 38">
            <a:extLst>
              <a:ext uri="{FF2B5EF4-FFF2-40B4-BE49-F238E27FC236}">
                <a16:creationId xmlns:a16="http://schemas.microsoft.com/office/drawing/2014/main" id="{D7046182-3DF8-2C37-71A9-B94D9F3579B2}"/>
              </a:ext>
            </a:extLst>
          </p:cNvPr>
          <p:cNvSpPr/>
          <p:nvPr/>
        </p:nvSpPr>
        <p:spPr>
          <a:xfrm>
            <a:off x="7723632" y="3143209"/>
            <a:ext cx="1773936" cy="896112"/>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100" b="1" dirty="0" err="1">
                <a:solidFill>
                  <a:srgbClr val="333333"/>
                </a:solidFill>
                <a:latin typeface="メイリオ"/>
                <a:ea typeface="メイリオ"/>
                <a:cs typeface="メイリオ"/>
              </a:rPr>
              <a:t>会員・ファン向けに</a:t>
            </a:r>
            <a:endParaRPr lang="en-US" sz="1100" b="1" dirty="0">
              <a:solidFill>
                <a:srgbClr val="333333"/>
              </a:solidFill>
              <a:latin typeface="メイリオ"/>
              <a:ea typeface="メイリオ"/>
              <a:cs typeface="メイリオ"/>
            </a:endParaRPr>
          </a:p>
          <a:p>
            <a:pPr algn="l">
              <a:spcAft>
                <a:spcPts val="0"/>
              </a:spcAft>
            </a:pPr>
            <a:r>
              <a:rPr sz="1100" b="1" dirty="0" err="1">
                <a:solidFill>
                  <a:srgbClr val="333333"/>
                </a:solidFill>
                <a:latin typeface="メイリオ"/>
                <a:ea typeface="メイリオ"/>
                <a:cs typeface="メイリオ"/>
              </a:rPr>
              <a:t>限定情報と特典を届け</a:t>
            </a:r>
            <a:r>
              <a:rPr lang="ja-JP" altLang="en-US" sz="1100" b="1" dirty="0">
                <a:solidFill>
                  <a:srgbClr val="333333"/>
                </a:solidFill>
                <a:latin typeface="メイリオ"/>
                <a:ea typeface="メイリオ"/>
                <a:cs typeface="メイリオ"/>
              </a:rPr>
              <a:t>る</a:t>
            </a:r>
            <a:endParaRPr sz="1100" b="1" dirty="0">
              <a:solidFill>
                <a:srgbClr val="333333"/>
              </a:solidFill>
              <a:latin typeface="メイリオ"/>
              <a:ea typeface="メイリオ"/>
              <a:cs typeface="メイリオ"/>
            </a:endParaRPr>
          </a:p>
        </p:txBody>
      </p:sp>
      <p:sp>
        <p:nvSpPr>
          <p:cNvPr id="96" name="Rectangle 39">
            <a:extLst>
              <a:ext uri="{FF2B5EF4-FFF2-40B4-BE49-F238E27FC236}">
                <a16:creationId xmlns:a16="http://schemas.microsoft.com/office/drawing/2014/main" id="{B6098F37-D497-5015-0B5E-21B88967F2BD}"/>
              </a:ext>
            </a:extLst>
          </p:cNvPr>
          <p:cNvSpPr/>
          <p:nvPr/>
        </p:nvSpPr>
        <p:spPr>
          <a:xfrm>
            <a:off x="7723632" y="4147747"/>
            <a:ext cx="1773936" cy="256032"/>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chemeClr val="tx2"/>
                </a:solidFill>
                <a:latin typeface="メイリオ"/>
                <a:ea typeface="メイリオ"/>
                <a:cs typeface="メイリオ"/>
              </a:rPr>
              <a:t>追う指標</a:t>
            </a:r>
          </a:p>
        </p:txBody>
      </p:sp>
      <p:sp>
        <p:nvSpPr>
          <p:cNvPr id="98" name="Rectangle 40">
            <a:extLst>
              <a:ext uri="{FF2B5EF4-FFF2-40B4-BE49-F238E27FC236}">
                <a16:creationId xmlns:a16="http://schemas.microsoft.com/office/drawing/2014/main" id="{0BE96C36-A9FB-4161-3395-F63CA2F081B0}"/>
              </a:ext>
            </a:extLst>
          </p:cNvPr>
          <p:cNvSpPr/>
          <p:nvPr/>
        </p:nvSpPr>
        <p:spPr>
          <a:xfrm>
            <a:off x="7723632" y="4403161"/>
            <a:ext cx="1773936" cy="740588"/>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000" b="0">
                <a:solidFill>
                  <a:schemeClr val="tx1">
                    <a:lumMod val="65000"/>
                    <a:lumOff val="35000"/>
                  </a:schemeClr>
                </a:solidFill>
                <a:latin typeface="メイリオ"/>
                <a:ea typeface="メイリオ"/>
                <a:cs typeface="メイリオ"/>
              </a:rPr>
              <a:t>会員数／反応率／参加率／紹介数</a:t>
            </a:r>
          </a:p>
        </p:txBody>
      </p:sp>
      <p:sp>
        <p:nvSpPr>
          <p:cNvPr id="100" name="Rectangle 41">
            <a:extLst>
              <a:ext uri="{FF2B5EF4-FFF2-40B4-BE49-F238E27FC236}">
                <a16:creationId xmlns:a16="http://schemas.microsoft.com/office/drawing/2014/main" id="{F797EE57-6A7A-D477-5F93-76E5E55D9A24}"/>
              </a:ext>
            </a:extLst>
          </p:cNvPr>
          <p:cNvSpPr/>
          <p:nvPr/>
        </p:nvSpPr>
        <p:spPr>
          <a:xfrm>
            <a:off x="7723632" y="5251553"/>
            <a:ext cx="1773936" cy="256032"/>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chemeClr val="tx1"/>
                </a:solidFill>
                <a:latin typeface="メイリオ"/>
                <a:ea typeface="メイリオ"/>
                <a:cs typeface="メイリオ"/>
              </a:rPr>
              <a:t>向いている機能</a:t>
            </a:r>
          </a:p>
        </p:txBody>
      </p:sp>
      <p:sp>
        <p:nvSpPr>
          <p:cNvPr id="102" name="Rectangle 42">
            <a:extLst>
              <a:ext uri="{FF2B5EF4-FFF2-40B4-BE49-F238E27FC236}">
                <a16:creationId xmlns:a16="http://schemas.microsoft.com/office/drawing/2014/main" id="{23E4C735-B371-F9B9-63D2-A7A1E489E4DC}"/>
              </a:ext>
            </a:extLst>
          </p:cNvPr>
          <p:cNvSpPr/>
          <p:nvPr/>
        </p:nvSpPr>
        <p:spPr>
          <a:xfrm>
            <a:off x="7723632" y="5515675"/>
            <a:ext cx="1773936" cy="740588"/>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000" b="0">
                <a:solidFill>
                  <a:schemeClr val="tx1">
                    <a:lumMod val="65000"/>
                    <a:lumOff val="35000"/>
                  </a:schemeClr>
                </a:solidFill>
                <a:latin typeface="メイリオ"/>
                <a:ea typeface="メイリオ"/>
                <a:cs typeface="メイリオ"/>
              </a:rPr>
              <a:t>タグ・セグメント／企画配信／リッチメニュー</a:t>
            </a:r>
          </a:p>
        </p:txBody>
      </p:sp>
      <p:sp>
        <p:nvSpPr>
          <p:cNvPr id="104" name="Rectangle 43">
            <a:extLst>
              <a:ext uri="{FF2B5EF4-FFF2-40B4-BE49-F238E27FC236}">
                <a16:creationId xmlns:a16="http://schemas.microsoft.com/office/drawing/2014/main" id="{FADE5E5B-B891-E92E-6D6C-55784FACE1C5}"/>
              </a:ext>
            </a:extLst>
          </p:cNvPr>
          <p:cNvSpPr/>
          <p:nvPr/>
        </p:nvSpPr>
        <p:spPr>
          <a:xfrm>
            <a:off x="408432" y="6373649"/>
            <a:ext cx="9144000" cy="91"/>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a:p>
        </p:txBody>
      </p:sp>
      <p:sp>
        <p:nvSpPr>
          <p:cNvPr id="106" name="Rectangle 44">
            <a:extLst>
              <a:ext uri="{FF2B5EF4-FFF2-40B4-BE49-F238E27FC236}">
                <a16:creationId xmlns:a16="http://schemas.microsoft.com/office/drawing/2014/main" id="{1398E17B-A660-9AA8-3264-8469AAE20AC9}"/>
              </a:ext>
            </a:extLst>
          </p:cNvPr>
          <p:cNvSpPr/>
          <p:nvPr/>
        </p:nvSpPr>
        <p:spPr>
          <a:xfrm>
            <a:off x="408432" y="6316543"/>
            <a:ext cx="9144000" cy="18736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t"/>
          <a:lstStyle/>
          <a:p>
            <a:pPr algn="l">
              <a:spcAft>
                <a:spcPts val="300"/>
              </a:spcAft>
            </a:pPr>
            <a:r>
              <a:rPr sz="800" b="0">
                <a:solidFill>
                  <a:srgbClr val="777777"/>
                </a:solidFill>
                <a:latin typeface="メイリオ"/>
                <a:ea typeface="メイリオ"/>
                <a:cs typeface="メイリオ"/>
              </a:rPr>
              <a:t>※一般的な整理。貴社の目的に合わせて重みづけを調整します</a:t>
            </a:r>
          </a:p>
        </p:txBody>
      </p:sp>
      <p:sp>
        <p:nvSpPr>
          <p:cNvPr id="108" name="Oval 3">
            <a:extLst>
              <a:ext uri="{FF2B5EF4-FFF2-40B4-BE49-F238E27FC236}">
                <a16:creationId xmlns:a16="http://schemas.microsoft.com/office/drawing/2014/main" id="{57AC0B05-AFA9-1596-F07B-3F4E24B73CD1}"/>
              </a:ext>
            </a:extLst>
          </p:cNvPr>
          <p:cNvSpPr/>
          <p:nvPr/>
        </p:nvSpPr>
        <p:spPr>
          <a:xfrm>
            <a:off x="382305" y="2042144"/>
            <a:ext cx="343501" cy="283885"/>
          </a:xfrm>
          <a:prstGeom prst="ellipse">
            <a:avLst/>
          </a:prstGeom>
          <a:solidFill>
            <a:schemeClr val="bg1">
              <a:lumMod val="8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1050" b="1">
                <a:solidFill>
                  <a:schemeClr val="tx1"/>
                </a:solidFill>
                <a:latin typeface="メイリオ"/>
                <a:ea typeface="メイリオ"/>
                <a:cs typeface="メイリオ"/>
              </a:rPr>
              <a:t>1</a:t>
            </a:r>
          </a:p>
        </p:txBody>
      </p:sp>
      <p:sp>
        <p:nvSpPr>
          <p:cNvPr id="110" name="Oval 11">
            <a:extLst>
              <a:ext uri="{FF2B5EF4-FFF2-40B4-BE49-F238E27FC236}">
                <a16:creationId xmlns:a16="http://schemas.microsoft.com/office/drawing/2014/main" id="{301FA881-6688-198B-2701-68129B242FE7}"/>
              </a:ext>
            </a:extLst>
          </p:cNvPr>
          <p:cNvSpPr/>
          <p:nvPr/>
        </p:nvSpPr>
        <p:spPr>
          <a:xfrm>
            <a:off x="2211106" y="2042144"/>
            <a:ext cx="343501" cy="283885"/>
          </a:xfrm>
          <a:prstGeom prst="ellipse">
            <a:avLst/>
          </a:prstGeom>
          <a:solidFill>
            <a:schemeClr val="bg1">
              <a:lumMod val="8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1050" b="1">
                <a:solidFill>
                  <a:schemeClr val="tx1"/>
                </a:solidFill>
                <a:latin typeface="メイリオ"/>
                <a:ea typeface="メイリオ"/>
                <a:cs typeface="メイリオ"/>
              </a:rPr>
              <a:t>2</a:t>
            </a:r>
          </a:p>
        </p:txBody>
      </p:sp>
      <p:sp>
        <p:nvSpPr>
          <p:cNvPr id="112" name="Oval 19">
            <a:extLst>
              <a:ext uri="{FF2B5EF4-FFF2-40B4-BE49-F238E27FC236}">
                <a16:creationId xmlns:a16="http://schemas.microsoft.com/office/drawing/2014/main" id="{E3DF8A67-626B-3C95-A49A-BFCF74DB564F}"/>
              </a:ext>
            </a:extLst>
          </p:cNvPr>
          <p:cNvSpPr/>
          <p:nvPr/>
        </p:nvSpPr>
        <p:spPr>
          <a:xfrm>
            <a:off x="4039906" y="2042144"/>
            <a:ext cx="343501" cy="283885"/>
          </a:xfrm>
          <a:prstGeom prst="ellipse">
            <a:avLst/>
          </a:prstGeom>
          <a:solidFill>
            <a:schemeClr val="bg1">
              <a:lumMod val="8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1050" b="1">
                <a:solidFill>
                  <a:schemeClr val="tx1"/>
                </a:solidFill>
                <a:latin typeface="メイリオ"/>
                <a:ea typeface="メイリオ"/>
                <a:cs typeface="メイリオ"/>
              </a:rPr>
              <a:t>3</a:t>
            </a:r>
          </a:p>
        </p:txBody>
      </p:sp>
      <p:sp>
        <p:nvSpPr>
          <p:cNvPr id="114" name="Oval 27">
            <a:extLst>
              <a:ext uri="{FF2B5EF4-FFF2-40B4-BE49-F238E27FC236}">
                <a16:creationId xmlns:a16="http://schemas.microsoft.com/office/drawing/2014/main" id="{31028558-CEAD-B484-640D-13F5CB89F12B}"/>
              </a:ext>
            </a:extLst>
          </p:cNvPr>
          <p:cNvSpPr/>
          <p:nvPr/>
        </p:nvSpPr>
        <p:spPr>
          <a:xfrm>
            <a:off x="5868706" y="2042144"/>
            <a:ext cx="343501" cy="283885"/>
          </a:xfrm>
          <a:prstGeom prst="ellipse">
            <a:avLst/>
          </a:prstGeom>
          <a:solidFill>
            <a:schemeClr val="bg1">
              <a:lumMod val="8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1050" b="1">
                <a:solidFill>
                  <a:schemeClr val="tx1"/>
                </a:solidFill>
                <a:latin typeface="メイリオ"/>
                <a:ea typeface="メイリオ"/>
                <a:cs typeface="メイリオ"/>
              </a:rPr>
              <a:t>4</a:t>
            </a:r>
          </a:p>
        </p:txBody>
      </p:sp>
      <p:sp>
        <p:nvSpPr>
          <p:cNvPr id="116" name="Oval 35">
            <a:extLst>
              <a:ext uri="{FF2B5EF4-FFF2-40B4-BE49-F238E27FC236}">
                <a16:creationId xmlns:a16="http://schemas.microsoft.com/office/drawing/2014/main" id="{713600C5-45EC-B1DD-3B2D-86B0566C431F}"/>
              </a:ext>
            </a:extLst>
          </p:cNvPr>
          <p:cNvSpPr/>
          <p:nvPr/>
        </p:nvSpPr>
        <p:spPr>
          <a:xfrm>
            <a:off x="7697505" y="2042144"/>
            <a:ext cx="343501" cy="283885"/>
          </a:xfrm>
          <a:prstGeom prst="ellipse">
            <a:avLst/>
          </a:prstGeom>
          <a:solidFill>
            <a:schemeClr val="bg1">
              <a:lumMod val="8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1050" b="1">
                <a:solidFill>
                  <a:schemeClr val="tx1"/>
                </a:solidFill>
                <a:latin typeface="メイリオ"/>
                <a:ea typeface="メイリオ"/>
                <a:cs typeface="メイリオ"/>
              </a:rPr>
              <a:t>5</a:t>
            </a:r>
          </a:p>
        </p:txBody>
      </p:sp>
    </p:spTree>
    <p:extLst>
      <p:ext uri="{BB962C8B-B14F-4D97-AF65-F5344CB8AC3E}">
        <p14:creationId xmlns:p14="http://schemas.microsoft.com/office/powerpoint/2010/main" val="408086598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B97C76-735E-4062-F6F5-F8388CBB95DC}"/>
            </a:ext>
          </a:extLst>
        </p:cNvPr>
        <p:cNvGrpSpPr/>
        <p:nvPr/>
      </p:nvGrpSpPr>
      <p:grpSpPr>
        <a:xfrm>
          <a:off x="0" y="0"/>
          <a:ext cx="0" cy="0"/>
          <a:chOff x="0" y="0"/>
          <a:chExt cx="0" cy="0"/>
        </a:xfrm>
      </p:grpSpPr>
      <p:sp>
        <p:nvSpPr>
          <p:cNvPr id="58" name="正方形/長方形 57">
            <a:extLst>
              <a:ext uri="{FF2B5EF4-FFF2-40B4-BE49-F238E27FC236}">
                <a16:creationId xmlns:a16="http://schemas.microsoft.com/office/drawing/2014/main" id="{44A10F2E-7086-34EF-5EA3-C29208499DA7}"/>
              </a:ext>
            </a:extLst>
          </p:cNvPr>
          <p:cNvSpPr/>
          <p:nvPr/>
        </p:nvSpPr>
        <p:spPr>
          <a:xfrm>
            <a:off x="96788" y="1045811"/>
            <a:ext cx="1935768" cy="21878"/>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3" name="正方形/長方形 2">
            <a:extLst>
              <a:ext uri="{FF2B5EF4-FFF2-40B4-BE49-F238E27FC236}">
                <a16:creationId xmlns:a16="http://schemas.microsoft.com/office/drawing/2014/main" id="{D5D17E13-7926-4FEF-B3DF-46643C07A612}"/>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5" name="テキスト ボックス 4">
            <a:extLst>
              <a:ext uri="{FF2B5EF4-FFF2-40B4-BE49-F238E27FC236}">
                <a16:creationId xmlns:a16="http://schemas.microsoft.com/office/drawing/2014/main" id="{42E8D0AC-7EB6-A26E-FB83-BB611CE20B52}"/>
              </a:ext>
            </a:extLst>
          </p:cNvPr>
          <p:cNvSpPr txBox="1"/>
          <p:nvPr/>
        </p:nvSpPr>
        <p:spPr>
          <a:xfrm>
            <a:off x="96788" y="619405"/>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施策全体図</a:t>
            </a:r>
            <a:endParaRPr lang="ja-JP" altLang="en-US" sz="1100" dirty="0"/>
          </a:p>
        </p:txBody>
      </p:sp>
      <p:sp>
        <p:nvSpPr>
          <p:cNvPr id="7" name="テキスト ボックス 6">
            <a:extLst>
              <a:ext uri="{FF2B5EF4-FFF2-40B4-BE49-F238E27FC236}">
                <a16:creationId xmlns:a16="http://schemas.microsoft.com/office/drawing/2014/main" id="{A23B7626-A436-9A82-DD49-5F8A69ED9A70}"/>
              </a:ext>
            </a:extLst>
          </p:cNvPr>
          <p:cNvSpPr txBox="1"/>
          <p:nvPr/>
        </p:nvSpPr>
        <p:spPr>
          <a:xfrm>
            <a:off x="96788" y="1202790"/>
            <a:ext cx="9687414" cy="307777"/>
          </a:xfrm>
          <a:prstGeom prst="rect">
            <a:avLst/>
          </a:prstGeom>
          <a:noFill/>
        </p:spPr>
        <p:txBody>
          <a:bodyPr wrap="square">
            <a:spAutoFit/>
          </a:bodyPr>
          <a:lstStyle/>
          <a:p>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集客・獲得 → 即時分類 → 分岐育成 → 成果回収 の4ステップで描く、LINE施策の全体図</a:t>
            </a:r>
            <a:endParaRPr lang="ja-JP" altLang="en-US" sz="1000" dirty="0"/>
          </a:p>
        </p:txBody>
      </p:sp>
      <p:sp>
        <p:nvSpPr>
          <p:cNvPr id="9" name="テキスト ボックス 8">
            <a:extLst>
              <a:ext uri="{FF2B5EF4-FFF2-40B4-BE49-F238E27FC236}">
                <a16:creationId xmlns:a16="http://schemas.microsoft.com/office/drawing/2014/main" id="{60D95125-3520-4FA9-64C6-1958F1FF1A74}"/>
              </a:ext>
            </a:extLst>
          </p:cNvPr>
          <p:cNvSpPr txBox="1"/>
          <p:nvPr/>
        </p:nvSpPr>
        <p:spPr>
          <a:xfrm>
            <a:off x="460785" y="91159"/>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 前提調査</a:t>
            </a:r>
            <a:endParaRPr lang="ja-JP" altLang="en-US" sz="1100" dirty="0"/>
          </a:p>
        </p:txBody>
      </p:sp>
      <p:sp>
        <p:nvSpPr>
          <p:cNvPr id="59" name="Pentagon 58"/>
          <p:cNvSpPr/>
          <p:nvPr/>
        </p:nvSpPr>
        <p:spPr>
          <a:xfrm>
            <a:off x="365760" y="1810512"/>
            <a:ext cx="2258568" cy="420624"/>
          </a:xfrm>
          <a:prstGeom prst="homePlate">
            <a:avLst>
              <a:gd name="adj" fmla="val 30000"/>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108000" tIns="7200" rIns="72000" bIns="7200" rtlCol="0" anchor="ctr"/>
          <a:lstStyle/>
          <a:p>
            <a:pPr algn="ctr">
              <a:lnSpc>
                <a:spcPct val="110000"/>
              </a:lnSpc>
              <a:spcAft>
                <a:spcPts val="0"/>
              </a:spcAft>
            </a:pPr>
            <a:r>
              <a:rPr sz="1300" b="1">
                <a:solidFill>
                  <a:srgbClr val="FFFFFF"/>
                </a:solidFill>
                <a:latin typeface="メイリオ"/>
                <a:ea typeface="メイリオ"/>
                <a:cs typeface="メイリオ"/>
              </a:rPr>
              <a:t>STEP1　集客・獲得</a:t>
            </a:r>
          </a:p>
        </p:txBody>
      </p:sp>
      <p:sp>
        <p:nvSpPr>
          <p:cNvPr id="60" name="Chevron 59"/>
          <p:cNvSpPr/>
          <p:nvPr/>
        </p:nvSpPr>
        <p:spPr>
          <a:xfrm>
            <a:off x="2496312" y="1810512"/>
            <a:ext cx="2459736" cy="420624"/>
          </a:xfrm>
          <a:prstGeom prst="chevron">
            <a:avLst>
              <a:gd name="adj" fmla="val 30000"/>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108000" tIns="7200" rIns="72000" bIns="7200" rtlCol="0" anchor="ctr"/>
          <a:lstStyle/>
          <a:p>
            <a:pPr algn="ctr">
              <a:lnSpc>
                <a:spcPct val="110000"/>
              </a:lnSpc>
              <a:spcAft>
                <a:spcPts val="0"/>
              </a:spcAft>
            </a:pPr>
            <a:r>
              <a:rPr sz="1300" b="1">
                <a:solidFill>
                  <a:srgbClr val="FFFFFF"/>
                </a:solidFill>
                <a:latin typeface="メイリオ"/>
                <a:ea typeface="メイリオ"/>
                <a:cs typeface="メイリオ"/>
              </a:rPr>
              <a:t>STEP2　即時分類</a:t>
            </a:r>
          </a:p>
        </p:txBody>
      </p:sp>
      <p:sp>
        <p:nvSpPr>
          <p:cNvPr id="61" name="Chevron 60"/>
          <p:cNvSpPr/>
          <p:nvPr/>
        </p:nvSpPr>
        <p:spPr>
          <a:xfrm>
            <a:off x="4919472" y="1810512"/>
            <a:ext cx="2551176" cy="420624"/>
          </a:xfrm>
          <a:prstGeom prst="chevron">
            <a:avLst>
              <a:gd name="adj" fmla="val 30000"/>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108000" tIns="7200" rIns="72000" bIns="7200" rtlCol="0" anchor="ctr"/>
          <a:lstStyle/>
          <a:p>
            <a:pPr algn="ctr">
              <a:lnSpc>
                <a:spcPct val="110000"/>
              </a:lnSpc>
              <a:spcAft>
                <a:spcPts val="0"/>
              </a:spcAft>
            </a:pPr>
            <a:r>
              <a:rPr sz="1300" b="1">
                <a:solidFill>
                  <a:srgbClr val="FFFFFF"/>
                </a:solidFill>
                <a:latin typeface="メイリオ"/>
                <a:ea typeface="メイリオ"/>
                <a:cs typeface="メイリオ"/>
              </a:rPr>
              <a:t>STEP3　分岐育成</a:t>
            </a:r>
          </a:p>
        </p:txBody>
      </p:sp>
      <p:sp>
        <p:nvSpPr>
          <p:cNvPr id="62" name="Chevron 61"/>
          <p:cNvSpPr/>
          <p:nvPr/>
        </p:nvSpPr>
        <p:spPr>
          <a:xfrm>
            <a:off x="7434071" y="1810512"/>
            <a:ext cx="2304288" cy="420624"/>
          </a:xfrm>
          <a:prstGeom prst="chevron">
            <a:avLst>
              <a:gd name="adj" fmla="val 30000"/>
            </a:avLst>
          </a:prstGeom>
          <a:solidFill>
            <a:srgbClr val="1A1A1A"/>
          </a:solidFill>
          <a:ln>
            <a:noFill/>
          </a:ln>
          <a:effectLst/>
        </p:spPr>
        <p:style>
          <a:lnRef idx="1">
            <a:schemeClr val="accent1"/>
          </a:lnRef>
          <a:fillRef idx="3">
            <a:schemeClr val="accent1"/>
          </a:fillRef>
          <a:effectRef idx="0">
            <a:schemeClr val="accent1"/>
          </a:effectRef>
          <a:fontRef idx="minor">
            <a:schemeClr val="lt1"/>
          </a:fontRef>
        </p:style>
        <p:txBody>
          <a:bodyPr wrap="square" lIns="108000" tIns="7200" rIns="72000" bIns="7200" rtlCol="0" anchor="ctr"/>
          <a:lstStyle/>
          <a:p>
            <a:pPr algn="ctr">
              <a:lnSpc>
                <a:spcPct val="110000"/>
              </a:lnSpc>
              <a:spcAft>
                <a:spcPts val="0"/>
              </a:spcAft>
            </a:pPr>
            <a:r>
              <a:rPr sz="1300" b="1">
                <a:solidFill>
                  <a:srgbClr val="FFFFFF"/>
                </a:solidFill>
                <a:latin typeface="メイリオ"/>
                <a:ea typeface="メイリオ"/>
                <a:cs typeface="メイリオ"/>
              </a:rPr>
              <a:t>STEP4　成果回収</a:t>
            </a:r>
          </a:p>
        </p:txBody>
      </p:sp>
      <p:sp>
        <p:nvSpPr>
          <p:cNvPr id="63" name="Rectangle 62"/>
          <p:cNvSpPr/>
          <p:nvPr/>
        </p:nvSpPr>
        <p:spPr>
          <a:xfrm>
            <a:off x="365760" y="2468880"/>
            <a:ext cx="2057400" cy="566928"/>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wrap="square" lIns="54000" tIns="18000" rIns="54000" bIns="18000" rtlCol="0" anchor="ctr"/>
          <a:lstStyle/>
          <a:p>
            <a:pPr algn="ctr">
              <a:lnSpc>
                <a:spcPct val="110000"/>
              </a:lnSpc>
              <a:spcAft>
                <a:spcPts val="0"/>
              </a:spcAft>
            </a:pPr>
            <a:r>
              <a:rPr sz="1100" b="0">
                <a:solidFill>
                  <a:srgbClr val="333333"/>
                </a:solidFill>
                <a:latin typeface="メイリオ"/>
                <a:ea typeface="メイリオ"/>
                <a:cs typeface="メイリオ"/>
              </a:rPr>
              <a:t>広告・SEOの来訪者のうち</a:t>
            </a:r>
          </a:p>
          <a:p>
            <a:pPr algn="ctr">
              <a:lnSpc>
                <a:spcPct val="110000"/>
              </a:lnSpc>
              <a:spcAft>
                <a:spcPts val="0"/>
              </a:spcAft>
            </a:pPr>
            <a:r>
              <a:rPr sz="1400" b="1">
                <a:solidFill>
                  <a:srgbClr val="1F2A5C"/>
                </a:solidFill>
                <a:latin typeface="メイリオ"/>
                <a:ea typeface="メイリオ"/>
                <a:cs typeface="メイリオ"/>
              </a:rPr>
              <a:t>離脱する 約99%</a:t>
            </a:r>
          </a:p>
        </p:txBody>
      </p:sp>
      <p:cxnSp>
        <p:nvCxnSpPr>
          <p:cNvPr id="64" name="Connector 63"/>
          <p:cNvCxnSpPr/>
          <p:nvPr/>
        </p:nvCxnSpPr>
        <p:spPr>
          <a:xfrm>
            <a:off x="1394460" y="3054096"/>
            <a:ext cx="0" cy="265176"/>
          </a:xfrm>
          <a:prstGeom prst="line">
            <a:avLst/>
          </a:prstGeom>
          <a:ln w="22225">
            <a:solidFill>
              <a:srgbClr val="1F2A5C"/>
            </a:solidFill>
            <a:tailEnd type="triangle" w="med" len="med"/>
          </a:ln>
        </p:spPr>
        <p:style>
          <a:lnRef idx="2">
            <a:schemeClr val="accent1"/>
          </a:lnRef>
          <a:fillRef idx="0">
            <a:schemeClr val="accent1"/>
          </a:fillRef>
          <a:effectRef idx="0">
            <a:schemeClr val="accent1"/>
          </a:effectRef>
          <a:fontRef idx="minor">
            <a:schemeClr val="tx1"/>
          </a:fontRef>
        </p:style>
      </p:cxnSp>
      <p:sp>
        <p:nvSpPr>
          <p:cNvPr id="65" name="Rectangle 64"/>
          <p:cNvSpPr/>
          <p:nvPr/>
        </p:nvSpPr>
        <p:spPr>
          <a:xfrm>
            <a:off x="365760" y="3337559"/>
            <a:ext cx="2057400" cy="731520"/>
          </a:xfrm>
          <a:prstGeom prst="rect">
            <a:avLst/>
          </a:prstGeom>
          <a:solidFill>
            <a:srgbClr val="FFFFFF"/>
          </a:solidFill>
          <a:ln w="15875">
            <a:solidFill>
              <a:srgbClr val="1F2A5C"/>
            </a:solidFill>
          </a:ln>
          <a:effectLst/>
        </p:spPr>
        <p:style>
          <a:lnRef idx="1">
            <a:schemeClr val="accent1"/>
          </a:lnRef>
          <a:fillRef idx="3">
            <a:schemeClr val="accent1"/>
          </a:fillRef>
          <a:effectRef idx="0">
            <a:schemeClr val="accent1"/>
          </a:effectRef>
          <a:fontRef idx="minor">
            <a:schemeClr val="lt1"/>
          </a:fontRef>
        </p:style>
        <p:txBody>
          <a:bodyPr wrap="square" lIns="54000" tIns="18000" rIns="54000" bIns="18000" rtlCol="0" anchor="ctr"/>
          <a:lstStyle/>
          <a:p>
            <a:pPr algn="ctr">
              <a:lnSpc>
                <a:spcPct val="110000"/>
              </a:lnSpc>
              <a:spcAft>
                <a:spcPts val="0"/>
              </a:spcAft>
            </a:pPr>
            <a:r>
              <a:rPr sz="1300" b="1">
                <a:solidFill>
                  <a:srgbClr val="1F2A5C"/>
                </a:solidFill>
                <a:latin typeface="メイリオ"/>
                <a:ea typeface="メイリオ"/>
                <a:cs typeface="メイリオ"/>
              </a:rPr>
              <a:t>ポップアップ</a:t>
            </a:r>
          </a:p>
          <a:p>
            <a:pPr algn="ctr">
              <a:lnSpc>
                <a:spcPct val="110000"/>
              </a:lnSpc>
              <a:spcAft>
                <a:spcPts val="0"/>
              </a:spcAft>
            </a:pPr>
            <a:r>
              <a:rPr sz="1300" b="1">
                <a:solidFill>
                  <a:srgbClr val="1F2A5C"/>
                </a:solidFill>
                <a:latin typeface="メイリオ"/>
                <a:ea typeface="メイリオ"/>
                <a:cs typeface="メイリオ"/>
              </a:rPr>
              <a:t>通知メッセージ</a:t>
            </a:r>
          </a:p>
        </p:txBody>
      </p:sp>
      <p:sp>
        <p:nvSpPr>
          <p:cNvPr id="66" name="TextBox 65"/>
          <p:cNvSpPr txBox="1"/>
          <p:nvPr/>
        </p:nvSpPr>
        <p:spPr>
          <a:xfrm>
            <a:off x="365760" y="4133087"/>
            <a:ext cx="2057400" cy="502920"/>
          </a:xfrm>
          <a:prstGeom prst="rect">
            <a:avLst/>
          </a:prstGeom>
          <a:noFill/>
        </p:spPr>
        <p:txBody>
          <a:bodyPr wrap="square" lIns="36000" tIns="10800" rIns="36000" bIns="10800" anchor="ctr">
            <a:spAutoFit/>
          </a:bodyPr>
          <a:lstStyle/>
          <a:p>
            <a:pPr algn="ctr">
              <a:lnSpc>
                <a:spcPct val="105000"/>
              </a:lnSpc>
              <a:spcAft>
                <a:spcPts val="200"/>
              </a:spcAft>
            </a:pPr>
            <a:r>
              <a:rPr sz="1050" b="0">
                <a:solidFill>
                  <a:srgbClr val="777777"/>
                </a:solidFill>
                <a:latin typeface="メイリオ"/>
                <a:ea typeface="メイリオ"/>
                <a:cs typeface="メイリオ"/>
              </a:rPr>
              <a:t>サイトを離れる前に表示</a:t>
            </a:r>
          </a:p>
          <a:p>
            <a:pPr algn="ctr">
              <a:lnSpc>
                <a:spcPct val="105000"/>
              </a:lnSpc>
              <a:spcAft>
                <a:spcPts val="200"/>
              </a:spcAft>
            </a:pPr>
            <a:r>
              <a:rPr sz="1050" b="0">
                <a:solidFill>
                  <a:srgbClr val="777777"/>
                </a:solidFill>
                <a:latin typeface="メイリオ"/>
                <a:ea typeface="メイリオ"/>
                <a:cs typeface="メイリオ"/>
              </a:rPr>
              <a:t>保有リストにも届ける</a:t>
            </a:r>
          </a:p>
        </p:txBody>
      </p:sp>
      <p:cxnSp>
        <p:nvCxnSpPr>
          <p:cNvPr id="67" name="Connector 66"/>
          <p:cNvCxnSpPr/>
          <p:nvPr/>
        </p:nvCxnSpPr>
        <p:spPr>
          <a:xfrm>
            <a:off x="2423160" y="3703319"/>
            <a:ext cx="274320" cy="0"/>
          </a:xfrm>
          <a:prstGeom prst="line">
            <a:avLst/>
          </a:prstGeom>
          <a:ln w="22225">
            <a:solidFill>
              <a:srgbClr val="1F2A5C"/>
            </a:solidFill>
            <a:tailEnd type="triangle" w="med" len="med"/>
          </a:ln>
        </p:spPr>
        <p:style>
          <a:lnRef idx="2">
            <a:schemeClr val="accent1"/>
          </a:lnRef>
          <a:fillRef idx="0">
            <a:schemeClr val="accent1"/>
          </a:fillRef>
          <a:effectRef idx="0">
            <a:schemeClr val="accent1"/>
          </a:effectRef>
          <a:fontRef idx="minor">
            <a:schemeClr val="tx1"/>
          </a:fontRef>
        </p:style>
      </p:cxnSp>
      <p:sp>
        <p:nvSpPr>
          <p:cNvPr id="68" name="Rectangle 67"/>
          <p:cNvSpPr/>
          <p:nvPr/>
        </p:nvSpPr>
        <p:spPr>
          <a:xfrm>
            <a:off x="2697480" y="2468880"/>
            <a:ext cx="2057400" cy="566928"/>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wrap="square" lIns="54000" tIns="18000" rIns="54000" bIns="18000" rtlCol="0" anchor="ctr"/>
          <a:lstStyle/>
          <a:p>
            <a:pPr algn="ctr">
              <a:lnSpc>
                <a:spcPct val="110000"/>
              </a:lnSpc>
              <a:spcAft>
                <a:spcPts val="0"/>
              </a:spcAft>
            </a:pPr>
            <a:r>
              <a:rPr sz="1100" b="0">
                <a:solidFill>
                  <a:srgbClr val="333333"/>
                </a:solidFill>
                <a:latin typeface="メイリオ"/>
                <a:ea typeface="メイリオ"/>
                <a:cs typeface="メイリオ"/>
              </a:rPr>
              <a:t>最も反応が高い</a:t>
            </a:r>
          </a:p>
          <a:p>
            <a:pPr algn="ctr">
              <a:lnSpc>
                <a:spcPct val="110000"/>
              </a:lnSpc>
              <a:spcAft>
                <a:spcPts val="0"/>
              </a:spcAft>
            </a:pPr>
            <a:r>
              <a:rPr sz="1400" b="1">
                <a:solidFill>
                  <a:srgbClr val="1F2A5C"/>
                </a:solidFill>
                <a:latin typeface="メイリオ"/>
                <a:ea typeface="メイリオ"/>
                <a:cs typeface="メイリオ"/>
              </a:rPr>
              <a:t>友だち追加の直後</a:t>
            </a:r>
          </a:p>
        </p:txBody>
      </p:sp>
      <p:cxnSp>
        <p:nvCxnSpPr>
          <p:cNvPr id="69" name="Connector 68"/>
          <p:cNvCxnSpPr/>
          <p:nvPr/>
        </p:nvCxnSpPr>
        <p:spPr>
          <a:xfrm>
            <a:off x="3726180" y="3054096"/>
            <a:ext cx="0" cy="265176"/>
          </a:xfrm>
          <a:prstGeom prst="line">
            <a:avLst/>
          </a:prstGeom>
          <a:ln w="22225">
            <a:solidFill>
              <a:srgbClr val="1F2A5C"/>
            </a:solidFill>
            <a:tailEnd type="triangle" w="med" len="med"/>
          </a:ln>
        </p:spPr>
        <p:style>
          <a:lnRef idx="2">
            <a:schemeClr val="accent1"/>
          </a:lnRef>
          <a:fillRef idx="0">
            <a:schemeClr val="accent1"/>
          </a:fillRef>
          <a:effectRef idx="0">
            <a:schemeClr val="accent1"/>
          </a:effectRef>
          <a:fontRef idx="minor">
            <a:schemeClr val="tx1"/>
          </a:fontRef>
        </p:style>
      </p:cxnSp>
      <p:sp>
        <p:nvSpPr>
          <p:cNvPr id="70" name="Rectangle 69"/>
          <p:cNvSpPr/>
          <p:nvPr/>
        </p:nvSpPr>
        <p:spPr>
          <a:xfrm>
            <a:off x="2697480" y="3337559"/>
            <a:ext cx="2057400" cy="274320"/>
          </a:xfrm>
          <a:prstGeom prst="rect">
            <a:avLst/>
          </a:prstGeom>
          <a:solidFill>
            <a:srgbClr val="06C755"/>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100" b="1">
                <a:solidFill>
                  <a:srgbClr val="FFFFFF"/>
                </a:solidFill>
                <a:latin typeface="メイリオ"/>
                <a:ea typeface="メイリオ"/>
                <a:cs typeface="メイリオ"/>
              </a:rPr>
              <a:t>LINE友だち追加</a:t>
            </a:r>
          </a:p>
        </p:txBody>
      </p:sp>
      <p:sp>
        <p:nvSpPr>
          <p:cNvPr id="71" name="Rectangle 70"/>
          <p:cNvSpPr/>
          <p:nvPr/>
        </p:nvSpPr>
        <p:spPr>
          <a:xfrm>
            <a:off x="2697480" y="3611880"/>
            <a:ext cx="2057400" cy="45720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300" b="1">
                <a:solidFill>
                  <a:srgbClr val="FFFFFF"/>
                </a:solidFill>
                <a:latin typeface="メイリオ"/>
                <a:ea typeface="メイリオ"/>
                <a:cs typeface="メイリオ"/>
              </a:rPr>
              <a:t>Day0 アンケート・診断</a:t>
            </a:r>
          </a:p>
        </p:txBody>
      </p:sp>
      <p:sp>
        <p:nvSpPr>
          <p:cNvPr id="72" name="TextBox 71"/>
          <p:cNvSpPr txBox="1"/>
          <p:nvPr/>
        </p:nvSpPr>
        <p:spPr>
          <a:xfrm>
            <a:off x="2697480" y="4133087"/>
            <a:ext cx="2057400" cy="502920"/>
          </a:xfrm>
          <a:prstGeom prst="rect">
            <a:avLst/>
          </a:prstGeom>
          <a:noFill/>
        </p:spPr>
        <p:txBody>
          <a:bodyPr wrap="square" lIns="36000" tIns="10800" rIns="36000" bIns="10800" anchor="ctr">
            <a:spAutoFit/>
          </a:bodyPr>
          <a:lstStyle/>
          <a:p>
            <a:pPr algn="ctr">
              <a:lnSpc>
                <a:spcPct val="105000"/>
              </a:lnSpc>
              <a:spcAft>
                <a:spcPts val="200"/>
              </a:spcAft>
            </a:pPr>
            <a:r>
              <a:rPr sz="1050" b="0">
                <a:solidFill>
                  <a:srgbClr val="777777"/>
                </a:solidFill>
                <a:latin typeface="メイリオ"/>
                <a:ea typeface="メイリオ"/>
                <a:cs typeface="メイリオ"/>
              </a:rPr>
              <a:t>属性・検討度を分け、</a:t>
            </a:r>
          </a:p>
          <a:p>
            <a:pPr algn="ctr">
              <a:lnSpc>
                <a:spcPct val="105000"/>
              </a:lnSpc>
              <a:spcAft>
                <a:spcPts val="200"/>
              </a:spcAft>
            </a:pPr>
            <a:r>
              <a:rPr sz="1050" b="0">
                <a:solidFill>
                  <a:srgbClr val="777777"/>
                </a:solidFill>
                <a:latin typeface="メイリオ"/>
                <a:ea typeface="メイリオ"/>
                <a:cs typeface="メイリオ"/>
              </a:rPr>
              <a:t>次の配信を出し分ける</a:t>
            </a:r>
          </a:p>
        </p:txBody>
      </p:sp>
      <p:sp>
        <p:nvSpPr>
          <p:cNvPr id="73" name="Rectangle 72"/>
          <p:cNvSpPr/>
          <p:nvPr/>
        </p:nvSpPr>
        <p:spPr>
          <a:xfrm>
            <a:off x="5120639" y="2468880"/>
            <a:ext cx="2148840" cy="1051560"/>
          </a:xfrm>
          <a:prstGeom prst="rect">
            <a:avLst/>
          </a:prstGeom>
          <a:solidFill>
            <a:srgbClr val="FFFFFF"/>
          </a:solidFill>
          <a:ln w="15875">
            <a:solidFill>
              <a:srgbClr val="1F2A5C"/>
            </a:solidFill>
          </a:ln>
          <a:effectLst/>
        </p:spPr>
        <p:style>
          <a:lnRef idx="1">
            <a:schemeClr val="accent1"/>
          </a:lnRef>
          <a:fillRef idx="3">
            <a:schemeClr val="accent1"/>
          </a:fillRef>
          <a:effectRef idx="0">
            <a:schemeClr val="accent1"/>
          </a:effectRef>
          <a:fontRef idx="minor">
            <a:schemeClr val="lt1"/>
          </a:fontRef>
        </p:style>
        <p:txBody>
          <a:bodyPr wrap="square" lIns="54000" tIns="18000" rIns="54000" bIns="18000" rtlCol="0" anchor="ctr"/>
          <a:lstStyle/>
          <a:p>
            <a:pPr algn="ctr">
              <a:lnSpc>
                <a:spcPct val="110000"/>
              </a:lnSpc>
              <a:spcAft>
                <a:spcPts val="200"/>
              </a:spcAft>
            </a:pPr>
            <a:r>
              <a:rPr sz="1300" b="1">
                <a:solidFill>
                  <a:srgbClr val="1F2A5C"/>
                </a:solidFill>
                <a:latin typeface="メイリオ"/>
                <a:ea typeface="メイリオ"/>
                <a:cs typeface="メイリオ"/>
              </a:rPr>
              <a:t>短期集中トラック</a:t>
            </a:r>
          </a:p>
          <a:p>
            <a:pPr algn="ctr">
              <a:lnSpc>
                <a:spcPct val="110000"/>
              </a:lnSpc>
              <a:spcAft>
                <a:spcPts val="0"/>
              </a:spcAft>
            </a:pPr>
            <a:r>
              <a:rPr sz="1050" b="0">
                <a:solidFill>
                  <a:srgbClr val="333333"/>
                </a:solidFill>
                <a:latin typeface="メイリオ"/>
                <a:ea typeface="メイリオ"/>
                <a:cs typeface="メイリオ"/>
              </a:rPr>
              <a:t>Day0〜15｜検討度が高い方</a:t>
            </a:r>
          </a:p>
          <a:p>
            <a:pPr algn="ctr">
              <a:lnSpc>
                <a:spcPct val="110000"/>
              </a:lnSpc>
              <a:spcAft>
                <a:spcPts val="0"/>
              </a:spcAft>
            </a:pPr>
            <a:r>
              <a:rPr sz="1050" b="1">
                <a:solidFill>
                  <a:srgbClr val="333333"/>
                </a:solidFill>
                <a:latin typeface="メイリオ"/>
                <a:ea typeface="メイリオ"/>
                <a:cs typeface="メイリオ"/>
              </a:rPr>
              <a:t>15日の壁を超えるステップ配信</a:t>
            </a:r>
          </a:p>
        </p:txBody>
      </p:sp>
      <p:sp>
        <p:nvSpPr>
          <p:cNvPr id="74" name="Rectangle 73"/>
          <p:cNvSpPr/>
          <p:nvPr/>
        </p:nvSpPr>
        <p:spPr>
          <a:xfrm>
            <a:off x="5120639" y="3749040"/>
            <a:ext cx="2148840" cy="1051560"/>
          </a:xfrm>
          <a:prstGeom prst="rect">
            <a:avLst/>
          </a:prstGeom>
          <a:solidFill>
            <a:srgbClr val="FFFFFF"/>
          </a:solidFill>
          <a:ln w="15875">
            <a:solidFill>
              <a:srgbClr val="1F2A5C"/>
            </a:solidFill>
          </a:ln>
          <a:effectLst/>
        </p:spPr>
        <p:style>
          <a:lnRef idx="1">
            <a:schemeClr val="accent1"/>
          </a:lnRef>
          <a:fillRef idx="3">
            <a:schemeClr val="accent1"/>
          </a:fillRef>
          <a:effectRef idx="0">
            <a:schemeClr val="accent1"/>
          </a:effectRef>
          <a:fontRef idx="minor">
            <a:schemeClr val="lt1"/>
          </a:fontRef>
        </p:style>
        <p:txBody>
          <a:bodyPr wrap="square" lIns="54000" tIns="18000" rIns="54000" bIns="18000" rtlCol="0" anchor="ctr"/>
          <a:lstStyle/>
          <a:p>
            <a:pPr algn="ctr">
              <a:lnSpc>
                <a:spcPct val="110000"/>
              </a:lnSpc>
              <a:spcAft>
                <a:spcPts val="200"/>
              </a:spcAft>
            </a:pPr>
            <a:r>
              <a:rPr sz="1300" b="1">
                <a:solidFill>
                  <a:srgbClr val="1F2A5C"/>
                </a:solidFill>
                <a:latin typeface="メイリオ"/>
                <a:ea typeface="メイリオ"/>
                <a:cs typeface="メイリオ"/>
              </a:rPr>
              <a:t>中長期トラック</a:t>
            </a:r>
          </a:p>
          <a:p>
            <a:pPr algn="ctr">
              <a:lnSpc>
                <a:spcPct val="110000"/>
              </a:lnSpc>
              <a:spcAft>
                <a:spcPts val="0"/>
              </a:spcAft>
            </a:pPr>
            <a:r>
              <a:rPr sz="1050" b="0">
                <a:solidFill>
                  <a:srgbClr val="333333"/>
                </a:solidFill>
                <a:latin typeface="メイリオ"/>
                <a:ea typeface="メイリオ"/>
                <a:cs typeface="メイリオ"/>
              </a:rPr>
              <a:t>15日以降｜検討度が中・低の方</a:t>
            </a:r>
          </a:p>
          <a:p>
            <a:pPr algn="ctr">
              <a:lnSpc>
                <a:spcPct val="110000"/>
              </a:lnSpc>
              <a:spcAft>
                <a:spcPts val="0"/>
              </a:spcAft>
            </a:pPr>
            <a:r>
              <a:rPr sz="1050" b="1">
                <a:solidFill>
                  <a:srgbClr val="333333"/>
                </a:solidFill>
                <a:latin typeface="メイリオ"/>
                <a:ea typeface="メイリオ"/>
                <a:cs typeface="メイリオ"/>
              </a:rPr>
              <a:t>シーズナリティ連動の企画配信</a:t>
            </a:r>
          </a:p>
        </p:txBody>
      </p:sp>
      <p:cxnSp>
        <p:nvCxnSpPr>
          <p:cNvPr id="75" name="Connector 74"/>
          <p:cNvCxnSpPr/>
          <p:nvPr/>
        </p:nvCxnSpPr>
        <p:spPr>
          <a:xfrm>
            <a:off x="4754880" y="3703319"/>
            <a:ext cx="146304" cy="0"/>
          </a:xfrm>
          <a:prstGeom prst="line">
            <a:avLst/>
          </a:prstGeom>
          <a:ln w="22225">
            <a:solidFill>
              <a:srgbClr val="1F2A5C"/>
            </a:solidFill>
          </a:ln>
        </p:spPr>
        <p:style>
          <a:lnRef idx="2">
            <a:schemeClr val="accent1"/>
          </a:lnRef>
          <a:fillRef idx="0">
            <a:schemeClr val="accent1"/>
          </a:fillRef>
          <a:effectRef idx="0">
            <a:schemeClr val="accent1"/>
          </a:effectRef>
          <a:fontRef idx="minor">
            <a:schemeClr val="tx1"/>
          </a:fontRef>
        </p:style>
      </p:cxnSp>
      <p:cxnSp>
        <p:nvCxnSpPr>
          <p:cNvPr id="76" name="Connector 75"/>
          <p:cNvCxnSpPr/>
          <p:nvPr/>
        </p:nvCxnSpPr>
        <p:spPr>
          <a:xfrm>
            <a:off x="4901184" y="2994660"/>
            <a:ext cx="0" cy="1280160"/>
          </a:xfrm>
          <a:prstGeom prst="line">
            <a:avLst/>
          </a:prstGeom>
          <a:ln w="22225">
            <a:solidFill>
              <a:srgbClr val="1F2A5C"/>
            </a:solidFill>
          </a:ln>
        </p:spPr>
        <p:style>
          <a:lnRef idx="2">
            <a:schemeClr val="accent1"/>
          </a:lnRef>
          <a:fillRef idx="0">
            <a:schemeClr val="accent1"/>
          </a:fillRef>
          <a:effectRef idx="0">
            <a:schemeClr val="accent1"/>
          </a:effectRef>
          <a:fontRef idx="minor">
            <a:schemeClr val="tx1"/>
          </a:fontRef>
        </p:style>
      </p:cxnSp>
      <p:cxnSp>
        <p:nvCxnSpPr>
          <p:cNvPr id="77" name="Connector 76"/>
          <p:cNvCxnSpPr/>
          <p:nvPr/>
        </p:nvCxnSpPr>
        <p:spPr>
          <a:xfrm>
            <a:off x="4901184" y="2994660"/>
            <a:ext cx="219455" cy="0"/>
          </a:xfrm>
          <a:prstGeom prst="line">
            <a:avLst/>
          </a:prstGeom>
          <a:ln w="22225">
            <a:solidFill>
              <a:srgbClr val="1F2A5C"/>
            </a:solidFill>
            <a:tailEnd type="triangle" w="med" len="med"/>
          </a:ln>
        </p:spPr>
        <p:style>
          <a:lnRef idx="2">
            <a:schemeClr val="accent1"/>
          </a:lnRef>
          <a:fillRef idx="0">
            <a:schemeClr val="accent1"/>
          </a:fillRef>
          <a:effectRef idx="0">
            <a:schemeClr val="accent1"/>
          </a:effectRef>
          <a:fontRef idx="minor">
            <a:schemeClr val="tx1"/>
          </a:fontRef>
        </p:style>
      </p:cxnSp>
      <p:cxnSp>
        <p:nvCxnSpPr>
          <p:cNvPr id="78" name="Connector 77"/>
          <p:cNvCxnSpPr/>
          <p:nvPr/>
        </p:nvCxnSpPr>
        <p:spPr>
          <a:xfrm>
            <a:off x="4901184" y="4274820"/>
            <a:ext cx="219455" cy="0"/>
          </a:xfrm>
          <a:prstGeom prst="line">
            <a:avLst/>
          </a:prstGeom>
          <a:ln w="22225">
            <a:solidFill>
              <a:srgbClr val="1F2A5C"/>
            </a:solidFill>
            <a:tailEnd type="triangle" w="med" len="med"/>
          </a:ln>
        </p:spPr>
        <p:style>
          <a:lnRef idx="2">
            <a:schemeClr val="accent1"/>
          </a:lnRef>
          <a:fillRef idx="0">
            <a:schemeClr val="accent1"/>
          </a:fillRef>
          <a:effectRef idx="0">
            <a:schemeClr val="accent1"/>
          </a:effectRef>
          <a:fontRef idx="minor">
            <a:schemeClr val="tx1"/>
          </a:fontRef>
        </p:style>
      </p:cxnSp>
      <p:cxnSp>
        <p:nvCxnSpPr>
          <p:cNvPr id="79" name="Connector 78"/>
          <p:cNvCxnSpPr/>
          <p:nvPr/>
        </p:nvCxnSpPr>
        <p:spPr>
          <a:xfrm>
            <a:off x="6195059" y="3520440"/>
            <a:ext cx="0" cy="228600"/>
          </a:xfrm>
          <a:prstGeom prst="line">
            <a:avLst/>
          </a:prstGeom>
          <a:ln w="22225">
            <a:solidFill>
              <a:srgbClr val="1F2A5C"/>
            </a:solidFill>
            <a:tailEnd type="triangle" w="med" len="med"/>
          </a:ln>
        </p:spPr>
        <p:style>
          <a:lnRef idx="2">
            <a:schemeClr val="accent1"/>
          </a:lnRef>
          <a:fillRef idx="0">
            <a:schemeClr val="accent1"/>
          </a:fillRef>
          <a:effectRef idx="0">
            <a:schemeClr val="accent1"/>
          </a:effectRef>
          <a:fontRef idx="minor">
            <a:schemeClr val="tx1"/>
          </a:fontRef>
        </p:style>
      </p:cxnSp>
      <p:sp>
        <p:nvSpPr>
          <p:cNvPr id="80" name="TextBox 79"/>
          <p:cNvSpPr txBox="1"/>
          <p:nvPr/>
        </p:nvSpPr>
        <p:spPr>
          <a:xfrm>
            <a:off x="6249923" y="3529583"/>
            <a:ext cx="914400" cy="210312"/>
          </a:xfrm>
          <a:prstGeom prst="rect">
            <a:avLst/>
          </a:prstGeom>
          <a:noFill/>
        </p:spPr>
        <p:txBody>
          <a:bodyPr wrap="square" lIns="36000" tIns="10800" rIns="36000" bIns="10800" anchor="ctr">
            <a:spAutoFit/>
          </a:bodyPr>
          <a:lstStyle/>
          <a:p>
            <a:pPr algn="l">
              <a:lnSpc>
                <a:spcPct val="105000"/>
              </a:lnSpc>
              <a:spcAft>
                <a:spcPts val="200"/>
              </a:spcAft>
            </a:pPr>
            <a:r>
              <a:rPr sz="900" b="0">
                <a:solidFill>
                  <a:srgbClr val="777777"/>
                </a:solidFill>
                <a:latin typeface="メイリオ"/>
                <a:ea typeface="メイリオ"/>
                <a:cs typeface="メイリオ"/>
              </a:rPr>
              <a:t>15日後に合流</a:t>
            </a:r>
          </a:p>
        </p:txBody>
      </p:sp>
      <p:cxnSp>
        <p:nvCxnSpPr>
          <p:cNvPr id="81" name="Connector 80"/>
          <p:cNvCxnSpPr/>
          <p:nvPr/>
        </p:nvCxnSpPr>
        <p:spPr>
          <a:xfrm>
            <a:off x="7269479" y="2994660"/>
            <a:ext cx="137160" cy="0"/>
          </a:xfrm>
          <a:prstGeom prst="line">
            <a:avLst/>
          </a:prstGeom>
          <a:ln w="22225">
            <a:solidFill>
              <a:srgbClr val="1F2A5C"/>
            </a:solidFill>
          </a:ln>
        </p:spPr>
        <p:style>
          <a:lnRef idx="2">
            <a:schemeClr val="accent1"/>
          </a:lnRef>
          <a:fillRef idx="0">
            <a:schemeClr val="accent1"/>
          </a:fillRef>
          <a:effectRef idx="0">
            <a:schemeClr val="accent1"/>
          </a:effectRef>
          <a:fontRef idx="minor">
            <a:schemeClr val="tx1"/>
          </a:fontRef>
        </p:style>
      </p:cxnSp>
      <p:cxnSp>
        <p:nvCxnSpPr>
          <p:cNvPr id="82" name="Connector 81"/>
          <p:cNvCxnSpPr/>
          <p:nvPr/>
        </p:nvCxnSpPr>
        <p:spPr>
          <a:xfrm>
            <a:off x="7269479" y="4274820"/>
            <a:ext cx="137160" cy="0"/>
          </a:xfrm>
          <a:prstGeom prst="line">
            <a:avLst/>
          </a:prstGeom>
          <a:ln w="22225">
            <a:solidFill>
              <a:srgbClr val="1F2A5C"/>
            </a:solidFill>
          </a:ln>
        </p:spPr>
        <p:style>
          <a:lnRef idx="2">
            <a:schemeClr val="accent1"/>
          </a:lnRef>
          <a:fillRef idx="0">
            <a:schemeClr val="accent1"/>
          </a:fillRef>
          <a:effectRef idx="0">
            <a:schemeClr val="accent1"/>
          </a:effectRef>
          <a:fontRef idx="minor">
            <a:schemeClr val="tx1"/>
          </a:fontRef>
        </p:style>
      </p:cxnSp>
      <p:cxnSp>
        <p:nvCxnSpPr>
          <p:cNvPr id="83" name="Connector 82"/>
          <p:cNvCxnSpPr/>
          <p:nvPr/>
        </p:nvCxnSpPr>
        <p:spPr>
          <a:xfrm>
            <a:off x="7406639" y="2994660"/>
            <a:ext cx="0" cy="1280160"/>
          </a:xfrm>
          <a:prstGeom prst="line">
            <a:avLst/>
          </a:prstGeom>
          <a:ln w="22225">
            <a:solidFill>
              <a:srgbClr val="1F2A5C"/>
            </a:solidFill>
          </a:ln>
        </p:spPr>
        <p:style>
          <a:lnRef idx="2">
            <a:schemeClr val="accent1"/>
          </a:lnRef>
          <a:fillRef idx="0">
            <a:schemeClr val="accent1"/>
          </a:fillRef>
          <a:effectRef idx="0">
            <a:schemeClr val="accent1"/>
          </a:effectRef>
          <a:fontRef idx="minor">
            <a:schemeClr val="tx1"/>
          </a:fontRef>
        </p:style>
      </p:cxnSp>
      <p:cxnSp>
        <p:nvCxnSpPr>
          <p:cNvPr id="84" name="Connector 83"/>
          <p:cNvCxnSpPr/>
          <p:nvPr/>
        </p:nvCxnSpPr>
        <p:spPr>
          <a:xfrm>
            <a:off x="7406639" y="3703319"/>
            <a:ext cx="228601" cy="0"/>
          </a:xfrm>
          <a:prstGeom prst="line">
            <a:avLst/>
          </a:prstGeom>
          <a:ln w="22225">
            <a:solidFill>
              <a:srgbClr val="1F2A5C"/>
            </a:solidFill>
            <a:tailEnd type="triangle" w="med" len="med"/>
          </a:ln>
        </p:spPr>
        <p:style>
          <a:lnRef idx="2">
            <a:schemeClr val="accent1"/>
          </a:lnRef>
          <a:fillRef idx="0">
            <a:schemeClr val="accent1"/>
          </a:fillRef>
          <a:effectRef idx="0">
            <a:schemeClr val="accent1"/>
          </a:effectRef>
          <a:fontRef idx="minor">
            <a:schemeClr val="tx1"/>
          </a:fontRef>
        </p:style>
      </p:cxnSp>
      <p:sp>
        <p:nvSpPr>
          <p:cNvPr id="85" name="Rectangle 84"/>
          <p:cNvSpPr/>
          <p:nvPr/>
        </p:nvSpPr>
        <p:spPr>
          <a:xfrm>
            <a:off x="7635240" y="2468880"/>
            <a:ext cx="1901952" cy="566928"/>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wrap="square" lIns="54000" tIns="18000" rIns="54000" bIns="18000" rtlCol="0" anchor="ctr"/>
          <a:lstStyle/>
          <a:p>
            <a:pPr algn="ctr">
              <a:lnSpc>
                <a:spcPct val="110000"/>
              </a:lnSpc>
              <a:spcAft>
                <a:spcPts val="0"/>
              </a:spcAft>
            </a:pPr>
            <a:r>
              <a:rPr sz="1200" b="1">
                <a:solidFill>
                  <a:srgbClr val="1F2A5C"/>
                </a:solidFill>
                <a:latin typeface="メイリオ"/>
                <a:ea typeface="メイリオ"/>
                <a:cs typeface="メイリオ"/>
              </a:rPr>
              <a:t>不安・手続きの壁を</a:t>
            </a:r>
          </a:p>
          <a:p>
            <a:pPr algn="ctr">
              <a:lnSpc>
                <a:spcPct val="110000"/>
              </a:lnSpc>
              <a:spcAft>
                <a:spcPts val="0"/>
              </a:spcAft>
            </a:pPr>
            <a:r>
              <a:rPr sz="1200" b="1">
                <a:solidFill>
                  <a:srgbClr val="1F2A5C"/>
                </a:solidFill>
                <a:latin typeface="メイリオ"/>
                <a:ea typeface="メイリオ"/>
                <a:cs typeface="メイリオ"/>
              </a:rPr>
              <a:t>ひとつずつ解消</a:t>
            </a:r>
          </a:p>
        </p:txBody>
      </p:sp>
      <p:cxnSp>
        <p:nvCxnSpPr>
          <p:cNvPr id="86" name="Connector 85"/>
          <p:cNvCxnSpPr/>
          <p:nvPr/>
        </p:nvCxnSpPr>
        <p:spPr>
          <a:xfrm>
            <a:off x="8586216" y="3054096"/>
            <a:ext cx="0" cy="265176"/>
          </a:xfrm>
          <a:prstGeom prst="line">
            <a:avLst/>
          </a:prstGeom>
          <a:ln w="22225">
            <a:solidFill>
              <a:srgbClr val="1F2A5C"/>
            </a:solidFill>
            <a:tailEnd type="triangle" w="med" len="med"/>
          </a:ln>
        </p:spPr>
        <p:style>
          <a:lnRef idx="2">
            <a:schemeClr val="accent1"/>
          </a:lnRef>
          <a:fillRef idx="0">
            <a:schemeClr val="accent1"/>
          </a:fillRef>
          <a:effectRef idx="0">
            <a:schemeClr val="accent1"/>
          </a:effectRef>
          <a:fontRef idx="minor">
            <a:schemeClr val="tx1"/>
          </a:fontRef>
        </p:style>
      </p:cxnSp>
      <p:sp>
        <p:nvSpPr>
          <p:cNvPr id="87" name="Rectangle 86"/>
          <p:cNvSpPr/>
          <p:nvPr/>
        </p:nvSpPr>
        <p:spPr>
          <a:xfrm>
            <a:off x="7635240" y="3337559"/>
            <a:ext cx="1901952" cy="73152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54000" tIns="18000" rIns="54000" bIns="18000" rtlCol="0" anchor="ctr"/>
          <a:lstStyle/>
          <a:p>
            <a:pPr algn="ctr">
              <a:lnSpc>
                <a:spcPct val="110000"/>
              </a:lnSpc>
              <a:spcAft>
                <a:spcPts val="0"/>
              </a:spcAft>
            </a:pPr>
            <a:r>
              <a:rPr sz="1500" b="1">
                <a:solidFill>
                  <a:srgbClr val="FFFFFF"/>
                </a:solidFill>
                <a:latin typeface="メイリオ"/>
                <a:ea typeface="メイリオ"/>
                <a:cs typeface="メイリオ"/>
              </a:rPr>
              <a:t>CV</a:t>
            </a:r>
          </a:p>
          <a:p>
            <a:pPr algn="ctr">
              <a:lnSpc>
                <a:spcPct val="110000"/>
              </a:lnSpc>
              <a:spcAft>
                <a:spcPts val="0"/>
              </a:spcAft>
            </a:pPr>
            <a:r>
              <a:rPr sz="1100" b="0">
                <a:solidFill>
                  <a:srgbClr val="FFFFFF"/>
                </a:solidFill>
                <a:latin typeface="メイリオ"/>
                <a:ea typeface="メイリオ"/>
                <a:cs typeface="メイリオ"/>
              </a:rPr>
              <a:t>予約・面談・購入</a:t>
            </a:r>
          </a:p>
        </p:txBody>
      </p:sp>
      <p:cxnSp>
        <p:nvCxnSpPr>
          <p:cNvPr id="88" name="Connector 87"/>
          <p:cNvCxnSpPr/>
          <p:nvPr/>
        </p:nvCxnSpPr>
        <p:spPr>
          <a:xfrm>
            <a:off x="8586216" y="4087368"/>
            <a:ext cx="0" cy="228600"/>
          </a:xfrm>
          <a:prstGeom prst="line">
            <a:avLst/>
          </a:prstGeom>
          <a:ln w="22225">
            <a:solidFill>
              <a:srgbClr val="1F2A5C"/>
            </a:solidFill>
            <a:tailEnd type="triangle" w="med" len="med"/>
          </a:ln>
        </p:spPr>
        <p:style>
          <a:lnRef idx="2">
            <a:schemeClr val="accent1"/>
          </a:lnRef>
          <a:fillRef idx="0">
            <a:schemeClr val="accent1"/>
          </a:fillRef>
          <a:effectRef idx="0">
            <a:schemeClr val="accent1"/>
          </a:effectRef>
          <a:fontRef idx="minor">
            <a:schemeClr val="tx1"/>
          </a:fontRef>
        </p:style>
      </p:cxnSp>
      <p:sp>
        <p:nvSpPr>
          <p:cNvPr id="89" name="Rectangle 88"/>
          <p:cNvSpPr/>
          <p:nvPr/>
        </p:nvSpPr>
        <p:spPr>
          <a:xfrm>
            <a:off x="7635240" y="4334255"/>
            <a:ext cx="1901952" cy="502920"/>
          </a:xfrm>
          <a:prstGeom prst="rect">
            <a:avLst/>
          </a:prstGeom>
          <a:solidFill>
            <a:srgbClr val="1A1A1A"/>
          </a:solidFill>
          <a:ln>
            <a:noFill/>
          </a:ln>
          <a:effectLst/>
        </p:spPr>
        <p:style>
          <a:lnRef idx="1">
            <a:schemeClr val="accent1"/>
          </a:lnRef>
          <a:fillRef idx="3">
            <a:schemeClr val="accent1"/>
          </a:fillRef>
          <a:effectRef idx="0">
            <a:schemeClr val="accent1"/>
          </a:effectRef>
          <a:fontRef idx="minor">
            <a:schemeClr val="lt1"/>
          </a:fontRef>
        </p:style>
        <p:txBody>
          <a:bodyPr wrap="square" lIns="54000" tIns="18000" rIns="54000" bIns="18000" rtlCol="0" anchor="ctr"/>
          <a:lstStyle/>
          <a:p>
            <a:pPr algn="ctr">
              <a:lnSpc>
                <a:spcPct val="110000"/>
              </a:lnSpc>
              <a:spcAft>
                <a:spcPts val="0"/>
              </a:spcAft>
            </a:pPr>
            <a:r>
              <a:rPr sz="1400" b="1">
                <a:solidFill>
                  <a:srgbClr val="FFFFFF"/>
                </a:solidFill>
                <a:latin typeface="メイリオ"/>
                <a:ea typeface="メイリオ"/>
                <a:cs typeface="メイリオ"/>
              </a:rPr>
              <a:t>CPA・CPO 改善</a:t>
            </a:r>
          </a:p>
        </p:txBody>
      </p:sp>
      <p:cxnSp>
        <p:nvCxnSpPr>
          <p:cNvPr id="90" name="Connector 89"/>
          <p:cNvCxnSpPr/>
          <p:nvPr/>
        </p:nvCxnSpPr>
        <p:spPr>
          <a:xfrm>
            <a:off x="365760" y="5074920"/>
            <a:ext cx="9171432" cy="0"/>
          </a:xfrm>
          <a:prstGeom prst="line">
            <a:avLst/>
          </a:prstGeom>
          <a:ln w="9525">
            <a:solidFill>
              <a:srgbClr val="D0D5E0"/>
            </a:solidFill>
          </a:ln>
        </p:spPr>
        <p:style>
          <a:lnRef idx="2">
            <a:schemeClr val="accent1"/>
          </a:lnRef>
          <a:fillRef idx="0">
            <a:schemeClr val="accent1"/>
          </a:fillRef>
          <a:effectRef idx="0">
            <a:schemeClr val="accent1"/>
          </a:effectRef>
          <a:fontRef idx="minor">
            <a:schemeClr val="tx1"/>
          </a:fontRef>
        </p:style>
      </p:cxnSp>
      <p:sp>
        <p:nvSpPr>
          <p:cNvPr id="91" name="TextBox 90"/>
          <p:cNvSpPr txBox="1"/>
          <p:nvPr/>
        </p:nvSpPr>
        <p:spPr>
          <a:xfrm>
            <a:off x="365760" y="5120639"/>
            <a:ext cx="2057400" cy="310896"/>
          </a:xfrm>
          <a:prstGeom prst="rect">
            <a:avLst/>
          </a:prstGeom>
          <a:noFill/>
        </p:spPr>
        <p:txBody>
          <a:bodyPr wrap="square" lIns="36000" tIns="10800" rIns="36000" bIns="10800" anchor="ctr">
            <a:spAutoFit/>
          </a:bodyPr>
          <a:lstStyle/>
          <a:p>
            <a:pPr algn="ctr">
              <a:lnSpc>
                <a:spcPct val="105000"/>
              </a:lnSpc>
              <a:spcAft>
                <a:spcPts val="200"/>
              </a:spcAft>
            </a:pPr>
            <a:r>
              <a:rPr sz="1050" b="0">
                <a:solidFill>
                  <a:srgbClr val="777777"/>
                </a:solidFill>
                <a:latin typeface="メイリオ"/>
                <a:ea typeface="メイリオ"/>
                <a:cs typeface="メイリオ"/>
              </a:rPr>
              <a:t>見る数字：友だち追加数</a:t>
            </a:r>
          </a:p>
        </p:txBody>
      </p:sp>
      <p:sp>
        <p:nvSpPr>
          <p:cNvPr id="92" name="TextBox 91"/>
          <p:cNvSpPr txBox="1"/>
          <p:nvPr/>
        </p:nvSpPr>
        <p:spPr>
          <a:xfrm>
            <a:off x="2697480" y="5120639"/>
            <a:ext cx="2057400" cy="310896"/>
          </a:xfrm>
          <a:prstGeom prst="rect">
            <a:avLst/>
          </a:prstGeom>
          <a:noFill/>
        </p:spPr>
        <p:txBody>
          <a:bodyPr wrap="square" lIns="36000" tIns="10800" rIns="36000" bIns="10800" anchor="ctr">
            <a:spAutoFit/>
          </a:bodyPr>
          <a:lstStyle/>
          <a:p>
            <a:pPr algn="ctr">
              <a:lnSpc>
                <a:spcPct val="105000"/>
              </a:lnSpc>
              <a:spcAft>
                <a:spcPts val="200"/>
              </a:spcAft>
            </a:pPr>
            <a:r>
              <a:rPr sz="1050" b="0">
                <a:solidFill>
                  <a:srgbClr val="777777"/>
                </a:solidFill>
                <a:latin typeface="メイリオ"/>
                <a:ea typeface="メイリオ"/>
                <a:cs typeface="メイリオ"/>
              </a:rPr>
              <a:t>見る数字：回答率</a:t>
            </a:r>
          </a:p>
        </p:txBody>
      </p:sp>
      <p:sp>
        <p:nvSpPr>
          <p:cNvPr id="93" name="TextBox 92"/>
          <p:cNvSpPr txBox="1"/>
          <p:nvPr/>
        </p:nvSpPr>
        <p:spPr>
          <a:xfrm>
            <a:off x="5120639" y="5120639"/>
            <a:ext cx="2148840" cy="310896"/>
          </a:xfrm>
          <a:prstGeom prst="rect">
            <a:avLst/>
          </a:prstGeom>
          <a:noFill/>
        </p:spPr>
        <p:txBody>
          <a:bodyPr wrap="square" lIns="36000" tIns="10800" rIns="36000" bIns="10800" anchor="ctr">
            <a:spAutoFit/>
          </a:bodyPr>
          <a:lstStyle/>
          <a:p>
            <a:pPr algn="ctr">
              <a:lnSpc>
                <a:spcPct val="105000"/>
              </a:lnSpc>
              <a:spcAft>
                <a:spcPts val="200"/>
              </a:spcAft>
            </a:pPr>
            <a:r>
              <a:rPr sz="1050" b="0">
                <a:solidFill>
                  <a:srgbClr val="777777"/>
                </a:solidFill>
                <a:latin typeface="メイリオ"/>
                <a:ea typeface="メイリオ"/>
                <a:cs typeface="メイリオ"/>
              </a:rPr>
              <a:t>見る数字：開封率・クリック率</a:t>
            </a:r>
          </a:p>
        </p:txBody>
      </p:sp>
      <p:sp>
        <p:nvSpPr>
          <p:cNvPr id="94" name="TextBox 93"/>
          <p:cNvSpPr txBox="1"/>
          <p:nvPr/>
        </p:nvSpPr>
        <p:spPr>
          <a:xfrm>
            <a:off x="7406639" y="5120639"/>
            <a:ext cx="2130552" cy="310896"/>
          </a:xfrm>
          <a:prstGeom prst="rect">
            <a:avLst/>
          </a:prstGeom>
          <a:noFill/>
        </p:spPr>
        <p:txBody>
          <a:bodyPr wrap="square" lIns="36000" tIns="10800" rIns="36000" bIns="10800" anchor="ctr">
            <a:spAutoFit/>
          </a:bodyPr>
          <a:lstStyle/>
          <a:p>
            <a:pPr algn="ctr">
              <a:lnSpc>
                <a:spcPct val="105000"/>
              </a:lnSpc>
              <a:spcAft>
                <a:spcPts val="200"/>
              </a:spcAft>
            </a:pPr>
            <a:r>
              <a:rPr sz="1050" b="0">
                <a:solidFill>
                  <a:srgbClr val="777777"/>
                </a:solidFill>
                <a:latin typeface="メイリオ"/>
                <a:ea typeface="メイリオ"/>
                <a:cs typeface="メイリオ"/>
              </a:rPr>
              <a:t>見る数字：CV数・CPA・CPO</a:t>
            </a:r>
          </a:p>
        </p:txBody>
      </p:sp>
      <p:sp>
        <p:nvSpPr>
          <p:cNvPr id="95" name="Rectangle 94"/>
          <p:cNvSpPr/>
          <p:nvPr/>
        </p:nvSpPr>
        <p:spPr>
          <a:xfrm>
            <a:off x="365760" y="5623560"/>
            <a:ext cx="9171432" cy="438912"/>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400" b="1">
                <a:solidFill>
                  <a:srgbClr val="FFFFFF"/>
                </a:solidFill>
                <a:latin typeface="メイリオ"/>
                <a:ea typeface="メイリオ"/>
                <a:cs typeface="メイリオ"/>
              </a:rPr>
              <a:t>取りこぼしていた約99%を、LINEで追い続けてCVに変える</a:t>
            </a:r>
          </a:p>
        </p:txBody>
      </p:sp>
    </p:spTree>
    <p:extLst>
      <p:ext uri="{BB962C8B-B14F-4D97-AF65-F5344CB8AC3E}">
        <p14:creationId xmlns:p14="http://schemas.microsoft.com/office/powerpoint/2010/main" val="291394885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599BA6-A528-73A9-B0F4-DEDDF51B3A4B}"/>
            </a:ext>
          </a:extLst>
        </p:cNvPr>
        <p:cNvGrpSpPr/>
        <p:nvPr/>
      </p:nvGrpSpPr>
      <p:grpSpPr>
        <a:xfrm>
          <a:off x="0" y="0"/>
          <a:ext cx="0" cy="0"/>
          <a:chOff x="0" y="0"/>
          <a:chExt cx="0" cy="0"/>
        </a:xfrm>
      </p:grpSpPr>
      <p:sp>
        <p:nvSpPr>
          <p:cNvPr id="58" name="正方形/長方形 57">
            <a:extLst>
              <a:ext uri="{FF2B5EF4-FFF2-40B4-BE49-F238E27FC236}">
                <a16:creationId xmlns:a16="http://schemas.microsoft.com/office/drawing/2014/main" id="{A5F0E4CA-460F-19EB-3FE1-5585A9B3E061}"/>
              </a:ext>
            </a:extLst>
          </p:cNvPr>
          <p:cNvSpPr/>
          <p:nvPr/>
        </p:nvSpPr>
        <p:spPr>
          <a:xfrm>
            <a:off x="96788" y="1045811"/>
            <a:ext cx="1935768" cy="21878"/>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3" name="正方形/長方形 2">
            <a:extLst>
              <a:ext uri="{FF2B5EF4-FFF2-40B4-BE49-F238E27FC236}">
                <a16:creationId xmlns:a16="http://schemas.microsoft.com/office/drawing/2014/main" id="{5CD68471-CCDB-50E6-0285-35BF38F933E4}"/>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5" name="テキスト ボックス 4">
            <a:extLst>
              <a:ext uri="{FF2B5EF4-FFF2-40B4-BE49-F238E27FC236}">
                <a16:creationId xmlns:a16="http://schemas.microsoft.com/office/drawing/2014/main" id="{93E92412-8323-7637-01F3-37AEDFFA3E18}"/>
              </a:ext>
            </a:extLst>
          </p:cNvPr>
          <p:cNvSpPr txBox="1"/>
          <p:nvPr/>
        </p:nvSpPr>
        <p:spPr>
          <a:xfrm>
            <a:off x="96788" y="619405"/>
            <a:ext cx="4961186" cy="369332"/>
          </a:xfrm>
          <a:prstGeom prst="rect">
            <a:avLst/>
          </a:prstGeom>
          <a:noFill/>
        </p:spPr>
        <p:txBody>
          <a:bodyPr wrap="square">
            <a:spAutoFit/>
          </a:bodyPr>
          <a:lstStyle/>
          <a:p>
            <a:r>
              <a:rPr lang="en-US" altLang="ja-JP"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a:t>
            </a:r>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施策一覧</a:t>
            </a:r>
            <a:endParaRPr lang="ja-JP" altLang="en-US" sz="1100" dirty="0"/>
          </a:p>
        </p:txBody>
      </p:sp>
      <p:sp>
        <p:nvSpPr>
          <p:cNvPr id="7" name="テキスト ボックス 6">
            <a:extLst>
              <a:ext uri="{FF2B5EF4-FFF2-40B4-BE49-F238E27FC236}">
                <a16:creationId xmlns:a16="http://schemas.microsoft.com/office/drawing/2014/main" id="{D4A0FD7C-1D07-79B6-CA6F-47DF2D8CF1EE}"/>
              </a:ext>
            </a:extLst>
          </p:cNvPr>
          <p:cNvSpPr txBox="1"/>
          <p:nvPr/>
        </p:nvSpPr>
        <p:spPr>
          <a:xfrm>
            <a:off x="96788" y="1202790"/>
            <a:ext cx="9687414" cy="307777"/>
          </a:xfrm>
          <a:prstGeom prst="rect">
            <a:avLst/>
          </a:prstGeom>
          <a:noFill/>
        </p:spPr>
        <p:txBody>
          <a:bodyPr wrap="square">
            <a:spAutoFit/>
          </a:bodyPr>
          <a:lstStyle/>
          <a:p>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初期に整える標準設定と、運用しながら改善する施策の一覧</a:t>
            </a:r>
            <a:endParaRPr lang="ja-JP" altLang="en-US" sz="1000" dirty="0"/>
          </a:p>
        </p:txBody>
      </p:sp>
      <p:sp>
        <p:nvSpPr>
          <p:cNvPr id="9" name="テキスト ボックス 8">
            <a:extLst>
              <a:ext uri="{FF2B5EF4-FFF2-40B4-BE49-F238E27FC236}">
                <a16:creationId xmlns:a16="http://schemas.microsoft.com/office/drawing/2014/main" id="{FBA2E1AE-C51F-8327-AEB6-88548FDE3911}"/>
              </a:ext>
            </a:extLst>
          </p:cNvPr>
          <p:cNvSpPr txBox="1"/>
          <p:nvPr/>
        </p:nvSpPr>
        <p:spPr>
          <a:xfrm>
            <a:off x="460785" y="91159"/>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 前提調査</a:t>
            </a:r>
            <a:endParaRPr lang="ja-JP" altLang="en-US" sz="1100" dirty="0"/>
          </a:p>
        </p:txBody>
      </p:sp>
      <p:sp>
        <p:nvSpPr>
          <p:cNvPr id="2" name="Rectangle 3">
            <a:extLst>
              <a:ext uri="{FF2B5EF4-FFF2-40B4-BE49-F238E27FC236}">
                <a16:creationId xmlns:a16="http://schemas.microsoft.com/office/drawing/2014/main" id="{8EDF250F-68CF-F752-3821-E813039B5143}"/>
              </a:ext>
            </a:extLst>
          </p:cNvPr>
          <p:cNvSpPr/>
          <p:nvPr/>
        </p:nvSpPr>
        <p:spPr>
          <a:xfrm>
            <a:off x="384048" y="1751297"/>
            <a:ext cx="3611880" cy="256032"/>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rgbClr val="FFFFFF"/>
                </a:solidFill>
                <a:latin typeface="メイリオ" panose="020B0604030504040204" pitchFamily="50" charset="-128"/>
                <a:ea typeface="メイリオ" panose="020B0604030504040204" pitchFamily="50" charset="-128"/>
                <a:cs typeface="メイリオ"/>
              </a:rPr>
              <a:t>初期の標準設定（構築時に設定）</a:t>
            </a:r>
          </a:p>
        </p:txBody>
      </p:sp>
      <p:sp>
        <p:nvSpPr>
          <p:cNvPr id="4" name="Rectangle 4">
            <a:extLst>
              <a:ext uri="{FF2B5EF4-FFF2-40B4-BE49-F238E27FC236}">
                <a16:creationId xmlns:a16="http://schemas.microsoft.com/office/drawing/2014/main" id="{00BC86A0-1945-0E28-F906-696A5BE460B5}"/>
              </a:ext>
            </a:extLst>
          </p:cNvPr>
          <p:cNvSpPr/>
          <p:nvPr/>
        </p:nvSpPr>
        <p:spPr>
          <a:xfrm>
            <a:off x="384048" y="2027227"/>
            <a:ext cx="3611880" cy="438307"/>
          </a:xfrm>
          <a:prstGeom prst="rect">
            <a:avLst/>
          </a:prstGeom>
          <a:solidFill>
            <a:srgbClr val="EEF1F8"/>
          </a:solidFill>
          <a:ln w="12700">
            <a:solidFill>
              <a:srgbClr val="1F2A5C"/>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6" name="Rounded Rectangle 5">
            <a:extLst>
              <a:ext uri="{FF2B5EF4-FFF2-40B4-BE49-F238E27FC236}">
                <a16:creationId xmlns:a16="http://schemas.microsoft.com/office/drawing/2014/main" id="{9590B812-0BE4-8959-A859-DFBF68A13331}"/>
              </a:ext>
            </a:extLst>
          </p:cNvPr>
          <p:cNvSpPr/>
          <p:nvPr/>
        </p:nvSpPr>
        <p:spPr>
          <a:xfrm>
            <a:off x="457200" y="2080126"/>
            <a:ext cx="1115568" cy="332509"/>
          </a:xfrm>
          <a:prstGeom prst="roundRect">
            <a:avLst/>
          </a:prstGeom>
          <a:solidFill>
            <a:srgbClr val="FFFFFF"/>
          </a:solidFill>
          <a:ln w="12700">
            <a:solidFill>
              <a:srgbClr val="1F2A5C"/>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800" b="1">
                <a:solidFill>
                  <a:srgbClr val="1F2A5C"/>
                </a:solidFill>
                <a:latin typeface="メイリオ" panose="020B0604030504040204" pitchFamily="50" charset="-128"/>
                <a:ea typeface="メイリオ" panose="020B0604030504040204" pitchFamily="50" charset="-128"/>
                <a:cs typeface="メイリオ"/>
              </a:rPr>
              <a:t>② 挨拶メッセージ</a:t>
            </a:r>
          </a:p>
        </p:txBody>
      </p:sp>
      <p:sp>
        <p:nvSpPr>
          <p:cNvPr id="8" name="Rounded Rectangle 6">
            <a:extLst>
              <a:ext uri="{FF2B5EF4-FFF2-40B4-BE49-F238E27FC236}">
                <a16:creationId xmlns:a16="http://schemas.microsoft.com/office/drawing/2014/main" id="{C604752C-4276-622A-392D-CD8A49B0584B}"/>
              </a:ext>
            </a:extLst>
          </p:cNvPr>
          <p:cNvSpPr/>
          <p:nvPr/>
        </p:nvSpPr>
        <p:spPr>
          <a:xfrm>
            <a:off x="1627632" y="2080126"/>
            <a:ext cx="1115568" cy="332509"/>
          </a:xfrm>
          <a:prstGeom prst="roundRect">
            <a:avLst/>
          </a:prstGeom>
          <a:solidFill>
            <a:srgbClr val="FFFFFF"/>
          </a:solidFill>
          <a:ln w="12700">
            <a:solidFill>
              <a:srgbClr val="1F2A5C"/>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800" b="1">
                <a:solidFill>
                  <a:srgbClr val="1F2A5C"/>
                </a:solidFill>
                <a:latin typeface="メイリオ" panose="020B0604030504040204" pitchFamily="50" charset="-128"/>
                <a:ea typeface="メイリオ" panose="020B0604030504040204" pitchFamily="50" charset="-128"/>
                <a:cs typeface="メイリオ"/>
              </a:rPr>
              <a:t>⑦ リッチメニュー</a:t>
            </a:r>
          </a:p>
        </p:txBody>
      </p:sp>
      <p:sp>
        <p:nvSpPr>
          <p:cNvPr id="10" name="Rounded Rectangle 7">
            <a:extLst>
              <a:ext uri="{FF2B5EF4-FFF2-40B4-BE49-F238E27FC236}">
                <a16:creationId xmlns:a16="http://schemas.microsoft.com/office/drawing/2014/main" id="{1F06A184-DB9D-F2CB-0471-0929DEE9A890}"/>
              </a:ext>
            </a:extLst>
          </p:cNvPr>
          <p:cNvSpPr/>
          <p:nvPr/>
        </p:nvSpPr>
        <p:spPr>
          <a:xfrm>
            <a:off x="2798064" y="2080126"/>
            <a:ext cx="1115568" cy="332509"/>
          </a:xfrm>
          <a:prstGeom prst="roundRect">
            <a:avLst/>
          </a:prstGeom>
          <a:solidFill>
            <a:srgbClr val="FFFFFF"/>
          </a:solidFill>
          <a:ln w="12700">
            <a:solidFill>
              <a:srgbClr val="1F2A5C"/>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800" b="1">
                <a:solidFill>
                  <a:srgbClr val="1F2A5C"/>
                </a:solidFill>
                <a:latin typeface="メイリオ" panose="020B0604030504040204" pitchFamily="50" charset="-128"/>
                <a:ea typeface="メイリオ" panose="020B0604030504040204" pitchFamily="50" charset="-128"/>
                <a:cs typeface="メイリオ"/>
              </a:rPr>
              <a:t>⑧ 自動応答</a:t>
            </a:r>
          </a:p>
        </p:txBody>
      </p:sp>
      <p:sp>
        <p:nvSpPr>
          <p:cNvPr id="11" name="Rectangle 8">
            <a:extLst>
              <a:ext uri="{FF2B5EF4-FFF2-40B4-BE49-F238E27FC236}">
                <a16:creationId xmlns:a16="http://schemas.microsoft.com/office/drawing/2014/main" id="{021E765B-A271-DE02-1792-DC9E5CE154F8}"/>
              </a:ext>
            </a:extLst>
          </p:cNvPr>
          <p:cNvSpPr/>
          <p:nvPr/>
        </p:nvSpPr>
        <p:spPr>
          <a:xfrm>
            <a:off x="4160520" y="1751297"/>
            <a:ext cx="5367528" cy="25603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rgbClr val="FFFFFF"/>
                </a:solidFill>
                <a:latin typeface="メイリオ" panose="020B0604030504040204" pitchFamily="50" charset="-128"/>
                <a:ea typeface="メイリオ" panose="020B0604030504040204" pitchFamily="50" charset="-128"/>
                <a:cs typeface="メイリオ"/>
              </a:rPr>
              <a:t>運用施策（運用しながら改善）</a:t>
            </a:r>
          </a:p>
        </p:txBody>
      </p:sp>
      <p:sp>
        <p:nvSpPr>
          <p:cNvPr id="12" name="Rectangle 9">
            <a:extLst>
              <a:ext uri="{FF2B5EF4-FFF2-40B4-BE49-F238E27FC236}">
                <a16:creationId xmlns:a16="http://schemas.microsoft.com/office/drawing/2014/main" id="{99190E0E-1162-5C21-4FF0-A5498319FCC2}"/>
              </a:ext>
            </a:extLst>
          </p:cNvPr>
          <p:cNvSpPr/>
          <p:nvPr/>
        </p:nvSpPr>
        <p:spPr>
          <a:xfrm>
            <a:off x="4160520" y="2027227"/>
            <a:ext cx="5367528" cy="438307"/>
          </a:xfrm>
          <a:prstGeom prst="rect">
            <a:avLst/>
          </a:prstGeom>
          <a:solidFill>
            <a:srgbClr val="FDF0F2"/>
          </a:solidFill>
          <a:ln w="12700">
            <a:solidFill>
              <a:srgbClr val="C8102E"/>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13" name="Rounded Rectangle 10">
            <a:extLst>
              <a:ext uri="{FF2B5EF4-FFF2-40B4-BE49-F238E27FC236}">
                <a16:creationId xmlns:a16="http://schemas.microsoft.com/office/drawing/2014/main" id="{6525B561-FBF1-FB44-C0A8-CC3FE6C9680F}"/>
              </a:ext>
            </a:extLst>
          </p:cNvPr>
          <p:cNvSpPr/>
          <p:nvPr/>
        </p:nvSpPr>
        <p:spPr>
          <a:xfrm>
            <a:off x="4224528" y="2080126"/>
            <a:ext cx="1005840" cy="332509"/>
          </a:xfrm>
          <a:prstGeom prst="roundRect">
            <a:avLst/>
          </a:prstGeom>
          <a:solidFill>
            <a:srgbClr val="FFFFFF"/>
          </a:solidFill>
          <a:ln w="12700">
            <a:solidFill>
              <a:srgbClr val="C8102E"/>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800" b="1">
                <a:solidFill>
                  <a:srgbClr val="C8102E"/>
                </a:solidFill>
                <a:latin typeface="メイリオ" panose="020B0604030504040204" pitchFamily="50" charset="-128"/>
                <a:ea typeface="メイリオ" panose="020B0604030504040204" pitchFamily="50" charset="-128"/>
                <a:cs typeface="メイリオ"/>
              </a:rPr>
              <a:t>① ポップアップ</a:t>
            </a:r>
          </a:p>
        </p:txBody>
      </p:sp>
      <p:sp>
        <p:nvSpPr>
          <p:cNvPr id="14" name="Rounded Rectangle 11">
            <a:extLst>
              <a:ext uri="{FF2B5EF4-FFF2-40B4-BE49-F238E27FC236}">
                <a16:creationId xmlns:a16="http://schemas.microsoft.com/office/drawing/2014/main" id="{C4024D48-4A70-13B2-70F7-88912D787030}"/>
              </a:ext>
            </a:extLst>
          </p:cNvPr>
          <p:cNvSpPr/>
          <p:nvPr/>
        </p:nvSpPr>
        <p:spPr>
          <a:xfrm>
            <a:off x="5266944" y="2080126"/>
            <a:ext cx="1005840" cy="332509"/>
          </a:xfrm>
          <a:prstGeom prst="roundRect">
            <a:avLst/>
          </a:prstGeom>
          <a:solidFill>
            <a:srgbClr val="FFFFFF"/>
          </a:solidFill>
          <a:ln w="12700">
            <a:solidFill>
              <a:srgbClr val="C8102E"/>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800" b="1">
                <a:solidFill>
                  <a:srgbClr val="C8102E"/>
                </a:solidFill>
                <a:latin typeface="メイリオ" panose="020B0604030504040204" pitchFamily="50" charset="-128"/>
                <a:ea typeface="メイリオ" panose="020B0604030504040204" pitchFamily="50" charset="-128"/>
                <a:cs typeface="メイリオ"/>
              </a:rPr>
              <a:t>③ アンケート</a:t>
            </a:r>
          </a:p>
        </p:txBody>
      </p:sp>
      <p:sp>
        <p:nvSpPr>
          <p:cNvPr id="15" name="Rounded Rectangle 12">
            <a:extLst>
              <a:ext uri="{FF2B5EF4-FFF2-40B4-BE49-F238E27FC236}">
                <a16:creationId xmlns:a16="http://schemas.microsoft.com/office/drawing/2014/main" id="{D6345F19-2B8B-BAED-2EDE-1419C87C7D29}"/>
              </a:ext>
            </a:extLst>
          </p:cNvPr>
          <p:cNvSpPr/>
          <p:nvPr/>
        </p:nvSpPr>
        <p:spPr>
          <a:xfrm>
            <a:off x="6309360" y="2080126"/>
            <a:ext cx="1005840" cy="332509"/>
          </a:xfrm>
          <a:prstGeom prst="roundRect">
            <a:avLst/>
          </a:prstGeom>
          <a:solidFill>
            <a:srgbClr val="FFFFFF"/>
          </a:solidFill>
          <a:ln w="12700">
            <a:solidFill>
              <a:srgbClr val="C8102E"/>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800" b="1" dirty="0">
                <a:solidFill>
                  <a:srgbClr val="C8102E"/>
                </a:solidFill>
                <a:latin typeface="メイリオ" panose="020B0604030504040204" pitchFamily="50" charset="-128"/>
                <a:ea typeface="メイリオ" panose="020B0604030504040204" pitchFamily="50" charset="-128"/>
                <a:cs typeface="メイリオ"/>
              </a:rPr>
              <a:t>④ </a:t>
            </a:r>
            <a:r>
              <a:rPr sz="800" b="1" dirty="0" err="1">
                <a:solidFill>
                  <a:srgbClr val="C8102E"/>
                </a:solidFill>
                <a:latin typeface="メイリオ" panose="020B0604030504040204" pitchFamily="50" charset="-128"/>
                <a:ea typeface="メイリオ" panose="020B0604030504040204" pitchFamily="50" charset="-128"/>
                <a:cs typeface="メイリオ"/>
              </a:rPr>
              <a:t>タグ</a:t>
            </a:r>
            <a:endParaRPr lang="en-US" sz="800" b="1" dirty="0">
              <a:solidFill>
                <a:srgbClr val="C8102E"/>
              </a:solidFill>
              <a:latin typeface="メイリオ" panose="020B0604030504040204" pitchFamily="50" charset="-128"/>
              <a:ea typeface="メイリオ" panose="020B0604030504040204" pitchFamily="50" charset="-128"/>
              <a:cs typeface="メイリオ"/>
            </a:endParaRPr>
          </a:p>
          <a:p>
            <a:pPr algn="ctr">
              <a:spcAft>
                <a:spcPts val="0"/>
              </a:spcAft>
            </a:pPr>
            <a:r>
              <a:rPr sz="800" b="1" dirty="0" err="1">
                <a:solidFill>
                  <a:srgbClr val="C8102E"/>
                </a:solidFill>
                <a:latin typeface="メイリオ" panose="020B0604030504040204" pitchFamily="50" charset="-128"/>
                <a:ea typeface="メイリオ" panose="020B0604030504040204" pitchFamily="50" charset="-128"/>
                <a:cs typeface="メイリオ"/>
              </a:rPr>
              <a:t>セグメント</a:t>
            </a:r>
            <a:endParaRPr sz="800" b="1" dirty="0">
              <a:solidFill>
                <a:srgbClr val="C8102E"/>
              </a:solidFill>
              <a:latin typeface="メイリオ" panose="020B0604030504040204" pitchFamily="50" charset="-128"/>
              <a:ea typeface="メイリオ" panose="020B0604030504040204" pitchFamily="50" charset="-128"/>
              <a:cs typeface="メイリオ"/>
            </a:endParaRPr>
          </a:p>
        </p:txBody>
      </p:sp>
      <p:sp>
        <p:nvSpPr>
          <p:cNvPr id="16" name="Rounded Rectangle 13">
            <a:extLst>
              <a:ext uri="{FF2B5EF4-FFF2-40B4-BE49-F238E27FC236}">
                <a16:creationId xmlns:a16="http://schemas.microsoft.com/office/drawing/2014/main" id="{B6BAB4F4-45CE-B7A8-528B-A94A518CCAAA}"/>
              </a:ext>
            </a:extLst>
          </p:cNvPr>
          <p:cNvSpPr/>
          <p:nvPr/>
        </p:nvSpPr>
        <p:spPr>
          <a:xfrm>
            <a:off x="7351775" y="2080126"/>
            <a:ext cx="1005840" cy="332509"/>
          </a:xfrm>
          <a:prstGeom prst="roundRect">
            <a:avLst/>
          </a:prstGeom>
          <a:solidFill>
            <a:srgbClr val="FFFFFF"/>
          </a:solidFill>
          <a:ln w="12700">
            <a:solidFill>
              <a:srgbClr val="C8102E"/>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800" b="1">
                <a:solidFill>
                  <a:srgbClr val="C8102E"/>
                </a:solidFill>
                <a:latin typeface="メイリオ" panose="020B0604030504040204" pitchFamily="50" charset="-128"/>
                <a:ea typeface="メイリオ" panose="020B0604030504040204" pitchFamily="50" charset="-128"/>
                <a:cs typeface="メイリオ"/>
              </a:rPr>
              <a:t>⑤ ステップ配信</a:t>
            </a:r>
          </a:p>
        </p:txBody>
      </p:sp>
      <p:sp>
        <p:nvSpPr>
          <p:cNvPr id="17" name="Rounded Rectangle 14">
            <a:extLst>
              <a:ext uri="{FF2B5EF4-FFF2-40B4-BE49-F238E27FC236}">
                <a16:creationId xmlns:a16="http://schemas.microsoft.com/office/drawing/2014/main" id="{F70AA91C-29B1-D2A6-C89C-6EE4F60F14DB}"/>
              </a:ext>
            </a:extLst>
          </p:cNvPr>
          <p:cNvSpPr/>
          <p:nvPr/>
        </p:nvSpPr>
        <p:spPr>
          <a:xfrm>
            <a:off x="8394192" y="2080126"/>
            <a:ext cx="1005840" cy="332509"/>
          </a:xfrm>
          <a:prstGeom prst="roundRect">
            <a:avLst/>
          </a:prstGeom>
          <a:solidFill>
            <a:srgbClr val="FFFFFF"/>
          </a:solidFill>
          <a:ln w="12700">
            <a:solidFill>
              <a:srgbClr val="C8102E"/>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800" b="1">
                <a:solidFill>
                  <a:srgbClr val="C8102E"/>
                </a:solidFill>
                <a:latin typeface="メイリオ" panose="020B0604030504040204" pitchFamily="50" charset="-128"/>
                <a:ea typeface="メイリオ" panose="020B0604030504040204" pitchFamily="50" charset="-128"/>
                <a:cs typeface="メイリオ"/>
              </a:rPr>
              <a:t>⑥ 企画配信</a:t>
            </a:r>
          </a:p>
        </p:txBody>
      </p:sp>
      <p:sp>
        <p:nvSpPr>
          <p:cNvPr id="18" name="Rectangle 15">
            <a:extLst>
              <a:ext uri="{FF2B5EF4-FFF2-40B4-BE49-F238E27FC236}">
                <a16:creationId xmlns:a16="http://schemas.microsoft.com/office/drawing/2014/main" id="{013A02CB-0DA2-C819-A363-A0BFC4E5F783}"/>
              </a:ext>
            </a:extLst>
          </p:cNvPr>
          <p:cNvSpPr/>
          <p:nvPr/>
        </p:nvSpPr>
        <p:spPr>
          <a:xfrm>
            <a:off x="384048" y="2586136"/>
            <a:ext cx="2468880" cy="1657418"/>
          </a:xfrm>
          <a:prstGeom prst="rect">
            <a:avLst/>
          </a:prstGeom>
          <a:solidFill>
            <a:srgbClr val="FFFFFF"/>
          </a:solidFill>
          <a:ln w="12700">
            <a:solidFill>
              <a:srgbClr val="999999"/>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19" name="Rectangle 16">
            <a:extLst>
              <a:ext uri="{FF2B5EF4-FFF2-40B4-BE49-F238E27FC236}">
                <a16:creationId xmlns:a16="http://schemas.microsoft.com/office/drawing/2014/main" id="{E86D2C36-78EC-6854-E4E1-7334CABCDC1A}"/>
              </a:ext>
            </a:extLst>
          </p:cNvPr>
          <p:cNvSpPr/>
          <p:nvPr/>
        </p:nvSpPr>
        <p:spPr>
          <a:xfrm>
            <a:off x="384048" y="2588622"/>
            <a:ext cx="2468880" cy="237744"/>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20" name="Oval 17">
            <a:extLst>
              <a:ext uri="{FF2B5EF4-FFF2-40B4-BE49-F238E27FC236}">
                <a16:creationId xmlns:a16="http://schemas.microsoft.com/office/drawing/2014/main" id="{094197D1-B3A2-167E-A162-4DA5857C26B2}"/>
              </a:ext>
            </a:extLst>
          </p:cNvPr>
          <p:cNvSpPr/>
          <p:nvPr/>
        </p:nvSpPr>
        <p:spPr>
          <a:xfrm>
            <a:off x="457200" y="2661774"/>
            <a:ext cx="91440" cy="91440"/>
          </a:xfrm>
          <a:prstGeom prst="ellipse">
            <a:avLst/>
          </a:prstGeom>
          <a:solidFill>
            <a:srgbClr val="FF6B6B"/>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21" name="Oval 18">
            <a:extLst>
              <a:ext uri="{FF2B5EF4-FFF2-40B4-BE49-F238E27FC236}">
                <a16:creationId xmlns:a16="http://schemas.microsoft.com/office/drawing/2014/main" id="{1C9CC394-D94D-C09E-632E-D667409C8EAC}"/>
              </a:ext>
            </a:extLst>
          </p:cNvPr>
          <p:cNvSpPr/>
          <p:nvPr/>
        </p:nvSpPr>
        <p:spPr>
          <a:xfrm>
            <a:off x="612648" y="2661774"/>
            <a:ext cx="91440" cy="91440"/>
          </a:xfrm>
          <a:prstGeom prst="ellipse">
            <a:avLst/>
          </a:prstGeom>
          <a:solidFill>
            <a:srgbClr val="FFC145"/>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22" name="Oval 19">
            <a:extLst>
              <a:ext uri="{FF2B5EF4-FFF2-40B4-BE49-F238E27FC236}">
                <a16:creationId xmlns:a16="http://schemas.microsoft.com/office/drawing/2014/main" id="{1E0A0DDB-0FA0-A8C4-EFC1-1987BE7B342B}"/>
              </a:ext>
            </a:extLst>
          </p:cNvPr>
          <p:cNvSpPr/>
          <p:nvPr/>
        </p:nvSpPr>
        <p:spPr>
          <a:xfrm>
            <a:off x="768096" y="2661774"/>
            <a:ext cx="91440" cy="91440"/>
          </a:xfrm>
          <a:prstGeom prst="ellipse">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23" name="Rectangle 20">
            <a:extLst>
              <a:ext uri="{FF2B5EF4-FFF2-40B4-BE49-F238E27FC236}">
                <a16:creationId xmlns:a16="http://schemas.microsoft.com/office/drawing/2014/main" id="{C7D8DE35-18E9-B2F8-EBB6-F5D39FC00825}"/>
              </a:ext>
            </a:extLst>
          </p:cNvPr>
          <p:cNvSpPr/>
          <p:nvPr/>
        </p:nvSpPr>
        <p:spPr>
          <a:xfrm>
            <a:off x="475488" y="2862942"/>
            <a:ext cx="1005840" cy="91440"/>
          </a:xfrm>
          <a:prstGeom prst="rect">
            <a:avLst/>
          </a:prstGeom>
          <a:solidFill>
            <a:srgbClr val="E3E6EE"/>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24" name="Rectangle 21">
            <a:extLst>
              <a:ext uri="{FF2B5EF4-FFF2-40B4-BE49-F238E27FC236}">
                <a16:creationId xmlns:a16="http://schemas.microsoft.com/office/drawing/2014/main" id="{5A60E50B-1463-C428-350C-6B20BB14F600}"/>
              </a:ext>
            </a:extLst>
          </p:cNvPr>
          <p:cNvSpPr/>
          <p:nvPr/>
        </p:nvSpPr>
        <p:spPr>
          <a:xfrm>
            <a:off x="475488" y="3000102"/>
            <a:ext cx="2286000" cy="64008"/>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25" name="Rectangle 22">
            <a:extLst>
              <a:ext uri="{FF2B5EF4-FFF2-40B4-BE49-F238E27FC236}">
                <a16:creationId xmlns:a16="http://schemas.microsoft.com/office/drawing/2014/main" id="{51632E22-3CBA-3EB1-097C-B5A452ACFB3F}"/>
              </a:ext>
            </a:extLst>
          </p:cNvPr>
          <p:cNvSpPr/>
          <p:nvPr/>
        </p:nvSpPr>
        <p:spPr>
          <a:xfrm>
            <a:off x="475488" y="3109830"/>
            <a:ext cx="2011680" cy="64008"/>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26" name="Rectangle 23">
            <a:extLst>
              <a:ext uri="{FF2B5EF4-FFF2-40B4-BE49-F238E27FC236}">
                <a16:creationId xmlns:a16="http://schemas.microsoft.com/office/drawing/2014/main" id="{A95F03D9-D5D2-F49D-3FA0-8D85F2FD1C45}"/>
              </a:ext>
            </a:extLst>
          </p:cNvPr>
          <p:cNvSpPr/>
          <p:nvPr/>
        </p:nvSpPr>
        <p:spPr>
          <a:xfrm>
            <a:off x="475488" y="3256134"/>
            <a:ext cx="868680" cy="640080"/>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27" name="Rectangle 24">
            <a:extLst>
              <a:ext uri="{FF2B5EF4-FFF2-40B4-BE49-F238E27FC236}">
                <a16:creationId xmlns:a16="http://schemas.microsoft.com/office/drawing/2014/main" id="{9C4DBD8F-DB8B-6351-EA24-784802E89E28}"/>
              </a:ext>
            </a:extLst>
          </p:cNvPr>
          <p:cNvSpPr/>
          <p:nvPr/>
        </p:nvSpPr>
        <p:spPr>
          <a:xfrm>
            <a:off x="1417320" y="3256134"/>
            <a:ext cx="868680" cy="640080"/>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28" name="Rounded Rectangle 25">
            <a:extLst>
              <a:ext uri="{FF2B5EF4-FFF2-40B4-BE49-F238E27FC236}">
                <a16:creationId xmlns:a16="http://schemas.microsoft.com/office/drawing/2014/main" id="{1214AD64-46E6-CE51-6B77-7D205CC291B6}"/>
              </a:ext>
            </a:extLst>
          </p:cNvPr>
          <p:cNvSpPr/>
          <p:nvPr/>
        </p:nvSpPr>
        <p:spPr>
          <a:xfrm>
            <a:off x="825135" y="3159858"/>
            <a:ext cx="1783080" cy="982414"/>
          </a:xfrm>
          <a:prstGeom prst="roundRect">
            <a:avLst/>
          </a:prstGeom>
          <a:solidFill>
            <a:srgbClr val="FFFFFF"/>
          </a:solidFill>
          <a:ln w="25400">
            <a:solidFill>
              <a:srgbClr val="1F2A5C"/>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700" b="0" dirty="0" err="1">
                <a:solidFill>
                  <a:srgbClr val="777777"/>
                </a:solidFill>
                <a:latin typeface="メイリオ" panose="020B0604030504040204" pitchFamily="50" charset="-128"/>
                <a:ea typeface="メイリオ" panose="020B0604030504040204" pitchFamily="50" charset="-128"/>
                <a:cs typeface="メイリオ"/>
              </a:rPr>
              <a:t>ご予約・お問い合わせ前に</a:t>
            </a:r>
            <a:endParaRPr sz="700" b="0" dirty="0">
              <a:solidFill>
                <a:srgbClr val="777777"/>
              </a:solidFill>
              <a:latin typeface="メイリオ" panose="020B0604030504040204" pitchFamily="50" charset="-128"/>
              <a:ea typeface="メイリオ" panose="020B0604030504040204" pitchFamily="50" charset="-128"/>
              <a:cs typeface="メイリオ"/>
            </a:endParaRPr>
          </a:p>
          <a:p>
            <a:pPr algn="ctr">
              <a:spcAft>
                <a:spcPts val="0"/>
              </a:spcAft>
            </a:pPr>
            <a:r>
              <a:rPr sz="900" b="1" dirty="0" err="1">
                <a:solidFill>
                  <a:srgbClr val="1F2A5C"/>
                </a:solidFill>
                <a:latin typeface="メイリオ" panose="020B0604030504040204" pitchFamily="50" charset="-128"/>
                <a:ea typeface="メイリオ" panose="020B0604030504040204" pitchFamily="50" charset="-128"/>
                <a:cs typeface="メイリオ"/>
              </a:rPr>
              <a:t>LINE友だち追加で特典</a:t>
            </a:r>
            <a:r>
              <a:rPr sz="900" b="1" dirty="0">
                <a:solidFill>
                  <a:srgbClr val="1F2A5C"/>
                </a:solidFill>
                <a:latin typeface="メイリオ" panose="020B0604030504040204" pitchFamily="50" charset="-128"/>
                <a:ea typeface="メイリオ" panose="020B0604030504040204" pitchFamily="50" charset="-128"/>
                <a:cs typeface="メイリオ"/>
              </a:rPr>
              <a:t>！</a:t>
            </a:r>
            <a:endParaRPr lang="en-US" sz="900" b="1" dirty="0">
              <a:solidFill>
                <a:srgbClr val="1F2A5C"/>
              </a:solidFill>
              <a:latin typeface="メイリオ" panose="020B0604030504040204" pitchFamily="50" charset="-128"/>
              <a:ea typeface="メイリオ" panose="020B0604030504040204" pitchFamily="50" charset="-128"/>
              <a:cs typeface="メイリオ"/>
            </a:endParaRPr>
          </a:p>
          <a:p>
            <a:pPr algn="ctr">
              <a:spcAft>
                <a:spcPts val="0"/>
              </a:spcAft>
            </a:pPr>
            <a:endParaRPr lang="en-US" sz="900" b="1" dirty="0">
              <a:solidFill>
                <a:srgbClr val="1F2A5C"/>
              </a:solidFill>
              <a:latin typeface="メイリオ" panose="020B0604030504040204" pitchFamily="50" charset="-128"/>
              <a:ea typeface="メイリオ" panose="020B0604030504040204" pitchFamily="50" charset="-128"/>
              <a:cs typeface="メイリオ"/>
            </a:endParaRPr>
          </a:p>
          <a:p>
            <a:pPr algn="ctr">
              <a:spcAft>
                <a:spcPts val="0"/>
              </a:spcAft>
            </a:pPr>
            <a:endParaRPr lang="en-US" sz="900" b="1" dirty="0">
              <a:solidFill>
                <a:srgbClr val="1F2A5C"/>
              </a:solidFill>
              <a:latin typeface="メイリオ" panose="020B0604030504040204" pitchFamily="50" charset="-128"/>
              <a:ea typeface="メイリオ" panose="020B0604030504040204" pitchFamily="50" charset="-128"/>
              <a:cs typeface="メイリオ"/>
            </a:endParaRPr>
          </a:p>
          <a:p>
            <a:pPr algn="ctr">
              <a:spcAft>
                <a:spcPts val="0"/>
              </a:spcAft>
            </a:pPr>
            <a:endParaRPr sz="900" b="1" dirty="0">
              <a:solidFill>
                <a:srgbClr val="1F2A5C"/>
              </a:solidFill>
              <a:latin typeface="メイリオ" panose="020B0604030504040204" pitchFamily="50" charset="-128"/>
              <a:ea typeface="メイリオ" panose="020B0604030504040204" pitchFamily="50" charset="-128"/>
              <a:cs typeface="メイリオ"/>
            </a:endParaRPr>
          </a:p>
        </p:txBody>
      </p:sp>
      <p:sp>
        <p:nvSpPr>
          <p:cNvPr id="29" name="Rounded Rectangle 26">
            <a:extLst>
              <a:ext uri="{FF2B5EF4-FFF2-40B4-BE49-F238E27FC236}">
                <a16:creationId xmlns:a16="http://schemas.microsoft.com/office/drawing/2014/main" id="{998E2A17-395F-CCDF-55C9-6834BD58C112}"/>
              </a:ext>
            </a:extLst>
          </p:cNvPr>
          <p:cNvSpPr/>
          <p:nvPr/>
        </p:nvSpPr>
        <p:spPr>
          <a:xfrm>
            <a:off x="1099455" y="3688154"/>
            <a:ext cx="1234440" cy="332509"/>
          </a:xfrm>
          <a:prstGeom prst="roundRect">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rgbClr val="FFFFFF"/>
                </a:solidFill>
                <a:latin typeface="メイリオ" panose="020B0604030504040204" pitchFamily="50" charset="-128"/>
                <a:ea typeface="メイリオ" panose="020B0604030504040204" pitchFamily="50" charset="-128"/>
                <a:cs typeface="メイリオ"/>
              </a:rPr>
              <a:t>友だち追加</a:t>
            </a:r>
          </a:p>
        </p:txBody>
      </p:sp>
      <p:sp>
        <p:nvSpPr>
          <p:cNvPr id="30" name="Oval 27">
            <a:extLst>
              <a:ext uri="{FF2B5EF4-FFF2-40B4-BE49-F238E27FC236}">
                <a16:creationId xmlns:a16="http://schemas.microsoft.com/office/drawing/2014/main" id="{AD747F76-72D9-179D-BBA8-F6B4DCA2093D}"/>
              </a:ext>
            </a:extLst>
          </p:cNvPr>
          <p:cNvSpPr/>
          <p:nvPr/>
        </p:nvSpPr>
        <p:spPr>
          <a:xfrm>
            <a:off x="596535" y="2995984"/>
            <a:ext cx="292608" cy="266007"/>
          </a:xfrm>
          <a:prstGeom prst="ellipse">
            <a:avLst/>
          </a:prstGeom>
          <a:solidFill>
            <a:srgbClr val="C8102E"/>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1000" b="1">
                <a:solidFill>
                  <a:srgbClr val="FFFFFF"/>
                </a:solidFill>
                <a:latin typeface="メイリオ" panose="020B0604030504040204" pitchFamily="50" charset="-128"/>
                <a:ea typeface="メイリオ" panose="020B0604030504040204" pitchFamily="50" charset="-128"/>
                <a:cs typeface="メイリオ"/>
              </a:rPr>
              <a:t>1</a:t>
            </a:r>
          </a:p>
        </p:txBody>
      </p:sp>
      <p:sp>
        <p:nvSpPr>
          <p:cNvPr id="31" name="Rectangle 28">
            <a:extLst>
              <a:ext uri="{FF2B5EF4-FFF2-40B4-BE49-F238E27FC236}">
                <a16:creationId xmlns:a16="http://schemas.microsoft.com/office/drawing/2014/main" id="{1010E9AC-BCA0-BF47-C7F8-A152DF96AA04}"/>
              </a:ext>
            </a:extLst>
          </p:cNvPr>
          <p:cNvSpPr/>
          <p:nvPr/>
        </p:nvSpPr>
        <p:spPr>
          <a:xfrm>
            <a:off x="384048" y="4234536"/>
            <a:ext cx="2468880" cy="502920"/>
          </a:xfrm>
          <a:prstGeom prst="rect">
            <a:avLst/>
          </a:prstGeom>
          <a:solidFill>
            <a:srgbClr val="FDF0F2"/>
          </a:solidFill>
          <a:ln w="12700">
            <a:solidFill>
              <a:srgbClr val="C8102E"/>
            </a:solidFill>
          </a:ln>
          <a:effectLst/>
        </p:spPr>
        <p:style>
          <a:lnRef idx="1">
            <a:schemeClr val="accent1"/>
          </a:lnRef>
          <a:fillRef idx="3">
            <a:schemeClr val="accent1"/>
          </a:fillRef>
          <a:effectRef idx="2">
            <a:schemeClr val="accent1"/>
          </a:effectRef>
          <a:fontRef idx="minor">
            <a:schemeClr val="lt1"/>
          </a:fontRef>
        </p:style>
        <p:txBody>
          <a:bodyPr wrap="square" tIns="18288" bIns="18288" rtlCol="0" anchor="ctr"/>
          <a:lstStyle/>
          <a:p>
            <a:pPr algn="l">
              <a:spcAft>
                <a:spcPts val="0"/>
              </a:spcAft>
            </a:pPr>
            <a:r>
              <a:rPr sz="1000" b="1" dirty="0">
                <a:solidFill>
                  <a:srgbClr val="C8102E"/>
                </a:solidFill>
                <a:latin typeface="メイリオ" panose="020B0604030504040204" pitchFamily="50" charset="-128"/>
                <a:ea typeface="メイリオ" panose="020B0604030504040204" pitchFamily="50" charset="-128"/>
                <a:cs typeface="メイリオ"/>
              </a:rPr>
              <a:t>① </a:t>
            </a:r>
            <a:r>
              <a:rPr sz="1000" b="1" dirty="0" err="1">
                <a:solidFill>
                  <a:srgbClr val="C8102E"/>
                </a:solidFill>
                <a:latin typeface="メイリオ" panose="020B0604030504040204" pitchFamily="50" charset="-128"/>
                <a:ea typeface="メイリオ" panose="020B0604030504040204" pitchFamily="50" charset="-128"/>
                <a:cs typeface="メイリオ"/>
              </a:rPr>
              <a:t>サイトのポップアップ</a:t>
            </a:r>
            <a:endParaRPr sz="1000" b="1" dirty="0">
              <a:solidFill>
                <a:srgbClr val="C8102E"/>
              </a:solidFill>
              <a:latin typeface="メイリオ" panose="020B0604030504040204" pitchFamily="50" charset="-128"/>
              <a:ea typeface="メイリオ" panose="020B0604030504040204" pitchFamily="50" charset="-128"/>
              <a:cs typeface="メイリオ"/>
            </a:endParaRPr>
          </a:p>
          <a:p>
            <a:pPr algn="l">
              <a:spcAft>
                <a:spcPts val="0"/>
              </a:spcAft>
            </a:pPr>
            <a:r>
              <a:rPr sz="800" b="0" dirty="0" err="1">
                <a:solidFill>
                  <a:srgbClr val="333333"/>
                </a:solidFill>
                <a:latin typeface="メイリオ" panose="020B0604030504040204" pitchFamily="50" charset="-128"/>
                <a:ea typeface="メイリオ" panose="020B0604030504040204" pitchFamily="50" charset="-128"/>
                <a:cs typeface="メイリオ"/>
              </a:rPr>
              <a:t>サイトからLINEへ誘導（専用ツール</a:t>
            </a:r>
            <a:r>
              <a:rPr sz="800" b="0" dirty="0">
                <a:solidFill>
                  <a:srgbClr val="333333"/>
                </a:solidFill>
                <a:latin typeface="メイリオ" panose="020B0604030504040204" pitchFamily="50" charset="-128"/>
                <a:ea typeface="メイリオ" panose="020B0604030504040204" pitchFamily="50" charset="-128"/>
                <a:cs typeface="メイリオ"/>
              </a:rPr>
              <a:t>）</a:t>
            </a:r>
          </a:p>
        </p:txBody>
      </p:sp>
      <p:sp>
        <p:nvSpPr>
          <p:cNvPr id="32" name="Rectangle 29">
            <a:extLst>
              <a:ext uri="{FF2B5EF4-FFF2-40B4-BE49-F238E27FC236}">
                <a16:creationId xmlns:a16="http://schemas.microsoft.com/office/drawing/2014/main" id="{C9B761A3-7BC1-BEDC-5294-579F8513A3B8}"/>
              </a:ext>
            </a:extLst>
          </p:cNvPr>
          <p:cNvSpPr/>
          <p:nvPr/>
        </p:nvSpPr>
        <p:spPr>
          <a:xfrm>
            <a:off x="384048" y="4900742"/>
            <a:ext cx="2468880" cy="1463040"/>
          </a:xfrm>
          <a:prstGeom prst="rect">
            <a:avLst/>
          </a:prstGeom>
          <a:solidFill>
            <a:srgbClr val="FFFFFF"/>
          </a:solidFill>
          <a:ln w="15875">
            <a:solidFill>
              <a:srgbClr val="C8102E"/>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33" name="Rectangle 30">
            <a:extLst>
              <a:ext uri="{FF2B5EF4-FFF2-40B4-BE49-F238E27FC236}">
                <a16:creationId xmlns:a16="http://schemas.microsoft.com/office/drawing/2014/main" id="{D5B2D1C3-B341-4022-F0D3-00797EE985D3}"/>
              </a:ext>
            </a:extLst>
          </p:cNvPr>
          <p:cNvSpPr/>
          <p:nvPr/>
        </p:nvSpPr>
        <p:spPr>
          <a:xfrm>
            <a:off x="384048" y="4900742"/>
            <a:ext cx="2468880" cy="292608"/>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wrap="square" tIns="18288" bIns="18288" rtlCol="0" anchor="ctr"/>
          <a:lstStyle/>
          <a:p>
            <a:pPr algn="l">
              <a:spcAft>
                <a:spcPts val="0"/>
              </a:spcAft>
            </a:pPr>
            <a:r>
              <a:rPr sz="1000" b="1">
                <a:solidFill>
                  <a:srgbClr val="FFFFFF"/>
                </a:solidFill>
                <a:latin typeface="メイリオ" panose="020B0604030504040204" pitchFamily="50" charset="-128"/>
                <a:ea typeface="メイリオ" panose="020B0604030504040204" pitchFamily="50" charset="-128"/>
                <a:cs typeface="メイリオ"/>
              </a:rPr>
              <a:t>④ タグ・セグメント</a:t>
            </a:r>
          </a:p>
        </p:txBody>
      </p:sp>
      <p:sp>
        <p:nvSpPr>
          <p:cNvPr id="34" name="Oval 31">
            <a:extLst>
              <a:ext uri="{FF2B5EF4-FFF2-40B4-BE49-F238E27FC236}">
                <a16:creationId xmlns:a16="http://schemas.microsoft.com/office/drawing/2014/main" id="{44AA6966-72C4-4DBF-CD4A-516799942AE3}"/>
              </a:ext>
            </a:extLst>
          </p:cNvPr>
          <p:cNvSpPr/>
          <p:nvPr/>
        </p:nvSpPr>
        <p:spPr>
          <a:xfrm>
            <a:off x="502920" y="5266502"/>
            <a:ext cx="256032" cy="256032"/>
          </a:xfrm>
          <a:prstGeom prst="ellipse">
            <a:avLst/>
          </a:prstGeom>
          <a:solidFill>
            <a:srgbClr val="B8C2DA"/>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35" name="Rectangle 32">
            <a:extLst>
              <a:ext uri="{FF2B5EF4-FFF2-40B4-BE49-F238E27FC236}">
                <a16:creationId xmlns:a16="http://schemas.microsoft.com/office/drawing/2014/main" id="{7E386317-C0CE-5DF8-898B-CDBB3753252D}"/>
              </a:ext>
            </a:extLst>
          </p:cNvPr>
          <p:cNvSpPr/>
          <p:nvPr/>
        </p:nvSpPr>
        <p:spPr>
          <a:xfrm>
            <a:off x="822960" y="5275646"/>
            <a:ext cx="640080" cy="23774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l">
              <a:spcAft>
                <a:spcPts val="0"/>
              </a:spcAft>
            </a:pPr>
            <a:r>
              <a:rPr sz="800" b="1">
                <a:solidFill>
                  <a:srgbClr val="1F2A5C"/>
                </a:solidFill>
                <a:latin typeface="メイリオ" panose="020B0604030504040204" pitchFamily="50" charset="-128"/>
                <a:ea typeface="メイリオ" panose="020B0604030504040204" pitchFamily="50" charset="-128"/>
                <a:cs typeface="メイリオ"/>
              </a:rPr>
              <a:t>Aさん</a:t>
            </a:r>
          </a:p>
        </p:txBody>
      </p:sp>
      <p:sp>
        <p:nvSpPr>
          <p:cNvPr id="36" name="Rounded Rectangle 33">
            <a:extLst>
              <a:ext uri="{FF2B5EF4-FFF2-40B4-BE49-F238E27FC236}">
                <a16:creationId xmlns:a16="http://schemas.microsoft.com/office/drawing/2014/main" id="{FDBC4478-2C7F-2573-7388-907010AB0607}"/>
              </a:ext>
            </a:extLst>
          </p:cNvPr>
          <p:cNvSpPr/>
          <p:nvPr/>
        </p:nvSpPr>
        <p:spPr>
          <a:xfrm>
            <a:off x="502920" y="5586542"/>
            <a:ext cx="1051560" cy="246888"/>
          </a:xfrm>
          <a:prstGeom prst="roundRect">
            <a:avLst/>
          </a:prstGeom>
          <a:solidFill>
            <a:srgbClr val="D9A441"/>
          </a:solidFill>
          <a:ln>
            <a:noFill/>
          </a:ln>
          <a:effectLst/>
        </p:spPr>
        <p:style>
          <a:lnRef idx="1">
            <a:schemeClr val="accent1"/>
          </a:lnRef>
          <a:fillRef idx="3">
            <a:schemeClr val="accent1"/>
          </a:fillRef>
          <a:effectRef idx="2">
            <a:schemeClr val="accent1"/>
          </a:effectRef>
          <a:fontRef idx="minor">
            <a:schemeClr val="lt1"/>
          </a:fontRef>
        </p:style>
        <p:txBody>
          <a:bodyPr wrap="square" lIns="9144" tIns="18288" rIns="9144" bIns="18288" rtlCol="0" anchor="ctr"/>
          <a:lstStyle/>
          <a:p>
            <a:pPr algn="ctr">
              <a:spcAft>
                <a:spcPts val="0"/>
              </a:spcAft>
            </a:pPr>
            <a:r>
              <a:rPr sz="700" b="1">
                <a:solidFill>
                  <a:srgbClr val="FFFFFF"/>
                </a:solidFill>
                <a:latin typeface="メイリオ" panose="020B0604030504040204" pitchFamily="50" charset="-128"/>
                <a:ea typeface="メイリオ" panose="020B0604030504040204" pitchFamily="50" charset="-128"/>
                <a:cs typeface="メイリオ"/>
              </a:rPr>
              <a:t>運動に興味</a:t>
            </a:r>
          </a:p>
        </p:txBody>
      </p:sp>
      <p:sp>
        <p:nvSpPr>
          <p:cNvPr id="37" name="Rounded Rectangle 34">
            <a:extLst>
              <a:ext uri="{FF2B5EF4-FFF2-40B4-BE49-F238E27FC236}">
                <a16:creationId xmlns:a16="http://schemas.microsoft.com/office/drawing/2014/main" id="{8BC31972-FFC1-17C4-77C9-69243CB4E570}"/>
              </a:ext>
            </a:extLst>
          </p:cNvPr>
          <p:cNvSpPr/>
          <p:nvPr/>
        </p:nvSpPr>
        <p:spPr>
          <a:xfrm>
            <a:off x="1627632" y="5586542"/>
            <a:ext cx="1097280" cy="246888"/>
          </a:xfrm>
          <a:prstGeom prst="roundRect">
            <a:avLst/>
          </a:prstGeom>
          <a:solidFill>
            <a:srgbClr val="D9A441"/>
          </a:solidFill>
          <a:ln>
            <a:noFill/>
          </a:ln>
          <a:effectLst/>
        </p:spPr>
        <p:style>
          <a:lnRef idx="1">
            <a:schemeClr val="accent1"/>
          </a:lnRef>
          <a:fillRef idx="3">
            <a:schemeClr val="accent1"/>
          </a:fillRef>
          <a:effectRef idx="2">
            <a:schemeClr val="accent1"/>
          </a:effectRef>
          <a:fontRef idx="minor">
            <a:schemeClr val="lt1"/>
          </a:fontRef>
        </p:style>
        <p:txBody>
          <a:bodyPr wrap="square" lIns="9144" tIns="18288" rIns="9144" bIns="18288" rtlCol="0" anchor="ctr"/>
          <a:lstStyle/>
          <a:p>
            <a:pPr algn="ctr">
              <a:spcAft>
                <a:spcPts val="0"/>
              </a:spcAft>
            </a:pPr>
            <a:r>
              <a:rPr sz="700" b="1">
                <a:solidFill>
                  <a:srgbClr val="FFFFFF"/>
                </a:solidFill>
                <a:latin typeface="メイリオ" panose="020B0604030504040204" pitchFamily="50" charset="-128"/>
                <a:ea typeface="メイリオ" panose="020B0604030504040204" pitchFamily="50" charset="-128"/>
                <a:cs typeface="メイリオ"/>
              </a:rPr>
              <a:t>乗車5回以上</a:t>
            </a:r>
          </a:p>
        </p:txBody>
      </p:sp>
      <p:sp>
        <p:nvSpPr>
          <p:cNvPr id="38" name="Rectangle 35">
            <a:extLst>
              <a:ext uri="{FF2B5EF4-FFF2-40B4-BE49-F238E27FC236}">
                <a16:creationId xmlns:a16="http://schemas.microsoft.com/office/drawing/2014/main" id="{EFFFAAD6-D553-33A2-0CDA-D0F89C23C45A}"/>
              </a:ext>
            </a:extLst>
          </p:cNvPr>
          <p:cNvSpPr/>
          <p:nvPr/>
        </p:nvSpPr>
        <p:spPr>
          <a:xfrm>
            <a:off x="475488" y="5879150"/>
            <a:ext cx="2286000" cy="4572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t"/>
          <a:lstStyle/>
          <a:p>
            <a:pPr algn="l">
              <a:spcAft>
                <a:spcPts val="0"/>
              </a:spcAft>
            </a:pPr>
            <a:r>
              <a:rPr sz="800" b="1" dirty="0" err="1">
                <a:solidFill>
                  <a:srgbClr val="1F2A5C"/>
                </a:solidFill>
                <a:latin typeface="メイリオ" panose="020B0604030504040204" pitchFamily="50" charset="-128"/>
                <a:ea typeface="メイリオ" panose="020B0604030504040204" pitchFamily="50" charset="-128"/>
                <a:cs typeface="メイリオ"/>
              </a:rPr>
              <a:t>タグで対象を絞る</a:t>
            </a:r>
            <a:endParaRPr lang="en-US" sz="800" b="1" dirty="0">
              <a:solidFill>
                <a:srgbClr val="1F2A5C"/>
              </a:solidFill>
              <a:latin typeface="メイリオ" panose="020B0604030504040204" pitchFamily="50" charset="-128"/>
              <a:ea typeface="メイリオ" panose="020B0604030504040204" pitchFamily="50" charset="-128"/>
              <a:cs typeface="メイリオ"/>
            </a:endParaRPr>
          </a:p>
          <a:p>
            <a:pPr algn="l">
              <a:spcAft>
                <a:spcPts val="0"/>
              </a:spcAft>
            </a:pPr>
            <a:r>
              <a:rPr sz="800" b="1" dirty="0">
                <a:solidFill>
                  <a:srgbClr val="1F2A5C"/>
                </a:solidFill>
                <a:latin typeface="メイリオ" panose="020B0604030504040204" pitchFamily="50" charset="-128"/>
                <a:ea typeface="メイリオ" panose="020B0604030504040204" pitchFamily="50" charset="-128"/>
                <a:cs typeface="メイリオ"/>
              </a:rPr>
              <a:t>→「</a:t>
            </a:r>
            <a:r>
              <a:rPr sz="800" b="1" dirty="0" err="1">
                <a:solidFill>
                  <a:srgbClr val="1F2A5C"/>
                </a:solidFill>
                <a:latin typeface="メイリオ" panose="020B0604030504040204" pitchFamily="50" charset="-128"/>
                <a:ea typeface="メイリオ" panose="020B0604030504040204" pitchFamily="50" charset="-128"/>
                <a:cs typeface="メイリオ"/>
              </a:rPr>
              <a:t>運動に興味」の人だけに配信</a:t>
            </a:r>
            <a:endParaRPr sz="800" b="1" dirty="0">
              <a:solidFill>
                <a:srgbClr val="1F2A5C"/>
              </a:solidFill>
              <a:latin typeface="メイリオ" panose="020B0604030504040204" pitchFamily="50" charset="-128"/>
              <a:ea typeface="メイリオ" panose="020B0604030504040204" pitchFamily="50" charset="-128"/>
              <a:cs typeface="メイリオ"/>
            </a:endParaRPr>
          </a:p>
          <a:p>
            <a:pPr algn="l">
              <a:spcAft>
                <a:spcPts val="0"/>
              </a:spcAft>
            </a:pPr>
            <a:r>
              <a:rPr sz="700" b="0" dirty="0" err="1">
                <a:solidFill>
                  <a:srgbClr val="777777"/>
                </a:solidFill>
                <a:latin typeface="メイリオ" panose="020B0604030504040204" pitchFamily="50" charset="-128"/>
                <a:ea typeface="メイリオ" panose="020B0604030504040204" pitchFamily="50" charset="-128"/>
                <a:cs typeface="メイリオ"/>
              </a:rPr>
              <a:t>標準＋APIツール</a:t>
            </a:r>
            <a:endParaRPr sz="700" b="0" dirty="0">
              <a:solidFill>
                <a:srgbClr val="777777"/>
              </a:solidFill>
              <a:latin typeface="メイリオ" panose="020B0604030504040204" pitchFamily="50" charset="-128"/>
              <a:ea typeface="メイリオ" panose="020B0604030504040204" pitchFamily="50" charset="-128"/>
              <a:cs typeface="メイリオ"/>
            </a:endParaRPr>
          </a:p>
        </p:txBody>
      </p:sp>
      <p:sp>
        <p:nvSpPr>
          <p:cNvPr id="39" name="Rounded Rectangle 36">
            <a:extLst>
              <a:ext uri="{FF2B5EF4-FFF2-40B4-BE49-F238E27FC236}">
                <a16:creationId xmlns:a16="http://schemas.microsoft.com/office/drawing/2014/main" id="{EB89F4C5-3674-C37F-0213-9BCB6D7C0FCB}"/>
              </a:ext>
            </a:extLst>
          </p:cNvPr>
          <p:cNvSpPr/>
          <p:nvPr/>
        </p:nvSpPr>
        <p:spPr>
          <a:xfrm>
            <a:off x="3200400" y="2663021"/>
            <a:ext cx="2514600" cy="3865418"/>
          </a:xfrm>
          <a:prstGeom prst="roundRect">
            <a:avLst/>
          </a:prstGeom>
          <a:solidFill>
            <a:srgbClr val="FFFFFF"/>
          </a:solidFill>
          <a:ln w="38100">
            <a:solidFill>
              <a:srgbClr val="333333"/>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40" name="Rectangle 38">
            <a:extLst>
              <a:ext uri="{FF2B5EF4-FFF2-40B4-BE49-F238E27FC236}">
                <a16:creationId xmlns:a16="http://schemas.microsoft.com/office/drawing/2014/main" id="{B3A9B786-A08F-9876-275C-37DD07EED86E}"/>
              </a:ext>
            </a:extLst>
          </p:cNvPr>
          <p:cNvSpPr/>
          <p:nvPr/>
        </p:nvSpPr>
        <p:spPr>
          <a:xfrm>
            <a:off x="3255264" y="2853798"/>
            <a:ext cx="2404872" cy="3310128"/>
          </a:xfrm>
          <a:prstGeom prst="rect">
            <a:avLst/>
          </a:prstGeom>
          <a:solidFill>
            <a:srgbClr val="A8BDDB"/>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41" name="Rounded Rectangle 40">
            <a:extLst>
              <a:ext uri="{FF2B5EF4-FFF2-40B4-BE49-F238E27FC236}">
                <a16:creationId xmlns:a16="http://schemas.microsoft.com/office/drawing/2014/main" id="{24EFF532-6FA6-26BB-0FC6-B24E4302C463}"/>
              </a:ext>
            </a:extLst>
          </p:cNvPr>
          <p:cNvSpPr/>
          <p:nvPr/>
        </p:nvSpPr>
        <p:spPr>
          <a:xfrm>
            <a:off x="3611880" y="2768505"/>
            <a:ext cx="1783080" cy="316021"/>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800" b="0" dirty="0" err="1">
                <a:solidFill>
                  <a:srgbClr val="333333"/>
                </a:solidFill>
                <a:latin typeface="メイリオ" panose="020B0604030504040204" pitchFamily="50" charset="-128"/>
                <a:ea typeface="メイリオ" panose="020B0604030504040204" pitchFamily="50" charset="-128"/>
                <a:cs typeface="メイリオ"/>
              </a:rPr>
              <a:t>友だち追加ありがとう！特典</a:t>
            </a:r>
            <a:r>
              <a:rPr lang="ja-JP" altLang="en-US" sz="800" b="0" dirty="0">
                <a:solidFill>
                  <a:srgbClr val="333333"/>
                </a:solidFill>
                <a:latin typeface="メイリオ" panose="020B0604030504040204" pitchFamily="50" charset="-128"/>
                <a:ea typeface="メイリオ" panose="020B0604030504040204" pitchFamily="50" charset="-128"/>
                <a:cs typeface="メイリオ"/>
              </a:rPr>
              <a:t>は</a:t>
            </a:r>
            <a:r>
              <a:rPr lang="en-US" altLang="ja-JP" sz="800" b="0" dirty="0">
                <a:solidFill>
                  <a:srgbClr val="333333"/>
                </a:solidFill>
                <a:latin typeface="メイリオ" panose="020B0604030504040204" pitchFamily="50" charset="-128"/>
                <a:ea typeface="メイリオ" panose="020B0604030504040204" pitchFamily="50" charset="-128"/>
                <a:cs typeface="メイリオ"/>
              </a:rPr>
              <a:t>…</a:t>
            </a:r>
            <a:endParaRPr sz="800" b="0" dirty="0">
              <a:solidFill>
                <a:srgbClr val="333333"/>
              </a:solidFill>
              <a:latin typeface="メイリオ" panose="020B0604030504040204" pitchFamily="50" charset="-128"/>
              <a:ea typeface="メイリオ" panose="020B0604030504040204" pitchFamily="50" charset="-128"/>
              <a:cs typeface="メイリオ"/>
            </a:endParaRPr>
          </a:p>
        </p:txBody>
      </p:sp>
      <p:sp>
        <p:nvSpPr>
          <p:cNvPr id="42" name="Oval 41">
            <a:extLst>
              <a:ext uri="{FF2B5EF4-FFF2-40B4-BE49-F238E27FC236}">
                <a16:creationId xmlns:a16="http://schemas.microsoft.com/office/drawing/2014/main" id="{D7BDF01D-C3F2-A3DE-0264-B338980A05DB}"/>
              </a:ext>
            </a:extLst>
          </p:cNvPr>
          <p:cNvSpPr/>
          <p:nvPr/>
        </p:nvSpPr>
        <p:spPr>
          <a:xfrm>
            <a:off x="3310128" y="3274422"/>
            <a:ext cx="237744" cy="237744"/>
          </a:xfrm>
          <a:prstGeom prst="ellipse">
            <a:avLst/>
          </a:prstGeom>
          <a:solidFill>
            <a:srgbClr val="FFFFFF"/>
          </a:solidFill>
          <a:ln w="19050">
            <a:solidFill>
              <a:srgbClr val="06C755"/>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43" name="Rounded Rectangle 42">
            <a:extLst>
              <a:ext uri="{FF2B5EF4-FFF2-40B4-BE49-F238E27FC236}">
                <a16:creationId xmlns:a16="http://schemas.microsoft.com/office/drawing/2014/main" id="{4600E2F1-69A4-314B-7CDE-2291AF5A0480}"/>
              </a:ext>
            </a:extLst>
          </p:cNvPr>
          <p:cNvSpPr/>
          <p:nvPr/>
        </p:nvSpPr>
        <p:spPr>
          <a:xfrm>
            <a:off x="3611880" y="3321789"/>
            <a:ext cx="1371600" cy="233581"/>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800" b="0">
                <a:solidFill>
                  <a:srgbClr val="333333"/>
                </a:solidFill>
                <a:latin typeface="メイリオ" panose="020B0604030504040204" pitchFamily="50" charset="-128"/>
                <a:ea typeface="メイリオ" panose="020B0604030504040204" pitchFamily="50" charset="-128"/>
                <a:cs typeface="メイリオ"/>
              </a:rPr>
              <a:t>お子様の興味は？</a:t>
            </a:r>
          </a:p>
        </p:txBody>
      </p:sp>
      <p:sp>
        <p:nvSpPr>
          <p:cNvPr id="44" name="Rounded Rectangle 43">
            <a:extLst>
              <a:ext uri="{FF2B5EF4-FFF2-40B4-BE49-F238E27FC236}">
                <a16:creationId xmlns:a16="http://schemas.microsoft.com/office/drawing/2014/main" id="{8F18330F-E519-5A48-F5E6-F01F2E7FAE51}"/>
              </a:ext>
            </a:extLst>
          </p:cNvPr>
          <p:cNvSpPr/>
          <p:nvPr/>
        </p:nvSpPr>
        <p:spPr>
          <a:xfrm>
            <a:off x="3611880" y="3640182"/>
            <a:ext cx="475488" cy="237744"/>
          </a:xfrm>
          <a:prstGeom prst="roundRect">
            <a:avLst/>
          </a:prstGeom>
          <a:solidFill>
            <a:srgbClr val="FFFFFF"/>
          </a:solidFill>
          <a:ln w="12700">
            <a:solidFill>
              <a:srgbClr val="06C755"/>
            </a:solid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700" b="1">
                <a:solidFill>
                  <a:srgbClr val="06C755"/>
                </a:solidFill>
                <a:latin typeface="メイリオ" panose="020B0604030504040204" pitchFamily="50" charset="-128"/>
                <a:ea typeface="メイリオ" panose="020B0604030504040204" pitchFamily="50" charset="-128"/>
                <a:cs typeface="メイリオ"/>
              </a:rPr>
              <a:t>英語</a:t>
            </a:r>
          </a:p>
        </p:txBody>
      </p:sp>
      <p:sp>
        <p:nvSpPr>
          <p:cNvPr id="45" name="Rounded Rectangle 44">
            <a:extLst>
              <a:ext uri="{FF2B5EF4-FFF2-40B4-BE49-F238E27FC236}">
                <a16:creationId xmlns:a16="http://schemas.microsoft.com/office/drawing/2014/main" id="{EA318321-B2AF-46BA-7FE3-7773EC6AACFE}"/>
              </a:ext>
            </a:extLst>
          </p:cNvPr>
          <p:cNvSpPr/>
          <p:nvPr/>
        </p:nvSpPr>
        <p:spPr>
          <a:xfrm>
            <a:off x="4123944" y="3640182"/>
            <a:ext cx="475488" cy="237744"/>
          </a:xfrm>
          <a:prstGeom prst="roundRect">
            <a:avLst/>
          </a:prstGeom>
          <a:solidFill>
            <a:srgbClr val="06C755"/>
          </a:solidFill>
          <a:ln w="12700">
            <a:solidFill>
              <a:srgbClr val="06C755"/>
            </a:solid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700" b="1">
                <a:solidFill>
                  <a:srgbClr val="FFFFFF"/>
                </a:solidFill>
                <a:latin typeface="メイリオ" panose="020B0604030504040204" pitchFamily="50" charset="-128"/>
                <a:ea typeface="メイリオ" panose="020B0604030504040204" pitchFamily="50" charset="-128"/>
                <a:cs typeface="メイリオ"/>
              </a:rPr>
              <a:t>運動</a:t>
            </a:r>
          </a:p>
        </p:txBody>
      </p:sp>
      <p:sp>
        <p:nvSpPr>
          <p:cNvPr id="46" name="Rounded Rectangle 45">
            <a:extLst>
              <a:ext uri="{FF2B5EF4-FFF2-40B4-BE49-F238E27FC236}">
                <a16:creationId xmlns:a16="http://schemas.microsoft.com/office/drawing/2014/main" id="{671CB2FB-6AD7-FF9C-FB8A-30A83CB7BDBC}"/>
              </a:ext>
            </a:extLst>
          </p:cNvPr>
          <p:cNvSpPr/>
          <p:nvPr/>
        </p:nvSpPr>
        <p:spPr>
          <a:xfrm>
            <a:off x="4636008" y="3640182"/>
            <a:ext cx="475488" cy="237744"/>
          </a:xfrm>
          <a:prstGeom prst="roundRect">
            <a:avLst/>
          </a:prstGeom>
          <a:solidFill>
            <a:srgbClr val="FFFFFF"/>
          </a:solidFill>
          <a:ln w="12700">
            <a:solidFill>
              <a:srgbClr val="06C755"/>
            </a:solid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700" b="1">
                <a:solidFill>
                  <a:srgbClr val="06C755"/>
                </a:solidFill>
                <a:latin typeface="メイリオ" panose="020B0604030504040204" pitchFamily="50" charset="-128"/>
                <a:ea typeface="メイリオ" panose="020B0604030504040204" pitchFamily="50" charset="-128"/>
                <a:cs typeface="メイリオ"/>
              </a:rPr>
              <a:t>知育</a:t>
            </a:r>
          </a:p>
        </p:txBody>
      </p:sp>
      <p:sp>
        <p:nvSpPr>
          <p:cNvPr id="47" name="Rounded Rectangle 46">
            <a:extLst>
              <a:ext uri="{FF2B5EF4-FFF2-40B4-BE49-F238E27FC236}">
                <a16:creationId xmlns:a16="http://schemas.microsoft.com/office/drawing/2014/main" id="{7F504588-536C-8EE6-8E6F-816EF8C24633}"/>
              </a:ext>
            </a:extLst>
          </p:cNvPr>
          <p:cNvSpPr/>
          <p:nvPr/>
        </p:nvSpPr>
        <p:spPr>
          <a:xfrm>
            <a:off x="5166360" y="3640182"/>
            <a:ext cx="457200" cy="237744"/>
          </a:xfrm>
          <a:prstGeom prst="roundRect">
            <a:avLst/>
          </a:prstGeom>
          <a:solidFill>
            <a:srgbClr val="D9A441"/>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700" b="1" dirty="0">
                <a:solidFill>
                  <a:srgbClr val="FFFFFF"/>
                </a:solidFill>
                <a:latin typeface="メイリオ" panose="020B0604030504040204" pitchFamily="50" charset="-128"/>
                <a:ea typeface="メイリオ" panose="020B0604030504040204" pitchFamily="50" charset="-128"/>
                <a:cs typeface="メイリオ"/>
              </a:rPr>
              <a:t>＋</a:t>
            </a:r>
            <a:r>
              <a:rPr sz="700" b="1" dirty="0" err="1">
                <a:solidFill>
                  <a:srgbClr val="FFFFFF"/>
                </a:solidFill>
                <a:latin typeface="メイリオ" panose="020B0604030504040204" pitchFamily="50" charset="-128"/>
                <a:ea typeface="メイリオ" panose="020B0604030504040204" pitchFamily="50" charset="-128"/>
                <a:cs typeface="メイリオ"/>
              </a:rPr>
              <a:t>タグ</a:t>
            </a:r>
            <a:endParaRPr sz="700" b="1" dirty="0">
              <a:solidFill>
                <a:srgbClr val="FFFFFF"/>
              </a:solidFill>
              <a:latin typeface="メイリオ" panose="020B0604030504040204" pitchFamily="50" charset="-128"/>
              <a:ea typeface="メイリオ" panose="020B0604030504040204" pitchFamily="50" charset="-128"/>
              <a:cs typeface="メイリオ"/>
            </a:endParaRPr>
          </a:p>
        </p:txBody>
      </p:sp>
      <p:sp>
        <p:nvSpPr>
          <p:cNvPr id="48" name="Oval 47">
            <a:extLst>
              <a:ext uri="{FF2B5EF4-FFF2-40B4-BE49-F238E27FC236}">
                <a16:creationId xmlns:a16="http://schemas.microsoft.com/office/drawing/2014/main" id="{39641FC3-997E-E41B-0786-B2A8B72615F1}"/>
              </a:ext>
            </a:extLst>
          </p:cNvPr>
          <p:cNvSpPr/>
          <p:nvPr/>
        </p:nvSpPr>
        <p:spPr>
          <a:xfrm>
            <a:off x="3310128" y="4024230"/>
            <a:ext cx="237744" cy="237744"/>
          </a:xfrm>
          <a:prstGeom prst="ellipse">
            <a:avLst/>
          </a:prstGeom>
          <a:solidFill>
            <a:srgbClr val="FFFFFF"/>
          </a:solidFill>
          <a:ln w="19050">
            <a:solidFill>
              <a:srgbClr val="06C755"/>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49" name="Rounded Rectangle 48">
            <a:extLst>
              <a:ext uri="{FF2B5EF4-FFF2-40B4-BE49-F238E27FC236}">
                <a16:creationId xmlns:a16="http://schemas.microsoft.com/office/drawing/2014/main" id="{D1AA4CAE-145A-9C37-0213-1B07344EFDA8}"/>
              </a:ext>
            </a:extLst>
          </p:cNvPr>
          <p:cNvSpPr/>
          <p:nvPr/>
        </p:nvSpPr>
        <p:spPr>
          <a:xfrm>
            <a:off x="3611880" y="4018959"/>
            <a:ext cx="1783080" cy="302281"/>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800" b="0">
                <a:solidFill>
                  <a:srgbClr val="333333"/>
                </a:solidFill>
                <a:latin typeface="メイリオ" panose="020B0604030504040204" pitchFamily="50" charset="-128"/>
                <a:ea typeface="メイリオ" panose="020B0604030504040204" pitchFamily="50" charset="-128"/>
                <a:cs typeface="メイリオ"/>
              </a:rPr>
              <a:t>【Day3】運動指導のご紹介</a:t>
            </a:r>
          </a:p>
        </p:txBody>
      </p:sp>
      <p:sp>
        <p:nvSpPr>
          <p:cNvPr id="50" name="Oval 49">
            <a:extLst>
              <a:ext uri="{FF2B5EF4-FFF2-40B4-BE49-F238E27FC236}">
                <a16:creationId xmlns:a16="http://schemas.microsoft.com/office/drawing/2014/main" id="{D7FC1F60-741B-1216-E3C2-B9A9825969FD}"/>
              </a:ext>
            </a:extLst>
          </p:cNvPr>
          <p:cNvSpPr/>
          <p:nvPr/>
        </p:nvSpPr>
        <p:spPr>
          <a:xfrm>
            <a:off x="3310128" y="4600302"/>
            <a:ext cx="237744" cy="237744"/>
          </a:xfrm>
          <a:prstGeom prst="ellipse">
            <a:avLst/>
          </a:prstGeom>
          <a:solidFill>
            <a:srgbClr val="FFFFFF"/>
          </a:solidFill>
          <a:ln w="19050">
            <a:solidFill>
              <a:srgbClr val="06C755"/>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51" name="Rounded Rectangle 50">
            <a:extLst>
              <a:ext uri="{FF2B5EF4-FFF2-40B4-BE49-F238E27FC236}">
                <a16:creationId xmlns:a16="http://schemas.microsoft.com/office/drawing/2014/main" id="{4B728E47-8A05-CAAD-5316-3E29B59A0677}"/>
              </a:ext>
            </a:extLst>
          </p:cNvPr>
          <p:cNvSpPr/>
          <p:nvPr/>
        </p:nvSpPr>
        <p:spPr>
          <a:xfrm>
            <a:off x="3611880" y="4595031"/>
            <a:ext cx="1783080" cy="302281"/>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800" b="0">
                <a:solidFill>
                  <a:srgbClr val="333333"/>
                </a:solidFill>
                <a:latin typeface="メイリオ" panose="020B0604030504040204" pitchFamily="50" charset="-128"/>
                <a:ea typeface="メイリオ" panose="020B0604030504040204" pitchFamily="50" charset="-128"/>
                <a:cs typeface="メイリオ"/>
              </a:rPr>
              <a:t>【今月】夏のイベント開催</a:t>
            </a:r>
          </a:p>
        </p:txBody>
      </p:sp>
      <p:sp>
        <p:nvSpPr>
          <p:cNvPr id="52" name="Rounded Rectangle 51">
            <a:extLst>
              <a:ext uri="{FF2B5EF4-FFF2-40B4-BE49-F238E27FC236}">
                <a16:creationId xmlns:a16="http://schemas.microsoft.com/office/drawing/2014/main" id="{EDE632CC-3F09-E201-A757-0B2AF49C1E03}"/>
              </a:ext>
            </a:extLst>
          </p:cNvPr>
          <p:cNvSpPr/>
          <p:nvPr/>
        </p:nvSpPr>
        <p:spPr>
          <a:xfrm>
            <a:off x="4434840" y="5084934"/>
            <a:ext cx="1097280" cy="237744"/>
          </a:xfrm>
          <a:prstGeom prst="roundRect">
            <a:avLst/>
          </a:prstGeom>
          <a:solidFill>
            <a:srgbClr val="B7E36B"/>
          </a:solidFill>
          <a:ln>
            <a:no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700" b="0">
                <a:solidFill>
                  <a:srgbClr val="333333"/>
                </a:solidFill>
                <a:latin typeface="メイリオ" panose="020B0604030504040204" pitchFamily="50" charset="-128"/>
                <a:ea typeface="メイリオ" panose="020B0604030504040204" pitchFamily="50" charset="-128"/>
                <a:cs typeface="メイリオ"/>
              </a:rPr>
              <a:t>料金を教えて</a:t>
            </a:r>
          </a:p>
        </p:txBody>
      </p:sp>
      <p:sp>
        <p:nvSpPr>
          <p:cNvPr id="53" name="Oval 52">
            <a:extLst>
              <a:ext uri="{FF2B5EF4-FFF2-40B4-BE49-F238E27FC236}">
                <a16:creationId xmlns:a16="http://schemas.microsoft.com/office/drawing/2014/main" id="{33F79F6F-0ADE-256D-5DA4-A82E51FAF5E9}"/>
              </a:ext>
            </a:extLst>
          </p:cNvPr>
          <p:cNvSpPr/>
          <p:nvPr/>
        </p:nvSpPr>
        <p:spPr>
          <a:xfrm>
            <a:off x="3310128" y="5377542"/>
            <a:ext cx="237744" cy="237744"/>
          </a:xfrm>
          <a:prstGeom prst="ellipse">
            <a:avLst/>
          </a:prstGeom>
          <a:solidFill>
            <a:srgbClr val="FFFFFF"/>
          </a:solidFill>
          <a:ln w="19050">
            <a:solidFill>
              <a:srgbClr val="06C755"/>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54" name="Rounded Rectangle 53">
            <a:extLst>
              <a:ext uri="{FF2B5EF4-FFF2-40B4-BE49-F238E27FC236}">
                <a16:creationId xmlns:a16="http://schemas.microsoft.com/office/drawing/2014/main" id="{442A5F6A-8638-8BB7-0CCD-0A2E2B0A2BCC}"/>
              </a:ext>
            </a:extLst>
          </p:cNvPr>
          <p:cNvSpPr/>
          <p:nvPr/>
        </p:nvSpPr>
        <p:spPr>
          <a:xfrm>
            <a:off x="3611880" y="5395155"/>
            <a:ext cx="1463040" cy="274801"/>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800" b="0">
                <a:solidFill>
                  <a:srgbClr val="333333"/>
                </a:solidFill>
                <a:latin typeface="メイリオ" panose="020B0604030504040204" pitchFamily="50" charset="-128"/>
                <a:ea typeface="メイリオ" panose="020B0604030504040204" pitchFamily="50" charset="-128"/>
                <a:cs typeface="メイリオ"/>
              </a:rPr>
              <a:t>料金はこちらです→</a:t>
            </a:r>
          </a:p>
        </p:txBody>
      </p:sp>
      <p:sp>
        <p:nvSpPr>
          <p:cNvPr id="55" name="Rectangle 54">
            <a:extLst>
              <a:ext uri="{FF2B5EF4-FFF2-40B4-BE49-F238E27FC236}">
                <a16:creationId xmlns:a16="http://schemas.microsoft.com/office/drawing/2014/main" id="{3692DFC3-6CB4-FCCE-9844-CF7F277EAFA4}"/>
              </a:ext>
            </a:extLst>
          </p:cNvPr>
          <p:cNvSpPr/>
          <p:nvPr/>
        </p:nvSpPr>
        <p:spPr>
          <a:xfrm>
            <a:off x="3255264" y="6042006"/>
            <a:ext cx="2404872" cy="457200"/>
          </a:xfrm>
          <a:prstGeom prst="rect">
            <a:avLst/>
          </a:prstGeom>
          <a:solidFill>
            <a:srgbClr val="FFFFFF"/>
          </a:solidFill>
          <a:ln w="12700">
            <a:solidFill>
              <a:srgbClr val="BBBBBB"/>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56" name="Rectangle 55">
            <a:extLst>
              <a:ext uri="{FF2B5EF4-FFF2-40B4-BE49-F238E27FC236}">
                <a16:creationId xmlns:a16="http://schemas.microsoft.com/office/drawing/2014/main" id="{F986ADF8-29C3-6A68-1DFA-FFA26561F2B3}"/>
              </a:ext>
            </a:extLst>
          </p:cNvPr>
          <p:cNvSpPr/>
          <p:nvPr/>
        </p:nvSpPr>
        <p:spPr>
          <a:xfrm>
            <a:off x="3273552" y="6060294"/>
            <a:ext cx="585216" cy="420624"/>
          </a:xfrm>
          <a:prstGeom prst="rect">
            <a:avLst/>
          </a:prstGeom>
          <a:solidFill>
            <a:srgbClr val="F3F5FA"/>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wrap="square" lIns="9144" tIns="18288" rIns="9144" bIns="18288" rtlCol="0" anchor="ctr"/>
          <a:lstStyle/>
          <a:p>
            <a:pPr algn="ctr">
              <a:spcAft>
                <a:spcPts val="0"/>
              </a:spcAft>
            </a:pPr>
            <a:r>
              <a:rPr sz="800" b="1">
                <a:solidFill>
                  <a:srgbClr val="1F2A5C"/>
                </a:solidFill>
                <a:latin typeface="メイリオ" panose="020B0604030504040204" pitchFamily="50" charset="-128"/>
                <a:ea typeface="メイリオ" panose="020B0604030504040204" pitchFamily="50" charset="-128"/>
                <a:cs typeface="メイリオ"/>
              </a:rPr>
              <a:t>予約</a:t>
            </a:r>
          </a:p>
        </p:txBody>
      </p:sp>
      <p:sp>
        <p:nvSpPr>
          <p:cNvPr id="57" name="Rectangle 56">
            <a:extLst>
              <a:ext uri="{FF2B5EF4-FFF2-40B4-BE49-F238E27FC236}">
                <a16:creationId xmlns:a16="http://schemas.microsoft.com/office/drawing/2014/main" id="{3AB1081A-487F-780B-49C7-1270ED530C1F}"/>
              </a:ext>
            </a:extLst>
          </p:cNvPr>
          <p:cNvSpPr/>
          <p:nvPr/>
        </p:nvSpPr>
        <p:spPr>
          <a:xfrm>
            <a:off x="3867912" y="6060294"/>
            <a:ext cx="585216" cy="420624"/>
          </a:xfrm>
          <a:prstGeom prst="rect">
            <a:avLst/>
          </a:prstGeom>
          <a:solidFill>
            <a:srgbClr val="F3F5FA"/>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wrap="square" lIns="9144" tIns="18288" rIns="9144" bIns="18288" rtlCol="0" anchor="ctr"/>
          <a:lstStyle/>
          <a:p>
            <a:pPr algn="ctr">
              <a:spcAft>
                <a:spcPts val="0"/>
              </a:spcAft>
            </a:pPr>
            <a:r>
              <a:rPr sz="800" b="1">
                <a:solidFill>
                  <a:srgbClr val="1F2A5C"/>
                </a:solidFill>
                <a:latin typeface="メイリオ" panose="020B0604030504040204" pitchFamily="50" charset="-128"/>
                <a:ea typeface="メイリオ" panose="020B0604030504040204" pitchFamily="50" charset="-128"/>
                <a:cs typeface="メイリオ"/>
              </a:rPr>
              <a:t>質問</a:t>
            </a:r>
          </a:p>
        </p:txBody>
      </p:sp>
      <p:sp>
        <p:nvSpPr>
          <p:cNvPr id="59" name="Rectangle 57">
            <a:extLst>
              <a:ext uri="{FF2B5EF4-FFF2-40B4-BE49-F238E27FC236}">
                <a16:creationId xmlns:a16="http://schemas.microsoft.com/office/drawing/2014/main" id="{6F0CCA9C-BDA8-04BF-077D-3A8F5CFF41C8}"/>
              </a:ext>
            </a:extLst>
          </p:cNvPr>
          <p:cNvSpPr/>
          <p:nvPr/>
        </p:nvSpPr>
        <p:spPr>
          <a:xfrm>
            <a:off x="4462272" y="6060294"/>
            <a:ext cx="585216" cy="420624"/>
          </a:xfrm>
          <a:prstGeom prst="rect">
            <a:avLst/>
          </a:prstGeom>
          <a:solidFill>
            <a:srgbClr val="F3F5FA"/>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wrap="square" lIns="9144" tIns="18288" rIns="9144" bIns="18288" rtlCol="0" anchor="ctr"/>
          <a:lstStyle/>
          <a:p>
            <a:pPr algn="ctr">
              <a:spcAft>
                <a:spcPts val="0"/>
              </a:spcAft>
            </a:pPr>
            <a:r>
              <a:rPr sz="800" b="1">
                <a:solidFill>
                  <a:srgbClr val="1F2A5C"/>
                </a:solidFill>
                <a:latin typeface="メイリオ" panose="020B0604030504040204" pitchFamily="50" charset="-128"/>
                <a:ea typeface="メイリオ" panose="020B0604030504040204" pitchFamily="50" charset="-128"/>
                <a:cs typeface="メイリオ"/>
              </a:rPr>
              <a:t>特典</a:t>
            </a:r>
          </a:p>
        </p:txBody>
      </p:sp>
      <p:sp>
        <p:nvSpPr>
          <p:cNvPr id="60" name="Rectangle 58">
            <a:extLst>
              <a:ext uri="{FF2B5EF4-FFF2-40B4-BE49-F238E27FC236}">
                <a16:creationId xmlns:a16="http://schemas.microsoft.com/office/drawing/2014/main" id="{985C54A4-91FC-0879-5A7C-BF14447F2D4C}"/>
              </a:ext>
            </a:extLst>
          </p:cNvPr>
          <p:cNvSpPr/>
          <p:nvPr/>
        </p:nvSpPr>
        <p:spPr>
          <a:xfrm>
            <a:off x="5056632" y="6060294"/>
            <a:ext cx="585216" cy="420624"/>
          </a:xfrm>
          <a:prstGeom prst="rect">
            <a:avLst/>
          </a:prstGeom>
          <a:solidFill>
            <a:srgbClr val="F3F5FA"/>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wrap="square" lIns="9144" tIns="18288" rIns="9144" bIns="18288" rtlCol="0" anchor="ctr"/>
          <a:lstStyle/>
          <a:p>
            <a:pPr algn="ctr">
              <a:spcAft>
                <a:spcPts val="0"/>
              </a:spcAft>
            </a:pPr>
            <a:r>
              <a:rPr sz="800" b="1">
                <a:solidFill>
                  <a:srgbClr val="1F2A5C"/>
                </a:solidFill>
                <a:latin typeface="メイリオ" panose="020B0604030504040204" pitchFamily="50" charset="-128"/>
                <a:ea typeface="メイリオ" panose="020B0604030504040204" pitchFamily="50" charset="-128"/>
                <a:cs typeface="メイリオ"/>
              </a:rPr>
              <a:t>店舗</a:t>
            </a:r>
          </a:p>
        </p:txBody>
      </p:sp>
      <p:sp>
        <p:nvSpPr>
          <p:cNvPr id="61" name="Oval 60">
            <a:extLst>
              <a:ext uri="{FF2B5EF4-FFF2-40B4-BE49-F238E27FC236}">
                <a16:creationId xmlns:a16="http://schemas.microsoft.com/office/drawing/2014/main" id="{078D547B-19C0-D1D7-0B0A-A47E1EF12496}"/>
              </a:ext>
            </a:extLst>
          </p:cNvPr>
          <p:cNvSpPr/>
          <p:nvPr/>
        </p:nvSpPr>
        <p:spPr>
          <a:xfrm>
            <a:off x="3063240" y="3210414"/>
            <a:ext cx="274320" cy="274320"/>
          </a:xfrm>
          <a:prstGeom prst="ellipse">
            <a:avLst/>
          </a:prstGeom>
          <a:solidFill>
            <a:srgbClr val="C8102E"/>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1000" b="1">
                <a:solidFill>
                  <a:srgbClr val="FFFFFF"/>
                </a:solidFill>
                <a:latin typeface="メイリオ" panose="020B0604030504040204" pitchFamily="50" charset="-128"/>
                <a:ea typeface="メイリオ" panose="020B0604030504040204" pitchFamily="50" charset="-128"/>
                <a:cs typeface="メイリオ"/>
              </a:rPr>
              <a:t>3</a:t>
            </a:r>
          </a:p>
        </p:txBody>
      </p:sp>
      <p:sp>
        <p:nvSpPr>
          <p:cNvPr id="62" name="Oval 61">
            <a:extLst>
              <a:ext uri="{FF2B5EF4-FFF2-40B4-BE49-F238E27FC236}">
                <a16:creationId xmlns:a16="http://schemas.microsoft.com/office/drawing/2014/main" id="{D5B5DA36-D1AC-3FF4-B014-CB1D23230DF3}"/>
              </a:ext>
            </a:extLst>
          </p:cNvPr>
          <p:cNvSpPr/>
          <p:nvPr/>
        </p:nvSpPr>
        <p:spPr>
          <a:xfrm>
            <a:off x="3063240" y="3914502"/>
            <a:ext cx="274320" cy="274320"/>
          </a:xfrm>
          <a:prstGeom prst="ellipse">
            <a:avLst/>
          </a:prstGeom>
          <a:solidFill>
            <a:srgbClr val="C8102E"/>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1000" b="1">
                <a:solidFill>
                  <a:srgbClr val="FFFFFF"/>
                </a:solidFill>
                <a:latin typeface="メイリオ" panose="020B0604030504040204" pitchFamily="50" charset="-128"/>
                <a:ea typeface="メイリオ" panose="020B0604030504040204" pitchFamily="50" charset="-128"/>
                <a:cs typeface="メイリオ"/>
              </a:rPr>
              <a:t>5</a:t>
            </a:r>
          </a:p>
        </p:txBody>
      </p:sp>
      <p:sp>
        <p:nvSpPr>
          <p:cNvPr id="63" name="Oval 62">
            <a:extLst>
              <a:ext uri="{FF2B5EF4-FFF2-40B4-BE49-F238E27FC236}">
                <a16:creationId xmlns:a16="http://schemas.microsoft.com/office/drawing/2014/main" id="{AD9506F4-3424-385A-C649-D53A66ECE0FA}"/>
              </a:ext>
            </a:extLst>
          </p:cNvPr>
          <p:cNvSpPr/>
          <p:nvPr/>
        </p:nvSpPr>
        <p:spPr>
          <a:xfrm>
            <a:off x="3063240" y="4481430"/>
            <a:ext cx="274320" cy="274320"/>
          </a:xfrm>
          <a:prstGeom prst="ellipse">
            <a:avLst/>
          </a:prstGeom>
          <a:solidFill>
            <a:srgbClr val="C8102E"/>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1000" b="1">
                <a:solidFill>
                  <a:srgbClr val="FFFFFF"/>
                </a:solidFill>
                <a:latin typeface="メイリオ" panose="020B0604030504040204" pitchFamily="50" charset="-128"/>
                <a:ea typeface="メイリオ" panose="020B0604030504040204" pitchFamily="50" charset="-128"/>
                <a:cs typeface="メイリオ"/>
              </a:rPr>
              <a:t>6</a:t>
            </a:r>
          </a:p>
        </p:txBody>
      </p:sp>
      <p:sp>
        <p:nvSpPr>
          <p:cNvPr id="64" name="Oval 63">
            <a:extLst>
              <a:ext uri="{FF2B5EF4-FFF2-40B4-BE49-F238E27FC236}">
                <a16:creationId xmlns:a16="http://schemas.microsoft.com/office/drawing/2014/main" id="{E17B94F9-0158-3E3C-FFDC-922E33C08ACA}"/>
              </a:ext>
            </a:extLst>
          </p:cNvPr>
          <p:cNvSpPr/>
          <p:nvPr/>
        </p:nvSpPr>
        <p:spPr>
          <a:xfrm>
            <a:off x="3063240" y="5286102"/>
            <a:ext cx="274320" cy="274320"/>
          </a:xfrm>
          <a:prstGeom prst="ellipse">
            <a:avLst/>
          </a:prstGeom>
          <a:solidFill>
            <a:srgbClr val="1F2A5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1000" b="1">
                <a:solidFill>
                  <a:srgbClr val="FFFFFF"/>
                </a:solidFill>
                <a:latin typeface="メイリオ" panose="020B0604030504040204" pitchFamily="50" charset="-128"/>
                <a:ea typeface="メイリオ" panose="020B0604030504040204" pitchFamily="50" charset="-128"/>
                <a:cs typeface="メイリオ"/>
              </a:rPr>
              <a:t>8</a:t>
            </a:r>
          </a:p>
        </p:txBody>
      </p:sp>
      <p:sp>
        <p:nvSpPr>
          <p:cNvPr id="65" name="Oval 64">
            <a:extLst>
              <a:ext uri="{FF2B5EF4-FFF2-40B4-BE49-F238E27FC236}">
                <a16:creationId xmlns:a16="http://schemas.microsoft.com/office/drawing/2014/main" id="{C5EFD1D0-F44A-23A1-ADF0-04BFFF1243A0}"/>
              </a:ext>
            </a:extLst>
          </p:cNvPr>
          <p:cNvSpPr/>
          <p:nvPr/>
        </p:nvSpPr>
        <p:spPr>
          <a:xfrm>
            <a:off x="3063240" y="5987142"/>
            <a:ext cx="274320" cy="274320"/>
          </a:xfrm>
          <a:prstGeom prst="ellipse">
            <a:avLst/>
          </a:prstGeom>
          <a:solidFill>
            <a:srgbClr val="1F2A5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1000" b="1">
                <a:solidFill>
                  <a:srgbClr val="FFFFFF"/>
                </a:solidFill>
                <a:latin typeface="メイリオ" panose="020B0604030504040204" pitchFamily="50" charset="-128"/>
                <a:ea typeface="メイリオ" panose="020B0604030504040204" pitchFamily="50" charset="-128"/>
                <a:cs typeface="メイリオ"/>
              </a:rPr>
              <a:t>7</a:t>
            </a:r>
          </a:p>
        </p:txBody>
      </p:sp>
      <p:cxnSp>
        <p:nvCxnSpPr>
          <p:cNvPr id="66" name="Connector 65">
            <a:extLst>
              <a:ext uri="{FF2B5EF4-FFF2-40B4-BE49-F238E27FC236}">
                <a16:creationId xmlns:a16="http://schemas.microsoft.com/office/drawing/2014/main" id="{1B3B9544-3929-8790-DDDE-E6205C63DB3B}"/>
              </a:ext>
            </a:extLst>
          </p:cNvPr>
          <p:cNvCxnSpPr/>
          <p:nvPr/>
        </p:nvCxnSpPr>
        <p:spPr>
          <a:xfrm>
            <a:off x="5715000" y="2862942"/>
            <a:ext cx="274320" cy="0"/>
          </a:xfrm>
          <a:prstGeom prst="line">
            <a:avLst/>
          </a:prstGeom>
          <a:ln w="19050">
            <a:solidFill>
              <a:srgbClr val="1F2A5C"/>
            </a:solidFill>
          </a:ln>
        </p:spPr>
        <p:style>
          <a:lnRef idx="2">
            <a:schemeClr val="accent1"/>
          </a:lnRef>
          <a:fillRef idx="0">
            <a:schemeClr val="accent1"/>
          </a:fillRef>
          <a:effectRef idx="1">
            <a:schemeClr val="accent1"/>
          </a:effectRef>
          <a:fontRef idx="minor">
            <a:schemeClr val="tx1"/>
          </a:fontRef>
        </p:style>
      </p:cxnSp>
      <p:sp>
        <p:nvSpPr>
          <p:cNvPr id="67" name="Rectangle 66">
            <a:extLst>
              <a:ext uri="{FF2B5EF4-FFF2-40B4-BE49-F238E27FC236}">
                <a16:creationId xmlns:a16="http://schemas.microsoft.com/office/drawing/2014/main" id="{BACF9AB3-5E23-75E5-2907-1B4CAA7E7697}"/>
              </a:ext>
            </a:extLst>
          </p:cNvPr>
          <p:cNvSpPr/>
          <p:nvPr/>
        </p:nvSpPr>
        <p:spPr>
          <a:xfrm>
            <a:off x="5989320" y="2561190"/>
            <a:ext cx="3538728" cy="566928"/>
          </a:xfrm>
          <a:prstGeom prst="rect">
            <a:avLst/>
          </a:prstGeom>
          <a:solidFill>
            <a:srgbClr val="FFFFFF"/>
          </a:solidFill>
          <a:ln w="15875">
            <a:solidFill>
              <a:srgbClr val="1F2A5C"/>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68" name="Rectangle 67">
            <a:extLst>
              <a:ext uri="{FF2B5EF4-FFF2-40B4-BE49-F238E27FC236}">
                <a16:creationId xmlns:a16="http://schemas.microsoft.com/office/drawing/2014/main" id="{D99B972D-7A0F-C085-4B94-F0E1D1E5B217}"/>
              </a:ext>
            </a:extLst>
          </p:cNvPr>
          <p:cNvSpPr/>
          <p:nvPr/>
        </p:nvSpPr>
        <p:spPr>
          <a:xfrm>
            <a:off x="5989320" y="2561190"/>
            <a:ext cx="73152" cy="566928"/>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69" name="Rectangle 68">
            <a:extLst>
              <a:ext uri="{FF2B5EF4-FFF2-40B4-BE49-F238E27FC236}">
                <a16:creationId xmlns:a16="http://schemas.microsoft.com/office/drawing/2014/main" id="{16F41EB6-80FA-E920-A132-BB4988500C60}"/>
              </a:ext>
            </a:extLst>
          </p:cNvPr>
          <p:cNvSpPr/>
          <p:nvPr/>
        </p:nvSpPr>
        <p:spPr>
          <a:xfrm>
            <a:off x="6108192" y="2579478"/>
            <a:ext cx="3383280" cy="53035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18288" rIns="27432" bIns="18288" rtlCol="0" anchor="ctr"/>
          <a:lstStyle/>
          <a:p>
            <a:pPr algn="l">
              <a:spcAft>
                <a:spcPts val="0"/>
              </a:spcAft>
            </a:pPr>
            <a:r>
              <a:rPr sz="1000" b="1">
                <a:solidFill>
                  <a:srgbClr val="1F2A5C"/>
                </a:solidFill>
                <a:latin typeface="メイリオ" panose="020B0604030504040204" pitchFamily="50" charset="-128"/>
                <a:ea typeface="メイリオ" panose="020B0604030504040204" pitchFamily="50" charset="-128"/>
                <a:cs typeface="メイリオ"/>
              </a:rPr>
              <a:t>2　挨拶メッセージ</a:t>
            </a:r>
          </a:p>
          <a:p>
            <a:pPr algn="l">
              <a:spcAft>
                <a:spcPts val="0"/>
              </a:spcAft>
            </a:pPr>
            <a:r>
              <a:rPr sz="800" b="0">
                <a:solidFill>
                  <a:srgbClr val="333333"/>
                </a:solidFill>
                <a:latin typeface="メイリオ" panose="020B0604030504040204" pitchFamily="50" charset="-128"/>
                <a:ea typeface="メイリオ" panose="020B0604030504040204" pitchFamily="50" charset="-128"/>
                <a:cs typeface="メイリオ"/>
              </a:rPr>
              <a:t>追加直後に自動で届く最初のメッセージ</a:t>
            </a:r>
          </a:p>
          <a:p>
            <a:pPr algn="l">
              <a:spcAft>
                <a:spcPts val="0"/>
              </a:spcAft>
            </a:pPr>
            <a:r>
              <a:rPr sz="700" b="1">
                <a:solidFill>
                  <a:srgbClr val="1F2A5C"/>
                </a:solidFill>
                <a:latin typeface="メイリオ" panose="020B0604030504040204" pitchFamily="50" charset="-128"/>
                <a:ea typeface="メイリオ" panose="020B0604030504040204" pitchFamily="50" charset="-128"/>
                <a:cs typeface="メイリオ"/>
              </a:rPr>
              <a:t>初期標準設定｜標準機能</a:t>
            </a:r>
          </a:p>
        </p:txBody>
      </p:sp>
      <p:cxnSp>
        <p:nvCxnSpPr>
          <p:cNvPr id="70" name="Connector 69">
            <a:extLst>
              <a:ext uri="{FF2B5EF4-FFF2-40B4-BE49-F238E27FC236}">
                <a16:creationId xmlns:a16="http://schemas.microsoft.com/office/drawing/2014/main" id="{1CC8A23C-C7AE-2F6C-E6D0-69403F4AE719}"/>
              </a:ext>
            </a:extLst>
          </p:cNvPr>
          <p:cNvCxnSpPr/>
          <p:nvPr/>
        </p:nvCxnSpPr>
        <p:spPr>
          <a:xfrm>
            <a:off x="5715000" y="3457302"/>
            <a:ext cx="274320" cy="0"/>
          </a:xfrm>
          <a:prstGeom prst="line">
            <a:avLst/>
          </a:prstGeom>
          <a:ln w="19050">
            <a:solidFill>
              <a:srgbClr val="C8102E"/>
            </a:solidFill>
          </a:ln>
        </p:spPr>
        <p:style>
          <a:lnRef idx="2">
            <a:schemeClr val="accent1"/>
          </a:lnRef>
          <a:fillRef idx="0">
            <a:schemeClr val="accent1"/>
          </a:fillRef>
          <a:effectRef idx="1">
            <a:schemeClr val="accent1"/>
          </a:effectRef>
          <a:fontRef idx="minor">
            <a:schemeClr val="tx1"/>
          </a:fontRef>
        </p:style>
      </p:cxnSp>
      <p:sp>
        <p:nvSpPr>
          <p:cNvPr id="71" name="Rectangle 70">
            <a:extLst>
              <a:ext uri="{FF2B5EF4-FFF2-40B4-BE49-F238E27FC236}">
                <a16:creationId xmlns:a16="http://schemas.microsoft.com/office/drawing/2014/main" id="{2878551C-954D-5600-4A28-2FB6B2FC835B}"/>
              </a:ext>
            </a:extLst>
          </p:cNvPr>
          <p:cNvSpPr/>
          <p:nvPr/>
        </p:nvSpPr>
        <p:spPr>
          <a:xfrm>
            <a:off x="5989320" y="3164694"/>
            <a:ext cx="3538728" cy="566928"/>
          </a:xfrm>
          <a:prstGeom prst="rect">
            <a:avLst/>
          </a:prstGeom>
          <a:solidFill>
            <a:srgbClr val="FFFFFF"/>
          </a:solidFill>
          <a:ln w="15875">
            <a:solidFill>
              <a:srgbClr val="C8102E"/>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72" name="Rectangle 71">
            <a:extLst>
              <a:ext uri="{FF2B5EF4-FFF2-40B4-BE49-F238E27FC236}">
                <a16:creationId xmlns:a16="http://schemas.microsoft.com/office/drawing/2014/main" id="{08D588BD-CE61-D530-7D53-445F6FE2028D}"/>
              </a:ext>
            </a:extLst>
          </p:cNvPr>
          <p:cNvSpPr/>
          <p:nvPr/>
        </p:nvSpPr>
        <p:spPr>
          <a:xfrm>
            <a:off x="5989320" y="3164694"/>
            <a:ext cx="73152" cy="566928"/>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73" name="Rectangle 72">
            <a:extLst>
              <a:ext uri="{FF2B5EF4-FFF2-40B4-BE49-F238E27FC236}">
                <a16:creationId xmlns:a16="http://schemas.microsoft.com/office/drawing/2014/main" id="{BEFBEC83-9F5E-D6AF-38B6-828597BBE02B}"/>
              </a:ext>
            </a:extLst>
          </p:cNvPr>
          <p:cNvSpPr/>
          <p:nvPr/>
        </p:nvSpPr>
        <p:spPr>
          <a:xfrm>
            <a:off x="6108192" y="3182982"/>
            <a:ext cx="3383280" cy="53035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18288" rIns="27432" bIns="18288" rtlCol="0" anchor="ctr"/>
          <a:lstStyle/>
          <a:p>
            <a:pPr algn="l">
              <a:spcAft>
                <a:spcPts val="0"/>
              </a:spcAft>
            </a:pPr>
            <a:r>
              <a:rPr sz="1000" b="1">
                <a:solidFill>
                  <a:srgbClr val="C8102E"/>
                </a:solidFill>
                <a:latin typeface="メイリオ" panose="020B0604030504040204" pitchFamily="50" charset="-128"/>
                <a:ea typeface="メイリオ" panose="020B0604030504040204" pitchFamily="50" charset="-128"/>
                <a:cs typeface="メイリオ"/>
              </a:rPr>
              <a:t>3　アンケート</a:t>
            </a:r>
          </a:p>
          <a:p>
            <a:pPr algn="l">
              <a:spcAft>
                <a:spcPts val="0"/>
              </a:spcAft>
            </a:pPr>
            <a:r>
              <a:rPr sz="800" b="0">
                <a:solidFill>
                  <a:srgbClr val="333333"/>
                </a:solidFill>
                <a:latin typeface="メイリオ" panose="020B0604030504040204" pitchFamily="50" charset="-128"/>
                <a:ea typeface="メイリオ" panose="020B0604030504040204" pitchFamily="50" charset="-128"/>
                <a:cs typeface="メイリオ"/>
              </a:rPr>
              <a:t>1タップで回答。興味・状況を把握</a:t>
            </a:r>
          </a:p>
          <a:p>
            <a:pPr algn="l">
              <a:spcAft>
                <a:spcPts val="0"/>
              </a:spcAft>
            </a:pPr>
            <a:r>
              <a:rPr sz="700" b="1">
                <a:solidFill>
                  <a:srgbClr val="C8102E"/>
                </a:solidFill>
                <a:latin typeface="メイリオ" panose="020B0604030504040204" pitchFamily="50" charset="-128"/>
                <a:ea typeface="メイリオ" panose="020B0604030504040204" pitchFamily="50" charset="-128"/>
                <a:cs typeface="メイリオ"/>
              </a:rPr>
              <a:t>運用施策｜標準（簡易）／APIツール</a:t>
            </a:r>
          </a:p>
        </p:txBody>
      </p:sp>
      <p:cxnSp>
        <p:nvCxnSpPr>
          <p:cNvPr id="74" name="Connector 73">
            <a:extLst>
              <a:ext uri="{FF2B5EF4-FFF2-40B4-BE49-F238E27FC236}">
                <a16:creationId xmlns:a16="http://schemas.microsoft.com/office/drawing/2014/main" id="{087854F0-E07A-106C-2F55-5F4540F70FC7}"/>
              </a:ext>
            </a:extLst>
          </p:cNvPr>
          <p:cNvCxnSpPr/>
          <p:nvPr/>
        </p:nvCxnSpPr>
        <p:spPr>
          <a:xfrm>
            <a:off x="5715000" y="4143102"/>
            <a:ext cx="274320" cy="0"/>
          </a:xfrm>
          <a:prstGeom prst="line">
            <a:avLst/>
          </a:prstGeom>
          <a:ln w="19050">
            <a:solidFill>
              <a:srgbClr val="C8102E"/>
            </a:solidFill>
          </a:ln>
        </p:spPr>
        <p:style>
          <a:lnRef idx="2">
            <a:schemeClr val="accent1"/>
          </a:lnRef>
          <a:fillRef idx="0">
            <a:schemeClr val="accent1"/>
          </a:fillRef>
          <a:effectRef idx="1">
            <a:schemeClr val="accent1"/>
          </a:effectRef>
          <a:fontRef idx="minor">
            <a:schemeClr val="tx1"/>
          </a:fontRef>
        </p:style>
      </p:cxnSp>
      <p:sp>
        <p:nvSpPr>
          <p:cNvPr id="75" name="Rectangle 74">
            <a:extLst>
              <a:ext uri="{FF2B5EF4-FFF2-40B4-BE49-F238E27FC236}">
                <a16:creationId xmlns:a16="http://schemas.microsoft.com/office/drawing/2014/main" id="{5E635C83-4255-D874-02BA-723D8D3945A1}"/>
              </a:ext>
            </a:extLst>
          </p:cNvPr>
          <p:cNvSpPr/>
          <p:nvPr/>
        </p:nvSpPr>
        <p:spPr>
          <a:xfrm>
            <a:off x="5989320" y="3841350"/>
            <a:ext cx="3538728" cy="566928"/>
          </a:xfrm>
          <a:prstGeom prst="rect">
            <a:avLst/>
          </a:prstGeom>
          <a:solidFill>
            <a:srgbClr val="FFFFFF"/>
          </a:solidFill>
          <a:ln w="15875">
            <a:solidFill>
              <a:srgbClr val="C8102E"/>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76" name="Rectangle 75">
            <a:extLst>
              <a:ext uri="{FF2B5EF4-FFF2-40B4-BE49-F238E27FC236}">
                <a16:creationId xmlns:a16="http://schemas.microsoft.com/office/drawing/2014/main" id="{DA813A00-D7BA-7CEB-2811-E995F53B6411}"/>
              </a:ext>
            </a:extLst>
          </p:cNvPr>
          <p:cNvSpPr/>
          <p:nvPr/>
        </p:nvSpPr>
        <p:spPr>
          <a:xfrm>
            <a:off x="5989320" y="3841350"/>
            <a:ext cx="73152" cy="566928"/>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77" name="Rectangle 76">
            <a:extLst>
              <a:ext uri="{FF2B5EF4-FFF2-40B4-BE49-F238E27FC236}">
                <a16:creationId xmlns:a16="http://schemas.microsoft.com/office/drawing/2014/main" id="{37095BF6-3F59-87B8-0E59-07F70CAF7197}"/>
              </a:ext>
            </a:extLst>
          </p:cNvPr>
          <p:cNvSpPr/>
          <p:nvPr/>
        </p:nvSpPr>
        <p:spPr>
          <a:xfrm>
            <a:off x="6108192" y="3859638"/>
            <a:ext cx="3383280" cy="53035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18288" rIns="27432" bIns="18288" rtlCol="0" anchor="ctr"/>
          <a:lstStyle/>
          <a:p>
            <a:pPr algn="l">
              <a:spcAft>
                <a:spcPts val="0"/>
              </a:spcAft>
            </a:pPr>
            <a:r>
              <a:rPr sz="1000" b="1">
                <a:solidFill>
                  <a:srgbClr val="C8102E"/>
                </a:solidFill>
                <a:latin typeface="メイリオ" panose="020B0604030504040204" pitchFamily="50" charset="-128"/>
                <a:ea typeface="メイリオ" panose="020B0604030504040204" pitchFamily="50" charset="-128"/>
                <a:cs typeface="メイリオ"/>
              </a:rPr>
              <a:t>5　ステップ配信</a:t>
            </a:r>
          </a:p>
          <a:p>
            <a:pPr algn="l">
              <a:spcAft>
                <a:spcPts val="0"/>
              </a:spcAft>
            </a:pPr>
            <a:r>
              <a:rPr sz="800" b="0">
                <a:solidFill>
                  <a:srgbClr val="333333"/>
                </a:solidFill>
                <a:latin typeface="メイリオ" panose="020B0604030504040204" pitchFamily="50" charset="-128"/>
                <a:ea typeface="メイリオ" panose="020B0604030504040204" pitchFamily="50" charset="-128"/>
                <a:cs typeface="メイリオ"/>
              </a:rPr>
              <a:t>追加日などを起点に、日数で自動配信</a:t>
            </a:r>
          </a:p>
          <a:p>
            <a:pPr algn="l">
              <a:spcAft>
                <a:spcPts val="0"/>
              </a:spcAft>
            </a:pPr>
            <a:r>
              <a:rPr sz="700" b="1">
                <a:solidFill>
                  <a:srgbClr val="C8102E"/>
                </a:solidFill>
                <a:latin typeface="メイリオ" panose="020B0604030504040204" pitchFamily="50" charset="-128"/>
                <a:ea typeface="メイリオ" panose="020B0604030504040204" pitchFamily="50" charset="-128"/>
                <a:cs typeface="メイリオ"/>
              </a:rPr>
              <a:t>運用施策｜APIツール</a:t>
            </a:r>
          </a:p>
        </p:txBody>
      </p:sp>
      <p:cxnSp>
        <p:nvCxnSpPr>
          <p:cNvPr id="78" name="Connector 77">
            <a:extLst>
              <a:ext uri="{FF2B5EF4-FFF2-40B4-BE49-F238E27FC236}">
                <a16:creationId xmlns:a16="http://schemas.microsoft.com/office/drawing/2014/main" id="{14DA0944-ACF0-26E9-C341-0F08287E50E0}"/>
              </a:ext>
            </a:extLst>
          </p:cNvPr>
          <p:cNvCxnSpPr/>
          <p:nvPr/>
        </p:nvCxnSpPr>
        <p:spPr>
          <a:xfrm>
            <a:off x="5715000" y="4737462"/>
            <a:ext cx="274320" cy="0"/>
          </a:xfrm>
          <a:prstGeom prst="line">
            <a:avLst/>
          </a:prstGeom>
          <a:ln w="19050">
            <a:solidFill>
              <a:srgbClr val="C8102E"/>
            </a:solidFill>
          </a:ln>
        </p:spPr>
        <p:style>
          <a:lnRef idx="2">
            <a:schemeClr val="accent1"/>
          </a:lnRef>
          <a:fillRef idx="0">
            <a:schemeClr val="accent1"/>
          </a:fillRef>
          <a:effectRef idx="1">
            <a:schemeClr val="accent1"/>
          </a:effectRef>
          <a:fontRef idx="minor">
            <a:schemeClr val="tx1"/>
          </a:fontRef>
        </p:style>
      </p:cxnSp>
      <p:sp>
        <p:nvSpPr>
          <p:cNvPr id="79" name="Rectangle 78">
            <a:extLst>
              <a:ext uri="{FF2B5EF4-FFF2-40B4-BE49-F238E27FC236}">
                <a16:creationId xmlns:a16="http://schemas.microsoft.com/office/drawing/2014/main" id="{04741443-9216-D183-86C7-C1D3D8CD0F86}"/>
              </a:ext>
            </a:extLst>
          </p:cNvPr>
          <p:cNvSpPr/>
          <p:nvPr/>
        </p:nvSpPr>
        <p:spPr>
          <a:xfrm>
            <a:off x="5989320" y="4463142"/>
            <a:ext cx="3538728" cy="566928"/>
          </a:xfrm>
          <a:prstGeom prst="rect">
            <a:avLst/>
          </a:prstGeom>
          <a:solidFill>
            <a:srgbClr val="FFFFFF"/>
          </a:solidFill>
          <a:ln w="15875">
            <a:solidFill>
              <a:srgbClr val="C8102E"/>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80" name="Rectangle 79">
            <a:extLst>
              <a:ext uri="{FF2B5EF4-FFF2-40B4-BE49-F238E27FC236}">
                <a16:creationId xmlns:a16="http://schemas.microsoft.com/office/drawing/2014/main" id="{EF62B91B-5616-0CBB-42CD-ABFAF3770BE1}"/>
              </a:ext>
            </a:extLst>
          </p:cNvPr>
          <p:cNvSpPr/>
          <p:nvPr/>
        </p:nvSpPr>
        <p:spPr>
          <a:xfrm>
            <a:off x="5989320" y="4463142"/>
            <a:ext cx="73152" cy="566928"/>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81" name="Rectangle 80">
            <a:extLst>
              <a:ext uri="{FF2B5EF4-FFF2-40B4-BE49-F238E27FC236}">
                <a16:creationId xmlns:a16="http://schemas.microsoft.com/office/drawing/2014/main" id="{2D902E01-6B95-274E-8EFB-9F3B88059A6D}"/>
              </a:ext>
            </a:extLst>
          </p:cNvPr>
          <p:cNvSpPr/>
          <p:nvPr/>
        </p:nvSpPr>
        <p:spPr>
          <a:xfrm>
            <a:off x="6108192" y="4481429"/>
            <a:ext cx="3383280" cy="53035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18288" rIns="27432" bIns="18288" rtlCol="0" anchor="ctr"/>
          <a:lstStyle/>
          <a:p>
            <a:pPr algn="l">
              <a:spcAft>
                <a:spcPts val="0"/>
              </a:spcAft>
            </a:pPr>
            <a:r>
              <a:rPr sz="1000" b="1">
                <a:solidFill>
                  <a:srgbClr val="C8102E"/>
                </a:solidFill>
                <a:latin typeface="メイリオ" panose="020B0604030504040204" pitchFamily="50" charset="-128"/>
                <a:ea typeface="メイリオ" panose="020B0604030504040204" pitchFamily="50" charset="-128"/>
                <a:cs typeface="メイリオ"/>
              </a:rPr>
              <a:t>6　企画配信</a:t>
            </a:r>
          </a:p>
          <a:p>
            <a:pPr algn="l">
              <a:spcAft>
                <a:spcPts val="0"/>
              </a:spcAft>
            </a:pPr>
            <a:r>
              <a:rPr sz="800" b="0">
                <a:solidFill>
                  <a:srgbClr val="333333"/>
                </a:solidFill>
                <a:latin typeface="メイリオ" panose="020B0604030504040204" pitchFamily="50" charset="-128"/>
                <a:ea typeface="メイリオ" panose="020B0604030504040204" pitchFamily="50" charset="-128"/>
                <a:cs typeface="メイリオ"/>
              </a:rPr>
              <a:t>季節・キャンペーンに合わせた定期配信</a:t>
            </a:r>
          </a:p>
          <a:p>
            <a:pPr algn="l">
              <a:spcAft>
                <a:spcPts val="0"/>
              </a:spcAft>
            </a:pPr>
            <a:r>
              <a:rPr sz="700" b="1">
                <a:solidFill>
                  <a:srgbClr val="C8102E"/>
                </a:solidFill>
                <a:latin typeface="メイリオ" panose="020B0604030504040204" pitchFamily="50" charset="-128"/>
                <a:ea typeface="メイリオ" panose="020B0604030504040204" pitchFamily="50" charset="-128"/>
                <a:cs typeface="メイリオ"/>
              </a:rPr>
              <a:t>運用施策｜標準機能</a:t>
            </a:r>
          </a:p>
        </p:txBody>
      </p:sp>
      <p:cxnSp>
        <p:nvCxnSpPr>
          <p:cNvPr id="82" name="Connector 81">
            <a:extLst>
              <a:ext uri="{FF2B5EF4-FFF2-40B4-BE49-F238E27FC236}">
                <a16:creationId xmlns:a16="http://schemas.microsoft.com/office/drawing/2014/main" id="{9FBE9224-F179-3806-57FD-B70E3DD7299F}"/>
              </a:ext>
            </a:extLst>
          </p:cNvPr>
          <p:cNvCxnSpPr/>
          <p:nvPr/>
        </p:nvCxnSpPr>
        <p:spPr>
          <a:xfrm>
            <a:off x="5715000" y="5423262"/>
            <a:ext cx="274320" cy="0"/>
          </a:xfrm>
          <a:prstGeom prst="line">
            <a:avLst/>
          </a:prstGeom>
          <a:ln w="19050">
            <a:solidFill>
              <a:srgbClr val="1F2A5C"/>
            </a:solidFill>
          </a:ln>
        </p:spPr>
        <p:style>
          <a:lnRef idx="2">
            <a:schemeClr val="accent1"/>
          </a:lnRef>
          <a:fillRef idx="0">
            <a:schemeClr val="accent1"/>
          </a:fillRef>
          <a:effectRef idx="1">
            <a:schemeClr val="accent1"/>
          </a:effectRef>
          <a:fontRef idx="minor">
            <a:schemeClr val="tx1"/>
          </a:fontRef>
        </p:style>
      </p:cxnSp>
      <p:sp>
        <p:nvSpPr>
          <p:cNvPr id="83" name="Rectangle 82">
            <a:extLst>
              <a:ext uri="{FF2B5EF4-FFF2-40B4-BE49-F238E27FC236}">
                <a16:creationId xmlns:a16="http://schemas.microsoft.com/office/drawing/2014/main" id="{1AB67702-2E81-6221-4139-488E660CAB4E}"/>
              </a:ext>
            </a:extLst>
          </p:cNvPr>
          <p:cNvSpPr/>
          <p:nvPr/>
        </p:nvSpPr>
        <p:spPr>
          <a:xfrm>
            <a:off x="5989320" y="5121510"/>
            <a:ext cx="3538728" cy="566928"/>
          </a:xfrm>
          <a:prstGeom prst="rect">
            <a:avLst/>
          </a:prstGeom>
          <a:solidFill>
            <a:srgbClr val="FFFFFF"/>
          </a:solidFill>
          <a:ln w="15875">
            <a:solidFill>
              <a:srgbClr val="1F2A5C"/>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84" name="Rectangle 83">
            <a:extLst>
              <a:ext uri="{FF2B5EF4-FFF2-40B4-BE49-F238E27FC236}">
                <a16:creationId xmlns:a16="http://schemas.microsoft.com/office/drawing/2014/main" id="{3938AC4A-CD97-D0B1-CB8F-46DDCFAE35FE}"/>
              </a:ext>
            </a:extLst>
          </p:cNvPr>
          <p:cNvSpPr/>
          <p:nvPr/>
        </p:nvSpPr>
        <p:spPr>
          <a:xfrm>
            <a:off x="5989320" y="5121510"/>
            <a:ext cx="73152" cy="566928"/>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85" name="Rectangle 84">
            <a:extLst>
              <a:ext uri="{FF2B5EF4-FFF2-40B4-BE49-F238E27FC236}">
                <a16:creationId xmlns:a16="http://schemas.microsoft.com/office/drawing/2014/main" id="{E093121A-3AE3-1B04-1572-43FD309CC342}"/>
              </a:ext>
            </a:extLst>
          </p:cNvPr>
          <p:cNvSpPr/>
          <p:nvPr/>
        </p:nvSpPr>
        <p:spPr>
          <a:xfrm>
            <a:off x="6108192" y="5139797"/>
            <a:ext cx="3383280" cy="53035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18288" rIns="27432" bIns="18288" rtlCol="0" anchor="ctr"/>
          <a:lstStyle/>
          <a:p>
            <a:pPr algn="l">
              <a:spcAft>
                <a:spcPts val="0"/>
              </a:spcAft>
            </a:pPr>
            <a:r>
              <a:rPr sz="1000" b="1" dirty="0">
                <a:solidFill>
                  <a:srgbClr val="1F2A5C"/>
                </a:solidFill>
                <a:latin typeface="メイリオ" panose="020B0604030504040204" pitchFamily="50" charset="-128"/>
                <a:ea typeface="メイリオ" panose="020B0604030504040204" pitchFamily="50" charset="-128"/>
                <a:cs typeface="メイリオ"/>
              </a:rPr>
              <a:t>8　</a:t>
            </a:r>
            <a:r>
              <a:rPr sz="1000" b="1" dirty="0" err="1">
                <a:solidFill>
                  <a:srgbClr val="1F2A5C"/>
                </a:solidFill>
                <a:latin typeface="メイリオ" panose="020B0604030504040204" pitchFamily="50" charset="-128"/>
                <a:ea typeface="メイリオ" panose="020B0604030504040204" pitchFamily="50" charset="-128"/>
                <a:cs typeface="メイリオ"/>
              </a:rPr>
              <a:t>自動応答</a:t>
            </a:r>
            <a:endParaRPr sz="1000" b="1" dirty="0">
              <a:solidFill>
                <a:srgbClr val="1F2A5C"/>
              </a:solidFill>
              <a:latin typeface="メイリオ" panose="020B0604030504040204" pitchFamily="50" charset="-128"/>
              <a:ea typeface="メイリオ" panose="020B0604030504040204" pitchFamily="50" charset="-128"/>
              <a:cs typeface="メイリオ"/>
            </a:endParaRPr>
          </a:p>
          <a:p>
            <a:pPr algn="l">
              <a:spcAft>
                <a:spcPts val="0"/>
              </a:spcAft>
            </a:pPr>
            <a:r>
              <a:rPr sz="800" b="0" dirty="0" err="1">
                <a:solidFill>
                  <a:srgbClr val="333333"/>
                </a:solidFill>
                <a:latin typeface="メイリオ" panose="020B0604030504040204" pitchFamily="50" charset="-128"/>
                <a:ea typeface="メイリオ" panose="020B0604030504040204" pitchFamily="50" charset="-128"/>
                <a:cs typeface="メイリオ"/>
              </a:rPr>
              <a:t>キーワードに自動で返信</a:t>
            </a:r>
            <a:endParaRPr sz="800" b="0" dirty="0">
              <a:solidFill>
                <a:srgbClr val="333333"/>
              </a:solidFill>
              <a:latin typeface="メイリオ" panose="020B0604030504040204" pitchFamily="50" charset="-128"/>
              <a:ea typeface="メイリオ" panose="020B0604030504040204" pitchFamily="50" charset="-128"/>
              <a:cs typeface="メイリオ"/>
            </a:endParaRPr>
          </a:p>
          <a:p>
            <a:pPr algn="l">
              <a:spcAft>
                <a:spcPts val="0"/>
              </a:spcAft>
            </a:pPr>
            <a:r>
              <a:rPr sz="700" b="1" dirty="0" err="1">
                <a:solidFill>
                  <a:srgbClr val="1F2A5C"/>
                </a:solidFill>
                <a:latin typeface="メイリオ" panose="020B0604030504040204" pitchFamily="50" charset="-128"/>
                <a:ea typeface="メイリオ" panose="020B0604030504040204" pitchFamily="50" charset="-128"/>
                <a:cs typeface="メイリオ"/>
              </a:rPr>
              <a:t>初期標準設定｜標準（FAQ・有人は別途</a:t>
            </a:r>
            <a:r>
              <a:rPr sz="700" b="1" dirty="0">
                <a:solidFill>
                  <a:srgbClr val="1F2A5C"/>
                </a:solidFill>
                <a:latin typeface="メイリオ" panose="020B0604030504040204" pitchFamily="50" charset="-128"/>
                <a:ea typeface="メイリオ" panose="020B0604030504040204" pitchFamily="50" charset="-128"/>
                <a:cs typeface="メイリオ"/>
              </a:rPr>
              <a:t>）</a:t>
            </a:r>
          </a:p>
        </p:txBody>
      </p:sp>
      <p:cxnSp>
        <p:nvCxnSpPr>
          <p:cNvPr id="86" name="Connector 85">
            <a:extLst>
              <a:ext uri="{FF2B5EF4-FFF2-40B4-BE49-F238E27FC236}">
                <a16:creationId xmlns:a16="http://schemas.microsoft.com/office/drawing/2014/main" id="{4A507D46-E245-9BC1-8E49-9B98A20927EE}"/>
              </a:ext>
            </a:extLst>
          </p:cNvPr>
          <p:cNvCxnSpPr/>
          <p:nvPr/>
        </p:nvCxnSpPr>
        <p:spPr>
          <a:xfrm>
            <a:off x="5715000" y="6170022"/>
            <a:ext cx="274320" cy="0"/>
          </a:xfrm>
          <a:prstGeom prst="line">
            <a:avLst/>
          </a:prstGeom>
          <a:ln w="19050">
            <a:solidFill>
              <a:srgbClr val="1F2A5C"/>
            </a:solidFill>
          </a:ln>
        </p:spPr>
        <p:style>
          <a:lnRef idx="2">
            <a:schemeClr val="accent1"/>
          </a:lnRef>
          <a:fillRef idx="0">
            <a:schemeClr val="accent1"/>
          </a:fillRef>
          <a:effectRef idx="1">
            <a:schemeClr val="accent1"/>
          </a:effectRef>
          <a:fontRef idx="minor">
            <a:schemeClr val="tx1"/>
          </a:fontRef>
        </p:style>
      </p:cxnSp>
      <p:sp>
        <p:nvSpPr>
          <p:cNvPr id="87" name="Rectangle 86">
            <a:extLst>
              <a:ext uri="{FF2B5EF4-FFF2-40B4-BE49-F238E27FC236}">
                <a16:creationId xmlns:a16="http://schemas.microsoft.com/office/drawing/2014/main" id="{BA218128-D353-B007-1B9E-9CC4F4C7DA73}"/>
              </a:ext>
            </a:extLst>
          </p:cNvPr>
          <p:cNvSpPr/>
          <p:nvPr/>
        </p:nvSpPr>
        <p:spPr>
          <a:xfrm>
            <a:off x="5989320" y="5877414"/>
            <a:ext cx="3538728" cy="566928"/>
          </a:xfrm>
          <a:prstGeom prst="rect">
            <a:avLst/>
          </a:prstGeom>
          <a:solidFill>
            <a:srgbClr val="FFFFFF"/>
          </a:solidFill>
          <a:ln w="15875">
            <a:solidFill>
              <a:srgbClr val="1F2A5C"/>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88" name="Rectangle 87">
            <a:extLst>
              <a:ext uri="{FF2B5EF4-FFF2-40B4-BE49-F238E27FC236}">
                <a16:creationId xmlns:a16="http://schemas.microsoft.com/office/drawing/2014/main" id="{D31DED20-2693-1ECE-3338-7CEF9571C52B}"/>
              </a:ext>
            </a:extLst>
          </p:cNvPr>
          <p:cNvSpPr/>
          <p:nvPr/>
        </p:nvSpPr>
        <p:spPr>
          <a:xfrm>
            <a:off x="5989320" y="5877414"/>
            <a:ext cx="73152" cy="566928"/>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89" name="Rectangle 88">
            <a:extLst>
              <a:ext uri="{FF2B5EF4-FFF2-40B4-BE49-F238E27FC236}">
                <a16:creationId xmlns:a16="http://schemas.microsoft.com/office/drawing/2014/main" id="{D03442D7-B1E7-5F7B-CB6D-531AF520BA8B}"/>
              </a:ext>
            </a:extLst>
          </p:cNvPr>
          <p:cNvSpPr/>
          <p:nvPr/>
        </p:nvSpPr>
        <p:spPr>
          <a:xfrm>
            <a:off x="6108192" y="5895702"/>
            <a:ext cx="3383280" cy="53035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18288" rIns="27432" bIns="18288" rtlCol="0" anchor="ctr"/>
          <a:lstStyle/>
          <a:p>
            <a:pPr algn="l">
              <a:spcAft>
                <a:spcPts val="0"/>
              </a:spcAft>
            </a:pPr>
            <a:r>
              <a:rPr sz="1000" b="1">
                <a:solidFill>
                  <a:srgbClr val="1F2A5C"/>
                </a:solidFill>
                <a:latin typeface="メイリオ" panose="020B0604030504040204" pitchFamily="50" charset="-128"/>
                <a:ea typeface="メイリオ" panose="020B0604030504040204" pitchFamily="50" charset="-128"/>
                <a:cs typeface="メイリオ"/>
              </a:rPr>
              <a:t>7　リッチメニュー</a:t>
            </a:r>
          </a:p>
          <a:p>
            <a:pPr algn="l">
              <a:spcAft>
                <a:spcPts val="0"/>
              </a:spcAft>
            </a:pPr>
            <a:r>
              <a:rPr sz="800" b="0">
                <a:solidFill>
                  <a:srgbClr val="333333"/>
                </a:solidFill>
                <a:latin typeface="メイリオ" panose="020B0604030504040204" pitchFamily="50" charset="-128"/>
                <a:ea typeface="メイリオ" panose="020B0604030504040204" pitchFamily="50" charset="-128"/>
                <a:cs typeface="メイリオ"/>
              </a:rPr>
              <a:t>トーク下部に常時表示。1タップで行動</a:t>
            </a:r>
          </a:p>
          <a:p>
            <a:pPr algn="l">
              <a:spcAft>
                <a:spcPts val="0"/>
              </a:spcAft>
            </a:pPr>
            <a:r>
              <a:rPr sz="700" b="1">
                <a:solidFill>
                  <a:srgbClr val="1F2A5C"/>
                </a:solidFill>
                <a:latin typeface="メイリオ" panose="020B0604030504040204" pitchFamily="50" charset="-128"/>
                <a:ea typeface="メイリオ" panose="020B0604030504040204" pitchFamily="50" charset="-128"/>
                <a:cs typeface="メイリオ"/>
              </a:rPr>
              <a:t>初期標準設定｜標準機能</a:t>
            </a:r>
          </a:p>
        </p:txBody>
      </p:sp>
      <p:sp>
        <p:nvSpPr>
          <p:cNvPr id="90" name="Rectangle 89">
            <a:extLst>
              <a:ext uri="{FF2B5EF4-FFF2-40B4-BE49-F238E27FC236}">
                <a16:creationId xmlns:a16="http://schemas.microsoft.com/office/drawing/2014/main" id="{6504280E-50E9-27C6-B905-70CBC084EA6F}"/>
              </a:ext>
            </a:extLst>
          </p:cNvPr>
          <p:cNvSpPr/>
          <p:nvPr/>
        </p:nvSpPr>
        <p:spPr>
          <a:xfrm>
            <a:off x="384048" y="6822294"/>
            <a:ext cx="91440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t"/>
          <a:lstStyle/>
          <a:p>
            <a:pPr algn="l">
              <a:spcAft>
                <a:spcPts val="300"/>
              </a:spcAft>
            </a:pPr>
            <a:r>
              <a:rPr sz="600" b="0">
                <a:solidFill>
                  <a:srgbClr val="777777"/>
                </a:solidFill>
                <a:latin typeface="メイリオ" panose="020B0604030504040204" pitchFamily="50" charset="-128"/>
                <a:ea typeface="メイリオ" panose="020B0604030504040204" pitchFamily="50" charset="-128"/>
                <a:cs typeface="メイリオ"/>
              </a:rPr>
              <a:t>※ステップ配信・タグ・出し分けはAPI（拡張）ツールで実現するのが一般的。画面は動作イメージ（文言はサンプル）</a:t>
            </a:r>
          </a:p>
        </p:txBody>
      </p:sp>
      <p:sp>
        <p:nvSpPr>
          <p:cNvPr id="91" name="Rectangle 37">
            <a:extLst>
              <a:ext uri="{FF2B5EF4-FFF2-40B4-BE49-F238E27FC236}">
                <a16:creationId xmlns:a16="http://schemas.microsoft.com/office/drawing/2014/main" id="{815B0ED0-A740-600B-6C02-0EA2C830954C}"/>
              </a:ext>
            </a:extLst>
          </p:cNvPr>
          <p:cNvSpPr/>
          <p:nvPr/>
        </p:nvSpPr>
        <p:spPr>
          <a:xfrm>
            <a:off x="3504539" y="2556296"/>
            <a:ext cx="1493235" cy="233581"/>
          </a:xfrm>
          <a:prstGeom prst="rect">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900" b="1">
                <a:solidFill>
                  <a:srgbClr val="FFFFFF"/>
                </a:solidFill>
                <a:latin typeface="メイリオ" panose="020B0604030504040204" pitchFamily="50" charset="-128"/>
                <a:ea typeface="メイリオ" panose="020B0604030504040204" pitchFamily="50" charset="-128"/>
                <a:cs typeface="メイリオ"/>
              </a:rPr>
              <a:t>公式アカウント</a:t>
            </a:r>
          </a:p>
        </p:txBody>
      </p:sp>
      <p:sp>
        <p:nvSpPr>
          <p:cNvPr id="92" name="Oval 59">
            <a:extLst>
              <a:ext uri="{FF2B5EF4-FFF2-40B4-BE49-F238E27FC236}">
                <a16:creationId xmlns:a16="http://schemas.microsoft.com/office/drawing/2014/main" id="{AE3F0BB7-CAA2-7DC4-5444-A62887C4147B}"/>
              </a:ext>
            </a:extLst>
          </p:cNvPr>
          <p:cNvSpPr/>
          <p:nvPr/>
        </p:nvSpPr>
        <p:spPr>
          <a:xfrm>
            <a:off x="3063240" y="2634342"/>
            <a:ext cx="274320" cy="274320"/>
          </a:xfrm>
          <a:prstGeom prst="ellipse">
            <a:avLst/>
          </a:prstGeom>
          <a:solidFill>
            <a:srgbClr val="1F2A5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1000" b="1">
                <a:solidFill>
                  <a:srgbClr val="FFFFFF"/>
                </a:solidFill>
                <a:latin typeface="メイリオ" panose="020B0604030504040204" pitchFamily="50" charset="-128"/>
                <a:ea typeface="メイリオ" panose="020B0604030504040204" pitchFamily="50" charset="-128"/>
                <a:cs typeface="メイリオ"/>
              </a:rPr>
              <a:t>2</a:t>
            </a:r>
          </a:p>
        </p:txBody>
      </p:sp>
      <p:sp>
        <p:nvSpPr>
          <p:cNvPr id="93" name="Oval 39">
            <a:extLst>
              <a:ext uri="{FF2B5EF4-FFF2-40B4-BE49-F238E27FC236}">
                <a16:creationId xmlns:a16="http://schemas.microsoft.com/office/drawing/2014/main" id="{BD5572D2-C987-F20B-3DAE-F41EEAF2F9EC}"/>
              </a:ext>
            </a:extLst>
          </p:cNvPr>
          <p:cNvSpPr/>
          <p:nvPr/>
        </p:nvSpPr>
        <p:spPr>
          <a:xfrm>
            <a:off x="3310128" y="2771502"/>
            <a:ext cx="237744" cy="237744"/>
          </a:xfrm>
          <a:prstGeom prst="ellipse">
            <a:avLst/>
          </a:prstGeom>
          <a:solidFill>
            <a:srgbClr val="FFFFFF"/>
          </a:solidFill>
          <a:ln w="19050">
            <a:solidFill>
              <a:srgbClr val="06C755"/>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227854888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77116C-C503-AD0E-1DC9-89A610BC5463}"/>
            </a:ext>
          </a:extLst>
        </p:cNvPr>
        <p:cNvGrpSpPr/>
        <p:nvPr/>
      </p:nvGrpSpPr>
      <p:grpSpPr>
        <a:xfrm>
          <a:off x="0" y="0"/>
          <a:ext cx="0" cy="0"/>
          <a:chOff x="0" y="0"/>
          <a:chExt cx="0" cy="0"/>
        </a:xfrm>
      </p:grpSpPr>
      <p:sp>
        <p:nvSpPr>
          <p:cNvPr id="58" name="正方形/長方形 57">
            <a:extLst>
              <a:ext uri="{FF2B5EF4-FFF2-40B4-BE49-F238E27FC236}">
                <a16:creationId xmlns:a16="http://schemas.microsoft.com/office/drawing/2014/main" id="{3CAF7A2C-02DA-8C56-48F2-6F9C35F802AB}"/>
              </a:ext>
            </a:extLst>
          </p:cNvPr>
          <p:cNvSpPr/>
          <p:nvPr/>
        </p:nvSpPr>
        <p:spPr>
          <a:xfrm>
            <a:off x="96788" y="1045811"/>
            <a:ext cx="1935768" cy="21878"/>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3" name="正方形/長方形 2">
            <a:extLst>
              <a:ext uri="{FF2B5EF4-FFF2-40B4-BE49-F238E27FC236}">
                <a16:creationId xmlns:a16="http://schemas.microsoft.com/office/drawing/2014/main" id="{7E688361-05C3-950A-7ADB-027296FECB97}"/>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5" name="テキスト ボックス 4">
            <a:extLst>
              <a:ext uri="{FF2B5EF4-FFF2-40B4-BE49-F238E27FC236}">
                <a16:creationId xmlns:a16="http://schemas.microsoft.com/office/drawing/2014/main" id="{0798B0F8-1488-15A2-554D-D8BA88CE6CBC}"/>
              </a:ext>
            </a:extLst>
          </p:cNvPr>
          <p:cNvSpPr txBox="1"/>
          <p:nvPr/>
        </p:nvSpPr>
        <p:spPr>
          <a:xfrm>
            <a:off x="96788" y="619405"/>
            <a:ext cx="4961186" cy="369332"/>
          </a:xfrm>
          <a:prstGeom prst="rect">
            <a:avLst/>
          </a:prstGeom>
          <a:noFill/>
        </p:spPr>
        <p:txBody>
          <a:bodyPr wrap="square">
            <a:spAutoFit/>
          </a:bodyPr>
          <a:lstStyle/>
          <a:p>
            <a:r>
              <a:rPr lang="en-US" altLang="ja-JP"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a:t>
            </a:r>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施策一覧</a:t>
            </a:r>
            <a:endParaRPr lang="ja-JP" altLang="en-US" sz="1100" dirty="0"/>
          </a:p>
        </p:txBody>
      </p:sp>
      <p:sp>
        <p:nvSpPr>
          <p:cNvPr id="7" name="テキスト ボックス 6">
            <a:extLst>
              <a:ext uri="{FF2B5EF4-FFF2-40B4-BE49-F238E27FC236}">
                <a16:creationId xmlns:a16="http://schemas.microsoft.com/office/drawing/2014/main" id="{C3DDC107-5B3F-A510-D857-9EB2AC13C8E6}"/>
              </a:ext>
            </a:extLst>
          </p:cNvPr>
          <p:cNvSpPr txBox="1"/>
          <p:nvPr/>
        </p:nvSpPr>
        <p:spPr>
          <a:xfrm>
            <a:off x="96788" y="1202790"/>
            <a:ext cx="9687414" cy="307777"/>
          </a:xfrm>
          <a:prstGeom prst="rect">
            <a:avLst/>
          </a:prstGeom>
          <a:noFill/>
        </p:spPr>
        <p:txBody>
          <a:bodyPr wrap="square">
            <a:spAutoFit/>
          </a:bodyPr>
          <a:lstStyle/>
          <a:p>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機能ごとの区分と、各施策への有効度</a:t>
            </a:r>
            <a:endParaRPr lang="ja-JP" altLang="en-US" sz="1000" dirty="0"/>
          </a:p>
        </p:txBody>
      </p:sp>
      <p:sp>
        <p:nvSpPr>
          <p:cNvPr id="9" name="テキスト ボックス 8">
            <a:extLst>
              <a:ext uri="{FF2B5EF4-FFF2-40B4-BE49-F238E27FC236}">
                <a16:creationId xmlns:a16="http://schemas.microsoft.com/office/drawing/2014/main" id="{E73117CB-A562-540A-5859-170849730990}"/>
              </a:ext>
            </a:extLst>
          </p:cNvPr>
          <p:cNvSpPr txBox="1"/>
          <p:nvPr/>
        </p:nvSpPr>
        <p:spPr>
          <a:xfrm>
            <a:off x="460785" y="91159"/>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 前提調査</a:t>
            </a:r>
            <a:endParaRPr lang="ja-JP" altLang="en-US" sz="1100" dirty="0"/>
          </a:p>
        </p:txBody>
      </p:sp>
      <p:sp>
        <p:nvSpPr>
          <p:cNvPr id="90" name="Rectangle 89">
            <a:extLst>
              <a:ext uri="{FF2B5EF4-FFF2-40B4-BE49-F238E27FC236}">
                <a16:creationId xmlns:a16="http://schemas.microsoft.com/office/drawing/2014/main" id="{D3CD1414-1712-221C-F683-DBEB34A5718E}"/>
              </a:ext>
            </a:extLst>
          </p:cNvPr>
          <p:cNvSpPr/>
          <p:nvPr/>
        </p:nvSpPr>
        <p:spPr>
          <a:xfrm>
            <a:off x="384048" y="6308486"/>
            <a:ext cx="91440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t"/>
          <a:lstStyle/>
          <a:p>
            <a:pPr algn="l">
              <a:spcAft>
                <a:spcPts val="300"/>
              </a:spcAft>
            </a:pPr>
            <a:r>
              <a:rPr sz="600" b="0" dirty="0">
                <a:solidFill>
                  <a:srgbClr val="777777"/>
                </a:solidFill>
                <a:latin typeface="メイリオ" panose="020B0604030504040204" pitchFamily="50" charset="-128"/>
                <a:ea typeface="メイリオ" panose="020B0604030504040204" pitchFamily="50" charset="-128"/>
                <a:cs typeface="メイリオ"/>
              </a:rPr>
              <a:t>※</a:t>
            </a:r>
            <a:r>
              <a:rPr sz="600" b="0" dirty="0" err="1">
                <a:solidFill>
                  <a:srgbClr val="777777"/>
                </a:solidFill>
                <a:latin typeface="メイリオ" panose="020B0604030504040204" pitchFamily="50" charset="-128"/>
                <a:ea typeface="メイリオ" panose="020B0604030504040204" pitchFamily="50" charset="-128"/>
                <a:cs typeface="メイリオ"/>
              </a:rPr>
              <a:t>ステップ配信・タグ・出し分けはAPI（拡張）ツールで実現するのが一般的。画面は動作イメージ（文言はサンプル</a:t>
            </a:r>
            <a:r>
              <a:rPr sz="600" b="0" dirty="0">
                <a:solidFill>
                  <a:srgbClr val="777777"/>
                </a:solidFill>
                <a:latin typeface="メイリオ" panose="020B0604030504040204" pitchFamily="50" charset="-128"/>
                <a:ea typeface="メイリオ" panose="020B0604030504040204" pitchFamily="50" charset="-128"/>
                <a:cs typeface="メイリオ"/>
              </a:rPr>
              <a:t>）</a:t>
            </a:r>
          </a:p>
        </p:txBody>
      </p:sp>
      <p:sp>
        <p:nvSpPr>
          <p:cNvPr id="95" name="Rectangle 3">
            <a:extLst>
              <a:ext uri="{FF2B5EF4-FFF2-40B4-BE49-F238E27FC236}">
                <a16:creationId xmlns:a16="http://schemas.microsoft.com/office/drawing/2014/main" id="{49EA327F-E96A-0E42-51BE-B55AF4253D76}"/>
              </a:ext>
            </a:extLst>
          </p:cNvPr>
          <p:cNvSpPr/>
          <p:nvPr/>
        </p:nvSpPr>
        <p:spPr>
          <a:xfrm>
            <a:off x="384048" y="1772236"/>
            <a:ext cx="2167128" cy="349135"/>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100" b="1">
                <a:solidFill>
                  <a:srgbClr val="FFFFFF"/>
                </a:solidFill>
                <a:latin typeface="メイリオ"/>
                <a:ea typeface="メイリオ"/>
                <a:cs typeface="メイリオ"/>
              </a:rPr>
              <a:t>機能</a:t>
            </a:r>
          </a:p>
        </p:txBody>
      </p:sp>
      <p:sp>
        <p:nvSpPr>
          <p:cNvPr id="97" name="Rectangle 4">
            <a:extLst>
              <a:ext uri="{FF2B5EF4-FFF2-40B4-BE49-F238E27FC236}">
                <a16:creationId xmlns:a16="http://schemas.microsoft.com/office/drawing/2014/main" id="{A8E732CD-14AC-5A08-4E7F-82ED6AF4AA6B}"/>
              </a:ext>
            </a:extLst>
          </p:cNvPr>
          <p:cNvSpPr/>
          <p:nvPr/>
        </p:nvSpPr>
        <p:spPr>
          <a:xfrm>
            <a:off x="2578608" y="1772236"/>
            <a:ext cx="1161288" cy="349135"/>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100" b="1">
                <a:solidFill>
                  <a:srgbClr val="FFFFFF"/>
                </a:solidFill>
                <a:latin typeface="メイリオ"/>
                <a:ea typeface="メイリオ"/>
                <a:cs typeface="メイリオ"/>
              </a:rPr>
              <a:t>区分</a:t>
            </a:r>
          </a:p>
        </p:txBody>
      </p:sp>
      <p:sp>
        <p:nvSpPr>
          <p:cNvPr id="99" name="Rectangle 5">
            <a:extLst>
              <a:ext uri="{FF2B5EF4-FFF2-40B4-BE49-F238E27FC236}">
                <a16:creationId xmlns:a16="http://schemas.microsoft.com/office/drawing/2014/main" id="{D2E91A74-DE49-482E-7EBE-AD0D0EE66A34}"/>
              </a:ext>
            </a:extLst>
          </p:cNvPr>
          <p:cNvSpPr/>
          <p:nvPr/>
        </p:nvSpPr>
        <p:spPr>
          <a:xfrm>
            <a:off x="3767328" y="1772236"/>
            <a:ext cx="1124712" cy="349135"/>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100" b="1">
                <a:solidFill>
                  <a:srgbClr val="FFFFFF"/>
                </a:solidFill>
                <a:latin typeface="メイリオ"/>
                <a:ea typeface="メイリオ"/>
                <a:cs typeface="メイリオ"/>
              </a:rPr>
              <a:t>1 露出強化</a:t>
            </a:r>
          </a:p>
        </p:txBody>
      </p:sp>
      <p:sp>
        <p:nvSpPr>
          <p:cNvPr id="101" name="Rectangle 6">
            <a:extLst>
              <a:ext uri="{FF2B5EF4-FFF2-40B4-BE49-F238E27FC236}">
                <a16:creationId xmlns:a16="http://schemas.microsoft.com/office/drawing/2014/main" id="{C4777D6E-7DF6-A05E-5153-229B34E8BA1D}"/>
              </a:ext>
            </a:extLst>
          </p:cNvPr>
          <p:cNvSpPr/>
          <p:nvPr/>
        </p:nvSpPr>
        <p:spPr>
          <a:xfrm>
            <a:off x="4919472" y="1772236"/>
            <a:ext cx="1124712" cy="349135"/>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100" b="1">
                <a:solidFill>
                  <a:srgbClr val="FFFFFF"/>
                </a:solidFill>
                <a:latin typeface="メイリオ"/>
                <a:ea typeface="メイリオ"/>
                <a:cs typeface="メイリオ"/>
              </a:rPr>
              <a:t>2 CV</a:t>
            </a:r>
          </a:p>
        </p:txBody>
      </p:sp>
      <p:sp>
        <p:nvSpPr>
          <p:cNvPr id="103" name="Rectangle 7">
            <a:extLst>
              <a:ext uri="{FF2B5EF4-FFF2-40B4-BE49-F238E27FC236}">
                <a16:creationId xmlns:a16="http://schemas.microsoft.com/office/drawing/2014/main" id="{7EC19AA3-119E-E5FD-C316-5A3BEA9CE35A}"/>
              </a:ext>
            </a:extLst>
          </p:cNvPr>
          <p:cNvSpPr/>
          <p:nvPr/>
        </p:nvSpPr>
        <p:spPr>
          <a:xfrm>
            <a:off x="6071616" y="1772236"/>
            <a:ext cx="1124712" cy="349135"/>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100" b="1">
                <a:solidFill>
                  <a:srgbClr val="FFFFFF"/>
                </a:solidFill>
                <a:latin typeface="メイリオ"/>
                <a:ea typeface="メイリオ"/>
                <a:cs typeface="メイリオ"/>
              </a:rPr>
              <a:t>3 LTV・質</a:t>
            </a:r>
          </a:p>
        </p:txBody>
      </p:sp>
      <p:sp>
        <p:nvSpPr>
          <p:cNvPr id="105" name="Rectangle 8">
            <a:extLst>
              <a:ext uri="{FF2B5EF4-FFF2-40B4-BE49-F238E27FC236}">
                <a16:creationId xmlns:a16="http://schemas.microsoft.com/office/drawing/2014/main" id="{54AC6625-CD1A-C326-598A-628F361B05A1}"/>
              </a:ext>
            </a:extLst>
          </p:cNvPr>
          <p:cNvSpPr/>
          <p:nvPr/>
        </p:nvSpPr>
        <p:spPr>
          <a:xfrm>
            <a:off x="7223760" y="1772236"/>
            <a:ext cx="1124712" cy="349135"/>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100" b="1">
                <a:solidFill>
                  <a:srgbClr val="FFFFFF"/>
                </a:solidFill>
                <a:latin typeface="メイリオ"/>
                <a:ea typeface="メイリオ"/>
                <a:cs typeface="メイリオ"/>
              </a:rPr>
              <a:t>4 リピート</a:t>
            </a:r>
          </a:p>
        </p:txBody>
      </p:sp>
      <p:sp>
        <p:nvSpPr>
          <p:cNvPr id="107" name="Rectangle 9">
            <a:extLst>
              <a:ext uri="{FF2B5EF4-FFF2-40B4-BE49-F238E27FC236}">
                <a16:creationId xmlns:a16="http://schemas.microsoft.com/office/drawing/2014/main" id="{5E88DC84-02C4-EEA1-3E9D-0DFFE020630D}"/>
              </a:ext>
            </a:extLst>
          </p:cNvPr>
          <p:cNvSpPr/>
          <p:nvPr/>
        </p:nvSpPr>
        <p:spPr>
          <a:xfrm>
            <a:off x="8375904" y="1772236"/>
            <a:ext cx="1124712" cy="349135"/>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100" b="1">
                <a:solidFill>
                  <a:srgbClr val="FFFFFF"/>
                </a:solidFill>
                <a:latin typeface="メイリオ"/>
                <a:ea typeface="メイリオ"/>
                <a:cs typeface="メイリオ"/>
              </a:rPr>
              <a:t>5 コミュニティ</a:t>
            </a:r>
          </a:p>
        </p:txBody>
      </p:sp>
      <p:sp>
        <p:nvSpPr>
          <p:cNvPr id="109" name="Rectangle 10">
            <a:extLst>
              <a:ext uri="{FF2B5EF4-FFF2-40B4-BE49-F238E27FC236}">
                <a16:creationId xmlns:a16="http://schemas.microsoft.com/office/drawing/2014/main" id="{F8AF94DD-6BD0-815B-7F96-916DA7A75686}"/>
              </a:ext>
            </a:extLst>
          </p:cNvPr>
          <p:cNvSpPr/>
          <p:nvPr/>
        </p:nvSpPr>
        <p:spPr>
          <a:xfrm>
            <a:off x="384048" y="2148229"/>
            <a:ext cx="2167128" cy="436213"/>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tIns="18288" bIns="18288" rtlCol="0" anchor="ctr"/>
          <a:lstStyle/>
          <a:p>
            <a:pPr algn="l">
              <a:spcAft>
                <a:spcPts val="0"/>
              </a:spcAft>
            </a:pPr>
            <a:r>
              <a:rPr sz="1100" b="1">
                <a:solidFill>
                  <a:srgbClr val="1F2A5C"/>
                </a:solidFill>
                <a:latin typeface="メイリオ"/>
                <a:ea typeface="メイリオ"/>
                <a:cs typeface="メイリオ"/>
              </a:rPr>
              <a:t>① ポップアップ</a:t>
            </a:r>
          </a:p>
        </p:txBody>
      </p:sp>
      <p:sp>
        <p:nvSpPr>
          <p:cNvPr id="111" name="Rectangle 11">
            <a:extLst>
              <a:ext uri="{FF2B5EF4-FFF2-40B4-BE49-F238E27FC236}">
                <a16:creationId xmlns:a16="http://schemas.microsoft.com/office/drawing/2014/main" id="{EAC07884-840F-9E39-DF22-1A68ACDBB41F}"/>
              </a:ext>
            </a:extLst>
          </p:cNvPr>
          <p:cNvSpPr/>
          <p:nvPr/>
        </p:nvSpPr>
        <p:spPr>
          <a:xfrm>
            <a:off x="2578608" y="2148229"/>
            <a:ext cx="1161288"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1000" b="1">
                <a:solidFill>
                  <a:srgbClr val="C8102E"/>
                </a:solidFill>
                <a:latin typeface="メイリオ"/>
                <a:ea typeface="メイリオ"/>
                <a:cs typeface="メイリオ"/>
              </a:rPr>
              <a:t>入口</a:t>
            </a:r>
          </a:p>
        </p:txBody>
      </p:sp>
      <p:sp>
        <p:nvSpPr>
          <p:cNvPr id="113" name="Rectangle 12">
            <a:extLst>
              <a:ext uri="{FF2B5EF4-FFF2-40B4-BE49-F238E27FC236}">
                <a16:creationId xmlns:a16="http://schemas.microsoft.com/office/drawing/2014/main" id="{311D7915-7E63-7CCC-0695-EFC6BA2C3ADA}"/>
              </a:ext>
            </a:extLst>
          </p:cNvPr>
          <p:cNvSpPr/>
          <p:nvPr/>
        </p:nvSpPr>
        <p:spPr>
          <a:xfrm>
            <a:off x="3767328" y="2148229"/>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4A6FA5"/>
                </a:solidFill>
                <a:latin typeface="メイリオ"/>
                <a:ea typeface="メイリオ"/>
                <a:cs typeface="メイリオ"/>
              </a:rPr>
              <a:t>○</a:t>
            </a:r>
          </a:p>
        </p:txBody>
      </p:sp>
      <p:sp>
        <p:nvSpPr>
          <p:cNvPr id="115" name="Rectangle 13">
            <a:extLst>
              <a:ext uri="{FF2B5EF4-FFF2-40B4-BE49-F238E27FC236}">
                <a16:creationId xmlns:a16="http://schemas.microsoft.com/office/drawing/2014/main" id="{60BE805D-C095-F8E7-7A94-0B18AEB6F84C}"/>
              </a:ext>
            </a:extLst>
          </p:cNvPr>
          <p:cNvSpPr/>
          <p:nvPr/>
        </p:nvSpPr>
        <p:spPr>
          <a:xfrm>
            <a:off x="4919472" y="2148229"/>
            <a:ext cx="1124712" cy="436213"/>
          </a:xfrm>
          <a:prstGeom prst="rect">
            <a:avLst/>
          </a:prstGeom>
          <a:solidFill>
            <a:srgbClr val="FDF0F2"/>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C8102E"/>
                </a:solidFill>
                <a:latin typeface="メイリオ"/>
                <a:ea typeface="メイリオ"/>
                <a:cs typeface="メイリオ"/>
              </a:rPr>
              <a:t>◎</a:t>
            </a:r>
          </a:p>
        </p:txBody>
      </p:sp>
      <p:sp>
        <p:nvSpPr>
          <p:cNvPr id="117" name="Rectangle 14">
            <a:extLst>
              <a:ext uri="{FF2B5EF4-FFF2-40B4-BE49-F238E27FC236}">
                <a16:creationId xmlns:a16="http://schemas.microsoft.com/office/drawing/2014/main" id="{39625F34-980E-D2C8-E6DD-8B8B44D77878}"/>
              </a:ext>
            </a:extLst>
          </p:cNvPr>
          <p:cNvSpPr/>
          <p:nvPr/>
        </p:nvSpPr>
        <p:spPr>
          <a:xfrm>
            <a:off x="6071616" y="2148229"/>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endParaRPr/>
          </a:p>
        </p:txBody>
      </p:sp>
      <p:sp>
        <p:nvSpPr>
          <p:cNvPr id="119" name="Rectangle 15">
            <a:extLst>
              <a:ext uri="{FF2B5EF4-FFF2-40B4-BE49-F238E27FC236}">
                <a16:creationId xmlns:a16="http://schemas.microsoft.com/office/drawing/2014/main" id="{24EDAC7A-83AC-8541-1B88-A1D93D0649D0}"/>
              </a:ext>
            </a:extLst>
          </p:cNvPr>
          <p:cNvSpPr/>
          <p:nvPr/>
        </p:nvSpPr>
        <p:spPr>
          <a:xfrm>
            <a:off x="7223760" y="2148229"/>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endParaRPr/>
          </a:p>
        </p:txBody>
      </p:sp>
      <p:sp>
        <p:nvSpPr>
          <p:cNvPr id="121" name="Rectangle 16">
            <a:extLst>
              <a:ext uri="{FF2B5EF4-FFF2-40B4-BE49-F238E27FC236}">
                <a16:creationId xmlns:a16="http://schemas.microsoft.com/office/drawing/2014/main" id="{4DC3437B-9697-00DC-A150-0F58E0E7685B}"/>
              </a:ext>
            </a:extLst>
          </p:cNvPr>
          <p:cNvSpPr/>
          <p:nvPr/>
        </p:nvSpPr>
        <p:spPr>
          <a:xfrm>
            <a:off x="8375904" y="2148229"/>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4A6FA5"/>
                </a:solidFill>
                <a:latin typeface="メイリオ"/>
                <a:ea typeface="メイリオ"/>
                <a:cs typeface="メイリオ"/>
              </a:rPr>
              <a:t>○</a:t>
            </a:r>
          </a:p>
        </p:txBody>
      </p:sp>
      <p:sp>
        <p:nvSpPr>
          <p:cNvPr id="123" name="Rectangle 17">
            <a:extLst>
              <a:ext uri="{FF2B5EF4-FFF2-40B4-BE49-F238E27FC236}">
                <a16:creationId xmlns:a16="http://schemas.microsoft.com/office/drawing/2014/main" id="{A38047BC-377A-0AF5-F712-50F5C69AF30C}"/>
              </a:ext>
            </a:extLst>
          </p:cNvPr>
          <p:cNvSpPr/>
          <p:nvPr/>
        </p:nvSpPr>
        <p:spPr>
          <a:xfrm>
            <a:off x="384048" y="2643310"/>
            <a:ext cx="2167128" cy="436213"/>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tIns="18288" bIns="18288" rtlCol="0" anchor="ctr"/>
          <a:lstStyle/>
          <a:p>
            <a:pPr algn="l">
              <a:spcAft>
                <a:spcPts val="0"/>
              </a:spcAft>
            </a:pPr>
            <a:r>
              <a:rPr sz="1100" b="1">
                <a:solidFill>
                  <a:srgbClr val="1F2A5C"/>
                </a:solidFill>
                <a:latin typeface="メイリオ"/>
                <a:ea typeface="メイリオ"/>
                <a:cs typeface="メイリオ"/>
              </a:rPr>
              <a:t>② 挨拶メッセージ</a:t>
            </a:r>
          </a:p>
        </p:txBody>
      </p:sp>
      <p:sp>
        <p:nvSpPr>
          <p:cNvPr id="125" name="Rectangle 18">
            <a:extLst>
              <a:ext uri="{FF2B5EF4-FFF2-40B4-BE49-F238E27FC236}">
                <a16:creationId xmlns:a16="http://schemas.microsoft.com/office/drawing/2014/main" id="{A9F3AEF1-F5C3-F86D-A4DE-DC40884A3A77}"/>
              </a:ext>
            </a:extLst>
          </p:cNvPr>
          <p:cNvSpPr/>
          <p:nvPr/>
        </p:nvSpPr>
        <p:spPr>
          <a:xfrm>
            <a:off x="2578608" y="2643310"/>
            <a:ext cx="1161288"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1000" b="1">
                <a:solidFill>
                  <a:srgbClr val="1F2A5C"/>
                </a:solidFill>
                <a:latin typeface="メイリオ"/>
                <a:ea typeface="メイリオ"/>
                <a:cs typeface="メイリオ"/>
              </a:rPr>
              <a:t>初期標準</a:t>
            </a:r>
          </a:p>
        </p:txBody>
      </p:sp>
      <p:sp>
        <p:nvSpPr>
          <p:cNvPr id="127" name="Rectangle 19">
            <a:extLst>
              <a:ext uri="{FF2B5EF4-FFF2-40B4-BE49-F238E27FC236}">
                <a16:creationId xmlns:a16="http://schemas.microsoft.com/office/drawing/2014/main" id="{1A5FF7DD-0DFB-757E-EED7-59CFFD8427A5}"/>
              </a:ext>
            </a:extLst>
          </p:cNvPr>
          <p:cNvSpPr/>
          <p:nvPr/>
        </p:nvSpPr>
        <p:spPr>
          <a:xfrm>
            <a:off x="3767328" y="2643310"/>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endParaRPr/>
          </a:p>
        </p:txBody>
      </p:sp>
      <p:sp>
        <p:nvSpPr>
          <p:cNvPr id="129" name="Rectangle 20">
            <a:extLst>
              <a:ext uri="{FF2B5EF4-FFF2-40B4-BE49-F238E27FC236}">
                <a16:creationId xmlns:a16="http://schemas.microsoft.com/office/drawing/2014/main" id="{74E363AF-90CC-FE97-A178-1488F203CCC6}"/>
              </a:ext>
            </a:extLst>
          </p:cNvPr>
          <p:cNvSpPr/>
          <p:nvPr/>
        </p:nvSpPr>
        <p:spPr>
          <a:xfrm>
            <a:off x="4919472" y="2643310"/>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4A6FA5"/>
                </a:solidFill>
                <a:latin typeface="メイリオ"/>
                <a:ea typeface="メイリオ"/>
                <a:cs typeface="メイリオ"/>
              </a:rPr>
              <a:t>○</a:t>
            </a:r>
          </a:p>
        </p:txBody>
      </p:sp>
      <p:sp>
        <p:nvSpPr>
          <p:cNvPr id="131" name="Rectangle 21">
            <a:extLst>
              <a:ext uri="{FF2B5EF4-FFF2-40B4-BE49-F238E27FC236}">
                <a16:creationId xmlns:a16="http://schemas.microsoft.com/office/drawing/2014/main" id="{6AC96041-BB43-D3DA-9D34-9C915166E941}"/>
              </a:ext>
            </a:extLst>
          </p:cNvPr>
          <p:cNvSpPr/>
          <p:nvPr/>
        </p:nvSpPr>
        <p:spPr>
          <a:xfrm>
            <a:off x="6071616" y="2643310"/>
            <a:ext cx="1124712" cy="436213"/>
          </a:xfrm>
          <a:prstGeom prst="rect">
            <a:avLst/>
          </a:prstGeom>
          <a:solidFill>
            <a:srgbClr val="FDF0F2"/>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C8102E"/>
                </a:solidFill>
                <a:latin typeface="メイリオ"/>
                <a:ea typeface="メイリオ"/>
                <a:cs typeface="メイリオ"/>
              </a:rPr>
              <a:t>◎</a:t>
            </a:r>
          </a:p>
        </p:txBody>
      </p:sp>
      <p:sp>
        <p:nvSpPr>
          <p:cNvPr id="133" name="Rectangle 22">
            <a:extLst>
              <a:ext uri="{FF2B5EF4-FFF2-40B4-BE49-F238E27FC236}">
                <a16:creationId xmlns:a16="http://schemas.microsoft.com/office/drawing/2014/main" id="{06964474-BEB7-B1A3-7CC2-7091782D3005}"/>
              </a:ext>
            </a:extLst>
          </p:cNvPr>
          <p:cNvSpPr/>
          <p:nvPr/>
        </p:nvSpPr>
        <p:spPr>
          <a:xfrm>
            <a:off x="7223760" y="2643310"/>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endParaRPr/>
          </a:p>
        </p:txBody>
      </p:sp>
      <p:sp>
        <p:nvSpPr>
          <p:cNvPr id="135" name="Rectangle 23">
            <a:extLst>
              <a:ext uri="{FF2B5EF4-FFF2-40B4-BE49-F238E27FC236}">
                <a16:creationId xmlns:a16="http://schemas.microsoft.com/office/drawing/2014/main" id="{8D23914E-C971-EE96-4111-076CA6C88E76}"/>
              </a:ext>
            </a:extLst>
          </p:cNvPr>
          <p:cNvSpPr/>
          <p:nvPr/>
        </p:nvSpPr>
        <p:spPr>
          <a:xfrm>
            <a:off x="8375904" y="2643310"/>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4A6FA5"/>
                </a:solidFill>
                <a:latin typeface="メイリオ"/>
                <a:ea typeface="メイリオ"/>
                <a:cs typeface="メイリオ"/>
              </a:rPr>
              <a:t>○</a:t>
            </a:r>
          </a:p>
        </p:txBody>
      </p:sp>
      <p:sp>
        <p:nvSpPr>
          <p:cNvPr id="137" name="Rectangle 24">
            <a:extLst>
              <a:ext uri="{FF2B5EF4-FFF2-40B4-BE49-F238E27FC236}">
                <a16:creationId xmlns:a16="http://schemas.microsoft.com/office/drawing/2014/main" id="{9A69F835-F2FD-D659-DCE3-F67F1A44358D}"/>
              </a:ext>
            </a:extLst>
          </p:cNvPr>
          <p:cNvSpPr/>
          <p:nvPr/>
        </p:nvSpPr>
        <p:spPr>
          <a:xfrm>
            <a:off x="384048" y="3138391"/>
            <a:ext cx="2167128" cy="436213"/>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tIns="18288" bIns="18288" rtlCol="0" anchor="ctr"/>
          <a:lstStyle/>
          <a:p>
            <a:pPr algn="l">
              <a:spcAft>
                <a:spcPts val="0"/>
              </a:spcAft>
            </a:pPr>
            <a:r>
              <a:rPr sz="1100" b="1">
                <a:solidFill>
                  <a:srgbClr val="1F2A5C"/>
                </a:solidFill>
                <a:latin typeface="メイリオ"/>
                <a:ea typeface="メイリオ"/>
                <a:cs typeface="メイリオ"/>
              </a:rPr>
              <a:t>③ アンケート</a:t>
            </a:r>
          </a:p>
        </p:txBody>
      </p:sp>
      <p:sp>
        <p:nvSpPr>
          <p:cNvPr id="139" name="Rectangle 25">
            <a:extLst>
              <a:ext uri="{FF2B5EF4-FFF2-40B4-BE49-F238E27FC236}">
                <a16:creationId xmlns:a16="http://schemas.microsoft.com/office/drawing/2014/main" id="{73D5E841-C5F6-49BC-FC6C-246893B9A073}"/>
              </a:ext>
            </a:extLst>
          </p:cNvPr>
          <p:cNvSpPr/>
          <p:nvPr/>
        </p:nvSpPr>
        <p:spPr>
          <a:xfrm>
            <a:off x="2578608" y="3138391"/>
            <a:ext cx="1161288"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1000" b="1">
                <a:solidFill>
                  <a:srgbClr val="C8102E"/>
                </a:solidFill>
                <a:latin typeface="メイリオ"/>
                <a:ea typeface="メイリオ"/>
                <a:cs typeface="メイリオ"/>
              </a:rPr>
              <a:t>運用</a:t>
            </a:r>
          </a:p>
        </p:txBody>
      </p:sp>
      <p:sp>
        <p:nvSpPr>
          <p:cNvPr id="141" name="Rectangle 26">
            <a:extLst>
              <a:ext uri="{FF2B5EF4-FFF2-40B4-BE49-F238E27FC236}">
                <a16:creationId xmlns:a16="http://schemas.microsoft.com/office/drawing/2014/main" id="{6E33CD1B-69FA-AAA6-AC07-587E543F496B}"/>
              </a:ext>
            </a:extLst>
          </p:cNvPr>
          <p:cNvSpPr/>
          <p:nvPr/>
        </p:nvSpPr>
        <p:spPr>
          <a:xfrm>
            <a:off x="3767328" y="3138391"/>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endParaRPr/>
          </a:p>
        </p:txBody>
      </p:sp>
      <p:sp>
        <p:nvSpPr>
          <p:cNvPr id="143" name="Rectangle 27">
            <a:extLst>
              <a:ext uri="{FF2B5EF4-FFF2-40B4-BE49-F238E27FC236}">
                <a16:creationId xmlns:a16="http://schemas.microsoft.com/office/drawing/2014/main" id="{B1237B51-61FD-415A-B88D-9D4093177C7E}"/>
              </a:ext>
            </a:extLst>
          </p:cNvPr>
          <p:cNvSpPr/>
          <p:nvPr/>
        </p:nvSpPr>
        <p:spPr>
          <a:xfrm>
            <a:off x="4919472" y="3138391"/>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4A6FA5"/>
                </a:solidFill>
                <a:latin typeface="メイリオ"/>
                <a:ea typeface="メイリオ"/>
                <a:cs typeface="メイリオ"/>
              </a:rPr>
              <a:t>○</a:t>
            </a:r>
          </a:p>
        </p:txBody>
      </p:sp>
      <p:sp>
        <p:nvSpPr>
          <p:cNvPr id="145" name="Rectangle 28">
            <a:extLst>
              <a:ext uri="{FF2B5EF4-FFF2-40B4-BE49-F238E27FC236}">
                <a16:creationId xmlns:a16="http://schemas.microsoft.com/office/drawing/2014/main" id="{698EED6C-FFE7-DAA0-F5E4-938EB0082F32}"/>
              </a:ext>
            </a:extLst>
          </p:cNvPr>
          <p:cNvSpPr/>
          <p:nvPr/>
        </p:nvSpPr>
        <p:spPr>
          <a:xfrm>
            <a:off x="6071616" y="3138391"/>
            <a:ext cx="1124712" cy="436213"/>
          </a:xfrm>
          <a:prstGeom prst="rect">
            <a:avLst/>
          </a:prstGeom>
          <a:solidFill>
            <a:srgbClr val="FDF0F2"/>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C8102E"/>
                </a:solidFill>
                <a:latin typeface="メイリオ"/>
                <a:ea typeface="メイリオ"/>
                <a:cs typeface="メイリオ"/>
              </a:rPr>
              <a:t>◎</a:t>
            </a:r>
          </a:p>
        </p:txBody>
      </p:sp>
      <p:sp>
        <p:nvSpPr>
          <p:cNvPr id="147" name="Rectangle 29">
            <a:extLst>
              <a:ext uri="{FF2B5EF4-FFF2-40B4-BE49-F238E27FC236}">
                <a16:creationId xmlns:a16="http://schemas.microsoft.com/office/drawing/2014/main" id="{39F28ADA-54CB-21A9-D4E0-5A9FC11D5B5E}"/>
              </a:ext>
            </a:extLst>
          </p:cNvPr>
          <p:cNvSpPr/>
          <p:nvPr/>
        </p:nvSpPr>
        <p:spPr>
          <a:xfrm>
            <a:off x="7223760" y="3138391"/>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4A6FA5"/>
                </a:solidFill>
                <a:latin typeface="メイリオ"/>
                <a:ea typeface="メイリオ"/>
                <a:cs typeface="メイリオ"/>
              </a:rPr>
              <a:t>○</a:t>
            </a:r>
          </a:p>
        </p:txBody>
      </p:sp>
      <p:sp>
        <p:nvSpPr>
          <p:cNvPr id="149" name="Rectangle 30">
            <a:extLst>
              <a:ext uri="{FF2B5EF4-FFF2-40B4-BE49-F238E27FC236}">
                <a16:creationId xmlns:a16="http://schemas.microsoft.com/office/drawing/2014/main" id="{05051530-F83D-00C2-4F87-FEB4B1CF2797}"/>
              </a:ext>
            </a:extLst>
          </p:cNvPr>
          <p:cNvSpPr/>
          <p:nvPr/>
        </p:nvSpPr>
        <p:spPr>
          <a:xfrm>
            <a:off x="8375904" y="3138391"/>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endParaRPr/>
          </a:p>
        </p:txBody>
      </p:sp>
      <p:sp>
        <p:nvSpPr>
          <p:cNvPr id="151" name="Rectangle 31">
            <a:extLst>
              <a:ext uri="{FF2B5EF4-FFF2-40B4-BE49-F238E27FC236}">
                <a16:creationId xmlns:a16="http://schemas.microsoft.com/office/drawing/2014/main" id="{61A04942-3698-E590-BEA7-6EF906A190B1}"/>
              </a:ext>
            </a:extLst>
          </p:cNvPr>
          <p:cNvSpPr/>
          <p:nvPr/>
        </p:nvSpPr>
        <p:spPr>
          <a:xfrm>
            <a:off x="384048" y="3633472"/>
            <a:ext cx="2167128" cy="436213"/>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tIns="18288" bIns="18288" rtlCol="0" anchor="ctr"/>
          <a:lstStyle/>
          <a:p>
            <a:pPr algn="l">
              <a:spcAft>
                <a:spcPts val="0"/>
              </a:spcAft>
            </a:pPr>
            <a:r>
              <a:rPr sz="1100" b="1">
                <a:solidFill>
                  <a:srgbClr val="1F2A5C"/>
                </a:solidFill>
                <a:latin typeface="メイリオ"/>
                <a:ea typeface="メイリオ"/>
                <a:cs typeface="メイリオ"/>
              </a:rPr>
              <a:t>④ タグ・セグメント</a:t>
            </a:r>
          </a:p>
        </p:txBody>
      </p:sp>
      <p:sp>
        <p:nvSpPr>
          <p:cNvPr id="153" name="Rectangle 32">
            <a:extLst>
              <a:ext uri="{FF2B5EF4-FFF2-40B4-BE49-F238E27FC236}">
                <a16:creationId xmlns:a16="http://schemas.microsoft.com/office/drawing/2014/main" id="{1E39E853-C262-3BCD-C77F-9B94DE1F207C}"/>
              </a:ext>
            </a:extLst>
          </p:cNvPr>
          <p:cNvSpPr/>
          <p:nvPr/>
        </p:nvSpPr>
        <p:spPr>
          <a:xfrm>
            <a:off x="2578608" y="3633472"/>
            <a:ext cx="1161288"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1000" b="1">
                <a:solidFill>
                  <a:srgbClr val="C8102E"/>
                </a:solidFill>
                <a:latin typeface="メイリオ"/>
                <a:ea typeface="メイリオ"/>
                <a:cs typeface="メイリオ"/>
              </a:rPr>
              <a:t>運用</a:t>
            </a:r>
          </a:p>
        </p:txBody>
      </p:sp>
      <p:sp>
        <p:nvSpPr>
          <p:cNvPr id="155" name="Rectangle 33">
            <a:extLst>
              <a:ext uri="{FF2B5EF4-FFF2-40B4-BE49-F238E27FC236}">
                <a16:creationId xmlns:a16="http://schemas.microsoft.com/office/drawing/2014/main" id="{7DDE9A5B-F57A-CB76-B304-0E68CA66FC16}"/>
              </a:ext>
            </a:extLst>
          </p:cNvPr>
          <p:cNvSpPr/>
          <p:nvPr/>
        </p:nvSpPr>
        <p:spPr>
          <a:xfrm>
            <a:off x="3767328" y="3633472"/>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4A6FA5"/>
                </a:solidFill>
                <a:latin typeface="メイリオ"/>
                <a:ea typeface="メイリオ"/>
                <a:cs typeface="メイリオ"/>
              </a:rPr>
              <a:t>○</a:t>
            </a:r>
          </a:p>
        </p:txBody>
      </p:sp>
      <p:sp>
        <p:nvSpPr>
          <p:cNvPr id="157" name="Rectangle 34">
            <a:extLst>
              <a:ext uri="{FF2B5EF4-FFF2-40B4-BE49-F238E27FC236}">
                <a16:creationId xmlns:a16="http://schemas.microsoft.com/office/drawing/2014/main" id="{3A07BE12-AC72-F155-28A9-47640CE9BCD1}"/>
              </a:ext>
            </a:extLst>
          </p:cNvPr>
          <p:cNvSpPr/>
          <p:nvPr/>
        </p:nvSpPr>
        <p:spPr>
          <a:xfrm>
            <a:off x="4919472" y="3633472"/>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endParaRPr/>
          </a:p>
        </p:txBody>
      </p:sp>
      <p:sp>
        <p:nvSpPr>
          <p:cNvPr id="159" name="Rectangle 35">
            <a:extLst>
              <a:ext uri="{FF2B5EF4-FFF2-40B4-BE49-F238E27FC236}">
                <a16:creationId xmlns:a16="http://schemas.microsoft.com/office/drawing/2014/main" id="{027726E8-B7E9-98DB-B7EA-DD4F11AB37AF}"/>
              </a:ext>
            </a:extLst>
          </p:cNvPr>
          <p:cNvSpPr/>
          <p:nvPr/>
        </p:nvSpPr>
        <p:spPr>
          <a:xfrm>
            <a:off x="6071616" y="3633472"/>
            <a:ext cx="1124712" cy="436213"/>
          </a:xfrm>
          <a:prstGeom prst="rect">
            <a:avLst/>
          </a:prstGeom>
          <a:solidFill>
            <a:srgbClr val="FDF0F2"/>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C8102E"/>
                </a:solidFill>
                <a:latin typeface="メイリオ"/>
                <a:ea typeface="メイリオ"/>
                <a:cs typeface="メイリオ"/>
              </a:rPr>
              <a:t>◎</a:t>
            </a:r>
          </a:p>
        </p:txBody>
      </p:sp>
      <p:sp>
        <p:nvSpPr>
          <p:cNvPr id="161" name="Rectangle 36">
            <a:extLst>
              <a:ext uri="{FF2B5EF4-FFF2-40B4-BE49-F238E27FC236}">
                <a16:creationId xmlns:a16="http://schemas.microsoft.com/office/drawing/2014/main" id="{BD93EC24-9E89-5DFD-1A06-5A3F18ADE95C}"/>
              </a:ext>
            </a:extLst>
          </p:cNvPr>
          <p:cNvSpPr/>
          <p:nvPr/>
        </p:nvSpPr>
        <p:spPr>
          <a:xfrm>
            <a:off x="7223760" y="3633472"/>
            <a:ext cx="1124712" cy="436213"/>
          </a:xfrm>
          <a:prstGeom prst="rect">
            <a:avLst/>
          </a:prstGeom>
          <a:solidFill>
            <a:srgbClr val="FDF0F2"/>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C8102E"/>
                </a:solidFill>
                <a:latin typeface="メイリオ"/>
                <a:ea typeface="メイリオ"/>
                <a:cs typeface="メイリオ"/>
              </a:rPr>
              <a:t>◎</a:t>
            </a:r>
          </a:p>
        </p:txBody>
      </p:sp>
      <p:sp>
        <p:nvSpPr>
          <p:cNvPr id="163" name="Rectangle 37">
            <a:extLst>
              <a:ext uri="{FF2B5EF4-FFF2-40B4-BE49-F238E27FC236}">
                <a16:creationId xmlns:a16="http://schemas.microsoft.com/office/drawing/2014/main" id="{CC63009F-72DA-DCD6-5469-085A390B1CFE}"/>
              </a:ext>
            </a:extLst>
          </p:cNvPr>
          <p:cNvSpPr/>
          <p:nvPr/>
        </p:nvSpPr>
        <p:spPr>
          <a:xfrm>
            <a:off x="8375904" y="3633472"/>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4A6FA5"/>
                </a:solidFill>
                <a:latin typeface="メイリオ"/>
                <a:ea typeface="メイリオ"/>
                <a:cs typeface="メイリオ"/>
              </a:rPr>
              <a:t>○</a:t>
            </a:r>
          </a:p>
        </p:txBody>
      </p:sp>
      <p:sp>
        <p:nvSpPr>
          <p:cNvPr id="165" name="Rectangle 38">
            <a:extLst>
              <a:ext uri="{FF2B5EF4-FFF2-40B4-BE49-F238E27FC236}">
                <a16:creationId xmlns:a16="http://schemas.microsoft.com/office/drawing/2014/main" id="{7B60F0BC-54A4-8C7F-5CFA-B0D158A96A5B}"/>
              </a:ext>
            </a:extLst>
          </p:cNvPr>
          <p:cNvSpPr/>
          <p:nvPr/>
        </p:nvSpPr>
        <p:spPr>
          <a:xfrm>
            <a:off x="384048" y="4128552"/>
            <a:ext cx="2167128" cy="436213"/>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tIns="18288" bIns="18288" rtlCol="0" anchor="ctr"/>
          <a:lstStyle/>
          <a:p>
            <a:pPr algn="l">
              <a:spcAft>
                <a:spcPts val="0"/>
              </a:spcAft>
            </a:pPr>
            <a:r>
              <a:rPr sz="1100" b="1">
                <a:solidFill>
                  <a:srgbClr val="1F2A5C"/>
                </a:solidFill>
                <a:latin typeface="メイリオ"/>
                <a:ea typeface="メイリオ"/>
                <a:cs typeface="メイリオ"/>
              </a:rPr>
              <a:t>⑤ ステップ配信</a:t>
            </a:r>
          </a:p>
        </p:txBody>
      </p:sp>
      <p:sp>
        <p:nvSpPr>
          <p:cNvPr id="167" name="Rectangle 39">
            <a:extLst>
              <a:ext uri="{FF2B5EF4-FFF2-40B4-BE49-F238E27FC236}">
                <a16:creationId xmlns:a16="http://schemas.microsoft.com/office/drawing/2014/main" id="{806AF363-F59B-F87D-1131-F239AB9F2E26}"/>
              </a:ext>
            </a:extLst>
          </p:cNvPr>
          <p:cNvSpPr/>
          <p:nvPr/>
        </p:nvSpPr>
        <p:spPr>
          <a:xfrm>
            <a:off x="2578608" y="4128552"/>
            <a:ext cx="1161288"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1000" b="1">
                <a:solidFill>
                  <a:srgbClr val="C8102E"/>
                </a:solidFill>
                <a:latin typeface="メイリオ"/>
                <a:ea typeface="メイリオ"/>
                <a:cs typeface="メイリオ"/>
              </a:rPr>
              <a:t>運用</a:t>
            </a:r>
          </a:p>
        </p:txBody>
      </p:sp>
      <p:sp>
        <p:nvSpPr>
          <p:cNvPr id="169" name="Rectangle 40">
            <a:extLst>
              <a:ext uri="{FF2B5EF4-FFF2-40B4-BE49-F238E27FC236}">
                <a16:creationId xmlns:a16="http://schemas.microsoft.com/office/drawing/2014/main" id="{75CC7116-0D68-AEE0-F3AA-5738E7C9F663}"/>
              </a:ext>
            </a:extLst>
          </p:cNvPr>
          <p:cNvSpPr/>
          <p:nvPr/>
        </p:nvSpPr>
        <p:spPr>
          <a:xfrm>
            <a:off x="3767328" y="4128552"/>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endParaRPr/>
          </a:p>
        </p:txBody>
      </p:sp>
      <p:sp>
        <p:nvSpPr>
          <p:cNvPr id="171" name="Rectangle 41">
            <a:extLst>
              <a:ext uri="{FF2B5EF4-FFF2-40B4-BE49-F238E27FC236}">
                <a16:creationId xmlns:a16="http://schemas.microsoft.com/office/drawing/2014/main" id="{0331AD44-DDB1-9676-B388-6C92C21A0A0D}"/>
              </a:ext>
            </a:extLst>
          </p:cNvPr>
          <p:cNvSpPr/>
          <p:nvPr/>
        </p:nvSpPr>
        <p:spPr>
          <a:xfrm>
            <a:off x="4919472" y="4128552"/>
            <a:ext cx="1124712" cy="436213"/>
          </a:xfrm>
          <a:prstGeom prst="rect">
            <a:avLst/>
          </a:prstGeom>
          <a:solidFill>
            <a:srgbClr val="FDF0F2"/>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C8102E"/>
                </a:solidFill>
                <a:latin typeface="メイリオ"/>
                <a:ea typeface="メイリオ"/>
                <a:cs typeface="メイリオ"/>
              </a:rPr>
              <a:t>◎</a:t>
            </a:r>
          </a:p>
        </p:txBody>
      </p:sp>
      <p:sp>
        <p:nvSpPr>
          <p:cNvPr id="173" name="Rectangle 42">
            <a:extLst>
              <a:ext uri="{FF2B5EF4-FFF2-40B4-BE49-F238E27FC236}">
                <a16:creationId xmlns:a16="http://schemas.microsoft.com/office/drawing/2014/main" id="{E8FFC0A2-2357-92B7-1C19-EEA69C76294B}"/>
              </a:ext>
            </a:extLst>
          </p:cNvPr>
          <p:cNvSpPr/>
          <p:nvPr/>
        </p:nvSpPr>
        <p:spPr>
          <a:xfrm>
            <a:off x="6071616" y="4128552"/>
            <a:ext cx="1124712" cy="436213"/>
          </a:xfrm>
          <a:prstGeom prst="rect">
            <a:avLst/>
          </a:prstGeom>
          <a:solidFill>
            <a:srgbClr val="FDF0F2"/>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C8102E"/>
                </a:solidFill>
                <a:latin typeface="メイリオ"/>
                <a:ea typeface="メイリオ"/>
                <a:cs typeface="メイリオ"/>
              </a:rPr>
              <a:t>◎</a:t>
            </a:r>
          </a:p>
        </p:txBody>
      </p:sp>
      <p:sp>
        <p:nvSpPr>
          <p:cNvPr id="175" name="Rectangle 43">
            <a:extLst>
              <a:ext uri="{FF2B5EF4-FFF2-40B4-BE49-F238E27FC236}">
                <a16:creationId xmlns:a16="http://schemas.microsoft.com/office/drawing/2014/main" id="{6B13204F-831A-41C7-355D-11C8A35D7F53}"/>
              </a:ext>
            </a:extLst>
          </p:cNvPr>
          <p:cNvSpPr/>
          <p:nvPr/>
        </p:nvSpPr>
        <p:spPr>
          <a:xfrm>
            <a:off x="7223760" y="4128552"/>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4A6FA5"/>
                </a:solidFill>
                <a:latin typeface="メイリオ"/>
                <a:ea typeface="メイリオ"/>
                <a:cs typeface="メイリオ"/>
              </a:rPr>
              <a:t>○</a:t>
            </a:r>
          </a:p>
        </p:txBody>
      </p:sp>
      <p:sp>
        <p:nvSpPr>
          <p:cNvPr id="177" name="Rectangle 44">
            <a:extLst>
              <a:ext uri="{FF2B5EF4-FFF2-40B4-BE49-F238E27FC236}">
                <a16:creationId xmlns:a16="http://schemas.microsoft.com/office/drawing/2014/main" id="{97032AD7-3026-A0FE-32F3-DD27D7313366}"/>
              </a:ext>
            </a:extLst>
          </p:cNvPr>
          <p:cNvSpPr/>
          <p:nvPr/>
        </p:nvSpPr>
        <p:spPr>
          <a:xfrm>
            <a:off x="8375904" y="4128552"/>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endParaRPr/>
          </a:p>
        </p:txBody>
      </p:sp>
      <p:sp>
        <p:nvSpPr>
          <p:cNvPr id="179" name="Rectangle 45">
            <a:extLst>
              <a:ext uri="{FF2B5EF4-FFF2-40B4-BE49-F238E27FC236}">
                <a16:creationId xmlns:a16="http://schemas.microsoft.com/office/drawing/2014/main" id="{3ADF3E0A-9911-06FB-98B2-85AD95D9DC05}"/>
              </a:ext>
            </a:extLst>
          </p:cNvPr>
          <p:cNvSpPr/>
          <p:nvPr/>
        </p:nvSpPr>
        <p:spPr>
          <a:xfrm>
            <a:off x="384048" y="4623634"/>
            <a:ext cx="2167128" cy="436213"/>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tIns="18288" bIns="18288" rtlCol="0" anchor="ctr"/>
          <a:lstStyle/>
          <a:p>
            <a:pPr algn="l">
              <a:spcAft>
                <a:spcPts val="0"/>
              </a:spcAft>
            </a:pPr>
            <a:r>
              <a:rPr sz="1100" b="1">
                <a:solidFill>
                  <a:srgbClr val="1F2A5C"/>
                </a:solidFill>
                <a:latin typeface="メイリオ"/>
                <a:ea typeface="メイリオ"/>
                <a:cs typeface="メイリオ"/>
              </a:rPr>
              <a:t>⑥ 企画配信</a:t>
            </a:r>
          </a:p>
        </p:txBody>
      </p:sp>
      <p:sp>
        <p:nvSpPr>
          <p:cNvPr id="181" name="Rectangle 46">
            <a:extLst>
              <a:ext uri="{FF2B5EF4-FFF2-40B4-BE49-F238E27FC236}">
                <a16:creationId xmlns:a16="http://schemas.microsoft.com/office/drawing/2014/main" id="{81A43C7F-2A31-08D4-D136-672F79B135F4}"/>
              </a:ext>
            </a:extLst>
          </p:cNvPr>
          <p:cNvSpPr/>
          <p:nvPr/>
        </p:nvSpPr>
        <p:spPr>
          <a:xfrm>
            <a:off x="2578608" y="4623634"/>
            <a:ext cx="1161288"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1000" b="1">
                <a:solidFill>
                  <a:srgbClr val="C8102E"/>
                </a:solidFill>
                <a:latin typeface="メイリオ"/>
                <a:ea typeface="メイリオ"/>
                <a:cs typeface="メイリオ"/>
              </a:rPr>
              <a:t>運用</a:t>
            </a:r>
          </a:p>
        </p:txBody>
      </p:sp>
      <p:sp>
        <p:nvSpPr>
          <p:cNvPr id="183" name="Rectangle 47">
            <a:extLst>
              <a:ext uri="{FF2B5EF4-FFF2-40B4-BE49-F238E27FC236}">
                <a16:creationId xmlns:a16="http://schemas.microsoft.com/office/drawing/2014/main" id="{AC663C8A-1A44-5E0D-18DB-CDEBA22BD084}"/>
              </a:ext>
            </a:extLst>
          </p:cNvPr>
          <p:cNvSpPr/>
          <p:nvPr/>
        </p:nvSpPr>
        <p:spPr>
          <a:xfrm>
            <a:off x="3767328" y="4623634"/>
            <a:ext cx="1124712" cy="436213"/>
          </a:xfrm>
          <a:prstGeom prst="rect">
            <a:avLst/>
          </a:prstGeom>
          <a:solidFill>
            <a:srgbClr val="FDF0F2"/>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C8102E"/>
                </a:solidFill>
                <a:latin typeface="メイリオ"/>
                <a:ea typeface="メイリオ"/>
                <a:cs typeface="メイリオ"/>
              </a:rPr>
              <a:t>◎</a:t>
            </a:r>
          </a:p>
        </p:txBody>
      </p:sp>
      <p:sp>
        <p:nvSpPr>
          <p:cNvPr id="185" name="Rectangle 48">
            <a:extLst>
              <a:ext uri="{FF2B5EF4-FFF2-40B4-BE49-F238E27FC236}">
                <a16:creationId xmlns:a16="http://schemas.microsoft.com/office/drawing/2014/main" id="{593C58F8-7428-8726-B84F-B1A8BF819D76}"/>
              </a:ext>
            </a:extLst>
          </p:cNvPr>
          <p:cNvSpPr/>
          <p:nvPr/>
        </p:nvSpPr>
        <p:spPr>
          <a:xfrm>
            <a:off x="4919472" y="4623634"/>
            <a:ext cx="1124712" cy="436213"/>
          </a:xfrm>
          <a:prstGeom prst="rect">
            <a:avLst/>
          </a:prstGeom>
          <a:solidFill>
            <a:srgbClr val="FDF0F2"/>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C8102E"/>
                </a:solidFill>
                <a:latin typeface="メイリオ"/>
                <a:ea typeface="メイリオ"/>
                <a:cs typeface="メイリオ"/>
              </a:rPr>
              <a:t>◎</a:t>
            </a:r>
          </a:p>
        </p:txBody>
      </p:sp>
      <p:sp>
        <p:nvSpPr>
          <p:cNvPr id="187" name="Rectangle 49">
            <a:extLst>
              <a:ext uri="{FF2B5EF4-FFF2-40B4-BE49-F238E27FC236}">
                <a16:creationId xmlns:a16="http://schemas.microsoft.com/office/drawing/2014/main" id="{623B2847-331D-6B25-8DD7-9819D7D1BA82}"/>
              </a:ext>
            </a:extLst>
          </p:cNvPr>
          <p:cNvSpPr/>
          <p:nvPr/>
        </p:nvSpPr>
        <p:spPr>
          <a:xfrm>
            <a:off x="6071616" y="4623634"/>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endParaRPr/>
          </a:p>
        </p:txBody>
      </p:sp>
      <p:sp>
        <p:nvSpPr>
          <p:cNvPr id="189" name="Rectangle 50">
            <a:extLst>
              <a:ext uri="{FF2B5EF4-FFF2-40B4-BE49-F238E27FC236}">
                <a16:creationId xmlns:a16="http://schemas.microsoft.com/office/drawing/2014/main" id="{EA6E0F6C-83E1-4256-F51C-9E8CC7E87158}"/>
              </a:ext>
            </a:extLst>
          </p:cNvPr>
          <p:cNvSpPr/>
          <p:nvPr/>
        </p:nvSpPr>
        <p:spPr>
          <a:xfrm>
            <a:off x="7223760" y="4623634"/>
            <a:ext cx="1124712" cy="436213"/>
          </a:xfrm>
          <a:prstGeom prst="rect">
            <a:avLst/>
          </a:prstGeom>
          <a:solidFill>
            <a:srgbClr val="FDF0F2"/>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C8102E"/>
                </a:solidFill>
                <a:latin typeface="メイリオ"/>
                <a:ea typeface="メイリオ"/>
                <a:cs typeface="メイリオ"/>
              </a:rPr>
              <a:t>◎</a:t>
            </a:r>
          </a:p>
        </p:txBody>
      </p:sp>
      <p:sp>
        <p:nvSpPr>
          <p:cNvPr id="191" name="Rectangle 51">
            <a:extLst>
              <a:ext uri="{FF2B5EF4-FFF2-40B4-BE49-F238E27FC236}">
                <a16:creationId xmlns:a16="http://schemas.microsoft.com/office/drawing/2014/main" id="{30FBCC1D-C3D9-761F-4E3B-CDF1D885FD38}"/>
              </a:ext>
            </a:extLst>
          </p:cNvPr>
          <p:cNvSpPr/>
          <p:nvPr/>
        </p:nvSpPr>
        <p:spPr>
          <a:xfrm>
            <a:off x="8375904" y="4623634"/>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4A6FA5"/>
                </a:solidFill>
                <a:latin typeface="メイリオ"/>
                <a:ea typeface="メイリオ"/>
                <a:cs typeface="メイリオ"/>
              </a:rPr>
              <a:t>○</a:t>
            </a:r>
          </a:p>
        </p:txBody>
      </p:sp>
      <p:sp>
        <p:nvSpPr>
          <p:cNvPr id="193" name="Rectangle 52">
            <a:extLst>
              <a:ext uri="{FF2B5EF4-FFF2-40B4-BE49-F238E27FC236}">
                <a16:creationId xmlns:a16="http://schemas.microsoft.com/office/drawing/2014/main" id="{9F969861-65E2-7DEA-1D8D-3C991DC6FCAD}"/>
              </a:ext>
            </a:extLst>
          </p:cNvPr>
          <p:cNvSpPr/>
          <p:nvPr/>
        </p:nvSpPr>
        <p:spPr>
          <a:xfrm>
            <a:off x="384048" y="5118715"/>
            <a:ext cx="2167128" cy="436213"/>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tIns="18288" bIns="18288" rtlCol="0" anchor="ctr"/>
          <a:lstStyle/>
          <a:p>
            <a:pPr algn="l">
              <a:spcAft>
                <a:spcPts val="0"/>
              </a:spcAft>
            </a:pPr>
            <a:r>
              <a:rPr sz="1100" b="1">
                <a:solidFill>
                  <a:srgbClr val="1F2A5C"/>
                </a:solidFill>
                <a:latin typeface="メイリオ"/>
                <a:ea typeface="メイリオ"/>
                <a:cs typeface="メイリオ"/>
              </a:rPr>
              <a:t>⑦ リッチメニュー</a:t>
            </a:r>
          </a:p>
        </p:txBody>
      </p:sp>
      <p:sp>
        <p:nvSpPr>
          <p:cNvPr id="195" name="Rectangle 53">
            <a:extLst>
              <a:ext uri="{FF2B5EF4-FFF2-40B4-BE49-F238E27FC236}">
                <a16:creationId xmlns:a16="http://schemas.microsoft.com/office/drawing/2014/main" id="{FEB00F4C-6D07-AD41-CDD3-7D400EE74D94}"/>
              </a:ext>
            </a:extLst>
          </p:cNvPr>
          <p:cNvSpPr/>
          <p:nvPr/>
        </p:nvSpPr>
        <p:spPr>
          <a:xfrm>
            <a:off x="2578608" y="5118715"/>
            <a:ext cx="1161288"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1000" b="1">
                <a:solidFill>
                  <a:srgbClr val="1F2A5C"/>
                </a:solidFill>
                <a:latin typeface="メイリオ"/>
                <a:ea typeface="メイリオ"/>
                <a:cs typeface="メイリオ"/>
              </a:rPr>
              <a:t>初期標準</a:t>
            </a:r>
          </a:p>
        </p:txBody>
      </p:sp>
      <p:sp>
        <p:nvSpPr>
          <p:cNvPr id="197" name="Rectangle 54">
            <a:extLst>
              <a:ext uri="{FF2B5EF4-FFF2-40B4-BE49-F238E27FC236}">
                <a16:creationId xmlns:a16="http://schemas.microsoft.com/office/drawing/2014/main" id="{474006B6-8EF9-5160-0A19-AAD059407EE5}"/>
              </a:ext>
            </a:extLst>
          </p:cNvPr>
          <p:cNvSpPr/>
          <p:nvPr/>
        </p:nvSpPr>
        <p:spPr>
          <a:xfrm>
            <a:off x="3767328" y="5118715"/>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endParaRPr/>
          </a:p>
        </p:txBody>
      </p:sp>
      <p:sp>
        <p:nvSpPr>
          <p:cNvPr id="199" name="Rectangle 55">
            <a:extLst>
              <a:ext uri="{FF2B5EF4-FFF2-40B4-BE49-F238E27FC236}">
                <a16:creationId xmlns:a16="http://schemas.microsoft.com/office/drawing/2014/main" id="{835DFC8E-494C-23F3-5A75-365D4389E0A1}"/>
              </a:ext>
            </a:extLst>
          </p:cNvPr>
          <p:cNvSpPr/>
          <p:nvPr/>
        </p:nvSpPr>
        <p:spPr>
          <a:xfrm>
            <a:off x="4919472" y="5118715"/>
            <a:ext cx="1124712" cy="436213"/>
          </a:xfrm>
          <a:prstGeom prst="rect">
            <a:avLst/>
          </a:prstGeom>
          <a:solidFill>
            <a:srgbClr val="FDF0F2"/>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C8102E"/>
                </a:solidFill>
                <a:latin typeface="メイリオ"/>
                <a:ea typeface="メイリオ"/>
                <a:cs typeface="メイリオ"/>
              </a:rPr>
              <a:t>◎</a:t>
            </a:r>
          </a:p>
        </p:txBody>
      </p:sp>
      <p:sp>
        <p:nvSpPr>
          <p:cNvPr id="201" name="Rectangle 56">
            <a:extLst>
              <a:ext uri="{FF2B5EF4-FFF2-40B4-BE49-F238E27FC236}">
                <a16:creationId xmlns:a16="http://schemas.microsoft.com/office/drawing/2014/main" id="{508AA054-C140-CE04-06DD-6D9CFC991D51}"/>
              </a:ext>
            </a:extLst>
          </p:cNvPr>
          <p:cNvSpPr/>
          <p:nvPr/>
        </p:nvSpPr>
        <p:spPr>
          <a:xfrm>
            <a:off x="6071616" y="5118715"/>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endParaRPr/>
          </a:p>
        </p:txBody>
      </p:sp>
      <p:sp>
        <p:nvSpPr>
          <p:cNvPr id="203" name="Rectangle 57">
            <a:extLst>
              <a:ext uri="{FF2B5EF4-FFF2-40B4-BE49-F238E27FC236}">
                <a16:creationId xmlns:a16="http://schemas.microsoft.com/office/drawing/2014/main" id="{0A32F90C-518A-01EC-ACCD-61CF0DA46AE2}"/>
              </a:ext>
            </a:extLst>
          </p:cNvPr>
          <p:cNvSpPr/>
          <p:nvPr/>
        </p:nvSpPr>
        <p:spPr>
          <a:xfrm>
            <a:off x="7223760" y="5118715"/>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4A6FA5"/>
                </a:solidFill>
                <a:latin typeface="メイリオ"/>
                <a:ea typeface="メイリオ"/>
                <a:cs typeface="メイリオ"/>
              </a:rPr>
              <a:t>○</a:t>
            </a:r>
          </a:p>
        </p:txBody>
      </p:sp>
      <p:sp>
        <p:nvSpPr>
          <p:cNvPr id="205" name="Rectangle 58">
            <a:extLst>
              <a:ext uri="{FF2B5EF4-FFF2-40B4-BE49-F238E27FC236}">
                <a16:creationId xmlns:a16="http://schemas.microsoft.com/office/drawing/2014/main" id="{E5905130-E57A-E645-DD15-13FCB3239157}"/>
              </a:ext>
            </a:extLst>
          </p:cNvPr>
          <p:cNvSpPr/>
          <p:nvPr/>
        </p:nvSpPr>
        <p:spPr>
          <a:xfrm>
            <a:off x="8375904" y="5118715"/>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4A6FA5"/>
                </a:solidFill>
                <a:latin typeface="メイリオ"/>
                <a:ea typeface="メイリオ"/>
                <a:cs typeface="メイリオ"/>
              </a:rPr>
              <a:t>○</a:t>
            </a:r>
          </a:p>
        </p:txBody>
      </p:sp>
      <p:sp>
        <p:nvSpPr>
          <p:cNvPr id="207" name="Rectangle 59">
            <a:extLst>
              <a:ext uri="{FF2B5EF4-FFF2-40B4-BE49-F238E27FC236}">
                <a16:creationId xmlns:a16="http://schemas.microsoft.com/office/drawing/2014/main" id="{670A42D2-0E96-12D3-B85F-5BE6BFDE1675}"/>
              </a:ext>
            </a:extLst>
          </p:cNvPr>
          <p:cNvSpPr/>
          <p:nvPr/>
        </p:nvSpPr>
        <p:spPr>
          <a:xfrm>
            <a:off x="384048" y="5613796"/>
            <a:ext cx="2167128" cy="436213"/>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tIns="18288" bIns="18288" rtlCol="0" anchor="ctr"/>
          <a:lstStyle/>
          <a:p>
            <a:pPr algn="l">
              <a:spcAft>
                <a:spcPts val="0"/>
              </a:spcAft>
            </a:pPr>
            <a:r>
              <a:rPr sz="1100" b="1">
                <a:solidFill>
                  <a:srgbClr val="1F2A5C"/>
                </a:solidFill>
                <a:latin typeface="メイリオ"/>
                <a:ea typeface="メイリオ"/>
                <a:cs typeface="メイリオ"/>
              </a:rPr>
              <a:t>⑧ 自動応答</a:t>
            </a:r>
          </a:p>
        </p:txBody>
      </p:sp>
      <p:sp>
        <p:nvSpPr>
          <p:cNvPr id="209" name="Rectangle 60">
            <a:extLst>
              <a:ext uri="{FF2B5EF4-FFF2-40B4-BE49-F238E27FC236}">
                <a16:creationId xmlns:a16="http://schemas.microsoft.com/office/drawing/2014/main" id="{BA384BB0-B57F-BDEA-8AFD-F70160763ED6}"/>
              </a:ext>
            </a:extLst>
          </p:cNvPr>
          <p:cNvSpPr/>
          <p:nvPr/>
        </p:nvSpPr>
        <p:spPr>
          <a:xfrm>
            <a:off x="2578608" y="5613796"/>
            <a:ext cx="1161288"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1000" b="1">
                <a:solidFill>
                  <a:srgbClr val="1F2A5C"/>
                </a:solidFill>
                <a:latin typeface="メイリオ"/>
                <a:ea typeface="メイリオ"/>
                <a:cs typeface="メイリオ"/>
              </a:rPr>
              <a:t>初期標準</a:t>
            </a:r>
          </a:p>
        </p:txBody>
      </p:sp>
      <p:sp>
        <p:nvSpPr>
          <p:cNvPr id="211" name="Rectangle 61">
            <a:extLst>
              <a:ext uri="{FF2B5EF4-FFF2-40B4-BE49-F238E27FC236}">
                <a16:creationId xmlns:a16="http://schemas.microsoft.com/office/drawing/2014/main" id="{8CF9A974-AF48-0226-F298-3354D9E8A871}"/>
              </a:ext>
            </a:extLst>
          </p:cNvPr>
          <p:cNvSpPr/>
          <p:nvPr/>
        </p:nvSpPr>
        <p:spPr>
          <a:xfrm>
            <a:off x="3767328" y="5613796"/>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endParaRPr/>
          </a:p>
        </p:txBody>
      </p:sp>
      <p:sp>
        <p:nvSpPr>
          <p:cNvPr id="213" name="Rectangle 62">
            <a:extLst>
              <a:ext uri="{FF2B5EF4-FFF2-40B4-BE49-F238E27FC236}">
                <a16:creationId xmlns:a16="http://schemas.microsoft.com/office/drawing/2014/main" id="{4AF384A8-31D1-31F4-4E26-ECFC1A5A1189}"/>
              </a:ext>
            </a:extLst>
          </p:cNvPr>
          <p:cNvSpPr/>
          <p:nvPr/>
        </p:nvSpPr>
        <p:spPr>
          <a:xfrm>
            <a:off x="4919472" y="5613796"/>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4A6FA5"/>
                </a:solidFill>
                <a:latin typeface="メイリオ"/>
                <a:ea typeface="メイリオ"/>
                <a:cs typeface="メイリオ"/>
              </a:rPr>
              <a:t>○</a:t>
            </a:r>
          </a:p>
        </p:txBody>
      </p:sp>
      <p:sp>
        <p:nvSpPr>
          <p:cNvPr id="215" name="Rectangle 63">
            <a:extLst>
              <a:ext uri="{FF2B5EF4-FFF2-40B4-BE49-F238E27FC236}">
                <a16:creationId xmlns:a16="http://schemas.microsoft.com/office/drawing/2014/main" id="{EBB135C8-694D-04ED-2331-A114B5F6A2E2}"/>
              </a:ext>
            </a:extLst>
          </p:cNvPr>
          <p:cNvSpPr/>
          <p:nvPr/>
        </p:nvSpPr>
        <p:spPr>
          <a:xfrm>
            <a:off x="6071616" y="5613796"/>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4A6FA5"/>
                </a:solidFill>
                <a:latin typeface="メイリオ"/>
                <a:ea typeface="メイリオ"/>
                <a:cs typeface="メイリオ"/>
              </a:rPr>
              <a:t>○</a:t>
            </a:r>
          </a:p>
        </p:txBody>
      </p:sp>
      <p:sp>
        <p:nvSpPr>
          <p:cNvPr id="217" name="Rectangle 64">
            <a:extLst>
              <a:ext uri="{FF2B5EF4-FFF2-40B4-BE49-F238E27FC236}">
                <a16:creationId xmlns:a16="http://schemas.microsoft.com/office/drawing/2014/main" id="{7BE70E8C-EF6D-E9D1-E47E-1FD6C3CCD3C9}"/>
              </a:ext>
            </a:extLst>
          </p:cNvPr>
          <p:cNvSpPr/>
          <p:nvPr/>
        </p:nvSpPr>
        <p:spPr>
          <a:xfrm>
            <a:off x="7223760" y="5613796"/>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endParaRPr/>
          </a:p>
        </p:txBody>
      </p:sp>
      <p:sp>
        <p:nvSpPr>
          <p:cNvPr id="219" name="Rectangle 65">
            <a:extLst>
              <a:ext uri="{FF2B5EF4-FFF2-40B4-BE49-F238E27FC236}">
                <a16:creationId xmlns:a16="http://schemas.microsoft.com/office/drawing/2014/main" id="{1EE8F08D-6C1C-22F4-2DD7-D1DDB06A7245}"/>
              </a:ext>
            </a:extLst>
          </p:cNvPr>
          <p:cNvSpPr/>
          <p:nvPr/>
        </p:nvSpPr>
        <p:spPr>
          <a:xfrm>
            <a:off x="8375904" y="5613796"/>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endParaRPr/>
          </a:p>
        </p:txBody>
      </p:sp>
      <p:sp>
        <p:nvSpPr>
          <p:cNvPr id="221" name="Rectangle 66">
            <a:extLst>
              <a:ext uri="{FF2B5EF4-FFF2-40B4-BE49-F238E27FC236}">
                <a16:creationId xmlns:a16="http://schemas.microsoft.com/office/drawing/2014/main" id="{5AB0CFB9-851A-14A5-120D-2BF5670B93F5}"/>
              </a:ext>
            </a:extLst>
          </p:cNvPr>
          <p:cNvSpPr/>
          <p:nvPr/>
        </p:nvSpPr>
        <p:spPr>
          <a:xfrm>
            <a:off x="384048" y="6124303"/>
            <a:ext cx="91440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t"/>
          <a:lstStyle/>
          <a:p>
            <a:pPr algn="l">
              <a:spcAft>
                <a:spcPts val="300"/>
              </a:spcAft>
            </a:pPr>
            <a:r>
              <a:rPr sz="800" b="0" dirty="0">
                <a:solidFill>
                  <a:srgbClr val="777777"/>
                </a:solidFill>
                <a:latin typeface="メイリオ"/>
                <a:ea typeface="メイリオ"/>
                <a:cs typeface="メイリオ"/>
              </a:rPr>
              <a:t>※</a:t>
            </a:r>
            <a:r>
              <a:rPr sz="800" b="0" dirty="0" err="1">
                <a:solidFill>
                  <a:srgbClr val="777777"/>
                </a:solidFill>
                <a:latin typeface="メイリオ"/>
                <a:ea typeface="メイリオ"/>
                <a:cs typeface="メイリオ"/>
              </a:rPr>
              <a:t>当社想定の整理</a:t>
            </a:r>
            <a:r>
              <a:rPr sz="800" b="0" dirty="0">
                <a:solidFill>
                  <a:srgbClr val="777777"/>
                </a:solidFill>
                <a:latin typeface="メイリオ"/>
                <a:ea typeface="メイリオ"/>
                <a:cs typeface="メイリオ"/>
              </a:rPr>
              <a:t>。「</a:t>
            </a:r>
            <a:r>
              <a:rPr sz="800" b="0" dirty="0" err="1">
                <a:solidFill>
                  <a:srgbClr val="777777"/>
                </a:solidFill>
                <a:latin typeface="メイリオ"/>
                <a:ea typeface="メイリオ"/>
                <a:cs typeface="メイリオ"/>
              </a:rPr>
              <a:t>初期標準」は構築時に設定する標準機能</a:t>
            </a:r>
            <a:r>
              <a:rPr sz="800" b="0" dirty="0">
                <a:solidFill>
                  <a:srgbClr val="777777"/>
                </a:solidFill>
                <a:latin typeface="メイリオ"/>
                <a:ea typeface="メイリオ"/>
                <a:cs typeface="メイリオ"/>
              </a:rPr>
              <a:t>、「</a:t>
            </a:r>
            <a:r>
              <a:rPr sz="800" b="0" dirty="0" err="1">
                <a:solidFill>
                  <a:srgbClr val="777777"/>
                </a:solidFill>
                <a:latin typeface="メイリオ"/>
                <a:ea typeface="メイリオ"/>
                <a:cs typeface="メイリオ"/>
              </a:rPr>
              <a:t>運用</a:t>
            </a:r>
            <a:r>
              <a:rPr sz="800" b="0" dirty="0">
                <a:solidFill>
                  <a:srgbClr val="777777"/>
                </a:solidFill>
                <a:latin typeface="メイリオ"/>
                <a:ea typeface="メイリオ"/>
                <a:cs typeface="メイリオ"/>
              </a:rPr>
              <a:t>」「</a:t>
            </a:r>
            <a:r>
              <a:rPr sz="800" b="0" dirty="0" err="1">
                <a:solidFill>
                  <a:srgbClr val="777777"/>
                </a:solidFill>
                <a:latin typeface="メイリオ"/>
                <a:ea typeface="メイリオ"/>
                <a:cs typeface="メイリオ"/>
              </a:rPr>
              <a:t>入口」は運用しながら改善する施策</a:t>
            </a:r>
            <a:endParaRPr sz="800" b="0" dirty="0">
              <a:solidFill>
                <a:srgbClr val="777777"/>
              </a:solidFill>
              <a:latin typeface="メイリオ"/>
              <a:ea typeface="メイリオ"/>
              <a:cs typeface="メイリオ"/>
            </a:endParaRPr>
          </a:p>
        </p:txBody>
      </p:sp>
    </p:spTree>
    <p:extLst>
      <p:ext uri="{BB962C8B-B14F-4D97-AF65-F5344CB8AC3E}">
        <p14:creationId xmlns:p14="http://schemas.microsoft.com/office/powerpoint/2010/main" val="258793652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04695B-DA8B-628A-D7EF-2A8933478684}"/>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630470A8-B84B-B148-A204-2590B4014218}"/>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chemeClr val="bg1">
                    <a:lumMod val="65000"/>
                  </a:schemeClr>
                </a:solidFill>
                <a:latin typeface="メイリオ" panose="020B0604030504040204" pitchFamily="50" charset="-128"/>
                <a:ea typeface="メイリオ" panose="020B0604030504040204" pitchFamily="50" charset="-128"/>
                <a:cs typeface="Meiryo"/>
                <a:sym typeface="Meiryo"/>
              </a:rPr>
              <a:t>アジェンダ</a:t>
            </a:r>
          </a:p>
        </p:txBody>
      </p:sp>
      <p:sp>
        <p:nvSpPr>
          <p:cNvPr id="14" name="Google Shape;752;p28">
            <a:extLst>
              <a:ext uri="{FF2B5EF4-FFF2-40B4-BE49-F238E27FC236}">
                <a16:creationId xmlns:a16="http://schemas.microsoft.com/office/drawing/2014/main" id="{45CF9DAE-30BF-EBB4-2738-8B519663A3C2}"/>
              </a:ext>
            </a:extLst>
          </p:cNvPr>
          <p:cNvSpPr txBox="1"/>
          <p:nvPr/>
        </p:nvSpPr>
        <p:spPr>
          <a:xfrm>
            <a:off x="602223" y="1104688"/>
            <a:ext cx="1104657" cy="584735"/>
          </a:xfrm>
          <a:prstGeom prst="rect">
            <a:avLst/>
          </a:prstGeom>
          <a:noFill/>
          <a:ln>
            <a:noFill/>
          </a:ln>
        </p:spPr>
        <p:txBody>
          <a:bodyPr spcFirstLastPara="1" wrap="square" lIns="91425" tIns="45700" rIns="91425" bIns="45700" anchor="ctr" anchorCtr="0">
            <a:spAutoFit/>
          </a:bodyPr>
          <a:lstStyle/>
          <a:p>
            <a:pPr lvl="0"/>
            <a:r>
              <a:rPr lang="en-US" altLang="ja-JP" sz="3200" b="1" dirty="0">
                <a:solidFill>
                  <a:srgbClr val="323366"/>
                </a:solidFill>
                <a:latin typeface="メイリオ" panose="020B0604030504040204" pitchFamily="50" charset="-128"/>
                <a:ea typeface="メイリオ" panose="020B0604030504040204" pitchFamily="50" charset="-128"/>
                <a:cs typeface="Meiryo"/>
                <a:sym typeface="Meiryo"/>
              </a:rPr>
              <a:t>03</a:t>
            </a:r>
            <a:endParaRPr lang="ja-JP" altLang="en-US" sz="3200" b="1" dirty="0">
              <a:solidFill>
                <a:srgbClr val="323366"/>
              </a:solidFill>
              <a:latin typeface="メイリオ" panose="020B0604030504040204" pitchFamily="50" charset="-128"/>
              <a:ea typeface="メイリオ" panose="020B0604030504040204" pitchFamily="50" charset="-128"/>
              <a:cs typeface="Meiryo"/>
              <a:sym typeface="Meiryo"/>
            </a:endParaRPr>
          </a:p>
        </p:txBody>
      </p:sp>
      <p:sp>
        <p:nvSpPr>
          <p:cNvPr id="16" name="Google Shape;752;p28">
            <a:extLst>
              <a:ext uri="{FF2B5EF4-FFF2-40B4-BE49-F238E27FC236}">
                <a16:creationId xmlns:a16="http://schemas.microsoft.com/office/drawing/2014/main" id="{1074280A-D5C9-01AC-8681-B924D4C79238}"/>
              </a:ext>
            </a:extLst>
          </p:cNvPr>
          <p:cNvSpPr txBox="1"/>
          <p:nvPr/>
        </p:nvSpPr>
        <p:spPr>
          <a:xfrm>
            <a:off x="1867143" y="1043132"/>
            <a:ext cx="5966217" cy="707846"/>
          </a:xfrm>
          <a:prstGeom prst="rect">
            <a:avLst/>
          </a:prstGeom>
          <a:noFill/>
          <a:ln>
            <a:noFill/>
          </a:ln>
        </p:spPr>
        <p:txBody>
          <a:bodyPr spcFirstLastPara="1" wrap="square" lIns="91425" tIns="45700" rIns="91425" bIns="45700" anchor="ctr" anchorCtr="0">
            <a:spAutoFit/>
          </a:bodyPr>
          <a:lstStyle/>
          <a:p>
            <a:pPr lvl="0"/>
            <a:r>
              <a:rPr lang="ja-JP" altLang="en-US" sz="4000" b="1" dirty="0">
                <a:solidFill>
                  <a:schemeClr val="tx1">
                    <a:lumMod val="65000"/>
                    <a:lumOff val="35000"/>
                  </a:schemeClr>
                </a:solidFill>
                <a:latin typeface="メイリオ" panose="020B0604030504040204" pitchFamily="50" charset="-128"/>
                <a:ea typeface="メイリオ" panose="020B0604030504040204" pitchFamily="50" charset="-128"/>
                <a:cs typeface="Meiryo"/>
                <a:sym typeface="Meiryo"/>
              </a:rPr>
              <a:t>施策詳細（</a:t>
            </a:r>
            <a:r>
              <a:rPr lang="en-US" altLang="ja-JP" sz="4000" b="1" dirty="0">
                <a:solidFill>
                  <a:schemeClr val="tx1">
                    <a:lumMod val="65000"/>
                    <a:lumOff val="35000"/>
                  </a:schemeClr>
                </a:solidFill>
                <a:latin typeface="メイリオ" panose="020B0604030504040204" pitchFamily="50" charset="-128"/>
                <a:ea typeface="メイリオ" panose="020B0604030504040204" pitchFamily="50" charset="-128"/>
                <a:cs typeface="Meiryo"/>
                <a:sym typeface="Meiryo"/>
              </a:rPr>
              <a:t>DYM</a:t>
            </a:r>
            <a:r>
              <a:rPr lang="ja-JP" altLang="en-US" sz="4000" b="1" dirty="0">
                <a:solidFill>
                  <a:schemeClr val="tx1">
                    <a:lumMod val="65000"/>
                    <a:lumOff val="35000"/>
                  </a:schemeClr>
                </a:solidFill>
                <a:latin typeface="メイリオ" panose="020B0604030504040204" pitchFamily="50" charset="-128"/>
                <a:ea typeface="メイリオ" panose="020B0604030504040204" pitchFamily="50" charset="-128"/>
                <a:cs typeface="Meiryo"/>
                <a:sym typeface="Meiryo"/>
              </a:rPr>
              <a:t>プラン）</a:t>
            </a:r>
          </a:p>
        </p:txBody>
      </p:sp>
      <p:cxnSp>
        <p:nvCxnSpPr>
          <p:cNvPr id="17" name="直線コネクタ 16">
            <a:extLst>
              <a:ext uri="{FF2B5EF4-FFF2-40B4-BE49-F238E27FC236}">
                <a16:creationId xmlns:a16="http://schemas.microsoft.com/office/drawing/2014/main" id="{507E5E5E-0A73-E2C6-D228-2CEEE9F667CD}"/>
              </a:ext>
            </a:extLst>
          </p:cNvPr>
          <p:cNvCxnSpPr>
            <a:cxnSpLocks/>
          </p:cNvCxnSpPr>
          <p:nvPr/>
        </p:nvCxnSpPr>
        <p:spPr>
          <a:xfrm>
            <a:off x="608527" y="1681803"/>
            <a:ext cx="944805" cy="0"/>
          </a:xfrm>
          <a:prstGeom prst="line">
            <a:avLst/>
          </a:prstGeom>
          <a:ln w="57150">
            <a:solidFill>
              <a:srgbClr val="10253F"/>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03139986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B3B216-274D-4EC8-B420-9BD1A2FE6B99}"/>
            </a:ext>
          </a:extLst>
        </p:cNvPr>
        <p:cNvGrpSpPr/>
        <p:nvPr/>
      </p:nvGrpSpPr>
      <p:grpSpPr>
        <a:xfrm>
          <a:off x="0" y="0"/>
          <a:ext cx="0" cy="0"/>
          <a:chOff x="0" y="0"/>
          <a:chExt cx="0" cy="0"/>
        </a:xfrm>
      </p:grpSpPr>
      <p:sp>
        <p:nvSpPr>
          <p:cNvPr id="3" name="テキスト ボックス 47">
            <a:extLst>
              <a:ext uri="{FF2B5EF4-FFF2-40B4-BE49-F238E27FC236}">
                <a16:creationId xmlns:a16="http://schemas.microsoft.com/office/drawing/2014/main" id="{C88AC88B-A817-4005-424A-224DED0BFBAF}"/>
              </a:ext>
            </a:extLst>
          </p:cNvPr>
          <p:cNvSpPr txBox="1">
            <a:spLocks noChangeArrowheads="1"/>
          </p:cNvSpPr>
          <p:nvPr/>
        </p:nvSpPr>
        <p:spPr bwMode="auto">
          <a:xfrm>
            <a:off x="456501"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Calibri" charset="0"/>
                <a:ea typeface="ＭＳ Ｐゴシック" charset="0"/>
                <a:cs typeface="ＭＳ Ｐゴシック" charset="0"/>
              </a:defRPr>
            </a:lvl1pPr>
            <a:lvl2pPr>
              <a:defRPr kumimoji="1" sz="2800">
                <a:solidFill>
                  <a:schemeClr val="tx1"/>
                </a:solidFill>
                <a:latin typeface="Calibri" charset="0"/>
                <a:ea typeface="ＭＳ Ｐゴシック" charset="0"/>
              </a:defRPr>
            </a:lvl2pPr>
            <a:lvl3pPr>
              <a:defRPr kumimoji="1" sz="2400">
                <a:solidFill>
                  <a:schemeClr val="tx1"/>
                </a:solidFill>
                <a:latin typeface="Calibri" charset="0"/>
                <a:ea typeface="ＭＳ Ｐゴシック" charset="0"/>
              </a:defRPr>
            </a:lvl3pPr>
            <a:lvl4pPr>
              <a:defRPr kumimoji="1" sz="2000">
                <a:solidFill>
                  <a:schemeClr val="tx1"/>
                </a:solidFill>
                <a:latin typeface="Calibri" charset="0"/>
                <a:ea typeface="ＭＳ Ｐゴシック" charset="0"/>
              </a:defRPr>
            </a:lvl4pPr>
            <a:lvl5pPr>
              <a:defRPr kumimoji="1" sz="2000">
                <a:solidFill>
                  <a:schemeClr val="tx1"/>
                </a:solidFill>
                <a:latin typeface="Calibri" charset="0"/>
                <a:ea typeface="ＭＳ Ｐゴシック" charset="0"/>
              </a:defRPr>
            </a:lvl5pPr>
            <a:lvl6pPr eaLnBrk="0" fontAlgn="base" hangingPunct="0">
              <a:spcAft>
                <a:spcPct val="0"/>
              </a:spcAft>
              <a:buFont typeface="Arial" charset="0"/>
              <a:buChar char="»"/>
              <a:defRPr kumimoji="1" sz="2000">
                <a:solidFill>
                  <a:schemeClr val="tx1"/>
                </a:solidFill>
                <a:latin typeface="Calibri" charset="0"/>
                <a:ea typeface="ＭＳ Ｐゴシック" charset="0"/>
              </a:defRPr>
            </a:lvl6pPr>
            <a:lvl7pPr eaLnBrk="0" fontAlgn="base" hangingPunct="0">
              <a:spcAft>
                <a:spcPct val="0"/>
              </a:spcAft>
              <a:buFont typeface="Arial" charset="0"/>
              <a:buChar char="»"/>
              <a:defRPr kumimoji="1" sz="2000">
                <a:solidFill>
                  <a:schemeClr val="tx1"/>
                </a:solidFill>
                <a:latin typeface="Calibri" charset="0"/>
                <a:ea typeface="ＭＳ Ｐゴシック" charset="0"/>
              </a:defRPr>
            </a:lvl7pPr>
            <a:lvl8pPr eaLnBrk="0" fontAlgn="base" hangingPunct="0">
              <a:spcAft>
                <a:spcPct val="0"/>
              </a:spcAft>
              <a:buFont typeface="Arial" charset="0"/>
              <a:buChar char="»"/>
              <a:defRPr kumimoji="1" sz="2000">
                <a:solidFill>
                  <a:schemeClr val="tx1"/>
                </a:solidFill>
                <a:latin typeface="Calibri" charset="0"/>
                <a:ea typeface="ＭＳ Ｐゴシック" charset="0"/>
              </a:defRPr>
            </a:lvl8pPr>
            <a:lvl9pPr eaLnBrk="0" fontAlgn="base" hangingPunct="0">
              <a:spcAft>
                <a:spcPct val="0"/>
              </a:spcAft>
              <a:buFont typeface="Arial" charset="0"/>
              <a:buChar char="»"/>
              <a:defRPr kumimoji="1" sz="2000">
                <a:solidFill>
                  <a:schemeClr val="tx1"/>
                </a:solidFill>
                <a:latin typeface="Calibri" charset="0"/>
                <a:ea typeface="ＭＳ Ｐゴシック" charset="0"/>
              </a:defRPr>
            </a:lvl9pPr>
          </a:lstStyle>
          <a:p>
            <a:pPr>
              <a:spcBef>
                <a:spcPct val="20000"/>
              </a:spcBef>
              <a:buFont typeface="Arial" charset="0"/>
              <a:buNone/>
            </a:pPr>
            <a:r>
              <a:rPr lang="ja-JP" altLang="en-US" sz="1600" b="1" dirty="0">
                <a:solidFill>
                  <a:srgbClr val="1F2A5C"/>
                </a:solidFill>
                <a:latin typeface="メイリオ"/>
                <a:ea typeface="メイリオ"/>
                <a:cs typeface="メイリオ"/>
              </a:rPr>
              <a:t>具体施策のイメージ</a:t>
            </a:r>
          </a:p>
        </p:txBody>
      </p:sp>
      <p:sp>
        <p:nvSpPr>
          <p:cNvPr id="5" name="正方形/長方形 4">
            <a:extLst>
              <a:ext uri="{FF2B5EF4-FFF2-40B4-BE49-F238E27FC236}">
                <a16:creationId xmlns:a16="http://schemas.microsoft.com/office/drawing/2014/main" id="{CA1675F9-B5FA-2EC4-257D-CF7E4918BA44}"/>
              </a:ext>
            </a:extLst>
          </p:cNvPr>
          <p:cNvSpPr/>
          <p:nvPr/>
        </p:nvSpPr>
        <p:spPr>
          <a:xfrm>
            <a:off x="2659553" y="109691"/>
            <a:ext cx="1992986" cy="326496"/>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LINEの友だちへ</a:t>
            </a:r>
          </a:p>
        </p:txBody>
      </p:sp>
      <p:sp>
        <p:nvSpPr>
          <p:cNvPr id="4" name="Chevron 13">
            <a:extLst>
              <a:ext uri="{FF2B5EF4-FFF2-40B4-BE49-F238E27FC236}">
                <a16:creationId xmlns:a16="http://schemas.microsoft.com/office/drawing/2014/main" id="{E810FD3A-0007-FF3D-2EE2-9D3DBDBDF9B7}"/>
              </a:ext>
            </a:extLst>
          </p:cNvPr>
          <p:cNvSpPr/>
          <p:nvPr/>
        </p:nvSpPr>
        <p:spPr>
          <a:xfrm>
            <a:off x="7099344" y="795063"/>
            <a:ext cx="1482455" cy="731520"/>
          </a:xfrm>
          <a:prstGeom prst="chevron">
            <a:avLst/>
          </a:prstGeom>
          <a:solidFill>
            <a:schemeClr val="tx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7" name="Chevron 12">
            <a:extLst>
              <a:ext uri="{FF2B5EF4-FFF2-40B4-BE49-F238E27FC236}">
                <a16:creationId xmlns:a16="http://schemas.microsoft.com/office/drawing/2014/main" id="{FDD7F035-7D30-BE00-2E6D-62EECA96060F}"/>
              </a:ext>
            </a:extLst>
          </p:cNvPr>
          <p:cNvSpPr/>
          <p:nvPr/>
        </p:nvSpPr>
        <p:spPr>
          <a:xfrm>
            <a:off x="593938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9" name="Chevron 11">
            <a:extLst>
              <a:ext uri="{FF2B5EF4-FFF2-40B4-BE49-F238E27FC236}">
                <a16:creationId xmlns:a16="http://schemas.microsoft.com/office/drawing/2014/main" id="{62FA9A97-2CD9-6261-526D-BDC7E9F59914}"/>
              </a:ext>
            </a:extLst>
          </p:cNvPr>
          <p:cNvSpPr/>
          <p:nvPr/>
        </p:nvSpPr>
        <p:spPr>
          <a:xfrm>
            <a:off x="477942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11" name="Chevron 13">
            <a:extLst>
              <a:ext uri="{FF2B5EF4-FFF2-40B4-BE49-F238E27FC236}">
                <a16:creationId xmlns:a16="http://schemas.microsoft.com/office/drawing/2014/main" id="{1F077936-19EC-1BA9-8307-61A4C0787876}"/>
              </a:ext>
            </a:extLst>
          </p:cNvPr>
          <p:cNvSpPr/>
          <p:nvPr/>
        </p:nvSpPr>
        <p:spPr>
          <a:xfrm>
            <a:off x="8259306" y="795063"/>
            <a:ext cx="1482455" cy="731520"/>
          </a:xfrm>
          <a:prstGeom prst="chevron">
            <a:avLst/>
          </a:prstGeom>
          <a:solidFill>
            <a:schemeClr val="tx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13" name="テキスト ボックス 12">
            <a:extLst>
              <a:ext uri="{FF2B5EF4-FFF2-40B4-BE49-F238E27FC236}">
                <a16:creationId xmlns:a16="http://schemas.microsoft.com/office/drawing/2014/main" id="{BA3C3F08-3D41-4AB0-6301-E28F75F92824}"/>
              </a:ext>
            </a:extLst>
          </p:cNvPr>
          <p:cNvSpPr txBox="1"/>
          <p:nvPr/>
        </p:nvSpPr>
        <p:spPr>
          <a:xfrm>
            <a:off x="7420737" y="1030016"/>
            <a:ext cx="982079"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マネタイズ</a:t>
            </a:r>
          </a:p>
        </p:txBody>
      </p:sp>
      <p:sp>
        <p:nvSpPr>
          <p:cNvPr id="15" name="テキスト ボックス 14">
            <a:extLst>
              <a:ext uri="{FF2B5EF4-FFF2-40B4-BE49-F238E27FC236}">
                <a16:creationId xmlns:a16="http://schemas.microsoft.com/office/drawing/2014/main" id="{5FB88429-899A-764B-8985-89BDCA69FA89}"/>
              </a:ext>
            </a:extLst>
          </p:cNvPr>
          <p:cNvSpPr txBox="1"/>
          <p:nvPr/>
        </p:nvSpPr>
        <p:spPr>
          <a:xfrm>
            <a:off x="5130427" y="945378"/>
            <a:ext cx="811635" cy="430887"/>
          </a:xfrm>
          <a:prstGeom prst="rect">
            <a:avLst/>
          </a:prstGeom>
          <a:solidFill>
            <a:schemeClr val="accent1">
              <a:lumMod val="75000"/>
            </a:schemeClr>
          </a:solid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有効</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リード化</a:t>
            </a:r>
          </a:p>
        </p:txBody>
      </p:sp>
      <p:sp>
        <p:nvSpPr>
          <p:cNvPr id="17" name="テキスト ボックス 16">
            <a:extLst>
              <a:ext uri="{FF2B5EF4-FFF2-40B4-BE49-F238E27FC236}">
                <a16:creationId xmlns:a16="http://schemas.microsoft.com/office/drawing/2014/main" id="{B7136484-8522-1579-D263-EAACFB1889EB}"/>
              </a:ext>
            </a:extLst>
          </p:cNvPr>
          <p:cNvSpPr txBox="1"/>
          <p:nvPr/>
        </p:nvSpPr>
        <p:spPr>
          <a:xfrm>
            <a:off x="6301709" y="945379"/>
            <a:ext cx="811635" cy="430887"/>
          </a:xfrm>
          <a:prstGeom prst="rect">
            <a:avLst/>
          </a:prstGeom>
          <a:solidFill>
            <a:schemeClr val="accent1">
              <a:lumMod val="75000"/>
            </a:schemeClr>
          </a:solid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リード</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再育成</a:t>
            </a:r>
          </a:p>
        </p:txBody>
      </p:sp>
      <p:sp>
        <p:nvSpPr>
          <p:cNvPr id="19" name="テキスト ボックス 18">
            <a:extLst>
              <a:ext uri="{FF2B5EF4-FFF2-40B4-BE49-F238E27FC236}">
                <a16:creationId xmlns:a16="http://schemas.microsoft.com/office/drawing/2014/main" id="{4979BDA7-0F1E-E435-A28C-9423621EC42F}"/>
              </a:ext>
            </a:extLst>
          </p:cNvPr>
          <p:cNvSpPr txBox="1"/>
          <p:nvPr/>
        </p:nvSpPr>
        <p:spPr>
          <a:xfrm>
            <a:off x="8544744" y="945378"/>
            <a:ext cx="982079"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リピート</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クロスセル</a:t>
            </a:r>
          </a:p>
        </p:txBody>
      </p:sp>
      <p:sp>
        <p:nvSpPr>
          <p:cNvPr id="27" name="Chevron 11">
            <a:extLst>
              <a:ext uri="{FF2B5EF4-FFF2-40B4-BE49-F238E27FC236}">
                <a16:creationId xmlns:a16="http://schemas.microsoft.com/office/drawing/2014/main" id="{71817687-7D9D-3B4B-F550-ACDFD57436B2}"/>
              </a:ext>
            </a:extLst>
          </p:cNvPr>
          <p:cNvSpPr/>
          <p:nvPr/>
        </p:nvSpPr>
        <p:spPr>
          <a:xfrm>
            <a:off x="1299544" y="795063"/>
            <a:ext cx="1482455" cy="731520"/>
          </a:xfrm>
          <a:prstGeom prst="chevron">
            <a:avLst/>
          </a:prstGeom>
          <a:solidFill>
            <a:schemeClr val="accent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29" name="Chevron 11">
            <a:extLst>
              <a:ext uri="{FF2B5EF4-FFF2-40B4-BE49-F238E27FC236}">
                <a16:creationId xmlns:a16="http://schemas.microsoft.com/office/drawing/2014/main" id="{554D37E9-1335-2651-1815-E7257F5AF134}"/>
              </a:ext>
            </a:extLst>
          </p:cNvPr>
          <p:cNvSpPr/>
          <p:nvPr/>
        </p:nvSpPr>
        <p:spPr>
          <a:xfrm>
            <a:off x="2459504" y="795063"/>
            <a:ext cx="1482455" cy="731520"/>
          </a:xfrm>
          <a:prstGeom prst="chevron">
            <a:avLst/>
          </a:prstGeom>
          <a:solidFill>
            <a:schemeClr val="accent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31" name="テキスト ボックス 30">
            <a:extLst>
              <a:ext uri="{FF2B5EF4-FFF2-40B4-BE49-F238E27FC236}">
                <a16:creationId xmlns:a16="http://schemas.microsoft.com/office/drawing/2014/main" id="{E5FD654E-DA39-F87F-E126-D2CA3BCFECFA}"/>
              </a:ext>
            </a:extLst>
          </p:cNvPr>
          <p:cNvSpPr txBox="1"/>
          <p:nvPr/>
        </p:nvSpPr>
        <p:spPr>
          <a:xfrm>
            <a:off x="1616581" y="945379"/>
            <a:ext cx="811635"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サイト</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離脱</a:t>
            </a:r>
          </a:p>
        </p:txBody>
      </p:sp>
      <p:sp>
        <p:nvSpPr>
          <p:cNvPr id="33" name="テキスト ボックス 32">
            <a:extLst>
              <a:ext uri="{FF2B5EF4-FFF2-40B4-BE49-F238E27FC236}">
                <a16:creationId xmlns:a16="http://schemas.microsoft.com/office/drawing/2014/main" id="{ABCB2BE8-6C91-F80E-49A7-AA2E377146D3}"/>
              </a:ext>
            </a:extLst>
          </p:cNvPr>
          <p:cNvSpPr txBox="1"/>
          <p:nvPr/>
        </p:nvSpPr>
        <p:spPr>
          <a:xfrm>
            <a:off x="2787863" y="1030016"/>
            <a:ext cx="811635"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育成</a:t>
            </a:r>
          </a:p>
        </p:txBody>
      </p:sp>
      <p:sp>
        <p:nvSpPr>
          <p:cNvPr id="37" name="Chevron 12">
            <a:extLst>
              <a:ext uri="{FF2B5EF4-FFF2-40B4-BE49-F238E27FC236}">
                <a16:creationId xmlns:a16="http://schemas.microsoft.com/office/drawing/2014/main" id="{35150713-047B-D9D4-872A-3A7863929939}"/>
              </a:ext>
            </a:extLst>
          </p:cNvPr>
          <p:cNvSpPr/>
          <p:nvPr/>
        </p:nvSpPr>
        <p:spPr>
          <a:xfrm>
            <a:off x="361946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39" name="テキスト ボックス 38">
            <a:extLst>
              <a:ext uri="{FF2B5EF4-FFF2-40B4-BE49-F238E27FC236}">
                <a16:creationId xmlns:a16="http://schemas.microsoft.com/office/drawing/2014/main" id="{D2ED9B44-C4F0-1A57-C3AD-9651A637F2B6}"/>
              </a:ext>
            </a:extLst>
          </p:cNvPr>
          <p:cNvSpPr txBox="1"/>
          <p:nvPr/>
        </p:nvSpPr>
        <p:spPr>
          <a:xfrm>
            <a:off x="3959145" y="945379"/>
            <a:ext cx="811635"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リード</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獲得</a:t>
            </a:r>
          </a:p>
        </p:txBody>
      </p:sp>
      <p:sp>
        <p:nvSpPr>
          <p:cNvPr id="84" name="正方形/長方形 83">
            <a:extLst>
              <a:ext uri="{FF2B5EF4-FFF2-40B4-BE49-F238E27FC236}">
                <a16:creationId xmlns:a16="http://schemas.microsoft.com/office/drawing/2014/main" id="{3F86528F-074B-2CD3-B672-1A9E0ADF36DE}"/>
              </a:ext>
            </a:extLst>
          </p:cNvPr>
          <p:cNvSpPr/>
          <p:nvPr/>
        </p:nvSpPr>
        <p:spPr>
          <a:xfrm>
            <a:off x="-15984" y="645907"/>
            <a:ext cx="9930693" cy="1034848"/>
          </a:xfrm>
          <a:prstGeom prst="rect">
            <a:avLst/>
          </a:prstGeom>
          <a:solidFill>
            <a:schemeClr val="bg1">
              <a:lumMod val="95000"/>
              <a:alpha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86" name="Pentagon 10">
            <a:extLst>
              <a:ext uri="{FF2B5EF4-FFF2-40B4-BE49-F238E27FC236}">
                <a16:creationId xmlns:a16="http://schemas.microsoft.com/office/drawing/2014/main" id="{BC454E1A-6C9B-81E7-66B6-86546B3BD10E}"/>
              </a:ext>
            </a:extLst>
          </p:cNvPr>
          <p:cNvSpPr/>
          <p:nvPr/>
        </p:nvSpPr>
        <p:spPr>
          <a:xfrm>
            <a:off x="262895" y="795063"/>
            <a:ext cx="1360371" cy="731520"/>
          </a:xfrm>
          <a:prstGeom prst="homePlate">
            <a:avLst/>
          </a:prstGeom>
          <a:solidFill>
            <a:schemeClr val="bg1">
              <a:lumMod val="6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lang="en-US" altLang="ja-JP" sz="1300" b="1" dirty="0">
              <a:solidFill>
                <a:srgbClr val="FFFFFF"/>
              </a:solidFill>
              <a:latin typeface="メイリオ"/>
              <a:ea typeface="メイリオ"/>
              <a:cs typeface="メイリオ"/>
            </a:endParaRPr>
          </a:p>
        </p:txBody>
      </p:sp>
      <p:sp>
        <p:nvSpPr>
          <p:cNvPr id="88" name="テキスト ボックス 87">
            <a:extLst>
              <a:ext uri="{FF2B5EF4-FFF2-40B4-BE49-F238E27FC236}">
                <a16:creationId xmlns:a16="http://schemas.microsoft.com/office/drawing/2014/main" id="{90007845-B74B-5EB8-01A2-F0D0B3B107AA}"/>
              </a:ext>
            </a:extLst>
          </p:cNvPr>
          <p:cNvSpPr txBox="1"/>
          <p:nvPr/>
        </p:nvSpPr>
        <p:spPr>
          <a:xfrm>
            <a:off x="445299" y="1030016"/>
            <a:ext cx="811635"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接触</a:t>
            </a:r>
          </a:p>
        </p:txBody>
      </p:sp>
      <p:sp>
        <p:nvSpPr>
          <p:cNvPr id="6" name="四角形: 角を丸くする 5">
            <a:extLst>
              <a:ext uri="{FF2B5EF4-FFF2-40B4-BE49-F238E27FC236}">
                <a16:creationId xmlns:a16="http://schemas.microsoft.com/office/drawing/2014/main" id="{4A672F05-4819-7C65-3B2F-FE8247A0F4A9}"/>
              </a:ext>
            </a:extLst>
          </p:cNvPr>
          <p:cNvSpPr/>
          <p:nvPr/>
        </p:nvSpPr>
        <p:spPr>
          <a:xfrm>
            <a:off x="262895" y="1854926"/>
            <a:ext cx="5885356" cy="435716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四角形: 角を丸くする 9">
            <a:extLst>
              <a:ext uri="{FF2B5EF4-FFF2-40B4-BE49-F238E27FC236}">
                <a16:creationId xmlns:a16="http://schemas.microsoft.com/office/drawing/2014/main" id="{354330A3-6E6E-081D-CE86-E6E991D271E0}"/>
              </a:ext>
            </a:extLst>
          </p:cNvPr>
          <p:cNvSpPr/>
          <p:nvPr/>
        </p:nvSpPr>
        <p:spPr>
          <a:xfrm>
            <a:off x="6261879" y="1854926"/>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 name="四角形: 角を丸くする 13">
            <a:extLst>
              <a:ext uri="{FF2B5EF4-FFF2-40B4-BE49-F238E27FC236}">
                <a16:creationId xmlns:a16="http://schemas.microsoft.com/office/drawing/2014/main" id="{80BEFA75-B102-C230-3C22-72F3A514CEB4}"/>
              </a:ext>
            </a:extLst>
          </p:cNvPr>
          <p:cNvSpPr/>
          <p:nvPr/>
        </p:nvSpPr>
        <p:spPr>
          <a:xfrm>
            <a:off x="6261879" y="2947852"/>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 name="四角形: 角を丸くする 17">
            <a:extLst>
              <a:ext uri="{FF2B5EF4-FFF2-40B4-BE49-F238E27FC236}">
                <a16:creationId xmlns:a16="http://schemas.microsoft.com/office/drawing/2014/main" id="{7F6B650E-CBCB-6054-2356-DEAFE87D97A9}"/>
              </a:ext>
            </a:extLst>
          </p:cNvPr>
          <p:cNvSpPr/>
          <p:nvPr/>
        </p:nvSpPr>
        <p:spPr>
          <a:xfrm>
            <a:off x="6261879" y="4049186"/>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 name="四角形: 角を丸くする 20">
            <a:extLst>
              <a:ext uri="{FF2B5EF4-FFF2-40B4-BE49-F238E27FC236}">
                <a16:creationId xmlns:a16="http://schemas.microsoft.com/office/drawing/2014/main" id="{F459B5A5-8632-46A3-40F1-E4DEBFD1FCAA}"/>
              </a:ext>
            </a:extLst>
          </p:cNvPr>
          <p:cNvSpPr/>
          <p:nvPr/>
        </p:nvSpPr>
        <p:spPr>
          <a:xfrm>
            <a:off x="6278273" y="5177245"/>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9" name="Rectangle 88"/>
          <p:cNvSpPr/>
          <p:nvPr/>
        </p:nvSpPr>
        <p:spPr>
          <a:xfrm>
            <a:off x="854964" y="2583179"/>
            <a:ext cx="777239" cy="603504"/>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400" b="1">
                <a:solidFill>
                  <a:srgbClr val="FFFFFF"/>
                </a:solidFill>
                <a:latin typeface="メイリオ"/>
                <a:ea typeface="メイリオ"/>
                <a:cs typeface="メイリオ"/>
              </a:rPr>
              <a:t>入口</a:t>
            </a:r>
          </a:p>
        </p:txBody>
      </p:sp>
      <p:sp>
        <p:nvSpPr>
          <p:cNvPr id="90" name="Rectangle 89"/>
          <p:cNvSpPr/>
          <p:nvPr/>
        </p:nvSpPr>
        <p:spPr>
          <a:xfrm>
            <a:off x="1632204" y="2583179"/>
            <a:ext cx="3931920" cy="603504"/>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wrap="square" lIns="64800" tIns="10800" rIns="43200" bIns="10800" rtlCol="0" anchor="ctr"/>
          <a:lstStyle/>
          <a:p>
            <a:pPr algn="l">
              <a:lnSpc>
                <a:spcPct val="110000"/>
              </a:lnSpc>
              <a:spcAft>
                <a:spcPts val="0"/>
              </a:spcAft>
            </a:pPr>
            <a:r>
              <a:rPr sz="1400" b="1">
                <a:solidFill>
                  <a:srgbClr val="1F2A5C"/>
                </a:solidFill>
                <a:latin typeface="メイリオ"/>
                <a:ea typeface="メイリオ"/>
                <a:cs typeface="メイリオ"/>
              </a:rPr>
              <a:t>サイト来訪・広告・店頭・既存顧客</a:t>
            </a:r>
          </a:p>
          <a:p>
            <a:pPr algn="l">
              <a:lnSpc>
                <a:spcPct val="110000"/>
              </a:lnSpc>
              <a:spcAft>
                <a:spcPts val="0"/>
              </a:spcAft>
            </a:pPr>
            <a:r>
              <a:rPr sz="1050" b="0">
                <a:solidFill>
                  <a:srgbClr val="333333"/>
                </a:solidFill>
                <a:latin typeface="メイリオ"/>
                <a:ea typeface="メイリオ"/>
                <a:cs typeface="メイリオ"/>
              </a:rPr>
              <a:t>ポップアップ／サンクスLINE誘導／</a:t>
            </a:r>
          </a:p>
          <a:p>
            <a:pPr algn="l">
              <a:lnSpc>
                <a:spcPct val="110000"/>
              </a:lnSpc>
              <a:spcAft>
                <a:spcPts val="0"/>
              </a:spcAft>
            </a:pPr>
            <a:r>
              <a:rPr sz="1050" b="0">
                <a:solidFill>
                  <a:srgbClr val="333333"/>
                </a:solidFill>
                <a:latin typeface="メイリオ"/>
                <a:ea typeface="メイリオ"/>
                <a:cs typeface="メイリオ"/>
              </a:rPr>
              <a:t>通知メッセージ／店頭のQR</a:t>
            </a:r>
          </a:p>
        </p:txBody>
      </p:sp>
      <p:sp>
        <p:nvSpPr>
          <p:cNvPr id="91" name="TextBox 90"/>
          <p:cNvSpPr txBox="1"/>
          <p:nvPr/>
        </p:nvSpPr>
        <p:spPr>
          <a:xfrm>
            <a:off x="854964" y="3177539"/>
            <a:ext cx="777239" cy="182880"/>
          </a:xfrm>
          <a:prstGeom prst="rect">
            <a:avLst/>
          </a:prstGeom>
          <a:noFill/>
        </p:spPr>
        <p:txBody>
          <a:bodyPr wrap="square" lIns="36000" tIns="10800" rIns="36000" bIns="10800" anchor="ctr">
            <a:spAutoFit/>
          </a:bodyPr>
          <a:lstStyle/>
          <a:p>
            <a:pPr algn="ctr">
              <a:lnSpc>
                <a:spcPct val="105000"/>
              </a:lnSpc>
              <a:spcAft>
                <a:spcPts val="200"/>
              </a:spcAft>
            </a:pPr>
            <a:r>
              <a:rPr sz="900" b="0">
                <a:solidFill>
                  <a:srgbClr val="1F2A5C"/>
                </a:solidFill>
                <a:latin typeface="メイリオ"/>
                <a:ea typeface="メイリオ"/>
                <a:cs typeface="メイリオ"/>
              </a:rPr>
              <a:t>▼</a:t>
            </a:r>
          </a:p>
        </p:txBody>
      </p:sp>
      <p:sp>
        <p:nvSpPr>
          <p:cNvPr id="92" name="Rectangle 91"/>
          <p:cNvSpPr/>
          <p:nvPr/>
        </p:nvSpPr>
        <p:spPr>
          <a:xfrm>
            <a:off x="854964" y="3351275"/>
            <a:ext cx="777239" cy="603504"/>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400" b="1">
                <a:solidFill>
                  <a:srgbClr val="FFFFFF"/>
                </a:solidFill>
                <a:latin typeface="メイリオ"/>
                <a:ea typeface="メイリオ"/>
                <a:cs typeface="メイリオ"/>
              </a:rPr>
              <a:t>LINE</a:t>
            </a:r>
          </a:p>
        </p:txBody>
      </p:sp>
      <p:sp>
        <p:nvSpPr>
          <p:cNvPr id="93" name="Rectangle 92"/>
          <p:cNvSpPr/>
          <p:nvPr/>
        </p:nvSpPr>
        <p:spPr>
          <a:xfrm>
            <a:off x="1632204" y="3351275"/>
            <a:ext cx="3931920" cy="603504"/>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wrap="square" lIns="64800" tIns="10800" rIns="43200" bIns="10800" rtlCol="0" anchor="ctr"/>
          <a:lstStyle/>
          <a:p>
            <a:pPr algn="l">
              <a:lnSpc>
                <a:spcPct val="110000"/>
              </a:lnSpc>
              <a:spcAft>
                <a:spcPts val="0"/>
              </a:spcAft>
            </a:pPr>
            <a:r>
              <a:rPr sz="1400" b="1">
                <a:solidFill>
                  <a:srgbClr val="1F2A5C"/>
                </a:solidFill>
                <a:latin typeface="メイリオ"/>
                <a:ea typeface="メイリオ"/>
                <a:cs typeface="メイリオ"/>
              </a:rPr>
              <a:t>友だち追加</a:t>
            </a:r>
          </a:p>
        </p:txBody>
      </p:sp>
      <p:sp>
        <p:nvSpPr>
          <p:cNvPr id="94" name="TextBox 93"/>
          <p:cNvSpPr txBox="1"/>
          <p:nvPr/>
        </p:nvSpPr>
        <p:spPr>
          <a:xfrm>
            <a:off x="854964" y="3945635"/>
            <a:ext cx="777239" cy="182880"/>
          </a:xfrm>
          <a:prstGeom prst="rect">
            <a:avLst/>
          </a:prstGeom>
          <a:noFill/>
        </p:spPr>
        <p:txBody>
          <a:bodyPr wrap="square" lIns="36000" tIns="10800" rIns="36000" bIns="10800" anchor="ctr">
            <a:spAutoFit/>
          </a:bodyPr>
          <a:lstStyle/>
          <a:p>
            <a:pPr algn="ctr">
              <a:lnSpc>
                <a:spcPct val="105000"/>
              </a:lnSpc>
              <a:spcAft>
                <a:spcPts val="200"/>
              </a:spcAft>
            </a:pPr>
            <a:r>
              <a:rPr sz="900" b="0">
                <a:solidFill>
                  <a:srgbClr val="1F2A5C"/>
                </a:solidFill>
                <a:latin typeface="メイリオ"/>
                <a:ea typeface="メイリオ"/>
                <a:cs typeface="メイリオ"/>
              </a:rPr>
              <a:t>▼</a:t>
            </a:r>
          </a:p>
        </p:txBody>
      </p:sp>
      <p:sp>
        <p:nvSpPr>
          <p:cNvPr id="95" name="Rectangle 94"/>
          <p:cNvSpPr/>
          <p:nvPr/>
        </p:nvSpPr>
        <p:spPr>
          <a:xfrm>
            <a:off x="854964" y="4119371"/>
            <a:ext cx="777239" cy="603504"/>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400" b="1">
                <a:solidFill>
                  <a:srgbClr val="FFFFFF"/>
                </a:solidFill>
                <a:latin typeface="メイリオ"/>
                <a:ea typeface="メイリオ"/>
                <a:cs typeface="メイリオ"/>
              </a:rPr>
              <a:t>配信</a:t>
            </a:r>
          </a:p>
        </p:txBody>
      </p:sp>
      <p:sp>
        <p:nvSpPr>
          <p:cNvPr id="96" name="Rectangle 95"/>
          <p:cNvSpPr/>
          <p:nvPr/>
        </p:nvSpPr>
        <p:spPr>
          <a:xfrm>
            <a:off x="1632204" y="4119371"/>
            <a:ext cx="3931920" cy="603504"/>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wrap="square" lIns="64800" tIns="10800" rIns="43200" bIns="10800" rtlCol="0" anchor="ctr"/>
          <a:lstStyle/>
          <a:p>
            <a:pPr algn="l">
              <a:lnSpc>
                <a:spcPct val="110000"/>
              </a:lnSpc>
              <a:spcAft>
                <a:spcPts val="0"/>
              </a:spcAft>
            </a:pPr>
            <a:r>
              <a:rPr sz="1400" b="1">
                <a:solidFill>
                  <a:srgbClr val="1F2A5C"/>
                </a:solidFill>
                <a:latin typeface="メイリオ"/>
                <a:ea typeface="メイリオ"/>
                <a:cs typeface="メイリオ"/>
              </a:rPr>
              <a:t>あいさつメッセージ・アンケート</a:t>
            </a:r>
          </a:p>
        </p:txBody>
      </p:sp>
      <p:sp>
        <p:nvSpPr>
          <p:cNvPr id="97" name="TextBox 96"/>
          <p:cNvSpPr txBox="1"/>
          <p:nvPr/>
        </p:nvSpPr>
        <p:spPr>
          <a:xfrm>
            <a:off x="854964" y="4713731"/>
            <a:ext cx="777239" cy="182880"/>
          </a:xfrm>
          <a:prstGeom prst="rect">
            <a:avLst/>
          </a:prstGeom>
          <a:noFill/>
        </p:spPr>
        <p:txBody>
          <a:bodyPr wrap="square" lIns="36000" tIns="10800" rIns="36000" bIns="10800" anchor="ctr">
            <a:spAutoFit/>
          </a:bodyPr>
          <a:lstStyle/>
          <a:p>
            <a:pPr algn="ctr">
              <a:lnSpc>
                <a:spcPct val="105000"/>
              </a:lnSpc>
              <a:spcAft>
                <a:spcPts val="200"/>
              </a:spcAft>
            </a:pPr>
            <a:r>
              <a:rPr sz="900" b="0">
                <a:solidFill>
                  <a:srgbClr val="1F2A5C"/>
                </a:solidFill>
                <a:latin typeface="メイリオ"/>
                <a:ea typeface="メイリオ"/>
                <a:cs typeface="メイリオ"/>
              </a:rPr>
              <a:t>▼</a:t>
            </a:r>
          </a:p>
        </p:txBody>
      </p:sp>
      <p:sp>
        <p:nvSpPr>
          <p:cNvPr id="98" name="Rectangle 97"/>
          <p:cNvSpPr/>
          <p:nvPr/>
        </p:nvSpPr>
        <p:spPr>
          <a:xfrm>
            <a:off x="854964" y="4887468"/>
            <a:ext cx="777239" cy="603504"/>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400" b="1">
                <a:solidFill>
                  <a:srgbClr val="FFFFFF"/>
                </a:solidFill>
                <a:latin typeface="メイリオ"/>
                <a:ea typeface="メイリオ"/>
                <a:cs typeface="メイリオ"/>
              </a:rPr>
              <a:t>ゴール</a:t>
            </a:r>
          </a:p>
        </p:txBody>
      </p:sp>
      <p:sp>
        <p:nvSpPr>
          <p:cNvPr id="99" name="Rectangle 98"/>
          <p:cNvSpPr/>
          <p:nvPr/>
        </p:nvSpPr>
        <p:spPr>
          <a:xfrm>
            <a:off x="1632204" y="4887468"/>
            <a:ext cx="3931920" cy="603504"/>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wrap="square" lIns="64800" tIns="10800" rIns="43200" bIns="10800" rtlCol="0" anchor="ctr"/>
          <a:lstStyle/>
          <a:p>
            <a:pPr algn="l">
              <a:lnSpc>
                <a:spcPct val="110000"/>
              </a:lnSpc>
              <a:spcAft>
                <a:spcPts val="0"/>
              </a:spcAft>
            </a:pPr>
            <a:r>
              <a:rPr sz="1400" b="1">
                <a:solidFill>
                  <a:srgbClr val="1F2A5C"/>
                </a:solidFill>
                <a:latin typeface="メイリオ"/>
                <a:ea typeface="メイリオ"/>
                <a:cs typeface="メイリオ"/>
              </a:rPr>
              <a:t>友だちとしてつながり続ける</a:t>
            </a:r>
          </a:p>
        </p:txBody>
      </p:sp>
      <p:sp>
        <p:nvSpPr>
          <p:cNvPr id="100" name="TextBox 99"/>
          <p:cNvSpPr txBox="1"/>
          <p:nvPr/>
        </p:nvSpPr>
        <p:spPr>
          <a:xfrm>
            <a:off x="6373368" y="1911095"/>
            <a:ext cx="3163823" cy="923544"/>
          </a:xfrm>
          <a:prstGeom prst="rect">
            <a:avLst/>
          </a:prstGeom>
          <a:noFill/>
        </p:spPr>
        <p:txBody>
          <a:bodyPr wrap="square" lIns="36000" tIns="10800" rIns="36000" bIns="10800" anchor="t">
            <a:spAutoFit/>
          </a:bodyPr>
          <a:lstStyle/>
          <a:p>
            <a:pPr algn="l">
              <a:lnSpc>
                <a:spcPct val="105000"/>
              </a:lnSpc>
              <a:spcAft>
                <a:spcPts val="200"/>
              </a:spcAft>
            </a:pPr>
            <a:r>
              <a:rPr sz="1300" b="1">
                <a:solidFill>
                  <a:srgbClr val="1F2A5C"/>
                </a:solidFill>
                <a:latin typeface="メイリオ"/>
                <a:ea typeface="メイリオ"/>
                <a:cs typeface="メイリオ"/>
              </a:rPr>
              <a:t>目的</a:t>
            </a:r>
          </a:p>
          <a:p>
            <a:pPr algn="l">
              <a:lnSpc>
                <a:spcPct val="105000"/>
              </a:lnSpc>
              <a:spcAft>
                <a:spcPts val="200"/>
              </a:spcAft>
            </a:pPr>
            <a:r>
              <a:rPr sz="1200" b="0">
                <a:solidFill>
                  <a:srgbClr val="333333"/>
                </a:solidFill>
                <a:latin typeface="メイリオ"/>
                <a:ea typeface="メイリオ"/>
                <a:cs typeface="メイリオ"/>
              </a:rPr>
              <a:t>サイトを離れる方、申込み済みの方、</a:t>
            </a:r>
          </a:p>
          <a:p>
            <a:pPr algn="l">
              <a:lnSpc>
                <a:spcPct val="105000"/>
              </a:lnSpc>
              <a:spcAft>
                <a:spcPts val="200"/>
              </a:spcAft>
            </a:pPr>
            <a:r>
              <a:rPr sz="1200" b="0">
                <a:solidFill>
                  <a:srgbClr val="333333"/>
                </a:solidFill>
                <a:latin typeface="メイリオ"/>
                <a:ea typeface="メイリオ"/>
                <a:cs typeface="メイリオ"/>
              </a:rPr>
              <a:t>既存顧客を、LINEの友だちとして残す</a:t>
            </a:r>
          </a:p>
        </p:txBody>
      </p:sp>
      <p:sp>
        <p:nvSpPr>
          <p:cNvPr id="101" name="TextBox 100"/>
          <p:cNvSpPr txBox="1"/>
          <p:nvPr/>
        </p:nvSpPr>
        <p:spPr>
          <a:xfrm>
            <a:off x="6373368" y="2999232"/>
            <a:ext cx="3163823" cy="923544"/>
          </a:xfrm>
          <a:prstGeom prst="rect">
            <a:avLst/>
          </a:prstGeom>
          <a:noFill/>
        </p:spPr>
        <p:txBody>
          <a:bodyPr wrap="square" lIns="36000" tIns="10800" rIns="36000" bIns="10800" anchor="t">
            <a:spAutoFit/>
          </a:bodyPr>
          <a:lstStyle/>
          <a:p>
            <a:pPr algn="l">
              <a:lnSpc>
                <a:spcPct val="105000"/>
              </a:lnSpc>
              <a:spcAft>
                <a:spcPts val="200"/>
              </a:spcAft>
            </a:pPr>
            <a:r>
              <a:rPr sz="1300" b="1">
                <a:solidFill>
                  <a:srgbClr val="1F2A5C"/>
                </a:solidFill>
                <a:latin typeface="メイリオ"/>
                <a:ea typeface="メイリオ"/>
                <a:cs typeface="メイリオ"/>
              </a:rPr>
              <a:t>対象</a:t>
            </a:r>
          </a:p>
          <a:p>
            <a:pPr algn="l">
              <a:lnSpc>
                <a:spcPct val="105000"/>
              </a:lnSpc>
              <a:spcAft>
                <a:spcPts val="200"/>
              </a:spcAft>
            </a:pPr>
            <a:r>
              <a:rPr sz="1200" b="0">
                <a:solidFill>
                  <a:srgbClr val="333333"/>
                </a:solidFill>
                <a:latin typeface="メイリオ"/>
                <a:ea typeface="メイリオ"/>
                <a:cs typeface="メイリオ"/>
              </a:rPr>
              <a:t>サイト来訪者／申込み完了の方／</a:t>
            </a:r>
          </a:p>
          <a:p>
            <a:pPr algn="l">
              <a:lnSpc>
                <a:spcPct val="105000"/>
              </a:lnSpc>
              <a:spcAft>
                <a:spcPts val="200"/>
              </a:spcAft>
            </a:pPr>
            <a:r>
              <a:rPr sz="1200" b="0">
                <a:solidFill>
                  <a:srgbClr val="333333"/>
                </a:solidFill>
                <a:latin typeface="メイリオ"/>
                <a:ea typeface="メイリオ"/>
                <a:cs typeface="メイリオ"/>
              </a:rPr>
              <a:t>保有リストの顧客／店頭の来店客</a:t>
            </a:r>
          </a:p>
        </p:txBody>
      </p:sp>
      <p:sp>
        <p:nvSpPr>
          <p:cNvPr id="102" name="TextBox 101"/>
          <p:cNvSpPr txBox="1"/>
          <p:nvPr/>
        </p:nvSpPr>
        <p:spPr>
          <a:xfrm>
            <a:off x="6373368" y="4105655"/>
            <a:ext cx="3163823" cy="923544"/>
          </a:xfrm>
          <a:prstGeom prst="rect">
            <a:avLst/>
          </a:prstGeom>
          <a:noFill/>
        </p:spPr>
        <p:txBody>
          <a:bodyPr wrap="square" lIns="36000" tIns="10800" rIns="36000" bIns="10800" anchor="t">
            <a:spAutoFit/>
          </a:bodyPr>
          <a:lstStyle/>
          <a:p>
            <a:pPr algn="l">
              <a:lnSpc>
                <a:spcPct val="105000"/>
              </a:lnSpc>
              <a:spcAft>
                <a:spcPts val="200"/>
              </a:spcAft>
            </a:pPr>
            <a:r>
              <a:rPr sz="1300" b="1">
                <a:solidFill>
                  <a:srgbClr val="1F2A5C"/>
                </a:solidFill>
                <a:latin typeface="メイリオ"/>
                <a:ea typeface="メイリオ"/>
                <a:cs typeface="メイリオ"/>
              </a:rPr>
              <a:t>中身</a:t>
            </a:r>
          </a:p>
          <a:p>
            <a:pPr algn="l">
              <a:lnSpc>
                <a:spcPct val="105000"/>
              </a:lnSpc>
              <a:spcAft>
                <a:spcPts val="200"/>
              </a:spcAft>
            </a:pPr>
            <a:r>
              <a:rPr sz="1200" b="0">
                <a:solidFill>
                  <a:srgbClr val="333333"/>
                </a:solidFill>
                <a:latin typeface="メイリオ"/>
                <a:ea typeface="メイリオ"/>
                <a:cs typeface="メイリオ"/>
              </a:rPr>
              <a:t>ポップアップ／サンクスLINE誘導／</a:t>
            </a:r>
          </a:p>
          <a:p>
            <a:pPr algn="l">
              <a:lnSpc>
                <a:spcPct val="105000"/>
              </a:lnSpc>
              <a:spcAft>
                <a:spcPts val="200"/>
              </a:spcAft>
            </a:pPr>
            <a:r>
              <a:rPr sz="1200" b="0">
                <a:solidFill>
                  <a:srgbClr val="333333"/>
                </a:solidFill>
                <a:latin typeface="メイリオ"/>
                <a:ea typeface="メイリオ"/>
                <a:cs typeface="メイリオ"/>
              </a:rPr>
              <a:t>保有リストへの通知メッセージ／</a:t>
            </a:r>
          </a:p>
          <a:p>
            <a:pPr algn="l">
              <a:lnSpc>
                <a:spcPct val="105000"/>
              </a:lnSpc>
              <a:spcAft>
                <a:spcPts val="200"/>
              </a:spcAft>
            </a:pPr>
            <a:r>
              <a:rPr sz="1200" b="0">
                <a:solidFill>
                  <a:srgbClr val="333333"/>
                </a:solidFill>
                <a:latin typeface="メイリオ"/>
                <a:ea typeface="メイリオ"/>
                <a:cs typeface="メイリオ"/>
              </a:rPr>
              <a:t>店頭POP・チラシのQR</a:t>
            </a:r>
          </a:p>
        </p:txBody>
      </p:sp>
      <p:sp>
        <p:nvSpPr>
          <p:cNvPr id="103" name="TextBox 102"/>
          <p:cNvSpPr txBox="1"/>
          <p:nvPr/>
        </p:nvSpPr>
        <p:spPr>
          <a:xfrm>
            <a:off x="6373368" y="5230368"/>
            <a:ext cx="3163823" cy="923544"/>
          </a:xfrm>
          <a:prstGeom prst="rect">
            <a:avLst/>
          </a:prstGeom>
          <a:noFill/>
        </p:spPr>
        <p:txBody>
          <a:bodyPr wrap="square" lIns="36000" tIns="10800" rIns="36000" bIns="10800" anchor="t">
            <a:spAutoFit/>
          </a:bodyPr>
          <a:lstStyle/>
          <a:p>
            <a:pPr algn="l">
              <a:lnSpc>
                <a:spcPct val="105000"/>
              </a:lnSpc>
              <a:spcAft>
                <a:spcPts val="200"/>
              </a:spcAft>
            </a:pPr>
            <a:r>
              <a:rPr sz="1300" b="1">
                <a:solidFill>
                  <a:srgbClr val="1F2A5C"/>
                </a:solidFill>
                <a:latin typeface="メイリオ"/>
                <a:ea typeface="メイリオ"/>
                <a:cs typeface="メイリオ"/>
              </a:rPr>
              <a:t>見る数字</a:t>
            </a:r>
          </a:p>
          <a:p>
            <a:pPr algn="l">
              <a:lnSpc>
                <a:spcPct val="105000"/>
              </a:lnSpc>
              <a:spcAft>
                <a:spcPts val="200"/>
              </a:spcAft>
            </a:pPr>
            <a:r>
              <a:rPr sz="1200" b="0">
                <a:solidFill>
                  <a:srgbClr val="333333"/>
                </a:solidFill>
                <a:latin typeface="メイリオ"/>
                <a:ea typeface="メイリオ"/>
                <a:cs typeface="メイリオ"/>
              </a:rPr>
              <a:t>友だち追加数／入口ごとの追加数／</a:t>
            </a:r>
          </a:p>
          <a:p>
            <a:pPr algn="l">
              <a:lnSpc>
                <a:spcPct val="105000"/>
              </a:lnSpc>
              <a:spcAft>
                <a:spcPts val="200"/>
              </a:spcAft>
            </a:pPr>
            <a:r>
              <a:rPr sz="1200" b="0">
                <a:solidFill>
                  <a:srgbClr val="333333"/>
                </a:solidFill>
                <a:latin typeface="メイリオ"/>
                <a:ea typeface="メイリオ"/>
                <a:cs typeface="メイリオ"/>
              </a:rPr>
              <a:t>友だち1人あたりの獲得費用</a:t>
            </a:r>
          </a:p>
        </p:txBody>
      </p:sp>
    </p:spTree>
    <p:extLst>
      <p:ext uri="{BB962C8B-B14F-4D97-AF65-F5344CB8AC3E}">
        <p14:creationId xmlns:p14="http://schemas.microsoft.com/office/powerpoint/2010/main" val="24989699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9D8481-2FDF-C61A-0B28-2BD7FAAB4DC1}"/>
            </a:ext>
          </a:extLst>
        </p:cNvPr>
        <p:cNvGrpSpPr/>
        <p:nvPr/>
      </p:nvGrpSpPr>
      <p:grpSpPr>
        <a:xfrm>
          <a:off x="0" y="0"/>
          <a:ext cx="0" cy="0"/>
          <a:chOff x="0" y="0"/>
          <a:chExt cx="0" cy="0"/>
        </a:xfrm>
      </p:grpSpPr>
      <p:sp>
        <p:nvSpPr>
          <p:cNvPr id="3" name="テキスト ボックス 47">
            <a:extLst>
              <a:ext uri="{FF2B5EF4-FFF2-40B4-BE49-F238E27FC236}">
                <a16:creationId xmlns:a16="http://schemas.microsoft.com/office/drawing/2014/main" id="{61A98738-2D8B-C136-F3AB-BE9E0F4BE04B}"/>
              </a:ext>
            </a:extLst>
          </p:cNvPr>
          <p:cNvSpPr txBox="1">
            <a:spLocks noChangeArrowheads="1"/>
          </p:cNvSpPr>
          <p:nvPr/>
        </p:nvSpPr>
        <p:spPr bwMode="auto">
          <a:xfrm>
            <a:off x="456501"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Calibri" charset="0"/>
                <a:ea typeface="ＭＳ Ｐゴシック" charset="0"/>
                <a:cs typeface="ＭＳ Ｐゴシック" charset="0"/>
              </a:defRPr>
            </a:lvl1pPr>
            <a:lvl2pPr>
              <a:defRPr kumimoji="1" sz="2800">
                <a:solidFill>
                  <a:schemeClr val="tx1"/>
                </a:solidFill>
                <a:latin typeface="Calibri" charset="0"/>
                <a:ea typeface="ＭＳ Ｐゴシック" charset="0"/>
              </a:defRPr>
            </a:lvl2pPr>
            <a:lvl3pPr>
              <a:defRPr kumimoji="1" sz="2400">
                <a:solidFill>
                  <a:schemeClr val="tx1"/>
                </a:solidFill>
                <a:latin typeface="Calibri" charset="0"/>
                <a:ea typeface="ＭＳ Ｐゴシック" charset="0"/>
              </a:defRPr>
            </a:lvl3pPr>
            <a:lvl4pPr>
              <a:defRPr kumimoji="1" sz="2000">
                <a:solidFill>
                  <a:schemeClr val="tx1"/>
                </a:solidFill>
                <a:latin typeface="Calibri" charset="0"/>
                <a:ea typeface="ＭＳ Ｐゴシック" charset="0"/>
              </a:defRPr>
            </a:lvl4pPr>
            <a:lvl5pPr>
              <a:defRPr kumimoji="1" sz="2000">
                <a:solidFill>
                  <a:schemeClr val="tx1"/>
                </a:solidFill>
                <a:latin typeface="Calibri" charset="0"/>
                <a:ea typeface="ＭＳ Ｐゴシック" charset="0"/>
              </a:defRPr>
            </a:lvl5pPr>
            <a:lvl6pPr eaLnBrk="0" fontAlgn="base" hangingPunct="0">
              <a:spcAft>
                <a:spcPct val="0"/>
              </a:spcAft>
              <a:buFont typeface="Arial" charset="0"/>
              <a:buChar char="»"/>
              <a:defRPr kumimoji="1" sz="2000">
                <a:solidFill>
                  <a:schemeClr val="tx1"/>
                </a:solidFill>
                <a:latin typeface="Calibri" charset="0"/>
                <a:ea typeface="ＭＳ Ｐゴシック" charset="0"/>
              </a:defRPr>
            </a:lvl6pPr>
            <a:lvl7pPr eaLnBrk="0" fontAlgn="base" hangingPunct="0">
              <a:spcAft>
                <a:spcPct val="0"/>
              </a:spcAft>
              <a:buFont typeface="Arial" charset="0"/>
              <a:buChar char="»"/>
              <a:defRPr kumimoji="1" sz="2000">
                <a:solidFill>
                  <a:schemeClr val="tx1"/>
                </a:solidFill>
                <a:latin typeface="Calibri" charset="0"/>
                <a:ea typeface="ＭＳ Ｐゴシック" charset="0"/>
              </a:defRPr>
            </a:lvl7pPr>
            <a:lvl8pPr eaLnBrk="0" fontAlgn="base" hangingPunct="0">
              <a:spcAft>
                <a:spcPct val="0"/>
              </a:spcAft>
              <a:buFont typeface="Arial" charset="0"/>
              <a:buChar char="»"/>
              <a:defRPr kumimoji="1" sz="2000">
                <a:solidFill>
                  <a:schemeClr val="tx1"/>
                </a:solidFill>
                <a:latin typeface="Calibri" charset="0"/>
                <a:ea typeface="ＭＳ Ｐゴシック" charset="0"/>
              </a:defRPr>
            </a:lvl8pPr>
            <a:lvl9pPr eaLnBrk="0" fontAlgn="base" hangingPunct="0">
              <a:spcAft>
                <a:spcPct val="0"/>
              </a:spcAft>
              <a:buFont typeface="Arial" charset="0"/>
              <a:buChar char="»"/>
              <a:defRPr kumimoji="1" sz="2000">
                <a:solidFill>
                  <a:schemeClr val="tx1"/>
                </a:solidFill>
                <a:latin typeface="Calibri" charset="0"/>
                <a:ea typeface="ＭＳ Ｐゴシック" charset="0"/>
              </a:defRPr>
            </a:lvl9pPr>
          </a:lstStyle>
          <a:p>
            <a:pPr>
              <a:spcBef>
                <a:spcPct val="20000"/>
              </a:spcBef>
              <a:buFont typeface="Arial" charset="0"/>
              <a:buNone/>
            </a:pPr>
            <a:r>
              <a:rPr lang="ja-JP" altLang="en-US" sz="1600" b="1" dirty="0">
                <a:solidFill>
                  <a:srgbClr val="1F2A5C"/>
                </a:solidFill>
                <a:latin typeface="メイリオ"/>
                <a:ea typeface="メイリオ"/>
                <a:cs typeface="メイリオ"/>
              </a:rPr>
              <a:t>具体施策のイメージ</a:t>
            </a:r>
          </a:p>
        </p:txBody>
      </p:sp>
      <p:sp>
        <p:nvSpPr>
          <p:cNvPr id="5" name="正方形/長方形 4">
            <a:extLst>
              <a:ext uri="{FF2B5EF4-FFF2-40B4-BE49-F238E27FC236}">
                <a16:creationId xmlns:a16="http://schemas.microsoft.com/office/drawing/2014/main" id="{E763FE7F-E268-AFB9-8C26-A4EB11BA5AE7}"/>
              </a:ext>
            </a:extLst>
          </p:cNvPr>
          <p:cNvSpPr/>
          <p:nvPr/>
        </p:nvSpPr>
        <p:spPr>
          <a:xfrm>
            <a:off x="2659553" y="109691"/>
            <a:ext cx="1992986" cy="326496"/>
          </a:xfrm>
          <a:prstGeom prst="rect">
            <a:avLst/>
          </a:prstGeom>
          <a:solidFill>
            <a:schemeClr val="tx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solidFill>
                  <a:srgbClr val="FFFF00"/>
                </a:solidFill>
                <a:latin typeface="メイリオ" panose="020B0604030504040204" pitchFamily="50" charset="-128"/>
                <a:ea typeface="メイリオ" panose="020B0604030504040204" pitchFamily="50" charset="-128"/>
              </a:rPr>
              <a:t>露出の強化</a:t>
            </a:r>
          </a:p>
        </p:txBody>
      </p:sp>
      <p:sp>
        <p:nvSpPr>
          <p:cNvPr id="4" name="Chevron 13">
            <a:extLst>
              <a:ext uri="{FF2B5EF4-FFF2-40B4-BE49-F238E27FC236}">
                <a16:creationId xmlns:a16="http://schemas.microsoft.com/office/drawing/2014/main" id="{29489E76-109A-5A9F-6007-97E43FBE69A2}"/>
              </a:ext>
            </a:extLst>
          </p:cNvPr>
          <p:cNvSpPr/>
          <p:nvPr/>
        </p:nvSpPr>
        <p:spPr>
          <a:xfrm>
            <a:off x="7099344" y="795063"/>
            <a:ext cx="1482455" cy="731520"/>
          </a:xfrm>
          <a:prstGeom prst="chevron">
            <a:avLst/>
          </a:prstGeom>
          <a:solidFill>
            <a:schemeClr val="tx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7" name="Chevron 12">
            <a:extLst>
              <a:ext uri="{FF2B5EF4-FFF2-40B4-BE49-F238E27FC236}">
                <a16:creationId xmlns:a16="http://schemas.microsoft.com/office/drawing/2014/main" id="{69A3133C-CD4D-8D4C-F0E6-DC6AB18C962D}"/>
              </a:ext>
            </a:extLst>
          </p:cNvPr>
          <p:cNvSpPr/>
          <p:nvPr/>
        </p:nvSpPr>
        <p:spPr>
          <a:xfrm>
            <a:off x="593938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9" name="Chevron 11">
            <a:extLst>
              <a:ext uri="{FF2B5EF4-FFF2-40B4-BE49-F238E27FC236}">
                <a16:creationId xmlns:a16="http://schemas.microsoft.com/office/drawing/2014/main" id="{F937C8A8-9FC6-659C-E49B-A699CF4D163E}"/>
              </a:ext>
            </a:extLst>
          </p:cNvPr>
          <p:cNvSpPr/>
          <p:nvPr/>
        </p:nvSpPr>
        <p:spPr>
          <a:xfrm>
            <a:off x="477942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11" name="Chevron 13">
            <a:extLst>
              <a:ext uri="{FF2B5EF4-FFF2-40B4-BE49-F238E27FC236}">
                <a16:creationId xmlns:a16="http://schemas.microsoft.com/office/drawing/2014/main" id="{D5E8202C-DCA5-0507-F682-9FA900EF692C}"/>
              </a:ext>
            </a:extLst>
          </p:cNvPr>
          <p:cNvSpPr/>
          <p:nvPr/>
        </p:nvSpPr>
        <p:spPr>
          <a:xfrm>
            <a:off x="8259306" y="795063"/>
            <a:ext cx="1482455" cy="731520"/>
          </a:xfrm>
          <a:prstGeom prst="chevron">
            <a:avLst/>
          </a:prstGeom>
          <a:solidFill>
            <a:schemeClr val="tx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13" name="テキスト ボックス 12">
            <a:extLst>
              <a:ext uri="{FF2B5EF4-FFF2-40B4-BE49-F238E27FC236}">
                <a16:creationId xmlns:a16="http://schemas.microsoft.com/office/drawing/2014/main" id="{6F55644E-8236-43A4-3105-B3F34E3F2103}"/>
              </a:ext>
            </a:extLst>
          </p:cNvPr>
          <p:cNvSpPr txBox="1"/>
          <p:nvPr/>
        </p:nvSpPr>
        <p:spPr>
          <a:xfrm>
            <a:off x="7420737" y="1030016"/>
            <a:ext cx="982079"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マネタイズ</a:t>
            </a:r>
          </a:p>
        </p:txBody>
      </p:sp>
      <p:sp>
        <p:nvSpPr>
          <p:cNvPr id="15" name="テキスト ボックス 14">
            <a:extLst>
              <a:ext uri="{FF2B5EF4-FFF2-40B4-BE49-F238E27FC236}">
                <a16:creationId xmlns:a16="http://schemas.microsoft.com/office/drawing/2014/main" id="{56BB0C46-5ADE-C304-D02B-B9272585F6C4}"/>
              </a:ext>
            </a:extLst>
          </p:cNvPr>
          <p:cNvSpPr txBox="1"/>
          <p:nvPr/>
        </p:nvSpPr>
        <p:spPr>
          <a:xfrm>
            <a:off x="5130427" y="945378"/>
            <a:ext cx="811635" cy="430887"/>
          </a:xfrm>
          <a:prstGeom prst="rect">
            <a:avLst/>
          </a:prstGeom>
          <a:solidFill>
            <a:schemeClr val="accent1">
              <a:lumMod val="75000"/>
            </a:schemeClr>
          </a:solid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有効</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リード化</a:t>
            </a:r>
          </a:p>
        </p:txBody>
      </p:sp>
      <p:sp>
        <p:nvSpPr>
          <p:cNvPr id="17" name="テキスト ボックス 16">
            <a:extLst>
              <a:ext uri="{FF2B5EF4-FFF2-40B4-BE49-F238E27FC236}">
                <a16:creationId xmlns:a16="http://schemas.microsoft.com/office/drawing/2014/main" id="{6823B628-7016-D96E-3CC4-F63423F806BA}"/>
              </a:ext>
            </a:extLst>
          </p:cNvPr>
          <p:cNvSpPr txBox="1"/>
          <p:nvPr/>
        </p:nvSpPr>
        <p:spPr>
          <a:xfrm>
            <a:off x="6301709" y="945379"/>
            <a:ext cx="811635" cy="430887"/>
          </a:xfrm>
          <a:prstGeom prst="rect">
            <a:avLst/>
          </a:prstGeom>
          <a:solidFill>
            <a:schemeClr val="accent1">
              <a:lumMod val="75000"/>
            </a:schemeClr>
          </a:solid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リード</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再育成</a:t>
            </a:r>
          </a:p>
        </p:txBody>
      </p:sp>
      <p:sp>
        <p:nvSpPr>
          <p:cNvPr id="19" name="テキスト ボックス 18">
            <a:extLst>
              <a:ext uri="{FF2B5EF4-FFF2-40B4-BE49-F238E27FC236}">
                <a16:creationId xmlns:a16="http://schemas.microsoft.com/office/drawing/2014/main" id="{85AC353D-60E1-F353-0855-728BE833FC2C}"/>
              </a:ext>
            </a:extLst>
          </p:cNvPr>
          <p:cNvSpPr txBox="1"/>
          <p:nvPr/>
        </p:nvSpPr>
        <p:spPr>
          <a:xfrm>
            <a:off x="8544744" y="945378"/>
            <a:ext cx="982079"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リピート</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クロスセル</a:t>
            </a:r>
          </a:p>
        </p:txBody>
      </p:sp>
      <p:sp>
        <p:nvSpPr>
          <p:cNvPr id="37" name="Chevron 12">
            <a:extLst>
              <a:ext uri="{FF2B5EF4-FFF2-40B4-BE49-F238E27FC236}">
                <a16:creationId xmlns:a16="http://schemas.microsoft.com/office/drawing/2014/main" id="{DA5127EF-5223-643E-EDB9-5407299E080D}"/>
              </a:ext>
            </a:extLst>
          </p:cNvPr>
          <p:cNvSpPr/>
          <p:nvPr/>
        </p:nvSpPr>
        <p:spPr>
          <a:xfrm>
            <a:off x="361946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39" name="テキスト ボックス 38">
            <a:extLst>
              <a:ext uri="{FF2B5EF4-FFF2-40B4-BE49-F238E27FC236}">
                <a16:creationId xmlns:a16="http://schemas.microsoft.com/office/drawing/2014/main" id="{E14962F6-8671-20EE-0C84-89C4FB4E7CA0}"/>
              </a:ext>
            </a:extLst>
          </p:cNvPr>
          <p:cNvSpPr txBox="1"/>
          <p:nvPr/>
        </p:nvSpPr>
        <p:spPr>
          <a:xfrm>
            <a:off x="3959145" y="945379"/>
            <a:ext cx="811635"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リード</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獲得</a:t>
            </a:r>
          </a:p>
        </p:txBody>
      </p:sp>
      <p:sp>
        <p:nvSpPr>
          <p:cNvPr id="82" name="正方形/長方形 81">
            <a:extLst>
              <a:ext uri="{FF2B5EF4-FFF2-40B4-BE49-F238E27FC236}">
                <a16:creationId xmlns:a16="http://schemas.microsoft.com/office/drawing/2014/main" id="{E39FFBC3-AAB5-2173-2D6D-3CB0180566B7}"/>
              </a:ext>
            </a:extLst>
          </p:cNvPr>
          <p:cNvSpPr/>
          <p:nvPr/>
        </p:nvSpPr>
        <p:spPr>
          <a:xfrm>
            <a:off x="-15984" y="609190"/>
            <a:ext cx="9917132" cy="1034848"/>
          </a:xfrm>
          <a:prstGeom prst="rect">
            <a:avLst/>
          </a:prstGeom>
          <a:solidFill>
            <a:schemeClr val="bg1">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84" name="正方形/長方形 83">
            <a:extLst>
              <a:ext uri="{FF2B5EF4-FFF2-40B4-BE49-F238E27FC236}">
                <a16:creationId xmlns:a16="http://schemas.microsoft.com/office/drawing/2014/main" id="{A77072BE-5118-9AA4-A2E0-18EDA2DCF568}"/>
              </a:ext>
            </a:extLst>
          </p:cNvPr>
          <p:cNvSpPr/>
          <p:nvPr/>
        </p:nvSpPr>
        <p:spPr>
          <a:xfrm>
            <a:off x="-15984" y="645907"/>
            <a:ext cx="9930693" cy="1034848"/>
          </a:xfrm>
          <a:prstGeom prst="rect">
            <a:avLst/>
          </a:prstGeom>
          <a:solidFill>
            <a:schemeClr val="bg1">
              <a:lumMod val="95000"/>
              <a:alpha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6" name="Pentagon 10">
            <a:extLst>
              <a:ext uri="{FF2B5EF4-FFF2-40B4-BE49-F238E27FC236}">
                <a16:creationId xmlns:a16="http://schemas.microsoft.com/office/drawing/2014/main" id="{088A33FA-3E05-54E4-570A-B7F80484E448}"/>
              </a:ext>
            </a:extLst>
          </p:cNvPr>
          <p:cNvSpPr/>
          <p:nvPr/>
        </p:nvSpPr>
        <p:spPr>
          <a:xfrm>
            <a:off x="262895" y="795063"/>
            <a:ext cx="1360371" cy="731520"/>
          </a:xfrm>
          <a:prstGeom prst="homePlate">
            <a:avLst/>
          </a:prstGeom>
          <a:solidFill>
            <a:schemeClr val="bg1">
              <a:lumMod val="6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lang="en-US" altLang="ja-JP" sz="1300" b="1" dirty="0">
              <a:solidFill>
                <a:srgbClr val="FFFFFF"/>
              </a:solidFill>
              <a:latin typeface="メイリオ"/>
              <a:ea typeface="メイリオ"/>
              <a:cs typeface="メイリオ"/>
            </a:endParaRPr>
          </a:p>
        </p:txBody>
      </p:sp>
      <p:sp>
        <p:nvSpPr>
          <p:cNvPr id="10" name="Chevron 11">
            <a:extLst>
              <a:ext uri="{FF2B5EF4-FFF2-40B4-BE49-F238E27FC236}">
                <a16:creationId xmlns:a16="http://schemas.microsoft.com/office/drawing/2014/main" id="{9A8FA9AD-0E1D-35F6-18B9-3EF66776F42F}"/>
              </a:ext>
            </a:extLst>
          </p:cNvPr>
          <p:cNvSpPr/>
          <p:nvPr/>
        </p:nvSpPr>
        <p:spPr>
          <a:xfrm>
            <a:off x="1299544" y="795063"/>
            <a:ext cx="1482455" cy="731520"/>
          </a:xfrm>
          <a:prstGeom prst="chevron">
            <a:avLst/>
          </a:prstGeom>
          <a:solidFill>
            <a:schemeClr val="accent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14" name="Chevron 11">
            <a:extLst>
              <a:ext uri="{FF2B5EF4-FFF2-40B4-BE49-F238E27FC236}">
                <a16:creationId xmlns:a16="http://schemas.microsoft.com/office/drawing/2014/main" id="{B80A9B91-B735-5AE5-624C-DB7BEDA30516}"/>
              </a:ext>
            </a:extLst>
          </p:cNvPr>
          <p:cNvSpPr/>
          <p:nvPr/>
        </p:nvSpPr>
        <p:spPr>
          <a:xfrm>
            <a:off x="2459504" y="795063"/>
            <a:ext cx="1482455" cy="731520"/>
          </a:xfrm>
          <a:prstGeom prst="chevron">
            <a:avLst/>
          </a:prstGeom>
          <a:solidFill>
            <a:schemeClr val="accent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18" name="テキスト ボックス 17">
            <a:extLst>
              <a:ext uri="{FF2B5EF4-FFF2-40B4-BE49-F238E27FC236}">
                <a16:creationId xmlns:a16="http://schemas.microsoft.com/office/drawing/2014/main" id="{7FA18697-4D57-2182-57FD-2996F95EC0BB}"/>
              </a:ext>
            </a:extLst>
          </p:cNvPr>
          <p:cNvSpPr txBox="1"/>
          <p:nvPr/>
        </p:nvSpPr>
        <p:spPr>
          <a:xfrm>
            <a:off x="1616581" y="945379"/>
            <a:ext cx="811635"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サイト</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離脱</a:t>
            </a:r>
          </a:p>
        </p:txBody>
      </p:sp>
      <p:sp>
        <p:nvSpPr>
          <p:cNvPr id="21" name="テキスト ボックス 20">
            <a:extLst>
              <a:ext uri="{FF2B5EF4-FFF2-40B4-BE49-F238E27FC236}">
                <a16:creationId xmlns:a16="http://schemas.microsoft.com/office/drawing/2014/main" id="{571916BE-9BC4-A308-6573-898FC7A47F6B}"/>
              </a:ext>
            </a:extLst>
          </p:cNvPr>
          <p:cNvSpPr txBox="1"/>
          <p:nvPr/>
        </p:nvSpPr>
        <p:spPr>
          <a:xfrm>
            <a:off x="2787863" y="1030016"/>
            <a:ext cx="811635"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育成</a:t>
            </a:r>
          </a:p>
        </p:txBody>
      </p:sp>
      <p:sp>
        <p:nvSpPr>
          <p:cNvPr id="23" name="テキスト ボックス 22">
            <a:extLst>
              <a:ext uri="{FF2B5EF4-FFF2-40B4-BE49-F238E27FC236}">
                <a16:creationId xmlns:a16="http://schemas.microsoft.com/office/drawing/2014/main" id="{25C076BB-0677-F238-39C9-02E4D26A9F90}"/>
              </a:ext>
            </a:extLst>
          </p:cNvPr>
          <p:cNvSpPr txBox="1"/>
          <p:nvPr/>
        </p:nvSpPr>
        <p:spPr>
          <a:xfrm>
            <a:off x="445299" y="1030016"/>
            <a:ext cx="811635"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接触</a:t>
            </a:r>
          </a:p>
        </p:txBody>
      </p:sp>
      <p:sp>
        <p:nvSpPr>
          <p:cNvPr id="8" name="四角形: 角を丸くする 7">
            <a:extLst>
              <a:ext uri="{FF2B5EF4-FFF2-40B4-BE49-F238E27FC236}">
                <a16:creationId xmlns:a16="http://schemas.microsoft.com/office/drawing/2014/main" id="{3ED11842-B942-C94A-F612-AD82710C5323}"/>
              </a:ext>
            </a:extLst>
          </p:cNvPr>
          <p:cNvSpPr/>
          <p:nvPr/>
        </p:nvSpPr>
        <p:spPr>
          <a:xfrm>
            <a:off x="262895" y="1854926"/>
            <a:ext cx="5885356" cy="435716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四角形: 角を丸くする 15">
            <a:extLst>
              <a:ext uri="{FF2B5EF4-FFF2-40B4-BE49-F238E27FC236}">
                <a16:creationId xmlns:a16="http://schemas.microsoft.com/office/drawing/2014/main" id="{D8CB4BBB-DB36-4D1D-81B3-0D31B0562450}"/>
              </a:ext>
            </a:extLst>
          </p:cNvPr>
          <p:cNvSpPr/>
          <p:nvPr/>
        </p:nvSpPr>
        <p:spPr>
          <a:xfrm>
            <a:off x="6261879" y="1854926"/>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四角形: 角を丸くする 21">
            <a:extLst>
              <a:ext uri="{FF2B5EF4-FFF2-40B4-BE49-F238E27FC236}">
                <a16:creationId xmlns:a16="http://schemas.microsoft.com/office/drawing/2014/main" id="{B8E2DC18-3E5E-447C-CEDF-5068AF4D0A32}"/>
              </a:ext>
            </a:extLst>
          </p:cNvPr>
          <p:cNvSpPr/>
          <p:nvPr/>
        </p:nvSpPr>
        <p:spPr>
          <a:xfrm>
            <a:off x="6261879" y="2947852"/>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5" name="四角形: 角を丸くする 24">
            <a:extLst>
              <a:ext uri="{FF2B5EF4-FFF2-40B4-BE49-F238E27FC236}">
                <a16:creationId xmlns:a16="http://schemas.microsoft.com/office/drawing/2014/main" id="{5D50EF2A-1185-0E22-D912-9AEA3CB774BC}"/>
              </a:ext>
            </a:extLst>
          </p:cNvPr>
          <p:cNvSpPr/>
          <p:nvPr/>
        </p:nvSpPr>
        <p:spPr>
          <a:xfrm>
            <a:off x="6261879" y="4049186"/>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7" name="四角形: 角を丸くする 26">
            <a:extLst>
              <a:ext uri="{FF2B5EF4-FFF2-40B4-BE49-F238E27FC236}">
                <a16:creationId xmlns:a16="http://schemas.microsoft.com/office/drawing/2014/main" id="{95CDFDF2-ACE7-3D27-F326-7F888F2AC7B9}"/>
              </a:ext>
            </a:extLst>
          </p:cNvPr>
          <p:cNvSpPr/>
          <p:nvPr/>
        </p:nvSpPr>
        <p:spPr>
          <a:xfrm>
            <a:off x="6278273" y="5177245"/>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5" name="Rectangle 84"/>
          <p:cNvSpPr/>
          <p:nvPr/>
        </p:nvSpPr>
        <p:spPr>
          <a:xfrm>
            <a:off x="854964" y="2583179"/>
            <a:ext cx="777239" cy="603504"/>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400" b="1">
                <a:solidFill>
                  <a:srgbClr val="FFFFFF"/>
                </a:solidFill>
                <a:latin typeface="メイリオ"/>
                <a:ea typeface="メイリオ"/>
                <a:cs typeface="メイリオ"/>
              </a:rPr>
              <a:t>入口</a:t>
            </a:r>
          </a:p>
        </p:txBody>
      </p:sp>
      <p:sp>
        <p:nvSpPr>
          <p:cNvPr id="86" name="Rectangle 85"/>
          <p:cNvSpPr/>
          <p:nvPr/>
        </p:nvSpPr>
        <p:spPr>
          <a:xfrm>
            <a:off x="1632204" y="2583179"/>
            <a:ext cx="3931920" cy="603504"/>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wrap="square" lIns="64800" tIns="10800" rIns="43200" bIns="10800" rtlCol="0" anchor="ctr"/>
          <a:lstStyle/>
          <a:p>
            <a:pPr algn="l">
              <a:lnSpc>
                <a:spcPct val="110000"/>
              </a:lnSpc>
              <a:spcAft>
                <a:spcPts val="0"/>
              </a:spcAft>
            </a:pPr>
            <a:r>
              <a:rPr sz="1400" b="1">
                <a:solidFill>
                  <a:srgbClr val="1F2A5C"/>
                </a:solidFill>
                <a:latin typeface="メイリオ"/>
                <a:ea typeface="メイリオ"/>
                <a:cs typeface="メイリオ"/>
              </a:rPr>
              <a:t>友だち全体</a:t>
            </a:r>
          </a:p>
        </p:txBody>
      </p:sp>
      <p:sp>
        <p:nvSpPr>
          <p:cNvPr id="87" name="TextBox 86"/>
          <p:cNvSpPr txBox="1"/>
          <p:nvPr/>
        </p:nvSpPr>
        <p:spPr>
          <a:xfrm>
            <a:off x="854964" y="3177539"/>
            <a:ext cx="777239" cy="182880"/>
          </a:xfrm>
          <a:prstGeom prst="rect">
            <a:avLst/>
          </a:prstGeom>
          <a:noFill/>
        </p:spPr>
        <p:txBody>
          <a:bodyPr wrap="square" lIns="36000" tIns="10800" rIns="36000" bIns="10800" anchor="ctr">
            <a:spAutoFit/>
          </a:bodyPr>
          <a:lstStyle/>
          <a:p>
            <a:pPr algn="ctr">
              <a:lnSpc>
                <a:spcPct val="105000"/>
              </a:lnSpc>
              <a:spcAft>
                <a:spcPts val="200"/>
              </a:spcAft>
            </a:pPr>
            <a:r>
              <a:rPr sz="900" b="0">
                <a:solidFill>
                  <a:srgbClr val="1F2A5C"/>
                </a:solidFill>
                <a:latin typeface="メイリオ"/>
                <a:ea typeface="メイリオ"/>
                <a:cs typeface="メイリオ"/>
              </a:rPr>
              <a:t>▼</a:t>
            </a:r>
          </a:p>
        </p:txBody>
      </p:sp>
      <p:sp>
        <p:nvSpPr>
          <p:cNvPr id="88" name="Rectangle 87"/>
          <p:cNvSpPr/>
          <p:nvPr/>
        </p:nvSpPr>
        <p:spPr>
          <a:xfrm>
            <a:off x="854964" y="3351275"/>
            <a:ext cx="777239" cy="603504"/>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400" b="1">
                <a:solidFill>
                  <a:srgbClr val="FFFFFF"/>
                </a:solidFill>
                <a:latin typeface="メイリオ"/>
                <a:ea typeface="メイリオ"/>
                <a:cs typeface="メイリオ"/>
              </a:rPr>
              <a:t>LINE</a:t>
            </a:r>
          </a:p>
        </p:txBody>
      </p:sp>
      <p:sp>
        <p:nvSpPr>
          <p:cNvPr id="89" name="Rectangle 88"/>
          <p:cNvSpPr/>
          <p:nvPr/>
        </p:nvSpPr>
        <p:spPr>
          <a:xfrm>
            <a:off x="1632204" y="3351275"/>
            <a:ext cx="3931920" cy="603504"/>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wrap="square" lIns="64800" tIns="10800" rIns="43200" bIns="10800" rtlCol="0" anchor="ctr"/>
          <a:lstStyle/>
          <a:p>
            <a:pPr algn="l">
              <a:lnSpc>
                <a:spcPct val="110000"/>
              </a:lnSpc>
              <a:spcAft>
                <a:spcPts val="0"/>
              </a:spcAft>
            </a:pPr>
            <a:r>
              <a:rPr sz="1400" b="1">
                <a:solidFill>
                  <a:srgbClr val="1F2A5C"/>
                </a:solidFill>
                <a:latin typeface="メイリオ"/>
                <a:ea typeface="メイリオ"/>
                <a:cs typeface="メイリオ"/>
              </a:rPr>
              <a:t>リッチメニューに最新情報の入口</a:t>
            </a:r>
          </a:p>
        </p:txBody>
      </p:sp>
      <p:sp>
        <p:nvSpPr>
          <p:cNvPr id="90" name="TextBox 89"/>
          <p:cNvSpPr txBox="1"/>
          <p:nvPr/>
        </p:nvSpPr>
        <p:spPr>
          <a:xfrm>
            <a:off x="854964" y="3945635"/>
            <a:ext cx="777239" cy="182880"/>
          </a:xfrm>
          <a:prstGeom prst="rect">
            <a:avLst/>
          </a:prstGeom>
          <a:noFill/>
        </p:spPr>
        <p:txBody>
          <a:bodyPr wrap="square" lIns="36000" tIns="10800" rIns="36000" bIns="10800" anchor="ctr">
            <a:spAutoFit/>
          </a:bodyPr>
          <a:lstStyle/>
          <a:p>
            <a:pPr algn="ctr">
              <a:lnSpc>
                <a:spcPct val="105000"/>
              </a:lnSpc>
              <a:spcAft>
                <a:spcPts val="200"/>
              </a:spcAft>
            </a:pPr>
            <a:r>
              <a:rPr sz="900" b="0">
                <a:solidFill>
                  <a:srgbClr val="1F2A5C"/>
                </a:solidFill>
                <a:latin typeface="メイリオ"/>
                <a:ea typeface="メイリオ"/>
                <a:cs typeface="メイリオ"/>
              </a:rPr>
              <a:t>▼</a:t>
            </a:r>
          </a:p>
        </p:txBody>
      </p:sp>
      <p:sp>
        <p:nvSpPr>
          <p:cNvPr id="91" name="Rectangle 90"/>
          <p:cNvSpPr/>
          <p:nvPr/>
        </p:nvSpPr>
        <p:spPr>
          <a:xfrm>
            <a:off x="854964" y="4119371"/>
            <a:ext cx="777239" cy="603504"/>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400" b="1">
                <a:solidFill>
                  <a:srgbClr val="FFFFFF"/>
                </a:solidFill>
                <a:latin typeface="メイリオ"/>
                <a:ea typeface="メイリオ"/>
                <a:cs typeface="メイリオ"/>
              </a:rPr>
              <a:t>配信</a:t>
            </a:r>
          </a:p>
        </p:txBody>
      </p:sp>
      <p:sp>
        <p:nvSpPr>
          <p:cNvPr id="92" name="Rectangle 91"/>
          <p:cNvSpPr/>
          <p:nvPr/>
        </p:nvSpPr>
        <p:spPr>
          <a:xfrm>
            <a:off x="1632204" y="4119371"/>
            <a:ext cx="3931920" cy="603504"/>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wrap="square" lIns="64800" tIns="10800" rIns="43200" bIns="10800" rtlCol="0" anchor="ctr"/>
          <a:lstStyle/>
          <a:p>
            <a:pPr algn="l">
              <a:lnSpc>
                <a:spcPct val="110000"/>
              </a:lnSpc>
              <a:spcAft>
                <a:spcPts val="0"/>
              </a:spcAft>
            </a:pPr>
            <a:r>
              <a:rPr sz="1400" b="1">
                <a:solidFill>
                  <a:srgbClr val="1F2A5C"/>
                </a:solidFill>
                <a:latin typeface="メイリオ"/>
                <a:ea typeface="メイリオ"/>
                <a:cs typeface="メイリオ"/>
              </a:rPr>
              <a:t>企画配信</a:t>
            </a:r>
          </a:p>
          <a:p>
            <a:pPr algn="l">
              <a:lnSpc>
                <a:spcPct val="110000"/>
              </a:lnSpc>
              <a:spcAft>
                <a:spcPts val="0"/>
              </a:spcAft>
            </a:pPr>
            <a:r>
              <a:rPr sz="1050" b="0">
                <a:solidFill>
                  <a:srgbClr val="333333"/>
                </a:solidFill>
                <a:latin typeface="メイリオ"/>
                <a:ea typeface="メイリオ"/>
                <a:cs typeface="メイリオ"/>
              </a:rPr>
              <a:t>新商品・イベント・季節の情報</a:t>
            </a:r>
          </a:p>
        </p:txBody>
      </p:sp>
      <p:sp>
        <p:nvSpPr>
          <p:cNvPr id="93" name="TextBox 92"/>
          <p:cNvSpPr txBox="1"/>
          <p:nvPr/>
        </p:nvSpPr>
        <p:spPr>
          <a:xfrm>
            <a:off x="854964" y="4713731"/>
            <a:ext cx="777239" cy="182880"/>
          </a:xfrm>
          <a:prstGeom prst="rect">
            <a:avLst/>
          </a:prstGeom>
          <a:noFill/>
        </p:spPr>
        <p:txBody>
          <a:bodyPr wrap="square" lIns="36000" tIns="10800" rIns="36000" bIns="10800" anchor="ctr">
            <a:spAutoFit/>
          </a:bodyPr>
          <a:lstStyle/>
          <a:p>
            <a:pPr algn="ctr">
              <a:lnSpc>
                <a:spcPct val="105000"/>
              </a:lnSpc>
              <a:spcAft>
                <a:spcPts val="200"/>
              </a:spcAft>
            </a:pPr>
            <a:r>
              <a:rPr sz="900" b="0">
                <a:solidFill>
                  <a:srgbClr val="1F2A5C"/>
                </a:solidFill>
                <a:latin typeface="メイリオ"/>
                <a:ea typeface="メイリオ"/>
                <a:cs typeface="メイリオ"/>
              </a:rPr>
              <a:t>▼</a:t>
            </a:r>
          </a:p>
        </p:txBody>
      </p:sp>
      <p:sp>
        <p:nvSpPr>
          <p:cNvPr id="94" name="Rectangle 93"/>
          <p:cNvSpPr/>
          <p:nvPr/>
        </p:nvSpPr>
        <p:spPr>
          <a:xfrm>
            <a:off x="854964" y="4887468"/>
            <a:ext cx="777239" cy="603504"/>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400" b="1">
                <a:solidFill>
                  <a:srgbClr val="FFFFFF"/>
                </a:solidFill>
                <a:latin typeface="メイリオ"/>
                <a:ea typeface="メイリオ"/>
                <a:cs typeface="メイリオ"/>
              </a:rPr>
              <a:t>ゴール</a:t>
            </a:r>
          </a:p>
        </p:txBody>
      </p:sp>
      <p:sp>
        <p:nvSpPr>
          <p:cNvPr id="95" name="Rectangle 94"/>
          <p:cNvSpPr/>
          <p:nvPr/>
        </p:nvSpPr>
        <p:spPr>
          <a:xfrm>
            <a:off x="1632204" y="4887468"/>
            <a:ext cx="3931920" cy="603504"/>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wrap="square" lIns="64800" tIns="10800" rIns="43200" bIns="10800" rtlCol="0" anchor="ctr"/>
          <a:lstStyle/>
          <a:p>
            <a:pPr algn="l">
              <a:lnSpc>
                <a:spcPct val="110000"/>
              </a:lnSpc>
              <a:spcAft>
                <a:spcPts val="0"/>
              </a:spcAft>
            </a:pPr>
            <a:r>
              <a:rPr sz="1400" b="1">
                <a:solidFill>
                  <a:srgbClr val="1F2A5C"/>
                </a:solidFill>
                <a:latin typeface="メイリオ"/>
                <a:ea typeface="メイリオ"/>
                <a:cs typeface="メイリオ"/>
              </a:rPr>
              <a:t>サイト・イベントページへの来訪</a:t>
            </a:r>
          </a:p>
        </p:txBody>
      </p:sp>
      <p:sp>
        <p:nvSpPr>
          <p:cNvPr id="96" name="TextBox 95"/>
          <p:cNvSpPr txBox="1"/>
          <p:nvPr/>
        </p:nvSpPr>
        <p:spPr>
          <a:xfrm>
            <a:off x="6373368" y="1911095"/>
            <a:ext cx="3163823" cy="923544"/>
          </a:xfrm>
          <a:prstGeom prst="rect">
            <a:avLst/>
          </a:prstGeom>
          <a:noFill/>
        </p:spPr>
        <p:txBody>
          <a:bodyPr wrap="square" lIns="36000" tIns="10800" rIns="36000" bIns="10800" anchor="t">
            <a:spAutoFit/>
          </a:bodyPr>
          <a:lstStyle/>
          <a:p>
            <a:pPr algn="l">
              <a:lnSpc>
                <a:spcPct val="105000"/>
              </a:lnSpc>
              <a:spcAft>
                <a:spcPts val="200"/>
              </a:spcAft>
            </a:pPr>
            <a:r>
              <a:rPr sz="1300" b="1">
                <a:solidFill>
                  <a:srgbClr val="1F2A5C"/>
                </a:solidFill>
                <a:latin typeface="メイリオ"/>
                <a:ea typeface="メイリオ"/>
                <a:cs typeface="メイリオ"/>
              </a:rPr>
              <a:t>目的</a:t>
            </a:r>
          </a:p>
          <a:p>
            <a:pPr algn="l">
              <a:lnSpc>
                <a:spcPct val="105000"/>
              </a:lnSpc>
              <a:spcAft>
                <a:spcPts val="200"/>
              </a:spcAft>
            </a:pPr>
            <a:r>
              <a:rPr sz="1200" b="0">
                <a:solidFill>
                  <a:srgbClr val="333333"/>
                </a:solidFill>
                <a:latin typeface="メイリオ"/>
                <a:ea typeface="メイリオ"/>
                <a:cs typeface="メイリオ"/>
              </a:rPr>
              <a:t>新商品・イベントを広く知らせ、</a:t>
            </a:r>
          </a:p>
          <a:p>
            <a:pPr algn="l">
              <a:lnSpc>
                <a:spcPct val="105000"/>
              </a:lnSpc>
              <a:spcAft>
                <a:spcPts val="200"/>
              </a:spcAft>
            </a:pPr>
            <a:r>
              <a:rPr sz="1200" b="0">
                <a:solidFill>
                  <a:srgbClr val="333333"/>
                </a:solidFill>
                <a:latin typeface="メイリオ"/>
                <a:ea typeface="メイリオ"/>
                <a:cs typeface="メイリオ"/>
              </a:rPr>
              <a:t>接触の量を増やす</a:t>
            </a:r>
          </a:p>
        </p:txBody>
      </p:sp>
      <p:sp>
        <p:nvSpPr>
          <p:cNvPr id="97" name="TextBox 96"/>
          <p:cNvSpPr txBox="1"/>
          <p:nvPr/>
        </p:nvSpPr>
        <p:spPr>
          <a:xfrm>
            <a:off x="6373368" y="2999232"/>
            <a:ext cx="3163823" cy="923544"/>
          </a:xfrm>
          <a:prstGeom prst="rect">
            <a:avLst/>
          </a:prstGeom>
          <a:noFill/>
        </p:spPr>
        <p:txBody>
          <a:bodyPr wrap="square" lIns="36000" tIns="10800" rIns="36000" bIns="10800" anchor="t">
            <a:spAutoFit/>
          </a:bodyPr>
          <a:lstStyle/>
          <a:p>
            <a:pPr algn="l">
              <a:lnSpc>
                <a:spcPct val="105000"/>
              </a:lnSpc>
              <a:spcAft>
                <a:spcPts val="200"/>
              </a:spcAft>
            </a:pPr>
            <a:r>
              <a:rPr sz="1300" b="1">
                <a:solidFill>
                  <a:srgbClr val="1F2A5C"/>
                </a:solidFill>
                <a:latin typeface="メイリオ"/>
                <a:ea typeface="メイリオ"/>
                <a:cs typeface="メイリオ"/>
              </a:rPr>
              <a:t>対象</a:t>
            </a:r>
          </a:p>
          <a:p>
            <a:pPr algn="l">
              <a:lnSpc>
                <a:spcPct val="105000"/>
              </a:lnSpc>
              <a:spcAft>
                <a:spcPts val="200"/>
              </a:spcAft>
            </a:pPr>
            <a:r>
              <a:rPr sz="1200" b="0">
                <a:solidFill>
                  <a:srgbClr val="333333"/>
                </a:solidFill>
                <a:latin typeface="メイリオ"/>
                <a:ea typeface="メイリオ"/>
                <a:cs typeface="メイリオ"/>
              </a:rPr>
              <a:t>友だち全体（反応の少ない方も含む）</a:t>
            </a:r>
          </a:p>
        </p:txBody>
      </p:sp>
      <p:sp>
        <p:nvSpPr>
          <p:cNvPr id="98" name="TextBox 97"/>
          <p:cNvSpPr txBox="1"/>
          <p:nvPr/>
        </p:nvSpPr>
        <p:spPr>
          <a:xfrm>
            <a:off x="6373368" y="4105655"/>
            <a:ext cx="3163823" cy="923544"/>
          </a:xfrm>
          <a:prstGeom prst="rect">
            <a:avLst/>
          </a:prstGeom>
          <a:noFill/>
        </p:spPr>
        <p:txBody>
          <a:bodyPr wrap="square" lIns="36000" tIns="10800" rIns="36000" bIns="10800" anchor="t">
            <a:spAutoFit/>
          </a:bodyPr>
          <a:lstStyle/>
          <a:p>
            <a:pPr algn="l">
              <a:lnSpc>
                <a:spcPct val="105000"/>
              </a:lnSpc>
              <a:spcAft>
                <a:spcPts val="200"/>
              </a:spcAft>
            </a:pPr>
            <a:r>
              <a:rPr sz="1300" b="1">
                <a:solidFill>
                  <a:srgbClr val="1F2A5C"/>
                </a:solidFill>
                <a:latin typeface="メイリオ"/>
                <a:ea typeface="メイリオ"/>
                <a:cs typeface="メイリオ"/>
              </a:rPr>
              <a:t>中身</a:t>
            </a:r>
          </a:p>
          <a:p>
            <a:pPr algn="l">
              <a:lnSpc>
                <a:spcPct val="105000"/>
              </a:lnSpc>
              <a:spcAft>
                <a:spcPts val="200"/>
              </a:spcAft>
            </a:pPr>
            <a:r>
              <a:rPr sz="1200" b="0">
                <a:solidFill>
                  <a:srgbClr val="333333"/>
                </a:solidFill>
                <a:latin typeface="メイリオ"/>
                <a:ea typeface="メイリオ"/>
                <a:cs typeface="メイリオ"/>
              </a:rPr>
              <a:t>季節・キャンペーンに合わせた企画配信／</a:t>
            </a:r>
          </a:p>
          <a:p>
            <a:pPr algn="l">
              <a:lnSpc>
                <a:spcPct val="105000"/>
              </a:lnSpc>
              <a:spcAft>
                <a:spcPts val="200"/>
              </a:spcAft>
            </a:pPr>
            <a:r>
              <a:rPr sz="1200" b="0">
                <a:solidFill>
                  <a:srgbClr val="333333"/>
                </a:solidFill>
                <a:latin typeface="メイリオ"/>
                <a:ea typeface="メイリオ"/>
                <a:cs typeface="メイリオ"/>
              </a:rPr>
              <a:t>リッチメニューに最新情報の入口／</a:t>
            </a:r>
          </a:p>
          <a:p>
            <a:pPr algn="l">
              <a:lnSpc>
                <a:spcPct val="105000"/>
              </a:lnSpc>
              <a:spcAft>
                <a:spcPts val="200"/>
              </a:spcAft>
            </a:pPr>
            <a:r>
              <a:rPr sz="1200" b="0">
                <a:solidFill>
                  <a:srgbClr val="333333"/>
                </a:solidFill>
                <a:latin typeface="メイリオ"/>
                <a:ea typeface="メイリオ"/>
                <a:cs typeface="メイリオ"/>
              </a:rPr>
              <a:t>配信の時期は検索の動きに合わせる</a:t>
            </a:r>
          </a:p>
        </p:txBody>
      </p:sp>
      <p:sp>
        <p:nvSpPr>
          <p:cNvPr id="99" name="TextBox 98"/>
          <p:cNvSpPr txBox="1"/>
          <p:nvPr/>
        </p:nvSpPr>
        <p:spPr>
          <a:xfrm>
            <a:off x="6373368" y="5230368"/>
            <a:ext cx="3163823" cy="923544"/>
          </a:xfrm>
          <a:prstGeom prst="rect">
            <a:avLst/>
          </a:prstGeom>
          <a:noFill/>
        </p:spPr>
        <p:txBody>
          <a:bodyPr wrap="square" lIns="36000" tIns="10800" rIns="36000" bIns="10800" anchor="t">
            <a:spAutoFit/>
          </a:bodyPr>
          <a:lstStyle/>
          <a:p>
            <a:pPr algn="l">
              <a:lnSpc>
                <a:spcPct val="105000"/>
              </a:lnSpc>
              <a:spcAft>
                <a:spcPts val="200"/>
              </a:spcAft>
            </a:pPr>
            <a:r>
              <a:rPr sz="1300" b="1">
                <a:solidFill>
                  <a:srgbClr val="1F2A5C"/>
                </a:solidFill>
                <a:latin typeface="メイリオ"/>
                <a:ea typeface="メイリオ"/>
                <a:cs typeface="メイリオ"/>
              </a:rPr>
              <a:t>見る数字</a:t>
            </a:r>
          </a:p>
          <a:p>
            <a:pPr algn="l">
              <a:lnSpc>
                <a:spcPct val="105000"/>
              </a:lnSpc>
              <a:spcAft>
                <a:spcPts val="200"/>
              </a:spcAft>
            </a:pPr>
            <a:r>
              <a:rPr sz="1200" b="0">
                <a:solidFill>
                  <a:srgbClr val="333333"/>
                </a:solidFill>
                <a:latin typeface="メイリオ"/>
                <a:ea typeface="メイリオ"/>
                <a:cs typeface="メイリオ"/>
              </a:rPr>
              <a:t>友だち数／配信到達数／開封率</a:t>
            </a:r>
          </a:p>
        </p:txBody>
      </p:sp>
    </p:spTree>
    <p:extLst>
      <p:ext uri="{BB962C8B-B14F-4D97-AF65-F5344CB8AC3E}">
        <p14:creationId xmlns:p14="http://schemas.microsoft.com/office/powerpoint/2010/main" val="269961160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8A5D0F-5075-071F-11BA-7B2A1366AA97}"/>
            </a:ext>
          </a:extLst>
        </p:cNvPr>
        <p:cNvGrpSpPr/>
        <p:nvPr/>
      </p:nvGrpSpPr>
      <p:grpSpPr>
        <a:xfrm>
          <a:off x="0" y="0"/>
          <a:ext cx="0" cy="0"/>
          <a:chOff x="0" y="0"/>
          <a:chExt cx="0" cy="0"/>
        </a:xfrm>
      </p:grpSpPr>
      <p:sp>
        <p:nvSpPr>
          <p:cNvPr id="3" name="テキスト ボックス 47">
            <a:extLst>
              <a:ext uri="{FF2B5EF4-FFF2-40B4-BE49-F238E27FC236}">
                <a16:creationId xmlns:a16="http://schemas.microsoft.com/office/drawing/2014/main" id="{AFF39C41-BBAA-4AF0-A049-DFB0AE8E1584}"/>
              </a:ext>
            </a:extLst>
          </p:cNvPr>
          <p:cNvSpPr txBox="1">
            <a:spLocks noChangeArrowheads="1"/>
          </p:cNvSpPr>
          <p:nvPr/>
        </p:nvSpPr>
        <p:spPr bwMode="auto">
          <a:xfrm>
            <a:off x="456501"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Calibri" charset="0"/>
                <a:ea typeface="ＭＳ Ｐゴシック" charset="0"/>
                <a:cs typeface="ＭＳ Ｐゴシック" charset="0"/>
              </a:defRPr>
            </a:lvl1pPr>
            <a:lvl2pPr>
              <a:defRPr kumimoji="1" sz="2800">
                <a:solidFill>
                  <a:schemeClr val="tx1"/>
                </a:solidFill>
                <a:latin typeface="Calibri" charset="0"/>
                <a:ea typeface="ＭＳ Ｐゴシック" charset="0"/>
              </a:defRPr>
            </a:lvl2pPr>
            <a:lvl3pPr>
              <a:defRPr kumimoji="1" sz="2400">
                <a:solidFill>
                  <a:schemeClr val="tx1"/>
                </a:solidFill>
                <a:latin typeface="Calibri" charset="0"/>
                <a:ea typeface="ＭＳ Ｐゴシック" charset="0"/>
              </a:defRPr>
            </a:lvl3pPr>
            <a:lvl4pPr>
              <a:defRPr kumimoji="1" sz="2000">
                <a:solidFill>
                  <a:schemeClr val="tx1"/>
                </a:solidFill>
                <a:latin typeface="Calibri" charset="0"/>
                <a:ea typeface="ＭＳ Ｐゴシック" charset="0"/>
              </a:defRPr>
            </a:lvl4pPr>
            <a:lvl5pPr>
              <a:defRPr kumimoji="1" sz="2000">
                <a:solidFill>
                  <a:schemeClr val="tx1"/>
                </a:solidFill>
                <a:latin typeface="Calibri" charset="0"/>
                <a:ea typeface="ＭＳ Ｐゴシック" charset="0"/>
              </a:defRPr>
            </a:lvl5pPr>
            <a:lvl6pPr eaLnBrk="0" fontAlgn="base" hangingPunct="0">
              <a:spcAft>
                <a:spcPct val="0"/>
              </a:spcAft>
              <a:buFont typeface="Arial" charset="0"/>
              <a:buChar char="»"/>
              <a:defRPr kumimoji="1" sz="2000">
                <a:solidFill>
                  <a:schemeClr val="tx1"/>
                </a:solidFill>
                <a:latin typeface="Calibri" charset="0"/>
                <a:ea typeface="ＭＳ Ｐゴシック" charset="0"/>
              </a:defRPr>
            </a:lvl6pPr>
            <a:lvl7pPr eaLnBrk="0" fontAlgn="base" hangingPunct="0">
              <a:spcAft>
                <a:spcPct val="0"/>
              </a:spcAft>
              <a:buFont typeface="Arial" charset="0"/>
              <a:buChar char="»"/>
              <a:defRPr kumimoji="1" sz="2000">
                <a:solidFill>
                  <a:schemeClr val="tx1"/>
                </a:solidFill>
                <a:latin typeface="Calibri" charset="0"/>
                <a:ea typeface="ＭＳ Ｐゴシック" charset="0"/>
              </a:defRPr>
            </a:lvl7pPr>
            <a:lvl8pPr eaLnBrk="0" fontAlgn="base" hangingPunct="0">
              <a:spcAft>
                <a:spcPct val="0"/>
              </a:spcAft>
              <a:buFont typeface="Arial" charset="0"/>
              <a:buChar char="»"/>
              <a:defRPr kumimoji="1" sz="2000">
                <a:solidFill>
                  <a:schemeClr val="tx1"/>
                </a:solidFill>
                <a:latin typeface="Calibri" charset="0"/>
                <a:ea typeface="ＭＳ Ｐゴシック" charset="0"/>
              </a:defRPr>
            </a:lvl8pPr>
            <a:lvl9pPr eaLnBrk="0" fontAlgn="base" hangingPunct="0">
              <a:spcAft>
                <a:spcPct val="0"/>
              </a:spcAft>
              <a:buFont typeface="Arial" charset="0"/>
              <a:buChar char="»"/>
              <a:defRPr kumimoji="1" sz="2000">
                <a:solidFill>
                  <a:schemeClr val="tx1"/>
                </a:solidFill>
                <a:latin typeface="Calibri" charset="0"/>
                <a:ea typeface="ＭＳ Ｐゴシック" charset="0"/>
              </a:defRPr>
            </a:lvl9pPr>
          </a:lstStyle>
          <a:p>
            <a:pPr>
              <a:spcBef>
                <a:spcPct val="20000"/>
              </a:spcBef>
              <a:buFont typeface="Arial" charset="0"/>
              <a:buNone/>
            </a:pPr>
            <a:r>
              <a:rPr lang="ja-JP" altLang="en-US" sz="1600" b="1" dirty="0">
                <a:solidFill>
                  <a:srgbClr val="1F2A5C"/>
                </a:solidFill>
                <a:latin typeface="メイリオ"/>
                <a:ea typeface="メイリオ"/>
                <a:cs typeface="メイリオ"/>
              </a:rPr>
              <a:t>具体施策のイメージ</a:t>
            </a:r>
          </a:p>
        </p:txBody>
      </p:sp>
      <p:sp>
        <p:nvSpPr>
          <p:cNvPr id="5" name="正方形/長方形 4">
            <a:extLst>
              <a:ext uri="{FF2B5EF4-FFF2-40B4-BE49-F238E27FC236}">
                <a16:creationId xmlns:a16="http://schemas.microsoft.com/office/drawing/2014/main" id="{04911599-3976-0BE2-40B0-51ACC39CBFED}"/>
              </a:ext>
            </a:extLst>
          </p:cNvPr>
          <p:cNvSpPr/>
          <p:nvPr/>
        </p:nvSpPr>
        <p:spPr>
          <a:xfrm>
            <a:off x="2659553" y="109691"/>
            <a:ext cx="1992986" cy="326496"/>
          </a:xfrm>
          <a:prstGeom prst="rect">
            <a:avLst/>
          </a:prstGeom>
          <a:solidFill>
            <a:schemeClr val="tx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solidFill>
                  <a:srgbClr val="FFFF00"/>
                </a:solidFill>
                <a:latin typeface="メイリオ" panose="020B0604030504040204" pitchFamily="50" charset="-128"/>
                <a:ea typeface="メイリオ" panose="020B0604030504040204" pitchFamily="50" charset="-128"/>
              </a:rPr>
              <a:t>CV</a:t>
            </a:r>
            <a:r>
              <a:rPr kumimoji="1" lang="ja-JP" altLang="en-US" sz="1200" b="1" dirty="0">
                <a:solidFill>
                  <a:srgbClr val="FFFF00"/>
                </a:solidFill>
                <a:latin typeface="メイリオ" panose="020B0604030504040204" pitchFamily="50" charset="-128"/>
                <a:ea typeface="メイリオ" panose="020B0604030504040204" pitchFamily="50" charset="-128"/>
              </a:rPr>
              <a:t>の最大化</a:t>
            </a:r>
          </a:p>
        </p:txBody>
      </p:sp>
      <p:sp>
        <p:nvSpPr>
          <p:cNvPr id="51" name="Chevron 13">
            <a:extLst>
              <a:ext uri="{FF2B5EF4-FFF2-40B4-BE49-F238E27FC236}">
                <a16:creationId xmlns:a16="http://schemas.microsoft.com/office/drawing/2014/main" id="{F4A886C9-FE65-EAF2-0560-7B118F2A0853}"/>
              </a:ext>
            </a:extLst>
          </p:cNvPr>
          <p:cNvSpPr/>
          <p:nvPr/>
        </p:nvSpPr>
        <p:spPr>
          <a:xfrm>
            <a:off x="7099344" y="795063"/>
            <a:ext cx="1482455" cy="731520"/>
          </a:xfrm>
          <a:prstGeom prst="chevron">
            <a:avLst/>
          </a:prstGeom>
          <a:solidFill>
            <a:schemeClr val="tx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55" name="Chevron 12">
            <a:extLst>
              <a:ext uri="{FF2B5EF4-FFF2-40B4-BE49-F238E27FC236}">
                <a16:creationId xmlns:a16="http://schemas.microsoft.com/office/drawing/2014/main" id="{38844DA0-F5E5-1A45-00EC-394320B24C31}"/>
              </a:ext>
            </a:extLst>
          </p:cNvPr>
          <p:cNvSpPr/>
          <p:nvPr/>
        </p:nvSpPr>
        <p:spPr>
          <a:xfrm>
            <a:off x="593938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57" name="Chevron 11">
            <a:extLst>
              <a:ext uri="{FF2B5EF4-FFF2-40B4-BE49-F238E27FC236}">
                <a16:creationId xmlns:a16="http://schemas.microsoft.com/office/drawing/2014/main" id="{F724F92B-580B-B89B-155A-257BE4A243F8}"/>
              </a:ext>
            </a:extLst>
          </p:cNvPr>
          <p:cNvSpPr/>
          <p:nvPr/>
        </p:nvSpPr>
        <p:spPr>
          <a:xfrm>
            <a:off x="477942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59" name="Chevron 13">
            <a:extLst>
              <a:ext uri="{FF2B5EF4-FFF2-40B4-BE49-F238E27FC236}">
                <a16:creationId xmlns:a16="http://schemas.microsoft.com/office/drawing/2014/main" id="{2FC80F6A-1EC7-915D-082F-12807C0FBB3F}"/>
              </a:ext>
            </a:extLst>
          </p:cNvPr>
          <p:cNvSpPr/>
          <p:nvPr/>
        </p:nvSpPr>
        <p:spPr>
          <a:xfrm>
            <a:off x="8259306" y="795063"/>
            <a:ext cx="1482455" cy="731520"/>
          </a:xfrm>
          <a:prstGeom prst="chevron">
            <a:avLst/>
          </a:prstGeom>
          <a:solidFill>
            <a:schemeClr val="tx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67" name="テキスト ボックス 66">
            <a:extLst>
              <a:ext uri="{FF2B5EF4-FFF2-40B4-BE49-F238E27FC236}">
                <a16:creationId xmlns:a16="http://schemas.microsoft.com/office/drawing/2014/main" id="{83FEBD46-AE15-A94C-5D92-AAB331223E06}"/>
              </a:ext>
            </a:extLst>
          </p:cNvPr>
          <p:cNvSpPr txBox="1"/>
          <p:nvPr/>
        </p:nvSpPr>
        <p:spPr>
          <a:xfrm>
            <a:off x="7420737" y="1030016"/>
            <a:ext cx="982079"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マネタイズ</a:t>
            </a:r>
          </a:p>
        </p:txBody>
      </p:sp>
      <p:sp>
        <p:nvSpPr>
          <p:cNvPr id="71" name="テキスト ボックス 70">
            <a:extLst>
              <a:ext uri="{FF2B5EF4-FFF2-40B4-BE49-F238E27FC236}">
                <a16:creationId xmlns:a16="http://schemas.microsoft.com/office/drawing/2014/main" id="{04C13BD3-240E-4D3F-E67B-71FB080F80EA}"/>
              </a:ext>
            </a:extLst>
          </p:cNvPr>
          <p:cNvSpPr txBox="1"/>
          <p:nvPr/>
        </p:nvSpPr>
        <p:spPr>
          <a:xfrm>
            <a:off x="5130427" y="945378"/>
            <a:ext cx="811635" cy="430887"/>
          </a:xfrm>
          <a:prstGeom prst="rect">
            <a:avLst/>
          </a:prstGeom>
          <a:solidFill>
            <a:schemeClr val="accent1">
              <a:lumMod val="75000"/>
            </a:schemeClr>
          </a:solid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有効</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リード化</a:t>
            </a:r>
          </a:p>
        </p:txBody>
      </p:sp>
      <p:sp>
        <p:nvSpPr>
          <p:cNvPr id="73" name="テキスト ボックス 72">
            <a:extLst>
              <a:ext uri="{FF2B5EF4-FFF2-40B4-BE49-F238E27FC236}">
                <a16:creationId xmlns:a16="http://schemas.microsoft.com/office/drawing/2014/main" id="{6F7EC4A8-A113-362B-E4F8-1ABE0311DEDC}"/>
              </a:ext>
            </a:extLst>
          </p:cNvPr>
          <p:cNvSpPr txBox="1"/>
          <p:nvPr/>
        </p:nvSpPr>
        <p:spPr>
          <a:xfrm>
            <a:off x="6301709" y="945379"/>
            <a:ext cx="811635" cy="430887"/>
          </a:xfrm>
          <a:prstGeom prst="rect">
            <a:avLst/>
          </a:prstGeom>
          <a:solidFill>
            <a:schemeClr val="accent1">
              <a:lumMod val="75000"/>
            </a:schemeClr>
          </a:solid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リード</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再育成</a:t>
            </a:r>
          </a:p>
        </p:txBody>
      </p:sp>
      <p:sp>
        <p:nvSpPr>
          <p:cNvPr id="75" name="テキスト ボックス 74">
            <a:extLst>
              <a:ext uri="{FF2B5EF4-FFF2-40B4-BE49-F238E27FC236}">
                <a16:creationId xmlns:a16="http://schemas.microsoft.com/office/drawing/2014/main" id="{44766F87-46C0-5918-4D18-E86304A53499}"/>
              </a:ext>
            </a:extLst>
          </p:cNvPr>
          <p:cNvSpPr txBox="1"/>
          <p:nvPr/>
        </p:nvSpPr>
        <p:spPr>
          <a:xfrm>
            <a:off x="8544744" y="945378"/>
            <a:ext cx="982079"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リピート</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クロスセル</a:t>
            </a:r>
          </a:p>
        </p:txBody>
      </p:sp>
      <p:sp>
        <p:nvSpPr>
          <p:cNvPr id="77" name="正方形/長方形 76">
            <a:extLst>
              <a:ext uri="{FF2B5EF4-FFF2-40B4-BE49-F238E27FC236}">
                <a16:creationId xmlns:a16="http://schemas.microsoft.com/office/drawing/2014/main" id="{9B95ECD3-1A7E-924D-3F0F-41FC24730C6B}"/>
              </a:ext>
            </a:extLst>
          </p:cNvPr>
          <p:cNvSpPr/>
          <p:nvPr/>
        </p:nvSpPr>
        <p:spPr>
          <a:xfrm>
            <a:off x="-15984" y="609190"/>
            <a:ext cx="9917132" cy="1034848"/>
          </a:xfrm>
          <a:prstGeom prst="rect">
            <a:avLst/>
          </a:prstGeom>
          <a:solidFill>
            <a:schemeClr val="bg1">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91" name="正方形/長方形 90">
            <a:extLst>
              <a:ext uri="{FF2B5EF4-FFF2-40B4-BE49-F238E27FC236}">
                <a16:creationId xmlns:a16="http://schemas.microsoft.com/office/drawing/2014/main" id="{23860B2B-6C5B-ADF7-C12E-AF8E17FF13BE}"/>
              </a:ext>
            </a:extLst>
          </p:cNvPr>
          <p:cNvSpPr/>
          <p:nvPr/>
        </p:nvSpPr>
        <p:spPr>
          <a:xfrm>
            <a:off x="-15984" y="645907"/>
            <a:ext cx="9930693" cy="1034848"/>
          </a:xfrm>
          <a:prstGeom prst="rect">
            <a:avLst/>
          </a:prstGeom>
          <a:solidFill>
            <a:schemeClr val="bg1">
              <a:lumMod val="95000"/>
              <a:alpha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93" name="Pentagon 10">
            <a:extLst>
              <a:ext uri="{FF2B5EF4-FFF2-40B4-BE49-F238E27FC236}">
                <a16:creationId xmlns:a16="http://schemas.microsoft.com/office/drawing/2014/main" id="{B7A320F8-6ED0-8FDE-8D8D-FA43DDE77D55}"/>
              </a:ext>
            </a:extLst>
          </p:cNvPr>
          <p:cNvSpPr/>
          <p:nvPr/>
        </p:nvSpPr>
        <p:spPr>
          <a:xfrm>
            <a:off x="262895" y="795063"/>
            <a:ext cx="1360371" cy="731520"/>
          </a:xfrm>
          <a:prstGeom prst="homePlate">
            <a:avLst/>
          </a:prstGeom>
          <a:solidFill>
            <a:schemeClr val="bg1">
              <a:lumMod val="6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lang="en-US" altLang="ja-JP" sz="1300" b="1" dirty="0">
              <a:solidFill>
                <a:srgbClr val="FFFFFF"/>
              </a:solidFill>
              <a:latin typeface="メイリオ"/>
              <a:ea typeface="メイリオ"/>
              <a:cs typeface="メイリオ"/>
            </a:endParaRPr>
          </a:p>
        </p:txBody>
      </p:sp>
      <p:sp>
        <p:nvSpPr>
          <p:cNvPr id="95" name="Chevron 11">
            <a:extLst>
              <a:ext uri="{FF2B5EF4-FFF2-40B4-BE49-F238E27FC236}">
                <a16:creationId xmlns:a16="http://schemas.microsoft.com/office/drawing/2014/main" id="{6E5F2CF6-FF83-E04E-9531-1DC5EE779FAE}"/>
              </a:ext>
            </a:extLst>
          </p:cNvPr>
          <p:cNvSpPr/>
          <p:nvPr/>
        </p:nvSpPr>
        <p:spPr>
          <a:xfrm>
            <a:off x="1299544" y="795063"/>
            <a:ext cx="1482455" cy="731520"/>
          </a:xfrm>
          <a:prstGeom prst="chevron">
            <a:avLst/>
          </a:prstGeom>
          <a:solidFill>
            <a:schemeClr val="accent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97" name="Chevron 11">
            <a:extLst>
              <a:ext uri="{FF2B5EF4-FFF2-40B4-BE49-F238E27FC236}">
                <a16:creationId xmlns:a16="http://schemas.microsoft.com/office/drawing/2014/main" id="{B164AAA0-8B15-6967-1000-89ADA1733066}"/>
              </a:ext>
            </a:extLst>
          </p:cNvPr>
          <p:cNvSpPr/>
          <p:nvPr/>
        </p:nvSpPr>
        <p:spPr>
          <a:xfrm>
            <a:off x="2459504" y="795063"/>
            <a:ext cx="1482455" cy="731520"/>
          </a:xfrm>
          <a:prstGeom prst="chevron">
            <a:avLst/>
          </a:prstGeom>
          <a:solidFill>
            <a:schemeClr val="accent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99" name="テキスト ボックス 98">
            <a:extLst>
              <a:ext uri="{FF2B5EF4-FFF2-40B4-BE49-F238E27FC236}">
                <a16:creationId xmlns:a16="http://schemas.microsoft.com/office/drawing/2014/main" id="{D77B323D-2B30-D972-4650-75C5772F0DFD}"/>
              </a:ext>
            </a:extLst>
          </p:cNvPr>
          <p:cNvSpPr txBox="1"/>
          <p:nvPr/>
        </p:nvSpPr>
        <p:spPr>
          <a:xfrm>
            <a:off x="1616581" y="945379"/>
            <a:ext cx="811635"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サイト</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離脱</a:t>
            </a:r>
          </a:p>
        </p:txBody>
      </p:sp>
      <p:sp>
        <p:nvSpPr>
          <p:cNvPr id="101" name="テキスト ボックス 100">
            <a:extLst>
              <a:ext uri="{FF2B5EF4-FFF2-40B4-BE49-F238E27FC236}">
                <a16:creationId xmlns:a16="http://schemas.microsoft.com/office/drawing/2014/main" id="{8596EDD7-92C6-DCF0-41B5-5C2035C55EF9}"/>
              </a:ext>
            </a:extLst>
          </p:cNvPr>
          <p:cNvSpPr txBox="1"/>
          <p:nvPr/>
        </p:nvSpPr>
        <p:spPr>
          <a:xfrm>
            <a:off x="2787863" y="1030016"/>
            <a:ext cx="811635"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育成</a:t>
            </a:r>
          </a:p>
        </p:txBody>
      </p:sp>
      <p:sp>
        <p:nvSpPr>
          <p:cNvPr id="103" name="テキスト ボックス 102">
            <a:extLst>
              <a:ext uri="{FF2B5EF4-FFF2-40B4-BE49-F238E27FC236}">
                <a16:creationId xmlns:a16="http://schemas.microsoft.com/office/drawing/2014/main" id="{D8D0F28C-4241-75CC-7936-4CB65160DD9F}"/>
              </a:ext>
            </a:extLst>
          </p:cNvPr>
          <p:cNvSpPr txBox="1"/>
          <p:nvPr/>
        </p:nvSpPr>
        <p:spPr>
          <a:xfrm>
            <a:off x="445299" y="1030016"/>
            <a:ext cx="811635"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接触</a:t>
            </a:r>
          </a:p>
        </p:txBody>
      </p:sp>
      <p:sp>
        <p:nvSpPr>
          <p:cNvPr id="105" name="Chevron 12">
            <a:extLst>
              <a:ext uri="{FF2B5EF4-FFF2-40B4-BE49-F238E27FC236}">
                <a16:creationId xmlns:a16="http://schemas.microsoft.com/office/drawing/2014/main" id="{1EFB2CD0-8FEA-F120-3BD8-EB2D15D982D1}"/>
              </a:ext>
            </a:extLst>
          </p:cNvPr>
          <p:cNvSpPr/>
          <p:nvPr/>
        </p:nvSpPr>
        <p:spPr>
          <a:xfrm>
            <a:off x="361946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107" name="テキスト ボックス 106">
            <a:extLst>
              <a:ext uri="{FF2B5EF4-FFF2-40B4-BE49-F238E27FC236}">
                <a16:creationId xmlns:a16="http://schemas.microsoft.com/office/drawing/2014/main" id="{D63C1B14-4B6B-558C-38F0-B4738CA178DB}"/>
              </a:ext>
            </a:extLst>
          </p:cNvPr>
          <p:cNvSpPr txBox="1"/>
          <p:nvPr/>
        </p:nvSpPr>
        <p:spPr>
          <a:xfrm>
            <a:off x="3959145" y="945379"/>
            <a:ext cx="811635"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リード</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獲得</a:t>
            </a:r>
          </a:p>
        </p:txBody>
      </p:sp>
      <p:sp>
        <p:nvSpPr>
          <p:cNvPr id="4" name="四角形: 角を丸くする 3">
            <a:extLst>
              <a:ext uri="{FF2B5EF4-FFF2-40B4-BE49-F238E27FC236}">
                <a16:creationId xmlns:a16="http://schemas.microsoft.com/office/drawing/2014/main" id="{3F141C4D-4CEC-0747-B5CB-58BA10FE3830}"/>
              </a:ext>
            </a:extLst>
          </p:cNvPr>
          <p:cNvSpPr/>
          <p:nvPr/>
        </p:nvSpPr>
        <p:spPr>
          <a:xfrm>
            <a:off x="262895" y="1854926"/>
            <a:ext cx="5885356" cy="435716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四角形: 角を丸くする 6">
            <a:extLst>
              <a:ext uri="{FF2B5EF4-FFF2-40B4-BE49-F238E27FC236}">
                <a16:creationId xmlns:a16="http://schemas.microsoft.com/office/drawing/2014/main" id="{0BC92DCD-F746-7AC5-0C7C-F6039EE861BE}"/>
              </a:ext>
            </a:extLst>
          </p:cNvPr>
          <p:cNvSpPr/>
          <p:nvPr/>
        </p:nvSpPr>
        <p:spPr>
          <a:xfrm>
            <a:off x="6261879" y="1854926"/>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四角形: 角を丸くする 8">
            <a:extLst>
              <a:ext uri="{FF2B5EF4-FFF2-40B4-BE49-F238E27FC236}">
                <a16:creationId xmlns:a16="http://schemas.microsoft.com/office/drawing/2014/main" id="{2DCC85EB-7726-39A6-E767-A7E7AF9FC9AF}"/>
              </a:ext>
            </a:extLst>
          </p:cNvPr>
          <p:cNvSpPr/>
          <p:nvPr/>
        </p:nvSpPr>
        <p:spPr>
          <a:xfrm>
            <a:off x="6261879" y="2947852"/>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四角形: 角を丸くする 10">
            <a:extLst>
              <a:ext uri="{FF2B5EF4-FFF2-40B4-BE49-F238E27FC236}">
                <a16:creationId xmlns:a16="http://schemas.microsoft.com/office/drawing/2014/main" id="{D941B869-0BE3-91CA-64FF-DE13FF4539A3}"/>
              </a:ext>
            </a:extLst>
          </p:cNvPr>
          <p:cNvSpPr/>
          <p:nvPr/>
        </p:nvSpPr>
        <p:spPr>
          <a:xfrm>
            <a:off x="6261879" y="4049186"/>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四角形: 角を丸くする 12">
            <a:extLst>
              <a:ext uri="{FF2B5EF4-FFF2-40B4-BE49-F238E27FC236}">
                <a16:creationId xmlns:a16="http://schemas.microsoft.com/office/drawing/2014/main" id="{F7F5C7CD-143E-D046-95E0-587BA9375C6D}"/>
              </a:ext>
            </a:extLst>
          </p:cNvPr>
          <p:cNvSpPr/>
          <p:nvPr/>
        </p:nvSpPr>
        <p:spPr>
          <a:xfrm>
            <a:off x="6278273" y="5177245"/>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8" name="Rectangle 107"/>
          <p:cNvSpPr/>
          <p:nvPr/>
        </p:nvSpPr>
        <p:spPr>
          <a:xfrm>
            <a:off x="854964" y="2583179"/>
            <a:ext cx="777239" cy="603504"/>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400" b="1">
                <a:solidFill>
                  <a:srgbClr val="FFFFFF"/>
                </a:solidFill>
                <a:latin typeface="メイリオ"/>
                <a:ea typeface="メイリオ"/>
                <a:cs typeface="メイリオ"/>
              </a:rPr>
              <a:t>入口</a:t>
            </a:r>
          </a:p>
        </p:txBody>
      </p:sp>
      <p:sp>
        <p:nvSpPr>
          <p:cNvPr id="109" name="Rectangle 108"/>
          <p:cNvSpPr/>
          <p:nvPr/>
        </p:nvSpPr>
        <p:spPr>
          <a:xfrm>
            <a:off x="1632204" y="2583179"/>
            <a:ext cx="3931920" cy="603504"/>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wrap="square" lIns="64800" tIns="10800" rIns="43200" bIns="10800" rtlCol="0" anchor="ctr"/>
          <a:lstStyle/>
          <a:p>
            <a:pPr algn="l">
              <a:lnSpc>
                <a:spcPct val="110000"/>
              </a:lnSpc>
              <a:spcAft>
                <a:spcPts val="0"/>
              </a:spcAft>
            </a:pPr>
            <a:r>
              <a:rPr sz="1400" b="1">
                <a:solidFill>
                  <a:srgbClr val="1F2A5C"/>
                </a:solidFill>
                <a:latin typeface="メイリオ"/>
                <a:ea typeface="メイリオ"/>
                <a:cs typeface="メイリオ"/>
              </a:rPr>
              <a:t>友だち追加から15日以内の方</a:t>
            </a:r>
          </a:p>
        </p:txBody>
      </p:sp>
      <p:sp>
        <p:nvSpPr>
          <p:cNvPr id="110" name="TextBox 109"/>
          <p:cNvSpPr txBox="1"/>
          <p:nvPr/>
        </p:nvSpPr>
        <p:spPr>
          <a:xfrm>
            <a:off x="854964" y="3177539"/>
            <a:ext cx="777239" cy="182880"/>
          </a:xfrm>
          <a:prstGeom prst="rect">
            <a:avLst/>
          </a:prstGeom>
          <a:noFill/>
        </p:spPr>
        <p:txBody>
          <a:bodyPr wrap="square" lIns="36000" tIns="10800" rIns="36000" bIns="10800" anchor="ctr">
            <a:spAutoFit/>
          </a:bodyPr>
          <a:lstStyle/>
          <a:p>
            <a:pPr algn="ctr">
              <a:lnSpc>
                <a:spcPct val="105000"/>
              </a:lnSpc>
              <a:spcAft>
                <a:spcPts val="200"/>
              </a:spcAft>
            </a:pPr>
            <a:r>
              <a:rPr sz="900" b="0">
                <a:solidFill>
                  <a:srgbClr val="1F2A5C"/>
                </a:solidFill>
                <a:latin typeface="メイリオ"/>
                <a:ea typeface="メイリオ"/>
                <a:cs typeface="メイリオ"/>
              </a:rPr>
              <a:t>▼</a:t>
            </a:r>
          </a:p>
        </p:txBody>
      </p:sp>
      <p:sp>
        <p:nvSpPr>
          <p:cNvPr id="111" name="Rectangle 110"/>
          <p:cNvSpPr/>
          <p:nvPr/>
        </p:nvSpPr>
        <p:spPr>
          <a:xfrm>
            <a:off x="854964" y="3351275"/>
            <a:ext cx="777239" cy="603504"/>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400" b="1">
                <a:solidFill>
                  <a:srgbClr val="FFFFFF"/>
                </a:solidFill>
                <a:latin typeface="メイリオ"/>
                <a:ea typeface="メイリオ"/>
                <a:cs typeface="メイリオ"/>
              </a:rPr>
              <a:t>LINE</a:t>
            </a:r>
          </a:p>
        </p:txBody>
      </p:sp>
      <p:sp>
        <p:nvSpPr>
          <p:cNvPr id="112" name="Rectangle 111"/>
          <p:cNvSpPr/>
          <p:nvPr/>
        </p:nvSpPr>
        <p:spPr>
          <a:xfrm>
            <a:off x="1632204" y="3351275"/>
            <a:ext cx="3931920" cy="603504"/>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wrap="square" lIns="64800" tIns="10800" rIns="43200" bIns="10800" rtlCol="0" anchor="ctr"/>
          <a:lstStyle/>
          <a:p>
            <a:pPr algn="l">
              <a:lnSpc>
                <a:spcPct val="110000"/>
              </a:lnSpc>
              <a:spcAft>
                <a:spcPts val="0"/>
              </a:spcAft>
            </a:pPr>
            <a:r>
              <a:rPr sz="1400" b="1">
                <a:solidFill>
                  <a:srgbClr val="1F2A5C"/>
                </a:solidFill>
                <a:latin typeface="メイリオ"/>
                <a:ea typeface="メイリオ"/>
                <a:cs typeface="メイリオ"/>
              </a:rPr>
              <a:t>Day0 アンケート・診断</a:t>
            </a:r>
          </a:p>
        </p:txBody>
      </p:sp>
      <p:sp>
        <p:nvSpPr>
          <p:cNvPr id="113" name="TextBox 112"/>
          <p:cNvSpPr txBox="1"/>
          <p:nvPr/>
        </p:nvSpPr>
        <p:spPr>
          <a:xfrm>
            <a:off x="854964" y="3945635"/>
            <a:ext cx="777239" cy="182880"/>
          </a:xfrm>
          <a:prstGeom prst="rect">
            <a:avLst/>
          </a:prstGeom>
          <a:noFill/>
        </p:spPr>
        <p:txBody>
          <a:bodyPr wrap="square" lIns="36000" tIns="10800" rIns="36000" bIns="10800" anchor="ctr">
            <a:spAutoFit/>
          </a:bodyPr>
          <a:lstStyle/>
          <a:p>
            <a:pPr algn="ctr">
              <a:lnSpc>
                <a:spcPct val="105000"/>
              </a:lnSpc>
              <a:spcAft>
                <a:spcPts val="200"/>
              </a:spcAft>
            </a:pPr>
            <a:r>
              <a:rPr sz="900" b="0">
                <a:solidFill>
                  <a:srgbClr val="1F2A5C"/>
                </a:solidFill>
                <a:latin typeface="メイリオ"/>
                <a:ea typeface="メイリオ"/>
                <a:cs typeface="メイリオ"/>
              </a:rPr>
              <a:t>▼</a:t>
            </a:r>
          </a:p>
        </p:txBody>
      </p:sp>
      <p:sp>
        <p:nvSpPr>
          <p:cNvPr id="114" name="Rectangle 113"/>
          <p:cNvSpPr/>
          <p:nvPr/>
        </p:nvSpPr>
        <p:spPr>
          <a:xfrm>
            <a:off x="854964" y="4119371"/>
            <a:ext cx="777239" cy="603504"/>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400" b="1">
                <a:solidFill>
                  <a:srgbClr val="FFFFFF"/>
                </a:solidFill>
                <a:latin typeface="メイリオ"/>
                <a:ea typeface="メイリオ"/>
                <a:cs typeface="メイリオ"/>
              </a:rPr>
              <a:t>配信</a:t>
            </a:r>
          </a:p>
        </p:txBody>
      </p:sp>
      <p:sp>
        <p:nvSpPr>
          <p:cNvPr id="115" name="Rectangle 114"/>
          <p:cNvSpPr/>
          <p:nvPr/>
        </p:nvSpPr>
        <p:spPr>
          <a:xfrm>
            <a:off x="1632204" y="4119371"/>
            <a:ext cx="3931920" cy="603504"/>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wrap="square" lIns="64800" tIns="10800" rIns="43200" bIns="10800" rtlCol="0" anchor="ctr"/>
          <a:lstStyle/>
          <a:p>
            <a:pPr algn="l">
              <a:lnSpc>
                <a:spcPct val="110000"/>
              </a:lnSpc>
              <a:spcAft>
                <a:spcPts val="0"/>
              </a:spcAft>
            </a:pPr>
            <a:r>
              <a:rPr sz="1400" b="1">
                <a:solidFill>
                  <a:srgbClr val="1F2A5C"/>
                </a:solidFill>
                <a:latin typeface="メイリオ"/>
                <a:ea typeface="メイリオ"/>
                <a:cs typeface="メイリオ"/>
              </a:rPr>
              <a:t>ステップ配信（Day0〜15）</a:t>
            </a:r>
          </a:p>
        </p:txBody>
      </p:sp>
      <p:sp>
        <p:nvSpPr>
          <p:cNvPr id="116" name="TextBox 115"/>
          <p:cNvSpPr txBox="1"/>
          <p:nvPr/>
        </p:nvSpPr>
        <p:spPr>
          <a:xfrm>
            <a:off x="854964" y="4713731"/>
            <a:ext cx="777239" cy="182880"/>
          </a:xfrm>
          <a:prstGeom prst="rect">
            <a:avLst/>
          </a:prstGeom>
          <a:noFill/>
        </p:spPr>
        <p:txBody>
          <a:bodyPr wrap="square" lIns="36000" tIns="10800" rIns="36000" bIns="10800" anchor="ctr">
            <a:spAutoFit/>
          </a:bodyPr>
          <a:lstStyle/>
          <a:p>
            <a:pPr algn="ctr">
              <a:lnSpc>
                <a:spcPct val="105000"/>
              </a:lnSpc>
              <a:spcAft>
                <a:spcPts val="200"/>
              </a:spcAft>
            </a:pPr>
            <a:r>
              <a:rPr sz="900" b="0">
                <a:solidFill>
                  <a:srgbClr val="1F2A5C"/>
                </a:solidFill>
                <a:latin typeface="メイリオ"/>
                <a:ea typeface="メイリオ"/>
                <a:cs typeface="メイリオ"/>
              </a:rPr>
              <a:t>▼</a:t>
            </a:r>
          </a:p>
        </p:txBody>
      </p:sp>
      <p:sp>
        <p:nvSpPr>
          <p:cNvPr id="117" name="Rectangle 116"/>
          <p:cNvSpPr/>
          <p:nvPr/>
        </p:nvSpPr>
        <p:spPr>
          <a:xfrm>
            <a:off x="854964" y="4887468"/>
            <a:ext cx="777239" cy="603504"/>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400" b="1">
                <a:solidFill>
                  <a:srgbClr val="FFFFFF"/>
                </a:solidFill>
                <a:latin typeface="メイリオ"/>
                <a:ea typeface="メイリオ"/>
                <a:cs typeface="メイリオ"/>
              </a:rPr>
              <a:t>ゴール</a:t>
            </a:r>
          </a:p>
        </p:txBody>
      </p:sp>
      <p:sp>
        <p:nvSpPr>
          <p:cNvPr id="118" name="Rectangle 117"/>
          <p:cNvSpPr/>
          <p:nvPr/>
        </p:nvSpPr>
        <p:spPr>
          <a:xfrm>
            <a:off x="1632204" y="4887468"/>
            <a:ext cx="3931920" cy="603504"/>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wrap="square" lIns="64800" tIns="10800" rIns="43200" bIns="10800" rtlCol="0" anchor="ctr"/>
          <a:lstStyle/>
          <a:p>
            <a:pPr algn="l">
              <a:lnSpc>
                <a:spcPct val="110000"/>
              </a:lnSpc>
              <a:spcAft>
                <a:spcPts val="0"/>
              </a:spcAft>
            </a:pPr>
            <a:r>
              <a:rPr sz="1400" b="1">
                <a:solidFill>
                  <a:srgbClr val="1F2A5C"/>
                </a:solidFill>
                <a:latin typeface="メイリオ"/>
                <a:ea typeface="メイリオ"/>
                <a:cs typeface="メイリオ"/>
              </a:rPr>
              <a:t>申込み・予約（CV）</a:t>
            </a:r>
          </a:p>
        </p:txBody>
      </p:sp>
      <p:sp>
        <p:nvSpPr>
          <p:cNvPr id="119" name="TextBox 118"/>
          <p:cNvSpPr txBox="1"/>
          <p:nvPr/>
        </p:nvSpPr>
        <p:spPr>
          <a:xfrm>
            <a:off x="6373368" y="1911095"/>
            <a:ext cx="3163823" cy="923544"/>
          </a:xfrm>
          <a:prstGeom prst="rect">
            <a:avLst/>
          </a:prstGeom>
          <a:noFill/>
        </p:spPr>
        <p:txBody>
          <a:bodyPr wrap="square" lIns="36000" tIns="10800" rIns="36000" bIns="10800" anchor="t">
            <a:spAutoFit/>
          </a:bodyPr>
          <a:lstStyle/>
          <a:p>
            <a:pPr algn="l">
              <a:lnSpc>
                <a:spcPct val="105000"/>
              </a:lnSpc>
              <a:spcAft>
                <a:spcPts val="200"/>
              </a:spcAft>
            </a:pPr>
            <a:r>
              <a:rPr sz="1300" b="1">
                <a:solidFill>
                  <a:srgbClr val="1F2A5C"/>
                </a:solidFill>
                <a:latin typeface="メイリオ"/>
                <a:ea typeface="メイリオ"/>
                <a:cs typeface="メイリオ"/>
              </a:rPr>
              <a:t>目的</a:t>
            </a:r>
          </a:p>
          <a:p>
            <a:pPr algn="l">
              <a:lnSpc>
                <a:spcPct val="105000"/>
              </a:lnSpc>
              <a:spcAft>
                <a:spcPts val="200"/>
              </a:spcAft>
            </a:pPr>
            <a:r>
              <a:rPr sz="1200" b="0">
                <a:solidFill>
                  <a:srgbClr val="333333"/>
                </a:solidFill>
                <a:latin typeface="メイリオ"/>
                <a:ea typeface="メイリオ"/>
                <a:cs typeface="メイリオ"/>
              </a:rPr>
              <a:t>友だち追加の直後の反応が高い時期に、</a:t>
            </a:r>
          </a:p>
          <a:p>
            <a:pPr algn="l">
              <a:lnSpc>
                <a:spcPct val="105000"/>
              </a:lnSpc>
              <a:spcAft>
                <a:spcPts val="200"/>
              </a:spcAft>
            </a:pPr>
            <a:r>
              <a:rPr sz="1200" b="0">
                <a:solidFill>
                  <a:srgbClr val="333333"/>
                </a:solidFill>
                <a:latin typeface="メイリオ"/>
                <a:ea typeface="メイリオ"/>
                <a:cs typeface="メイリオ"/>
              </a:rPr>
              <a:t>WEBの申込み・予約や来店につなげる</a:t>
            </a:r>
          </a:p>
        </p:txBody>
      </p:sp>
      <p:sp>
        <p:nvSpPr>
          <p:cNvPr id="120" name="TextBox 119"/>
          <p:cNvSpPr txBox="1"/>
          <p:nvPr/>
        </p:nvSpPr>
        <p:spPr>
          <a:xfrm>
            <a:off x="6373368" y="2999232"/>
            <a:ext cx="3163823" cy="923544"/>
          </a:xfrm>
          <a:prstGeom prst="rect">
            <a:avLst/>
          </a:prstGeom>
          <a:noFill/>
        </p:spPr>
        <p:txBody>
          <a:bodyPr wrap="square" lIns="36000" tIns="10800" rIns="36000" bIns="10800" anchor="t">
            <a:spAutoFit/>
          </a:bodyPr>
          <a:lstStyle/>
          <a:p>
            <a:pPr algn="l">
              <a:lnSpc>
                <a:spcPct val="105000"/>
              </a:lnSpc>
              <a:spcAft>
                <a:spcPts val="200"/>
              </a:spcAft>
            </a:pPr>
            <a:r>
              <a:rPr sz="1300" b="1">
                <a:solidFill>
                  <a:srgbClr val="1F2A5C"/>
                </a:solidFill>
                <a:latin typeface="メイリオ"/>
                <a:ea typeface="メイリオ"/>
                <a:cs typeface="メイリオ"/>
              </a:rPr>
              <a:t>対象</a:t>
            </a:r>
          </a:p>
          <a:p>
            <a:pPr algn="l">
              <a:lnSpc>
                <a:spcPct val="105000"/>
              </a:lnSpc>
              <a:spcAft>
                <a:spcPts val="200"/>
              </a:spcAft>
            </a:pPr>
            <a:r>
              <a:rPr sz="1200" b="0">
                <a:solidFill>
                  <a:srgbClr val="333333"/>
                </a:solidFill>
                <a:latin typeface="メイリオ"/>
                <a:ea typeface="メイリオ"/>
                <a:cs typeface="メイリオ"/>
              </a:rPr>
              <a:t>友だち追加から15日以内の方</a:t>
            </a:r>
          </a:p>
          <a:p>
            <a:pPr algn="l">
              <a:lnSpc>
                <a:spcPct val="105000"/>
              </a:lnSpc>
              <a:spcAft>
                <a:spcPts val="200"/>
              </a:spcAft>
            </a:pPr>
            <a:r>
              <a:rPr sz="1200" b="0">
                <a:solidFill>
                  <a:srgbClr val="333333"/>
                </a:solidFill>
                <a:latin typeface="メイリオ"/>
                <a:ea typeface="メイリオ"/>
                <a:cs typeface="メイリオ"/>
              </a:rPr>
              <a:t>（検討度が高い方）</a:t>
            </a:r>
          </a:p>
        </p:txBody>
      </p:sp>
      <p:sp>
        <p:nvSpPr>
          <p:cNvPr id="121" name="TextBox 120"/>
          <p:cNvSpPr txBox="1"/>
          <p:nvPr/>
        </p:nvSpPr>
        <p:spPr>
          <a:xfrm>
            <a:off x="6373368" y="4105655"/>
            <a:ext cx="3163823" cy="923544"/>
          </a:xfrm>
          <a:prstGeom prst="rect">
            <a:avLst/>
          </a:prstGeom>
          <a:noFill/>
        </p:spPr>
        <p:txBody>
          <a:bodyPr wrap="square" lIns="36000" tIns="10800" rIns="36000" bIns="10800" anchor="t">
            <a:spAutoFit/>
          </a:bodyPr>
          <a:lstStyle/>
          <a:p>
            <a:pPr algn="l">
              <a:lnSpc>
                <a:spcPct val="105000"/>
              </a:lnSpc>
              <a:spcAft>
                <a:spcPts val="200"/>
              </a:spcAft>
            </a:pPr>
            <a:r>
              <a:rPr sz="1300" b="1">
                <a:solidFill>
                  <a:srgbClr val="1F2A5C"/>
                </a:solidFill>
                <a:latin typeface="メイリオ"/>
                <a:ea typeface="メイリオ"/>
                <a:cs typeface="メイリオ"/>
              </a:rPr>
              <a:t>中身</a:t>
            </a:r>
          </a:p>
          <a:p>
            <a:pPr algn="l">
              <a:lnSpc>
                <a:spcPct val="105000"/>
              </a:lnSpc>
              <a:spcAft>
                <a:spcPts val="200"/>
              </a:spcAft>
            </a:pPr>
            <a:r>
              <a:rPr sz="1200" b="0">
                <a:solidFill>
                  <a:srgbClr val="333333"/>
                </a:solidFill>
                <a:latin typeface="メイリオ"/>
                <a:ea typeface="メイリオ"/>
                <a:cs typeface="メイリオ"/>
              </a:rPr>
              <a:t>前後検索をもとに、疑問に順に答える</a:t>
            </a:r>
          </a:p>
          <a:p>
            <a:pPr algn="l">
              <a:lnSpc>
                <a:spcPct val="105000"/>
              </a:lnSpc>
              <a:spcAft>
                <a:spcPts val="200"/>
              </a:spcAft>
            </a:pPr>
            <a:r>
              <a:rPr sz="1200" b="0">
                <a:solidFill>
                  <a:srgbClr val="333333"/>
                </a:solidFill>
                <a:latin typeface="メイリオ"/>
                <a:ea typeface="メイリオ"/>
                <a:cs typeface="メイリオ"/>
              </a:rPr>
              <a:t>ステップ配信／回答で配信を出し分け／</a:t>
            </a:r>
          </a:p>
          <a:p>
            <a:pPr algn="l">
              <a:lnSpc>
                <a:spcPct val="105000"/>
              </a:lnSpc>
              <a:spcAft>
                <a:spcPts val="200"/>
              </a:spcAft>
            </a:pPr>
            <a:r>
              <a:rPr sz="1200" b="0">
                <a:solidFill>
                  <a:srgbClr val="333333"/>
                </a:solidFill>
                <a:latin typeface="メイリオ"/>
                <a:ea typeface="メイリオ"/>
                <a:cs typeface="メイリオ"/>
              </a:rPr>
              <a:t>リッチメニューから申込みへ</a:t>
            </a:r>
          </a:p>
        </p:txBody>
      </p:sp>
      <p:sp>
        <p:nvSpPr>
          <p:cNvPr id="122" name="TextBox 121"/>
          <p:cNvSpPr txBox="1"/>
          <p:nvPr/>
        </p:nvSpPr>
        <p:spPr>
          <a:xfrm>
            <a:off x="6373368" y="5230368"/>
            <a:ext cx="3163823" cy="923544"/>
          </a:xfrm>
          <a:prstGeom prst="rect">
            <a:avLst/>
          </a:prstGeom>
          <a:noFill/>
        </p:spPr>
        <p:txBody>
          <a:bodyPr wrap="square" lIns="36000" tIns="10800" rIns="36000" bIns="10800" anchor="t">
            <a:spAutoFit/>
          </a:bodyPr>
          <a:lstStyle/>
          <a:p>
            <a:pPr algn="l">
              <a:lnSpc>
                <a:spcPct val="105000"/>
              </a:lnSpc>
              <a:spcAft>
                <a:spcPts val="200"/>
              </a:spcAft>
            </a:pPr>
            <a:r>
              <a:rPr sz="1300" b="1">
                <a:solidFill>
                  <a:srgbClr val="1F2A5C"/>
                </a:solidFill>
                <a:latin typeface="メイリオ"/>
                <a:ea typeface="メイリオ"/>
                <a:cs typeface="メイリオ"/>
              </a:rPr>
              <a:t>見る数字</a:t>
            </a:r>
          </a:p>
          <a:p>
            <a:pPr algn="l">
              <a:lnSpc>
                <a:spcPct val="105000"/>
              </a:lnSpc>
              <a:spcAft>
                <a:spcPts val="200"/>
              </a:spcAft>
            </a:pPr>
            <a:r>
              <a:rPr sz="1200" b="0">
                <a:solidFill>
                  <a:srgbClr val="333333"/>
                </a:solidFill>
                <a:latin typeface="メイリオ"/>
                <a:ea typeface="メイリオ"/>
                <a:cs typeface="メイリオ"/>
              </a:rPr>
              <a:t>CV数／CVR／CPA</a:t>
            </a:r>
          </a:p>
        </p:txBody>
      </p:sp>
    </p:spTree>
    <p:extLst>
      <p:ext uri="{BB962C8B-B14F-4D97-AF65-F5344CB8AC3E}">
        <p14:creationId xmlns:p14="http://schemas.microsoft.com/office/powerpoint/2010/main" val="320827875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A47D94-7381-1A9E-617F-B4E17DA3E766}"/>
            </a:ext>
          </a:extLst>
        </p:cNvPr>
        <p:cNvGrpSpPr/>
        <p:nvPr/>
      </p:nvGrpSpPr>
      <p:grpSpPr>
        <a:xfrm>
          <a:off x="0" y="0"/>
          <a:ext cx="0" cy="0"/>
          <a:chOff x="0" y="0"/>
          <a:chExt cx="0" cy="0"/>
        </a:xfrm>
      </p:grpSpPr>
      <p:sp>
        <p:nvSpPr>
          <p:cNvPr id="3" name="テキスト ボックス 47">
            <a:extLst>
              <a:ext uri="{FF2B5EF4-FFF2-40B4-BE49-F238E27FC236}">
                <a16:creationId xmlns:a16="http://schemas.microsoft.com/office/drawing/2014/main" id="{C55FD271-DD54-8C2A-3532-3C2A03D95615}"/>
              </a:ext>
            </a:extLst>
          </p:cNvPr>
          <p:cNvSpPr txBox="1">
            <a:spLocks noChangeArrowheads="1"/>
          </p:cNvSpPr>
          <p:nvPr/>
        </p:nvSpPr>
        <p:spPr bwMode="auto">
          <a:xfrm>
            <a:off x="456501"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Calibri" charset="0"/>
                <a:ea typeface="ＭＳ Ｐゴシック" charset="0"/>
                <a:cs typeface="ＭＳ Ｐゴシック" charset="0"/>
              </a:defRPr>
            </a:lvl1pPr>
            <a:lvl2pPr>
              <a:defRPr kumimoji="1" sz="2800">
                <a:solidFill>
                  <a:schemeClr val="tx1"/>
                </a:solidFill>
                <a:latin typeface="Calibri" charset="0"/>
                <a:ea typeface="ＭＳ Ｐゴシック" charset="0"/>
              </a:defRPr>
            </a:lvl2pPr>
            <a:lvl3pPr>
              <a:defRPr kumimoji="1" sz="2400">
                <a:solidFill>
                  <a:schemeClr val="tx1"/>
                </a:solidFill>
                <a:latin typeface="Calibri" charset="0"/>
                <a:ea typeface="ＭＳ Ｐゴシック" charset="0"/>
              </a:defRPr>
            </a:lvl3pPr>
            <a:lvl4pPr>
              <a:defRPr kumimoji="1" sz="2000">
                <a:solidFill>
                  <a:schemeClr val="tx1"/>
                </a:solidFill>
                <a:latin typeface="Calibri" charset="0"/>
                <a:ea typeface="ＭＳ Ｐゴシック" charset="0"/>
              </a:defRPr>
            </a:lvl4pPr>
            <a:lvl5pPr>
              <a:defRPr kumimoji="1" sz="2000">
                <a:solidFill>
                  <a:schemeClr val="tx1"/>
                </a:solidFill>
                <a:latin typeface="Calibri" charset="0"/>
                <a:ea typeface="ＭＳ Ｐゴシック" charset="0"/>
              </a:defRPr>
            </a:lvl5pPr>
            <a:lvl6pPr eaLnBrk="0" fontAlgn="base" hangingPunct="0">
              <a:spcAft>
                <a:spcPct val="0"/>
              </a:spcAft>
              <a:buFont typeface="Arial" charset="0"/>
              <a:buChar char="»"/>
              <a:defRPr kumimoji="1" sz="2000">
                <a:solidFill>
                  <a:schemeClr val="tx1"/>
                </a:solidFill>
                <a:latin typeface="Calibri" charset="0"/>
                <a:ea typeface="ＭＳ Ｐゴシック" charset="0"/>
              </a:defRPr>
            </a:lvl6pPr>
            <a:lvl7pPr eaLnBrk="0" fontAlgn="base" hangingPunct="0">
              <a:spcAft>
                <a:spcPct val="0"/>
              </a:spcAft>
              <a:buFont typeface="Arial" charset="0"/>
              <a:buChar char="»"/>
              <a:defRPr kumimoji="1" sz="2000">
                <a:solidFill>
                  <a:schemeClr val="tx1"/>
                </a:solidFill>
                <a:latin typeface="Calibri" charset="0"/>
                <a:ea typeface="ＭＳ Ｐゴシック" charset="0"/>
              </a:defRPr>
            </a:lvl7pPr>
            <a:lvl8pPr eaLnBrk="0" fontAlgn="base" hangingPunct="0">
              <a:spcAft>
                <a:spcPct val="0"/>
              </a:spcAft>
              <a:buFont typeface="Arial" charset="0"/>
              <a:buChar char="»"/>
              <a:defRPr kumimoji="1" sz="2000">
                <a:solidFill>
                  <a:schemeClr val="tx1"/>
                </a:solidFill>
                <a:latin typeface="Calibri" charset="0"/>
                <a:ea typeface="ＭＳ Ｐゴシック" charset="0"/>
              </a:defRPr>
            </a:lvl8pPr>
            <a:lvl9pPr eaLnBrk="0" fontAlgn="base" hangingPunct="0">
              <a:spcAft>
                <a:spcPct val="0"/>
              </a:spcAft>
              <a:buFont typeface="Arial" charset="0"/>
              <a:buChar char="»"/>
              <a:defRPr kumimoji="1" sz="2000">
                <a:solidFill>
                  <a:schemeClr val="tx1"/>
                </a:solidFill>
                <a:latin typeface="Calibri" charset="0"/>
                <a:ea typeface="ＭＳ Ｐゴシック" charset="0"/>
              </a:defRPr>
            </a:lvl9pPr>
          </a:lstStyle>
          <a:p>
            <a:pPr>
              <a:spcBef>
                <a:spcPct val="20000"/>
              </a:spcBef>
              <a:buFont typeface="Arial" charset="0"/>
              <a:buNone/>
            </a:pPr>
            <a:r>
              <a:rPr lang="ja-JP" altLang="en-US" sz="1600" b="1" dirty="0">
                <a:solidFill>
                  <a:srgbClr val="1F2A5C"/>
                </a:solidFill>
                <a:latin typeface="メイリオ"/>
                <a:ea typeface="メイリオ"/>
                <a:cs typeface="メイリオ"/>
              </a:rPr>
              <a:t>具体施策のイメージ</a:t>
            </a:r>
          </a:p>
        </p:txBody>
      </p:sp>
      <p:sp>
        <p:nvSpPr>
          <p:cNvPr id="5" name="正方形/長方形 4">
            <a:extLst>
              <a:ext uri="{FF2B5EF4-FFF2-40B4-BE49-F238E27FC236}">
                <a16:creationId xmlns:a16="http://schemas.microsoft.com/office/drawing/2014/main" id="{CAEED6D7-2A94-A6CB-0BBE-334005590BEA}"/>
              </a:ext>
            </a:extLst>
          </p:cNvPr>
          <p:cNvSpPr/>
          <p:nvPr/>
        </p:nvSpPr>
        <p:spPr>
          <a:xfrm>
            <a:off x="2659553" y="109691"/>
            <a:ext cx="1992986" cy="326496"/>
          </a:xfrm>
          <a:prstGeom prst="rect">
            <a:avLst/>
          </a:prstGeom>
          <a:solidFill>
            <a:schemeClr val="tx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solidFill>
                  <a:srgbClr val="FFFF00"/>
                </a:solidFill>
                <a:latin typeface="メイリオ" panose="020B0604030504040204" pitchFamily="50" charset="-128"/>
                <a:ea typeface="メイリオ" panose="020B0604030504040204" pitchFamily="50" charset="-128"/>
              </a:rPr>
              <a:t>CPO</a:t>
            </a:r>
            <a:r>
              <a:rPr kumimoji="1" lang="ja-JP" altLang="en-US" sz="1200" b="1" dirty="0">
                <a:solidFill>
                  <a:srgbClr val="FFFF00"/>
                </a:solidFill>
                <a:latin typeface="メイリオ" panose="020B0604030504040204" pitchFamily="50" charset="-128"/>
                <a:ea typeface="メイリオ" panose="020B0604030504040204" pitchFamily="50" charset="-128"/>
              </a:rPr>
              <a:t>の改善（</a:t>
            </a:r>
            <a:r>
              <a:rPr kumimoji="1" lang="en-US" altLang="ja-JP" sz="1200" b="1" dirty="0">
                <a:solidFill>
                  <a:srgbClr val="FFFF00"/>
                </a:solidFill>
                <a:latin typeface="メイリオ" panose="020B0604030504040204" pitchFamily="50" charset="-128"/>
                <a:ea typeface="メイリオ" panose="020B0604030504040204" pitchFamily="50" charset="-128"/>
              </a:rPr>
              <a:t>CV</a:t>
            </a:r>
            <a:r>
              <a:rPr kumimoji="1" lang="ja-JP" altLang="en-US" sz="1200" b="1" dirty="0">
                <a:solidFill>
                  <a:srgbClr val="FFFF00"/>
                </a:solidFill>
                <a:latin typeface="メイリオ" panose="020B0604030504040204" pitchFamily="50" charset="-128"/>
                <a:ea typeface="メイリオ" panose="020B0604030504040204" pitchFamily="50" charset="-128"/>
              </a:rPr>
              <a:t>質）</a:t>
            </a:r>
          </a:p>
        </p:txBody>
      </p:sp>
      <p:sp>
        <p:nvSpPr>
          <p:cNvPr id="51" name="Chevron 13">
            <a:extLst>
              <a:ext uri="{FF2B5EF4-FFF2-40B4-BE49-F238E27FC236}">
                <a16:creationId xmlns:a16="http://schemas.microsoft.com/office/drawing/2014/main" id="{1D355FA4-4572-41DB-ADDB-72C9328CFA54}"/>
              </a:ext>
            </a:extLst>
          </p:cNvPr>
          <p:cNvSpPr/>
          <p:nvPr/>
        </p:nvSpPr>
        <p:spPr>
          <a:xfrm>
            <a:off x="7099344" y="795063"/>
            <a:ext cx="1482455" cy="731520"/>
          </a:xfrm>
          <a:prstGeom prst="chevron">
            <a:avLst/>
          </a:prstGeom>
          <a:solidFill>
            <a:schemeClr val="tx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55" name="Chevron 12">
            <a:extLst>
              <a:ext uri="{FF2B5EF4-FFF2-40B4-BE49-F238E27FC236}">
                <a16:creationId xmlns:a16="http://schemas.microsoft.com/office/drawing/2014/main" id="{35692A60-CF72-AD98-4C83-9F592CF492E0}"/>
              </a:ext>
            </a:extLst>
          </p:cNvPr>
          <p:cNvSpPr/>
          <p:nvPr/>
        </p:nvSpPr>
        <p:spPr>
          <a:xfrm>
            <a:off x="593938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59" name="Chevron 13">
            <a:extLst>
              <a:ext uri="{FF2B5EF4-FFF2-40B4-BE49-F238E27FC236}">
                <a16:creationId xmlns:a16="http://schemas.microsoft.com/office/drawing/2014/main" id="{66C0F59A-8A6F-2FF8-83E3-2F298F1F2AC0}"/>
              </a:ext>
            </a:extLst>
          </p:cNvPr>
          <p:cNvSpPr/>
          <p:nvPr/>
        </p:nvSpPr>
        <p:spPr>
          <a:xfrm>
            <a:off x="8259306" y="795063"/>
            <a:ext cx="1482455" cy="731520"/>
          </a:xfrm>
          <a:prstGeom prst="chevron">
            <a:avLst/>
          </a:prstGeom>
          <a:solidFill>
            <a:schemeClr val="tx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67" name="テキスト ボックス 66">
            <a:extLst>
              <a:ext uri="{FF2B5EF4-FFF2-40B4-BE49-F238E27FC236}">
                <a16:creationId xmlns:a16="http://schemas.microsoft.com/office/drawing/2014/main" id="{55D40F01-14E7-7602-20AC-BAAC200BE3B3}"/>
              </a:ext>
            </a:extLst>
          </p:cNvPr>
          <p:cNvSpPr txBox="1"/>
          <p:nvPr/>
        </p:nvSpPr>
        <p:spPr>
          <a:xfrm>
            <a:off x="7420737" y="1030016"/>
            <a:ext cx="982079"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マネタイズ</a:t>
            </a:r>
          </a:p>
        </p:txBody>
      </p:sp>
      <p:sp>
        <p:nvSpPr>
          <p:cNvPr id="73" name="テキスト ボックス 72">
            <a:extLst>
              <a:ext uri="{FF2B5EF4-FFF2-40B4-BE49-F238E27FC236}">
                <a16:creationId xmlns:a16="http://schemas.microsoft.com/office/drawing/2014/main" id="{EF5D364D-D947-42EA-9004-919D75BD67E2}"/>
              </a:ext>
            </a:extLst>
          </p:cNvPr>
          <p:cNvSpPr txBox="1"/>
          <p:nvPr/>
        </p:nvSpPr>
        <p:spPr>
          <a:xfrm>
            <a:off x="6301709" y="945379"/>
            <a:ext cx="811635" cy="430887"/>
          </a:xfrm>
          <a:prstGeom prst="rect">
            <a:avLst/>
          </a:prstGeom>
          <a:solidFill>
            <a:schemeClr val="accent1">
              <a:lumMod val="75000"/>
            </a:schemeClr>
          </a:solid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リード</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再育成</a:t>
            </a:r>
          </a:p>
        </p:txBody>
      </p:sp>
      <p:sp>
        <p:nvSpPr>
          <p:cNvPr id="75" name="テキスト ボックス 74">
            <a:extLst>
              <a:ext uri="{FF2B5EF4-FFF2-40B4-BE49-F238E27FC236}">
                <a16:creationId xmlns:a16="http://schemas.microsoft.com/office/drawing/2014/main" id="{7D2B1035-4C9A-C019-739F-BAA82A8C0A80}"/>
              </a:ext>
            </a:extLst>
          </p:cNvPr>
          <p:cNvSpPr txBox="1"/>
          <p:nvPr/>
        </p:nvSpPr>
        <p:spPr>
          <a:xfrm>
            <a:off x="8544744" y="945378"/>
            <a:ext cx="982079"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リピート</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クロスセル</a:t>
            </a:r>
          </a:p>
        </p:txBody>
      </p:sp>
      <p:sp>
        <p:nvSpPr>
          <p:cNvPr id="93" name="Pentagon 10">
            <a:extLst>
              <a:ext uri="{FF2B5EF4-FFF2-40B4-BE49-F238E27FC236}">
                <a16:creationId xmlns:a16="http://schemas.microsoft.com/office/drawing/2014/main" id="{E7FB1180-9A4A-AE57-1F59-565896215179}"/>
              </a:ext>
            </a:extLst>
          </p:cNvPr>
          <p:cNvSpPr/>
          <p:nvPr/>
        </p:nvSpPr>
        <p:spPr>
          <a:xfrm>
            <a:off x="262895" y="795063"/>
            <a:ext cx="1360371" cy="731520"/>
          </a:xfrm>
          <a:prstGeom prst="homePlate">
            <a:avLst/>
          </a:prstGeom>
          <a:solidFill>
            <a:schemeClr val="bg1">
              <a:lumMod val="6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lang="en-US" altLang="ja-JP" sz="1300" b="1" dirty="0">
              <a:solidFill>
                <a:srgbClr val="FFFFFF"/>
              </a:solidFill>
              <a:latin typeface="メイリオ"/>
              <a:ea typeface="メイリオ"/>
              <a:cs typeface="メイリオ"/>
            </a:endParaRPr>
          </a:p>
        </p:txBody>
      </p:sp>
      <p:sp>
        <p:nvSpPr>
          <p:cNvPr id="95" name="Chevron 11">
            <a:extLst>
              <a:ext uri="{FF2B5EF4-FFF2-40B4-BE49-F238E27FC236}">
                <a16:creationId xmlns:a16="http://schemas.microsoft.com/office/drawing/2014/main" id="{0B0B60C6-5DCD-AEAE-569B-FA25089F13B5}"/>
              </a:ext>
            </a:extLst>
          </p:cNvPr>
          <p:cNvSpPr/>
          <p:nvPr/>
        </p:nvSpPr>
        <p:spPr>
          <a:xfrm>
            <a:off x="1299544" y="795063"/>
            <a:ext cx="1482455" cy="731520"/>
          </a:xfrm>
          <a:prstGeom prst="chevron">
            <a:avLst/>
          </a:prstGeom>
          <a:solidFill>
            <a:schemeClr val="accent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97" name="Chevron 11">
            <a:extLst>
              <a:ext uri="{FF2B5EF4-FFF2-40B4-BE49-F238E27FC236}">
                <a16:creationId xmlns:a16="http://schemas.microsoft.com/office/drawing/2014/main" id="{A4623768-2D8F-7D2D-6B3F-6C18DF141747}"/>
              </a:ext>
            </a:extLst>
          </p:cNvPr>
          <p:cNvSpPr/>
          <p:nvPr/>
        </p:nvSpPr>
        <p:spPr>
          <a:xfrm>
            <a:off x="2459504" y="795063"/>
            <a:ext cx="1482455" cy="731520"/>
          </a:xfrm>
          <a:prstGeom prst="chevron">
            <a:avLst/>
          </a:prstGeom>
          <a:solidFill>
            <a:schemeClr val="accent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99" name="テキスト ボックス 98">
            <a:extLst>
              <a:ext uri="{FF2B5EF4-FFF2-40B4-BE49-F238E27FC236}">
                <a16:creationId xmlns:a16="http://schemas.microsoft.com/office/drawing/2014/main" id="{B0A113B5-1B73-69E4-E6AB-E295D6D4D7F6}"/>
              </a:ext>
            </a:extLst>
          </p:cNvPr>
          <p:cNvSpPr txBox="1"/>
          <p:nvPr/>
        </p:nvSpPr>
        <p:spPr>
          <a:xfrm>
            <a:off x="1616581" y="945379"/>
            <a:ext cx="811635"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サイト</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離脱</a:t>
            </a:r>
          </a:p>
        </p:txBody>
      </p:sp>
      <p:sp>
        <p:nvSpPr>
          <p:cNvPr id="101" name="テキスト ボックス 100">
            <a:extLst>
              <a:ext uri="{FF2B5EF4-FFF2-40B4-BE49-F238E27FC236}">
                <a16:creationId xmlns:a16="http://schemas.microsoft.com/office/drawing/2014/main" id="{9C383105-7C60-9319-5CDD-067E90A78396}"/>
              </a:ext>
            </a:extLst>
          </p:cNvPr>
          <p:cNvSpPr txBox="1"/>
          <p:nvPr/>
        </p:nvSpPr>
        <p:spPr>
          <a:xfrm>
            <a:off x="2787863" y="1030016"/>
            <a:ext cx="811635"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育成</a:t>
            </a:r>
          </a:p>
        </p:txBody>
      </p:sp>
      <p:sp>
        <p:nvSpPr>
          <p:cNvPr id="103" name="テキスト ボックス 102">
            <a:extLst>
              <a:ext uri="{FF2B5EF4-FFF2-40B4-BE49-F238E27FC236}">
                <a16:creationId xmlns:a16="http://schemas.microsoft.com/office/drawing/2014/main" id="{F9F43CC2-32B7-852A-1FBD-45B2EB27CFB5}"/>
              </a:ext>
            </a:extLst>
          </p:cNvPr>
          <p:cNvSpPr txBox="1"/>
          <p:nvPr/>
        </p:nvSpPr>
        <p:spPr>
          <a:xfrm>
            <a:off x="445299" y="1030016"/>
            <a:ext cx="811635"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接触</a:t>
            </a:r>
          </a:p>
        </p:txBody>
      </p:sp>
      <p:sp>
        <p:nvSpPr>
          <p:cNvPr id="11" name="正方形/長方形 10">
            <a:extLst>
              <a:ext uri="{FF2B5EF4-FFF2-40B4-BE49-F238E27FC236}">
                <a16:creationId xmlns:a16="http://schemas.microsoft.com/office/drawing/2014/main" id="{B493BCB4-E00B-E0BE-D79E-5C1F31081B18}"/>
              </a:ext>
            </a:extLst>
          </p:cNvPr>
          <p:cNvSpPr/>
          <p:nvPr/>
        </p:nvSpPr>
        <p:spPr>
          <a:xfrm>
            <a:off x="-15984" y="609190"/>
            <a:ext cx="9917132" cy="1034848"/>
          </a:xfrm>
          <a:prstGeom prst="rect">
            <a:avLst/>
          </a:prstGeom>
          <a:solidFill>
            <a:schemeClr val="bg1">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13" name="正方形/長方形 12">
            <a:extLst>
              <a:ext uri="{FF2B5EF4-FFF2-40B4-BE49-F238E27FC236}">
                <a16:creationId xmlns:a16="http://schemas.microsoft.com/office/drawing/2014/main" id="{59ADA20E-51F8-4962-4E73-FE0A21ED1C8D}"/>
              </a:ext>
            </a:extLst>
          </p:cNvPr>
          <p:cNvSpPr/>
          <p:nvPr/>
        </p:nvSpPr>
        <p:spPr>
          <a:xfrm>
            <a:off x="-15984" y="645907"/>
            <a:ext cx="9930693" cy="1034848"/>
          </a:xfrm>
          <a:prstGeom prst="rect">
            <a:avLst/>
          </a:prstGeom>
          <a:solidFill>
            <a:schemeClr val="bg1">
              <a:lumMod val="95000"/>
              <a:alpha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15" name="Chevron 12">
            <a:extLst>
              <a:ext uri="{FF2B5EF4-FFF2-40B4-BE49-F238E27FC236}">
                <a16:creationId xmlns:a16="http://schemas.microsoft.com/office/drawing/2014/main" id="{49BBC152-C183-765C-41EA-73A50F842FCD}"/>
              </a:ext>
            </a:extLst>
          </p:cNvPr>
          <p:cNvSpPr/>
          <p:nvPr/>
        </p:nvSpPr>
        <p:spPr>
          <a:xfrm>
            <a:off x="361946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17" name="テキスト ボックス 16">
            <a:extLst>
              <a:ext uri="{FF2B5EF4-FFF2-40B4-BE49-F238E27FC236}">
                <a16:creationId xmlns:a16="http://schemas.microsoft.com/office/drawing/2014/main" id="{6961C103-0619-18B0-5114-11BA2CE4CF4F}"/>
              </a:ext>
            </a:extLst>
          </p:cNvPr>
          <p:cNvSpPr txBox="1"/>
          <p:nvPr/>
        </p:nvSpPr>
        <p:spPr>
          <a:xfrm>
            <a:off x="3959145" y="945379"/>
            <a:ext cx="811635"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リード</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獲得</a:t>
            </a:r>
          </a:p>
        </p:txBody>
      </p:sp>
      <p:sp>
        <p:nvSpPr>
          <p:cNvPr id="19" name="Chevron 11">
            <a:extLst>
              <a:ext uri="{FF2B5EF4-FFF2-40B4-BE49-F238E27FC236}">
                <a16:creationId xmlns:a16="http://schemas.microsoft.com/office/drawing/2014/main" id="{D8CD547B-AAA5-239F-5275-F1E6B4C136D6}"/>
              </a:ext>
            </a:extLst>
          </p:cNvPr>
          <p:cNvSpPr/>
          <p:nvPr/>
        </p:nvSpPr>
        <p:spPr>
          <a:xfrm>
            <a:off x="477942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21" name="テキスト ボックス 20">
            <a:extLst>
              <a:ext uri="{FF2B5EF4-FFF2-40B4-BE49-F238E27FC236}">
                <a16:creationId xmlns:a16="http://schemas.microsoft.com/office/drawing/2014/main" id="{8F8D1CD4-558F-D99F-A672-878D8BA20B74}"/>
              </a:ext>
            </a:extLst>
          </p:cNvPr>
          <p:cNvSpPr txBox="1"/>
          <p:nvPr/>
        </p:nvSpPr>
        <p:spPr>
          <a:xfrm>
            <a:off x="5130427" y="945378"/>
            <a:ext cx="811635" cy="430887"/>
          </a:xfrm>
          <a:prstGeom prst="rect">
            <a:avLst/>
          </a:prstGeom>
          <a:solidFill>
            <a:schemeClr val="accent1">
              <a:lumMod val="75000"/>
            </a:schemeClr>
          </a:solid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有効</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リード化</a:t>
            </a:r>
          </a:p>
        </p:txBody>
      </p:sp>
      <p:sp>
        <p:nvSpPr>
          <p:cNvPr id="4" name="四角形: 角を丸くする 3">
            <a:extLst>
              <a:ext uri="{FF2B5EF4-FFF2-40B4-BE49-F238E27FC236}">
                <a16:creationId xmlns:a16="http://schemas.microsoft.com/office/drawing/2014/main" id="{C8DD6A89-9E15-EF97-006E-AAD167825BE6}"/>
              </a:ext>
            </a:extLst>
          </p:cNvPr>
          <p:cNvSpPr/>
          <p:nvPr/>
        </p:nvSpPr>
        <p:spPr>
          <a:xfrm>
            <a:off x="262895" y="1854926"/>
            <a:ext cx="5885356" cy="435716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四角形: 角を丸くする 6">
            <a:extLst>
              <a:ext uri="{FF2B5EF4-FFF2-40B4-BE49-F238E27FC236}">
                <a16:creationId xmlns:a16="http://schemas.microsoft.com/office/drawing/2014/main" id="{B0607C34-BCAC-36D4-6E5B-D4E83859DFE4}"/>
              </a:ext>
            </a:extLst>
          </p:cNvPr>
          <p:cNvSpPr/>
          <p:nvPr/>
        </p:nvSpPr>
        <p:spPr>
          <a:xfrm>
            <a:off x="6261879" y="1854926"/>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四角形: 角を丸くする 8">
            <a:extLst>
              <a:ext uri="{FF2B5EF4-FFF2-40B4-BE49-F238E27FC236}">
                <a16:creationId xmlns:a16="http://schemas.microsoft.com/office/drawing/2014/main" id="{EA7B3E98-3D68-0C62-992B-836D9101D961}"/>
              </a:ext>
            </a:extLst>
          </p:cNvPr>
          <p:cNvSpPr/>
          <p:nvPr/>
        </p:nvSpPr>
        <p:spPr>
          <a:xfrm>
            <a:off x="6261879" y="2947852"/>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四角形: 角を丸くする 11">
            <a:extLst>
              <a:ext uri="{FF2B5EF4-FFF2-40B4-BE49-F238E27FC236}">
                <a16:creationId xmlns:a16="http://schemas.microsoft.com/office/drawing/2014/main" id="{7F965D0E-3CAC-A55D-5335-0187FA81CB54}"/>
              </a:ext>
            </a:extLst>
          </p:cNvPr>
          <p:cNvSpPr/>
          <p:nvPr/>
        </p:nvSpPr>
        <p:spPr>
          <a:xfrm>
            <a:off x="6261879" y="4049186"/>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四角形: 角を丸くする 15">
            <a:extLst>
              <a:ext uri="{FF2B5EF4-FFF2-40B4-BE49-F238E27FC236}">
                <a16:creationId xmlns:a16="http://schemas.microsoft.com/office/drawing/2014/main" id="{4EC9AAED-0E7E-3F8D-0A4E-056B8E955E7A}"/>
              </a:ext>
            </a:extLst>
          </p:cNvPr>
          <p:cNvSpPr/>
          <p:nvPr/>
        </p:nvSpPr>
        <p:spPr>
          <a:xfrm>
            <a:off x="6278273" y="5177245"/>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4" name="Rectangle 103"/>
          <p:cNvSpPr/>
          <p:nvPr/>
        </p:nvSpPr>
        <p:spPr>
          <a:xfrm>
            <a:off x="854964" y="2583179"/>
            <a:ext cx="777239" cy="603504"/>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400" b="1">
                <a:solidFill>
                  <a:srgbClr val="FFFFFF"/>
                </a:solidFill>
                <a:latin typeface="メイリオ"/>
                <a:ea typeface="メイリオ"/>
                <a:cs typeface="メイリオ"/>
              </a:rPr>
              <a:t>入口</a:t>
            </a:r>
          </a:p>
        </p:txBody>
      </p:sp>
      <p:sp>
        <p:nvSpPr>
          <p:cNvPr id="105" name="Rectangle 104"/>
          <p:cNvSpPr/>
          <p:nvPr/>
        </p:nvSpPr>
        <p:spPr>
          <a:xfrm>
            <a:off x="1632204" y="2583179"/>
            <a:ext cx="3931920" cy="603504"/>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wrap="square" lIns="64800" tIns="10800" rIns="43200" bIns="10800" rtlCol="0" anchor="ctr"/>
          <a:lstStyle/>
          <a:p>
            <a:pPr algn="l">
              <a:lnSpc>
                <a:spcPct val="110000"/>
              </a:lnSpc>
              <a:spcAft>
                <a:spcPts val="0"/>
              </a:spcAft>
            </a:pPr>
            <a:r>
              <a:rPr sz="1400" b="1">
                <a:solidFill>
                  <a:srgbClr val="1F2A5C"/>
                </a:solidFill>
                <a:latin typeface="メイリオ"/>
                <a:ea typeface="メイリオ"/>
                <a:cs typeface="メイリオ"/>
              </a:rPr>
              <a:t>申込み・予約の完了画面</a:t>
            </a:r>
          </a:p>
          <a:p>
            <a:pPr algn="l">
              <a:lnSpc>
                <a:spcPct val="110000"/>
              </a:lnSpc>
              <a:spcAft>
                <a:spcPts val="0"/>
              </a:spcAft>
            </a:pPr>
            <a:r>
              <a:rPr sz="1050" b="0">
                <a:solidFill>
                  <a:srgbClr val="333333"/>
                </a:solidFill>
                <a:latin typeface="メイリオ"/>
                <a:ea typeface="メイリオ"/>
                <a:cs typeface="メイリオ"/>
              </a:rPr>
              <a:t>サンクスLINE誘導</a:t>
            </a:r>
          </a:p>
        </p:txBody>
      </p:sp>
      <p:sp>
        <p:nvSpPr>
          <p:cNvPr id="106" name="TextBox 105"/>
          <p:cNvSpPr txBox="1"/>
          <p:nvPr/>
        </p:nvSpPr>
        <p:spPr>
          <a:xfrm>
            <a:off x="854964" y="3177539"/>
            <a:ext cx="777239" cy="182880"/>
          </a:xfrm>
          <a:prstGeom prst="rect">
            <a:avLst/>
          </a:prstGeom>
          <a:noFill/>
        </p:spPr>
        <p:txBody>
          <a:bodyPr wrap="square" lIns="36000" tIns="10800" rIns="36000" bIns="10800" anchor="ctr">
            <a:spAutoFit/>
          </a:bodyPr>
          <a:lstStyle/>
          <a:p>
            <a:pPr algn="ctr">
              <a:lnSpc>
                <a:spcPct val="105000"/>
              </a:lnSpc>
              <a:spcAft>
                <a:spcPts val="200"/>
              </a:spcAft>
            </a:pPr>
            <a:r>
              <a:rPr sz="900" b="0">
                <a:solidFill>
                  <a:srgbClr val="1F2A5C"/>
                </a:solidFill>
                <a:latin typeface="メイリオ"/>
                <a:ea typeface="メイリオ"/>
                <a:cs typeface="メイリオ"/>
              </a:rPr>
              <a:t>▼</a:t>
            </a:r>
          </a:p>
        </p:txBody>
      </p:sp>
      <p:sp>
        <p:nvSpPr>
          <p:cNvPr id="107" name="Rectangle 106"/>
          <p:cNvSpPr/>
          <p:nvPr/>
        </p:nvSpPr>
        <p:spPr>
          <a:xfrm>
            <a:off x="854964" y="3351275"/>
            <a:ext cx="777239" cy="603504"/>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400" b="1">
                <a:solidFill>
                  <a:srgbClr val="FFFFFF"/>
                </a:solidFill>
                <a:latin typeface="メイリオ"/>
                <a:ea typeface="メイリオ"/>
                <a:cs typeface="メイリオ"/>
              </a:rPr>
              <a:t>LINE</a:t>
            </a:r>
          </a:p>
        </p:txBody>
      </p:sp>
      <p:sp>
        <p:nvSpPr>
          <p:cNvPr id="108" name="Rectangle 107"/>
          <p:cNvSpPr/>
          <p:nvPr/>
        </p:nvSpPr>
        <p:spPr>
          <a:xfrm>
            <a:off x="1632204" y="3351275"/>
            <a:ext cx="3931920" cy="603504"/>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wrap="square" lIns="64800" tIns="10800" rIns="43200" bIns="10800" rtlCol="0" anchor="ctr"/>
          <a:lstStyle/>
          <a:p>
            <a:pPr algn="l">
              <a:lnSpc>
                <a:spcPct val="110000"/>
              </a:lnSpc>
              <a:spcAft>
                <a:spcPts val="0"/>
              </a:spcAft>
            </a:pPr>
            <a:r>
              <a:rPr sz="1400" b="1">
                <a:solidFill>
                  <a:srgbClr val="1F2A5C"/>
                </a:solidFill>
                <a:latin typeface="メイリオ"/>
                <a:ea typeface="メイリオ"/>
                <a:cs typeface="メイリオ"/>
              </a:rPr>
              <a:t>友だち追加・タグ付け</a:t>
            </a:r>
          </a:p>
        </p:txBody>
      </p:sp>
      <p:sp>
        <p:nvSpPr>
          <p:cNvPr id="109" name="TextBox 108"/>
          <p:cNvSpPr txBox="1"/>
          <p:nvPr/>
        </p:nvSpPr>
        <p:spPr>
          <a:xfrm>
            <a:off x="854964" y="3945635"/>
            <a:ext cx="777239" cy="182880"/>
          </a:xfrm>
          <a:prstGeom prst="rect">
            <a:avLst/>
          </a:prstGeom>
          <a:noFill/>
        </p:spPr>
        <p:txBody>
          <a:bodyPr wrap="square" lIns="36000" tIns="10800" rIns="36000" bIns="10800" anchor="ctr">
            <a:spAutoFit/>
          </a:bodyPr>
          <a:lstStyle/>
          <a:p>
            <a:pPr algn="ctr">
              <a:lnSpc>
                <a:spcPct val="105000"/>
              </a:lnSpc>
              <a:spcAft>
                <a:spcPts val="200"/>
              </a:spcAft>
            </a:pPr>
            <a:r>
              <a:rPr sz="900" b="0">
                <a:solidFill>
                  <a:srgbClr val="1F2A5C"/>
                </a:solidFill>
                <a:latin typeface="メイリオ"/>
                <a:ea typeface="メイリオ"/>
                <a:cs typeface="メイリオ"/>
              </a:rPr>
              <a:t>▼</a:t>
            </a:r>
          </a:p>
        </p:txBody>
      </p:sp>
      <p:sp>
        <p:nvSpPr>
          <p:cNvPr id="110" name="Rectangle 109"/>
          <p:cNvSpPr/>
          <p:nvPr/>
        </p:nvSpPr>
        <p:spPr>
          <a:xfrm>
            <a:off x="854964" y="4119371"/>
            <a:ext cx="777239" cy="603504"/>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400" b="1">
                <a:solidFill>
                  <a:srgbClr val="FFFFFF"/>
                </a:solidFill>
                <a:latin typeface="メイリオ"/>
                <a:ea typeface="メイリオ"/>
                <a:cs typeface="メイリオ"/>
              </a:rPr>
              <a:t>配信</a:t>
            </a:r>
          </a:p>
        </p:txBody>
      </p:sp>
      <p:sp>
        <p:nvSpPr>
          <p:cNvPr id="111" name="Rectangle 110"/>
          <p:cNvSpPr/>
          <p:nvPr/>
        </p:nvSpPr>
        <p:spPr>
          <a:xfrm>
            <a:off x="1632204" y="4119371"/>
            <a:ext cx="3931920" cy="603504"/>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wrap="square" lIns="64800" tIns="10800" rIns="43200" bIns="10800" rtlCol="0" anchor="ctr"/>
          <a:lstStyle/>
          <a:p>
            <a:pPr algn="l">
              <a:lnSpc>
                <a:spcPct val="110000"/>
              </a:lnSpc>
              <a:spcAft>
                <a:spcPts val="0"/>
              </a:spcAft>
            </a:pPr>
            <a:r>
              <a:rPr sz="1400" b="1">
                <a:solidFill>
                  <a:srgbClr val="1F2A5C"/>
                </a:solidFill>
                <a:latin typeface="メイリオ"/>
                <a:ea typeface="メイリオ"/>
                <a:cs typeface="メイリオ"/>
              </a:rPr>
              <a:t>予約確認・前日のお知らせ</a:t>
            </a:r>
          </a:p>
        </p:txBody>
      </p:sp>
      <p:sp>
        <p:nvSpPr>
          <p:cNvPr id="112" name="TextBox 111"/>
          <p:cNvSpPr txBox="1"/>
          <p:nvPr/>
        </p:nvSpPr>
        <p:spPr>
          <a:xfrm>
            <a:off x="854964" y="4713731"/>
            <a:ext cx="777239" cy="182880"/>
          </a:xfrm>
          <a:prstGeom prst="rect">
            <a:avLst/>
          </a:prstGeom>
          <a:noFill/>
        </p:spPr>
        <p:txBody>
          <a:bodyPr wrap="square" lIns="36000" tIns="10800" rIns="36000" bIns="10800" anchor="ctr">
            <a:spAutoFit/>
          </a:bodyPr>
          <a:lstStyle/>
          <a:p>
            <a:pPr algn="ctr">
              <a:lnSpc>
                <a:spcPct val="105000"/>
              </a:lnSpc>
              <a:spcAft>
                <a:spcPts val="200"/>
              </a:spcAft>
            </a:pPr>
            <a:r>
              <a:rPr sz="900" b="0">
                <a:solidFill>
                  <a:srgbClr val="1F2A5C"/>
                </a:solidFill>
                <a:latin typeface="メイリオ"/>
                <a:ea typeface="メイリオ"/>
                <a:cs typeface="メイリオ"/>
              </a:rPr>
              <a:t>▼</a:t>
            </a:r>
          </a:p>
        </p:txBody>
      </p:sp>
      <p:sp>
        <p:nvSpPr>
          <p:cNvPr id="113" name="Rectangle 112"/>
          <p:cNvSpPr/>
          <p:nvPr/>
        </p:nvSpPr>
        <p:spPr>
          <a:xfrm>
            <a:off x="854964" y="4887468"/>
            <a:ext cx="777239" cy="603504"/>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400" b="1">
                <a:solidFill>
                  <a:srgbClr val="FFFFFF"/>
                </a:solidFill>
                <a:latin typeface="メイリオ"/>
                <a:ea typeface="メイリオ"/>
                <a:cs typeface="メイリオ"/>
              </a:rPr>
              <a:t>ゴール</a:t>
            </a:r>
          </a:p>
        </p:txBody>
      </p:sp>
      <p:sp>
        <p:nvSpPr>
          <p:cNvPr id="114" name="Rectangle 113"/>
          <p:cNvSpPr/>
          <p:nvPr/>
        </p:nvSpPr>
        <p:spPr>
          <a:xfrm>
            <a:off x="1632204" y="4887468"/>
            <a:ext cx="3931920" cy="603504"/>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wrap="square" lIns="64800" tIns="10800" rIns="43200" bIns="10800" rtlCol="0" anchor="ctr"/>
          <a:lstStyle/>
          <a:p>
            <a:pPr algn="l">
              <a:lnSpc>
                <a:spcPct val="110000"/>
              </a:lnSpc>
              <a:spcAft>
                <a:spcPts val="0"/>
              </a:spcAft>
            </a:pPr>
            <a:r>
              <a:rPr sz="1400" b="1">
                <a:solidFill>
                  <a:srgbClr val="1F2A5C"/>
                </a:solidFill>
                <a:latin typeface="メイリオ"/>
                <a:ea typeface="メイリオ"/>
                <a:cs typeface="メイリオ"/>
              </a:rPr>
              <a:t>来店・面談・購入</a:t>
            </a:r>
          </a:p>
        </p:txBody>
      </p:sp>
      <p:sp>
        <p:nvSpPr>
          <p:cNvPr id="115" name="TextBox 114"/>
          <p:cNvSpPr txBox="1"/>
          <p:nvPr/>
        </p:nvSpPr>
        <p:spPr>
          <a:xfrm>
            <a:off x="6373368" y="1911095"/>
            <a:ext cx="3163823" cy="923544"/>
          </a:xfrm>
          <a:prstGeom prst="rect">
            <a:avLst/>
          </a:prstGeom>
          <a:noFill/>
        </p:spPr>
        <p:txBody>
          <a:bodyPr wrap="square" lIns="36000" tIns="10800" rIns="36000" bIns="10800" anchor="t">
            <a:spAutoFit/>
          </a:bodyPr>
          <a:lstStyle/>
          <a:p>
            <a:pPr algn="l">
              <a:lnSpc>
                <a:spcPct val="105000"/>
              </a:lnSpc>
              <a:spcAft>
                <a:spcPts val="200"/>
              </a:spcAft>
            </a:pPr>
            <a:r>
              <a:rPr sz="1300" b="1">
                <a:solidFill>
                  <a:srgbClr val="1F2A5C"/>
                </a:solidFill>
                <a:latin typeface="メイリオ"/>
                <a:ea typeface="メイリオ"/>
                <a:cs typeface="メイリオ"/>
              </a:rPr>
              <a:t>目的</a:t>
            </a:r>
          </a:p>
          <a:p>
            <a:pPr algn="l">
              <a:lnSpc>
                <a:spcPct val="105000"/>
              </a:lnSpc>
              <a:spcAft>
                <a:spcPts val="200"/>
              </a:spcAft>
            </a:pPr>
            <a:r>
              <a:rPr sz="1200" b="0">
                <a:solidFill>
                  <a:srgbClr val="333333"/>
                </a:solidFill>
                <a:latin typeface="メイリオ"/>
                <a:ea typeface="メイリオ"/>
                <a:cs typeface="メイリオ"/>
              </a:rPr>
              <a:t>来店・面談・購入まで進む方を増やし、</a:t>
            </a:r>
          </a:p>
          <a:p>
            <a:pPr algn="l">
              <a:lnSpc>
                <a:spcPct val="105000"/>
              </a:lnSpc>
              <a:spcAft>
                <a:spcPts val="200"/>
              </a:spcAft>
            </a:pPr>
            <a:r>
              <a:rPr sz="1200" b="0">
                <a:solidFill>
                  <a:srgbClr val="333333"/>
                </a:solidFill>
                <a:latin typeface="メイリオ"/>
                <a:ea typeface="メイリオ"/>
                <a:cs typeface="メイリオ"/>
              </a:rPr>
              <a:t>成果1件あたりの費用（CPO）を下げる</a:t>
            </a:r>
          </a:p>
        </p:txBody>
      </p:sp>
      <p:sp>
        <p:nvSpPr>
          <p:cNvPr id="116" name="TextBox 115"/>
          <p:cNvSpPr txBox="1"/>
          <p:nvPr/>
        </p:nvSpPr>
        <p:spPr>
          <a:xfrm>
            <a:off x="6373368" y="2999232"/>
            <a:ext cx="3163823" cy="923544"/>
          </a:xfrm>
          <a:prstGeom prst="rect">
            <a:avLst/>
          </a:prstGeom>
          <a:noFill/>
        </p:spPr>
        <p:txBody>
          <a:bodyPr wrap="square" lIns="36000" tIns="10800" rIns="36000" bIns="10800" anchor="t">
            <a:spAutoFit/>
          </a:bodyPr>
          <a:lstStyle/>
          <a:p>
            <a:pPr algn="l">
              <a:lnSpc>
                <a:spcPct val="105000"/>
              </a:lnSpc>
              <a:spcAft>
                <a:spcPts val="200"/>
              </a:spcAft>
            </a:pPr>
            <a:r>
              <a:rPr sz="1300" b="1">
                <a:solidFill>
                  <a:srgbClr val="1F2A5C"/>
                </a:solidFill>
                <a:latin typeface="メイリオ"/>
                <a:ea typeface="メイリオ"/>
                <a:cs typeface="メイリオ"/>
              </a:rPr>
              <a:t>対象</a:t>
            </a:r>
          </a:p>
          <a:p>
            <a:pPr algn="l">
              <a:lnSpc>
                <a:spcPct val="105000"/>
              </a:lnSpc>
              <a:spcAft>
                <a:spcPts val="200"/>
              </a:spcAft>
            </a:pPr>
            <a:r>
              <a:rPr sz="1200" b="0">
                <a:solidFill>
                  <a:srgbClr val="333333"/>
                </a:solidFill>
                <a:latin typeface="メイリオ"/>
                <a:ea typeface="メイリオ"/>
                <a:cs typeface="メイリオ"/>
              </a:rPr>
              <a:t>申込み・予約・資料請求をした方</a:t>
            </a:r>
          </a:p>
        </p:txBody>
      </p:sp>
      <p:sp>
        <p:nvSpPr>
          <p:cNvPr id="117" name="TextBox 116"/>
          <p:cNvSpPr txBox="1"/>
          <p:nvPr/>
        </p:nvSpPr>
        <p:spPr>
          <a:xfrm>
            <a:off x="6373368" y="4105655"/>
            <a:ext cx="3163823" cy="923544"/>
          </a:xfrm>
          <a:prstGeom prst="rect">
            <a:avLst/>
          </a:prstGeom>
          <a:noFill/>
        </p:spPr>
        <p:txBody>
          <a:bodyPr wrap="square" lIns="36000" tIns="10800" rIns="36000" bIns="10800" anchor="t">
            <a:spAutoFit/>
          </a:bodyPr>
          <a:lstStyle/>
          <a:p>
            <a:pPr algn="l">
              <a:lnSpc>
                <a:spcPct val="105000"/>
              </a:lnSpc>
              <a:spcAft>
                <a:spcPts val="200"/>
              </a:spcAft>
            </a:pPr>
            <a:r>
              <a:rPr sz="1300" b="1">
                <a:solidFill>
                  <a:srgbClr val="1F2A5C"/>
                </a:solidFill>
                <a:latin typeface="メイリオ"/>
                <a:ea typeface="メイリオ"/>
                <a:cs typeface="メイリオ"/>
              </a:rPr>
              <a:t>中身</a:t>
            </a:r>
          </a:p>
          <a:p>
            <a:pPr algn="l">
              <a:lnSpc>
                <a:spcPct val="105000"/>
              </a:lnSpc>
              <a:spcAft>
                <a:spcPts val="200"/>
              </a:spcAft>
            </a:pPr>
            <a:r>
              <a:rPr sz="1200" b="0">
                <a:solidFill>
                  <a:srgbClr val="333333"/>
                </a:solidFill>
                <a:latin typeface="メイリオ"/>
                <a:ea typeface="メイリオ"/>
                <a:cs typeface="メイリオ"/>
              </a:rPr>
              <a:t>アンケートで検討度を分けてタグ付け／</a:t>
            </a:r>
          </a:p>
          <a:p>
            <a:pPr algn="l">
              <a:lnSpc>
                <a:spcPct val="105000"/>
              </a:lnSpc>
              <a:spcAft>
                <a:spcPts val="200"/>
              </a:spcAft>
            </a:pPr>
            <a:r>
              <a:rPr sz="1200" b="0">
                <a:solidFill>
                  <a:srgbClr val="333333"/>
                </a:solidFill>
                <a:latin typeface="メイリオ"/>
                <a:ea typeface="メイリオ"/>
                <a:cs typeface="メイリオ"/>
              </a:rPr>
              <a:t>予約確認・前日のお知らせ／</a:t>
            </a:r>
          </a:p>
          <a:p>
            <a:pPr algn="l">
              <a:lnSpc>
                <a:spcPct val="105000"/>
              </a:lnSpc>
              <a:spcAft>
                <a:spcPts val="200"/>
              </a:spcAft>
            </a:pPr>
            <a:r>
              <a:rPr sz="1200" b="0">
                <a:solidFill>
                  <a:srgbClr val="333333"/>
                </a:solidFill>
                <a:latin typeface="メイリオ"/>
                <a:ea typeface="メイリオ"/>
                <a:cs typeface="メイリオ"/>
              </a:rPr>
              <a:t>来店・面談の前の不安を解消する配信</a:t>
            </a:r>
          </a:p>
        </p:txBody>
      </p:sp>
      <p:sp>
        <p:nvSpPr>
          <p:cNvPr id="118" name="TextBox 117"/>
          <p:cNvSpPr txBox="1"/>
          <p:nvPr/>
        </p:nvSpPr>
        <p:spPr>
          <a:xfrm>
            <a:off x="6373368" y="5230368"/>
            <a:ext cx="3163823" cy="923544"/>
          </a:xfrm>
          <a:prstGeom prst="rect">
            <a:avLst/>
          </a:prstGeom>
          <a:noFill/>
        </p:spPr>
        <p:txBody>
          <a:bodyPr wrap="square" lIns="36000" tIns="10800" rIns="36000" bIns="10800" anchor="t">
            <a:spAutoFit/>
          </a:bodyPr>
          <a:lstStyle/>
          <a:p>
            <a:pPr algn="l">
              <a:lnSpc>
                <a:spcPct val="105000"/>
              </a:lnSpc>
              <a:spcAft>
                <a:spcPts val="200"/>
              </a:spcAft>
            </a:pPr>
            <a:r>
              <a:rPr sz="1300" b="1">
                <a:solidFill>
                  <a:srgbClr val="1F2A5C"/>
                </a:solidFill>
                <a:latin typeface="メイリオ"/>
                <a:ea typeface="メイリオ"/>
                <a:cs typeface="メイリオ"/>
              </a:rPr>
              <a:t>見る数字</a:t>
            </a:r>
          </a:p>
          <a:p>
            <a:pPr algn="l">
              <a:lnSpc>
                <a:spcPct val="105000"/>
              </a:lnSpc>
              <a:spcAft>
                <a:spcPts val="200"/>
              </a:spcAft>
            </a:pPr>
            <a:r>
              <a:rPr sz="1200" b="0">
                <a:solidFill>
                  <a:srgbClr val="333333"/>
                </a:solidFill>
                <a:latin typeface="メイリオ"/>
                <a:ea typeface="メイリオ"/>
                <a:cs typeface="メイリオ"/>
              </a:rPr>
              <a:t>来店率・面談率／キャンセル率／CPO</a:t>
            </a:r>
          </a:p>
        </p:txBody>
      </p:sp>
    </p:spTree>
    <p:extLst>
      <p:ext uri="{BB962C8B-B14F-4D97-AF65-F5344CB8AC3E}">
        <p14:creationId xmlns:p14="http://schemas.microsoft.com/office/powerpoint/2010/main" val="175437821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114991-65EE-118F-9D32-76B9BC9A4EB2}"/>
            </a:ext>
          </a:extLst>
        </p:cNvPr>
        <p:cNvGrpSpPr/>
        <p:nvPr/>
      </p:nvGrpSpPr>
      <p:grpSpPr>
        <a:xfrm>
          <a:off x="0" y="0"/>
          <a:ext cx="0" cy="0"/>
          <a:chOff x="0" y="0"/>
          <a:chExt cx="0" cy="0"/>
        </a:xfrm>
      </p:grpSpPr>
      <p:sp>
        <p:nvSpPr>
          <p:cNvPr id="3" name="テキスト ボックス 47">
            <a:extLst>
              <a:ext uri="{FF2B5EF4-FFF2-40B4-BE49-F238E27FC236}">
                <a16:creationId xmlns:a16="http://schemas.microsoft.com/office/drawing/2014/main" id="{5868997F-46B4-7BA9-BC42-4A9C872CA868}"/>
              </a:ext>
            </a:extLst>
          </p:cNvPr>
          <p:cNvSpPr txBox="1">
            <a:spLocks noChangeArrowheads="1"/>
          </p:cNvSpPr>
          <p:nvPr/>
        </p:nvSpPr>
        <p:spPr bwMode="auto">
          <a:xfrm>
            <a:off x="456501"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Calibri" charset="0"/>
                <a:ea typeface="ＭＳ Ｐゴシック" charset="0"/>
                <a:cs typeface="ＭＳ Ｐゴシック" charset="0"/>
              </a:defRPr>
            </a:lvl1pPr>
            <a:lvl2pPr>
              <a:defRPr kumimoji="1" sz="2800">
                <a:solidFill>
                  <a:schemeClr val="tx1"/>
                </a:solidFill>
                <a:latin typeface="Calibri" charset="0"/>
                <a:ea typeface="ＭＳ Ｐゴシック" charset="0"/>
              </a:defRPr>
            </a:lvl2pPr>
            <a:lvl3pPr>
              <a:defRPr kumimoji="1" sz="2400">
                <a:solidFill>
                  <a:schemeClr val="tx1"/>
                </a:solidFill>
                <a:latin typeface="Calibri" charset="0"/>
                <a:ea typeface="ＭＳ Ｐゴシック" charset="0"/>
              </a:defRPr>
            </a:lvl3pPr>
            <a:lvl4pPr>
              <a:defRPr kumimoji="1" sz="2000">
                <a:solidFill>
                  <a:schemeClr val="tx1"/>
                </a:solidFill>
                <a:latin typeface="Calibri" charset="0"/>
                <a:ea typeface="ＭＳ Ｐゴシック" charset="0"/>
              </a:defRPr>
            </a:lvl4pPr>
            <a:lvl5pPr>
              <a:defRPr kumimoji="1" sz="2000">
                <a:solidFill>
                  <a:schemeClr val="tx1"/>
                </a:solidFill>
                <a:latin typeface="Calibri" charset="0"/>
                <a:ea typeface="ＭＳ Ｐゴシック" charset="0"/>
              </a:defRPr>
            </a:lvl5pPr>
            <a:lvl6pPr eaLnBrk="0" fontAlgn="base" hangingPunct="0">
              <a:spcAft>
                <a:spcPct val="0"/>
              </a:spcAft>
              <a:buFont typeface="Arial" charset="0"/>
              <a:buChar char="»"/>
              <a:defRPr kumimoji="1" sz="2000">
                <a:solidFill>
                  <a:schemeClr val="tx1"/>
                </a:solidFill>
                <a:latin typeface="Calibri" charset="0"/>
                <a:ea typeface="ＭＳ Ｐゴシック" charset="0"/>
              </a:defRPr>
            </a:lvl6pPr>
            <a:lvl7pPr eaLnBrk="0" fontAlgn="base" hangingPunct="0">
              <a:spcAft>
                <a:spcPct val="0"/>
              </a:spcAft>
              <a:buFont typeface="Arial" charset="0"/>
              <a:buChar char="»"/>
              <a:defRPr kumimoji="1" sz="2000">
                <a:solidFill>
                  <a:schemeClr val="tx1"/>
                </a:solidFill>
                <a:latin typeface="Calibri" charset="0"/>
                <a:ea typeface="ＭＳ Ｐゴシック" charset="0"/>
              </a:defRPr>
            </a:lvl7pPr>
            <a:lvl8pPr eaLnBrk="0" fontAlgn="base" hangingPunct="0">
              <a:spcAft>
                <a:spcPct val="0"/>
              </a:spcAft>
              <a:buFont typeface="Arial" charset="0"/>
              <a:buChar char="»"/>
              <a:defRPr kumimoji="1" sz="2000">
                <a:solidFill>
                  <a:schemeClr val="tx1"/>
                </a:solidFill>
                <a:latin typeface="Calibri" charset="0"/>
                <a:ea typeface="ＭＳ Ｐゴシック" charset="0"/>
              </a:defRPr>
            </a:lvl8pPr>
            <a:lvl9pPr eaLnBrk="0" fontAlgn="base" hangingPunct="0">
              <a:spcAft>
                <a:spcPct val="0"/>
              </a:spcAft>
              <a:buFont typeface="Arial" charset="0"/>
              <a:buChar char="»"/>
              <a:defRPr kumimoji="1" sz="2000">
                <a:solidFill>
                  <a:schemeClr val="tx1"/>
                </a:solidFill>
                <a:latin typeface="Calibri" charset="0"/>
                <a:ea typeface="ＭＳ Ｐゴシック" charset="0"/>
              </a:defRPr>
            </a:lvl9pPr>
          </a:lstStyle>
          <a:p>
            <a:pPr>
              <a:spcBef>
                <a:spcPct val="20000"/>
              </a:spcBef>
              <a:buFont typeface="Arial" charset="0"/>
              <a:buNone/>
            </a:pPr>
            <a:r>
              <a:rPr lang="ja-JP" altLang="en-US" sz="1600" b="1" dirty="0">
                <a:solidFill>
                  <a:srgbClr val="1F2A5C"/>
                </a:solidFill>
                <a:latin typeface="メイリオ"/>
                <a:ea typeface="メイリオ"/>
                <a:cs typeface="メイリオ"/>
              </a:rPr>
              <a:t>具体施策のイメージ</a:t>
            </a:r>
          </a:p>
        </p:txBody>
      </p:sp>
      <p:sp>
        <p:nvSpPr>
          <p:cNvPr id="5" name="正方形/長方形 4">
            <a:extLst>
              <a:ext uri="{FF2B5EF4-FFF2-40B4-BE49-F238E27FC236}">
                <a16:creationId xmlns:a16="http://schemas.microsoft.com/office/drawing/2014/main" id="{9D47B23B-3577-8555-FFA8-3F6625859F4B}"/>
              </a:ext>
            </a:extLst>
          </p:cNvPr>
          <p:cNvSpPr/>
          <p:nvPr/>
        </p:nvSpPr>
        <p:spPr>
          <a:xfrm>
            <a:off x="2659553" y="109691"/>
            <a:ext cx="1992986" cy="326496"/>
          </a:xfrm>
          <a:prstGeom prst="rect">
            <a:avLst/>
          </a:prstGeom>
          <a:solidFill>
            <a:schemeClr val="tx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solidFill>
                  <a:srgbClr val="FFFF00"/>
                </a:solidFill>
                <a:latin typeface="メイリオ" panose="020B0604030504040204" pitchFamily="50" charset="-128"/>
                <a:ea typeface="メイリオ" panose="020B0604030504040204" pitchFamily="50" charset="-128"/>
              </a:rPr>
              <a:t>休眠顧客の有効化</a:t>
            </a:r>
          </a:p>
        </p:txBody>
      </p:sp>
      <p:sp>
        <p:nvSpPr>
          <p:cNvPr id="51" name="Chevron 13">
            <a:extLst>
              <a:ext uri="{FF2B5EF4-FFF2-40B4-BE49-F238E27FC236}">
                <a16:creationId xmlns:a16="http://schemas.microsoft.com/office/drawing/2014/main" id="{D8820E1E-FCC6-0351-0262-F0A662620D7E}"/>
              </a:ext>
            </a:extLst>
          </p:cNvPr>
          <p:cNvSpPr/>
          <p:nvPr/>
        </p:nvSpPr>
        <p:spPr>
          <a:xfrm>
            <a:off x="7099344" y="795063"/>
            <a:ext cx="1482455" cy="731520"/>
          </a:xfrm>
          <a:prstGeom prst="chevron">
            <a:avLst/>
          </a:prstGeom>
          <a:solidFill>
            <a:schemeClr val="tx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59" name="Chevron 13">
            <a:extLst>
              <a:ext uri="{FF2B5EF4-FFF2-40B4-BE49-F238E27FC236}">
                <a16:creationId xmlns:a16="http://schemas.microsoft.com/office/drawing/2014/main" id="{42A824CD-AD31-00AF-D740-24B8329BA211}"/>
              </a:ext>
            </a:extLst>
          </p:cNvPr>
          <p:cNvSpPr/>
          <p:nvPr/>
        </p:nvSpPr>
        <p:spPr>
          <a:xfrm>
            <a:off x="8259306" y="795063"/>
            <a:ext cx="1482455" cy="731520"/>
          </a:xfrm>
          <a:prstGeom prst="chevron">
            <a:avLst/>
          </a:prstGeom>
          <a:solidFill>
            <a:schemeClr val="tx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67" name="テキスト ボックス 66">
            <a:extLst>
              <a:ext uri="{FF2B5EF4-FFF2-40B4-BE49-F238E27FC236}">
                <a16:creationId xmlns:a16="http://schemas.microsoft.com/office/drawing/2014/main" id="{D974AD9B-8902-BFDF-E4F0-952CE0B08B09}"/>
              </a:ext>
            </a:extLst>
          </p:cNvPr>
          <p:cNvSpPr txBox="1"/>
          <p:nvPr/>
        </p:nvSpPr>
        <p:spPr>
          <a:xfrm>
            <a:off x="7420737" y="1030016"/>
            <a:ext cx="982079"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マネタイズ</a:t>
            </a:r>
          </a:p>
        </p:txBody>
      </p:sp>
      <p:sp>
        <p:nvSpPr>
          <p:cNvPr id="75" name="テキスト ボックス 74">
            <a:extLst>
              <a:ext uri="{FF2B5EF4-FFF2-40B4-BE49-F238E27FC236}">
                <a16:creationId xmlns:a16="http://schemas.microsoft.com/office/drawing/2014/main" id="{9D71AFEB-56DC-574C-A3FE-D6ED52BB3648}"/>
              </a:ext>
            </a:extLst>
          </p:cNvPr>
          <p:cNvSpPr txBox="1"/>
          <p:nvPr/>
        </p:nvSpPr>
        <p:spPr>
          <a:xfrm>
            <a:off x="8544744" y="945378"/>
            <a:ext cx="982079"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リピート</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クロスセル</a:t>
            </a:r>
          </a:p>
        </p:txBody>
      </p:sp>
      <p:sp>
        <p:nvSpPr>
          <p:cNvPr id="93" name="Pentagon 10">
            <a:extLst>
              <a:ext uri="{FF2B5EF4-FFF2-40B4-BE49-F238E27FC236}">
                <a16:creationId xmlns:a16="http://schemas.microsoft.com/office/drawing/2014/main" id="{9C35DFC7-047F-4445-6485-A587DE019B83}"/>
              </a:ext>
            </a:extLst>
          </p:cNvPr>
          <p:cNvSpPr/>
          <p:nvPr/>
        </p:nvSpPr>
        <p:spPr>
          <a:xfrm>
            <a:off x="262895" y="795063"/>
            <a:ext cx="1360371" cy="731520"/>
          </a:xfrm>
          <a:prstGeom prst="homePlate">
            <a:avLst/>
          </a:prstGeom>
          <a:solidFill>
            <a:schemeClr val="bg1">
              <a:lumMod val="6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lang="en-US" altLang="ja-JP" sz="1300" b="1" dirty="0">
              <a:solidFill>
                <a:srgbClr val="FFFFFF"/>
              </a:solidFill>
              <a:latin typeface="メイリオ"/>
              <a:ea typeface="メイリオ"/>
              <a:cs typeface="メイリオ"/>
            </a:endParaRPr>
          </a:p>
        </p:txBody>
      </p:sp>
      <p:sp>
        <p:nvSpPr>
          <p:cNvPr id="95" name="Chevron 11">
            <a:extLst>
              <a:ext uri="{FF2B5EF4-FFF2-40B4-BE49-F238E27FC236}">
                <a16:creationId xmlns:a16="http://schemas.microsoft.com/office/drawing/2014/main" id="{37CAF156-89B2-5154-8249-AED0CB0552E6}"/>
              </a:ext>
            </a:extLst>
          </p:cNvPr>
          <p:cNvSpPr/>
          <p:nvPr/>
        </p:nvSpPr>
        <p:spPr>
          <a:xfrm>
            <a:off x="1299544" y="795063"/>
            <a:ext cx="1482455" cy="731520"/>
          </a:xfrm>
          <a:prstGeom prst="chevron">
            <a:avLst/>
          </a:prstGeom>
          <a:solidFill>
            <a:schemeClr val="accent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97" name="Chevron 11">
            <a:extLst>
              <a:ext uri="{FF2B5EF4-FFF2-40B4-BE49-F238E27FC236}">
                <a16:creationId xmlns:a16="http://schemas.microsoft.com/office/drawing/2014/main" id="{40555260-5155-C957-DF45-AA2E0C3AF2D2}"/>
              </a:ext>
            </a:extLst>
          </p:cNvPr>
          <p:cNvSpPr/>
          <p:nvPr/>
        </p:nvSpPr>
        <p:spPr>
          <a:xfrm>
            <a:off x="2459504" y="795063"/>
            <a:ext cx="1482455" cy="731520"/>
          </a:xfrm>
          <a:prstGeom prst="chevron">
            <a:avLst/>
          </a:prstGeom>
          <a:solidFill>
            <a:schemeClr val="accent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99" name="テキスト ボックス 98">
            <a:extLst>
              <a:ext uri="{FF2B5EF4-FFF2-40B4-BE49-F238E27FC236}">
                <a16:creationId xmlns:a16="http://schemas.microsoft.com/office/drawing/2014/main" id="{D2BD5B61-1C23-D5EA-685B-AB00A3A95300}"/>
              </a:ext>
            </a:extLst>
          </p:cNvPr>
          <p:cNvSpPr txBox="1"/>
          <p:nvPr/>
        </p:nvSpPr>
        <p:spPr>
          <a:xfrm>
            <a:off x="1616581" y="945379"/>
            <a:ext cx="811635"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サイト</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離脱</a:t>
            </a:r>
          </a:p>
        </p:txBody>
      </p:sp>
      <p:sp>
        <p:nvSpPr>
          <p:cNvPr id="101" name="テキスト ボックス 100">
            <a:extLst>
              <a:ext uri="{FF2B5EF4-FFF2-40B4-BE49-F238E27FC236}">
                <a16:creationId xmlns:a16="http://schemas.microsoft.com/office/drawing/2014/main" id="{ABA0293E-0A1C-8B4C-AC25-F1D65105B112}"/>
              </a:ext>
            </a:extLst>
          </p:cNvPr>
          <p:cNvSpPr txBox="1"/>
          <p:nvPr/>
        </p:nvSpPr>
        <p:spPr>
          <a:xfrm>
            <a:off x="2787863" y="1030016"/>
            <a:ext cx="811635"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育成</a:t>
            </a:r>
          </a:p>
        </p:txBody>
      </p:sp>
      <p:sp>
        <p:nvSpPr>
          <p:cNvPr id="103" name="テキスト ボックス 102">
            <a:extLst>
              <a:ext uri="{FF2B5EF4-FFF2-40B4-BE49-F238E27FC236}">
                <a16:creationId xmlns:a16="http://schemas.microsoft.com/office/drawing/2014/main" id="{4436E3F3-B650-6233-648E-9FCBA0908DC8}"/>
              </a:ext>
            </a:extLst>
          </p:cNvPr>
          <p:cNvSpPr txBox="1"/>
          <p:nvPr/>
        </p:nvSpPr>
        <p:spPr>
          <a:xfrm>
            <a:off x="445299" y="1030016"/>
            <a:ext cx="811635"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接触</a:t>
            </a:r>
          </a:p>
        </p:txBody>
      </p:sp>
      <p:sp>
        <p:nvSpPr>
          <p:cNvPr id="15" name="Chevron 12">
            <a:extLst>
              <a:ext uri="{FF2B5EF4-FFF2-40B4-BE49-F238E27FC236}">
                <a16:creationId xmlns:a16="http://schemas.microsoft.com/office/drawing/2014/main" id="{66ED729F-B19D-D81D-6F94-82B592CBD5C0}"/>
              </a:ext>
            </a:extLst>
          </p:cNvPr>
          <p:cNvSpPr/>
          <p:nvPr/>
        </p:nvSpPr>
        <p:spPr>
          <a:xfrm>
            <a:off x="361946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17" name="テキスト ボックス 16">
            <a:extLst>
              <a:ext uri="{FF2B5EF4-FFF2-40B4-BE49-F238E27FC236}">
                <a16:creationId xmlns:a16="http://schemas.microsoft.com/office/drawing/2014/main" id="{B46A1456-9D10-C361-8904-956CBC7F1CD7}"/>
              </a:ext>
            </a:extLst>
          </p:cNvPr>
          <p:cNvSpPr txBox="1"/>
          <p:nvPr/>
        </p:nvSpPr>
        <p:spPr>
          <a:xfrm>
            <a:off x="3959145" y="945379"/>
            <a:ext cx="811635"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リード</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獲得</a:t>
            </a:r>
          </a:p>
        </p:txBody>
      </p:sp>
      <p:sp>
        <p:nvSpPr>
          <p:cNvPr id="4" name="正方形/長方形 3">
            <a:extLst>
              <a:ext uri="{FF2B5EF4-FFF2-40B4-BE49-F238E27FC236}">
                <a16:creationId xmlns:a16="http://schemas.microsoft.com/office/drawing/2014/main" id="{F308840B-61C6-BA05-C93D-D818E6E827C3}"/>
              </a:ext>
            </a:extLst>
          </p:cNvPr>
          <p:cNvSpPr/>
          <p:nvPr/>
        </p:nvSpPr>
        <p:spPr>
          <a:xfrm>
            <a:off x="-15984" y="609190"/>
            <a:ext cx="9917132" cy="1034848"/>
          </a:xfrm>
          <a:prstGeom prst="rect">
            <a:avLst/>
          </a:prstGeom>
          <a:solidFill>
            <a:schemeClr val="bg1">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7" name="正方形/長方形 6">
            <a:extLst>
              <a:ext uri="{FF2B5EF4-FFF2-40B4-BE49-F238E27FC236}">
                <a16:creationId xmlns:a16="http://schemas.microsoft.com/office/drawing/2014/main" id="{6DFDE99D-1BE1-0B34-3609-FD827D701531}"/>
              </a:ext>
            </a:extLst>
          </p:cNvPr>
          <p:cNvSpPr/>
          <p:nvPr/>
        </p:nvSpPr>
        <p:spPr>
          <a:xfrm>
            <a:off x="-15984" y="645907"/>
            <a:ext cx="9930693" cy="1034848"/>
          </a:xfrm>
          <a:prstGeom prst="rect">
            <a:avLst/>
          </a:prstGeom>
          <a:solidFill>
            <a:schemeClr val="bg1">
              <a:lumMod val="95000"/>
              <a:alpha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9" name="Chevron 12">
            <a:extLst>
              <a:ext uri="{FF2B5EF4-FFF2-40B4-BE49-F238E27FC236}">
                <a16:creationId xmlns:a16="http://schemas.microsoft.com/office/drawing/2014/main" id="{1EE7C547-FD59-69A9-89BE-65E5F3370324}"/>
              </a:ext>
            </a:extLst>
          </p:cNvPr>
          <p:cNvSpPr/>
          <p:nvPr/>
        </p:nvSpPr>
        <p:spPr>
          <a:xfrm>
            <a:off x="593938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12" name="テキスト ボックス 11">
            <a:extLst>
              <a:ext uri="{FF2B5EF4-FFF2-40B4-BE49-F238E27FC236}">
                <a16:creationId xmlns:a16="http://schemas.microsoft.com/office/drawing/2014/main" id="{BB4C9F68-E568-903C-F9CF-8C2C3C5BF6C3}"/>
              </a:ext>
            </a:extLst>
          </p:cNvPr>
          <p:cNvSpPr txBox="1"/>
          <p:nvPr/>
        </p:nvSpPr>
        <p:spPr>
          <a:xfrm>
            <a:off x="6301709" y="945379"/>
            <a:ext cx="811635" cy="430887"/>
          </a:xfrm>
          <a:prstGeom prst="rect">
            <a:avLst/>
          </a:prstGeom>
          <a:solidFill>
            <a:schemeClr val="accent1">
              <a:lumMod val="75000"/>
            </a:schemeClr>
          </a:solid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リード</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再育成</a:t>
            </a:r>
          </a:p>
        </p:txBody>
      </p:sp>
      <p:sp>
        <p:nvSpPr>
          <p:cNvPr id="16" name="Chevron 11">
            <a:extLst>
              <a:ext uri="{FF2B5EF4-FFF2-40B4-BE49-F238E27FC236}">
                <a16:creationId xmlns:a16="http://schemas.microsoft.com/office/drawing/2014/main" id="{2047273C-15BE-5CA7-505C-5A86165CEAE9}"/>
              </a:ext>
            </a:extLst>
          </p:cNvPr>
          <p:cNvSpPr/>
          <p:nvPr/>
        </p:nvSpPr>
        <p:spPr>
          <a:xfrm>
            <a:off x="477942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20" name="テキスト ボックス 19">
            <a:extLst>
              <a:ext uri="{FF2B5EF4-FFF2-40B4-BE49-F238E27FC236}">
                <a16:creationId xmlns:a16="http://schemas.microsoft.com/office/drawing/2014/main" id="{201F0B06-F741-FC93-4675-CFD629658555}"/>
              </a:ext>
            </a:extLst>
          </p:cNvPr>
          <p:cNvSpPr txBox="1"/>
          <p:nvPr/>
        </p:nvSpPr>
        <p:spPr>
          <a:xfrm>
            <a:off x="5130427" y="945378"/>
            <a:ext cx="811635" cy="430887"/>
          </a:xfrm>
          <a:prstGeom prst="rect">
            <a:avLst/>
          </a:prstGeom>
          <a:solidFill>
            <a:schemeClr val="accent1">
              <a:lumMod val="75000"/>
            </a:schemeClr>
          </a:solid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有効</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リード化</a:t>
            </a:r>
          </a:p>
        </p:txBody>
      </p:sp>
      <p:sp>
        <p:nvSpPr>
          <p:cNvPr id="6" name="四角形: 角を丸くする 5">
            <a:extLst>
              <a:ext uri="{FF2B5EF4-FFF2-40B4-BE49-F238E27FC236}">
                <a16:creationId xmlns:a16="http://schemas.microsoft.com/office/drawing/2014/main" id="{EB887024-2BBA-BA65-7274-B6C19830B375}"/>
              </a:ext>
            </a:extLst>
          </p:cNvPr>
          <p:cNvSpPr/>
          <p:nvPr/>
        </p:nvSpPr>
        <p:spPr>
          <a:xfrm>
            <a:off x="262895" y="1854926"/>
            <a:ext cx="5885356" cy="435716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四角形: 角を丸くする 9">
            <a:extLst>
              <a:ext uri="{FF2B5EF4-FFF2-40B4-BE49-F238E27FC236}">
                <a16:creationId xmlns:a16="http://schemas.microsoft.com/office/drawing/2014/main" id="{EF085179-F637-C078-F968-9B03AFE0C41E}"/>
              </a:ext>
            </a:extLst>
          </p:cNvPr>
          <p:cNvSpPr/>
          <p:nvPr/>
        </p:nvSpPr>
        <p:spPr>
          <a:xfrm>
            <a:off x="6261879" y="1854926"/>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四角形: 角を丸くする 12">
            <a:extLst>
              <a:ext uri="{FF2B5EF4-FFF2-40B4-BE49-F238E27FC236}">
                <a16:creationId xmlns:a16="http://schemas.microsoft.com/office/drawing/2014/main" id="{D54D3EDD-30AC-24FB-8D5A-5513D1411FF3}"/>
              </a:ext>
            </a:extLst>
          </p:cNvPr>
          <p:cNvSpPr/>
          <p:nvPr/>
        </p:nvSpPr>
        <p:spPr>
          <a:xfrm>
            <a:off x="6261879" y="2947852"/>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 name="四角形: 角を丸くする 17">
            <a:extLst>
              <a:ext uri="{FF2B5EF4-FFF2-40B4-BE49-F238E27FC236}">
                <a16:creationId xmlns:a16="http://schemas.microsoft.com/office/drawing/2014/main" id="{A1BBBE87-752F-09D4-9E13-13A9F878286D}"/>
              </a:ext>
            </a:extLst>
          </p:cNvPr>
          <p:cNvSpPr/>
          <p:nvPr/>
        </p:nvSpPr>
        <p:spPr>
          <a:xfrm>
            <a:off x="6261879" y="4049186"/>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 name="四角形: 角を丸くする 20">
            <a:extLst>
              <a:ext uri="{FF2B5EF4-FFF2-40B4-BE49-F238E27FC236}">
                <a16:creationId xmlns:a16="http://schemas.microsoft.com/office/drawing/2014/main" id="{D870C123-133D-9CF1-6418-078AA9217B26}"/>
              </a:ext>
            </a:extLst>
          </p:cNvPr>
          <p:cNvSpPr/>
          <p:nvPr/>
        </p:nvSpPr>
        <p:spPr>
          <a:xfrm>
            <a:off x="6278273" y="5177245"/>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4" name="Rectangle 103"/>
          <p:cNvSpPr/>
          <p:nvPr/>
        </p:nvSpPr>
        <p:spPr>
          <a:xfrm>
            <a:off x="854964" y="2583179"/>
            <a:ext cx="777239" cy="603504"/>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400" b="1">
                <a:solidFill>
                  <a:srgbClr val="FFFFFF"/>
                </a:solidFill>
                <a:latin typeface="メイリオ"/>
                <a:ea typeface="メイリオ"/>
                <a:cs typeface="メイリオ"/>
              </a:rPr>
              <a:t>入口</a:t>
            </a:r>
          </a:p>
        </p:txBody>
      </p:sp>
      <p:sp>
        <p:nvSpPr>
          <p:cNvPr id="105" name="Rectangle 104"/>
          <p:cNvSpPr/>
          <p:nvPr/>
        </p:nvSpPr>
        <p:spPr>
          <a:xfrm>
            <a:off x="1632204" y="2583179"/>
            <a:ext cx="3931920" cy="603504"/>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wrap="square" lIns="64800" tIns="10800" rIns="43200" bIns="10800" rtlCol="0" anchor="ctr"/>
          <a:lstStyle/>
          <a:p>
            <a:pPr algn="l">
              <a:lnSpc>
                <a:spcPct val="110000"/>
              </a:lnSpc>
              <a:spcAft>
                <a:spcPts val="0"/>
              </a:spcAft>
            </a:pPr>
            <a:r>
              <a:rPr sz="1400" b="1">
                <a:solidFill>
                  <a:srgbClr val="1F2A5C"/>
                </a:solidFill>
                <a:latin typeface="メイリオ"/>
                <a:ea typeface="メイリオ"/>
                <a:cs typeface="メイリオ"/>
              </a:rPr>
              <a:t>一定期間、反応のない友だち</a:t>
            </a:r>
          </a:p>
          <a:p>
            <a:pPr algn="l">
              <a:lnSpc>
                <a:spcPct val="110000"/>
              </a:lnSpc>
              <a:spcAft>
                <a:spcPts val="0"/>
              </a:spcAft>
            </a:pPr>
            <a:r>
              <a:rPr sz="1050" b="0">
                <a:solidFill>
                  <a:srgbClr val="333333"/>
                </a:solidFill>
                <a:latin typeface="メイリオ"/>
                <a:ea typeface="メイリオ"/>
                <a:cs typeface="メイリオ"/>
              </a:rPr>
              <a:t>開封・クリックなし</a:t>
            </a:r>
          </a:p>
        </p:txBody>
      </p:sp>
      <p:sp>
        <p:nvSpPr>
          <p:cNvPr id="106" name="TextBox 105"/>
          <p:cNvSpPr txBox="1"/>
          <p:nvPr/>
        </p:nvSpPr>
        <p:spPr>
          <a:xfrm>
            <a:off x="854964" y="3177539"/>
            <a:ext cx="777239" cy="182880"/>
          </a:xfrm>
          <a:prstGeom prst="rect">
            <a:avLst/>
          </a:prstGeom>
          <a:noFill/>
        </p:spPr>
        <p:txBody>
          <a:bodyPr wrap="square" lIns="36000" tIns="10800" rIns="36000" bIns="10800" anchor="ctr">
            <a:spAutoFit/>
          </a:bodyPr>
          <a:lstStyle/>
          <a:p>
            <a:pPr algn="ctr">
              <a:lnSpc>
                <a:spcPct val="105000"/>
              </a:lnSpc>
              <a:spcAft>
                <a:spcPts val="200"/>
              </a:spcAft>
            </a:pPr>
            <a:r>
              <a:rPr sz="900" b="0">
                <a:solidFill>
                  <a:srgbClr val="1F2A5C"/>
                </a:solidFill>
                <a:latin typeface="メイリオ"/>
                <a:ea typeface="メイリオ"/>
                <a:cs typeface="メイリオ"/>
              </a:rPr>
              <a:t>▼</a:t>
            </a:r>
          </a:p>
        </p:txBody>
      </p:sp>
      <p:sp>
        <p:nvSpPr>
          <p:cNvPr id="107" name="Rectangle 106"/>
          <p:cNvSpPr/>
          <p:nvPr/>
        </p:nvSpPr>
        <p:spPr>
          <a:xfrm>
            <a:off x="854964" y="3351275"/>
            <a:ext cx="777239" cy="603504"/>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400" b="1">
                <a:solidFill>
                  <a:srgbClr val="FFFFFF"/>
                </a:solidFill>
                <a:latin typeface="メイリオ"/>
                <a:ea typeface="メイリオ"/>
                <a:cs typeface="メイリオ"/>
              </a:rPr>
              <a:t>LINE</a:t>
            </a:r>
          </a:p>
        </p:txBody>
      </p:sp>
      <p:sp>
        <p:nvSpPr>
          <p:cNvPr id="108" name="Rectangle 107"/>
          <p:cNvSpPr/>
          <p:nvPr/>
        </p:nvSpPr>
        <p:spPr>
          <a:xfrm>
            <a:off x="1632204" y="3351275"/>
            <a:ext cx="3931920" cy="603504"/>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wrap="square" lIns="64800" tIns="10800" rIns="43200" bIns="10800" rtlCol="0" anchor="ctr"/>
          <a:lstStyle/>
          <a:p>
            <a:pPr algn="l">
              <a:lnSpc>
                <a:spcPct val="110000"/>
              </a:lnSpc>
              <a:spcAft>
                <a:spcPts val="0"/>
              </a:spcAft>
            </a:pPr>
            <a:r>
              <a:rPr sz="1400" b="1">
                <a:solidFill>
                  <a:srgbClr val="1F2A5C"/>
                </a:solidFill>
                <a:latin typeface="メイリオ"/>
                <a:ea typeface="メイリオ"/>
                <a:cs typeface="メイリオ"/>
              </a:rPr>
              <a:t>タグで反応のない方を絞り込む</a:t>
            </a:r>
          </a:p>
        </p:txBody>
      </p:sp>
      <p:sp>
        <p:nvSpPr>
          <p:cNvPr id="109" name="TextBox 108"/>
          <p:cNvSpPr txBox="1"/>
          <p:nvPr/>
        </p:nvSpPr>
        <p:spPr>
          <a:xfrm>
            <a:off x="854964" y="3945635"/>
            <a:ext cx="777239" cy="182880"/>
          </a:xfrm>
          <a:prstGeom prst="rect">
            <a:avLst/>
          </a:prstGeom>
          <a:noFill/>
        </p:spPr>
        <p:txBody>
          <a:bodyPr wrap="square" lIns="36000" tIns="10800" rIns="36000" bIns="10800" anchor="ctr">
            <a:spAutoFit/>
          </a:bodyPr>
          <a:lstStyle/>
          <a:p>
            <a:pPr algn="ctr">
              <a:lnSpc>
                <a:spcPct val="105000"/>
              </a:lnSpc>
              <a:spcAft>
                <a:spcPts val="200"/>
              </a:spcAft>
            </a:pPr>
            <a:r>
              <a:rPr sz="900" b="0">
                <a:solidFill>
                  <a:srgbClr val="1F2A5C"/>
                </a:solidFill>
                <a:latin typeface="メイリオ"/>
                <a:ea typeface="メイリオ"/>
                <a:cs typeface="メイリオ"/>
              </a:rPr>
              <a:t>▼</a:t>
            </a:r>
          </a:p>
        </p:txBody>
      </p:sp>
      <p:sp>
        <p:nvSpPr>
          <p:cNvPr id="110" name="Rectangle 109"/>
          <p:cNvSpPr/>
          <p:nvPr/>
        </p:nvSpPr>
        <p:spPr>
          <a:xfrm>
            <a:off x="854964" y="4119371"/>
            <a:ext cx="777239" cy="603504"/>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400" b="1">
                <a:solidFill>
                  <a:srgbClr val="FFFFFF"/>
                </a:solidFill>
                <a:latin typeface="メイリオ"/>
                <a:ea typeface="メイリオ"/>
                <a:cs typeface="メイリオ"/>
              </a:rPr>
              <a:t>配信</a:t>
            </a:r>
          </a:p>
        </p:txBody>
      </p:sp>
      <p:sp>
        <p:nvSpPr>
          <p:cNvPr id="111" name="Rectangle 110"/>
          <p:cNvSpPr/>
          <p:nvPr/>
        </p:nvSpPr>
        <p:spPr>
          <a:xfrm>
            <a:off x="1632204" y="4119371"/>
            <a:ext cx="3931920" cy="603504"/>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wrap="square" lIns="64800" tIns="10800" rIns="43200" bIns="10800" rtlCol="0" anchor="ctr"/>
          <a:lstStyle/>
          <a:p>
            <a:pPr algn="l">
              <a:lnSpc>
                <a:spcPct val="110000"/>
              </a:lnSpc>
              <a:spcAft>
                <a:spcPts val="0"/>
              </a:spcAft>
            </a:pPr>
            <a:r>
              <a:rPr sz="1400" b="1">
                <a:solidFill>
                  <a:srgbClr val="1F2A5C"/>
                </a:solidFill>
                <a:latin typeface="メイリオ"/>
                <a:ea typeface="メイリオ"/>
                <a:cs typeface="メイリオ"/>
              </a:rPr>
              <a:t>再アプローチの企画配信</a:t>
            </a:r>
          </a:p>
          <a:p>
            <a:pPr algn="l">
              <a:lnSpc>
                <a:spcPct val="110000"/>
              </a:lnSpc>
              <a:spcAft>
                <a:spcPts val="0"/>
              </a:spcAft>
            </a:pPr>
            <a:r>
              <a:rPr sz="1050" b="0">
                <a:solidFill>
                  <a:srgbClr val="333333"/>
                </a:solidFill>
                <a:latin typeface="メイリオ"/>
                <a:ea typeface="メイリオ"/>
                <a:cs typeface="メイリオ"/>
              </a:rPr>
              <a:t>検討が再び高まる時期・新しい情報・限定の特典</a:t>
            </a:r>
          </a:p>
        </p:txBody>
      </p:sp>
      <p:sp>
        <p:nvSpPr>
          <p:cNvPr id="112" name="TextBox 111"/>
          <p:cNvSpPr txBox="1"/>
          <p:nvPr/>
        </p:nvSpPr>
        <p:spPr>
          <a:xfrm>
            <a:off x="854964" y="4713731"/>
            <a:ext cx="777239" cy="182880"/>
          </a:xfrm>
          <a:prstGeom prst="rect">
            <a:avLst/>
          </a:prstGeom>
          <a:noFill/>
        </p:spPr>
        <p:txBody>
          <a:bodyPr wrap="square" lIns="36000" tIns="10800" rIns="36000" bIns="10800" anchor="ctr">
            <a:spAutoFit/>
          </a:bodyPr>
          <a:lstStyle/>
          <a:p>
            <a:pPr algn="ctr">
              <a:lnSpc>
                <a:spcPct val="105000"/>
              </a:lnSpc>
              <a:spcAft>
                <a:spcPts val="200"/>
              </a:spcAft>
            </a:pPr>
            <a:r>
              <a:rPr sz="900" b="0">
                <a:solidFill>
                  <a:srgbClr val="1F2A5C"/>
                </a:solidFill>
                <a:latin typeface="メイリオ"/>
                <a:ea typeface="メイリオ"/>
                <a:cs typeface="メイリオ"/>
              </a:rPr>
              <a:t>▼</a:t>
            </a:r>
          </a:p>
        </p:txBody>
      </p:sp>
      <p:sp>
        <p:nvSpPr>
          <p:cNvPr id="113" name="Rectangle 112"/>
          <p:cNvSpPr/>
          <p:nvPr/>
        </p:nvSpPr>
        <p:spPr>
          <a:xfrm>
            <a:off x="854964" y="4887468"/>
            <a:ext cx="777239" cy="603504"/>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400" b="1">
                <a:solidFill>
                  <a:srgbClr val="FFFFFF"/>
                </a:solidFill>
                <a:latin typeface="メイリオ"/>
                <a:ea typeface="メイリオ"/>
                <a:cs typeface="メイリオ"/>
              </a:rPr>
              <a:t>ゴール</a:t>
            </a:r>
          </a:p>
        </p:txBody>
      </p:sp>
      <p:sp>
        <p:nvSpPr>
          <p:cNvPr id="114" name="Rectangle 113"/>
          <p:cNvSpPr/>
          <p:nvPr/>
        </p:nvSpPr>
        <p:spPr>
          <a:xfrm>
            <a:off x="1632204" y="4887468"/>
            <a:ext cx="3931920" cy="603504"/>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wrap="square" lIns="64800" tIns="10800" rIns="43200" bIns="10800" rtlCol="0" anchor="ctr"/>
          <a:lstStyle/>
          <a:p>
            <a:pPr algn="l">
              <a:lnSpc>
                <a:spcPct val="110000"/>
              </a:lnSpc>
              <a:spcAft>
                <a:spcPts val="0"/>
              </a:spcAft>
            </a:pPr>
            <a:r>
              <a:rPr sz="1400" b="1">
                <a:solidFill>
                  <a:srgbClr val="1F2A5C"/>
                </a:solidFill>
                <a:latin typeface="メイリオ"/>
                <a:ea typeface="メイリオ"/>
                <a:cs typeface="メイリオ"/>
              </a:rPr>
              <a:t>再び申込み・予約（CV）へ</a:t>
            </a:r>
          </a:p>
        </p:txBody>
      </p:sp>
      <p:sp>
        <p:nvSpPr>
          <p:cNvPr id="115" name="TextBox 114"/>
          <p:cNvSpPr txBox="1"/>
          <p:nvPr/>
        </p:nvSpPr>
        <p:spPr>
          <a:xfrm>
            <a:off x="6373368" y="1911095"/>
            <a:ext cx="3163823" cy="923544"/>
          </a:xfrm>
          <a:prstGeom prst="rect">
            <a:avLst/>
          </a:prstGeom>
          <a:noFill/>
        </p:spPr>
        <p:txBody>
          <a:bodyPr wrap="square" lIns="36000" tIns="10800" rIns="36000" bIns="10800" anchor="t">
            <a:spAutoFit/>
          </a:bodyPr>
          <a:lstStyle/>
          <a:p>
            <a:pPr algn="l">
              <a:lnSpc>
                <a:spcPct val="105000"/>
              </a:lnSpc>
              <a:spcAft>
                <a:spcPts val="200"/>
              </a:spcAft>
            </a:pPr>
            <a:r>
              <a:rPr sz="1300" b="1">
                <a:solidFill>
                  <a:srgbClr val="1F2A5C"/>
                </a:solidFill>
                <a:latin typeface="メイリオ"/>
                <a:ea typeface="メイリオ"/>
                <a:cs typeface="メイリオ"/>
              </a:rPr>
              <a:t>目的</a:t>
            </a:r>
          </a:p>
          <a:p>
            <a:pPr algn="l">
              <a:lnSpc>
                <a:spcPct val="105000"/>
              </a:lnSpc>
              <a:spcAft>
                <a:spcPts val="200"/>
              </a:spcAft>
            </a:pPr>
            <a:r>
              <a:rPr sz="1200" b="0">
                <a:solidFill>
                  <a:srgbClr val="333333"/>
                </a:solidFill>
                <a:latin typeface="メイリオ"/>
                <a:ea typeface="メイリオ"/>
                <a:cs typeface="メイリオ"/>
              </a:rPr>
              <a:t>反応が止まった友だちを掘り起こし、</a:t>
            </a:r>
          </a:p>
          <a:p>
            <a:pPr algn="l">
              <a:lnSpc>
                <a:spcPct val="105000"/>
              </a:lnSpc>
              <a:spcAft>
                <a:spcPts val="200"/>
              </a:spcAft>
            </a:pPr>
            <a:r>
              <a:rPr sz="1200" b="0">
                <a:solidFill>
                  <a:srgbClr val="333333"/>
                </a:solidFill>
                <a:latin typeface="メイリオ"/>
                <a:ea typeface="メイリオ"/>
                <a:cs typeface="メイリオ"/>
              </a:rPr>
              <a:t>もう一度検討の対象に戻す</a:t>
            </a:r>
          </a:p>
        </p:txBody>
      </p:sp>
      <p:sp>
        <p:nvSpPr>
          <p:cNvPr id="116" name="TextBox 115"/>
          <p:cNvSpPr txBox="1"/>
          <p:nvPr/>
        </p:nvSpPr>
        <p:spPr>
          <a:xfrm>
            <a:off x="6373368" y="2999232"/>
            <a:ext cx="3163823" cy="923544"/>
          </a:xfrm>
          <a:prstGeom prst="rect">
            <a:avLst/>
          </a:prstGeom>
          <a:noFill/>
        </p:spPr>
        <p:txBody>
          <a:bodyPr wrap="square" lIns="36000" tIns="10800" rIns="36000" bIns="10800" anchor="t">
            <a:spAutoFit/>
          </a:bodyPr>
          <a:lstStyle/>
          <a:p>
            <a:pPr algn="l">
              <a:lnSpc>
                <a:spcPct val="105000"/>
              </a:lnSpc>
              <a:spcAft>
                <a:spcPts val="200"/>
              </a:spcAft>
            </a:pPr>
            <a:r>
              <a:rPr sz="1300" b="1">
                <a:solidFill>
                  <a:srgbClr val="1F2A5C"/>
                </a:solidFill>
                <a:latin typeface="メイリオ"/>
                <a:ea typeface="メイリオ"/>
                <a:cs typeface="メイリオ"/>
              </a:rPr>
              <a:t>対象</a:t>
            </a:r>
          </a:p>
          <a:p>
            <a:pPr algn="l">
              <a:lnSpc>
                <a:spcPct val="105000"/>
              </a:lnSpc>
              <a:spcAft>
                <a:spcPts val="200"/>
              </a:spcAft>
            </a:pPr>
            <a:r>
              <a:rPr sz="1200" b="0">
                <a:solidFill>
                  <a:srgbClr val="333333"/>
                </a:solidFill>
                <a:latin typeface="メイリオ"/>
                <a:ea typeface="メイリオ"/>
                <a:cs typeface="メイリオ"/>
              </a:rPr>
              <a:t>追加から15日を過ぎ、反応のない方／</a:t>
            </a:r>
          </a:p>
          <a:p>
            <a:pPr algn="l">
              <a:lnSpc>
                <a:spcPct val="105000"/>
              </a:lnSpc>
              <a:spcAft>
                <a:spcPts val="200"/>
              </a:spcAft>
            </a:pPr>
            <a:r>
              <a:rPr sz="1200" b="0">
                <a:solidFill>
                  <a:srgbClr val="333333"/>
                </a:solidFill>
                <a:latin typeface="メイリオ"/>
                <a:ea typeface="メイリオ"/>
                <a:cs typeface="メイリオ"/>
              </a:rPr>
              <a:t>申込みまで進まなかった方</a:t>
            </a:r>
          </a:p>
        </p:txBody>
      </p:sp>
      <p:sp>
        <p:nvSpPr>
          <p:cNvPr id="117" name="TextBox 116"/>
          <p:cNvSpPr txBox="1"/>
          <p:nvPr/>
        </p:nvSpPr>
        <p:spPr>
          <a:xfrm>
            <a:off x="6373368" y="4105655"/>
            <a:ext cx="3163823" cy="923544"/>
          </a:xfrm>
          <a:prstGeom prst="rect">
            <a:avLst/>
          </a:prstGeom>
          <a:noFill/>
        </p:spPr>
        <p:txBody>
          <a:bodyPr wrap="square" lIns="36000" tIns="10800" rIns="36000" bIns="10800" anchor="t">
            <a:spAutoFit/>
          </a:bodyPr>
          <a:lstStyle/>
          <a:p>
            <a:pPr algn="l">
              <a:lnSpc>
                <a:spcPct val="105000"/>
              </a:lnSpc>
              <a:spcAft>
                <a:spcPts val="200"/>
              </a:spcAft>
            </a:pPr>
            <a:r>
              <a:rPr sz="1300" b="1">
                <a:solidFill>
                  <a:srgbClr val="1F2A5C"/>
                </a:solidFill>
                <a:latin typeface="メイリオ"/>
                <a:ea typeface="メイリオ"/>
                <a:cs typeface="メイリオ"/>
              </a:rPr>
              <a:t>中身</a:t>
            </a:r>
          </a:p>
          <a:p>
            <a:pPr algn="l">
              <a:lnSpc>
                <a:spcPct val="105000"/>
              </a:lnSpc>
              <a:spcAft>
                <a:spcPts val="200"/>
              </a:spcAft>
            </a:pPr>
            <a:r>
              <a:rPr sz="1200" b="0">
                <a:solidFill>
                  <a:srgbClr val="333333"/>
                </a:solidFill>
                <a:latin typeface="メイリオ"/>
                <a:ea typeface="メイリオ"/>
                <a:cs typeface="メイリオ"/>
              </a:rPr>
              <a:t>反応の有無でタグを分けて配信／</a:t>
            </a:r>
          </a:p>
          <a:p>
            <a:pPr algn="l">
              <a:lnSpc>
                <a:spcPct val="105000"/>
              </a:lnSpc>
              <a:spcAft>
                <a:spcPts val="200"/>
              </a:spcAft>
            </a:pPr>
            <a:r>
              <a:rPr sz="1200" b="0">
                <a:solidFill>
                  <a:srgbClr val="333333"/>
                </a:solidFill>
                <a:latin typeface="メイリオ"/>
                <a:ea typeface="メイリオ"/>
                <a:cs typeface="メイリオ"/>
              </a:rPr>
              <a:t>検索が再び増える時期の企画配信／</a:t>
            </a:r>
          </a:p>
          <a:p>
            <a:pPr algn="l">
              <a:lnSpc>
                <a:spcPct val="105000"/>
              </a:lnSpc>
              <a:spcAft>
                <a:spcPts val="200"/>
              </a:spcAft>
            </a:pPr>
            <a:r>
              <a:rPr sz="1200" b="0">
                <a:solidFill>
                  <a:srgbClr val="333333"/>
                </a:solidFill>
                <a:latin typeface="メイリオ"/>
                <a:ea typeface="メイリオ"/>
                <a:cs typeface="メイリオ"/>
              </a:rPr>
              <a:t>アンケートで今の状況を聞き直す</a:t>
            </a:r>
          </a:p>
        </p:txBody>
      </p:sp>
      <p:sp>
        <p:nvSpPr>
          <p:cNvPr id="118" name="TextBox 117"/>
          <p:cNvSpPr txBox="1"/>
          <p:nvPr/>
        </p:nvSpPr>
        <p:spPr>
          <a:xfrm>
            <a:off x="6373368" y="5230368"/>
            <a:ext cx="3163823" cy="923544"/>
          </a:xfrm>
          <a:prstGeom prst="rect">
            <a:avLst/>
          </a:prstGeom>
          <a:noFill/>
        </p:spPr>
        <p:txBody>
          <a:bodyPr wrap="square" lIns="36000" tIns="10800" rIns="36000" bIns="10800" anchor="t">
            <a:spAutoFit/>
          </a:bodyPr>
          <a:lstStyle/>
          <a:p>
            <a:pPr algn="l">
              <a:lnSpc>
                <a:spcPct val="105000"/>
              </a:lnSpc>
              <a:spcAft>
                <a:spcPts val="200"/>
              </a:spcAft>
            </a:pPr>
            <a:r>
              <a:rPr sz="1300" b="1">
                <a:solidFill>
                  <a:srgbClr val="1F2A5C"/>
                </a:solidFill>
                <a:latin typeface="メイリオ"/>
                <a:ea typeface="メイリオ"/>
                <a:cs typeface="メイリオ"/>
              </a:rPr>
              <a:t>見る数字</a:t>
            </a:r>
          </a:p>
          <a:p>
            <a:pPr algn="l">
              <a:lnSpc>
                <a:spcPct val="105000"/>
              </a:lnSpc>
              <a:spcAft>
                <a:spcPts val="200"/>
              </a:spcAft>
            </a:pPr>
            <a:r>
              <a:rPr sz="1200" b="0">
                <a:solidFill>
                  <a:srgbClr val="333333"/>
                </a:solidFill>
                <a:latin typeface="メイリオ"/>
                <a:ea typeface="メイリオ"/>
                <a:cs typeface="メイリオ"/>
              </a:rPr>
              <a:t>再開封率／再クリック率／休眠からのCV数</a:t>
            </a:r>
          </a:p>
        </p:txBody>
      </p:sp>
    </p:spTree>
    <p:extLst>
      <p:ext uri="{BB962C8B-B14F-4D97-AF65-F5344CB8AC3E}">
        <p14:creationId xmlns:p14="http://schemas.microsoft.com/office/powerpoint/2010/main" val="173468786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E874BE-BFC0-419C-8849-B9CF0276384A}"/>
            </a:ext>
          </a:extLst>
        </p:cNvPr>
        <p:cNvGrpSpPr/>
        <p:nvPr/>
      </p:nvGrpSpPr>
      <p:grpSpPr>
        <a:xfrm>
          <a:off x="0" y="0"/>
          <a:ext cx="0" cy="0"/>
          <a:chOff x="0" y="0"/>
          <a:chExt cx="0" cy="0"/>
        </a:xfrm>
      </p:grpSpPr>
      <p:sp>
        <p:nvSpPr>
          <p:cNvPr id="3" name="テキスト ボックス 47">
            <a:extLst>
              <a:ext uri="{FF2B5EF4-FFF2-40B4-BE49-F238E27FC236}">
                <a16:creationId xmlns:a16="http://schemas.microsoft.com/office/drawing/2014/main" id="{557E5823-79CB-79CF-DD07-21851266A6FB}"/>
              </a:ext>
            </a:extLst>
          </p:cNvPr>
          <p:cNvSpPr txBox="1">
            <a:spLocks noChangeArrowheads="1"/>
          </p:cNvSpPr>
          <p:nvPr/>
        </p:nvSpPr>
        <p:spPr bwMode="auto">
          <a:xfrm>
            <a:off x="456501"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Calibri" charset="0"/>
                <a:ea typeface="ＭＳ Ｐゴシック" charset="0"/>
                <a:cs typeface="ＭＳ Ｐゴシック" charset="0"/>
              </a:defRPr>
            </a:lvl1pPr>
            <a:lvl2pPr>
              <a:defRPr kumimoji="1" sz="2800">
                <a:solidFill>
                  <a:schemeClr val="tx1"/>
                </a:solidFill>
                <a:latin typeface="Calibri" charset="0"/>
                <a:ea typeface="ＭＳ Ｐゴシック" charset="0"/>
              </a:defRPr>
            </a:lvl2pPr>
            <a:lvl3pPr>
              <a:defRPr kumimoji="1" sz="2400">
                <a:solidFill>
                  <a:schemeClr val="tx1"/>
                </a:solidFill>
                <a:latin typeface="Calibri" charset="0"/>
                <a:ea typeface="ＭＳ Ｐゴシック" charset="0"/>
              </a:defRPr>
            </a:lvl3pPr>
            <a:lvl4pPr>
              <a:defRPr kumimoji="1" sz="2000">
                <a:solidFill>
                  <a:schemeClr val="tx1"/>
                </a:solidFill>
                <a:latin typeface="Calibri" charset="0"/>
                <a:ea typeface="ＭＳ Ｐゴシック" charset="0"/>
              </a:defRPr>
            </a:lvl4pPr>
            <a:lvl5pPr>
              <a:defRPr kumimoji="1" sz="2000">
                <a:solidFill>
                  <a:schemeClr val="tx1"/>
                </a:solidFill>
                <a:latin typeface="Calibri" charset="0"/>
                <a:ea typeface="ＭＳ Ｐゴシック" charset="0"/>
              </a:defRPr>
            </a:lvl5pPr>
            <a:lvl6pPr eaLnBrk="0" fontAlgn="base" hangingPunct="0">
              <a:spcAft>
                <a:spcPct val="0"/>
              </a:spcAft>
              <a:buFont typeface="Arial" charset="0"/>
              <a:buChar char="»"/>
              <a:defRPr kumimoji="1" sz="2000">
                <a:solidFill>
                  <a:schemeClr val="tx1"/>
                </a:solidFill>
                <a:latin typeface="Calibri" charset="0"/>
                <a:ea typeface="ＭＳ Ｐゴシック" charset="0"/>
              </a:defRPr>
            </a:lvl6pPr>
            <a:lvl7pPr eaLnBrk="0" fontAlgn="base" hangingPunct="0">
              <a:spcAft>
                <a:spcPct val="0"/>
              </a:spcAft>
              <a:buFont typeface="Arial" charset="0"/>
              <a:buChar char="»"/>
              <a:defRPr kumimoji="1" sz="2000">
                <a:solidFill>
                  <a:schemeClr val="tx1"/>
                </a:solidFill>
                <a:latin typeface="Calibri" charset="0"/>
                <a:ea typeface="ＭＳ Ｐゴシック" charset="0"/>
              </a:defRPr>
            </a:lvl7pPr>
            <a:lvl8pPr eaLnBrk="0" fontAlgn="base" hangingPunct="0">
              <a:spcAft>
                <a:spcPct val="0"/>
              </a:spcAft>
              <a:buFont typeface="Arial" charset="0"/>
              <a:buChar char="»"/>
              <a:defRPr kumimoji="1" sz="2000">
                <a:solidFill>
                  <a:schemeClr val="tx1"/>
                </a:solidFill>
                <a:latin typeface="Calibri" charset="0"/>
                <a:ea typeface="ＭＳ Ｐゴシック" charset="0"/>
              </a:defRPr>
            </a:lvl8pPr>
            <a:lvl9pPr eaLnBrk="0" fontAlgn="base" hangingPunct="0">
              <a:spcAft>
                <a:spcPct val="0"/>
              </a:spcAft>
              <a:buFont typeface="Arial" charset="0"/>
              <a:buChar char="»"/>
              <a:defRPr kumimoji="1" sz="2000">
                <a:solidFill>
                  <a:schemeClr val="tx1"/>
                </a:solidFill>
                <a:latin typeface="Calibri" charset="0"/>
                <a:ea typeface="ＭＳ Ｐゴシック" charset="0"/>
              </a:defRPr>
            </a:lvl9pPr>
          </a:lstStyle>
          <a:p>
            <a:pPr>
              <a:spcBef>
                <a:spcPct val="20000"/>
              </a:spcBef>
              <a:buFont typeface="Arial" charset="0"/>
              <a:buNone/>
            </a:pPr>
            <a:r>
              <a:rPr lang="ja-JP" altLang="en-US" sz="1600" b="1" dirty="0">
                <a:solidFill>
                  <a:srgbClr val="1F2A5C"/>
                </a:solidFill>
                <a:latin typeface="メイリオ"/>
                <a:ea typeface="メイリオ"/>
                <a:cs typeface="メイリオ"/>
              </a:rPr>
              <a:t>具体施策のイメージ</a:t>
            </a:r>
          </a:p>
        </p:txBody>
      </p:sp>
      <p:sp>
        <p:nvSpPr>
          <p:cNvPr id="5" name="正方形/長方形 4">
            <a:extLst>
              <a:ext uri="{FF2B5EF4-FFF2-40B4-BE49-F238E27FC236}">
                <a16:creationId xmlns:a16="http://schemas.microsoft.com/office/drawing/2014/main" id="{1E195F02-0BE8-1161-7792-37774CB37C27}"/>
              </a:ext>
            </a:extLst>
          </p:cNvPr>
          <p:cNvSpPr/>
          <p:nvPr/>
        </p:nvSpPr>
        <p:spPr>
          <a:xfrm>
            <a:off x="2659553" y="109691"/>
            <a:ext cx="1992986" cy="326496"/>
          </a:xfrm>
          <a:prstGeom prst="rect">
            <a:avLst/>
          </a:prstGeom>
          <a:solidFill>
            <a:schemeClr val="tx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solidFill>
                  <a:srgbClr val="FFFF00"/>
                </a:solidFill>
                <a:latin typeface="メイリオ" panose="020B0604030504040204" pitchFamily="50" charset="-128"/>
                <a:ea typeface="メイリオ" panose="020B0604030504040204" pitchFamily="50" charset="-128"/>
              </a:rPr>
              <a:t>マネタイズ最大化</a:t>
            </a:r>
          </a:p>
        </p:txBody>
      </p:sp>
      <p:sp>
        <p:nvSpPr>
          <p:cNvPr id="59" name="Chevron 13">
            <a:extLst>
              <a:ext uri="{FF2B5EF4-FFF2-40B4-BE49-F238E27FC236}">
                <a16:creationId xmlns:a16="http://schemas.microsoft.com/office/drawing/2014/main" id="{89590842-2A09-C403-C1A7-D0632594BF04}"/>
              </a:ext>
            </a:extLst>
          </p:cNvPr>
          <p:cNvSpPr/>
          <p:nvPr/>
        </p:nvSpPr>
        <p:spPr>
          <a:xfrm>
            <a:off x="8259306" y="795063"/>
            <a:ext cx="1482455" cy="731520"/>
          </a:xfrm>
          <a:prstGeom prst="chevron">
            <a:avLst/>
          </a:prstGeom>
          <a:solidFill>
            <a:schemeClr val="tx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75" name="テキスト ボックス 74">
            <a:extLst>
              <a:ext uri="{FF2B5EF4-FFF2-40B4-BE49-F238E27FC236}">
                <a16:creationId xmlns:a16="http://schemas.microsoft.com/office/drawing/2014/main" id="{12D9BFE2-CB63-417C-A20D-B9821D0107A5}"/>
              </a:ext>
            </a:extLst>
          </p:cNvPr>
          <p:cNvSpPr txBox="1"/>
          <p:nvPr/>
        </p:nvSpPr>
        <p:spPr>
          <a:xfrm>
            <a:off x="8544744" y="945378"/>
            <a:ext cx="982079"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リピート</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クロスセル</a:t>
            </a:r>
          </a:p>
        </p:txBody>
      </p:sp>
      <p:sp>
        <p:nvSpPr>
          <p:cNvPr id="93" name="Pentagon 10">
            <a:extLst>
              <a:ext uri="{FF2B5EF4-FFF2-40B4-BE49-F238E27FC236}">
                <a16:creationId xmlns:a16="http://schemas.microsoft.com/office/drawing/2014/main" id="{91C9FB43-DBA3-EA85-05DF-AE178836A78D}"/>
              </a:ext>
            </a:extLst>
          </p:cNvPr>
          <p:cNvSpPr/>
          <p:nvPr/>
        </p:nvSpPr>
        <p:spPr>
          <a:xfrm>
            <a:off x="262895" y="795063"/>
            <a:ext cx="1360371" cy="731520"/>
          </a:xfrm>
          <a:prstGeom prst="homePlate">
            <a:avLst/>
          </a:prstGeom>
          <a:solidFill>
            <a:schemeClr val="bg1">
              <a:lumMod val="6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lang="en-US" altLang="ja-JP" sz="1300" b="1" dirty="0">
              <a:solidFill>
                <a:srgbClr val="FFFFFF"/>
              </a:solidFill>
              <a:latin typeface="メイリオ"/>
              <a:ea typeface="メイリオ"/>
              <a:cs typeface="メイリオ"/>
            </a:endParaRPr>
          </a:p>
        </p:txBody>
      </p:sp>
      <p:sp>
        <p:nvSpPr>
          <p:cNvPr id="95" name="Chevron 11">
            <a:extLst>
              <a:ext uri="{FF2B5EF4-FFF2-40B4-BE49-F238E27FC236}">
                <a16:creationId xmlns:a16="http://schemas.microsoft.com/office/drawing/2014/main" id="{F9CF7B55-ABF2-9927-A557-D4F3EF2DF295}"/>
              </a:ext>
            </a:extLst>
          </p:cNvPr>
          <p:cNvSpPr/>
          <p:nvPr/>
        </p:nvSpPr>
        <p:spPr>
          <a:xfrm>
            <a:off x="1299544" y="795063"/>
            <a:ext cx="1482455" cy="731520"/>
          </a:xfrm>
          <a:prstGeom prst="chevron">
            <a:avLst/>
          </a:prstGeom>
          <a:solidFill>
            <a:schemeClr val="accent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97" name="Chevron 11">
            <a:extLst>
              <a:ext uri="{FF2B5EF4-FFF2-40B4-BE49-F238E27FC236}">
                <a16:creationId xmlns:a16="http://schemas.microsoft.com/office/drawing/2014/main" id="{203D985A-07CB-6B2B-4A38-1E9BA4CDA422}"/>
              </a:ext>
            </a:extLst>
          </p:cNvPr>
          <p:cNvSpPr/>
          <p:nvPr/>
        </p:nvSpPr>
        <p:spPr>
          <a:xfrm>
            <a:off x="2459504" y="795063"/>
            <a:ext cx="1482455" cy="731520"/>
          </a:xfrm>
          <a:prstGeom prst="chevron">
            <a:avLst/>
          </a:prstGeom>
          <a:solidFill>
            <a:schemeClr val="accent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99" name="テキスト ボックス 98">
            <a:extLst>
              <a:ext uri="{FF2B5EF4-FFF2-40B4-BE49-F238E27FC236}">
                <a16:creationId xmlns:a16="http://schemas.microsoft.com/office/drawing/2014/main" id="{B3868298-612A-E7EA-3955-A46C112AF68C}"/>
              </a:ext>
            </a:extLst>
          </p:cNvPr>
          <p:cNvSpPr txBox="1"/>
          <p:nvPr/>
        </p:nvSpPr>
        <p:spPr>
          <a:xfrm>
            <a:off x="1616581" y="945379"/>
            <a:ext cx="811635"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サイト</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離脱</a:t>
            </a:r>
          </a:p>
        </p:txBody>
      </p:sp>
      <p:sp>
        <p:nvSpPr>
          <p:cNvPr id="101" name="テキスト ボックス 100">
            <a:extLst>
              <a:ext uri="{FF2B5EF4-FFF2-40B4-BE49-F238E27FC236}">
                <a16:creationId xmlns:a16="http://schemas.microsoft.com/office/drawing/2014/main" id="{B1C1BD77-0A03-135D-FA57-5809267D4770}"/>
              </a:ext>
            </a:extLst>
          </p:cNvPr>
          <p:cNvSpPr txBox="1"/>
          <p:nvPr/>
        </p:nvSpPr>
        <p:spPr>
          <a:xfrm>
            <a:off x="2787863" y="1030016"/>
            <a:ext cx="811635"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育成</a:t>
            </a:r>
          </a:p>
        </p:txBody>
      </p:sp>
      <p:sp>
        <p:nvSpPr>
          <p:cNvPr id="103" name="テキスト ボックス 102">
            <a:extLst>
              <a:ext uri="{FF2B5EF4-FFF2-40B4-BE49-F238E27FC236}">
                <a16:creationId xmlns:a16="http://schemas.microsoft.com/office/drawing/2014/main" id="{4C224908-2FD0-1514-BACD-7F6558F09AA2}"/>
              </a:ext>
            </a:extLst>
          </p:cNvPr>
          <p:cNvSpPr txBox="1"/>
          <p:nvPr/>
        </p:nvSpPr>
        <p:spPr>
          <a:xfrm>
            <a:off x="445299" y="1030016"/>
            <a:ext cx="811635"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接触</a:t>
            </a:r>
          </a:p>
        </p:txBody>
      </p:sp>
      <p:sp>
        <p:nvSpPr>
          <p:cNvPr id="15" name="Chevron 12">
            <a:extLst>
              <a:ext uri="{FF2B5EF4-FFF2-40B4-BE49-F238E27FC236}">
                <a16:creationId xmlns:a16="http://schemas.microsoft.com/office/drawing/2014/main" id="{8FE0D0D7-6CDA-A5D9-5092-FCB405EBD3A3}"/>
              </a:ext>
            </a:extLst>
          </p:cNvPr>
          <p:cNvSpPr/>
          <p:nvPr/>
        </p:nvSpPr>
        <p:spPr>
          <a:xfrm>
            <a:off x="361946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17" name="テキスト ボックス 16">
            <a:extLst>
              <a:ext uri="{FF2B5EF4-FFF2-40B4-BE49-F238E27FC236}">
                <a16:creationId xmlns:a16="http://schemas.microsoft.com/office/drawing/2014/main" id="{12488706-D231-32C7-26F9-D9CFE1BA5E6C}"/>
              </a:ext>
            </a:extLst>
          </p:cNvPr>
          <p:cNvSpPr txBox="1"/>
          <p:nvPr/>
        </p:nvSpPr>
        <p:spPr>
          <a:xfrm>
            <a:off x="3959145" y="945379"/>
            <a:ext cx="811635"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リード</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獲得</a:t>
            </a:r>
          </a:p>
        </p:txBody>
      </p:sp>
      <p:sp>
        <p:nvSpPr>
          <p:cNvPr id="16" name="Chevron 11">
            <a:extLst>
              <a:ext uri="{FF2B5EF4-FFF2-40B4-BE49-F238E27FC236}">
                <a16:creationId xmlns:a16="http://schemas.microsoft.com/office/drawing/2014/main" id="{0AE256B2-7E32-A02D-D53F-FF495523BBAD}"/>
              </a:ext>
            </a:extLst>
          </p:cNvPr>
          <p:cNvSpPr/>
          <p:nvPr/>
        </p:nvSpPr>
        <p:spPr>
          <a:xfrm>
            <a:off x="477942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20" name="テキスト ボックス 19">
            <a:extLst>
              <a:ext uri="{FF2B5EF4-FFF2-40B4-BE49-F238E27FC236}">
                <a16:creationId xmlns:a16="http://schemas.microsoft.com/office/drawing/2014/main" id="{EE4FEEB2-BD75-74F5-892E-BB00B34A19C1}"/>
              </a:ext>
            </a:extLst>
          </p:cNvPr>
          <p:cNvSpPr txBox="1"/>
          <p:nvPr/>
        </p:nvSpPr>
        <p:spPr>
          <a:xfrm>
            <a:off x="5130427" y="945378"/>
            <a:ext cx="811635" cy="430887"/>
          </a:xfrm>
          <a:prstGeom prst="rect">
            <a:avLst/>
          </a:prstGeom>
          <a:solidFill>
            <a:schemeClr val="accent1">
              <a:lumMod val="75000"/>
            </a:schemeClr>
          </a:solid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有効</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リード化</a:t>
            </a:r>
          </a:p>
        </p:txBody>
      </p:sp>
      <p:sp>
        <p:nvSpPr>
          <p:cNvPr id="6" name="正方形/長方形 5">
            <a:extLst>
              <a:ext uri="{FF2B5EF4-FFF2-40B4-BE49-F238E27FC236}">
                <a16:creationId xmlns:a16="http://schemas.microsoft.com/office/drawing/2014/main" id="{2B757B0D-5672-2DBF-99A3-B8B407F70FEA}"/>
              </a:ext>
            </a:extLst>
          </p:cNvPr>
          <p:cNvSpPr/>
          <p:nvPr/>
        </p:nvSpPr>
        <p:spPr>
          <a:xfrm>
            <a:off x="-15984" y="609190"/>
            <a:ext cx="9917132" cy="1034848"/>
          </a:xfrm>
          <a:prstGeom prst="rect">
            <a:avLst/>
          </a:prstGeom>
          <a:solidFill>
            <a:schemeClr val="bg1">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10" name="正方形/長方形 9">
            <a:extLst>
              <a:ext uri="{FF2B5EF4-FFF2-40B4-BE49-F238E27FC236}">
                <a16:creationId xmlns:a16="http://schemas.microsoft.com/office/drawing/2014/main" id="{BCB263E2-823E-545D-4E23-6526BDDF63F7}"/>
              </a:ext>
            </a:extLst>
          </p:cNvPr>
          <p:cNvSpPr/>
          <p:nvPr/>
        </p:nvSpPr>
        <p:spPr>
          <a:xfrm>
            <a:off x="-15984" y="645907"/>
            <a:ext cx="9930693" cy="1034848"/>
          </a:xfrm>
          <a:prstGeom prst="rect">
            <a:avLst/>
          </a:prstGeom>
          <a:solidFill>
            <a:schemeClr val="bg1">
              <a:lumMod val="95000"/>
              <a:alpha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13" name="Chevron 13">
            <a:extLst>
              <a:ext uri="{FF2B5EF4-FFF2-40B4-BE49-F238E27FC236}">
                <a16:creationId xmlns:a16="http://schemas.microsoft.com/office/drawing/2014/main" id="{E71A1805-4F7A-19B6-8CAB-65DAB13A046F}"/>
              </a:ext>
            </a:extLst>
          </p:cNvPr>
          <p:cNvSpPr/>
          <p:nvPr/>
        </p:nvSpPr>
        <p:spPr>
          <a:xfrm>
            <a:off x="7099344" y="795063"/>
            <a:ext cx="1482455" cy="731520"/>
          </a:xfrm>
          <a:prstGeom prst="chevron">
            <a:avLst/>
          </a:prstGeom>
          <a:solidFill>
            <a:schemeClr val="tx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18" name="テキスト ボックス 17">
            <a:extLst>
              <a:ext uri="{FF2B5EF4-FFF2-40B4-BE49-F238E27FC236}">
                <a16:creationId xmlns:a16="http://schemas.microsoft.com/office/drawing/2014/main" id="{A0A85333-5E90-D48C-7292-FEE54783258F}"/>
              </a:ext>
            </a:extLst>
          </p:cNvPr>
          <p:cNvSpPr txBox="1"/>
          <p:nvPr/>
        </p:nvSpPr>
        <p:spPr>
          <a:xfrm>
            <a:off x="7420737" y="1030016"/>
            <a:ext cx="982079"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マネタイズ</a:t>
            </a:r>
          </a:p>
        </p:txBody>
      </p:sp>
      <p:sp>
        <p:nvSpPr>
          <p:cNvPr id="21" name="Chevron 12">
            <a:extLst>
              <a:ext uri="{FF2B5EF4-FFF2-40B4-BE49-F238E27FC236}">
                <a16:creationId xmlns:a16="http://schemas.microsoft.com/office/drawing/2014/main" id="{1783606B-DD54-1208-7E4B-9811ECD1BB55}"/>
              </a:ext>
            </a:extLst>
          </p:cNvPr>
          <p:cNvSpPr/>
          <p:nvPr/>
        </p:nvSpPr>
        <p:spPr>
          <a:xfrm>
            <a:off x="593938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23" name="テキスト ボックス 22">
            <a:extLst>
              <a:ext uri="{FF2B5EF4-FFF2-40B4-BE49-F238E27FC236}">
                <a16:creationId xmlns:a16="http://schemas.microsoft.com/office/drawing/2014/main" id="{92CDBEB6-422E-01E9-0FE6-2116B0ADE9E3}"/>
              </a:ext>
            </a:extLst>
          </p:cNvPr>
          <p:cNvSpPr txBox="1"/>
          <p:nvPr/>
        </p:nvSpPr>
        <p:spPr>
          <a:xfrm>
            <a:off x="6301709" y="945379"/>
            <a:ext cx="811635" cy="430887"/>
          </a:xfrm>
          <a:prstGeom prst="rect">
            <a:avLst/>
          </a:prstGeom>
          <a:solidFill>
            <a:schemeClr val="accent1">
              <a:lumMod val="75000"/>
            </a:schemeClr>
          </a:solid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リード</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再育成</a:t>
            </a:r>
          </a:p>
        </p:txBody>
      </p:sp>
      <p:sp>
        <p:nvSpPr>
          <p:cNvPr id="4" name="四角形: 角を丸くする 3">
            <a:extLst>
              <a:ext uri="{FF2B5EF4-FFF2-40B4-BE49-F238E27FC236}">
                <a16:creationId xmlns:a16="http://schemas.microsoft.com/office/drawing/2014/main" id="{923FB0AD-5795-4174-961E-6636BB6435AD}"/>
              </a:ext>
            </a:extLst>
          </p:cNvPr>
          <p:cNvSpPr/>
          <p:nvPr/>
        </p:nvSpPr>
        <p:spPr>
          <a:xfrm>
            <a:off x="262895" y="1854926"/>
            <a:ext cx="5885356" cy="435716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四角形: 角を丸くする 7">
            <a:extLst>
              <a:ext uri="{FF2B5EF4-FFF2-40B4-BE49-F238E27FC236}">
                <a16:creationId xmlns:a16="http://schemas.microsoft.com/office/drawing/2014/main" id="{06A126BE-8D6C-B00B-4224-DD59072FF345}"/>
              </a:ext>
            </a:extLst>
          </p:cNvPr>
          <p:cNvSpPr/>
          <p:nvPr/>
        </p:nvSpPr>
        <p:spPr>
          <a:xfrm>
            <a:off x="6261879" y="1854926"/>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四角形: 角を丸くする 10">
            <a:extLst>
              <a:ext uri="{FF2B5EF4-FFF2-40B4-BE49-F238E27FC236}">
                <a16:creationId xmlns:a16="http://schemas.microsoft.com/office/drawing/2014/main" id="{AF4D2433-0552-CC23-D4A0-E5C59759DDB1}"/>
              </a:ext>
            </a:extLst>
          </p:cNvPr>
          <p:cNvSpPr/>
          <p:nvPr/>
        </p:nvSpPr>
        <p:spPr>
          <a:xfrm>
            <a:off x="6261879" y="2947852"/>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 name="四角形: 角を丸くする 13">
            <a:extLst>
              <a:ext uri="{FF2B5EF4-FFF2-40B4-BE49-F238E27FC236}">
                <a16:creationId xmlns:a16="http://schemas.microsoft.com/office/drawing/2014/main" id="{367937DA-B7CA-9F47-D5F6-7CB5CBBCCBBD}"/>
              </a:ext>
            </a:extLst>
          </p:cNvPr>
          <p:cNvSpPr/>
          <p:nvPr/>
        </p:nvSpPr>
        <p:spPr>
          <a:xfrm>
            <a:off x="6261879" y="4049186"/>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四角形: 角を丸くする 21">
            <a:extLst>
              <a:ext uri="{FF2B5EF4-FFF2-40B4-BE49-F238E27FC236}">
                <a16:creationId xmlns:a16="http://schemas.microsoft.com/office/drawing/2014/main" id="{E2E40065-F00C-4873-7138-F81C1E4B9727}"/>
              </a:ext>
            </a:extLst>
          </p:cNvPr>
          <p:cNvSpPr/>
          <p:nvPr/>
        </p:nvSpPr>
        <p:spPr>
          <a:xfrm>
            <a:off x="6278273" y="5177245"/>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4" name="Rectangle 103"/>
          <p:cNvSpPr/>
          <p:nvPr/>
        </p:nvSpPr>
        <p:spPr>
          <a:xfrm>
            <a:off x="854964" y="2583179"/>
            <a:ext cx="777239" cy="603504"/>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400" b="1">
                <a:solidFill>
                  <a:srgbClr val="FFFFFF"/>
                </a:solidFill>
                <a:latin typeface="メイリオ"/>
                <a:ea typeface="メイリオ"/>
                <a:cs typeface="メイリオ"/>
              </a:rPr>
              <a:t>入口</a:t>
            </a:r>
          </a:p>
        </p:txBody>
      </p:sp>
      <p:sp>
        <p:nvSpPr>
          <p:cNvPr id="105" name="Rectangle 104"/>
          <p:cNvSpPr/>
          <p:nvPr/>
        </p:nvSpPr>
        <p:spPr>
          <a:xfrm>
            <a:off x="1632204" y="2583179"/>
            <a:ext cx="3931920" cy="603504"/>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wrap="square" lIns="64800" tIns="10800" rIns="43200" bIns="10800" rtlCol="0" anchor="ctr"/>
          <a:lstStyle/>
          <a:p>
            <a:pPr algn="l">
              <a:lnSpc>
                <a:spcPct val="110000"/>
              </a:lnSpc>
              <a:spcAft>
                <a:spcPts val="0"/>
              </a:spcAft>
            </a:pPr>
            <a:r>
              <a:rPr sz="1400" b="1">
                <a:solidFill>
                  <a:srgbClr val="1F2A5C"/>
                </a:solidFill>
                <a:latin typeface="メイリオ"/>
                <a:ea typeface="メイリオ"/>
                <a:cs typeface="メイリオ"/>
              </a:rPr>
              <a:t>申込み・予約・検討中の方</a:t>
            </a:r>
          </a:p>
        </p:txBody>
      </p:sp>
      <p:sp>
        <p:nvSpPr>
          <p:cNvPr id="106" name="TextBox 105"/>
          <p:cNvSpPr txBox="1"/>
          <p:nvPr/>
        </p:nvSpPr>
        <p:spPr>
          <a:xfrm>
            <a:off x="854964" y="3177539"/>
            <a:ext cx="777239" cy="182880"/>
          </a:xfrm>
          <a:prstGeom prst="rect">
            <a:avLst/>
          </a:prstGeom>
          <a:noFill/>
        </p:spPr>
        <p:txBody>
          <a:bodyPr wrap="square" lIns="36000" tIns="10800" rIns="36000" bIns="10800" anchor="ctr">
            <a:spAutoFit/>
          </a:bodyPr>
          <a:lstStyle/>
          <a:p>
            <a:pPr algn="ctr">
              <a:lnSpc>
                <a:spcPct val="105000"/>
              </a:lnSpc>
              <a:spcAft>
                <a:spcPts val="200"/>
              </a:spcAft>
            </a:pPr>
            <a:r>
              <a:rPr sz="900" b="0">
                <a:solidFill>
                  <a:srgbClr val="1F2A5C"/>
                </a:solidFill>
                <a:latin typeface="メイリオ"/>
                <a:ea typeface="メイリオ"/>
                <a:cs typeface="メイリオ"/>
              </a:rPr>
              <a:t>▼</a:t>
            </a:r>
          </a:p>
        </p:txBody>
      </p:sp>
      <p:sp>
        <p:nvSpPr>
          <p:cNvPr id="107" name="Rectangle 106"/>
          <p:cNvSpPr/>
          <p:nvPr/>
        </p:nvSpPr>
        <p:spPr>
          <a:xfrm>
            <a:off x="854964" y="3351275"/>
            <a:ext cx="777239" cy="603504"/>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400" b="1">
                <a:solidFill>
                  <a:srgbClr val="FFFFFF"/>
                </a:solidFill>
                <a:latin typeface="メイリオ"/>
                <a:ea typeface="メイリオ"/>
                <a:cs typeface="メイリオ"/>
              </a:rPr>
              <a:t>LINE</a:t>
            </a:r>
          </a:p>
        </p:txBody>
      </p:sp>
      <p:sp>
        <p:nvSpPr>
          <p:cNvPr id="108" name="Rectangle 107"/>
          <p:cNvSpPr/>
          <p:nvPr/>
        </p:nvSpPr>
        <p:spPr>
          <a:xfrm>
            <a:off x="1632204" y="3351275"/>
            <a:ext cx="3931920" cy="603504"/>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wrap="square" lIns="64800" tIns="10800" rIns="43200" bIns="10800" rtlCol="0" anchor="ctr"/>
          <a:lstStyle/>
          <a:p>
            <a:pPr algn="l">
              <a:lnSpc>
                <a:spcPct val="110000"/>
              </a:lnSpc>
              <a:spcAft>
                <a:spcPts val="0"/>
              </a:spcAft>
            </a:pPr>
            <a:r>
              <a:rPr sz="1400" b="1">
                <a:solidFill>
                  <a:srgbClr val="1F2A5C"/>
                </a:solidFill>
                <a:latin typeface="メイリオ"/>
                <a:ea typeface="メイリオ"/>
                <a:cs typeface="メイリオ"/>
              </a:rPr>
              <a:t>アンケート・タグで検討度を分ける</a:t>
            </a:r>
          </a:p>
        </p:txBody>
      </p:sp>
      <p:sp>
        <p:nvSpPr>
          <p:cNvPr id="109" name="TextBox 108"/>
          <p:cNvSpPr txBox="1"/>
          <p:nvPr/>
        </p:nvSpPr>
        <p:spPr>
          <a:xfrm>
            <a:off x="854964" y="3945635"/>
            <a:ext cx="777239" cy="182880"/>
          </a:xfrm>
          <a:prstGeom prst="rect">
            <a:avLst/>
          </a:prstGeom>
          <a:noFill/>
        </p:spPr>
        <p:txBody>
          <a:bodyPr wrap="square" lIns="36000" tIns="10800" rIns="36000" bIns="10800" anchor="ctr">
            <a:spAutoFit/>
          </a:bodyPr>
          <a:lstStyle/>
          <a:p>
            <a:pPr algn="ctr">
              <a:lnSpc>
                <a:spcPct val="105000"/>
              </a:lnSpc>
              <a:spcAft>
                <a:spcPts val="200"/>
              </a:spcAft>
            </a:pPr>
            <a:r>
              <a:rPr sz="900" b="0">
                <a:solidFill>
                  <a:srgbClr val="1F2A5C"/>
                </a:solidFill>
                <a:latin typeface="メイリオ"/>
                <a:ea typeface="メイリオ"/>
                <a:cs typeface="メイリオ"/>
              </a:rPr>
              <a:t>▼</a:t>
            </a:r>
          </a:p>
        </p:txBody>
      </p:sp>
      <p:sp>
        <p:nvSpPr>
          <p:cNvPr id="110" name="Rectangle 109"/>
          <p:cNvSpPr/>
          <p:nvPr/>
        </p:nvSpPr>
        <p:spPr>
          <a:xfrm>
            <a:off x="854964" y="4119371"/>
            <a:ext cx="777239" cy="603504"/>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400" b="1">
                <a:solidFill>
                  <a:srgbClr val="FFFFFF"/>
                </a:solidFill>
                <a:latin typeface="メイリオ"/>
                <a:ea typeface="メイリオ"/>
                <a:cs typeface="メイリオ"/>
              </a:rPr>
              <a:t>配信</a:t>
            </a:r>
          </a:p>
        </p:txBody>
      </p:sp>
      <p:sp>
        <p:nvSpPr>
          <p:cNvPr id="111" name="Rectangle 110"/>
          <p:cNvSpPr/>
          <p:nvPr/>
        </p:nvSpPr>
        <p:spPr>
          <a:xfrm>
            <a:off x="1632204" y="4119371"/>
            <a:ext cx="3931920" cy="603504"/>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wrap="square" lIns="64800" tIns="10800" rIns="43200" bIns="10800" rtlCol="0" anchor="ctr"/>
          <a:lstStyle/>
          <a:p>
            <a:pPr algn="l">
              <a:lnSpc>
                <a:spcPct val="110000"/>
              </a:lnSpc>
              <a:spcAft>
                <a:spcPts val="0"/>
              </a:spcAft>
            </a:pPr>
            <a:r>
              <a:rPr sz="1400" b="1">
                <a:solidFill>
                  <a:srgbClr val="1F2A5C"/>
                </a:solidFill>
                <a:latin typeface="メイリオ"/>
                <a:ea typeface="メイリオ"/>
                <a:cs typeface="メイリオ"/>
              </a:rPr>
              <a:t>購入・契約の後押しの配信</a:t>
            </a:r>
          </a:p>
          <a:p>
            <a:pPr algn="l">
              <a:lnSpc>
                <a:spcPct val="110000"/>
              </a:lnSpc>
              <a:spcAft>
                <a:spcPts val="0"/>
              </a:spcAft>
            </a:pPr>
            <a:r>
              <a:rPr sz="1050" b="0">
                <a:solidFill>
                  <a:srgbClr val="333333"/>
                </a:solidFill>
                <a:latin typeface="メイリオ"/>
                <a:ea typeface="メイリオ"/>
                <a:cs typeface="メイリオ"/>
              </a:rPr>
              <a:t>比較のポイント・費用・よくある質問</a:t>
            </a:r>
          </a:p>
        </p:txBody>
      </p:sp>
      <p:sp>
        <p:nvSpPr>
          <p:cNvPr id="112" name="TextBox 111"/>
          <p:cNvSpPr txBox="1"/>
          <p:nvPr/>
        </p:nvSpPr>
        <p:spPr>
          <a:xfrm>
            <a:off x="854964" y="4713731"/>
            <a:ext cx="777239" cy="182880"/>
          </a:xfrm>
          <a:prstGeom prst="rect">
            <a:avLst/>
          </a:prstGeom>
          <a:noFill/>
        </p:spPr>
        <p:txBody>
          <a:bodyPr wrap="square" lIns="36000" tIns="10800" rIns="36000" bIns="10800" anchor="ctr">
            <a:spAutoFit/>
          </a:bodyPr>
          <a:lstStyle/>
          <a:p>
            <a:pPr algn="ctr">
              <a:lnSpc>
                <a:spcPct val="105000"/>
              </a:lnSpc>
              <a:spcAft>
                <a:spcPts val="200"/>
              </a:spcAft>
            </a:pPr>
            <a:r>
              <a:rPr sz="900" b="0">
                <a:solidFill>
                  <a:srgbClr val="1F2A5C"/>
                </a:solidFill>
                <a:latin typeface="メイリオ"/>
                <a:ea typeface="メイリオ"/>
                <a:cs typeface="メイリオ"/>
              </a:rPr>
              <a:t>▼</a:t>
            </a:r>
          </a:p>
        </p:txBody>
      </p:sp>
      <p:sp>
        <p:nvSpPr>
          <p:cNvPr id="113" name="Rectangle 112"/>
          <p:cNvSpPr/>
          <p:nvPr/>
        </p:nvSpPr>
        <p:spPr>
          <a:xfrm>
            <a:off x="854964" y="4887468"/>
            <a:ext cx="777239" cy="603504"/>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400" b="1">
                <a:solidFill>
                  <a:srgbClr val="FFFFFF"/>
                </a:solidFill>
                <a:latin typeface="メイリオ"/>
                <a:ea typeface="メイリオ"/>
                <a:cs typeface="メイリオ"/>
              </a:rPr>
              <a:t>ゴール</a:t>
            </a:r>
          </a:p>
        </p:txBody>
      </p:sp>
      <p:sp>
        <p:nvSpPr>
          <p:cNvPr id="114" name="Rectangle 113"/>
          <p:cNvSpPr/>
          <p:nvPr/>
        </p:nvSpPr>
        <p:spPr>
          <a:xfrm>
            <a:off x="1632204" y="4887468"/>
            <a:ext cx="3931920" cy="603504"/>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wrap="square" lIns="64800" tIns="10800" rIns="43200" bIns="10800" rtlCol="0" anchor="ctr"/>
          <a:lstStyle/>
          <a:p>
            <a:pPr algn="l">
              <a:lnSpc>
                <a:spcPct val="110000"/>
              </a:lnSpc>
              <a:spcAft>
                <a:spcPts val="0"/>
              </a:spcAft>
            </a:pPr>
            <a:r>
              <a:rPr sz="1400" b="1">
                <a:solidFill>
                  <a:srgbClr val="1F2A5C"/>
                </a:solidFill>
                <a:latin typeface="メイリオ"/>
                <a:ea typeface="メイリオ"/>
                <a:cs typeface="メイリオ"/>
              </a:rPr>
              <a:t>購入・契約</a:t>
            </a:r>
          </a:p>
        </p:txBody>
      </p:sp>
      <p:sp>
        <p:nvSpPr>
          <p:cNvPr id="115" name="TextBox 114"/>
          <p:cNvSpPr txBox="1"/>
          <p:nvPr/>
        </p:nvSpPr>
        <p:spPr>
          <a:xfrm>
            <a:off x="6373368" y="1911095"/>
            <a:ext cx="3163823" cy="923544"/>
          </a:xfrm>
          <a:prstGeom prst="rect">
            <a:avLst/>
          </a:prstGeom>
          <a:noFill/>
        </p:spPr>
        <p:txBody>
          <a:bodyPr wrap="square" lIns="36000" tIns="10800" rIns="36000" bIns="10800" anchor="t">
            <a:spAutoFit/>
          </a:bodyPr>
          <a:lstStyle/>
          <a:p>
            <a:pPr algn="l">
              <a:lnSpc>
                <a:spcPct val="105000"/>
              </a:lnSpc>
              <a:spcAft>
                <a:spcPts val="200"/>
              </a:spcAft>
            </a:pPr>
            <a:r>
              <a:rPr sz="1300" b="1">
                <a:solidFill>
                  <a:srgbClr val="1F2A5C"/>
                </a:solidFill>
                <a:latin typeface="メイリオ"/>
                <a:ea typeface="メイリオ"/>
                <a:cs typeface="メイリオ"/>
              </a:rPr>
              <a:t>目的</a:t>
            </a:r>
          </a:p>
          <a:p>
            <a:pPr algn="l">
              <a:lnSpc>
                <a:spcPct val="105000"/>
              </a:lnSpc>
              <a:spcAft>
                <a:spcPts val="200"/>
              </a:spcAft>
            </a:pPr>
            <a:r>
              <a:rPr sz="1200" b="0">
                <a:solidFill>
                  <a:srgbClr val="333333"/>
                </a:solidFill>
                <a:latin typeface="メイリオ"/>
                <a:ea typeface="メイリオ"/>
                <a:cs typeface="メイリオ"/>
              </a:rPr>
              <a:t>検討度の高い方を取りこぼさず、</a:t>
            </a:r>
          </a:p>
          <a:p>
            <a:pPr algn="l">
              <a:lnSpc>
                <a:spcPct val="105000"/>
              </a:lnSpc>
              <a:spcAft>
                <a:spcPts val="200"/>
              </a:spcAft>
            </a:pPr>
            <a:r>
              <a:rPr sz="1200" b="0">
                <a:solidFill>
                  <a:srgbClr val="333333"/>
                </a:solidFill>
                <a:latin typeface="メイリオ"/>
                <a:ea typeface="メイリオ"/>
                <a:cs typeface="メイリオ"/>
              </a:rPr>
              <a:t>購入・契約まで進める</a:t>
            </a:r>
          </a:p>
        </p:txBody>
      </p:sp>
      <p:sp>
        <p:nvSpPr>
          <p:cNvPr id="116" name="TextBox 115"/>
          <p:cNvSpPr txBox="1"/>
          <p:nvPr/>
        </p:nvSpPr>
        <p:spPr>
          <a:xfrm>
            <a:off x="6373368" y="2999232"/>
            <a:ext cx="3163823" cy="923544"/>
          </a:xfrm>
          <a:prstGeom prst="rect">
            <a:avLst/>
          </a:prstGeom>
          <a:noFill/>
        </p:spPr>
        <p:txBody>
          <a:bodyPr wrap="square" lIns="36000" tIns="10800" rIns="36000" bIns="10800" anchor="t">
            <a:spAutoFit/>
          </a:bodyPr>
          <a:lstStyle/>
          <a:p>
            <a:pPr algn="l">
              <a:lnSpc>
                <a:spcPct val="105000"/>
              </a:lnSpc>
              <a:spcAft>
                <a:spcPts val="200"/>
              </a:spcAft>
            </a:pPr>
            <a:r>
              <a:rPr sz="1300" b="1">
                <a:solidFill>
                  <a:srgbClr val="1F2A5C"/>
                </a:solidFill>
                <a:latin typeface="メイリオ"/>
                <a:ea typeface="メイリオ"/>
                <a:cs typeface="メイリオ"/>
              </a:rPr>
              <a:t>対象</a:t>
            </a:r>
          </a:p>
          <a:p>
            <a:pPr algn="l">
              <a:lnSpc>
                <a:spcPct val="105000"/>
              </a:lnSpc>
              <a:spcAft>
                <a:spcPts val="200"/>
              </a:spcAft>
            </a:pPr>
            <a:r>
              <a:rPr sz="1200" b="0">
                <a:solidFill>
                  <a:srgbClr val="333333"/>
                </a:solidFill>
                <a:latin typeface="メイリオ"/>
                <a:ea typeface="メイリオ"/>
                <a:cs typeface="メイリオ"/>
              </a:rPr>
              <a:t>申込み・予約をした方／</a:t>
            </a:r>
          </a:p>
          <a:p>
            <a:pPr algn="l">
              <a:lnSpc>
                <a:spcPct val="105000"/>
              </a:lnSpc>
              <a:spcAft>
                <a:spcPts val="200"/>
              </a:spcAft>
            </a:pPr>
            <a:r>
              <a:rPr sz="1200" b="0">
                <a:solidFill>
                  <a:srgbClr val="333333"/>
                </a:solidFill>
                <a:latin typeface="メイリオ"/>
                <a:ea typeface="メイリオ"/>
                <a:cs typeface="メイリオ"/>
              </a:rPr>
              <a:t>検討度が高いとタグ付けされた方</a:t>
            </a:r>
          </a:p>
        </p:txBody>
      </p:sp>
      <p:sp>
        <p:nvSpPr>
          <p:cNvPr id="117" name="TextBox 116"/>
          <p:cNvSpPr txBox="1"/>
          <p:nvPr/>
        </p:nvSpPr>
        <p:spPr>
          <a:xfrm>
            <a:off x="6373368" y="4105655"/>
            <a:ext cx="3163823" cy="923544"/>
          </a:xfrm>
          <a:prstGeom prst="rect">
            <a:avLst/>
          </a:prstGeom>
          <a:noFill/>
        </p:spPr>
        <p:txBody>
          <a:bodyPr wrap="square" lIns="36000" tIns="10800" rIns="36000" bIns="10800" anchor="t">
            <a:spAutoFit/>
          </a:bodyPr>
          <a:lstStyle/>
          <a:p>
            <a:pPr algn="l">
              <a:lnSpc>
                <a:spcPct val="105000"/>
              </a:lnSpc>
              <a:spcAft>
                <a:spcPts val="200"/>
              </a:spcAft>
            </a:pPr>
            <a:r>
              <a:rPr sz="1300" b="1">
                <a:solidFill>
                  <a:srgbClr val="1F2A5C"/>
                </a:solidFill>
                <a:latin typeface="メイリオ"/>
                <a:ea typeface="メイリオ"/>
                <a:cs typeface="メイリオ"/>
              </a:rPr>
              <a:t>中身</a:t>
            </a:r>
          </a:p>
          <a:p>
            <a:pPr algn="l">
              <a:lnSpc>
                <a:spcPct val="105000"/>
              </a:lnSpc>
              <a:spcAft>
                <a:spcPts val="200"/>
              </a:spcAft>
            </a:pPr>
            <a:r>
              <a:rPr sz="1200" b="0">
                <a:solidFill>
                  <a:srgbClr val="333333"/>
                </a:solidFill>
                <a:latin typeface="メイリオ"/>
                <a:ea typeface="メイリオ"/>
                <a:cs typeface="メイリオ"/>
              </a:rPr>
              <a:t>購入・契約前の不安に答える配信／</a:t>
            </a:r>
          </a:p>
          <a:p>
            <a:pPr algn="l">
              <a:lnSpc>
                <a:spcPct val="105000"/>
              </a:lnSpc>
              <a:spcAft>
                <a:spcPts val="200"/>
              </a:spcAft>
            </a:pPr>
            <a:r>
              <a:rPr sz="1200" b="0">
                <a:solidFill>
                  <a:srgbClr val="333333"/>
                </a:solidFill>
                <a:latin typeface="メイリオ"/>
                <a:ea typeface="メイリオ"/>
                <a:cs typeface="メイリオ"/>
              </a:rPr>
              <a:t>個別チャットでの相談の受け付け／</a:t>
            </a:r>
          </a:p>
          <a:p>
            <a:pPr algn="l">
              <a:lnSpc>
                <a:spcPct val="105000"/>
              </a:lnSpc>
              <a:spcAft>
                <a:spcPts val="200"/>
              </a:spcAft>
            </a:pPr>
            <a:r>
              <a:rPr sz="1200" b="0">
                <a:solidFill>
                  <a:srgbClr val="333333"/>
                </a:solidFill>
                <a:latin typeface="メイリオ"/>
                <a:ea typeface="メイリオ"/>
                <a:cs typeface="メイリオ"/>
              </a:rPr>
              <a:t>期限付きの特典の案内</a:t>
            </a:r>
          </a:p>
        </p:txBody>
      </p:sp>
      <p:sp>
        <p:nvSpPr>
          <p:cNvPr id="118" name="TextBox 117"/>
          <p:cNvSpPr txBox="1"/>
          <p:nvPr/>
        </p:nvSpPr>
        <p:spPr>
          <a:xfrm>
            <a:off x="6373368" y="5230368"/>
            <a:ext cx="3163823" cy="923544"/>
          </a:xfrm>
          <a:prstGeom prst="rect">
            <a:avLst/>
          </a:prstGeom>
          <a:noFill/>
        </p:spPr>
        <p:txBody>
          <a:bodyPr wrap="square" lIns="36000" tIns="10800" rIns="36000" bIns="10800" anchor="t">
            <a:spAutoFit/>
          </a:bodyPr>
          <a:lstStyle/>
          <a:p>
            <a:pPr algn="l">
              <a:lnSpc>
                <a:spcPct val="105000"/>
              </a:lnSpc>
              <a:spcAft>
                <a:spcPts val="200"/>
              </a:spcAft>
            </a:pPr>
            <a:r>
              <a:rPr sz="1300" b="1">
                <a:solidFill>
                  <a:srgbClr val="1F2A5C"/>
                </a:solidFill>
                <a:latin typeface="メイリオ"/>
                <a:ea typeface="メイリオ"/>
                <a:cs typeface="メイリオ"/>
              </a:rPr>
              <a:t>見る数字</a:t>
            </a:r>
          </a:p>
          <a:p>
            <a:pPr algn="l">
              <a:lnSpc>
                <a:spcPct val="105000"/>
              </a:lnSpc>
              <a:spcAft>
                <a:spcPts val="200"/>
              </a:spcAft>
            </a:pPr>
            <a:r>
              <a:rPr sz="1200" b="0">
                <a:solidFill>
                  <a:srgbClr val="333333"/>
                </a:solidFill>
                <a:latin typeface="メイリオ"/>
                <a:ea typeface="メイリオ"/>
                <a:cs typeface="メイリオ"/>
              </a:rPr>
              <a:t>購入・契約数／成約率／CPO</a:t>
            </a:r>
          </a:p>
        </p:txBody>
      </p:sp>
    </p:spTree>
    <p:extLst>
      <p:ext uri="{BB962C8B-B14F-4D97-AF65-F5344CB8AC3E}">
        <p14:creationId xmlns:p14="http://schemas.microsoft.com/office/powerpoint/2010/main" val="34013686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24A889-871E-1630-C077-0DF99367DE7C}"/>
            </a:ext>
          </a:extLst>
        </p:cNvPr>
        <p:cNvGrpSpPr/>
        <p:nvPr/>
      </p:nvGrpSpPr>
      <p:grpSpPr>
        <a:xfrm>
          <a:off x="0" y="0"/>
          <a:ext cx="0" cy="0"/>
          <a:chOff x="0" y="0"/>
          <a:chExt cx="0" cy="0"/>
        </a:xfrm>
      </p:grpSpPr>
      <p:sp>
        <p:nvSpPr>
          <p:cNvPr id="3" name="テキスト ボックス 47">
            <a:extLst>
              <a:ext uri="{FF2B5EF4-FFF2-40B4-BE49-F238E27FC236}">
                <a16:creationId xmlns:a16="http://schemas.microsoft.com/office/drawing/2014/main" id="{70CBF08D-A75A-0470-2FBB-3028F9D942F1}"/>
              </a:ext>
            </a:extLst>
          </p:cNvPr>
          <p:cNvSpPr txBox="1">
            <a:spLocks noChangeArrowheads="1"/>
          </p:cNvSpPr>
          <p:nvPr/>
        </p:nvSpPr>
        <p:spPr bwMode="auto">
          <a:xfrm>
            <a:off x="456501"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Calibri" charset="0"/>
                <a:ea typeface="ＭＳ Ｐゴシック" charset="0"/>
                <a:cs typeface="ＭＳ Ｐゴシック" charset="0"/>
              </a:defRPr>
            </a:lvl1pPr>
            <a:lvl2pPr>
              <a:defRPr kumimoji="1" sz="2800">
                <a:solidFill>
                  <a:schemeClr val="tx1"/>
                </a:solidFill>
                <a:latin typeface="Calibri" charset="0"/>
                <a:ea typeface="ＭＳ Ｐゴシック" charset="0"/>
              </a:defRPr>
            </a:lvl2pPr>
            <a:lvl3pPr>
              <a:defRPr kumimoji="1" sz="2400">
                <a:solidFill>
                  <a:schemeClr val="tx1"/>
                </a:solidFill>
                <a:latin typeface="Calibri" charset="0"/>
                <a:ea typeface="ＭＳ Ｐゴシック" charset="0"/>
              </a:defRPr>
            </a:lvl3pPr>
            <a:lvl4pPr>
              <a:defRPr kumimoji="1" sz="2000">
                <a:solidFill>
                  <a:schemeClr val="tx1"/>
                </a:solidFill>
                <a:latin typeface="Calibri" charset="0"/>
                <a:ea typeface="ＭＳ Ｐゴシック" charset="0"/>
              </a:defRPr>
            </a:lvl4pPr>
            <a:lvl5pPr>
              <a:defRPr kumimoji="1" sz="2000">
                <a:solidFill>
                  <a:schemeClr val="tx1"/>
                </a:solidFill>
                <a:latin typeface="Calibri" charset="0"/>
                <a:ea typeface="ＭＳ Ｐゴシック" charset="0"/>
              </a:defRPr>
            </a:lvl5pPr>
            <a:lvl6pPr eaLnBrk="0" fontAlgn="base" hangingPunct="0">
              <a:spcAft>
                <a:spcPct val="0"/>
              </a:spcAft>
              <a:buFont typeface="Arial" charset="0"/>
              <a:buChar char="»"/>
              <a:defRPr kumimoji="1" sz="2000">
                <a:solidFill>
                  <a:schemeClr val="tx1"/>
                </a:solidFill>
                <a:latin typeface="Calibri" charset="0"/>
                <a:ea typeface="ＭＳ Ｐゴシック" charset="0"/>
              </a:defRPr>
            </a:lvl6pPr>
            <a:lvl7pPr eaLnBrk="0" fontAlgn="base" hangingPunct="0">
              <a:spcAft>
                <a:spcPct val="0"/>
              </a:spcAft>
              <a:buFont typeface="Arial" charset="0"/>
              <a:buChar char="»"/>
              <a:defRPr kumimoji="1" sz="2000">
                <a:solidFill>
                  <a:schemeClr val="tx1"/>
                </a:solidFill>
                <a:latin typeface="Calibri" charset="0"/>
                <a:ea typeface="ＭＳ Ｐゴシック" charset="0"/>
              </a:defRPr>
            </a:lvl7pPr>
            <a:lvl8pPr eaLnBrk="0" fontAlgn="base" hangingPunct="0">
              <a:spcAft>
                <a:spcPct val="0"/>
              </a:spcAft>
              <a:buFont typeface="Arial" charset="0"/>
              <a:buChar char="»"/>
              <a:defRPr kumimoji="1" sz="2000">
                <a:solidFill>
                  <a:schemeClr val="tx1"/>
                </a:solidFill>
                <a:latin typeface="Calibri" charset="0"/>
                <a:ea typeface="ＭＳ Ｐゴシック" charset="0"/>
              </a:defRPr>
            </a:lvl8pPr>
            <a:lvl9pPr eaLnBrk="0" fontAlgn="base" hangingPunct="0">
              <a:spcAft>
                <a:spcPct val="0"/>
              </a:spcAft>
              <a:buFont typeface="Arial" charset="0"/>
              <a:buChar char="»"/>
              <a:defRPr kumimoji="1" sz="2000">
                <a:solidFill>
                  <a:schemeClr val="tx1"/>
                </a:solidFill>
                <a:latin typeface="Calibri" charset="0"/>
                <a:ea typeface="ＭＳ Ｐゴシック" charset="0"/>
              </a:defRPr>
            </a:lvl9pPr>
          </a:lstStyle>
          <a:p>
            <a:pPr>
              <a:spcBef>
                <a:spcPct val="20000"/>
              </a:spcBef>
              <a:buFont typeface="Arial" charset="0"/>
              <a:buNone/>
            </a:pPr>
            <a:r>
              <a:rPr lang="ja-JP" altLang="en-US" sz="1600" b="1" dirty="0">
                <a:solidFill>
                  <a:srgbClr val="1F2A5C"/>
                </a:solidFill>
                <a:latin typeface="メイリオ"/>
                <a:ea typeface="メイリオ"/>
                <a:cs typeface="メイリオ"/>
              </a:rPr>
              <a:t>具体施策のイメージ</a:t>
            </a:r>
          </a:p>
        </p:txBody>
      </p:sp>
      <p:sp>
        <p:nvSpPr>
          <p:cNvPr id="5" name="正方形/長方形 4">
            <a:extLst>
              <a:ext uri="{FF2B5EF4-FFF2-40B4-BE49-F238E27FC236}">
                <a16:creationId xmlns:a16="http://schemas.microsoft.com/office/drawing/2014/main" id="{3C7D88F4-3C3C-3E2E-C03F-2CCC867D89EC}"/>
              </a:ext>
            </a:extLst>
          </p:cNvPr>
          <p:cNvSpPr/>
          <p:nvPr/>
        </p:nvSpPr>
        <p:spPr>
          <a:xfrm>
            <a:off x="2659553" y="109691"/>
            <a:ext cx="1992986" cy="326496"/>
          </a:xfrm>
          <a:prstGeom prst="rect">
            <a:avLst/>
          </a:prstGeom>
          <a:solidFill>
            <a:schemeClr val="tx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solidFill>
                  <a:srgbClr val="FFFF00"/>
                </a:solidFill>
                <a:latin typeface="メイリオ" panose="020B0604030504040204" pitchFamily="50" charset="-128"/>
                <a:ea typeface="メイリオ" panose="020B0604030504040204" pitchFamily="50" charset="-128"/>
              </a:rPr>
              <a:t>リピート施策</a:t>
            </a:r>
          </a:p>
        </p:txBody>
      </p:sp>
      <p:sp>
        <p:nvSpPr>
          <p:cNvPr id="51" name="Chevron 13">
            <a:extLst>
              <a:ext uri="{FF2B5EF4-FFF2-40B4-BE49-F238E27FC236}">
                <a16:creationId xmlns:a16="http://schemas.microsoft.com/office/drawing/2014/main" id="{759E7DA1-B0BF-83B4-5B22-46858D37029C}"/>
              </a:ext>
            </a:extLst>
          </p:cNvPr>
          <p:cNvSpPr/>
          <p:nvPr/>
        </p:nvSpPr>
        <p:spPr>
          <a:xfrm>
            <a:off x="7099344" y="795063"/>
            <a:ext cx="1482455" cy="731520"/>
          </a:xfrm>
          <a:prstGeom prst="chevron">
            <a:avLst/>
          </a:prstGeom>
          <a:solidFill>
            <a:schemeClr val="tx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55" name="Chevron 12">
            <a:extLst>
              <a:ext uri="{FF2B5EF4-FFF2-40B4-BE49-F238E27FC236}">
                <a16:creationId xmlns:a16="http://schemas.microsoft.com/office/drawing/2014/main" id="{E1C272E5-75EC-C617-4703-013CF3754F63}"/>
              </a:ext>
            </a:extLst>
          </p:cNvPr>
          <p:cNvSpPr/>
          <p:nvPr/>
        </p:nvSpPr>
        <p:spPr>
          <a:xfrm>
            <a:off x="593938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67" name="テキスト ボックス 66">
            <a:extLst>
              <a:ext uri="{FF2B5EF4-FFF2-40B4-BE49-F238E27FC236}">
                <a16:creationId xmlns:a16="http://schemas.microsoft.com/office/drawing/2014/main" id="{E9DA71D7-9C78-CD2C-7714-F3A95FFC1731}"/>
              </a:ext>
            </a:extLst>
          </p:cNvPr>
          <p:cNvSpPr txBox="1"/>
          <p:nvPr/>
        </p:nvSpPr>
        <p:spPr>
          <a:xfrm>
            <a:off x="7420737" y="1030016"/>
            <a:ext cx="982079"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マネタイズ</a:t>
            </a:r>
          </a:p>
        </p:txBody>
      </p:sp>
      <p:sp>
        <p:nvSpPr>
          <p:cNvPr id="73" name="テキスト ボックス 72">
            <a:extLst>
              <a:ext uri="{FF2B5EF4-FFF2-40B4-BE49-F238E27FC236}">
                <a16:creationId xmlns:a16="http://schemas.microsoft.com/office/drawing/2014/main" id="{8CCD9A2E-65D9-A3A7-1F9E-9F339A653484}"/>
              </a:ext>
            </a:extLst>
          </p:cNvPr>
          <p:cNvSpPr txBox="1"/>
          <p:nvPr/>
        </p:nvSpPr>
        <p:spPr>
          <a:xfrm>
            <a:off x="6301709" y="945379"/>
            <a:ext cx="811635" cy="430887"/>
          </a:xfrm>
          <a:prstGeom prst="rect">
            <a:avLst/>
          </a:prstGeom>
          <a:solidFill>
            <a:schemeClr val="accent1">
              <a:lumMod val="75000"/>
            </a:schemeClr>
          </a:solid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リード</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再育成</a:t>
            </a:r>
          </a:p>
        </p:txBody>
      </p:sp>
      <p:sp>
        <p:nvSpPr>
          <p:cNvPr id="93" name="Pentagon 10">
            <a:extLst>
              <a:ext uri="{FF2B5EF4-FFF2-40B4-BE49-F238E27FC236}">
                <a16:creationId xmlns:a16="http://schemas.microsoft.com/office/drawing/2014/main" id="{A3BB58FC-6C79-950E-F1BC-61DF96A00F4B}"/>
              </a:ext>
            </a:extLst>
          </p:cNvPr>
          <p:cNvSpPr/>
          <p:nvPr/>
        </p:nvSpPr>
        <p:spPr>
          <a:xfrm>
            <a:off x="262895" y="795063"/>
            <a:ext cx="1360371" cy="731520"/>
          </a:xfrm>
          <a:prstGeom prst="homePlate">
            <a:avLst/>
          </a:prstGeom>
          <a:solidFill>
            <a:schemeClr val="bg1">
              <a:lumMod val="6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lang="en-US" altLang="ja-JP" sz="1300" b="1" dirty="0">
              <a:solidFill>
                <a:srgbClr val="FFFFFF"/>
              </a:solidFill>
              <a:latin typeface="メイリオ"/>
              <a:ea typeface="メイリオ"/>
              <a:cs typeface="メイリオ"/>
            </a:endParaRPr>
          </a:p>
        </p:txBody>
      </p:sp>
      <p:sp>
        <p:nvSpPr>
          <p:cNvPr id="95" name="Chevron 11">
            <a:extLst>
              <a:ext uri="{FF2B5EF4-FFF2-40B4-BE49-F238E27FC236}">
                <a16:creationId xmlns:a16="http://schemas.microsoft.com/office/drawing/2014/main" id="{CF6FF1B6-0073-1D5C-E7B4-9CD1A7C404F5}"/>
              </a:ext>
            </a:extLst>
          </p:cNvPr>
          <p:cNvSpPr/>
          <p:nvPr/>
        </p:nvSpPr>
        <p:spPr>
          <a:xfrm>
            <a:off x="1299544" y="795063"/>
            <a:ext cx="1482455" cy="731520"/>
          </a:xfrm>
          <a:prstGeom prst="chevron">
            <a:avLst/>
          </a:prstGeom>
          <a:solidFill>
            <a:schemeClr val="accent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97" name="Chevron 11">
            <a:extLst>
              <a:ext uri="{FF2B5EF4-FFF2-40B4-BE49-F238E27FC236}">
                <a16:creationId xmlns:a16="http://schemas.microsoft.com/office/drawing/2014/main" id="{F755585F-9990-C994-AFCB-6B55869BB112}"/>
              </a:ext>
            </a:extLst>
          </p:cNvPr>
          <p:cNvSpPr/>
          <p:nvPr/>
        </p:nvSpPr>
        <p:spPr>
          <a:xfrm>
            <a:off x="2459504" y="795063"/>
            <a:ext cx="1482455" cy="731520"/>
          </a:xfrm>
          <a:prstGeom prst="chevron">
            <a:avLst/>
          </a:prstGeom>
          <a:solidFill>
            <a:schemeClr val="accent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99" name="テキスト ボックス 98">
            <a:extLst>
              <a:ext uri="{FF2B5EF4-FFF2-40B4-BE49-F238E27FC236}">
                <a16:creationId xmlns:a16="http://schemas.microsoft.com/office/drawing/2014/main" id="{1A586438-3489-526C-D969-F3D159B19FCF}"/>
              </a:ext>
            </a:extLst>
          </p:cNvPr>
          <p:cNvSpPr txBox="1"/>
          <p:nvPr/>
        </p:nvSpPr>
        <p:spPr>
          <a:xfrm>
            <a:off x="1616581" y="945379"/>
            <a:ext cx="811635"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サイト</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離脱</a:t>
            </a:r>
          </a:p>
        </p:txBody>
      </p:sp>
      <p:sp>
        <p:nvSpPr>
          <p:cNvPr id="101" name="テキスト ボックス 100">
            <a:extLst>
              <a:ext uri="{FF2B5EF4-FFF2-40B4-BE49-F238E27FC236}">
                <a16:creationId xmlns:a16="http://schemas.microsoft.com/office/drawing/2014/main" id="{20A32186-62A1-3BBF-CED6-D509ABE569B8}"/>
              </a:ext>
            </a:extLst>
          </p:cNvPr>
          <p:cNvSpPr txBox="1"/>
          <p:nvPr/>
        </p:nvSpPr>
        <p:spPr>
          <a:xfrm>
            <a:off x="2787863" y="1030016"/>
            <a:ext cx="811635"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育成</a:t>
            </a:r>
          </a:p>
        </p:txBody>
      </p:sp>
      <p:sp>
        <p:nvSpPr>
          <p:cNvPr id="103" name="テキスト ボックス 102">
            <a:extLst>
              <a:ext uri="{FF2B5EF4-FFF2-40B4-BE49-F238E27FC236}">
                <a16:creationId xmlns:a16="http://schemas.microsoft.com/office/drawing/2014/main" id="{29F4C005-9928-FAAC-6A92-971D5F0B969B}"/>
              </a:ext>
            </a:extLst>
          </p:cNvPr>
          <p:cNvSpPr txBox="1"/>
          <p:nvPr/>
        </p:nvSpPr>
        <p:spPr>
          <a:xfrm>
            <a:off x="445299" y="1030016"/>
            <a:ext cx="811635"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接触</a:t>
            </a:r>
          </a:p>
        </p:txBody>
      </p:sp>
      <p:sp>
        <p:nvSpPr>
          <p:cNvPr id="15" name="Chevron 12">
            <a:extLst>
              <a:ext uri="{FF2B5EF4-FFF2-40B4-BE49-F238E27FC236}">
                <a16:creationId xmlns:a16="http://schemas.microsoft.com/office/drawing/2014/main" id="{648B7705-5A53-CB64-8318-08FA7AC165A4}"/>
              </a:ext>
            </a:extLst>
          </p:cNvPr>
          <p:cNvSpPr/>
          <p:nvPr/>
        </p:nvSpPr>
        <p:spPr>
          <a:xfrm>
            <a:off x="361946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17" name="テキスト ボックス 16">
            <a:extLst>
              <a:ext uri="{FF2B5EF4-FFF2-40B4-BE49-F238E27FC236}">
                <a16:creationId xmlns:a16="http://schemas.microsoft.com/office/drawing/2014/main" id="{9F8A8E43-9950-E3F2-F3FE-9C9B3CFBF78F}"/>
              </a:ext>
            </a:extLst>
          </p:cNvPr>
          <p:cNvSpPr txBox="1"/>
          <p:nvPr/>
        </p:nvSpPr>
        <p:spPr>
          <a:xfrm>
            <a:off x="3959145" y="945379"/>
            <a:ext cx="811635"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リード</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獲得</a:t>
            </a:r>
          </a:p>
        </p:txBody>
      </p:sp>
      <p:sp>
        <p:nvSpPr>
          <p:cNvPr id="19" name="Chevron 11">
            <a:extLst>
              <a:ext uri="{FF2B5EF4-FFF2-40B4-BE49-F238E27FC236}">
                <a16:creationId xmlns:a16="http://schemas.microsoft.com/office/drawing/2014/main" id="{B125C3F7-8289-EA3D-F9C3-E4122A1EF6CC}"/>
              </a:ext>
            </a:extLst>
          </p:cNvPr>
          <p:cNvSpPr/>
          <p:nvPr/>
        </p:nvSpPr>
        <p:spPr>
          <a:xfrm>
            <a:off x="477942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21" name="テキスト ボックス 20">
            <a:extLst>
              <a:ext uri="{FF2B5EF4-FFF2-40B4-BE49-F238E27FC236}">
                <a16:creationId xmlns:a16="http://schemas.microsoft.com/office/drawing/2014/main" id="{C4497524-AB39-B15B-217D-366289997E7B}"/>
              </a:ext>
            </a:extLst>
          </p:cNvPr>
          <p:cNvSpPr txBox="1"/>
          <p:nvPr/>
        </p:nvSpPr>
        <p:spPr>
          <a:xfrm>
            <a:off x="5130427" y="945378"/>
            <a:ext cx="811635" cy="430887"/>
          </a:xfrm>
          <a:prstGeom prst="rect">
            <a:avLst/>
          </a:prstGeom>
          <a:solidFill>
            <a:schemeClr val="accent1">
              <a:lumMod val="75000"/>
            </a:schemeClr>
          </a:solid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有効</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リード化</a:t>
            </a:r>
          </a:p>
        </p:txBody>
      </p:sp>
      <p:sp>
        <p:nvSpPr>
          <p:cNvPr id="4" name="正方形/長方形 3">
            <a:extLst>
              <a:ext uri="{FF2B5EF4-FFF2-40B4-BE49-F238E27FC236}">
                <a16:creationId xmlns:a16="http://schemas.microsoft.com/office/drawing/2014/main" id="{C49ED30C-CEC0-2E49-5CC6-AB9E06E1664C}"/>
              </a:ext>
            </a:extLst>
          </p:cNvPr>
          <p:cNvSpPr/>
          <p:nvPr/>
        </p:nvSpPr>
        <p:spPr>
          <a:xfrm>
            <a:off x="-15984" y="609190"/>
            <a:ext cx="9917132" cy="1034848"/>
          </a:xfrm>
          <a:prstGeom prst="rect">
            <a:avLst/>
          </a:prstGeom>
          <a:solidFill>
            <a:schemeClr val="bg1">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7" name="正方形/長方形 6">
            <a:extLst>
              <a:ext uri="{FF2B5EF4-FFF2-40B4-BE49-F238E27FC236}">
                <a16:creationId xmlns:a16="http://schemas.microsoft.com/office/drawing/2014/main" id="{67095497-8A9F-3AE5-CF43-E456608BFED7}"/>
              </a:ext>
            </a:extLst>
          </p:cNvPr>
          <p:cNvSpPr/>
          <p:nvPr/>
        </p:nvSpPr>
        <p:spPr>
          <a:xfrm>
            <a:off x="-15984" y="645907"/>
            <a:ext cx="9930693" cy="1034848"/>
          </a:xfrm>
          <a:prstGeom prst="rect">
            <a:avLst/>
          </a:prstGeom>
          <a:solidFill>
            <a:schemeClr val="bg1">
              <a:lumMod val="95000"/>
              <a:alpha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9" name="Chevron 13">
            <a:extLst>
              <a:ext uri="{FF2B5EF4-FFF2-40B4-BE49-F238E27FC236}">
                <a16:creationId xmlns:a16="http://schemas.microsoft.com/office/drawing/2014/main" id="{1DE68DC3-7D7A-9CDB-56F3-E6921DE8DBAD}"/>
              </a:ext>
            </a:extLst>
          </p:cNvPr>
          <p:cNvSpPr/>
          <p:nvPr/>
        </p:nvSpPr>
        <p:spPr>
          <a:xfrm>
            <a:off x="8259306" y="795063"/>
            <a:ext cx="1482455" cy="731520"/>
          </a:xfrm>
          <a:prstGeom prst="chevron">
            <a:avLst/>
          </a:prstGeom>
          <a:solidFill>
            <a:schemeClr val="tx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12" name="テキスト ボックス 11">
            <a:extLst>
              <a:ext uri="{FF2B5EF4-FFF2-40B4-BE49-F238E27FC236}">
                <a16:creationId xmlns:a16="http://schemas.microsoft.com/office/drawing/2014/main" id="{1C592B4B-F240-144A-4EC6-877E40B5DA24}"/>
              </a:ext>
            </a:extLst>
          </p:cNvPr>
          <p:cNvSpPr txBox="1"/>
          <p:nvPr/>
        </p:nvSpPr>
        <p:spPr>
          <a:xfrm>
            <a:off x="8544744" y="945378"/>
            <a:ext cx="982079"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リピート</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クロスセル</a:t>
            </a:r>
          </a:p>
        </p:txBody>
      </p:sp>
      <p:sp>
        <p:nvSpPr>
          <p:cNvPr id="6" name="四角形: 角を丸くする 5">
            <a:extLst>
              <a:ext uri="{FF2B5EF4-FFF2-40B4-BE49-F238E27FC236}">
                <a16:creationId xmlns:a16="http://schemas.microsoft.com/office/drawing/2014/main" id="{A6208BB2-3F77-CF64-CB2E-3FF447A9F5F7}"/>
              </a:ext>
            </a:extLst>
          </p:cNvPr>
          <p:cNvSpPr/>
          <p:nvPr/>
        </p:nvSpPr>
        <p:spPr>
          <a:xfrm>
            <a:off x="262895" y="1854926"/>
            <a:ext cx="5885356" cy="435716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四角形: 角を丸くする 9">
            <a:extLst>
              <a:ext uri="{FF2B5EF4-FFF2-40B4-BE49-F238E27FC236}">
                <a16:creationId xmlns:a16="http://schemas.microsoft.com/office/drawing/2014/main" id="{4FD2BF1B-521D-CC1A-7BFD-A22AA1142DA0}"/>
              </a:ext>
            </a:extLst>
          </p:cNvPr>
          <p:cNvSpPr/>
          <p:nvPr/>
        </p:nvSpPr>
        <p:spPr>
          <a:xfrm>
            <a:off x="6261879" y="1854926"/>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四角形: 角を丸くする 12">
            <a:extLst>
              <a:ext uri="{FF2B5EF4-FFF2-40B4-BE49-F238E27FC236}">
                <a16:creationId xmlns:a16="http://schemas.microsoft.com/office/drawing/2014/main" id="{3C915B36-4012-C279-83CB-222ABE1F6039}"/>
              </a:ext>
            </a:extLst>
          </p:cNvPr>
          <p:cNvSpPr/>
          <p:nvPr/>
        </p:nvSpPr>
        <p:spPr>
          <a:xfrm>
            <a:off x="6261879" y="2947852"/>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四角形: 角を丸くする 15">
            <a:extLst>
              <a:ext uri="{FF2B5EF4-FFF2-40B4-BE49-F238E27FC236}">
                <a16:creationId xmlns:a16="http://schemas.microsoft.com/office/drawing/2014/main" id="{49E5CE7E-1D8F-576F-9D97-DFF65D6EF007}"/>
              </a:ext>
            </a:extLst>
          </p:cNvPr>
          <p:cNvSpPr/>
          <p:nvPr/>
        </p:nvSpPr>
        <p:spPr>
          <a:xfrm>
            <a:off x="6261879" y="4049186"/>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四角形: 角を丸くする 19">
            <a:extLst>
              <a:ext uri="{FF2B5EF4-FFF2-40B4-BE49-F238E27FC236}">
                <a16:creationId xmlns:a16="http://schemas.microsoft.com/office/drawing/2014/main" id="{3D248B8A-3417-C9D7-9DE8-CF0AAB168222}"/>
              </a:ext>
            </a:extLst>
          </p:cNvPr>
          <p:cNvSpPr/>
          <p:nvPr/>
        </p:nvSpPr>
        <p:spPr>
          <a:xfrm>
            <a:off x="6278273" y="5177245"/>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4" name="Rectangle 103"/>
          <p:cNvSpPr/>
          <p:nvPr/>
        </p:nvSpPr>
        <p:spPr>
          <a:xfrm>
            <a:off x="854964" y="2583179"/>
            <a:ext cx="777239" cy="603504"/>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400" b="1">
                <a:solidFill>
                  <a:srgbClr val="FFFFFF"/>
                </a:solidFill>
                <a:latin typeface="メイリオ"/>
                <a:ea typeface="メイリオ"/>
                <a:cs typeface="メイリオ"/>
              </a:rPr>
              <a:t>入口</a:t>
            </a:r>
          </a:p>
        </p:txBody>
      </p:sp>
      <p:sp>
        <p:nvSpPr>
          <p:cNvPr id="105" name="Rectangle 104"/>
          <p:cNvSpPr/>
          <p:nvPr/>
        </p:nvSpPr>
        <p:spPr>
          <a:xfrm>
            <a:off x="1632204" y="2583179"/>
            <a:ext cx="3931920" cy="603504"/>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wrap="square" lIns="64800" tIns="10800" rIns="43200" bIns="10800" rtlCol="0" anchor="ctr"/>
          <a:lstStyle/>
          <a:p>
            <a:pPr algn="l">
              <a:lnSpc>
                <a:spcPct val="110000"/>
              </a:lnSpc>
              <a:spcAft>
                <a:spcPts val="0"/>
              </a:spcAft>
            </a:pPr>
            <a:r>
              <a:rPr sz="1400" b="1">
                <a:solidFill>
                  <a:srgbClr val="1F2A5C"/>
                </a:solidFill>
                <a:latin typeface="メイリオ"/>
                <a:ea typeface="メイリオ"/>
                <a:cs typeface="メイリオ"/>
              </a:rPr>
              <a:t>購入・来店した方</a:t>
            </a:r>
          </a:p>
        </p:txBody>
      </p:sp>
      <p:sp>
        <p:nvSpPr>
          <p:cNvPr id="106" name="TextBox 105"/>
          <p:cNvSpPr txBox="1"/>
          <p:nvPr/>
        </p:nvSpPr>
        <p:spPr>
          <a:xfrm>
            <a:off x="854964" y="3177539"/>
            <a:ext cx="777239" cy="182880"/>
          </a:xfrm>
          <a:prstGeom prst="rect">
            <a:avLst/>
          </a:prstGeom>
          <a:noFill/>
        </p:spPr>
        <p:txBody>
          <a:bodyPr wrap="square" lIns="36000" tIns="10800" rIns="36000" bIns="10800" anchor="ctr">
            <a:spAutoFit/>
          </a:bodyPr>
          <a:lstStyle/>
          <a:p>
            <a:pPr algn="ctr">
              <a:lnSpc>
                <a:spcPct val="105000"/>
              </a:lnSpc>
              <a:spcAft>
                <a:spcPts val="200"/>
              </a:spcAft>
            </a:pPr>
            <a:r>
              <a:rPr sz="900" b="0">
                <a:solidFill>
                  <a:srgbClr val="1F2A5C"/>
                </a:solidFill>
                <a:latin typeface="メイリオ"/>
                <a:ea typeface="メイリオ"/>
                <a:cs typeface="メイリオ"/>
              </a:rPr>
              <a:t>▼</a:t>
            </a:r>
          </a:p>
        </p:txBody>
      </p:sp>
      <p:sp>
        <p:nvSpPr>
          <p:cNvPr id="107" name="Rectangle 106"/>
          <p:cNvSpPr/>
          <p:nvPr/>
        </p:nvSpPr>
        <p:spPr>
          <a:xfrm>
            <a:off x="854964" y="3351275"/>
            <a:ext cx="777239" cy="603504"/>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400" b="1">
                <a:solidFill>
                  <a:srgbClr val="FFFFFF"/>
                </a:solidFill>
                <a:latin typeface="メイリオ"/>
                <a:ea typeface="メイリオ"/>
                <a:cs typeface="メイリオ"/>
              </a:rPr>
              <a:t>LINE</a:t>
            </a:r>
          </a:p>
        </p:txBody>
      </p:sp>
      <p:sp>
        <p:nvSpPr>
          <p:cNvPr id="108" name="Rectangle 107"/>
          <p:cNvSpPr/>
          <p:nvPr/>
        </p:nvSpPr>
        <p:spPr>
          <a:xfrm>
            <a:off x="1632204" y="3351275"/>
            <a:ext cx="3931920" cy="603504"/>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wrap="square" lIns="64800" tIns="10800" rIns="43200" bIns="10800" rtlCol="0" anchor="ctr"/>
          <a:lstStyle/>
          <a:p>
            <a:pPr algn="l">
              <a:lnSpc>
                <a:spcPct val="110000"/>
              </a:lnSpc>
              <a:spcAft>
                <a:spcPts val="0"/>
              </a:spcAft>
            </a:pPr>
            <a:r>
              <a:rPr sz="1400" b="1">
                <a:solidFill>
                  <a:srgbClr val="1F2A5C"/>
                </a:solidFill>
                <a:latin typeface="メイリオ"/>
                <a:ea typeface="メイリオ"/>
                <a:cs typeface="メイリオ"/>
              </a:rPr>
              <a:t>購入・来店の内容でタグ付け</a:t>
            </a:r>
          </a:p>
        </p:txBody>
      </p:sp>
      <p:sp>
        <p:nvSpPr>
          <p:cNvPr id="109" name="TextBox 108"/>
          <p:cNvSpPr txBox="1"/>
          <p:nvPr/>
        </p:nvSpPr>
        <p:spPr>
          <a:xfrm>
            <a:off x="854964" y="3945635"/>
            <a:ext cx="777239" cy="182880"/>
          </a:xfrm>
          <a:prstGeom prst="rect">
            <a:avLst/>
          </a:prstGeom>
          <a:noFill/>
        </p:spPr>
        <p:txBody>
          <a:bodyPr wrap="square" lIns="36000" tIns="10800" rIns="36000" bIns="10800" anchor="ctr">
            <a:spAutoFit/>
          </a:bodyPr>
          <a:lstStyle/>
          <a:p>
            <a:pPr algn="ctr">
              <a:lnSpc>
                <a:spcPct val="105000"/>
              </a:lnSpc>
              <a:spcAft>
                <a:spcPts val="200"/>
              </a:spcAft>
            </a:pPr>
            <a:r>
              <a:rPr sz="900" b="0">
                <a:solidFill>
                  <a:srgbClr val="1F2A5C"/>
                </a:solidFill>
                <a:latin typeface="メイリオ"/>
                <a:ea typeface="メイリオ"/>
                <a:cs typeface="メイリオ"/>
              </a:rPr>
              <a:t>▼</a:t>
            </a:r>
          </a:p>
        </p:txBody>
      </p:sp>
      <p:sp>
        <p:nvSpPr>
          <p:cNvPr id="110" name="Rectangle 109"/>
          <p:cNvSpPr/>
          <p:nvPr/>
        </p:nvSpPr>
        <p:spPr>
          <a:xfrm>
            <a:off x="854964" y="4119371"/>
            <a:ext cx="777239" cy="603504"/>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400" b="1">
                <a:solidFill>
                  <a:srgbClr val="FFFFFF"/>
                </a:solidFill>
                <a:latin typeface="メイリオ"/>
                <a:ea typeface="メイリオ"/>
                <a:cs typeface="メイリオ"/>
              </a:rPr>
              <a:t>配信</a:t>
            </a:r>
          </a:p>
        </p:txBody>
      </p:sp>
      <p:sp>
        <p:nvSpPr>
          <p:cNvPr id="111" name="Rectangle 110"/>
          <p:cNvSpPr/>
          <p:nvPr/>
        </p:nvSpPr>
        <p:spPr>
          <a:xfrm>
            <a:off x="1632204" y="4119371"/>
            <a:ext cx="3931920" cy="603504"/>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wrap="square" lIns="64800" tIns="10800" rIns="43200" bIns="10800" rtlCol="0" anchor="ctr"/>
          <a:lstStyle/>
          <a:p>
            <a:pPr algn="l">
              <a:lnSpc>
                <a:spcPct val="110000"/>
              </a:lnSpc>
              <a:spcAft>
                <a:spcPts val="0"/>
              </a:spcAft>
            </a:pPr>
            <a:r>
              <a:rPr sz="1400" b="1">
                <a:solidFill>
                  <a:srgbClr val="1F2A5C"/>
                </a:solidFill>
                <a:latin typeface="メイリオ"/>
                <a:ea typeface="メイリオ"/>
                <a:cs typeface="メイリオ"/>
              </a:rPr>
              <a:t>次の購入・来店のタイミングに合わせた配信</a:t>
            </a:r>
          </a:p>
          <a:p>
            <a:pPr algn="l">
              <a:lnSpc>
                <a:spcPct val="110000"/>
              </a:lnSpc>
              <a:spcAft>
                <a:spcPts val="0"/>
              </a:spcAft>
            </a:pPr>
            <a:r>
              <a:rPr sz="1050" b="0">
                <a:solidFill>
                  <a:srgbClr val="333333"/>
                </a:solidFill>
                <a:latin typeface="メイリオ"/>
                <a:ea typeface="メイリオ"/>
                <a:cs typeface="メイリオ"/>
              </a:rPr>
              <a:t>ステップ配信・企画配信</a:t>
            </a:r>
          </a:p>
        </p:txBody>
      </p:sp>
      <p:sp>
        <p:nvSpPr>
          <p:cNvPr id="112" name="TextBox 111"/>
          <p:cNvSpPr txBox="1"/>
          <p:nvPr/>
        </p:nvSpPr>
        <p:spPr>
          <a:xfrm>
            <a:off x="854964" y="4713731"/>
            <a:ext cx="777239" cy="182880"/>
          </a:xfrm>
          <a:prstGeom prst="rect">
            <a:avLst/>
          </a:prstGeom>
          <a:noFill/>
        </p:spPr>
        <p:txBody>
          <a:bodyPr wrap="square" lIns="36000" tIns="10800" rIns="36000" bIns="10800" anchor="ctr">
            <a:spAutoFit/>
          </a:bodyPr>
          <a:lstStyle/>
          <a:p>
            <a:pPr algn="ctr">
              <a:lnSpc>
                <a:spcPct val="105000"/>
              </a:lnSpc>
              <a:spcAft>
                <a:spcPts val="200"/>
              </a:spcAft>
            </a:pPr>
            <a:r>
              <a:rPr sz="900" b="0">
                <a:solidFill>
                  <a:srgbClr val="1F2A5C"/>
                </a:solidFill>
                <a:latin typeface="メイリオ"/>
                <a:ea typeface="メイリオ"/>
                <a:cs typeface="メイリオ"/>
              </a:rPr>
              <a:t>▼</a:t>
            </a:r>
          </a:p>
        </p:txBody>
      </p:sp>
      <p:sp>
        <p:nvSpPr>
          <p:cNvPr id="113" name="Rectangle 112"/>
          <p:cNvSpPr/>
          <p:nvPr/>
        </p:nvSpPr>
        <p:spPr>
          <a:xfrm>
            <a:off x="854964" y="4887468"/>
            <a:ext cx="777239" cy="603504"/>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400" b="1">
                <a:solidFill>
                  <a:srgbClr val="FFFFFF"/>
                </a:solidFill>
                <a:latin typeface="メイリオ"/>
                <a:ea typeface="メイリオ"/>
                <a:cs typeface="メイリオ"/>
              </a:rPr>
              <a:t>ゴール</a:t>
            </a:r>
          </a:p>
        </p:txBody>
      </p:sp>
      <p:sp>
        <p:nvSpPr>
          <p:cNvPr id="114" name="Rectangle 113"/>
          <p:cNvSpPr/>
          <p:nvPr/>
        </p:nvSpPr>
        <p:spPr>
          <a:xfrm>
            <a:off x="1632204" y="4887468"/>
            <a:ext cx="3931920" cy="603504"/>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wrap="square" lIns="64800" tIns="10800" rIns="43200" bIns="10800" rtlCol="0" anchor="ctr"/>
          <a:lstStyle/>
          <a:p>
            <a:pPr algn="l">
              <a:lnSpc>
                <a:spcPct val="110000"/>
              </a:lnSpc>
              <a:spcAft>
                <a:spcPts val="0"/>
              </a:spcAft>
            </a:pPr>
            <a:r>
              <a:rPr sz="1400" b="1">
                <a:solidFill>
                  <a:srgbClr val="1F2A5C"/>
                </a:solidFill>
                <a:latin typeface="メイリオ"/>
                <a:ea typeface="メイリオ"/>
                <a:cs typeface="メイリオ"/>
              </a:rPr>
              <a:t>再購入・再来店・関連商品の購入</a:t>
            </a:r>
          </a:p>
        </p:txBody>
      </p:sp>
      <p:sp>
        <p:nvSpPr>
          <p:cNvPr id="115" name="TextBox 114"/>
          <p:cNvSpPr txBox="1"/>
          <p:nvPr/>
        </p:nvSpPr>
        <p:spPr>
          <a:xfrm>
            <a:off x="6373368" y="1911095"/>
            <a:ext cx="3163823" cy="923544"/>
          </a:xfrm>
          <a:prstGeom prst="rect">
            <a:avLst/>
          </a:prstGeom>
          <a:noFill/>
        </p:spPr>
        <p:txBody>
          <a:bodyPr wrap="square" lIns="36000" tIns="10800" rIns="36000" bIns="10800" anchor="t">
            <a:spAutoFit/>
          </a:bodyPr>
          <a:lstStyle/>
          <a:p>
            <a:pPr algn="l">
              <a:lnSpc>
                <a:spcPct val="105000"/>
              </a:lnSpc>
              <a:spcAft>
                <a:spcPts val="200"/>
              </a:spcAft>
            </a:pPr>
            <a:r>
              <a:rPr sz="1300" b="1">
                <a:solidFill>
                  <a:srgbClr val="1F2A5C"/>
                </a:solidFill>
                <a:latin typeface="メイリオ"/>
                <a:ea typeface="メイリオ"/>
                <a:cs typeface="メイリオ"/>
              </a:rPr>
              <a:t>目的</a:t>
            </a:r>
          </a:p>
          <a:p>
            <a:pPr algn="l">
              <a:lnSpc>
                <a:spcPct val="105000"/>
              </a:lnSpc>
              <a:spcAft>
                <a:spcPts val="200"/>
              </a:spcAft>
            </a:pPr>
            <a:r>
              <a:rPr sz="1200" b="0">
                <a:solidFill>
                  <a:srgbClr val="333333"/>
                </a:solidFill>
                <a:latin typeface="メイリオ"/>
                <a:ea typeface="メイリオ"/>
                <a:cs typeface="メイリオ"/>
              </a:rPr>
              <a:t>再購入・再来店のタイミングで、</a:t>
            </a:r>
          </a:p>
          <a:p>
            <a:pPr algn="l">
              <a:lnSpc>
                <a:spcPct val="105000"/>
              </a:lnSpc>
              <a:spcAft>
                <a:spcPts val="200"/>
              </a:spcAft>
            </a:pPr>
            <a:r>
              <a:rPr sz="1200" b="0">
                <a:solidFill>
                  <a:srgbClr val="333333"/>
                </a:solidFill>
                <a:latin typeface="メイリオ"/>
                <a:ea typeface="メイリオ"/>
                <a:cs typeface="メイリオ"/>
              </a:rPr>
              <a:t>必要な方に必要な情報を届ける</a:t>
            </a:r>
          </a:p>
        </p:txBody>
      </p:sp>
      <p:sp>
        <p:nvSpPr>
          <p:cNvPr id="116" name="TextBox 115"/>
          <p:cNvSpPr txBox="1"/>
          <p:nvPr/>
        </p:nvSpPr>
        <p:spPr>
          <a:xfrm>
            <a:off x="6373368" y="2999232"/>
            <a:ext cx="3163823" cy="923544"/>
          </a:xfrm>
          <a:prstGeom prst="rect">
            <a:avLst/>
          </a:prstGeom>
          <a:noFill/>
        </p:spPr>
        <p:txBody>
          <a:bodyPr wrap="square" lIns="36000" tIns="10800" rIns="36000" bIns="10800" anchor="t">
            <a:spAutoFit/>
          </a:bodyPr>
          <a:lstStyle/>
          <a:p>
            <a:pPr algn="l">
              <a:lnSpc>
                <a:spcPct val="105000"/>
              </a:lnSpc>
              <a:spcAft>
                <a:spcPts val="200"/>
              </a:spcAft>
            </a:pPr>
            <a:r>
              <a:rPr sz="1300" b="1">
                <a:solidFill>
                  <a:srgbClr val="1F2A5C"/>
                </a:solidFill>
                <a:latin typeface="メイリオ"/>
                <a:ea typeface="メイリオ"/>
                <a:cs typeface="メイリオ"/>
              </a:rPr>
              <a:t>対象</a:t>
            </a:r>
          </a:p>
          <a:p>
            <a:pPr algn="l">
              <a:lnSpc>
                <a:spcPct val="105000"/>
              </a:lnSpc>
              <a:spcAft>
                <a:spcPts val="200"/>
              </a:spcAft>
            </a:pPr>
            <a:r>
              <a:rPr sz="1200" b="0">
                <a:solidFill>
                  <a:srgbClr val="333333"/>
                </a:solidFill>
                <a:latin typeface="メイリオ"/>
                <a:ea typeface="メイリオ"/>
                <a:cs typeface="メイリオ"/>
              </a:rPr>
              <a:t>購入・来店した方</a:t>
            </a:r>
          </a:p>
        </p:txBody>
      </p:sp>
      <p:sp>
        <p:nvSpPr>
          <p:cNvPr id="117" name="TextBox 116"/>
          <p:cNvSpPr txBox="1"/>
          <p:nvPr/>
        </p:nvSpPr>
        <p:spPr>
          <a:xfrm>
            <a:off x="6373368" y="4105655"/>
            <a:ext cx="3163823" cy="923544"/>
          </a:xfrm>
          <a:prstGeom prst="rect">
            <a:avLst/>
          </a:prstGeom>
          <a:noFill/>
        </p:spPr>
        <p:txBody>
          <a:bodyPr wrap="square" lIns="36000" tIns="10800" rIns="36000" bIns="10800" anchor="t">
            <a:spAutoFit/>
          </a:bodyPr>
          <a:lstStyle/>
          <a:p>
            <a:pPr algn="l">
              <a:lnSpc>
                <a:spcPct val="105000"/>
              </a:lnSpc>
              <a:spcAft>
                <a:spcPts val="200"/>
              </a:spcAft>
            </a:pPr>
            <a:r>
              <a:rPr sz="1300" b="1">
                <a:solidFill>
                  <a:srgbClr val="1F2A5C"/>
                </a:solidFill>
                <a:latin typeface="メイリオ"/>
                <a:ea typeface="メイリオ"/>
                <a:cs typeface="メイリオ"/>
              </a:rPr>
              <a:t>中身</a:t>
            </a:r>
          </a:p>
          <a:p>
            <a:pPr algn="l">
              <a:lnSpc>
                <a:spcPct val="105000"/>
              </a:lnSpc>
              <a:spcAft>
                <a:spcPts val="200"/>
              </a:spcAft>
            </a:pPr>
            <a:r>
              <a:rPr sz="1200" b="0">
                <a:solidFill>
                  <a:srgbClr val="333333"/>
                </a:solidFill>
                <a:latin typeface="メイリオ"/>
                <a:ea typeface="メイリオ"/>
                <a:cs typeface="メイリオ"/>
              </a:rPr>
              <a:t>購入からの日数を起点にしたステップ配信／</a:t>
            </a:r>
          </a:p>
          <a:p>
            <a:pPr algn="l">
              <a:lnSpc>
                <a:spcPct val="105000"/>
              </a:lnSpc>
              <a:spcAft>
                <a:spcPts val="200"/>
              </a:spcAft>
            </a:pPr>
            <a:r>
              <a:rPr sz="1200" b="0">
                <a:solidFill>
                  <a:srgbClr val="333333"/>
                </a:solidFill>
                <a:latin typeface="メイリオ"/>
                <a:ea typeface="メイリオ"/>
                <a:cs typeface="メイリオ"/>
              </a:rPr>
              <a:t>購入内容に合わせた関連商品の案内／</a:t>
            </a:r>
          </a:p>
          <a:p>
            <a:pPr algn="l">
              <a:lnSpc>
                <a:spcPct val="105000"/>
              </a:lnSpc>
              <a:spcAft>
                <a:spcPts val="200"/>
              </a:spcAft>
            </a:pPr>
            <a:r>
              <a:rPr sz="1200" b="0">
                <a:solidFill>
                  <a:srgbClr val="333333"/>
                </a:solidFill>
                <a:latin typeface="メイリオ"/>
                <a:ea typeface="メイリオ"/>
                <a:cs typeface="メイリオ"/>
              </a:rPr>
              <a:t>次回の予約の案内</a:t>
            </a:r>
          </a:p>
        </p:txBody>
      </p:sp>
      <p:sp>
        <p:nvSpPr>
          <p:cNvPr id="118" name="TextBox 117"/>
          <p:cNvSpPr txBox="1"/>
          <p:nvPr/>
        </p:nvSpPr>
        <p:spPr>
          <a:xfrm>
            <a:off x="6373368" y="5230368"/>
            <a:ext cx="3163823" cy="923544"/>
          </a:xfrm>
          <a:prstGeom prst="rect">
            <a:avLst/>
          </a:prstGeom>
          <a:noFill/>
        </p:spPr>
        <p:txBody>
          <a:bodyPr wrap="square" lIns="36000" tIns="10800" rIns="36000" bIns="10800" anchor="t">
            <a:spAutoFit/>
          </a:bodyPr>
          <a:lstStyle/>
          <a:p>
            <a:pPr algn="l">
              <a:lnSpc>
                <a:spcPct val="105000"/>
              </a:lnSpc>
              <a:spcAft>
                <a:spcPts val="200"/>
              </a:spcAft>
            </a:pPr>
            <a:r>
              <a:rPr sz="1300" b="1">
                <a:solidFill>
                  <a:srgbClr val="1F2A5C"/>
                </a:solidFill>
                <a:latin typeface="メイリオ"/>
                <a:ea typeface="メイリオ"/>
                <a:cs typeface="メイリオ"/>
              </a:rPr>
              <a:t>見る数字</a:t>
            </a:r>
          </a:p>
          <a:p>
            <a:pPr algn="l">
              <a:lnSpc>
                <a:spcPct val="105000"/>
              </a:lnSpc>
              <a:spcAft>
                <a:spcPts val="200"/>
              </a:spcAft>
            </a:pPr>
            <a:r>
              <a:rPr sz="1200" b="0">
                <a:solidFill>
                  <a:srgbClr val="333333"/>
                </a:solidFill>
                <a:latin typeface="メイリオ"/>
                <a:ea typeface="メイリオ"/>
                <a:cs typeface="メイリオ"/>
              </a:rPr>
              <a:t>リピート率／再来店数／購入間隔</a:t>
            </a:r>
          </a:p>
        </p:txBody>
      </p:sp>
    </p:spTree>
    <p:extLst>
      <p:ext uri="{BB962C8B-B14F-4D97-AF65-F5344CB8AC3E}">
        <p14:creationId xmlns:p14="http://schemas.microsoft.com/office/powerpoint/2010/main" val="270816391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24268C-F051-0034-8F1C-A9F10B60F8A5}"/>
            </a:ext>
          </a:extLst>
        </p:cNvPr>
        <p:cNvGrpSpPr/>
        <p:nvPr/>
      </p:nvGrpSpPr>
      <p:grpSpPr>
        <a:xfrm>
          <a:off x="0" y="0"/>
          <a:ext cx="0" cy="0"/>
          <a:chOff x="0" y="0"/>
          <a:chExt cx="0" cy="0"/>
        </a:xfrm>
      </p:grpSpPr>
      <p:sp>
        <p:nvSpPr>
          <p:cNvPr id="3" name="テキスト ボックス 47">
            <a:extLst>
              <a:ext uri="{FF2B5EF4-FFF2-40B4-BE49-F238E27FC236}">
                <a16:creationId xmlns:a16="http://schemas.microsoft.com/office/drawing/2014/main" id="{53FE06A6-86EF-D7B0-BBFB-528ECC073C71}"/>
              </a:ext>
            </a:extLst>
          </p:cNvPr>
          <p:cNvSpPr txBox="1">
            <a:spLocks noChangeArrowheads="1"/>
          </p:cNvSpPr>
          <p:nvPr/>
        </p:nvSpPr>
        <p:spPr bwMode="auto">
          <a:xfrm>
            <a:off x="456501"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Calibri" charset="0"/>
                <a:ea typeface="ＭＳ Ｐゴシック" charset="0"/>
                <a:cs typeface="ＭＳ Ｐゴシック" charset="0"/>
              </a:defRPr>
            </a:lvl1pPr>
            <a:lvl2pPr>
              <a:defRPr kumimoji="1" sz="2800">
                <a:solidFill>
                  <a:schemeClr val="tx1"/>
                </a:solidFill>
                <a:latin typeface="Calibri" charset="0"/>
                <a:ea typeface="ＭＳ Ｐゴシック" charset="0"/>
              </a:defRPr>
            </a:lvl2pPr>
            <a:lvl3pPr>
              <a:defRPr kumimoji="1" sz="2400">
                <a:solidFill>
                  <a:schemeClr val="tx1"/>
                </a:solidFill>
                <a:latin typeface="Calibri" charset="0"/>
                <a:ea typeface="ＭＳ Ｐゴシック" charset="0"/>
              </a:defRPr>
            </a:lvl3pPr>
            <a:lvl4pPr>
              <a:defRPr kumimoji="1" sz="2000">
                <a:solidFill>
                  <a:schemeClr val="tx1"/>
                </a:solidFill>
                <a:latin typeface="Calibri" charset="0"/>
                <a:ea typeface="ＭＳ Ｐゴシック" charset="0"/>
              </a:defRPr>
            </a:lvl4pPr>
            <a:lvl5pPr>
              <a:defRPr kumimoji="1" sz="2000">
                <a:solidFill>
                  <a:schemeClr val="tx1"/>
                </a:solidFill>
                <a:latin typeface="Calibri" charset="0"/>
                <a:ea typeface="ＭＳ Ｐゴシック" charset="0"/>
              </a:defRPr>
            </a:lvl5pPr>
            <a:lvl6pPr eaLnBrk="0" fontAlgn="base" hangingPunct="0">
              <a:spcAft>
                <a:spcPct val="0"/>
              </a:spcAft>
              <a:buFont typeface="Arial" charset="0"/>
              <a:buChar char="»"/>
              <a:defRPr kumimoji="1" sz="2000">
                <a:solidFill>
                  <a:schemeClr val="tx1"/>
                </a:solidFill>
                <a:latin typeface="Calibri" charset="0"/>
                <a:ea typeface="ＭＳ Ｐゴシック" charset="0"/>
              </a:defRPr>
            </a:lvl6pPr>
            <a:lvl7pPr eaLnBrk="0" fontAlgn="base" hangingPunct="0">
              <a:spcAft>
                <a:spcPct val="0"/>
              </a:spcAft>
              <a:buFont typeface="Arial" charset="0"/>
              <a:buChar char="»"/>
              <a:defRPr kumimoji="1" sz="2000">
                <a:solidFill>
                  <a:schemeClr val="tx1"/>
                </a:solidFill>
                <a:latin typeface="Calibri" charset="0"/>
                <a:ea typeface="ＭＳ Ｐゴシック" charset="0"/>
              </a:defRPr>
            </a:lvl7pPr>
            <a:lvl8pPr eaLnBrk="0" fontAlgn="base" hangingPunct="0">
              <a:spcAft>
                <a:spcPct val="0"/>
              </a:spcAft>
              <a:buFont typeface="Arial" charset="0"/>
              <a:buChar char="»"/>
              <a:defRPr kumimoji="1" sz="2000">
                <a:solidFill>
                  <a:schemeClr val="tx1"/>
                </a:solidFill>
                <a:latin typeface="Calibri" charset="0"/>
                <a:ea typeface="ＭＳ Ｐゴシック" charset="0"/>
              </a:defRPr>
            </a:lvl8pPr>
            <a:lvl9pPr eaLnBrk="0" fontAlgn="base" hangingPunct="0">
              <a:spcAft>
                <a:spcPct val="0"/>
              </a:spcAft>
              <a:buFont typeface="Arial" charset="0"/>
              <a:buChar char="»"/>
              <a:defRPr kumimoji="1" sz="2000">
                <a:solidFill>
                  <a:schemeClr val="tx1"/>
                </a:solidFill>
                <a:latin typeface="Calibri" charset="0"/>
                <a:ea typeface="ＭＳ Ｐゴシック" charset="0"/>
              </a:defRPr>
            </a:lvl9pPr>
          </a:lstStyle>
          <a:p>
            <a:pPr>
              <a:spcBef>
                <a:spcPct val="20000"/>
              </a:spcBef>
              <a:buFont typeface="Arial" charset="0"/>
              <a:buNone/>
            </a:pPr>
            <a:r>
              <a:rPr lang="ja-JP" altLang="en-US" sz="1600" b="1" dirty="0">
                <a:solidFill>
                  <a:srgbClr val="1F2A5C"/>
                </a:solidFill>
                <a:latin typeface="メイリオ"/>
                <a:ea typeface="メイリオ"/>
                <a:cs typeface="メイリオ"/>
              </a:rPr>
              <a:t>具体施策のイメージ</a:t>
            </a:r>
          </a:p>
        </p:txBody>
      </p:sp>
      <p:sp>
        <p:nvSpPr>
          <p:cNvPr id="5" name="正方形/長方形 4">
            <a:extLst>
              <a:ext uri="{FF2B5EF4-FFF2-40B4-BE49-F238E27FC236}">
                <a16:creationId xmlns:a16="http://schemas.microsoft.com/office/drawing/2014/main" id="{901D9328-0162-B9BC-14E5-4043C4775398}"/>
              </a:ext>
            </a:extLst>
          </p:cNvPr>
          <p:cNvSpPr/>
          <p:nvPr/>
        </p:nvSpPr>
        <p:spPr>
          <a:xfrm>
            <a:off x="2659553" y="109691"/>
            <a:ext cx="1992986" cy="326496"/>
          </a:xfrm>
          <a:prstGeom prst="rect">
            <a:avLst/>
          </a:prstGeom>
          <a:solidFill>
            <a:schemeClr val="tx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solidFill>
                  <a:srgbClr val="FFFF00"/>
                </a:solidFill>
                <a:latin typeface="メイリオ" panose="020B0604030504040204" pitchFamily="50" charset="-128"/>
                <a:ea typeface="メイリオ" panose="020B0604030504040204" pitchFamily="50" charset="-128"/>
              </a:rPr>
              <a:t>コミュニティ運営</a:t>
            </a:r>
          </a:p>
        </p:txBody>
      </p:sp>
      <p:sp>
        <p:nvSpPr>
          <p:cNvPr id="51" name="Chevron 13">
            <a:extLst>
              <a:ext uri="{FF2B5EF4-FFF2-40B4-BE49-F238E27FC236}">
                <a16:creationId xmlns:a16="http://schemas.microsoft.com/office/drawing/2014/main" id="{CE22BBFE-2B26-237F-982B-2EA5618B295C}"/>
              </a:ext>
            </a:extLst>
          </p:cNvPr>
          <p:cNvSpPr/>
          <p:nvPr/>
        </p:nvSpPr>
        <p:spPr>
          <a:xfrm>
            <a:off x="7099344" y="795063"/>
            <a:ext cx="1482455" cy="731520"/>
          </a:xfrm>
          <a:prstGeom prst="chevron">
            <a:avLst/>
          </a:prstGeom>
          <a:solidFill>
            <a:schemeClr val="tx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55" name="Chevron 12">
            <a:extLst>
              <a:ext uri="{FF2B5EF4-FFF2-40B4-BE49-F238E27FC236}">
                <a16:creationId xmlns:a16="http://schemas.microsoft.com/office/drawing/2014/main" id="{80FBA5C2-85D8-876D-21BD-21D8CBF46DCA}"/>
              </a:ext>
            </a:extLst>
          </p:cNvPr>
          <p:cNvSpPr/>
          <p:nvPr/>
        </p:nvSpPr>
        <p:spPr>
          <a:xfrm>
            <a:off x="593938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67" name="テキスト ボックス 66">
            <a:extLst>
              <a:ext uri="{FF2B5EF4-FFF2-40B4-BE49-F238E27FC236}">
                <a16:creationId xmlns:a16="http://schemas.microsoft.com/office/drawing/2014/main" id="{414E7487-2F11-DE25-DBC0-3F05BADEBBB5}"/>
              </a:ext>
            </a:extLst>
          </p:cNvPr>
          <p:cNvSpPr txBox="1"/>
          <p:nvPr/>
        </p:nvSpPr>
        <p:spPr>
          <a:xfrm>
            <a:off x="7420737" y="1030016"/>
            <a:ext cx="982079"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マネタイズ</a:t>
            </a:r>
          </a:p>
        </p:txBody>
      </p:sp>
      <p:sp>
        <p:nvSpPr>
          <p:cNvPr id="73" name="テキスト ボックス 72">
            <a:extLst>
              <a:ext uri="{FF2B5EF4-FFF2-40B4-BE49-F238E27FC236}">
                <a16:creationId xmlns:a16="http://schemas.microsoft.com/office/drawing/2014/main" id="{520F0369-7B38-CED2-FDCE-2A3D5E2FBA45}"/>
              </a:ext>
            </a:extLst>
          </p:cNvPr>
          <p:cNvSpPr txBox="1"/>
          <p:nvPr/>
        </p:nvSpPr>
        <p:spPr>
          <a:xfrm>
            <a:off x="6301709" y="945379"/>
            <a:ext cx="811635" cy="430887"/>
          </a:xfrm>
          <a:prstGeom prst="rect">
            <a:avLst/>
          </a:prstGeom>
          <a:solidFill>
            <a:schemeClr val="accent1">
              <a:lumMod val="75000"/>
            </a:schemeClr>
          </a:solid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リード</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再育成</a:t>
            </a:r>
          </a:p>
        </p:txBody>
      </p:sp>
      <p:sp>
        <p:nvSpPr>
          <p:cNvPr id="93" name="Pentagon 10">
            <a:extLst>
              <a:ext uri="{FF2B5EF4-FFF2-40B4-BE49-F238E27FC236}">
                <a16:creationId xmlns:a16="http://schemas.microsoft.com/office/drawing/2014/main" id="{6ACC63D7-6F52-9BE7-B7F1-06941B3FB662}"/>
              </a:ext>
            </a:extLst>
          </p:cNvPr>
          <p:cNvSpPr/>
          <p:nvPr/>
        </p:nvSpPr>
        <p:spPr>
          <a:xfrm>
            <a:off x="262895" y="795063"/>
            <a:ext cx="1360371" cy="731520"/>
          </a:xfrm>
          <a:prstGeom prst="homePlate">
            <a:avLst/>
          </a:prstGeom>
          <a:solidFill>
            <a:schemeClr val="bg1">
              <a:lumMod val="6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lang="en-US" altLang="ja-JP" sz="1300" b="1" dirty="0">
              <a:solidFill>
                <a:srgbClr val="FFFFFF"/>
              </a:solidFill>
              <a:latin typeface="メイリオ"/>
              <a:ea typeface="メイリオ"/>
              <a:cs typeface="メイリオ"/>
            </a:endParaRPr>
          </a:p>
        </p:txBody>
      </p:sp>
      <p:sp>
        <p:nvSpPr>
          <p:cNvPr id="95" name="Chevron 11">
            <a:extLst>
              <a:ext uri="{FF2B5EF4-FFF2-40B4-BE49-F238E27FC236}">
                <a16:creationId xmlns:a16="http://schemas.microsoft.com/office/drawing/2014/main" id="{41EEE8B7-3911-9FA9-D5E8-3DA2ED3998DE}"/>
              </a:ext>
            </a:extLst>
          </p:cNvPr>
          <p:cNvSpPr/>
          <p:nvPr/>
        </p:nvSpPr>
        <p:spPr>
          <a:xfrm>
            <a:off x="1299544" y="795063"/>
            <a:ext cx="1482455" cy="731520"/>
          </a:xfrm>
          <a:prstGeom prst="chevron">
            <a:avLst/>
          </a:prstGeom>
          <a:solidFill>
            <a:schemeClr val="accent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97" name="Chevron 11">
            <a:extLst>
              <a:ext uri="{FF2B5EF4-FFF2-40B4-BE49-F238E27FC236}">
                <a16:creationId xmlns:a16="http://schemas.microsoft.com/office/drawing/2014/main" id="{00F69354-CC26-C840-A15E-CBD7B45B2E08}"/>
              </a:ext>
            </a:extLst>
          </p:cNvPr>
          <p:cNvSpPr/>
          <p:nvPr/>
        </p:nvSpPr>
        <p:spPr>
          <a:xfrm>
            <a:off x="2459504" y="795063"/>
            <a:ext cx="1482455" cy="731520"/>
          </a:xfrm>
          <a:prstGeom prst="chevron">
            <a:avLst/>
          </a:prstGeom>
          <a:solidFill>
            <a:schemeClr val="accent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99" name="テキスト ボックス 98">
            <a:extLst>
              <a:ext uri="{FF2B5EF4-FFF2-40B4-BE49-F238E27FC236}">
                <a16:creationId xmlns:a16="http://schemas.microsoft.com/office/drawing/2014/main" id="{5A3585B4-3CB4-7042-40C9-E33D520250EF}"/>
              </a:ext>
            </a:extLst>
          </p:cNvPr>
          <p:cNvSpPr txBox="1"/>
          <p:nvPr/>
        </p:nvSpPr>
        <p:spPr>
          <a:xfrm>
            <a:off x="1616581" y="945379"/>
            <a:ext cx="811635"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サイト</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離脱</a:t>
            </a:r>
          </a:p>
        </p:txBody>
      </p:sp>
      <p:sp>
        <p:nvSpPr>
          <p:cNvPr id="101" name="テキスト ボックス 100">
            <a:extLst>
              <a:ext uri="{FF2B5EF4-FFF2-40B4-BE49-F238E27FC236}">
                <a16:creationId xmlns:a16="http://schemas.microsoft.com/office/drawing/2014/main" id="{37372EB0-F5E6-65AF-7C6F-6ED9C8B77FAA}"/>
              </a:ext>
            </a:extLst>
          </p:cNvPr>
          <p:cNvSpPr txBox="1"/>
          <p:nvPr/>
        </p:nvSpPr>
        <p:spPr>
          <a:xfrm>
            <a:off x="2787863" y="1030016"/>
            <a:ext cx="811635"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育成</a:t>
            </a:r>
          </a:p>
        </p:txBody>
      </p:sp>
      <p:sp>
        <p:nvSpPr>
          <p:cNvPr id="103" name="テキスト ボックス 102">
            <a:extLst>
              <a:ext uri="{FF2B5EF4-FFF2-40B4-BE49-F238E27FC236}">
                <a16:creationId xmlns:a16="http://schemas.microsoft.com/office/drawing/2014/main" id="{AA83D2FD-45C9-0F59-802A-AF2C5668C610}"/>
              </a:ext>
            </a:extLst>
          </p:cNvPr>
          <p:cNvSpPr txBox="1"/>
          <p:nvPr/>
        </p:nvSpPr>
        <p:spPr>
          <a:xfrm>
            <a:off x="445299" y="1030016"/>
            <a:ext cx="811635"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接触</a:t>
            </a:r>
          </a:p>
        </p:txBody>
      </p:sp>
      <p:sp>
        <p:nvSpPr>
          <p:cNvPr id="15" name="Chevron 12">
            <a:extLst>
              <a:ext uri="{FF2B5EF4-FFF2-40B4-BE49-F238E27FC236}">
                <a16:creationId xmlns:a16="http://schemas.microsoft.com/office/drawing/2014/main" id="{59DD36B2-96D9-D151-9C00-1072C4868402}"/>
              </a:ext>
            </a:extLst>
          </p:cNvPr>
          <p:cNvSpPr/>
          <p:nvPr/>
        </p:nvSpPr>
        <p:spPr>
          <a:xfrm>
            <a:off x="361946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17" name="テキスト ボックス 16">
            <a:extLst>
              <a:ext uri="{FF2B5EF4-FFF2-40B4-BE49-F238E27FC236}">
                <a16:creationId xmlns:a16="http://schemas.microsoft.com/office/drawing/2014/main" id="{439A3FCC-970E-F0D5-83C6-3DB1603A260F}"/>
              </a:ext>
            </a:extLst>
          </p:cNvPr>
          <p:cNvSpPr txBox="1"/>
          <p:nvPr/>
        </p:nvSpPr>
        <p:spPr>
          <a:xfrm>
            <a:off x="3959145" y="945379"/>
            <a:ext cx="811635"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リード</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獲得</a:t>
            </a:r>
          </a:p>
        </p:txBody>
      </p:sp>
      <p:sp>
        <p:nvSpPr>
          <p:cNvPr id="19" name="Chevron 11">
            <a:extLst>
              <a:ext uri="{FF2B5EF4-FFF2-40B4-BE49-F238E27FC236}">
                <a16:creationId xmlns:a16="http://schemas.microsoft.com/office/drawing/2014/main" id="{FFB75D8D-CCC8-08DA-9374-BDCC4DBC0F84}"/>
              </a:ext>
            </a:extLst>
          </p:cNvPr>
          <p:cNvSpPr/>
          <p:nvPr/>
        </p:nvSpPr>
        <p:spPr>
          <a:xfrm>
            <a:off x="477942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21" name="テキスト ボックス 20">
            <a:extLst>
              <a:ext uri="{FF2B5EF4-FFF2-40B4-BE49-F238E27FC236}">
                <a16:creationId xmlns:a16="http://schemas.microsoft.com/office/drawing/2014/main" id="{053B8822-C5C6-7FF1-2E68-9A537E44EC64}"/>
              </a:ext>
            </a:extLst>
          </p:cNvPr>
          <p:cNvSpPr txBox="1"/>
          <p:nvPr/>
        </p:nvSpPr>
        <p:spPr>
          <a:xfrm>
            <a:off x="5130427" y="945378"/>
            <a:ext cx="811635" cy="430887"/>
          </a:xfrm>
          <a:prstGeom prst="rect">
            <a:avLst/>
          </a:prstGeom>
          <a:solidFill>
            <a:schemeClr val="accent1">
              <a:lumMod val="75000"/>
            </a:schemeClr>
          </a:solid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有効</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リード化</a:t>
            </a:r>
          </a:p>
        </p:txBody>
      </p:sp>
      <p:sp>
        <p:nvSpPr>
          <p:cNvPr id="4" name="正方形/長方形 3">
            <a:extLst>
              <a:ext uri="{FF2B5EF4-FFF2-40B4-BE49-F238E27FC236}">
                <a16:creationId xmlns:a16="http://schemas.microsoft.com/office/drawing/2014/main" id="{D30303D8-861D-2829-9C34-EB5B96556F40}"/>
              </a:ext>
            </a:extLst>
          </p:cNvPr>
          <p:cNvSpPr/>
          <p:nvPr/>
        </p:nvSpPr>
        <p:spPr>
          <a:xfrm>
            <a:off x="-15984" y="609190"/>
            <a:ext cx="9917132" cy="1034848"/>
          </a:xfrm>
          <a:prstGeom prst="rect">
            <a:avLst/>
          </a:prstGeom>
          <a:solidFill>
            <a:schemeClr val="bg1">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7" name="正方形/長方形 6">
            <a:extLst>
              <a:ext uri="{FF2B5EF4-FFF2-40B4-BE49-F238E27FC236}">
                <a16:creationId xmlns:a16="http://schemas.microsoft.com/office/drawing/2014/main" id="{6BF23443-3F44-9153-9179-100EF3B83E19}"/>
              </a:ext>
            </a:extLst>
          </p:cNvPr>
          <p:cNvSpPr/>
          <p:nvPr/>
        </p:nvSpPr>
        <p:spPr>
          <a:xfrm>
            <a:off x="-15984" y="645907"/>
            <a:ext cx="9930693" cy="1034848"/>
          </a:xfrm>
          <a:prstGeom prst="rect">
            <a:avLst/>
          </a:prstGeom>
          <a:solidFill>
            <a:schemeClr val="bg1">
              <a:lumMod val="95000"/>
              <a:alpha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9" name="Chevron 13">
            <a:extLst>
              <a:ext uri="{FF2B5EF4-FFF2-40B4-BE49-F238E27FC236}">
                <a16:creationId xmlns:a16="http://schemas.microsoft.com/office/drawing/2014/main" id="{09B631BF-2611-3282-49CE-E252DECDE27A}"/>
              </a:ext>
            </a:extLst>
          </p:cNvPr>
          <p:cNvSpPr/>
          <p:nvPr/>
        </p:nvSpPr>
        <p:spPr>
          <a:xfrm>
            <a:off x="8259306" y="795063"/>
            <a:ext cx="1482455" cy="731520"/>
          </a:xfrm>
          <a:prstGeom prst="chevron">
            <a:avLst/>
          </a:prstGeom>
          <a:solidFill>
            <a:schemeClr val="tx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12" name="テキスト ボックス 11">
            <a:extLst>
              <a:ext uri="{FF2B5EF4-FFF2-40B4-BE49-F238E27FC236}">
                <a16:creationId xmlns:a16="http://schemas.microsoft.com/office/drawing/2014/main" id="{E0CC1822-52C4-D2B9-7FF9-B51A2204E8B1}"/>
              </a:ext>
            </a:extLst>
          </p:cNvPr>
          <p:cNvSpPr txBox="1"/>
          <p:nvPr/>
        </p:nvSpPr>
        <p:spPr>
          <a:xfrm>
            <a:off x="8544744" y="945378"/>
            <a:ext cx="982079"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リピート</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クロスセル</a:t>
            </a:r>
          </a:p>
        </p:txBody>
      </p:sp>
      <p:sp>
        <p:nvSpPr>
          <p:cNvPr id="6" name="四角形: 角を丸くする 5">
            <a:extLst>
              <a:ext uri="{FF2B5EF4-FFF2-40B4-BE49-F238E27FC236}">
                <a16:creationId xmlns:a16="http://schemas.microsoft.com/office/drawing/2014/main" id="{F9C56CF2-60DE-DF0B-73AB-C8769DA02AE9}"/>
              </a:ext>
            </a:extLst>
          </p:cNvPr>
          <p:cNvSpPr/>
          <p:nvPr/>
        </p:nvSpPr>
        <p:spPr>
          <a:xfrm>
            <a:off x="262895" y="1854926"/>
            <a:ext cx="5885356" cy="435716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四角形: 角を丸くする 9">
            <a:extLst>
              <a:ext uri="{FF2B5EF4-FFF2-40B4-BE49-F238E27FC236}">
                <a16:creationId xmlns:a16="http://schemas.microsoft.com/office/drawing/2014/main" id="{3DC098DF-392C-B85B-2BD7-9024C9265A47}"/>
              </a:ext>
            </a:extLst>
          </p:cNvPr>
          <p:cNvSpPr/>
          <p:nvPr/>
        </p:nvSpPr>
        <p:spPr>
          <a:xfrm>
            <a:off x="6261879" y="1854926"/>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四角形: 角を丸くする 12">
            <a:extLst>
              <a:ext uri="{FF2B5EF4-FFF2-40B4-BE49-F238E27FC236}">
                <a16:creationId xmlns:a16="http://schemas.microsoft.com/office/drawing/2014/main" id="{34E5D985-1393-630A-EACC-F61C1CA5E4BF}"/>
              </a:ext>
            </a:extLst>
          </p:cNvPr>
          <p:cNvSpPr/>
          <p:nvPr/>
        </p:nvSpPr>
        <p:spPr>
          <a:xfrm>
            <a:off x="6261879" y="2947852"/>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四角形: 角を丸くする 15">
            <a:extLst>
              <a:ext uri="{FF2B5EF4-FFF2-40B4-BE49-F238E27FC236}">
                <a16:creationId xmlns:a16="http://schemas.microsoft.com/office/drawing/2014/main" id="{40043C29-FD63-A762-3BE9-A94DAE22A315}"/>
              </a:ext>
            </a:extLst>
          </p:cNvPr>
          <p:cNvSpPr/>
          <p:nvPr/>
        </p:nvSpPr>
        <p:spPr>
          <a:xfrm>
            <a:off x="6261879" y="4049186"/>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四角形: 角を丸くする 19">
            <a:extLst>
              <a:ext uri="{FF2B5EF4-FFF2-40B4-BE49-F238E27FC236}">
                <a16:creationId xmlns:a16="http://schemas.microsoft.com/office/drawing/2014/main" id="{0666F0DA-BF7D-5966-BD1A-BE7B1A9ECF9F}"/>
              </a:ext>
            </a:extLst>
          </p:cNvPr>
          <p:cNvSpPr/>
          <p:nvPr/>
        </p:nvSpPr>
        <p:spPr>
          <a:xfrm>
            <a:off x="6278273" y="5177245"/>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4" name="Rectangle 103"/>
          <p:cNvSpPr/>
          <p:nvPr/>
        </p:nvSpPr>
        <p:spPr>
          <a:xfrm>
            <a:off x="854964" y="2583179"/>
            <a:ext cx="777239" cy="603504"/>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400" b="1">
                <a:solidFill>
                  <a:srgbClr val="FFFFFF"/>
                </a:solidFill>
                <a:latin typeface="メイリオ"/>
                <a:ea typeface="メイリオ"/>
                <a:cs typeface="メイリオ"/>
              </a:rPr>
              <a:t>入口</a:t>
            </a:r>
          </a:p>
        </p:txBody>
      </p:sp>
      <p:sp>
        <p:nvSpPr>
          <p:cNvPr id="105" name="Rectangle 104"/>
          <p:cNvSpPr/>
          <p:nvPr/>
        </p:nvSpPr>
        <p:spPr>
          <a:xfrm>
            <a:off x="1632204" y="2583179"/>
            <a:ext cx="3931920" cy="603504"/>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wrap="square" lIns="64800" tIns="10800" rIns="43200" bIns="10800" rtlCol="0" anchor="ctr"/>
          <a:lstStyle/>
          <a:p>
            <a:pPr algn="l">
              <a:lnSpc>
                <a:spcPct val="110000"/>
              </a:lnSpc>
              <a:spcAft>
                <a:spcPts val="0"/>
              </a:spcAft>
            </a:pPr>
            <a:r>
              <a:rPr sz="1400" b="1">
                <a:solidFill>
                  <a:srgbClr val="1F2A5C"/>
                </a:solidFill>
                <a:latin typeface="メイリオ"/>
                <a:ea typeface="メイリオ"/>
                <a:cs typeface="メイリオ"/>
              </a:rPr>
              <a:t>会員・ファン</a:t>
            </a:r>
          </a:p>
          <a:p>
            <a:pPr algn="l">
              <a:lnSpc>
                <a:spcPct val="110000"/>
              </a:lnSpc>
              <a:spcAft>
                <a:spcPts val="0"/>
              </a:spcAft>
            </a:pPr>
            <a:r>
              <a:rPr sz="1050" b="0">
                <a:solidFill>
                  <a:srgbClr val="333333"/>
                </a:solidFill>
                <a:latin typeface="メイリオ"/>
                <a:ea typeface="メイリオ"/>
                <a:cs typeface="メイリオ"/>
              </a:rPr>
              <a:t>購入・来店をくり返す方</a:t>
            </a:r>
          </a:p>
        </p:txBody>
      </p:sp>
      <p:sp>
        <p:nvSpPr>
          <p:cNvPr id="106" name="TextBox 105"/>
          <p:cNvSpPr txBox="1"/>
          <p:nvPr/>
        </p:nvSpPr>
        <p:spPr>
          <a:xfrm>
            <a:off x="854964" y="3177539"/>
            <a:ext cx="777239" cy="182880"/>
          </a:xfrm>
          <a:prstGeom prst="rect">
            <a:avLst/>
          </a:prstGeom>
          <a:noFill/>
        </p:spPr>
        <p:txBody>
          <a:bodyPr wrap="square" lIns="36000" tIns="10800" rIns="36000" bIns="10800" anchor="ctr">
            <a:spAutoFit/>
          </a:bodyPr>
          <a:lstStyle/>
          <a:p>
            <a:pPr algn="ctr">
              <a:lnSpc>
                <a:spcPct val="105000"/>
              </a:lnSpc>
              <a:spcAft>
                <a:spcPts val="200"/>
              </a:spcAft>
            </a:pPr>
            <a:r>
              <a:rPr sz="900" b="0">
                <a:solidFill>
                  <a:srgbClr val="1F2A5C"/>
                </a:solidFill>
                <a:latin typeface="メイリオ"/>
                <a:ea typeface="メイリオ"/>
                <a:cs typeface="メイリオ"/>
              </a:rPr>
              <a:t>▼</a:t>
            </a:r>
          </a:p>
        </p:txBody>
      </p:sp>
      <p:sp>
        <p:nvSpPr>
          <p:cNvPr id="107" name="Rectangle 106"/>
          <p:cNvSpPr/>
          <p:nvPr/>
        </p:nvSpPr>
        <p:spPr>
          <a:xfrm>
            <a:off x="854964" y="3351275"/>
            <a:ext cx="777239" cy="603504"/>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400" b="1">
                <a:solidFill>
                  <a:srgbClr val="FFFFFF"/>
                </a:solidFill>
                <a:latin typeface="メイリオ"/>
                <a:ea typeface="メイリオ"/>
                <a:cs typeface="メイリオ"/>
              </a:rPr>
              <a:t>LINE</a:t>
            </a:r>
          </a:p>
        </p:txBody>
      </p:sp>
      <p:sp>
        <p:nvSpPr>
          <p:cNvPr id="108" name="Rectangle 107"/>
          <p:cNvSpPr/>
          <p:nvPr/>
        </p:nvSpPr>
        <p:spPr>
          <a:xfrm>
            <a:off x="1632204" y="3351275"/>
            <a:ext cx="3931920" cy="603504"/>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wrap="square" lIns="64800" tIns="10800" rIns="43200" bIns="10800" rtlCol="0" anchor="ctr"/>
          <a:lstStyle/>
          <a:p>
            <a:pPr algn="l">
              <a:lnSpc>
                <a:spcPct val="110000"/>
              </a:lnSpc>
              <a:spcAft>
                <a:spcPts val="0"/>
              </a:spcAft>
            </a:pPr>
            <a:r>
              <a:rPr sz="1400" b="1">
                <a:solidFill>
                  <a:srgbClr val="1F2A5C"/>
                </a:solidFill>
                <a:latin typeface="メイリオ"/>
                <a:ea typeface="メイリオ"/>
                <a:cs typeface="メイリオ"/>
              </a:rPr>
              <a:t>会員・ファンのタグ付け</a:t>
            </a:r>
          </a:p>
          <a:p>
            <a:pPr algn="l">
              <a:lnSpc>
                <a:spcPct val="110000"/>
              </a:lnSpc>
              <a:spcAft>
                <a:spcPts val="0"/>
              </a:spcAft>
            </a:pPr>
            <a:r>
              <a:rPr sz="1050" b="0">
                <a:solidFill>
                  <a:srgbClr val="333333"/>
                </a:solidFill>
                <a:latin typeface="メイリオ"/>
                <a:ea typeface="メイリオ"/>
                <a:cs typeface="メイリオ"/>
              </a:rPr>
              <a:t>リッチメニューに会員向けの入口</a:t>
            </a:r>
          </a:p>
        </p:txBody>
      </p:sp>
      <p:sp>
        <p:nvSpPr>
          <p:cNvPr id="109" name="TextBox 108"/>
          <p:cNvSpPr txBox="1"/>
          <p:nvPr/>
        </p:nvSpPr>
        <p:spPr>
          <a:xfrm>
            <a:off x="854964" y="3945635"/>
            <a:ext cx="777239" cy="182880"/>
          </a:xfrm>
          <a:prstGeom prst="rect">
            <a:avLst/>
          </a:prstGeom>
          <a:noFill/>
        </p:spPr>
        <p:txBody>
          <a:bodyPr wrap="square" lIns="36000" tIns="10800" rIns="36000" bIns="10800" anchor="ctr">
            <a:spAutoFit/>
          </a:bodyPr>
          <a:lstStyle/>
          <a:p>
            <a:pPr algn="ctr">
              <a:lnSpc>
                <a:spcPct val="105000"/>
              </a:lnSpc>
              <a:spcAft>
                <a:spcPts val="200"/>
              </a:spcAft>
            </a:pPr>
            <a:r>
              <a:rPr sz="900" b="0">
                <a:solidFill>
                  <a:srgbClr val="1F2A5C"/>
                </a:solidFill>
                <a:latin typeface="メイリオ"/>
                <a:ea typeface="メイリオ"/>
                <a:cs typeface="メイリオ"/>
              </a:rPr>
              <a:t>▼</a:t>
            </a:r>
          </a:p>
        </p:txBody>
      </p:sp>
      <p:sp>
        <p:nvSpPr>
          <p:cNvPr id="110" name="Rectangle 109"/>
          <p:cNvSpPr/>
          <p:nvPr/>
        </p:nvSpPr>
        <p:spPr>
          <a:xfrm>
            <a:off x="854964" y="4119371"/>
            <a:ext cx="777239" cy="603504"/>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400" b="1">
                <a:solidFill>
                  <a:srgbClr val="FFFFFF"/>
                </a:solidFill>
                <a:latin typeface="メイリオ"/>
                <a:ea typeface="メイリオ"/>
                <a:cs typeface="メイリオ"/>
              </a:rPr>
              <a:t>配信</a:t>
            </a:r>
          </a:p>
        </p:txBody>
      </p:sp>
      <p:sp>
        <p:nvSpPr>
          <p:cNvPr id="111" name="Rectangle 110"/>
          <p:cNvSpPr/>
          <p:nvPr/>
        </p:nvSpPr>
        <p:spPr>
          <a:xfrm>
            <a:off x="1632204" y="4119371"/>
            <a:ext cx="3931920" cy="603504"/>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wrap="square" lIns="64800" tIns="10800" rIns="43200" bIns="10800" rtlCol="0" anchor="ctr"/>
          <a:lstStyle/>
          <a:p>
            <a:pPr algn="l">
              <a:lnSpc>
                <a:spcPct val="110000"/>
              </a:lnSpc>
              <a:spcAft>
                <a:spcPts val="0"/>
              </a:spcAft>
            </a:pPr>
            <a:r>
              <a:rPr sz="1400" b="1">
                <a:solidFill>
                  <a:srgbClr val="1F2A5C"/>
                </a:solidFill>
                <a:latin typeface="メイリオ"/>
                <a:ea typeface="メイリオ"/>
                <a:cs typeface="メイリオ"/>
              </a:rPr>
              <a:t>会員向けの限定情報・特典・イベントの案内</a:t>
            </a:r>
          </a:p>
        </p:txBody>
      </p:sp>
      <p:sp>
        <p:nvSpPr>
          <p:cNvPr id="112" name="TextBox 111"/>
          <p:cNvSpPr txBox="1"/>
          <p:nvPr/>
        </p:nvSpPr>
        <p:spPr>
          <a:xfrm>
            <a:off x="854964" y="4713731"/>
            <a:ext cx="777239" cy="182880"/>
          </a:xfrm>
          <a:prstGeom prst="rect">
            <a:avLst/>
          </a:prstGeom>
          <a:noFill/>
        </p:spPr>
        <p:txBody>
          <a:bodyPr wrap="square" lIns="36000" tIns="10800" rIns="36000" bIns="10800" anchor="ctr">
            <a:spAutoFit/>
          </a:bodyPr>
          <a:lstStyle/>
          <a:p>
            <a:pPr algn="ctr">
              <a:lnSpc>
                <a:spcPct val="105000"/>
              </a:lnSpc>
              <a:spcAft>
                <a:spcPts val="200"/>
              </a:spcAft>
            </a:pPr>
            <a:r>
              <a:rPr sz="900" b="0">
                <a:solidFill>
                  <a:srgbClr val="1F2A5C"/>
                </a:solidFill>
                <a:latin typeface="メイリオ"/>
                <a:ea typeface="メイリオ"/>
                <a:cs typeface="メイリオ"/>
              </a:rPr>
              <a:t>▼</a:t>
            </a:r>
          </a:p>
        </p:txBody>
      </p:sp>
      <p:sp>
        <p:nvSpPr>
          <p:cNvPr id="113" name="Rectangle 112"/>
          <p:cNvSpPr/>
          <p:nvPr/>
        </p:nvSpPr>
        <p:spPr>
          <a:xfrm>
            <a:off x="854964" y="4887468"/>
            <a:ext cx="777239" cy="603504"/>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400" b="1">
                <a:solidFill>
                  <a:srgbClr val="FFFFFF"/>
                </a:solidFill>
                <a:latin typeface="メイリオ"/>
                <a:ea typeface="メイリオ"/>
                <a:cs typeface="メイリオ"/>
              </a:rPr>
              <a:t>ゴール</a:t>
            </a:r>
          </a:p>
        </p:txBody>
      </p:sp>
      <p:sp>
        <p:nvSpPr>
          <p:cNvPr id="114" name="Rectangle 113"/>
          <p:cNvSpPr/>
          <p:nvPr/>
        </p:nvSpPr>
        <p:spPr>
          <a:xfrm>
            <a:off x="1632204" y="4887468"/>
            <a:ext cx="3931920" cy="603504"/>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wrap="square" lIns="64800" tIns="10800" rIns="43200" bIns="10800" rtlCol="0" anchor="ctr"/>
          <a:lstStyle/>
          <a:p>
            <a:pPr algn="l">
              <a:lnSpc>
                <a:spcPct val="110000"/>
              </a:lnSpc>
              <a:spcAft>
                <a:spcPts val="0"/>
              </a:spcAft>
            </a:pPr>
            <a:r>
              <a:rPr sz="1400" b="1">
                <a:solidFill>
                  <a:srgbClr val="1F2A5C"/>
                </a:solidFill>
                <a:latin typeface="メイリオ"/>
                <a:ea typeface="メイリオ"/>
                <a:cs typeface="メイリオ"/>
              </a:rPr>
              <a:t>継続利用・紹介</a:t>
            </a:r>
          </a:p>
        </p:txBody>
      </p:sp>
      <p:sp>
        <p:nvSpPr>
          <p:cNvPr id="115" name="TextBox 114"/>
          <p:cNvSpPr txBox="1"/>
          <p:nvPr/>
        </p:nvSpPr>
        <p:spPr>
          <a:xfrm>
            <a:off x="6373368" y="1911095"/>
            <a:ext cx="3163823" cy="923544"/>
          </a:xfrm>
          <a:prstGeom prst="rect">
            <a:avLst/>
          </a:prstGeom>
          <a:noFill/>
        </p:spPr>
        <p:txBody>
          <a:bodyPr wrap="square" lIns="36000" tIns="10800" rIns="36000" bIns="10800" anchor="t">
            <a:spAutoFit/>
          </a:bodyPr>
          <a:lstStyle/>
          <a:p>
            <a:pPr algn="l">
              <a:lnSpc>
                <a:spcPct val="105000"/>
              </a:lnSpc>
              <a:spcAft>
                <a:spcPts val="200"/>
              </a:spcAft>
            </a:pPr>
            <a:r>
              <a:rPr sz="1300" b="1">
                <a:solidFill>
                  <a:srgbClr val="1F2A5C"/>
                </a:solidFill>
                <a:latin typeface="メイリオ"/>
                <a:ea typeface="メイリオ"/>
                <a:cs typeface="メイリオ"/>
              </a:rPr>
              <a:t>目的</a:t>
            </a:r>
          </a:p>
          <a:p>
            <a:pPr algn="l">
              <a:lnSpc>
                <a:spcPct val="105000"/>
              </a:lnSpc>
              <a:spcAft>
                <a:spcPts val="200"/>
              </a:spcAft>
            </a:pPr>
            <a:r>
              <a:rPr sz="1200" b="0">
                <a:solidFill>
                  <a:srgbClr val="333333"/>
                </a:solidFill>
                <a:latin typeface="メイリオ"/>
                <a:ea typeface="メイリオ"/>
                <a:cs typeface="メイリオ"/>
              </a:rPr>
              <a:t>会員・ファン向けに限定情報と特典を届け、</a:t>
            </a:r>
          </a:p>
          <a:p>
            <a:pPr algn="l">
              <a:lnSpc>
                <a:spcPct val="105000"/>
              </a:lnSpc>
              <a:spcAft>
                <a:spcPts val="200"/>
              </a:spcAft>
            </a:pPr>
            <a:r>
              <a:rPr sz="1200" b="0">
                <a:solidFill>
                  <a:srgbClr val="333333"/>
                </a:solidFill>
                <a:latin typeface="メイリオ"/>
                <a:ea typeface="メイリオ"/>
                <a:cs typeface="メイリオ"/>
              </a:rPr>
              <a:t>つながりを強くする</a:t>
            </a:r>
          </a:p>
        </p:txBody>
      </p:sp>
      <p:sp>
        <p:nvSpPr>
          <p:cNvPr id="116" name="TextBox 115"/>
          <p:cNvSpPr txBox="1"/>
          <p:nvPr/>
        </p:nvSpPr>
        <p:spPr>
          <a:xfrm>
            <a:off x="6373368" y="2999232"/>
            <a:ext cx="3163823" cy="923544"/>
          </a:xfrm>
          <a:prstGeom prst="rect">
            <a:avLst/>
          </a:prstGeom>
          <a:noFill/>
        </p:spPr>
        <p:txBody>
          <a:bodyPr wrap="square" lIns="36000" tIns="10800" rIns="36000" bIns="10800" anchor="t">
            <a:spAutoFit/>
          </a:bodyPr>
          <a:lstStyle/>
          <a:p>
            <a:pPr algn="l">
              <a:lnSpc>
                <a:spcPct val="105000"/>
              </a:lnSpc>
              <a:spcAft>
                <a:spcPts val="200"/>
              </a:spcAft>
            </a:pPr>
            <a:r>
              <a:rPr sz="1300" b="1">
                <a:solidFill>
                  <a:srgbClr val="1F2A5C"/>
                </a:solidFill>
                <a:latin typeface="メイリオ"/>
                <a:ea typeface="メイリオ"/>
                <a:cs typeface="メイリオ"/>
              </a:rPr>
              <a:t>対象</a:t>
            </a:r>
          </a:p>
          <a:p>
            <a:pPr algn="l">
              <a:lnSpc>
                <a:spcPct val="105000"/>
              </a:lnSpc>
              <a:spcAft>
                <a:spcPts val="200"/>
              </a:spcAft>
            </a:pPr>
            <a:r>
              <a:rPr sz="1200" b="0">
                <a:solidFill>
                  <a:srgbClr val="333333"/>
                </a:solidFill>
                <a:latin typeface="メイリオ"/>
                <a:ea typeface="メイリオ"/>
                <a:cs typeface="メイリオ"/>
              </a:rPr>
              <a:t>会員の方／</a:t>
            </a:r>
          </a:p>
          <a:p>
            <a:pPr algn="l">
              <a:lnSpc>
                <a:spcPct val="105000"/>
              </a:lnSpc>
              <a:spcAft>
                <a:spcPts val="200"/>
              </a:spcAft>
            </a:pPr>
            <a:r>
              <a:rPr sz="1200" b="0">
                <a:solidFill>
                  <a:srgbClr val="333333"/>
                </a:solidFill>
                <a:latin typeface="メイリオ"/>
                <a:ea typeface="メイリオ"/>
                <a:cs typeface="メイリオ"/>
              </a:rPr>
              <a:t>購入・来店をくり返している方</a:t>
            </a:r>
          </a:p>
        </p:txBody>
      </p:sp>
      <p:sp>
        <p:nvSpPr>
          <p:cNvPr id="117" name="TextBox 116"/>
          <p:cNvSpPr txBox="1"/>
          <p:nvPr/>
        </p:nvSpPr>
        <p:spPr>
          <a:xfrm>
            <a:off x="6373368" y="4105655"/>
            <a:ext cx="3163823" cy="923544"/>
          </a:xfrm>
          <a:prstGeom prst="rect">
            <a:avLst/>
          </a:prstGeom>
          <a:noFill/>
        </p:spPr>
        <p:txBody>
          <a:bodyPr wrap="square" lIns="36000" tIns="10800" rIns="36000" bIns="10800" anchor="t">
            <a:spAutoFit/>
          </a:bodyPr>
          <a:lstStyle/>
          <a:p>
            <a:pPr algn="l">
              <a:lnSpc>
                <a:spcPct val="105000"/>
              </a:lnSpc>
              <a:spcAft>
                <a:spcPts val="200"/>
              </a:spcAft>
            </a:pPr>
            <a:r>
              <a:rPr sz="1300" b="1">
                <a:solidFill>
                  <a:srgbClr val="1F2A5C"/>
                </a:solidFill>
                <a:latin typeface="メイリオ"/>
                <a:ea typeface="メイリオ"/>
                <a:cs typeface="メイリオ"/>
              </a:rPr>
              <a:t>中身</a:t>
            </a:r>
          </a:p>
          <a:p>
            <a:pPr algn="l">
              <a:lnSpc>
                <a:spcPct val="105000"/>
              </a:lnSpc>
              <a:spcAft>
                <a:spcPts val="200"/>
              </a:spcAft>
            </a:pPr>
            <a:r>
              <a:rPr sz="1200" b="0">
                <a:solidFill>
                  <a:srgbClr val="333333"/>
                </a:solidFill>
                <a:latin typeface="メイリオ"/>
                <a:ea typeface="メイリオ"/>
                <a:cs typeface="メイリオ"/>
              </a:rPr>
              <a:t>会員だけに届く限定情報・先行案内／</a:t>
            </a:r>
          </a:p>
          <a:p>
            <a:pPr algn="l">
              <a:lnSpc>
                <a:spcPct val="105000"/>
              </a:lnSpc>
              <a:spcAft>
                <a:spcPts val="200"/>
              </a:spcAft>
            </a:pPr>
            <a:r>
              <a:rPr sz="1200" b="0">
                <a:solidFill>
                  <a:srgbClr val="333333"/>
                </a:solidFill>
                <a:latin typeface="メイリオ"/>
                <a:ea typeface="メイリオ"/>
                <a:cs typeface="メイリオ"/>
              </a:rPr>
              <a:t>会員向けイベントの案内／</a:t>
            </a:r>
          </a:p>
          <a:p>
            <a:pPr algn="l">
              <a:lnSpc>
                <a:spcPct val="105000"/>
              </a:lnSpc>
              <a:spcAft>
                <a:spcPts val="200"/>
              </a:spcAft>
            </a:pPr>
            <a:r>
              <a:rPr sz="1200" b="0">
                <a:solidFill>
                  <a:srgbClr val="333333"/>
                </a:solidFill>
                <a:latin typeface="メイリオ"/>
                <a:ea typeface="メイリオ"/>
                <a:cs typeface="メイリオ"/>
              </a:rPr>
              <a:t>友だちへの紹介の案内</a:t>
            </a:r>
          </a:p>
        </p:txBody>
      </p:sp>
      <p:sp>
        <p:nvSpPr>
          <p:cNvPr id="118" name="TextBox 117"/>
          <p:cNvSpPr txBox="1"/>
          <p:nvPr/>
        </p:nvSpPr>
        <p:spPr>
          <a:xfrm>
            <a:off x="6373368" y="5230368"/>
            <a:ext cx="3163823" cy="923544"/>
          </a:xfrm>
          <a:prstGeom prst="rect">
            <a:avLst/>
          </a:prstGeom>
          <a:noFill/>
        </p:spPr>
        <p:txBody>
          <a:bodyPr wrap="square" lIns="36000" tIns="10800" rIns="36000" bIns="10800" anchor="t">
            <a:spAutoFit/>
          </a:bodyPr>
          <a:lstStyle/>
          <a:p>
            <a:pPr algn="l">
              <a:lnSpc>
                <a:spcPct val="105000"/>
              </a:lnSpc>
              <a:spcAft>
                <a:spcPts val="200"/>
              </a:spcAft>
            </a:pPr>
            <a:r>
              <a:rPr sz="1300" b="1">
                <a:solidFill>
                  <a:srgbClr val="1F2A5C"/>
                </a:solidFill>
                <a:latin typeface="メイリオ"/>
                <a:ea typeface="メイリオ"/>
                <a:cs typeface="メイリオ"/>
              </a:rPr>
              <a:t>見る数字</a:t>
            </a:r>
          </a:p>
          <a:p>
            <a:pPr algn="l">
              <a:lnSpc>
                <a:spcPct val="105000"/>
              </a:lnSpc>
              <a:spcAft>
                <a:spcPts val="200"/>
              </a:spcAft>
            </a:pPr>
            <a:r>
              <a:rPr sz="1200" b="0">
                <a:solidFill>
                  <a:srgbClr val="333333"/>
                </a:solidFill>
                <a:latin typeface="メイリオ"/>
                <a:ea typeface="メイリオ"/>
                <a:cs typeface="メイリオ"/>
              </a:rPr>
              <a:t>会員数／反応率／参加率／紹介数</a:t>
            </a:r>
          </a:p>
        </p:txBody>
      </p:sp>
    </p:spTree>
    <p:extLst>
      <p:ext uri="{BB962C8B-B14F-4D97-AF65-F5344CB8AC3E}">
        <p14:creationId xmlns:p14="http://schemas.microsoft.com/office/powerpoint/2010/main" val="260437424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87B4AD-1796-B65E-602B-007A8E1FBA10}"/>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65A1212B-9A99-C03C-9B39-B48B0013BC68}"/>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施策の考え方（短期：ステップ配信）</a:t>
            </a:r>
          </a:p>
        </p:txBody>
      </p:sp>
      <p:sp>
        <p:nvSpPr>
          <p:cNvPr id="8" name="正方形/長方形 7">
            <a:extLst>
              <a:ext uri="{FF2B5EF4-FFF2-40B4-BE49-F238E27FC236}">
                <a16:creationId xmlns:a16="http://schemas.microsoft.com/office/drawing/2014/main" id="{77655FAD-2CE9-1ACF-42D9-A55667D797D3}"/>
              </a:ext>
            </a:extLst>
          </p:cNvPr>
          <p:cNvSpPr/>
          <p:nvPr/>
        </p:nvSpPr>
        <p:spPr>
          <a:xfrm>
            <a:off x="0" y="777240"/>
            <a:ext cx="1802674"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dirty="0">
                <a:latin typeface="メイリオ" panose="020B0604030504040204" pitchFamily="50" charset="-128"/>
                <a:ea typeface="メイリオ" panose="020B0604030504040204" pitchFamily="50" charset="-128"/>
              </a:rPr>
              <a:t>ステップ配信</a:t>
            </a:r>
            <a:endParaRPr kumimoji="1" lang="ja-JP" altLang="en-US" sz="1400" dirty="0">
              <a:latin typeface="メイリオ" panose="020B0604030504040204" pitchFamily="50" charset="-128"/>
              <a:ea typeface="メイリオ" panose="020B0604030504040204" pitchFamily="50" charset="-128"/>
            </a:endParaRPr>
          </a:p>
        </p:txBody>
      </p:sp>
      <p:sp>
        <p:nvSpPr>
          <p:cNvPr id="10" name="Google Shape;752;p28">
            <a:extLst>
              <a:ext uri="{FF2B5EF4-FFF2-40B4-BE49-F238E27FC236}">
                <a16:creationId xmlns:a16="http://schemas.microsoft.com/office/drawing/2014/main" id="{B56FE2F8-7980-8B94-6C87-C3C5C519D1BB}"/>
              </a:ext>
            </a:extLst>
          </p:cNvPr>
          <p:cNvSpPr txBox="1"/>
          <p:nvPr/>
        </p:nvSpPr>
        <p:spPr>
          <a:xfrm>
            <a:off x="1988819" y="736332"/>
            <a:ext cx="7774305" cy="584735"/>
          </a:xfrm>
          <a:prstGeom prst="rect">
            <a:avLst/>
          </a:prstGeom>
          <a:noFill/>
          <a:ln>
            <a:noFill/>
          </a:ln>
        </p:spPr>
        <p:txBody>
          <a:bodyPr spcFirstLastPara="1" wrap="square" lIns="91425" tIns="45700" rIns="91425" bIns="45700" anchor="ctr" anchorCtr="0">
            <a:spAutoFit/>
          </a:bodyPr>
          <a:lstStyle/>
          <a:p>
            <a:r>
              <a:rPr lang="ja-JP" altLang="en-US" sz="1600" b="1" dirty="0">
                <a:latin typeface="メイリオ" panose="020B0604030504040204" pitchFamily="50" charset="-128"/>
                <a:ea typeface="メイリオ" panose="020B0604030504040204" pitchFamily="50" charset="-128"/>
                <a:cs typeface="Meiryo"/>
                <a:sym typeface="Meiryo"/>
              </a:rPr>
              <a:t>ユーザーニーズが高まったタイミング（業界キーワードの検索）を軸に</a:t>
            </a:r>
            <a:endParaRPr lang="en-US" altLang="ja-JP" sz="1600" b="1" dirty="0">
              <a:latin typeface="メイリオ" panose="020B0604030504040204" pitchFamily="50" charset="-128"/>
              <a:ea typeface="メイリオ" panose="020B0604030504040204" pitchFamily="50" charset="-128"/>
              <a:cs typeface="Meiryo"/>
              <a:sym typeface="Meiryo"/>
            </a:endParaRPr>
          </a:p>
          <a:p>
            <a:r>
              <a:rPr lang="ja-JP" altLang="en-US" sz="1600" b="1" dirty="0">
                <a:latin typeface="メイリオ" panose="020B0604030504040204" pitchFamily="50" charset="-128"/>
                <a:ea typeface="メイリオ" panose="020B0604030504040204" pitchFamily="50" charset="-128"/>
                <a:cs typeface="Meiryo"/>
                <a:sym typeface="Meiryo"/>
              </a:rPr>
              <a:t>比較されるサービスや懸念軸を参照し、ステップ配信を構築。</a:t>
            </a:r>
            <a:endParaRPr lang="en-US" altLang="ja-JP" sz="1600" b="1" dirty="0">
              <a:latin typeface="メイリオ" panose="020B0604030504040204" pitchFamily="50" charset="-128"/>
              <a:ea typeface="メイリオ" panose="020B0604030504040204" pitchFamily="50" charset="-128"/>
              <a:cs typeface="Meiryo"/>
              <a:sym typeface="Meiryo"/>
            </a:endParaRPr>
          </a:p>
        </p:txBody>
      </p:sp>
      <p:sp>
        <p:nvSpPr>
          <p:cNvPr id="877" name="四角形: 角を丸くする 876">
            <a:extLst>
              <a:ext uri="{FF2B5EF4-FFF2-40B4-BE49-F238E27FC236}">
                <a16:creationId xmlns:a16="http://schemas.microsoft.com/office/drawing/2014/main" id="{A27EA2E2-51F5-1DC6-547F-CC48303CA4E1}"/>
              </a:ext>
            </a:extLst>
          </p:cNvPr>
          <p:cNvSpPr/>
          <p:nvPr/>
        </p:nvSpPr>
        <p:spPr>
          <a:xfrm>
            <a:off x="4756154" y="160947"/>
            <a:ext cx="1752679" cy="269057"/>
          </a:xfrm>
          <a:prstGeom prst="roundRect">
            <a:avLst/>
          </a:prstGeom>
          <a:solidFill>
            <a:schemeClr val="bg1"/>
          </a:solidFill>
          <a:ln w="9525">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b="1" dirty="0">
                <a:solidFill>
                  <a:schemeClr val="tx1">
                    <a:lumMod val="65000"/>
                    <a:lumOff val="35000"/>
                  </a:schemeClr>
                </a:solidFill>
                <a:latin typeface="メイリオ" panose="020B0604030504040204" pitchFamily="50" charset="-128"/>
                <a:ea typeface="メイリオ" panose="020B0604030504040204" pitchFamily="50" charset="-128"/>
              </a:rPr>
              <a:t>ご提案時に詳細記載</a:t>
            </a:r>
          </a:p>
        </p:txBody>
      </p:sp>
      <p:pic>
        <p:nvPicPr>
          <p:cNvPr id="262" name="図 261">
            <a:extLst>
              <a:ext uri="{FF2B5EF4-FFF2-40B4-BE49-F238E27FC236}">
                <a16:creationId xmlns:a16="http://schemas.microsoft.com/office/drawing/2014/main" id="{B2125166-5E25-29DA-D966-FEA0209E7D28}"/>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870698" y="2159248"/>
            <a:ext cx="7040655" cy="4107050"/>
          </a:xfrm>
          <a:prstGeom prst="rect">
            <a:avLst/>
          </a:prstGeom>
        </p:spPr>
      </p:pic>
      <p:sp>
        <p:nvSpPr>
          <p:cNvPr id="263" name="正方形/長方形 262">
            <a:extLst>
              <a:ext uri="{FF2B5EF4-FFF2-40B4-BE49-F238E27FC236}">
                <a16:creationId xmlns:a16="http://schemas.microsoft.com/office/drawing/2014/main" id="{748363DA-2C29-7135-6BD0-55F74CF1062A}"/>
              </a:ext>
            </a:extLst>
          </p:cNvPr>
          <p:cNvSpPr/>
          <p:nvPr/>
        </p:nvSpPr>
        <p:spPr>
          <a:xfrm>
            <a:off x="528369" y="6219402"/>
            <a:ext cx="3908791" cy="226123"/>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tx1"/>
                </a:solidFill>
                <a:latin typeface="メイリオ" panose="020B0604030504040204" pitchFamily="50" charset="-128"/>
                <a:ea typeface="メイリオ" panose="020B0604030504040204" pitchFamily="50" charset="-128"/>
              </a:rPr>
              <a:t>該当ワードの検索</a:t>
            </a:r>
            <a:r>
              <a:rPr kumimoji="1" lang="en-US" altLang="ja-JP" sz="1050" b="1" dirty="0">
                <a:solidFill>
                  <a:schemeClr val="tx1"/>
                </a:solidFill>
                <a:latin typeface="メイリオ" panose="020B0604030504040204" pitchFamily="50" charset="-128"/>
                <a:ea typeface="メイリオ" panose="020B0604030504040204" pitchFamily="50" charset="-128"/>
              </a:rPr>
              <a:t>”</a:t>
            </a:r>
            <a:r>
              <a:rPr kumimoji="1" lang="ja-JP" altLang="en-US" sz="1050" b="1" dirty="0">
                <a:solidFill>
                  <a:schemeClr val="tx1"/>
                </a:solidFill>
                <a:latin typeface="メイリオ" panose="020B0604030504040204" pitchFamily="50" charset="-128"/>
                <a:ea typeface="メイリオ" panose="020B0604030504040204" pitchFamily="50" charset="-128"/>
              </a:rPr>
              <a:t>前</a:t>
            </a:r>
            <a:r>
              <a:rPr kumimoji="1" lang="en-US" altLang="ja-JP" sz="1050" b="1" dirty="0">
                <a:solidFill>
                  <a:schemeClr val="tx1"/>
                </a:solidFill>
                <a:latin typeface="メイリオ" panose="020B0604030504040204" pitchFamily="50" charset="-128"/>
                <a:ea typeface="メイリオ" panose="020B0604030504040204" pitchFamily="50" charset="-128"/>
              </a:rPr>
              <a:t>”15</a:t>
            </a:r>
            <a:r>
              <a:rPr kumimoji="1" lang="ja-JP" altLang="en-US" sz="1050" b="1" dirty="0">
                <a:solidFill>
                  <a:schemeClr val="tx1"/>
                </a:solidFill>
                <a:latin typeface="メイリオ" panose="020B0604030504040204" pitchFamily="50" charset="-128"/>
                <a:ea typeface="メイリオ" panose="020B0604030504040204" pitchFamily="50" charset="-128"/>
              </a:rPr>
              <a:t>日</a:t>
            </a:r>
          </a:p>
        </p:txBody>
      </p:sp>
      <p:sp>
        <p:nvSpPr>
          <p:cNvPr id="264" name="正方形/長方形 263">
            <a:extLst>
              <a:ext uri="{FF2B5EF4-FFF2-40B4-BE49-F238E27FC236}">
                <a16:creationId xmlns:a16="http://schemas.microsoft.com/office/drawing/2014/main" id="{E30C2E59-75D1-61B8-7100-9431FCDA1BB0}"/>
              </a:ext>
            </a:extLst>
          </p:cNvPr>
          <p:cNvSpPr/>
          <p:nvPr/>
        </p:nvSpPr>
        <p:spPr>
          <a:xfrm>
            <a:off x="4547374" y="6219402"/>
            <a:ext cx="3908791" cy="226123"/>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b="1" dirty="0">
                <a:solidFill>
                  <a:schemeClr val="tx1"/>
                </a:solidFill>
                <a:latin typeface="メイリオ" panose="020B0604030504040204" pitchFamily="50" charset="-128"/>
                <a:ea typeface="メイリオ" panose="020B0604030504040204" pitchFamily="50" charset="-128"/>
              </a:rPr>
              <a:t>該当ワードの検索</a:t>
            </a:r>
            <a:r>
              <a:rPr lang="en-US" altLang="ja-JP" sz="1050" b="1" dirty="0">
                <a:solidFill>
                  <a:schemeClr val="tx1"/>
                </a:solidFill>
                <a:latin typeface="メイリオ" panose="020B0604030504040204" pitchFamily="50" charset="-128"/>
                <a:ea typeface="メイリオ" panose="020B0604030504040204" pitchFamily="50" charset="-128"/>
              </a:rPr>
              <a:t>”</a:t>
            </a:r>
            <a:r>
              <a:rPr lang="ja-JP" altLang="en-US" sz="1050" b="1" dirty="0">
                <a:solidFill>
                  <a:schemeClr val="tx1"/>
                </a:solidFill>
                <a:latin typeface="メイリオ" panose="020B0604030504040204" pitchFamily="50" charset="-128"/>
                <a:ea typeface="メイリオ" panose="020B0604030504040204" pitchFamily="50" charset="-128"/>
              </a:rPr>
              <a:t>後</a:t>
            </a:r>
            <a:r>
              <a:rPr lang="en-US" altLang="ja-JP" sz="1050" b="1" dirty="0">
                <a:solidFill>
                  <a:schemeClr val="tx1"/>
                </a:solidFill>
                <a:latin typeface="メイリオ" panose="020B0604030504040204" pitchFamily="50" charset="-128"/>
                <a:ea typeface="メイリオ" panose="020B0604030504040204" pitchFamily="50" charset="-128"/>
              </a:rPr>
              <a:t>”15</a:t>
            </a:r>
            <a:r>
              <a:rPr lang="ja-JP" altLang="en-US" sz="1050" b="1" dirty="0">
                <a:solidFill>
                  <a:schemeClr val="tx1"/>
                </a:solidFill>
                <a:latin typeface="メイリオ" panose="020B0604030504040204" pitchFamily="50" charset="-128"/>
                <a:ea typeface="メイリオ" panose="020B0604030504040204" pitchFamily="50" charset="-128"/>
              </a:rPr>
              <a:t>日</a:t>
            </a:r>
          </a:p>
        </p:txBody>
      </p:sp>
      <p:cxnSp>
        <p:nvCxnSpPr>
          <p:cNvPr id="265" name="直線矢印コネクタ 264">
            <a:extLst>
              <a:ext uri="{FF2B5EF4-FFF2-40B4-BE49-F238E27FC236}">
                <a16:creationId xmlns:a16="http://schemas.microsoft.com/office/drawing/2014/main" id="{D5256C44-BCFD-25DA-BA57-DCD0FDFF9A61}"/>
              </a:ext>
            </a:extLst>
          </p:cNvPr>
          <p:cNvCxnSpPr>
            <a:cxnSpLocks/>
          </p:cNvCxnSpPr>
          <p:nvPr/>
        </p:nvCxnSpPr>
        <p:spPr>
          <a:xfrm flipV="1">
            <a:off x="245734" y="1875367"/>
            <a:ext cx="0" cy="4562932"/>
          </a:xfrm>
          <a:prstGeom prst="straightConnector1">
            <a:avLst/>
          </a:prstGeom>
          <a:ln w="15875">
            <a:solidFill>
              <a:schemeClr val="tx1">
                <a:lumMod val="65000"/>
                <a:lumOff val="35000"/>
              </a:scheme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266" name="テキスト ボックス 265">
            <a:extLst>
              <a:ext uri="{FF2B5EF4-FFF2-40B4-BE49-F238E27FC236}">
                <a16:creationId xmlns:a16="http://schemas.microsoft.com/office/drawing/2014/main" id="{7C17D56F-1AC6-34AD-A4BB-4EC0DABD016D}"/>
              </a:ext>
            </a:extLst>
          </p:cNvPr>
          <p:cNvSpPr txBox="1"/>
          <p:nvPr/>
        </p:nvSpPr>
        <p:spPr>
          <a:xfrm>
            <a:off x="174707" y="2012591"/>
            <a:ext cx="1079863" cy="253916"/>
          </a:xfrm>
          <a:prstGeom prst="rect">
            <a:avLst/>
          </a:prstGeom>
          <a:noFill/>
        </p:spPr>
        <p:txBody>
          <a:bodyPr wrap="square">
            <a:spAutoFit/>
          </a:bodyPr>
          <a:lstStyle/>
          <a:p>
            <a:r>
              <a:rPr lang="ja-JP" altLang="en-US" sz="1050" b="1" dirty="0">
                <a:solidFill>
                  <a:srgbClr val="FF0000"/>
                </a:solidFill>
                <a:latin typeface="メイリオ" panose="020B0604030504040204" pitchFamily="50" charset="-128"/>
                <a:ea typeface="メイリオ" panose="020B0604030504040204" pitchFamily="50" charset="-128"/>
              </a:rPr>
              <a:t>検索</a:t>
            </a:r>
            <a:r>
              <a:rPr lang="en-US" altLang="ja-JP" sz="1050" b="1" dirty="0">
                <a:solidFill>
                  <a:srgbClr val="FF0000"/>
                </a:solidFill>
                <a:latin typeface="メイリオ" panose="020B0604030504040204" pitchFamily="50" charset="-128"/>
                <a:ea typeface="メイリオ" panose="020B0604030504040204" pitchFamily="50" charset="-128"/>
              </a:rPr>
              <a:t>Vol:</a:t>
            </a:r>
            <a:r>
              <a:rPr lang="ja-JP" altLang="en-US" sz="1050" b="1" dirty="0">
                <a:solidFill>
                  <a:srgbClr val="FF0000"/>
                </a:solidFill>
                <a:latin typeface="メイリオ" panose="020B0604030504040204" pitchFamily="50" charset="-128"/>
                <a:ea typeface="メイリオ" panose="020B0604030504040204" pitchFamily="50" charset="-128"/>
              </a:rPr>
              <a:t>多</a:t>
            </a:r>
            <a:endParaRPr kumimoji="1" lang="ja-JP" altLang="en-US" sz="1050" b="1" dirty="0">
              <a:solidFill>
                <a:srgbClr val="FF0000"/>
              </a:solidFill>
              <a:latin typeface="メイリオ" panose="020B0604030504040204" pitchFamily="50" charset="-128"/>
              <a:ea typeface="メイリオ" panose="020B0604030504040204" pitchFamily="50" charset="-128"/>
            </a:endParaRPr>
          </a:p>
        </p:txBody>
      </p:sp>
      <p:sp>
        <p:nvSpPr>
          <p:cNvPr id="267" name="正方形/長方形 266">
            <a:extLst>
              <a:ext uri="{FF2B5EF4-FFF2-40B4-BE49-F238E27FC236}">
                <a16:creationId xmlns:a16="http://schemas.microsoft.com/office/drawing/2014/main" id="{AD15A6B3-E0B8-2B6E-5872-4F23BABCE27E}"/>
              </a:ext>
            </a:extLst>
          </p:cNvPr>
          <p:cNvSpPr/>
          <p:nvPr/>
        </p:nvSpPr>
        <p:spPr>
          <a:xfrm>
            <a:off x="4547375" y="1702353"/>
            <a:ext cx="946084" cy="4472105"/>
          </a:xfrm>
          <a:prstGeom prst="rect">
            <a:avLst/>
          </a:prstGeom>
          <a:solidFill>
            <a:srgbClr val="04FA0A">
              <a:alpha val="15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268" name="図 267" descr="LINE公式アカウントのロゴを活用しよう！注意点やNG例も合わせて解説 - LINEマーケティングツールFANVO">
            <a:extLst>
              <a:ext uri="{FF2B5EF4-FFF2-40B4-BE49-F238E27FC236}">
                <a16:creationId xmlns:a16="http://schemas.microsoft.com/office/drawing/2014/main" id="{4024ED2F-A038-044E-2128-7BF7E408248D}"/>
              </a:ext>
            </a:extLst>
          </p:cNvPr>
          <p:cNvPicPr>
            <a:picLocks noChangeAspect="1"/>
          </p:cNvPicPr>
          <p:nvPr/>
        </p:nvPicPr>
        <p:blipFill>
          <a:blip r:embed="rId3"/>
          <a:stretch>
            <a:fillRect/>
          </a:stretch>
        </p:blipFill>
        <p:spPr>
          <a:xfrm>
            <a:off x="4410371" y="1580689"/>
            <a:ext cx="419340" cy="418460"/>
          </a:xfrm>
          <a:prstGeom prst="rect">
            <a:avLst/>
          </a:prstGeom>
        </p:spPr>
      </p:pic>
      <p:sp>
        <p:nvSpPr>
          <p:cNvPr id="269" name="テキスト ボックス 268">
            <a:extLst>
              <a:ext uri="{FF2B5EF4-FFF2-40B4-BE49-F238E27FC236}">
                <a16:creationId xmlns:a16="http://schemas.microsoft.com/office/drawing/2014/main" id="{3EAD58A7-446F-1E3A-A612-6D6F889B81B1}"/>
              </a:ext>
            </a:extLst>
          </p:cNvPr>
          <p:cNvSpPr txBox="1"/>
          <p:nvPr/>
        </p:nvSpPr>
        <p:spPr>
          <a:xfrm>
            <a:off x="4739629" y="1744562"/>
            <a:ext cx="1195820" cy="430887"/>
          </a:xfrm>
          <a:prstGeom prst="rect">
            <a:avLst/>
          </a:prstGeom>
          <a:noFill/>
        </p:spPr>
        <p:txBody>
          <a:bodyPr wrap="square">
            <a:spAutoFit/>
          </a:bodyPr>
          <a:lstStyle/>
          <a:p>
            <a:r>
              <a:rPr lang="en-US" altLang="ja-JP" sz="1100" b="1" dirty="0">
                <a:latin typeface="Meiryo"/>
                <a:ea typeface="Meiryo"/>
                <a:cs typeface="Meiryo"/>
                <a:sym typeface="Meiryo"/>
              </a:rPr>
              <a:t>OA</a:t>
            </a:r>
            <a:r>
              <a:rPr lang="ja-JP" altLang="en-US" sz="1100" b="1" dirty="0">
                <a:latin typeface="Meiryo"/>
                <a:ea typeface="Meiryo"/>
                <a:cs typeface="Meiryo"/>
                <a:sym typeface="Meiryo"/>
              </a:rPr>
              <a:t>追加想定</a:t>
            </a:r>
            <a:endParaRPr lang="en-US" altLang="ja-JP" sz="1100" b="1" dirty="0">
              <a:latin typeface="Meiryo"/>
              <a:ea typeface="Meiryo"/>
              <a:cs typeface="Meiryo"/>
              <a:sym typeface="Meiryo"/>
            </a:endParaRPr>
          </a:p>
          <a:p>
            <a:r>
              <a:rPr lang="en-US" altLang="ja-JP" sz="1000" b="1" dirty="0">
                <a:solidFill>
                  <a:srgbClr val="00B050"/>
                </a:solidFill>
                <a:latin typeface="Meiryo"/>
                <a:ea typeface="Meiryo"/>
                <a:sym typeface="Meiryo"/>
              </a:rPr>
              <a:t>※</a:t>
            </a:r>
            <a:r>
              <a:rPr lang="ja-JP" altLang="en-US" sz="1000" b="1" dirty="0">
                <a:solidFill>
                  <a:srgbClr val="00B050"/>
                </a:solidFill>
                <a:latin typeface="Meiryo"/>
                <a:ea typeface="Meiryo"/>
                <a:sym typeface="Meiryo"/>
              </a:rPr>
              <a:t>検索</a:t>
            </a:r>
            <a:r>
              <a:rPr lang="en-US" altLang="ja-JP" sz="1000" b="1" dirty="0">
                <a:solidFill>
                  <a:srgbClr val="00B050"/>
                </a:solidFill>
                <a:latin typeface="Meiryo"/>
                <a:ea typeface="Meiryo"/>
                <a:sym typeface="Meiryo"/>
              </a:rPr>
              <a:t>0-1</a:t>
            </a:r>
            <a:r>
              <a:rPr lang="ja-JP" altLang="en-US" sz="1000" b="1" dirty="0">
                <a:solidFill>
                  <a:srgbClr val="00B050"/>
                </a:solidFill>
                <a:latin typeface="Meiryo"/>
                <a:ea typeface="Meiryo"/>
                <a:sym typeface="Meiryo"/>
              </a:rPr>
              <a:t>日後</a:t>
            </a:r>
            <a:endParaRPr lang="ja-JP" altLang="en-US" sz="1050" dirty="0">
              <a:solidFill>
                <a:srgbClr val="00B050"/>
              </a:solidFill>
            </a:endParaRPr>
          </a:p>
        </p:txBody>
      </p:sp>
      <p:sp>
        <p:nvSpPr>
          <p:cNvPr id="270" name="四角形: 角を丸くする 269">
            <a:extLst>
              <a:ext uri="{FF2B5EF4-FFF2-40B4-BE49-F238E27FC236}">
                <a16:creationId xmlns:a16="http://schemas.microsoft.com/office/drawing/2014/main" id="{77F6F52A-D5A9-4873-22B4-9CE879E47445}"/>
              </a:ext>
            </a:extLst>
          </p:cNvPr>
          <p:cNvSpPr/>
          <p:nvPr/>
        </p:nvSpPr>
        <p:spPr>
          <a:xfrm>
            <a:off x="7920174" y="1851176"/>
            <a:ext cx="1185818" cy="253916"/>
          </a:xfrm>
          <a:prstGeom prst="round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800" dirty="0">
                <a:solidFill>
                  <a:schemeClr val="tx1"/>
                </a:solidFill>
                <a:latin typeface="メイリオ" panose="020B0604030504040204" pitchFamily="50" charset="-128"/>
                <a:ea typeface="メイリオ" panose="020B0604030504040204" pitchFamily="50" charset="-128"/>
              </a:rPr>
              <a:t>ブランド名</a:t>
            </a:r>
          </a:p>
        </p:txBody>
      </p:sp>
      <p:sp>
        <p:nvSpPr>
          <p:cNvPr id="271" name="四角形: 角を丸くする 270">
            <a:extLst>
              <a:ext uri="{FF2B5EF4-FFF2-40B4-BE49-F238E27FC236}">
                <a16:creationId xmlns:a16="http://schemas.microsoft.com/office/drawing/2014/main" id="{BDF2EB8F-D2D1-3527-8285-48540FD924E7}"/>
              </a:ext>
            </a:extLst>
          </p:cNvPr>
          <p:cNvSpPr/>
          <p:nvPr/>
        </p:nvSpPr>
        <p:spPr>
          <a:xfrm>
            <a:off x="7920174" y="2146211"/>
            <a:ext cx="1185818" cy="253916"/>
          </a:xfrm>
          <a:prstGeom prst="roundRect">
            <a:avLst/>
          </a:prstGeom>
          <a:solidFill>
            <a:srgbClr val="FF000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800" dirty="0">
                <a:solidFill>
                  <a:schemeClr val="tx1"/>
                </a:solidFill>
                <a:latin typeface="メイリオ" panose="020B0604030504040204" pitchFamily="50" charset="-128"/>
                <a:ea typeface="メイリオ" panose="020B0604030504040204" pitchFamily="50" charset="-128"/>
              </a:rPr>
              <a:t>稼ぎ方</a:t>
            </a:r>
          </a:p>
        </p:txBody>
      </p:sp>
      <p:sp>
        <p:nvSpPr>
          <p:cNvPr id="272" name="四角形: 角を丸くする 271">
            <a:extLst>
              <a:ext uri="{FF2B5EF4-FFF2-40B4-BE49-F238E27FC236}">
                <a16:creationId xmlns:a16="http://schemas.microsoft.com/office/drawing/2014/main" id="{8E99E04D-7CD5-C5BF-1D3C-9103098EBCA6}"/>
              </a:ext>
            </a:extLst>
          </p:cNvPr>
          <p:cNvSpPr/>
          <p:nvPr/>
        </p:nvSpPr>
        <p:spPr>
          <a:xfrm>
            <a:off x="7920174" y="2435334"/>
            <a:ext cx="1185818" cy="253916"/>
          </a:xfrm>
          <a:prstGeom prst="roundRect">
            <a:avLst/>
          </a:prstGeom>
          <a:solidFill>
            <a:srgbClr val="00B05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800" dirty="0">
                <a:solidFill>
                  <a:schemeClr val="tx1"/>
                </a:solidFill>
                <a:latin typeface="メイリオ" panose="020B0604030504040204" pitchFamily="50" charset="-128"/>
                <a:ea typeface="メイリオ" panose="020B0604030504040204" pitchFamily="50" charset="-128"/>
              </a:rPr>
              <a:t>条件</a:t>
            </a:r>
          </a:p>
        </p:txBody>
      </p:sp>
      <p:sp>
        <p:nvSpPr>
          <p:cNvPr id="273" name="四角形: 角を丸くする 272">
            <a:extLst>
              <a:ext uri="{FF2B5EF4-FFF2-40B4-BE49-F238E27FC236}">
                <a16:creationId xmlns:a16="http://schemas.microsoft.com/office/drawing/2014/main" id="{D99442CD-A18C-BBDA-3029-1A885B9960E8}"/>
              </a:ext>
            </a:extLst>
          </p:cNvPr>
          <p:cNvSpPr/>
          <p:nvPr/>
        </p:nvSpPr>
        <p:spPr>
          <a:xfrm>
            <a:off x="7920174" y="2730369"/>
            <a:ext cx="1185818" cy="253916"/>
          </a:xfrm>
          <a:prstGeom prst="roundRect">
            <a:avLst/>
          </a:prstGeom>
          <a:solidFill>
            <a:srgbClr val="FFC00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800" dirty="0">
                <a:solidFill>
                  <a:schemeClr val="tx1"/>
                </a:solidFill>
                <a:latin typeface="メイリオ" panose="020B0604030504040204" pitchFamily="50" charset="-128"/>
                <a:ea typeface="メイリオ" panose="020B0604030504040204" pitchFamily="50" charset="-128"/>
              </a:rPr>
              <a:t>準備</a:t>
            </a:r>
          </a:p>
        </p:txBody>
      </p:sp>
      <p:sp>
        <p:nvSpPr>
          <p:cNvPr id="274" name="四角形: 角を丸くする 273">
            <a:extLst>
              <a:ext uri="{FF2B5EF4-FFF2-40B4-BE49-F238E27FC236}">
                <a16:creationId xmlns:a16="http://schemas.microsoft.com/office/drawing/2014/main" id="{57B4D6DC-CAFB-1523-7FD8-8ADDCB817F59}"/>
              </a:ext>
            </a:extLst>
          </p:cNvPr>
          <p:cNvSpPr/>
          <p:nvPr/>
        </p:nvSpPr>
        <p:spPr>
          <a:xfrm>
            <a:off x="4430176" y="2222541"/>
            <a:ext cx="890923" cy="123378"/>
          </a:xfrm>
          <a:prstGeom prst="round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dirty="0">
              <a:solidFill>
                <a:schemeClr val="tx1"/>
              </a:solidFill>
              <a:latin typeface="メイリオ" panose="020B0604030504040204" pitchFamily="50" charset="-128"/>
              <a:ea typeface="メイリオ" panose="020B0604030504040204" pitchFamily="50" charset="-128"/>
            </a:endParaRPr>
          </a:p>
        </p:txBody>
      </p:sp>
      <p:sp>
        <p:nvSpPr>
          <p:cNvPr id="275" name="四角形: 角を丸くする 274">
            <a:extLst>
              <a:ext uri="{FF2B5EF4-FFF2-40B4-BE49-F238E27FC236}">
                <a16:creationId xmlns:a16="http://schemas.microsoft.com/office/drawing/2014/main" id="{648709C7-ABDE-FD09-E0E9-FB2A90A7D915}"/>
              </a:ext>
            </a:extLst>
          </p:cNvPr>
          <p:cNvSpPr/>
          <p:nvPr/>
        </p:nvSpPr>
        <p:spPr>
          <a:xfrm>
            <a:off x="4440171" y="2614367"/>
            <a:ext cx="553194" cy="123378"/>
          </a:xfrm>
          <a:prstGeom prst="round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dirty="0">
              <a:solidFill>
                <a:schemeClr val="tx1"/>
              </a:solidFill>
              <a:latin typeface="メイリオ" panose="020B0604030504040204" pitchFamily="50" charset="-128"/>
              <a:ea typeface="メイリオ" panose="020B0604030504040204" pitchFamily="50" charset="-128"/>
            </a:endParaRPr>
          </a:p>
        </p:txBody>
      </p:sp>
      <p:sp>
        <p:nvSpPr>
          <p:cNvPr id="276" name="四角形: 角を丸くする 275">
            <a:extLst>
              <a:ext uri="{FF2B5EF4-FFF2-40B4-BE49-F238E27FC236}">
                <a16:creationId xmlns:a16="http://schemas.microsoft.com/office/drawing/2014/main" id="{264110F6-78DC-CB60-F894-12888B0DA45D}"/>
              </a:ext>
            </a:extLst>
          </p:cNvPr>
          <p:cNvSpPr/>
          <p:nvPr/>
        </p:nvSpPr>
        <p:spPr>
          <a:xfrm>
            <a:off x="5108095" y="2788018"/>
            <a:ext cx="377839" cy="123378"/>
          </a:xfrm>
          <a:prstGeom prst="round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dirty="0">
              <a:solidFill>
                <a:schemeClr val="tx1"/>
              </a:solidFill>
              <a:latin typeface="メイリオ" panose="020B0604030504040204" pitchFamily="50" charset="-128"/>
              <a:ea typeface="メイリオ" panose="020B0604030504040204" pitchFamily="50" charset="-128"/>
            </a:endParaRPr>
          </a:p>
        </p:txBody>
      </p:sp>
      <p:sp>
        <p:nvSpPr>
          <p:cNvPr id="277" name="四角形: 角を丸くする 276">
            <a:extLst>
              <a:ext uri="{FF2B5EF4-FFF2-40B4-BE49-F238E27FC236}">
                <a16:creationId xmlns:a16="http://schemas.microsoft.com/office/drawing/2014/main" id="{11FC472F-1256-6150-5E6B-04426396E2D1}"/>
              </a:ext>
            </a:extLst>
          </p:cNvPr>
          <p:cNvSpPr/>
          <p:nvPr/>
        </p:nvSpPr>
        <p:spPr>
          <a:xfrm>
            <a:off x="4465229" y="3003100"/>
            <a:ext cx="669364" cy="123378"/>
          </a:xfrm>
          <a:prstGeom prst="round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dirty="0">
              <a:solidFill>
                <a:schemeClr val="tx1"/>
              </a:solidFill>
              <a:latin typeface="メイリオ" panose="020B0604030504040204" pitchFamily="50" charset="-128"/>
              <a:ea typeface="メイリオ" panose="020B0604030504040204" pitchFamily="50" charset="-128"/>
            </a:endParaRPr>
          </a:p>
        </p:txBody>
      </p:sp>
      <p:sp>
        <p:nvSpPr>
          <p:cNvPr id="278" name="四角形: 角を丸くする 277">
            <a:extLst>
              <a:ext uri="{FF2B5EF4-FFF2-40B4-BE49-F238E27FC236}">
                <a16:creationId xmlns:a16="http://schemas.microsoft.com/office/drawing/2014/main" id="{4C2B40CF-6D8E-F71B-185D-D702A82E2A43}"/>
              </a:ext>
            </a:extLst>
          </p:cNvPr>
          <p:cNvSpPr/>
          <p:nvPr/>
        </p:nvSpPr>
        <p:spPr>
          <a:xfrm>
            <a:off x="4538760" y="3163120"/>
            <a:ext cx="415623" cy="123378"/>
          </a:xfrm>
          <a:prstGeom prst="round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dirty="0">
              <a:solidFill>
                <a:schemeClr val="tx1"/>
              </a:solidFill>
              <a:latin typeface="メイリオ" panose="020B0604030504040204" pitchFamily="50" charset="-128"/>
              <a:ea typeface="メイリオ" panose="020B0604030504040204" pitchFamily="50" charset="-128"/>
            </a:endParaRPr>
          </a:p>
        </p:txBody>
      </p:sp>
      <p:sp>
        <p:nvSpPr>
          <p:cNvPr id="279" name="四角形: 角を丸くする 278">
            <a:extLst>
              <a:ext uri="{FF2B5EF4-FFF2-40B4-BE49-F238E27FC236}">
                <a16:creationId xmlns:a16="http://schemas.microsoft.com/office/drawing/2014/main" id="{45B59A38-F8C6-C42D-7574-E2FF7042AE90}"/>
              </a:ext>
            </a:extLst>
          </p:cNvPr>
          <p:cNvSpPr/>
          <p:nvPr/>
        </p:nvSpPr>
        <p:spPr>
          <a:xfrm>
            <a:off x="4538760" y="3307900"/>
            <a:ext cx="415623" cy="123378"/>
          </a:xfrm>
          <a:prstGeom prst="round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dirty="0">
              <a:solidFill>
                <a:schemeClr val="tx1"/>
              </a:solidFill>
              <a:latin typeface="メイリオ" panose="020B0604030504040204" pitchFamily="50" charset="-128"/>
              <a:ea typeface="メイリオ" panose="020B0604030504040204" pitchFamily="50" charset="-128"/>
            </a:endParaRPr>
          </a:p>
        </p:txBody>
      </p:sp>
      <p:sp>
        <p:nvSpPr>
          <p:cNvPr id="280" name="四角形: 角を丸くする 279">
            <a:extLst>
              <a:ext uri="{FF2B5EF4-FFF2-40B4-BE49-F238E27FC236}">
                <a16:creationId xmlns:a16="http://schemas.microsoft.com/office/drawing/2014/main" id="{E29ADD9E-7F8D-49A0-E6AA-790EEDEE5943}"/>
              </a:ext>
            </a:extLst>
          </p:cNvPr>
          <p:cNvSpPr/>
          <p:nvPr/>
        </p:nvSpPr>
        <p:spPr>
          <a:xfrm>
            <a:off x="5092506" y="3210562"/>
            <a:ext cx="457185" cy="123378"/>
          </a:xfrm>
          <a:prstGeom prst="round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dirty="0">
              <a:solidFill>
                <a:schemeClr val="tx1"/>
              </a:solidFill>
              <a:latin typeface="メイリオ" panose="020B0604030504040204" pitchFamily="50" charset="-128"/>
              <a:ea typeface="メイリオ" panose="020B0604030504040204" pitchFamily="50" charset="-128"/>
            </a:endParaRPr>
          </a:p>
        </p:txBody>
      </p:sp>
      <p:sp>
        <p:nvSpPr>
          <p:cNvPr id="281" name="四角形: 角を丸くする 280">
            <a:extLst>
              <a:ext uri="{FF2B5EF4-FFF2-40B4-BE49-F238E27FC236}">
                <a16:creationId xmlns:a16="http://schemas.microsoft.com/office/drawing/2014/main" id="{C98FDF97-E805-0CF9-2ABB-FB20CFDAC769}"/>
              </a:ext>
            </a:extLst>
          </p:cNvPr>
          <p:cNvSpPr/>
          <p:nvPr/>
        </p:nvSpPr>
        <p:spPr>
          <a:xfrm>
            <a:off x="5256597" y="3708545"/>
            <a:ext cx="809930" cy="123378"/>
          </a:xfrm>
          <a:prstGeom prst="round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dirty="0">
              <a:solidFill>
                <a:schemeClr val="tx1"/>
              </a:solidFill>
              <a:latin typeface="メイリオ" panose="020B0604030504040204" pitchFamily="50" charset="-128"/>
              <a:ea typeface="メイリオ" panose="020B0604030504040204" pitchFamily="50" charset="-128"/>
            </a:endParaRPr>
          </a:p>
        </p:txBody>
      </p:sp>
      <p:sp>
        <p:nvSpPr>
          <p:cNvPr id="282" name="四角形: 角を丸くする 281">
            <a:extLst>
              <a:ext uri="{FF2B5EF4-FFF2-40B4-BE49-F238E27FC236}">
                <a16:creationId xmlns:a16="http://schemas.microsoft.com/office/drawing/2014/main" id="{6FF4D3C7-346A-FD7A-0140-5BDB3814F5DF}"/>
              </a:ext>
            </a:extLst>
          </p:cNvPr>
          <p:cNvSpPr/>
          <p:nvPr/>
        </p:nvSpPr>
        <p:spPr>
          <a:xfrm>
            <a:off x="6463002" y="3473585"/>
            <a:ext cx="608513" cy="123378"/>
          </a:xfrm>
          <a:prstGeom prst="round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dirty="0">
              <a:solidFill>
                <a:schemeClr val="tx1"/>
              </a:solidFill>
              <a:latin typeface="メイリオ" panose="020B0604030504040204" pitchFamily="50" charset="-128"/>
              <a:ea typeface="メイリオ" panose="020B0604030504040204" pitchFamily="50" charset="-128"/>
            </a:endParaRPr>
          </a:p>
        </p:txBody>
      </p:sp>
      <p:sp>
        <p:nvSpPr>
          <p:cNvPr id="283" name="四角形: 角を丸くする 282">
            <a:extLst>
              <a:ext uri="{FF2B5EF4-FFF2-40B4-BE49-F238E27FC236}">
                <a16:creationId xmlns:a16="http://schemas.microsoft.com/office/drawing/2014/main" id="{15337B10-BF50-6162-8383-C57471268A6C}"/>
              </a:ext>
            </a:extLst>
          </p:cNvPr>
          <p:cNvSpPr/>
          <p:nvPr/>
        </p:nvSpPr>
        <p:spPr>
          <a:xfrm>
            <a:off x="7107865" y="3363052"/>
            <a:ext cx="608513" cy="123378"/>
          </a:xfrm>
          <a:prstGeom prst="round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dirty="0">
              <a:solidFill>
                <a:schemeClr val="tx1"/>
              </a:solidFill>
              <a:latin typeface="メイリオ" panose="020B0604030504040204" pitchFamily="50" charset="-128"/>
              <a:ea typeface="メイリオ" panose="020B0604030504040204" pitchFamily="50" charset="-128"/>
            </a:endParaRPr>
          </a:p>
        </p:txBody>
      </p:sp>
      <p:sp>
        <p:nvSpPr>
          <p:cNvPr id="284" name="四角形: 角を丸くする 283">
            <a:extLst>
              <a:ext uri="{FF2B5EF4-FFF2-40B4-BE49-F238E27FC236}">
                <a16:creationId xmlns:a16="http://schemas.microsoft.com/office/drawing/2014/main" id="{C00607CC-C2C0-082C-A629-DBF8827ACDA1}"/>
              </a:ext>
            </a:extLst>
          </p:cNvPr>
          <p:cNvSpPr/>
          <p:nvPr/>
        </p:nvSpPr>
        <p:spPr>
          <a:xfrm>
            <a:off x="6983873" y="3602201"/>
            <a:ext cx="415623" cy="123378"/>
          </a:xfrm>
          <a:prstGeom prst="round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dirty="0">
              <a:solidFill>
                <a:schemeClr val="tx1"/>
              </a:solidFill>
              <a:latin typeface="メイリオ" panose="020B0604030504040204" pitchFamily="50" charset="-128"/>
              <a:ea typeface="メイリオ" panose="020B0604030504040204" pitchFamily="50" charset="-128"/>
            </a:endParaRPr>
          </a:p>
        </p:txBody>
      </p:sp>
      <p:sp>
        <p:nvSpPr>
          <p:cNvPr id="285" name="四角形: 角を丸くする 284">
            <a:extLst>
              <a:ext uri="{FF2B5EF4-FFF2-40B4-BE49-F238E27FC236}">
                <a16:creationId xmlns:a16="http://schemas.microsoft.com/office/drawing/2014/main" id="{DED31FB8-5981-1699-7E47-E63C2CDF2733}"/>
              </a:ext>
            </a:extLst>
          </p:cNvPr>
          <p:cNvSpPr/>
          <p:nvPr/>
        </p:nvSpPr>
        <p:spPr>
          <a:xfrm>
            <a:off x="6539957" y="3769706"/>
            <a:ext cx="553194" cy="112162"/>
          </a:xfrm>
          <a:prstGeom prst="round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dirty="0">
              <a:solidFill>
                <a:schemeClr val="tx1"/>
              </a:solidFill>
              <a:latin typeface="メイリオ" panose="020B0604030504040204" pitchFamily="50" charset="-128"/>
              <a:ea typeface="メイリオ" panose="020B0604030504040204" pitchFamily="50" charset="-128"/>
            </a:endParaRPr>
          </a:p>
        </p:txBody>
      </p:sp>
      <p:sp>
        <p:nvSpPr>
          <p:cNvPr id="286" name="四角形: 角を丸くする 285">
            <a:extLst>
              <a:ext uri="{FF2B5EF4-FFF2-40B4-BE49-F238E27FC236}">
                <a16:creationId xmlns:a16="http://schemas.microsoft.com/office/drawing/2014/main" id="{6C0DA8B8-EF5F-2004-3A70-3C35247F0547}"/>
              </a:ext>
            </a:extLst>
          </p:cNvPr>
          <p:cNvSpPr/>
          <p:nvPr/>
        </p:nvSpPr>
        <p:spPr>
          <a:xfrm>
            <a:off x="4581430" y="3614361"/>
            <a:ext cx="415623" cy="123378"/>
          </a:xfrm>
          <a:prstGeom prst="round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dirty="0">
              <a:solidFill>
                <a:schemeClr val="tx1"/>
              </a:solidFill>
              <a:latin typeface="メイリオ" panose="020B0604030504040204" pitchFamily="50" charset="-128"/>
              <a:ea typeface="メイリオ" panose="020B0604030504040204" pitchFamily="50" charset="-128"/>
            </a:endParaRPr>
          </a:p>
        </p:txBody>
      </p:sp>
      <p:sp>
        <p:nvSpPr>
          <p:cNvPr id="287" name="四角形: 角を丸くする 286">
            <a:extLst>
              <a:ext uri="{FF2B5EF4-FFF2-40B4-BE49-F238E27FC236}">
                <a16:creationId xmlns:a16="http://schemas.microsoft.com/office/drawing/2014/main" id="{5EF617D1-C54D-C2F7-FACE-AA8ED59378B4}"/>
              </a:ext>
            </a:extLst>
          </p:cNvPr>
          <p:cNvSpPr/>
          <p:nvPr/>
        </p:nvSpPr>
        <p:spPr>
          <a:xfrm>
            <a:off x="4453969" y="3743901"/>
            <a:ext cx="457185" cy="123378"/>
          </a:xfrm>
          <a:prstGeom prst="round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dirty="0">
              <a:solidFill>
                <a:schemeClr val="tx1"/>
              </a:solidFill>
              <a:latin typeface="メイリオ" panose="020B0604030504040204" pitchFamily="50" charset="-128"/>
              <a:ea typeface="メイリオ" panose="020B0604030504040204" pitchFamily="50" charset="-128"/>
            </a:endParaRPr>
          </a:p>
        </p:txBody>
      </p:sp>
      <p:sp>
        <p:nvSpPr>
          <p:cNvPr id="288" name="四角形: 角を丸くする 287">
            <a:extLst>
              <a:ext uri="{FF2B5EF4-FFF2-40B4-BE49-F238E27FC236}">
                <a16:creationId xmlns:a16="http://schemas.microsoft.com/office/drawing/2014/main" id="{0020B300-7F43-9571-10A7-85E6E01A202B}"/>
              </a:ext>
            </a:extLst>
          </p:cNvPr>
          <p:cNvSpPr/>
          <p:nvPr/>
        </p:nvSpPr>
        <p:spPr>
          <a:xfrm>
            <a:off x="4443926" y="4178444"/>
            <a:ext cx="669364" cy="123378"/>
          </a:xfrm>
          <a:prstGeom prst="round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dirty="0">
              <a:solidFill>
                <a:schemeClr val="tx1"/>
              </a:solidFill>
              <a:latin typeface="メイリオ" panose="020B0604030504040204" pitchFamily="50" charset="-128"/>
              <a:ea typeface="メイリオ" panose="020B0604030504040204" pitchFamily="50" charset="-128"/>
            </a:endParaRPr>
          </a:p>
        </p:txBody>
      </p:sp>
      <p:sp>
        <p:nvSpPr>
          <p:cNvPr id="289" name="四角形: 角を丸くする 288">
            <a:extLst>
              <a:ext uri="{FF2B5EF4-FFF2-40B4-BE49-F238E27FC236}">
                <a16:creationId xmlns:a16="http://schemas.microsoft.com/office/drawing/2014/main" id="{F4F1E079-4ABF-7D8E-D4C7-CBD397B37E12}"/>
              </a:ext>
            </a:extLst>
          </p:cNvPr>
          <p:cNvSpPr/>
          <p:nvPr/>
        </p:nvSpPr>
        <p:spPr>
          <a:xfrm>
            <a:off x="5210558" y="3812684"/>
            <a:ext cx="736300" cy="123378"/>
          </a:xfrm>
          <a:prstGeom prst="round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dirty="0">
              <a:solidFill>
                <a:schemeClr val="tx1"/>
              </a:solidFill>
              <a:latin typeface="メイリオ" panose="020B0604030504040204" pitchFamily="50" charset="-128"/>
              <a:ea typeface="メイリオ" panose="020B0604030504040204" pitchFamily="50" charset="-128"/>
            </a:endParaRPr>
          </a:p>
        </p:txBody>
      </p:sp>
      <p:sp>
        <p:nvSpPr>
          <p:cNvPr id="290" name="四角形: 角を丸くする 289">
            <a:extLst>
              <a:ext uri="{FF2B5EF4-FFF2-40B4-BE49-F238E27FC236}">
                <a16:creationId xmlns:a16="http://schemas.microsoft.com/office/drawing/2014/main" id="{5E992E10-AF72-A434-2ADA-41B8A708A624}"/>
              </a:ext>
            </a:extLst>
          </p:cNvPr>
          <p:cNvSpPr/>
          <p:nvPr/>
        </p:nvSpPr>
        <p:spPr>
          <a:xfrm>
            <a:off x="6441380" y="3942340"/>
            <a:ext cx="415623" cy="123378"/>
          </a:xfrm>
          <a:prstGeom prst="round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dirty="0">
              <a:solidFill>
                <a:schemeClr val="tx1"/>
              </a:solidFill>
              <a:latin typeface="メイリオ" panose="020B0604030504040204" pitchFamily="50" charset="-128"/>
              <a:ea typeface="メイリオ" panose="020B0604030504040204" pitchFamily="50" charset="-128"/>
            </a:endParaRPr>
          </a:p>
        </p:txBody>
      </p:sp>
      <p:sp>
        <p:nvSpPr>
          <p:cNvPr id="291" name="四角形: 角を丸くする 290">
            <a:extLst>
              <a:ext uri="{FF2B5EF4-FFF2-40B4-BE49-F238E27FC236}">
                <a16:creationId xmlns:a16="http://schemas.microsoft.com/office/drawing/2014/main" id="{42228D9B-722B-0E4B-DD19-F9FB38B664DC}"/>
              </a:ext>
            </a:extLst>
          </p:cNvPr>
          <p:cNvSpPr/>
          <p:nvPr/>
        </p:nvSpPr>
        <p:spPr>
          <a:xfrm>
            <a:off x="5334496" y="4214148"/>
            <a:ext cx="1078017" cy="123378"/>
          </a:xfrm>
          <a:prstGeom prst="round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dirty="0">
              <a:solidFill>
                <a:schemeClr val="tx1"/>
              </a:solidFill>
              <a:latin typeface="メイリオ" panose="020B0604030504040204" pitchFamily="50" charset="-128"/>
              <a:ea typeface="メイリオ" panose="020B0604030504040204" pitchFamily="50" charset="-128"/>
            </a:endParaRPr>
          </a:p>
        </p:txBody>
      </p:sp>
      <p:sp>
        <p:nvSpPr>
          <p:cNvPr id="292" name="四角形: 角を丸くする 291">
            <a:extLst>
              <a:ext uri="{FF2B5EF4-FFF2-40B4-BE49-F238E27FC236}">
                <a16:creationId xmlns:a16="http://schemas.microsoft.com/office/drawing/2014/main" id="{1B760E6F-8F2D-A3C1-1321-292481C0B71B}"/>
              </a:ext>
            </a:extLst>
          </p:cNvPr>
          <p:cNvSpPr/>
          <p:nvPr/>
        </p:nvSpPr>
        <p:spPr>
          <a:xfrm>
            <a:off x="6325614" y="4101436"/>
            <a:ext cx="669364" cy="123378"/>
          </a:xfrm>
          <a:prstGeom prst="round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dirty="0">
              <a:solidFill>
                <a:schemeClr val="tx1"/>
              </a:solidFill>
              <a:latin typeface="メイリオ" panose="020B0604030504040204" pitchFamily="50" charset="-128"/>
              <a:ea typeface="メイリオ" panose="020B0604030504040204" pitchFamily="50" charset="-128"/>
            </a:endParaRPr>
          </a:p>
        </p:txBody>
      </p:sp>
      <p:sp>
        <p:nvSpPr>
          <p:cNvPr id="293" name="四角形: 角を丸くする 292">
            <a:extLst>
              <a:ext uri="{FF2B5EF4-FFF2-40B4-BE49-F238E27FC236}">
                <a16:creationId xmlns:a16="http://schemas.microsoft.com/office/drawing/2014/main" id="{47438004-C566-021E-BD06-9A7726DC3F91}"/>
              </a:ext>
            </a:extLst>
          </p:cNvPr>
          <p:cNvSpPr/>
          <p:nvPr/>
        </p:nvSpPr>
        <p:spPr>
          <a:xfrm>
            <a:off x="7460640" y="3860200"/>
            <a:ext cx="415623" cy="123378"/>
          </a:xfrm>
          <a:prstGeom prst="round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dirty="0">
              <a:solidFill>
                <a:schemeClr val="tx1"/>
              </a:solidFill>
              <a:latin typeface="メイリオ" panose="020B0604030504040204" pitchFamily="50" charset="-128"/>
              <a:ea typeface="メイリオ" panose="020B0604030504040204" pitchFamily="50" charset="-128"/>
            </a:endParaRPr>
          </a:p>
        </p:txBody>
      </p:sp>
      <p:sp>
        <p:nvSpPr>
          <p:cNvPr id="294" name="四角形: 角を丸くする 293">
            <a:extLst>
              <a:ext uri="{FF2B5EF4-FFF2-40B4-BE49-F238E27FC236}">
                <a16:creationId xmlns:a16="http://schemas.microsoft.com/office/drawing/2014/main" id="{482F231F-2E3E-CBDF-D4ED-1D2B911E89AC}"/>
              </a:ext>
            </a:extLst>
          </p:cNvPr>
          <p:cNvSpPr/>
          <p:nvPr/>
        </p:nvSpPr>
        <p:spPr>
          <a:xfrm>
            <a:off x="3749928" y="4119134"/>
            <a:ext cx="669364" cy="130299"/>
          </a:xfrm>
          <a:prstGeom prst="roundRect">
            <a:avLst/>
          </a:prstGeom>
          <a:solidFill>
            <a:srgbClr val="FF000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sz="1000" dirty="0">
              <a:solidFill>
                <a:schemeClr val="tx1"/>
              </a:solidFill>
              <a:latin typeface="メイリオ" panose="020B0604030504040204" pitchFamily="50" charset="-128"/>
              <a:ea typeface="メイリオ" panose="020B0604030504040204" pitchFamily="50" charset="-128"/>
            </a:endParaRPr>
          </a:p>
        </p:txBody>
      </p:sp>
      <p:sp>
        <p:nvSpPr>
          <p:cNvPr id="295" name="四角形: 角を丸くする 294">
            <a:extLst>
              <a:ext uri="{FF2B5EF4-FFF2-40B4-BE49-F238E27FC236}">
                <a16:creationId xmlns:a16="http://schemas.microsoft.com/office/drawing/2014/main" id="{6B233052-61AB-4EF5-4EB9-11728880266A}"/>
              </a:ext>
            </a:extLst>
          </p:cNvPr>
          <p:cNvSpPr/>
          <p:nvPr/>
        </p:nvSpPr>
        <p:spPr>
          <a:xfrm>
            <a:off x="4429145" y="3859403"/>
            <a:ext cx="669364" cy="130299"/>
          </a:xfrm>
          <a:prstGeom prst="roundRect">
            <a:avLst/>
          </a:prstGeom>
          <a:solidFill>
            <a:srgbClr val="FF000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sz="1000" dirty="0">
              <a:solidFill>
                <a:schemeClr val="tx1"/>
              </a:solidFill>
              <a:latin typeface="メイリオ" panose="020B0604030504040204" pitchFamily="50" charset="-128"/>
              <a:ea typeface="メイリオ" panose="020B0604030504040204" pitchFamily="50" charset="-128"/>
            </a:endParaRPr>
          </a:p>
        </p:txBody>
      </p:sp>
      <p:sp>
        <p:nvSpPr>
          <p:cNvPr id="296" name="四角形: 角を丸くする 295">
            <a:extLst>
              <a:ext uri="{FF2B5EF4-FFF2-40B4-BE49-F238E27FC236}">
                <a16:creationId xmlns:a16="http://schemas.microsoft.com/office/drawing/2014/main" id="{AEF2F52B-97EB-67A2-0D65-41503C8D5E2B}"/>
              </a:ext>
            </a:extLst>
          </p:cNvPr>
          <p:cNvSpPr/>
          <p:nvPr/>
        </p:nvSpPr>
        <p:spPr>
          <a:xfrm>
            <a:off x="2756920" y="4766183"/>
            <a:ext cx="736300" cy="130299"/>
          </a:xfrm>
          <a:prstGeom prst="roundRect">
            <a:avLst/>
          </a:prstGeom>
          <a:solidFill>
            <a:srgbClr val="FF000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sz="1000" dirty="0">
              <a:solidFill>
                <a:schemeClr val="tx1"/>
              </a:solidFill>
              <a:latin typeface="メイリオ" panose="020B0604030504040204" pitchFamily="50" charset="-128"/>
              <a:ea typeface="メイリオ" panose="020B0604030504040204" pitchFamily="50" charset="-128"/>
            </a:endParaRPr>
          </a:p>
        </p:txBody>
      </p:sp>
      <p:sp>
        <p:nvSpPr>
          <p:cNvPr id="297" name="四角形: 角を丸くする 296">
            <a:extLst>
              <a:ext uri="{FF2B5EF4-FFF2-40B4-BE49-F238E27FC236}">
                <a16:creationId xmlns:a16="http://schemas.microsoft.com/office/drawing/2014/main" id="{AEFAA46D-AA7E-06C1-0E3F-5617A90B218C}"/>
              </a:ext>
            </a:extLst>
          </p:cNvPr>
          <p:cNvSpPr/>
          <p:nvPr/>
        </p:nvSpPr>
        <p:spPr>
          <a:xfrm>
            <a:off x="3736994" y="4467964"/>
            <a:ext cx="457185" cy="107685"/>
          </a:xfrm>
          <a:prstGeom prst="roundRect">
            <a:avLst/>
          </a:prstGeom>
          <a:solidFill>
            <a:srgbClr val="FF000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sz="1000" dirty="0">
              <a:solidFill>
                <a:schemeClr val="tx1"/>
              </a:solidFill>
              <a:latin typeface="メイリオ" panose="020B0604030504040204" pitchFamily="50" charset="-128"/>
              <a:ea typeface="メイリオ" panose="020B0604030504040204" pitchFamily="50" charset="-128"/>
            </a:endParaRPr>
          </a:p>
        </p:txBody>
      </p:sp>
      <p:sp>
        <p:nvSpPr>
          <p:cNvPr id="298" name="四角形: 角を丸くする 297">
            <a:extLst>
              <a:ext uri="{FF2B5EF4-FFF2-40B4-BE49-F238E27FC236}">
                <a16:creationId xmlns:a16="http://schemas.microsoft.com/office/drawing/2014/main" id="{965BED0E-7EEC-BCC1-6356-484A486810A4}"/>
              </a:ext>
            </a:extLst>
          </p:cNvPr>
          <p:cNvSpPr/>
          <p:nvPr/>
        </p:nvSpPr>
        <p:spPr>
          <a:xfrm>
            <a:off x="4031512" y="3230352"/>
            <a:ext cx="502904" cy="118454"/>
          </a:xfrm>
          <a:prstGeom prst="roundRect">
            <a:avLst/>
          </a:prstGeom>
          <a:solidFill>
            <a:srgbClr val="00B05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sz="1000" dirty="0">
              <a:solidFill>
                <a:schemeClr val="tx1"/>
              </a:solidFill>
              <a:latin typeface="メイリオ" panose="020B0604030504040204" pitchFamily="50" charset="-128"/>
              <a:ea typeface="メイリオ" panose="020B0604030504040204" pitchFamily="50" charset="-128"/>
            </a:endParaRPr>
          </a:p>
        </p:txBody>
      </p:sp>
      <p:sp>
        <p:nvSpPr>
          <p:cNvPr id="299" name="四角形: 角を丸くする 298">
            <a:extLst>
              <a:ext uri="{FF2B5EF4-FFF2-40B4-BE49-F238E27FC236}">
                <a16:creationId xmlns:a16="http://schemas.microsoft.com/office/drawing/2014/main" id="{A6648F68-D530-9C30-3691-755A110BC79C}"/>
              </a:ext>
            </a:extLst>
          </p:cNvPr>
          <p:cNvSpPr/>
          <p:nvPr/>
        </p:nvSpPr>
        <p:spPr>
          <a:xfrm>
            <a:off x="4450076" y="4269459"/>
            <a:ext cx="553194" cy="118454"/>
          </a:xfrm>
          <a:prstGeom prst="roundRect">
            <a:avLst/>
          </a:prstGeom>
          <a:solidFill>
            <a:srgbClr val="00B05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sz="1000" dirty="0">
              <a:solidFill>
                <a:schemeClr val="tx1"/>
              </a:solidFill>
              <a:latin typeface="メイリオ" panose="020B0604030504040204" pitchFamily="50" charset="-128"/>
              <a:ea typeface="メイリオ" panose="020B0604030504040204" pitchFamily="50" charset="-128"/>
            </a:endParaRPr>
          </a:p>
        </p:txBody>
      </p:sp>
      <p:sp>
        <p:nvSpPr>
          <p:cNvPr id="300" name="四角形: 角を丸くする 299">
            <a:extLst>
              <a:ext uri="{FF2B5EF4-FFF2-40B4-BE49-F238E27FC236}">
                <a16:creationId xmlns:a16="http://schemas.microsoft.com/office/drawing/2014/main" id="{0A4660C2-7870-2FE0-7D10-A97173885CB0}"/>
              </a:ext>
            </a:extLst>
          </p:cNvPr>
          <p:cNvSpPr/>
          <p:nvPr/>
        </p:nvSpPr>
        <p:spPr>
          <a:xfrm>
            <a:off x="4495655" y="3955550"/>
            <a:ext cx="608513" cy="118454"/>
          </a:xfrm>
          <a:prstGeom prst="roundRect">
            <a:avLst/>
          </a:prstGeom>
          <a:solidFill>
            <a:srgbClr val="00B05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sz="1000" dirty="0">
              <a:solidFill>
                <a:schemeClr val="tx1"/>
              </a:solidFill>
              <a:latin typeface="メイリオ" panose="020B0604030504040204" pitchFamily="50" charset="-128"/>
              <a:ea typeface="メイリオ" panose="020B0604030504040204" pitchFamily="50" charset="-128"/>
            </a:endParaRPr>
          </a:p>
        </p:txBody>
      </p:sp>
      <p:sp>
        <p:nvSpPr>
          <p:cNvPr id="301" name="四角形: 角を丸くする 300">
            <a:extLst>
              <a:ext uri="{FF2B5EF4-FFF2-40B4-BE49-F238E27FC236}">
                <a16:creationId xmlns:a16="http://schemas.microsoft.com/office/drawing/2014/main" id="{2C6EA167-8321-ADEA-C42F-6EFFCF4F993A}"/>
              </a:ext>
            </a:extLst>
          </p:cNvPr>
          <p:cNvSpPr/>
          <p:nvPr/>
        </p:nvSpPr>
        <p:spPr>
          <a:xfrm>
            <a:off x="4480414" y="4443160"/>
            <a:ext cx="608513" cy="118454"/>
          </a:xfrm>
          <a:prstGeom prst="roundRect">
            <a:avLst/>
          </a:prstGeom>
          <a:solidFill>
            <a:srgbClr val="00B05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sz="1000" dirty="0">
              <a:solidFill>
                <a:schemeClr val="tx1"/>
              </a:solidFill>
              <a:latin typeface="メイリオ" panose="020B0604030504040204" pitchFamily="50" charset="-128"/>
              <a:ea typeface="メイリオ" panose="020B0604030504040204" pitchFamily="50" charset="-128"/>
            </a:endParaRPr>
          </a:p>
        </p:txBody>
      </p:sp>
      <p:sp>
        <p:nvSpPr>
          <p:cNvPr id="302" name="四角形: 角を丸くする 301">
            <a:extLst>
              <a:ext uri="{FF2B5EF4-FFF2-40B4-BE49-F238E27FC236}">
                <a16:creationId xmlns:a16="http://schemas.microsoft.com/office/drawing/2014/main" id="{E5D15C42-0DDE-0335-E18E-7FA58E44C491}"/>
              </a:ext>
            </a:extLst>
          </p:cNvPr>
          <p:cNvSpPr/>
          <p:nvPr/>
        </p:nvSpPr>
        <p:spPr>
          <a:xfrm>
            <a:off x="5179526" y="4308059"/>
            <a:ext cx="415623" cy="118454"/>
          </a:xfrm>
          <a:prstGeom prst="roundRect">
            <a:avLst/>
          </a:prstGeom>
          <a:solidFill>
            <a:srgbClr val="00B05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sz="1000" dirty="0">
              <a:solidFill>
                <a:schemeClr val="tx1"/>
              </a:solidFill>
              <a:latin typeface="メイリオ" panose="020B0604030504040204" pitchFamily="50" charset="-128"/>
              <a:ea typeface="メイリオ" panose="020B0604030504040204" pitchFamily="50" charset="-128"/>
            </a:endParaRPr>
          </a:p>
        </p:txBody>
      </p:sp>
      <p:sp>
        <p:nvSpPr>
          <p:cNvPr id="303" name="四角形: 角を丸くする 302">
            <a:extLst>
              <a:ext uri="{FF2B5EF4-FFF2-40B4-BE49-F238E27FC236}">
                <a16:creationId xmlns:a16="http://schemas.microsoft.com/office/drawing/2014/main" id="{1FF1BF67-D98D-EB02-7F43-E78BB1CEBDF9}"/>
              </a:ext>
            </a:extLst>
          </p:cNvPr>
          <p:cNvSpPr/>
          <p:nvPr/>
        </p:nvSpPr>
        <p:spPr>
          <a:xfrm>
            <a:off x="6480429" y="3858946"/>
            <a:ext cx="736300" cy="118454"/>
          </a:xfrm>
          <a:prstGeom prst="roundRect">
            <a:avLst/>
          </a:prstGeom>
          <a:solidFill>
            <a:srgbClr val="00B05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sz="1000" dirty="0">
              <a:solidFill>
                <a:schemeClr val="tx1"/>
              </a:solidFill>
              <a:latin typeface="メイリオ" panose="020B0604030504040204" pitchFamily="50" charset="-128"/>
              <a:ea typeface="メイリオ" panose="020B0604030504040204" pitchFamily="50" charset="-128"/>
            </a:endParaRPr>
          </a:p>
        </p:txBody>
      </p:sp>
      <p:sp>
        <p:nvSpPr>
          <p:cNvPr id="304" name="四角形: 角を丸くする 303">
            <a:extLst>
              <a:ext uri="{FF2B5EF4-FFF2-40B4-BE49-F238E27FC236}">
                <a16:creationId xmlns:a16="http://schemas.microsoft.com/office/drawing/2014/main" id="{7101B57F-C421-CD23-6914-13C841438FC8}"/>
              </a:ext>
            </a:extLst>
          </p:cNvPr>
          <p:cNvSpPr/>
          <p:nvPr/>
        </p:nvSpPr>
        <p:spPr>
          <a:xfrm>
            <a:off x="3436133" y="3767763"/>
            <a:ext cx="457185" cy="118454"/>
          </a:xfrm>
          <a:prstGeom prst="roundRect">
            <a:avLst/>
          </a:prstGeom>
          <a:solidFill>
            <a:srgbClr val="00B05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sz="1000" dirty="0">
              <a:solidFill>
                <a:schemeClr val="tx1"/>
              </a:solidFill>
              <a:latin typeface="メイリオ" panose="020B0604030504040204" pitchFamily="50" charset="-128"/>
              <a:ea typeface="メイリオ" panose="020B0604030504040204" pitchFamily="50" charset="-128"/>
            </a:endParaRPr>
          </a:p>
        </p:txBody>
      </p:sp>
      <p:sp>
        <p:nvSpPr>
          <p:cNvPr id="305" name="四角形: 角を丸くする 304">
            <a:extLst>
              <a:ext uri="{FF2B5EF4-FFF2-40B4-BE49-F238E27FC236}">
                <a16:creationId xmlns:a16="http://schemas.microsoft.com/office/drawing/2014/main" id="{855FA62A-0C78-C189-C405-7C9CC080527C}"/>
              </a:ext>
            </a:extLst>
          </p:cNvPr>
          <p:cNvSpPr/>
          <p:nvPr/>
        </p:nvSpPr>
        <p:spPr>
          <a:xfrm>
            <a:off x="3842968" y="3370533"/>
            <a:ext cx="457185" cy="118454"/>
          </a:xfrm>
          <a:prstGeom prst="roundRect">
            <a:avLst/>
          </a:prstGeom>
          <a:solidFill>
            <a:srgbClr val="00B05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sz="1000" dirty="0">
              <a:solidFill>
                <a:schemeClr val="tx1"/>
              </a:solidFill>
              <a:latin typeface="メイリオ" panose="020B0604030504040204" pitchFamily="50" charset="-128"/>
              <a:ea typeface="メイリオ" panose="020B0604030504040204" pitchFamily="50" charset="-128"/>
            </a:endParaRPr>
          </a:p>
        </p:txBody>
      </p:sp>
      <p:sp>
        <p:nvSpPr>
          <p:cNvPr id="306" name="四角形: 角を丸くする 305">
            <a:extLst>
              <a:ext uri="{FF2B5EF4-FFF2-40B4-BE49-F238E27FC236}">
                <a16:creationId xmlns:a16="http://schemas.microsoft.com/office/drawing/2014/main" id="{7EF4132B-5340-62C3-820B-A62F2E7068AF}"/>
              </a:ext>
            </a:extLst>
          </p:cNvPr>
          <p:cNvSpPr/>
          <p:nvPr/>
        </p:nvSpPr>
        <p:spPr>
          <a:xfrm>
            <a:off x="2122038" y="4172396"/>
            <a:ext cx="553194" cy="118454"/>
          </a:xfrm>
          <a:prstGeom prst="roundRect">
            <a:avLst/>
          </a:prstGeom>
          <a:solidFill>
            <a:srgbClr val="00B05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sz="1000" dirty="0">
              <a:solidFill>
                <a:schemeClr val="tx1"/>
              </a:solidFill>
              <a:latin typeface="メイリオ" panose="020B0604030504040204" pitchFamily="50" charset="-128"/>
              <a:ea typeface="メイリオ" panose="020B0604030504040204" pitchFamily="50" charset="-128"/>
            </a:endParaRPr>
          </a:p>
        </p:txBody>
      </p:sp>
      <p:sp>
        <p:nvSpPr>
          <p:cNvPr id="307" name="四角形: 角を丸くする 306">
            <a:extLst>
              <a:ext uri="{FF2B5EF4-FFF2-40B4-BE49-F238E27FC236}">
                <a16:creationId xmlns:a16="http://schemas.microsoft.com/office/drawing/2014/main" id="{BA9CBE67-F190-76DA-BC74-18D24B084C64}"/>
              </a:ext>
            </a:extLst>
          </p:cNvPr>
          <p:cNvSpPr/>
          <p:nvPr/>
        </p:nvSpPr>
        <p:spPr>
          <a:xfrm>
            <a:off x="3082158" y="4157156"/>
            <a:ext cx="553194" cy="118454"/>
          </a:xfrm>
          <a:prstGeom prst="roundRect">
            <a:avLst/>
          </a:prstGeom>
          <a:solidFill>
            <a:srgbClr val="00B05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sz="1000" dirty="0">
              <a:solidFill>
                <a:schemeClr val="tx1"/>
              </a:solidFill>
              <a:latin typeface="メイリオ" panose="020B0604030504040204" pitchFamily="50" charset="-128"/>
              <a:ea typeface="メイリオ" panose="020B0604030504040204" pitchFamily="50" charset="-128"/>
            </a:endParaRPr>
          </a:p>
        </p:txBody>
      </p:sp>
      <p:sp>
        <p:nvSpPr>
          <p:cNvPr id="308" name="四角形: 角を丸くする 307">
            <a:extLst>
              <a:ext uri="{FF2B5EF4-FFF2-40B4-BE49-F238E27FC236}">
                <a16:creationId xmlns:a16="http://schemas.microsoft.com/office/drawing/2014/main" id="{F1D90042-85C2-DD7A-DDD4-BE3E1D67C788}"/>
              </a:ext>
            </a:extLst>
          </p:cNvPr>
          <p:cNvSpPr/>
          <p:nvPr/>
        </p:nvSpPr>
        <p:spPr>
          <a:xfrm>
            <a:off x="3287898" y="4561016"/>
            <a:ext cx="553194" cy="118454"/>
          </a:xfrm>
          <a:prstGeom prst="roundRect">
            <a:avLst/>
          </a:prstGeom>
          <a:solidFill>
            <a:srgbClr val="00B05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sz="1000" dirty="0">
              <a:solidFill>
                <a:schemeClr val="tx1"/>
              </a:solidFill>
              <a:latin typeface="メイリオ" panose="020B0604030504040204" pitchFamily="50" charset="-128"/>
              <a:ea typeface="メイリオ" panose="020B0604030504040204" pitchFamily="50" charset="-128"/>
            </a:endParaRPr>
          </a:p>
        </p:txBody>
      </p:sp>
      <p:sp>
        <p:nvSpPr>
          <p:cNvPr id="309" name="四角形: 角を丸くする 308">
            <a:extLst>
              <a:ext uri="{FF2B5EF4-FFF2-40B4-BE49-F238E27FC236}">
                <a16:creationId xmlns:a16="http://schemas.microsoft.com/office/drawing/2014/main" id="{477C4023-E323-6539-8C66-AD953761862D}"/>
              </a:ext>
            </a:extLst>
          </p:cNvPr>
          <p:cNvSpPr/>
          <p:nvPr/>
        </p:nvSpPr>
        <p:spPr>
          <a:xfrm>
            <a:off x="6569446" y="2945246"/>
            <a:ext cx="809930" cy="143329"/>
          </a:xfrm>
          <a:prstGeom prst="roundRect">
            <a:avLst/>
          </a:prstGeom>
          <a:solidFill>
            <a:srgbClr val="FFC00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800" dirty="0">
              <a:solidFill>
                <a:schemeClr val="tx1"/>
              </a:solidFill>
              <a:latin typeface="メイリオ" panose="020B0604030504040204" pitchFamily="50" charset="-128"/>
              <a:ea typeface="メイリオ" panose="020B0604030504040204" pitchFamily="50" charset="-128"/>
            </a:endParaRPr>
          </a:p>
        </p:txBody>
      </p:sp>
      <p:sp>
        <p:nvSpPr>
          <p:cNvPr id="310" name="四角形: 角を丸くする 309">
            <a:extLst>
              <a:ext uri="{FF2B5EF4-FFF2-40B4-BE49-F238E27FC236}">
                <a16:creationId xmlns:a16="http://schemas.microsoft.com/office/drawing/2014/main" id="{E9725BC4-7279-9559-8ACF-391FBB297F53}"/>
              </a:ext>
            </a:extLst>
          </p:cNvPr>
          <p:cNvSpPr/>
          <p:nvPr/>
        </p:nvSpPr>
        <p:spPr>
          <a:xfrm>
            <a:off x="6270701" y="2771805"/>
            <a:ext cx="502904" cy="123378"/>
          </a:xfrm>
          <a:prstGeom prst="round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dirty="0">
              <a:solidFill>
                <a:schemeClr val="tx1"/>
              </a:solidFill>
              <a:latin typeface="メイリオ" panose="020B0604030504040204" pitchFamily="50" charset="-128"/>
              <a:ea typeface="メイリオ" panose="020B0604030504040204" pitchFamily="50" charset="-128"/>
            </a:endParaRPr>
          </a:p>
        </p:txBody>
      </p:sp>
      <p:sp>
        <p:nvSpPr>
          <p:cNvPr id="311" name="四角形: 角を丸くする 310">
            <a:extLst>
              <a:ext uri="{FF2B5EF4-FFF2-40B4-BE49-F238E27FC236}">
                <a16:creationId xmlns:a16="http://schemas.microsoft.com/office/drawing/2014/main" id="{70EF0A6A-480C-B8DE-E1E0-8EE4356E3256}"/>
              </a:ext>
            </a:extLst>
          </p:cNvPr>
          <p:cNvSpPr/>
          <p:nvPr/>
        </p:nvSpPr>
        <p:spPr>
          <a:xfrm>
            <a:off x="5507998" y="3495837"/>
            <a:ext cx="553194" cy="123378"/>
          </a:xfrm>
          <a:prstGeom prst="round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dirty="0">
              <a:solidFill>
                <a:schemeClr val="tx1"/>
              </a:solidFill>
              <a:latin typeface="メイリオ" panose="020B0604030504040204" pitchFamily="50" charset="-128"/>
              <a:ea typeface="メイリオ" panose="020B0604030504040204" pitchFamily="50" charset="-128"/>
            </a:endParaRPr>
          </a:p>
        </p:txBody>
      </p:sp>
      <p:sp>
        <p:nvSpPr>
          <p:cNvPr id="312" name="四角形: 角を丸くする 311">
            <a:extLst>
              <a:ext uri="{FF2B5EF4-FFF2-40B4-BE49-F238E27FC236}">
                <a16:creationId xmlns:a16="http://schemas.microsoft.com/office/drawing/2014/main" id="{DDA4E65B-9A4E-1B81-A022-47ED7B0F1535}"/>
              </a:ext>
            </a:extLst>
          </p:cNvPr>
          <p:cNvSpPr/>
          <p:nvPr/>
        </p:nvSpPr>
        <p:spPr>
          <a:xfrm>
            <a:off x="5978885" y="3632681"/>
            <a:ext cx="608513" cy="123378"/>
          </a:xfrm>
          <a:prstGeom prst="round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dirty="0">
              <a:solidFill>
                <a:schemeClr val="tx1"/>
              </a:solidFill>
              <a:latin typeface="メイリオ" panose="020B0604030504040204" pitchFamily="50" charset="-128"/>
              <a:ea typeface="メイリオ" panose="020B0604030504040204" pitchFamily="50" charset="-128"/>
            </a:endParaRPr>
          </a:p>
        </p:txBody>
      </p:sp>
      <p:sp>
        <p:nvSpPr>
          <p:cNvPr id="313" name="四角形: 角を丸くする 312">
            <a:extLst>
              <a:ext uri="{FF2B5EF4-FFF2-40B4-BE49-F238E27FC236}">
                <a16:creationId xmlns:a16="http://schemas.microsoft.com/office/drawing/2014/main" id="{C555FC1D-139B-EB7F-F671-BF6E8D138577}"/>
              </a:ext>
            </a:extLst>
          </p:cNvPr>
          <p:cNvSpPr/>
          <p:nvPr/>
        </p:nvSpPr>
        <p:spPr>
          <a:xfrm>
            <a:off x="5782123" y="3945114"/>
            <a:ext cx="608513" cy="123378"/>
          </a:xfrm>
          <a:prstGeom prst="round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dirty="0">
              <a:solidFill>
                <a:schemeClr val="tx1"/>
              </a:solidFill>
              <a:latin typeface="メイリオ" panose="020B0604030504040204" pitchFamily="50" charset="-128"/>
              <a:ea typeface="メイリオ" panose="020B0604030504040204" pitchFamily="50" charset="-128"/>
            </a:endParaRPr>
          </a:p>
        </p:txBody>
      </p:sp>
      <p:sp>
        <p:nvSpPr>
          <p:cNvPr id="314" name="四角形: 角を丸くする 313">
            <a:extLst>
              <a:ext uri="{FF2B5EF4-FFF2-40B4-BE49-F238E27FC236}">
                <a16:creationId xmlns:a16="http://schemas.microsoft.com/office/drawing/2014/main" id="{2422CEF7-7C80-0FC1-7954-9DE818ACEA92}"/>
              </a:ext>
            </a:extLst>
          </p:cNvPr>
          <p:cNvSpPr/>
          <p:nvPr/>
        </p:nvSpPr>
        <p:spPr>
          <a:xfrm>
            <a:off x="6977679" y="3258168"/>
            <a:ext cx="890923" cy="143329"/>
          </a:xfrm>
          <a:prstGeom prst="roundRect">
            <a:avLst/>
          </a:prstGeom>
          <a:solidFill>
            <a:srgbClr val="FFC00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800" dirty="0">
              <a:solidFill>
                <a:schemeClr val="tx1"/>
              </a:solidFill>
              <a:latin typeface="メイリオ" panose="020B0604030504040204" pitchFamily="50" charset="-128"/>
              <a:ea typeface="メイリオ" panose="020B0604030504040204" pitchFamily="50" charset="-128"/>
            </a:endParaRPr>
          </a:p>
        </p:txBody>
      </p:sp>
      <p:sp>
        <p:nvSpPr>
          <p:cNvPr id="315" name="四角形: 角を丸くする 314">
            <a:extLst>
              <a:ext uri="{FF2B5EF4-FFF2-40B4-BE49-F238E27FC236}">
                <a16:creationId xmlns:a16="http://schemas.microsoft.com/office/drawing/2014/main" id="{32BCB8E4-8A1D-CE20-F2B4-CB2ED0C64BDF}"/>
              </a:ext>
            </a:extLst>
          </p:cNvPr>
          <p:cNvSpPr/>
          <p:nvPr/>
        </p:nvSpPr>
        <p:spPr>
          <a:xfrm>
            <a:off x="7163402" y="3950896"/>
            <a:ext cx="502904" cy="143329"/>
          </a:xfrm>
          <a:prstGeom prst="roundRect">
            <a:avLst/>
          </a:prstGeom>
          <a:solidFill>
            <a:srgbClr val="FFC00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800" dirty="0">
              <a:solidFill>
                <a:schemeClr val="tx1"/>
              </a:solidFill>
              <a:latin typeface="メイリオ" panose="020B0604030504040204" pitchFamily="50" charset="-128"/>
              <a:ea typeface="メイリオ" panose="020B0604030504040204" pitchFamily="50" charset="-128"/>
            </a:endParaRPr>
          </a:p>
        </p:txBody>
      </p:sp>
      <p:sp>
        <p:nvSpPr>
          <p:cNvPr id="317" name="四角形: 角を丸くする 316">
            <a:extLst>
              <a:ext uri="{FF2B5EF4-FFF2-40B4-BE49-F238E27FC236}">
                <a16:creationId xmlns:a16="http://schemas.microsoft.com/office/drawing/2014/main" id="{C420241E-F0EC-38F1-D980-105E86BCFBBF}"/>
              </a:ext>
            </a:extLst>
          </p:cNvPr>
          <p:cNvSpPr/>
          <p:nvPr/>
        </p:nvSpPr>
        <p:spPr>
          <a:xfrm>
            <a:off x="7033862" y="3752776"/>
            <a:ext cx="502904" cy="143329"/>
          </a:xfrm>
          <a:prstGeom prst="roundRect">
            <a:avLst/>
          </a:prstGeom>
          <a:solidFill>
            <a:srgbClr val="FFC00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800" dirty="0">
              <a:solidFill>
                <a:schemeClr val="tx1"/>
              </a:solidFill>
              <a:latin typeface="メイリオ" panose="020B0604030504040204" pitchFamily="50" charset="-128"/>
              <a:ea typeface="メイリオ" panose="020B0604030504040204" pitchFamily="50" charset="-128"/>
            </a:endParaRPr>
          </a:p>
        </p:txBody>
      </p:sp>
      <p:sp>
        <p:nvSpPr>
          <p:cNvPr id="319" name="四角形: 角を丸くする 318">
            <a:extLst>
              <a:ext uri="{FF2B5EF4-FFF2-40B4-BE49-F238E27FC236}">
                <a16:creationId xmlns:a16="http://schemas.microsoft.com/office/drawing/2014/main" id="{8FE01BBE-38A4-0C79-4FB2-E279446EEB31}"/>
              </a:ext>
            </a:extLst>
          </p:cNvPr>
          <p:cNvSpPr/>
          <p:nvPr/>
        </p:nvSpPr>
        <p:spPr>
          <a:xfrm>
            <a:off x="6172685" y="4436849"/>
            <a:ext cx="502904" cy="143329"/>
          </a:xfrm>
          <a:prstGeom prst="roundRect">
            <a:avLst/>
          </a:prstGeom>
          <a:solidFill>
            <a:srgbClr val="FFC00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800" dirty="0">
              <a:solidFill>
                <a:schemeClr val="tx1"/>
              </a:solidFill>
              <a:latin typeface="メイリオ" panose="020B0604030504040204" pitchFamily="50" charset="-128"/>
              <a:ea typeface="メイリオ" panose="020B0604030504040204" pitchFamily="50" charset="-128"/>
            </a:endParaRPr>
          </a:p>
        </p:txBody>
      </p:sp>
      <p:sp>
        <p:nvSpPr>
          <p:cNvPr id="832" name="四角形: 角を丸くする 831">
            <a:extLst>
              <a:ext uri="{FF2B5EF4-FFF2-40B4-BE49-F238E27FC236}">
                <a16:creationId xmlns:a16="http://schemas.microsoft.com/office/drawing/2014/main" id="{24AFCB84-EA86-8DAD-4310-70F3B81580FD}"/>
              </a:ext>
            </a:extLst>
          </p:cNvPr>
          <p:cNvSpPr/>
          <p:nvPr/>
        </p:nvSpPr>
        <p:spPr>
          <a:xfrm>
            <a:off x="6644345" y="4427125"/>
            <a:ext cx="608513" cy="143329"/>
          </a:xfrm>
          <a:prstGeom prst="roundRect">
            <a:avLst/>
          </a:prstGeom>
          <a:solidFill>
            <a:srgbClr val="FFC00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800" dirty="0">
              <a:solidFill>
                <a:schemeClr val="tx1"/>
              </a:solidFill>
              <a:latin typeface="メイリオ" panose="020B0604030504040204" pitchFamily="50" charset="-128"/>
              <a:ea typeface="メイリオ" panose="020B0604030504040204" pitchFamily="50" charset="-128"/>
            </a:endParaRPr>
          </a:p>
        </p:txBody>
      </p:sp>
      <p:sp>
        <p:nvSpPr>
          <p:cNvPr id="833" name="四角形: 角を丸くする 832">
            <a:extLst>
              <a:ext uri="{FF2B5EF4-FFF2-40B4-BE49-F238E27FC236}">
                <a16:creationId xmlns:a16="http://schemas.microsoft.com/office/drawing/2014/main" id="{B55CFC40-A739-CA5B-C3C0-197909FE3032}"/>
              </a:ext>
            </a:extLst>
          </p:cNvPr>
          <p:cNvSpPr/>
          <p:nvPr/>
        </p:nvSpPr>
        <p:spPr>
          <a:xfrm>
            <a:off x="6577062" y="4543139"/>
            <a:ext cx="258069" cy="123378"/>
          </a:xfrm>
          <a:prstGeom prst="round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dirty="0">
              <a:solidFill>
                <a:schemeClr val="tx1"/>
              </a:solidFill>
              <a:latin typeface="メイリオ" panose="020B0604030504040204" pitchFamily="50" charset="-128"/>
              <a:ea typeface="メイリオ" panose="020B0604030504040204" pitchFamily="50" charset="-128"/>
            </a:endParaRPr>
          </a:p>
        </p:txBody>
      </p:sp>
      <p:sp>
        <p:nvSpPr>
          <p:cNvPr id="834" name="四角形: 角を丸くする 833">
            <a:extLst>
              <a:ext uri="{FF2B5EF4-FFF2-40B4-BE49-F238E27FC236}">
                <a16:creationId xmlns:a16="http://schemas.microsoft.com/office/drawing/2014/main" id="{96EC41A0-C5D7-FAF2-6C6A-C87FEF82D426}"/>
              </a:ext>
            </a:extLst>
          </p:cNvPr>
          <p:cNvSpPr/>
          <p:nvPr/>
        </p:nvSpPr>
        <p:spPr>
          <a:xfrm>
            <a:off x="5318151" y="4550759"/>
            <a:ext cx="809930" cy="123378"/>
          </a:xfrm>
          <a:prstGeom prst="round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dirty="0">
              <a:solidFill>
                <a:schemeClr val="tx1"/>
              </a:solidFill>
              <a:latin typeface="メイリオ" panose="020B0604030504040204" pitchFamily="50" charset="-128"/>
              <a:ea typeface="メイリオ" panose="020B0604030504040204" pitchFamily="50" charset="-128"/>
            </a:endParaRPr>
          </a:p>
        </p:txBody>
      </p:sp>
      <p:sp>
        <p:nvSpPr>
          <p:cNvPr id="835" name="四角形: 角を丸くする 834">
            <a:extLst>
              <a:ext uri="{FF2B5EF4-FFF2-40B4-BE49-F238E27FC236}">
                <a16:creationId xmlns:a16="http://schemas.microsoft.com/office/drawing/2014/main" id="{14A04D8E-EFA0-D548-10C0-172114965470}"/>
              </a:ext>
            </a:extLst>
          </p:cNvPr>
          <p:cNvSpPr/>
          <p:nvPr/>
        </p:nvSpPr>
        <p:spPr>
          <a:xfrm>
            <a:off x="5098820" y="4459319"/>
            <a:ext cx="608513" cy="123378"/>
          </a:xfrm>
          <a:prstGeom prst="round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dirty="0">
              <a:solidFill>
                <a:schemeClr val="tx1"/>
              </a:solidFill>
              <a:latin typeface="メイリオ" panose="020B0604030504040204" pitchFamily="50" charset="-128"/>
              <a:ea typeface="メイリオ" panose="020B0604030504040204" pitchFamily="50" charset="-128"/>
            </a:endParaRPr>
          </a:p>
        </p:txBody>
      </p:sp>
      <p:sp>
        <p:nvSpPr>
          <p:cNvPr id="836" name="四角形: 角を丸くする 835">
            <a:extLst>
              <a:ext uri="{FF2B5EF4-FFF2-40B4-BE49-F238E27FC236}">
                <a16:creationId xmlns:a16="http://schemas.microsoft.com/office/drawing/2014/main" id="{8DBBEA3A-0514-7F70-0ED1-F954671FAC05}"/>
              </a:ext>
            </a:extLst>
          </p:cNvPr>
          <p:cNvSpPr/>
          <p:nvPr/>
        </p:nvSpPr>
        <p:spPr>
          <a:xfrm>
            <a:off x="5242233" y="3333940"/>
            <a:ext cx="415623" cy="143329"/>
          </a:xfrm>
          <a:prstGeom prst="roundRect">
            <a:avLst/>
          </a:prstGeom>
          <a:solidFill>
            <a:srgbClr val="FFC00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800" dirty="0">
              <a:solidFill>
                <a:schemeClr val="tx1"/>
              </a:solidFill>
              <a:latin typeface="メイリオ" panose="020B0604030504040204" pitchFamily="50" charset="-128"/>
              <a:ea typeface="メイリオ" panose="020B0604030504040204" pitchFamily="50" charset="-128"/>
            </a:endParaRPr>
          </a:p>
        </p:txBody>
      </p:sp>
      <p:sp>
        <p:nvSpPr>
          <p:cNvPr id="837" name="四角形: 角を丸くする 836">
            <a:extLst>
              <a:ext uri="{FF2B5EF4-FFF2-40B4-BE49-F238E27FC236}">
                <a16:creationId xmlns:a16="http://schemas.microsoft.com/office/drawing/2014/main" id="{DA8BCC63-5614-5103-FA21-B706A6409F98}"/>
              </a:ext>
            </a:extLst>
          </p:cNvPr>
          <p:cNvSpPr/>
          <p:nvPr/>
        </p:nvSpPr>
        <p:spPr>
          <a:xfrm>
            <a:off x="4364503" y="4530280"/>
            <a:ext cx="890923" cy="143329"/>
          </a:xfrm>
          <a:prstGeom prst="roundRect">
            <a:avLst/>
          </a:prstGeom>
          <a:solidFill>
            <a:srgbClr val="FFC00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800" dirty="0">
              <a:solidFill>
                <a:schemeClr val="tx1"/>
              </a:solidFill>
              <a:latin typeface="メイリオ" panose="020B0604030504040204" pitchFamily="50" charset="-128"/>
              <a:ea typeface="メイリオ" panose="020B0604030504040204" pitchFamily="50" charset="-128"/>
            </a:endParaRPr>
          </a:p>
        </p:txBody>
      </p:sp>
      <p:sp>
        <p:nvSpPr>
          <p:cNvPr id="838" name="四角形: 角を丸くする 837">
            <a:extLst>
              <a:ext uri="{FF2B5EF4-FFF2-40B4-BE49-F238E27FC236}">
                <a16:creationId xmlns:a16="http://schemas.microsoft.com/office/drawing/2014/main" id="{CC9B01F5-A1E0-2B4C-AB3A-DAF33E2EDB9D}"/>
              </a:ext>
            </a:extLst>
          </p:cNvPr>
          <p:cNvSpPr/>
          <p:nvPr/>
        </p:nvSpPr>
        <p:spPr>
          <a:xfrm>
            <a:off x="3438962" y="4255960"/>
            <a:ext cx="669364" cy="143329"/>
          </a:xfrm>
          <a:prstGeom prst="roundRect">
            <a:avLst/>
          </a:prstGeom>
          <a:solidFill>
            <a:srgbClr val="FFC00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800" dirty="0">
              <a:solidFill>
                <a:schemeClr val="tx1"/>
              </a:solidFill>
              <a:latin typeface="メイリオ" panose="020B0604030504040204" pitchFamily="50" charset="-128"/>
              <a:ea typeface="メイリオ" panose="020B0604030504040204" pitchFamily="50" charset="-128"/>
            </a:endParaRPr>
          </a:p>
        </p:txBody>
      </p:sp>
      <p:sp>
        <p:nvSpPr>
          <p:cNvPr id="839" name="四角形: 角を丸くする 838">
            <a:extLst>
              <a:ext uri="{FF2B5EF4-FFF2-40B4-BE49-F238E27FC236}">
                <a16:creationId xmlns:a16="http://schemas.microsoft.com/office/drawing/2014/main" id="{C3D601C2-E450-D9DB-27D9-7010053DD16D}"/>
              </a:ext>
            </a:extLst>
          </p:cNvPr>
          <p:cNvSpPr/>
          <p:nvPr/>
        </p:nvSpPr>
        <p:spPr>
          <a:xfrm>
            <a:off x="2468347" y="4414875"/>
            <a:ext cx="553194" cy="130299"/>
          </a:xfrm>
          <a:prstGeom prst="roundRect">
            <a:avLst/>
          </a:prstGeom>
          <a:solidFill>
            <a:srgbClr val="FFC00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800" dirty="0">
              <a:solidFill>
                <a:schemeClr val="tx1"/>
              </a:solidFill>
              <a:latin typeface="メイリオ" panose="020B0604030504040204" pitchFamily="50" charset="-128"/>
              <a:ea typeface="メイリオ" panose="020B0604030504040204" pitchFamily="50" charset="-128"/>
            </a:endParaRPr>
          </a:p>
        </p:txBody>
      </p:sp>
      <p:sp>
        <p:nvSpPr>
          <p:cNvPr id="840" name="四角形: 角を丸くする 839">
            <a:extLst>
              <a:ext uri="{FF2B5EF4-FFF2-40B4-BE49-F238E27FC236}">
                <a16:creationId xmlns:a16="http://schemas.microsoft.com/office/drawing/2014/main" id="{DF5B2D88-3AB4-B9F3-FD41-CE74E6261BA3}"/>
              </a:ext>
            </a:extLst>
          </p:cNvPr>
          <p:cNvSpPr/>
          <p:nvPr/>
        </p:nvSpPr>
        <p:spPr>
          <a:xfrm>
            <a:off x="2140687" y="4292955"/>
            <a:ext cx="553194" cy="130299"/>
          </a:xfrm>
          <a:prstGeom prst="roundRect">
            <a:avLst/>
          </a:prstGeom>
          <a:solidFill>
            <a:srgbClr val="FFC00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800" dirty="0">
              <a:solidFill>
                <a:schemeClr val="tx1"/>
              </a:solidFill>
              <a:latin typeface="メイリオ" panose="020B0604030504040204" pitchFamily="50" charset="-128"/>
              <a:ea typeface="メイリオ" panose="020B0604030504040204" pitchFamily="50" charset="-128"/>
            </a:endParaRPr>
          </a:p>
        </p:txBody>
      </p:sp>
      <p:sp>
        <p:nvSpPr>
          <p:cNvPr id="841" name="四角形: 角を丸くする 840">
            <a:extLst>
              <a:ext uri="{FF2B5EF4-FFF2-40B4-BE49-F238E27FC236}">
                <a16:creationId xmlns:a16="http://schemas.microsoft.com/office/drawing/2014/main" id="{3B5D113E-EA30-88A6-65EB-B0B493DA1AC0}"/>
              </a:ext>
            </a:extLst>
          </p:cNvPr>
          <p:cNvSpPr/>
          <p:nvPr/>
        </p:nvSpPr>
        <p:spPr>
          <a:xfrm>
            <a:off x="1520570" y="3788925"/>
            <a:ext cx="415623" cy="118454"/>
          </a:xfrm>
          <a:prstGeom prst="roundRect">
            <a:avLst/>
          </a:prstGeom>
          <a:solidFill>
            <a:srgbClr val="FF000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sz="1000" dirty="0">
              <a:solidFill>
                <a:schemeClr val="tx1"/>
              </a:solidFill>
              <a:latin typeface="メイリオ" panose="020B0604030504040204" pitchFamily="50" charset="-128"/>
              <a:ea typeface="メイリオ" panose="020B0604030504040204" pitchFamily="50" charset="-128"/>
            </a:endParaRPr>
          </a:p>
        </p:txBody>
      </p:sp>
      <p:sp>
        <p:nvSpPr>
          <p:cNvPr id="842" name="四角形: 角を丸くする 841">
            <a:extLst>
              <a:ext uri="{FF2B5EF4-FFF2-40B4-BE49-F238E27FC236}">
                <a16:creationId xmlns:a16="http://schemas.microsoft.com/office/drawing/2014/main" id="{1DCA9EBF-F35E-F449-5F00-49665FEC76AA}"/>
              </a:ext>
            </a:extLst>
          </p:cNvPr>
          <p:cNvSpPr/>
          <p:nvPr/>
        </p:nvSpPr>
        <p:spPr>
          <a:xfrm>
            <a:off x="7092382" y="4073338"/>
            <a:ext cx="809930" cy="143329"/>
          </a:xfrm>
          <a:prstGeom prst="roundRect">
            <a:avLst/>
          </a:prstGeom>
          <a:solidFill>
            <a:srgbClr val="FFC00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800" dirty="0">
              <a:solidFill>
                <a:schemeClr val="tx1"/>
              </a:solidFill>
              <a:latin typeface="メイリオ" panose="020B0604030504040204" pitchFamily="50" charset="-128"/>
              <a:ea typeface="メイリオ" panose="020B0604030504040204" pitchFamily="50" charset="-128"/>
            </a:endParaRPr>
          </a:p>
        </p:txBody>
      </p:sp>
      <p:sp>
        <p:nvSpPr>
          <p:cNvPr id="843" name="四角形: 角を丸くする 842">
            <a:extLst>
              <a:ext uri="{FF2B5EF4-FFF2-40B4-BE49-F238E27FC236}">
                <a16:creationId xmlns:a16="http://schemas.microsoft.com/office/drawing/2014/main" id="{A468E33B-16B4-2571-5673-8FF02892353B}"/>
              </a:ext>
            </a:extLst>
          </p:cNvPr>
          <p:cNvSpPr/>
          <p:nvPr/>
        </p:nvSpPr>
        <p:spPr>
          <a:xfrm>
            <a:off x="7335050" y="4164778"/>
            <a:ext cx="553194" cy="143329"/>
          </a:xfrm>
          <a:prstGeom prst="roundRect">
            <a:avLst/>
          </a:prstGeom>
          <a:solidFill>
            <a:srgbClr val="FFC00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800" dirty="0">
              <a:solidFill>
                <a:schemeClr val="tx1"/>
              </a:solidFill>
              <a:latin typeface="メイリオ" panose="020B0604030504040204" pitchFamily="50" charset="-128"/>
              <a:ea typeface="メイリオ" panose="020B0604030504040204" pitchFamily="50" charset="-128"/>
            </a:endParaRPr>
          </a:p>
        </p:txBody>
      </p:sp>
      <p:sp>
        <p:nvSpPr>
          <p:cNvPr id="844" name="四角形: 角を丸くする 843">
            <a:extLst>
              <a:ext uri="{FF2B5EF4-FFF2-40B4-BE49-F238E27FC236}">
                <a16:creationId xmlns:a16="http://schemas.microsoft.com/office/drawing/2014/main" id="{92D0A398-14ED-615B-C596-E37EAFB4F147}"/>
              </a:ext>
            </a:extLst>
          </p:cNvPr>
          <p:cNvSpPr/>
          <p:nvPr/>
        </p:nvSpPr>
        <p:spPr>
          <a:xfrm>
            <a:off x="7498928" y="4309558"/>
            <a:ext cx="377839" cy="143329"/>
          </a:xfrm>
          <a:prstGeom prst="roundRect">
            <a:avLst/>
          </a:prstGeom>
          <a:solidFill>
            <a:srgbClr val="FFC00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800" dirty="0">
              <a:solidFill>
                <a:schemeClr val="tx1"/>
              </a:solidFill>
              <a:latin typeface="メイリオ" panose="020B0604030504040204" pitchFamily="50" charset="-128"/>
              <a:ea typeface="メイリオ" panose="020B0604030504040204" pitchFamily="50" charset="-128"/>
            </a:endParaRPr>
          </a:p>
        </p:txBody>
      </p:sp>
      <p:sp>
        <p:nvSpPr>
          <p:cNvPr id="845" name="四角形: 角を丸くする 844">
            <a:extLst>
              <a:ext uri="{FF2B5EF4-FFF2-40B4-BE49-F238E27FC236}">
                <a16:creationId xmlns:a16="http://schemas.microsoft.com/office/drawing/2014/main" id="{41F95976-391F-4D69-766D-D259251A0531}"/>
              </a:ext>
            </a:extLst>
          </p:cNvPr>
          <p:cNvSpPr/>
          <p:nvPr/>
        </p:nvSpPr>
        <p:spPr>
          <a:xfrm>
            <a:off x="7184935" y="4484818"/>
            <a:ext cx="457185" cy="143329"/>
          </a:xfrm>
          <a:prstGeom prst="roundRect">
            <a:avLst/>
          </a:prstGeom>
          <a:solidFill>
            <a:srgbClr val="FFC00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800" dirty="0">
              <a:solidFill>
                <a:schemeClr val="tx1"/>
              </a:solidFill>
              <a:latin typeface="メイリオ" panose="020B0604030504040204" pitchFamily="50" charset="-128"/>
              <a:ea typeface="メイリオ" panose="020B0604030504040204" pitchFamily="50" charset="-128"/>
            </a:endParaRPr>
          </a:p>
        </p:txBody>
      </p:sp>
      <p:sp>
        <p:nvSpPr>
          <p:cNvPr id="846" name="四角形: 角を丸くする 845">
            <a:extLst>
              <a:ext uri="{FF2B5EF4-FFF2-40B4-BE49-F238E27FC236}">
                <a16:creationId xmlns:a16="http://schemas.microsoft.com/office/drawing/2014/main" id="{4F9FF10C-4B51-0728-397B-931F38BBA346}"/>
              </a:ext>
            </a:extLst>
          </p:cNvPr>
          <p:cNvSpPr/>
          <p:nvPr/>
        </p:nvSpPr>
        <p:spPr>
          <a:xfrm>
            <a:off x="2175646" y="3684595"/>
            <a:ext cx="553194" cy="143329"/>
          </a:xfrm>
          <a:prstGeom prst="roundRect">
            <a:avLst/>
          </a:prstGeom>
          <a:solidFill>
            <a:srgbClr val="FFC00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800" dirty="0">
              <a:solidFill>
                <a:schemeClr val="tx1"/>
              </a:solidFill>
              <a:latin typeface="メイリオ" panose="020B0604030504040204" pitchFamily="50" charset="-128"/>
              <a:ea typeface="メイリオ" panose="020B0604030504040204" pitchFamily="50" charset="-128"/>
            </a:endParaRPr>
          </a:p>
        </p:txBody>
      </p:sp>
      <p:sp>
        <p:nvSpPr>
          <p:cNvPr id="847" name="四角形: 角を丸くする 846">
            <a:extLst>
              <a:ext uri="{FF2B5EF4-FFF2-40B4-BE49-F238E27FC236}">
                <a16:creationId xmlns:a16="http://schemas.microsoft.com/office/drawing/2014/main" id="{40A844A6-4AF1-AEC7-79CD-A18A1E728AC1}"/>
              </a:ext>
            </a:extLst>
          </p:cNvPr>
          <p:cNvSpPr/>
          <p:nvPr/>
        </p:nvSpPr>
        <p:spPr>
          <a:xfrm>
            <a:off x="6476593" y="4625136"/>
            <a:ext cx="809930" cy="118454"/>
          </a:xfrm>
          <a:prstGeom prst="roundRect">
            <a:avLst/>
          </a:prstGeom>
          <a:solidFill>
            <a:srgbClr val="FFC00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800" dirty="0">
              <a:solidFill>
                <a:schemeClr val="tx1"/>
              </a:solidFill>
              <a:latin typeface="メイリオ" panose="020B0604030504040204" pitchFamily="50" charset="-128"/>
              <a:ea typeface="メイリオ" panose="020B0604030504040204" pitchFamily="50" charset="-128"/>
            </a:endParaRPr>
          </a:p>
        </p:txBody>
      </p:sp>
      <p:sp>
        <p:nvSpPr>
          <p:cNvPr id="848" name="四角形: 角を丸くする 847">
            <a:extLst>
              <a:ext uri="{FF2B5EF4-FFF2-40B4-BE49-F238E27FC236}">
                <a16:creationId xmlns:a16="http://schemas.microsoft.com/office/drawing/2014/main" id="{F09E8618-3A5C-2B1D-B885-E58D07968D23}"/>
              </a:ext>
            </a:extLst>
          </p:cNvPr>
          <p:cNvSpPr/>
          <p:nvPr/>
        </p:nvSpPr>
        <p:spPr>
          <a:xfrm>
            <a:off x="3187732" y="5128307"/>
            <a:ext cx="736300" cy="143329"/>
          </a:xfrm>
          <a:prstGeom prst="roundRect">
            <a:avLst/>
          </a:prstGeom>
          <a:solidFill>
            <a:srgbClr val="FFC00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800" dirty="0">
              <a:solidFill>
                <a:schemeClr val="tx1"/>
              </a:solidFill>
              <a:latin typeface="メイリオ" panose="020B0604030504040204" pitchFamily="50" charset="-128"/>
              <a:ea typeface="メイリオ" panose="020B0604030504040204" pitchFamily="50" charset="-128"/>
            </a:endParaRPr>
          </a:p>
        </p:txBody>
      </p:sp>
      <p:pic>
        <p:nvPicPr>
          <p:cNvPr id="849" name="図 848" descr="LINEヤフー株式会社」発足 | LINEヤフー株式会社のプレスリリース">
            <a:extLst>
              <a:ext uri="{FF2B5EF4-FFF2-40B4-BE49-F238E27FC236}">
                <a16:creationId xmlns:a16="http://schemas.microsoft.com/office/drawing/2014/main" id="{60D7FCFC-3E1E-701A-1303-62D7A9D128FA}"/>
              </a:ext>
            </a:extLst>
          </p:cNvPr>
          <p:cNvPicPr>
            <a:picLocks noChangeAspect="1"/>
          </p:cNvPicPr>
          <p:nvPr/>
        </p:nvPicPr>
        <p:blipFill>
          <a:blip r:embed="rId4"/>
          <a:stretch>
            <a:fillRect/>
          </a:stretch>
        </p:blipFill>
        <p:spPr>
          <a:xfrm>
            <a:off x="46676" y="1461167"/>
            <a:ext cx="1005885" cy="288352"/>
          </a:xfrm>
          <a:prstGeom prst="rect">
            <a:avLst/>
          </a:prstGeom>
        </p:spPr>
      </p:pic>
      <p:sp>
        <p:nvSpPr>
          <p:cNvPr id="850" name="テキスト ボックス 849">
            <a:extLst>
              <a:ext uri="{FF2B5EF4-FFF2-40B4-BE49-F238E27FC236}">
                <a16:creationId xmlns:a16="http://schemas.microsoft.com/office/drawing/2014/main" id="{3A261F00-4A8B-21CB-F7B0-8CC632CF7CDD}"/>
              </a:ext>
            </a:extLst>
          </p:cNvPr>
          <p:cNvSpPr txBox="1"/>
          <p:nvPr/>
        </p:nvSpPr>
        <p:spPr>
          <a:xfrm>
            <a:off x="1009178" y="1497381"/>
            <a:ext cx="4962524" cy="253916"/>
          </a:xfrm>
          <a:prstGeom prst="rect">
            <a:avLst/>
          </a:prstGeom>
          <a:noFill/>
        </p:spPr>
        <p:txBody>
          <a:bodyPr wrap="square">
            <a:spAutoFit/>
          </a:bodyPr>
          <a:lstStyle/>
          <a:p>
            <a:r>
              <a:rPr kumimoji="1" lang="ja-JP" altLang="en-US" sz="1050" b="1" dirty="0">
                <a:solidFill>
                  <a:schemeClr val="tx1">
                    <a:lumMod val="65000"/>
                    <a:lumOff val="35000"/>
                  </a:schemeClr>
                </a:solidFill>
                <a:latin typeface="メイリオ" panose="020B0604030504040204" pitchFamily="50" charset="-128"/>
                <a:ea typeface="メイリオ" panose="020B0604030504040204" pitchFamily="50" charset="-128"/>
              </a:rPr>
              <a:t>上位代理店限定での公開データ</a:t>
            </a:r>
          </a:p>
        </p:txBody>
      </p:sp>
      <p:sp>
        <p:nvSpPr>
          <p:cNvPr id="851" name="テキスト ボックス 850">
            <a:extLst>
              <a:ext uri="{FF2B5EF4-FFF2-40B4-BE49-F238E27FC236}">
                <a16:creationId xmlns:a16="http://schemas.microsoft.com/office/drawing/2014/main" id="{3BD55E69-4725-07C2-26E9-B6484FEEF81E}"/>
              </a:ext>
            </a:extLst>
          </p:cNvPr>
          <p:cNvSpPr txBox="1"/>
          <p:nvPr/>
        </p:nvSpPr>
        <p:spPr>
          <a:xfrm>
            <a:off x="1646576" y="2519059"/>
            <a:ext cx="1576252" cy="253916"/>
          </a:xfrm>
          <a:prstGeom prst="rect">
            <a:avLst/>
          </a:prstGeom>
          <a:noFill/>
        </p:spPr>
        <p:txBody>
          <a:bodyPr wrap="square">
            <a:spAutoFit/>
          </a:bodyPr>
          <a:lstStyle/>
          <a:p>
            <a:pPr algn="ctr"/>
            <a:r>
              <a:rPr lang="ja-JP" altLang="en-US" sz="1050" b="1" dirty="0">
                <a:latin typeface="メイリオ" panose="020B0604030504040204" pitchFamily="50" charset="-128"/>
                <a:ea typeface="メイリオ" panose="020B0604030504040204" pitchFamily="50" charset="-128"/>
              </a:rPr>
              <a:t>の検索前後データ</a:t>
            </a:r>
            <a:endParaRPr kumimoji="1" lang="ja-JP" altLang="en-US" sz="1050" b="1" dirty="0">
              <a:solidFill>
                <a:schemeClr val="tx1"/>
              </a:solidFill>
              <a:latin typeface="メイリオ" panose="020B0604030504040204" pitchFamily="50" charset="-128"/>
              <a:ea typeface="メイリオ" panose="020B0604030504040204" pitchFamily="50" charset="-128"/>
            </a:endParaRPr>
          </a:p>
        </p:txBody>
      </p:sp>
      <p:sp>
        <p:nvSpPr>
          <p:cNvPr id="852" name="正方形/長方形 851">
            <a:extLst>
              <a:ext uri="{FF2B5EF4-FFF2-40B4-BE49-F238E27FC236}">
                <a16:creationId xmlns:a16="http://schemas.microsoft.com/office/drawing/2014/main" id="{461533CA-41F7-8934-E587-4E31271808B7}"/>
              </a:ext>
            </a:extLst>
          </p:cNvPr>
          <p:cNvSpPr/>
          <p:nvPr/>
        </p:nvSpPr>
        <p:spPr>
          <a:xfrm>
            <a:off x="1397588" y="2213387"/>
            <a:ext cx="1571444" cy="28342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転職エージェント</a:t>
            </a:r>
          </a:p>
        </p:txBody>
      </p:sp>
      <p:sp>
        <p:nvSpPr>
          <p:cNvPr id="3" name="矢印: 下 2">
            <a:extLst>
              <a:ext uri="{FF2B5EF4-FFF2-40B4-BE49-F238E27FC236}">
                <a16:creationId xmlns:a16="http://schemas.microsoft.com/office/drawing/2014/main" id="{4F31925E-982C-C749-2736-F69C9019276B}"/>
              </a:ext>
            </a:extLst>
          </p:cNvPr>
          <p:cNvSpPr/>
          <p:nvPr/>
        </p:nvSpPr>
        <p:spPr>
          <a:xfrm rot="16200000">
            <a:off x="7818572" y="4034181"/>
            <a:ext cx="792480" cy="586887"/>
          </a:xfrm>
          <a:prstGeom prst="downArrow">
            <a:avLst/>
          </a:prstGeom>
          <a:gradFill>
            <a:gsLst>
              <a:gs pos="4000">
                <a:schemeClr val="bg1">
                  <a:alpha val="70000"/>
                </a:schemeClr>
              </a:gs>
              <a:gs pos="100000">
                <a:schemeClr val="accent1">
                  <a:lumMod val="60000"/>
                  <a:lumOff val="4000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テキスト ボックス 5">
            <a:extLst>
              <a:ext uri="{FF2B5EF4-FFF2-40B4-BE49-F238E27FC236}">
                <a16:creationId xmlns:a16="http://schemas.microsoft.com/office/drawing/2014/main" id="{D67EC0E9-2D4D-AC08-2177-AA06F517920B}"/>
              </a:ext>
            </a:extLst>
          </p:cNvPr>
          <p:cNvSpPr txBox="1"/>
          <p:nvPr/>
        </p:nvSpPr>
        <p:spPr>
          <a:xfrm>
            <a:off x="8439270" y="4065718"/>
            <a:ext cx="1461731" cy="523220"/>
          </a:xfrm>
          <a:prstGeom prst="rect">
            <a:avLst/>
          </a:prstGeom>
          <a:noFill/>
        </p:spPr>
        <p:txBody>
          <a:bodyPr wrap="square">
            <a:spAutoFit/>
          </a:bodyPr>
          <a:lstStyle/>
          <a:p>
            <a:r>
              <a:rPr lang="ja-JP" altLang="en-US" sz="800" b="1" dirty="0">
                <a:latin typeface="メイリオ" panose="020B0604030504040204" pitchFamily="50" charset="-128"/>
                <a:ea typeface="メイリオ" panose="020B0604030504040204" pitchFamily="50" charset="-128"/>
              </a:rPr>
              <a:t>長期検討</a:t>
            </a:r>
            <a:r>
              <a:rPr lang="ja-JP" altLang="en-US" sz="800" dirty="0">
                <a:latin typeface="メイリオ" panose="020B0604030504040204" pitchFamily="50" charset="-128"/>
                <a:ea typeface="メイリオ" panose="020B0604030504040204" pitchFamily="50" charset="-128"/>
              </a:rPr>
              <a:t>へ</a:t>
            </a:r>
            <a:endParaRPr lang="en-US" altLang="ja-JP" sz="800" dirty="0">
              <a:latin typeface="メイリオ" panose="020B0604030504040204" pitchFamily="50" charset="-128"/>
              <a:ea typeface="メイリオ" panose="020B0604030504040204" pitchFamily="50" charset="-128"/>
            </a:endParaRPr>
          </a:p>
          <a:p>
            <a:endParaRPr lang="en-US" altLang="ja-JP" sz="400">
              <a:latin typeface="メイリオ" panose="020B0604030504040204" pitchFamily="50" charset="-128"/>
              <a:ea typeface="メイリオ" panose="020B0604030504040204" pitchFamily="50" charset="-128"/>
            </a:endParaRPr>
          </a:p>
          <a:p>
            <a:r>
              <a:rPr lang="ja-JP" altLang="en-US" sz="800">
                <a:solidFill>
                  <a:schemeClr val="tx1">
                    <a:lumMod val="65000"/>
                    <a:lumOff val="35000"/>
                  </a:schemeClr>
                </a:solidFill>
                <a:latin typeface="メイリオ" panose="020B0604030504040204" pitchFamily="50" charset="-128"/>
                <a:ea typeface="メイリオ" panose="020B0604030504040204" pitchFamily="50" charset="-128"/>
              </a:rPr>
              <a:t>（休眠顧客開拓）</a:t>
            </a:r>
            <a:endParaRPr lang="en-US" altLang="ja-JP" sz="800">
              <a:solidFill>
                <a:schemeClr val="tx1">
                  <a:lumMod val="65000"/>
                  <a:lumOff val="35000"/>
                </a:schemeClr>
              </a:solidFill>
              <a:latin typeface="メイリオ" panose="020B0604030504040204" pitchFamily="50" charset="-128"/>
              <a:ea typeface="メイリオ" panose="020B0604030504040204" pitchFamily="50" charset="-128"/>
            </a:endParaRPr>
          </a:p>
          <a:p>
            <a:r>
              <a:rPr kumimoji="1" lang="ja-JP" altLang="en-US" sz="800">
                <a:solidFill>
                  <a:schemeClr val="tx1">
                    <a:lumMod val="65000"/>
                    <a:lumOff val="35000"/>
                  </a:schemeClr>
                </a:solidFill>
                <a:latin typeface="メイリオ" panose="020B0604030504040204" pitchFamily="50" charset="-128"/>
                <a:ea typeface="メイリオ" panose="020B0604030504040204" pitchFamily="50" charset="-128"/>
              </a:rPr>
              <a:t>（検討時期の長期化）</a:t>
            </a:r>
            <a:endParaRPr kumimoji="1" lang="ja-JP" altLang="en-US" sz="8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12" name="四角形: 角を丸くする 11">
            <a:extLst>
              <a:ext uri="{FF2B5EF4-FFF2-40B4-BE49-F238E27FC236}">
                <a16:creationId xmlns:a16="http://schemas.microsoft.com/office/drawing/2014/main" id="{8C4735AA-05E6-2765-3241-F1C0FD49D261}"/>
              </a:ext>
            </a:extLst>
          </p:cNvPr>
          <p:cNvSpPr/>
          <p:nvPr/>
        </p:nvSpPr>
        <p:spPr>
          <a:xfrm>
            <a:off x="8469785" y="4170045"/>
            <a:ext cx="980015" cy="63312"/>
          </a:xfrm>
          <a:prstGeom prst="round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dirty="0">
              <a:solidFill>
                <a:schemeClr val="tx1"/>
              </a:solidFill>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371803657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0974A8-2F0E-DE00-F3F1-DE7A55A8B727}"/>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816EC0D3-8B92-C366-931F-8E0D0054419D}"/>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施策の考え方（短期：ステップ配信）</a:t>
            </a:r>
          </a:p>
        </p:txBody>
      </p:sp>
      <p:sp>
        <p:nvSpPr>
          <p:cNvPr id="8" name="正方形/長方形 7">
            <a:extLst>
              <a:ext uri="{FF2B5EF4-FFF2-40B4-BE49-F238E27FC236}">
                <a16:creationId xmlns:a16="http://schemas.microsoft.com/office/drawing/2014/main" id="{315B3646-9E2E-6F40-2994-87803CA084A9}"/>
              </a:ext>
            </a:extLst>
          </p:cNvPr>
          <p:cNvSpPr/>
          <p:nvPr/>
        </p:nvSpPr>
        <p:spPr>
          <a:xfrm>
            <a:off x="0" y="777240"/>
            <a:ext cx="1802674"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dirty="0">
                <a:latin typeface="メイリオ" panose="020B0604030504040204" pitchFamily="50" charset="-128"/>
                <a:ea typeface="メイリオ" panose="020B0604030504040204" pitchFamily="50" charset="-128"/>
              </a:rPr>
              <a:t>ステップ配信</a:t>
            </a:r>
          </a:p>
        </p:txBody>
      </p:sp>
      <p:sp>
        <p:nvSpPr>
          <p:cNvPr id="10" name="Google Shape;752;p28">
            <a:extLst>
              <a:ext uri="{FF2B5EF4-FFF2-40B4-BE49-F238E27FC236}">
                <a16:creationId xmlns:a16="http://schemas.microsoft.com/office/drawing/2014/main" id="{6C3BE050-25AB-CAF4-DDEA-32FB95EA3D92}"/>
              </a:ext>
            </a:extLst>
          </p:cNvPr>
          <p:cNvSpPr txBox="1"/>
          <p:nvPr/>
        </p:nvSpPr>
        <p:spPr>
          <a:xfrm>
            <a:off x="1988819" y="736332"/>
            <a:ext cx="7774305" cy="584735"/>
          </a:xfrm>
          <a:prstGeom prst="rect">
            <a:avLst/>
          </a:prstGeom>
          <a:noFill/>
          <a:ln>
            <a:noFill/>
          </a:ln>
        </p:spPr>
        <p:txBody>
          <a:bodyPr spcFirstLastPara="1" wrap="square" lIns="91425" tIns="45700" rIns="91425" bIns="45700" anchor="ctr" anchorCtr="0">
            <a:spAutoFit/>
          </a:bodyPr>
          <a:lstStyle/>
          <a:p>
            <a:r>
              <a:rPr lang="ja-JP" altLang="en-US" sz="1600" b="1" dirty="0">
                <a:latin typeface="メイリオ" panose="020B0604030504040204" pitchFamily="50" charset="-128"/>
                <a:ea typeface="メイリオ" panose="020B0604030504040204" pitchFamily="50" charset="-128"/>
                <a:cs typeface="Meiryo"/>
                <a:sym typeface="Meiryo"/>
              </a:rPr>
              <a:t>検討が始まったタイミング（業界キーワードの検索）から段階ごとに</a:t>
            </a:r>
          </a:p>
          <a:p>
            <a:r>
              <a:rPr lang="ja-JP" altLang="en-US" sz="1600" b="1" dirty="0">
                <a:latin typeface="メイリオ" panose="020B0604030504040204" pitchFamily="50" charset="-128"/>
                <a:ea typeface="メイリオ" panose="020B0604030504040204" pitchFamily="50" charset="-128"/>
                <a:cs typeface="Meiryo"/>
                <a:sym typeface="Meiryo"/>
              </a:rPr>
              <a:t>不安を解消し、信頼を積み上げて15日以内に、CVへつなげる配信を構築。</a:t>
            </a:r>
            <a:endParaRPr lang="en-US" altLang="ja-JP" sz="1600" b="1" dirty="0">
              <a:latin typeface="メイリオ" panose="020B0604030504040204" pitchFamily="50" charset="-128"/>
              <a:ea typeface="メイリオ" panose="020B0604030504040204" pitchFamily="50" charset="-128"/>
              <a:cs typeface="Meiryo"/>
              <a:sym typeface="Meiryo"/>
            </a:endParaRPr>
          </a:p>
        </p:txBody>
      </p:sp>
      <p:sp>
        <p:nvSpPr>
          <p:cNvPr id="242" name="四角形: 角を丸くする 241">
            <a:extLst>
              <a:ext uri="{FF2B5EF4-FFF2-40B4-BE49-F238E27FC236}">
                <a16:creationId xmlns:a16="http://schemas.microsoft.com/office/drawing/2014/main" id="{812533A9-C7B7-5409-741D-9F06F60FC4F0}"/>
              </a:ext>
            </a:extLst>
          </p:cNvPr>
          <p:cNvSpPr/>
          <p:nvPr/>
        </p:nvSpPr>
        <p:spPr>
          <a:xfrm>
            <a:off x="4756154" y="160947"/>
            <a:ext cx="1752679" cy="269057"/>
          </a:xfrm>
          <a:prstGeom prst="roundRect">
            <a:avLst/>
          </a:prstGeom>
          <a:solidFill>
            <a:schemeClr val="bg1"/>
          </a:solidFill>
          <a:ln w="9525">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b="1" dirty="0">
                <a:solidFill>
                  <a:schemeClr val="tx1">
                    <a:lumMod val="65000"/>
                    <a:lumOff val="35000"/>
                  </a:schemeClr>
                </a:solidFill>
                <a:latin typeface="メイリオ" panose="020B0604030504040204" pitchFamily="50" charset="-128"/>
                <a:ea typeface="メイリオ" panose="020B0604030504040204" pitchFamily="50" charset="-128"/>
              </a:rPr>
              <a:t>ご提案時に詳細記載</a:t>
            </a:r>
          </a:p>
        </p:txBody>
      </p:sp>
      <p:sp>
        <p:nvSpPr>
          <p:cNvPr id="915" name="TextBox 27">
            <a:extLst>
              <a:ext uri="{FF2B5EF4-FFF2-40B4-BE49-F238E27FC236}">
                <a16:creationId xmlns:a16="http://schemas.microsoft.com/office/drawing/2014/main" id="{5BFBF573-5D82-D526-FDE7-07974DC4CAE4}"/>
              </a:ext>
            </a:extLst>
          </p:cNvPr>
          <p:cNvSpPr txBox="1"/>
          <p:nvPr/>
        </p:nvSpPr>
        <p:spPr>
          <a:xfrm>
            <a:off x="266700" y="5459687"/>
            <a:ext cx="9372600" cy="508216"/>
          </a:xfrm>
          <a:prstGeom prst="rect">
            <a:avLst/>
          </a:prstGeom>
          <a:noFill/>
        </p:spPr>
        <p:txBody>
          <a:bodyPr wrap="square">
            <a:spAutoFit/>
          </a:bodyPr>
          <a:lstStyle/>
          <a:p>
            <a:pPr>
              <a:lnSpc>
                <a:spcPct val="120000"/>
              </a:lnSpc>
              <a:buClr>
                <a:srgbClr val="000000"/>
              </a:buClr>
              <a:buFont typeface="Arial"/>
              <a:buNone/>
            </a:pPr>
            <a:r>
              <a:rPr kumimoji="0" sz="1150" kern="0" dirty="0">
                <a:solidFill>
                  <a:srgbClr val="5A6378"/>
                </a:solidFill>
                <a:latin typeface="メイリオ" panose="020B0604030504040204" pitchFamily="50" charset="-128"/>
                <a:ea typeface="メイリオ" panose="020B0604030504040204" pitchFamily="50" charset="-128"/>
                <a:cs typeface="Arial"/>
                <a:sym typeface="Arial"/>
              </a:rPr>
              <a:t>検索直後の高い検討度（Day0〜2）→ 手続き不安の解消（Day4〜5）→ 比較検討（Day8〜9）</a:t>
            </a:r>
            <a:endParaRPr kumimoji="0" lang="en-US" sz="1150" kern="0" dirty="0">
              <a:solidFill>
                <a:srgbClr val="5A6378"/>
              </a:solidFill>
              <a:latin typeface="メイリオ" panose="020B0604030504040204" pitchFamily="50" charset="-128"/>
              <a:ea typeface="メイリオ" panose="020B0604030504040204" pitchFamily="50" charset="-128"/>
              <a:cs typeface="Arial"/>
              <a:sym typeface="Arial"/>
            </a:endParaRPr>
          </a:p>
          <a:p>
            <a:pPr>
              <a:lnSpc>
                <a:spcPct val="120000"/>
              </a:lnSpc>
              <a:buClr>
                <a:srgbClr val="000000"/>
              </a:buClr>
              <a:buFont typeface="Arial"/>
              <a:buNone/>
            </a:pPr>
            <a:r>
              <a:rPr kumimoji="0" sz="1150" kern="0" dirty="0">
                <a:solidFill>
                  <a:srgbClr val="5A6378"/>
                </a:solidFill>
                <a:latin typeface="メイリオ" panose="020B0604030504040204" pitchFamily="50" charset="-128"/>
                <a:ea typeface="メイリオ" panose="020B0604030504040204" pitchFamily="50" charset="-128"/>
                <a:cs typeface="Arial"/>
                <a:sym typeface="Arial"/>
              </a:rPr>
              <a:t>→ </a:t>
            </a:r>
            <a:r>
              <a:rPr kumimoji="0" sz="1150" kern="0" dirty="0" err="1">
                <a:solidFill>
                  <a:srgbClr val="5A6378"/>
                </a:solidFill>
                <a:latin typeface="メイリオ" panose="020B0604030504040204" pitchFamily="50" charset="-128"/>
                <a:ea typeface="メイリオ" panose="020B0604030504040204" pitchFamily="50" charset="-128"/>
                <a:cs typeface="Arial"/>
                <a:sym typeface="Arial"/>
              </a:rPr>
              <a:t>相談オファ</a:t>
            </a:r>
            <a:r>
              <a:rPr kumimoji="0" sz="1150" kern="0" dirty="0">
                <a:solidFill>
                  <a:srgbClr val="5A6378"/>
                </a:solidFill>
                <a:latin typeface="メイリオ" panose="020B0604030504040204" pitchFamily="50" charset="-128"/>
                <a:ea typeface="メイリオ" panose="020B0604030504040204" pitchFamily="50" charset="-128"/>
                <a:cs typeface="Arial"/>
                <a:sym typeface="Arial"/>
              </a:rPr>
              <a:t>ー（Day12〜15）と、</a:t>
            </a:r>
            <a:r>
              <a:rPr kumimoji="0" sz="1150" b="1" kern="0" dirty="0">
                <a:solidFill>
                  <a:srgbClr val="FF0000"/>
                </a:solidFill>
                <a:latin typeface="メイリオ" panose="020B0604030504040204" pitchFamily="50" charset="-128"/>
                <a:ea typeface="メイリオ" panose="020B0604030504040204" pitchFamily="50" charset="-128"/>
                <a:cs typeface="Arial"/>
                <a:sym typeface="Arial"/>
              </a:rPr>
              <a:t>段階的に信頼を積み上げながら最終コンバージョンへ誘導する</a:t>
            </a:r>
            <a:r>
              <a:rPr kumimoji="0" sz="1150" kern="0" dirty="0">
                <a:solidFill>
                  <a:srgbClr val="5A6378"/>
                </a:solidFill>
                <a:latin typeface="メイリオ" panose="020B0604030504040204" pitchFamily="50" charset="-128"/>
                <a:ea typeface="メイリオ" panose="020B0604030504040204" pitchFamily="50" charset="-128"/>
                <a:cs typeface="Arial"/>
                <a:sym typeface="Arial"/>
              </a:rPr>
              <a:t>設計。</a:t>
            </a:r>
          </a:p>
        </p:txBody>
      </p:sp>
      <p:sp>
        <p:nvSpPr>
          <p:cNvPr id="181" name="Shape 13">
            <a:extLst>
              <a:ext uri="{FF2B5EF4-FFF2-40B4-BE49-F238E27FC236}">
                <a16:creationId xmlns:a16="http://schemas.microsoft.com/office/drawing/2014/main" id="{613DD4CE-3458-6634-E8E7-A78BCB6B80C7}"/>
              </a:ext>
            </a:extLst>
          </p:cNvPr>
          <p:cNvSpPr/>
          <p:nvPr/>
        </p:nvSpPr>
        <p:spPr>
          <a:xfrm>
            <a:off x="548883" y="1835845"/>
            <a:ext cx="1719072" cy="3363172"/>
          </a:xfrm>
          <a:prstGeom prst="roundRect">
            <a:avLst>
              <a:gd name="adj" fmla="val 3191"/>
            </a:avLst>
          </a:prstGeom>
          <a:solidFill>
            <a:srgbClr val="FFFFFF"/>
          </a:solidFill>
          <a:ln w="12700">
            <a:solidFill>
              <a:srgbClr val="DDDDDD"/>
            </a:solidFill>
            <a:prstDash val="solid"/>
          </a:ln>
          <a:effectLst>
            <a:outerShdw blurRad="38100" dist="12700" dir="8100000" algn="bl" rotWithShape="0">
              <a:srgbClr val="AAAAAA">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183" name="Shape 14">
            <a:extLst>
              <a:ext uri="{FF2B5EF4-FFF2-40B4-BE49-F238E27FC236}">
                <a16:creationId xmlns:a16="http://schemas.microsoft.com/office/drawing/2014/main" id="{F241DEE0-466F-BF0F-A5D7-0B83ECC33CF4}"/>
              </a:ext>
            </a:extLst>
          </p:cNvPr>
          <p:cNvSpPr/>
          <p:nvPr/>
        </p:nvSpPr>
        <p:spPr>
          <a:xfrm>
            <a:off x="548883" y="1835845"/>
            <a:ext cx="1719072" cy="585216"/>
          </a:xfrm>
          <a:prstGeom prst="roundRect">
            <a:avLst>
              <a:gd name="adj" fmla="val 9375"/>
            </a:avLst>
          </a:prstGeom>
          <a:solidFill>
            <a:srgbClr val="1F2B5C"/>
          </a:solidFill>
          <a:ln w="12700">
            <a:no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185" name="Text 15">
            <a:extLst>
              <a:ext uri="{FF2B5EF4-FFF2-40B4-BE49-F238E27FC236}">
                <a16:creationId xmlns:a16="http://schemas.microsoft.com/office/drawing/2014/main" id="{C3796E8D-94B9-ADB9-C46C-B3B1E855AC20}"/>
              </a:ext>
            </a:extLst>
          </p:cNvPr>
          <p:cNvSpPr/>
          <p:nvPr/>
        </p:nvSpPr>
        <p:spPr>
          <a:xfrm>
            <a:off x="640323" y="1872421"/>
            <a:ext cx="1536192" cy="274320"/>
          </a:xfrm>
          <a:prstGeom prst="rect">
            <a:avLst/>
          </a:prstGeom>
          <a:noFill/>
          <a:ln>
            <a:noFill/>
          </a:ln>
        </p:spPr>
        <p:txBody>
          <a:bodyPr wrap="square" lIns="0" tIns="0" rIns="0" bIns="0" rtlCol="0" anchor="ctr"/>
          <a:lstStyle/>
          <a:p>
            <a:pPr marL="0" indent="0" algn="ctr">
              <a:buNone/>
            </a:pPr>
            <a:r>
              <a:rPr lang="en-US" sz="1500" b="1" dirty="0">
                <a:solidFill>
                  <a:srgbClr val="FFFFFF"/>
                </a:solidFill>
                <a:latin typeface="メイリオ" panose="020B0604030504040204" pitchFamily="50" charset="-128"/>
                <a:ea typeface="メイリオ" panose="020B0604030504040204" pitchFamily="50" charset="-128"/>
                <a:cs typeface="Calibri" pitchFamily="34" charset="-120"/>
              </a:rPr>
              <a:t>Day0</a:t>
            </a:r>
            <a:endParaRPr lang="en-US" sz="1500" dirty="0">
              <a:latin typeface="メイリオ" panose="020B0604030504040204" pitchFamily="50" charset="-128"/>
              <a:ea typeface="メイリオ" panose="020B0604030504040204" pitchFamily="50" charset="-128"/>
            </a:endParaRPr>
          </a:p>
        </p:txBody>
      </p:sp>
      <p:sp>
        <p:nvSpPr>
          <p:cNvPr id="187" name="Text 16">
            <a:extLst>
              <a:ext uri="{FF2B5EF4-FFF2-40B4-BE49-F238E27FC236}">
                <a16:creationId xmlns:a16="http://schemas.microsoft.com/office/drawing/2014/main" id="{40B1EBE9-513F-1DA2-57B8-10DEB735AFF1}"/>
              </a:ext>
            </a:extLst>
          </p:cNvPr>
          <p:cNvSpPr/>
          <p:nvPr/>
        </p:nvSpPr>
        <p:spPr>
          <a:xfrm>
            <a:off x="640323" y="2146741"/>
            <a:ext cx="1536192" cy="201168"/>
          </a:xfrm>
          <a:prstGeom prst="rect">
            <a:avLst/>
          </a:prstGeom>
          <a:noFill/>
          <a:ln>
            <a:noFill/>
          </a:ln>
        </p:spPr>
        <p:txBody>
          <a:bodyPr wrap="square" lIns="0" tIns="0" rIns="0" bIns="0" rtlCol="0" anchor="ctr"/>
          <a:lstStyle/>
          <a:p>
            <a:pPr marL="0" indent="0" algn="ctr">
              <a:buNone/>
            </a:pPr>
            <a:r>
              <a:rPr lang="en-US" sz="900" dirty="0">
                <a:solidFill>
                  <a:srgbClr val="D0E8FF"/>
                </a:solidFill>
                <a:latin typeface="メイリオ" panose="020B0604030504040204" pitchFamily="50" charset="-128"/>
                <a:ea typeface="メイリオ" panose="020B0604030504040204" pitchFamily="50" charset="-128"/>
                <a:cs typeface="Calibri" pitchFamily="34" charset="-120"/>
              </a:rPr>
              <a:t>追加直後：診断</a:t>
            </a:r>
            <a:endParaRPr lang="en-US" sz="900" dirty="0">
              <a:latin typeface="メイリオ" panose="020B0604030504040204" pitchFamily="50" charset="-128"/>
              <a:ea typeface="メイリオ" panose="020B0604030504040204" pitchFamily="50" charset="-128"/>
            </a:endParaRPr>
          </a:p>
        </p:txBody>
      </p:sp>
      <p:sp>
        <p:nvSpPr>
          <p:cNvPr id="189" name="Text 17">
            <a:extLst>
              <a:ext uri="{FF2B5EF4-FFF2-40B4-BE49-F238E27FC236}">
                <a16:creationId xmlns:a16="http://schemas.microsoft.com/office/drawing/2014/main" id="{A58EB949-612E-4D86-A2F6-7E6DFE1C9A09}"/>
              </a:ext>
            </a:extLst>
          </p:cNvPr>
          <p:cNvSpPr/>
          <p:nvPr/>
        </p:nvSpPr>
        <p:spPr>
          <a:xfrm>
            <a:off x="658611" y="2494213"/>
            <a:ext cx="1499616" cy="530352"/>
          </a:xfrm>
          <a:prstGeom prst="rect">
            <a:avLst/>
          </a:prstGeom>
          <a:noFill/>
          <a:ln/>
        </p:spPr>
        <p:txBody>
          <a:bodyPr wrap="square" lIns="0" tIns="0" rIns="0" bIns="0" rtlCol="0" anchor="ctr"/>
          <a:lstStyle/>
          <a:p>
            <a:pPr marL="0" indent="0">
              <a:lnSpc>
                <a:spcPct val="130000"/>
              </a:lnSpc>
              <a:buNone/>
            </a:pPr>
            <a:r>
              <a:rPr lang="en-US" sz="1200" b="1" dirty="0" err="1">
                <a:solidFill>
                  <a:srgbClr val="1F2B5C"/>
                </a:solidFill>
                <a:latin typeface="メイリオ" panose="020B0604030504040204" pitchFamily="50" charset="-128"/>
                <a:ea typeface="メイリオ" panose="020B0604030504040204" pitchFamily="50" charset="-128"/>
                <a:cs typeface="Calibri" pitchFamily="34" charset="-120"/>
              </a:rPr>
              <a:t>ご登録ありがとう</a:t>
            </a:r>
            <a:endParaRPr lang="en-US" sz="1200" dirty="0">
              <a:latin typeface="メイリオ" panose="020B0604030504040204" pitchFamily="50" charset="-128"/>
              <a:ea typeface="メイリオ" panose="020B0604030504040204" pitchFamily="50" charset="-128"/>
            </a:endParaRPr>
          </a:p>
          <a:p>
            <a:pPr marL="0" indent="0">
              <a:lnSpc>
                <a:spcPct val="130000"/>
              </a:lnSpc>
              <a:buNone/>
            </a:pPr>
            <a:r>
              <a:rPr lang="en-US" sz="1200" b="1" dirty="0">
                <a:solidFill>
                  <a:srgbClr val="1F2B5C"/>
                </a:solidFill>
                <a:latin typeface="メイリオ" panose="020B0604030504040204" pitchFamily="50" charset="-128"/>
                <a:ea typeface="メイリオ" panose="020B0604030504040204" pitchFamily="50" charset="-128"/>
                <a:cs typeface="Calibri" pitchFamily="34" charset="-120"/>
              </a:rPr>
              <a:t>ございます！</a:t>
            </a:r>
            <a:endParaRPr lang="en-US" sz="1200" dirty="0">
              <a:latin typeface="メイリオ" panose="020B0604030504040204" pitchFamily="50" charset="-128"/>
              <a:ea typeface="メイリオ" panose="020B0604030504040204" pitchFamily="50" charset="-128"/>
            </a:endParaRPr>
          </a:p>
        </p:txBody>
      </p:sp>
      <p:sp>
        <p:nvSpPr>
          <p:cNvPr id="191" name="Text 18">
            <a:extLst>
              <a:ext uri="{FF2B5EF4-FFF2-40B4-BE49-F238E27FC236}">
                <a16:creationId xmlns:a16="http://schemas.microsoft.com/office/drawing/2014/main" id="{7676C898-C17D-7E2E-B6BF-9ECC1859A649}"/>
              </a:ext>
            </a:extLst>
          </p:cNvPr>
          <p:cNvSpPr/>
          <p:nvPr/>
        </p:nvSpPr>
        <p:spPr>
          <a:xfrm>
            <a:off x="658611" y="3061141"/>
            <a:ext cx="1499616" cy="749808"/>
          </a:xfrm>
          <a:prstGeom prst="rect">
            <a:avLst/>
          </a:prstGeom>
          <a:noFill/>
          <a:ln/>
        </p:spPr>
        <p:txBody>
          <a:bodyPr wrap="square" lIns="0" tIns="0" rIns="0" bIns="0" rtlCol="0" anchor="ctr"/>
          <a:lstStyle/>
          <a:p>
            <a:pPr marL="0" indent="0">
              <a:lnSpc>
                <a:spcPct val="140000"/>
              </a:lnSpc>
              <a:buNone/>
            </a:pPr>
            <a:r>
              <a:rPr lang="en-US" sz="700" dirty="0">
                <a:solidFill>
                  <a:srgbClr val="494848"/>
                </a:solidFill>
                <a:latin typeface="メイリオ" panose="020B0604030504040204" pitchFamily="50" charset="-128"/>
                <a:ea typeface="メイリオ" panose="020B0604030504040204" pitchFamily="50" charset="-128"/>
                <a:cs typeface="Calibri" pitchFamily="34" charset="-120"/>
              </a:rPr>
              <a:t>3問タップで</a:t>
            </a:r>
            <a:endParaRPr lang="en-US" sz="700" dirty="0">
              <a:latin typeface="メイリオ" panose="020B0604030504040204" pitchFamily="50" charset="-128"/>
              <a:ea typeface="メイリオ" panose="020B0604030504040204" pitchFamily="50" charset="-128"/>
            </a:endParaRPr>
          </a:p>
          <a:p>
            <a:pPr marL="0" indent="0">
              <a:lnSpc>
                <a:spcPct val="140000"/>
              </a:lnSpc>
              <a:buNone/>
            </a:pPr>
            <a:r>
              <a:rPr lang="en-US" sz="700" dirty="0">
                <a:solidFill>
                  <a:srgbClr val="494848"/>
                </a:solidFill>
                <a:latin typeface="メイリオ" panose="020B0604030504040204" pitchFamily="50" charset="-128"/>
                <a:ea typeface="メイリオ" panose="020B0604030504040204" pitchFamily="50" charset="-128"/>
                <a:cs typeface="Calibri" pitchFamily="34" charset="-120"/>
              </a:rPr>
              <a:t>転職フェーズを分岐</a:t>
            </a:r>
            <a:endParaRPr lang="en-US" sz="700" dirty="0">
              <a:latin typeface="メイリオ" panose="020B0604030504040204" pitchFamily="50" charset="-128"/>
              <a:ea typeface="メイリオ" panose="020B0604030504040204" pitchFamily="50" charset="-128"/>
            </a:endParaRPr>
          </a:p>
          <a:p>
            <a:pPr marL="0" indent="0">
              <a:lnSpc>
                <a:spcPct val="140000"/>
              </a:lnSpc>
              <a:buNone/>
            </a:pPr>
            <a:r>
              <a:rPr lang="en-US" sz="700" dirty="0">
                <a:solidFill>
                  <a:srgbClr val="494848"/>
                </a:solidFill>
                <a:latin typeface="メイリオ" panose="020B0604030504040204" pitchFamily="50" charset="-128"/>
                <a:ea typeface="メイリオ" panose="020B0604030504040204" pitchFamily="50" charset="-128"/>
                <a:cs typeface="Calibri" pitchFamily="34" charset="-120"/>
              </a:rPr>
              <a:t>・タグ付け</a:t>
            </a:r>
            <a:endParaRPr lang="en-US" sz="700" dirty="0">
              <a:latin typeface="メイリオ" panose="020B0604030504040204" pitchFamily="50" charset="-128"/>
              <a:ea typeface="メイリオ" panose="020B0604030504040204" pitchFamily="50" charset="-128"/>
            </a:endParaRPr>
          </a:p>
          <a:p>
            <a:pPr marL="0" indent="0">
              <a:lnSpc>
                <a:spcPct val="140000"/>
              </a:lnSpc>
              <a:buNone/>
            </a:pPr>
            <a:r>
              <a:rPr lang="en-US" sz="700" dirty="0">
                <a:solidFill>
                  <a:srgbClr val="494848"/>
                </a:solidFill>
                <a:latin typeface="メイリオ" panose="020B0604030504040204" pitchFamily="50" charset="-128"/>
                <a:ea typeface="メイリオ" panose="020B0604030504040204" pitchFamily="50" charset="-128"/>
                <a:cs typeface="Calibri" pitchFamily="34" charset="-120"/>
              </a:rPr>
              <a:t>（すぐ動く／比較中</a:t>
            </a:r>
            <a:endParaRPr lang="en-US" sz="700" dirty="0">
              <a:latin typeface="メイリオ" panose="020B0604030504040204" pitchFamily="50" charset="-128"/>
              <a:ea typeface="メイリオ" panose="020B0604030504040204" pitchFamily="50" charset="-128"/>
            </a:endParaRPr>
          </a:p>
          <a:p>
            <a:pPr marL="0" indent="0">
              <a:lnSpc>
                <a:spcPct val="140000"/>
              </a:lnSpc>
              <a:buNone/>
            </a:pPr>
            <a:r>
              <a:rPr lang="en-US" sz="700" dirty="0">
                <a:solidFill>
                  <a:srgbClr val="494848"/>
                </a:solidFill>
                <a:latin typeface="メイリオ" panose="020B0604030504040204" pitchFamily="50" charset="-128"/>
                <a:ea typeface="メイリオ" panose="020B0604030504040204" pitchFamily="50" charset="-128"/>
                <a:cs typeface="Calibri" pitchFamily="34" charset="-120"/>
              </a:rPr>
              <a:t>　書類準備中／迷い中）</a:t>
            </a:r>
            <a:endParaRPr lang="en-US" sz="700" dirty="0">
              <a:latin typeface="メイリオ" panose="020B0604030504040204" pitchFamily="50" charset="-128"/>
              <a:ea typeface="メイリオ" panose="020B0604030504040204" pitchFamily="50" charset="-128"/>
            </a:endParaRPr>
          </a:p>
        </p:txBody>
      </p:sp>
      <p:sp>
        <p:nvSpPr>
          <p:cNvPr id="193" name="Shape 19">
            <a:extLst>
              <a:ext uri="{FF2B5EF4-FFF2-40B4-BE49-F238E27FC236}">
                <a16:creationId xmlns:a16="http://schemas.microsoft.com/office/drawing/2014/main" id="{3F13F0D2-3523-AEE0-91B0-8E81E05DDA0A}"/>
              </a:ext>
            </a:extLst>
          </p:cNvPr>
          <p:cNvSpPr/>
          <p:nvPr/>
        </p:nvSpPr>
        <p:spPr>
          <a:xfrm>
            <a:off x="640323" y="3960738"/>
            <a:ext cx="1536192" cy="694944"/>
          </a:xfrm>
          <a:prstGeom prst="roundRect">
            <a:avLst>
              <a:gd name="adj" fmla="val 6579"/>
            </a:avLst>
          </a:prstGeom>
          <a:solidFill>
            <a:srgbClr val="F5F5F5"/>
          </a:solidFill>
          <a:ln w="12700">
            <a:solidFill>
              <a:srgbClr val="DDDDDD"/>
            </a:solidFill>
            <a:prstDash val="solid"/>
          </a:ln>
        </p:spPr>
        <p:txBody>
          <a:bodyPr/>
          <a:lstStyle/>
          <a:p>
            <a:endParaRPr lang="ja-JP" altLang="en-US" sz="1400">
              <a:latin typeface="メイリオ" panose="020B0604030504040204" pitchFamily="50" charset="-128"/>
              <a:ea typeface="メイリオ" panose="020B0604030504040204" pitchFamily="50" charset="-128"/>
            </a:endParaRPr>
          </a:p>
        </p:txBody>
      </p:sp>
      <p:sp>
        <p:nvSpPr>
          <p:cNvPr id="195" name="Text 20">
            <a:extLst>
              <a:ext uri="{FF2B5EF4-FFF2-40B4-BE49-F238E27FC236}">
                <a16:creationId xmlns:a16="http://schemas.microsoft.com/office/drawing/2014/main" id="{2441CFFD-892A-3183-D026-E486644DEE53}"/>
              </a:ext>
            </a:extLst>
          </p:cNvPr>
          <p:cNvSpPr/>
          <p:nvPr/>
        </p:nvSpPr>
        <p:spPr>
          <a:xfrm>
            <a:off x="713475" y="3997314"/>
            <a:ext cx="1389888" cy="128016"/>
          </a:xfrm>
          <a:prstGeom prst="rect">
            <a:avLst/>
          </a:prstGeom>
          <a:noFill/>
          <a:ln/>
        </p:spPr>
        <p:txBody>
          <a:bodyPr wrap="square" lIns="0" tIns="0" rIns="0" bIns="0" rtlCol="0" anchor="ctr"/>
          <a:lstStyle/>
          <a:p>
            <a:pPr marL="0" indent="0">
              <a:buNone/>
            </a:pPr>
            <a:r>
              <a:rPr lang="en-US" sz="500" b="1" dirty="0">
                <a:solidFill>
                  <a:srgbClr val="888888"/>
                </a:solidFill>
                <a:latin typeface="メイリオ" panose="020B0604030504040204" pitchFamily="50" charset="-128"/>
                <a:ea typeface="メイリオ" panose="020B0604030504040204" pitchFamily="50" charset="-128"/>
                <a:cs typeface="Calibri" pitchFamily="34" charset="-120"/>
              </a:rPr>
              <a:t>[検索データ]</a:t>
            </a:r>
            <a:endParaRPr lang="en-US" sz="500" dirty="0">
              <a:latin typeface="メイリオ" panose="020B0604030504040204" pitchFamily="50" charset="-128"/>
              <a:ea typeface="メイリオ" panose="020B0604030504040204" pitchFamily="50" charset="-128"/>
            </a:endParaRPr>
          </a:p>
        </p:txBody>
      </p:sp>
      <p:sp>
        <p:nvSpPr>
          <p:cNvPr id="197" name="Text 21">
            <a:extLst>
              <a:ext uri="{FF2B5EF4-FFF2-40B4-BE49-F238E27FC236}">
                <a16:creationId xmlns:a16="http://schemas.microsoft.com/office/drawing/2014/main" id="{02E571B0-469E-27C6-416F-54EE99A83950}"/>
              </a:ext>
            </a:extLst>
          </p:cNvPr>
          <p:cNvSpPr/>
          <p:nvPr/>
        </p:nvSpPr>
        <p:spPr>
          <a:xfrm>
            <a:off x="713475" y="4143618"/>
            <a:ext cx="1389888" cy="493776"/>
          </a:xfrm>
          <a:prstGeom prst="rect">
            <a:avLst/>
          </a:prstGeom>
          <a:noFill/>
          <a:ln/>
        </p:spPr>
        <p:txBody>
          <a:bodyPr wrap="square" lIns="0" tIns="0" rIns="0" bIns="0" rtlCol="0" anchor="ctr"/>
          <a:lstStyle/>
          <a:p>
            <a:pPr marL="0" indent="0">
              <a:lnSpc>
                <a:spcPct val="135000"/>
              </a:lnSpc>
              <a:buNone/>
            </a:pPr>
            <a:r>
              <a:rPr lang="en-US" sz="600" dirty="0">
                <a:solidFill>
                  <a:srgbClr val="494848"/>
                </a:solidFill>
                <a:latin typeface="メイリオ" panose="020B0604030504040204" pitchFamily="50" charset="-128"/>
                <a:ea typeface="メイリオ" panose="020B0604030504040204" pitchFamily="50" charset="-128"/>
                <a:cs typeface="Calibri" pitchFamily="34" charset="-120"/>
              </a:rPr>
              <a:t>--</a:t>
            </a:r>
            <a:endParaRPr lang="en-US" sz="600" dirty="0">
              <a:latin typeface="メイリオ" panose="020B0604030504040204" pitchFamily="50" charset="-128"/>
              <a:ea typeface="メイリオ" panose="020B0604030504040204" pitchFamily="50" charset="-128"/>
            </a:endParaRPr>
          </a:p>
          <a:p>
            <a:pPr marL="0" indent="0">
              <a:lnSpc>
                <a:spcPct val="135000"/>
              </a:lnSpc>
              <a:buNone/>
            </a:pPr>
            <a:r>
              <a:rPr lang="en-US" sz="600" dirty="0">
                <a:solidFill>
                  <a:srgbClr val="494848"/>
                </a:solidFill>
                <a:latin typeface="メイリオ" panose="020B0604030504040204" pitchFamily="50" charset="-128"/>
                <a:ea typeface="メイリオ" panose="020B0604030504040204" pitchFamily="50" charset="-128"/>
                <a:cs typeface="Calibri" pitchFamily="34" charset="-120"/>
              </a:rPr>
              <a:t>（追加直後は検索データなし。アンケート回答でセグメント自動分類）</a:t>
            </a:r>
            <a:endParaRPr lang="en-US" sz="600" dirty="0">
              <a:latin typeface="メイリオ" panose="020B0604030504040204" pitchFamily="50" charset="-128"/>
              <a:ea typeface="メイリオ" panose="020B0604030504040204" pitchFamily="50" charset="-128"/>
            </a:endParaRPr>
          </a:p>
        </p:txBody>
      </p:sp>
      <p:sp>
        <p:nvSpPr>
          <p:cNvPr id="199" name="Shape 22">
            <a:extLst>
              <a:ext uri="{FF2B5EF4-FFF2-40B4-BE49-F238E27FC236}">
                <a16:creationId xmlns:a16="http://schemas.microsoft.com/office/drawing/2014/main" id="{A9B7453E-695C-212F-38BF-388DF6783D18}"/>
              </a:ext>
            </a:extLst>
          </p:cNvPr>
          <p:cNvSpPr/>
          <p:nvPr/>
        </p:nvSpPr>
        <p:spPr>
          <a:xfrm>
            <a:off x="640323" y="4765410"/>
            <a:ext cx="1536192" cy="310896"/>
          </a:xfrm>
          <a:prstGeom prst="roundRect">
            <a:avLst>
              <a:gd name="adj" fmla="val 35294"/>
            </a:avLst>
          </a:prstGeom>
          <a:solidFill>
            <a:srgbClr val="FFFFFF"/>
          </a:solidFill>
          <a:ln w="12700">
            <a:solidFill>
              <a:srgbClr val="1F2B5C"/>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201" name="Text 23">
            <a:extLst>
              <a:ext uri="{FF2B5EF4-FFF2-40B4-BE49-F238E27FC236}">
                <a16:creationId xmlns:a16="http://schemas.microsoft.com/office/drawing/2014/main" id="{8953102A-09F1-A735-DE78-9D1620CCFC78}"/>
              </a:ext>
            </a:extLst>
          </p:cNvPr>
          <p:cNvSpPr/>
          <p:nvPr/>
        </p:nvSpPr>
        <p:spPr>
          <a:xfrm>
            <a:off x="640323" y="4765410"/>
            <a:ext cx="1536192" cy="310896"/>
          </a:xfrm>
          <a:prstGeom prst="rect">
            <a:avLst/>
          </a:prstGeom>
          <a:noFill/>
          <a:ln/>
        </p:spPr>
        <p:txBody>
          <a:bodyPr wrap="square" lIns="0" tIns="0" rIns="0" bIns="0" rtlCol="0" anchor="ctr"/>
          <a:lstStyle/>
          <a:p>
            <a:pPr marL="0" indent="0" algn="ctr">
              <a:buNone/>
            </a:pPr>
            <a:r>
              <a:rPr lang="en-US" sz="950" b="1" dirty="0">
                <a:latin typeface="メイリオ" panose="020B0604030504040204" pitchFamily="50" charset="-128"/>
                <a:ea typeface="メイリオ" panose="020B0604030504040204" pitchFamily="50" charset="-128"/>
                <a:cs typeface="Calibri" pitchFamily="34" charset="-120"/>
              </a:rPr>
              <a:t>3択タップで診断</a:t>
            </a:r>
            <a:endParaRPr lang="en-US" sz="950" dirty="0">
              <a:latin typeface="メイリオ" panose="020B0604030504040204" pitchFamily="50" charset="-128"/>
              <a:ea typeface="メイリオ" panose="020B0604030504040204" pitchFamily="50" charset="-128"/>
            </a:endParaRPr>
          </a:p>
        </p:txBody>
      </p:sp>
      <p:sp>
        <p:nvSpPr>
          <p:cNvPr id="203" name="Shape 24">
            <a:extLst>
              <a:ext uri="{FF2B5EF4-FFF2-40B4-BE49-F238E27FC236}">
                <a16:creationId xmlns:a16="http://schemas.microsoft.com/office/drawing/2014/main" id="{C88FA24B-5601-EF2D-1F8E-3C4F217194A0}"/>
              </a:ext>
            </a:extLst>
          </p:cNvPr>
          <p:cNvSpPr/>
          <p:nvPr/>
        </p:nvSpPr>
        <p:spPr>
          <a:xfrm>
            <a:off x="2341107" y="1835845"/>
            <a:ext cx="1719072" cy="3363172"/>
          </a:xfrm>
          <a:prstGeom prst="roundRect">
            <a:avLst>
              <a:gd name="adj" fmla="val 3191"/>
            </a:avLst>
          </a:prstGeom>
          <a:solidFill>
            <a:srgbClr val="FFFFFF"/>
          </a:solidFill>
          <a:ln w="12700">
            <a:solidFill>
              <a:srgbClr val="DDDDDD"/>
            </a:solidFill>
            <a:prstDash val="solid"/>
          </a:ln>
          <a:effectLst>
            <a:outerShdw blurRad="38100" dist="12700" dir="8100000" algn="bl" rotWithShape="0">
              <a:srgbClr val="AAAAAA">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205" name="Shape 25">
            <a:extLst>
              <a:ext uri="{FF2B5EF4-FFF2-40B4-BE49-F238E27FC236}">
                <a16:creationId xmlns:a16="http://schemas.microsoft.com/office/drawing/2014/main" id="{B6268B67-5D90-26D0-5BCD-52C7F292C8B0}"/>
              </a:ext>
            </a:extLst>
          </p:cNvPr>
          <p:cNvSpPr/>
          <p:nvPr/>
        </p:nvSpPr>
        <p:spPr>
          <a:xfrm>
            <a:off x="2341107" y="1835845"/>
            <a:ext cx="1719072" cy="585216"/>
          </a:xfrm>
          <a:prstGeom prst="roundRect">
            <a:avLst>
              <a:gd name="adj" fmla="val 9375"/>
            </a:avLst>
          </a:prstGeom>
          <a:solidFill>
            <a:srgbClr val="1565C0"/>
          </a:solidFill>
          <a:ln w="12700">
            <a:no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207" name="Text 26">
            <a:extLst>
              <a:ext uri="{FF2B5EF4-FFF2-40B4-BE49-F238E27FC236}">
                <a16:creationId xmlns:a16="http://schemas.microsoft.com/office/drawing/2014/main" id="{89D42342-00AC-8FE9-32F8-067BB3EBE2A4}"/>
              </a:ext>
            </a:extLst>
          </p:cNvPr>
          <p:cNvSpPr/>
          <p:nvPr/>
        </p:nvSpPr>
        <p:spPr>
          <a:xfrm>
            <a:off x="2432547" y="1872421"/>
            <a:ext cx="1536192" cy="274320"/>
          </a:xfrm>
          <a:prstGeom prst="rect">
            <a:avLst/>
          </a:prstGeom>
          <a:noFill/>
          <a:ln>
            <a:noFill/>
          </a:ln>
        </p:spPr>
        <p:txBody>
          <a:bodyPr wrap="square" lIns="0" tIns="0" rIns="0" bIns="0" rtlCol="0" anchor="ctr"/>
          <a:lstStyle/>
          <a:p>
            <a:pPr marL="0" indent="0" algn="ctr">
              <a:buNone/>
            </a:pPr>
            <a:r>
              <a:rPr lang="en-US" sz="1500" b="1" dirty="0">
                <a:solidFill>
                  <a:srgbClr val="FFFFFF"/>
                </a:solidFill>
                <a:latin typeface="メイリオ" panose="020B0604030504040204" pitchFamily="50" charset="-128"/>
                <a:ea typeface="メイリオ" panose="020B0604030504040204" pitchFamily="50" charset="-128"/>
                <a:cs typeface="Calibri" pitchFamily="34" charset="-120"/>
              </a:rPr>
              <a:t>Day1〜2</a:t>
            </a:r>
            <a:endParaRPr lang="en-US" sz="1500" dirty="0">
              <a:latin typeface="メイリオ" panose="020B0604030504040204" pitchFamily="50" charset="-128"/>
              <a:ea typeface="メイリオ" panose="020B0604030504040204" pitchFamily="50" charset="-128"/>
            </a:endParaRPr>
          </a:p>
        </p:txBody>
      </p:sp>
      <p:sp>
        <p:nvSpPr>
          <p:cNvPr id="209" name="Text 27">
            <a:extLst>
              <a:ext uri="{FF2B5EF4-FFF2-40B4-BE49-F238E27FC236}">
                <a16:creationId xmlns:a16="http://schemas.microsoft.com/office/drawing/2014/main" id="{DDDA5299-26E4-761F-DC5F-D6ED5EDD3F65}"/>
              </a:ext>
            </a:extLst>
          </p:cNvPr>
          <p:cNvSpPr/>
          <p:nvPr/>
        </p:nvSpPr>
        <p:spPr>
          <a:xfrm>
            <a:off x="2432547" y="2146741"/>
            <a:ext cx="1536192" cy="201168"/>
          </a:xfrm>
          <a:prstGeom prst="rect">
            <a:avLst/>
          </a:prstGeom>
          <a:noFill/>
          <a:ln>
            <a:noFill/>
          </a:ln>
        </p:spPr>
        <p:txBody>
          <a:bodyPr wrap="square" lIns="0" tIns="0" rIns="0" bIns="0" rtlCol="0" anchor="ctr"/>
          <a:lstStyle/>
          <a:p>
            <a:pPr marL="0" indent="0" algn="ctr">
              <a:buNone/>
            </a:pPr>
            <a:r>
              <a:rPr lang="en-US" sz="900" dirty="0">
                <a:solidFill>
                  <a:srgbClr val="D0E8FF"/>
                </a:solidFill>
                <a:latin typeface="メイリオ" panose="020B0604030504040204" pitchFamily="50" charset="-128"/>
                <a:ea typeface="メイリオ" panose="020B0604030504040204" pitchFamily="50" charset="-128"/>
                <a:cs typeface="Calibri" pitchFamily="34" charset="-120"/>
              </a:rPr>
              <a:t>不安の先出し解消</a:t>
            </a:r>
            <a:endParaRPr lang="en-US" sz="900" dirty="0">
              <a:latin typeface="メイリオ" panose="020B0604030504040204" pitchFamily="50" charset="-128"/>
              <a:ea typeface="メイリオ" panose="020B0604030504040204" pitchFamily="50" charset="-128"/>
            </a:endParaRPr>
          </a:p>
        </p:txBody>
      </p:sp>
      <p:sp>
        <p:nvSpPr>
          <p:cNvPr id="211" name="Text 28">
            <a:extLst>
              <a:ext uri="{FF2B5EF4-FFF2-40B4-BE49-F238E27FC236}">
                <a16:creationId xmlns:a16="http://schemas.microsoft.com/office/drawing/2014/main" id="{289FA38A-B858-EAC9-F39D-14780D290081}"/>
              </a:ext>
            </a:extLst>
          </p:cNvPr>
          <p:cNvSpPr/>
          <p:nvPr/>
        </p:nvSpPr>
        <p:spPr>
          <a:xfrm>
            <a:off x="2450835" y="2494213"/>
            <a:ext cx="1499616" cy="530352"/>
          </a:xfrm>
          <a:prstGeom prst="rect">
            <a:avLst/>
          </a:prstGeom>
          <a:noFill/>
          <a:ln/>
        </p:spPr>
        <p:txBody>
          <a:bodyPr wrap="square" lIns="0" tIns="0" rIns="0" bIns="0" rtlCol="0" anchor="ctr"/>
          <a:lstStyle/>
          <a:p>
            <a:pPr marL="0" indent="0">
              <a:lnSpc>
                <a:spcPct val="130000"/>
              </a:lnSpc>
              <a:buNone/>
            </a:pPr>
            <a:r>
              <a:rPr lang="en-US" sz="1200" b="1" dirty="0" err="1">
                <a:solidFill>
                  <a:srgbClr val="1565C0"/>
                </a:solidFill>
                <a:latin typeface="メイリオ" panose="020B0604030504040204" pitchFamily="50" charset="-128"/>
                <a:ea typeface="メイリオ" panose="020B0604030504040204" pitchFamily="50" charset="-128"/>
                <a:cs typeface="Calibri" pitchFamily="34" charset="-120"/>
              </a:rPr>
              <a:t>転職で損しない</a:t>
            </a:r>
            <a:endParaRPr lang="en-US" sz="1200" dirty="0">
              <a:latin typeface="メイリオ" panose="020B0604030504040204" pitchFamily="50" charset="-128"/>
              <a:ea typeface="メイリオ" panose="020B0604030504040204" pitchFamily="50" charset="-128"/>
            </a:endParaRPr>
          </a:p>
          <a:p>
            <a:pPr marL="0" indent="0">
              <a:lnSpc>
                <a:spcPct val="130000"/>
              </a:lnSpc>
              <a:buNone/>
            </a:pPr>
            <a:r>
              <a:rPr lang="en-US" sz="1200" b="1" dirty="0">
                <a:solidFill>
                  <a:srgbClr val="1565C0"/>
                </a:solidFill>
                <a:latin typeface="メイリオ" panose="020B0604030504040204" pitchFamily="50" charset="-128"/>
                <a:ea typeface="メイリオ" panose="020B0604030504040204" pitchFamily="50" charset="-128"/>
                <a:cs typeface="Calibri" pitchFamily="34" charset="-120"/>
              </a:rPr>
              <a:t>3つのポイント</a:t>
            </a:r>
            <a:endParaRPr lang="en-US" sz="1200" dirty="0">
              <a:latin typeface="メイリオ" panose="020B0604030504040204" pitchFamily="50" charset="-128"/>
              <a:ea typeface="メイリオ" panose="020B0604030504040204" pitchFamily="50" charset="-128"/>
            </a:endParaRPr>
          </a:p>
        </p:txBody>
      </p:sp>
      <p:sp>
        <p:nvSpPr>
          <p:cNvPr id="213" name="Text 29">
            <a:extLst>
              <a:ext uri="{FF2B5EF4-FFF2-40B4-BE49-F238E27FC236}">
                <a16:creationId xmlns:a16="http://schemas.microsoft.com/office/drawing/2014/main" id="{150DA1ED-B1CD-1150-347A-518E97A2A6AD}"/>
              </a:ext>
            </a:extLst>
          </p:cNvPr>
          <p:cNvSpPr/>
          <p:nvPr/>
        </p:nvSpPr>
        <p:spPr>
          <a:xfrm>
            <a:off x="2450835" y="3061141"/>
            <a:ext cx="1499616" cy="749808"/>
          </a:xfrm>
          <a:prstGeom prst="rect">
            <a:avLst/>
          </a:prstGeom>
          <a:noFill/>
          <a:ln/>
        </p:spPr>
        <p:txBody>
          <a:bodyPr wrap="square" lIns="0" tIns="0" rIns="0" bIns="0" rtlCol="0" anchor="ctr"/>
          <a:lstStyle/>
          <a:p>
            <a:pPr marL="0" indent="0">
              <a:lnSpc>
                <a:spcPct val="140000"/>
              </a:lnSpc>
              <a:buNone/>
            </a:pPr>
            <a:r>
              <a:rPr lang="en-US" sz="700" dirty="0">
                <a:solidFill>
                  <a:srgbClr val="494848"/>
                </a:solidFill>
                <a:latin typeface="メイリオ" panose="020B0604030504040204" pitchFamily="50" charset="-128"/>
                <a:ea typeface="メイリオ" panose="020B0604030504040204" pitchFamily="50" charset="-128"/>
                <a:cs typeface="Calibri" pitchFamily="34" charset="-120"/>
              </a:rPr>
              <a:t>「ブラック企業の見分け方」</a:t>
            </a:r>
            <a:endParaRPr lang="en-US" sz="700" dirty="0">
              <a:latin typeface="メイリオ" panose="020B0604030504040204" pitchFamily="50" charset="-128"/>
              <a:ea typeface="メイリオ" panose="020B0604030504040204" pitchFamily="50" charset="-128"/>
            </a:endParaRPr>
          </a:p>
          <a:p>
            <a:pPr marL="0" indent="0">
              <a:lnSpc>
                <a:spcPct val="140000"/>
              </a:lnSpc>
              <a:buNone/>
            </a:pPr>
            <a:r>
              <a:rPr lang="en-US" sz="700" dirty="0">
                <a:solidFill>
                  <a:srgbClr val="494848"/>
                </a:solidFill>
                <a:latin typeface="メイリオ" panose="020B0604030504040204" pitchFamily="50" charset="-128"/>
                <a:ea typeface="メイリオ" panose="020B0604030504040204" pitchFamily="50" charset="-128"/>
                <a:cs typeface="Calibri" pitchFamily="34" charset="-120"/>
              </a:rPr>
              <a:t>「年収交渉で失敗しない方法」</a:t>
            </a:r>
            <a:endParaRPr lang="en-US" sz="700" dirty="0">
              <a:latin typeface="メイリオ" panose="020B0604030504040204" pitchFamily="50" charset="-128"/>
              <a:ea typeface="メイリオ" panose="020B0604030504040204" pitchFamily="50" charset="-128"/>
            </a:endParaRPr>
          </a:p>
          <a:p>
            <a:pPr marL="0" indent="0">
              <a:lnSpc>
                <a:spcPct val="140000"/>
              </a:lnSpc>
              <a:buNone/>
            </a:pPr>
            <a:r>
              <a:rPr lang="en-US" sz="700" dirty="0">
                <a:solidFill>
                  <a:srgbClr val="494848"/>
                </a:solidFill>
                <a:latin typeface="メイリオ" panose="020B0604030504040204" pitchFamily="50" charset="-128"/>
                <a:ea typeface="メイリオ" panose="020B0604030504040204" pitchFamily="50" charset="-128"/>
                <a:cs typeface="Calibri" pitchFamily="34" charset="-120"/>
              </a:rPr>
              <a:t>「エージェントのリアルな使い方」</a:t>
            </a:r>
            <a:endParaRPr lang="en-US" sz="700" dirty="0">
              <a:latin typeface="メイリオ" panose="020B0604030504040204" pitchFamily="50" charset="-128"/>
              <a:ea typeface="メイリオ" panose="020B0604030504040204" pitchFamily="50" charset="-128"/>
            </a:endParaRPr>
          </a:p>
          <a:p>
            <a:pPr marL="0" indent="0">
              <a:lnSpc>
                <a:spcPct val="140000"/>
              </a:lnSpc>
              <a:buNone/>
            </a:pPr>
            <a:r>
              <a:rPr lang="en-US" sz="700" dirty="0">
                <a:solidFill>
                  <a:srgbClr val="494848"/>
                </a:solidFill>
                <a:latin typeface="メイリオ" panose="020B0604030504040204" pitchFamily="50" charset="-128"/>
                <a:ea typeface="メイリオ" panose="020B0604030504040204" pitchFamily="50" charset="-128"/>
                <a:cs typeface="Calibri" pitchFamily="34" charset="-120"/>
              </a:rPr>
              <a:t>不安を先出しして信頼を醸成</a:t>
            </a:r>
            <a:endParaRPr lang="en-US" sz="700" dirty="0">
              <a:latin typeface="メイリオ" panose="020B0604030504040204" pitchFamily="50" charset="-128"/>
              <a:ea typeface="メイリオ" panose="020B0604030504040204" pitchFamily="50" charset="-128"/>
            </a:endParaRPr>
          </a:p>
        </p:txBody>
      </p:sp>
      <p:sp>
        <p:nvSpPr>
          <p:cNvPr id="215" name="Shape 30">
            <a:extLst>
              <a:ext uri="{FF2B5EF4-FFF2-40B4-BE49-F238E27FC236}">
                <a16:creationId xmlns:a16="http://schemas.microsoft.com/office/drawing/2014/main" id="{76E377BC-43E4-750C-D8A2-6481DE03C768}"/>
              </a:ext>
            </a:extLst>
          </p:cNvPr>
          <p:cNvSpPr/>
          <p:nvPr/>
        </p:nvSpPr>
        <p:spPr>
          <a:xfrm>
            <a:off x="2432547" y="3960738"/>
            <a:ext cx="1536192" cy="694944"/>
          </a:xfrm>
          <a:prstGeom prst="roundRect">
            <a:avLst>
              <a:gd name="adj" fmla="val 6579"/>
            </a:avLst>
          </a:prstGeom>
          <a:solidFill>
            <a:srgbClr val="F5F5F5"/>
          </a:solidFill>
          <a:ln w="12700">
            <a:solidFill>
              <a:srgbClr val="DDDDDD"/>
            </a:solidFill>
            <a:prstDash val="solid"/>
          </a:ln>
        </p:spPr>
        <p:txBody>
          <a:bodyPr/>
          <a:lstStyle/>
          <a:p>
            <a:endParaRPr lang="ja-JP" altLang="en-US" sz="1400">
              <a:latin typeface="メイリオ" panose="020B0604030504040204" pitchFamily="50" charset="-128"/>
              <a:ea typeface="メイリオ" panose="020B0604030504040204" pitchFamily="50" charset="-128"/>
            </a:endParaRPr>
          </a:p>
        </p:txBody>
      </p:sp>
      <p:sp>
        <p:nvSpPr>
          <p:cNvPr id="217" name="Text 31">
            <a:extLst>
              <a:ext uri="{FF2B5EF4-FFF2-40B4-BE49-F238E27FC236}">
                <a16:creationId xmlns:a16="http://schemas.microsoft.com/office/drawing/2014/main" id="{FF84F76B-5C74-7B62-2528-5D8C6B827AAE}"/>
              </a:ext>
            </a:extLst>
          </p:cNvPr>
          <p:cNvSpPr/>
          <p:nvPr/>
        </p:nvSpPr>
        <p:spPr>
          <a:xfrm>
            <a:off x="2505699" y="3997314"/>
            <a:ext cx="1389888" cy="128016"/>
          </a:xfrm>
          <a:prstGeom prst="rect">
            <a:avLst/>
          </a:prstGeom>
          <a:noFill/>
          <a:ln/>
        </p:spPr>
        <p:txBody>
          <a:bodyPr wrap="square" lIns="0" tIns="0" rIns="0" bIns="0" rtlCol="0" anchor="ctr"/>
          <a:lstStyle/>
          <a:p>
            <a:pPr marL="0" indent="0">
              <a:buNone/>
            </a:pPr>
            <a:r>
              <a:rPr lang="en-US" sz="500" b="1" dirty="0">
                <a:solidFill>
                  <a:srgbClr val="888888"/>
                </a:solidFill>
                <a:latin typeface="メイリオ" panose="020B0604030504040204" pitchFamily="50" charset="-128"/>
                <a:ea typeface="メイリオ" panose="020B0604030504040204" pitchFamily="50" charset="-128"/>
                <a:cs typeface="Calibri" pitchFamily="34" charset="-120"/>
              </a:rPr>
              <a:t>[検索データ]</a:t>
            </a:r>
            <a:endParaRPr lang="en-US" sz="500" dirty="0">
              <a:latin typeface="メイリオ" panose="020B0604030504040204" pitchFamily="50" charset="-128"/>
              <a:ea typeface="メイリオ" panose="020B0604030504040204" pitchFamily="50" charset="-128"/>
            </a:endParaRPr>
          </a:p>
        </p:txBody>
      </p:sp>
      <p:sp>
        <p:nvSpPr>
          <p:cNvPr id="219" name="Text 32">
            <a:extLst>
              <a:ext uri="{FF2B5EF4-FFF2-40B4-BE49-F238E27FC236}">
                <a16:creationId xmlns:a16="http://schemas.microsoft.com/office/drawing/2014/main" id="{BF0CE63B-9D9B-B598-BC2E-ED84243D6BD2}"/>
              </a:ext>
            </a:extLst>
          </p:cNvPr>
          <p:cNvSpPr/>
          <p:nvPr/>
        </p:nvSpPr>
        <p:spPr>
          <a:xfrm>
            <a:off x="2505699" y="4143618"/>
            <a:ext cx="1389888" cy="493776"/>
          </a:xfrm>
          <a:prstGeom prst="rect">
            <a:avLst/>
          </a:prstGeom>
          <a:noFill/>
          <a:ln/>
        </p:spPr>
        <p:txBody>
          <a:bodyPr wrap="square" lIns="0" tIns="0" rIns="0" bIns="0" rtlCol="0" anchor="ctr"/>
          <a:lstStyle/>
          <a:p>
            <a:pPr marL="0" indent="0">
              <a:lnSpc>
                <a:spcPct val="135000"/>
              </a:lnSpc>
              <a:buNone/>
            </a:pPr>
            <a:r>
              <a:rPr lang="en-US" sz="600" dirty="0">
                <a:solidFill>
                  <a:srgbClr val="494848"/>
                </a:solidFill>
                <a:latin typeface="メイリオ" panose="020B0604030504040204" pitchFamily="50" charset="-128"/>
                <a:ea typeface="メイリオ" panose="020B0604030504040204" pitchFamily="50" charset="-128"/>
                <a:cs typeface="Calibri" pitchFamily="34" charset="-120"/>
              </a:rPr>
              <a:t>追加直後は「転職エージェント 使うべきか」「リクルートエージェント 評判」の検索Volが急増。比較・懸念フェーズに完全対応</a:t>
            </a:r>
            <a:endParaRPr lang="en-US" sz="600" dirty="0">
              <a:latin typeface="メイリオ" panose="020B0604030504040204" pitchFamily="50" charset="-128"/>
              <a:ea typeface="メイリオ" panose="020B0604030504040204" pitchFamily="50" charset="-128"/>
            </a:endParaRPr>
          </a:p>
        </p:txBody>
      </p:sp>
      <p:sp>
        <p:nvSpPr>
          <p:cNvPr id="221" name="Shape 33">
            <a:extLst>
              <a:ext uri="{FF2B5EF4-FFF2-40B4-BE49-F238E27FC236}">
                <a16:creationId xmlns:a16="http://schemas.microsoft.com/office/drawing/2014/main" id="{3B3F2D53-D4B6-4F72-F11A-BF340CD1F372}"/>
              </a:ext>
            </a:extLst>
          </p:cNvPr>
          <p:cNvSpPr/>
          <p:nvPr/>
        </p:nvSpPr>
        <p:spPr>
          <a:xfrm>
            <a:off x="2432547" y="4765410"/>
            <a:ext cx="1536192" cy="310896"/>
          </a:xfrm>
          <a:prstGeom prst="roundRect">
            <a:avLst>
              <a:gd name="adj" fmla="val 35294"/>
            </a:avLst>
          </a:prstGeom>
          <a:solidFill>
            <a:srgbClr val="FFFFFF"/>
          </a:solidFill>
          <a:ln w="12700">
            <a:solidFill>
              <a:srgbClr val="1565C0"/>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223" name="Text 34">
            <a:extLst>
              <a:ext uri="{FF2B5EF4-FFF2-40B4-BE49-F238E27FC236}">
                <a16:creationId xmlns:a16="http://schemas.microsoft.com/office/drawing/2014/main" id="{50528FA6-6538-9244-6433-A9A55F723AD1}"/>
              </a:ext>
            </a:extLst>
          </p:cNvPr>
          <p:cNvSpPr/>
          <p:nvPr/>
        </p:nvSpPr>
        <p:spPr>
          <a:xfrm>
            <a:off x="2432547" y="4765410"/>
            <a:ext cx="1536192" cy="310896"/>
          </a:xfrm>
          <a:prstGeom prst="rect">
            <a:avLst/>
          </a:prstGeom>
          <a:noFill/>
          <a:ln/>
        </p:spPr>
        <p:txBody>
          <a:bodyPr wrap="square" lIns="0" tIns="0" rIns="0" bIns="0" rtlCol="0" anchor="ctr"/>
          <a:lstStyle/>
          <a:p>
            <a:pPr marL="0" indent="0" algn="ctr">
              <a:buNone/>
            </a:pPr>
            <a:r>
              <a:rPr lang="en-US" sz="950" b="1" dirty="0" err="1">
                <a:latin typeface="メイリオ" panose="020B0604030504040204" pitchFamily="50" charset="-128"/>
                <a:ea typeface="メイリオ" panose="020B0604030504040204" pitchFamily="50" charset="-128"/>
                <a:cs typeface="Calibri" pitchFamily="34" charset="-120"/>
              </a:rPr>
              <a:t>転職成功事例を見る</a:t>
            </a:r>
            <a:endParaRPr lang="en-US" sz="950" dirty="0">
              <a:latin typeface="メイリオ" panose="020B0604030504040204" pitchFamily="50" charset="-128"/>
              <a:ea typeface="メイリオ" panose="020B0604030504040204" pitchFamily="50" charset="-128"/>
            </a:endParaRPr>
          </a:p>
        </p:txBody>
      </p:sp>
      <p:sp>
        <p:nvSpPr>
          <p:cNvPr id="225" name="Shape 35">
            <a:extLst>
              <a:ext uri="{FF2B5EF4-FFF2-40B4-BE49-F238E27FC236}">
                <a16:creationId xmlns:a16="http://schemas.microsoft.com/office/drawing/2014/main" id="{53797D95-7FA3-EAB7-FD16-E3CAA1B9A8E9}"/>
              </a:ext>
            </a:extLst>
          </p:cNvPr>
          <p:cNvSpPr/>
          <p:nvPr/>
        </p:nvSpPr>
        <p:spPr>
          <a:xfrm>
            <a:off x="4133331" y="1835845"/>
            <a:ext cx="1719072" cy="3363172"/>
          </a:xfrm>
          <a:prstGeom prst="roundRect">
            <a:avLst>
              <a:gd name="adj" fmla="val 3191"/>
            </a:avLst>
          </a:prstGeom>
          <a:solidFill>
            <a:srgbClr val="FFFFFF"/>
          </a:solidFill>
          <a:ln w="12700">
            <a:solidFill>
              <a:srgbClr val="DDDDDD"/>
            </a:solidFill>
            <a:prstDash val="solid"/>
          </a:ln>
          <a:effectLst>
            <a:outerShdw blurRad="38100" dist="12700" dir="8100000" algn="bl" rotWithShape="0">
              <a:srgbClr val="AAAAAA">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227" name="Shape 36">
            <a:extLst>
              <a:ext uri="{FF2B5EF4-FFF2-40B4-BE49-F238E27FC236}">
                <a16:creationId xmlns:a16="http://schemas.microsoft.com/office/drawing/2014/main" id="{629B1933-CCE8-4801-AEDC-00D8587663D2}"/>
              </a:ext>
            </a:extLst>
          </p:cNvPr>
          <p:cNvSpPr/>
          <p:nvPr/>
        </p:nvSpPr>
        <p:spPr>
          <a:xfrm>
            <a:off x="4133331" y="1835845"/>
            <a:ext cx="1719072" cy="585216"/>
          </a:xfrm>
          <a:prstGeom prst="roundRect">
            <a:avLst>
              <a:gd name="adj" fmla="val 9375"/>
            </a:avLst>
          </a:prstGeom>
          <a:solidFill>
            <a:schemeClr val="accent1"/>
          </a:solidFill>
          <a:ln w="12700">
            <a:no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229" name="Text 37">
            <a:extLst>
              <a:ext uri="{FF2B5EF4-FFF2-40B4-BE49-F238E27FC236}">
                <a16:creationId xmlns:a16="http://schemas.microsoft.com/office/drawing/2014/main" id="{092214EE-AC44-038C-2722-B308FA576ED9}"/>
              </a:ext>
            </a:extLst>
          </p:cNvPr>
          <p:cNvSpPr/>
          <p:nvPr/>
        </p:nvSpPr>
        <p:spPr>
          <a:xfrm>
            <a:off x="4224771" y="1872421"/>
            <a:ext cx="1536192" cy="274320"/>
          </a:xfrm>
          <a:prstGeom prst="rect">
            <a:avLst/>
          </a:prstGeom>
          <a:noFill/>
          <a:ln>
            <a:noFill/>
          </a:ln>
        </p:spPr>
        <p:txBody>
          <a:bodyPr wrap="square" lIns="0" tIns="0" rIns="0" bIns="0" rtlCol="0" anchor="ctr"/>
          <a:lstStyle/>
          <a:p>
            <a:pPr marL="0" indent="0" algn="ctr">
              <a:buNone/>
            </a:pPr>
            <a:r>
              <a:rPr lang="en-US" sz="1500" b="1" dirty="0">
                <a:solidFill>
                  <a:srgbClr val="FFFFFF"/>
                </a:solidFill>
                <a:latin typeface="メイリオ" panose="020B0604030504040204" pitchFamily="50" charset="-128"/>
                <a:ea typeface="メイリオ" panose="020B0604030504040204" pitchFamily="50" charset="-128"/>
                <a:cs typeface="Calibri" pitchFamily="34" charset="-120"/>
              </a:rPr>
              <a:t>Day4〜5</a:t>
            </a:r>
            <a:endParaRPr lang="en-US" sz="1500" dirty="0">
              <a:latin typeface="メイリオ" panose="020B0604030504040204" pitchFamily="50" charset="-128"/>
              <a:ea typeface="メイリオ" panose="020B0604030504040204" pitchFamily="50" charset="-128"/>
            </a:endParaRPr>
          </a:p>
        </p:txBody>
      </p:sp>
      <p:sp>
        <p:nvSpPr>
          <p:cNvPr id="231" name="Text 38">
            <a:extLst>
              <a:ext uri="{FF2B5EF4-FFF2-40B4-BE49-F238E27FC236}">
                <a16:creationId xmlns:a16="http://schemas.microsoft.com/office/drawing/2014/main" id="{2956D39A-AB56-1D2C-A166-5AD97BF4555B}"/>
              </a:ext>
            </a:extLst>
          </p:cNvPr>
          <p:cNvSpPr/>
          <p:nvPr/>
        </p:nvSpPr>
        <p:spPr>
          <a:xfrm>
            <a:off x="4224771" y="2146741"/>
            <a:ext cx="1536192" cy="201168"/>
          </a:xfrm>
          <a:prstGeom prst="rect">
            <a:avLst/>
          </a:prstGeom>
          <a:noFill/>
          <a:ln>
            <a:noFill/>
          </a:ln>
        </p:spPr>
        <p:txBody>
          <a:bodyPr wrap="square" lIns="0" tIns="0" rIns="0" bIns="0" rtlCol="0" anchor="ctr"/>
          <a:lstStyle/>
          <a:p>
            <a:pPr marL="0" indent="0" algn="ctr">
              <a:buNone/>
            </a:pPr>
            <a:r>
              <a:rPr lang="en-US" sz="900" dirty="0">
                <a:solidFill>
                  <a:srgbClr val="D0E8FF"/>
                </a:solidFill>
                <a:latin typeface="メイリオ" panose="020B0604030504040204" pitchFamily="50" charset="-128"/>
                <a:ea typeface="メイリオ" panose="020B0604030504040204" pitchFamily="50" charset="-128"/>
                <a:cs typeface="Calibri" pitchFamily="34" charset="-120"/>
              </a:rPr>
              <a:t>書類ハードル下げ</a:t>
            </a:r>
            <a:endParaRPr lang="en-US" sz="900" dirty="0">
              <a:latin typeface="メイリオ" panose="020B0604030504040204" pitchFamily="50" charset="-128"/>
              <a:ea typeface="メイリオ" panose="020B0604030504040204" pitchFamily="50" charset="-128"/>
            </a:endParaRPr>
          </a:p>
        </p:txBody>
      </p:sp>
      <p:sp>
        <p:nvSpPr>
          <p:cNvPr id="235" name="Text 39">
            <a:extLst>
              <a:ext uri="{FF2B5EF4-FFF2-40B4-BE49-F238E27FC236}">
                <a16:creationId xmlns:a16="http://schemas.microsoft.com/office/drawing/2014/main" id="{9FD8369A-6329-B6BB-FF1E-783F5AE7FD45}"/>
              </a:ext>
            </a:extLst>
          </p:cNvPr>
          <p:cNvSpPr/>
          <p:nvPr/>
        </p:nvSpPr>
        <p:spPr>
          <a:xfrm>
            <a:off x="4243059" y="2494213"/>
            <a:ext cx="1499616" cy="530352"/>
          </a:xfrm>
          <a:prstGeom prst="rect">
            <a:avLst/>
          </a:prstGeom>
          <a:noFill/>
          <a:ln/>
        </p:spPr>
        <p:txBody>
          <a:bodyPr wrap="square" lIns="0" tIns="0" rIns="0" bIns="0" rtlCol="0" anchor="ctr"/>
          <a:lstStyle/>
          <a:p>
            <a:pPr marL="0" indent="0">
              <a:lnSpc>
                <a:spcPct val="130000"/>
              </a:lnSpc>
              <a:buNone/>
            </a:pPr>
            <a:r>
              <a:rPr lang="en-US" sz="1200" b="1" dirty="0">
                <a:solidFill>
                  <a:schemeClr val="accent1"/>
                </a:solidFill>
                <a:latin typeface="メイリオ" panose="020B0604030504040204" pitchFamily="50" charset="-128"/>
                <a:ea typeface="メイリオ" panose="020B0604030504040204" pitchFamily="50" charset="-128"/>
                <a:cs typeface="Calibri" pitchFamily="34" charset="-120"/>
              </a:rPr>
              <a:t>職務経歴書は</a:t>
            </a:r>
            <a:endParaRPr lang="en-US" sz="1200" dirty="0">
              <a:solidFill>
                <a:schemeClr val="accent1"/>
              </a:solidFill>
              <a:latin typeface="メイリオ" panose="020B0604030504040204" pitchFamily="50" charset="-128"/>
              <a:ea typeface="メイリオ" panose="020B0604030504040204" pitchFamily="50" charset="-128"/>
            </a:endParaRPr>
          </a:p>
          <a:p>
            <a:pPr marL="0" indent="0">
              <a:lnSpc>
                <a:spcPct val="130000"/>
              </a:lnSpc>
              <a:buNone/>
            </a:pPr>
            <a:r>
              <a:rPr lang="en-US" sz="1200" b="1" dirty="0" err="1">
                <a:solidFill>
                  <a:schemeClr val="accent1"/>
                </a:solidFill>
                <a:latin typeface="メイリオ" panose="020B0604030504040204" pitchFamily="50" charset="-128"/>
                <a:ea typeface="メイリオ" panose="020B0604030504040204" pitchFamily="50" charset="-128"/>
                <a:cs typeface="Calibri" pitchFamily="34" charset="-120"/>
              </a:rPr>
              <a:t>これだけ書けばOK</a:t>
            </a:r>
            <a:r>
              <a:rPr lang="en-US" sz="1200" b="1" dirty="0">
                <a:solidFill>
                  <a:schemeClr val="accent1"/>
                </a:solidFill>
                <a:latin typeface="メイリオ" panose="020B0604030504040204" pitchFamily="50" charset="-128"/>
                <a:ea typeface="メイリオ" panose="020B0604030504040204" pitchFamily="50" charset="-128"/>
                <a:cs typeface="Calibri" pitchFamily="34" charset="-120"/>
              </a:rPr>
              <a:t>！</a:t>
            </a:r>
            <a:endParaRPr lang="en-US" sz="1200" dirty="0">
              <a:solidFill>
                <a:schemeClr val="accent1"/>
              </a:solidFill>
              <a:latin typeface="メイリオ" panose="020B0604030504040204" pitchFamily="50" charset="-128"/>
              <a:ea typeface="メイリオ" panose="020B0604030504040204" pitchFamily="50" charset="-128"/>
            </a:endParaRPr>
          </a:p>
        </p:txBody>
      </p:sp>
      <p:sp>
        <p:nvSpPr>
          <p:cNvPr id="237" name="Text 40">
            <a:extLst>
              <a:ext uri="{FF2B5EF4-FFF2-40B4-BE49-F238E27FC236}">
                <a16:creationId xmlns:a16="http://schemas.microsoft.com/office/drawing/2014/main" id="{199D3821-33AB-4ABB-7E4F-446E2E140608}"/>
              </a:ext>
            </a:extLst>
          </p:cNvPr>
          <p:cNvSpPr/>
          <p:nvPr/>
        </p:nvSpPr>
        <p:spPr>
          <a:xfrm>
            <a:off x="4243059" y="3061141"/>
            <a:ext cx="1499616" cy="749808"/>
          </a:xfrm>
          <a:prstGeom prst="rect">
            <a:avLst/>
          </a:prstGeom>
          <a:noFill/>
          <a:ln/>
        </p:spPr>
        <p:txBody>
          <a:bodyPr wrap="square" lIns="0" tIns="0" rIns="0" bIns="0" rtlCol="0" anchor="ctr"/>
          <a:lstStyle/>
          <a:p>
            <a:pPr marL="0" indent="0">
              <a:lnSpc>
                <a:spcPct val="140000"/>
              </a:lnSpc>
              <a:buNone/>
            </a:pPr>
            <a:r>
              <a:rPr lang="en-US" sz="700" dirty="0">
                <a:solidFill>
                  <a:srgbClr val="494848"/>
                </a:solidFill>
                <a:latin typeface="メイリオ" panose="020B0604030504040204" pitchFamily="50" charset="-128"/>
                <a:ea typeface="メイリオ" panose="020B0604030504040204" pitchFamily="50" charset="-128"/>
                <a:cs typeface="Calibri" pitchFamily="34" charset="-120"/>
              </a:rPr>
              <a:t>応募〜面接の流れを</a:t>
            </a:r>
            <a:endParaRPr lang="en-US" sz="700" dirty="0">
              <a:latin typeface="メイリオ" panose="020B0604030504040204" pitchFamily="50" charset="-128"/>
              <a:ea typeface="メイリオ" panose="020B0604030504040204" pitchFamily="50" charset="-128"/>
            </a:endParaRPr>
          </a:p>
          <a:p>
            <a:pPr marL="0" indent="0">
              <a:lnSpc>
                <a:spcPct val="140000"/>
              </a:lnSpc>
              <a:buNone/>
            </a:pPr>
            <a:r>
              <a:rPr lang="en-US" sz="700" dirty="0">
                <a:solidFill>
                  <a:srgbClr val="494848"/>
                </a:solidFill>
                <a:latin typeface="メイリオ" panose="020B0604030504040204" pitchFamily="50" charset="-128"/>
                <a:ea typeface="メイリオ" panose="020B0604030504040204" pitchFamily="50" charset="-128"/>
                <a:cs typeface="Calibri" pitchFamily="34" charset="-120"/>
              </a:rPr>
              <a:t>4ステップで図解</a:t>
            </a:r>
            <a:endParaRPr lang="en-US" sz="700" dirty="0">
              <a:latin typeface="メイリオ" panose="020B0604030504040204" pitchFamily="50" charset="-128"/>
              <a:ea typeface="メイリオ" panose="020B0604030504040204" pitchFamily="50" charset="-128"/>
            </a:endParaRPr>
          </a:p>
          <a:p>
            <a:pPr marL="0" indent="0">
              <a:lnSpc>
                <a:spcPct val="140000"/>
              </a:lnSpc>
              <a:buNone/>
            </a:pPr>
            <a:r>
              <a:rPr lang="en-US" sz="700" dirty="0">
                <a:solidFill>
                  <a:srgbClr val="494848"/>
                </a:solidFill>
                <a:latin typeface="メイリオ" panose="020B0604030504040204" pitchFamily="50" charset="-128"/>
                <a:ea typeface="メイリオ" panose="020B0604030504040204" pitchFamily="50" charset="-128"/>
                <a:cs typeface="Calibri" pitchFamily="34" charset="-120"/>
              </a:rPr>
              <a:t>職務経歴書テンプレ</a:t>
            </a:r>
            <a:endParaRPr lang="en-US" sz="700" dirty="0">
              <a:latin typeface="メイリオ" panose="020B0604030504040204" pitchFamily="50" charset="-128"/>
              <a:ea typeface="メイリオ" panose="020B0604030504040204" pitchFamily="50" charset="-128"/>
            </a:endParaRPr>
          </a:p>
          <a:p>
            <a:pPr marL="0" indent="0">
              <a:lnSpc>
                <a:spcPct val="140000"/>
              </a:lnSpc>
              <a:buNone/>
            </a:pPr>
            <a:r>
              <a:rPr lang="en-US" sz="700" dirty="0">
                <a:solidFill>
                  <a:srgbClr val="494848"/>
                </a:solidFill>
                <a:latin typeface="メイリオ" panose="020B0604030504040204" pitchFamily="50" charset="-128"/>
                <a:ea typeface="メイリオ" panose="020B0604030504040204" pitchFamily="50" charset="-128"/>
                <a:cs typeface="Calibri" pitchFamily="34" charset="-120"/>
              </a:rPr>
              <a:t>（Word）と自己PR例文10選</a:t>
            </a:r>
            <a:endParaRPr lang="en-US" sz="700" dirty="0">
              <a:latin typeface="メイリオ" panose="020B0604030504040204" pitchFamily="50" charset="-128"/>
              <a:ea typeface="メイリオ" panose="020B0604030504040204" pitchFamily="50" charset="-128"/>
            </a:endParaRPr>
          </a:p>
          <a:p>
            <a:pPr marL="0" indent="0">
              <a:lnSpc>
                <a:spcPct val="140000"/>
              </a:lnSpc>
              <a:buNone/>
            </a:pPr>
            <a:r>
              <a:rPr lang="en-US" sz="700" dirty="0">
                <a:solidFill>
                  <a:srgbClr val="494848"/>
                </a:solidFill>
                <a:latin typeface="メイリオ" panose="020B0604030504040204" pitchFamily="50" charset="-128"/>
                <a:ea typeface="メイリオ" panose="020B0604030504040204" pitchFamily="50" charset="-128"/>
                <a:cs typeface="Calibri" pitchFamily="34" charset="-120"/>
              </a:rPr>
              <a:t>を無料配布</a:t>
            </a:r>
            <a:endParaRPr lang="en-US" sz="700" dirty="0">
              <a:latin typeface="メイリオ" panose="020B0604030504040204" pitchFamily="50" charset="-128"/>
              <a:ea typeface="メイリオ" panose="020B0604030504040204" pitchFamily="50" charset="-128"/>
            </a:endParaRPr>
          </a:p>
        </p:txBody>
      </p:sp>
      <p:sp>
        <p:nvSpPr>
          <p:cNvPr id="240" name="Shape 41">
            <a:extLst>
              <a:ext uri="{FF2B5EF4-FFF2-40B4-BE49-F238E27FC236}">
                <a16:creationId xmlns:a16="http://schemas.microsoft.com/office/drawing/2014/main" id="{FE05CBF8-66A0-3EAA-B719-3E5BEB3DFC1F}"/>
              </a:ext>
            </a:extLst>
          </p:cNvPr>
          <p:cNvSpPr/>
          <p:nvPr/>
        </p:nvSpPr>
        <p:spPr>
          <a:xfrm>
            <a:off x="4224771" y="3960738"/>
            <a:ext cx="1536192" cy="694944"/>
          </a:xfrm>
          <a:prstGeom prst="roundRect">
            <a:avLst>
              <a:gd name="adj" fmla="val 6579"/>
            </a:avLst>
          </a:prstGeom>
          <a:solidFill>
            <a:srgbClr val="F5F5F5"/>
          </a:solidFill>
          <a:ln w="12700">
            <a:solidFill>
              <a:srgbClr val="DDDDDD"/>
            </a:solidFill>
            <a:prstDash val="solid"/>
          </a:ln>
        </p:spPr>
        <p:txBody>
          <a:bodyPr/>
          <a:lstStyle/>
          <a:p>
            <a:endParaRPr lang="ja-JP" altLang="en-US" sz="1400">
              <a:latin typeface="メイリオ" panose="020B0604030504040204" pitchFamily="50" charset="-128"/>
              <a:ea typeface="メイリオ" panose="020B0604030504040204" pitchFamily="50" charset="-128"/>
            </a:endParaRPr>
          </a:p>
        </p:txBody>
      </p:sp>
      <p:sp>
        <p:nvSpPr>
          <p:cNvPr id="243" name="Text 42">
            <a:extLst>
              <a:ext uri="{FF2B5EF4-FFF2-40B4-BE49-F238E27FC236}">
                <a16:creationId xmlns:a16="http://schemas.microsoft.com/office/drawing/2014/main" id="{598E8C1A-CF8F-CADC-BEB1-4963E41378B1}"/>
              </a:ext>
            </a:extLst>
          </p:cNvPr>
          <p:cNvSpPr/>
          <p:nvPr/>
        </p:nvSpPr>
        <p:spPr>
          <a:xfrm>
            <a:off x="4297923" y="3997314"/>
            <a:ext cx="1389888" cy="128016"/>
          </a:xfrm>
          <a:prstGeom prst="rect">
            <a:avLst/>
          </a:prstGeom>
          <a:noFill/>
          <a:ln/>
        </p:spPr>
        <p:txBody>
          <a:bodyPr wrap="square" lIns="0" tIns="0" rIns="0" bIns="0" rtlCol="0" anchor="ctr"/>
          <a:lstStyle/>
          <a:p>
            <a:pPr marL="0" indent="0">
              <a:buNone/>
            </a:pPr>
            <a:r>
              <a:rPr lang="en-US" sz="500" b="1" dirty="0">
                <a:solidFill>
                  <a:srgbClr val="888888"/>
                </a:solidFill>
                <a:latin typeface="メイリオ" panose="020B0604030504040204" pitchFamily="50" charset="-128"/>
                <a:ea typeface="メイリオ" panose="020B0604030504040204" pitchFamily="50" charset="-128"/>
                <a:cs typeface="Calibri" pitchFamily="34" charset="-120"/>
              </a:rPr>
              <a:t>[検索データ]</a:t>
            </a:r>
            <a:endParaRPr lang="en-US" sz="500" dirty="0">
              <a:latin typeface="メイリオ" panose="020B0604030504040204" pitchFamily="50" charset="-128"/>
              <a:ea typeface="メイリオ" panose="020B0604030504040204" pitchFamily="50" charset="-128"/>
            </a:endParaRPr>
          </a:p>
        </p:txBody>
      </p:sp>
      <p:sp>
        <p:nvSpPr>
          <p:cNvPr id="247" name="Text 43">
            <a:extLst>
              <a:ext uri="{FF2B5EF4-FFF2-40B4-BE49-F238E27FC236}">
                <a16:creationId xmlns:a16="http://schemas.microsoft.com/office/drawing/2014/main" id="{61A890BF-9DE4-3C72-A92B-372EE26EBBC9}"/>
              </a:ext>
            </a:extLst>
          </p:cNvPr>
          <p:cNvSpPr/>
          <p:nvPr/>
        </p:nvSpPr>
        <p:spPr>
          <a:xfrm>
            <a:off x="4297923" y="4143618"/>
            <a:ext cx="1389888" cy="493776"/>
          </a:xfrm>
          <a:prstGeom prst="rect">
            <a:avLst/>
          </a:prstGeom>
          <a:noFill/>
          <a:ln/>
        </p:spPr>
        <p:txBody>
          <a:bodyPr wrap="square" lIns="0" tIns="0" rIns="0" bIns="0" rtlCol="0" anchor="ctr"/>
          <a:lstStyle/>
          <a:p>
            <a:pPr marL="0" indent="0">
              <a:lnSpc>
                <a:spcPct val="135000"/>
              </a:lnSpc>
              <a:buNone/>
            </a:pPr>
            <a:r>
              <a:rPr lang="en-US" sz="600" dirty="0">
                <a:solidFill>
                  <a:srgbClr val="494848"/>
                </a:solidFill>
                <a:latin typeface="メイリオ" panose="020B0604030504040204" pitchFamily="50" charset="-128"/>
                <a:ea typeface="メイリオ" panose="020B0604030504040204" pitchFamily="50" charset="-128"/>
                <a:cs typeface="Calibri" pitchFamily="34" charset="-120"/>
              </a:rPr>
              <a:t>「職務経歴書 書き方」「自己pr 例文」「転職理由」などの書類準備系クエリが+1〜+5日で急増。後クエリの最大ピークに対応</a:t>
            </a:r>
            <a:endParaRPr lang="en-US" sz="600" dirty="0">
              <a:latin typeface="メイリオ" panose="020B0604030504040204" pitchFamily="50" charset="-128"/>
              <a:ea typeface="メイリオ" panose="020B0604030504040204" pitchFamily="50" charset="-128"/>
            </a:endParaRPr>
          </a:p>
        </p:txBody>
      </p:sp>
      <p:sp>
        <p:nvSpPr>
          <p:cNvPr id="251" name="Shape 44">
            <a:extLst>
              <a:ext uri="{FF2B5EF4-FFF2-40B4-BE49-F238E27FC236}">
                <a16:creationId xmlns:a16="http://schemas.microsoft.com/office/drawing/2014/main" id="{70455440-ACF9-976A-9AAB-2C130E817A9A}"/>
              </a:ext>
            </a:extLst>
          </p:cNvPr>
          <p:cNvSpPr/>
          <p:nvPr/>
        </p:nvSpPr>
        <p:spPr>
          <a:xfrm>
            <a:off x="4224771" y="4765410"/>
            <a:ext cx="1536192" cy="310896"/>
          </a:xfrm>
          <a:prstGeom prst="roundRect">
            <a:avLst>
              <a:gd name="adj" fmla="val 35294"/>
            </a:avLst>
          </a:prstGeom>
          <a:solidFill>
            <a:srgbClr val="FFFFFF"/>
          </a:solidFill>
          <a:ln w="12700">
            <a:solidFill>
              <a:srgbClr val="0D7377"/>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253" name="Text 45">
            <a:extLst>
              <a:ext uri="{FF2B5EF4-FFF2-40B4-BE49-F238E27FC236}">
                <a16:creationId xmlns:a16="http://schemas.microsoft.com/office/drawing/2014/main" id="{7CE38A7E-B59E-4734-BBB2-CDBD38980874}"/>
              </a:ext>
            </a:extLst>
          </p:cNvPr>
          <p:cNvSpPr/>
          <p:nvPr/>
        </p:nvSpPr>
        <p:spPr>
          <a:xfrm>
            <a:off x="4224771" y="4765410"/>
            <a:ext cx="1536192" cy="310896"/>
          </a:xfrm>
          <a:prstGeom prst="rect">
            <a:avLst/>
          </a:prstGeom>
          <a:noFill/>
          <a:ln/>
        </p:spPr>
        <p:txBody>
          <a:bodyPr wrap="square" lIns="0" tIns="0" rIns="0" bIns="0" rtlCol="0" anchor="ctr"/>
          <a:lstStyle/>
          <a:p>
            <a:pPr marL="0" indent="0" algn="ctr">
              <a:buNone/>
            </a:pPr>
            <a:r>
              <a:rPr lang="en-US" sz="950" b="1" dirty="0" err="1">
                <a:latin typeface="メイリオ" panose="020B0604030504040204" pitchFamily="50" charset="-128"/>
                <a:ea typeface="メイリオ" panose="020B0604030504040204" pitchFamily="50" charset="-128"/>
                <a:cs typeface="Calibri" pitchFamily="34" charset="-120"/>
              </a:rPr>
              <a:t>テンプレを受け取る</a:t>
            </a:r>
            <a:endParaRPr lang="en-US" sz="950" dirty="0">
              <a:latin typeface="メイリオ" panose="020B0604030504040204" pitchFamily="50" charset="-128"/>
              <a:ea typeface="メイリオ" panose="020B0604030504040204" pitchFamily="50" charset="-128"/>
            </a:endParaRPr>
          </a:p>
        </p:txBody>
      </p:sp>
      <p:sp>
        <p:nvSpPr>
          <p:cNvPr id="255" name="Shape 46">
            <a:extLst>
              <a:ext uri="{FF2B5EF4-FFF2-40B4-BE49-F238E27FC236}">
                <a16:creationId xmlns:a16="http://schemas.microsoft.com/office/drawing/2014/main" id="{AE76465E-F5D4-326A-00DE-566AF4D0ED4F}"/>
              </a:ext>
            </a:extLst>
          </p:cNvPr>
          <p:cNvSpPr/>
          <p:nvPr/>
        </p:nvSpPr>
        <p:spPr>
          <a:xfrm>
            <a:off x="5925555" y="1835845"/>
            <a:ext cx="1719072" cy="3363172"/>
          </a:xfrm>
          <a:prstGeom prst="roundRect">
            <a:avLst>
              <a:gd name="adj" fmla="val 3191"/>
            </a:avLst>
          </a:prstGeom>
          <a:solidFill>
            <a:srgbClr val="FFFFFF"/>
          </a:solidFill>
          <a:ln w="12700">
            <a:solidFill>
              <a:srgbClr val="DDDDDD"/>
            </a:solidFill>
            <a:prstDash val="solid"/>
          </a:ln>
          <a:effectLst>
            <a:outerShdw blurRad="38100" dist="12700" dir="8100000" algn="bl" rotWithShape="0">
              <a:srgbClr val="AAAAAA">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257" name="Shape 47">
            <a:extLst>
              <a:ext uri="{FF2B5EF4-FFF2-40B4-BE49-F238E27FC236}">
                <a16:creationId xmlns:a16="http://schemas.microsoft.com/office/drawing/2014/main" id="{4CE9A042-BEA8-8E3F-7458-7B837D4C3B49}"/>
              </a:ext>
            </a:extLst>
          </p:cNvPr>
          <p:cNvSpPr/>
          <p:nvPr/>
        </p:nvSpPr>
        <p:spPr>
          <a:xfrm>
            <a:off x="5925555" y="1835845"/>
            <a:ext cx="1719072" cy="585216"/>
          </a:xfrm>
          <a:prstGeom prst="roundRect">
            <a:avLst>
              <a:gd name="adj" fmla="val 9375"/>
            </a:avLst>
          </a:prstGeom>
          <a:solidFill>
            <a:schemeClr val="tx2">
              <a:lumMod val="60000"/>
              <a:lumOff val="40000"/>
            </a:schemeClr>
          </a:solidFill>
          <a:ln w="12700">
            <a:no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259" name="Text 48">
            <a:extLst>
              <a:ext uri="{FF2B5EF4-FFF2-40B4-BE49-F238E27FC236}">
                <a16:creationId xmlns:a16="http://schemas.microsoft.com/office/drawing/2014/main" id="{7AF37BD4-4646-F464-3A02-960B3183EDAC}"/>
              </a:ext>
            </a:extLst>
          </p:cNvPr>
          <p:cNvSpPr/>
          <p:nvPr/>
        </p:nvSpPr>
        <p:spPr>
          <a:xfrm>
            <a:off x="6016995" y="1872421"/>
            <a:ext cx="1536192" cy="274320"/>
          </a:xfrm>
          <a:prstGeom prst="rect">
            <a:avLst/>
          </a:prstGeom>
          <a:noFill/>
          <a:ln>
            <a:noFill/>
          </a:ln>
        </p:spPr>
        <p:txBody>
          <a:bodyPr wrap="square" lIns="0" tIns="0" rIns="0" bIns="0" rtlCol="0" anchor="ctr"/>
          <a:lstStyle/>
          <a:p>
            <a:pPr marL="0" indent="0" algn="ctr">
              <a:buNone/>
            </a:pPr>
            <a:r>
              <a:rPr lang="en-US" sz="1500" b="1" dirty="0">
                <a:solidFill>
                  <a:srgbClr val="FFFFFF"/>
                </a:solidFill>
                <a:latin typeface="メイリオ" panose="020B0604030504040204" pitchFamily="50" charset="-128"/>
                <a:ea typeface="メイリオ" panose="020B0604030504040204" pitchFamily="50" charset="-128"/>
                <a:cs typeface="Calibri" pitchFamily="34" charset="-120"/>
              </a:rPr>
              <a:t>Day8〜9</a:t>
            </a:r>
            <a:endParaRPr lang="en-US" sz="1500" dirty="0">
              <a:latin typeface="メイリオ" panose="020B0604030504040204" pitchFamily="50" charset="-128"/>
              <a:ea typeface="メイリオ" panose="020B0604030504040204" pitchFamily="50" charset="-128"/>
            </a:endParaRPr>
          </a:p>
        </p:txBody>
      </p:sp>
      <p:sp>
        <p:nvSpPr>
          <p:cNvPr id="261" name="Text 49">
            <a:extLst>
              <a:ext uri="{FF2B5EF4-FFF2-40B4-BE49-F238E27FC236}">
                <a16:creationId xmlns:a16="http://schemas.microsoft.com/office/drawing/2014/main" id="{A2C54EA1-48FF-25BB-CAB7-CF9E2CE2A6BE}"/>
              </a:ext>
            </a:extLst>
          </p:cNvPr>
          <p:cNvSpPr/>
          <p:nvPr/>
        </p:nvSpPr>
        <p:spPr>
          <a:xfrm>
            <a:off x="6016995" y="2146741"/>
            <a:ext cx="1536192" cy="201168"/>
          </a:xfrm>
          <a:prstGeom prst="rect">
            <a:avLst/>
          </a:prstGeom>
          <a:noFill/>
          <a:ln>
            <a:noFill/>
          </a:ln>
        </p:spPr>
        <p:txBody>
          <a:bodyPr wrap="square" lIns="0" tIns="0" rIns="0" bIns="0" rtlCol="0" anchor="ctr"/>
          <a:lstStyle/>
          <a:p>
            <a:pPr marL="0" indent="0" algn="ctr">
              <a:buNone/>
            </a:pPr>
            <a:r>
              <a:rPr lang="en-US" sz="900" dirty="0">
                <a:solidFill>
                  <a:srgbClr val="D0E8FF"/>
                </a:solidFill>
                <a:latin typeface="メイリオ" panose="020B0604030504040204" pitchFamily="50" charset="-128"/>
                <a:ea typeface="メイリオ" panose="020B0604030504040204" pitchFamily="50" charset="-128"/>
                <a:cs typeface="Calibri" pitchFamily="34" charset="-120"/>
              </a:rPr>
              <a:t>他社比較・選び方</a:t>
            </a:r>
            <a:endParaRPr lang="en-US" sz="900" dirty="0">
              <a:latin typeface="メイリオ" panose="020B0604030504040204" pitchFamily="50" charset="-128"/>
              <a:ea typeface="メイリオ" panose="020B0604030504040204" pitchFamily="50" charset="-128"/>
            </a:endParaRPr>
          </a:p>
        </p:txBody>
      </p:sp>
      <p:sp>
        <p:nvSpPr>
          <p:cNvPr id="263" name="Text 50">
            <a:extLst>
              <a:ext uri="{FF2B5EF4-FFF2-40B4-BE49-F238E27FC236}">
                <a16:creationId xmlns:a16="http://schemas.microsoft.com/office/drawing/2014/main" id="{471AEB23-B4DA-3C81-62CB-E912A644460B}"/>
              </a:ext>
            </a:extLst>
          </p:cNvPr>
          <p:cNvSpPr/>
          <p:nvPr/>
        </p:nvSpPr>
        <p:spPr>
          <a:xfrm>
            <a:off x="6035283" y="2494213"/>
            <a:ext cx="1499616" cy="530352"/>
          </a:xfrm>
          <a:prstGeom prst="rect">
            <a:avLst/>
          </a:prstGeom>
          <a:noFill/>
          <a:ln/>
        </p:spPr>
        <p:txBody>
          <a:bodyPr wrap="square" lIns="0" tIns="0" rIns="0" bIns="0" rtlCol="0" anchor="ctr"/>
          <a:lstStyle/>
          <a:p>
            <a:pPr marL="0" indent="0">
              <a:lnSpc>
                <a:spcPct val="130000"/>
              </a:lnSpc>
              <a:buNone/>
            </a:pPr>
            <a:r>
              <a:rPr lang="en-US" sz="1200" b="1" dirty="0">
                <a:solidFill>
                  <a:schemeClr val="accent1"/>
                </a:solidFill>
                <a:latin typeface="メイリオ" panose="020B0604030504040204" pitchFamily="50" charset="-128"/>
                <a:ea typeface="メイリオ" panose="020B0604030504040204" pitchFamily="50" charset="-128"/>
                <a:cs typeface="Calibri" pitchFamily="34" charset="-120"/>
              </a:rPr>
              <a:t>エージェントの</a:t>
            </a:r>
            <a:endParaRPr lang="en-US" sz="1200" dirty="0">
              <a:solidFill>
                <a:schemeClr val="accent1"/>
              </a:solidFill>
              <a:latin typeface="メイリオ" panose="020B0604030504040204" pitchFamily="50" charset="-128"/>
              <a:ea typeface="メイリオ" panose="020B0604030504040204" pitchFamily="50" charset="-128"/>
            </a:endParaRPr>
          </a:p>
          <a:p>
            <a:pPr marL="0" indent="0">
              <a:lnSpc>
                <a:spcPct val="130000"/>
              </a:lnSpc>
              <a:buNone/>
            </a:pPr>
            <a:r>
              <a:rPr lang="en-US" sz="1200" b="1" dirty="0" err="1">
                <a:solidFill>
                  <a:schemeClr val="accent1"/>
                </a:solidFill>
                <a:latin typeface="メイリオ" panose="020B0604030504040204" pitchFamily="50" charset="-128"/>
                <a:ea typeface="メイリオ" panose="020B0604030504040204" pitchFamily="50" charset="-128"/>
                <a:cs typeface="Calibri" pitchFamily="34" charset="-120"/>
              </a:rPr>
              <a:t>選び方・比較のコツ</a:t>
            </a:r>
            <a:endParaRPr lang="en-US" sz="1200" dirty="0">
              <a:solidFill>
                <a:schemeClr val="accent1"/>
              </a:solidFill>
              <a:latin typeface="メイリオ" panose="020B0604030504040204" pitchFamily="50" charset="-128"/>
              <a:ea typeface="メイリオ" panose="020B0604030504040204" pitchFamily="50" charset="-128"/>
            </a:endParaRPr>
          </a:p>
        </p:txBody>
      </p:sp>
      <p:sp>
        <p:nvSpPr>
          <p:cNvPr id="265" name="Text 51">
            <a:extLst>
              <a:ext uri="{FF2B5EF4-FFF2-40B4-BE49-F238E27FC236}">
                <a16:creationId xmlns:a16="http://schemas.microsoft.com/office/drawing/2014/main" id="{75F01DF6-8600-1DAC-987C-C3554E20E240}"/>
              </a:ext>
            </a:extLst>
          </p:cNvPr>
          <p:cNvSpPr/>
          <p:nvPr/>
        </p:nvSpPr>
        <p:spPr>
          <a:xfrm>
            <a:off x="6035283" y="3061141"/>
            <a:ext cx="1499616" cy="749808"/>
          </a:xfrm>
          <a:prstGeom prst="rect">
            <a:avLst/>
          </a:prstGeom>
          <a:noFill/>
          <a:ln/>
        </p:spPr>
        <p:txBody>
          <a:bodyPr wrap="square" lIns="0" tIns="0" rIns="0" bIns="0" rtlCol="0" anchor="ctr"/>
          <a:lstStyle/>
          <a:p>
            <a:pPr marL="0" indent="0">
              <a:lnSpc>
                <a:spcPct val="140000"/>
              </a:lnSpc>
              <a:buNone/>
            </a:pPr>
            <a:r>
              <a:rPr lang="en-US" sz="700" dirty="0">
                <a:solidFill>
                  <a:srgbClr val="494848"/>
                </a:solidFill>
                <a:latin typeface="メイリオ" panose="020B0604030504040204" pitchFamily="50" charset="-128"/>
                <a:ea typeface="メイリオ" panose="020B0604030504040204" pitchFamily="50" charset="-128"/>
                <a:cs typeface="Calibri" pitchFamily="34" charset="-120"/>
              </a:rPr>
              <a:t>弊社の強み（USP）を</a:t>
            </a:r>
            <a:endParaRPr lang="en-US" sz="700" dirty="0">
              <a:latin typeface="メイリオ" panose="020B0604030504040204" pitchFamily="50" charset="-128"/>
              <a:ea typeface="メイリオ" panose="020B0604030504040204" pitchFamily="50" charset="-128"/>
            </a:endParaRPr>
          </a:p>
          <a:p>
            <a:pPr marL="0" indent="0">
              <a:lnSpc>
                <a:spcPct val="140000"/>
              </a:lnSpc>
              <a:buNone/>
            </a:pPr>
            <a:r>
              <a:rPr lang="en-US" sz="700" dirty="0">
                <a:solidFill>
                  <a:srgbClr val="494848"/>
                </a:solidFill>
                <a:latin typeface="メイリオ" panose="020B0604030504040204" pitchFamily="50" charset="-128"/>
                <a:ea typeface="メイリオ" panose="020B0604030504040204" pitchFamily="50" charset="-128"/>
                <a:cs typeface="Calibri" pitchFamily="34" charset="-120"/>
              </a:rPr>
              <a:t>他社比較で訴求</a:t>
            </a:r>
            <a:endParaRPr lang="en-US" sz="700" dirty="0">
              <a:latin typeface="メイリオ" panose="020B0604030504040204" pitchFamily="50" charset="-128"/>
              <a:ea typeface="メイリオ" panose="020B0604030504040204" pitchFamily="50" charset="-128"/>
            </a:endParaRPr>
          </a:p>
          <a:p>
            <a:pPr marL="0" indent="0">
              <a:lnSpc>
                <a:spcPct val="140000"/>
              </a:lnSpc>
              <a:buNone/>
            </a:pPr>
            <a:r>
              <a:rPr lang="en-US" sz="700" dirty="0">
                <a:solidFill>
                  <a:srgbClr val="494848"/>
                </a:solidFill>
                <a:latin typeface="メイリオ" panose="020B0604030504040204" pitchFamily="50" charset="-128"/>
                <a:ea typeface="メイリオ" panose="020B0604030504040204" pitchFamily="50" charset="-128"/>
                <a:cs typeface="Calibri" pitchFamily="34" charset="-120"/>
              </a:rPr>
              <a:t>ユーザーの声・実績数値で</a:t>
            </a:r>
            <a:endParaRPr lang="en-US" sz="700" dirty="0">
              <a:latin typeface="メイリオ" panose="020B0604030504040204" pitchFamily="50" charset="-128"/>
              <a:ea typeface="メイリオ" panose="020B0604030504040204" pitchFamily="50" charset="-128"/>
            </a:endParaRPr>
          </a:p>
          <a:p>
            <a:pPr marL="0" indent="0">
              <a:lnSpc>
                <a:spcPct val="140000"/>
              </a:lnSpc>
              <a:buNone/>
            </a:pPr>
            <a:r>
              <a:rPr lang="en-US" sz="700" dirty="0">
                <a:solidFill>
                  <a:srgbClr val="494848"/>
                </a:solidFill>
                <a:latin typeface="メイリオ" panose="020B0604030504040204" pitchFamily="50" charset="-128"/>
                <a:ea typeface="メイリオ" panose="020B0604030504040204" pitchFamily="50" charset="-128"/>
                <a:cs typeface="Calibri" pitchFamily="34" charset="-120"/>
              </a:rPr>
              <a:t>信頼醸成</a:t>
            </a:r>
            <a:endParaRPr lang="en-US" sz="700" dirty="0">
              <a:latin typeface="メイリオ" panose="020B0604030504040204" pitchFamily="50" charset="-128"/>
              <a:ea typeface="メイリオ" panose="020B0604030504040204" pitchFamily="50" charset="-128"/>
            </a:endParaRPr>
          </a:p>
          <a:p>
            <a:pPr marL="0" indent="0">
              <a:lnSpc>
                <a:spcPct val="140000"/>
              </a:lnSpc>
              <a:buNone/>
            </a:pPr>
            <a:r>
              <a:rPr lang="en-US" sz="700" dirty="0">
                <a:solidFill>
                  <a:srgbClr val="494848"/>
                </a:solidFill>
                <a:latin typeface="メイリオ" panose="020B0604030504040204" pitchFamily="50" charset="-128"/>
                <a:ea typeface="メイリオ" panose="020B0604030504040204" pitchFamily="50" charset="-128"/>
                <a:cs typeface="Calibri" pitchFamily="34" charset="-120"/>
              </a:rPr>
              <a:t>LINE限定キャンペーン予告</a:t>
            </a:r>
            <a:endParaRPr lang="en-US" sz="700" dirty="0">
              <a:latin typeface="メイリオ" panose="020B0604030504040204" pitchFamily="50" charset="-128"/>
              <a:ea typeface="メイリオ" panose="020B0604030504040204" pitchFamily="50" charset="-128"/>
            </a:endParaRPr>
          </a:p>
        </p:txBody>
      </p:sp>
      <p:sp>
        <p:nvSpPr>
          <p:cNvPr id="267" name="Shape 52">
            <a:extLst>
              <a:ext uri="{FF2B5EF4-FFF2-40B4-BE49-F238E27FC236}">
                <a16:creationId xmlns:a16="http://schemas.microsoft.com/office/drawing/2014/main" id="{81626C02-0128-391F-1AF0-59D225D419BC}"/>
              </a:ext>
            </a:extLst>
          </p:cNvPr>
          <p:cNvSpPr/>
          <p:nvPr/>
        </p:nvSpPr>
        <p:spPr>
          <a:xfrm>
            <a:off x="6016995" y="3960738"/>
            <a:ext cx="1536192" cy="694944"/>
          </a:xfrm>
          <a:prstGeom prst="roundRect">
            <a:avLst>
              <a:gd name="adj" fmla="val 6579"/>
            </a:avLst>
          </a:prstGeom>
          <a:solidFill>
            <a:srgbClr val="F5F5F5"/>
          </a:solidFill>
          <a:ln w="12700">
            <a:solidFill>
              <a:srgbClr val="DDDDDD"/>
            </a:solidFill>
            <a:prstDash val="solid"/>
          </a:ln>
        </p:spPr>
        <p:txBody>
          <a:bodyPr/>
          <a:lstStyle/>
          <a:p>
            <a:endParaRPr lang="ja-JP" altLang="en-US" sz="1400">
              <a:latin typeface="メイリオ" panose="020B0604030504040204" pitchFamily="50" charset="-128"/>
              <a:ea typeface="メイリオ" panose="020B0604030504040204" pitchFamily="50" charset="-128"/>
            </a:endParaRPr>
          </a:p>
        </p:txBody>
      </p:sp>
      <p:sp>
        <p:nvSpPr>
          <p:cNvPr id="269" name="Text 53">
            <a:extLst>
              <a:ext uri="{FF2B5EF4-FFF2-40B4-BE49-F238E27FC236}">
                <a16:creationId xmlns:a16="http://schemas.microsoft.com/office/drawing/2014/main" id="{6A730545-9554-14ED-6B2A-1B88A1389EEA}"/>
              </a:ext>
            </a:extLst>
          </p:cNvPr>
          <p:cNvSpPr/>
          <p:nvPr/>
        </p:nvSpPr>
        <p:spPr>
          <a:xfrm>
            <a:off x="6090147" y="3997314"/>
            <a:ext cx="1389888" cy="128016"/>
          </a:xfrm>
          <a:prstGeom prst="rect">
            <a:avLst/>
          </a:prstGeom>
          <a:noFill/>
          <a:ln/>
        </p:spPr>
        <p:txBody>
          <a:bodyPr wrap="square" lIns="0" tIns="0" rIns="0" bIns="0" rtlCol="0" anchor="ctr"/>
          <a:lstStyle/>
          <a:p>
            <a:pPr marL="0" indent="0">
              <a:buNone/>
            </a:pPr>
            <a:r>
              <a:rPr lang="en-US" sz="500" b="1" dirty="0">
                <a:solidFill>
                  <a:srgbClr val="888888"/>
                </a:solidFill>
                <a:latin typeface="メイリオ" panose="020B0604030504040204" pitchFamily="50" charset="-128"/>
                <a:ea typeface="メイリオ" panose="020B0604030504040204" pitchFamily="50" charset="-128"/>
                <a:cs typeface="Calibri" pitchFamily="34" charset="-120"/>
              </a:rPr>
              <a:t>[検索データ]</a:t>
            </a:r>
            <a:endParaRPr lang="en-US" sz="500" dirty="0">
              <a:latin typeface="メイリオ" panose="020B0604030504040204" pitchFamily="50" charset="-128"/>
              <a:ea typeface="メイリオ" panose="020B0604030504040204" pitchFamily="50" charset="-128"/>
            </a:endParaRPr>
          </a:p>
        </p:txBody>
      </p:sp>
      <p:sp>
        <p:nvSpPr>
          <p:cNvPr id="271" name="Text 54">
            <a:extLst>
              <a:ext uri="{FF2B5EF4-FFF2-40B4-BE49-F238E27FC236}">
                <a16:creationId xmlns:a16="http://schemas.microsoft.com/office/drawing/2014/main" id="{D66B723A-593B-D13D-0018-C9E7DAEBCB1C}"/>
              </a:ext>
            </a:extLst>
          </p:cNvPr>
          <p:cNvSpPr/>
          <p:nvPr/>
        </p:nvSpPr>
        <p:spPr>
          <a:xfrm>
            <a:off x="6090147" y="4143618"/>
            <a:ext cx="1389888" cy="493776"/>
          </a:xfrm>
          <a:prstGeom prst="rect">
            <a:avLst/>
          </a:prstGeom>
          <a:noFill/>
          <a:ln/>
        </p:spPr>
        <p:txBody>
          <a:bodyPr wrap="square" lIns="0" tIns="0" rIns="0" bIns="0" rtlCol="0" anchor="ctr"/>
          <a:lstStyle/>
          <a:p>
            <a:pPr marL="0" indent="0">
              <a:lnSpc>
                <a:spcPct val="135000"/>
              </a:lnSpc>
              <a:buNone/>
            </a:pPr>
            <a:r>
              <a:rPr lang="en-US" sz="600" dirty="0">
                <a:solidFill>
                  <a:srgbClr val="494848"/>
                </a:solidFill>
                <a:latin typeface="メイリオ" panose="020B0604030504040204" pitchFamily="50" charset="-128"/>
                <a:ea typeface="メイリオ" panose="020B0604030504040204" pitchFamily="50" charset="-128"/>
                <a:cs typeface="Calibri" pitchFamily="34" charset="-120"/>
              </a:rPr>
              <a:t>「リクルートエージェント 評判」「ハタラクティブ」「ビズリーチ 評判」等のブランド比較検索が+3〜+7日に集中。比較フェーズに完全対応</a:t>
            </a:r>
            <a:endParaRPr lang="en-US" sz="600" dirty="0">
              <a:latin typeface="メイリオ" panose="020B0604030504040204" pitchFamily="50" charset="-128"/>
              <a:ea typeface="メイリオ" panose="020B0604030504040204" pitchFamily="50" charset="-128"/>
            </a:endParaRPr>
          </a:p>
        </p:txBody>
      </p:sp>
      <p:sp>
        <p:nvSpPr>
          <p:cNvPr id="273" name="Shape 55">
            <a:extLst>
              <a:ext uri="{FF2B5EF4-FFF2-40B4-BE49-F238E27FC236}">
                <a16:creationId xmlns:a16="http://schemas.microsoft.com/office/drawing/2014/main" id="{83516F18-5DB0-D001-7E95-B25134EA6409}"/>
              </a:ext>
            </a:extLst>
          </p:cNvPr>
          <p:cNvSpPr/>
          <p:nvPr/>
        </p:nvSpPr>
        <p:spPr>
          <a:xfrm>
            <a:off x="6016995" y="4765410"/>
            <a:ext cx="1536192" cy="310896"/>
          </a:xfrm>
          <a:prstGeom prst="roundRect">
            <a:avLst>
              <a:gd name="adj" fmla="val 35294"/>
            </a:avLst>
          </a:prstGeom>
          <a:solidFill>
            <a:srgbClr val="FFFFFF"/>
          </a:solidFill>
          <a:ln w="12700">
            <a:solidFill>
              <a:srgbClr val="2E7D32"/>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275" name="Text 56">
            <a:extLst>
              <a:ext uri="{FF2B5EF4-FFF2-40B4-BE49-F238E27FC236}">
                <a16:creationId xmlns:a16="http://schemas.microsoft.com/office/drawing/2014/main" id="{6F27A7FC-1886-3E15-FE13-B49B5E6B58C4}"/>
              </a:ext>
            </a:extLst>
          </p:cNvPr>
          <p:cNvSpPr/>
          <p:nvPr/>
        </p:nvSpPr>
        <p:spPr>
          <a:xfrm>
            <a:off x="6016995" y="4765410"/>
            <a:ext cx="1536192" cy="310896"/>
          </a:xfrm>
          <a:prstGeom prst="rect">
            <a:avLst/>
          </a:prstGeom>
          <a:noFill/>
          <a:ln/>
        </p:spPr>
        <p:txBody>
          <a:bodyPr wrap="square" lIns="0" tIns="0" rIns="0" bIns="0" rtlCol="0" anchor="ctr"/>
          <a:lstStyle/>
          <a:p>
            <a:pPr marL="0" indent="0" algn="ctr">
              <a:buNone/>
            </a:pPr>
            <a:r>
              <a:rPr lang="en-US" sz="950" b="1" dirty="0" err="1">
                <a:latin typeface="メイリオ" panose="020B0604030504040204" pitchFamily="50" charset="-128"/>
                <a:ea typeface="メイリオ" panose="020B0604030504040204" pitchFamily="50" charset="-128"/>
                <a:cs typeface="Calibri" pitchFamily="34" charset="-120"/>
              </a:rPr>
              <a:t>事例・ユーザーの声</a:t>
            </a:r>
            <a:endParaRPr lang="en-US" sz="950" dirty="0">
              <a:latin typeface="メイリオ" panose="020B0604030504040204" pitchFamily="50" charset="-128"/>
              <a:ea typeface="メイリオ" panose="020B0604030504040204" pitchFamily="50" charset="-128"/>
            </a:endParaRPr>
          </a:p>
        </p:txBody>
      </p:sp>
      <p:sp>
        <p:nvSpPr>
          <p:cNvPr id="277" name="Shape 46">
            <a:extLst>
              <a:ext uri="{FF2B5EF4-FFF2-40B4-BE49-F238E27FC236}">
                <a16:creationId xmlns:a16="http://schemas.microsoft.com/office/drawing/2014/main" id="{81FDC777-C320-5C75-D3A4-A08DD76D7E5F}"/>
              </a:ext>
            </a:extLst>
          </p:cNvPr>
          <p:cNvSpPr/>
          <p:nvPr/>
        </p:nvSpPr>
        <p:spPr>
          <a:xfrm>
            <a:off x="7740422" y="1835845"/>
            <a:ext cx="1719072" cy="3363172"/>
          </a:xfrm>
          <a:prstGeom prst="roundRect">
            <a:avLst>
              <a:gd name="adj" fmla="val 3191"/>
            </a:avLst>
          </a:prstGeom>
          <a:solidFill>
            <a:srgbClr val="FFFFFF"/>
          </a:solidFill>
          <a:ln w="12700">
            <a:solidFill>
              <a:srgbClr val="DDDDDD"/>
            </a:solidFill>
            <a:prstDash val="solid"/>
          </a:ln>
          <a:effectLst>
            <a:outerShdw blurRad="38100" dist="12700" dir="8100000" algn="bl" rotWithShape="0">
              <a:srgbClr val="AAAAAA">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279" name="Shape 47">
            <a:extLst>
              <a:ext uri="{FF2B5EF4-FFF2-40B4-BE49-F238E27FC236}">
                <a16:creationId xmlns:a16="http://schemas.microsoft.com/office/drawing/2014/main" id="{3035F905-AAB5-7BEB-2025-12D56AFD692F}"/>
              </a:ext>
            </a:extLst>
          </p:cNvPr>
          <p:cNvSpPr/>
          <p:nvPr/>
        </p:nvSpPr>
        <p:spPr>
          <a:xfrm>
            <a:off x="7740422" y="1835845"/>
            <a:ext cx="1719072" cy="585216"/>
          </a:xfrm>
          <a:prstGeom prst="roundRect">
            <a:avLst>
              <a:gd name="adj" fmla="val 9375"/>
            </a:avLst>
          </a:prstGeom>
          <a:solidFill>
            <a:srgbClr val="FF0000"/>
          </a:solidFill>
          <a:ln w="12700">
            <a:no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281" name="Text 48">
            <a:extLst>
              <a:ext uri="{FF2B5EF4-FFF2-40B4-BE49-F238E27FC236}">
                <a16:creationId xmlns:a16="http://schemas.microsoft.com/office/drawing/2014/main" id="{68E2156B-2D0C-D7CD-E58E-0CEE790D2936}"/>
              </a:ext>
            </a:extLst>
          </p:cNvPr>
          <p:cNvSpPr/>
          <p:nvPr/>
        </p:nvSpPr>
        <p:spPr>
          <a:xfrm>
            <a:off x="7831862" y="1872421"/>
            <a:ext cx="1536192" cy="274320"/>
          </a:xfrm>
          <a:prstGeom prst="rect">
            <a:avLst/>
          </a:prstGeom>
          <a:noFill/>
          <a:ln>
            <a:noFill/>
          </a:ln>
        </p:spPr>
        <p:txBody>
          <a:bodyPr wrap="square" lIns="0" tIns="0" rIns="0" bIns="0" rtlCol="0" anchor="ctr"/>
          <a:lstStyle/>
          <a:p>
            <a:pPr marL="0" indent="0" algn="ctr">
              <a:buNone/>
            </a:pPr>
            <a:r>
              <a:rPr lang="en-US" sz="1500" b="1" dirty="0">
                <a:solidFill>
                  <a:srgbClr val="FFFFFF"/>
                </a:solidFill>
                <a:latin typeface="メイリオ" panose="020B0604030504040204" pitchFamily="50" charset="-128"/>
                <a:ea typeface="メイリオ" panose="020B0604030504040204" pitchFamily="50" charset="-128"/>
                <a:cs typeface="Calibri" pitchFamily="34" charset="-120"/>
              </a:rPr>
              <a:t>Day12〜15</a:t>
            </a:r>
            <a:endParaRPr lang="en-US" sz="1500" dirty="0">
              <a:latin typeface="メイリオ" panose="020B0604030504040204" pitchFamily="50" charset="-128"/>
              <a:ea typeface="メイリオ" panose="020B0604030504040204" pitchFamily="50" charset="-128"/>
            </a:endParaRPr>
          </a:p>
        </p:txBody>
      </p:sp>
      <p:sp>
        <p:nvSpPr>
          <p:cNvPr id="283" name="Text 49">
            <a:extLst>
              <a:ext uri="{FF2B5EF4-FFF2-40B4-BE49-F238E27FC236}">
                <a16:creationId xmlns:a16="http://schemas.microsoft.com/office/drawing/2014/main" id="{D56A2492-EC40-760E-3C3E-A80DBBA1A3A6}"/>
              </a:ext>
            </a:extLst>
          </p:cNvPr>
          <p:cNvSpPr/>
          <p:nvPr/>
        </p:nvSpPr>
        <p:spPr>
          <a:xfrm>
            <a:off x="7831862" y="2146741"/>
            <a:ext cx="1536192" cy="201168"/>
          </a:xfrm>
          <a:prstGeom prst="rect">
            <a:avLst/>
          </a:prstGeom>
          <a:noFill/>
          <a:ln>
            <a:noFill/>
          </a:ln>
        </p:spPr>
        <p:txBody>
          <a:bodyPr wrap="square" lIns="0" tIns="0" rIns="0" bIns="0" rtlCol="0" anchor="ctr"/>
          <a:lstStyle/>
          <a:p>
            <a:pPr marL="0" indent="0" algn="ctr">
              <a:buNone/>
            </a:pPr>
            <a:r>
              <a:rPr lang="en-US" sz="900" dirty="0">
                <a:solidFill>
                  <a:srgbClr val="D0E8FF"/>
                </a:solidFill>
                <a:latin typeface="メイリオ" panose="020B0604030504040204" pitchFamily="50" charset="-128"/>
                <a:ea typeface="メイリオ" panose="020B0604030504040204" pitchFamily="50" charset="-128"/>
                <a:cs typeface="Calibri" pitchFamily="34" charset="-120"/>
              </a:rPr>
              <a:t>相談オファー</a:t>
            </a:r>
            <a:endParaRPr lang="en-US" sz="900" dirty="0">
              <a:latin typeface="メイリオ" panose="020B0604030504040204" pitchFamily="50" charset="-128"/>
              <a:ea typeface="メイリオ" panose="020B0604030504040204" pitchFamily="50" charset="-128"/>
            </a:endParaRPr>
          </a:p>
        </p:txBody>
      </p:sp>
      <p:sp>
        <p:nvSpPr>
          <p:cNvPr id="285" name="Text 50">
            <a:extLst>
              <a:ext uri="{FF2B5EF4-FFF2-40B4-BE49-F238E27FC236}">
                <a16:creationId xmlns:a16="http://schemas.microsoft.com/office/drawing/2014/main" id="{A0703C68-0981-D8D2-C5DE-76BA82B621A9}"/>
              </a:ext>
            </a:extLst>
          </p:cNvPr>
          <p:cNvSpPr/>
          <p:nvPr/>
        </p:nvSpPr>
        <p:spPr>
          <a:xfrm>
            <a:off x="7850150" y="2494213"/>
            <a:ext cx="1499616" cy="530352"/>
          </a:xfrm>
          <a:prstGeom prst="rect">
            <a:avLst/>
          </a:prstGeom>
          <a:noFill/>
          <a:ln/>
        </p:spPr>
        <p:txBody>
          <a:bodyPr wrap="square" lIns="0" tIns="0" rIns="0" bIns="0" rtlCol="0" anchor="ctr"/>
          <a:lstStyle/>
          <a:p>
            <a:pPr marL="0" indent="0">
              <a:lnSpc>
                <a:spcPct val="130000"/>
              </a:lnSpc>
              <a:buNone/>
            </a:pPr>
            <a:r>
              <a:rPr lang="ja-JP" altLang="en-US" sz="1200" b="1" dirty="0">
                <a:solidFill>
                  <a:srgbClr val="FF0000"/>
                </a:solidFill>
                <a:latin typeface="メイリオ" panose="020B0604030504040204" pitchFamily="50" charset="-128"/>
                <a:ea typeface="メイリオ" panose="020B0604030504040204" pitchFamily="50" charset="-128"/>
                <a:cs typeface="Calibri" pitchFamily="34" charset="-120"/>
              </a:rPr>
              <a:t>優先相談窓口へ</a:t>
            </a:r>
            <a:endParaRPr lang="en-US" sz="1200" dirty="0">
              <a:solidFill>
                <a:srgbClr val="FF0000"/>
              </a:solidFill>
              <a:latin typeface="メイリオ" panose="020B0604030504040204" pitchFamily="50" charset="-128"/>
              <a:ea typeface="メイリオ" panose="020B0604030504040204" pitchFamily="50" charset="-128"/>
            </a:endParaRPr>
          </a:p>
        </p:txBody>
      </p:sp>
      <p:sp>
        <p:nvSpPr>
          <p:cNvPr id="287" name="Text 51">
            <a:extLst>
              <a:ext uri="{FF2B5EF4-FFF2-40B4-BE49-F238E27FC236}">
                <a16:creationId xmlns:a16="http://schemas.microsoft.com/office/drawing/2014/main" id="{CBAD27DA-89EF-E7ED-15D2-58AF159CACA9}"/>
              </a:ext>
            </a:extLst>
          </p:cNvPr>
          <p:cNvSpPr/>
          <p:nvPr/>
        </p:nvSpPr>
        <p:spPr>
          <a:xfrm>
            <a:off x="7850150" y="3061141"/>
            <a:ext cx="1499616" cy="749808"/>
          </a:xfrm>
          <a:prstGeom prst="rect">
            <a:avLst/>
          </a:prstGeom>
          <a:noFill/>
          <a:ln/>
        </p:spPr>
        <p:txBody>
          <a:bodyPr wrap="square" lIns="0" tIns="0" rIns="0" bIns="0" rtlCol="0" anchor="ctr"/>
          <a:lstStyle/>
          <a:p>
            <a:pPr marL="0" indent="0">
              <a:lnSpc>
                <a:spcPct val="140000"/>
              </a:lnSpc>
              <a:buNone/>
            </a:pPr>
            <a:r>
              <a:rPr lang="ja-JP" altLang="en-US" sz="700" dirty="0">
                <a:solidFill>
                  <a:srgbClr val="494848"/>
                </a:solidFill>
                <a:latin typeface="メイリオ" panose="020B0604030504040204" pitchFamily="50" charset="-128"/>
                <a:ea typeface="メイリオ" panose="020B0604030504040204" pitchFamily="50" charset="-128"/>
                <a:cs typeface="Calibri" pitchFamily="34" charset="-120"/>
              </a:rPr>
              <a:t>担当キャリア</a:t>
            </a:r>
          </a:p>
          <a:p>
            <a:pPr marL="0" indent="0">
              <a:lnSpc>
                <a:spcPct val="140000"/>
              </a:lnSpc>
              <a:buNone/>
            </a:pPr>
            <a:r>
              <a:rPr lang="ja-JP" altLang="en-US" sz="700" dirty="0">
                <a:solidFill>
                  <a:srgbClr val="494848"/>
                </a:solidFill>
                <a:latin typeface="メイリオ" panose="020B0604030504040204" pitchFamily="50" charset="-128"/>
                <a:ea typeface="メイリオ" panose="020B0604030504040204" pitchFamily="50" charset="-128"/>
                <a:cs typeface="Calibri" pitchFamily="34" charset="-120"/>
              </a:rPr>
              <a:t>アドバイザーへの</a:t>
            </a:r>
          </a:p>
          <a:p>
            <a:pPr marL="0" indent="0">
              <a:lnSpc>
                <a:spcPct val="140000"/>
              </a:lnSpc>
              <a:buNone/>
            </a:pPr>
            <a:r>
              <a:rPr lang="ja-JP" altLang="en-US" sz="700" dirty="0">
                <a:solidFill>
                  <a:srgbClr val="494848"/>
                </a:solidFill>
                <a:latin typeface="メイリオ" panose="020B0604030504040204" pitchFamily="50" charset="-128"/>
                <a:ea typeface="メイリオ" panose="020B0604030504040204" pitchFamily="50" charset="-128"/>
                <a:cs typeface="Calibri" pitchFamily="34" charset="-120"/>
              </a:rPr>
              <a:t>直接相談を誘導</a:t>
            </a:r>
          </a:p>
          <a:p>
            <a:pPr marL="0" indent="0">
              <a:lnSpc>
                <a:spcPct val="140000"/>
              </a:lnSpc>
              <a:buNone/>
            </a:pPr>
            <a:r>
              <a:rPr lang="en-US" altLang="ja-JP" sz="700" dirty="0">
                <a:solidFill>
                  <a:srgbClr val="494848"/>
                </a:solidFill>
                <a:latin typeface="メイリオ" panose="020B0604030504040204" pitchFamily="50" charset="-128"/>
                <a:ea typeface="メイリオ" panose="020B0604030504040204" pitchFamily="50" charset="-128"/>
                <a:cs typeface="Calibri" pitchFamily="34" charset="-120"/>
              </a:rPr>
              <a:t>LINE</a:t>
            </a:r>
            <a:r>
              <a:rPr lang="ja-JP" altLang="en-US" sz="700" dirty="0">
                <a:solidFill>
                  <a:srgbClr val="494848"/>
                </a:solidFill>
                <a:latin typeface="メイリオ" panose="020B0604030504040204" pitchFamily="50" charset="-128"/>
                <a:ea typeface="メイリオ" panose="020B0604030504040204" pitchFamily="50" charset="-128"/>
                <a:cs typeface="Calibri" pitchFamily="34" charset="-120"/>
              </a:rPr>
              <a:t>限定特典で後押し</a:t>
            </a:r>
          </a:p>
          <a:p>
            <a:pPr marL="0" indent="0">
              <a:lnSpc>
                <a:spcPct val="140000"/>
              </a:lnSpc>
              <a:buNone/>
            </a:pPr>
            <a:r>
              <a:rPr lang="ja-JP" altLang="en-US" sz="700" dirty="0">
                <a:solidFill>
                  <a:srgbClr val="494848"/>
                </a:solidFill>
                <a:latin typeface="メイリオ" panose="020B0604030504040204" pitchFamily="50" charset="-128"/>
                <a:ea typeface="メイリオ" panose="020B0604030504040204" pitchFamily="50" charset="-128"/>
                <a:cs typeface="Calibri" pitchFamily="34" charset="-120"/>
              </a:rPr>
              <a:t>（優先面談枠・非公開求人）</a:t>
            </a:r>
          </a:p>
        </p:txBody>
      </p:sp>
      <p:sp>
        <p:nvSpPr>
          <p:cNvPr id="289" name="Shape 52">
            <a:extLst>
              <a:ext uri="{FF2B5EF4-FFF2-40B4-BE49-F238E27FC236}">
                <a16:creationId xmlns:a16="http://schemas.microsoft.com/office/drawing/2014/main" id="{01255A9D-11A8-3A64-125C-E28C1B6380B3}"/>
              </a:ext>
            </a:extLst>
          </p:cNvPr>
          <p:cNvSpPr/>
          <p:nvPr/>
        </p:nvSpPr>
        <p:spPr>
          <a:xfrm>
            <a:off x="7831862" y="3960738"/>
            <a:ext cx="1536192" cy="694944"/>
          </a:xfrm>
          <a:prstGeom prst="roundRect">
            <a:avLst>
              <a:gd name="adj" fmla="val 6579"/>
            </a:avLst>
          </a:prstGeom>
          <a:solidFill>
            <a:srgbClr val="F5F5F5"/>
          </a:solidFill>
          <a:ln w="12700">
            <a:solidFill>
              <a:srgbClr val="DDDDDD"/>
            </a:solidFill>
            <a:prstDash val="solid"/>
          </a:ln>
        </p:spPr>
        <p:txBody>
          <a:bodyPr/>
          <a:lstStyle/>
          <a:p>
            <a:endParaRPr lang="ja-JP" altLang="en-US" sz="1400">
              <a:latin typeface="メイリオ" panose="020B0604030504040204" pitchFamily="50" charset="-128"/>
              <a:ea typeface="メイリオ" panose="020B0604030504040204" pitchFamily="50" charset="-128"/>
            </a:endParaRPr>
          </a:p>
        </p:txBody>
      </p:sp>
      <p:sp>
        <p:nvSpPr>
          <p:cNvPr id="291" name="Text 53">
            <a:extLst>
              <a:ext uri="{FF2B5EF4-FFF2-40B4-BE49-F238E27FC236}">
                <a16:creationId xmlns:a16="http://schemas.microsoft.com/office/drawing/2014/main" id="{8AE4DE94-CD9A-396B-D28D-D8148037F66F}"/>
              </a:ext>
            </a:extLst>
          </p:cNvPr>
          <p:cNvSpPr/>
          <p:nvPr/>
        </p:nvSpPr>
        <p:spPr>
          <a:xfrm>
            <a:off x="7905014" y="3997314"/>
            <a:ext cx="1389888" cy="128016"/>
          </a:xfrm>
          <a:prstGeom prst="rect">
            <a:avLst/>
          </a:prstGeom>
          <a:noFill/>
          <a:ln/>
        </p:spPr>
        <p:txBody>
          <a:bodyPr wrap="square" lIns="0" tIns="0" rIns="0" bIns="0" rtlCol="0" anchor="ctr"/>
          <a:lstStyle/>
          <a:p>
            <a:pPr marL="0" indent="0">
              <a:buNone/>
            </a:pPr>
            <a:r>
              <a:rPr lang="en-US" sz="500" b="1" dirty="0">
                <a:solidFill>
                  <a:srgbClr val="888888"/>
                </a:solidFill>
                <a:latin typeface="メイリオ" panose="020B0604030504040204" pitchFamily="50" charset="-128"/>
                <a:ea typeface="メイリオ" panose="020B0604030504040204" pitchFamily="50" charset="-128"/>
                <a:cs typeface="Calibri" pitchFamily="34" charset="-120"/>
              </a:rPr>
              <a:t>[検索データ]</a:t>
            </a:r>
            <a:endParaRPr lang="en-US" sz="500" dirty="0">
              <a:latin typeface="メイリオ" panose="020B0604030504040204" pitchFamily="50" charset="-128"/>
              <a:ea typeface="メイリオ" panose="020B0604030504040204" pitchFamily="50" charset="-128"/>
            </a:endParaRPr>
          </a:p>
        </p:txBody>
      </p:sp>
      <p:sp>
        <p:nvSpPr>
          <p:cNvPr id="293" name="Text 54">
            <a:extLst>
              <a:ext uri="{FF2B5EF4-FFF2-40B4-BE49-F238E27FC236}">
                <a16:creationId xmlns:a16="http://schemas.microsoft.com/office/drawing/2014/main" id="{8DA89E85-A3D3-6550-47A4-205B7B8B6D62}"/>
              </a:ext>
            </a:extLst>
          </p:cNvPr>
          <p:cNvSpPr/>
          <p:nvPr/>
        </p:nvSpPr>
        <p:spPr>
          <a:xfrm>
            <a:off x="7905014" y="4143618"/>
            <a:ext cx="1389888" cy="493776"/>
          </a:xfrm>
          <a:prstGeom prst="rect">
            <a:avLst/>
          </a:prstGeom>
          <a:noFill/>
          <a:ln/>
        </p:spPr>
        <p:txBody>
          <a:bodyPr wrap="square" lIns="0" tIns="0" rIns="0" bIns="0" rtlCol="0" anchor="ctr"/>
          <a:lstStyle/>
          <a:p>
            <a:pPr marL="0" indent="0">
              <a:lnSpc>
                <a:spcPct val="135000"/>
              </a:lnSpc>
              <a:buNone/>
            </a:pPr>
            <a:r>
              <a:rPr lang="ja-JP" altLang="en-US" sz="600" dirty="0">
                <a:solidFill>
                  <a:srgbClr val="494848"/>
                </a:solidFill>
                <a:latin typeface="メイリオ" panose="020B0604030504040204" pitchFamily="50" charset="-128"/>
                <a:ea typeface="メイリオ" panose="020B0604030504040204" pitchFamily="50" charset="-128"/>
                <a:cs typeface="Calibri" pitchFamily="34" charset="-120"/>
              </a:rPr>
              <a:t>追加</a:t>
            </a:r>
            <a:r>
              <a:rPr lang="en-US" altLang="ja-JP" sz="600" dirty="0">
                <a:solidFill>
                  <a:srgbClr val="494848"/>
                </a:solidFill>
                <a:latin typeface="メイリオ" panose="020B0604030504040204" pitchFamily="50" charset="-128"/>
                <a:ea typeface="メイリオ" panose="020B0604030504040204" pitchFamily="50" charset="-128"/>
                <a:cs typeface="Calibri" pitchFamily="34" charset="-120"/>
              </a:rPr>
              <a:t>15</a:t>
            </a:r>
            <a:r>
              <a:rPr lang="ja-JP" altLang="en-US" sz="600" dirty="0">
                <a:solidFill>
                  <a:srgbClr val="494848"/>
                </a:solidFill>
                <a:latin typeface="メイリオ" panose="020B0604030504040204" pitchFamily="50" charset="-128"/>
                <a:ea typeface="メイリオ" panose="020B0604030504040204" pitchFamily="50" charset="-128"/>
                <a:cs typeface="Calibri" pitchFamily="34" charset="-120"/>
              </a:rPr>
              <a:t>日後は「面接 対策」「転職 失敗 後悔」「自己分析 やり方」など実際に動き始めた層と離脱層に分かれる</a:t>
            </a:r>
          </a:p>
        </p:txBody>
      </p:sp>
      <p:sp>
        <p:nvSpPr>
          <p:cNvPr id="295" name="Shape 55">
            <a:extLst>
              <a:ext uri="{FF2B5EF4-FFF2-40B4-BE49-F238E27FC236}">
                <a16:creationId xmlns:a16="http://schemas.microsoft.com/office/drawing/2014/main" id="{517894E9-DBEF-7477-92C8-3AEB98A883F2}"/>
              </a:ext>
            </a:extLst>
          </p:cNvPr>
          <p:cNvSpPr/>
          <p:nvPr/>
        </p:nvSpPr>
        <p:spPr>
          <a:xfrm>
            <a:off x="7831862" y="4765410"/>
            <a:ext cx="1536192" cy="310896"/>
          </a:xfrm>
          <a:prstGeom prst="roundRect">
            <a:avLst>
              <a:gd name="adj" fmla="val 35294"/>
            </a:avLst>
          </a:prstGeom>
          <a:solidFill>
            <a:srgbClr val="FFFFFF"/>
          </a:solidFill>
          <a:ln w="12700">
            <a:solidFill>
              <a:srgbClr val="2E7D32"/>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297" name="Text 56">
            <a:extLst>
              <a:ext uri="{FF2B5EF4-FFF2-40B4-BE49-F238E27FC236}">
                <a16:creationId xmlns:a16="http://schemas.microsoft.com/office/drawing/2014/main" id="{DDF1E411-39CC-22B3-B963-FAA79AD524DD}"/>
              </a:ext>
            </a:extLst>
          </p:cNvPr>
          <p:cNvSpPr/>
          <p:nvPr/>
        </p:nvSpPr>
        <p:spPr>
          <a:xfrm>
            <a:off x="7831862" y="4765410"/>
            <a:ext cx="1536192" cy="310896"/>
          </a:xfrm>
          <a:prstGeom prst="rect">
            <a:avLst/>
          </a:prstGeom>
          <a:noFill/>
          <a:ln/>
        </p:spPr>
        <p:txBody>
          <a:bodyPr wrap="square" lIns="0" tIns="0" rIns="0" bIns="0" rtlCol="0" anchor="ctr"/>
          <a:lstStyle/>
          <a:p>
            <a:pPr marL="0" indent="0" algn="ctr">
              <a:buNone/>
            </a:pPr>
            <a:r>
              <a:rPr lang="ja-JP" altLang="en-US" sz="950" b="1" dirty="0">
                <a:latin typeface="メイリオ" panose="020B0604030504040204" pitchFamily="50" charset="-128"/>
                <a:ea typeface="メイリオ" panose="020B0604030504040204" pitchFamily="50" charset="-128"/>
                <a:cs typeface="Calibri" pitchFamily="34" charset="-120"/>
              </a:rPr>
              <a:t>無料</a:t>
            </a:r>
            <a:r>
              <a:rPr lang="en-US" altLang="ja-JP" sz="950" b="1" dirty="0">
                <a:latin typeface="メイリオ" panose="020B0604030504040204" pitchFamily="50" charset="-128"/>
                <a:ea typeface="メイリオ" panose="020B0604030504040204" pitchFamily="50" charset="-128"/>
                <a:cs typeface="Calibri" pitchFamily="34" charset="-120"/>
              </a:rPr>
              <a:t>CA</a:t>
            </a:r>
            <a:r>
              <a:rPr lang="ja-JP" altLang="en-US" sz="950" b="1" dirty="0">
                <a:latin typeface="メイリオ" panose="020B0604030504040204" pitchFamily="50" charset="-128"/>
                <a:ea typeface="メイリオ" panose="020B0604030504040204" pitchFamily="50" charset="-128"/>
                <a:cs typeface="Calibri" pitchFamily="34" charset="-120"/>
              </a:rPr>
              <a:t>相談を申し込む</a:t>
            </a:r>
          </a:p>
        </p:txBody>
      </p:sp>
    </p:spTree>
    <p:extLst>
      <p:ext uri="{BB962C8B-B14F-4D97-AF65-F5344CB8AC3E}">
        <p14:creationId xmlns:p14="http://schemas.microsoft.com/office/powerpoint/2010/main" val="299818302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2CB797-9072-5561-562E-D6B91A9591C4}"/>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49D91DB9-7A9D-6C3B-8557-DFE5FEA59B43}"/>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施策の考え方（長期：企画配信）</a:t>
            </a:r>
          </a:p>
        </p:txBody>
      </p:sp>
      <p:sp>
        <p:nvSpPr>
          <p:cNvPr id="8" name="正方形/長方形 7">
            <a:extLst>
              <a:ext uri="{FF2B5EF4-FFF2-40B4-BE49-F238E27FC236}">
                <a16:creationId xmlns:a16="http://schemas.microsoft.com/office/drawing/2014/main" id="{0DA40860-795C-02D9-8E20-768167E5BE2B}"/>
              </a:ext>
            </a:extLst>
          </p:cNvPr>
          <p:cNvSpPr/>
          <p:nvPr/>
        </p:nvSpPr>
        <p:spPr>
          <a:xfrm>
            <a:off x="0" y="777240"/>
            <a:ext cx="1802674"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dirty="0">
                <a:latin typeface="メイリオ" panose="020B0604030504040204" pitchFamily="50" charset="-128"/>
                <a:ea typeface="メイリオ" panose="020B0604030504040204" pitchFamily="50" charset="-128"/>
              </a:rPr>
              <a:t>企画配信</a:t>
            </a:r>
          </a:p>
        </p:txBody>
      </p:sp>
      <p:sp>
        <p:nvSpPr>
          <p:cNvPr id="10" name="Google Shape;752;p28">
            <a:extLst>
              <a:ext uri="{FF2B5EF4-FFF2-40B4-BE49-F238E27FC236}">
                <a16:creationId xmlns:a16="http://schemas.microsoft.com/office/drawing/2014/main" id="{AB994752-49F6-3841-3471-21EFE66BFB15}"/>
              </a:ext>
            </a:extLst>
          </p:cNvPr>
          <p:cNvSpPr txBox="1"/>
          <p:nvPr/>
        </p:nvSpPr>
        <p:spPr>
          <a:xfrm>
            <a:off x="1988819" y="736332"/>
            <a:ext cx="7774305" cy="584735"/>
          </a:xfrm>
          <a:prstGeom prst="rect">
            <a:avLst/>
          </a:prstGeom>
          <a:noFill/>
          <a:ln>
            <a:noFill/>
          </a:ln>
        </p:spPr>
        <p:txBody>
          <a:bodyPr spcFirstLastPara="1" wrap="square" lIns="91425" tIns="45700" rIns="91425" bIns="45700" anchor="ctr" anchorCtr="0">
            <a:spAutoFit/>
          </a:bodyPr>
          <a:lstStyle/>
          <a:p>
            <a:r>
              <a:rPr lang="ja-JP" altLang="en-US" sz="1600" b="1" dirty="0">
                <a:latin typeface="メイリオ" panose="020B0604030504040204" pitchFamily="50" charset="-128"/>
                <a:ea typeface="メイリオ" panose="020B0604030504040204" pitchFamily="50" charset="-128"/>
                <a:cs typeface="Meiryo"/>
                <a:sym typeface="Meiryo"/>
              </a:rPr>
              <a:t>再びニーズが高まる時期（シーズナリティ）を軸に、</a:t>
            </a:r>
          </a:p>
          <a:p>
            <a:r>
              <a:rPr lang="en-US" altLang="ja-JP" sz="1600" b="1" dirty="0">
                <a:latin typeface="メイリオ" panose="020B0604030504040204" pitchFamily="50" charset="-128"/>
                <a:ea typeface="メイリオ" panose="020B0604030504040204" pitchFamily="50" charset="-128"/>
                <a:cs typeface="Meiryo"/>
                <a:sym typeface="Meiryo"/>
              </a:rPr>
              <a:t>15</a:t>
            </a:r>
            <a:r>
              <a:rPr lang="ja-JP" altLang="en-US" sz="1600" b="1" dirty="0">
                <a:latin typeface="メイリオ" panose="020B0604030504040204" pitchFamily="50" charset="-128"/>
                <a:ea typeface="メイリオ" panose="020B0604030504040204" pitchFamily="50" charset="-128"/>
                <a:cs typeface="Meiryo"/>
                <a:sym typeface="Meiryo"/>
              </a:rPr>
              <a:t>日を過ぎた友だちにも企画配信で再アプローチし、再活性化を図る。</a:t>
            </a:r>
            <a:endParaRPr lang="en-US" altLang="ja-JP" sz="1600" b="1" dirty="0">
              <a:latin typeface="メイリオ" panose="020B0604030504040204" pitchFamily="50" charset="-128"/>
              <a:ea typeface="メイリオ" panose="020B0604030504040204" pitchFamily="50" charset="-128"/>
              <a:cs typeface="Meiryo"/>
              <a:sym typeface="Meiryo"/>
            </a:endParaRPr>
          </a:p>
        </p:txBody>
      </p:sp>
      <p:pic>
        <p:nvPicPr>
          <p:cNvPr id="5" name="図 4">
            <a:extLst>
              <a:ext uri="{FF2B5EF4-FFF2-40B4-BE49-F238E27FC236}">
                <a16:creationId xmlns:a16="http://schemas.microsoft.com/office/drawing/2014/main" id="{6E74B780-0053-8D9C-7393-EEF0666D1B29}"/>
              </a:ext>
            </a:extLst>
          </p:cNvPr>
          <p:cNvPicPr>
            <a:picLocks noChangeAspect="1"/>
          </p:cNvPicPr>
          <p:nvPr/>
        </p:nvPicPr>
        <p:blipFill>
          <a:blip r:embed="rId2"/>
          <a:stretch>
            <a:fillRect/>
          </a:stretch>
        </p:blipFill>
        <p:spPr>
          <a:xfrm>
            <a:off x="1570034" y="1491240"/>
            <a:ext cx="6765932" cy="2464732"/>
          </a:xfrm>
          <a:prstGeom prst="rect">
            <a:avLst/>
          </a:prstGeom>
        </p:spPr>
      </p:pic>
      <p:sp>
        <p:nvSpPr>
          <p:cNvPr id="9" name="テキスト ボックス 8">
            <a:extLst>
              <a:ext uri="{FF2B5EF4-FFF2-40B4-BE49-F238E27FC236}">
                <a16:creationId xmlns:a16="http://schemas.microsoft.com/office/drawing/2014/main" id="{DC8BF96D-584A-E1C6-6217-4B8E3A069BAC}"/>
              </a:ext>
            </a:extLst>
          </p:cNvPr>
          <p:cNvSpPr txBox="1"/>
          <p:nvPr/>
        </p:nvSpPr>
        <p:spPr>
          <a:xfrm>
            <a:off x="8134788" y="1514702"/>
            <a:ext cx="1576252" cy="253916"/>
          </a:xfrm>
          <a:prstGeom prst="rect">
            <a:avLst/>
          </a:prstGeom>
          <a:noFill/>
        </p:spPr>
        <p:txBody>
          <a:bodyPr wrap="square">
            <a:spAutoFit/>
          </a:bodyPr>
          <a:lstStyle/>
          <a:p>
            <a:pPr algn="ctr"/>
            <a:r>
              <a:rPr lang="ja-JP" altLang="en-US" sz="1050" b="1" dirty="0">
                <a:latin typeface="メイリオ" panose="020B0604030504040204" pitchFamily="50" charset="-128"/>
                <a:ea typeface="メイリオ" panose="020B0604030504040204" pitchFamily="50" charset="-128"/>
              </a:rPr>
              <a:t>のトレンド情報</a:t>
            </a:r>
            <a:endParaRPr kumimoji="1" lang="ja-JP" altLang="en-US" sz="1050" b="1" dirty="0">
              <a:solidFill>
                <a:schemeClr val="tx1"/>
              </a:solidFill>
              <a:latin typeface="メイリオ" panose="020B0604030504040204" pitchFamily="50" charset="-128"/>
              <a:ea typeface="メイリオ" panose="020B0604030504040204" pitchFamily="50" charset="-128"/>
            </a:endParaRPr>
          </a:p>
        </p:txBody>
      </p:sp>
      <p:sp>
        <p:nvSpPr>
          <p:cNvPr id="12" name="正方形/長方形 11">
            <a:extLst>
              <a:ext uri="{FF2B5EF4-FFF2-40B4-BE49-F238E27FC236}">
                <a16:creationId xmlns:a16="http://schemas.microsoft.com/office/drawing/2014/main" id="{8074073A-1881-D07F-BFBF-D955541CB814}"/>
              </a:ext>
            </a:extLst>
          </p:cNvPr>
          <p:cNvSpPr/>
          <p:nvPr/>
        </p:nvSpPr>
        <p:spPr>
          <a:xfrm>
            <a:off x="6764522" y="1491240"/>
            <a:ext cx="1571444" cy="28342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転職市場</a:t>
            </a:r>
          </a:p>
        </p:txBody>
      </p:sp>
      <p:sp>
        <p:nvSpPr>
          <p:cNvPr id="14" name="四角形: 角を丸くする 13">
            <a:extLst>
              <a:ext uri="{FF2B5EF4-FFF2-40B4-BE49-F238E27FC236}">
                <a16:creationId xmlns:a16="http://schemas.microsoft.com/office/drawing/2014/main" id="{B653501A-660C-CA1C-E5A1-0C83E3991AFA}"/>
              </a:ext>
            </a:extLst>
          </p:cNvPr>
          <p:cNvSpPr/>
          <p:nvPr/>
        </p:nvSpPr>
        <p:spPr>
          <a:xfrm>
            <a:off x="1802673" y="2788236"/>
            <a:ext cx="1619795" cy="991284"/>
          </a:xfrm>
          <a:prstGeom prst="roundRect">
            <a:avLst>
              <a:gd name="adj" fmla="val 9639"/>
            </a:avLst>
          </a:prstGeom>
          <a:solidFill>
            <a:srgbClr val="FFC00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dirty="0">
              <a:solidFill>
                <a:schemeClr val="tx1"/>
              </a:solidFill>
              <a:latin typeface="メイリオ" panose="020B0604030504040204" pitchFamily="50" charset="-128"/>
              <a:ea typeface="メイリオ" panose="020B0604030504040204" pitchFamily="50" charset="-128"/>
            </a:endParaRPr>
          </a:p>
        </p:txBody>
      </p:sp>
      <p:sp>
        <p:nvSpPr>
          <p:cNvPr id="16" name="四角形: 角を丸くする 15">
            <a:extLst>
              <a:ext uri="{FF2B5EF4-FFF2-40B4-BE49-F238E27FC236}">
                <a16:creationId xmlns:a16="http://schemas.microsoft.com/office/drawing/2014/main" id="{40A4149F-8AAD-6C2A-9167-96E2456A290A}"/>
              </a:ext>
            </a:extLst>
          </p:cNvPr>
          <p:cNvSpPr/>
          <p:nvPr/>
        </p:nvSpPr>
        <p:spPr>
          <a:xfrm>
            <a:off x="5144727" y="2788236"/>
            <a:ext cx="318813" cy="991284"/>
          </a:xfrm>
          <a:prstGeom prst="roundRect">
            <a:avLst>
              <a:gd name="adj" fmla="val 9639"/>
            </a:avLst>
          </a:prstGeom>
          <a:solidFill>
            <a:srgbClr val="FFC00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dirty="0">
              <a:solidFill>
                <a:schemeClr val="tx1"/>
              </a:solidFill>
              <a:latin typeface="メイリオ" panose="020B0604030504040204" pitchFamily="50" charset="-128"/>
              <a:ea typeface="メイリオ" panose="020B0604030504040204" pitchFamily="50" charset="-128"/>
            </a:endParaRPr>
          </a:p>
        </p:txBody>
      </p:sp>
      <p:sp>
        <p:nvSpPr>
          <p:cNvPr id="18" name="四角形: 角を丸くする 17">
            <a:extLst>
              <a:ext uri="{FF2B5EF4-FFF2-40B4-BE49-F238E27FC236}">
                <a16:creationId xmlns:a16="http://schemas.microsoft.com/office/drawing/2014/main" id="{6582B463-2E55-3216-C313-C99DAF3A7B69}"/>
              </a:ext>
            </a:extLst>
          </p:cNvPr>
          <p:cNvSpPr/>
          <p:nvPr/>
        </p:nvSpPr>
        <p:spPr>
          <a:xfrm>
            <a:off x="4756154" y="160947"/>
            <a:ext cx="1752679" cy="269057"/>
          </a:xfrm>
          <a:prstGeom prst="roundRect">
            <a:avLst/>
          </a:prstGeom>
          <a:solidFill>
            <a:schemeClr val="bg1"/>
          </a:solidFill>
          <a:ln w="9525">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b="1" dirty="0">
                <a:solidFill>
                  <a:schemeClr val="tx1">
                    <a:lumMod val="65000"/>
                    <a:lumOff val="35000"/>
                  </a:schemeClr>
                </a:solidFill>
                <a:latin typeface="メイリオ" panose="020B0604030504040204" pitchFamily="50" charset="-128"/>
                <a:ea typeface="メイリオ" panose="020B0604030504040204" pitchFamily="50" charset="-128"/>
              </a:rPr>
              <a:t>ご提案時に詳細記載</a:t>
            </a:r>
          </a:p>
        </p:txBody>
      </p:sp>
      <p:sp>
        <p:nvSpPr>
          <p:cNvPr id="20" name="Shape 29">
            <a:extLst>
              <a:ext uri="{FF2B5EF4-FFF2-40B4-BE49-F238E27FC236}">
                <a16:creationId xmlns:a16="http://schemas.microsoft.com/office/drawing/2014/main" id="{369E970F-2C41-E080-117D-29AFB73E3495}"/>
              </a:ext>
            </a:extLst>
          </p:cNvPr>
          <p:cNvSpPr/>
          <p:nvPr/>
        </p:nvSpPr>
        <p:spPr>
          <a:xfrm>
            <a:off x="3593323" y="4695761"/>
            <a:ext cx="0" cy="73152"/>
          </a:xfrm>
          <a:prstGeom prst="line">
            <a:avLst/>
          </a:prstGeom>
          <a:noFill/>
          <a:ln w="12700">
            <a:solidFill>
              <a:srgbClr val="DDDDDD"/>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22" name="Shape 31">
            <a:extLst>
              <a:ext uri="{FF2B5EF4-FFF2-40B4-BE49-F238E27FC236}">
                <a16:creationId xmlns:a16="http://schemas.microsoft.com/office/drawing/2014/main" id="{FCD65E22-4E82-E3BE-F7D7-233F34810826}"/>
              </a:ext>
            </a:extLst>
          </p:cNvPr>
          <p:cNvSpPr/>
          <p:nvPr/>
        </p:nvSpPr>
        <p:spPr>
          <a:xfrm>
            <a:off x="4060092" y="4695761"/>
            <a:ext cx="0" cy="73152"/>
          </a:xfrm>
          <a:prstGeom prst="line">
            <a:avLst/>
          </a:prstGeom>
          <a:noFill/>
          <a:ln w="12700">
            <a:solidFill>
              <a:srgbClr val="DDDDDD"/>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26" name="矢印: 下 25">
            <a:extLst>
              <a:ext uri="{FF2B5EF4-FFF2-40B4-BE49-F238E27FC236}">
                <a16:creationId xmlns:a16="http://schemas.microsoft.com/office/drawing/2014/main" id="{064EB21E-55AC-291D-BD68-D99487ED9214}"/>
              </a:ext>
            </a:extLst>
          </p:cNvPr>
          <p:cNvSpPr/>
          <p:nvPr/>
        </p:nvSpPr>
        <p:spPr>
          <a:xfrm>
            <a:off x="5341874" y="4326200"/>
            <a:ext cx="792480" cy="586887"/>
          </a:xfrm>
          <a:prstGeom prst="downArrow">
            <a:avLst/>
          </a:prstGeom>
          <a:gradFill>
            <a:gsLst>
              <a:gs pos="4000">
                <a:schemeClr val="bg1">
                  <a:alpha val="35000"/>
                </a:schemeClr>
              </a:gs>
              <a:gs pos="100000">
                <a:schemeClr val="tx2">
                  <a:lumMod val="60000"/>
                  <a:lumOff val="40000"/>
                  <a:alpha val="4000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8" name="矢印: 下 27">
            <a:extLst>
              <a:ext uri="{FF2B5EF4-FFF2-40B4-BE49-F238E27FC236}">
                <a16:creationId xmlns:a16="http://schemas.microsoft.com/office/drawing/2014/main" id="{FB72B5BF-4992-BBB8-E5B3-E5EBD3C2D3AC}"/>
              </a:ext>
            </a:extLst>
          </p:cNvPr>
          <p:cNvSpPr/>
          <p:nvPr/>
        </p:nvSpPr>
        <p:spPr>
          <a:xfrm>
            <a:off x="2174122" y="4326200"/>
            <a:ext cx="792480" cy="586887"/>
          </a:xfrm>
          <a:prstGeom prst="downArrow">
            <a:avLst/>
          </a:prstGeom>
          <a:gradFill>
            <a:gsLst>
              <a:gs pos="4000">
                <a:schemeClr val="bg1">
                  <a:alpha val="35000"/>
                </a:schemeClr>
              </a:gs>
              <a:gs pos="100000">
                <a:schemeClr val="tx2">
                  <a:lumMod val="60000"/>
                  <a:lumOff val="40000"/>
                  <a:alpha val="4000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0" name="テキスト ボックス 29">
            <a:extLst>
              <a:ext uri="{FF2B5EF4-FFF2-40B4-BE49-F238E27FC236}">
                <a16:creationId xmlns:a16="http://schemas.microsoft.com/office/drawing/2014/main" id="{9122B12C-726B-347C-08BA-51C1DD7B1B37}"/>
              </a:ext>
            </a:extLst>
          </p:cNvPr>
          <p:cNvSpPr txBox="1"/>
          <p:nvPr/>
        </p:nvSpPr>
        <p:spPr>
          <a:xfrm>
            <a:off x="1518065" y="4007678"/>
            <a:ext cx="2104595" cy="415498"/>
          </a:xfrm>
          <a:prstGeom prst="rect">
            <a:avLst/>
          </a:prstGeom>
          <a:noFill/>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sym typeface="Meiryo"/>
              </a:rPr>
              <a:t>再度ニーズ高まったタイミング</a:t>
            </a:r>
            <a:r>
              <a:rPr lang="ja-JP" altLang="en-US" sz="1050" b="1" dirty="0">
                <a:latin typeface="メイリオ" panose="020B0604030504040204" pitchFamily="50" charset="-128"/>
                <a:ea typeface="メイリオ" panose="020B0604030504040204" pitchFamily="50" charset="-128"/>
                <a:sym typeface="Meiryo"/>
              </a:rPr>
              <a:t>で</a:t>
            </a:r>
            <a:endParaRPr lang="en-US" altLang="ja-JP" sz="1050" b="1" dirty="0">
              <a:latin typeface="メイリオ" panose="020B0604030504040204" pitchFamily="50" charset="-128"/>
              <a:ea typeface="メイリオ" panose="020B0604030504040204" pitchFamily="50" charset="-128"/>
              <a:sym typeface="Meiryo"/>
            </a:endParaRPr>
          </a:p>
          <a:p>
            <a:pPr algn="ctr"/>
            <a:r>
              <a:rPr lang="ja-JP" altLang="en-US" sz="1050" b="1" dirty="0">
                <a:latin typeface="メイリオ" panose="020B0604030504040204" pitchFamily="50" charset="-128"/>
                <a:ea typeface="メイリオ" panose="020B0604030504040204" pitchFamily="50" charset="-128"/>
                <a:sym typeface="Meiryo"/>
              </a:rPr>
              <a:t>の再活性化施策として</a:t>
            </a:r>
            <a:endParaRPr lang="en-US" altLang="ja-JP" sz="1000" b="1" dirty="0">
              <a:latin typeface="メイリオ" panose="020B0604030504040204" pitchFamily="50" charset="-128"/>
              <a:ea typeface="メイリオ" panose="020B0604030504040204" pitchFamily="50" charset="-128"/>
              <a:sym typeface="Meiryo"/>
            </a:endParaRPr>
          </a:p>
        </p:txBody>
      </p:sp>
      <p:sp>
        <p:nvSpPr>
          <p:cNvPr id="32" name="テキスト ボックス 31">
            <a:extLst>
              <a:ext uri="{FF2B5EF4-FFF2-40B4-BE49-F238E27FC236}">
                <a16:creationId xmlns:a16="http://schemas.microsoft.com/office/drawing/2014/main" id="{302C7D03-D37A-C26E-B969-DD0DB3163FBC}"/>
              </a:ext>
            </a:extLst>
          </p:cNvPr>
          <p:cNvSpPr txBox="1"/>
          <p:nvPr/>
        </p:nvSpPr>
        <p:spPr>
          <a:xfrm>
            <a:off x="4685816" y="4009455"/>
            <a:ext cx="2104595" cy="415498"/>
          </a:xfrm>
          <a:prstGeom prst="rect">
            <a:avLst/>
          </a:prstGeom>
          <a:noFill/>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sym typeface="Meiryo"/>
              </a:rPr>
              <a:t>再度ニーズ高まったタイミング</a:t>
            </a:r>
            <a:r>
              <a:rPr lang="ja-JP" altLang="en-US" sz="1050" b="1" dirty="0">
                <a:latin typeface="メイリオ" panose="020B0604030504040204" pitchFamily="50" charset="-128"/>
                <a:ea typeface="メイリオ" panose="020B0604030504040204" pitchFamily="50" charset="-128"/>
                <a:sym typeface="Meiryo"/>
              </a:rPr>
              <a:t>で</a:t>
            </a:r>
            <a:endParaRPr lang="en-US" altLang="ja-JP" sz="1050" b="1" dirty="0">
              <a:latin typeface="メイリオ" panose="020B0604030504040204" pitchFamily="50" charset="-128"/>
              <a:ea typeface="メイリオ" panose="020B0604030504040204" pitchFamily="50" charset="-128"/>
              <a:sym typeface="Meiryo"/>
            </a:endParaRPr>
          </a:p>
          <a:p>
            <a:pPr algn="ctr"/>
            <a:r>
              <a:rPr lang="ja-JP" altLang="en-US" sz="1050" b="1" dirty="0">
                <a:latin typeface="メイリオ" panose="020B0604030504040204" pitchFamily="50" charset="-128"/>
                <a:ea typeface="メイリオ" panose="020B0604030504040204" pitchFamily="50" charset="-128"/>
                <a:sym typeface="Meiryo"/>
              </a:rPr>
              <a:t>の再活性化施策として</a:t>
            </a:r>
            <a:endParaRPr lang="en-US" altLang="ja-JP" sz="1000" b="1" dirty="0">
              <a:latin typeface="メイリオ" panose="020B0604030504040204" pitchFamily="50" charset="-128"/>
              <a:ea typeface="メイリオ" panose="020B0604030504040204" pitchFamily="50" charset="-128"/>
              <a:sym typeface="Meiryo"/>
            </a:endParaRPr>
          </a:p>
        </p:txBody>
      </p:sp>
      <p:sp>
        <p:nvSpPr>
          <p:cNvPr id="34" name="テキスト ボックス 33">
            <a:extLst>
              <a:ext uri="{FF2B5EF4-FFF2-40B4-BE49-F238E27FC236}">
                <a16:creationId xmlns:a16="http://schemas.microsoft.com/office/drawing/2014/main" id="{A2AD2662-C588-A66D-EA47-21DA7A09CF26}"/>
              </a:ext>
            </a:extLst>
          </p:cNvPr>
          <p:cNvSpPr txBox="1"/>
          <p:nvPr/>
        </p:nvSpPr>
        <p:spPr>
          <a:xfrm>
            <a:off x="7099855" y="4053844"/>
            <a:ext cx="2315055" cy="369332"/>
          </a:xfrm>
          <a:prstGeom prst="rect">
            <a:avLst/>
          </a:prstGeom>
          <a:noFill/>
        </p:spPr>
        <p:txBody>
          <a:bodyPr wrap="square">
            <a:spAutoFit/>
          </a:bodyPr>
          <a:lstStyle/>
          <a:p>
            <a:pPr algn="ctr"/>
            <a:r>
              <a:rPr lang="ja-JP" altLang="en-US" sz="900" dirty="0">
                <a:solidFill>
                  <a:srgbClr val="FF0000"/>
                </a:solidFill>
                <a:latin typeface="メイリオ" panose="020B0604030504040204" pitchFamily="50" charset="-128"/>
                <a:ea typeface="メイリオ" panose="020B0604030504040204" pitchFamily="50" charset="-128"/>
                <a:sym typeface="Meiryo"/>
              </a:rPr>
              <a:t>その他、ニーズが高まる前のタイミング</a:t>
            </a:r>
            <a:endParaRPr lang="en-US" altLang="ja-JP" sz="900" dirty="0">
              <a:solidFill>
                <a:srgbClr val="FF0000"/>
              </a:solidFill>
              <a:latin typeface="メイリオ" panose="020B0604030504040204" pitchFamily="50" charset="-128"/>
              <a:ea typeface="メイリオ" panose="020B0604030504040204" pitchFamily="50" charset="-128"/>
              <a:sym typeface="Meiryo"/>
            </a:endParaRPr>
          </a:p>
          <a:p>
            <a:pPr algn="ctr"/>
            <a:r>
              <a:rPr lang="ja-JP" altLang="en-US" sz="900" dirty="0">
                <a:solidFill>
                  <a:srgbClr val="FF0000"/>
                </a:solidFill>
                <a:latin typeface="メイリオ" panose="020B0604030504040204" pitchFamily="50" charset="-128"/>
                <a:ea typeface="メイリオ" panose="020B0604030504040204" pitchFamily="50" charset="-128"/>
                <a:sym typeface="Meiryo"/>
              </a:rPr>
              <a:t>でアプローチする等の施策に活用。</a:t>
            </a:r>
            <a:endParaRPr lang="en-US" altLang="ja-JP" sz="900" dirty="0">
              <a:solidFill>
                <a:srgbClr val="FF0000"/>
              </a:solidFill>
              <a:latin typeface="メイリオ" panose="020B0604030504040204" pitchFamily="50" charset="-128"/>
              <a:ea typeface="メイリオ" panose="020B0604030504040204" pitchFamily="50" charset="-128"/>
              <a:sym typeface="Meiryo"/>
            </a:endParaRPr>
          </a:p>
        </p:txBody>
      </p:sp>
      <p:cxnSp>
        <p:nvCxnSpPr>
          <p:cNvPr id="36" name="直線矢印コネクタ 35">
            <a:extLst>
              <a:ext uri="{FF2B5EF4-FFF2-40B4-BE49-F238E27FC236}">
                <a16:creationId xmlns:a16="http://schemas.microsoft.com/office/drawing/2014/main" id="{53784701-DE88-24A4-1652-CE66A993AA9A}"/>
              </a:ext>
            </a:extLst>
          </p:cNvPr>
          <p:cNvCxnSpPr>
            <a:cxnSpLocks/>
          </p:cNvCxnSpPr>
          <p:nvPr/>
        </p:nvCxnSpPr>
        <p:spPr>
          <a:xfrm flipH="1" flipV="1">
            <a:off x="4985489" y="3429000"/>
            <a:ext cx="2564755" cy="624844"/>
          </a:xfrm>
          <a:prstGeom prst="straightConnector1">
            <a:avLst/>
          </a:prstGeom>
          <a:ln>
            <a:solidFill>
              <a:srgbClr val="FF0000"/>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38" name="四角形: 角を丸くする 37">
            <a:extLst>
              <a:ext uri="{FF2B5EF4-FFF2-40B4-BE49-F238E27FC236}">
                <a16:creationId xmlns:a16="http://schemas.microsoft.com/office/drawing/2014/main" id="{9C8551D0-7316-37F3-A274-247A41CF4DC1}"/>
              </a:ext>
            </a:extLst>
          </p:cNvPr>
          <p:cNvSpPr/>
          <p:nvPr/>
        </p:nvSpPr>
        <p:spPr>
          <a:xfrm>
            <a:off x="4785297" y="2794045"/>
            <a:ext cx="318813" cy="991284"/>
          </a:xfrm>
          <a:prstGeom prst="roundRect">
            <a:avLst>
              <a:gd name="adj" fmla="val 9639"/>
            </a:avLst>
          </a:prstGeom>
          <a:solidFill>
            <a:srgbClr val="FF000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dirty="0">
              <a:solidFill>
                <a:schemeClr val="tx1"/>
              </a:solidFill>
              <a:latin typeface="メイリオ" panose="020B0604030504040204" pitchFamily="50" charset="-128"/>
              <a:ea typeface="メイリオ" panose="020B0604030504040204" pitchFamily="50" charset="-128"/>
            </a:endParaRPr>
          </a:p>
        </p:txBody>
      </p:sp>
      <p:sp>
        <p:nvSpPr>
          <p:cNvPr id="3" name="Rectangle 2008">
            <a:extLst>
              <a:ext uri="{FF2B5EF4-FFF2-40B4-BE49-F238E27FC236}">
                <a16:creationId xmlns:a16="http://schemas.microsoft.com/office/drawing/2014/main" id="{82B3CC5E-6187-AF51-5435-202392E72C80}"/>
              </a:ext>
            </a:extLst>
          </p:cNvPr>
          <p:cNvSpPr/>
          <p:nvPr/>
        </p:nvSpPr>
        <p:spPr>
          <a:xfrm>
            <a:off x="461554" y="5991604"/>
            <a:ext cx="731096" cy="411480"/>
          </a:xfrm>
          <a:prstGeom prst="rect">
            <a:avLst/>
          </a:prstGeom>
          <a:solidFill>
            <a:srgbClr val="FF0000"/>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lIns="0" tIns="25400" rIns="0" bIns="25400" rtlCol="0" anchor="ctr"/>
          <a:lstStyle/>
          <a:p>
            <a:pPr algn="ctr"/>
            <a:r>
              <a:rPr sz="1000" b="1">
                <a:solidFill>
                  <a:srgbClr val="FFFFFF"/>
                </a:solidFill>
                <a:latin typeface="メイリオ"/>
              </a:rPr>
              <a:t>1月</a:t>
            </a:r>
          </a:p>
        </p:txBody>
      </p:sp>
      <p:sp>
        <p:nvSpPr>
          <p:cNvPr id="7" name="Rectangle 2009">
            <a:extLst>
              <a:ext uri="{FF2B5EF4-FFF2-40B4-BE49-F238E27FC236}">
                <a16:creationId xmlns:a16="http://schemas.microsoft.com/office/drawing/2014/main" id="{5D68C2BC-1361-FE7C-168A-17B777A1C7F5}"/>
              </a:ext>
            </a:extLst>
          </p:cNvPr>
          <p:cNvSpPr/>
          <p:nvPr/>
        </p:nvSpPr>
        <p:spPr>
          <a:xfrm>
            <a:off x="1218050" y="5991604"/>
            <a:ext cx="731096" cy="411480"/>
          </a:xfrm>
          <a:prstGeom prst="rect">
            <a:avLst/>
          </a:prstGeom>
          <a:solidFill>
            <a:srgbClr val="FF0000"/>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lIns="0" tIns="25400" rIns="0" bIns="25400" rtlCol="0" anchor="ctr"/>
          <a:lstStyle/>
          <a:p>
            <a:pPr algn="ctr"/>
            <a:r>
              <a:rPr sz="1000" b="1">
                <a:solidFill>
                  <a:srgbClr val="FFFFFF"/>
                </a:solidFill>
                <a:latin typeface="メイリオ"/>
              </a:rPr>
              <a:t>2月</a:t>
            </a:r>
          </a:p>
        </p:txBody>
      </p:sp>
      <p:sp>
        <p:nvSpPr>
          <p:cNvPr id="13" name="Rectangle 2010">
            <a:extLst>
              <a:ext uri="{FF2B5EF4-FFF2-40B4-BE49-F238E27FC236}">
                <a16:creationId xmlns:a16="http://schemas.microsoft.com/office/drawing/2014/main" id="{59D01DEF-9584-1D24-567F-D446C7F0C7D9}"/>
              </a:ext>
            </a:extLst>
          </p:cNvPr>
          <p:cNvSpPr/>
          <p:nvPr/>
        </p:nvSpPr>
        <p:spPr>
          <a:xfrm>
            <a:off x="1974546" y="5991604"/>
            <a:ext cx="731096" cy="411480"/>
          </a:xfrm>
          <a:prstGeom prst="rect">
            <a:avLst/>
          </a:prstGeom>
          <a:solidFill>
            <a:srgbClr val="FF0000"/>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lIns="0" tIns="25400" rIns="0" bIns="25400" rtlCol="0" anchor="ctr"/>
          <a:lstStyle/>
          <a:p>
            <a:pPr algn="ctr"/>
            <a:r>
              <a:rPr sz="1000" b="1">
                <a:solidFill>
                  <a:srgbClr val="FFFFFF"/>
                </a:solidFill>
                <a:latin typeface="メイリオ"/>
              </a:rPr>
              <a:t>3月</a:t>
            </a:r>
          </a:p>
        </p:txBody>
      </p:sp>
      <p:sp>
        <p:nvSpPr>
          <p:cNvPr id="17" name="Rectangle 2011">
            <a:extLst>
              <a:ext uri="{FF2B5EF4-FFF2-40B4-BE49-F238E27FC236}">
                <a16:creationId xmlns:a16="http://schemas.microsoft.com/office/drawing/2014/main" id="{523206B0-A248-EDFA-FDF7-111D4BDD0015}"/>
              </a:ext>
            </a:extLst>
          </p:cNvPr>
          <p:cNvSpPr/>
          <p:nvPr/>
        </p:nvSpPr>
        <p:spPr>
          <a:xfrm>
            <a:off x="2731042" y="5991604"/>
            <a:ext cx="731096" cy="411480"/>
          </a:xfrm>
          <a:prstGeom prst="rect">
            <a:avLst/>
          </a:prstGeom>
          <a:solidFill>
            <a:srgbClr val="E5E8EE"/>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lIns="0" tIns="25400" rIns="0" bIns="25400" rtlCol="0" anchor="ctr"/>
          <a:lstStyle/>
          <a:p>
            <a:pPr algn="ctr"/>
            <a:r>
              <a:rPr sz="1000" b="0">
                <a:solidFill>
                  <a:srgbClr val="5A6378"/>
                </a:solidFill>
                <a:latin typeface="メイリオ"/>
              </a:rPr>
              <a:t>4月</a:t>
            </a:r>
          </a:p>
        </p:txBody>
      </p:sp>
      <p:sp>
        <p:nvSpPr>
          <p:cNvPr id="21" name="Rectangle 2012">
            <a:extLst>
              <a:ext uri="{FF2B5EF4-FFF2-40B4-BE49-F238E27FC236}">
                <a16:creationId xmlns:a16="http://schemas.microsoft.com/office/drawing/2014/main" id="{38D4CCB3-6A52-E243-EBF3-4D9F3E0779B3}"/>
              </a:ext>
            </a:extLst>
          </p:cNvPr>
          <p:cNvSpPr/>
          <p:nvPr/>
        </p:nvSpPr>
        <p:spPr>
          <a:xfrm>
            <a:off x="3487538" y="5991604"/>
            <a:ext cx="731096" cy="411480"/>
          </a:xfrm>
          <a:prstGeom prst="rect">
            <a:avLst/>
          </a:prstGeom>
          <a:solidFill>
            <a:schemeClr val="tx2"/>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lIns="0" tIns="25400" rIns="0" bIns="25400" rtlCol="0" anchor="ctr"/>
          <a:lstStyle/>
          <a:p>
            <a:pPr algn="ctr"/>
            <a:r>
              <a:rPr sz="1000" b="1">
                <a:solidFill>
                  <a:schemeClr val="bg1"/>
                </a:solidFill>
                <a:latin typeface="メイリオ"/>
              </a:rPr>
              <a:t>5月</a:t>
            </a:r>
          </a:p>
        </p:txBody>
      </p:sp>
      <p:sp>
        <p:nvSpPr>
          <p:cNvPr id="24" name="Rectangle 2013">
            <a:extLst>
              <a:ext uri="{FF2B5EF4-FFF2-40B4-BE49-F238E27FC236}">
                <a16:creationId xmlns:a16="http://schemas.microsoft.com/office/drawing/2014/main" id="{D050BF4A-37A5-886C-19CC-8C207D3D37C1}"/>
              </a:ext>
            </a:extLst>
          </p:cNvPr>
          <p:cNvSpPr/>
          <p:nvPr/>
        </p:nvSpPr>
        <p:spPr>
          <a:xfrm>
            <a:off x="4244034" y="5991604"/>
            <a:ext cx="731096" cy="411480"/>
          </a:xfrm>
          <a:prstGeom prst="rect">
            <a:avLst/>
          </a:prstGeom>
          <a:solidFill>
            <a:srgbClr val="E5E8EE"/>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lIns="0" tIns="25400" rIns="0" bIns="25400" rtlCol="0" anchor="ctr"/>
          <a:lstStyle/>
          <a:p>
            <a:pPr algn="ctr"/>
            <a:r>
              <a:rPr sz="1000" b="0">
                <a:solidFill>
                  <a:srgbClr val="5A6378"/>
                </a:solidFill>
                <a:latin typeface="メイリオ"/>
              </a:rPr>
              <a:t>6月</a:t>
            </a:r>
          </a:p>
        </p:txBody>
      </p:sp>
      <p:sp>
        <p:nvSpPr>
          <p:cNvPr id="27" name="Rectangle 2014">
            <a:extLst>
              <a:ext uri="{FF2B5EF4-FFF2-40B4-BE49-F238E27FC236}">
                <a16:creationId xmlns:a16="http://schemas.microsoft.com/office/drawing/2014/main" id="{4E234943-E519-9759-B8F7-FBB7EA6E8FF2}"/>
              </a:ext>
            </a:extLst>
          </p:cNvPr>
          <p:cNvSpPr/>
          <p:nvPr/>
        </p:nvSpPr>
        <p:spPr>
          <a:xfrm>
            <a:off x="5000530" y="5991604"/>
            <a:ext cx="731096" cy="411480"/>
          </a:xfrm>
          <a:prstGeom prst="rect">
            <a:avLst/>
          </a:prstGeom>
          <a:solidFill>
            <a:srgbClr val="E5E8EE"/>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lIns="0" tIns="25400" rIns="0" bIns="25400" rtlCol="0" anchor="ctr"/>
          <a:lstStyle/>
          <a:p>
            <a:pPr algn="ctr"/>
            <a:r>
              <a:rPr sz="1000" b="0">
                <a:solidFill>
                  <a:srgbClr val="5A6378"/>
                </a:solidFill>
                <a:latin typeface="メイリオ"/>
              </a:rPr>
              <a:t>7月</a:t>
            </a:r>
          </a:p>
        </p:txBody>
      </p:sp>
      <p:sp>
        <p:nvSpPr>
          <p:cNvPr id="31" name="Rectangle 2015">
            <a:extLst>
              <a:ext uri="{FF2B5EF4-FFF2-40B4-BE49-F238E27FC236}">
                <a16:creationId xmlns:a16="http://schemas.microsoft.com/office/drawing/2014/main" id="{16A16D33-7293-8E6A-EA78-C8445AA8BB75}"/>
              </a:ext>
            </a:extLst>
          </p:cNvPr>
          <p:cNvSpPr/>
          <p:nvPr/>
        </p:nvSpPr>
        <p:spPr>
          <a:xfrm>
            <a:off x="5757026" y="5991604"/>
            <a:ext cx="731096" cy="411480"/>
          </a:xfrm>
          <a:prstGeom prst="rect">
            <a:avLst/>
          </a:prstGeom>
          <a:solidFill>
            <a:schemeClr val="tx2"/>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lIns="0" tIns="25400" rIns="0" bIns="25400" rtlCol="0" anchor="ctr"/>
          <a:lstStyle/>
          <a:p>
            <a:pPr algn="ctr"/>
            <a:r>
              <a:rPr sz="1000" b="1">
                <a:solidFill>
                  <a:srgbClr val="FFFFFF"/>
                </a:solidFill>
                <a:latin typeface="メイリオ"/>
              </a:rPr>
              <a:t>8月</a:t>
            </a:r>
          </a:p>
        </p:txBody>
      </p:sp>
      <p:sp>
        <p:nvSpPr>
          <p:cNvPr id="41" name="Rectangle 2018">
            <a:extLst>
              <a:ext uri="{FF2B5EF4-FFF2-40B4-BE49-F238E27FC236}">
                <a16:creationId xmlns:a16="http://schemas.microsoft.com/office/drawing/2014/main" id="{166279AD-7237-976F-70AB-F87C08C60EB8}"/>
              </a:ext>
            </a:extLst>
          </p:cNvPr>
          <p:cNvSpPr/>
          <p:nvPr/>
        </p:nvSpPr>
        <p:spPr>
          <a:xfrm>
            <a:off x="8026514" y="5991604"/>
            <a:ext cx="731096" cy="411480"/>
          </a:xfrm>
          <a:prstGeom prst="rect">
            <a:avLst/>
          </a:prstGeom>
          <a:solidFill>
            <a:srgbClr val="E5E8EE"/>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lIns="0" tIns="25400" rIns="0" bIns="25400" rtlCol="0" anchor="ctr"/>
          <a:lstStyle/>
          <a:p>
            <a:pPr algn="ctr"/>
            <a:r>
              <a:rPr sz="1000" b="0" dirty="0">
                <a:solidFill>
                  <a:srgbClr val="5A6378"/>
                </a:solidFill>
                <a:latin typeface="メイリオ"/>
              </a:rPr>
              <a:t>11月</a:t>
            </a:r>
          </a:p>
        </p:txBody>
      </p:sp>
      <p:sp>
        <p:nvSpPr>
          <p:cNvPr id="49" name="Rectangle 2013">
            <a:extLst>
              <a:ext uri="{FF2B5EF4-FFF2-40B4-BE49-F238E27FC236}">
                <a16:creationId xmlns:a16="http://schemas.microsoft.com/office/drawing/2014/main" id="{B868ADFE-4DE9-7A15-E80A-94CF625C8681}"/>
              </a:ext>
            </a:extLst>
          </p:cNvPr>
          <p:cNvSpPr/>
          <p:nvPr/>
        </p:nvSpPr>
        <p:spPr>
          <a:xfrm>
            <a:off x="6512070" y="5991604"/>
            <a:ext cx="731096" cy="411480"/>
          </a:xfrm>
          <a:prstGeom prst="rect">
            <a:avLst/>
          </a:prstGeom>
          <a:solidFill>
            <a:srgbClr val="E5E8EE"/>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lIns="0" tIns="25400" rIns="0" bIns="25400" rtlCol="0" anchor="ctr"/>
          <a:lstStyle/>
          <a:p>
            <a:pPr algn="ctr"/>
            <a:r>
              <a:rPr lang="en-US" sz="1000" b="0" dirty="0">
                <a:solidFill>
                  <a:srgbClr val="5A6378"/>
                </a:solidFill>
                <a:latin typeface="メイリオ"/>
              </a:rPr>
              <a:t>9</a:t>
            </a:r>
            <a:r>
              <a:rPr sz="1000" b="0" dirty="0">
                <a:solidFill>
                  <a:srgbClr val="5A6378"/>
                </a:solidFill>
                <a:latin typeface="メイリオ"/>
              </a:rPr>
              <a:t>月</a:t>
            </a:r>
          </a:p>
        </p:txBody>
      </p:sp>
      <p:sp>
        <p:nvSpPr>
          <p:cNvPr id="51" name="Rectangle 2014">
            <a:extLst>
              <a:ext uri="{FF2B5EF4-FFF2-40B4-BE49-F238E27FC236}">
                <a16:creationId xmlns:a16="http://schemas.microsoft.com/office/drawing/2014/main" id="{BD5CDE95-1F68-41A7-23B4-5FA5218DD9E7}"/>
              </a:ext>
            </a:extLst>
          </p:cNvPr>
          <p:cNvSpPr/>
          <p:nvPr/>
        </p:nvSpPr>
        <p:spPr>
          <a:xfrm>
            <a:off x="7268566" y="5991604"/>
            <a:ext cx="731096" cy="411480"/>
          </a:xfrm>
          <a:prstGeom prst="rect">
            <a:avLst/>
          </a:prstGeom>
          <a:solidFill>
            <a:srgbClr val="E5E8EE"/>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lIns="0" tIns="25400" rIns="0" bIns="25400" rtlCol="0" anchor="ctr"/>
          <a:lstStyle/>
          <a:p>
            <a:pPr algn="ctr"/>
            <a:r>
              <a:rPr lang="en-US" altLang="ja-JP" sz="1000" dirty="0">
                <a:solidFill>
                  <a:srgbClr val="5A6378"/>
                </a:solidFill>
                <a:latin typeface="メイリオ"/>
              </a:rPr>
              <a:t>10</a:t>
            </a:r>
            <a:r>
              <a:rPr sz="1000" b="0" dirty="0">
                <a:solidFill>
                  <a:srgbClr val="5A6378"/>
                </a:solidFill>
                <a:latin typeface="メイリオ"/>
              </a:rPr>
              <a:t>月</a:t>
            </a:r>
          </a:p>
        </p:txBody>
      </p:sp>
      <p:sp>
        <p:nvSpPr>
          <p:cNvPr id="55" name="Rectangle 2018">
            <a:extLst>
              <a:ext uri="{FF2B5EF4-FFF2-40B4-BE49-F238E27FC236}">
                <a16:creationId xmlns:a16="http://schemas.microsoft.com/office/drawing/2014/main" id="{23DE8560-7453-4747-E295-4902AD3135B2}"/>
              </a:ext>
            </a:extLst>
          </p:cNvPr>
          <p:cNvSpPr/>
          <p:nvPr/>
        </p:nvSpPr>
        <p:spPr>
          <a:xfrm>
            <a:off x="8808410" y="5991604"/>
            <a:ext cx="731096" cy="411480"/>
          </a:xfrm>
          <a:prstGeom prst="rect">
            <a:avLst/>
          </a:prstGeom>
          <a:solidFill>
            <a:srgbClr val="E5E8EE"/>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lIns="0" tIns="25400" rIns="0" bIns="25400" rtlCol="0" anchor="ctr"/>
          <a:lstStyle/>
          <a:p>
            <a:pPr algn="ctr"/>
            <a:r>
              <a:rPr lang="en-US" sz="1000" b="0" dirty="0">
                <a:solidFill>
                  <a:srgbClr val="5A6378"/>
                </a:solidFill>
                <a:latin typeface="メイリオ"/>
              </a:rPr>
              <a:t>12</a:t>
            </a:r>
            <a:r>
              <a:rPr sz="1000" b="0" dirty="0">
                <a:solidFill>
                  <a:srgbClr val="5A6378"/>
                </a:solidFill>
                <a:latin typeface="メイリオ"/>
              </a:rPr>
              <a:t>月</a:t>
            </a:r>
          </a:p>
        </p:txBody>
      </p:sp>
      <p:sp>
        <p:nvSpPr>
          <p:cNvPr id="6" name="テキスト ボックス 5">
            <a:extLst>
              <a:ext uri="{FF2B5EF4-FFF2-40B4-BE49-F238E27FC236}">
                <a16:creationId xmlns:a16="http://schemas.microsoft.com/office/drawing/2014/main" id="{C5613934-3058-7342-6086-B74E9E936123}"/>
              </a:ext>
            </a:extLst>
          </p:cNvPr>
          <p:cNvSpPr txBox="1"/>
          <p:nvPr/>
        </p:nvSpPr>
        <p:spPr>
          <a:xfrm>
            <a:off x="1333625" y="4709544"/>
            <a:ext cx="2772917" cy="400110"/>
          </a:xfrm>
          <a:prstGeom prst="rect">
            <a:avLst/>
          </a:prstGeom>
          <a:noFill/>
        </p:spPr>
        <p:txBody>
          <a:bodyPr wrap="square">
            <a:spAutoFit/>
          </a:bodyPr>
          <a:lstStyle/>
          <a:p>
            <a:r>
              <a:rPr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a:t>
            </a:r>
            <a:r>
              <a:rPr lang="ja-JP" altLang="ja-JP" sz="1000" dirty="0">
                <a:solidFill>
                  <a:schemeClr val="tx1">
                    <a:lumMod val="65000"/>
                    <a:lumOff val="35000"/>
                  </a:schemeClr>
                </a:solidFill>
                <a:latin typeface="メイリオ" panose="020B0604030504040204" pitchFamily="50" charset="-128"/>
                <a:ea typeface="メイリオ" panose="020B0604030504040204" pitchFamily="50" charset="-128"/>
              </a:rPr>
              <a:t>4月入社に間に合う！求人数が増加する</a:t>
            </a:r>
            <a:endParaRPr lang="en-US" altLang="ja-JP" sz="1000" dirty="0">
              <a:solidFill>
                <a:schemeClr val="tx1">
                  <a:lumMod val="65000"/>
                  <a:lumOff val="35000"/>
                </a:schemeClr>
              </a:solidFill>
              <a:latin typeface="メイリオ" panose="020B0604030504040204" pitchFamily="50" charset="-128"/>
              <a:ea typeface="メイリオ" panose="020B0604030504040204" pitchFamily="50" charset="-128"/>
            </a:endParaRPr>
          </a:p>
          <a:p>
            <a:r>
              <a:rPr lang="ja-JP" altLang="ja-JP" sz="1000" dirty="0">
                <a:solidFill>
                  <a:schemeClr val="tx1">
                    <a:lumMod val="65000"/>
                    <a:lumOff val="35000"/>
                  </a:schemeClr>
                </a:solidFill>
                <a:latin typeface="メイリオ" panose="020B0604030504040204" pitchFamily="50" charset="-128"/>
                <a:ea typeface="メイリオ" panose="020B0604030504040204" pitchFamily="50" charset="-128"/>
              </a:rPr>
              <a:t>『狙い目時期』の転職スケジュール」</a:t>
            </a:r>
            <a:endParaRPr lang="ja-JP" altLang="en-US" sz="10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15" name="テキスト ボックス 14">
            <a:extLst>
              <a:ext uri="{FF2B5EF4-FFF2-40B4-BE49-F238E27FC236}">
                <a16:creationId xmlns:a16="http://schemas.microsoft.com/office/drawing/2014/main" id="{68DA1071-AA58-705C-A547-3B4B60150699}"/>
              </a:ext>
            </a:extLst>
          </p:cNvPr>
          <p:cNvSpPr txBox="1"/>
          <p:nvPr/>
        </p:nvSpPr>
        <p:spPr>
          <a:xfrm>
            <a:off x="1333625" y="5183337"/>
            <a:ext cx="2772917" cy="400110"/>
          </a:xfrm>
          <a:prstGeom prst="rect">
            <a:avLst/>
          </a:prstGeom>
          <a:noFill/>
        </p:spPr>
        <p:txBody>
          <a:bodyPr wrap="square">
            <a:spAutoFit/>
          </a:bodyPr>
          <a:lstStyle/>
          <a:p>
            <a:r>
              <a:rPr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・「今の職場、満足してる？ </a:t>
            </a:r>
            <a:r>
              <a:rPr lang="en-US" altLang="ja-JP" sz="1000" dirty="0">
                <a:solidFill>
                  <a:schemeClr val="tx1">
                    <a:lumMod val="65000"/>
                    <a:lumOff val="35000"/>
                  </a:schemeClr>
                </a:solidFill>
                <a:latin typeface="メイリオ" panose="020B0604030504040204" pitchFamily="50" charset="-128"/>
                <a:ea typeface="メイリオ" panose="020B0604030504040204" pitchFamily="50" charset="-128"/>
              </a:rPr>
              <a:t>60</a:t>
            </a:r>
            <a:r>
              <a:rPr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秒でわかる</a:t>
            </a:r>
            <a:r>
              <a:rPr lang="en-US" altLang="ja-JP" sz="1000" dirty="0">
                <a:solidFill>
                  <a:schemeClr val="tx1">
                    <a:lumMod val="65000"/>
                    <a:lumOff val="35000"/>
                  </a:schemeClr>
                </a:solidFill>
                <a:latin typeface="メイリオ" panose="020B0604030504040204" pitchFamily="50" charset="-128"/>
                <a:ea typeface="メイリオ" panose="020B0604030504040204" pitchFamily="50" charset="-128"/>
              </a:rPr>
              <a:t>『</a:t>
            </a:r>
            <a:r>
              <a:rPr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あなたの適正年収＆転職市場価値</a:t>
            </a:r>
            <a:r>
              <a:rPr lang="en-US" altLang="ja-JP" sz="1000" dirty="0">
                <a:solidFill>
                  <a:schemeClr val="tx1">
                    <a:lumMod val="65000"/>
                    <a:lumOff val="35000"/>
                  </a:schemeClr>
                </a:solidFill>
                <a:latin typeface="メイリオ" panose="020B0604030504040204" pitchFamily="50" charset="-128"/>
                <a:ea typeface="メイリオ" panose="020B0604030504040204" pitchFamily="50" charset="-128"/>
              </a:rPr>
              <a:t>』</a:t>
            </a:r>
            <a:r>
              <a:rPr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診断」</a:t>
            </a:r>
          </a:p>
        </p:txBody>
      </p:sp>
      <p:sp>
        <p:nvSpPr>
          <p:cNvPr id="23" name="テキスト ボックス 22">
            <a:extLst>
              <a:ext uri="{FF2B5EF4-FFF2-40B4-BE49-F238E27FC236}">
                <a16:creationId xmlns:a16="http://schemas.microsoft.com/office/drawing/2014/main" id="{5E084692-8341-F62C-BDA3-93FFBCF87329}"/>
              </a:ext>
            </a:extLst>
          </p:cNvPr>
          <p:cNvSpPr txBox="1"/>
          <p:nvPr/>
        </p:nvSpPr>
        <p:spPr>
          <a:xfrm>
            <a:off x="1319183" y="5657130"/>
            <a:ext cx="2772917" cy="246221"/>
          </a:xfrm>
          <a:prstGeom prst="rect">
            <a:avLst/>
          </a:prstGeom>
          <a:noFill/>
        </p:spPr>
        <p:txBody>
          <a:bodyPr wrap="square">
            <a:spAutoFit/>
          </a:bodyPr>
          <a:lstStyle/>
          <a:p>
            <a:r>
              <a:rPr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a:t>
            </a:r>
            <a:r>
              <a:rPr lang="ja-JP" altLang="ja-JP" sz="1000" dirty="0">
                <a:solidFill>
                  <a:schemeClr val="tx1">
                    <a:lumMod val="65000"/>
                    <a:lumOff val="35000"/>
                  </a:schemeClr>
                </a:solidFill>
                <a:latin typeface="メイリオ" panose="020B0604030504040204" pitchFamily="50" charset="-128"/>
                <a:ea typeface="メイリオ" panose="020B0604030504040204" pitchFamily="50" charset="-128"/>
              </a:rPr>
              <a:t>4月入社に間に合う！求人数が増加する</a:t>
            </a:r>
            <a:endParaRPr lang="en-US" altLang="ja-JP" sz="10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29" name="Shape 29">
            <a:extLst>
              <a:ext uri="{FF2B5EF4-FFF2-40B4-BE49-F238E27FC236}">
                <a16:creationId xmlns:a16="http://schemas.microsoft.com/office/drawing/2014/main" id="{B20887B4-FA60-453A-DF70-39F5445ADC5F}"/>
              </a:ext>
            </a:extLst>
          </p:cNvPr>
          <p:cNvSpPr/>
          <p:nvPr/>
        </p:nvSpPr>
        <p:spPr>
          <a:xfrm>
            <a:off x="6604040" y="4681749"/>
            <a:ext cx="0" cy="73152"/>
          </a:xfrm>
          <a:prstGeom prst="line">
            <a:avLst/>
          </a:prstGeom>
          <a:noFill/>
          <a:ln w="12700">
            <a:solidFill>
              <a:srgbClr val="DDDDDD"/>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39" name="テキスト ボックス 38">
            <a:extLst>
              <a:ext uri="{FF2B5EF4-FFF2-40B4-BE49-F238E27FC236}">
                <a16:creationId xmlns:a16="http://schemas.microsoft.com/office/drawing/2014/main" id="{8472013D-5308-599C-BCBD-A2C7ADFD17E4}"/>
              </a:ext>
            </a:extLst>
          </p:cNvPr>
          <p:cNvSpPr txBox="1"/>
          <p:nvPr/>
        </p:nvSpPr>
        <p:spPr>
          <a:xfrm>
            <a:off x="4344342" y="4695532"/>
            <a:ext cx="2772917" cy="246221"/>
          </a:xfrm>
          <a:prstGeom prst="rect">
            <a:avLst/>
          </a:prstGeom>
          <a:noFill/>
        </p:spPr>
        <p:txBody>
          <a:bodyPr wrap="square">
            <a:spAutoFit/>
          </a:bodyPr>
          <a:lstStyle/>
          <a:p>
            <a:r>
              <a:rPr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新年を迎えるにあたり</a:t>
            </a:r>
            <a:r>
              <a:rPr lang="en-US" altLang="ja-JP" sz="1000" dirty="0">
                <a:solidFill>
                  <a:schemeClr val="tx1">
                    <a:lumMod val="65000"/>
                    <a:lumOff val="35000"/>
                  </a:schemeClr>
                </a:solidFill>
                <a:latin typeface="メイリオ" panose="020B0604030504040204" pitchFamily="50" charset="-128"/>
                <a:ea typeface="メイリオ" panose="020B0604030504040204" pitchFamily="50" charset="-128"/>
              </a:rPr>
              <a:t>…</a:t>
            </a:r>
            <a:r>
              <a:rPr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a:t>
            </a:r>
          </a:p>
        </p:txBody>
      </p:sp>
      <p:sp>
        <p:nvSpPr>
          <p:cNvPr id="42" name="テキスト ボックス 41">
            <a:extLst>
              <a:ext uri="{FF2B5EF4-FFF2-40B4-BE49-F238E27FC236}">
                <a16:creationId xmlns:a16="http://schemas.microsoft.com/office/drawing/2014/main" id="{159782BD-D49E-7D50-5922-BF0AFE41609D}"/>
              </a:ext>
            </a:extLst>
          </p:cNvPr>
          <p:cNvSpPr txBox="1"/>
          <p:nvPr/>
        </p:nvSpPr>
        <p:spPr>
          <a:xfrm>
            <a:off x="4344342" y="5005823"/>
            <a:ext cx="2772917" cy="246221"/>
          </a:xfrm>
          <a:prstGeom prst="rect">
            <a:avLst/>
          </a:prstGeom>
          <a:noFill/>
        </p:spPr>
        <p:txBody>
          <a:bodyPr wrap="square">
            <a:spAutoFit/>
          </a:bodyPr>
          <a:lstStyle/>
          <a:p>
            <a:r>
              <a:rPr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求人数が多くなるこの機会に</a:t>
            </a:r>
            <a:r>
              <a:rPr lang="en-US" altLang="ja-JP" sz="1000" dirty="0">
                <a:solidFill>
                  <a:schemeClr val="tx1">
                    <a:lumMod val="65000"/>
                    <a:lumOff val="35000"/>
                  </a:schemeClr>
                </a:solidFill>
                <a:latin typeface="メイリオ" panose="020B0604030504040204" pitchFamily="50" charset="-128"/>
                <a:ea typeface="メイリオ" panose="020B0604030504040204" pitchFamily="50" charset="-128"/>
              </a:rPr>
              <a:t>…</a:t>
            </a:r>
            <a:r>
              <a:rPr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a:t>
            </a:r>
            <a:endParaRPr lang="en-US" altLang="ja-JP" sz="10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46" name="テキスト ボックス 45">
            <a:extLst>
              <a:ext uri="{FF2B5EF4-FFF2-40B4-BE49-F238E27FC236}">
                <a16:creationId xmlns:a16="http://schemas.microsoft.com/office/drawing/2014/main" id="{DFA1ED2F-ED5C-555B-A807-54C30A8D6A03}"/>
              </a:ext>
            </a:extLst>
          </p:cNvPr>
          <p:cNvSpPr txBox="1"/>
          <p:nvPr/>
        </p:nvSpPr>
        <p:spPr>
          <a:xfrm>
            <a:off x="7268565" y="4476013"/>
            <a:ext cx="2442473" cy="861774"/>
          </a:xfrm>
          <a:prstGeom prst="rect">
            <a:avLst/>
          </a:prstGeom>
          <a:noFill/>
        </p:spPr>
        <p:txBody>
          <a:bodyPr wrap="square">
            <a:spAutoFit/>
          </a:bodyPr>
          <a:lstStyle/>
          <a:p>
            <a:r>
              <a:rPr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a:t>
            </a:r>
            <a:r>
              <a:rPr lang="en-US" altLang="ja-JP" sz="1000" dirty="0">
                <a:solidFill>
                  <a:schemeClr val="tx1">
                    <a:lumMod val="65000"/>
                    <a:lumOff val="35000"/>
                  </a:schemeClr>
                </a:solidFill>
                <a:latin typeface="メイリオ" panose="020B0604030504040204" pitchFamily="50" charset="-128"/>
                <a:ea typeface="メイリオ" panose="020B0604030504040204" pitchFamily="50" charset="-128"/>
              </a:rPr>
              <a:t>LINE</a:t>
            </a:r>
            <a:r>
              <a:rPr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友だち限定・先行公開」</a:t>
            </a:r>
            <a:endParaRPr lang="en-US" altLang="ja-JP" sz="1000" dirty="0">
              <a:solidFill>
                <a:schemeClr val="tx1">
                  <a:lumMod val="65000"/>
                  <a:lumOff val="35000"/>
                </a:schemeClr>
              </a:solidFill>
              <a:latin typeface="メイリオ" panose="020B0604030504040204" pitchFamily="50" charset="-128"/>
              <a:ea typeface="メイリオ" panose="020B0604030504040204" pitchFamily="50" charset="-128"/>
            </a:endParaRPr>
          </a:p>
          <a:p>
            <a:r>
              <a:rPr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・「残りの採用枠 </a:t>
            </a:r>
            <a:r>
              <a:rPr lang="en-US" altLang="ja-JP" sz="1000" dirty="0">
                <a:solidFill>
                  <a:schemeClr val="tx1">
                    <a:lumMod val="65000"/>
                    <a:lumOff val="35000"/>
                  </a:schemeClr>
                </a:solidFill>
                <a:latin typeface="メイリオ" panose="020B0604030504040204" pitchFamily="50" charset="-128"/>
                <a:ea typeface="メイリオ" panose="020B0604030504040204" pitchFamily="50" charset="-128"/>
              </a:rPr>
              <a:t>1</a:t>
            </a:r>
            <a:r>
              <a:rPr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名」</a:t>
            </a:r>
            <a:endParaRPr lang="en-US" altLang="ja-JP" sz="1000" dirty="0">
              <a:solidFill>
                <a:schemeClr val="tx1">
                  <a:lumMod val="65000"/>
                  <a:lumOff val="35000"/>
                </a:schemeClr>
              </a:solidFill>
              <a:latin typeface="メイリオ" panose="020B0604030504040204" pitchFamily="50" charset="-128"/>
              <a:ea typeface="メイリオ" panose="020B0604030504040204" pitchFamily="50" charset="-128"/>
            </a:endParaRPr>
          </a:p>
          <a:p>
            <a:r>
              <a:rPr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a:t>
            </a:r>
            <a:r>
              <a:rPr lang="en-US" altLang="ja-JP" sz="1000" dirty="0">
                <a:solidFill>
                  <a:schemeClr val="tx1">
                    <a:lumMod val="65000"/>
                    <a:lumOff val="35000"/>
                  </a:schemeClr>
                </a:solidFill>
                <a:latin typeface="メイリオ" panose="020B0604030504040204" pitchFamily="50" charset="-128"/>
                <a:ea typeface="メイリオ" panose="020B0604030504040204" pitchFamily="50" charset="-128"/>
              </a:rPr>
              <a:t>15</a:t>
            </a:r>
            <a:r>
              <a:rPr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分のオンライン壁打ち</a:t>
            </a:r>
            <a:endParaRPr lang="en-US" altLang="ja-JP" sz="1000" dirty="0">
              <a:solidFill>
                <a:schemeClr val="tx1">
                  <a:lumMod val="65000"/>
                  <a:lumOff val="35000"/>
                </a:schemeClr>
              </a:solidFill>
              <a:latin typeface="メイリオ" panose="020B0604030504040204" pitchFamily="50" charset="-128"/>
              <a:ea typeface="メイリオ" panose="020B0604030504040204" pitchFamily="50" charset="-128"/>
            </a:endParaRPr>
          </a:p>
          <a:p>
            <a:r>
              <a:rPr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・テキストだけで完結の</a:t>
            </a:r>
            <a:r>
              <a:rPr lang="en-US" altLang="ja-JP" sz="1000" dirty="0">
                <a:solidFill>
                  <a:schemeClr val="tx1">
                    <a:lumMod val="65000"/>
                    <a:lumOff val="35000"/>
                  </a:schemeClr>
                </a:solidFill>
                <a:latin typeface="メイリオ" panose="020B0604030504040204" pitchFamily="50" charset="-128"/>
                <a:ea typeface="メイリオ" panose="020B0604030504040204" pitchFamily="50" charset="-128"/>
              </a:rPr>
              <a:t>CA</a:t>
            </a:r>
            <a:r>
              <a:rPr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質問</a:t>
            </a:r>
            <a:endParaRPr lang="en-US" altLang="ja-JP" sz="1000" dirty="0">
              <a:solidFill>
                <a:schemeClr val="tx1">
                  <a:lumMod val="65000"/>
                  <a:lumOff val="35000"/>
                </a:schemeClr>
              </a:solidFill>
              <a:latin typeface="メイリオ" panose="020B0604030504040204" pitchFamily="50" charset="-128"/>
              <a:ea typeface="メイリオ" panose="020B0604030504040204" pitchFamily="50" charset="-128"/>
            </a:endParaRPr>
          </a:p>
          <a:p>
            <a:r>
              <a:rPr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・「あなたに会いたいオファーが</a:t>
            </a:r>
            <a:r>
              <a:rPr lang="en-US" altLang="ja-JP" sz="1000" dirty="0">
                <a:solidFill>
                  <a:schemeClr val="tx1">
                    <a:lumMod val="65000"/>
                    <a:lumOff val="35000"/>
                  </a:schemeClr>
                </a:solidFill>
                <a:latin typeface="メイリオ" panose="020B0604030504040204" pitchFamily="50" charset="-128"/>
                <a:ea typeface="メイリオ" panose="020B0604030504040204" pitchFamily="50" charset="-128"/>
              </a:rPr>
              <a:t>…</a:t>
            </a:r>
            <a:r>
              <a:rPr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a:t>
            </a:r>
          </a:p>
        </p:txBody>
      </p:sp>
      <p:sp>
        <p:nvSpPr>
          <p:cNvPr id="11" name="テキスト ボックス 10">
            <a:extLst>
              <a:ext uri="{FF2B5EF4-FFF2-40B4-BE49-F238E27FC236}">
                <a16:creationId xmlns:a16="http://schemas.microsoft.com/office/drawing/2014/main" id="{212FC656-86E9-6A8C-0891-DCF1433F5FA2}"/>
              </a:ext>
            </a:extLst>
          </p:cNvPr>
          <p:cNvSpPr txBox="1"/>
          <p:nvPr/>
        </p:nvSpPr>
        <p:spPr>
          <a:xfrm>
            <a:off x="4344341" y="5316114"/>
            <a:ext cx="2772917" cy="246221"/>
          </a:xfrm>
          <a:prstGeom prst="rect">
            <a:avLst/>
          </a:prstGeom>
          <a:noFill/>
        </p:spPr>
        <p:txBody>
          <a:bodyPr wrap="square">
            <a:spAutoFit/>
          </a:bodyPr>
          <a:lstStyle/>
          <a:p>
            <a:r>
              <a:rPr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お盆で地元に帰って、転職決めた友だちが</a:t>
            </a:r>
            <a:r>
              <a:rPr lang="en-US" altLang="ja-JP" sz="1000" dirty="0">
                <a:solidFill>
                  <a:schemeClr val="tx1">
                    <a:lumMod val="65000"/>
                    <a:lumOff val="35000"/>
                  </a:schemeClr>
                </a:solidFill>
                <a:latin typeface="メイリオ" panose="020B0604030504040204" pitchFamily="50" charset="-128"/>
                <a:ea typeface="メイリオ" panose="020B0604030504040204" pitchFamily="50" charset="-128"/>
              </a:rPr>
              <a:t>…</a:t>
            </a:r>
            <a:r>
              <a:rPr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a:t>
            </a:r>
            <a:endParaRPr lang="en-US" altLang="ja-JP" sz="10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330201138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AA1A8D-DF9B-DC16-FB09-828A6A4245CB}"/>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F62311B2-8B20-5404-3961-D924DB3A31AD}"/>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chemeClr val="bg1">
                    <a:lumMod val="65000"/>
                  </a:schemeClr>
                </a:solidFill>
                <a:latin typeface="メイリオ" panose="020B0604030504040204" pitchFamily="50" charset="-128"/>
                <a:ea typeface="メイリオ" panose="020B0604030504040204" pitchFamily="50" charset="-128"/>
                <a:cs typeface="Meiryo"/>
                <a:sym typeface="Meiryo"/>
              </a:rPr>
              <a:t>アジェンダ</a:t>
            </a:r>
          </a:p>
        </p:txBody>
      </p:sp>
      <p:sp>
        <p:nvSpPr>
          <p:cNvPr id="14" name="Google Shape;752;p28">
            <a:extLst>
              <a:ext uri="{FF2B5EF4-FFF2-40B4-BE49-F238E27FC236}">
                <a16:creationId xmlns:a16="http://schemas.microsoft.com/office/drawing/2014/main" id="{E54327E7-0F08-0D05-B25E-DE55D46BB2EB}"/>
              </a:ext>
            </a:extLst>
          </p:cNvPr>
          <p:cNvSpPr txBox="1"/>
          <p:nvPr/>
        </p:nvSpPr>
        <p:spPr>
          <a:xfrm>
            <a:off x="602223" y="1104688"/>
            <a:ext cx="1104657" cy="584735"/>
          </a:xfrm>
          <a:prstGeom prst="rect">
            <a:avLst/>
          </a:prstGeom>
          <a:noFill/>
          <a:ln>
            <a:noFill/>
          </a:ln>
        </p:spPr>
        <p:txBody>
          <a:bodyPr spcFirstLastPara="1" wrap="square" lIns="91425" tIns="45700" rIns="91425" bIns="45700" anchor="ctr" anchorCtr="0">
            <a:spAutoFit/>
          </a:bodyPr>
          <a:lstStyle/>
          <a:p>
            <a:pPr lvl="0"/>
            <a:r>
              <a:rPr lang="en-US" altLang="ja-JP" sz="3200" b="1" dirty="0">
                <a:solidFill>
                  <a:srgbClr val="323366"/>
                </a:solidFill>
                <a:latin typeface="メイリオ" panose="020B0604030504040204" pitchFamily="50" charset="-128"/>
                <a:ea typeface="メイリオ" panose="020B0604030504040204" pitchFamily="50" charset="-128"/>
                <a:cs typeface="Meiryo"/>
                <a:sym typeface="Meiryo"/>
              </a:rPr>
              <a:t>04</a:t>
            </a:r>
            <a:endParaRPr lang="ja-JP" altLang="en-US" sz="3200" b="1" dirty="0">
              <a:solidFill>
                <a:srgbClr val="323366"/>
              </a:solidFill>
              <a:latin typeface="メイリオ" panose="020B0604030504040204" pitchFamily="50" charset="-128"/>
              <a:ea typeface="メイリオ" panose="020B0604030504040204" pitchFamily="50" charset="-128"/>
              <a:cs typeface="Meiryo"/>
              <a:sym typeface="Meiryo"/>
            </a:endParaRPr>
          </a:p>
        </p:txBody>
      </p:sp>
      <p:sp>
        <p:nvSpPr>
          <p:cNvPr id="16" name="Google Shape;752;p28">
            <a:extLst>
              <a:ext uri="{FF2B5EF4-FFF2-40B4-BE49-F238E27FC236}">
                <a16:creationId xmlns:a16="http://schemas.microsoft.com/office/drawing/2014/main" id="{2D19382B-2C00-B10F-B0BE-D0D83D18ADF1}"/>
              </a:ext>
            </a:extLst>
          </p:cNvPr>
          <p:cNvSpPr txBox="1"/>
          <p:nvPr/>
        </p:nvSpPr>
        <p:spPr>
          <a:xfrm>
            <a:off x="1867143" y="1043132"/>
            <a:ext cx="5966217" cy="707846"/>
          </a:xfrm>
          <a:prstGeom prst="rect">
            <a:avLst/>
          </a:prstGeom>
          <a:noFill/>
          <a:ln>
            <a:noFill/>
          </a:ln>
        </p:spPr>
        <p:txBody>
          <a:bodyPr spcFirstLastPara="1" wrap="square" lIns="91425" tIns="45700" rIns="91425" bIns="45700" anchor="ctr" anchorCtr="0">
            <a:spAutoFit/>
          </a:bodyPr>
          <a:lstStyle/>
          <a:p>
            <a:pPr lvl="0"/>
            <a:r>
              <a:rPr lang="ja-JP" altLang="en-US" sz="4000" b="1" dirty="0">
                <a:solidFill>
                  <a:schemeClr val="tx1">
                    <a:lumMod val="65000"/>
                    <a:lumOff val="35000"/>
                  </a:schemeClr>
                </a:solidFill>
                <a:latin typeface="メイリオ" panose="020B0604030504040204" pitchFamily="50" charset="-128"/>
                <a:ea typeface="メイリオ" panose="020B0604030504040204" pitchFamily="50" charset="-128"/>
                <a:cs typeface="Meiryo"/>
                <a:sym typeface="Meiryo"/>
              </a:rPr>
              <a:t>料金形態</a:t>
            </a:r>
          </a:p>
        </p:txBody>
      </p:sp>
      <p:cxnSp>
        <p:nvCxnSpPr>
          <p:cNvPr id="17" name="直線コネクタ 16">
            <a:extLst>
              <a:ext uri="{FF2B5EF4-FFF2-40B4-BE49-F238E27FC236}">
                <a16:creationId xmlns:a16="http://schemas.microsoft.com/office/drawing/2014/main" id="{017042CD-D697-408D-A1BC-4F66A205DD00}"/>
              </a:ext>
            </a:extLst>
          </p:cNvPr>
          <p:cNvCxnSpPr>
            <a:cxnSpLocks/>
          </p:cNvCxnSpPr>
          <p:nvPr/>
        </p:nvCxnSpPr>
        <p:spPr>
          <a:xfrm>
            <a:off x="608527" y="1681803"/>
            <a:ext cx="944805" cy="0"/>
          </a:xfrm>
          <a:prstGeom prst="line">
            <a:avLst/>
          </a:prstGeom>
          <a:ln w="57150">
            <a:solidFill>
              <a:srgbClr val="10253F"/>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88362433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90CDE0-BB10-C7C6-9CB9-785832AABAF6}"/>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F4DA5ED1-E7F2-6353-56C2-FA4628CF19B0}"/>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弊社からご提供できる運用プラン</a:t>
            </a:r>
          </a:p>
        </p:txBody>
      </p:sp>
      <p:sp>
        <p:nvSpPr>
          <p:cNvPr id="9" name="正方形/長方形 8">
            <a:extLst>
              <a:ext uri="{FF2B5EF4-FFF2-40B4-BE49-F238E27FC236}">
                <a16:creationId xmlns:a16="http://schemas.microsoft.com/office/drawing/2014/main" id="{2AEA7C23-DE93-9590-AE94-B792C3122BEF}"/>
              </a:ext>
            </a:extLst>
          </p:cNvPr>
          <p:cNvSpPr/>
          <p:nvPr/>
        </p:nvSpPr>
        <p:spPr>
          <a:xfrm>
            <a:off x="0" y="681570"/>
            <a:ext cx="2914650"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dirty="0">
                <a:latin typeface="メイリオ" panose="020B0604030504040204" pitchFamily="50" charset="-128"/>
                <a:ea typeface="メイリオ" panose="020B0604030504040204" pitchFamily="50" charset="-128"/>
              </a:rPr>
              <a:t>サービス内容</a:t>
            </a:r>
            <a:endParaRPr kumimoji="1" lang="ja-JP" altLang="en-US" sz="1400" dirty="0">
              <a:latin typeface="メイリオ" panose="020B0604030504040204" pitchFamily="50" charset="-128"/>
              <a:ea typeface="メイリオ" panose="020B0604030504040204" pitchFamily="50" charset="-128"/>
            </a:endParaRPr>
          </a:p>
        </p:txBody>
      </p:sp>
      <p:sp>
        <p:nvSpPr>
          <p:cNvPr id="5" name="Google Shape;752;p28">
            <a:extLst>
              <a:ext uri="{FF2B5EF4-FFF2-40B4-BE49-F238E27FC236}">
                <a16:creationId xmlns:a16="http://schemas.microsoft.com/office/drawing/2014/main" id="{9D6FEB09-4D8F-8EAE-D257-4C677C23BB92}"/>
              </a:ext>
            </a:extLst>
          </p:cNvPr>
          <p:cNvSpPr txBox="1"/>
          <p:nvPr/>
        </p:nvSpPr>
        <p:spPr>
          <a:xfrm>
            <a:off x="2983774" y="782870"/>
            <a:ext cx="6619875" cy="338514"/>
          </a:xfrm>
          <a:prstGeom prst="rect">
            <a:avLst/>
          </a:prstGeom>
          <a:noFill/>
          <a:ln>
            <a:noFill/>
          </a:ln>
        </p:spPr>
        <p:txBody>
          <a:bodyPr spcFirstLastPara="1" wrap="square" lIns="91425" tIns="45700" rIns="91425" bIns="45700" anchor="ctr" anchorCtr="0">
            <a:spAutoFit/>
          </a:bodyPr>
          <a:lstStyle/>
          <a:p>
            <a:r>
              <a:rPr lang="ja-JP" altLang="en-US" sz="1600" b="1" dirty="0">
                <a:latin typeface="メイリオ" panose="020B0604030504040204" pitchFamily="50" charset="-128"/>
                <a:ea typeface="メイリオ" panose="020B0604030504040204" pitchFamily="50" charset="-128"/>
                <a:cs typeface="Meiryo"/>
                <a:sym typeface="Meiryo"/>
              </a:rPr>
              <a:t>施策成果件数に伴う費用発生でリスクを抑えた運用スタートを実現。</a:t>
            </a:r>
          </a:p>
        </p:txBody>
      </p:sp>
      <p:sp>
        <p:nvSpPr>
          <p:cNvPr id="17" name="正方形/長方形 16">
            <a:extLst>
              <a:ext uri="{FF2B5EF4-FFF2-40B4-BE49-F238E27FC236}">
                <a16:creationId xmlns:a16="http://schemas.microsoft.com/office/drawing/2014/main" id="{64B91377-FDB2-808E-0970-159FDA78ABB9}"/>
              </a:ext>
            </a:extLst>
          </p:cNvPr>
          <p:cNvSpPr/>
          <p:nvPr/>
        </p:nvSpPr>
        <p:spPr>
          <a:xfrm>
            <a:off x="3996942" y="122215"/>
            <a:ext cx="2083719" cy="320757"/>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rPr>
              <a:t>DYM</a:t>
            </a:r>
            <a:r>
              <a:rPr kumimoji="1" lang="ja-JP" altLang="en-US" sz="1400" dirty="0">
                <a:latin typeface="メイリオ" panose="020B0604030504040204" pitchFamily="50" charset="-128"/>
                <a:ea typeface="メイリオ" panose="020B0604030504040204" pitchFamily="50" charset="-128"/>
              </a:rPr>
              <a:t>プラン</a:t>
            </a:r>
          </a:p>
        </p:txBody>
      </p:sp>
      <p:sp>
        <p:nvSpPr>
          <p:cNvPr id="3" name="Shape 2">
            <a:extLst>
              <a:ext uri="{FF2B5EF4-FFF2-40B4-BE49-F238E27FC236}">
                <a16:creationId xmlns:a16="http://schemas.microsoft.com/office/drawing/2014/main" id="{133EC02F-4D0A-E846-1994-A1FA50AA761C}"/>
              </a:ext>
            </a:extLst>
          </p:cNvPr>
          <p:cNvSpPr/>
          <p:nvPr/>
        </p:nvSpPr>
        <p:spPr>
          <a:xfrm>
            <a:off x="3996942" y="1299722"/>
            <a:ext cx="5180076" cy="658368"/>
          </a:xfrm>
          <a:prstGeom prst="roundRect">
            <a:avLst>
              <a:gd name="adj" fmla="val 11111"/>
            </a:avLst>
          </a:prstGeom>
          <a:solidFill>
            <a:schemeClr val="bg1">
              <a:lumMod val="85000"/>
            </a:schemeClr>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22" name="Shape 3">
            <a:extLst>
              <a:ext uri="{FF2B5EF4-FFF2-40B4-BE49-F238E27FC236}">
                <a16:creationId xmlns:a16="http://schemas.microsoft.com/office/drawing/2014/main" id="{B03D337C-CE0C-8D62-1622-3E7F414F385E}"/>
              </a:ext>
            </a:extLst>
          </p:cNvPr>
          <p:cNvSpPr/>
          <p:nvPr/>
        </p:nvSpPr>
        <p:spPr>
          <a:xfrm>
            <a:off x="4232400" y="1391162"/>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25" name="Text 4">
            <a:extLst>
              <a:ext uri="{FF2B5EF4-FFF2-40B4-BE49-F238E27FC236}">
                <a16:creationId xmlns:a16="http://schemas.microsoft.com/office/drawing/2014/main" id="{B1A45445-BB59-E57C-783F-82C190B07BF0}"/>
              </a:ext>
            </a:extLst>
          </p:cNvPr>
          <p:cNvSpPr/>
          <p:nvPr/>
        </p:nvSpPr>
        <p:spPr>
          <a:xfrm>
            <a:off x="4232400" y="1391162"/>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300" b="1" dirty="0">
                <a:solidFill>
                  <a:srgbClr val="CADCFC"/>
                </a:solidFill>
                <a:latin typeface="メイリオ" panose="020B0604030504040204" pitchFamily="50" charset="-128"/>
                <a:ea typeface="メイリオ" panose="020B0604030504040204" pitchFamily="50" charset="-128"/>
                <a:cs typeface="Calibri" pitchFamily="34" charset="-120"/>
              </a:rPr>
              <a:t>01</a:t>
            </a:r>
            <a:endParaRPr lang="en-US" sz="1300" dirty="0">
              <a:latin typeface="メイリオ" panose="020B0604030504040204" pitchFamily="50" charset="-128"/>
              <a:ea typeface="メイリオ" panose="020B0604030504040204" pitchFamily="50" charset="-128"/>
            </a:endParaRPr>
          </a:p>
        </p:txBody>
      </p:sp>
      <p:sp>
        <p:nvSpPr>
          <p:cNvPr id="30" name="Text 5">
            <a:extLst>
              <a:ext uri="{FF2B5EF4-FFF2-40B4-BE49-F238E27FC236}">
                <a16:creationId xmlns:a16="http://schemas.microsoft.com/office/drawing/2014/main" id="{9B28CF00-AAB9-C0E8-E939-BB9A0644E64F}"/>
              </a:ext>
            </a:extLst>
          </p:cNvPr>
          <p:cNvSpPr/>
          <p:nvPr/>
        </p:nvSpPr>
        <p:spPr>
          <a:xfrm>
            <a:off x="4872480" y="1354586"/>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300" b="1" dirty="0">
                <a:solidFill>
                  <a:srgbClr val="1E2761"/>
                </a:solidFill>
                <a:latin typeface="メイリオ" panose="020B0604030504040204" pitchFamily="50" charset="-128"/>
                <a:ea typeface="メイリオ" panose="020B0604030504040204" pitchFamily="50" charset="-128"/>
                <a:cs typeface="Calibri" pitchFamily="34" charset="-120"/>
              </a:rPr>
              <a:t>転職ユーザーのカスタマージャーニー（8フェーズ）</a:t>
            </a:r>
            <a:endParaRPr lang="en-US" sz="1300" dirty="0">
              <a:latin typeface="メイリオ" panose="020B0604030504040204" pitchFamily="50" charset="-128"/>
              <a:ea typeface="メイリオ" panose="020B0604030504040204" pitchFamily="50" charset="-128"/>
            </a:endParaRPr>
          </a:p>
        </p:txBody>
      </p:sp>
      <p:sp>
        <p:nvSpPr>
          <p:cNvPr id="31" name="Text 6">
            <a:extLst>
              <a:ext uri="{FF2B5EF4-FFF2-40B4-BE49-F238E27FC236}">
                <a16:creationId xmlns:a16="http://schemas.microsoft.com/office/drawing/2014/main" id="{859B7776-633B-4EB8-939E-2F40912A0B26}"/>
              </a:ext>
            </a:extLst>
          </p:cNvPr>
          <p:cNvSpPr/>
          <p:nvPr/>
        </p:nvSpPr>
        <p:spPr>
          <a:xfrm>
            <a:off x="4872480" y="1647194"/>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000" dirty="0">
                <a:solidFill>
                  <a:srgbClr val="64748B"/>
                </a:solidFill>
                <a:latin typeface="メイリオ" panose="020B0604030504040204" pitchFamily="50" charset="-128"/>
                <a:ea typeface="メイリオ" panose="020B0604030504040204" pitchFamily="50" charset="-128"/>
                <a:cs typeface="Calibri" pitchFamily="34" charset="-120"/>
              </a:rPr>
              <a:t>接触〜リピートまでの動線設計</a:t>
            </a:r>
            <a:endParaRPr lang="en-US" sz="1000" dirty="0">
              <a:latin typeface="メイリオ" panose="020B0604030504040204" pitchFamily="50" charset="-128"/>
              <a:ea typeface="メイリオ" panose="020B0604030504040204" pitchFamily="50" charset="-128"/>
            </a:endParaRPr>
          </a:p>
        </p:txBody>
      </p:sp>
      <p:sp>
        <p:nvSpPr>
          <p:cNvPr id="32" name="Shape 7">
            <a:extLst>
              <a:ext uri="{FF2B5EF4-FFF2-40B4-BE49-F238E27FC236}">
                <a16:creationId xmlns:a16="http://schemas.microsoft.com/office/drawing/2014/main" id="{7D44BDCF-0A55-B2C9-910D-3324635E44D1}"/>
              </a:ext>
            </a:extLst>
          </p:cNvPr>
          <p:cNvSpPr/>
          <p:nvPr/>
        </p:nvSpPr>
        <p:spPr>
          <a:xfrm>
            <a:off x="3996942" y="2067818"/>
            <a:ext cx="5180076" cy="658368"/>
          </a:xfrm>
          <a:prstGeom prst="roundRect">
            <a:avLst>
              <a:gd name="adj" fmla="val 11111"/>
            </a:avLst>
          </a:prstGeom>
          <a:solidFill>
            <a:srgbClr val="FFFFFF"/>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33" name="Shape 8">
            <a:extLst>
              <a:ext uri="{FF2B5EF4-FFF2-40B4-BE49-F238E27FC236}">
                <a16:creationId xmlns:a16="http://schemas.microsoft.com/office/drawing/2014/main" id="{6B95D5FC-BCA7-C12E-16F3-F3982D7CB7FF}"/>
              </a:ext>
            </a:extLst>
          </p:cNvPr>
          <p:cNvSpPr/>
          <p:nvPr/>
        </p:nvSpPr>
        <p:spPr>
          <a:xfrm>
            <a:off x="4232400" y="2159258"/>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34" name="Text 9">
            <a:extLst>
              <a:ext uri="{FF2B5EF4-FFF2-40B4-BE49-F238E27FC236}">
                <a16:creationId xmlns:a16="http://schemas.microsoft.com/office/drawing/2014/main" id="{337B0579-C212-59E6-2BF8-06592B5DE9B2}"/>
              </a:ext>
            </a:extLst>
          </p:cNvPr>
          <p:cNvSpPr/>
          <p:nvPr/>
        </p:nvSpPr>
        <p:spPr>
          <a:xfrm>
            <a:off x="4232400" y="2159258"/>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300" b="1" dirty="0">
                <a:solidFill>
                  <a:srgbClr val="CADCFC"/>
                </a:solidFill>
                <a:latin typeface="メイリオ" panose="020B0604030504040204" pitchFamily="50" charset="-128"/>
                <a:ea typeface="メイリオ" panose="020B0604030504040204" pitchFamily="50" charset="-128"/>
                <a:cs typeface="Calibri" pitchFamily="34" charset="-120"/>
              </a:rPr>
              <a:t>02</a:t>
            </a:r>
            <a:endParaRPr lang="en-US" sz="1300" dirty="0">
              <a:latin typeface="メイリオ" panose="020B0604030504040204" pitchFamily="50" charset="-128"/>
              <a:ea typeface="メイリオ" panose="020B0604030504040204" pitchFamily="50" charset="-128"/>
            </a:endParaRPr>
          </a:p>
        </p:txBody>
      </p:sp>
      <p:sp>
        <p:nvSpPr>
          <p:cNvPr id="35" name="Text 10">
            <a:extLst>
              <a:ext uri="{FF2B5EF4-FFF2-40B4-BE49-F238E27FC236}">
                <a16:creationId xmlns:a16="http://schemas.microsoft.com/office/drawing/2014/main" id="{920D37BD-A1AA-216C-CD8A-FC40DD16D16E}"/>
              </a:ext>
            </a:extLst>
          </p:cNvPr>
          <p:cNvSpPr/>
          <p:nvPr/>
        </p:nvSpPr>
        <p:spPr>
          <a:xfrm>
            <a:off x="4872480" y="2122682"/>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300" b="1" dirty="0">
                <a:solidFill>
                  <a:srgbClr val="1E2761"/>
                </a:solidFill>
                <a:latin typeface="メイリオ" panose="020B0604030504040204" pitchFamily="50" charset="-128"/>
                <a:ea typeface="メイリオ" panose="020B0604030504040204" pitchFamily="50" charset="-128"/>
                <a:cs typeface="Calibri" pitchFamily="34" charset="-120"/>
              </a:rPr>
              <a:t>LINEステップ配信シナリオ（</a:t>
            </a:r>
            <a:r>
              <a:rPr lang="en-US" altLang="ja-JP" sz="1300" b="1" dirty="0">
                <a:solidFill>
                  <a:srgbClr val="1E2761"/>
                </a:solidFill>
                <a:latin typeface="メイリオ" panose="020B0604030504040204" pitchFamily="50" charset="-128"/>
                <a:ea typeface="メイリオ" panose="020B0604030504040204" pitchFamily="50" charset="-128"/>
                <a:cs typeface="Calibri" pitchFamily="34" charset="-120"/>
              </a:rPr>
              <a:t>5-10</a:t>
            </a:r>
            <a:r>
              <a:rPr lang="ja-JP" altLang="en-US" sz="1300" b="1" dirty="0">
                <a:solidFill>
                  <a:srgbClr val="1E2761"/>
                </a:solidFill>
                <a:latin typeface="メイリオ" panose="020B0604030504040204" pitchFamily="50" charset="-128"/>
                <a:ea typeface="メイリオ" panose="020B0604030504040204" pitchFamily="50" charset="-128"/>
                <a:cs typeface="Calibri" pitchFamily="34" charset="-120"/>
              </a:rPr>
              <a:t>本</a:t>
            </a:r>
            <a:r>
              <a:rPr lang="en-US" sz="1300" b="1" dirty="0">
                <a:solidFill>
                  <a:srgbClr val="1E2761"/>
                </a:solidFill>
                <a:latin typeface="メイリオ" panose="020B0604030504040204" pitchFamily="50" charset="-128"/>
                <a:ea typeface="メイリオ" panose="020B0604030504040204" pitchFamily="50" charset="-128"/>
                <a:cs typeface="Calibri" pitchFamily="34" charset="-120"/>
              </a:rPr>
              <a:t>）</a:t>
            </a:r>
            <a:endParaRPr lang="en-US" sz="1300" dirty="0">
              <a:latin typeface="メイリオ" panose="020B0604030504040204" pitchFamily="50" charset="-128"/>
              <a:ea typeface="メイリオ" panose="020B0604030504040204" pitchFamily="50" charset="-128"/>
            </a:endParaRPr>
          </a:p>
        </p:txBody>
      </p:sp>
      <p:sp>
        <p:nvSpPr>
          <p:cNvPr id="36" name="Text 11">
            <a:extLst>
              <a:ext uri="{FF2B5EF4-FFF2-40B4-BE49-F238E27FC236}">
                <a16:creationId xmlns:a16="http://schemas.microsoft.com/office/drawing/2014/main" id="{974E4765-6EBA-5838-ABF7-F21BBF0480C5}"/>
              </a:ext>
            </a:extLst>
          </p:cNvPr>
          <p:cNvSpPr/>
          <p:nvPr/>
        </p:nvSpPr>
        <p:spPr>
          <a:xfrm>
            <a:off x="4872480" y="2415290"/>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000" dirty="0">
                <a:solidFill>
                  <a:srgbClr val="64748B"/>
                </a:solidFill>
                <a:latin typeface="メイリオ" panose="020B0604030504040204" pitchFamily="50" charset="-128"/>
                <a:ea typeface="メイリオ" panose="020B0604030504040204" pitchFamily="50" charset="-128"/>
                <a:cs typeface="Calibri" pitchFamily="34" charset="-120"/>
              </a:rPr>
              <a:t>友だち追加直後〜成約誘導まで</a:t>
            </a:r>
            <a:endParaRPr lang="en-US" sz="1000" dirty="0">
              <a:latin typeface="メイリオ" panose="020B0604030504040204" pitchFamily="50" charset="-128"/>
              <a:ea typeface="メイリオ" panose="020B0604030504040204" pitchFamily="50" charset="-128"/>
            </a:endParaRPr>
          </a:p>
        </p:txBody>
      </p:sp>
      <p:sp>
        <p:nvSpPr>
          <p:cNvPr id="37" name="Shape 12">
            <a:extLst>
              <a:ext uri="{FF2B5EF4-FFF2-40B4-BE49-F238E27FC236}">
                <a16:creationId xmlns:a16="http://schemas.microsoft.com/office/drawing/2014/main" id="{D811E673-9797-08AA-F052-158BFDE9379B}"/>
              </a:ext>
            </a:extLst>
          </p:cNvPr>
          <p:cNvSpPr/>
          <p:nvPr/>
        </p:nvSpPr>
        <p:spPr>
          <a:xfrm>
            <a:off x="3996942" y="2835914"/>
            <a:ext cx="5180076" cy="658368"/>
          </a:xfrm>
          <a:prstGeom prst="roundRect">
            <a:avLst>
              <a:gd name="adj" fmla="val 11111"/>
            </a:avLst>
          </a:prstGeom>
          <a:solidFill>
            <a:srgbClr val="F4F7FF"/>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38" name="Shape 13">
            <a:extLst>
              <a:ext uri="{FF2B5EF4-FFF2-40B4-BE49-F238E27FC236}">
                <a16:creationId xmlns:a16="http://schemas.microsoft.com/office/drawing/2014/main" id="{11CD1AF8-999B-AEAA-EA44-B774D877F777}"/>
              </a:ext>
            </a:extLst>
          </p:cNvPr>
          <p:cNvSpPr/>
          <p:nvPr/>
        </p:nvSpPr>
        <p:spPr>
          <a:xfrm>
            <a:off x="4232400" y="2927354"/>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39" name="Text 14">
            <a:extLst>
              <a:ext uri="{FF2B5EF4-FFF2-40B4-BE49-F238E27FC236}">
                <a16:creationId xmlns:a16="http://schemas.microsoft.com/office/drawing/2014/main" id="{39EC602B-88CD-63D2-D10B-5FB47EBB73C5}"/>
              </a:ext>
            </a:extLst>
          </p:cNvPr>
          <p:cNvSpPr/>
          <p:nvPr/>
        </p:nvSpPr>
        <p:spPr>
          <a:xfrm>
            <a:off x="4232400" y="2927354"/>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300" b="1" dirty="0">
                <a:solidFill>
                  <a:srgbClr val="CADCFC"/>
                </a:solidFill>
                <a:latin typeface="メイリオ" panose="020B0604030504040204" pitchFamily="50" charset="-128"/>
                <a:ea typeface="メイリオ" panose="020B0604030504040204" pitchFamily="50" charset="-128"/>
                <a:cs typeface="Calibri" pitchFamily="34" charset="-120"/>
              </a:rPr>
              <a:t>03</a:t>
            </a:r>
            <a:endParaRPr lang="en-US" sz="1300" dirty="0">
              <a:latin typeface="メイリオ" panose="020B0604030504040204" pitchFamily="50" charset="-128"/>
              <a:ea typeface="メイリオ" panose="020B0604030504040204" pitchFamily="50" charset="-128"/>
            </a:endParaRPr>
          </a:p>
        </p:txBody>
      </p:sp>
      <p:sp>
        <p:nvSpPr>
          <p:cNvPr id="40" name="Text 15">
            <a:extLst>
              <a:ext uri="{FF2B5EF4-FFF2-40B4-BE49-F238E27FC236}">
                <a16:creationId xmlns:a16="http://schemas.microsoft.com/office/drawing/2014/main" id="{0AEE18E8-A2E5-2400-F73C-D5891E9A42FC}"/>
              </a:ext>
            </a:extLst>
          </p:cNvPr>
          <p:cNvSpPr/>
          <p:nvPr/>
        </p:nvSpPr>
        <p:spPr>
          <a:xfrm>
            <a:off x="4872480" y="2890778"/>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ja-JP" sz="1300" b="1" dirty="0" err="1">
                <a:solidFill>
                  <a:srgbClr val="1E2761"/>
                </a:solidFill>
                <a:latin typeface="メイリオ" panose="020B0604030504040204" pitchFamily="50" charset="-128"/>
                <a:ea typeface="メイリオ" panose="020B0604030504040204" pitchFamily="50" charset="-128"/>
                <a:cs typeface="Calibri" pitchFamily="34" charset="-120"/>
              </a:rPr>
              <a:t>アンケート設計（直接関与</a:t>
            </a:r>
            <a:r>
              <a:rPr lang="en-US" altLang="ja-JP" sz="1300" b="1" dirty="0">
                <a:solidFill>
                  <a:srgbClr val="1E2761"/>
                </a:solidFill>
                <a:latin typeface="メイリオ" panose="020B0604030504040204" pitchFamily="50" charset="-128"/>
                <a:ea typeface="メイリオ" panose="020B0604030504040204" pitchFamily="50" charset="-128"/>
                <a:cs typeface="Calibri" pitchFamily="34" charset="-120"/>
              </a:rPr>
              <a:t> / </a:t>
            </a:r>
            <a:r>
              <a:rPr lang="en-US" altLang="ja-JP" sz="1300" b="1" dirty="0" err="1">
                <a:solidFill>
                  <a:srgbClr val="1E2761"/>
                </a:solidFill>
                <a:latin typeface="メイリオ" panose="020B0604030504040204" pitchFamily="50" charset="-128"/>
                <a:ea typeface="メイリオ" panose="020B0604030504040204" pitchFamily="50" charset="-128"/>
                <a:cs typeface="Calibri" pitchFamily="34" charset="-120"/>
              </a:rPr>
              <a:t>診断型</a:t>
            </a:r>
            <a:r>
              <a:rPr lang="en-US" altLang="ja-JP" sz="1300" b="1" dirty="0">
                <a:solidFill>
                  <a:srgbClr val="1E2761"/>
                </a:solidFill>
                <a:latin typeface="メイリオ" panose="020B0604030504040204" pitchFamily="50" charset="-128"/>
                <a:ea typeface="メイリオ" panose="020B0604030504040204" pitchFamily="50" charset="-128"/>
                <a:cs typeface="Calibri" pitchFamily="34" charset="-120"/>
              </a:rPr>
              <a:t>）</a:t>
            </a:r>
            <a:endParaRPr lang="en-US" altLang="ja-JP" sz="1300" dirty="0">
              <a:latin typeface="メイリオ" panose="020B0604030504040204" pitchFamily="50" charset="-128"/>
              <a:ea typeface="メイリオ" panose="020B0604030504040204" pitchFamily="50" charset="-128"/>
            </a:endParaRPr>
          </a:p>
        </p:txBody>
      </p:sp>
      <p:sp>
        <p:nvSpPr>
          <p:cNvPr id="42" name="Text 16">
            <a:extLst>
              <a:ext uri="{FF2B5EF4-FFF2-40B4-BE49-F238E27FC236}">
                <a16:creationId xmlns:a16="http://schemas.microsoft.com/office/drawing/2014/main" id="{B4775A80-7B08-FF59-7696-55B7BFFE29C0}"/>
              </a:ext>
            </a:extLst>
          </p:cNvPr>
          <p:cNvSpPr/>
          <p:nvPr/>
        </p:nvSpPr>
        <p:spPr>
          <a:xfrm>
            <a:off x="4872480" y="3183386"/>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ja-JP" sz="1000" dirty="0" err="1">
                <a:solidFill>
                  <a:srgbClr val="64748B"/>
                </a:solidFill>
                <a:latin typeface="メイリオ" panose="020B0604030504040204" pitchFamily="50" charset="-128"/>
                <a:ea typeface="メイリオ" panose="020B0604030504040204" pitchFamily="50" charset="-128"/>
                <a:cs typeface="Calibri" pitchFamily="34" charset="-120"/>
              </a:rPr>
              <a:t>リード有効化＋長期追客セグメント戦略</a:t>
            </a:r>
            <a:endParaRPr lang="en-US" altLang="ja-JP" sz="1000" dirty="0">
              <a:latin typeface="メイリオ" panose="020B0604030504040204" pitchFamily="50" charset="-128"/>
              <a:ea typeface="メイリオ" panose="020B0604030504040204" pitchFamily="50" charset="-128"/>
            </a:endParaRPr>
          </a:p>
        </p:txBody>
      </p:sp>
      <p:sp>
        <p:nvSpPr>
          <p:cNvPr id="43" name="Shape 17">
            <a:extLst>
              <a:ext uri="{FF2B5EF4-FFF2-40B4-BE49-F238E27FC236}">
                <a16:creationId xmlns:a16="http://schemas.microsoft.com/office/drawing/2014/main" id="{3D356BBE-5EFA-8143-1308-9A8F66D3D8F4}"/>
              </a:ext>
            </a:extLst>
          </p:cNvPr>
          <p:cNvSpPr/>
          <p:nvPr/>
        </p:nvSpPr>
        <p:spPr>
          <a:xfrm>
            <a:off x="3996942" y="3604010"/>
            <a:ext cx="5180076" cy="658368"/>
          </a:xfrm>
          <a:prstGeom prst="roundRect">
            <a:avLst>
              <a:gd name="adj" fmla="val 11111"/>
            </a:avLst>
          </a:prstGeom>
          <a:solidFill>
            <a:srgbClr val="FFFFFF"/>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44" name="Shape 18">
            <a:extLst>
              <a:ext uri="{FF2B5EF4-FFF2-40B4-BE49-F238E27FC236}">
                <a16:creationId xmlns:a16="http://schemas.microsoft.com/office/drawing/2014/main" id="{347BFA19-EB93-7D44-5D29-87E8A0640967}"/>
              </a:ext>
            </a:extLst>
          </p:cNvPr>
          <p:cNvSpPr/>
          <p:nvPr/>
        </p:nvSpPr>
        <p:spPr>
          <a:xfrm>
            <a:off x="4232400" y="3695450"/>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45" name="Text 19">
            <a:extLst>
              <a:ext uri="{FF2B5EF4-FFF2-40B4-BE49-F238E27FC236}">
                <a16:creationId xmlns:a16="http://schemas.microsoft.com/office/drawing/2014/main" id="{808039CB-8A35-B1E6-353C-C961982DAEEE}"/>
              </a:ext>
            </a:extLst>
          </p:cNvPr>
          <p:cNvSpPr/>
          <p:nvPr/>
        </p:nvSpPr>
        <p:spPr>
          <a:xfrm>
            <a:off x="4232400" y="3695450"/>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300" b="1" dirty="0">
                <a:solidFill>
                  <a:srgbClr val="CADCFC"/>
                </a:solidFill>
                <a:latin typeface="メイリオ" panose="020B0604030504040204" pitchFamily="50" charset="-128"/>
                <a:ea typeface="メイリオ" panose="020B0604030504040204" pitchFamily="50" charset="-128"/>
                <a:cs typeface="Calibri" pitchFamily="34" charset="-120"/>
              </a:rPr>
              <a:t>04</a:t>
            </a:r>
            <a:endParaRPr lang="en-US" sz="1300" dirty="0">
              <a:latin typeface="メイリオ" panose="020B0604030504040204" pitchFamily="50" charset="-128"/>
              <a:ea typeface="メイリオ" panose="020B0604030504040204" pitchFamily="50" charset="-128"/>
            </a:endParaRPr>
          </a:p>
        </p:txBody>
      </p:sp>
      <p:sp>
        <p:nvSpPr>
          <p:cNvPr id="46" name="Text 20">
            <a:extLst>
              <a:ext uri="{FF2B5EF4-FFF2-40B4-BE49-F238E27FC236}">
                <a16:creationId xmlns:a16="http://schemas.microsoft.com/office/drawing/2014/main" id="{5510FCD4-7246-36B3-3CB6-AE9EB64B95B8}"/>
              </a:ext>
            </a:extLst>
          </p:cNvPr>
          <p:cNvSpPr/>
          <p:nvPr/>
        </p:nvSpPr>
        <p:spPr>
          <a:xfrm>
            <a:off x="4872480" y="3658874"/>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ja-JP" altLang="en-US" sz="1300" b="1" dirty="0">
                <a:solidFill>
                  <a:srgbClr val="1E2761"/>
                </a:solidFill>
                <a:latin typeface="メイリオ" panose="020B0604030504040204" pitchFamily="50" charset="-128"/>
                <a:ea typeface="メイリオ" panose="020B0604030504040204" pitchFamily="50" charset="-128"/>
                <a:cs typeface="Calibri" pitchFamily="34" charset="-120"/>
              </a:rPr>
              <a:t>セグメント設定</a:t>
            </a:r>
            <a:endParaRPr lang="en-US" sz="1300" dirty="0">
              <a:latin typeface="メイリオ" panose="020B0604030504040204" pitchFamily="50" charset="-128"/>
              <a:ea typeface="メイリオ" panose="020B0604030504040204" pitchFamily="50" charset="-128"/>
            </a:endParaRPr>
          </a:p>
        </p:txBody>
      </p:sp>
      <p:sp>
        <p:nvSpPr>
          <p:cNvPr id="47" name="Text 21">
            <a:extLst>
              <a:ext uri="{FF2B5EF4-FFF2-40B4-BE49-F238E27FC236}">
                <a16:creationId xmlns:a16="http://schemas.microsoft.com/office/drawing/2014/main" id="{30188B70-2DE7-6DC7-0865-6F6103AD5132}"/>
              </a:ext>
            </a:extLst>
          </p:cNvPr>
          <p:cNvSpPr/>
          <p:nvPr/>
        </p:nvSpPr>
        <p:spPr>
          <a:xfrm>
            <a:off x="4872480" y="3951482"/>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endParaRPr lang="en-US" sz="1000" dirty="0">
              <a:latin typeface="メイリオ" panose="020B0604030504040204" pitchFamily="50" charset="-128"/>
              <a:ea typeface="メイリオ" panose="020B0604030504040204" pitchFamily="50" charset="-128"/>
            </a:endParaRPr>
          </a:p>
        </p:txBody>
      </p:sp>
      <p:sp>
        <p:nvSpPr>
          <p:cNvPr id="49" name="Text 16">
            <a:extLst>
              <a:ext uri="{FF2B5EF4-FFF2-40B4-BE49-F238E27FC236}">
                <a16:creationId xmlns:a16="http://schemas.microsoft.com/office/drawing/2014/main" id="{5224712D-B17D-A02C-3D89-CC6242B38B83}"/>
              </a:ext>
            </a:extLst>
          </p:cNvPr>
          <p:cNvSpPr/>
          <p:nvPr/>
        </p:nvSpPr>
        <p:spPr>
          <a:xfrm>
            <a:off x="4872480" y="3965198"/>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ja-JP" sz="1000" dirty="0">
                <a:latin typeface="メイリオ" panose="020B0604030504040204" pitchFamily="50" charset="-128"/>
                <a:ea typeface="メイリオ" panose="020B0604030504040204" pitchFamily="50" charset="-128"/>
              </a:rPr>
              <a:t>WEB</a:t>
            </a:r>
            <a:r>
              <a:rPr lang="ja-JP" altLang="en-US" sz="1000" dirty="0">
                <a:latin typeface="メイリオ" panose="020B0604030504040204" pitchFamily="50" charset="-128"/>
                <a:ea typeface="メイリオ" panose="020B0604030504040204" pitchFamily="50" charset="-128"/>
              </a:rPr>
              <a:t>サイトアクション、</a:t>
            </a:r>
            <a:r>
              <a:rPr lang="en-US" altLang="ja-JP" sz="1000" dirty="0">
                <a:latin typeface="メイリオ" panose="020B0604030504040204" pitchFamily="50" charset="-128"/>
                <a:ea typeface="メイリオ" panose="020B0604030504040204" pitchFamily="50" charset="-128"/>
              </a:rPr>
              <a:t>LINE</a:t>
            </a:r>
            <a:r>
              <a:rPr lang="ja-JP" altLang="en-US" sz="1000" dirty="0">
                <a:latin typeface="メイリオ" panose="020B0604030504040204" pitchFamily="50" charset="-128"/>
                <a:ea typeface="メイリオ" panose="020B0604030504040204" pitchFamily="50" charset="-128"/>
              </a:rPr>
              <a:t>上アクションのスコアリング 等を活用</a:t>
            </a:r>
            <a:endParaRPr lang="en-US" altLang="ja-JP" sz="1000" dirty="0">
              <a:latin typeface="メイリオ" panose="020B0604030504040204" pitchFamily="50" charset="-128"/>
              <a:ea typeface="メイリオ" panose="020B0604030504040204" pitchFamily="50" charset="-128"/>
            </a:endParaRPr>
          </a:p>
        </p:txBody>
      </p:sp>
      <p:sp>
        <p:nvSpPr>
          <p:cNvPr id="52" name="Shape 12">
            <a:extLst>
              <a:ext uri="{FF2B5EF4-FFF2-40B4-BE49-F238E27FC236}">
                <a16:creationId xmlns:a16="http://schemas.microsoft.com/office/drawing/2014/main" id="{FEE65136-327D-500B-12B2-F775BA661CA0}"/>
              </a:ext>
            </a:extLst>
          </p:cNvPr>
          <p:cNvSpPr/>
          <p:nvPr/>
        </p:nvSpPr>
        <p:spPr>
          <a:xfrm>
            <a:off x="3996942" y="4335530"/>
            <a:ext cx="5180076" cy="658368"/>
          </a:xfrm>
          <a:prstGeom prst="roundRect">
            <a:avLst>
              <a:gd name="adj" fmla="val 11111"/>
            </a:avLst>
          </a:prstGeom>
          <a:solidFill>
            <a:srgbClr val="F4F7FF"/>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53" name="Shape 13">
            <a:extLst>
              <a:ext uri="{FF2B5EF4-FFF2-40B4-BE49-F238E27FC236}">
                <a16:creationId xmlns:a16="http://schemas.microsoft.com/office/drawing/2014/main" id="{4E57D180-2654-0AC3-340A-A6D2C576BF28}"/>
              </a:ext>
            </a:extLst>
          </p:cNvPr>
          <p:cNvSpPr/>
          <p:nvPr/>
        </p:nvSpPr>
        <p:spPr>
          <a:xfrm>
            <a:off x="4232400" y="4426970"/>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55" name="Text 14">
            <a:extLst>
              <a:ext uri="{FF2B5EF4-FFF2-40B4-BE49-F238E27FC236}">
                <a16:creationId xmlns:a16="http://schemas.microsoft.com/office/drawing/2014/main" id="{246080CC-996D-7BA0-3140-EC427EE9AC6A}"/>
              </a:ext>
            </a:extLst>
          </p:cNvPr>
          <p:cNvSpPr/>
          <p:nvPr/>
        </p:nvSpPr>
        <p:spPr>
          <a:xfrm>
            <a:off x="4232400" y="4426970"/>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altLang="ja-JP" sz="1300" b="1" dirty="0">
                <a:solidFill>
                  <a:srgbClr val="CADCFC"/>
                </a:solidFill>
                <a:latin typeface="メイリオ" panose="020B0604030504040204" pitchFamily="50" charset="-128"/>
                <a:ea typeface="メイリオ" panose="020B0604030504040204" pitchFamily="50" charset="-128"/>
                <a:cs typeface="Calibri" pitchFamily="34" charset="-120"/>
              </a:rPr>
              <a:t>05</a:t>
            </a:r>
            <a:endParaRPr lang="en-US" sz="1300" dirty="0">
              <a:latin typeface="メイリオ" panose="020B0604030504040204" pitchFamily="50" charset="-128"/>
              <a:ea typeface="メイリオ" panose="020B0604030504040204" pitchFamily="50" charset="-128"/>
            </a:endParaRPr>
          </a:p>
        </p:txBody>
      </p:sp>
      <p:sp>
        <p:nvSpPr>
          <p:cNvPr id="56" name="Text 15">
            <a:extLst>
              <a:ext uri="{FF2B5EF4-FFF2-40B4-BE49-F238E27FC236}">
                <a16:creationId xmlns:a16="http://schemas.microsoft.com/office/drawing/2014/main" id="{613A87C0-F021-8C8E-C0C8-7A94F347FD40}"/>
              </a:ext>
            </a:extLst>
          </p:cNvPr>
          <p:cNvSpPr/>
          <p:nvPr/>
        </p:nvSpPr>
        <p:spPr>
          <a:xfrm>
            <a:off x="4872480" y="4390394"/>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ja-JP" sz="1300" b="1" dirty="0" err="1">
                <a:solidFill>
                  <a:srgbClr val="1E2761"/>
                </a:solidFill>
                <a:latin typeface="メイリオ" panose="020B0604030504040204" pitchFamily="50" charset="-128"/>
                <a:ea typeface="メイリオ" panose="020B0604030504040204" pitchFamily="50" charset="-128"/>
                <a:cs typeface="Calibri" pitchFamily="34" charset="-120"/>
              </a:rPr>
              <a:t>アンケート設計（直接関与</a:t>
            </a:r>
            <a:r>
              <a:rPr lang="en-US" altLang="ja-JP" sz="1300" b="1" dirty="0">
                <a:solidFill>
                  <a:srgbClr val="1E2761"/>
                </a:solidFill>
                <a:latin typeface="メイリオ" panose="020B0604030504040204" pitchFamily="50" charset="-128"/>
                <a:ea typeface="メイリオ" panose="020B0604030504040204" pitchFamily="50" charset="-128"/>
                <a:cs typeface="Calibri" pitchFamily="34" charset="-120"/>
              </a:rPr>
              <a:t> / </a:t>
            </a:r>
            <a:r>
              <a:rPr lang="en-US" altLang="ja-JP" sz="1300" b="1" dirty="0" err="1">
                <a:solidFill>
                  <a:srgbClr val="1E2761"/>
                </a:solidFill>
                <a:latin typeface="メイリオ" panose="020B0604030504040204" pitchFamily="50" charset="-128"/>
                <a:ea typeface="メイリオ" panose="020B0604030504040204" pitchFamily="50" charset="-128"/>
                <a:cs typeface="Calibri" pitchFamily="34" charset="-120"/>
              </a:rPr>
              <a:t>診断型</a:t>
            </a:r>
            <a:r>
              <a:rPr lang="en-US" altLang="ja-JP" sz="1300" b="1" dirty="0">
                <a:solidFill>
                  <a:srgbClr val="1E2761"/>
                </a:solidFill>
                <a:latin typeface="メイリオ" panose="020B0604030504040204" pitchFamily="50" charset="-128"/>
                <a:ea typeface="メイリオ" panose="020B0604030504040204" pitchFamily="50" charset="-128"/>
                <a:cs typeface="Calibri" pitchFamily="34" charset="-120"/>
              </a:rPr>
              <a:t>）</a:t>
            </a:r>
            <a:endParaRPr lang="en-US" altLang="ja-JP" sz="1300" dirty="0">
              <a:latin typeface="メイリオ" panose="020B0604030504040204" pitchFamily="50" charset="-128"/>
              <a:ea typeface="メイリオ" panose="020B0604030504040204" pitchFamily="50" charset="-128"/>
            </a:endParaRPr>
          </a:p>
        </p:txBody>
      </p:sp>
      <p:sp>
        <p:nvSpPr>
          <p:cNvPr id="58" name="Text 16">
            <a:extLst>
              <a:ext uri="{FF2B5EF4-FFF2-40B4-BE49-F238E27FC236}">
                <a16:creationId xmlns:a16="http://schemas.microsoft.com/office/drawing/2014/main" id="{9DA36E29-5E4C-827F-3F47-7F5A66283E74}"/>
              </a:ext>
            </a:extLst>
          </p:cNvPr>
          <p:cNvSpPr/>
          <p:nvPr/>
        </p:nvSpPr>
        <p:spPr>
          <a:xfrm>
            <a:off x="4872480" y="4683002"/>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ja-JP" sz="1000" dirty="0" err="1">
                <a:solidFill>
                  <a:srgbClr val="64748B"/>
                </a:solidFill>
                <a:latin typeface="メイリオ" panose="020B0604030504040204" pitchFamily="50" charset="-128"/>
                <a:ea typeface="メイリオ" panose="020B0604030504040204" pitchFamily="50" charset="-128"/>
                <a:cs typeface="Calibri" pitchFamily="34" charset="-120"/>
              </a:rPr>
              <a:t>リード有効化＋長期追客セグメント戦略</a:t>
            </a:r>
            <a:endParaRPr lang="en-US" altLang="ja-JP" sz="1000" dirty="0">
              <a:latin typeface="メイリオ" panose="020B0604030504040204" pitchFamily="50" charset="-128"/>
              <a:ea typeface="メイリオ" panose="020B0604030504040204" pitchFamily="50" charset="-128"/>
            </a:endParaRPr>
          </a:p>
        </p:txBody>
      </p:sp>
      <p:sp>
        <p:nvSpPr>
          <p:cNvPr id="59" name="Shape 12">
            <a:extLst>
              <a:ext uri="{FF2B5EF4-FFF2-40B4-BE49-F238E27FC236}">
                <a16:creationId xmlns:a16="http://schemas.microsoft.com/office/drawing/2014/main" id="{161B3C95-AA02-BAC5-D24B-86C62582A0EE}"/>
              </a:ext>
            </a:extLst>
          </p:cNvPr>
          <p:cNvSpPr/>
          <p:nvPr/>
        </p:nvSpPr>
        <p:spPr>
          <a:xfrm>
            <a:off x="3996942" y="5085338"/>
            <a:ext cx="5180076" cy="658368"/>
          </a:xfrm>
          <a:prstGeom prst="roundRect">
            <a:avLst>
              <a:gd name="adj" fmla="val 11111"/>
            </a:avLst>
          </a:prstGeom>
          <a:solidFill>
            <a:schemeClr val="bg1"/>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60" name="Shape 13">
            <a:extLst>
              <a:ext uri="{FF2B5EF4-FFF2-40B4-BE49-F238E27FC236}">
                <a16:creationId xmlns:a16="http://schemas.microsoft.com/office/drawing/2014/main" id="{69FCAD8A-755C-CC30-3ED3-D5F11C11A363}"/>
              </a:ext>
            </a:extLst>
          </p:cNvPr>
          <p:cNvSpPr/>
          <p:nvPr/>
        </p:nvSpPr>
        <p:spPr>
          <a:xfrm>
            <a:off x="4232400" y="5176778"/>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64" name="Text 14">
            <a:extLst>
              <a:ext uri="{FF2B5EF4-FFF2-40B4-BE49-F238E27FC236}">
                <a16:creationId xmlns:a16="http://schemas.microsoft.com/office/drawing/2014/main" id="{6301A83B-57F7-303A-D503-58842AD3A2C9}"/>
              </a:ext>
            </a:extLst>
          </p:cNvPr>
          <p:cNvSpPr/>
          <p:nvPr/>
        </p:nvSpPr>
        <p:spPr>
          <a:xfrm>
            <a:off x="4232400" y="5176778"/>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altLang="ja-JP" sz="1300" b="1" dirty="0">
                <a:solidFill>
                  <a:srgbClr val="CADCFC"/>
                </a:solidFill>
                <a:latin typeface="メイリオ" panose="020B0604030504040204" pitchFamily="50" charset="-128"/>
                <a:ea typeface="メイリオ" panose="020B0604030504040204" pitchFamily="50" charset="-128"/>
                <a:cs typeface="Calibri" pitchFamily="34" charset="-120"/>
              </a:rPr>
              <a:t>06</a:t>
            </a:r>
            <a:endParaRPr lang="en-US" sz="1300" dirty="0">
              <a:latin typeface="メイリオ" panose="020B0604030504040204" pitchFamily="50" charset="-128"/>
              <a:ea typeface="メイリオ" panose="020B0604030504040204" pitchFamily="50" charset="-128"/>
            </a:endParaRPr>
          </a:p>
        </p:txBody>
      </p:sp>
      <p:sp>
        <p:nvSpPr>
          <p:cNvPr id="70" name="Text 15">
            <a:extLst>
              <a:ext uri="{FF2B5EF4-FFF2-40B4-BE49-F238E27FC236}">
                <a16:creationId xmlns:a16="http://schemas.microsoft.com/office/drawing/2014/main" id="{26FF7A4F-5A58-E1CE-107D-E1780C611FE8}"/>
              </a:ext>
            </a:extLst>
          </p:cNvPr>
          <p:cNvSpPr/>
          <p:nvPr/>
        </p:nvSpPr>
        <p:spPr>
          <a:xfrm>
            <a:off x="4872480" y="5140202"/>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ja-JP" sz="1300" b="1" dirty="0" err="1">
                <a:solidFill>
                  <a:srgbClr val="1E2761"/>
                </a:solidFill>
                <a:latin typeface="メイリオ" panose="020B0604030504040204" pitchFamily="50" charset="-128"/>
                <a:ea typeface="メイリオ" panose="020B0604030504040204" pitchFamily="50" charset="-128"/>
                <a:cs typeface="Calibri" pitchFamily="34" charset="-120"/>
              </a:rPr>
              <a:t>季節・時期ごとの企画配信</a:t>
            </a:r>
            <a:endParaRPr lang="en-US" altLang="ja-JP" sz="1300" dirty="0">
              <a:latin typeface="メイリオ" panose="020B0604030504040204" pitchFamily="50" charset="-128"/>
              <a:ea typeface="メイリオ" panose="020B0604030504040204" pitchFamily="50" charset="-128"/>
            </a:endParaRPr>
          </a:p>
        </p:txBody>
      </p:sp>
      <p:sp>
        <p:nvSpPr>
          <p:cNvPr id="71" name="Text 16">
            <a:extLst>
              <a:ext uri="{FF2B5EF4-FFF2-40B4-BE49-F238E27FC236}">
                <a16:creationId xmlns:a16="http://schemas.microsoft.com/office/drawing/2014/main" id="{71DABE45-88FB-C5ED-EF05-90FD4F3C4A0B}"/>
              </a:ext>
            </a:extLst>
          </p:cNvPr>
          <p:cNvSpPr/>
          <p:nvPr/>
        </p:nvSpPr>
        <p:spPr>
          <a:xfrm>
            <a:off x="4872480" y="5432810"/>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ja-JP" sz="1000" dirty="0" err="1">
                <a:solidFill>
                  <a:srgbClr val="64748B"/>
                </a:solidFill>
                <a:latin typeface="メイリオ" panose="020B0604030504040204" pitchFamily="50" charset="-128"/>
                <a:ea typeface="メイリオ" panose="020B0604030504040204" pitchFamily="50" charset="-128"/>
                <a:cs typeface="Calibri" pitchFamily="34" charset="-120"/>
              </a:rPr>
              <a:t>繁忙期に連動</a:t>
            </a:r>
            <a:r>
              <a:rPr lang="ja-JP" altLang="en-US" sz="1000" dirty="0">
                <a:solidFill>
                  <a:srgbClr val="64748B"/>
                </a:solidFill>
                <a:latin typeface="メイリオ" panose="020B0604030504040204" pitchFamily="50" charset="-128"/>
                <a:ea typeface="メイリオ" panose="020B0604030504040204" pitchFamily="50" charset="-128"/>
                <a:cs typeface="Calibri" pitchFamily="34" charset="-120"/>
              </a:rPr>
              <a:t>・各ユーザー層をターゲットと</a:t>
            </a:r>
            <a:r>
              <a:rPr lang="en-US" altLang="ja-JP" sz="1000" dirty="0" err="1">
                <a:solidFill>
                  <a:srgbClr val="64748B"/>
                </a:solidFill>
                <a:latin typeface="メイリオ" panose="020B0604030504040204" pitchFamily="50" charset="-128"/>
                <a:ea typeface="メイリオ" panose="020B0604030504040204" pitchFamily="50" charset="-128"/>
                <a:cs typeface="Calibri" pitchFamily="34" charset="-120"/>
              </a:rPr>
              <a:t>したキャンペーン案</a:t>
            </a:r>
            <a:endParaRPr lang="en-US" altLang="ja-JP" sz="1000" dirty="0">
              <a:latin typeface="メイリオ" panose="020B0604030504040204" pitchFamily="50" charset="-128"/>
              <a:ea typeface="メイリオ" panose="020B0604030504040204" pitchFamily="50" charset="-128"/>
            </a:endParaRPr>
          </a:p>
        </p:txBody>
      </p:sp>
      <p:sp>
        <p:nvSpPr>
          <p:cNvPr id="74" name="Shape 12">
            <a:extLst>
              <a:ext uri="{FF2B5EF4-FFF2-40B4-BE49-F238E27FC236}">
                <a16:creationId xmlns:a16="http://schemas.microsoft.com/office/drawing/2014/main" id="{B291868D-9C9C-066C-CFF8-87B199CEA5CF}"/>
              </a:ext>
            </a:extLst>
          </p:cNvPr>
          <p:cNvSpPr/>
          <p:nvPr/>
        </p:nvSpPr>
        <p:spPr>
          <a:xfrm>
            <a:off x="3996942" y="5838536"/>
            <a:ext cx="5180076" cy="658368"/>
          </a:xfrm>
          <a:prstGeom prst="roundRect">
            <a:avLst>
              <a:gd name="adj" fmla="val 11111"/>
            </a:avLst>
          </a:prstGeom>
          <a:solidFill>
            <a:srgbClr val="F4F7FF"/>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75" name="Shape 13">
            <a:extLst>
              <a:ext uri="{FF2B5EF4-FFF2-40B4-BE49-F238E27FC236}">
                <a16:creationId xmlns:a16="http://schemas.microsoft.com/office/drawing/2014/main" id="{50DF7319-3B00-9111-2E31-8AC337BA4D33}"/>
              </a:ext>
            </a:extLst>
          </p:cNvPr>
          <p:cNvSpPr/>
          <p:nvPr/>
        </p:nvSpPr>
        <p:spPr>
          <a:xfrm>
            <a:off x="4232400" y="5929976"/>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76" name="Text 14">
            <a:extLst>
              <a:ext uri="{FF2B5EF4-FFF2-40B4-BE49-F238E27FC236}">
                <a16:creationId xmlns:a16="http://schemas.microsoft.com/office/drawing/2014/main" id="{0C235F7A-0F23-E972-590D-0F6705D7497F}"/>
              </a:ext>
            </a:extLst>
          </p:cNvPr>
          <p:cNvSpPr/>
          <p:nvPr/>
        </p:nvSpPr>
        <p:spPr>
          <a:xfrm>
            <a:off x="4232400" y="5929976"/>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altLang="ja-JP" sz="1300" b="1" dirty="0">
                <a:solidFill>
                  <a:srgbClr val="CADCFC"/>
                </a:solidFill>
                <a:latin typeface="メイリオ" panose="020B0604030504040204" pitchFamily="50" charset="-128"/>
                <a:ea typeface="メイリオ" panose="020B0604030504040204" pitchFamily="50" charset="-128"/>
                <a:cs typeface="Calibri" pitchFamily="34" charset="-120"/>
              </a:rPr>
              <a:t>07</a:t>
            </a:r>
            <a:endParaRPr lang="en-US" sz="1300" dirty="0">
              <a:latin typeface="メイリオ" panose="020B0604030504040204" pitchFamily="50" charset="-128"/>
              <a:ea typeface="メイリオ" panose="020B0604030504040204" pitchFamily="50" charset="-128"/>
            </a:endParaRPr>
          </a:p>
        </p:txBody>
      </p:sp>
      <p:sp>
        <p:nvSpPr>
          <p:cNvPr id="77" name="Text 15">
            <a:extLst>
              <a:ext uri="{FF2B5EF4-FFF2-40B4-BE49-F238E27FC236}">
                <a16:creationId xmlns:a16="http://schemas.microsoft.com/office/drawing/2014/main" id="{A8806AA1-15C3-799B-4DF6-265E528EF9FE}"/>
              </a:ext>
            </a:extLst>
          </p:cNvPr>
          <p:cNvSpPr/>
          <p:nvPr/>
        </p:nvSpPr>
        <p:spPr>
          <a:xfrm>
            <a:off x="4872480" y="5893400"/>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ja-JP" altLang="en-US" sz="1300" b="1" dirty="0">
                <a:solidFill>
                  <a:srgbClr val="1E2761"/>
                </a:solidFill>
                <a:latin typeface="メイリオ" panose="020B0604030504040204" pitchFamily="50" charset="-128"/>
                <a:ea typeface="メイリオ" panose="020B0604030504040204" pitchFamily="50" charset="-128"/>
                <a:cs typeface="Calibri" pitchFamily="34" charset="-120"/>
              </a:rPr>
              <a:t>各種設定の更新・改善</a:t>
            </a:r>
            <a:endParaRPr lang="en-US" altLang="ja-JP" sz="1300" dirty="0">
              <a:latin typeface="メイリオ" panose="020B0604030504040204" pitchFamily="50" charset="-128"/>
              <a:ea typeface="メイリオ" panose="020B0604030504040204" pitchFamily="50" charset="-128"/>
            </a:endParaRPr>
          </a:p>
        </p:txBody>
      </p:sp>
      <p:sp>
        <p:nvSpPr>
          <p:cNvPr id="78" name="Text 16">
            <a:extLst>
              <a:ext uri="{FF2B5EF4-FFF2-40B4-BE49-F238E27FC236}">
                <a16:creationId xmlns:a16="http://schemas.microsoft.com/office/drawing/2014/main" id="{60F4341A-D01A-FB28-EE9D-FBD6E531C1A2}"/>
              </a:ext>
            </a:extLst>
          </p:cNvPr>
          <p:cNvSpPr/>
          <p:nvPr/>
        </p:nvSpPr>
        <p:spPr>
          <a:xfrm>
            <a:off x="4872480" y="6186008"/>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ja-JP" altLang="en-US" sz="1000" dirty="0">
                <a:latin typeface="メイリオ" panose="020B0604030504040204" pitchFamily="50" charset="-128"/>
                <a:ea typeface="メイリオ" panose="020B0604030504040204" pitchFamily="50" charset="-128"/>
              </a:rPr>
              <a:t>あいさつメッセージ、リッチメニュー、</a:t>
            </a:r>
            <a:r>
              <a:rPr lang="en-US" altLang="ja-JP" sz="1000" dirty="0">
                <a:latin typeface="メイリオ" panose="020B0604030504040204" pitchFamily="50" charset="-128"/>
                <a:ea typeface="メイリオ" panose="020B0604030504040204" pitchFamily="50" charset="-128"/>
              </a:rPr>
              <a:t>LP</a:t>
            </a:r>
            <a:r>
              <a:rPr lang="ja-JP" altLang="en-US" sz="1000" dirty="0">
                <a:latin typeface="メイリオ" panose="020B0604030504040204" pitchFamily="50" charset="-128"/>
                <a:ea typeface="メイリオ" panose="020B0604030504040204" pitchFamily="50" charset="-128"/>
              </a:rPr>
              <a:t>の改修（</a:t>
            </a:r>
            <a:r>
              <a:rPr lang="en-US" altLang="ja-JP" sz="1000" dirty="0">
                <a:latin typeface="メイリオ" panose="020B0604030504040204" pitchFamily="50" charset="-128"/>
                <a:ea typeface="メイリオ" panose="020B0604030504040204" pitchFamily="50" charset="-128"/>
              </a:rPr>
              <a:t>※LP</a:t>
            </a:r>
            <a:r>
              <a:rPr lang="ja-JP" altLang="en-US" sz="1000" dirty="0">
                <a:latin typeface="メイリオ" panose="020B0604030504040204" pitchFamily="50" charset="-128"/>
                <a:ea typeface="メイリオ" panose="020B0604030504040204" pitchFamily="50" charset="-128"/>
              </a:rPr>
              <a:t>は別途費用）</a:t>
            </a:r>
            <a:endParaRPr lang="en-US" altLang="ja-JP" sz="1000" dirty="0">
              <a:latin typeface="メイリオ" panose="020B0604030504040204" pitchFamily="50" charset="-128"/>
              <a:ea typeface="メイリオ" panose="020B0604030504040204" pitchFamily="50" charset="-128"/>
            </a:endParaRPr>
          </a:p>
        </p:txBody>
      </p:sp>
      <p:sp>
        <p:nvSpPr>
          <p:cNvPr id="79" name="テキスト ボックス 78">
            <a:extLst>
              <a:ext uri="{FF2B5EF4-FFF2-40B4-BE49-F238E27FC236}">
                <a16:creationId xmlns:a16="http://schemas.microsoft.com/office/drawing/2014/main" id="{4C2DE5F8-8AC0-6067-4D4C-B9D9A832AFB8}"/>
              </a:ext>
            </a:extLst>
          </p:cNvPr>
          <p:cNvSpPr txBox="1"/>
          <p:nvPr/>
        </p:nvSpPr>
        <p:spPr>
          <a:xfrm>
            <a:off x="320847" y="1664842"/>
            <a:ext cx="2800460" cy="791695"/>
          </a:xfrm>
          <a:prstGeom prst="rect">
            <a:avLst/>
          </a:prstGeom>
          <a:solidFill>
            <a:schemeClr val="tx1">
              <a:lumMod val="65000"/>
              <a:lumOff val="35000"/>
            </a:schemeClr>
          </a:solidFill>
        </p:spPr>
        <p:txBody>
          <a:bodyPr wrap="square" anchor="ctr">
            <a:spAutoFit/>
          </a:bodyPr>
          <a:lstStyle/>
          <a:p>
            <a:pPr algn="ctr"/>
            <a:r>
              <a:rPr kumimoji="1" lang="en-US" altLang="ja-JP" b="1" dirty="0">
                <a:solidFill>
                  <a:schemeClr val="bg1"/>
                </a:solidFill>
                <a:latin typeface="メイリオ" panose="020B0604030504040204" pitchFamily="50" charset="-128"/>
                <a:ea typeface="メイリオ" panose="020B0604030504040204" pitchFamily="50" charset="-128"/>
              </a:rPr>
              <a:t>&lt;</a:t>
            </a:r>
            <a:r>
              <a:rPr kumimoji="1" lang="ja-JP" altLang="en-US" b="1" dirty="0">
                <a:solidFill>
                  <a:schemeClr val="bg1"/>
                </a:solidFill>
                <a:latin typeface="メイリオ" panose="020B0604030504040204" pitchFamily="50" charset="-128"/>
                <a:ea typeface="メイリオ" panose="020B0604030504040204" pitchFamily="50" charset="-128"/>
              </a:rPr>
              <a:t>初期費用</a:t>
            </a:r>
            <a:r>
              <a:rPr kumimoji="1" lang="en-US" altLang="ja-JP" b="1" dirty="0">
                <a:solidFill>
                  <a:schemeClr val="bg1"/>
                </a:solidFill>
                <a:latin typeface="メイリオ" panose="020B0604030504040204" pitchFamily="50" charset="-128"/>
                <a:ea typeface="メイリオ" panose="020B0604030504040204" pitchFamily="50" charset="-128"/>
              </a:rPr>
              <a:t>&gt;</a:t>
            </a:r>
            <a:endParaRPr kumimoji="1" lang="ja-JP" altLang="en-US" b="1" dirty="0">
              <a:solidFill>
                <a:schemeClr val="bg1"/>
              </a:solidFill>
              <a:latin typeface="メイリオ" panose="020B0604030504040204" pitchFamily="50" charset="-128"/>
              <a:ea typeface="メイリオ" panose="020B0604030504040204" pitchFamily="50" charset="-128"/>
            </a:endParaRPr>
          </a:p>
        </p:txBody>
      </p:sp>
      <p:sp>
        <p:nvSpPr>
          <p:cNvPr id="80" name="テキスト ボックス 79">
            <a:extLst>
              <a:ext uri="{FF2B5EF4-FFF2-40B4-BE49-F238E27FC236}">
                <a16:creationId xmlns:a16="http://schemas.microsoft.com/office/drawing/2014/main" id="{E134C725-7D1E-AE55-EE5C-49EE0EE87D93}"/>
              </a:ext>
            </a:extLst>
          </p:cNvPr>
          <p:cNvSpPr txBox="1"/>
          <p:nvPr/>
        </p:nvSpPr>
        <p:spPr>
          <a:xfrm>
            <a:off x="320847" y="2645729"/>
            <a:ext cx="2800460" cy="791695"/>
          </a:xfrm>
          <a:prstGeom prst="rect">
            <a:avLst/>
          </a:prstGeom>
          <a:solidFill>
            <a:schemeClr val="tx1">
              <a:lumMod val="65000"/>
              <a:lumOff val="35000"/>
            </a:schemeClr>
          </a:solidFill>
        </p:spPr>
        <p:txBody>
          <a:bodyPr wrap="square" anchor="ctr">
            <a:spAutoFit/>
          </a:bodyPr>
          <a:lstStyle/>
          <a:p>
            <a:pPr algn="ctr"/>
            <a:r>
              <a:rPr kumimoji="1" lang="en-US" altLang="ja-JP" b="1" dirty="0">
                <a:solidFill>
                  <a:schemeClr val="bg1"/>
                </a:solidFill>
                <a:latin typeface="メイリオ" panose="020B0604030504040204" pitchFamily="50" charset="-128"/>
                <a:ea typeface="メイリオ" panose="020B0604030504040204" pitchFamily="50" charset="-128"/>
              </a:rPr>
              <a:t>&lt;</a:t>
            </a:r>
            <a:r>
              <a:rPr kumimoji="1" lang="ja-JP" altLang="en-US" b="1" dirty="0">
                <a:solidFill>
                  <a:schemeClr val="bg1"/>
                </a:solidFill>
                <a:latin typeface="メイリオ" panose="020B0604030504040204" pitchFamily="50" charset="-128"/>
                <a:ea typeface="メイリオ" panose="020B0604030504040204" pitchFamily="50" charset="-128"/>
              </a:rPr>
              <a:t>月額費用</a:t>
            </a:r>
            <a:r>
              <a:rPr kumimoji="1" lang="en-US" altLang="ja-JP" b="1" dirty="0">
                <a:solidFill>
                  <a:schemeClr val="bg1"/>
                </a:solidFill>
                <a:latin typeface="メイリオ" panose="020B0604030504040204" pitchFamily="50" charset="-128"/>
                <a:ea typeface="メイリオ" panose="020B0604030504040204" pitchFamily="50" charset="-128"/>
              </a:rPr>
              <a:t>&gt;</a:t>
            </a:r>
            <a:endParaRPr kumimoji="1" lang="ja-JP" altLang="en-US" b="1" dirty="0">
              <a:solidFill>
                <a:schemeClr val="bg1"/>
              </a:solidFill>
              <a:latin typeface="メイリオ" panose="020B0604030504040204" pitchFamily="50" charset="-128"/>
              <a:ea typeface="メイリオ" panose="020B0604030504040204" pitchFamily="50" charset="-128"/>
            </a:endParaRPr>
          </a:p>
        </p:txBody>
      </p:sp>
      <p:cxnSp>
        <p:nvCxnSpPr>
          <p:cNvPr id="82" name="直線コネクタ 81">
            <a:extLst>
              <a:ext uri="{FF2B5EF4-FFF2-40B4-BE49-F238E27FC236}">
                <a16:creationId xmlns:a16="http://schemas.microsoft.com/office/drawing/2014/main" id="{831B96C5-FD9C-7953-5A0F-36510DDC3A7B}"/>
              </a:ext>
            </a:extLst>
          </p:cNvPr>
          <p:cNvCxnSpPr>
            <a:cxnSpLocks/>
            <a:stCxn id="79" idx="3"/>
            <a:endCxn id="3" idx="1"/>
          </p:cNvCxnSpPr>
          <p:nvPr/>
        </p:nvCxnSpPr>
        <p:spPr>
          <a:xfrm flipV="1">
            <a:off x="3121307" y="1628906"/>
            <a:ext cx="875635" cy="431784"/>
          </a:xfrm>
          <a:prstGeom prst="line">
            <a:avLst/>
          </a:prstGeom>
        </p:spPr>
        <p:style>
          <a:lnRef idx="1">
            <a:schemeClr val="accent1"/>
          </a:lnRef>
          <a:fillRef idx="0">
            <a:schemeClr val="accent1"/>
          </a:fillRef>
          <a:effectRef idx="0">
            <a:schemeClr val="accent1"/>
          </a:effectRef>
          <a:fontRef idx="minor">
            <a:schemeClr val="tx1"/>
          </a:fontRef>
        </p:style>
      </p:cxnSp>
      <p:cxnSp>
        <p:nvCxnSpPr>
          <p:cNvPr id="83" name="直線コネクタ 82">
            <a:extLst>
              <a:ext uri="{FF2B5EF4-FFF2-40B4-BE49-F238E27FC236}">
                <a16:creationId xmlns:a16="http://schemas.microsoft.com/office/drawing/2014/main" id="{6098E9A1-7354-0021-8518-053452298071}"/>
              </a:ext>
            </a:extLst>
          </p:cNvPr>
          <p:cNvCxnSpPr>
            <a:cxnSpLocks/>
            <a:stCxn id="79" idx="3"/>
            <a:endCxn id="32" idx="1"/>
          </p:cNvCxnSpPr>
          <p:nvPr/>
        </p:nvCxnSpPr>
        <p:spPr>
          <a:xfrm>
            <a:off x="3121307" y="2060690"/>
            <a:ext cx="875635" cy="336312"/>
          </a:xfrm>
          <a:prstGeom prst="line">
            <a:avLst/>
          </a:prstGeom>
        </p:spPr>
        <p:style>
          <a:lnRef idx="1">
            <a:schemeClr val="accent1"/>
          </a:lnRef>
          <a:fillRef idx="0">
            <a:schemeClr val="accent1"/>
          </a:fillRef>
          <a:effectRef idx="0">
            <a:schemeClr val="accent1"/>
          </a:effectRef>
          <a:fontRef idx="minor">
            <a:schemeClr val="tx1"/>
          </a:fontRef>
        </p:style>
      </p:cxnSp>
      <p:cxnSp>
        <p:nvCxnSpPr>
          <p:cNvPr id="86" name="直線コネクタ 85">
            <a:extLst>
              <a:ext uri="{FF2B5EF4-FFF2-40B4-BE49-F238E27FC236}">
                <a16:creationId xmlns:a16="http://schemas.microsoft.com/office/drawing/2014/main" id="{4BFC78F3-17B4-F007-0507-0BCEB9DFB526}"/>
              </a:ext>
            </a:extLst>
          </p:cNvPr>
          <p:cNvCxnSpPr>
            <a:cxnSpLocks/>
            <a:stCxn id="79" idx="3"/>
            <a:endCxn id="37" idx="1"/>
          </p:cNvCxnSpPr>
          <p:nvPr/>
        </p:nvCxnSpPr>
        <p:spPr>
          <a:xfrm>
            <a:off x="3121307" y="2060690"/>
            <a:ext cx="875635" cy="1104408"/>
          </a:xfrm>
          <a:prstGeom prst="line">
            <a:avLst/>
          </a:prstGeom>
        </p:spPr>
        <p:style>
          <a:lnRef idx="1">
            <a:schemeClr val="accent1"/>
          </a:lnRef>
          <a:fillRef idx="0">
            <a:schemeClr val="accent1"/>
          </a:fillRef>
          <a:effectRef idx="0">
            <a:schemeClr val="accent1"/>
          </a:effectRef>
          <a:fontRef idx="minor">
            <a:schemeClr val="tx1"/>
          </a:fontRef>
        </p:style>
      </p:cxnSp>
      <p:cxnSp>
        <p:nvCxnSpPr>
          <p:cNvPr id="89" name="直線コネクタ 88">
            <a:extLst>
              <a:ext uri="{FF2B5EF4-FFF2-40B4-BE49-F238E27FC236}">
                <a16:creationId xmlns:a16="http://schemas.microsoft.com/office/drawing/2014/main" id="{E053B786-BB0C-C1E1-76B7-A9573A626CCC}"/>
              </a:ext>
            </a:extLst>
          </p:cNvPr>
          <p:cNvCxnSpPr>
            <a:cxnSpLocks/>
            <a:stCxn id="79" idx="3"/>
            <a:endCxn id="43" idx="1"/>
          </p:cNvCxnSpPr>
          <p:nvPr/>
        </p:nvCxnSpPr>
        <p:spPr>
          <a:xfrm>
            <a:off x="3121307" y="2060690"/>
            <a:ext cx="875635" cy="1872504"/>
          </a:xfrm>
          <a:prstGeom prst="line">
            <a:avLst/>
          </a:prstGeom>
        </p:spPr>
        <p:style>
          <a:lnRef idx="1">
            <a:schemeClr val="accent1"/>
          </a:lnRef>
          <a:fillRef idx="0">
            <a:schemeClr val="accent1"/>
          </a:fillRef>
          <a:effectRef idx="0">
            <a:schemeClr val="accent1"/>
          </a:effectRef>
          <a:fontRef idx="minor">
            <a:schemeClr val="tx1"/>
          </a:fontRef>
        </p:style>
      </p:cxnSp>
      <p:cxnSp>
        <p:nvCxnSpPr>
          <p:cNvPr id="93" name="直線コネクタ 92">
            <a:extLst>
              <a:ext uri="{FF2B5EF4-FFF2-40B4-BE49-F238E27FC236}">
                <a16:creationId xmlns:a16="http://schemas.microsoft.com/office/drawing/2014/main" id="{903C918B-3600-6FEA-8902-E84AA7410C48}"/>
              </a:ext>
            </a:extLst>
          </p:cNvPr>
          <p:cNvCxnSpPr>
            <a:cxnSpLocks/>
            <a:stCxn id="79" idx="3"/>
            <a:endCxn id="52" idx="1"/>
          </p:cNvCxnSpPr>
          <p:nvPr/>
        </p:nvCxnSpPr>
        <p:spPr>
          <a:xfrm>
            <a:off x="3121307" y="2060690"/>
            <a:ext cx="875635" cy="2604024"/>
          </a:xfrm>
          <a:prstGeom prst="line">
            <a:avLst/>
          </a:prstGeom>
        </p:spPr>
        <p:style>
          <a:lnRef idx="1">
            <a:schemeClr val="accent1"/>
          </a:lnRef>
          <a:fillRef idx="0">
            <a:schemeClr val="accent1"/>
          </a:fillRef>
          <a:effectRef idx="0">
            <a:schemeClr val="accent1"/>
          </a:effectRef>
          <a:fontRef idx="minor">
            <a:schemeClr val="tx1"/>
          </a:fontRef>
        </p:style>
      </p:cxnSp>
      <p:cxnSp>
        <p:nvCxnSpPr>
          <p:cNvPr id="103" name="直線コネクタ 102">
            <a:extLst>
              <a:ext uri="{FF2B5EF4-FFF2-40B4-BE49-F238E27FC236}">
                <a16:creationId xmlns:a16="http://schemas.microsoft.com/office/drawing/2014/main" id="{C69A1662-C040-7006-503F-B8153E815781}"/>
              </a:ext>
            </a:extLst>
          </p:cNvPr>
          <p:cNvCxnSpPr>
            <a:cxnSpLocks/>
            <a:stCxn id="80" idx="3"/>
            <a:endCxn id="59" idx="1"/>
          </p:cNvCxnSpPr>
          <p:nvPr/>
        </p:nvCxnSpPr>
        <p:spPr>
          <a:xfrm>
            <a:off x="3121307" y="3041577"/>
            <a:ext cx="875635" cy="2372945"/>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6" name="直線コネクタ 105">
            <a:extLst>
              <a:ext uri="{FF2B5EF4-FFF2-40B4-BE49-F238E27FC236}">
                <a16:creationId xmlns:a16="http://schemas.microsoft.com/office/drawing/2014/main" id="{A951076B-2FA5-076D-22CD-6FECF9562464}"/>
              </a:ext>
            </a:extLst>
          </p:cNvPr>
          <p:cNvCxnSpPr>
            <a:cxnSpLocks/>
            <a:stCxn id="80" idx="3"/>
            <a:endCxn id="74" idx="1"/>
          </p:cNvCxnSpPr>
          <p:nvPr/>
        </p:nvCxnSpPr>
        <p:spPr>
          <a:xfrm>
            <a:off x="3121307" y="3041577"/>
            <a:ext cx="875635" cy="312614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11" name="テキスト ボックス 110">
            <a:extLst>
              <a:ext uri="{FF2B5EF4-FFF2-40B4-BE49-F238E27FC236}">
                <a16:creationId xmlns:a16="http://schemas.microsoft.com/office/drawing/2014/main" id="{082BA8EB-3EC9-6EAE-B9FB-1019DA2907F6}"/>
              </a:ext>
            </a:extLst>
          </p:cNvPr>
          <p:cNvSpPr txBox="1"/>
          <p:nvPr/>
        </p:nvSpPr>
        <p:spPr>
          <a:xfrm>
            <a:off x="7438779" y="5177010"/>
            <a:ext cx="1581647" cy="246221"/>
          </a:xfrm>
          <a:prstGeom prst="rect">
            <a:avLst/>
          </a:prstGeom>
          <a:noFill/>
        </p:spPr>
        <p:txBody>
          <a:bodyPr wrap="square">
            <a:spAutoFit/>
          </a:bodyPr>
          <a:lstStyle/>
          <a:p>
            <a:pPr algn="ctr"/>
            <a:r>
              <a:rPr kumimoji="1" lang="en-US" altLang="ja-JP" sz="1000" dirty="0">
                <a:solidFill>
                  <a:srgbClr val="FF0000"/>
                </a:solidFill>
                <a:latin typeface="メイリオ" panose="020B0604030504040204" pitchFamily="50" charset="-128"/>
                <a:ea typeface="メイリオ" panose="020B0604030504040204" pitchFamily="50" charset="-128"/>
              </a:rPr>
              <a:t>※</a:t>
            </a:r>
            <a:r>
              <a:rPr kumimoji="1" lang="ja-JP" altLang="en-US" sz="1000" dirty="0">
                <a:solidFill>
                  <a:srgbClr val="FF0000"/>
                </a:solidFill>
                <a:latin typeface="メイリオ" panose="020B0604030504040204" pitchFamily="50" charset="-128"/>
                <a:ea typeface="メイリオ" panose="020B0604030504040204" pitchFamily="50" charset="-128"/>
              </a:rPr>
              <a:t>本数により金額変動</a:t>
            </a:r>
          </a:p>
        </p:txBody>
      </p:sp>
      <p:sp>
        <p:nvSpPr>
          <p:cNvPr id="6" name="テキスト ボックス 5">
            <a:extLst>
              <a:ext uri="{FF2B5EF4-FFF2-40B4-BE49-F238E27FC236}">
                <a16:creationId xmlns:a16="http://schemas.microsoft.com/office/drawing/2014/main" id="{14EEAC90-C9E7-2110-180C-DAC5C9A3E290}"/>
              </a:ext>
            </a:extLst>
          </p:cNvPr>
          <p:cNvSpPr txBox="1"/>
          <p:nvPr/>
        </p:nvSpPr>
        <p:spPr>
          <a:xfrm>
            <a:off x="320847" y="3458307"/>
            <a:ext cx="3538935" cy="246221"/>
          </a:xfrm>
          <a:prstGeom prst="rect">
            <a:avLst/>
          </a:prstGeom>
          <a:solidFill>
            <a:schemeClr val="bg1">
              <a:alpha val="65000"/>
            </a:schemeClr>
          </a:solidFill>
        </p:spPr>
        <p:txBody>
          <a:bodyPr wrap="square">
            <a:spAutoFit/>
          </a:bodyPr>
          <a:lstStyle/>
          <a:p>
            <a:r>
              <a:rPr kumimoji="1" lang="en-US" altLang="ja-JP" sz="1000" dirty="0">
                <a:solidFill>
                  <a:srgbClr val="FF0000"/>
                </a:solidFill>
                <a:latin typeface="メイリオ" panose="020B0604030504040204" pitchFamily="50" charset="-128"/>
                <a:ea typeface="メイリオ" panose="020B0604030504040204" pitchFamily="50" charset="-128"/>
              </a:rPr>
              <a:t>※</a:t>
            </a:r>
            <a:r>
              <a:rPr kumimoji="1" lang="ja-JP" altLang="en-US" sz="1000" dirty="0">
                <a:solidFill>
                  <a:srgbClr val="FF0000"/>
                </a:solidFill>
                <a:latin typeface="メイリオ" panose="020B0604030504040204" pitchFamily="50" charset="-128"/>
                <a:ea typeface="メイリオ" panose="020B0604030504040204" pitchFamily="50" charset="-128"/>
              </a:rPr>
              <a:t>初期設計も</a:t>
            </a:r>
            <a:r>
              <a:rPr kumimoji="1" lang="en-US" altLang="ja-JP" sz="1000" dirty="0">
                <a:solidFill>
                  <a:srgbClr val="FF0000"/>
                </a:solidFill>
                <a:latin typeface="メイリオ" panose="020B0604030504040204" pitchFamily="50" charset="-128"/>
                <a:ea typeface="メイリオ" panose="020B0604030504040204" pitchFamily="50" charset="-128"/>
              </a:rPr>
              <a:t>3</a:t>
            </a:r>
            <a:r>
              <a:rPr kumimoji="1" lang="ja-JP" altLang="en-US" sz="1000" dirty="0">
                <a:solidFill>
                  <a:srgbClr val="FF0000"/>
                </a:solidFill>
                <a:latin typeface="メイリオ" panose="020B0604030504040204" pitchFamily="50" charset="-128"/>
                <a:ea typeface="メイリオ" panose="020B0604030504040204" pitchFamily="50" charset="-128"/>
              </a:rPr>
              <a:t>か月に</a:t>
            </a:r>
            <a:r>
              <a:rPr kumimoji="1" lang="en-US" altLang="ja-JP" sz="1000" dirty="0">
                <a:solidFill>
                  <a:srgbClr val="FF0000"/>
                </a:solidFill>
                <a:latin typeface="メイリオ" panose="020B0604030504040204" pitchFamily="50" charset="-128"/>
                <a:ea typeface="メイリオ" panose="020B0604030504040204" pitchFamily="50" charset="-128"/>
              </a:rPr>
              <a:t>1</a:t>
            </a:r>
            <a:r>
              <a:rPr kumimoji="1" lang="ja-JP" altLang="en-US" sz="1000" dirty="0">
                <a:solidFill>
                  <a:srgbClr val="FF0000"/>
                </a:solidFill>
                <a:latin typeface="メイリオ" panose="020B0604030504040204" pitchFamily="50" charset="-128"/>
                <a:ea typeface="メイリオ" panose="020B0604030504040204" pitchFamily="50" charset="-128"/>
              </a:rPr>
              <a:t>回の頻度で設計の見直しを行います。</a:t>
            </a:r>
          </a:p>
        </p:txBody>
      </p:sp>
    </p:spTree>
    <p:extLst>
      <p:ext uri="{BB962C8B-B14F-4D97-AF65-F5344CB8AC3E}">
        <p14:creationId xmlns:p14="http://schemas.microsoft.com/office/powerpoint/2010/main" val="236935309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C31FAE-54F0-68FB-0777-049A78243301}"/>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60D2538F-E1B8-8AE5-0CD4-42EA268B5DFA}"/>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en-US" altLang="ja-JP" sz="1600" b="1" dirty="0">
                <a:solidFill>
                  <a:srgbClr val="323366"/>
                </a:solidFill>
                <a:latin typeface="メイリオ" panose="020B0604030504040204" pitchFamily="50" charset="-128"/>
                <a:ea typeface="メイリオ" panose="020B0604030504040204" pitchFamily="50" charset="-128"/>
                <a:cs typeface="Meiryo"/>
                <a:sym typeface="Meiryo"/>
              </a:rPr>
              <a:t>DYM</a:t>
            </a:r>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によるご提供プラン</a:t>
            </a:r>
          </a:p>
        </p:txBody>
      </p:sp>
      <p:pic>
        <p:nvPicPr>
          <p:cNvPr id="12" name="図 11" descr="アイコン が含まれている画像&#10;&#10;AI 生成コンテンツは誤りを含む可能性があります。">
            <a:extLst>
              <a:ext uri="{FF2B5EF4-FFF2-40B4-BE49-F238E27FC236}">
                <a16:creationId xmlns:a16="http://schemas.microsoft.com/office/drawing/2014/main" id="{DA698D6F-CD58-6385-1BCA-1E3129DEE1B0}"/>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33108" y="1416099"/>
            <a:ext cx="1106285" cy="737523"/>
          </a:xfrm>
          <a:prstGeom prst="rect">
            <a:avLst/>
          </a:prstGeom>
        </p:spPr>
      </p:pic>
      <p:sp>
        <p:nvSpPr>
          <p:cNvPr id="41" name="正方形/長方形 40">
            <a:extLst>
              <a:ext uri="{FF2B5EF4-FFF2-40B4-BE49-F238E27FC236}">
                <a16:creationId xmlns:a16="http://schemas.microsoft.com/office/drawing/2014/main" id="{83976F76-8A4B-AFB5-EE98-67FE261517F3}"/>
              </a:ext>
            </a:extLst>
          </p:cNvPr>
          <p:cNvSpPr/>
          <p:nvPr/>
        </p:nvSpPr>
        <p:spPr>
          <a:xfrm>
            <a:off x="1123324" y="1813322"/>
            <a:ext cx="3368922" cy="134091"/>
          </a:xfrm>
          <a:prstGeom prst="rect">
            <a:avLst/>
          </a:prstGeom>
          <a:solidFill>
            <a:schemeClr val="tx2">
              <a:lumMod val="60000"/>
              <a:lumOff val="40000"/>
              <a:alpha val="1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4" name="Google Shape;752;p28">
            <a:extLst>
              <a:ext uri="{FF2B5EF4-FFF2-40B4-BE49-F238E27FC236}">
                <a16:creationId xmlns:a16="http://schemas.microsoft.com/office/drawing/2014/main" id="{8185E67B-5C3A-B719-9811-C4C631E8B2F4}"/>
              </a:ext>
            </a:extLst>
          </p:cNvPr>
          <p:cNvSpPr txBox="1"/>
          <p:nvPr/>
        </p:nvSpPr>
        <p:spPr>
          <a:xfrm>
            <a:off x="1147590" y="1615603"/>
            <a:ext cx="4837574" cy="338514"/>
          </a:xfrm>
          <a:prstGeom prst="rect">
            <a:avLst/>
          </a:prstGeom>
          <a:noFill/>
          <a:ln>
            <a:noFill/>
          </a:ln>
        </p:spPr>
        <p:txBody>
          <a:bodyPr spcFirstLastPara="1" wrap="square" lIns="91425" tIns="45700" rIns="91425" bIns="45700" anchor="ctr" anchorCtr="0">
            <a:spAutoFit/>
          </a:bodyPr>
          <a:lstStyle/>
          <a:p>
            <a:pPr lvl="0"/>
            <a:r>
              <a:rPr lang="en-US" altLang="ja-JP" sz="1600" b="1" dirty="0">
                <a:solidFill>
                  <a:srgbClr val="323366"/>
                </a:solidFill>
                <a:latin typeface="メイリオ" panose="020B0604030504040204" pitchFamily="50" charset="-128"/>
                <a:ea typeface="メイリオ" panose="020B0604030504040204" pitchFamily="50" charset="-128"/>
                <a:cs typeface="Meiryo"/>
                <a:sym typeface="Meiryo"/>
              </a:rPr>
              <a:t>DYM</a:t>
            </a:r>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よりご提供できるプラン一覧</a:t>
            </a:r>
          </a:p>
        </p:txBody>
      </p:sp>
      <p:sp>
        <p:nvSpPr>
          <p:cNvPr id="2" name="Google Shape;752;p28">
            <a:extLst>
              <a:ext uri="{FF2B5EF4-FFF2-40B4-BE49-F238E27FC236}">
                <a16:creationId xmlns:a16="http://schemas.microsoft.com/office/drawing/2014/main" id="{9D5A302D-F00E-0C43-E9D8-F1DB17CF4EC0}"/>
              </a:ext>
            </a:extLst>
          </p:cNvPr>
          <p:cNvSpPr txBox="1"/>
          <p:nvPr/>
        </p:nvSpPr>
        <p:spPr>
          <a:xfrm>
            <a:off x="661098" y="824235"/>
            <a:ext cx="8437327" cy="307736"/>
          </a:xfrm>
          <a:prstGeom prst="rect">
            <a:avLst/>
          </a:prstGeom>
          <a:noFill/>
          <a:ln>
            <a:noFill/>
          </a:ln>
        </p:spPr>
        <p:txBody>
          <a:bodyPr spcFirstLastPara="1" wrap="square" lIns="91425" tIns="45700" rIns="91425" bIns="45700" anchor="ctr" anchorCtr="0">
            <a:spAutoFit/>
          </a:bodyPr>
          <a:lstStyle/>
          <a:p>
            <a:pPr lvl="0" algn="ctr"/>
            <a:r>
              <a:rPr lang="ja-JP" altLang="en-US" sz="1400" b="1" dirty="0">
                <a:solidFill>
                  <a:schemeClr val="tx1">
                    <a:lumMod val="65000"/>
                    <a:lumOff val="35000"/>
                  </a:schemeClr>
                </a:solidFill>
                <a:latin typeface="メイリオ" panose="020B0604030504040204" pitchFamily="50" charset="-128"/>
                <a:ea typeface="メイリオ" panose="020B0604030504040204" pitchFamily="50" charset="-128"/>
                <a:cs typeface="Meiryo"/>
                <a:sym typeface="Meiryo"/>
              </a:rPr>
              <a:t>貴社課題感・予算感・施策規模感に合わせて、複数のプランでの提案が可能です。</a:t>
            </a:r>
            <a:endParaRPr lang="en-US" altLang="ja-JP" sz="1400" b="1" dirty="0">
              <a:solidFill>
                <a:schemeClr val="tx1">
                  <a:lumMod val="65000"/>
                  <a:lumOff val="35000"/>
                </a:schemeClr>
              </a:solidFill>
              <a:latin typeface="メイリオ" panose="020B0604030504040204" pitchFamily="50" charset="-128"/>
              <a:ea typeface="メイリオ" panose="020B0604030504040204" pitchFamily="50" charset="-128"/>
              <a:cs typeface="Meiryo"/>
              <a:sym typeface="Meiryo"/>
            </a:endParaRPr>
          </a:p>
        </p:txBody>
      </p:sp>
      <p:sp>
        <p:nvSpPr>
          <p:cNvPr id="3" name="正方形/長方形 2">
            <a:extLst>
              <a:ext uri="{FF2B5EF4-FFF2-40B4-BE49-F238E27FC236}">
                <a16:creationId xmlns:a16="http://schemas.microsoft.com/office/drawing/2014/main" id="{8D454AA9-AD97-90CA-946B-22BBC421527A}"/>
              </a:ext>
            </a:extLst>
          </p:cNvPr>
          <p:cNvSpPr/>
          <p:nvPr/>
        </p:nvSpPr>
        <p:spPr>
          <a:xfrm>
            <a:off x="506322" y="2770359"/>
            <a:ext cx="2914650"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dirty="0">
                <a:latin typeface="メイリオ" panose="020B0604030504040204" pitchFamily="50" charset="-128"/>
                <a:ea typeface="メイリオ" panose="020B0604030504040204" pitchFamily="50" charset="-128"/>
              </a:rPr>
              <a:t>コンサル基本プラン</a:t>
            </a:r>
          </a:p>
        </p:txBody>
      </p:sp>
      <p:sp>
        <p:nvSpPr>
          <p:cNvPr id="5" name="正方形/長方形 4">
            <a:extLst>
              <a:ext uri="{FF2B5EF4-FFF2-40B4-BE49-F238E27FC236}">
                <a16:creationId xmlns:a16="http://schemas.microsoft.com/office/drawing/2014/main" id="{EEC8E70F-A694-0D6C-4FF1-315A6E9F733E}"/>
              </a:ext>
            </a:extLst>
          </p:cNvPr>
          <p:cNvSpPr/>
          <p:nvPr/>
        </p:nvSpPr>
        <p:spPr>
          <a:xfrm>
            <a:off x="506322" y="4666973"/>
            <a:ext cx="2914650"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dirty="0">
                <a:latin typeface="メイリオ" panose="020B0604030504040204" pitchFamily="50" charset="-128"/>
                <a:ea typeface="メイリオ" panose="020B0604030504040204" pitchFamily="50" charset="-128"/>
              </a:rPr>
              <a:t>初動設計</a:t>
            </a:r>
            <a:r>
              <a:rPr lang="ja-JP" altLang="en-US" sz="1400" dirty="0">
                <a:latin typeface="メイリオ" panose="020B0604030504040204" pitchFamily="50" charset="-128"/>
                <a:ea typeface="メイリオ" panose="020B0604030504040204" pitchFamily="50" charset="-128"/>
              </a:rPr>
              <a:t>のみ</a:t>
            </a:r>
            <a:r>
              <a:rPr kumimoji="1" lang="ja-JP" altLang="en-US" sz="1400" dirty="0">
                <a:latin typeface="メイリオ" panose="020B0604030504040204" pitchFamily="50" charset="-128"/>
                <a:ea typeface="メイリオ" panose="020B0604030504040204" pitchFamily="50" charset="-128"/>
              </a:rPr>
              <a:t>プラン</a:t>
            </a:r>
          </a:p>
        </p:txBody>
      </p:sp>
      <p:sp>
        <p:nvSpPr>
          <p:cNvPr id="6" name="正方形/長方形 5">
            <a:extLst>
              <a:ext uri="{FF2B5EF4-FFF2-40B4-BE49-F238E27FC236}">
                <a16:creationId xmlns:a16="http://schemas.microsoft.com/office/drawing/2014/main" id="{951ADC50-2D6D-823F-2EEF-A053535442BE}"/>
              </a:ext>
            </a:extLst>
          </p:cNvPr>
          <p:cNvSpPr/>
          <p:nvPr/>
        </p:nvSpPr>
        <p:spPr>
          <a:xfrm>
            <a:off x="506322" y="5615281"/>
            <a:ext cx="2914650"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dirty="0">
                <a:latin typeface="メイリオ" panose="020B0604030504040204" pitchFamily="50" charset="-128"/>
                <a:ea typeface="メイリオ" panose="020B0604030504040204" pitchFamily="50" charset="-128"/>
              </a:rPr>
              <a:t>運用代行・効率改善プラン</a:t>
            </a:r>
          </a:p>
        </p:txBody>
      </p:sp>
      <p:sp>
        <p:nvSpPr>
          <p:cNvPr id="7" name="正方形/長方形 6">
            <a:extLst>
              <a:ext uri="{FF2B5EF4-FFF2-40B4-BE49-F238E27FC236}">
                <a16:creationId xmlns:a16="http://schemas.microsoft.com/office/drawing/2014/main" id="{ED866F59-8FC1-9200-5700-DE2EEF3AF79A}"/>
              </a:ext>
            </a:extLst>
          </p:cNvPr>
          <p:cNvSpPr/>
          <p:nvPr/>
        </p:nvSpPr>
        <p:spPr>
          <a:xfrm>
            <a:off x="506322" y="3718666"/>
            <a:ext cx="2914650"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dirty="0">
                <a:latin typeface="メイリオ" panose="020B0604030504040204" pitchFamily="50" charset="-128"/>
                <a:ea typeface="メイリオ" panose="020B0604030504040204" pitchFamily="50" charset="-128"/>
              </a:rPr>
              <a:t>成果報酬型プラン</a:t>
            </a:r>
            <a:endParaRPr kumimoji="1" lang="ja-JP" altLang="en-US" sz="1400" dirty="0">
              <a:latin typeface="メイリオ" panose="020B0604030504040204" pitchFamily="50" charset="-128"/>
              <a:ea typeface="メイリオ" panose="020B0604030504040204" pitchFamily="50" charset="-128"/>
            </a:endParaRPr>
          </a:p>
        </p:txBody>
      </p:sp>
      <p:sp>
        <p:nvSpPr>
          <p:cNvPr id="8" name="正方形/長方形 7">
            <a:extLst>
              <a:ext uri="{FF2B5EF4-FFF2-40B4-BE49-F238E27FC236}">
                <a16:creationId xmlns:a16="http://schemas.microsoft.com/office/drawing/2014/main" id="{D7A43CC0-345F-22EA-1EA2-259B21EA4E19}"/>
              </a:ext>
            </a:extLst>
          </p:cNvPr>
          <p:cNvSpPr/>
          <p:nvPr/>
        </p:nvSpPr>
        <p:spPr>
          <a:xfrm>
            <a:off x="3477934" y="2602078"/>
            <a:ext cx="2982883" cy="828809"/>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400" b="1" dirty="0">
                <a:solidFill>
                  <a:schemeClr val="tx1"/>
                </a:solidFill>
                <a:latin typeface="メイリオ" panose="020B0604030504040204" pitchFamily="50" charset="-128"/>
                <a:ea typeface="メイリオ" panose="020B0604030504040204" pitchFamily="50" charset="-128"/>
              </a:rPr>
              <a:t>10</a:t>
            </a:r>
            <a:r>
              <a:rPr lang="ja-JP" altLang="en-US" sz="1400" b="1" dirty="0">
                <a:solidFill>
                  <a:schemeClr val="tx1"/>
                </a:solidFill>
                <a:latin typeface="メイリオ" panose="020B0604030504040204" pitchFamily="50" charset="-128"/>
                <a:ea typeface="メイリオ" panose="020B0604030504040204" pitchFamily="50" charset="-128"/>
              </a:rPr>
              <a:t>万円</a:t>
            </a:r>
            <a:r>
              <a:rPr lang="en-US" altLang="ja-JP" sz="1400" b="1" dirty="0">
                <a:solidFill>
                  <a:schemeClr val="tx1"/>
                </a:solidFill>
                <a:latin typeface="メイリオ" panose="020B0604030504040204" pitchFamily="50" charset="-128"/>
                <a:ea typeface="メイリオ" panose="020B0604030504040204" pitchFamily="50" charset="-128"/>
              </a:rPr>
              <a:t>〜</a:t>
            </a:r>
          </a:p>
          <a:p>
            <a:pPr algn="ctr"/>
            <a:r>
              <a:rPr lang="en-US" altLang="ja-JP" sz="900" dirty="0">
                <a:solidFill>
                  <a:schemeClr val="tx1"/>
                </a:solidFill>
                <a:latin typeface="メイリオ" panose="020B0604030504040204" pitchFamily="50" charset="-128"/>
                <a:ea typeface="メイリオ" panose="020B0604030504040204" pitchFamily="50" charset="-128"/>
              </a:rPr>
              <a:t>※</a:t>
            </a:r>
            <a:r>
              <a:rPr lang="ja-JP" altLang="en-US" sz="900" dirty="0">
                <a:solidFill>
                  <a:schemeClr val="tx1"/>
                </a:solidFill>
                <a:latin typeface="メイリオ" panose="020B0604030504040204" pitchFamily="50" charset="-128"/>
                <a:ea typeface="メイリオ" panose="020B0604030504040204" pitchFamily="50" charset="-128"/>
              </a:rPr>
              <a:t>設定内容により変動</a:t>
            </a:r>
            <a:endParaRPr lang="en-US" altLang="ja-JP" sz="900" dirty="0">
              <a:solidFill>
                <a:schemeClr val="tx1"/>
              </a:solidFill>
              <a:latin typeface="メイリオ" panose="020B0604030504040204" pitchFamily="50" charset="-128"/>
              <a:ea typeface="メイリオ" panose="020B0604030504040204" pitchFamily="50" charset="-128"/>
            </a:endParaRPr>
          </a:p>
        </p:txBody>
      </p:sp>
      <p:sp>
        <p:nvSpPr>
          <p:cNvPr id="9" name="正方形/長方形 8">
            <a:extLst>
              <a:ext uri="{FF2B5EF4-FFF2-40B4-BE49-F238E27FC236}">
                <a16:creationId xmlns:a16="http://schemas.microsoft.com/office/drawing/2014/main" id="{B41ABFD0-4DA0-5335-346F-E7FA981B5FD9}"/>
              </a:ext>
            </a:extLst>
          </p:cNvPr>
          <p:cNvSpPr/>
          <p:nvPr/>
        </p:nvSpPr>
        <p:spPr>
          <a:xfrm>
            <a:off x="3477934" y="4498692"/>
            <a:ext cx="2982883" cy="828809"/>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400" b="1" dirty="0">
                <a:solidFill>
                  <a:schemeClr val="tx1"/>
                </a:solidFill>
                <a:latin typeface="メイリオ" panose="020B0604030504040204" pitchFamily="50" charset="-128"/>
                <a:ea typeface="メイリオ" panose="020B0604030504040204" pitchFamily="50" charset="-128"/>
              </a:rPr>
              <a:t>10</a:t>
            </a:r>
            <a:r>
              <a:rPr lang="ja-JP" altLang="en-US" sz="1400" b="1" dirty="0">
                <a:solidFill>
                  <a:schemeClr val="tx1"/>
                </a:solidFill>
                <a:latin typeface="メイリオ" panose="020B0604030504040204" pitchFamily="50" charset="-128"/>
                <a:ea typeface="メイリオ" panose="020B0604030504040204" pitchFamily="50" charset="-128"/>
              </a:rPr>
              <a:t>万円</a:t>
            </a:r>
            <a:r>
              <a:rPr lang="en-US" altLang="ja-JP" sz="1400" b="1" dirty="0">
                <a:solidFill>
                  <a:schemeClr val="tx1"/>
                </a:solidFill>
                <a:latin typeface="メイリオ" panose="020B0604030504040204" pitchFamily="50" charset="-128"/>
                <a:ea typeface="メイリオ" panose="020B0604030504040204" pitchFamily="50" charset="-128"/>
              </a:rPr>
              <a:t>〜</a:t>
            </a:r>
          </a:p>
          <a:p>
            <a:pPr algn="ctr"/>
            <a:endParaRPr lang="en-US" altLang="ja-JP" sz="700" b="1" dirty="0">
              <a:solidFill>
                <a:schemeClr val="tx1"/>
              </a:solidFill>
              <a:latin typeface="メイリオ" panose="020B0604030504040204" pitchFamily="50" charset="-128"/>
              <a:ea typeface="メイリオ" panose="020B0604030504040204" pitchFamily="50" charset="-128"/>
            </a:endParaRPr>
          </a:p>
          <a:p>
            <a:pPr algn="ctr"/>
            <a:r>
              <a:rPr lang="en-US" altLang="ja-JP" sz="1200" dirty="0">
                <a:solidFill>
                  <a:schemeClr val="tx1"/>
                </a:solidFill>
                <a:latin typeface="メイリオ" panose="020B0604030504040204" pitchFamily="50" charset="-128"/>
                <a:ea typeface="メイリオ" panose="020B0604030504040204" pitchFamily="50" charset="-128"/>
              </a:rPr>
              <a:t>GA</a:t>
            </a:r>
            <a:r>
              <a:rPr lang="ja-JP" altLang="en-US" sz="1200" dirty="0">
                <a:solidFill>
                  <a:schemeClr val="tx1"/>
                </a:solidFill>
                <a:latin typeface="メイリオ" panose="020B0604030504040204" pitchFamily="50" charset="-128"/>
                <a:ea typeface="メイリオ" panose="020B0604030504040204" pitchFamily="50" charset="-128"/>
              </a:rPr>
              <a:t>計測、ステップ配信を構築します</a:t>
            </a:r>
            <a:endParaRPr lang="en-US" altLang="ja-JP" sz="1050" dirty="0">
              <a:solidFill>
                <a:schemeClr val="tx1"/>
              </a:solidFill>
              <a:latin typeface="メイリオ" panose="020B0604030504040204" pitchFamily="50" charset="-128"/>
              <a:ea typeface="メイリオ" panose="020B0604030504040204" pitchFamily="50" charset="-128"/>
            </a:endParaRPr>
          </a:p>
        </p:txBody>
      </p:sp>
      <p:sp>
        <p:nvSpPr>
          <p:cNvPr id="10" name="正方形/長方形 9">
            <a:extLst>
              <a:ext uri="{FF2B5EF4-FFF2-40B4-BE49-F238E27FC236}">
                <a16:creationId xmlns:a16="http://schemas.microsoft.com/office/drawing/2014/main" id="{AD61DD43-5145-183F-4944-CF28902E2BB5}"/>
              </a:ext>
            </a:extLst>
          </p:cNvPr>
          <p:cNvSpPr/>
          <p:nvPr/>
        </p:nvSpPr>
        <p:spPr>
          <a:xfrm>
            <a:off x="3477934" y="5447000"/>
            <a:ext cx="2982883" cy="828809"/>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400" b="1" dirty="0">
                <a:solidFill>
                  <a:schemeClr val="tx1"/>
                </a:solidFill>
                <a:latin typeface="メイリオ" panose="020B0604030504040204" pitchFamily="50" charset="-128"/>
                <a:ea typeface="メイリオ" panose="020B0604030504040204" pitchFamily="50" charset="-128"/>
              </a:rPr>
              <a:t>5</a:t>
            </a:r>
            <a:r>
              <a:rPr lang="ja-JP" altLang="en-US" sz="1400" b="1" dirty="0">
                <a:solidFill>
                  <a:schemeClr val="tx1"/>
                </a:solidFill>
                <a:latin typeface="メイリオ" panose="020B0604030504040204" pitchFamily="50" charset="-128"/>
                <a:ea typeface="メイリオ" panose="020B0604030504040204" pitchFamily="50" charset="-128"/>
              </a:rPr>
              <a:t>万円</a:t>
            </a:r>
            <a:r>
              <a:rPr lang="en-US" altLang="ja-JP" sz="1400" b="1" dirty="0">
                <a:solidFill>
                  <a:schemeClr val="tx1"/>
                </a:solidFill>
                <a:latin typeface="メイリオ" panose="020B0604030504040204" pitchFamily="50" charset="-128"/>
                <a:ea typeface="メイリオ" panose="020B0604030504040204" pitchFamily="50" charset="-128"/>
              </a:rPr>
              <a:t>〜</a:t>
            </a:r>
          </a:p>
          <a:p>
            <a:pPr algn="ctr"/>
            <a:endParaRPr lang="en-US" altLang="ja-JP" sz="700" b="1" dirty="0">
              <a:solidFill>
                <a:schemeClr val="tx1"/>
              </a:solidFill>
              <a:latin typeface="メイリオ" panose="020B0604030504040204" pitchFamily="50" charset="-128"/>
              <a:ea typeface="メイリオ" panose="020B0604030504040204" pitchFamily="50" charset="-128"/>
            </a:endParaRPr>
          </a:p>
          <a:p>
            <a:pPr algn="ctr"/>
            <a:r>
              <a:rPr lang="ja-JP" altLang="en-US" sz="1200" dirty="0">
                <a:solidFill>
                  <a:schemeClr val="tx1"/>
                </a:solidFill>
                <a:latin typeface="メイリオ" panose="020B0604030504040204" pitchFamily="50" charset="-128"/>
                <a:ea typeface="メイリオ" panose="020B0604030504040204" pitchFamily="50" charset="-128"/>
              </a:rPr>
              <a:t>投稿数により変動</a:t>
            </a:r>
            <a:r>
              <a:rPr lang="en-US" altLang="ja-JP" sz="1050" dirty="0">
                <a:solidFill>
                  <a:schemeClr val="tx1"/>
                </a:solidFill>
                <a:latin typeface="メイリオ" panose="020B0604030504040204" pitchFamily="50" charset="-128"/>
                <a:ea typeface="メイリオ" panose="020B0604030504040204" pitchFamily="50" charset="-128"/>
              </a:rPr>
              <a:t>(3</a:t>
            </a:r>
            <a:r>
              <a:rPr lang="ja-JP" altLang="en-US" sz="1050" dirty="0">
                <a:solidFill>
                  <a:schemeClr val="tx1"/>
                </a:solidFill>
                <a:latin typeface="メイリオ" panose="020B0604030504040204" pitchFamily="50" charset="-128"/>
                <a:ea typeface="メイリオ" panose="020B0604030504040204" pitchFamily="50" charset="-128"/>
              </a:rPr>
              <a:t>投稿</a:t>
            </a:r>
            <a:r>
              <a:rPr lang="en-US" altLang="ja-JP" sz="1050" dirty="0">
                <a:solidFill>
                  <a:schemeClr val="tx1"/>
                </a:solidFill>
                <a:latin typeface="メイリオ" panose="020B0604030504040204" pitchFamily="50" charset="-128"/>
                <a:ea typeface="メイリオ" panose="020B0604030504040204" pitchFamily="50" charset="-128"/>
              </a:rPr>
              <a:t>〜/10</a:t>
            </a:r>
            <a:r>
              <a:rPr lang="ja-JP" altLang="en-US" sz="1050" dirty="0">
                <a:solidFill>
                  <a:schemeClr val="tx1"/>
                </a:solidFill>
                <a:latin typeface="メイリオ" panose="020B0604030504040204" pitchFamily="50" charset="-128"/>
                <a:ea typeface="メイリオ" panose="020B0604030504040204" pitchFamily="50" charset="-128"/>
              </a:rPr>
              <a:t>万円</a:t>
            </a:r>
            <a:r>
              <a:rPr lang="en-US" altLang="ja-JP" sz="1050" dirty="0">
                <a:solidFill>
                  <a:schemeClr val="tx1"/>
                </a:solidFill>
                <a:latin typeface="メイリオ" panose="020B0604030504040204" pitchFamily="50" charset="-128"/>
                <a:ea typeface="メイリオ" panose="020B0604030504040204" pitchFamily="50" charset="-128"/>
              </a:rPr>
              <a:t>6</a:t>
            </a:r>
            <a:r>
              <a:rPr lang="ja-JP" altLang="en-US" sz="1050" dirty="0">
                <a:solidFill>
                  <a:schemeClr val="tx1"/>
                </a:solidFill>
                <a:latin typeface="メイリオ" panose="020B0604030504040204" pitchFamily="50" charset="-128"/>
                <a:ea typeface="メイリオ" panose="020B0604030504040204" pitchFamily="50" charset="-128"/>
              </a:rPr>
              <a:t>投稿</a:t>
            </a:r>
            <a:r>
              <a:rPr lang="en-US" altLang="ja-JP" sz="1050" dirty="0">
                <a:solidFill>
                  <a:schemeClr val="tx1"/>
                </a:solidFill>
                <a:latin typeface="メイリオ" panose="020B0604030504040204" pitchFamily="50" charset="-128"/>
                <a:ea typeface="メイリオ" panose="020B0604030504040204" pitchFamily="50" charset="-128"/>
              </a:rPr>
              <a:t>)</a:t>
            </a:r>
          </a:p>
        </p:txBody>
      </p:sp>
      <p:sp>
        <p:nvSpPr>
          <p:cNvPr id="11" name="正方形/長方形 10">
            <a:extLst>
              <a:ext uri="{FF2B5EF4-FFF2-40B4-BE49-F238E27FC236}">
                <a16:creationId xmlns:a16="http://schemas.microsoft.com/office/drawing/2014/main" id="{AEBE1332-3E19-248E-DB59-7DA92679932C}"/>
              </a:ext>
            </a:extLst>
          </p:cNvPr>
          <p:cNvSpPr/>
          <p:nvPr/>
        </p:nvSpPr>
        <p:spPr>
          <a:xfrm>
            <a:off x="3477934" y="3550385"/>
            <a:ext cx="2982883" cy="828809"/>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400" b="1" dirty="0">
                <a:solidFill>
                  <a:schemeClr val="tx1"/>
                </a:solidFill>
                <a:latin typeface="メイリオ" panose="020B0604030504040204" pitchFamily="50" charset="-128"/>
                <a:ea typeface="メイリオ" panose="020B0604030504040204" pitchFamily="50" charset="-128"/>
              </a:rPr>
              <a:t>10</a:t>
            </a:r>
            <a:r>
              <a:rPr lang="ja-JP" altLang="en-US" sz="1400" b="1" dirty="0">
                <a:solidFill>
                  <a:schemeClr val="tx1"/>
                </a:solidFill>
                <a:latin typeface="メイリオ" panose="020B0604030504040204" pitchFamily="50" charset="-128"/>
                <a:ea typeface="メイリオ" panose="020B0604030504040204" pitchFamily="50" charset="-128"/>
              </a:rPr>
              <a:t>万円</a:t>
            </a:r>
            <a:r>
              <a:rPr lang="en-US" altLang="ja-JP" sz="1400" b="1" dirty="0">
                <a:solidFill>
                  <a:schemeClr val="tx1"/>
                </a:solidFill>
                <a:latin typeface="メイリオ" panose="020B0604030504040204" pitchFamily="50" charset="-128"/>
                <a:ea typeface="メイリオ" panose="020B0604030504040204" pitchFamily="50" charset="-128"/>
              </a:rPr>
              <a:t>〜</a:t>
            </a:r>
          </a:p>
          <a:p>
            <a:pPr algn="ctr"/>
            <a:r>
              <a:rPr lang="en-US" altLang="ja-JP" sz="900" dirty="0">
                <a:solidFill>
                  <a:schemeClr val="tx1"/>
                </a:solidFill>
                <a:latin typeface="メイリオ" panose="020B0604030504040204" pitchFamily="50" charset="-128"/>
                <a:ea typeface="メイリオ" panose="020B0604030504040204" pitchFamily="50" charset="-128"/>
              </a:rPr>
              <a:t>※</a:t>
            </a:r>
            <a:r>
              <a:rPr lang="ja-JP" altLang="en-US" sz="900" dirty="0">
                <a:solidFill>
                  <a:schemeClr val="tx1"/>
                </a:solidFill>
                <a:latin typeface="メイリオ" panose="020B0604030504040204" pitchFamily="50" charset="-128"/>
                <a:ea typeface="メイリオ" panose="020B0604030504040204" pitchFamily="50" charset="-128"/>
              </a:rPr>
              <a:t>設定内容により変動</a:t>
            </a:r>
            <a:endParaRPr lang="en-US" altLang="ja-JP" sz="900" dirty="0">
              <a:solidFill>
                <a:schemeClr val="tx1"/>
              </a:solidFill>
              <a:latin typeface="メイリオ" panose="020B0604030504040204" pitchFamily="50" charset="-128"/>
              <a:ea typeface="メイリオ" panose="020B0604030504040204" pitchFamily="50" charset="-128"/>
            </a:endParaRPr>
          </a:p>
        </p:txBody>
      </p:sp>
      <p:sp>
        <p:nvSpPr>
          <p:cNvPr id="13" name="正方形/長方形 12">
            <a:extLst>
              <a:ext uri="{FF2B5EF4-FFF2-40B4-BE49-F238E27FC236}">
                <a16:creationId xmlns:a16="http://schemas.microsoft.com/office/drawing/2014/main" id="{2A0C2CFB-F02A-8049-96FD-FD6CF42B0E7A}"/>
              </a:ext>
            </a:extLst>
          </p:cNvPr>
          <p:cNvSpPr/>
          <p:nvPr/>
        </p:nvSpPr>
        <p:spPr>
          <a:xfrm>
            <a:off x="6517118" y="2602078"/>
            <a:ext cx="2982883" cy="828809"/>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400" b="1" dirty="0">
                <a:solidFill>
                  <a:schemeClr val="tx1">
                    <a:lumMod val="65000"/>
                    <a:lumOff val="35000"/>
                  </a:schemeClr>
                </a:solidFill>
                <a:latin typeface="メイリオ" panose="020B0604030504040204" pitchFamily="50" charset="-128"/>
                <a:ea typeface="メイリオ" panose="020B0604030504040204" pitchFamily="50" charset="-128"/>
              </a:rPr>
              <a:t>20</a:t>
            </a:r>
            <a:r>
              <a:rPr lang="ja-JP" altLang="en-US" sz="1400" b="1" dirty="0">
                <a:solidFill>
                  <a:schemeClr val="tx1">
                    <a:lumMod val="65000"/>
                    <a:lumOff val="35000"/>
                  </a:schemeClr>
                </a:solidFill>
                <a:latin typeface="メイリオ" panose="020B0604030504040204" pitchFamily="50" charset="-128"/>
                <a:ea typeface="メイリオ" panose="020B0604030504040204" pitchFamily="50" charset="-128"/>
              </a:rPr>
              <a:t>万円</a:t>
            </a:r>
            <a:r>
              <a:rPr lang="en-US" altLang="ja-JP" sz="1400" b="1" dirty="0">
                <a:solidFill>
                  <a:schemeClr val="tx1">
                    <a:lumMod val="65000"/>
                    <a:lumOff val="35000"/>
                  </a:schemeClr>
                </a:solidFill>
                <a:latin typeface="メイリオ" panose="020B0604030504040204" pitchFamily="50" charset="-128"/>
                <a:ea typeface="メイリオ" panose="020B0604030504040204" pitchFamily="50" charset="-128"/>
              </a:rPr>
              <a:t>〜</a:t>
            </a:r>
          </a:p>
          <a:p>
            <a:pPr algn="ctr"/>
            <a:endParaRPr lang="en-US" altLang="ja-JP" sz="700" b="1" dirty="0">
              <a:solidFill>
                <a:schemeClr val="tx1">
                  <a:lumMod val="65000"/>
                  <a:lumOff val="35000"/>
                </a:schemeClr>
              </a:solidFill>
              <a:latin typeface="メイリオ" panose="020B0604030504040204" pitchFamily="50" charset="-128"/>
              <a:ea typeface="メイリオ" panose="020B0604030504040204" pitchFamily="50" charset="-128"/>
            </a:endParaRPr>
          </a:p>
          <a:p>
            <a:pPr algn="ctr"/>
            <a:r>
              <a:rPr lang="ja-JP" altLang="en-US" sz="1100" dirty="0">
                <a:solidFill>
                  <a:schemeClr val="tx1">
                    <a:lumMod val="65000"/>
                    <a:lumOff val="35000"/>
                  </a:schemeClr>
                </a:solidFill>
                <a:latin typeface="メイリオ" panose="020B0604030504040204" pitchFamily="50" charset="-128"/>
                <a:ea typeface="メイリオ" panose="020B0604030504040204" pitchFamily="50" charset="-128"/>
              </a:rPr>
              <a:t>投稿数により変動</a:t>
            </a:r>
            <a:r>
              <a:rPr lang="en-US" altLang="ja-JP" sz="1000" dirty="0">
                <a:solidFill>
                  <a:schemeClr val="tx1">
                    <a:lumMod val="65000"/>
                    <a:lumOff val="35000"/>
                  </a:schemeClr>
                </a:solidFill>
                <a:latin typeface="メイリオ" panose="020B0604030504040204" pitchFamily="50" charset="-128"/>
                <a:ea typeface="メイリオ" panose="020B0604030504040204" pitchFamily="50" charset="-128"/>
              </a:rPr>
              <a:t>(3</a:t>
            </a:r>
            <a:r>
              <a:rPr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投稿</a:t>
            </a:r>
            <a:r>
              <a:rPr lang="en-US" altLang="ja-JP" sz="1000" dirty="0">
                <a:solidFill>
                  <a:schemeClr val="tx1">
                    <a:lumMod val="65000"/>
                    <a:lumOff val="35000"/>
                  </a:schemeClr>
                </a:solidFill>
                <a:latin typeface="メイリオ" panose="020B0604030504040204" pitchFamily="50" charset="-128"/>
                <a:ea typeface="メイリオ" panose="020B0604030504040204" pitchFamily="50" charset="-128"/>
              </a:rPr>
              <a:t>〜)</a:t>
            </a:r>
          </a:p>
        </p:txBody>
      </p:sp>
      <p:sp>
        <p:nvSpPr>
          <p:cNvPr id="14" name="正方形/長方形 13">
            <a:extLst>
              <a:ext uri="{FF2B5EF4-FFF2-40B4-BE49-F238E27FC236}">
                <a16:creationId xmlns:a16="http://schemas.microsoft.com/office/drawing/2014/main" id="{E6CA090D-A0FE-B83F-F9D4-7F2081B321AC}"/>
              </a:ext>
            </a:extLst>
          </p:cNvPr>
          <p:cNvSpPr/>
          <p:nvPr/>
        </p:nvSpPr>
        <p:spPr>
          <a:xfrm>
            <a:off x="6517118" y="4498692"/>
            <a:ext cx="2982883" cy="828809"/>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400" b="1" dirty="0">
                <a:solidFill>
                  <a:schemeClr val="tx1">
                    <a:lumMod val="65000"/>
                    <a:lumOff val="35000"/>
                  </a:schemeClr>
                </a:solidFill>
                <a:latin typeface="メイリオ" panose="020B0604030504040204" pitchFamily="50" charset="-128"/>
                <a:ea typeface="メイリオ" panose="020B0604030504040204" pitchFamily="50" charset="-128"/>
              </a:rPr>
              <a:t>0</a:t>
            </a:r>
            <a:r>
              <a:rPr lang="ja-JP" altLang="en-US" sz="1400" b="1" dirty="0">
                <a:solidFill>
                  <a:schemeClr val="tx1">
                    <a:lumMod val="65000"/>
                    <a:lumOff val="35000"/>
                  </a:schemeClr>
                </a:solidFill>
                <a:latin typeface="メイリオ" panose="020B0604030504040204" pitchFamily="50" charset="-128"/>
                <a:ea typeface="メイリオ" panose="020B0604030504040204" pitchFamily="50" charset="-128"/>
              </a:rPr>
              <a:t>万円</a:t>
            </a:r>
            <a:r>
              <a:rPr lang="en-US" altLang="ja-JP" sz="1400" b="1" dirty="0">
                <a:solidFill>
                  <a:schemeClr val="tx1">
                    <a:lumMod val="65000"/>
                    <a:lumOff val="35000"/>
                  </a:schemeClr>
                </a:solidFill>
                <a:latin typeface="メイリオ" panose="020B0604030504040204" pitchFamily="50" charset="-128"/>
                <a:ea typeface="メイリオ" panose="020B0604030504040204" pitchFamily="50" charset="-128"/>
              </a:rPr>
              <a:t>〜</a:t>
            </a:r>
            <a:endParaRPr lang="en-US" altLang="ja-JP" sz="700" b="1" dirty="0">
              <a:solidFill>
                <a:schemeClr val="tx1">
                  <a:lumMod val="65000"/>
                  <a:lumOff val="35000"/>
                </a:schemeClr>
              </a:solidFill>
              <a:latin typeface="メイリオ" panose="020B0604030504040204" pitchFamily="50" charset="-128"/>
              <a:ea typeface="メイリオ" panose="020B0604030504040204" pitchFamily="50" charset="-128"/>
            </a:endParaRPr>
          </a:p>
          <a:p>
            <a:pPr algn="ctr"/>
            <a:r>
              <a:rPr lang="ja-JP" altLang="en-US" sz="1200" dirty="0">
                <a:solidFill>
                  <a:schemeClr val="tx1">
                    <a:lumMod val="65000"/>
                    <a:lumOff val="35000"/>
                  </a:schemeClr>
                </a:solidFill>
                <a:latin typeface="メイリオ" panose="020B0604030504040204" pitchFamily="50" charset="-128"/>
                <a:ea typeface="メイリオ" panose="020B0604030504040204" pitchFamily="50" charset="-128"/>
              </a:rPr>
              <a:t>アカウント費用のみ発生</a:t>
            </a:r>
            <a:endParaRPr lang="en-US" altLang="ja-JP" sz="1200" dirty="0">
              <a:solidFill>
                <a:schemeClr val="tx1">
                  <a:lumMod val="65000"/>
                  <a:lumOff val="35000"/>
                </a:schemeClr>
              </a:solidFill>
              <a:latin typeface="メイリオ" panose="020B0604030504040204" pitchFamily="50" charset="-128"/>
              <a:ea typeface="メイリオ" panose="020B0604030504040204" pitchFamily="50" charset="-128"/>
            </a:endParaRPr>
          </a:p>
          <a:p>
            <a:pPr algn="ctr"/>
            <a:r>
              <a:rPr lang="en-US" altLang="ja-JP" sz="1050" dirty="0">
                <a:solidFill>
                  <a:schemeClr val="bg1">
                    <a:lumMod val="75000"/>
                  </a:schemeClr>
                </a:solidFill>
                <a:latin typeface="メイリオ" panose="020B0604030504040204" pitchFamily="50" charset="-128"/>
                <a:ea typeface="メイリオ" panose="020B0604030504040204" pitchFamily="50" charset="-128"/>
              </a:rPr>
              <a:t>※</a:t>
            </a:r>
            <a:r>
              <a:rPr lang="ja-JP" altLang="en-US" sz="1050" dirty="0">
                <a:solidFill>
                  <a:schemeClr val="bg1">
                    <a:lumMod val="75000"/>
                  </a:schemeClr>
                </a:solidFill>
                <a:latin typeface="メイリオ" panose="020B0604030504040204" pitchFamily="50" charset="-128"/>
                <a:ea typeface="メイリオ" panose="020B0604030504040204" pitchFamily="50" charset="-128"/>
              </a:rPr>
              <a:t>機能導入の場合は別途費用（</a:t>
            </a:r>
            <a:r>
              <a:rPr lang="en-US" altLang="ja-JP" sz="1050" dirty="0">
                <a:solidFill>
                  <a:schemeClr val="bg1">
                    <a:lumMod val="75000"/>
                  </a:schemeClr>
                </a:solidFill>
                <a:latin typeface="メイリオ" panose="020B0604030504040204" pitchFamily="50" charset="-128"/>
                <a:ea typeface="メイリオ" panose="020B0604030504040204" pitchFamily="50" charset="-128"/>
              </a:rPr>
              <a:t>Fee</a:t>
            </a:r>
            <a:r>
              <a:rPr lang="ja-JP" altLang="en-US" sz="1050" dirty="0">
                <a:solidFill>
                  <a:schemeClr val="bg1">
                    <a:lumMod val="75000"/>
                  </a:schemeClr>
                </a:solidFill>
                <a:latin typeface="メイリオ" panose="020B0604030504040204" pitchFamily="50" charset="-128"/>
                <a:ea typeface="メイリオ" panose="020B0604030504040204" pitchFamily="50" charset="-128"/>
              </a:rPr>
              <a:t>）が発生</a:t>
            </a:r>
            <a:endParaRPr lang="en-US" altLang="ja-JP" sz="1050" dirty="0">
              <a:solidFill>
                <a:schemeClr val="bg1">
                  <a:lumMod val="75000"/>
                </a:schemeClr>
              </a:solidFill>
              <a:latin typeface="メイリオ" panose="020B0604030504040204" pitchFamily="50" charset="-128"/>
              <a:ea typeface="メイリオ" panose="020B0604030504040204" pitchFamily="50" charset="-128"/>
            </a:endParaRPr>
          </a:p>
        </p:txBody>
      </p:sp>
      <p:sp>
        <p:nvSpPr>
          <p:cNvPr id="15" name="正方形/長方形 14">
            <a:extLst>
              <a:ext uri="{FF2B5EF4-FFF2-40B4-BE49-F238E27FC236}">
                <a16:creationId xmlns:a16="http://schemas.microsoft.com/office/drawing/2014/main" id="{EE3D57F9-87AE-6E15-36E0-FB1FCC357320}"/>
              </a:ext>
            </a:extLst>
          </p:cNvPr>
          <p:cNvSpPr/>
          <p:nvPr/>
        </p:nvSpPr>
        <p:spPr>
          <a:xfrm>
            <a:off x="6517118" y="5447000"/>
            <a:ext cx="2982883" cy="828809"/>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400" b="1" dirty="0">
                <a:solidFill>
                  <a:schemeClr val="tx1">
                    <a:lumMod val="65000"/>
                    <a:lumOff val="35000"/>
                  </a:schemeClr>
                </a:solidFill>
                <a:latin typeface="メイリオ" panose="020B0604030504040204" pitchFamily="50" charset="-128"/>
                <a:ea typeface="メイリオ" panose="020B0604030504040204" pitchFamily="50" charset="-128"/>
              </a:rPr>
              <a:t>5</a:t>
            </a:r>
            <a:r>
              <a:rPr lang="ja-JP" altLang="en-US" sz="1400" b="1" dirty="0">
                <a:solidFill>
                  <a:schemeClr val="tx1">
                    <a:lumMod val="65000"/>
                    <a:lumOff val="35000"/>
                  </a:schemeClr>
                </a:solidFill>
                <a:latin typeface="メイリオ" panose="020B0604030504040204" pitchFamily="50" charset="-128"/>
                <a:ea typeface="メイリオ" panose="020B0604030504040204" pitchFamily="50" charset="-128"/>
              </a:rPr>
              <a:t>万円</a:t>
            </a:r>
            <a:r>
              <a:rPr lang="en-US" altLang="ja-JP" sz="1400" b="1" dirty="0">
                <a:solidFill>
                  <a:schemeClr val="tx1">
                    <a:lumMod val="65000"/>
                    <a:lumOff val="35000"/>
                  </a:schemeClr>
                </a:solidFill>
                <a:latin typeface="メイリオ" panose="020B0604030504040204" pitchFamily="50" charset="-128"/>
                <a:ea typeface="メイリオ" panose="020B0604030504040204" pitchFamily="50" charset="-128"/>
              </a:rPr>
              <a:t>〜</a:t>
            </a:r>
          </a:p>
          <a:p>
            <a:pPr algn="ctr"/>
            <a:endParaRPr lang="en-US" altLang="ja-JP" sz="700" b="1" dirty="0">
              <a:solidFill>
                <a:schemeClr val="tx1">
                  <a:lumMod val="65000"/>
                  <a:lumOff val="35000"/>
                </a:schemeClr>
              </a:solidFill>
              <a:latin typeface="メイリオ" panose="020B0604030504040204" pitchFamily="50" charset="-128"/>
              <a:ea typeface="メイリオ" panose="020B0604030504040204" pitchFamily="50" charset="-128"/>
            </a:endParaRPr>
          </a:p>
          <a:p>
            <a:pPr algn="ctr"/>
            <a:r>
              <a:rPr lang="ja-JP" altLang="en-US" sz="1200" dirty="0">
                <a:solidFill>
                  <a:schemeClr val="tx1">
                    <a:lumMod val="65000"/>
                    <a:lumOff val="35000"/>
                  </a:schemeClr>
                </a:solidFill>
                <a:latin typeface="メイリオ" panose="020B0604030504040204" pitchFamily="50" charset="-128"/>
                <a:ea typeface="メイリオ" panose="020B0604030504040204" pitchFamily="50" charset="-128"/>
              </a:rPr>
              <a:t>投稿数により変動</a:t>
            </a:r>
            <a:r>
              <a:rPr lang="en-US" altLang="ja-JP" sz="1050" dirty="0">
                <a:solidFill>
                  <a:schemeClr val="tx1">
                    <a:lumMod val="65000"/>
                    <a:lumOff val="35000"/>
                  </a:schemeClr>
                </a:solidFill>
                <a:latin typeface="メイリオ" panose="020B0604030504040204" pitchFamily="50" charset="-128"/>
                <a:ea typeface="メイリオ" panose="020B0604030504040204" pitchFamily="50" charset="-128"/>
              </a:rPr>
              <a:t>(3</a:t>
            </a:r>
            <a:r>
              <a:rPr lang="ja-JP" altLang="en-US" sz="1050" dirty="0">
                <a:solidFill>
                  <a:schemeClr val="tx1">
                    <a:lumMod val="65000"/>
                    <a:lumOff val="35000"/>
                  </a:schemeClr>
                </a:solidFill>
                <a:latin typeface="メイリオ" panose="020B0604030504040204" pitchFamily="50" charset="-128"/>
                <a:ea typeface="メイリオ" panose="020B0604030504040204" pitchFamily="50" charset="-128"/>
              </a:rPr>
              <a:t>投稿</a:t>
            </a:r>
            <a:r>
              <a:rPr lang="en-US" altLang="ja-JP" sz="1050" dirty="0">
                <a:solidFill>
                  <a:schemeClr val="tx1">
                    <a:lumMod val="65000"/>
                    <a:lumOff val="35000"/>
                  </a:schemeClr>
                </a:solidFill>
                <a:latin typeface="メイリオ" panose="020B0604030504040204" pitchFamily="50" charset="-128"/>
                <a:ea typeface="メイリオ" panose="020B0604030504040204" pitchFamily="50" charset="-128"/>
              </a:rPr>
              <a:t>〜/10</a:t>
            </a:r>
            <a:r>
              <a:rPr lang="ja-JP" altLang="en-US" sz="1050" dirty="0">
                <a:solidFill>
                  <a:schemeClr val="tx1">
                    <a:lumMod val="65000"/>
                    <a:lumOff val="35000"/>
                  </a:schemeClr>
                </a:solidFill>
                <a:latin typeface="メイリオ" panose="020B0604030504040204" pitchFamily="50" charset="-128"/>
                <a:ea typeface="メイリオ" panose="020B0604030504040204" pitchFamily="50" charset="-128"/>
              </a:rPr>
              <a:t>万円</a:t>
            </a:r>
            <a:r>
              <a:rPr lang="en-US" altLang="ja-JP" sz="1050" dirty="0">
                <a:solidFill>
                  <a:schemeClr val="tx1">
                    <a:lumMod val="65000"/>
                    <a:lumOff val="35000"/>
                  </a:schemeClr>
                </a:solidFill>
                <a:latin typeface="メイリオ" panose="020B0604030504040204" pitchFamily="50" charset="-128"/>
                <a:ea typeface="メイリオ" panose="020B0604030504040204" pitchFamily="50" charset="-128"/>
              </a:rPr>
              <a:t>6</a:t>
            </a:r>
            <a:r>
              <a:rPr lang="ja-JP" altLang="en-US" sz="1050" dirty="0">
                <a:solidFill>
                  <a:schemeClr val="tx1">
                    <a:lumMod val="65000"/>
                    <a:lumOff val="35000"/>
                  </a:schemeClr>
                </a:solidFill>
                <a:latin typeface="メイリオ" panose="020B0604030504040204" pitchFamily="50" charset="-128"/>
                <a:ea typeface="メイリオ" panose="020B0604030504040204" pitchFamily="50" charset="-128"/>
              </a:rPr>
              <a:t>投稿</a:t>
            </a:r>
            <a:r>
              <a:rPr lang="en-US" altLang="ja-JP" sz="1050" dirty="0">
                <a:solidFill>
                  <a:schemeClr val="tx1">
                    <a:lumMod val="65000"/>
                    <a:lumOff val="35000"/>
                  </a:schemeClr>
                </a:solidFill>
                <a:latin typeface="メイリオ" panose="020B0604030504040204" pitchFamily="50" charset="-128"/>
                <a:ea typeface="メイリオ" panose="020B0604030504040204" pitchFamily="50" charset="-128"/>
              </a:rPr>
              <a:t>)</a:t>
            </a:r>
          </a:p>
        </p:txBody>
      </p:sp>
      <p:sp>
        <p:nvSpPr>
          <p:cNvPr id="16" name="正方形/長方形 15">
            <a:extLst>
              <a:ext uri="{FF2B5EF4-FFF2-40B4-BE49-F238E27FC236}">
                <a16:creationId xmlns:a16="http://schemas.microsoft.com/office/drawing/2014/main" id="{CA00712D-E4EC-DEB7-454F-CD087FC64AB8}"/>
              </a:ext>
            </a:extLst>
          </p:cNvPr>
          <p:cNvSpPr/>
          <p:nvPr/>
        </p:nvSpPr>
        <p:spPr>
          <a:xfrm>
            <a:off x="6517118" y="3550385"/>
            <a:ext cx="2982883" cy="828809"/>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b="1" dirty="0">
                <a:solidFill>
                  <a:schemeClr val="tx1">
                    <a:lumMod val="65000"/>
                    <a:lumOff val="35000"/>
                  </a:schemeClr>
                </a:solidFill>
                <a:latin typeface="メイリオ" panose="020B0604030504040204" pitchFamily="50" charset="-128"/>
                <a:ea typeface="メイリオ" panose="020B0604030504040204" pitchFamily="50" charset="-128"/>
              </a:rPr>
              <a:t>単価</a:t>
            </a:r>
            <a:r>
              <a:rPr lang="en-US" altLang="ja-JP" b="1" dirty="0">
                <a:solidFill>
                  <a:schemeClr val="tx1">
                    <a:lumMod val="65000"/>
                    <a:lumOff val="35000"/>
                  </a:schemeClr>
                </a:solidFill>
                <a:latin typeface="メイリオ" panose="020B0604030504040204" pitchFamily="50" charset="-128"/>
                <a:ea typeface="メイリオ" panose="020B0604030504040204" pitchFamily="50" charset="-128"/>
              </a:rPr>
              <a:t>×</a:t>
            </a:r>
            <a:r>
              <a:rPr lang="ja-JP" altLang="en-US" b="1" dirty="0">
                <a:solidFill>
                  <a:schemeClr val="tx1">
                    <a:lumMod val="65000"/>
                    <a:lumOff val="35000"/>
                  </a:schemeClr>
                </a:solidFill>
                <a:latin typeface="メイリオ" panose="020B0604030504040204" pitchFamily="50" charset="-128"/>
                <a:ea typeface="メイリオ" panose="020B0604030504040204" pitchFamily="50" charset="-128"/>
              </a:rPr>
              <a:t>成果数により変動</a:t>
            </a:r>
            <a:endParaRPr lang="en-US" altLang="ja-JP" sz="1200" b="1" dirty="0">
              <a:solidFill>
                <a:schemeClr val="tx1">
                  <a:lumMod val="65000"/>
                  <a:lumOff val="35000"/>
                </a:schemeClr>
              </a:solidFill>
              <a:latin typeface="メイリオ" panose="020B0604030504040204" pitchFamily="50" charset="-128"/>
              <a:ea typeface="メイリオ" panose="020B0604030504040204" pitchFamily="50" charset="-128"/>
            </a:endParaRPr>
          </a:p>
          <a:p>
            <a:pPr algn="ctr"/>
            <a:endParaRPr lang="en-US" altLang="ja-JP" sz="700" b="1" dirty="0">
              <a:solidFill>
                <a:schemeClr val="tx1">
                  <a:lumMod val="65000"/>
                  <a:lumOff val="35000"/>
                </a:schemeClr>
              </a:solidFill>
              <a:latin typeface="メイリオ" panose="020B0604030504040204" pitchFamily="50" charset="-128"/>
              <a:ea typeface="メイリオ" panose="020B0604030504040204" pitchFamily="50" charset="-128"/>
            </a:endParaRPr>
          </a:p>
          <a:p>
            <a:pPr algn="ctr"/>
            <a:r>
              <a:rPr lang="en-US" altLang="ja-JP" sz="900" dirty="0">
                <a:solidFill>
                  <a:schemeClr val="tx1">
                    <a:lumMod val="65000"/>
                    <a:lumOff val="35000"/>
                  </a:schemeClr>
                </a:solidFill>
                <a:latin typeface="メイリオ" panose="020B0604030504040204" pitchFamily="50" charset="-128"/>
                <a:ea typeface="メイリオ" panose="020B0604030504040204" pitchFamily="50" charset="-128"/>
              </a:rPr>
              <a:t>※</a:t>
            </a:r>
            <a:r>
              <a:rPr lang="ja-JP" altLang="en-US" sz="900" dirty="0">
                <a:solidFill>
                  <a:schemeClr val="tx1">
                    <a:lumMod val="65000"/>
                    <a:lumOff val="35000"/>
                  </a:schemeClr>
                </a:solidFill>
                <a:latin typeface="メイリオ" panose="020B0604030504040204" pitchFamily="50" charset="-128"/>
                <a:ea typeface="メイリオ" panose="020B0604030504040204" pitchFamily="50" charset="-128"/>
              </a:rPr>
              <a:t>アカウント費とツール費は発生します</a:t>
            </a:r>
            <a:endParaRPr lang="en-US" altLang="ja-JP" sz="7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19" name="テキスト ボックス 18">
            <a:extLst>
              <a:ext uri="{FF2B5EF4-FFF2-40B4-BE49-F238E27FC236}">
                <a16:creationId xmlns:a16="http://schemas.microsoft.com/office/drawing/2014/main" id="{B3C94D54-28FD-BEBF-AEF0-979D8BE80231}"/>
              </a:ext>
            </a:extLst>
          </p:cNvPr>
          <p:cNvSpPr txBox="1"/>
          <p:nvPr/>
        </p:nvSpPr>
        <p:spPr>
          <a:xfrm>
            <a:off x="3569145" y="2256270"/>
            <a:ext cx="2800460" cy="261610"/>
          </a:xfrm>
          <a:prstGeom prst="rect">
            <a:avLst/>
          </a:prstGeom>
          <a:noFill/>
        </p:spPr>
        <p:txBody>
          <a:bodyPr wrap="square">
            <a:spAutoFit/>
          </a:bodyPr>
          <a:lstStyle/>
          <a:p>
            <a:pPr algn="ctr"/>
            <a:r>
              <a:rPr kumimoji="1" lang="en-US" altLang="ja-JP" sz="1100" b="1" dirty="0">
                <a:solidFill>
                  <a:schemeClr val="tx1">
                    <a:lumMod val="65000"/>
                    <a:lumOff val="35000"/>
                  </a:schemeClr>
                </a:solidFill>
                <a:latin typeface="メイリオ" panose="020B0604030504040204" pitchFamily="50" charset="-128"/>
                <a:ea typeface="メイリオ" panose="020B0604030504040204" pitchFamily="50" charset="-128"/>
              </a:rPr>
              <a:t>&lt;</a:t>
            </a:r>
            <a:r>
              <a:rPr kumimoji="1" lang="ja-JP" altLang="en-US" sz="1100" b="1" dirty="0">
                <a:solidFill>
                  <a:schemeClr val="tx1">
                    <a:lumMod val="65000"/>
                    <a:lumOff val="35000"/>
                  </a:schemeClr>
                </a:solidFill>
                <a:latin typeface="メイリオ" panose="020B0604030504040204" pitchFamily="50" charset="-128"/>
                <a:ea typeface="メイリオ" panose="020B0604030504040204" pitchFamily="50" charset="-128"/>
              </a:rPr>
              <a:t>初期費用</a:t>
            </a:r>
            <a:r>
              <a:rPr kumimoji="1" lang="en-US" altLang="ja-JP" sz="1100" b="1" dirty="0">
                <a:solidFill>
                  <a:schemeClr val="tx1">
                    <a:lumMod val="65000"/>
                    <a:lumOff val="35000"/>
                  </a:schemeClr>
                </a:solidFill>
                <a:latin typeface="メイリオ" panose="020B0604030504040204" pitchFamily="50" charset="-128"/>
                <a:ea typeface="メイリオ" panose="020B0604030504040204" pitchFamily="50" charset="-128"/>
              </a:rPr>
              <a:t>&gt;</a:t>
            </a:r>
            <a:endParaRPr kumimoji="1" lang="ja-JP" altLang="en-US" sz="1100" b="1"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22" name="テキスト ボックス 21">
            <a:extLst>
              <a:ext uri="{FF2B5EF4-FFF2-40B4-BE49-F238E27FC236}">
                <a16:creationId xmlns:a16="http://schemas.microsoft.com/office/drawing/2014/main" id="{91B5A2B5-E8BF-32E8-3229-6262A8849DFA}"/>
              </a:ext>
            </a:extLst>
          </p:cNvPr>
          <p:cNvSpPr txBox="1"/>
          <p:nvPr/>
        </p:nvSpPr>
        <p:spPr>
          <a:xfrm>
            <a:off x="6608329" y="2256270"/>
            <a:ext cx="2800460" cy="261610"/>
          </a:xfrm>
          <a:prstGeom prst="rect">
            <a:avLst/>
          </a:prstGeom>
          <a:noFill/>
        </p:spPr>
        <p:txBody>
          <a:bodyPr wrap="square">
            <a:spAutoFit/>
          </a:bodyPr>
          <a:lstStyle/>
          <a:p>
            <a:pPr algn="ctr"/>
            <a:r>
              <a:rPr kumimoji="1" lang="en-US" altLang="ja-JP" sz="1100" b="1" dirty="0">
                <a:solidFill>
                  <a:schemeClr val="tx1">
                    <a:lumMod val="65000"/>
                    <a:lumOff val="35000"/>
                  </a:schemeClr>
                </a:solidFill>
                <a:latin typeface="メイリオ" panose="020B0604030504040204" pitchFamily="50" charset="-128"/>
                <a:ea typeface="メイリオ" panose="020B0604030504040204" pitchFamily="50" charset="-128"/>
              </a:rPr>
              <a:t>&lt;</a:t>
            </a:r>
            <a:r>
              <a:rPr kumimoji="1" lang="ja-JP" altLang="en-US" sz="1100" b="1" dirty="0">
                <a:solidFill>
                  <a:schemeClr val="tx1">
                    <a:lumMod val="65000"/>
                    <a:lumOff val="35000"/>
                  </a:schemeClr>
                </a:solidFill>
                <a:latin typeface="メイリオ" panose="020B0604030504040204" pitchFamily="50" charset="-128"/>
                <a:ea typeface="メイリオ" panose="020B0604030504040204" pitchFamily="50" charset="-128"/>
              </a:rPr>
              <a:t>月額費用</a:t>
            </a:r>
            <a:r>
              <a:rPr kumimoji="1" lang="en-US" altLang="ja-JP" sz="1100" b="1" dirty="0">
                <a:solidFill>
                  <a:schemeClr val="tx1">
                    <a:lumMod val="65000"/>
                    <a:lumOff val="35000"/>
                  </a:schemeClr>
                </a:solidFill>
                <a:latin typeface="メイリオ" panose="020B0604030504040204" pitchFamily="50" charset="-128"/>
                <a:ea typeface="メイリオ" panose="020B0604030504040204" pitchFamily="50" charset="-128"/>
              </a:rPr>
              <a:t>&gt;</a:t>
            </a:r>
            <a:endParaRPr kumimoji="1" lang="ja-JP" altLang="en-US" sz="1100" b="1"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24" name="テキスト ボックス 23">
            <a:extLst>
              <a:ext uri="{FF2B5EF4-FFF2-40B4-BE49-F238E27FC236}">
                <a16:creationId xmlns:a16="http://schemas.microsoft.com/office/drawing/2014/main" id="{F2E30823-4A97-1E61-22CA-60C942910619}"/>
              </a:ext>
            </a:extLst>
          </p:cNvPr>
          <p:cNvSpPr txBox="1"/>
          <p:nvPr/>
        </p:nvSpPr>
        <p:spPr>
          <a:xfrm>
            <a:off x="4864912" y="1516791"/>
            <a:ext cx="4294201" cy="276999"/>
          </a:xfrm>
          <a:prstGeom prst="rect">
            <a:avLst/>
          </a:prstGeom>
          <a:noFill/>
        </p:spPr>
        <p:txBody>
          <a:bodyPr wrap="square">
            <a:spAutoFit/>
          </a:bodyPr>
          <a:lstStyle/>
          <a:p>
            <a:r>
              <a:rPr lang="en-US" altLang="ja-JP" sz="1200" b="1" dirty="0">
                <a:solidFill>
                  <a:srgbClr val="FF0000"/>
                </a:solidFill>
                <a:latin typeface="メイリオ" panose="020B0604030504040204" pitchFamily="50" charset="-128"/>
                <a:ea typeface="メイリオ" panose="020B0604030504040204" pitchFamily="50" charset="-128"/>
                <a:cs typeface="Meiryo"/>
                <a:sym typeface="Meiryo"/>
              </a:rPr>
              <a:t>※</a:t>
            </a:r>
            <a:r>
              <a:rPr lang="ja-JP" altLang="en-US" sz="1200" b="1" dirty="0">
                <a:solidFill>
                  <a:srgbClr val="FF0000"/>
                </a:solidFill>
                <a:latin typeface="メイリオ" panose="020B0604030504040204" pitchFamily="50" charset="-128"/>
                <a:ea typeface="メイリオ" panose="020B0604030504040204" pitchFamily="50" charset="-128"/>
                <a:cs typeface="Meiryo"/>
                <a:sym typeface="Meiryo"/>
              </a:rPr>
              <a:t>いずれも</a:t>
            </a:r>
            <a:r>
              <a:rPr lang="en-US" altLang="ja-JP" sz="1200" b="1" dirty="0">
                <a:solidFill>
                  <a:srgbClr val="FF0000"/>
                </a:solidFill>
                <a:latin typeface="メイリオ" panose="020B0604030504040204" pitchFamily="50" charset="-128"/>
                <a:ea typeface="メイリオ" panose="020B0604030504040204" pitchFamily="50" charset="-128"/>
                <a:cs typeface="Meiryo"/>
                <a:sym typeface="Meiryo"/>
              </a:rPr>
              <a:t>6</a:t>
            </a:r>
            <a:r>
              <a:rPr lang="ja-JP" altLang="en-US" sz="1200" b="1" dirty="0">
                <a:solidFill>
                  <a:srgbClr val="FF0000"/>
                </a:solidFill>
                <a:latin typeface="メイリオ" panose="020B0604030504040204" pitchFamily="50" charset="-128"/>
                <a:ea typeface="メイリオ" panose="020B0604030504040204" pitchFamily="50" charset="-128"/>
                <a:cs typeface="Meiryo"/>
                <a:sym typeface="Meiryo"/>
              </a:rPr>
              <a:t>か月</a:t>
            </a:r>
            <a:r>
              <a:rPr lang="en-US" altLang="ja-JP" sz="1200" b="1" dirty="0">
                <a:solidFill>
                  <a:srgbClr val="FF0000"/>
                </a:solidFill>
                <a:latin typeface="メイリオ" panose="020B0604030504040204" pitchFamily="50" charset="-128"/>
                <a:ea typeface="メイリオ" panose="020B0604030504040204" pitchFamily="50" charset="-128"/>
                <a:cs typeface="Meiryo"/>
                <a:sym typeface="Meiryo"/>
              </a:rPr>
              <a:t>〜</a:t>
            </a:r>
            <a:r>
              <a:rPr lang="ja-JP" altLang="en-US" sz="1200" b="1" dirty="0">
                <a:solidFill>
                  <a:srgbClr val="FF0000"/>
                </a:solidFill>
                <a:latin typeface="メイリオ" panose="020B0604030504040204" pitchFamily="50" charset="-128"/>
                <a:ea typeface="メイリオ" panose="020B0604030504040204" pitchFamily="50" charset="-128"/>
                <a:cs typeface="Meiryo"/>
                <a:sym typeface="Meiryo"/>
              </a:rPr>
              <a:t>の契約となります。</a:t>
            </a:r>
            <a:endParaRPr lang="ja-JP" altLang="en-US" sz="1200" b="1" dirty="0">
              <a:solidFill>
                <a:srgbClr val="FF0000"/>
              </a:solidFill>
            </a:endParaRPr>
          </a:p>
        </p:txBody>
      </p:sp>
      <p:sp>
        <p:nvSpPr>
          <p:cNvPr id="25" name="テキスト ボックス 24">
            <a:extLst>
              <a:ext uri="{FF2B5EF4-FFF2-40B4-BE49-F238E27FC236}">
                <a16:creationId xmlns:a16="http://schemas.microsoft.com/office/drawing/2014/main" id="{D33F2179-B983-907C-4091-A1C6C62D52D4}"/>
              </a:ext>
            </a:extLst>
          </p:cNvPr>
          <p:cNvSpPr txBox="1"/>
          <p:nvPr/>
        </p:nvSpPr>
        <p:spPr>
          <a:xfrm>
            <a:off x="4879760" y="1751891"/>
            <a:ext cx="4294201" cy="276999"/>
          </a:xfrm>
          <a:prstGeom prst="rect">
            <a:avLst/>
          </a:prstGeom>
          <a:noFill/>
        </p:spPr>
        <p:txBody>
          <a:bodyPr wrap="square">
            <a:spAutoFit/>
          </a:bodyPr>
          <a:lstStyle/>
          <a:p>
            <a:r>
              <a:rPr lang="en-US" altLang="ja-JP" sz="1200" b="1" dirty="0">
                <a:solidFill>
                  <a:srgbClr val="FF0000"/>
                </a:solidFill>
                <a:latin typeface="メイリオ" panose="020B0604030504040204" pitchFamily="50" charset="-128"/>
                <a:ea typeface="メイリオ" panose="020B0604030504040204" pitchFamily="50" charset="-128"/>
                <a:cs typeface="Meiryo"/>
                <a:sym typeface="Meiryo"/>
              </a:rPr>
              <a:t>※</a:t>
            </a:r>
            <a:r>
              <a:rPr lang="ja-JP" altLang="en-US" sz="1200" b="1" dirty="0">
                <a:solidFill>
                  <a:srgbClr val="FF0000"/>
                </a:solidFill>
                <a:latin typeface="メイリオ" panose="020B0604030504040204" pitchFamily="50" charset="-128"/>
                <a:ea typeface="メイリオ" panose="020B0604030504040204" pitchFamily="50" charset="-128"/>
                <a:cs typeface="Meiryo"/>
                <a:sym typeface="Meiryo"/>
              </a:rPr>
              <a:t>開発やツール導入の場合は別途費用が発生します。</a:t>
            </a:r>
            <a:endParaRPr lang="ja-JP" altLang="en-US" sz="1200" b="1" dirty="0">
              <a:solidFill>
                <a:srgbClr val="FF0000"/>
              </a:solidFill>
            </a:endParaRPr>
          </a:p>
        </p:txBody>
      </p:sp>
      <p:sp>
        <p:nvSpPr>
          <p:cNvPr id="18" name="正方形/長方形 17">
            <a:extLst>
              <a:ext uri="{FF2B5EF4-FFF2-40B4-BE49-F238E27FC236}">
                <a16:creationId xmlns:a16="http://schemas.microsoft.com/office/drawing/2014/main" id="{6C7D4DA1-1231-53FE-3BA9-7E10A6828C39}"/>
              </a:ext>
            </a:extLst>
          </p:cNvPr>
          <p:cNvSpPr/>
          <p:nvPr/>
        </p:nvSpPr>
        <p:spPr>
          <a:xfrm>
            <a:off x="3996942" y="122215"/>
            <a:ext cx="2083719" cy="320757"/>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rPr>
              <a:t>DYM</a:t>
            </a:r>
            <a:r>
              <a:rPr kumimoji="1" lang="ja-JP" altLang="en-US" sz="1400" dirty="0">
                <a:latin typeface="メイリオ" panose="020B0604030504040204" pitchFamily="50" charset="-128"/>
                <a:ea typeface="メイリオ" panose="020B0604030504040204" pitchFamily="50" charset="-128"/>
              </a:rPr>
              <a:t>プラン</a:t>
            </a:r>
          </a:p>
        </p:txBody>
      </p:sp>
    </p:spTree>
    <p:extLst>
      <p:ext uri="{BB962C8B-B14F-4D97-AF65-F5344CB8AC3E}">
        <p14:creationId xmlns:p14="http://schemas.microsoft.com/office/powerpoint/2010/main" val="218297665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728F20-05AF-7B34-5B14-225CADFA40E5}"/>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CCBC79D5-B48C-EA1F-E7C8-2470B18780CC}"/>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弊社からご提供できる運用プラン</a:t>
            </a:r>
          </a:p>
        </p:txBody>
      </p:sp>
      <p:sp>
        <p:nvSpPr>
          <p:cNvPr id="9" name="正方形/長方形 8">
            <a:extLst>
              <a:ext uri="{FF2B5EF4-FFF2-40B4-BE49-F238E27FC236}">
                <a16:creationId xmlns:a16="http://schemas.microsoft.com/office/drawing/2014/main" id="{D61F0D43-1EC8-C807-64DC-BE9799A02F79}"/>
              </a:ext>
            </a:extLst>
          </p:cNvPr>
          <p:cNvSpPr/>
          <p:nvPr/>
        </p:nvSpPr>
        <p:spPr>
          <a:xfrm>
            <a:off x="0" y="777240"/>
            <a:ext cx="2914650"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dirty="0">
                <a:latin typeface="メイリオ" panose="020B0604030504040204" pitchFamily="50" charset="-128"/>
                <a:ea typeface="メイリオ" panose="020B0604030504040204" pitchFamily="50" charset="-128"/>
              </a:rPr>
              <a:t>コンサル基本プラン</a:t>
            </a:r>
          </a:p>
        </p:txBody>
      </p:sp>
      <p:sp>
        <p:nvSpPr>
          <p:cNvPr id="3" name="Google Shape;752;p28">
            <a:extLst>
              <a:ext uri="{FF2B5EF4-FFF2-40B4-BE49-F238E27FC236}">
                <a16:creationId xmlns:a16="http://schemas.microsoft.com/office/drawing/2014/main" id="{690D08B2-6972-E80D-2DA1-D0B4EE8CE831}"/>
              </a:ext>
            </a:extLst>
          </p:cNvPr>
          <p:cNvSpPr txBox="1"/>
          <p:nvPr/>
        </p:nvSpPr>
        <p:spPr>
          <a:xfrm>
            <a:off x="2914650" y="859443"/>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latin typeface="メイリオ" panose="020B0604030504040204" pitchFamily="50" charset="-128"/>
                <a:ea typeface="メイリオ" panose="020B0604030504040204" pitchFamily="50" charset="-128"/>
                <a:cs typeface="Meiryo"/>
                <a:sym typeface="Meiryo"/>
              </a:rPr>
              <a:t>オーソドックスなコンサルプラン。月間企画数により費用を設定。</a:t>
            </a:r>
          </a:p>
        </p:txBody>
      </p:sp>
      <p:sp>
        <p:nvSpPr>
          <p:cNvPr id="7" name="正方形/長方形 6">
            <a:extLst>
              <a:ext uri="{FF2B5EF4-FFF2-40B4-BE49-F238E27FC236}">
                <a16:creationId xmlns:a16="http://schemas.microsoft.com/office/drawing/2014/main" id="{9640D725-6CB1-3362-4D55-D2D874EE3245}"/>
              </a:ext>
            </a:extLst>
          </p:cNvPr>
          <p:cNvSpPr/>
          <p:nvPr/>
        </p:nvSpPr>
        <p:spPr>
          <a:xfrm>
            <a:off x="548883" y="3587932"/>
            <a:ext cx="8859613" cy="2882538"/>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050" dirty="0">
              <a:solidFill>
                <a:schemeClr val="tx1">
                  <a:lumMod val="65000"/>
                  <a:lumOff val="35000"/>
                </a:schemeClr>
              </a:solidFill>
              <a:latin typeface="メイリオ" panose="020B0604030504040204" pitchFamily="50" charset="-128"/>
              <a:ea typeface="メイリオ" panose="020B0604030504040204" pitchFamily="50" charset="-128"/>
            </a:endParaRPr>
          </a:p>
        </p:txBody>
      </p:sp>
      <p:graphicFrame>
        <p:nvGraphicFramePr>
          <p:cNvPr id="10" name="表 9">
            <a:extLst>
              <a:ext uri="{FF2B5EF4-FFF2-40B4-BE49-F238E27FC236}">
                <a16:creationId xmlns:a16="http://schemas.microsoft.com/office/drawing/2014/main" id="{C9C27775-D0B4-87CE-2D50-752D4FF8706F}"/>
              </a:ext>
            </a:extLst>
          </p:cNvPr>
          <p:cNvGraphicFramePr>
            <a:graphicFrameLocks noGrp="1"/>
          </p:cNvGraphicFramePr>
          <p:nvPr/>
        </p:nvGraphicFramePr>
        <p:xfrm>
          <a:off x="706726" y="3963057"/>
          <a:ext cx="8543925" cy="2454494"/>
        </p:xfrm>
        <a:graphic>
          <a:graphicData uri="http://schemas.openxmlformats.org/drawingml/2006/table">
            <a:tbl>
              <a:tblPr/>
              <a:tblGrid>
                <a:gridCol w="1832575">
                  <a:extLst>
                    <a:ext uri="{9D8B030D-6E8A-4147-A177-3AD203B41FA5}">
                      <a16:colId xmlns:a16="http://schemas.microsoft.com/office/drawing/2014/main" val="861741390"/>
                    </a:ext>
                  </a:extLst>
                </a:gridCol>
                <a:gridCol w="1140808">
                  <a:extLst>
                    <a:ext uri="{9D8B030D-6E8A-4147-A177-3AD203B41FA5}">
                      <a16:colId xmlns:a16="http://schemas.microsoft.com/office/drawing/2014/main" val="2023292695"/>
                    </a:ext>
                  </a:extLst>
                </a:gridCol>
                <a:gridCol w="1140808">
                  <a:extLst>
                    <a:ext uri="{9D8B030D-6E8A-4147-A177-3AD203B41FA5}">
                      <a16:colId xmlns:a16="http://schemas.microsoft.com/office/drawing/2014/main" val="3807194112"/>
                    </a:ext>
                  </a:extLst>
                </a:gridCol>
                <a:gridCol w="315543">
                  <a:extLst>
                    <a:ext uri="{9D8B030D-6E8A-4147-A177-3AD203B41FA5}">
                      <a16:colId xmlns:a16="http://schemas.microsoft.com/office/drawing/2014/main" val="1897046241"/>
                    </a:ext>
                  </a:extLst>
                </a:gridCol>
                <a:gridCol w="1832575">
                  <a:extLst>
                    <a:ext uri="{9D8B030D-6E8A-4147-A177-3AD203B41FA5}">
                      <a16:colId xmlns:a16="http://schemas.microsoft.com/office/drawing/2014/main" val="286895173"/>
                    </a:ext>
                  </a:extLst>
                </a:gridCol>
                <a:gridCol w="1140808">
                  <a:extLst>
                    <a:ext uri="{9D8B030D-6E8A-4147-A177-3AD203B41FA5}">
                      <a16:colId xmlns:a16="http://schemas.microsoft.com/office/drawing/2014/main" val="241768133"/>
                    </a:ext>
                  </a:extLst>
                </a:gridCol>
                <a:gridCol w="1140808">
                  <a:extLst>
                    <a:ext uri="{9D8B030D-6E8A-4147-A177-3AD203B41FA5}">
                      <a16:colId xmlns:a16="http://schemas.microsoft.com/office/drawing/2014/main" val="3498780203"/>
                    </a:ext>
                  </a:extLst>
                </a:gridCol>
              </a:tblGrid>
              <a:tr h="175321">
                <a:tc>
                  <a:txBody>
                    <a:bodyPr/>
                    <a:lstStyle/>
                    <a:p>
                      <a:pPr algn="ctr" fontAlgn="ctr">
                        <a:buNone/>
                      </a:pPr>
                      <a:r>
                        <a:rPr lang="ja-JP" altLang="en-US" sz="800" b="1" i="0" u="none" strike="noStrike" dirty="0">
                          <a:solidFill>
                            <a:srgbClr val="FFFFFF"/>
                          </a:solidFill>
                          <a:effectLst/>
                          <a:latin typeface="メイリオ" panose="020B0604030504040204" pitchFamily="50" charset="-128"/>
                          <a:ea typeface="メイリオ" panose="020B0604030504040204" pitchFamily="50" charset="-128"/>
                        </a:rPr>
                        <a:t>対応項目</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tc>
                  <a:txBody>
                    <a:bodyPr/>
                    <a:lstStyle/>
                    <a:p>
                      <a:pPr algn="ctr" fontAlgn="ctr">
                        <a:buNone/>
                      </a:pPr>
                      <a:r>
                        <a:rPr lang="ja-JP" altLang="en-US" sz="800" b="1" i="0" u="none" strike="noStrike">
                          <a:solidFill>
                            <a:srgbClr val="FFFFFF"/>
                          </a:solidFill>
                          <a:effectLst/>
                          <a:latin typeface="メイリオ" panose="020B0604030504040204" pitchFamily="50" charset="-128"/>
                          <a:ea typeface="メイリオ" panose="020B0604030504040204" pitchFamily="50" charset="-128"/>
                        </a:rPr>
                        <a:t>初期</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tc>
                  <a:txBody>
                    <a:bodyPr/>
                    <a:lstStyle/>
                    <a:p>
                      <a:pPr algn="ctr" fontAlgn="ctr">
                        <a:buNone/>
                      </a:pPr>
                      <a:r>
                        <a:rPr lang="ja-JP" altLang="en-US" sz="800" b="1" i="0" u="none" strike="noStrike">
                          <a:solidFill>
                            <a:srgbClr val="FFFFFF"/>
                          </a:solidFill>
                          <a:effectLst/>
                          <a:latin typeface="メイリオ" panose="020B0604030504040204" pitchFamily="50" charset="-128"/>
                          <a:ea typeface="メイリオ" panose="020B0604030504040204" pitchFamily="50" charset="-128"/>
                        </a:rPr>
                        <a:t>月額</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tc>
                  <a:txBody>
                    <a:bodyPr/>
                    <a:lstStyle/>
                    <a:p>
                      <a:pPr algn="l" fontAlgn="ctr">
                        <a:buNone/>
                      </a:pPr>
                      <a:endParaRPr lang="ja-JP" altLang="en-US" sz="800" b="1"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800" b="1" i="0" u="none" strike="noStrike">
                          <a:solidFill>
                            <a:srgbClr val="FFFFFF"/>
                          </a:solidFill>
                          <a:effectLst/>
                          <a:latin typeface="メイリオ" panose="020B0604030504040204" pitchFamily="50" charset="-128"/>
                          <a:ea typeface="メイリオ" panose="020B0604030504040204" pitchFamily="50" charset="-128"/>
                        </a:rPr>
                        <a:t>対応項目</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tc>
                  <a:txBody>
                    <a:bodyPr/>
                    <a:lstStyle/>
                    <a:p>
                      <a:pPr algn="ctr" fontAlgn="ctr">
                        <a:buNone/>
                      </a:pPr>
                      <a:r>
                        <a:rPr lang="ja-JP" altLang="en-US" sz="800" b="1" i="0" u="none" strike="noStrike">
                          <a:solidFill>
                            <a:srgbClr val="FFFFFF"/>
                          </a:solidFill>
                          <a:effectLst/>
                          <a:latin typeface="メイリオ" panose="020B0604030504040204" pitchFamily="50" charset="-128"/>
                          <a:ea typeface="メイリオ" panose="020B0604030504040204" pitchFamily="50" charset="-128"/>
                        </a:rPr>
                        <a:t>初期</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tc>
                  <a:txBody>
                    <a:bodyPr/>
                    <a:lstStyle/>
                    <a:p>
                      <a:pPr algn="ctr" fontAlgn="ctr">
                        <a:buNone/>
                      </a:pPr>
                      <a:r>
                        <a:rPr lang="ja-JP" altLang="en-US" sz="800" b="1" i="0" u="none" strike="noStrike" dirty="0">
                          <a:solidFill>
                            <a:srgbClr val="FFFFFF"/>
                          </a:solidFill>
                          <a:effectLst/>
                          <a:latin typeface="メイリオ" panose="020B0604030504040204" pitchFamily="50" charset="-128"/>
                          <a:ea typeface="メイリオ" panose="020B0604030504040204" pitchFamily="50" charset="-128"/>
                        </a:rPr>
                        <a:t>月額</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extLst>
                  <a:ext uri="{0D108BD9-81ED-4DB2-BD59-A6C34878D82A}">
                    <a16:rowId xmlns:a16="http://schemas.microsoft.com/office/drawing/2014/main" val="1564040789"/>
                  </a:ext>
                </a:extLst>
              </a:tr>
              <a:tr h="175321">
                <a:tc>
                  <a:txBody>
                    <a:bodyPr/>
                    <a:lstStyle/>
                    <a:p>
                      <a:pPr algn="ctr" fontAlgn="ctr">
                        <a:buNone/>
                      </a:pPr>
                      <a:r>
                        <a:rPr lang="ja-JP" altLang="en-US" sz="800" b="0" i="0" u="none" strike="noStrike" dirty="0">
                          <a:solidFill>
                            <a:srgbClr val="000000"/>
                          </a:solidFill>
                          <a:effectLst/>
                          <a:highlight>
                            <a:srgbClr val="FFFF00"/>
                          </a:highlight>
                          <a:latin typeface="メイリオ" panose="020B0604030504040204" pitchFamily="50" charset="-128"/>
                          <a:ea typeface="メイリオ" panose="020B0604030504040204" pitchFamily="50" charset="-128"/>
                        </a:rPr>
                        <a:t>アカウント開設</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¥10,000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endParaRPr lang="ja-JP" altLang="en-US" sz="8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800" b="0" i="0" u="none" strike="noStrike" dirty="0">
                          <a:solidFill>
                            <a:srgbClr val="000000"/>
                          </a:solidFill>
                          <a:effectLst/>
                          <a:latin typeface="メイリオ" panose="020B0604030504040204" pitchFamily="50" charset="-128"/>
                          <a:ea typeface="メイリオ" panose="020B0604030504040204" pitchFamily="50" charset="-128"/>
                        </a:rPr>
                        <a:t>API</a:t>
                      </a: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ツール導入</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¥50,000~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¥50,000~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420324702"/>
                  </a:ext>
                </a:extLst>
              </a:tr>
              <a:tr h="175321">
                <a:tc>
                  <a:txBody>
                    <a:bodyPr/>
                    <a:lstStyle/>
                    <a:p>
                      <a:pPr algn="ctr" fontAlgn="ctr">
                        <a:buNone/>
                      </a:pPr>
                      <a:r>
                        <a:rPr lang="ja-JP" altLang="en-US" sz="800" b="0" i="0" u="none" strike="noStrike" dirty="0">
                          <a:solidFill>
                            <a:srgbClr val="000000"/>
                          </a:solidFill>
                          <a:effectLst/>
                          <a:highlight>
                            <a:srgbClr val="FFFF00"/>
                          </a:highlight>
                          <a:latin typeface="メイリオ" panose="020B0604030504040204" pitchFamily="50" charset="-128"/>
                          <a:ea typeface="メイリオ" panose="020B0604030504040204" pitchFamily="50" charset="-128"/>
                        </a:rPr>
                        <a:t>プロフィール</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endParaRPr lang="ja-JP" altLang="en-US" sz="8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800" b="0" i="0" u="none" strike="noStrike">
                          <a:solidFill>
                            <a:srgbClr val="000000"/>
                          </a:solidFill>
                          <a:effectLst/>
                          <a:latin typeface="メイリオ" panose="020B0604030504040204" pitchFamily="50" charset="-128"/>
                          <a:ea typeface="メイリオ" panose="020B0604030504040204" pitchFamily="50" charset="-128"/>
                        </a:rPr>
                        <a:t>ID</a:t>
                      </a:r>
                      <a:r>
                        <a:rPr lang="ja-JP" altLang="en-US" sz="800" b="0" i="0" u="none" strike="noStrike">
                          <a:solidFill>
                            <a:srgbClr val="000000"/>
                          </a:solidFill>
                          <a:effectLst/>
                          <a:latin typeface="メイリオ" panose="020B0604030504040204" pitchFamily="50" charset="-128"/>
                          <a:ea typeface="メイリオ" panose="020B0604030504040204" pitchFamily="50" charset="-128"/>
                        </a:rPr>
                        <a:t>連携</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dirty="0">
                          <a:solidFill>
                            <a:schemeClr val="bg1">
                              <a:lumMod val="75000"/>
                            </a:schemeClr>
                          </a:solidFill>
                          <a:effectLst/>
                          <a:latin typeface="メイリオ" panose="020B0604030504040204" pitchFamily="50" charset="-128"/>
                          <a:ea typeface="メイリオ" panose="020B0604030504040204" pitchFamily="50" charset="-128"/>
                        </a:rPr>
                        <a:t>¥200,000~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dirty="0">
                          <a:solidFill>
                            <a:schemeClr val="bg1">
                              <a:lumMod val="75000"/>
                            </a:schemeClr>
                          </a:solidFill>
                          <a:effectLst/>
                          <a:latin typeface="メイリオ" panose="020B0604030504040204" pitchFamily="50" charset="-128"/>
                          <a:ea typeface="メイリオ" panose="020B0604030504040204" pitchFamily="50" charset="-128"/>
                        </a:rPr>
                        <a:t>¥50,000~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272466269"/>
                  </a:ext>
                </a:extLst>
              </a:tr>
              <a:tr h="175321">
                <a:tc>
                  <a:txBody>
                    <a:bodyPr/>
                    <a:lstStyle/>
                    <a:p>
                      <a:pPr algn="ctr" fontAlgn="ctr">
                        <a:buNone/>
                      </a:pPr>
                      <a:r>
                        <a:rPr lang="ja-JP" altLang="en-US" sz="800" b="0" i="0" u="none" strike="noStrike" dirty="0">
                          <a:solidFill>
                            <a:srgbClr val="000000"/>
                          </a:solidFill>
                          <a:effectLst/>
                          <a:highlight>
                            <a:srgbClr val="FFFF00"/>
                          </a:highlight>
                          <a:latin typeface="メイリオ" panose="020B0604030504040204" pitchFamily="50" charset="-128"/>
                          <a:ea typeface="メイリオ" panose="020B0604030504040204" pitchFamily="50" charset="-128"/>
                        </a:rPr>
                        <a:t>リッチメニュー</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endParaRPr lang="ja-JP" altLang="en-US" sz="8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800" b="0" i="0" u="none" strike="noStrike">
                          <a:solidFill>
                            <a:srgbClr val="000000"/>
                          </a:solidFill>
                          <a:effectLst/>
                          <a:latin typeface="メイリオ" panose="020B0604030504040204" pitchFamily="50" charset="-128"/>
                          <a:ea typeface="メイリオ" panose="020B0604030504040204" pitchFamily="50" charset="-128"/>
                        </a:rPr>
                        <a:t>LINE</a:t>
                      </a:r>
                      <a:r>
                        <a:rPr lang="ja-JP" altLang="en-US" sz="800" b="0" i="0" u="none" strike="noStrike">
                          <a:solidFill>
                            <a:srgbClr val="000000"/>
                          </a:solidFill>
                          <a:effectLst/>
                          <a:latin typeface="メイリオ" panose="020B0604030504040204" pitchFamily="50" charset="-128"/>
                          <a:ea typeface="メイリオ" panose="020B0604030504040204" pitchFamily="50" charset="-128"/>
                        </a:rPr>
                        <a:t>ログイン</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chemeClr val="bg1">
                              <a:lumMod val="75000"/>
                            </a:schemeClr>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dirty="0">
                          <a:solidFill>
                            <a:schemeClr val="bg1">
                              <a:lumMod val="75000"/>
                            </a:schemeClr>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843180495"/>
                  </a:ext>
                </a:extLst>
              </a:tr>
              <a:tr h="175321">
                <a:tc>
                  <a:txBody>
                    <a:bodyPr/>
                    <a:lstStyle/>
                    <a:p>
                      <a:pPr algn="ctr" fontAlgn="ctr">
                        <a:buNone/>
                      </a:pPr>
                      <a:r>
                        <a:rPr lang="ja-JP" altLang="en-US" sz="800" b="0" i="0" u="none" strike="noStrike">
                          <a:solidFill>
                            <a:srgbClr val="000000"/>
                          </a:solidFill>
                          <a:effectLst/>
                          <a:highlight>
                            <a:srgbClr val="FFFF00"/>
                          </a:highlight>
                          <a:latin typeface="メイリオ" panose="020B0604030504040204" pitchFamily="50" charset="-128"/>
                          <a:ea typeface="メイリオ" panose="020B0604030504040204" pitchFamily="50" charset="-128"/>
                        </a:rPr>
                        <a:t>あいさつメッセージ</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endParaRPr lang="ja-JP" altLang="en-US" sz="8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800" b="0" i="0" u="none" strike="noStrike">
                          <a:solidFill>
                            <a:srgbClr val="000000"/>
                          </a:solidFill>
                          <a:effectLst/>
                          <a:latin typeface="メイリオ" panose="020B0604030504040204" pitchFamily="50" charset="-128"/>
                          <a:ea typeface="メイリオ" panose="020B0604030504040204" pitchFamily="50" charset="-128"/>
                        </a:rPr>
                        <a:t>通知メッセージ</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dirty="0">
                          <a:solidFill>
                            <a:schemeClr val="bg1">
                              <a:lumMod val="75000"/>
                            </a:schemeClr>
                          </a:solidFill>
                          <a:effectLst/>
                          <a:latin typeface="メイリオ" panose="020B0604030504040204" pitchFamily="50" charset="-128"/>
                          <a:ea typeface="メイリオ" panose="020B0604030504040204" pitchFamily="50" charset="-128"/>
                        </a:rPr>
                        <a:t>¥200,000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dirty="0">
                          <a:solidFill>
                            <a:schemeClr val="bg1">
                              <a:lumMod val="75000"/>
                            </a:schemeClr>
                          </a:solidFill>
                          <a:effectLst/>
                          <a:latin typeface="メイリオ" panose="020B0604030504040204" pitchFamily="50" charset="-128"/>
                          <a:ea typeface="メイリオ" panose="020B0604030504040204" pitchFamily="50" charset="-128"/>
                        </a:rPr>
                        <a:t>¥600,000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295619942"/>
                  </a:ext>
                </a:extLst>
              </a:tr>
              <a:tr h="175321">
                <a:tc>
                  <a:txBody>
                    <a:bodyPr/>
                    <a:lstStyle/>
                    <a:p>
                      <a:pPr algn="ctr" fontAlgn="ctr">
                        <a:buNone/>
                      </a:pPr>
                      <a:r>
                        <a:rPr lang="ja-JP" altLang="en-US" sz="800" b="0" i="0" u="none" strike="noStrike" dirty="0">
                          <a:solidFill>
                            <a:srgbClr val="000000"/>
                          </a:solidFill>
                          <a:effectLst/>
                          <a:highlight>
                            <a:srgbClr val="FFFF00"/>
                          </a:highlight>
                          <a:latin typeface="メイリオ" panose="020B0604030504040204" pitchFamily="50" charset="-128"/>
                          <a:ea typeface="メイリオ" panose="020B0604030504040204" pitchFamily="50" charset="-128"/>
                        </a:rPr>
                        <a:t>初期アンケート</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endParaRPr lang="ja-JP" altLang="en-US" sz="8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800" b="0" i="0" u="none" strike="noStrike">
                          <a:solidFill>
                            <a:srgbClr val="000000"/>
                          </a:solidFill>
                          <a:effectLst/>
                          <a:latin typeface="メイリオ" panose="020B0604030504040204" pitchFamily="50" charset="-128"/>
                          <a:ea typeface="メイリオ" panose="020B0604030504040204" pitchFamily="50" charset="-128"/>
                        </a:rPr>
                        <a:t>チャットボット機能</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chemeClr val="bg1">
                              <a:lumMod val="75000"/>
                            </a:schemeClr>
                          </a:solidFill>
                          <a:effectLst/>
                          <a:latin typeface="メイリオ" panose="020B0604030504040204" pitchFamily="50" charset="-128"/>
                          <a:ea typeface="メイリオ" panose="020B0604030504040204" pitchFamily="50" charset="-128"/>
                        </a:rPr>
                        <a:t>¥50,000~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chemeClr val="bg1">
                              <a:lumMod val="75000"/>
                            </a:schemeClr>
                          </a:solidFill>
                          <a:effectLst/>
                          <a:latin typeface="メイリオ" panose="020B0604030504040204" pitchFamily="50" charset="-128"/>
                          <a:ea typeface="メイリオ" panose="020B0604030504040204" pitchFamily="50" charset="-128"/>
                        </a:rPr>
                        <a:t>¥50,000~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498230469"/>
                  </a:ext>
                </a:extLst>
              </a:tr>
              <a:tr h="175321">
                <a:tc>
                  <a:txBody>
                    <a:bodyPr/>
                    <a:lstStyle/>
                    <a:p>
                      <a:pPr algn="ctr" fontAlgn="ctr">
                        <a:buNone/>
                      </a:pPr>
                      <a:r>
                        <a:rPr lang="en-US" sz="800" b="0" i="0" u="none" strike="noStrike" dirty="0">
                          <a:solidFill>
                            <a:srgbClr val="000000"/>
                          </a:solidFill>
                          <a:effectLst/>
                          <a:highlight>
                            <a:srgbClr val="FFFF00"/>
                          </a:highlight>
                          <a:latin typeface="メイリオ" panose="020B0604030504040204" pitchFamily="50" charset="-128"/>
                          <a:ea typeface="メイリオ" panose="020B0604030504040204" pitchFamily="50" charset="-128"/>
                        </a:rPr>
                        <a:t>KW</a:t>
                      </a:r>
                      <a:r>
                        <a:rPr lang="ja-JP" altLang="en-US" sz="800" b="0" i="0" u="none" strike="noStrike" dirty="0">
                          <a:solidFill>
                            <a:srgbClr val="000000"/>
                          </a:solidFill>
                          <a:effectLst/>
                          <a:highlight>
                            <a:srgbClr val="FFFF00"/>
                          </a:highlight>
                          <a:latin typeface="メイリオ" panose="020B0604030504040204" pitchFamily="50" charset="-128"/>
                          <a:ea typeface="メイリオ" panose="020B0604030504040204" pitchFamily="50" charset="-128"/>
                        </a:rPr>
                        <a:t>の自動応答</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endParaRPr lang="ja-JP" altLang="en-US" sz="8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800" b="0" i="0" u="none" strike="noStrike" dirty="0">
                          <a:solidFill>
                            <a:srgbClr val="000000"/>
                          </a:solidFill>
                          <a:effectLst/>
                          <a:latin typeface="メイリオ" panose="020B0604030504040204" pitchFamily="50" charset="-128"/>
                          <a:ea typeface="メイリオ" panose="020B0604030504040204" pitchFamily="50" charset="-128"/>
                        </a:rPr>
                        <a:t>Chat Plus</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dirty="0">
                          <a:solidFill>
                            <a:schemeClr val="bg1">
                              <a:lumMod val="75000"/>
                            </a:schemeClr>
                          </a:solidFill>
                          <a:effectLst/>
                          <a:latin typeface="メイリオ" panose="020B0604030504040204" pitchFamily="50" charset="-128"/>
                          <a:ea typeface="メイリオ" panose="020B0604030504040204" pitchFamily="50" charset="-128"/>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chemeClr val="bg1">
                              <a:lumMod val="75000"/>
                            </a:schemeClr>
                          </a:solidFill>
                          <a:effectLst/>
                          <a:latin typeface="メイリオ" panose="020B0604030504040204" pitchFamily="50" charset="-128"/>
                          <a:ea typeface="メイリオ" panose="020B0604030504040204" pitchFamily="50" charset="-128"/>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41305542"/>
                  </a:ext>
                </a:extLst>
              </a:tr>
              <a:tr h="175321">
                <a:tc>
                  <a:txBody>
                    <a:bodyPr/>
                    <a:lstStyle/>
                    <a:p>
                      <a:pPr algn="ctr" fontAlgn="ctr">
                        <a:buNone/>
                      </a:pPr>
                      <a:r>
                        <a:rPr lang="ja-JP" altLang="en-US" sz="800" b="0" i="0" u="none" strike="noStrike" dirty="0">
                          <a:solidFill>
                            <a:srgbClr val="000000"/>
                          </a:solidFill>
                          <a:effectLst/>
                          <a:highlight>
                            <a:srgbClr val="FFFF00"/>
                          </a:highlight>
                          <a:latin typeface="メイリオ" panose="020B0604030504040204" pitchFamily="50" charset="-128"/>
                          <a:ea typeface="メイリオ" panose="020B0604030504040204" pitchFamily="50" charset="-128"/>
                        </a:rPr>
                        <a:t>ステップ配信</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endParaRPr lang="ja-JP" altLang="en-US" sz="8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800" b="0" i="0" u="none" strike="noStrike">
                          <a:solidFill>
                            <a:srgbClr val="000000"/>
                          </a:solidFill>
                          <a:effectLst/>
                          <a:latin typeface="メイリオ" panose="020B0604030504040204" pitchFamily="50" charset="-128"/>
                          <a:ea typeface="メイリオ" panose="020B0604030504040204" pitchFamily="50" charset="-128"/>
                        </a:rPr>
                        <a:t>Call Plus</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dirty="0">
                          <a:solidFill>
                            <a:schemeClr val="bg1">
                              <a:lumMod val="75000"/>
                            </a:schemeClr>
                          </a:solidFill>
                          <a:effectLst/>
                          <a:latin typeface="メイリオ" panose="020B0604030504040204" pitchFamily="50" charset="-128"/>
                          <a:ea typeface="メイリオ" panose="020B0604030504040204" pitchFamily="50" charset="-128"/>
                        </a:rPr>
                        <a:t>¥200,000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l-GR" sz="800" b="0" i="0" u="none" strike="noStrike">
                          <a:solidFill>
                            <a:schemeClr val="bg1">
                              <a:lumMod val="75000"/>
                            </a:schemeClr>
                          </a:solidFill>
                          <a:effectLst/>
                          <a:latin typeface="メイリオ" panose="020B0604030504040204" pitchFamily="50" charset="-128"/>
                          <a:ea typeface="メイリオ" panose="020B0604030504040204" pitchFamily="50" charset="-128"/>
                        </a:rPr>
                        <a:t>¥100,000+α</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4011135084"/>
                  </a:ext>
                </a:extLst>
              </a:tr>
              <a:tr h="175321">
                <a:tc>
                  <a:txBody>
                    <a:bodyPr/>
                    <a:lstStyle/>
                    <a:p>
                      <a:pPr algn="ctr" fontAlgn="ctr">
                        <a:buNone/>
                      </a:pPr>
                      <a:r>
                        <a:rPr lang="ja-JP" altLang="en-US" sz="800" b="0" i="0" u="none" strike="noStrike" dirty="0">
                          <a:solidFill>
                            <a:srgbClr val="000000"/>
                          </a:solidFill>
                          <a:effectLst/>
                          <a:highlight>
                            <a:srgbClr val="FFFF00"/>
                          </a:highlight>
                          <a:latin typeface="メイリオ" panose="020B0604030504040204" pitchFamily="50" charset="-128"/>
                          <a:ea typeface="メイリオ" panose="020B0604030504040204" pitchFamily="50" charset="-128"/>
                        </a:rPr>
                        <a:t>セグメント配信</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endParaRPr lang="ja-JP" altLang="en-US" sz="8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800" b="0" i="0" u="none" strike="noStrike">
                          <a:solidFill>
                            <a:srgbClr val="000000"/>
                          </a:solidFill>
                          <a:effectLst/>
                          <a:latin typeface="メイリオ" panose="020B0604030504040204" pitchFamily="50" charset="-128"/>
                          <a:ea typeface="メイリオ" panose="020B0604030504040204" pitchFamily="50" charset="-128"/>
                        </a:rPr>
                        <a:t>LINE</a:t>
                      </a:r>
                      <a:r>
                        <a:rPr lang="ja-JP" altLang="en-US" sz="800" b="0" i="0" u="none" strike="noStrike">
                          <a:solidFill>
                            <a:srgbClr val="000000"/>
                          </a:solidFill>
                          <a:effectLst/>
                          <a:latin typeface="メイリオ" panose="020B0604030504040204" pitchFamily="50" charset="-128"/>
                          <a:ea typeface="メイリオ" panose="020B0604030504040204" pitchFamily="50" charset="-128"/>
                        </a:rPr>
                        <a:t>決済</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chemeClr val="bg1">
                              <a:lumMod val="75000"/>
                            </a:schemeClr>
                          </a:solidFill>
                          <a:effectLst/>
                          <a:latin typeface="メイリオ" panose="020B0604030504040204" pitchFamily="50" charset="-128"/>
                          <a:ea typeface="メイリオ" panose="020B0604030504040204" pitchFamily="50" charset="-128"/>
                        </a:rPr>
                        <a:t>¥50,000~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dirty="0">
                          <a:solidFill>
                            <a:schemeClr val="bg1">
                              <a:lumMod val="75000"/>
                            </a:schemeClr>
                          </a:solidFill>
                          <a:effectLst/>
                          <a:latin typeface="メイリオ" panose="020B0604030504040204" pitchFamily="50" charset="-128"/>
                          <a:ea typeface="メイリオ" panose="020B0604030504040204" pitchFamily="50" charset="-128"/>
                        </a:rPr>
                        <a:t>3,5</a:t>
                      </a:r>
                      <a:r>
                        <a:rPr lang="ja-JP" altLang="en-US" sz="800" b="0" i="0" u="none" strike="noStrike" dirty="0">
                          <a:solidFill>
                            <a:schemeClr val="bg1">
                              <a:lumMod val="75000"/>
                            </a:schemeClr>
                          </a:solidFill>
                          <a:effectLst/>
                          <a:latin typeface="メイリオ" panose="020B0604030504040204" pitchFamily="50" charset="-128"/>
                          <a:ea typeface="メイリオ" panose="020B0604030504040204" pitchFamily="50" charset="-128"/>
                        </a:rPr>
                        <a:t>％</a:t>
                      </a:r>
                      <a:r>
                        <a:rPr lang="en-US" altLang="ja-JP" sz="800" b="0" i="0" u="none" strike="noStrike" dirty="0">
                          <a:solidFill>
                            <a:schemeClr val="bg1">
                              <a:lumMod val="75000"/>
                            </a:schemeClr>
                          </a:solidFill>
                          <a:effectLst/>
                          <a:latin typeface="メイリオ" panose="020B0604030504040204" pitchFamily="50" charset="-128"/>
                          <a:ea typeface="メイリオ" panose="020B0604030504040204" pitchFamily="50" charset="-128"/>
                        </a:rPr>
                        <a:t>~(</a:t>
                      </a:r>
                      <a:r>
                        <a:rPr lang="ja-JP" altLang="en-US" sz="800" b="0" i="0" u="none" strike="noStrike" dirty="0">
                          <a:solidFill>
                            <a:schemeClr val="bg1">
                              <a:lumMod val="75000"/>
                            </a:schemeClr>
                          </a:solidFill>
                          <a:effectLst/>
                          <a:latin typeface="メイリオ" panose="020B0604030504040204" pitchFamily="50" charset="-128"/>
                          <a:ea typeface="メイリオ" panose="020B0604030504040204" pitchFamily="50" charset="-128"/>
                        </a:rPr>
                        <a:t>手数料</a:t>
                      </a:r>
                      <a:r>
                        <a:rPr lang="en-US" altLang="ja-JP" sz="800" b="0" i="0" u="none" strike="noStrike" dirty="0">
                          <a:solidFill>
                            <a:schemeClr val="bg1">
                              <a:lumMod val="75000"/>
                            </a:schemeClr>
                          </a:solidFill>
                          <a:effectLst/>
                          <a:latin typeface="メイリオ" panose="020B0604030504040204" pitchFamily="50" charset="-128"/>
                          <a:ea typeface="メイリオ" panose="020B0604030504040204" pitchFamily="50" charset="-128"/>
                        </a:rPr>
                        <a:t>)</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989714401"/>
                  </a:ext>
                </a:extLst>
              </a:tr>
              <a:tr h="175321">
                <a:tc>
                  <a:txBody>
                    <a:bodyPr/>
                    <a:lstStyle/>
                    <a:p>
                      <a:pPr algn="ctr" fontAlgn="ctr">
                        <a:buNone/>
                      </a:pPr>
                      <a:r>
                        <a:rPr lang="ja-JP" altLang="en-US" sz="800" b="0" i="0" u="none" strike="noStrike" dirty="0">
                          <a:solidFill>
                            <a:srgbClr val="000000"/>
                          </a:solidFill>
                          <a:effectLst/>
                          <a:highlight>
                            <a:srgbClr val="FFFF00"/>
                          </a:highlight>
                          <a:latin typeface="メイリオ" panose="020B0604030504040204" pitchFamily="50" charset="-128"/>
                          <a:ea typeface="メイリオ" panose="020B0604030504040204" pitchFamily="50" charset="-128"/>
                        </a:rPr>
                        <a:t>チャットタグ管理</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endParaRPr lang="ja-JP" altLang="en-US" sz="8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800" b="0" i="0" u="none" strike="noStrike">
                          <a:solidFill>
                            <a:srgbClr val="000000"/>
                          </a:solidFill>
                          <a:effectLst/>
                          <a:latin typeface="メイリオ" panose="020B0604030504040204" pitchFamily="50" charset="-128"/>
                          <a:ea typeface="メイリオ" panose="020B0604030504040204" pitchFamily="50" charset="-128"/>
                        </a:rPr>
                        <a:t>予約管理</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chemeClr val="bg1">
                              <a:lumMod val="75000"/>
                            </a:schemeClr>
                          </a:solidFill>
                          <a:effectLst/>
                          <a:latin typeface="メイリオ" panose="020B0604030504040204" pitchFamily="50" charset="-128"/>
                          <a:ea typeface="メイリオ" panose="020B0604030504040204" pitchFamily="50" charset="-128"/>
                        </a:rPr>
                        <a:t>¥3,000~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dirty="0">
                          <a:solidFill>
                            <a:schemeClr val="bg1">
                              <a:lumMod val="75000"/>
                            </a:schemeClr>
                          </a:solidFill>
                          <a:effectLst/>
                          <a:latin typeface="メイリオ" panose="020B0604030504040204" pitchFamily="50" charset="-128"/>
                          <a:ea typeface="メイリオ" panose="020B0604030504040204" pitchFamily="50" charset="-128"/>
                        </a:rPr>
                        <a:t>¥5,000~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160214931"/>
                  </a:ext>
                </a:extLst>
              </a:tr>
              <a:tr h="175321">
                <a:tc>
                  <a:txBody>
                    <a:bodyPr/>
                    <a:lstStyle/>
                    <a:p>
                      <a:pPr algn="ctr" fontAlgn="ctr">
                        <a:buNone/>
                      </a:pPr>
                      <a:r>
                        <a:rPr lang="ja-JP" altLang="en-US" sz="800" b="0" i="0" u="none" strike="noStrike" dirty="0">
                          <a:solidFill>
                            <a:srgbClr val="000000"/>
                          </a:solidFill>
                          <a:effectLst/>
                          <a:highlight>
                            <a:srgbClr val="F6A454"/>
                          </a:highlight>
                          <a:latin typeface="メイリオ" panose="020B0604030504040204" pitchFamily="50" charset="-128"/>
                          <a:ea typeface="メイリオ" panose="020B0604030504040204" pitchFamily="50" charset="-128"/>
                        </a:rPr>
                        <a:t>チャット対応</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endParaRPr lang="ja-JP" altLang="en-US" sz="8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多店舗管理</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chemeClr val="bg1">
                              <a:lumMod val="75000"/>
                            </a:schemeClr>
                          </a:solidFill>
                          <a:effectLst/>
                          <a:latin typeface="メイリオ" panose="020B0604030504040204" pitchFamily="50" charset="-128"/>
                          <a:ea typeface="メイリオ" panose="020B0604030504040204" pitchFamily="50" charset="-128"/>
                        </a:rPr>
                        <a:t>¥15,000(/</a:t>
                      </a:r>
                      <a:r>
                        <a:rPr lang="ja-JP" altLang="en-US" sz="800" b="0" i="0" u="none" strike="noStrike">
                          <a:solidFill>
                            <a:schemeClr val="bg1">
                              <a:lumMod val="75000"/>
                            </a:schemeClr>
                          </a:solidFill>
                          <a:effectLst/>
                          <a:latin typeface="メイリオ" panose="020B0604030504040204" pitchFamily="50" charset="-128"/>
                          <a:ea typeface="メイリオ" panose="020B0604030504040204" pitchFamily="50" charset="-128"/>
                        </a:rPr>
                        <a:t>店舗</a:t>
                      </a:r>
                      <a:r>
                        <a:rPr lang="en-US" altLang="ja-JP" sz="800" b="0" i="0" u="none" strike="noStrike">
                          <a:solidFill>
                            <a:schemeClr val="bg1">
                              <a:lumMod val="75000"/>
                            </a:schemeClr>
                          </a:solidFill>
                          <a:effectLst/>
                          <a:latin typeface="メイリオ" panose="020B0604030504040204" pitchFamily="50" charset="-128"/>
                          <a:ea typeface="メイリオ" panose="020B0604030504040204" pitchFamily="50" charset="-128"/>
                        </a:rPr>
                        <a:t>)</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dirty="0">
                          <a:solidFill>
                            <a:schemeClr val="bg1">
                              <a:lumMod val="75000"/>
                            </a:schemeClr>
                          </a:solidFill>
                          <a:effectLst/>
                          <a:latin typeface="メイリオ" panose="020B0604030504040204" pitchFamily="50" charset="-128"/>
                          <a:ea typeface="メイリオ" panose="020B0604030504040204" pitchFamily="50" charset="-128"/>
                        </a:rPr>
                        <a:t>¥15,000(/</a:t>
                      </a:r>
                      <a:r>
                        <a:rPr lang="ja-JP" altLang="en-US" sz="800" b="0" i="0" u="none" strike="noStrike" dirty="0">
                          <a:solidFill>
                            <a:schemeClr val="bg1">
                              <a:lumMod val="75000"/>
                            </a:schemeClr>
                          </a:solidFill>
                          <a:effectLst/>
                          <a:latin typeface="メイリオ" panose="020B0604030504040204" pitchFamily="50" charset="-128"/>
                          <a:ea typeface="メイリオ" panose="020B0604030504040204" pitchFamily="50" charset="-128"/>
                        </a:rPr>
                        <a:t>店舗</a:t>
                      </a:r>
                      <a:r>
                        <a:rPr lang="en-US" altLang="ja-JP" sz="800" b="0" i="0" u="none" strike="noStrike" dirty="0">
                          <a:solidFill>
                            <a:schemeClr val="bg1">
                              <a:lumMod val="75000"/>
                            </a:schemeClr>
                          </a:solidFill>
                          <a:effectLst/>
                          <a:latin typeface="メイリオ" panose="020B0604030504040204" pitchFamily="50" charset="-128"/>
                          <a:ea typeface="メイリオ" panose="020B0604030504040204" pitchFamily="50" charset="-128"/>
                        </a:rPr>
                        <a:t>)</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919396613"/>
                  </a:ext>
                </a:extLst>
              </a:tr>
              <a:tr h="175321">
                <a:tc>
                  <a:txBody>
                    <a:bodyPr/>
                    <a:lstStyle/>
                    <a:p>
                      <a:pPr algn="ctr" fontAlgn="ctr">
                        <a:buNone/>
                      </a:pPr>
                      <a:r>
                        <a:rPr lang="en-US" altLang="ja-JP" sz="800" b="0" i="0" u="none" strike="noStrike" dirty="0">
                          <a:solidFill>
                            <a:srgbClr val="000000"/>
                          </a:solidFill>
                          <a:effectLst/>
                          <a:highlight>
                            <a:srgbClr val="FFFF00"/>
                          </a:highlight>
                          <a:latin typeface="メイリオ" panose="020B0604030504040204" pitchFamily="50" charset="-128"/>
                          <a:ea typeface="メイリオ" panose="020B0604030504040204" pitchFamily="50" charset="-128"/>
                        </a:rPr>
                        <a:t>GA(CRM)</a:t>
                      </a:r>
                      <a:r>
                        <a:rPr lang="ja-JP" altLang="en-US" sz="800" b="0" i="0" u="none" strike="noStrike" dirty="0">
                          <a:solidFill>
                            <a:srgbClr val="000000"/>
                          </a:solidFill>
                          <a:effectLst/>
                          <a:highlight>
                            <a:srgbClr val="FFFF00"/>
                          </a:highlight>
                          <a:latin typeface="メイリオ" panose="020B0604030504040204" pitchFamily="50" charset="-128"/>
                          <a:ea typeface="メイリオ" panose="020B0604030504040204" pitchFamily="50" charset="-128"/>
                        </a:rPr>
                        <a:t>レポート連携</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endParaRPr lang="ja-JP" altLang="en-US" sz="8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802321774"/>
                  </a:ext>
                </a:extLst>
              </a:tr>
              <a:tr h="175321">
                <a:tc>
                  <a:txBody>
                    <a:bodyPr/>
                    <a:lstStyle/>
                    <a:p>
                      <a:pPr algn="ctr" fontAlgn="ctr">
                        <a:buNone/>
                      </a:pPr>
                      <a:r>
                        <a:rPr lang="ja-JP" altLang="en-US" sz="800" b="0" i="0" u="none" strike="noStrike" dirty="0">
                          <a:solidFill>
                            <a:srgbClr val="000000"/>
                          </a:solidFill>
                          <a:effectLst/>
                          <a:highlight>
                            <a:srgbClr val="FFFF00"/>
                          </a:highlight>
                          <a:latin typeface="メイリオ" panose="020B0604030504040204" pitchFamily="50" charset="-128"/>
                          <a:ea typeface="メイリオ" panose="020B0604030504040204" pitchFamily="50" charset="-128"/>
                        </a:rPr>
                        <a:t>クリエイティブ</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endParaRPr lang="ja-JP" altLang="en-US" sz="8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800" b="0" i="0" u="none" strike="noStrike" dirty="0">
                          <a:solidFill>
                            <a:srgbClr val="000000"/>
                          </a:solidFill>
                          <a:effectLst/>
                          <a:highlight>
                            <a:srgbClr val="FFFF00"/>
                          </a:highlight>
                          <a:latin typeface="メイリオ" panose="020B0604030504040204" pitchFamily="50" charset="-128"/>
                          <a:ea typeface="メイリオ" panose="020B0604030504040204" pitchFamily="50" charset="-128"/>
                        </a:rPr>
                        <a:t>離脱防止ツール</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¥10,000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¥10,000~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298905920"/>
                  </a:ext>
                </a:extLst>
              </a:tr>
              <a:tr h="175321">
                <a:tc>
                  <a:txBody>
                    <a:bodyPr/>
                    <a:lstStyle/>
                    <a:p>
                      <a:pPr algn="ctr" fontAlgn="ctr">
                        <a:buNone/>
                      </a:pPr>
                      <a:r>
                        <a:rPr lang="ja-JP" altLang="en-US" sz="800" b="0" i="0" u="none" strike="noStrike" dirty="0">
                          <a:solidFill>
                            <a:srgbClr val="000000"/>
                          </a:solidFill>
                          <a:effectLst/>
                          <a:highlight>
                            <a:srgbClr val="FFFF00"/>
                          </a:highlight>
                          <a:latin typeface="メイリオ" panose="020B0604030504040204" pitchFamily="50" charset="-128"/>
                          <a:ea typeface="メイリオ" panose="020B0604030504040204" pitchFamily="50" charset="-128"/>
                        </a:rPr>
                        <a:t>定例会</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endParaRPr lang="ja-JP" altLang="en-US" sz="8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800" b="0" i="0" u="none" strike="noStrike">
                          <a:solidFill>
                            <a:srgbClr val="000000"/>
                          </a:solidFill>
                          <a:effectLst/>
                          <a:latin typeface="メイリオ" panose="020B0604030504040204" pitchFamily="50" charset="-128"/>
                          <a:ea typeface="メイリオ" panose="020B0604030504040204" pitchFamily="50" charset="-128"/>
                        </a:rPr>
                        <a:t>サンクス</a:t>
                      </a: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LINE</a:t>
                      </a:r>
                      <a:r>
                        <a:rPr lang="ja-JP" altLang="en-US" sz="800" b="0" i="0" u="none" strike="noStrike">
                          <a:solidFill>
                            <a:srgbClr val="000000"/>
                          </a:solidFill>
                          <a:effectLst/>
                          <a:latin typeface="メイリオ" panose="020B0604030504040204" pitchFamily="50" charset="-128"/>
                          <a:ea typeface="メイリオ" panose="020B0604030504040204" pitchFamily="50" charset="-128"/>
                        </a:rPr>
                        <a:t>誘導ツール</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dirty="0">
                          <a:solidFill>
                            <a:schemeClr val="bg1">
                              <a:lumMod val="75000"/>
                            </a:schemeClr>
                          </a:solidFill>
                          <a:effectLst/>
                          <a:latin typeface="メイリオ" panose="020B0604030504040204" pitchFamily="50" charset="-128"/>
                          <a:ea typeface="メイリオ" panose="020B0604030504040204" pitchFamily="50" charset="-128"/>
                        </a:rPr>
                        <a:t>¥50,000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dirty="0">
                          <a:solidFill>
                            <a:schemeClr val="bg1">
                              <a:lumMod val="75000"/>
                            </a:schemeClr>
                          </a:solidFill>
                          <a:effectLst/>
                          <a:latin typeface="メイリオ" panose="020B0604030504040204" pitchFamily="50" charset="-128"/>
                          <a:ea typeface="メイリオ" panose="020B0604030504040204" pitchFamily="50" charset="-128"/>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117655704"/>
                  </a:ext>
                </a:extLst>
              </a:tr>
            </a:tbl>
          </a:graphicData>
        </a:graphic>
      </p:graphicFrame>
      <p:sp>
        <p:nvSpPr>
          <p:cNvPr id="12" name="テキスト ボックス 11">
            <a:extLst>
              <a:ext uri="{FF2B5EF4-FFF2-40B4-BE49-F238E27FC236}">
                <a16:creationId xmlns:a16="http://schemas.microsoft.com/office/drawing/2014/main" id="{78F7A265-899D-CCF4-2C14-ED5BB94EA90E}"/>
              </a:ext>
            </a:extLst>
          </p:cNvPr>
          <p:cNvSpPr txBox="1"/>
          <p:nvPr/>
        </p:nvSpPr>
        <p:spPr>
          <a:xfrm>
            <a:off x="706726" y="3644690"/>
            <a:ext cx="4963884" cy="261610"/>
          </a:xfrm>
          <a:prstGeom prst="rect">
            <a:avLst/>
          </a:prstGeom>
          <a:noFill/>
        </p:spPr>
        <p:txBody>
          <a:bodyPr wrap="square">
            <a:spAutoFit/>
          </a:bodyPr>
          <a:lstStyle/>
          <a:p>
            <a:r>
              <a:rPr lang="en-US" altLang="ja-JP" sz="1050" dirty="0">
                <a:solidFill>
                  <a:schemeClr val="tx1">
                    <a:lumMod val="65000"/>
                    <a:lumOff val="35000"/>
                  </a:schemeClr>
                </a:solidFill>
                <a:latin typeface="メイリオ" panose="020B0604030504040204" pitchFamily="50" charset="-128"/>
                <a:ea typeface="メイリオ" panose="020B0604030504040204" pitchFamily="50" charset="-128"/>
                <a:sym typeface="Meiryo"/>
              </a:rPr>
              <a:t>&lt;</a:t>
            </a:r>
            <a:r>
              <a:rPr lang="ja-JP" altLang="en-US" sz="1050" dirty="0">
                <a:solidFill>
                  <a:schemeClr val="tx1">
                    <a:lumMod val="65000"/>
                    <a:lumOff val="35000"/>
                  </a:schemeClr>
                </a:solidFill>
                <a:latin typeface="メイリオ" panose="020B0604030504040204" pitchFamily="50" charset="-128"/>
                <a:ea typeface="メイリオ" panose="020B0604030504040204" pitchFamily="50" charset="-128"/>
                <a:sym typeface="Meiryo"/>
              </a:rPr>
              <a:t>追加作業における費用感</a:t>
            </a:r>
            <a:r>
              <a:rPr lang="en-US" altLang="ja-JP" sz="1050" dirty="0">
                <a:solidFill>
                  <a:schemeClr val="tx1">
                    <a:lumMod val="65000"/>
                    <a:lumOff val="35000"/>
                  </a:schemeClr>
                </a:solidFill>
                <a:latin typeface="メイリオ" panose="020B0604030504040204" pitchFamily="50" charset="-128"/>
                <a:ea typeface="メイリオ" panose="020B0604030504040204" pitchFamily="50" charset="-128"/>
                <a:sym typeface="Meiryo"/>
              </a:rPr>
              <a:t>&gt;</a:t>
            </a:r>
            <a:endParaRPr lang="ja-JP" altLang="en-US" sz="1050" dirty="0">
              <a:solidFill>
                <a:schemeClr val="tx1">
                  <a:lumMod val="65000"/>
                  <a:lumOff val="35000"/>
                </a:schemeClr>
              </a:solidFill>
            </a:endParaRPr>
          </a:p>
        </p:txBody>
      </p:sp>
      <p:graphicFrame>
        <p:nvGraphicFramePr>
          <p:cNvPr id="20" name="表 19">
            <a:extLst>
              <a:ext uri="{FF2B5EF4-FFF2-40B4-BE49-F238E27FC236}">
                <a16:creationId xmlns:a16="http://schemas.microsoft.com/office/drawing/2014/main" id="{35A17481-69F7-B4A9-E021-97EE397EC507}"/>
              </a:ext>
            </a:extLst>
          </p:cNvPr>
          <p:cNvGraphicFramePr>
            <a:graphicFrameLocks noGrp="1"/>
          </p:cNvGraphicFramePr>
          <p:nvPr/>
        </p:nvGraphicFramePr>
        <p:xfrm>
          <a:off x="5052177" y="3697199"/>
          <a:ext cx="1236867" cy="175321"/>
        </p:xfrm>
        <a:graphic>
          <a:graphicData uri="http://schemas.openxmlformats.org/drawingml/2006/table">
            <a:tbl>
              <a:tblPr/>
              <a:tblGrid>
                <a:gridCol w="1236867">
                  <a:extLst>
                    <a:ext uri="{9D8B030D-6E8A-4147-A177-3AD203B41FA5}">
                      <a16:colId xmlns:a16="http://schemas.microsoft.com/office/drawing/2014/main" val="1094262138"/>
                    </a:ext>
                  </a:extLst>
                </a:gridCol>
              </a:tblGrid>
              <a:tr h="175321">
                <a:tc>
                  <a:txBody>
                    <a:bodyPr/>
                    <a:lstStyle/>
                    <a:p>
                      <a:pPr algn="ctr" fontAlgn="ctr">
                        <a:buNone/>
                      </a:pPr>
                      <a:r>
                        <a:rPr lang="ja-JP" altLang="en-US" sz="800" b="0" i="0" u="none" strike="noStrike" dirty="0">
                          <a:solidFill>
                            <a:srgbClr val="000000"/>
                          </a:solidFill>
                          <a:effectLst/>
                          <a:highlight>
                            <a:srgbClr val="FFFF00"/>
                          </a:highlight>
                          <a:latin typeface="メイリオ" panose="020B0604030504040204" pitchFamily="50" charset="-128"/>
                          <a:ea typeface="メイリオ" panose="020B0604030504040204" pitchFamily="50" charset="-128"/>
                        </a:rPr>
                        <a:t>運用時、基本付帯する</a:t>
                      </a:r>
                    </a:p>
                  </a:txBody>
                  <a:tcPr marL="8241" marR="8241"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963664283"/>
                  </a:ext>
                </a:extLst>
              </a:tr>
            </a:tbl>
          </a:graphicData>
        </a:graphic>
      </p:graphicFrame>
      <p:graphicFrame>
        <p:nvGraphicFramePr>
          <p:cNvPr id="21" name="表 20">
            <a:extLst>
              <a:ext uri="{FF2B5EF4-FFF2-40B4-BE49-F238E27FC236}">
                <a16:creationId xmlns:a16="http://schemas.microsoft.com/office/drawing/2014/main" id="{389502D4-BA2A-6A1C-BF6C-A371B6D109FD}"/>
              </a:ext>
            </a:extLst>
          </p:cNvPr>
          <p:cNvGraphicFramePr>
            <a:graphicFrameLocks noGrp="1"/>
          </p:cNvGraphicFramePr>
          <p:nvPr/>
        </p:nvGraphicFramePr>
        <p:xfrm>
          <a:off x="7891522" y="3697199"/>
          <a:ext cx="1249236" cy="153961"/>
        </p:xfrm>
        <a:graphic>
          <a:graphicData uri="http://schemas.openxmlformats.org/drawingml/2006/table">
            <a:tbl>
              <a:tblPr/>
              <a:tblGrid>
                <a:gridCol w="1249236">
                  <a:extLst>
                    <a:ext uri="{9D8B030D-6E8A-4147-A177-3AD203B41FA5}">
                      <a16:colId xmlns:a16="http://schemas.microsoft.com/office/drawing/2014/main" val="1094262138"/>
                    </a:ext>
                  </a:extLst>
                </a:gridCol>
              </a:tblGrid>
              <a:tr h="153961">
                <a:tc>
                  <a:txBody>
                    <a:bodyPr/>
                    <a:lstStyle/>
                    <a:p>
                      <a:pPr algn="ctr" fontAlgn="ctr">
                        <a:buNone/>
                      </a:pPr>
                      <a:r>
                        <a:rPr lang="ja-JP" altLang="en-US" sz="800" b="0" i="0" u="none" strike="noStrike" dirty="0">
                          <a:solidFill>
                            <a:srgbClr val="000000"/>
                          </a:solidFill>
                          <a:effectLst/>
                          <a:highlight>
                            <a:srgbClr val="C0C0C0"/>
                          </a:highlight>
                          <a:latin typeface="メイリオ" panose="020B0604030504040204" pitchFamily="50" charset="-128"/>
                          <a:ea typeface="メイリオ" panose="020B0604030504040204" pitchFamily="50" charset="-128"/>
                        </a:rPr>
                        <a:t>対応しない領域</a:t>
                      </a:r>
                    </a:p>
                  </a:txBody>
                  <a:tcPr marL="8323" marR="8323"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963664283"/>
                  </a:ext>
                </a:extLst>
              </a:tr>
            </a:tbl>
          </a:graphicData>
        </a:graphic>
      </p:graphicFrame>
      <p:graphicFrame>
        <p:nvGraphicFramePr>
          <p:cNvPr id="22" name="表 21">
            <a:extLst>
              <a:ext uri="{FF2B5EF4-FFF2-40B4-BE49-F238E27FC236}">
                <a16:creationId xmlns:a16="http://schemas.microsoft.com/office/drawing/2014/main" id="{1AEA4D62-5A51-5D4C-668D-F5733449D649}"/>
              </a:ext>
            </a:extLst>
          </p:cNvPr>
          <p:cNvGraphicFramePr>
            <a:graphicFrameLocks noGrp="1"/>
          </p:cNvGraphicFramePr>
          <p:nvPr/>
        </p:nvGraphicFramePr>
        <p:xfrm>
          <a:off x="6465665" y="3697198"/>
          <a:ext cx="1249236" cy="175321"/>
        </p:xfrm>
        <a:graphic>
          <a:graphicData uri="http://schemas.openxmlformats.org/drawingml/2006/table">
            <a:tbl>
              <a:tblPr/>
              <a:tblGrid>
                <a:gridCol w="1249236">
                  <a:extLst>
                    <a:ext uri="{9D8B030D-6E8A-4147-A177-3AD203B41FA5}">
                      <a16:colId xmlns:a16="http://schemas.microsoft.com/office/drawing/2014/main" val="1094262138"/>
                    </a:ext>
                  </a:extLst>
                </a:gridCol>
              </a:tblGrid>
              <a:tr h="175321">
                <a:tc>
                  <a:txBody>
                    <a:bodyPr/>
                    <a:lstStyle/>
                    <a:p>
                      <a:pPr algn="ctr" fontAlgn="ctr">
                        <a:buNone/>
                      </a:pPr>
                      <a:r>
                        <a:rPr lang="ja-JP" altLang="en-US" sz="800" b="0" i="0" u="none" strike="noStrike" dirty="0">
                          <a:solidFill>
                            <a:srgbClr val="000000"/>
                          </a:solidFill>
                          <a:effectLst/>
                          <a:highlight>
                            <a:srgbClr val="F6A454"/>
                          </a:highlight>
                          <a:latin typeface="メイリオ" panose="020B0604030504040204" pitchFamily="50" charset="-128"/>
                          <a:ea typeface="メイリオ" panose="020B0604030504040204" pitchFamily="50" charset="-128"/>
                        </a:rPr>
                        <a:t>貴社にて対応</a:t>
                      </a:r>
                    </a:p>
                  </a:txBody>
                  <a:tcPr marL="8323" marR="8323"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963664283"/>
                  </a:ext>
                </a:extLst>
              </a:tr>
            </a:tbl>
          </a:graphicData>
        </a:graphic>
      </p:graphicFrame>
      <p:sp>
        <p:nvSpPr>
          <p:cNvPr id="2" name="正方形/長方形 1">
            <a:extLst>
              <a:ext uri="{FF2B5EF4-FFF2-40B4-BE49-F238E27FC236}">
                <a16:creationId xmlns:a16="http://schemas.microsoft.com/office/drawing/2014/main" id="{C482A5B9-1B77-7CB2-3577-651B908CC4DA}"/>
              </a:ext>
            </a:extLst>
          </p:cNvPr>
          <p:cNvSpPr/>
          <p:nvPr/>
        </p:nvSpPr>
        <p:spPr>
          <a:xfrm>
            <a:off x="706726" y="1556872"/>
            <a:ext cx="2326304" cy="502920"/>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400" b="1" dirty="0">
                <a:solidFill>
                  <a:schemeClr val="tx1"/>
                </a:solidFill>
                <a:latin typeface="メイリオ" panose="020B0604030504040204" pitchFamily="50" charset="-128"/>
                <a:ea typeface="メイリオ" panose="020B0604030504040204" pitchFamily="50" charset="-128"/>
              </a:rPr>
              <a:t>20</a:t>
            </a:r>
            <a:r>
              <a:rPr kumimoji="1" lang="ja-JP" altLang="en-US" sz="1600" b="1" dirty="0">
                <a:solidFill>
                  <a:schemeClr val="tx1"/>
                </a:solidFill>
                <a:latin typeface="メイリオ" panose="020B0604030504040204" pitchFamily="50" charset="-128"/>
                <a:ea typeface="メイリオ" panose="020B0604030504040204" pitchFamily="50" charset="-128"/>
              </a:rPr>
              <a:t>万円</a:t>
            </a:r>
            <a:r>
              <a:rPr kumimoji="1" lang="ja-JP" altLang="en-US" sz="1400" b="1" dirty="0">
                <a:solidFill>
                  <a:schemeClr val="tx1"/>
                </a:solidFill>
                <a:latin typeface="メイリオ" panose="020B0604030504040204" pitchFamily="50" charset="-128"/>
                <a:ea typeface="メイリオ" panose="020B0604030504040204" pitchFamily="50" charset="-128"/>
              </a:rPr>
              <a:t> </a:t>
            </a:r>
            <a:r>
              <a:rPr kumimoji="1" lang="en-US" altLang="ja-JP" sz="1400" b="1" dirty="0">
                <a:solidFill>
                  <a:schemeClr val="tx1"/>
                </a:solidFill>
                <a:latin typeface="メイリオ" panose="020B0604030504040204" pitchFamily="50" charset="-128"/>
                <a:ea typeface="メイリオ" panose="020B0604030504040204" pitchFamily="50" charset="-128"/>
              </a:rPr>
              <a:t>/</a:t>
            </a:r>
            <a:r>
              <a:rPr lang="ja-JP" altLang="en-US" sz="1400" b="1" dirty="0">
                <a:solidFill>
                  <a:schemeClr val="tx1"/>
                </a:solidFill>
                <a:latin typeface="メイリオ" panose="020B0604030504040204" pitchFamily="50" charset="-128"/>
                <a:ea typeface="メイリオ" panose="020B0604030504040204" pitchFamily="50" charset="-128"/>
              </a:rPr>
              <a:t> 月</a:t>
            </a:r>
            <a:endParaRPr kumimoji="1" lang="ja-JP" altLang="en-US" sz="1400" b="1" dirty="0">
              <a:solidFill>
                <a:schemeClr val="tx1"/>
              </a:solidFill>
              <a:latin typeface="メイリオ" panose="020B0604030504040204" pitchFamily="50" charset="-128"/>
              <a:ea typeface="メイリオ" panose="020B0604030504040204" pitchFamily="50" charset="-128"/>
            </a:endParaRPr>
          </a:p>
        </p:txBody>
      </p:sp>
      <p:sp>
        <p:nvSpPr>
          <p:cNvPr id="5" name="正方形/長方形 4">
            <a:extLst>
              <a:ext uri="{FF2B5EF4-FFF2-40B4-BE49-F238E27FC236}">
                <a16:creationId xmlns:a16="http://schemas.microsoft.com/office/drawing/2014/main" id="{D74AE0EC-48BF-DC77-08FD-383C4B76F73E}"/>
              </a:ext>
            </a:extLst>
          </p:cNvPr>
          <p:cNvSpPr/>
          <p:nvPr/>
        </p:nvSpPr>
        <p:spPr>
          <a:xfrm>
            <a:off x="706726" y="2183457"/>
            <a:ext cx="2326304" cy="502920"/>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400" b="1" dirty="0">
                <a:solidFill>
                  <a:schemeClr val="tx1"/>
                </a:solidFill>
                <a:latin typeface="メイリオ" panose="020B0604030504040204" pitchFamily="50" charset="-128"/>
                <a:ea typeface="メイリオ" panose="020B0604030504040204" pitchFamily="50" charset="-128"/>
              </a:rPr>
              <a:t>30</a:t>
            </a:r>
            <a:r>
              <a:rPr lang="ja-JP" altLang="en-US" sz="1600" b="1" dirty="0">
                <a:solidFill>
                  <a:schemeClr val="tx1"/>
                </a:solidFill>
                <a:latin typeface="メイリオ" panose="020B0604030504040204" pitchFamily="50" charset="-128"/>
                <a:ea typeface="メイリオ" panose="020B0604030504040204" pitchFamily="50" charset="-128"/>
              </a:rPr>
              <a:t>万円</a:t>
            </a:r>
            <a:r>
              <a:rPr lang="ja-JP" altLang="en-US" sz="1400" b="1" dirty="0">
                <a:solidFill>
                  <a:schemeClr val="tx1"/>
                </a:solidFill>
                <a:latin typeface="メイリオ" panose="020B0604030504040204" pitchFamily="50" charset="-128"/>
                <a:ea typeface="メイリオ" panose="020B0604030504040204" pitchFamily="50" charset="-128"/>
              </a:rPr>
              <a:t> </a:t>
            </a:r>
            <a:r>
              <a:rPr lang="en-US" altLang="ja-JP" sz="1400" b="1" dirty="0">
                <a:solidFill>
                  <a:schemeClr val="tx1"/>
                </a:solidFill>
                <a:latin typeface="メイリオ" panose="020B0604030504040204" pitchFamily="50" charset="-128"/>
                <a:ea typeface="メイリオ" panose="020B0604030504040204" pitchFamily="50" charset="-128"/>
              </a:rPr>
              <a:t>/</a:t>
            </a:r>
            <a:r>
              <a:rPr lang="ja-JP" altLang="en-US" sz="1400" b="1" dirty="0">
                <a:solidFill>
                  <a:schemeClr val="tx1"/>
                </a:solidFill>
                <a:latin typeface="メイリオ" panose="020B0604030504040204" pitchFamily="50" charset="-128"/>
                <a:ea typeface="メイリオ" panose="020B0604030504040204" pitchFamily="50" charset="-128"/>
              </a:rPr>
              <a:t> 月</a:t>
            </a:r>
          </a:p>
        </p:txBody>
      </p:sp>
      <p:sp>
        <p:nvSpPr>
          <p:cNvPr id="6" name="正方形/長方形 5">
            <a:extLst>
              <a:ext uri="{FF2B5EF4-FFF2-40B4-BE49-F238E27FC236}">
                <a16:creationId xmlns:a16="http://schemas.microsoft.com/office/drawing/2014/main" id="{89600F16-6DFB-0370-C7A6-875494596D74}"/>
              </a:ext>
            </a:extLst>
          </p:cNvPr>
          <p:cNvSpPr/>
          <p:nvPr/>
        </p:nvSpPr>
        <p:spPr>
          <a:xfrm>
            <a:off x="706726" y="2815389"/>
            <a:ext cx="2326304" cy="502920"/>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400" b="1" dirty="0">
                <a:solidFill>
                  <a:schemeClr val="tx1"/>
                </a:solidFill>
                <a:latin typeface="メイリオ" panose="020B0604030504040204" pitchFamily="50" charset="-128"/>
                <a:ea typeface="メイリオ" panose="020B0604030504040204" pitchFamily="50" charset="-128"/>
              </a:rPr>
              <a:t>50</a:t>
            </a:r>
            <a:r>
              <a:rPr lang="ja-JP" altLang="en-US" sz="1600" b="1" dirty="0">
                <a:solidFill>
                  <a:schemeClr val="tx1"/>
                </a:solidFill>
                <a:latin typeface="メイリオ" panose="020B0604030504040204" pitchFamily="50" charset="-128"/>
                <a:ea typeface="メイリオ" panose="020B0604030504040204" pitchFamily="50" charset="-128"/>
              </a:rPr>
              <a:t>万円</a:t>
            </a:r>
            <a:r>
              <a:rPr lang="ja-JP" altLang="en-US" sz="1400" b="1" dirty="0">
                <a:solidFill>
                  <a:schemeClr val="tx1"/>
                </a:solidFill>
                <a:latin typeface="メイリオ" panose="020B0604030504040204" pitchFamily="50" charset="-128"/>
                <a:ea typeface="メイリオ" panose="020B0604030504040204" pitchFamily="50" charset="-128"/>
              </a:rPr>
              <a:t> </a:t>
            </a:r>
            <a:r>
              <a:rPr lang="en-US" altLang="ja-JP" sz="1400" b="1" dirty="0">
                <a:solidFill>
                  <a:schemeClr val="tx1"/>
                </a:solidFill>
                <a:latin typeface="メイリオ" panose="020B0604030504040204" pitchFamily="50" charset="-128"/>
                <a:ea typeface="メイリオ" panose="020B0604030504040204" pitchFamily="50" charset="-128"/>
              </a:rPr>
              <a:t>/</a:t>
            </a:r>
            <a:r>
              <a:rPr lang="ja-JP" altLang="en-US" sz="1400" b="1" dirty="0">
                <a:solidFill>
                  <a:schemeClr val="tx1"/>
                </a:solidFill>
                <a:latin typeface="メイリオ" panose="020B0604030504040204" pitchFamily="50" charset="-128"/>
                <a:ea typeface="メイリオ" panose="020B0604030504040204" pitchFamily="50" charset="-128"/>
              </a:rPr>
              <a:t> 月</a:t>
            </a:r>
          </a:p>
        </p:txBody>
      </p:sp>
      <p:sp>
        <p:nvSpPr>
          <p:cNvPr id="11" name="正方形/長方形 10">
            <a:extLst>
              <a:ext uri="{FF2B5EF4-FFF2-40B4-BE49-F238E27FC236}">
                <a16:creationId xmlns:a16="http://schemas.microsoft.com/office/drawing/2014/main" id="{81506C69-8126-9C2B-FABF-119E315AF939}"/>
              </a:ext>
            </a:extLst>
          </p:cNvPr>
          <p:cNvSpPr/>
          <p:nvPr/>
        </p:nvSpPr>
        <p:spPr>
          <a:xfrm>
            <a:off x="3088448" y="1556872"/>
            <a:ext cx="1963729" cy="502920"/>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000" dirty="0">
                <a:solidFill>
                  <a:schemeClr val="tx1"/>
                </a:solidFill>
                <a:latin typeface="メイリオ" panose="020B0604030504040204" pitchFamily="50" charset="-128"/>
                <a:ea typeface="メイリオ" panose="020B0604030504040204" pitchFamily="50" charset="-128"/>
              </a:rPr>
              <a:t>３</a:t>
            </a:r>
            <a:r>
              <a:rPr kumimoji="1" lang="ja-JP" altLang="en-US" sz="2000" dirty="0">
                <a:solidFill>
                  <a:schemeClr val="tx1"/>
                </a:solidFill>
                <a:latin typeface="メイリオ" panose="020B0604030504040204" pitchFamily="50" charset="-128"/>
                <a:ea typeface="メイリオ" panose="020B0604030504040204" pitchFamily="50" charset="-128"/>
              </a:rPr>
              <a:t>投稿</a:t>
            </a:r>
            <a:r>
              <a:rPr kumimoji="1" lang="ja-JP" altLang="en-US" sz="1200" dirty="0">
                <a:solidFill>
                  <a:schemeClr val="tx1"/>
                </a:solidFill>
                <a:latin typeface="メイリオ" panose="020B0604030504040204" pitchFamily="50" charset="-128"/>
                <a:ea typeface="メイリオ" panose="020B0604030504040204" pitchFamily="50" charset="-128"/>
              </a:rPr>
              <a:t> </a:t>
            </a:r>
            <a:r>
              <a:rPr kumimoji="1" lang="en-US" altLang="ja-JP" sz="1200" dirty="0">
                <a:solidFill>
                  <a:schemeClr val="tx1"/>
                </a:solidFill>
                <a:latin typeface="メイリオ" panose="020B0604030504040204" pitchFamily="50" charset="-128"/>
                <a:ea typeface="メイリオ" panose="020B0604030504040204" pitchFamily="50" charset="-128"/>
              </a:rPr>
              <a:t>/</a:t>
            </a:r>
            <a:r>
              <a:rPr lang="ja-JP" altLang="en-US" sz="1200" dirty="0">
                <a:solidFill>
                  <a:schemeClr val="tx1"/>
                </a:solidFill>
                <a:latin typeface="メイリオ" panose="020B0604030504040204" pitchFamily="50" charset="-128"/>
                <a:ea typeface="メイリオ" panose="020B0604030504040204" pitchFamily="50" charset="-128"/>
              </a:rPr>
              <a:t> 月</a:t>
            </a:r>
            <a:endParaRPr kumimoji="1" lang="ja-JP" altLang="en-US" sz="1200" dirty="0">
              <a:solidFill>
                <a:schemeClr val="tx1"/>
              </a:solidFill>
              <a:latin typeface="メイリオ" panose="020B0604030504040204" pitchFamily="50" charset="-128"/>
              <a:ea typeface="メイリオ" panose="020B0604030504040204" pitchFamily="50" charset="-128"/>
            </a:endParaRPr>
          </a:p>
        </p:txBody>
      </p:sp>
      <p:sp>
        <p:nvSpPr>
          <p:cNvPr id="14" name="正方形/長方形 13">
            <a:extLst>
              <a:ext uri="{FF2B5EF4-FFF2-40B4-BE49-F238E27FC236}">
                <a16:creationId xmlns:a16="http://schemas.microsoft.com/office/drawing/2014/main" id="{B15A40AA-7F6C-2AC4-1C14-0AC66212601F}"/>
              </a:ext>
            </a:extLst>
          </p:cNvPr>
          <p:cNvSpPr/>
          <p:nvPr/>
        </p:nvSpPr>
        <p:spPr>
          <a:xfrm>
            <a:off x="3088448" y="2183457"/>
            <a:ext cx="1963729" cy="502920"/>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000" dirty="0">
                <a:solidFill>
                  <a:schemeClr val="tx1"/>
                </a:solidFill>
                <a:latin typeface="メイリオ" panose="020B0604030504040204" pitchFamily="50" charset="-128"/>
                <a:ea typeface="メイリオ" panose="020B0604030504040204" pitchFamily="50" charset="-128"/>
              </a:rPr>
              <a:t>５投稿</a:t>
            </a:r>
            <a:r>
              <a:rPr lang="ja-JP" altLang="en-US" sz="1200" dirty="0">
                <a:solidFill>
                  <a:schemeClr val="tx1"/>
                </a:solidFill>
                <a:latin typeface="メイリオ" panose="020B0604030504040204" pitchFamily="50" charset="-128"/>
                <a:ea typeface="メイリオ" panose="020B0604030504040204" pitchFamily="50" charset="-128"/>
              </a:rPr>
              <a:t> </a:t>
            </a:r>
            <a:r>
              <a:rPr lang="en-US" altLang="ja-JP" sz="1200" dirty="0">
                <a:solidFill>
                  <a:schemeClr val="tx1"/>
                </a:solidFill>
                <a:latin typeface="メイリオ" panose="020B0604030504040204" pitchFamily="50" charset="-128"/>
                <a:ea typeface="メイリオ" panose="020B0604030504040204" pitchFamily="50" charset="-128"/>
              </a:rPr>
              <a:t>/</a:t>
            </a:r>
            <a:r>
              <a:rPr lang="ja-JP" altLang="en-US" sz="1200" dirty="0">
                <a:solidFill>
                  <a:schemeClr val="tx1"/>
                </a:solidFill>
                <a:latin typeface="メイリオ" panose="020B0604030504040204" pitchFamily="50" charset="-128"/>
                <a:ea typeface="メイリオ" panose="020B0604030504040204" pitchFamily="50" charset="-128"/>
              </a:rPr>
              <a:t> 月</a:t>
            </a:r>
          </a:p>
        </p:txBody>
      </p:sp>
      <p:sp>
        <p:nvSpPr>
          <p:cNvPr id="15" name="正方形/長方形 14">
            <a:extLst>
              <a:ext uri="{FF2B5EF4-FFF2-40B4-BE49-F238E27FC236}">
                <a16:creationId xmlns:a16="http://schemas.microsoft.com/office/drawing/2014/main" id="{83D790EB-0222-5E5B-FEEC-80F16C159B19}"/>
              </a:ext>
            </a:extLst>
          </p:cNvPr>
          <p:cNvSpPr/>
          <p:nvPr/>
        </p:nvSpPr>
        <p:spPr>
          <a:xfrm>
            <a:off x="3088448" y="2815389"/>
            <a:ext cx="1963729" cy="502920"/>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000" dirty="0">
                <a:solidFill>
                  <a:schemeClr val="tx1"/>
                </a:solidFill>
                <a:latin typeface="メイリオ" panose="020B0604030504040204" pitchFamily="50" charset="-128"/>
                <a:ea typeface="メイリオ" panose="020B0604030504040204" pitchFamily="50" charset="-128"/>
              </a:rPr>
              <a:t>９投稿</a:t>
            </a:r>
            <a:r>
              <a:rPr lang="ja-JP" altLang="en-US" sz="1200" dirty="0">
                <a:solidFill>
                  <a:schemeClr val="tx1"/>
                </a:solidFill>
                <a:latin typeface="メイリオ" panose="020B0604030504040204" pitchFamily="50" charset="-128"/>
                <a:ea typeface="メイリオ" panose="020B0604030504040204" pitchFamily="50" charset="-128"/>
              </a:rPr>
              <a:t> </a:t>
            </a:r>
            <a:r>
              <a:rPr lang="en-US" altLang="ja-JP" sz="1200" dirty="0">
                <a:solidFill>
                  <a:schemeClr val="tx1"/>
                </a:solidFill>
                <a:latin typeface="メイリオ" panose="020B0604030504040204" pitchFamily="50" charset="-128"/>
                <a:ea typeface="メイリオ" panose="020B0604030504040204" pitchFamily="50" charset="-128"/>
              </a:rPr>
              <a:t>/</a:t>
            </a:r>
            <a:r>
              <a:rPr lang="ja-JP" altLang="en-US" sz="1200" dirty="0">
                <a:solidFill>
                  <a:schemeClr val="tx1"/>
                </a:solidFill>
                <a:latin typeface="メイリオ" panose="020B0604030504040204" pitchFamily="50" charset="-128"/>
                <a:ea typeface="メイリオ" panose="020B0604030504040204" pitchFamily="50" charset="-128"/>
              </a:rPr>
              <a:t> 月</a:t>
            </a:r>
          </a:p>
        </p:txBody>
      </p:sp>
      <p:sp>
        <p:nvSpPr>
          <p:cNvPr id="16" name="正方形/長方形 15">
            <a:extLst>
              <a:ext uri="{FF2B5EF4-FFF2-40B4-BE49-F238E27FC236}">
                <a16:creationId xmlns:a16="http://schemas.microsoft.com/office/drawing/2014/main" id="{584F8FA8-652A-A0F8-874C-3E9B80EB3F4B}"/>
              </a:ext>
            </a:extLst>
          </p:cNvPr>
          <p:cNvSpPr/>
          <p:nvPr/>
        </p:nvSpPr>
        <p:spPr>
          <a:xfrm>
            <a:off x="5107595" y="1550011"/>
            <a:ext cx="4091679" cy="50292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dirty="0">
                <a:solidFill>
                  <a:schemeClr val="tx1"/>
                </a:solidFill>
                <a:latin typeface="メイリオ" panose="020B0604030504040204" pitchFamily="50" charset="-128"/>
                <a:ea typeface="メイリオ" panose="020B0604030504040204" pitchFamily="50" charset="-128"/>
              </a:rPr>
              <a:t>その他基本付帯サービスは無償。</a:t>
            </a:r>
            <a:endParaRPr lang="en-US" altLang="ja-JP" sz="1050" dirty="0">
              <a:solidFill>
                <a:schemeClr val="tx1"/>
              </a:solidFill>
              <a:latin typeface="メイリオ" panose="020B0604030504040204" pitchFamily="50" charset="-128"/>
              <a:ea typeface="メイリオ" panose="020B0604030504040204" pitchFamily="50" charset="-128"/>
            </a:endParaRPr>
          </a:p>
          <a:p>
            <a:pPr algn="ctr"/>
            <a:r>
              <a:rPr lang="ja-JP" altLang="en-US" sz="1050" b="1" dirty="0">
                <a:solidFill>
                  <a:schemeClr val="tx1"/>
                </a:solidFill>
                <a:latin typeface="メイリオ" panose="020B0604030504040204" pitchFamily="50" charset="-128"/>
                <a:ea typeface="メイリオ" panose="020B0604030504040204" pitchFamily="50" charset="-128"/>
              </a:rPr>
              <a:t>レポート対応：有 </a:t>
            </a:r>
            <a:r>
              <a:rPr lang="en-US" altLang="ja-JP" sz="1050" b="1" dirty="0">
                <a:solidFill>
                  <a:schemeClr val="tx1"/>
                </a:solidFill>
                <a:latin typeface="メイリオ" panose="020B0604030504040204" pitchFamily="50" charset="-128"/>
                <a:ea typeface="メイリオ" panose="020B0604030504040204" pitchFamily="50" charset="-128"/>
              </a:rPr>
              <a:t>/ </a:t>
            </a:r>
            <a:r>
              <a:rPr lang="ja-JP" altLang="en-US" sz="1050" b="1" dirty="0">
                <a:solidFill>
                  <a:schemeClr val="tx1"/>
                </a:solidFill>
                <a:latin typeface="メイリオ" panose="020B0604030504040204" pitchFamily="50" charset="-128"/>
                <a:ea typeface="メイリオ" panose="020B0604030504040204" pitchFamily="50" charset="-128"/>
              </a:rPr>
              <a:t>定例会：</a:t>
            </a:r>
            <a:r>
              <a:rPr lang="en-US" altLang="ja-JP" sz="1050" b="1" dirty="0">
                <a:solidFill>
                  <a:schemeClr val="tx1"/>
                </a:solidFill>
                <a:latin typeface="メイリオ" panose="020B0604030504040204" pitchFamily="50" charset="-128"/>
                <a:ea typeface="メイリオ" panose="020B0604030504040204" pitchFamily="50" charset="-128"/>
              </a:rPr>
              <a:t>3</a:t>
            </a:r>
            <a:r>
              <a:rPr lang="ja-JP" altLang="en-US" sz="1050" b="1" dirty="0">
                <a:solidFill>
                  <a:schemeClr val="tx1"/>
                </a:solidFill>
                <a:latin typeface="メイリオ" panose="020B0604030504040204" pitchFamily="50" charset="-128"/>
                <a:ea typeface="メイリオ" panose="020B0604030504040204" pitchFamily="50" charset="-128"/>
              </a:rPr>
              <a:t>か月に</a:t>
            </a:r>
            <a:r>
              <a:rPr lang="en-US" altLang="ja-JP" sz="1050" b="1" dirty="0">
                <a:solidFill>
                  <a:schemeClr val="tx1"/>
                </a:solidFill>
                <a:latin typeface="メイリオ" panose="020B0604030504040204" pitchFamily="50" charset="-128"/>
                <a:ea typeface="メイリオ" panose="020B0604030504040204" pitchFamily="50" charset="-128"/>
              </a:rPr>
              <a:t>1</a:t>
            </a:r>
            <a:r>
              <a:rPr lang="ja-JP" altLang="en-US" sz="1050" b="1" dirty="0">
                <a:solidFill>
                  <a:schemeClr val="tx1"/>
                </a:solidFill>
                <a:latin typeface="メイリオ" panose="020B0604030504040204" pitchFamily="50" charset="-128"/>
                <a:ea typeface="メイリオ" panose="020B0604030504040204" pitchFamily="50" charset="-128"/>
              </a:rPr>
              <a:t>回。</a:t>
            </a:r>
            <a:endParaRPr lang="en-US" altLang="ja-JP" sz="1050" b="1" dirty="0">
              <a:solidFill>
                <a:schemeClr val="tx1"/>
              </a:solidFill>
              <a:latin typeface="メイリオ" panose="020B0604030504040204" pitchFamily="50" charset="-128"/>
              <a:ea typeface="メイリオ" panose="020B0604030504040204" pitchFamily="50" charset="-128"/>
            </a:endParaRPr>
          </a:p>
        </p:txBody>
      </p:sp>
      <p:sp>
        <p:nvSpPr>
          <p:cNvPr id="17" name="正方形/長方形 16">
            <a:extLst>
              <a:ext uri="{FF2B5EF4-FFF2-40B4-BE49-F238E27FC236}">
                <a16:creationId xmlns:a16="http://schemas.microsoft.com/office/drawing/2014/main" id="{4076E51B-9B1D-9885-A1EF-A14722C86109}"/>
              </a:ext>
            </a:extLst>
          </p:cNvPr>
          <p:cNvSpPr/>
          <p:nvPr/>
        </p:nvSpPr>
        <p:spPr>
          <a:xfrm>
            <a:off x="5107595" y="2176596"/>
            <a:ext cx="4091679" cy="50292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dirty="0">
                <a:solidFill>
                  <a:schemeClr val="tx1"/>
                </a:solidFill>
                <a:latin typeface="メイリオ" panose="020B0604030504040204" pitchFamily="50" charset="-128"/>
                <a:ea typeface="メイリオ" panose="020B0604030504040204" pitchFamily="50" charset="-128"/>
              </a:rPr>
              <a:t>その他基本付帯サービスは無償。</a:t>
            </a:r>
            <a:endParaRPr lang="en-US" altLang="ja-JP" sz="1050" dirty="0">
              <a:solidFill>
                <a:schemeClr val="tx1"/>
              </a:solidFill>
              <a:latin typeface="メイリオ" panose="020B0604030504040204" pitchFamily="50" charset="-128"/>
              <a:ea typeface="メイリオ" panose="020B0604030504040204" pitchFamily="50" charset="-128"/>
            </a:endParaRPr>
          </a:p>
          <a:p>
            <a:pPr algn="ctr"/>
            <a:r>
              <a:rPr lang="ja-JP" altLang="en-US" sz="1050" b="1" dirty="0">
                <a:solidFill>
                  <a:srgbClr val="FF0000"/>
                </a:solidFill>
                <a:latin typeface="メイリオ" panose="020B0604030504040204" pitchFamily="50" charset="-128"/>
                <a:ea typeface="メイリオ" panose="020B0604030504040204" pitchFamily="50" charset="-128"/>
              </a:rPr>
              <a:t>レポート対応：有 </a:t>
            </a:r>
            <a:r>
              <a:rPr lang="en-US" altLang="ja-JP" sz="1050" b="1" dirty="0">
                <a:solidFill>
                  <a:srgbClr val="FF0000"/>
                </a:solidFill>
                <a:latin typeface="メイリオ" panose="020B0604030504040204" pitchFamily="50" charset="-128"/>
                <a:ea typeface="メイリオ" panose="020B0604030504040204" pitchFamily="50" charset="-128"/>
              </a:rPr>
              <a:t>/ </a:t>
            </a:r>
            <a:r>
              <a:rPr lang="ja-JP" altLang="en-US" sz="1050" b="1" dirty="0">
                <a:solidFill>
                  <a:srgbClr val="FF0000"/>
                </a:solidFill>
                <a:latin typeface="メイリオ" panose="020B0604030504040204" pitchFamily="50" charset="-128"/>
                <a:ea typeface="メイリオ" panose="020B0604030504040204" pitchFamily="50" charset="-128"/>
              </a:rPr>
              <a:t>定例会：</a:t>
            </a:r>
            <a:r>
              <a:rPr lang="en-US" altLang="ja-JP" sz="1050" b="1" dirty="0">
                <a:solidFill>
                  <a:srgbClr val="FF0000"/>
                </a:solidFill>
                <a:latin typeface="メイリオ" panose="020B0604030504040204" pitchFamily="50" charset="-128"/>
                <a:ea typeface="メイリオ" panose="020B0604030504040204" pitchFamily="50" charset="-128"/>
              </a:rPr>
              <a:t>1</a:t>
            </a:r>
            <a:r>
              <a:rPr lang="ja-JP" altLang="en-US" sz="1050" b="1" dirty="0">
                <a:solidFill>
                  <a:srgbClr val="FF0000"/>
                </a:solidFill>
                <a:latin typeface="メイリオ" panose="020B0604030504040204" pitchFamily="50" charset="-128"/>
                <a:ea typeface="メイリオ" panose="020B0604030504040204" pitchFamily="50" charset="-128"/>
              </a:rPr>
              <a:t>か月に</a:t>
            </a:r>
            <a:r>
              <a:rPr lang="en-US" altLang="ja-JP" sz="1050" b="1" dirty="0">
                <a:solidFill>
                  <a:srgbClr val="FF0000"/>
                </a:solidFill>
                <a:latin typeface="メイリオ" panose="020B0604030504040204" pitchFamily="50" charset="-128"/>
                <a:ea typeface="メイリオ" panose="020B0604030504040204" pitchFamily="50" charset="-128"/>
              </a:rPr>
              <a:t>1</a:t>
            </a:r>
            <a:r>
              <a:rPr lang="ja-JP" altLang="en-US" sz="1050" b="1" dirty="0">
                <a:solidFill>
                  <a:srgbClr val="FF0000"/>
                </a:solidFill>
                <a:latin typeface="メイリオ" panose="020B0604030504040204" pitchFamily="50" charset="-128"/>
                <a:ea typeface="メイリオ" panose="020B0604030504040204" pitchFamily="50" charset="-128"/>
              </a:rPr>
              <a:t>回。</a:t>
            </a:r>
            <a:endParaRPr lang="en-US" altLang="ja-JP" sz="1050" b="1" dirty="0">
              <a:solidFill>
                <a:srgbClr val="FF0000"/>
              </a:solidFill>
              <a:latin typeface="メイリオ" panose="020B0604030504040204" pitchFamily="50" charset="-128"/>
              <a:ea typeface="メイリオ" panose="020B0604030504040204" pitchFamily="50" charset="-128"/>
            </a:endParaRPr>
          </a:p>
        </p:txBody>
      </p:sp>
      <p:sp>
        <p:nvSpPr>
          <p:cNvPr id="18" name="正方形/長方形 17">
            <a:extLst>
              <a:ext uri="{FF2B5EF4-FFF2-40B4-BE49-F238E27FC236}">
                <a16:creationId xmlns:a16="http://schemas.microsoft.com/office/drawing/2014/main" id="{0CD9CFCA-70E9-24BE-9FC5-7AA490583C16}"/>
              </a:ext>
            </a:extLst>
          </p:cNvPr>
          <p:cNvSpPr/>
          <p:nvPr/>
        </p:nvSpPr>
        <p:spPr>
          <a:xfrm>
            <a:off x="5107595" y="2808528"/>
            <a:ext cx="4091679" cy="50292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dirty="0">
                <a:solidFill>
                  <a:schemeClr val="tx1"/>
                </a:solidFill>
                <a:latin typeface="メイリオ" panose="020B0604030504040204" pitchFamily="50" charset="-128"/>
                <a:ea typeface="メイリオ" panose="020B0604030504040204" pitchFamily="50" charset="-128"/>
              </a:rPr>
              <a:t>その他基本付帯サービスは無償。</a:t>
            </a:r>
            <a:endParaRPr lang="en-US" altLang="ja-JP" sz="1050" dirty="0">
              <a:solidFill>
                <a:schemeClr val="tx1"/>
              </a:solidFill>
              <a:latin typeface="メイリオ" panose="020B0604030504040204" pitchFamily="50" charset="-128"/>
              <a:ea typeface="メイリオ" panose="020B0604030504040204" pitchFamily="50" charset="-128"/>
            </a:endParaRPr>
          </a:p>
          <a:p>
            <a:pPr algn="ctr"/>
            <a:r>
              <a:rPr lang="ja-JP" altLang="en-US" sz="1050" b="1" dirty="0">
                <a:solidFill>
                  <a:srgbClr val="FF0000"/>
                </a:solidFill>
                <a:latin typeface="メイリオ" panose="020B0604030504040204" pitchFamily="50" charset="-128"/>
                <a:ea typeface="メイリオ" panose="020B0604030504040204" pitchFamily="50" charset="-128"/>
              </a:rPr>
              <a:t>レポート対応：有 </a:t>
            </a:r>
            <a:r>
              <a:rPr lang="en-US" altLang="ja-JP" sz="1050" b="1" dirty="0">
                <a:solidFill>
                  <a:srgbClr val="FF0000"/>
                </a:solidFill>
                <a:latin typeface="メイリオ" panose="020B0604030504040204" pitchFamily="50" charset="-128"/>
                <a:ea typeface="メイリオ" panose="020B0604030504040204" pitchFamily="50" charset="-128"/>
              </a:rPr>
              <a:t>/ </a:t>
            </a:r>
            <a:r>
              <a:rPr lang="ja-JP" altLang="en-US" sz="1050" b="1" dirty="0">
                <a:solidFill>
                  <a:srgbClr val="FF0000"/>
                </a:solidFill>
                <a:latin typeface="メイリオ" panose="020B0604030504040204" pitchFamily="50" charset="-128"/>
                <a:ea typeface="メイリオ" panose="020B0604030504040204" pitchFamily="50" charset="-128"/>
              </a:rPr>
              <a:t>定例会：</a:t>
            </a:r>
            <a:r>
              <a:rPr lang="en-US" altLang="ja-JP" sz="1050" b="1" dirty="0">
                <a:solidFill>
                  <a:srgbClr val="FF0000"/>
                </a:solidFill>
                <a:latin typeface="メイリオ" panose="020B0604030504040204" pitchFamily="50" charset="-128"/>
                <a:ea typeface="メイリオ" panose="020B0604030504040204" pitchFamily="50" charset="-128"/>
              </a:rPr>
              <a:t>1</a:t>
            </a:r>
            <a:r>
              <a:rPr lang="ja-JP" altLang="en-US" sz="1050" b="1" dirty="0">
                <a:solidFill>
                  <a:srgbClr val="FF0000"/>
                </a:solidFill>
                <a:latin typeface="メイリオ" panose="020B0604030504040204" pitchFamily="50" charset="-128"/>
                <a:ea typeface="メイリオ" panose="020B0604030504040204" pitchFamily="50" charset="-128"/>
              </a:rPr>
              <a:t>か月に</a:t>
            </a:r>
            <a:r>
              <a:rPr lang="en-US" altLang="ja-JP" sz="1050" b="1" dirty="0">
                <a:solidFill>
                  <a:srgbClr val="FF0000"/>
                </a:solidFill>
                <a:latin typeface="メイリオ" panose="020B0604030504040204" pitchFamily="50" charset="-128"/>
                <a:ea typeface="メイリオ" panose="020B0604030504040204" pitchFamily="50" charset="-128"/>
              </a:rPr>
              <a:t>1</a:t>
            </a:r>
            <a:r>
              <a:rPr lang="ja-JP" altLang="en-US" sz="1050" b="1" dirty="0">
                <a:solidFill>
                  <a:srgbClr val="FF0000"/>
                </a:solidFill>
                <a:latin typeface="メイリオ" panose="020B0604030504040204" pitchFamily="50" charset="-128"/>
                <a:ea typeface="メイリオ" panose="020B0604030504040204" pitchFamily="50" charset="-128"/>
              </a:rPr>
              <a:t>回。</a:t>
            </a:r>
            <a:endParaRPr lang="en-US" altLang="ja-JP" sz="1050" b="1" dirty="0">
              <a:solidFill>
                <a:srgbClr val="FF0000"/>
              </a:solidFill>
              <a:latin typeface="メイリオ" panose="020B0604030504040204" pitchFamily="50" charset="-128"/>
              <a:ea typeface="メイリオ" panose="020B0604030504040204" pitchFamily="50" charset="-128"/>
            </a:endParaRPr>
          </a:p>
        </p:txBody>
      </p:sp>
      <p:sp>
        <p:nvSpPr>
          <p:cNvPr id="19" name="正方形/長方形 18">
            <a:extLst>
              <a:ext uri="{FF2B5EF4-FFF2-40B4-BE49-F238E27FC236}">
                <a16:creationId xmlns:a16="http://schemas.microsoft.com/office/drawing/2014/main" id="{AD5DC77C-BB7C-1DC7-BA4A-AF3ECCC137A1}"/>
              </a:ext>
            </a:extLst>
          </p:cNvPr>
          <p:cNvSpPr/>
          <p:nvPr/>
        </p:nvSpPr>
        <p:spPr>
          <a:xfrm>
            <a:off x="548881" y="1405687"/>
            <a:ext cx="8859613" cy="2061098"/>
          </a:xfrm>
          <a:prstGeom prst="rect">
            <a:avLst/>
          </a:prstGeom>
          <a:noFill/>
          <a:ln w="9525">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05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8" name="正方形/長方形 7">
            <a:extLst>
              <a:ext uri="{FF2B5EF4-FFF2-40B4-BE49-F238E27FC236}">
                <a16:creationId xmlns:a16="http://schemas.microsoft.com/office/drawing/2014/main" id="{CD3409E3-7B2F-6541-B533-69689AE3B73B}"/>
              </a:ext>
            </a:extLst>
          </p:cNvPr>
          <p:cNvSpPr/>
          <p:nvPr/>
        </p:nvSpPr>
        <p:spPr>
          <a:xfrm>
            <a:off x="3996942" y="122215"/>
            <a:ext cx="2083719" cy="320757"/>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rPr>
              <a:t>DYM</a:t>
            </a:r>
            <a:r>
              <a:rPr kumimoji="1" lang="ja-JP" altLang="en-US" sz="1400" dirty="0">
                <a:latin typeface="メイリオ" panose="020B0604030504040204" pitchFamily="50" charset="-128"/>
                <a:ea typeface="メイリオ" panose="020B0604030504040204" pitchFamily="50" charset="-128"/>
              </a:rPr>
              <a:t>プラン</a:t>
            </a:r>
          </a:p>
        </p:txBody>
      </p:sp>
    </p:spTree>
    <p:extLst>
      <p:ext uri="{BB962C8B-B14F-4D97-AF65-F5344CB8AC3E}">
        <p14:creationId xmlns:p14="http://schemas.microsoft.com/office/powerpoint/2010/main" val="1554308634"/>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F76251-095F-A186-E17A-8A0E4C5D95A8}"/>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A67513FB-FEEF-76F5-5394-A1A2495F0489}"/>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弊社からご提供できる運用プラン</a:t>
            </a:r>
          </a:p>
        </p:txBody>
      </p:sp>
      <p:sp>
        <p:nvSpPr>
          <p:cNvPr id="9" name="正方形/長方形 8">
            <a:extLst>
              <a:ext uri="{FF2B5EF4-FFF2-40B4-BE49-F238E27FC236}">
                <a16:creationId xmlns:a16="http://schemas.microsoft.com/office/drawing/2014/main" id="{5CF6CD71-4C48-796A-BD54-E778269A9308}"/>
              </a:ext>
            </a:extLst>
          </p:cNvPr>
          <p:cNvSpPr/>
          <p:nvPr/>
        </p:nvSpPr>
        <p:spPr>
          <a:xfrm>
            <a:off x="0" y="777240"/>
            <a:ext cx="2914650"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dirty="0">
                <a:latin typeface="メイリオ" panose="020B0604030504040204" pitchFamily="50" charset="-128"/>
                <a:ea typeface="メイリオ" panose="020B0604030504040204" pitchFamily="50" charset="-128"/>
              </a:rPr>
              <a:t>成果報酬型プラン</a:t>
            </a:r>
            <a:endParaRPr kumimoji="1" lang="ja-JP" altLang="en-US" sz="1400" dirty="0">
              <a:latin typeface="メイリオ" panose="020B0604030504040204" pitchFamily="50" charset="-128"/>
              <a:ea typeface="メイリオ" panose="020B0604030504040204" pitchFamily="50" charset="-128"/>
            </a:endParaRPr>
          </a:p>
        </p:txBody>
      </p:sp>
      <p:sp>
        <p:nvSpPr>
          <p:cNvPr id="5" name="Google Shape;752;p28">
            <a:extLst>
              <a:ext uri="{FF2B5EF4-FFF2-40B4-BE49-F238E27FC236}">
                <a16:creationId xmlns:a16="http://schemas.microsoft.com/office/drawing/2014/main" id="{6C35AEF3-D15B-5805-4919-629E6F4207CC}"/>
              </a:ext>
            </a:extLst>
          </p:cNvPr>
          <p:cNvSpPr txBox="1"/>
          <p:nvPr/>
        </p:nvSpPr>
        <p:spPr>
          <a:xfrm>
            <a:off x="2914650" y="859443"/>
            <a:ext cx="6619875" cy="338514"/>
          </a:xfrm>
          <a:prstGeom prst="rect">
            <a:avLst/>
          </a:prstGeom>
          <a:noFill/>
          <a:ln>
            <a:noFill/>
          </a:ln>
        </p:spPr>
        <p:txBody>
          <a:bodyPr spcFirstLastPara="1" wrap="square" lIns="91425" tIns="45700" rIns="91425" bIns="45700" anchor="ctr" anchorCtr="0">
            <a:spAutoFit/>
          </a:bodyPr>
          <a:lstStyle/>
          <a:p>
            <a:r>
              <a:rPr lang="ja-JP" altLang="en-US" sz="1600" b="1" dirty="0">
                <a:latin typeface="メイリオ" panose="020B0604030504040204" pitchFamily="50" charset="-128"/>
                <a:ea typeface="メイリオ" panose="020B0604030504040204" pitchFamily="50" charset="-128"/>
                <a:cs typeface="Meiryo"/>
                <a:sym typeface="Meiryo"/>
              </a:rPr>
              <a:t>施策成果件数に伴う費用発生でリスクを抑えた運用スタートを実現。</a:t>
            </a:r>
          </a:p>
        </p:txBody>
      </p:sp>
      <p:sp>
        <p:nvSpPr>
          <p:cNvPr id="8" name="正方形/長方形 7">
            <a:extLst>
              <a:ext uri="{FF2B5EF4-FFF2-40B4-BE49-F238E27FC236}">
                <a16:creationId xmlns:a16="http://schemas.microsoft.com/office/drawing/2014/main" id="{FFB1B171-05E1-F3C6-1EBE-EBC6AA97A939}"/>
              </a:ext>
            </a:extLst>
          </p:cNvPr>
          <p:cNvSpPr/>
          <p:nvPr/>
        </p:nvSpPr>
        <p:spPr>
          <a:xfrm>
            <a:off x="548883" y="3587932"/>
            <a:ext cx="8859613" cy="2882538"/>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05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10" name="テキスト ボックス 9">
            <a:extLst>
              <a:ext uri="{FF2B5EF4-FFF2-40B4-BE49-F238E27FC236}">
                <a16:creationId xmlns:a16="http://schemas.microsoft.com/office/drawing/2014/main" id="{92DE66FC-7E13-76D6-A2AE-003C514A6B15}"/>
              </a:ext>
            </a:extLst>
          </p:cNvPr>
          <p:cNvSpPr txBox="1"/>
          <p:nvPr/>
        </p:nvSpPr>
        <p:spPr>
          <a:xfrm>
            <a:off x="706726" y="3644690"/>
            <a:ext cx="4963884" cy="261610"/>
          </a:xfrm>
          <a:prstGeom prst="rect">
            <a:avLst/>
          </a:prstGeom>
          <a:noFill/>
        </p:spPr>
        <p:txBody>
          <a:bodyPr wrap="square">
            <a:spAutoFit/>
          </a:bodyPr>
          <a:lstStyle/>
          <a:p>
            <a:r>
              <a:rPr lang="en-US" altLang="ja-JP" sz="1050" dirty="0">
                <a:solidFill>
                  <a:schemeClr val="tx1">
                    <a:lumMod val="65000"/>
                    <a:lumOff val="35000"/>
                  </a:schemeClr>
                </a:solidFill>
                <a:latin typeface="メイリオ" panose="020B0604030504040204" pitchFamily="50" charset="-128"/>
                <a:ea typeface="メイリオ" panose="020B0604030504040204" pitchFamily="50" charset="-128"/>
                <a:sym typeface="Meiryo"/>
              </a:rPr>
              <a:t>&lt;</a:t>
            </a:r>
            <a:r>
              <a:rPr lang="ja-JP" altLang="en-US" sz="1050" dirty="0">
                <a:solidFill>
                  <a:schemeClr val="tx1">
                    <a:lumMod val="65000"/>
                    <a:lumOff val="35000"/>
                  </a:schemeClr>
                </a:solidFill>
                <a:latin typeface="メイリオ" panose="020B0604030504040204" pitchFamily="50" charset="-128"/>
                <a:ea typeface="メイリオ" panose="020B0604030504040204" pitchFamily="50" charset="-128"/>
                <a:sym typeface="Meiryo"/>
              </a:rPr>
              <a:t>追加作業における費用感</a:t>
            </a:r>
            <a:r>
              <a:rPr lang="en-US" altLang="ja-JP" sz="1050" dirty="0">
                <a:solidFill>
                  <a:schemeClr val="tx1">
                    <a:lumMod val="65000"/>
                    <a:lumOff val="35000"/>
                  </a:schemeClr>
                </a:solidFill>
                <a:latin typeface="メイリオ" panose="020B0604030504040204" pitchFamily="50" charset="-128"/>
                <a:ea typeface="メイリオ" panose="020B0604030504040204" pitchFamily="50" charset="-128"/>
                <a:sym typeface="Meiryo"/>
              </a:rPr>
              <a:t>&gt;</a:t>
            </a:r>
            <a:endParaRPr lang="ja-JP" altLang="en-US" sz="1050" dirty="0">
              <a:solidFill>
                <a:schemeClr val="tx1">
                  <a:lumMod val="65000"/>
                  <a:lumOff val="35000"/>
                </a:schemeClr>
              </a:solidFill>
            </a:endParaRPr>
          </a:p>
        </p:txBody>
      </p:sp>
      <p:graphicFrame>
        <p:nvGraphicFramePr>
          <p:cNvPr id="11" name="表 10">
            <a:extLst>
              <a:ext uri="{FF2B5EF4-FFF2-40B4-BE49-F238E27FC236}">
                <a16:creationId xmlns:a16="http://schemas.microsoft.com/office/drawing/2014/main" id="{AB699F68-6D67-CD60-1CF9-54BD45B04FBA}"/>
              </a:ext>
            </a:extLst>
          </p:cNvPr>
          <p:cNvGraphicFramePr>
            <a:graphicFrameLocks noGrp="1"/>
          </p:cNvGraphicFramePr>
          <p:nvPr/>
        </p:nvGraphicFramePr>
        <p:xfrm>
          <a:off x="706726" y="3963057"/>
          <a:ext cx="8543925" cy="2454494"/>
        </p:xfrm>
        <a:graphic>
          <a:graphicData uri="http://schemas.openxmlformats.org/drawingml/2006/table">
            <a:tbl>
              <a:tblPr/>
              <a:tblGrid>
                <a:gridCol w="1832575">
                  <a:extLst>
                    <a:ext uri="{9D8B030D-6E8A-4147-A177-3AD203B41FA5}">
                      <a16:colId xmlns:a16="http://schemas.microsoft.com/office/drawing/2014/main" val="861741390"/>
                    </a:ext>
                  </a:extLst>
                </a:gridCol>
                <a:gridCol w="1140808">
                  <a:extLst>
                    <a:ext uri="{9D8B030D-6E8A-4147-A177-3AD203B41FA5}">
                      <a16:colId xmlns:a16="http://schemas.microsoft.com/office/drawing/2014/main" val="2023292695"/>
                    </a:ext>
                  </a:extLst>
                </a:gridCol>
                <a:gridCol w="1140808">
                  <a:extLst>
                    <a:ext uri="{9D8B030D-6E8A-4147-A177-3AD203B41FA5}">
                      <a16:colId xmlns:a16="http://schemas.microsoft.com/office/drawing/2014/main" val="3807194112"/>
                    </a:ext>
                  </a:extLst>
                </a:gridCol>
                <a:gridCol w="315543">
                  <a:extLst>
                    <a:ext uri="{9D8B030D-6E8A-4147-A177-3AD203B41FA5}">
                      <a16:colId xmlns:a16="http://schemas.microsoft.com/office/drawing/2014/main" val="1897046241"/>
                    </a:ext>
                  </a:extLst>
                </a:gridCol>
                <a:gridCol w="1832575">
                  <a:extLst>
                    <a:ext uri="{9D8B030D-6E8A-4147-A177-3AD203B41FA5}">
                      <a16:colId xmlns:a16="http://schemas.microsoft.com/office/drawing/2014/main" val="286895173"/>
                    </a:ext>
                  </a:extLst>
                </a:gridCol>
                <a:gridCol w="1140808">
                  <a:extLst>
                    <a:ext uri="{9D8B030D-6E8A-4147-A177-3AD203B41FA5}">
                      <a16:colId xmlns:a16="http://schemas.microsoft.com/office/drawing/2014/main" val="241768133"/>
                    </a:ext>
                  </a:extLst>
                </a:gridCol>
                <a:gridCol w="1140808">
                  <a:extLst>
                    <a:ext uri="{9D8B030D-6E8A-4147-A177-3AD203B41FA5}">
                      <a16:colId xmlns:a16="http://schemas.microsoft.com/office/drawing/2014/main" val="3498780203"/>
                    </a:ext>
                  </a:extLst>
                </a:gridCol>
              </a:tblGrid>
              <a:tr h="175321">
                <a:tc>
                  <a:txBody>
                    <a:bodyPr/>
                    <a:lstStyle/>
                    <a:p>
                      <a:pPr algn="ctr" fontAlgn="ctr">
                        <a:buNone/>
                      </a:pPr>
                      <a:r>
                        <a:rPr lang="ja-JP" altLang="en-US" sz="800" b="1" i="0" u="none" strike="noStrike" dirty="0">
                          <a:solidFill>
                            <a:srgbClr val="FFFFFF"/>
                          </a:solidFill>
                          <a:effectLst/>
                          <a:latin typeface="メイリオ" panose="020B0604030504040204" pitchFamily="50" charset="-128"/>
                          <a:ea typeface="メイリオ" panose="020B0604030504040204" pitchFamily="50" charset="-128"/>
                        </a:rPr>
                        <a:t>対応項目</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tc>
                  <a:txBody>
                    <a:bodyPr/>
                    <a:lstStyle/>
                    <a:p>
                      <a:pPr algn="ctr" fontAlgn="ctr">
                        <a:buNone/>
                      </a:pPr>
                      <a:r>
                        <a:rPr lang="ja-JP" altLang="en-US" sz="800" b="1" i="0" u="none" strike="noStrike">
                          <a:solidFill>
                            <a:srgbClr val="FFFFFF"/>
                          </a:solidFill>
                          <a:effectLst/>
                          <a:latin typeface="メイリオ" panose="020B0604030504040204" pitchFamily="50" charset="-128"/>
                          <a:ea typeface="メイリオ" panose="020B0604030504040204" pitchFamily="50" charset="-128"/>
                        </a:rPr>
                        <a:t>初期</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tc>
                  <a:txBody>
                    <a:bodyPr/>
                    <a:lstStyle/>
                    <a:p>
                      <a:pPr algn="ctr" fontAlgn="ctr">
                        <a:buNone/>
                      </a:pPr>
                      <a:r>
                        <a:rPr lang="ja-JP" altLang="en-US" sz="800" b="1" i="0" u="none" strike="noStrike">
                          <a:solidFill>
                            <a:srgbClr val="FFFFFF"/>
                          </a:solidFill>
                          <a:effectLst/>
                          <a:latin typeface="メイリオ" panose="020B0604030504040204" pitchFamily="50" charset="-128"/>
                          <a:ea typeface="メイリオ" panose="020B0604030504040204" pitchFamily="50" charset="-128"/>
                        </a:rPr>
                        <a:t>月額</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tc>
                  <a:txBody>
                    <a:bodyPr/>
                    <a:lstStyle/>
                    <a:p>
                      <a:pPr algn="l" fontAlgn="ctr">
                        <a:buNone/>
                      </a:pPr>
                      <a:endParaRPr lang="ja-JP" altLang="en-US" sz="800" b="1"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800" b="1" i="0" u="none" strike="noStrike">
                          <a:solidFill>
                            <a:srgbClr val="FFFFFF"/>
                          </a:solidFill>
                          <a:effectLst/>
                          <a:latin typeface="メイリオ" panose="020B0604030504040204" pitchFamily="50" charset="-128"/>
                          <a:ea typeface="メイリオ" panose="020B0604030504040204" pitchFamily="50" charset="-128"/>
                        </a:rPr>
                        <a:t>対応項目</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tc>
                  <a:txBody>
                    <a:bodyPr/>
                    <a:lstStyle/>
                    <a:p>
                      <a:pPr algn="ctr" fontAlgn="ctr">
                        <a:buNone/>
                      </a:pPr>
                      <a:r>
                        <a:rPr lang="ja-JP" altLang="en-US" sz="800" b="1" i="0" u="none" strike="noStrike">
                          <a:solidFill>
                            <a:srgbClr val="FFFFFF"/>
                          </a:solidFill>
                          <a:effectLst/>
                          <a:latin typeface="メイリオ" panose="020B0604030504040204" pitchFamily="50" charset="-128"/>
                          <a:ea typeface="メイリオ" panose="020B0604030504040204" pitchFamily="50" charset="-128"/>
                        </a:rPr>
                        <a:t>初期</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tc>
                  <a:txBody>
                    <a:bodyPr/>
                    <a:lstStyle/>
                    <a:p>
                      <a:pPr algn="ctr" fontAlgn="ctr">
                        <a:buNone/>
                      </a:pPr>
                      <a:r>
                        <a:rPr lang="ja-JP" altLang="en-US" sz="800" b="1" i="0" u="none" strike="noStrike" dirty="0">
                          <a:solidFill>
                            <a:srgbClr val="FFFFFF"/>
                          </a:solidFill>
                          <a:effectLst/>
                          <a:latin typeface="メイリオ" panose="020B0604030504040204" pitchFamily="50" charset="-128"/>
                          <a:ea typeface="メイリオ" panose="020B0604030504040204" pitchFamily="50" charset="-128"/>
                        </a:rPr>
                        <a:t>月額</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extLst>
                  <a:ext uri="{0D108BD9-81ED-4DB2-BD59-A6C34878D82A}">
                    <a16:rowId xmlns:a16="http://schemas.microsoft.com/office/drawing/2014/main" val="1564040789"/>
                  </a:ext>
                </a:extLst>
              </a:tr>
              <a:tr h="175321">
                <a:tc>
                  <a:txBody>
                    <a:bodyPr/>
                    <a:lstStyle/>
                    <a:p>
                      <a:pPr algn="ctr" fontAlgn="ctr">
                        <a:buNone/>
                      </a:pPr>
                      <a:r>
                        <a:rPr lang="ja-JP" altLang="en-US" sz="800" b="0" i="0" u="none" strike="noStrike" dirty="0">
                          <a:solidFill>
                            <a:srgbClr val="000000"/>
                          </a:solidFill>
                          <a:effectLst/>
                          <a:highlight>
                            <a:srgbClr val="FFFF00"/>
                          </a:highlight>
                          <a:latin typeface="メイリオ" panose="020B0604030504040204" pitchFamily="50" charset="-128"/>
                          <a:ea typeface="メイリオ" panose="020B0604030504040204" pitchFamily="50" charset="-128"/>
                        </a:rPr>
                        <a:t>アカウント開設</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dirty="0">
                          <a:solidFill>
                            <a:srgbClr val="000000"/>
                          </a:solidFill>
                          <a:effectLst/>
                          <a:latin typeface="メイリオ" panose="020B0604030504040204" pitchFamily="50" charset="-128"/>
                          <a:ea typeface="メイリオ" panose="020B0604030504040204" pitchFamily="50" charset="-128"/>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endParaRPr lang="ja-JP" altLang="en-US" sz="8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800" b="0" i="0" u="none" strike="noStrike" dirty="0">
                          <a:solidFill>
                            <a:srgbClr val="000000"/>
                          </a:solidFill>
                          <a:effectLst/>
                          <a:highlight>
                            <a:srgbClr val="FFFF00"/>
                          </a:highlight>
                          <a:latin typeface="メイリオ" panose="020B0604030504040204" pitchFamily="50" charset="-128"/>
                          <a:ea typeface="メイリオ" panose="020B0604030504040204" pitchFamily="50" charset="-128"/>
                        </a:rPr>
                        <a:t>API</a:t>
                      </a:r>
                      <a:r>
                        <a:rPr lang="ja-JP" altLang="en-US" sz="800" b="0" i="0" u="none" strike="noStrike" dirty="0">
                          <a:solidFill>
                            <a:srgbClr val="000000"/>
                          </a:solidFill>
                          <a:effectLst/>
                          <a:highlight>
                            <a:srgbClr val="FFFF00"/>
                          </a:highlight>
                          <a:latin typeface="メイリオ" panose="020B0604030504040204" pitchFamily="50" charset="-128"/>
                          <a:ea typeface="メイリオ" panose="020B0604030504040204" pitchFamily="50" charset="-128"/>
                        </a:rPr>
                        <a:t>ツール導入</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¥50,000~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¥50,000~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420324702"/>
                  </a:ext>
                </a:extLst>
              </a:tr>
              <a:tr h="175321">
                <a:tc>
                  <a:txBody>
                    <a:bodyPr/>
                    <a:lstStyle/>
                    <a:p>
                      <a:pPr algn="ctr" fontAlgn="ctr">
                        <a:buNone/>
                      </a:pPr>
                      <a:r>
                        <a:rPr lang="ja-JP" altLang="en-US" sz="800" b="0" i="0" u="none" strike="noStrike">
                          <a:solidFill>
                            <a:srgbClr val="000000"/>
                          </a:solidFill>
                          <a:effectLst/>
                          <a:highlight>
                            <a:srgbClr val="FFFF00"/>
                          </a:highlight>
                          <a:latin typeface="メイリオ" panose="020B0604030504040204" pitchFamily="50" charset="-128"/>
                          <a:ea typeface="メイリオ" panose="020B0604030504040204" pitchFamily="50" charset="-128"/>
                        </a:rPr>
                        <a:t>プロフィール</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endParaRPr lang="ja-JP" altLang="en-US" sz="8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800" b="0" i="0" u="none" strike="noStrike">
                          <a:solidFill>
                            <a:srgbClr val="000000"/>
                          </a:solidFill>
                          <a:effectLst/>
                          <a:latin typeface="メイリオ" panose="020B0604030504040204" pitchFamily="50" charset="-128"/>
                          <a:ea typeface="メイリオ" panose="020B0604030504040204" pitchFamily="50" charset="-128"/>
                        </a:rPr>
                        <a:t>ID</a:t>
                      </a:r>
                      <a:r>
                        <a:rPr lang="ja-JP" altLang="en-US" sz="800" b="0" i="0" u="none" strike="noStrike">
                          <a:solidFill>
                            <a:srgbClr val="000000"/>
                          </a:solidFill>
                          <a:effectLst/>
                          <a:latin typeface="メイリオ" panose="020B0604030504040204" pitchFamily="50" charset="-128"/>
                          <a:ea typeface="メイリオ" panose="020B0604030504040204" pitchFamily="50" charset="-128"/>
                        </a:rPr>
                        <a:t>連携</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dirty="0">
                          <a:solidFill>
                            <a:schemeClr val="bg1">
                              <a:lumMod val="75000"/>
                            </a:schemeClr>
                          </a:solidFill>
                          <a:effectLst/>
                          <a:latin typeface="メイリオ" panose="020B0604030504040204" pitchFamily="50" charset="-128"/>
                          <a:ea typeface="メイリオ" panose="020B0604030504040204" pitchFamily="50" charset="-128"/>
                        </a:rPr>
                        <a:t>¥200,000~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dirty="0">
                          <a:solidFill>
                            <a:schemeClr val="bg1">
                              <a:lumMod val="75000"/>
                            </a:schemeClr>
                          </a:solidFill>
                          <a:effectLst/>
                          <a:latin typeface="メイリオ" panose="020B0604030504040204" pitchFamily="50" charset="-128"/>
                          <a:ea typeface="メイリオ" panose="020B0604030504040204" pitchFamily="50" charset="-128"/>
                        </a:rPr>
                        <a:t>¥50,000~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272466269"/>
                  </a:ext>
                </a:extLst>
              </a:tr>
              <a:tr h="175321">
                <a:tc>
                  <a:txBody>
                    <a:bodyPr/>
                    <a:lstStyle/>
                    <a:p>
                      <a:pPr algn="ctr" fontAlgn="ctr">
                        <a:buNone/>
                      </a:pPr>
                      <a:r>
                        <a:rPr lang="ja-JP" altLang="en-US" sz="800" b="0" i="0" u="none" strike="noStrike" dirty="0">
                          <a:solidFill>
                            <a:srgbClr val="000000"/>
                          </a:solidFill>
                          <a:effectLst/>
                          <a:highlight>
                            <a:srgbClr val="FFFF00"/>
                          </a:highlight>
                          <a:latin typeface="メイリオ" panose="020B0604030504040204" pitchFamily="50" charset="-128"/>
                          <a:ea typeface="メイリオ" panose="020B0604030504040204" pitchFamily="50" charset="-128"/>
                        </a:rPr>
                        <a:t>リッチメニュー</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endParaRPr lang="ja-JP" altLang="en-US" sz="8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800" b="0" i="0" u="none" strike="noStrike">
                          <a:solidFill>
                            <a:srgbClr val="000000"/>
                          </a:solidFill>
                          <a:effectLst/>
                          <a:latin typeface="メイリオ" panose="020B0604030504040204" pitchFamily="50" charset="-128"/>
                          <a:ea typeface="メイリオ" panose="020B0604030504040204" pitchFamily="50" charset="-128"/>
                        </a:rPr>
                        <a:t>LINE</a:t>
                      </a:r>
                      <a:r>
                        <a:rPr lang="ja-JP" altLang="en-US" sz="800" b="0" i="0" u="none" strike="noStrike">
                          <a:solidFill>
                            <a:srgbClr val="000000"/>
                          </a:solidFill>
                          <a:effectLst/>
                          <a:latin typeface="メイリオ" panose="020B0604030504040204" pitchFamily="50" charset="-128"/>
                          <a:ea typeface="メイリオ" panose="020B0604030504040204" pitchFamily="50" charset="-128"/>
                        </a:rPr>
                        <a:t>ログイン</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chemeClr val="bg1">
                              <a:lumMod val="75000"/>
                            </a:schemeClr>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dirty="0">
                          <a:solidFill>
                            <a:schemeClr val="bg1">
                              <a:lumMod val="75000"/>
                            </a:schemeClr>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843180495"/>
                  </a:ext>
                </a:extLst>
              </a:tr>
              <a:tr h="175321">
                <a:tc>
                  <a:txBody>
                    <a:bodyPr/>
                    <a:lstStyle/>
                    <a:p>
                      <a:pPr algn="ctr" fontAlgn="ctr">
                        <a:buNone/>
                      </a:pPr>
                      <a:r>
                        <a:rPr lang="ja-JP" altLang="en-US" sz="800" b="0" i="0" u="none" strike="noStrike">
                          <a:solidFill>
                            <a:srgbClr val="000000"/>
                          </a:solidFill>
                          <a:effectLst/>
                          <a:highlight>
                            <a:srgbClr val="FFFF00"/>
                          </a:highlight>
                          <a:latin typeface="メイリオ" panose="020B0604030504040204" pitchFamily="50" charset="-128"/>
                          <a:ea typeface="メイリオ" panose="020B0604030504040204" pitchFamily="50" charset="-128"/>
                        </a:rPr>
                        <a:t>あいさつメッセージ</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endParaRPr lang="ja-JP" altLang="en-US" sz="8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800" b="0" i="0" u="none" strike="noStrike">
                          <a:solidFill>
                            <a:srgbClr val="000000"/>
                          </a:solidFill>
                          <a:effectLst/>
                          <a:latin typeface="メイリオ" panose="020B0604030504040204" pitchFamily="50" charset="-128"/>
                          <a:ea typeface="メイリオ" panose="020B0604030504040204" pitchFamily="50" charset="-128"/>
                        </a:rPr>
                        <a:t>通知メッセージ</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dirty="0">
                          <a:solidFill>
                            <a:schemeClr val="bg1">
                              <a:lumMod val="75000"/>
                            </a:schemeClr>
                          </a:solidFill>
                          <a:effectLst/>
                          <a:latin typeface="メイリオ" panose="020B0604030504040204" pitchFamily="50" charset="-128"/>
                          <a:ea typeface="メイリオ" panose="020B0604030504040204" pitchFamily="50" charset="-128"/>
                        </a:rPr>
                        <a:t>¥200,000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dirty="0">
                          <a:solidFill>
                            <a:schemeClr val="bg1">
                              <a:lumMod val="75000"/>
                            </a:schemeClr>
                          </a:solidFill>
                          <a:effectLst/>
                          <a:latin typeface="メイリオ" panose="020B0604030504040204" pitchFamily="50" charset="-128"/>
                          <a:ea typeface="メイリオ" panose="020B0604030504040204" pitchFamily="50" charset="-128"/>
                        </a:rPr>
                        <a:t>¥600,000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295619942"/>
                  </a:ext>
                </a:extLst>
              </a:tr>
              <a:tr h="175321">
                <a:tc>
                  <a:txBody>
                    <a:bodyPr/>
                    <a:lstStyle/>
                    <a:p>
                      <a:pPr algn="ctr" fontAlgn="ctr">
                        <a:buNone/>
                      </a:pPr>
                      <a:r>
                        <a:rPr lang="ja-JP" altLang="en-US" sz="800" b="0" i="0" u="none" strike="noStrike" dirty="0">
                          <a:solidFill>
                            <a:srgbClr val="000000"/>
                          </a:solidFill>
                          <a:effectLst/>
                          <a:highlight>
                            <a:srgbClr val="FFFF00"/>
                          </a:highlight>
                          <a:latin typeface="メイリオ" panose="020B0604030504040204" pitchFamily="50" charset="-128"/>
                          <a:ea typeface="メイリオ" panose="020B0604030504040204" pitchFamily="50" charset="-128"/>
                        </a:rPr>
                        <a:t>初期アンケート</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endParaRPr lang="ja-JP" altLang="en-US" sz="8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800" b="0" i="0" u="none" strike="noStrike">
                          <a:solidFill>
                            <a:srgbClr val="000000"/>
                          </a:solidFill>
                          <a:effectLst/>
                          <a:latin typeface="メイリオ" panose="020B0604030504040204" pitchFamily="50" charset="-128"/>
                          <a:ea typeface="メイリオ" panose="020B0604030504040204" pitchFamily="50" charset="-128"/>
                        </a:rPr>
                        <a:t>チャットボット機能</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chemeClr val="bg1">
                              <a:lumMod val="75000"/>
                            </a:schemeClr>
                          </a:solidFill>
                          <a:effectLst/>
                          <a:latin typeface="メイリオ" panose="020B0604030504040204" pitchFamily="50" charset="-128"/>
                          <a:ea typeface="メイリオ" panose="020B0604030504040204" pitchFamily="50" charset="-128"/>
                        </a:rPr>
                        <a:t>¥50,000~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chemeClr val="bg1">
                              <a:lumMod val="75000"/>
                            </a:schemeClr>
                          </a:solidFill>
                          <a:effectLst/>
                          <a:latin typeface="メイリオ" panose="020B0604030504040204" pitchFamily="50" charset="-128"/>
                          <a:ea typeface="メイリオ" panose="020B0604030504040204" pitchFamily="50" charset="-128"/>
                        </a:rPr>
                        <a:t>¥50,000~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498230469"/>
                  </a:ext>
                </a:extLst>
              </a:tr>
              <a:tr h="175321">
                <a:tc>
                  <a:txBody>
                    <a:bodyPr/>
                    <a:lstStyle/>
                    <a:p>
                      <a:pPr algn="ctr" fontAlgn="ctr">
                        <a:buNone/>
                      </a:pPr>
                      <a:r>
                        <a:rPr lang="en-US" sz="800" b="0" i="0" u="none" strike="noStrike" dirty="0">
                          <a:solidFill>
                            <a:srgbClr val="000000"/>
                          </a:solidFill>
                          <a:effectLst/>
                          <a:highlight>
                            <a:srgbClr val="FFFF00"/>
                          </a:highlight>
                          <a:latin typeface="メイリオ" panose="020B0604030504040204" pitchFamily="50" charset="-128"/>
                          <a:ea typeface="メイリオ" panose="020B0604030504040204" pitchFamily="50" charset="-128"/>
                        </a:rPr>
                        <a:t>KW</a:t>
                      </a:r>
                      <a:r>
                        <a:rPr lang="ja-JP" altLang="en-US" sz="800" b="0" i="0" u="none" strike="noStrike" dirty="0">
                          <a:solidFill>
                            <a:srgbClr val="000000"/>
                          </a:solidFill>
                          <a:effectLst/>
                          <a:highlight>
                            <a:srgbClr val="FFFF00"/>
                          </a:highlight>
                          <a:latin typeface="メイリオ" panose="020B0604030504040204" pitchFamily="50" charset="-128"/>
                          <a:ea typeface="メイリオ" panose="020B0604030504040204" pitchFamily="50" charset="-128"/>
                        </a:rPr>
                        <a:t>の自動応答</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endParaRPr lang="ja-JP" altLang="en-US" sz="8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800" b="0" i="0" u="none" strike="noStrike" dirty="0">
                          <a:solidFill>
                            <a:srgbClr val="000000"/>
                          </a:solidFill>
                          <a:effectLst/>
                          <a:latin typeface="メイリオ" panose="020B0604030504040204" pitchFamily="50" charset="-128"/>
                          <a:ea typeface="メイリオ" panose="020B0604030504040204" pitchFamily="50" charset="-128"/>
                        </a:rPr>
                        <a:t>Chat Plus</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dirty="0">
                          <a:solidFill>
                            <a:schemeClr val="bg1">
                              <a:lumMod val="75000"/>
                            </a:schemeClr>
                          </a:solidFill>
                          <a:effectLst/>
                          <a:latin typeface="メイリオ" panose="020B0604030504040204" pitchFamily="50" charset="-128"/>
                          <a:ea typeface="メイリオ" panose="020B0604030504040204" pitchFamily="50" charset="-128"/>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chemeClr val="bg1">
                              <a:lumMod val="75000"/>
                            </a:schemeClr>
                          </a:solidFill>
                          <a:effectLst/>
                          <a:latin typeface="メイリオ" panose="020B0604030504040204" pitchFamily="50" charset="-128"/>
                          <a:ea typeface="メイリオ" panose="020B0604030504040204" pitchFamily="50" charset="-128"/>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41305542"/>
                  </a:ext>
                </a:extLst>
              </a:tr>
              <a:tr h="175321">
                <a:tc>
                  <a:txBody>
                    <a:bodyPr/>
                    <a:lstStyle/>
                    <a:p>
                      <a:pPr algn="ctr" fontAlgn="ctr">
                        <a:buNone/>
                      </a:pPr>
                      <a:r>
                        <a:rPr lang="ja-JP" altLang="en-US" sz="800" b="0" i="0" u="none" strike="noStrike" dirty="0">
                          <a:solidFill>
                            <a:srgbClr val="000000"/>
                          </a:solidFill>
                          <a:effectLst/>
                          <a:highlight>
                            <a:srgbClr val="FFFF00"/>
                          </a:highlight>
                          <a:latin typeface="メイリオ" panose="020B0604030504040204" pitchFamily="50" charset="-128"/>
                          <a:ea typeface="メイリオ" panose="020B0604030504040204" pitchFamily="50" charset="-128"/>
                        </a:rPr>
                        <a:t>ステップ配信</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endParaRPr lang="ja-JP" altLang="en-US" sz="8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800" b="0" i="0" u="none" strike="noStrike">
                          <a:solidFill>
                            <a:srgbClr val="000000"/>
                          </a:solidFill>
                          <a:effectLst/>
                          <a:latin typeface="メイリオ" panose="020B0604030504040204" pitchFamily="50" charset="-128"/>
                          <a:ea typeface="メイリオ" panose="020B0604030504040204" pitchFamily="50" charset="-128"/>
                        </a:rPr>
                        <a:t>Call Plus</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dirty="0">
                          <a:solidFill>
                            <a:schemeClr val="bg1">
                              <a:lumMod val="75000"/>
                            </a:schemeClr>
                          </a:solidFill>
                          <a:effectLst/>
                          <a:latin typeface="メイリオ" panose="020B0604030504040204" pitchFamily="50" charset="-128"/>
                          <a:ea typeface="メイリオ" panose="020B0604030504040204" pitchFamily="50" charset="-128"/>
                        </a:rPr>
                        <a:t>¥200,000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l-GR" sz="800" b="0" i="0" u="none" strike="noStrike">
                          <a:solidFill>
                            <a:schemeClr val="bg1">
                              <a:lumMod val="75000"/>
                            </a:schemeClr>
                          </a:solidFill>
                          <a:effectLst/>
                          <a:latin typeface="メイリオ" panose="020B0604030504040204" pitchFamily="50" charset="-128"/>
                          <a:ea typeface="メイリオ" panose="020B0604030504040204" pitchFamily="50" charset="-128"/>
                        </a:rPr>
                        <a:t>¥100,000+α</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4011135084"/>
                  </a:ext>
                </a:extLst>
              </a:tr>
              <a:tr h="175321">
                <a:tc>
                  <a:txBody>
                    <a:bodyPr/>
                    <a:lstStyle/>
                    <a:p>
                      <a:pPr algn="ctr" fontAlgn="ctr">
                        <a:buNone/>
                      </a:pPr>
                      <a:r>
                        <a:rPr lang="ja-JP" altLang="en-US" sz="800" b="0" i="0" u="none" strike="noStrike" dirty="0">
                          <a:solidFill>
                            <a:srgbClr val="000000"/>
                          </a:solidFill>
                          <a:effectLst/>
                          <a:highlight>
                            <a:srgbClr val="FFFF00"/>
                          </a:highlight>
                          <a:latin typeface="メイリオ" panose="020B0604030504040204" pitchFamily="50" charset="-128"/>
                          <a:ea typeface="メイリオ" panose="020B0604030504040204" pitchFamily="50" charset="-128"/>
                        </a:rPr>
                        <a:t>セグメント配信</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endParaRPr lang="ja-JP" altLang="en-US" sz="8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800" b="0" i="0" u="none" strike="noStrike">
                          <a:solidFill>
                            <a:srgbClr val="000000"/>
                          </a:solidFill>
                          <a:effectLst/>
                          <a:latin typeface="メイリオ" panose="020B0604030504040204" pitchFamily="50" charset="-128"/>
                          <a:ea typeface="メイリオ" panose="020B0604030504040204" pitchFamily="50" charset="-128"/>
                        </a:rPr>
                        <a:t>LINE</a:t>
                      </a:r>
                      <a:r>
                        <a:rPr lang="ja-JP" altLang="en-US" sz="800" b="0" i="0" u="none" strike="noStrike">
                          <a:solidFill>
                            <a:srgbClr val="000000"/>
                          </a:solidFill>
                          <a:effectLst/>
                          <a:latin typeface="メイリオ" panose="020B0604030504040204" pitchFamily="50" charset="-128"/>
                          <a:ea typeface="メイリオ" panose="020B0604030504040204" pitchFamily="50" charset="-128"/>
                        </a:rPr>
                        <a:t>決済</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chemeClr val="bg1">
                              <a:lumMod val="75000"/>
                            </a:schemeClr>
                          </a:solidFill>
                          <a:effectLst/>
                          <a:latin typeface="メイリオ" panose="020B0604030504040204" pitchFamily="50" charset="-128"/>
                          <a:ea typeface="メイリオ" panose="020B0604030504040204" pitchFamily="50" charset="-128"/>
                        </a:rPr>
                        <a:t>¥50,000~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dirty="0">
                          <a:solidFill>
                            <a:schemeClr val="bg1">
                              <a:lumMod val="75000"/>
                            </a:schemeClr>
                          </a:solidFill>
                          <a:effectLst/>
                          <a:latin typeface="メイリオ" panose="020B0604030504040204" pitchFamily="50" charset="-128"/>
                          <a:ea typeface="メイリオ" panose="020B0604030504040204" pitchFamily="50" charset="-128"/>
                        </a:rPr>
                        <a:t>3,5</a:t>
                      </a:r>
                      <a:r>
                        <a:rPr lang="ja-JP" altLang="en-US" sz="800" b="0" i="0" u="none" strike="noStrike" dirty="0">
                          <a:solidFill>
                            <a:schemeClr val="bg1">
                              <a:lumMod val="75000"/>
                            </a:schemeClr>
                          </a:solidFill>
                          <a:effectLst/>
                          <a:latin typeface="メイリオ" panose="020B0604030504040204" pitchFamily="50" charset="-128"/>
                          <a:ea typeface="メイリオ" panose="020B0604030504040204" pitchFamily="50" charset="-128"/>
                        </a:rPr>
                        <a:t>％</a:t>
                      </a:r>
                      <a:r>
                        <a:rPr lang="en-US" altLang="ja-JP" sz="800" b="0" i="0" u="none" strike="noStrike" dirty="0">
                          <a:solidFill>
                            <a:schemeClr val="bg1">
                              <a:lumMod val="75000"/>
                            </a:schemeClr>
                          </a:solidFill>
                          <a:effectLst/>
                          <a:latin typeface="メイリオ" panose="020B0604030504040204" pitchFamily="50" charset="-128"/>
                          <a:ea typeface="メイリオ" panose="020B0604030504040204" pitchFamily="50" charset="-128"/>
                        </a:rPr>
                        <a:t>~(</a:t>
                      </a:r>
                      <a:r>
                        <a:rPr lang="ja-JP" altLang="en-US" sz="800" b="0" i="0" u="none" strike="noStrike" dirty="0">
                          <a:solidFill>
                            <a:schemeClr val="bg1">
                              <a:lumMod val="75000"/>
                            </a:schemeClr>
                          </a:solidFill>
                          <a:effectLst/>
                          <a:latin typeface="メイリオ" panose="020B0604030504040204" pitchFamily="50" charset="-128"/>
                          <a:ea typeface="メイリオ" panose="020B0604030504040204" pitchFamily="50" charset="-128"/>
                        </a:rPr>
                        <a:t>手数料</a:t>
                      </a:r>
                      <a:r>
                        <a:rPr lang="en-US" altLang="ja-JP" sz="800" b="0" i="0" u="none" strike="noStrike" dirty="0">
                          <a:solidFill>
                            <a:schemeClr val="bg1">
                              <a:lumMod val="75000"/>
                            </a:schemeClr>
                          </a:solidFill>
                          <a:effectLst/>
                          <a:latin typeface="メイリオ" panose="020B0604030504040204" pitchFamily="50" charset="-128"/>
                          <a:ea typeface="メイリオ" panose="020B0604030504040204" pitchFamily="50" charset="-128"/>
                        </a:rPr>
                        <a:t>)</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989714401"/>
                  </a:ext>
                </a:extLst>
              </a:tr>
              <a:tr h="175321">
                <a:tc>
                  <a:txBody>
                    <a:bodyPr/>
                    <a:lstStyle/>
                    <a:p>
                      <a:pPr algn="ctr" fontAlgn="ctr">
                        <a:buNone/>
                      </a:pPr>
                      <a:r>
                        <a:rPr lang="ja-JP" altLang="en-US" sz="800" b="0" i="0" u="none" strike="noStrike" dirty="0">
                          <a:solidFill>
                            <a:srgbClr val="000000"/>
                          </a:solidFill>
                          <a:effectLst/>
                          <a:highlight>
                            <a:srgbClr val="FFFF00"/>
                          </a:highlight>
                          <a:latin typeface="メイリオ" panose="020B0604030504040204" pitchFamily="50" charset="-128"/>
                          <a:ea typeface="メイリオ" panose="020B0604030504040204" pitchFamily="50" charset="-128"/>
                        </a:rPr>
                        <a:t>チャットタグ管理</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endParaRPr lang="ja-JP" altLang="en-US" sz="8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800" b="0" i="0" u="none" strike="noStrike">
                          <a:solidFill>
                            <a:srgbClr val="000000"/>
                          </a:solidFill>
                          <a:effectLst/>
                          <a:latin typeface="メイリオ" panose="020B0604030504040204" pitchFamily="50" charset="-128"/>
                          <a:ea typeface="メイリオ" panose="020B0604030504040204" pitchFamily="50" charset="-128"/>
                        </a:rPr>
                        <a:t>予約管理</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chemeClr val="bg1">
                              <a:lumMod val="75000"/>
                            </a:schemeClr>
                          </a:solidFill>
                          <a:effectLst/>
                          <a:latin typeface="メイリオ" panose="020B0604030504040204" pitchFamily="50" charset="-128"/>
                          <a:ea typeface="メイリオ" panose="020B0604030504040204" pitchFamily="50" charset="-128"/>
                        </a:rPr>
                        <a:t>¥3,000~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dirty="0">
                          <a:solidFill>
                            <a:schemeClr val="bg1">
                              <a:lumMod val="75000"/>
                            </a:schemeClr>
                          </a:solidFill>
                          <a:effectLst/>
                          <a:latin typeface="メイリオ" panose="020B0604030504040204" pitchFamily="50" charset="-128"/>
                          <a:ea typeface="メイリオ" panose="020B0604030504040204" pitchFamily="50" charset="-128"/>
                        </a:rPr>
                        <a:t>¥5,000~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160214931"/>
                  </a:ext>
                </a:extLst>
              </a:tr>
              <a:tr h="175321">
                <a:tc>
                  <a:txBody>
                    <a:bodyPr/>
                    <a:lstStyle/>
                    <a:p>
                      <a:pPr algn="ctr" fontAlgn="ctr">
                        <a:buNone/>
                      </a:pPr>
                      <a:r>
                        <a:rPr lang="ja-JP" altLang="en-US" sz="800" b="0" i="0" u="none" strike="noStrike" dirty="0">
                          <a:solidFill>
                            <a:srgbClr val="000000"/>
                          </a:solidFill>
                          <a:effectLst/>
                          <a:highlight>
                            <a:srgbClr val="F6A454"/>
                          </a:highlight>
                          <a:latin typeface="メイリオ" panose="020B0604030504040204" pitchFamily="50" charset="-128"/>
                          <a:ea typeface="メイリオ" panose="020B0604030504040204" pitchFamily="50" charset="-128"/>
                        </a:rPr>
                        <a:t>チャット対応</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endParaRPr lang="ja-JP" altLang="en-US" sz="8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多店舗管理</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chemeClr val="bg1">
                              <a:lumMod val="75000"/>
                            </a:schemeClr>
                          </a:solidFill>
                          <a:effectLst/>
                          <a:latin typeface="メイリオ" panose="020B0604030504040204" pitchFamily="50" charset="-128"/>
                          <a:ea typeface="メイリオ" panose="020B0604030504040204" pitchFamily="50" charset="-128"/>
                        </a:rPr>
                        <a:t>¥15,000(/</a:t>
                      </a:r>
                      <a:r>
                        <a:rPr lang="ja-JP" altLang="en-US" sz="800" b="0" i="0" u="none" strike="noStrike">
                          <a:solidFill>
                            <a:schemeClr val="bg1">
                              <a:lumMod val="75000"/>
                            </a:schemeClr>
                          </a:solidFill>
                          <a:effectLst/>
                          <a:latin typeface="メイリオ" panose="020B0604030504040204" pitchFamily="50" charset="-128"/>
                          <a:ea typeface="メイリオ" panose="020B0604030504040204" pitchFamily="50" charset="-128"/>
                        </a:rPr>
                        <a:t>店舗</a:t>
                      </a:r>
                      <a:r>
                        <a:rPr lang="en-US" altLang="ja-JP" sz="800" b="0" i="0" u="none" strike="noStrike">
                          <a:solidFill>
                            <a:schemeClr val="bg1">
                              <a:lumMod val="75000"/>
                            </a:schemeClr>
                          </a:solidFill>
                          <a:effectLst/>
                          <a:latin typeface="メイリオ" panose="020B0604030504040204" pitchFamily="50" charset="-128"/>
                          <a:ea typeface="メイリオ" panose="020B0604030504040204" pitchFamily="50" charset="-128"/>
                        </a:rPr>
                        <a:t>)</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dirty="0">
                          <a:solidFill>
                            <a:schemeClr val="bg1">
                              <a:lumMod val="75000"/>
                            </a:schemeClr>
                          </a:solidFill>
                          <a:effectLst/>
                          <a:latin typeface="メイリオ" panose="020B0604030504040204" pitchFamily="50" charset="-128"/>
                          <a:ea typeface="メイリオ" panose="020B0604030504040204" pitchFamily="50" charset="-128"/>
                        </a:rPr>
                        <a:t>¥15,000(/</a:t>
                      </a:r>
                      <a:r>
                        <a:rPr lang="ja-JP" altLang="en-US" sz="800" b="0" i="0" u="none" strike="noStrike" dirty="0">
                          <a:solidFill>
                            <a:schemeClr val="bg1">
                              <a:lumMod val="75000"/>
                            </a:schemeClr>
                          </a:solidFill>
                          <a:effectLst/>
                          <a:latin typeface="メイリオ" panose="020B0604030504040204" pitchFamily="50" charset="-128"/>
                          <a:ea typeface="メイリオ" panose="020B0604030504040204" pitchFamily="50" charset="-128"/>
                        </a:rPr>
                        <a:t>店舗</a:t>
                      </a:r>
                      <a:r>
                        <a:rPr lang="en-US" altLang="ja-JP" sz="800" b="0" i="0" u="none" strike="noStrike" dirty="0">
                          <a:solidFill>
                            <a:schemeClr val="bg1">
                              <a:lumMod val="75000"/>
                            </a:schemeClr>
                          </a:solidFill>
                          <a:effectLst/>
                          <a:latin typeface="メイリオ" panose="020B0604030504040204" pitchFamily="50" charset="-128"/>
                          <a:ea typeface="メイリオ" panose="020B0604030504040204" pitchFamily="50" charset="-128"/>
                        </a:rPr>
                        <a:t>)</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919396613"/>
                  </a:ext>
                </a:extLst>
              </a:tr>
              <a:tr h="175321">
                <a:tc>
                  <a:txBody>
                    <a:bodyPr/>
                    <a:lstStyle/>
                    <a:p>
                      <a:pPr algn="ctr" fontAlgn="ctr">
                        <a:buNone/>
                      </a:pPr>
                      <a:r>
                        <a:rPr lang="en-US" altLang="ja-JP" sz="800" b="0" i="0" u="none" strike="noStrike" dirty="0">
                          <a:solidFill>
                            <a:srgbClr val="000000"/>
                          </a:solidFill>
                          <a:effectLst/>
                          <a:highlight>
                            <a:srgbClr val="FFFF00"/>
                          </a:highlight>
                          <a:latin typeface="メイリオ" panose="020B0604030504040204" pitchFamily="50" charset="-128"/>
                          <a:ea typeface="メイリオ" panose="020B0604030504040204" pitchFamily="50" charset="-128"/>
                        </a:rPr>
                        <a:t>GA(CRM)</a:t>
                      </a:r>
                      <a:r>
                        <a:rPr lang="ja-JP" altLang="en-US" sz="800" b="0" i="0" u="none" strike="noStrike" dirty="0">
                          <a:solidFill>
                            <a:srgbClr val="000000"/>
                          </a:solidFill>
                          <a:effectLst/>
                          <a:highlight>
                            <a:srgbClr val="FFFF00"/>
                          </a:highlight>
                          <a:latin typeface="メイリオ" panose="020B0604030504040204" pitchFamily="50" charset="-128"/>
                          <a:ea typeface="メイリオ" panose="020B0604030504040204" pitchFamily="50" charset="-128"/>
                        </a:rPr>
                        <a:t>レポート連携</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endParaRPr lang="ja-JP" altLang="en-US" sz="8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802321774"/>
                  </a:ext>
                </a:extLst>
              </a:tr>
              <a:tr h="175321">
                <a:tc>
                  <a:txBody>
                    <a:bodyPr/>
                    <a:lstStyle/>
                    <a:p>
                      <a:pPr algn="ctr" fontAlgn="ctr">
                        <a:buNone/>
                      </a:pPr>
                      <a:r>
                        <a:rPr lang="ja-JP" altLang="en-US" sz="800" b="0" i="0" u="none" strike="noStrike" dirty="0">
                          <a:solidFill>
                            <a:srgbClr val="000000"/>
                          </a:solidFill>
                          <a:effectLst/>
                          <a:highlight>
                            <a:srgbClr val="FFFF00"/>
                          </a:highlight>
                          <a:latin typeface="メイリオ" panose="020B0604030504040204" pitchFamily="50" charset="-128"/>
                          <a:ea typeface="メイリオ" panose="020B0604030504040204" pitchFamily="50" charset="-128"/>
                        </a:rPr>
                        <a:t>クリエイティブ</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endParaRPr lang="ja-JP" altLang="en-US" sz="8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800" b="0" i="0" u="none" strike="noStrike" dirty="0">
                          <a:solidFill>
                            <a:srgbClr val="000000"/>
                          </a:solidFill>
                          <a:effectLst/>
                          <a:highlight>
                            <a:srgbClr val="FFFF00"/>
                          </a:highlight>
                          <a:latin typeface="メイリオ" panose="020B0604030504040204" pitchFamily="50" charset="-128"/>
                          <a:ea typeface="メイリオ" panose="020B0604030504040204" pitchFamily="50" charset="-128"/>
                        </a:rPr>
                        <a:t>離脱防止ツール</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¥10,000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¥10,000~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298905920"/>
                  </a:ext>
                </a:extLst>
              </a:tr>
              <a:tr h="175321">
                <a:tc>
                  <a:txBody>
                    <a:bodyPr/>
                    <a:lstStyle/>
                    <a:p>
                      <a:pPr algn="ctr" fontAlgn="ctr">
                        <a:buNone/>
                      </a:pPr>
                      <a:r>
                        <a:rPr lang="ja-JP" altLang="en-US" sz="800" b="0" i="0" u="none" strike="noStrike" dirty="0">
                          <a:solidFill>
                            <a:srgbClr val="000000"/>
                          </a:solidFill>
                          <a:effectLst/>
                          <a:highlight>
                            <a:srgbClr val="FFFF00"/>
                          </a:highlight>
                          <a:latin typeface="メイリオ" panose="020B0604030504040204" pitchFamily="50" charset="-128"/>
                          <a:ea typeface="メイリオ" panose="020B0604030504040204" pitchFamily="50" charset="-128"/>
                        </a:rPr>
                        <a:t>定例会</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endParaRPr lang="ja-JP" altLang="en-US" sz="8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800" b="0" i="0" u="none" strike="noStrike">
                          <a:solidFill>
                            <a:srgbClr val="000000"/>
                          </a:solidFill>
                          <a:effectLst/>
                          <a:latin typeface="メイリオ" panose="020B0604030504040204" pitchFamily="50" charset="-128"/>
                          <a:ea typeface="メイリオ" panose="020B0604030504040204" pitchFamily="50" charset="-128"/>
                        </a:rPr>
                        <a:t>サンクス</a:t>
                      </a: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LINE</a:t>
                      </a:r>
                      <a:r>
                        <a:rPr lang="ja-JP" altLang="en-US" sz="800" b="0" i="0" u="none" strike="noStrike">
                          <a:solidFill>
                            <a:srgbClr val="000000"/>
                          </a:solidFill>
                          <a:effectLst/>
                          <a:latin typeface="メイリオ" panose="020B0604030504040204" pitchFamily="50" charset="-128"/>
                          <a:ea typeface="メイリオ" panose="020B0604030504040204" pitchFamily="50" charset="-128"/>
                        </a:rPr>
                        <a:t>誘導ツール</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dirty="0">
                          <a:solidFill>
                            <a:schemeClr val="bg1">
                              <a:lumMod val="75000"/>
                            </a:schemeClr>
                          </a:solidFill>
                          <a:effectLst/>
                          <a:latin typeface="メイリオ" panose="020B0604030504040204" pitchFamily="50" charset="-128"/>
                          <a:ea typeface="メイリオ" panose="020B0604030504040204" pitchFamily="50" charset="-128"/>
                        </a:rPr>
                        <a:t>¥50,000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dirty="0">
                          <a:solidFill>
                            <a:schemeClr val="bg1">
                              <a:lumMod val="75000"/>
                            </a:schemeClr>
                          </a:solidFill>
                          <a:effectLst/>
                          <a:latin typeface="メイリオ" panose="020B0604030504040204" pitchFamily="50" charset="-128"/>
                          <a:ea typeface="メイリオ" panose="020B0604030504040204" pitchFamily="50" charset="-128"/>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117655704"/>
                  </a:ext>
                </a:extLst>
              </a:tr>
            </a:tbl>
          </a:graphicData>
        </a:graphic>
      </p:graphicFrame>
      <p:graphicFrame>
        <p:nvGraphicFramePr>
          <p:cNvPr id="12" name="表 11">
            <a:extLst>
              <a:ext uri="{FF2B5EF4-FFF2-40B4-BE49-F238E27FC236}">
                <a16:creationId xmlns:a16="http://schemas.microsoft.com/office/drawing/2014/main" id="{F91A02FC-5E04-6D49-4A4E-97104D3E348C}"/>
              </a:ext>
            </a:extLst>
          </p:cNvPr>
          <p:cNvGraphicFramePr>
            <a:graphicFrameLocks noGrp="1"/>
          </p:cNvGraphicFramePr>
          <p:nvPr/>
        </p:nvGraphicFramePr>
        <p:xfrm>
          <a:off x="5052177" y="3697199"/>
          <a:ext cx="1236867" cy="175321"/>
        </p:xfrm>
        <a:graphic>
          <a:graphicData uri="http://schemas.openxmlformats.org/drawingml/2006/table">
            <a:tbl>
              <a:tblPr/>
              <a:tblGrid>
                <a:gridCol w="1236867">
                  <a:extLst>
                    <a:ext uri="{9D8B030D-6E8A-4147-A177-3AD203B41FA5}">
                      <a16:colId xmlns:a16="http://schemas.microsoft.com/office/drawing/2014/main" val="1094262138"/>
                    </a:ext>
                  </a:extLst>
                </a:gridCol>
              </a:tblGrid>
              <a:tr h="175321">
                <a:tc>
                  <a:txBody>
                    <a:bodyPr/>
                    <a:lstStyle/>
                    <a:p>
                      <a:pPr algn="ctr" fontAlgn="ctr">
                        <a:buNone/>
                      </a:pPr>
                      <a:r>
                        <a:rPr lang="ja-JP" altLang="en-US" sz="800" b="0" i="0" u="none" strike="noStrike" dirty="0">
                          <a:solidFill>
                            <a:srgbClr val="000000"/>
                          </a:solidFill>
                          <a:effectLst/>
                          <a:highlight>
                            <a:srgbClr val="FFFF00"/>
                          </a:highlight>
                          <a:latin typeface="メイリオ" panose="020B0604030504040204" pitchFamily="50" charset="-128"/>
                          <a:ea typeface="メイリオ" panose="020B0604030504040204" pitchFamily="50" charset="-128"/>
                        </a:rPr>
                        <a:t>運用時、基本付帯する</a:t>
                      </a:r>
                    </a:p>
                  </a:txBody>
                  <a:tcPr marL="8241" marR="8241"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963664283"/>
                  </a:ext>
                </a:extLst>
              </a:tr>
            </a:tbl>
          </a:graphicData>
        </a:graphic>
      </p:graphicFrame>
      <p:graphicFrame>
        <p:nvGraphicFramePr>
          <p:cNvPr id="13" name="表 12">
            <a:extLst>
              <a:ext uri="{FF2B5EF4-FFF2-40B4-BE49-F238E27FC236}">
                <a16:creationId xmlns:a16="http://schemas.microsoft.com/office/drawing/2014/main" id="{C2727225-26CE-D16E-9C5D-1FBD426B841E}"/>
              </a:ext>
            </a:extLst>
          </p:cNvPr>
          <p:cNvGraphicFramePr>
            <a:graphicFrameLocks noGrp="1"/>
          </p:cNvGraphicFramePr>
          <p:nvPr/>
        </p:nvGraphicFramePr>
        <p:xfrm>
          <a:off x="7891522" y="3697199"/>
          <a:ext cx="1249236" cy="153961"/>
        </p:xfrm>
        <a:graphic>
          <a:graphicData uri="http://schemas.openxmlformats.org/drawingml/2006/table">
            <a:tbl>
              <a:tblPr/>
              <a:tblGrid>
                <a:gridCol w="1249236">
                  <a:extLst>
                    <a:ext uri="{9D8B030D-6E8A-4147-A177-3AD203B41FA5}">
                      <a16:colId xmlns:a16="http://schemas.microsoft.com/office/drawing/2014/main" val="1094262138"/>
                    </a:ext>
                  </a:extLst>
                </a:gridCol>
              </a:tblGrid>
              <a:tr h="153961">
                <a:tc>
                  <a:txBody>
                    <a:bodyPr/>
                    <a:lstStyle/>
                    <a:p>
                      <a:pPr algn="ctr" fontAlgn="ctr">
                        <a:buNone/>
                      </a:pPr>
                      <a:r>
                        <a:rPr lang="ja-JP" altLang="en-US" sz="800" b="0" i="0" u="none" strike="noStrike" dirty="0">
                          <a:solidFill>
                            <a:srgbClr val="000000"/>
                          </a:solidFill>
                          <a:effectLst/>
                          <a:highlight>
                            <a:srgbClr val="C0C0C0"/>
                          </a:highlight>
                          <a:latin typeface="メイリオ" panose="020B0604030504040204" pitchFamily="50" charset="-128"/>
                          <a:ea typeface="メイリオ" panose="020B0604030504040204" pitchFamily="50" charset="-128"/>
                        </a:rPr>
                        <a:t>対応しない領域</a:t>
                      </a:r>
                    </a:p>
                  </a:txBody>
                  <a:tcPr marL="8323" marR="8323"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963664283"/>
                  </a:ext>
                </a:extLst>
              </a:tr>
            </a:tbl>
          </a:graphicData>
        </a:graphic>
      </p:graphicFrame>
      <p:graphicFrame>
        <p:nvGraphicFramePr>
          <p:cNvPr id="14" name="表 13">
            <a:extLst>
              <a:ext uri="{FF2B5EF4-FFF2-40B4-BE49-F238E27FC236}">
                <a16:creationId xmlns:a16="http://schemas.microsoft.com/office/drawing/2014/main" id="{6568ED1F-4ADB-05EB-EAF7-6D88C325C7BB}"/>
              </a:ext>
            </a:extLst>
          </p:cNvPr>
          <p:cNvGraphicFramePr>
            <a:graphicFrameLocks noGrp="1"/>
          </p:cNvGraphicFramePr>
          <p:nvPr/>
        </p:nvGraphicFramePr>
        <p:xfrm>
          <a:off x="6465665" y="3697198"/>
          <a:ext cx="1249236" cy="175321"/>
        </p:xfrm>
        <a:graphic>
          <a:graphicData uri="http://schemas.openxmlformats.org/drawingml/2006/table">
            <a:tbl>
              <a:tblPr/>
              <a:tblGrid>
                <a:gridCol w="1249236">
                  <a:extLst>
                    <a:ext uri="{9D8B030D-6E8A-4147-A177-3AD203B41FA5}">
                      <a16:colId xmlns:a16="http://schemas.microsoft.com/office/drawing/2014/main" val="1094262138"/>
                    </a:ext>
                  </a:extLst>
                </a:gridCol>
              </a:tblGrid>
              <a:tr h="175321">
                <a:tc>
                  <a:txBody>
                    <a:bodyPr/>
                    <a:lstStyle/>
                    <a:p>
                      <a:pPr algn="ctr" fontAlgn="ctr">
                        <a:buNone/>
                      </a:pPr>
                      <a:r>
                        <a:rPr lang="ja-JP" altLang="en-US" sz="800" b="0" i="0" u="none" strike="noStrike" dirty="0">
                          <a:solidFill>
                            <a:srgbClr val="000000"/>
                          </a:solidFill>
                          <a:effectLst/>
                          <a:highlight>
                            <a:srgbClr val="F6A454"/>
                          </a:highlight>
                          <a:latin typeface="メイリオ" panose="020B0604030504040204" pitchFamily="50" charset="-128"/>
                          <a:ea typeface="メイリオ" panose="020B0604030504040204" pitchFamily="50" charset="-128"/>
                        </a:rPr>
                        <a:t>貴社にて対応</a:t>
                      </a:r>
                    </a:p>
                  </a:txBody>
                  <a:tcPr marL="8323" marR="8323"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963664283"/>
                  </a:ext>
                </a:extLst>
              </a:tr>
            </a:tbl>
          </a:graphicData>
        </a:graphic>
      </p:graphicFrame>
      <p:sp>
        <p:nvSpPr>
          <p:cNvPr id="21" name="正方形/長方形 20">
            <a:extLst>
              <a:ext uri="{FF2B5EF4-FFF2-40B4-BE49-F238E27FC236}">
                <a16:creationId xmlns:a16="http://schemas.microsoft.com/office/drawing/2014/main" id="{EEA02B17-0DA2-A3FE-A6E5-243C1724301E}"/>
              </a:ext>
            </a:extLst>
          </p:cNvPr>
          <p:cNvSpPr/>
          <p:nvPr/>
        </p:nvSpPr>
        <p:spPr>
          <a:xfrm>
            <a:off x="548881" y="1405687"/>
            <a:ext cx="4404119" cy="2061098"/>
          </a:xfrm>
          <a:prstGeom prst="rect">
            <a:avLst/>
          </a:prstGeom>
          <a:noFill/>
          <a:ln w="9525">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05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2" name="正方形/長方形 1">
            <a:extLst>
              <a:ext uri="{FF2B5EF4-FFF2-40B4-BE49-F238E27FC236}">
                <a16:creationId xmlns:a16="http://schemas.microsoft.com/office/drawing/2014/main" id="{CA8AA691-8D48-57D0-BF47-34182D3A6DAC}"/>
              </a:ext>
            </a:extLst>
          </p:cNvPr>
          <p:cNvSpPr/>
          <p:nvPr/>
        </p:nvSpPr>
        <p:spPr>
          <a:xfrm>
            <a:off x="748333" y="1594972"/>
            <a:ext cx="2322527" cy="502920"/>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600" b="1" dirty="0">
                <a:solidFill>
                  <a:schemeClr val="tx1"/>
                </a:solidFill>
                <a:latin typeface="メイリオ" panose="020B0604030504040204" pitchFamily="50" charset="-128"/>
                <a:ea typeface="メイリオ" panose="020B0604030504040204" pitchFamily="50" charset="-128"/>
              </a:rPr>
              <a:t>成果報酬費用</a:t>
            </a:r>
            <a:endParaRPr kumimoji="1" lang="ja-JP" altLang="en-US" sz="1050" b="1" dirty="0">
              <a:solidFill>
                <a:schemeClr val="tx1"/>
              </a:solidFill>
              <a:latin typeface="メイリオ" panose="020B0604030504040204" pitchFamily="50" charset="-128"/>
              <a:ea typeface="メイリオ" panose="020B0604030504040204" pitchFamily="50" charset="-128"/>
            </a:endParaRPr>
          </a:p>
        </p:txBody>
      </p:sp>
      <p:sp>
        <p:nvSpPr>
          <p:cNvPr id="6" name="正方形/長方形 5">
            <a:extLst>
              <a:ext uri="{FF2B5EF4-FFF2-40B4-BE49-F238E27FC236}">
                <a16:creationId xmlns:a16="http://schemas.microsoft.com/office/drawing/2014/main" id="{264193FC-5A1A-667F-A9D5-30C2155A72EB}"/>
              </a:ext>
            </a:extLst>
          </p:cNvPr>
          <p:cNvSpPr/>
          <p:nvPr/>
        </p:nvSpPr>
        <p:spPr>
          <a:xfrm>
            <a:off x="3230275" y="1588966"/>
            <a:ext cx="1494125" cy="502920"/>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b="1" dirty="0">
                <a:solidFill>
                  <a:schemeClr val="tx1"/>
                </a:solidFill>
                <a:latin typeface="メイリオ" panose="020B0604030504040204" pitchFamily="50" charset="-128"/>
                <a:ea typeface="メイリオ" panose="020B0604030504040204" pitchFamily="50" charset="-128"/>
              </a:rPr>
              <a:t>固定費用</a:t>
            </a:r>
            <a:endParaRPr kumimoji="1" lang="ja-JP" altLang="en-US" sz="1000" b="1" dirty="0">
              <a:solidFill>
                <a:schemeClr val="tx1"/>
              </a:solidFill>
              <a:latin typeface="メイリオ" panose="020B0604030504040204" pitchFamily="50" charset="-128"/>
              <a:ea typeface="メイリオ" panose="020B0604030504040204" pitchFamily="50" charset="-128"/>
            </a:endParaRPr>
          </a:p>
        </p:txBody>
      </p:sp>
      <p:sp>
        <p:nvSpPr>
          <p:cNvPr id="7" name="正方形/長方形 6">
            <a:extLst>
              <a:ext uri="{FF2B5EF4-FFF2-40B4-BE49-F238E27FC236}">
                <a16:creationId xmlns:a16="http://schemas.microsoft.com/office/drawing/2014/main" id="{692E0C40-273C-2C77-21FF-EC7A2A1C8F8F}"/>
              </a:ext>
            </a:extLst>
          </p:cNvPr>
          <p:cNvSpPr/>
          <p:nvPr/>
        </p:nvSpPr>
        <p:spPr>
          <a:xfrm>
            <a:off x="748333" y="2116483"/>
            <a:ext cx="2322527" cy="687677"/>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b="1" dirty="0">
                <a:solidFill>
                  <a:schemeClr val="tx1"/>
                </a:solidFill>
                <a:latin typeface="メイリオ" panose="020B0604030504040204" pitchFamily="50" charset="-128"/>
                <a:ea typeface="メイリオ" panose="020B0604030504040204" pitchFamily="50" charset="-128"/>
              </a:rPr>
              <a:t>成果件数 </a:t>
            </a:r>
            <a:r>
              <a:rPr lang="en-US" altLang="ja-JP" sz="1400" b="1" dirty="0">
                <a:solidFill>
                  <a:schemeClr val="tx1"/>
                </a:solidFill>
                <a:latin typeface="メイリオ" panose="020B0604030504040204" pitchFamily="50" charset="-128"/>
                <a:ea typeface="メイリオ" panose="020B0604030504040204" pitchFamily="50" charset="-128"/>
              </a:rPr>
              <a:t>× </a:t>
            </a:r>
            <a:r>
              <a:rPr lang="ja-JP" altLang="en-US" sz="1400" b="1" dirty="0">
                <a:solidFill>
                  <a:schemeClr val="tx1"/>
                </a:solidFill>
                <a:latin typeface="メイリオ" panose="020B0604030504040204" pitchFamily="50" charset="-128"/>
                <a:ea typeface="メイリオ" panose="020B0604030504040204" pitchFamily="50" charset="-128"/>
              </a:rPr>
              <a:t>成果報酬単価</a:t>
            </a:r>
            <a:endParaRPr lang="en-US" altLang="ja-JP" sz="1400" b="1" dirty="0">
              <a:solidFill>
                <a:schemeClr val="tx1"/>
              </a:solidFill>
              <a:latin typeface="メイリオ" panose="020B0604030504040204" pitchFamily="50" charset="-128"/>
              <a:ea typeface="メイリオ" panose="020B0604030504040204" pitchFamily="50" charset="-128"/>
            </a:endParaRPr>
          </a:p>
        </p:txBody>
      </p:sp>
      <p:sp>
        <p:nvSpPr>
          <p:cNvPr id="15" name="正方形/長方形 14">
            <a:extLst>
              <a:ext uri="{FF2B5EF4-FFF2-40B4-BE49-F238E27FC236}">
                <a16:creationId xmlns:a16="http://schemas.microsoft.com/office/drawing/2014/main" id="{BAC2B063-6DAA-B7D0-0B1D-E5CC879D23FD}"/>
              </a:ext>
            </a:extLst>
          </p:cNvPr>
          <p:cNvSpPr/>
          <p:nvPr/>
        </p:nvSpPr>
        <p:spPr>
          <a:xfrm>
            <a:off x="3230275" y="2116483"/>
            <a:ext cx="1494125" cy="687677"/>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200" dirty="0">
                <a:solidFill>
                  <a:schemeClr val="tx1"/>
                </a:solidFill>
                <a:latin typeface="メイリオ" panose="020B0604030504040204" pitchFamily="50" charset="-128"/>
                <a:ea typeface="メイリオ" panose="020B0604030504040204" pitchFamily="50" charset="-128"/>
              </a:rPr>
              <a:t>アカウント費</a:t>
            </a:r>
            <a:endParaRPr lang="en-US" altLang="ja-JP" sz="1200" dirty="0">
              <a:solidFill>
                <a:schemeClr val="tx1"/>
              </a:solidFill>
              <a:latin typeface="メイリオ" panose="020B0604030504040204" pitchFamily="50" charset="-128"/>
              <a:ea typeface="メイリオ" panose="020B0604030504040204" pitchFamily="50" charset="-128"/>
            </a:endParaRPr>
          </a:p>
          <a:p>
            <a:pPr algn="ctr"/>
            <a:r>
              <a:rPr lang="ja-JP" altLang="en-US" sz="1200" dirty="0">
                <a:solidFill>
                  <a:schemeClr val="tx1"/>
                </a:solidFill>
                <a:latin typeface="メイリオ" panose="020B0604030504040204" pitchFamily="50" charset="-128"/>
                <a:ea typeface="メイリオ" panose="020B0604030504040204" pitchFamily="50" charset="-128"/>
              </a:rPr>
              <a:t>＋</a:t>
            </a:r>
            <a:endParaRPr lang="en-US" altLang="ja-JP" sz="1200" dirty="0">
              <a:solidFill>
                <a:schemeClr val="tx1"/>
              </a:solidFill>
              <a:latin typeface="メイリオ" panose="020B0604030504040204" pitchFamily="50" charset="-128"/>
              <a:ea typeface="メイリオ" panose="020B0604030504040204" pitchFamily="50" charset="-128"/>
            </a:endParaRPr>
          </a:p>
          <a:p>
            <a:pPr algn="ctr"/>
            <a:r>
              <a:rPr lang="ja-JP" altLang="en-US" sz="1200" dirty="0">
                <a:solidFill>
                  <a:schemeClr val="tx1"/>
                </a:solidFill>
                <a:latin typeface="メイリオ" panose="020B0604030504040204" pitchFamily="50" charset="-128"/>
                <a:ea typeface="メイリオ" panose="020B0604030504040204" pitchFamily="50" charset="-128"/>
              </a:rPr>
              <a:t>ツール費</a:t>
            </a:r>
            <a:endParaRPr lang="en-US" altLang="ja-JP" sz="1200" dirty="0">
              <a:solidFill>
                <a:schemeClr val="tx1"/>
              </a:solidFill>
              <a:latin typeface="メイリオ" panose="020B0604030504040204" pitchFamily="50" charset="-128"/>
              <a:ea typeface="メイリオ" panose="020B0604030504040204" pitchFamily="50" charset="-128"/>
            </a:endParaRPr>
          </a:p>
        </p:txBody>
      </p:sp>
      <p:sp>
        <p:nvSpPr>
          <p:cNvPr id="18" name="テキスト ボックス 17">
            <a:extLst>
              <a:ext uri="{FF2B5EF4-FFF2-40B4-BE49-F238E27FC236}">
                <a16:creationId xmlns:a16="http://schemas.microsoft.com/office/drawing/2014/main" id="{0036B929-196A-854E-1925-1967B52BEB27}"/>
              </a:ext>
            </a:extLst>
          </p:cNvPr>
          <p:cNvSpPr txBox="1"/>
          <p:nvPr/>
        </p:nvSpPr>
        <p:spPr>
          <a:xfrm>
            <a:off x="668626" y="1585328"/>
            <a:ext cx="4960620" cy="523220"/>
          </a:xfrm>
          <a:prstGeom prst="rect">
            <a:avLst/>
          </a:prstGeom>
          <a:noFill/>
        </p:spPr>
        <p:txBody>
          <a:bodyPr wrap="square">
            <a:spAutoFit/>
          </a:bodyPr>
          <a:lstStyle/>
          <a:p>
            <a:pPr algn="ctr"/>
            <a:r>
              <a:rPr lang="ja-JP" altLang="en-US" sz="2800" b="1" dirty="0">
                <a:solidFill>
                  <a:schemeClr val="tx1"/>
                </a:solidFill>
                <a:latin typeface="メイリオ" panose="020B0604030504040204" pitchFamily="50" charset="-128"/>
                <a:ea typeface="メイリオ" panose="020B0604030504040204" pitchFamily="50" charset="-128"/>
              </a:rPr>
              <a:t>＋</a:t>
            </a:r>
            <a:endParaRPr lang="en-US" altLang="ja-JP" sz="2800" b="1" dirty="0">
              <a:solidFill>
                <a:schemeClr val="tx1"/>
              </a:solidFill>
              <a:latin typeface="メイリオ" panose="020B0604030504040204" pitchFamily="50" charset="-128"/>
              <a:ea typeface="メイリオ" panose="020B0604030504040204" pitchFamily="50" charset="-128"/>
            </a:endParaRPr>
          </a:p>
        </p:txBody>
      </p:sp>
      <p:sp>
        <p:nvSpPr>
          <p:cNvPr id="19" name="正方形/長方形 18">
            <a:extLst>
              <a:ext uri="{FF2B5EF4-FFF2-40B4-BE49-F238E27FC236}">
                <a16:creationId xmlns:a16="http://schemas.microsoft.com/office/drawing/2014/main" id="{C94A4AE5-885C-B98E-00A8-77C51FC7BFE1}"/>
              </a:ext>
            </a:extLst>
          </p:cNvPr>
          <p:cNvSpPr/>
          <p:nvPr/>
        </p:nvSpPr>
        <p:spPr>
          <a:xfrm>
            <a:off x="5080364" y="1405605"/>
            <a:ext cx="4328131" cy="232354"/>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ja-JP" altLang="en-US" sz="1100" dirty="0">
                <a:solidFill>
                  <a:schemeClr val="tx1"/>
                </a:solidFill>
                <a:latin typeface="メイリオ" panose="020B0604030504040204" pitchFamily="50" charset="-128"/>
                <a:ea typeface="メイリオ" panose="020B0604030504040204" pitchFamily="50" charset="-128"/>
              </a:rPr>
              <a:t> ☑ 複数の</a:t>
            </a:r>
            <a:r>
              <a:rPr lang="en-US" altLang="ja-JP" sz="1100" dirty="0">
                <a:solidFill>
                  <a:schemeClr val="tx1"/>
                </a:solidFill>
                <a:latin typeface="メイリオ" panose="020B0604030504040204" pitchFamily="50" charset="-128"/>
                <a:ea typeface="メイリオ" panose="020B0604030504040204" pitchFamily="50" charset="-128"/>
              </a:rPr>
              <a:t>LINE</a:t>
            </a:r>
            <a:r>
              <a:rPr lang="ja-JP" altLang="en-US" sz="1100" dirty="0">
                <a:solidFill>
                  <a:schemeClr val="tx1"/>
                </a:solidFill>
                <a:latin typeface="メイリオ" panose="020B0604030504040204" pitchFamily="50" charset="-128"/>
                <a:ea typeface="メイリオ" panose="020B0604030504040204" pitchFamily="50" charset="-128"/>
              </a:rPr>
              <a:t>流入経路からステップ配信を構築し、</a:t>
            </a:r>
            <a:r>
              <a:rPr lang="en-US" altLang="ja-JP" sz="1100" dirty="0">
                <a:solidFill>
                  <a:schemeClr val="tx1"/>
                </a:solidFill>
                <a:latin typeface="メイリオ" panose="020B0604030504040204" pitchFamily="50" charset="-128"/>
                <a:ea typeface="メイリオ" panose="020B0604030504040204" pitchFamily="50" charset="-128"/>
              </a:rPr>
              <a:t>CV</a:t>
            </a:r>
            <a:r>
              <a:rPr lang="ja-JP" altLang="en-US" sz="1100" dirty="0">
                <a:solidFill>
                  <a:schemeClr val="tx1"/>
                </a:solidFill>
                <a:latin typeface="メイリオ" panose="020B0604030504040204" pitchFamily="50" charset="-128"/>
                <a:ea typeface="メイリオ" panose="020B0604030504040204" pitchFamily="50" charset="-128"/>
              </a:rPr>
              <a:t>数を増加。 </a:t>
            </a:r>
            <a:endParaRPr lang="en-US" altLang="ja-JP" sz="1100" dirty="0">
              <a:solidFill>
                <a:schemeClr val="tx1"/>
              </a:solidFill>
              <a:latin typeface="メイリオ" panose="020B0604030504040204" pitchFamily="50" charset="-128"/>
              <a:ea typeface="メイリオ" panose="020B0604030504040204" pitchFamily="50" charset="-128"/>
            </a:endParaRPr>
          </a:p>
        </p:txBody>
      </p:sp>
      <p:sp>
        <p:nvSpPr>
          <p:cNvPr id="24" name="正方形/長方形 23">
            <a:extLst>
              <a:ext uri="{FF2B5EF4-FFF2-40B4-BE49-F238E27FC236}">
                <a16:creationId xmlns:a16="http://schemas.microsoft.com/office/drawing/2014/main" id="{4A2D4AF3-1CC4-4934-0B96-59B465612A8D}"/>
              </a:ext>
            </a:extLst>
          </p:cNvPr>
          <p:cNvSpPr/>
          <p:nvPr/>
        </p:nvSpPr>
        <p:spPr>
          <a:xfrm>
            <a:off x="5080363" y="2750968"/>
            <a:ext cx="4328131" cy="232354"/>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ja-JP" altLang="en-US" sz="1100" dirty="0">
                <a:solidFill>
                  <a:schemeClr val="tx1"/>
                </a:solidFill>
                <a:latin typeface="メイリオ" panose="020B0604030504040204" pitchFamily="50" charset="-128"/>
                <a:ea typeface="メイリオ" panose="020B0604030504040204" pitchFamily="50" charset="-128"/>
              </a:rPr>
              <a:t> ☑ 現状導入しているツール、計測環境に応じて設計が可能。 </a:t>
            </a:r>
            <a:endParaRPr lang="en-US" altLang="ja-JP" sz="1100" dirty="0">
              <a:solidFill>
                <a:schemeClr val="tx1"/>
              </a:solidFill>
              <a:latin typeface="メイリオ" panose="020B0604030504040204" pitchFamily="50" charset="-128"/>
              <a:ea typeface="メイリオ" panose="020B0604030504040204" pitchFamily="50" charset="-128"/>
            </a:endParaRPr>
          </a:p>
        </p:txBody>
      </p:sp>
      <p:sp>
        <p:nvSpPr>
          <p:cNvPr id="26" name="テキスト ボックス 25">
            <a:extLst>
              <a:ext uri="{FF2B5EF4-FFF2-40B4-BE49-F238E27FC236}">
                <a16:creationId xmlns:a16="http://schemas.microsoft.com/office/drawing/2014/main" id="{1981C36B-B3F0-8036-014B-17B1A065A490}"/>
              </a:ext>
            </a:extLst>
          </p:cNvPr>
          <p:cNvSpPr txBox="1"/>
          <p:nvPr/>
        </p:nvSpPr>
        <p:spPr>
          <a:xfrm>
            <a:off x="3230275" y="2856669"/>
            <a:ext cx="1715105" cy="215444"/>
          </a:xfrm>
          <a:prstGeom prst="rect">
            <a:avLst/>
          </a:prstGeom>
          <a:noFill/>
        </p:spPr>
        <p:txBody>
          <a:bodyPr wrap="square">
            <a:spAutoFit/>
          </a:bodyPr>
          <a:lstStyle/>
          <a:p>
            <a:r>
              <a:rPr lang="en-US" altLang="ja-JP" sz="800" dirty="0">
                <a:solidFill>
                  <a:srgbClr val="FF0000"/>
                </a:solidFill>
                <a:latin typeface="メイリオ" panose="020B0604030504040204" pitchFamily="50" charset="-128"/>
                <a:ea typeface="メイリオ" panose="020B0604030504040204" pitchFamily="50" charset="-128"/>
              </a:rPr>
              <a:t>※ </a:t>
            </a:r>
            <a:r>
              <a:rPr lang="ja-JP" altLang="en-US" sz="800" dirty="0">
                <a:solidFill>
                  <a:srgbClr val="FF0000"/>
                </a:solidFill>
                <a:latin typeface="メイリオ" panose="020B0604030504040204" pitchFamily="50" charset="-128"/>
                <a:ea typeface="メイリオ" panose="020B0604030504040204" pitchFamily="50" charset="-128"/>
              </a:rPr>
              <a:t>導入ツールに応じて費用発生</a:t>
            </a:r>
            <a:endParaRPr lang="en-US" altLang="ja-JP" sz="800" dirty="0">
              <a:solidFill>
                <a:srgbClr val="FF0000"/>
              </a:solidFill>
              <a:latin typeface="メイリオ" panose="020B0604030504040204" pitchFamily="50" charset="-128"/>
              <a:ea typeface="メイリオ" panose="020B0604030504040204" pitchFamily="50" charset="-128"/>
            </a:endParaRPr>
          </a:p>
        </p:txBody>
      </p:sp>
      <p:sp>
        <p:nvSpPr>
          <p:cNvPr id="27" name="テキスト ボックス 26">
            <a:extLst>
              <a:ext uri="{FF2B5EF4-FFF2-40B4-BE49-F238E27FC236}">
                <a16:creationId xmlns:a16="http://schemas.microsoft.com/office/drawing/2014/main" id="{0F171EE4-EBC4-0A03-9342-8E33CDF25A68}"/>
              </a:ext>
            </a:extLst>
          </p:cNvPr>
          <p:cNvSpPr txBox="1"/>
          <p:nvPr/>
        </p:nvSpPr>
        <p:spPr>
          <a:xfrm>
            <a:off x="3230274" y="3083982"/>
            <a:ext cx="1715105" cy="215444"/>
          </a:xfrm>
          <a:prstGeom prst="rect">
            <a:avLst/>
          </a:prstGeom>
          <a:noFill/>
        </p:spPr>
        <p:txBody>
          <a:bodyPr wrap="square">
            <a:spAutoFit/>
          </a:bodyPr>
          <a:lstStyle/>
          <a:p>
            <a:r>
              <a:rPr lang="en-US" altLang="ja-JP" sz="800" dirty="0">
                <a:solidFill>
                  <a:srgbClr val="FF0000"/>
                </a:solidFill>
                <a:latin typeface="メイリオ" panose="020B0604030504040204" pitchFamily="50" charset="-128"/>
                <a:ea typeface="メイリオ" panose="020B0604030504040204" pitchFamily="50" charset="-128"/>
              </a:rPr>
              <a:t>※ </a:t>
            </a:r>
            <a:r>
              <a:rPr lang="ja-JP" altLang="en-US" sz="800" dirty="0">
                <a:solidFill>
                  <a:srgbClr val="FF0000"/>
                </a:solidFill>
                <a:latin typeface="メイリオ" panose="020B0604030504040204" pitchFamily="50" charset="-128"/>
                <a:ea typeface="メイリオ" panose="020B0604030504040204" pitchFamily="50" charset="-128"/>
              </a:rPr>
              <a:t>上限通数を設定して運営可能</a:t>
            </a:r>
            <a:endParaRPr lang="en-US" altLang="ja-JP" sz="800" dirty="0">
              <a:solidFill>
                <a:srgbClr val="FF0000"/>
              </a:solidFill>
              <a:latin typeface="メイリオ" panose="020B0604030504040204" pitchFamily="50" charset="-128"/>
              <a:ea typeface="メイリオ" panose="020B0604030504040204" pitchFamily="50" charset="-128"/>
            </a:endParaRPr>
          </a:p>
        </p:txBody>
      </p:sp>
      <p:sp>
        <p:nvSpPr>
          <p:cNvPr id="28" name="テキスト ボックス 27">
            <a:extLst>
              <a:ext uri="{FF2B5EF4-FFF2-40B4-BE49-F238E27FC236}">
                <a16:creationId xmlns:a16="http://schemas.microsoft.com/office/drawing/2014/main" id="{C6B5A64D-6B62-2D6A-1AF5-5EFCEC948063}"/>
              </a:ext>
            </a:extLst>
          </p:cNvPr>
          <p:cNvSpPr txBox="1"/>
          <p:nvPr/>
        </p:nvSpPr>
        <p:spPr>
          <a:xfrm>
            <a:off x="748334" y="2856669"/>
            <a:ext cx="2101546" cy="215444"/>
          </a:xfrm>
          <a:prstGeom prst="rect">
            <a:avLst/>
          </a:prstGeom>
          <a:noFill/>
        </p:spPr>
        <p:txBody>
          <a:bodyPr wrap="square">
            <a:spAutoFit/>
          </a:bodyPr>
          <a:lstStyle/>
          <a:p>
            <a:r>
              <a:rPr lang="en-US" altLang="ja-JP" sz="800" dirty="0">
                <a:solidFill>
                  <a:srgbClr val="FF0000"/>
                </a:solidFill>
                <a:latin typeface="メイリオ" panose="020B0604030504040204" pitchFamily="50" charset="-128"/>
                <a:ea typeface="メイリオ" panose="020B0604030504040204" pitchFamily="50" charset="-128"/>
              </a:rPr>
              <a:t>※ </a:t>
            </a:r>
            <a:r>
              <a:rPr lang="ja-JP" altLang="en-US" sz="800" dirty="0">
                <a:solidFill>
                  <a:srgbClr val="FF0000"/>
                </a:solidFill>
                <a:latin typeface="メイリオ" panose="020B0604030504040204" pitchFamily="50" charset="-128"/>
                <a:ea typeface="メイリオ" panose="020B0604030504040204" pitchFamily="50" charset="-128"/>
              </a:rPr>
              <a:t>成果件数は</a:t>
            </a:r>
            <a:r>
              <a:rPr lang="en-US" altLang="ja-JP" sz="800" dirty="0">
                <a:solidFill>
                  <a:srgbClr val="FF0000"/>
                </a:solidFill>
                <a:latin typeface="メイリオ" panose="020B0604030504040204" pitchFamily="50" charset="-128"/>
                <a:ea typeface="メイリオ" panose="020B0604030504040204" pitchFamily="50" charset="-128"/>
              </a:rPr>
              <a:t>GA</a:t>
            </a:r>
            <a:r>
              <a:rPr lang="ja-JP" altLang="en-US" sz="800" dirty="0">
                <a:solidFill>
                  <a:srgbClr val="FF0000"/>
                </a:solidFill>
                <a:latin typeface="メイリオ" panose="020B0604030504040204" pitchFamily="50" charset="-128"/>
                <a:ea typeface="メイリオ" panose="020B0604030504040204" pitchFamily="50" charset="-128"/>
              </a:rPr>
              <a:t>、他ツールでの計測</a:t>
            </a:r>
            <a:endParaRPr lang="en-US" altLang="ja-JP" sz="800" dirty="0">
              <a:solidFill>
                <a:srgbClr val="FF0000"/>
              </a:solidFill>
              <a:latin typeface="メイリオ" panose="020B0604030504040204" pitchFamily="50" charset="-128"/>
              <a:ea typeface="メイリオ" panose="020B0604030504040204" pitchFamily="50" charset="-128"/>
            </a:endParaRPr>
          </a:p>
        </p:txBody>
      </p:sp>
      <p:sp>
        <p:nvSpPr>
          <p:cNvPr id="29" name="テキスト ボックス 28">
            <a:extLst>
              <a:ext uri="{FF2B5EF4-FFF2-40B4-BE49-F238E27FC236}">
                <a16:creationId xmlns:a16="http://schemas.microsoft.com/office/drawing/2014/main" id="{555B5E5B-7EFA-B5FA-0284-3CD0D3947983}"/>
              </a:ext>
            </a:extLst>
          </p:cNvPr>
          <p:cNvSpPr txBox="1"/>
          <p:nvPr/>
        </p:nvSpPr>
        <p:spPr>
          <a:xfrm>
            <a:off x="748333" y="3083982"/>
            <a:ext cx="2322527" cy="215444"/>
          </a:xfrm>
          <a:prstGeom prst="rect">
            <a:avLst/>
          </a:prstGeom>
          <a:noFill/>
        </p:spPr>
        <p:txBody>
          <a:bodyPr wrap="square">
            <a:spAutoFit/>
          </a:bodyPr>
          <a:lstStyle/>
          <a:p>
            <a:r>
              <a:rPr lang="en-US" altLang="ja-JP" sz="800" dirty="0">
                <a:solidFill>
                  <a:srgbClr val="FF0000"/>
                </a:solidFill>
                <a:latin typeface="メイリオ" panose="020B0604030504040204" pitchFamily="50" charset="-128"/>
                <a:ea typeface="メイリオ" panose="020B0604030504040204" pitchFamily="50" charset="-128"/>
              </a:rPr>
              <a:t>※ </a:t>
            </a:r>
            <a:r>
              <a:rPr lang="ja-JP" altLang="en-US" sz="800" dirty="0">
                <a:solidFill>
                  <a:srgbClr val="FF0000"/>
                </a:solidFill>
                <a:latin typeface="メイリオ" panose="020B0604030504040204" pitchFamily="50" charset="-128"/>
                <a:ea typeface="メイリオ" panose="020B0604030504040204" pitchFamily="50" charset="-128"/>
              </a:rPr>
              <a:t>成果報酬単価は広告</a:t>
            </a:r>
            <a:r>
              <a:rPr lang="en-US" altLang="ja-JP" sz="800" dirty="0">
                <a:solidFill>
                  <a:srgbClr val="FF0000"/>
                </a:solidFill>
                <a:latin typeface="メイリオ" panose="020B0604030504040204" pitchFamily="50" charset="-128"/>
                <a:ea typeface="メイリオ" panose="020B0604030504040204" pitchFamily="50" charset="-128"/>
              </a:rPr>
              <a:t>CPA</a:t>
            </a:r>
            <a:r>
              <a:rPr lang="ja-JP" altLang="en-US" sz="800" dirty="0">
                <a:solidFill>
                  <a:srgbClr val="FF0000"/>
                </a:solidFill>
                <a:latin typeface="メイリオ" panose="020B0604030504040204" pitchFamily="50" charset="-128"/>
                <a:ea typeface="メイリオ" panose="020B0604030504040204" pitchFamily="50" charset="-128"/>
              </a:rPr>
              <a:t>に基づき設定</a:t>
            </a:r>
            <a:endParaRPr lang="en-US" altLang="ja-JP" sz="800" dirty="0">
              <a:solidFill>
                <a:srgbClr val="FF0000"/>
              </a:solidFill>
              <a:latin typeface="メイリオ" panose="020B0604030504040204" pitchFamily="50" charset="-128"/>
              <a:ea typeface="メイリオ" panose="020B0604030504040204" pitchFamily="50" charset="-128"/>
            </a:endParaRPr>
          </a:p>
        </p:txBody>
      </p:sp>
      <p:sp>
        <p:nvSpPr>
          <p:cNvPr id="16" name="正方形/長方形 15">
            <a:extLst>
              <a:ext uri="{FF2B5EF4-FFF2-40B4-BE49-F238E27FC236}">
                <a16:creationId xmlns:a16="http://schemas.microsoft.com/office/drawing/2014/main" id="{80A369CB-95D9-6607-0494-7E11C05DB30B}"/>
              </a:ext>
            </a:extLst>
          </p:cNvPr>
          <p:cNvSpPr/>
          <p:nvPr/>
        </p:nvSpPr>
        <p:spPr>
          <a:xfrm>
            <a:off x="5186487" y="1789945"/>
            <a:ext cx="843230" cy="166616"/>
          </a:xfrm>
          <a:prstGeom prst="rect">
            <a:avLst/>
          </a:prstGeom>
          <a:solidFill>
            <a:schemeClr val="tx2">
              <a:lumMod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900" dirty="0">
                <a:solidFill>
                  <a:schemeClr val="bg1"/>
                </a:solidFill>
                <a:latin typeface="メイリオ" panose="020B0604030504040204" pitchFamily="50" charset="-128"/>
                <a:ea typeface="メイリオ" panose="020B0604030504040204" pitchFamily="50" charset="-128"/>
              </a:rPr>
              <a:t>離脱防止</a:t>
            </a:r>
          </a:p>
        </p:txBody>
      </p:sp>
      <p:sp>
        <p:nvSpPr>
          <p:cNvPr id="20" name="正方形/長方形 19">
            <a:extLst>
              <a:ext uri="{FF2B5EF4-FFF2-40B4-BE49-F238E27FC236}">
                <a16:creationId xmlns:a16="http://schemas.microsoft.com/office/drawing/2014/main" id="{EC40B420-994F-D333-3411-E864E0430DDC}"/>
              </a:ext>
            </a:extLst>
          </p:cNvPr>
          <p:cNvSpPr/>
          <p:nvPr/>
        </p:nvSpPr>
        <p:spPr>
          <a:xfrm>
            <a:off x="5186487" y="2204881"/>
            <a:ext cx="843230" cy="166616"/>
          </a:xfrm>
          <a:prstGeom prst="rect">
            <a:avLst/>
          </a:prstGeom>
          <a:solidFill>
            <a:schemeClr val="tx2">
              <a:lumMod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900" dirty="0">
                <a:solidFill>
                  <a:schemeClr val="bg1"/>
                </a:solidFill>
                <a:latin typeface="メイリオ" panose="020B0604030504040204" pitchFamily="50" charset="-128"/>
                <a:ea typeface="メイリオ" panose="020B0604030504040204" pitchFamily="50" charset="-128"/>
              </a:rPr>
              <a:t>CPF</a:t>
            </a:r>
            <a:r>
              <a:rPr lang="ja-JP" altLang="en-US" sz="900" dirty="0">
                <a:solidFill>
                  <a:schemeClr val="bg1"/>
                </a:solidFill>
                <a:latin typeface="メイリオ" panose="020B0604030504040204" pitchFamily="50" charset="-128"/>
                <a:ea typeface="メイリオ" panose="020B0604030504040204" pitchFamily="50" charset="-128"/>
              </a:rPr>
              <a:t>広告</a:t>
            </a:r>
            <a:endParaRPr kumimoji="1" lang="ja-JP" altLang="en-US" sz="900" dirty="0">
              <a:solidFill>
                <a:schemeClr val="bg1"/>
              </a:solidFill>
              <a:latin typeface="メイリオ" panose="020B0604030504040204" pitchFamily="50" charset="-128"/>
              <a:ea typeface="メイリオ" panose="020B0604030504040204" pitchFamily="50" charset="-128"/>
            </a:endParaRPr>
          </a:p>
        </p:txBody>
      </p:sp>
      <p:sp>
        <p:nvSpPr>
          <p:cNvPr id="23" name="テキスト ボックス 22">
            <a:extLst>
              <a:ext uri="{FF2B5EF4-FFF2-40B4-BE49-F238E27FC236}">
                <a16:creationId xmlns:a16="http://schemas.microsoft.com/office/drawing/2014/main" id="{4C08CE37-3C30-0822-0EDA-FEB4C5F762A4}"/>
              </a:ext>
            </a:extLst>
          </p:cNvPr>
          <p:cNvSpPr txBox="1"/>
          <p:nvPr/>
        </p:nvSpPr>
        <p:spPr>
          <a:xfrm>
            <a:off x="5084483" y="3036028"/>
            <a:ext cx="4324011" cy="415498"/>
          </a:xfrm>
          <a:prstGeom prst="rect">
            <a:avLst/>
          </a:prstGeom>
          <a:noFill/>
        </p:spPr>
        <p:txBody>
          <a:bodyPr wrap="square">
            <a:spAutoFit/>
          </a:bodyPr>
          <a:lstStyle/>
          <a:p>
            <a:r>
              <a:rPr lang="en-US" altLang="ja-JP" sz="1050" dirty="0">
                <a:solidFill>
                  <a:schemeClr val="tx1">
                    <a:lumMod val="50000"/>
                    <a:lumOff val="50000"/>
                  </a:schemeClr>
                </a:solidFill>
                <a:latin typeface="メイリオ" panose="020B0604030504040204" pitchFamily="50" charset="-128"/>
                <a:ea typeface="メイリオ" panose="020B0604030504040204" pitchFamily="50" charset="-128"/>
              </a:rPr>
              <a:t> </a:t>
            </a:r>
            <a:r>
              <a:rPr lang="ja-JP" altLang="en-US" sz="1050" dirty="0">
                <a:solidFill>
                  <a:schemeClr val="tx1">
                    <a:lumMod val="50000"/>
                    <a:lumOff val="50000"/>
                  </a:schemeClr>
                </a:solidFill>
                <a:latin typeface="メイリオ" panose="020B0604030504040204" pitchFamily="50" charset="-128"/>
                <a:ea typeface="メイリオ" panose="020B0604030504040204" pitchFamily="50" charset="-128"/>
              </a:rPr>
              <a:t>✓ </a:t>
            </a:r>
            <a:r>
              <a:rPr lang="en-US" altLang="ja-JP" sz="1050" dirty="0">
                <a:solidFill>
                  <a:schemeClr val="tx1">
                    <a:lumMod val="50000"/>
                    <a:lumOff val="50000"/>
                  </a:schemeClr>
                </a:solidFill>
                <a:latin typeface="メイリオ" panose="020B0604030504040204" pitchFamily="50" charset="-128"/>
                <a:ea typeface="メイリオ" panose="020B0604030504040204" pitchFamily="50" charset="-128"/>
              </a:rPr>
              <a:t>API</a:t>
            </a:r>
            <a:r>
              <a:rPr lang="ja-JP" altLang="en-US" sz="1050" dirty="0">
                <a:solidFill>
                  <a:schemeClr val="tx1">
                    <a:lumMod val="50000"/>
                    <a:lumOff val="50000"/>
                  </a:schemeClr>
                </a:solidFill>
                <a:latin typeface="メイリオ" panose="020B0604030504040204" pitchFamily="50" charset="-128"/>
                <a:ea typeface="メイリオ" panose="020B0604030504040204" pitchFamily="50" charset="-128"/>
              </a:rPr>
              <a:t>ツール ✓複数の成果地点とそれに伴う成果単価</a:t>
            </a:r>
            <a:endParaRPr lang="en-US" altLang="ja-JP" sz="1050"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ja-JP" altLang="en-US" sz="1050" dirty="0">
                <a:solidFill>
                  <a:schemeClr val="tx1">
                    <a:lumMod val="50000"/>
                    <a:lumOff val="50000"/>
                  </a:schemeClr>
                </a:solidFill>
                <a:latin typeface="メイリオ" panose="020B0604030504040204" pitchFamily="50" charset="-128"/>
                <a:ea typeface="メイリオ" panose="020B0604030504040204" pitchFamily="50" charset="-128"/>
              </a:rPr>
              <a:t> に基づいて、契約における条件の調整が可能です。</a:t>
            </a:r>
            <a:endParaRPr lang="en-US" altLang="ja-JP" sz="1050" dirty="0">
              <a:solidFill>
                <a:schemeClr val="tx1">
                  <a:lumMod val="50000"/>
                  <a:lumOff val="50000"/>
                </a:schemeClr>
              </a:solidFill>
              <a:latin typeface="メイリオ" panose="020B0604030504040204" pitchFamily="50" charset="-128"/>
              <a:ea typeface="メイリオ" panose="020B0604030504040204" pitchFamily="50" charset="-128"/>
            </a:endParaRPr>
          </a:p>
        </p:txBody>
      </p:sp>
      <p:cxnSp>
        <p:nvCxnSpPr>
          <p:cNvPr id="41" name="直線矢印コネクタ 40">
            <a:extLst>
              <a:ext uri="{FF2B5EF4-FFF2-40B4-BE49-F238E27FC236}">
                <a16:creationId xmlns:a16="http://schemas.microsoft.com/office/drawing/2014/main" id="{3C75F8CA-AB1D-7749-481F-57570BE4B193}"/>
              </a:ext>
            </a:extLst>
          </p:cNvPr>
          <p:cNvCxnSpPr>
            <a:cxnSpLocks/>
            <a:stCxn id="16" idx="3"/>
          </p:cNvCxnSpPr>
          <p:nvPr/>
        </p:nvCxnSpPr>
        <p:spPr>
          <a:xfrm>
            <a:off x="6029717" y="1873253"/>
            <a:ext cx="2472656" cy="0"/>
          </a:xfrm>
          <a:prstGeom prst="straightConnector1">
            <a:avLst/>
          </a:prstGeom>
          <a:ln>
            <a:solidFill>
              <a:srgbClr val="FF0000"/>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48" name="正方形/長方形 47">
            <a:extLst>
              <a:ext uri="{FF2B5EF4-FFF2-40B4-BE49-F238E27FC236}">
                <a16:creationId xmlns:a16="http://schemas.microsoft.com/office/drawing/2014/main" id="{C7C50C22-3D43-6C8E-7118-95F98A2DC0F9}"/>
              </a:ext>
            </a:extLst>
          </p:cNvPr>
          <p:cNvSpPr/>
          <p:nvPr/>
        </p:nvSpPr>
        <p:spPr>
          <a:xfrm>
            <a:off x="8502373" y="1789945"/>
            <a:ext cx="503628" cy="166616"/>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600" dirty="0">
                <a:solidFill>
                  <a:schemeClr val="bg1"/>
                </a:solidFill>
                <a:latin typeface="メイリオ" panose="020B0604030504040204" pitchFamily="50" charset="-128"/>
                <a:ea typeface="メイリオ" panose="020B0604030504040204" pitchFamily="50" charset="-128"/>
              </a:rPr>
              <a:t>10</a:t>
            </a:r>
            <a:r>
              <a:rPr kumimoji="1" lang="ja-JP" altLang="en-US" sz="600" dirty="0">
                <a:solidFill>
                  <a:schemeClr val="bg1"/>
                </a:solidFill>
                <a:latin typeface="メイリオ" panose="020B0604030504040204" pitchFamily="50" charset="-128"/>
                <a:ea typeface="メイリオ" panose="020B0604030504040204" pitchFamily="50" charset="-128"/>
              </a:rPr>
              <a:t>日後</a:t>
            </a:r>
          </a:p>
        </p:txBody>
      </p:sp>
      <p:sp>
        <p:nvSpPr>
          <p:cNvPr id="50" name="正方形/長方形 49">
            <a:extLst>
              <a:ext uri="{FF2B5EF4-FFF2-40B4-BE49-F238E27FC236}">
                <a16:creationId xmlns:a16="http://schemas.microsoft.com/office/drawing/2014/main" id="{D2356226-E20C-9118-F99F-C9E163470ACF}"/>
              </a:ext>
            </a:extLst>
          </p:cNvPr>
          <p:cNvSpPr/>
          <p:nvPr/>
        </p:nvSpPr>
        <p:spPr>
          <a:xfrm>
            <a:off x="7302164" y="1986273"/>
            <a:ext cx="503628" cy="166616"/>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600" dirty="0">
                <a:solidFill>
                  <a:schemeClr val="bg1"/>
                </a:solidFill>
                <a:latin typeface="メイリオ" panose="020B0604030504040204" pitchFamily="50" charset="-128"/>
                <a:ea typeface="メイリオ" panose="020B0604030504040204" pitchFamily="50" charset="-128"/>
              </a:rPr>
              <a:t>未回答</a:t>
            </a:r>
          </a:p>
        </p:txBody>
      </p:sp>
      <p:sp>
        <p:nvSpPr>
          <p:cNvPr id="51" name="正方形/長方形 50">
            <a:extLst>
              <a:ext uri="{FF2B5EF4-FFF2-40B4-BE49-F238E27FC236}">
                <a16:creationId xmlns:a16="http://schemas.microsoft.com/office/drawing/2014/main" id="{B78951B1-4D17-2544-74F5-B18E0BD48A94}"/>
              </a:ext>
            </a:extLst>
          </p:cNvPr>
          <p:cNvSpPr/>
          <p:nvPr/>
        </p:nvSpPr>
        <p:spPr>
          <a:xfrm>
            <a:off x="8502373" y="1980991"/>
            <a:ext cx="503628" cy="166616"/>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600" dirty="0">
                <a:solidFill>
                  <a:schemeClr val="bg1"/>
                </a:solidFill>
                <a:latin typeface="メイリオ" panose="020B0604030504040204" pitchFamily="50" charset="-128"/>
                <a:ea typeface="メイリオ" panose="020B0604030504040204" pitchFamily="50" charset="-128"/>
              </a:rPr>
              <a:t>未回答</a:t>
            </a:r>
            <a:endParaRPr kumimoji="1" lang="ja-JP" altLang="en-US" sz="600" dirty="0">
              <a:solidFill>
                <a:schemeClr val="bg1"/>
              </a:solidFill>
              <a:latin typeface="メイリオ" panose="020B0604030504040204" pitchFamily="50" charset="-128"/>
              <a:ea typeface="メイリオ" panose="020B0604030504040204" pitchFamily="50" charset="-128"/>
            </a:endParaRPr>
          </a:p>
        </p:txBody>
      </p:sp>
      <p:cxnSp>
        <p:nvCxnSpPr>
          <p:cNvPr id="54" name="コネクタ: カギ線 53">
            <a:extLst>
              <a:ext uri="{FF2B5EF4-FFF2-40B4-BE49-F238E27FC236}">
                <a16:creationId xmlns:a16="http://schemas.microsoft.com/office/drawing/2014/main" id="{9AAF7DE6-A4BF-3A79-F5FB-1D24DC5D4A56}"/>
              </a:ext>
            </a:extLst>
          </p:cNvPr>
          <p:cNvCxnSpPr>
            <a:stCxn id="16" idx="3"/>
            <a:endCxn id="50" idx="1"/>
          </p:cNvCxnSpPr>
          <p:nvPr/>
        </p:nvCxnSpPr>
        <p:spPr>
          <a:xfrm>
            <a:off x="6029717" y="1873253"/>
            <a:ext cx="1272447" cy="196328"/>
          </a:xfrm>
          <a:prstGeom prst="bentConnector3">
            <a:avLst>
              <a:gd name="adj1" fmla="val 70211"/>
            </a:avLst>
          </a:prstGeom>
          <a:ln>
            <a:solidFill>
              <a:srgbClr val="FF0000"/>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57" name="コネクタ: カギ線 56">
            <a:extLst>
              <a:ext uri="{FF2B5EF4-FFF2-40B4-BE49-F238E27FC236}">
                <a16:creationId xmlns:a16="http://schemas.microsoft.com/office/drawing/2014/main" id="{76ACAA41-83DB-CA83-5B7D-33F8FDF68E1F}"/>
              </a:ext>
            </a:extLst>
          </p:cNvPr>
          <p:cNvCxnSpPr>
            <a:cxnSpLocks/>
            <a:stCxn id="16" idx="3"/>
            <a:endCxn id="51" idx="1"/>
          </p:cNvCxnSpPr>
          <p:nvPr/>
        </p:nvCxnSpPr>
        <p:spPr>
          <a:xfrm>
            <a:off x="6029717" y="1873253"/>
            <a:ext cx="2472656" cy="191046"/>
          </a:xfrm>
          <a:prstGeom prst="bentConnector3">
            <a:avLst>
              <a:gd name="adj1" fmla="val 80239"/>
            </a:avLst>
          </a:prstGeom>
          <a:ln>
            <a:solidFill>
              <a:srgbClr val="FF0000"/>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61" name="正方形/長方形 60">
            <a:extLst>
              <a:ext uri="{FF2B5EF4-FFF2-40B4-BE49-F238E27FC236}">
                <a16:creationId xmlns:a16="http://schemas.microsoft.com/office/drawing/2014/main" id="{C1825D74-634C-9E36-9ECC-717EDC08D01D}"/>
              </a:ext>
            </a:extLst>
          </p:cNvPr>
          <p:cNvSpPr/>
          <p:nvPr/>
        </p:nvSpPr>
        <p:spPr>
          <a:xfrm>
            <a:off x="7302164" y="1795227"/>
            <a:ext cx="503628" cy="166616"/>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600" dirty="0">
                <a:solidFill>
                  <a:schemeClr val="bg1"/>
                </a:solidFill>
                <a:latin typeface="メイリオ" panose="020B0604030504040204" pitchFamily="50" charset="-128"/>
                <a:ea typeface="メイリオ" panose="020B0604030504040204" pitchFamily="50" charset="-128"/>
              </a:rPr>
              <a:t>5</a:t>
            </a:r>
            <a:r>
              <a:rPr kumimoji="1" lang="ja-JP" altLang="en-US" sz="600" dirty="0">
                <a:solidFill>
                  <a:schemeClr val="bg1"/>
                </a:solidFill>
                <a:latin typeface="メイリオ" panose="020B0604030504040204" pitchFamily="50" charset="-128"/>
                <a:ea typeface="メイリオ" panose="020B0604030504040204" pitchFamily="50" charset="-128"/>
              </a:rPr>
              <a:t>日後</a:t>
            </a:r>
          </a:p>
        </p:txBody>
      </p:sp>
      <p:sp>
        <p:nvSpPr>
          <p:cNvPr id="62" name="正方形/長方形 61">
            <a:extLst>
              <a:ext uri="{FF2B5EF4-FFF2-40B4-BE49-F238E27FC236}">
                <a16:creationId xmlns:a16="http://schemas.microsoft.com/office/drawing/2014/main" id="{5151ACBE-C823-12BC-893C-27BAE6932995}"/>
              </a:ext>
            </a:extLst>
          </p:cNvPr>
          <p:cNvSpPr/>
          <p:nvPr/>
        </p:nvSpPr>
        <p:spPr>
          <a:xfrm>
            <a:off x="6101955" y="1792712"/>
            <a:ext cx="503628" cy="166616"/>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600" dirty="0">
                <a:solidFill>
                  <a:schemeClr val="bg1"/>
                </a:solidFill>
                <a:latin typeface="メイリオ" panose="020B0604030504040204" pitchFamily="50" charset="-128"/>
                <a:ea typeface="メイリオ" panose="020B0604030504040204" pitchFamily="50" charset="-128"/>
              </a:rPr>
              <a:t>3</a:t>
            </a:r>
            <a:r>
              <a:rPr kumimoji="1" lang="ja-JP" altLang="en-US" sz="600" dirty="0">
                <a:solidFill>
                  <a:schemeClr val="bg1"/>
                </a:solidFill>
                <a:latin typeface="メイリオ" panose="020B0604030504040204" pitchFamily="50" charset="-128"/>
                <a:ea typeface="メイリオ" panose="020B0604030504040204" pitchFamily="50" charset="-128"/>
              </a:rPr>
              <a:t>日後</a:t>
            </a:r>
          </a:p>
        </p:txBody>
      </p:sp>
      <p:cxnSp>
        <p:nvCxnSpPr>
          <p:cNvPr id="63" name="直線矢印コネクタ 62">
            <a:extLst>
              <a:ext uri="{FF2B5EF4-FFF2-40B4-BE49-F238E27FC236}">
                <a16:creationId xmlns:a16="http://schemas.microsoft.com/office/drawing/2014/main" id="{4579CA69-5B2F-0843-0A27-914CF103589C}"/>
              </a:ext>
            </a:extLst>
          </p:cNvPr>
          <p:cNvCxnSpPr>
            <a:cxnSpLocks/>
          </p:cNvCxnSpPr>
          <p:nvPr/>
        </p:nvCxnSpPr>
        <p:spPr>
          <a:xfrm>
            <a:off x="6029717" y="2297422"/>
            <a:ext cx="2472656" cy="0"/>
          </a:xfrm>
          <a:prstGeom prst="straightConnector1">
            <a:avLst/>
          </a:prstGeom>
          <a:ln>
            <a:solidFill>
              <a:srgbClr val="FF0000"/>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65" name="コネクタ: カギ線 64">
            <a:extLst>
              <a:ext uri="{FF2B5EF4-FFF2-40B4-BE49-F238E27FC236}">
                <a16:creationId xmlns:a16="http://schemas.microsoft.com/office/drawing/2014/main" id="{8F57977B-34B8-7FE2-E800-D3FDB3F4B342}"/>
              </a:ext>
            </a:extLst>
          </p:cNvPr>
          <p:cNvCxnSpPr>
            <a:cxnSpLocks/>
          </p:cNvCxnSpPr>
          <p:nvPr/>
        </p:nvCxnSpPr>
        <p:spPr>
          <a:xfrm>
            <a:off x="6029717" y="2297422"/>
            <a:ext cx="2472656" cy="191046"/>
          </a:xfrm>
          <a:prstGeom prst="bentConnector3">
            <a:avLst>
              <a:gd name="adj1" fmla="val 80239"/>
            </a:avLst>
          </a:prstGeom>
          <a:ln>
            <a:solidFill>
              <a:srgbClr val="FF0000"/>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66" name="正方形/長方形 65">
            <a:extLst>
              <a:ext uri="{FF2B5EF4-FFF2-40B4-BE49-F238E27FC236}">
                <a16:creationId xmlns:a16="http://schemas.microsoft.com/office/drawing/2014/main" id="{B4580F79-A6B6-6CB7-42C9-9E72234E928E}"/>
              </a:ext>
            </a:extLst>
          </p:cNvPr>
          <p:cNvSpPr/>
          <p:nvPr/>
        </p:nvSpPr>
        <p:spPr>
          <a:xfrm>
            <a:off x="6101955" y="2207648"/>
            <a:ext cx="503628" cy="166616"/>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600" dirty="0">
                <a:solidFill>
                  <a:schemeClr val="bg1"/>
                </a:solidFill>
                <a:latin typeface="メイリオ" panose="020B0604030504040204" pitchFamily="50" charset="-128"/>
                <a:ea typeface="メイリオ" panose="020B0604030504040204" pitchFamily="50" charset="-128"/>
              </a:rPr>
              <a:t>5</a:t>
            </a:r>
            <a:r>
              <a:rPr kumimoji="1" lang="ja-JP" altLang="en-US" sz="600" dirty="0">
                <a:solidFill>
                  <a:schemeClr val="bg1"/>
                </a:solidFill>
                <a:latin typeface="メイリオ" panose="020B0604030504040204" pitchFamily="50" charset="-128"/>
                <a:ea typeface="メイリオ" panose="020B0604030504040204" pitchFamily="50" charset="-128"/>
              </a:rPr>
              <a:t>日後</a:t>
            </a:r>
          </a:p>
        </p:txBody>
      </p:sp>
      <p:sp>
        <p:nvSpPr>
          <p:cNvPr id="67" name="正方形/長方形 66">
            <a:extLst>
              <a:ext uri="{FF2B5EF4-FFF2-40B4-BE49-F238E27FC236}">
                <a16:creationId xmlns:a16="http://schemas.microsoft.com/office/drawing/2014/main" id="{1AE63C1F-BD64-D8ED-A701-8ADCA2511466}"/>
              </a:ext>
            </a:extLst>
          </p:cNvPr>
          <p:cNvSpPr/>
          <p:nvPr/>
        </p:nvSpPr>
        <p:spPr>
          <a:xfrm>
            <a:off x="7302164" y="2210163"/>
            <a:ext cx="503628" cy="166616"/>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600" dirty="0">
                <a:solidFill>
                  <a:schemeClr val="bg1"/>
                </a:solidFill>
                <a:latin typeface="メイリオ" panose="020B0604030504040204" pitchFamily="50" charset="-128"/>
                <a:ea typeface="メイリオ" panose="020B0604030504040204" pitchFamily="50" charset="-128"/>
              </a:rPr>
              <a:t>15</a:t>
            </a:r>
            <a:r>
              <a:rPr kumimoji="1" lang="ja-JP" altLang="en-US" sz="600" dirty="0">
                <a:solidFill>
                  <a:schemeClr val="bg1"/>
                </a:solidFill>
                <a:latin typeface="メイリオ" panose="020B0604030504040204" pitchFamily="50" charset="-128"/>
                <a:ea typeface="メイリオ" panose="020B0604030504040204" pitchFamily="50" charset="-128"/>
              </a:rPr>
              <a:t>日後</a:t>
            </a:r>
          </a:p>
        </p:txBody>
      </p:sp>
      <p:sp>
        <p:nvSpPr>
          <p:cNvPr id="68" name="正方形/長方形 67">
            <a:extLst>
              <a:ext uri="{FF2B5EF4-FFF2-40B4-BE49-F238E27FC236}">
                <a16:creationId xmlns:a16="http://schemas.microsoft.com/office/drawing/2014/main" id="{64057BAB-625B-5994-36D5-E83BE7E59586}"/>
              </a:ext>
            </a:extLst>
          </p:cNvPr>
          <p:cNvSpPr/>
          <p:nvPr/>
        </p:nvSpPr>
        <p:spPr>
          <a:xfrm>
            <a:off x="8502373" y="2204881"/>
            <a:ext cx="503628" cy="166616"/>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600" dirty="0">
                <a:solidFill>
                  <a:schemeClr val="bg1"/>
                </a:solidFill>
                <a:latin typeface="メイリオ" panose="020B0604030504040204" pitchFamily="50" charset="-128"/>
                <a:ea typeface="メイリオ" panose="020B0604030504040204" pitchFamily="50" charset="-128"/>
              </a:rPr>
              <a:t>30</a:t>
            </a:r>
            <a:r>
              <a:rPr kumimoji="1" lang="ja-JP" altLang="en-US" sz="600" dirty="0">
                <a:solidFill>
                  <a:schemeClr val="bg1"/>
                </a:solidFill>
                <a:latin typeface="メイリオ" panose="020B0604030504040204" pitchFamily="50" charset="-128"/>
                <a:ea typeface="メイリオ" panose="020B0604030504040204" pitchFamily="50" charset="-128"/>
              </a:rPr>
              <a:t>日後</a:t>
            </a:r>
          </a:p>
        </p:txBody>
      </p:sp>
      <p:sp>
        <p:nvSpPr>
          <p:cNvPr id="69" name="正方形/長方形 68">
            <a:extLst>
              <a:ext uri="{FF2B5EF4-FFF2-40B4-BE49-F238E27FC236}">
                <a16:creationId xmlns:a16="http://schemas.microsoft.com/office/drawing/2014/main" id="{878D4A23-0BCD-1E38-061D-650AD132E3D9}"/>
              </a:ext>
            </a:extLst>
          </p:cNvPr>
          <p:cNvSpPr/>
          <p:nvPr/>
        </p:nvSpPr>
        <p:spPr>
          <a:xfrm>
            <a:off x="8502373" y="2394616"/>
            <a:ext cx="503628" cy="166616"/>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600" dirty="0">
                <a:solidFill>
                  <a:schemeClr val="bg1"/>
                </a:solidFill>
                <a:latin typeface="メイリオ" panose="020B0604030504040204" pitchFamily="50" charset="-128"/>
                <a:ea typeface="メイリオ" panose="020B0604030504040204" pitchFamily="50" charset="-128"/>
              </a:rPr>
              <a:t>未回答</a:t>
            </a:r>
            <a:endParaRPr kumimoji="1" lang="ja-JP" altLang="en-US" sz="600" dirty="0">
              <a:solidFill>
                <a:schemeClr val="bg1"/>
              </a:solidFill>
              <a:latin typeface="メイリオ" panose="020B0604030504040204" pitchFamily="50" charset="-128"/>
              <a:ea typeface="メイリオ" panose="020B0604030504040204" pitchFamily="50" charset="-128"/>
            </a:endParaRPr>
          </a:p>
        </p:txBody>
      </p:sp>
      <p:sp>
        <p:nvSpPr>
          <p:cNvPr id="17" name="正方形/長方形 16">
            <a:extLst>
              <a:ext uri="{FF2B5EF4-FFF2-40B4-BE49-F238E27FC236}">
                <a16:creationId xmlns:a16="http://schemas.microsoft.com/office/drawing/2014/main" id="{5D385AB6-97DE-E2AB-6E27-3BFD5D3B3C5D}"/>
              </a:ext>
            </a:extLst>
          </p:cNvPr>
          <p:cNvSpPr/>
          <p:nvPr/>
        </p:nvSpPr>
        <p:spPr>
          <a:xfrm>
            <a:off x="3996942" y="122215"/>
            <a:ext cx="2083719" cy="320757"/>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rPr>
              <a:t>DYM</a:t>
            </a:r>
            <a:r>
              <a:rPr kumimoji="1" lang="ja-JP" altLang="en-US" sz="1400" dirty="0">
                <a:latin typeface="メイリオ" panose="020B0604030504040204" pitchFamily="50" charset="-128"/>
                <a:ea typeface="メイリオ" panose="020B0604030504040204" pitchFamily="50" charset="-128"/>
              </a:rPr>
              <a:t>プラン</a:t>
            </a:r>
          </a:p>
        </p:txBody>
      </p:sp>
    </p:spTree>
    <p:extLst>
      <p:ext uri="{BB962C8B-B14F-4D97-AF65-F5344CB8AC3E}">
        <p14:creationId xmlns:p14="http://schemas.microsoft.com/office/powerpoint/2010/main" val="4098285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094FA4-D911-000B-186B-940B357210A1}"/>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E5360B94-F496-92C9-5C32-EC2AC1564015}"/>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chemeClr val="bg1">
                    <a:lumMod val="65000"/>
                  </a:schemeClr>
                </a:solidFill>
                <a:latin typeface="メイリオ" panose="020B0604030504040204" pitchFamily="50" charset="-128"/>
                <a:ea typeface="メイリオ" panose="020B0604030504040204" pitchFamily="50" charset="-128"/>
                <a:cs typeface="Meiryo"/>
                <a:sym typeface="Meiryo"/>
              </a:rPr>
              <a:t>アジェンダ</a:t>
            </a:r>
          </a:p>
        </p:txBody>
      </p:sp>
      <p:sp>
        <p:nvSpPr>
          <p:cNvPr id="14" name="Google Shape;752;p28">
            <a:extLst>
              <a:ext uri="{FF2B5EF4-FFF2-40B4-BE49-F238E27FC236}">
                <a16:creationId xmlns:a16="http://schemas.microsoft.com/office/drawing/2014/main" id="{2E4BE408-251A-7ED1-17D3-E2E4ABC5E278}"/>
              </a:ext>
            </a:extLst>
          </p:cNvPr>
          <p:cNvSpPr txBox="1"/>
          <p:nvPr/>
        </p:nvSpPr>
        <p:spPr>
          <a:xfrm>
            <a:off x="602223" y="1104688"/>
            <a:ext cx="1104657" cy="584735"/>
          </a:xfrm>
          <a:prstGeom prst="rect">
            <a:avLst/>
          </a:prstGeom>
          <a:noFill/>
          <a:ln>
            <a:noFill/>
          </a:ln>
        </p:spPr>
        <p:txBody>
          <a:bodyPr spcFirstLastPara="1" wrap="square" lIns="91425" tIns="45700" rIns="91425" bIns="45700" anchor="ctr" anchorCtr="0">
            <a:spAutoFit/>
          </a:bodyPr>
          <a:lstStyle/>
          <a:p>
            <a:pPr lvl="0"/>
            <a:r>
              <a:rPr lang="en-US" altLang="ja-JP" sz="3200" b="1" dirty="0">
                <a:solidFill>
                  <a:srgbClr val="323366"/>
                </a:solidFill>
                <a:latin typeface="メイリオ" panose="020B0604030504040204" pitchFamily="50" charset="-128"/>
                <a:ea typeface="メイリオ" panose="020B0604030504040204" pitchFamily="50" charset="-128"/>
                <a:cs typeface="Meiryo"/>
                <a:sym typeface="Meiryo"/>
              </a:rPr>
              <a:t>05</a:t>
            </a:r>
            <a:endParaRPr lang="ja-JP" altLang="en-US" sz="3200" b="1" dirty="0">
              <a:solidFill>
                <a:srgbClr val="323366"/>
              </a:solidFill>
              <a:latin typeface="メイリオ" panose="020B0604030504040204" pitchFamily="50" charset="-128"/>
              <a:ea typeface="メイリオ" panose="020B0604030504040204" pitchFamily="50" charset="-128"/>
              <a:cs typeface="Meiryo"/>
              <a:sym typeface="Meiryo"/>
            </a:endParaRPr>
          </a:p>
        </p:txBody>
      </p:sp>
      <p:sp>
        <p:nvSpPr>
          <p:cNvPr id="16" name="Google Shape;752;p28">
            <a:extLst>
              <a:ext uri="{FF2B5EF4-FFF2-40B4-BE49-F238E27FC236}">
                <a16:creationId xmlns:a16="http://schemas.microsoft.com/office/drawing/2014/main" id="{9B6D6E21-585B-EA4B-DB51-75A8EE77309D}"/>
              </a:ext>
            </a:extLst>
          </p:cNvPr>
          <p:cNvSpPr txBox="1"/>
          <p:nvPr/>
        </p:nvSpPr>
        <p:spPr>
          <a:xfrm>
            <a:off x="1867143" y="1043132"/>
            <a:ext cx="5966217" cy="707846"/>
          </a:xfrm>
          <a:prstGeom prst="rect">
            <a:avLst/>
          </a:prstGeom>
          <a:noFill/>
          <a:ln>
            <a:noFill/>
          </a:ln>
        </p:spPr>
        <p:txBody>
          <a:bodyPr spcFirstLastPara="1" wrap="square" lIns="91425" tIns="45700" rIns="91425" bIns="45700" anchor="ctr" anchorCtr="0">
            <a:spAutoFit/>
          </a:bodyPr>
          <a:lstStyle/>
          <a:p>
            <a:pPr lvl="0"/>
            <a:r>
              <a:rPr lang="ja-JP" altLang="en-US" sz="4000" b="1" dirty="0">
                <a:solidFill>
                  <a:schemeClr val="tx1">
                    <a:lumMod val="65000"/>
                    <a:lumOff val="35000"/>
                  </a:schemeClr>
                </a:solidFill>
                <a:latin typeface="メイリオ" panose="020B0604030504040204" pitchFamily="50" charset="-128"/>
                <a:ea typeface="メイリオ" panose="020B0604030504040204" pitchFamily="50" charset="-128"/>
                <a:cs typeface="Meiryo"/>
                <a:sym typeface="Meiryo"/>
              </a:rPr>
              <a:t>サポート体制</a:t>
            </a:r>
          </a:p>
        </p:txBody>
      </p:sp>
      <p:cxnSp>
        <p:nvCxnSpPr>
          <p:cNvPr id="17" name="直線コネクタ 16">
            <a:extLst>
              <a:ext uri="{FF2B5EF4-FFF2-40B4-BE49-F238E27FC236}">
                <a16:creationId xmlns:a16="http://schemas.microsoft.com/office/drawing/2014/main" id="{7E8CBA0C-5F08-1BB2-E25B-5B850FE183D0}"/>
              </a:ext>
            </a:extLst>
          </p:cNvPr>
          <p:cNvCxnSpPr>
            <a:cxnSpLocks/>
          </p:cNvCxnSpPr>
          <p:nvPr/>
        </p:nvCxnSpPr>
        <p:spPr>
          <a:xfrm>
            <a:off x="608527" y="1681803"/>
            <a:ext cx="944805" cy="0"/>
          </a:xfrm>
          <a:prstGeom prst="line">
            <a:avLst/>
          </a:prstGeom>
          <a:ln w="57150">
            <a:solidFill>
              <a:srgbClr val="10253F"/>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6045570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正方形/長方形 5"/>
          <p:cNvSpPr/>
          <p:nvPr/>
        </p:nvSpPr>
        <p:spPr>
          <a:xfrm>
            <a:off x="300312" y="832762"/>
            <a:ext cx="9355994" cy="867143"/>
          </a:xfrm>
          <a:prstGeom prst="rect">
            <a:avLst/>
          </a:prstGeom>
          <a:solidFill>
            <a:schemeClr val="tx2"/>
          </a:solidFill>
          <a:ln w="22225">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ja-JP" sz="2400" dirty="0">
                <a:solidFill>
                  <a:schemeClr val="bg1"/>
                </a:solidFill>
                <a:latin typeface="メイリオ" panose="020B0604030504040204" pitchFamily="50" charset="-128"/>
                <a:ea typeface="メイリオ" panose="020B0604030504040204" pitchFamily="50" charset="-128"/>
              </a:rPr>
              <a:t>WEB</a:t>
            </a:r>
            <a:r>
              <a:rPr lang="ja-JP" altLang="en-US" sz="2400" dirty="0">
                <a:solidFill>
                  <a:schemeClr val="bg1"/>
                </a:solidFill>
                <a:latin typeface="メイリオ" panose="020B0604030504040204" pitchFamily="50" charset="-128"/>
                <a:ea typeface="メイリオ" panose="020B0604030504040204" pitchFamily="50" charset="-128"/>
              </a:rPr>
              <a:t>サイト上情報と連携させ、配信効果を数値化する</a:t>
            </a:r>
          </a:p>
        </p:txBody>
      </p:sp>
      <p:pic>
        <p:nvPicPr>
          <p:cNvPr id="7" name="図 6"/>
          <p:cNvPicPr>
            <a:picLocks noChangeAspect="1"/>
          </p:cNvPicPr>
          <p:nvPr/>
        </p:nvPicPr>
        <p:blipFill>
          <a:blip r:embed="rId3"/>
          <a:stretch>
            <a:fillRect/>
          </a:stretch>
        </p:blipFill>
        <p:spPr>
          <a:xfrm>
            <a:off x="1183616" y="2131090"/>
            <a:ext cx="2498573" cy="1744287"/>
          </a:xfrm>
          <a:prstGeom prst="rect">
            <a:avLst/>
          </a:prstGeom>
        </p:spPr>
      </p:pic>
      <p:pic>
        <p:nvPicPr>
          <p:cNvPr id="8" name="図 7"/>
          <p:cNvPicPr>
            <a:picLocks noChangeAspect="1"/>
          </p:cNvPicPr>
          <p:nvPr/>
        </p:nvPicPr>
        <p:blipFill>
          <a:blip r:embed="rId4"/>
          <a:stretch>
            <a:fillRect/>
          </a:stretch>
        </p:blipFill>
        <p:spPr>
          <a:xfrm>
            <a:off x="3456146" y="2402524"/>
            <a:ext cx="2393091" cy="1668595"/>
          </a:xfrm>
          <a:prstGeom prst="rect">
            <a:avLst/>
          </a:prstGeom>
        </p:spPr>
      </p:pic>
      <p:pic>
        <p:nvPicPr>
          <p:cNvPr id="10" name="図 9"/>
          <p:cNvPicPr>
            <a:picLocks noChangeAspect="1"/>
          </p:cNvPicPr>
          <p:nvPr/>
        </p:nvPicPr>
        <p:blipFill>
          <a:blip r:embed="rId5"/>
          <a:stretch>
            <a:fillRect/>
          </a:stretch>
        </p:blipFill>
        <p:spPr>
          <a:xfrm>
            <a:off x="5697714" y="2676687"/>
            <a:ext cx="2432174" cy="1698131"/>
          </a:xfrm>
          <a:prstGeom prst="rect">
            <a:avLst/>
          </a:prstGeom>
        </p:spPr>
      </p:pic>
      <p:pic>
        <p:nvPicPr>
          <p:cNvPr id="14" name="図 13"/>
          <p:cNvPicPr>
            <a:picLocks noChangeAspect="1"/>
          </p:cNvPicPr>
          <p:nvPr/>
        </p:nvPicPr>
        <p:blipFill>
          <a:blip r:embed="rId6"/>
          <a:stretch>
            <a:fillRect/>
          </a:stretch>
        </p:blipFill>
        <p:spPr>
          <a:xfrm>
            <a:off x="1158180" y="4165451"/>
            <a:ext cx="2417022" cy="1682579"/>
          </a:xfrm>
          <a:prstGeom prst="rect">
            <a:avLst/>
          </a:prstGeom>
        </p:spPr>
      </p:pic>
      <p:pic>
        <p:nvPicPr>
          <p:cNvPr id="15" name="図 14"/>
          <p:cNvPicPr>
            <a:picLocks noChangeAspect="1"/>
          </p:cNvPicPr>
          <p:nvPr/>
        </p:nvPicPr>
        <p:blipFill>
          <a:blip r:embed="rId7"/>
          <a:stretch>
            <a:fillRect/>
          </a:stretch>
        </p:blipFill>
        <p:spPr>
          <a:xfrm>
            <a:off x="3434655" y="4410829"/>
            <a:ext cx="2417022" cy="1683209"/>
          </a:xfrm>
          <a:prstGeom prst="rect">
            <a:avLst/>
          </a:prstGeom>
        </p:spPr>
      </p:pic>
      <p:pic>
        <p:nvPicPr>
          <p:cNvPr id="24" name="図 23"/>
          <p:cNvPicPr>
            <a:picLocks noChangeAspect="1"/>
          </p:cNvPicPr>
          <p:nvPr/>
        </p:nvPicPr>
        <p:blipFill>
          <a:blip r:embed="rId8"/>
          <a:stretch>
            <a:fillRect/>
          </a:stretch>
        </p:blipFill>
        <p:spPr>
          <a:xfrm>
            <a:off x="5697714" y="4687135"/>
            <a:ext cx="2427146" cy="1691079"/>
          </a:xfrm>
          <a:prstGeom prst="rect">
            <a:avLst/>
          </a:prstGeom>
        </p:spPr>
      </p:pic>
      <p:pic>
        <p:nvPicPr>
          <p:cNvPr id="26" name="図 25"/>
          <p:cNvPicPr>
            <a:picLocks noChangeAspect="1"/>
          </p:cNvPicPr>
          <p:nvPr/>
        </p:nvPicPr>
        <p:blipFill>
          <a:blip r:embed="rId9"/>
          <a:stretch>
            <a:fillRect/>
          </a:stretch>
        </p:blipFill>
        <p:spPr>
          <a:xfrm>
            <a:off x="8022243" y="1995292"/>
            <a:ext cx="1068645" cy="454221"/>
          </a:xfrm>
          <a:prstGeom prst="rect">
            <a:avLst/>
          </a:prstGeom>
        </p:spPr>
      </p:pic>
      <p:sp>
        <p:nvSpPr>
          <p:cNvPr id="2" name="テキスト ボックス 1">
            <a:extLst>
              <a:ext uri="{FF2B5EF4-FFF2-40B4-BE49-F238E27FC236}">
                <a16:creationId xmlns:a16="http://schemas.microsoft.com/office/drawing/2014/main" id="{D651C636-9CF1-15AA-68DF-A90526709D47}"/>
              </a:ext>
            </a:extLst>
          </p:cNvPr>
          <p:cNvSpPr txBox="1"/>
          <p:nvPr/>
        </p:nvSpPr>
        <p:spPr>
          <a:xfrm>
            <a:off x="482693" y="989115"/>
            <a:ext cx="933809" cy="646331"/>
          </a:xfrm>
          <a:prstGeom prst="rect">
            <a:avLst/>
          </a:prstGeom>
          <a:noFill/>
        </p:spPr>
        <p:txBody>
          <a:bodyPr wrap="square">
            <a:spAutoFit/>
          </a:bodyPr>
          <a:lstStyle/>
          <a:p>
            <a:r>
              <a:rPr lang="ja-JP" altLang="en-US" sz="3600" dirty="0">
                <a:solidFill>
                  <a:schemeClr val="bg1"/>
                </a:solidFill>
                <a:latin typeface="メイリオ" panose="020B0604030504040204" pitchFamily="50" charset="-128"/>
                <a:ea typeface="メイリオ" panose="020B0604030504040204" pitchFamily="50" charset="-128"/>
              </a:rPr>
              <a:t>☑</a:t>
            </a:r>
            <a:endParaRPr lang="ja-JP" altLang="en-US" sz="3600" dirty="0"/>
          </a:p>
        </p:txBody>
      </p:sp>
      <p:pic>
        <p:nvPicPr>
          <p:cNvPr id="3" name="Picture 2" descr="ロゴガイドライン｜LINEヤフー for Business">
            <a:extLst>
              <a:ext uri="{FF2B5EF4-FFF2-40B4-BE49-F238E27FC236}">
                <a16:creationId xmlns:a16="http://schemas.microsoft.com/office/drawing/2014/main" id="{4B935F7B-C5E5-F09A-504B-9182D06611BF}"/>
              </a:ext>
            </a:extLst>
          </p:cNvPr>
          <p:cNvPicPr>
            <a:picLocks noChangeAspect="1" noChangeArrowheads="1"/>
          </p:cNvPicPr>
          <p:nvPr/>
        </p:nvPicPr>
        <p:blipFill>
          <a:blip r:embed="rId10" cstate="print">
            <a:extLst>
              <a:ext uri="{28A0092B-C50C-407E-A947-70E740481C1C}">
                <a14:useLocalDpi xmlns:a14="http://schemas.microsoft.com/office/drawing/2010/main" val="0"/>
              </a:ext>
            </a:extLst>
          </a:blip>
          <a:srcRect/>
          <a:stretch>
            <a:fillRect/>
          </a:stretch>
        </p:blipFill>
        <p:spPr bwMode="auto">
          <a:xfrm>
            <a:off x="6485508" y="1787991"/>
            <a:ext cx="2447955" cy="888696"/>
          </a:xfrm>
          <a:prstGeom prst="rect">
            <a:avLst/>
          </a:prstGeom>
          <a:noFill/>
          <a:extLst>
            <a:ext uri="{909E8E84-426E-40DD-AFC4-6F175D3DCCD1}">
              <a14:hiddenFill xmlns:a14="http://schemas.microsoft.com/office/drawing/2010/main">
                <a:solidFill>
                  <a:srgbClr val="FFFFFF"/>
                </a:solidFill>
              </a14:hiddenFill>
            </a:ext>
          </a:extLst>
        </p:spPr>
      </p:pic>
      <p:sp>
        <p:nvSpPr>
          <p:cNvPr id="4" name="Google Shape;156;p7">
            <a:extLst>
              <a:ext uri="{FF2B5EF4-FFF2-40B4-BE49-F238E27FC236}">
                <a16:creationId xmlns:a16="http://schemas.microsoft.com/office/drawing/2014/main" id="{C235E2E0-8EAB-29DE-40C2-6596465C1F0D}"/>
              </a:ext>
            </a:extLst>
          </p:cNvPr>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サポート体制（報告</a:t>
            </a:r>
            <a:r>
              <a:rPr lang="en-US" altLang="ja-JP" sz="1600" b="1" dirty="0">
                <a:solidFill>
                  <a:srgbClr val="002060"/>
                </a:solidFill>
                <a:latin typeface="Meiryo"/>
                <a:ea typeface="Meiryo"/>
                <a:cs typeface="Meiryo"/>
                <a:sym typeface="Meiryo"/>
              </a:rPr>
              <a:t>FMT</a:t>
            </a:r>
            <a:r>
              <a:rPr lang="ja-JP" altLang="en-US" sz="1600" b="1" dirty="0">
                <a:solidFill>
                  <a:srgbClr val="002060"/>
                </a:solidFill>
                <a:latin typeface="Meiryo"/>
                <a:ea typeface="Meiryo"/>
                <a:cs typeface="Meiryo"/>
                <a:sym typeface="Meiryo"/>
              </a:rPr>
              <a:t>）</a:t>
            </a:r>
            <a:endParaRPr sz="1600" b="1" dirty="0">
              <a:solidFill>
                <a:srgbClr val="002060"/>
              </a:solidFill>
              <a:latin typeface="Meiryo"/>
              <a:ea typeface="Meiryo"/>
              <a:cs typeface="Meiryo"/>
              <a:sym typeface="Meiryo"/>
            </a:endParaRPr>
          </a:p>
        </p:txBody>
      </p:sp>
      <p:sp>
        <p:nvSpPr>
          <p:cNvPr id="5" name="正方形/長方形 4">
            <a:extLst>
              <a:ext uri="{FF2B5EF4-FFF2-40B4-BE49-F238E27FC236}">
                <a16:creationId xmlns:a16="http://schemas.microsoft.com/office/drawing/2014/main" id="{301FEA49-75A4-DB83-1235-8CE72DDD1DB5}"/>
              </a:ext>
            </a:extLst>
          </p:cNvPr>
          <p:cNvSpPr/>
          <p:nvPr/>
        </p:nvSpPr>
        <p:spPr>
          <a:xfrm>
            <a:off x="166962" y="3583894"/>
            <a:ext cx="9594258" cy="867143"/>
          </a:xfrm>
          <a:prstGeom prst="rect">
            <a:avLst/>
          </a:prstGeom>
          <a:solidFill>
            <a:schemeClr val="tx1">
              <a:lumMod val="65000"/>
              <a:lumOff val="35000"/>
              <a:alpha val="50000"/>
            </a:schemeClr>
          </a:solidFill>
          <a:ln w="222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sz="2400" b="1" dirty="0">
                <a:solidFill>
                  <a:schemeClr val="bg1"/>
                </a:solidFill>
                <a:latin typeface="メイリオ" panose="020B0604030504040204" pitchFamily="50" charset="-128"/>
                <a:ea typeface="メイリオ" panose="020B0604030504040204" pitchFamily="50" charset="-128"/>
              </a:rPr>
              <a:t>レポートサンプル</a:t>
            </a:r>
            <a:endParaRPr lang="en-US" altLang="ja-JP" sz="2400" b="1" dirty="0">
              <a:solidFill>
                <a:schemeClr val="bg1"/>
              </a:solidFill>
              <a:latin typeface="メイリオ" panose="020B0604030504040204" pitchFamily="50" charset="-128"/>
              <a:ea typeface="メイリオ" panose="020B0604030504040204" pitchFamily="50" charset="-128"/>
            </a:endParaRPr>
          </a:p>
          <a:p>
            <a:pPr algn="ctr"/>
            <a:r>
              <a:rPr lang="ja-JP" altLang="en-US" sz="1400" dirty="0">
                <a:solidFill>
                  <a:schemeClr val="bg1"/>
                </a:solidFill>
                <a:latin typeface="メイリオ" panose="020B0604030504040204" pitchFamily="50" charset="-128"/>
                <a:ea typeface="メイリオ" panose="020B0604030504040204" pitchFamily="50" charset="-128"/>
              </a:rPr>
              <a:t>（貴社要望によりカスタマイズ予定）</a:t>
            </a:r>
          </a:p>
        </p:txBody>
      </p:sp>
    </p:spTree>
    <p:extLst>
      <p:ext uri="{BB962C8B-B14F-4D97-AF65-F5344CB8AC3E}">
        <p14:creationId xmlns:p14="http://schemas.microsoft.com/office/powerpoint/2010/main" val="20268183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p:cNvSpPr/>
          <p:nvPr/>
        </p:nvSpPr>
        <p:spPr>
          <a:xfrm>
            <a:off x="6757851" y="93594"/>
            <a:ext cx="1320961" cy="344039"/>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sz="1100" dirty="0">
                <a:latin typeface="メイリオ" panose="020B0604030504040204" pitchFamily="50" charset="-128"/>
                <a:ea typeface="メイリオ" panose="020B0604030504040204" pitchFamily="50" charset="-128"/>
              </a:rPr>
              <a:t>効果計測</a:t>
            </a:r>
            <a:endParaRPr kumimoji="1" lang="ja-JP" altLang="en-US" sz="1100" dirty="0">
              <a:latin typeface="メイリオ" panose="020B0604030504040204" pitchFamily="50" charset="-128"/>
              <a:ea typeface="メイリオ" panose="020B0604030504040204" pitchFamily="50" charset="-128"/>
            </a:endParaRPr>
          </a:p>
        </p:txBody>
      </p:sp>
      <p:sp>
        <p:nvSpPr>
          <p:cNvPr id="14" name="正方形/長方形 13"/>
          <p:cNvSpPr/>
          <p:nvPr/>
        </p:nvSpPr>
        <p:spPr>
          <a:xfrm>
            <a:off x="258794" y="1486023"/>
            <a:ext cx="9230264" cy="170575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00"/>
          </a:p>
        </p:txBody>
      </p:sp>
      <p:pic>
        <p:nvPicPr>
          <p:cNvPr id="15" name="図 14"/>
          <p:cNvPicPr>
            <a:picLocks noChangeAspect="1"/>
          </p:cNvPicPr>
          <p:nvPr/>
        </p:nvPicPr>
        <p:blipFill>
          <a:blip r:embed="rId3"/>
          <a:stretch>
            <a:fillRect/>
          </a:stretch>
        </p:blipFill>
        <p:spPr>
          <a:xfrm>
            <a:off x="445640" y="4515592"/>
            <a:ext cx="4393508" cy="1886055"/>
          </a:xfrm>
          <a:prstGeom prst="rect">
            <a:avLst/>
          </a:prstGeom>
        </p:spPr>
      </p:pic>
      <p:sp>
        <p:nvSpPr>
          <p:cNvPr id="16" name="正方形/長方形 15"/>
          <p:cNvSpPr/>
          <p:nvPr/>
        </p:nvSpPr>
        <p:spPr>
          <a:xfrm>
            <a:off x="1728755" y="1724210"/>
            <a:ext cx="1984767" cy="485775"/>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latin typeface="メイリオ" panose="020B0604030504040204" pitchFamily="50" charset="-128"/>
                <a:ea typeface="メイリオ" panose="020B0604030504040204" pitchFamily="50" charset="-128"/>
              </a:rPr>
              <a:t>API</a:t>
            </a:r>
            <a:r>
              <a:rPr lang="ja-JP" altLang="en-US" sz="1200" b="1" dirty="0">
                <a:latin typeface="メイリオ" panose="020B0604030504040204" pitchFamily="50" charset="-128"/>
                <a:ea typeface="メイリオ" panose="020B0604030504040204" pitchFamily="50" charset="-128"/>
              </a:rPr>
              <a:t>ツールなし</a:t>
            </a:r>
            <a:endParaRPr kumimoji="1" lang="ja-JP" altLang="en-US" sz="1200" b="1" dirty="0">
              <a:latin typeface="メイリオ" panose="020B0604030504040204" pitchFamily="50" charset="-128"/>
              <a:ea typeface="メイリオ" panose="020B0604030504040204" pitchFamily="50" charset="-128"/>
            </a:endParaRPr>
          </a:p>
        </p:txBody>
      </p:sp>
      <p:sp>
        <p:nvSpPr>
          <p:cNvPr id="17" name="正方形/長方形 16"/>
          <p:cNvSpPr/>
          <p:nvPr/>
        </p:nvSpPr>
        <p:spPr>
          <a:xfrm>
            <a:off x="1728754" y="2464827"/>
            <a:ext cx="1984767" cy="485775"/>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latin typeface="メイリオ" panose="020B0604030504040204" pitchFamily="50" charset="-128"/>
                <a:ea typeface="メイリオ" panose="020B0604030504040204" pitchFamily="50" charset="-128"/>
              </a:rPr>
              <a:t>API</a:t>
            </a:r>
            <a:r>
              <a:rPr kumimoji="1" lang="ja-JP" altLang="en-US" sz="1200" b="1" dirty="0">
                <a:latin typeface="メイリオ" panose="020B0604030504040204" pitchFamily="50" charset="-128"/>
                <a:ea typeface="メイリオ" panose="020B0604030504040204" pitchFamily="50" charset="-128"/>
              </a:rPr>
              <a:t>ツールあり</a:t>
            </a:r>
          </a:p>
        </p:txBody>
      </p:sp>
      <p:sp>
        <p:nvSpPr>
          <p:cNvPr id="18" name="正方形/長方形 17"/>
          <p:cNvSpPr/>
          <p:nvPr/>
        </p:nvSpPr>
        <p:spPr>
          <a:xfrm>
            <a:off x="3939661" y="2445682"/>
            <a:ext cx="3312125" cy="523220"/>
          </a:xfrm>
          <a:prstGeom prst="rect">
            <a:avLst/>
          </a:prstGeom>
        </p:spPr>
        <p:txBody>
          <a:bodyPr wrap="none" anchor="ctr">
            <a:spAutoFit/>
          </a:bodyPr>
          <a:lstStyle/>
          <a:p>
            <a:r>
              <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rPr>
              <a:t>API</a:t>
            </a:r>
            <a:r>
              <a:rPr lang="ja-JP" altLang="en-US" sz="1400" dirty="0">
                <a:solidFill>
                  <a:schemeClr val="tx1">
                    <a:lumMod val="50000"/>
                    <a:lumOff val="50000"/>
                  </a:schemeClr>
                </a:solidFill>
                <a:latin typeface="メイリオ" panose="020B0604030504040204" pitchFamily="50" charset="-128"/>
                <a:ea typeface="メイリオ" panose="020B0604030504040204" pitchFamily="50" charset="-128"/>
              </a:rPr>
              <a:t>ツール管理画面上にて</a:t>
            </a:r>
            <a:endPar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ja-JP" altLang="en-US" sz="1400" dirty="0">
                <a:solidFill>
                  <a:schemeClr val="tx1">
                    <a:lumMod val="50000"/>
                    <a:lumOff val="50000"/>
                  </a:schemeClr>
                </a:solidFill>
                <a:latin typeface="メイリオ" panose="020B0604030504040204" pitchFamily="50" charset="-128"/>
                <a:ea typeface="メイリオ" panose="020B0604030504040204" pitchFamily="50" charset="-128"/>
              </a:rPr>
              <a:t>「特定期間に対する</a:t>
            </a:r>
            <a:r>
              <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rPr>
              <a:t>CV</a:t>
            </a:r>
            <a:r>
              <a:rPr lang="ja-JP" altLang="en-US" sz="1400" dirty="0">
                <a:solidFill>
                  <a:schemeClr val="tx1">
                    <a:lumMod val="50000"/>
                    <a:lumOff val="50000"/>
                  </a:schemeClr>
                </a:solidFill>
                <a:latin typeface="メイリオ" panose="020B0604030504040204" pitchFamily="50" charset="-128"/>
                <a:ea typeface="メイリオ" panose="020B0604030504040204" pitchFamily="50" charset="-128"/>
              </a:rPr>
              <a:t>数算出」が可能</a:t>
            </a:r>
          </a:p>
        </p:txBody>
      </p:sp>
      <p:sp>
        <p:nvSpPr>
          <p:cNvPr id="19" name="正方形/長方形 18"/>
          <p:cNvSpPr/>
          <p:nvPr/>
        </p:nvSpPr>
        <p:spPr>
          <a:xfrm>
            <a:off x="3939661" y="1705487"/>
            <a:ext cx="4273927" cy="523220"/>
          </a:xfrm>
          <a:prstGeom prst="rect">
            <a:avLst/>
          </a:prstGeom>
        </p:spPr>
        <p:txBody>
          <a:bodyPr wrap="none" anchor="ctr">
            <a:spAutoFit/>
          </a:bodyPr>
          <a:lstStyle/>
          <a:p>
            <a:r>
              <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rPr>
              <a:t>CV</a:t>
            </a:r>
            <a:r>
              <a:rPr lang="ja-JP" altLang="en-US" sz="1400" dirty="0">
                <a:solidFill>
                  <a:schemeClr val="tx1">
                    <a:lumMod val="50000"/>
                    <a:lumOff val="50000"/>
                  </a:schemeClr>
                </a:solidFill>
                <a:latin typeface="メイリオ" panose="020B0604030504040204" pitchFamily="50" charset="-128"/>
                <a:ea typeface="メイリオ" panose="020B0604030504040204" pitchFamily="50" charset="-128"/>
              </a:rPr>
              <a:t>タグの設定に伴い、計測自体は可能だが</a:t>
            </a:r>
            <a:endPar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rPr>
              <a:t>CV</a:t>
            </a:r>
            <a:r>
              <a:rPr lang="ja-JP" altLang="en-US" sz="1400" dirty="0">
                <a:solidFill>
                  <a:schemeClr val="tx1">
                    <a:lumMod val="50000"/>
                    <a:lumOff val="50000"/>
                  </a:schemeClr>
                </a:solidFill>
                <a:latin typeface="メイリオ" panose="020B0604030504040204" pitchFamily="50" charset="-128"/>
                <a:ea typeface="メイリオ" panose="020B0604030504040204" pitchFamily="50" charset="-128"/>
              </a:rPr>
              <a:t>数</a:t>
            </a:r>
            <a:r>
              <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rPr>
              <a:t>50</a:t>
            </a:r>
            <a:r>
              <a:rPr lang="ja-JP" altLang="en-US" sz="1400" dirty="0">
                <a:solidFill>
                  <a:schemeClr val="tx1">
                    <a:lumMod val="50000"/>
                    <a:lumOff val="50000"/>
                  </a:schemeClr>
                </a:solidFill>
                <a:latin typeface="メイリオ" panose="020B0604030504040204" pitchFamily="50" charset="-128"/>
                <a:ea typeface="メイリオ" panose="020B0604030504040204" pitchFamily="50" charset="-128"/>
              </a:rPr>
              <a:t>件以上での数値計測となる（管理画面上）</a:t>
            </a:r>
          </a:p>
        </p:txBody>
      </p:sp>
      <p:sp>
        <p:nvSpPr>
          <p:cNvPr id="20" name="正方形/長方形 19"/>
          <p:cNvSpPr/>
          <p:nvPr/>
        </p:nvSpPr>
        <p:spPr>
          <a:xfrm>
            <a:off x="625827" y="2120216"/>
            <a:ext cx="646331" cy="369332"/>
          </a:xfrm>
          <a:prstGeom prst="rect">
            <a:avLst/>
          </a:prstGeom>
        </p:spPr>
        <p:txBody>
          <a:bodyPr wrap="none">
            <a:spAutoFit/>
          </a:bodyPr>
          <a:lstStyle/>
          <a:p>
            <a:pPr algn="ctr"/>
            <a:r>
              <a:rPr lang="ja-JP" altLang="en-US" dirty="0">
                <a:latin typeface="メイリオ" panose="020B0604030504040204" pitchFamily="50" charset="-128"/>
                <a:ea typeface="メイリオ" panose="020B0604030504040204" pitchFamily="50" charset="-128"/>
              </a:rPr>
              <a:t>通常</a:t>
            </a:r>
          </a:p>
        </p:txBody>
      </p:sp>
      <p:sp>
        <p:nvSpPr>
          <p:cNvPr id="21" name="正方形/長方形 20"/>
          <p:cNvSpPr/>
          <p:nvPr/>
        </p:nvSpPr>
        <p:spPr>
          <a:xfrm>
            <a:off x="258794" y="3337953"/>
            <a:ext cx="9230264" cy="1053074"/>
          </a:xfrm>
          <a:prstGeom prst="rect">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00"/>
          </a:p>
        </p:txBody>
      </p:sp>
      <p:sp>
        <p:nvSpPr>
          <p:cNvPr id="22" name="正方形/長方形 21"/>
          <p:cNvSpPr/>
          <p:nvPr/>
        </p:nvSpPr>
        <p:spPr>
          <a:xfrm>
            <a:off x="1728754" y="3527788"/>
            <a:ext cx="1984767" cy="704850"/>
          </a:xfrm>
          <a:prstGeom prst="rect">
            <a:avLst/>
          </a:prstGeom>
          <a:solidFill>
            <a:srgbClr val="191F5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latin typeface="メイリオ" panose="020B0604030504040204" pitchFamily="50" charset="-128"/>
                <a:ea typeface="メイリオ" panose="020B0604030504040204" pitchFamily="50" charset="-128"/>
              </a:rPr>
              <a:t>API</a:t>
            </a:r>
            <a:r>
              <a:rPr lang="ja-JP" altLang="en-US" sz="1200" b="1" dirty="0">
                <a:latin typeface="メイリオ" panose="020B0604030504040204" pitchFamily="50" charset="-128"/>
                <a:ea typeface="メイリオ" panose="020B0604030504040204" pitchFamily="50" charset="-128"/>
              </a:rPr>
              <a:t>ツール有無</a:t>
            </a:r>
            <a:endParaRPr lang="en-US" altLang="ja-JP" sz="1200" b="1" dirty="0">
              <a:latin typeface="メイリオ" panose="020B0604030504040204" pitchFamily="50" charset="-128"/>
              <a:ea typeface="メイリオ" panose="020B0604030504040204" pitchFamily="50" charset="-128"/>
            </a:endParaRPr>
          </a:p>
          <a:p>
            <a:pPr algn="ctr"/>
            <a:r>
              <a:rPr kumimoji="1" lang="ja-JP" altLang="en-US" sz="1200" b="1" dirty="0">
                <a:latin typeface="メイリオ" panose="020B0604030504040204" pitchFamily="50" charset="-128"/>
                <a:ea typeface="メイリオ" panose="020B0604030504040204" pitchFamily="50" charset="-128"/>
              </a:rPr>
              <a:t>に関わらず</a:t>
            </a:r>
          </a:p>
        </p:txBody>
      </p:sp>
      <p:sp>
        <p:nvSpPr>
          <p:cNvPr id="23" name="正方形/長方形 22"/>
          <p:cNvSpPr/>
          <p:nvPr/>
        </p:nvSpPr>
        <p:spPr>
          <a:xfrm>
            <a:off x="3939660" y="3618602"/>
            <a:ext cx="4164923" cy="523220"/>
          </a:xfrm>
          <a:prstGeom prst="rect">
            <a:avLst/>
          </a:prstGeom>
        </p:spPr>
        <p:txBody>
          <a:bodyPr wrap="none" anchor="ctr">
            <a:spAutoFit/>
          </a:bodyPr>
          <a:lstStyle/>
          <a:p>
            <a:r>
              <a:rPr lang="ja-JP" altLang="en-US" sz="1400" dirty="0">
                <a:latin typeface="メイリオ" panose="020B0604030504040204" pitchFamily="50" charset="-128"/>
                <a:ea typeface="メイリオ" panose="020B0604030504040204" pitchFamily="50" charset="-128"/>
              </a:rPr>
              <a:t>定期投稿、シナリオ、リッチメニュー等に設定の</a:t>
            </a:r>
            <a:endParaRPr lang="en-US" altLang="ja-JP" sz="1400" dirty="0">
              <a:latin typeface="メイリオ" panose="020B0604030504040204" pitchFamily="50" charset="-128"/>
              <a:ea typeface="メイリオ" panose="020B0604030504040204" pitchFamily="50" charset="-128"/>
            </a:endParaRPr>
          </a:p>
          <a:p>
            <a:r>
              <a:rPr lang="ja-JP" altLang="en-US" sz="1400" dirty="0">
                <a:latin typeface="メイリオ" panose="020B0604030504040204" pitchFamily="50" charset="-128"/>
                <a:ea typeface="メイリオ" panose="020B0604030504040204" pitchFamily="50" charset="-128"/>
              </a:rPr>
              <a:t>リンクについて、</a:t>
            </a:r>
            <a:r>
              <a:rPr lang="en-US" altLang="ja-JP" sz="1400" dirty="0">
                <a:solidFill>
                  <a:srgbClr val="FF0000"/>
                </a:solidFill>
                <a:latin typeface="メイリオ" panose="020B0604030504040204" pitchFamily="50" charset="-128"/>
                <a:ea typeface="メイリオ" panose="020B0604030504040204" pitchFamily="50" charset="-128"/>
              </a:rPr>
              <a:t>GA</a:t>
            </a:r>
            <a:r>
              <a:rPr lang="ja-JP" altLang="en-US" sz="1400" dirty="0" err="1">
                <a:solidFill>
                  <a:srgbClr val="FF0000"/>
                </a:solidFill>
                <a:latin typeface="メイリオ" panose="020B0604030504040204" pitchFamily="50" charset="-128"/>
                <a:ea typeface="メイリオ" panose="020B0604030504040204" pitchFamily="50" charset="-128"/>
              </a:rPr>
              <a:t>、</a:t>
            </a:r>
            <a:r>
              <a:rPr lang="en-US" altLang="ja-JP" sz="1400" dirty="0">
                <a:solidFill>
                  <a:srgbClr val="FF0000"/>
                </a:solidFill>
                <a:latin typeface="メイリオ" panose="020B0604030504040204" pitchFamily="50" charset="-128"/>
                <a:ea typeface="メイリオ" panose="020B0604030504040204" pitchFamily="50" charset="-128"/>
              </a:rPr>
              <a:t>MA</a:t>
            </a:r>
            <a:r>
              <a:rPr lang="ja-JP" altLang="en-US" sz="1400" dirty="0">
                <a:solidFill>
                  <a:srgbClr val="FF0000"/>
                </a:solidFill>
                <a:latin typeface="メイリオ" panose="020B0604030504040204" pitchFamily="50" charset="-128"/>
                <a:ea typeface="メイリオ" panose="020B0604030504040204" pitchFamily="50" charset="-128"/>
              </a:rPr>
              <a:t>ツールでの計測可能</a:t>
            </a:r>
            <a:r>
              <a:rPr lang="ja-JP" altLang="en-US" sz="1400" dirty="0">
                <a:latin typeface="メイリオ" panose="020B0604030504040204" pitchFamily="50" charset="-128"/>
                <a:ea typeface="メイリオ" panose="020B0604030504040204" pitchFamily="50" charset="-128"/>
              </a:rPr>
              <a:t>に</a:t>
            </a:r>
          </a:p>
        </p:txBody>
      </p:sp>
      <p:sp>
        <p:nvSpPr>
          <p:cNvPr id="24" name="正方形/長方形 23"/>
          <p:cNvSpPr/>
          <p:nvPr/>
        </p:nvSpPr>
        <p:spPr>
          <a:xfrm>
            <a:off x="571292" y="3649379"/>
            <a:ext cx="693973" cy="369332"/>
          </a:xfrm>
          <a:prstGeom prst="rect">
            <a:avLst/>
          </a:prstGeom>
        </p:spPr>
        <p:txBody>
          <a:bodyPr wrap="none">
            <a:spAutoFit/>
          </a:bodyPr>
          <a:lstStyle/>
          <a:p>
            <a:pPr algn="ctr"/>
            <a:r>
              <a:rPr lang="en-US" altLang="ja-JP" dirty="0">
                <a:latin typeface="メイリオ" panose="020B0604030504040204" pitchFamily="50" charset="-128"/>
                <a:ea typeface="メイリオ" panose="020B0604030504040204" pitchFamily="50" charset="-128"/>
              </a:rPr>
              <a:t>DYM</a:t>
            </a:r>
            <a:endParaRPr lang="ja-JP" altLang="en-US" dirty="0">
              <a:latin typeface="メイリオ" panose="020B0604030504040204" pitchFamily="50" charset="-128"/>
              <a:ea typeface="メイリオ" panose="020B0604030504040204" pitchFamily="50" charset="-128"/>
            </a:endParaRPr>
          </a:p>
        </p:txBody>
      </p:sp>
      <p:pic>
        <p:nvPicPr>
          <p:cNvPr id="27" name="図 26"/>
          <p:cNvPicPr>
            <a:picLocks noChangeAspect="1"/>
          </p:cNvPicPr>
          <p:nvPr/>
        </p:nvPicPr>
        <p:blipFill>
          <a:blip r:embed="rId4"/>
          <a:stretch>
            <a:fillRect/>
          </a:stretch>
        </p:blipFill>
        <p:spPr>
          <a:xfrm>
            <a:off x="5173537" y="4510754"/>
            <a:ext cx="4219164" cy="1912981"/>
          </a:xfrm>
          <a:prstGeom prst="rect">
            <a:avLst/>
          </a:prstGeom>
        </p:spPr>
      </p:pic>
      <p:sp>
        <p:nvSpPr>
          <p:cNvPr id="29" name="正方形/長方形 28"/>
          <p:cNvSpPr/>
          <p:nvPr/>
        </p:nvSpPr>
        <p:spPr>
          <a:xfrm>
            <a:off x="372964" y="4445247"/>
            <a:ext cx="4546440" cy="2023013"/>
          </a:xfrm>
          <a:prstGeom prst="rect">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0" name="正方形/長方形 29"/>
          <p:cNvSpPr/>
          <p:nvPr/>
        </p:nvSpPr>
        <p:spPr>
          <a:xfrm>
            <a:off x="5141643" y="4445246"/>
            <a:ext cx="4282952" cy="2023013"/>
          </a:xfrm>
          <a:prstGeom prst="rect">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1" name="正方形/長方形 30"/>
          <p:cNvSpPr/>
          <p:nvPr/>
        </p:nvSpPr>
        <p:spPr>
          <a:xfrm>
            <a:off x="788187" y="6081911"/>
            <a:ext cx="3659825" cy="322628"/>
          </a:xfrm>
          <a:prstGeom prst="rect">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400" b="1" dirty="0">
                <a:latin typeface="メイリオ" panose="020B0604030504040204" pitchFamily="50" charset="-128"/>
                <a:ea typeface="メイリオ" panose="020B0604030504040204" pitchFamily="50" charset="-128"/>
              </a:rPr>
              <a:t>GA</a:t>
            </a:r>
            <a:r>
              <a:rPr kumimoji="1" lang="ja-JP" altLang="en-US" sz="1400" b="1" dirty="0">
                <a:latin typeface="メイリオ" panose="020B0604030504040204" pitchFamily="50" charset="-128"/>
                <a:ea typeface="メイリオ" panose="020B0604030504040204" pitchFamily="50" charset="-128"/>
              </a:rPr>
              <a:t>レポート（日次）</a:t>
            </a:r>
            <a:r>
              <a:rPr kumimoji="1" lang="ja-JP" altLang="en-US" sz="1100" b="1" dirty="0">
                <a:latin typeface="メイリオ" panose="020B0604030504040204" pitchFamily="50" charset="-128"/>
                <a:ea typeface="メイリオ" panose="020B0604030504040204" pitchFamily="50" charset="-128"/>
              </a:rPr>
              <a:t> </a:t>
            </a:r>
            <a:r>
              <a:rPr kumimoji="1" lang="en-US" altLang="ja-JP" sz="1100" b="1" dirty="0">
                <a:latin typeface="メイリオ" panose="020B0604030504040204" pitchFamily="50" charset="-128"/>
                <a:ea typeface="メイリオ" panose="020B0604030504040204" pitchFamily="50" charset="-128"/>
              </a:rPr>
              <a:t>※</a:t>
            </a:r>
            <a:r>
              <a:rPr kumimoji="1" lang="ja-JP" altLang="en-US" sz="1100" b="1" dirty="0">
                <a:latin typeface="メイリオ" panose="020B0604030504040204" pitchFamily="50" charset="-128"/>
                <a:ea typeface="メイリオ" panose="020B0604030504040204" pitchFamily="50" charset="-128"/>
              </a:rPr>
              <a:t>サンプル</a:t>
            </a:r>
            <a:endParaRPr kumimoji="1" lang="ja-JP" altLang="en-US" sz="1400" b="1" dirty="0">
              <a:latin typeface="メイリオ" panose="020B0604030504040204" pitchFamily="50" charset="-128"/>
              <a:ea typeface="メイリオ" panose="020B0604030504040204" pitchFamily="50" charset="-128"/>
            </a:endParaRPr>
          </a:p>
        </p:txBody>
      </p:sp>
      <p:sp>
        <p:nvSpPr>
          <p:cNvPr id="32" name="正方形/長方形 31"/>
          <p:cNvSpPr/>
          <p:nvPr/>
        </p:nvSpPr>
        <p:spPr>
          <a:xfrm>
            <a:off x="5453208" y="6081911"/>
            <a:ext cx="3659825" cy="322628"/>
          </a:xfrm>
          <a:prstGeom prst="rect">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400" b="1" dirty="0">
                <a:latin typeface="メイリオ" panose="020B0604030504040204" pitchFamily="50" charset="-128"/>
                <a:ea typeface="メイリオ" panose="020B0604030504040204" pitchFamily="50" charset="-128"/>
              </a:rPr>
              <a:t>GA</a:t>
            </a:r>
            <a:r>
              <a:rPr kumimoji="1" lang="ja-JP" altLang="en-US" sz="1400" b="1" dirty="0">
                <a:latin typeface="メイリオ" panose="020B0604030504040204" pitchFamily="50" charset="-128"/>
                <a:ea typeface="メイリオ" panose="020B0604030504040204" pitchFamily="50" charset="-128"/>
              </a:rPr>
              <a:t>レポート（月次）</a:t>
            </a:r>
            <a:r>
              <a:rPr kumimoji="1" lang="ja-JP" altLang="en-US" sz="1100" b="1" dirty="0">
                <a:latin typeface="メイリオ" panose="020B0604030504040204" pitchFamily="50" charset="-128"/>
                <a:ea typeface="メイリオ" panose="020B0604030504040204" pitchFamily="50" charset="-128"/>
              </a:rPr>
              <a:t> </a:t>
            </a:r>
            <a:r>
              <a:rPr kumimoji="1" lang="en-US" altLang="ja-JP" sz="1100" b="1" dirty="0">
                <a:latin typeface="メイリオ" panose="020B0604030504040204" pitchFamily="50" charset="-128"/>
                <a:ea typeface="メイリオ" panose="020B0604030504040204" pitchFamily="50" charset="-128"/>
              </a:rPr>
              <a:t>※</a:t>
            </a:r>
            <a:r>
              <a:rPr lang="ja-JP" altLang="en-US" sz="1100" b="1" dirty="0">
                <a:latin typeface="メイリオ" panose="020B0604030504040204" pitchFamily="50" charset="-128"/>
                <a:ea typeface="メイリオ" panose="020B0604030504040204" pitchFamily="50" charset="-128"/>
              </a:rPr>
              <a:t>サンプル</a:t>
            </a:r>
            <a:endParaRPr kumimoji="1" lang="ja-JP" altLang="en-US" sz="1400" b="1" dirty="0">
              <a:latin typeface="メイリオ" panose="020B0604030504040204" pitchFamily="50" charset="-128"/>
              <a:ea typeface="メイリオ" panose="020B0604030504040204" pitchFamily="50" charset="-128"/>
            </a:endParaRPr>
          </a:p>
        </p:txBody>
      </p:sp>
      <p:sp>
        <p:nvSpPr>
          <p:cNvPr id="33" name="正方形/長方形 32"/>
          <p:cNvSpPr/>
          <p:nvPr/>
        </p:nvSpPr>
        <p:spPr>
          <a:xfrm>
            <a:off x="258794" y="776172"/>
            <a:ext cx="9230264" cy="523220"/>
          </a:xfrm>
          <a:prstGeom prst="rect">
            <a:avLst/>
          </a:prstGeom>
        </p:spPr>
        <p:txBody>
          <a:bodyPr wrap="square" anchor="ctr">
            <a:spAutoFit/>
          </a:bodyPr>
          <a:lstStyle/>
          <a:p>
            <a:pPr algn="ctr"/>
            <a:r>
              <a:rPr lang="ja-JP" altLang="en-US" sz="1400" dirty="0">
                <a:latin typeface="メイリオ" panose="020B0604030504040204" pitchFamily="50" charset="-128"/>
                <a:ea typeface="メイリオ" panose="020B0604030504040204" pitchFamily="50" charset="-128"/>
              </a:rPr>
              <a:t>コンサル費用＋アカウント費用に対する効果を可視化し、課題点を都度確認できる体制に。</a:t>
            </a:r>
            <a:endParaRPr lang="en-US" altLang="ja-JP" sz="1400" dirty="0">
              <a:latin typeface="メイリオ" panose="020B0604030504040204" pitchFamily="50" charset="-128"/>
              <a:ea typeface="メイリオ" panose="020B0604030504040204" pitchFamily="50" charset="-128"/>
            </a:endParaRPr>
          </a:p>
          <a:p>
            <a:pPr algn="ctr"/>
            <a:r>
              <a:rPr lang="ja-JP" altLang="en-US" sz="1400" dirty="0">
                <a:latin typeface="メイリオ" panose="020B0604030504040204" pitchFamily="50" charset="-128"/>
                <a:ea typeface="メイリオ" panose="020B0604030504040204" pitchFamily="50" charset="-128"/>
              </a:rPr>
              <a:t>投稿別</a:t>
            </a:r>
            <a:r>
              <a:rPr lang="en-US" altLang="ja-JP" sz="1400" dirty="0">
                <a:latin typeface="メイリオ" panose="020B0604030504040204" pitchFamily="50" charset="-128"/>
                <a:ea typeface="メイリオ" panose="020B0604030504040204" pitchFamily="50" charset="-128"/>
              </a:rPr>
              <a:t>×</a:t>
            </a:r>
            <a:r>
              <a:rPr lang="ja-JP" altLang="en-US" sz="1400" dirty="0">
                <a:latin typeface="メイリオ" panose="020B0604030504040204" pitchFamily="50" charset="-128"/>
                <a:ea typeface="メイリオ" panose="020B0604030504040204" pitchFamily="50" charset="-128"/>
              </a:rPr>
              <a:t>セグメント別でデータ化でき、</a:t>
            </a:r>
            <a:r>
              <a:rPr lang="en-US" altLang="ja-JP" sz="1400" dirty="0">
                <a:latin typeface="メイリオ" panose="020B0604030504040204" pitchFamily="50" charset="-128"/>
                <a:ea typeface="メイリオ" panose="020B0604030504040204" pitchFamily="50" charset="-128"/>
              </a:rPr>
              <a:t>AB</a:t>
            </a:r>
            <a:r>
              <a:rPr lang="ja-JP" altLang="en-US" sz="1400" dirty="0">
                <a:latin typeface="メイリオ" panose="020B0604030504040204" pitchFamily="50" charset="-128"/>
                <a:ea typeface="メイリオ" panose="020B0604030504040204" pitchFamily="50" charset="-128"/>
              </a:rPr>
              <a:t>テストとクリエイティブ検証を細かく実施。</a:t>
            </a:r>
          </a:p>
        </p:txBody>
      </p:sp>
      <p:sp>
        <p:nvSpPr>
          <p:cNvPr id="4" name="Google Shape;156;p7">
            <a:extLst>
              <a:ext uri="{FF2B5EF4-FFF2-40B4-BE49-F238E27FC236}">
                <a16:creationId xmlns:a16="http://schemas.microsoft.com/office/drawing/2014/main" id="{260430EB-E69F-64B3-39EC-6A753FA8A5B0}"/>
              </a:ext>
            </a:extLst>
          </p:cNvPr>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サポート体制（報告</a:t>
            </a:r>
            <a:r>
              <a:rPr lang="en-US" altLang="ja-JP" sz="1600" b="1" dirty="0">
                <a:solidFill>
                  <a:srgbClr val="002060"/>
                </a:solidFill>
                <a:latin typeface="Meiryo"/>
                <a:ea typeface="Meiryo"/>
                <a:cs typeface="Meiryo"/>
                <a:sym typeface="Meiryo"/>
              </a:rPr>
              <a:t>FMT</a:t>
            </a:r>
            <a:r>
              <a:rPr lang="ja-JP" altLang="en-US" sz="1600" b="1" dirty="0">
                <a:solidFill>
                  <a:srgbClr val="002060"/>
                </a:solidFill>
                <a:latin typeface="Meiryo"/>
                <a:ea typeface="Meiryo"/>
                <a:cs typeface="Meiryo"/>
                <a:sym typeface="Meiryo"/>
              </a:rPr>
              <a:t>）</a:t>
            </a:r>
            <a:endParaRPr sz="1600" b="1" dirty="0">
              <a:solidFill>
                <a:srgbClr val="002060"/>
              </a:solidFill>
              <a:latin typeface="Meiryo"/>
              <a:ea typeface="Meiryo"/>
              <a:cs typeface="Meiryo"/>
              <a:sym typeface="Meiryo"/>
            </a:endParaRPr>
          </a:p>
        </p:txBody>
      </p:sp>
    </p:spTree>
    <p:extLst>
      <p:ext uri="{BB962C8B-B14F-4D97-AF65-F5344CB8AC3E}">
        <p14:creationId xmlns:p14="http://schemas.microsoft.com/office/powerpoint/2010/main" val="378692469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正方形/長方形 3"/>
          <p:cNvSpPr/>
          <p:nvPr/>
        </p:nvSpPr>
        <p:spPr>
          <a:xfrm>
            <a:off x="253638" y="835690"/>
            <a:ext cx="2541320" cy="485775"/>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sz="1600" b="1" dirty="0">
                <a:latin typeface="メイリオ" panose="020B0604030504040204" pitchFamily="50" charset="-128"/>
                <a:ea typeface="メイリオ" panose="020B0604030504040204" pitchFamily="50" charset="-128"/>
              </a:rPr>
              <a:t>計測環境の構築</a:t>
            </a:r>
            <a:endParaRPr kumimoji="1" lang="ja-JP" altLang="en-US" sz="1600" b="1" dirty="0">
              <a:latin typeface="メイリオ" panose="020B0604030504040204" pitchFamily="50" charset="-128"/>
              <a:ea typeface="メイリオ" panose="020B0604030504040204" pitchFamily="50" charset="-128"/>
            </a:endParaRPr>
          </a:p>
        </p:txBody>
      </p:sp>
      <p:cxnSp>
        <p:nvCxnSpPr>
          <p:cNvPr id="5" name="直線コネクタ 4"/>
          <p:cNvCxnSpPr/>
          <p:nvPr/>
        </p:nvCxnSpPr>
        <p:spPr>
          <a:xfrm>
            <a:off x="466638" y="1802924"/>
            <a:ext cx="8987082" cy="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6" name="Google Shape;156;p7"/>
          <p:cNvSpPr txBox="1"/>
          <p:nvPr/>
        </p:nvSpPr>
        <p:spPr>
          <a:xfrm>
            <a:off x="2857804" y="786210"/>
            <a:ext cx="7217767" cy="584735"/>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chemeClr val="tx1">
                    <a:lumMod val="65000"/>
                    <a:lumOff val="35000"/>
                  </a:schemeClr>
                </a:solidFill>
                <a:latin typeface="Meiryo"/>
                <a:ea typeface="Meiryo"/>
                <a:cs typeface="Meiryo"/>
                <a:sym typeface="Meiryo"/>
              </a:rPr>
              <a:t>GA</a:t>
            </a:r>
            <a:r>
              <a:rPr lang="ja-JP" altLang="en-US" sz="1600" b="1" dirty="0">
                <a:solidFill>
                  <a:schemeClr val="tx1">
                    <a:lumMod val="65000"/>
                    <a:lumOff val="35000"/>
                  </a:schemeClr>
                </a:solidFill>
                <a:latin typeface="Meiryo"/>
                <a:ea typeface="Meiryo"/>
                <a:cs typeface="Meiryo"/>
                <a:sym typeface="Meiryo"/>
              </a:rPr>
              <a:t>及び</a:t>
            </a:r>
            <a:r>
              <a:rPr lang="en-US" altLang="ja-JP" sz="1600" b="1" dirty="0">
                <a:solidFill>
                  <a:schemeClr val="tx1">
                    <a:lumMod val="65000"/>
                    <a:lumOff val="35000"/>
                  </a:schemeClr>
                </a:solidFill>
                <a:latin typeface="Meiryo"/>
                <a:ea typeface="Meiryo"/>
                <a:cs typeface="Meiryo"/>
                <a:sym typeface="Meiryo"/>
              </a:rPr>
              <a:t>MA</a:t>
            </a:r>
            <a:r>
              <a:rPr lang="ja-JP" altLang="en-US" sz="1600" b="1" dirty="0">
                <a:solidFill>
                  <a:schemeClr val="tx1">
                    <a:lumMod val="65000"/>
                    <a:lumOff val="35000"/>
                  </a:schemeClr>
                </a:solidFill>
                <a:latin typeface="Meiryo"/>
                <a:ea typeface="Meiryo"/>
                <a:cs typeface="Meiryo"/>
                <a:sym typeface="Meiryo"/>
              </a:rPr>
              <a:t>ツール両面での計測ができるようパラメータ管理。</a:t>
            </a:r>
            <a:endParaRPr lang="en-US" altLang="ja-JP" sz="1600" b="1" dirty="0">
              <a:solidFill>
                <a:schemeClr val="tx1">
                  <a:lumMod val="65000"/>
                  <a:lumOff val="35000"/>
                </a:schemeClr>
              </a:solidFill>
              <a:latin typeface="Meiryo"/>
              <a:ea typeface="Meiryo"/>
              <a:cs typeface="Meiryo"/>
              <a:sym typeface="Meiryo"/>
            </a:endParaRPr>
          </a:p>
          <a:p>
            <a:pPr lvl="0">
              <a:buClr>
                <a:srgbClr val="002060"/>
              </a:buClr>
              <a:buSzPts val="1600"/>
            </a:pP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公式アカウントの管理画面には出ない、サイト上の結果を紐づけ。</a:t>
            </a:r>
            <a:endParaRPr sz="1600" b="1" dirty="0">
              <a:solidFill>
                <a:schemeClr val="tx1">
                  <a:lumMod val="65000"/>
                  <a:lumOff val="35000"/>
                </a:schemeClr>
              </a:solidFill>
              <a:latin typeface="Meiryo"/>
              <a:ea typeface="Meiryo"/>
              <a:cs typeface="Meiryo"/>
              <a:sym typeface="Meiryo"/>
            </a:endParaRPr>
          </a:p>
        </p:txBody>
      </p:sp>
      <p:sp>
        <p:nvSpPr>
          <p:cNvPr id="7" name="正方形/長方形 6"/>
          <p:cNvSpPr/>
          <p:nvPr/>
        </p:nvSpPr>
        <p:spPr>
          <a:xfrm>
            <a:off x="390709" y="1971785"/>
            <a:ext cx="8988624" cy="277788"/>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sz="1200" b="1" dirty="0">
                <a:latin typeface="メイリオ" panose="020B0604030504040204" pitchFamily="50" charset="-128"/>
                <a:ea typeface="メイリオ" panose="020B0604030504040204" pitchFamily="50" charset="-128"/>
              </a:rPr>
              <a:t>設定イメージ</a:t>
            </a:r>
            <a:endParaRPr kumimoji="1" lang="ja-JP" altLang="en-US" sz="1200" b="1" dirty="0">
              <a:latin typeface="メイリオ" panose="020B0604030504040204" pitchFamily="50" charset="-128"/>
              <a:ea typeface="メイリオ" panose="020B0604030504040204" pitchFamily="50" charset="-128"/>
            </a:endParaRPr>
          </a:p>
        </p:txBody>
      </p:sp>
      <p:graphicFrame>
        <p:nvGraphicFramePr>
          <p:cNvPr id="8" name="表 7"/>
          <p:cNvGraphicFramePr>
            <a:graphicFrameLocks noGrp="1"/>
          </p:cNvGraphicFramePr>
          <p:nvPr/>
        </p:nvGraphicFramePr>
        <p:xfrm>
          <a:off x="394861" y="2273528"/>
          <a:ext cx="8988618" cy="1631076"/>
        </p:xfrm>
        <a:graphic>
          <a:graphicData uri="http://schemas.openxmlformats.org/drawingml/2006/table">
            <a:tbl>
              <a:tblPr/>
              <a:tblGrid>
                <a:gridCol w="616271">
                  <a:extLst>
                    <a:ext uri="{9D8B030D-6E8A-4147-A177-3AD203B41FA5}">
                      <a16:colId xmlns:a16="http://schemas.microsoft.com/office/drawing/2014/main" val="1670584577"/>
                    </a:ext>
                  </a:extLst>
                </a:gridCol>
                <a:gridCol w="584117">
                  <a:extLst>
                    <a:ext uri="{9D8B030D-6E8A-4147-A177-3AD203B41FA5}">
                      <a16:colId xmlns:a16="http://schemas.microsoft.com/office/drawing/2014/main" val="783239229"/>
                    </a:ext>
                  </a:extLst>
                </a:gridCol>
                <a:gridCol w="594835">
                  <a:extLst>
                    <a:ext uri="{9D8B030D-6E8A-4147-A177-3AD203B41FA5}">
                      <a16:colId xmlns:a16="http://schemas.microsoft.com/office/drawing/2014/main" val="2882545821"/>
                    </a:ext>
                  </a:extLst>
                </a:gridCol>
                <a:gridCol w="594835">
                  <a:extLst>
                    <a:ext uri="{9D8B030D-6E8A-4147-A177-3AD203B41FA5}">
                      <a16:colId xmlns:a16="http://schemas.microsoft.com/office/drawing/2014/main" val="1085754342"/>
                    </a:ext>
                  </a:extLst>
                </a:gridCol>
                <a:gridCol w="594835">
                  <a:extLst>
                    <a:ext uri="{9D8B030D-6E8A-4147-A177-3AD203B41FA5}">
                      <a16:colId xmlns:a16="http://schemas.microsoft.com/office/drawing/2014/main" val="3609874806"/>
                    </a:ext>
                  </a:extLst>
                </a:gridCol>
                <a:gridCol w="594835">
                  <a:extLst>
                    <a:ext uri="{9D8B030D-6E8A-4147-A177-3AD203B41FA5}">
                      <a16:colId xmlns:a16="http://schemas.microsoft.com/office/drawing/2014/main" val="1613786001"/>
                    </a:ext>
                  </a:extLst>
                </a:gridCol>
                <a:gridCol w="594835">
                  <a:extLst>
                    <a:ext uri="{9D8B030D-6E8A-4147-A177-3AD203B41FA5}">
                      <a16:colId xmlns:a16="http://schemas.microsoft.com/office/drawing/2014/main" val="2234954468"/>
                    </a:ext>
                  </a:extLst>
                </a:gridCol>
                <a:gridCol w="594835">
                  <a:extLst>
                    <a:ext uri="{9D8B030D-6E8A-4147-A177-3AD203B41FA5}">
                      <a16:colId xmlns:a16="http://schemas.microsoft.com/office/drawing/2014/main" val="1983969397"/>
                    </a:ext>
                  </a:extLst>
                </a:gridCol>
                <a:gridCol w="594835">
                  <a:extLst>
                    <a:ext uri="{9D8B030D-6E8A-4147-A177-3AD203B41FA5}">
                      <a16:colId xmlns:a16="http://schemas.microsoft.com/office/drawing/2014/main" val="38530890"/>
                    </a:ext>
                  </a:extLst>
                </a:gridCol>
                <a:gridCol w="594835">
                  <a:extLst>
                    <a:ext uri="{9D8B030D-6E8A-4147-A177-3AD203B41FA5}">
                      <a16:colId xmlns:a16="http://schemas.microsoft.com/office/drawing/2014/main" val="4265005170"/>
                    </a:ext>
                  </a:extLst>
                </a:gridCol>
                <a:gridCol w="594835">
                  <a:extLst>
                    <a:ext uri="{9D8B030D-6E8A-4147-A177-3AD203B41FA5}">
                      <a16:colId xmlns:a16="http://schemas.microsoft.com/office/drawing/2014/main" val="2342412426"/>
                    </a:ext>
                  </a:extLst>
                </a:gridCol>
                <a:gridCol w="594835">
                  <a:extLst>
                    <a:ext uri="{9D8B030D-6E8A-4147-A177-3AD203B41FA5}">
                      <a16:colId xmlns:a16="http://schemas.microsoft.com/office/drawing/2014/main" val="1958758615"/>
                    </a:ext>
                  </a:extLst>
                </a:gridCol>
                <a:gridCol w="650210">
                  <a:extLst>
                    <a:ext uri="{9D8B030D-6E8A-4147-A177-3AD203B41FA5}">
                      <a16:colId xmlns:a16="http://schemas.microsoft.com/office/drawing/2014/main" val="3616243268"/>
                    </a:ext>
                  </a:extLst>
                </a:gridCol>
                <a:gridCol w="594835">
                  <a:extLst>
                    <a:ext uri="{9D8B030D-6E8A-4147-A177-3AD203B41FA5}">
                      <a16:colId xmlns:a16="http://schemas.microsoft.com/office/drawing/2014/main" val="689028932"/>
                    </a:ext>
                  </a:extLst>
                </a:gridCol>
                <a:gridCol w="594835">
                  <a:extLst>
                    <a:ext uri="{9D8B030D-6E8A-4147-A177-3AD203B41FA5}">
                      <a16:colId xmlns:a16="http://schemas.microsoft.com/office/drawing/2014/main" val="3105858647"/>
                    </a:ext>
                  </a:extLst>
                </a:gridCol>
              </a:tblGrid>
              <a:tr h="135923">
                <a:tc gridSpan="2">
                  <a:txBody>
                    <a:bodyPr/>
                    <a:lstStyle/>
                    <a:p>
                      <a:pPr algn="l" fontAlgn="ctr"/>
                      <a:r>
                        <a:rPr lang="ja-JP" altLang="en-US" sz="600" b="1" i="0" u="none" strike="noStrike">
                          <a:solidFill>
                            <a:srgbClr val="000000"/>
                          </a:solidFill>
                          <a:effectLst/>
                          <a:latin typeface="メイリオ" panose="020B0604030504040204" pitchFamily="50" charset="-128"/>
                          <a:ea typeface="メイリオ" panose="020B0604030504040204" pitchFamily="50" charset="-128"/>
                        </a:rPr>
                        <a:t>■月間の</a:t>
                      </a:r>
                      <a:r>
                        <a:rPr lang="en-US" altLang="ja-JP" sz="600" b="1" i="0" u="none" strike="noStrike">
                          <a:solidFill>
                            <a:srgbClr val="000000"/>
                          </a:solidFill>
                          <a:effectLst/>
                          <a:latin typeface="メイリオ" panose="020B0604030504040204" pitchFamily="50" charset="-128"/>
                          <a:ea typeface="メイリオ" panose="020B0604030504040204" pitchFamily="50" charset="-128"/>
                        </a:rPr>
                        <a:t>KPI</a:t>
                      </a:r>
                      <a:r>
                        <a:rPr lang="ja-JP" altLang="en-US" sz="600" b="1" i="0" u="none" strike="noStrike">
                          <a:solidFill>
                            <a:srgbClr val="000000"/>
                          </a:solidFill>
                          <a:effectLst/>
                          <a:latin typeface="メイリオ" panose="020B0604030504040204" pitchFamily="50" charset="-128"/>
                          <a:ea typeface="メイリオ" panose="020B0604030504040204" pitchFamily="50" charset="-128"/>
                        </a:rPr>
                        <a:t>（ご提案時）</a:t>
                      </a:r>
                    </a:p>
                  </a:txBody>
                  <a:tcPr marL="5106" marR="5106" marT="5106" marB="0" anchor="ctr">
                    <a:lnL>
                      <a:noFill/>
                    </a:lnL>
                    <a:lnR>
                      <a:noFill/>
                    </a:lnR>
                    <a:lnT>
                      <a:noFill/>
                    </a:lnT>
                    <a:lnB>
                      <a:noFill/>
                    </a:lnB>
                  </a:tcPr>
                </a:tc>
                <a:tc hMerge="1">
                  <a:txBody>
                    <a:bodyPr/>
                    <a:lstStyle/>
                    <a:p>
                      <a:endParaRPr kumimoji="1" lang="ja-JP" altLang="en-US"/>
                    </a:p>
                  </a:txBody>
                  <a:tcPr/>
                </a:tc>
                <a:tc>
                  <a:txBody>
                    <a:bodyPr/>
                    <a:lstStyle/>
                    <a:p>
                      <a:pPr algn="l" fontAlgn="ctr"/>
                      <a:endParaRPr lang="ja-JP" altLang="en-US" sz="600" b="0" i="0" u="none" strike="noStrike">
                        <a:solidFill>
                          <a:srgbClr val="000000"/>
                        </a:solidFill>
                        <a:effectLst/>
                        <a:latin typeface="メイリオ" panose="020B0604030504040204" pitchFamily="50" charset="-128"/>
                        <a:ea typeface="メイリオ" panose="020B0604030504040204" pitchFamily="50" charset="-128"/>
                      </a:endParaRPr>
                    </a:p>
                  </a:txBody>
                  <a:tcPr marL="5106" marR="5106" marT="5106" marB="0" anchor="ctr">
                    <a:lnL>
                      <a:noFill/>
                    </a:lnL>
                    <a:lnR>
                      <a:noFill/>
                    </a:lnR>
                    <a:lnT>
                      <a:noFill/>
                    </a:lnT>
                    <a:lnB>
                      <a:noFill/>
                    </a:lnB>
                  </a:tcPr>
                </a:tc>
                <a:tc>
                  <a:txBody>
                    <a:bodyPr/>
                    <a:lstStyle/>
                    <a:p>
                      <a:pPr algn="l" fontAlgn="ctr"/>
                      <a:endParaRPr lang="ja-JP" altLang="en-US" sz="600" b="0" i="0" u="none" strike="noStrike">
                        <a:solidFill>
                          <a:srgbClr val="000000"/>
                        </a:solidFill>
                        <a:effectLst/>
                        <a:latin typeface="メイリオ" panose="020B0604030504040204" pitchFamily="50" charset="-128"/>
                        <a:ea typeface="メイリオ" panose="020B0604030504040204" pitchFamily="50" charset="-128"/>
                      </a:endParaRPr>
                    </a:p>
                  </a:txBody>
                  <a:tcPr marL="5106" marR="5106" marT="5106" marB="0" anchor="ctr">
                    <a:lnL>
                      <a:noFill/>
                    </a:lnL>
                    <a:lnR>
                      <a:noFill/>
                    </a:lnR>
                    <a:lnT>
                      <a:noFill/>
                    </a:lnT>
                    <a:lnB>
                      <a:noFill/>
                    </a:lnB>
                  </a:tcPr>
                </a:tc>
                <a:tc>
                  <a:txBody>
                    <a:bodyPr/>
                    <a:lstStyle/>
                    <a:p>
                      <a:pPr algn="l" fontAlgn="ctr"/>
                      <a:endParaRPr lang="ja-JP" altLang="en-US" sz="600" b="0" i="0" u="none" strike="noStrike">
                        <a:solidFill>
                          <a:srgbClr val="000000"/>
                        </a:solidFill>
                        <a:effectLst/>
                        <a:latin typeface="メイリオ" panose="020B0604030504040204" pitchFamily="50" charset="-128"/>
                        <a:ea typeface="メイリオ" panose="020B0604030504040204" pitchFamily="50" charset="-128"/>
                      </a:endParaRPr>
                    </a:p>
                  </a:txBody>
                  <a:tcPr marL="5106" marR="5106" marT="5106" marB="0" anchor="ctr">
                    <a:lnL>
                      <a:noFill/>
                    </a:lnL>
                    <a:lnR>
                      <a:noFill/>
                    </a:lnR>
                    <a:lnT>
                      <a:noFill/>
                    </a:lnT>
                    <a:lnB>
                      <a:noFill/>
                    </a:lnB>
                  </a:tcPr>
                </a:tc>
                <a:tc>
                  <a:txBody>
                    <a:bodyPr/>
                    <a:lstStyle/>
                    <a:p>
                      <a:pPr algn="l" fontAlgn="ctr"/>
                      <a:endParaRPr lang="ja-JP" altLang="en-US" sz="600" b="0" i="0" u="none" strike="noStrike">
                        <a:solidFill>
                          <a:srgbClr val="000000"/>
                        </a:solidFill>
                        <a:effectLst/>
                        <a:latin typeface="メイリオ" panose="020B0604030504040204" pitchFamily="50" charset="-128"/>
                        <a:ea typeface="メイリオ" panose="020B0604030504040204" pitchFamily="50" charset="-128"/>
                      </a:endParaRPr>
                    </a:p>
                  </a:txBody>
                  <a:tcPr marL="5106" marR="5106" marT="5106" marB="0" anchor="ctr">
                    <a:lnL>
                      <a:noFill/>
                    </a:lnL>
                    <a:lnR>
                      <a:noFill/>
                    </a:lnR>
                    <a:lnT>
                      <a:noFill/>
                    </a:lnT>
                    <a:lnB>
                      <a:noFill/>
                    </a:lnB>
                  </a:tcPr>
                </a:tc>
                <a:tc>
                  <a:txBody>
                    <a:bodyPr/>
                    <a:lstStyle/>
                    <a:p>
                      <a:pPr algn="l" fontAlgn="ctr"/>
                      <a:endParaRPr lang="ja-JP" altLang="en-US" sz="600" b="0" i="0" u="none" strike="noStrike">
                        <a:solidFill>
                          <a:srgbClr val="000000"/>
                        </a:solidFill>
                        <a:effectLst/>
                        <a:latin typeface="メイリオ" panose="020B0604030504040204" pitchFamily="50" charset="-128"/>
                        <a:ea typeface="メイリオ" panose="020B0604030504040204" pitchFamily="50" charset="-128"/>
                      </a:endParaRPr>
                    </a:p>
                  </a:txBody>
                  <a:tcPr marL="5106" marR="5106" marT="5106" marB="0" anchor="ctr">
                    <a:lnL>
                      <a:noFill/>
                    </a:lnL>
                    <a:lnR>
                      <a:noFill/>
                    </a:lnR>
                    <a:lnT>
                      <a:noFill/>
                    </a:lnT>
                    <a:lnB>
                      <a:noFill/>
                    </a:lnB>
                  </a:tcPr>
                </a:tc>
                <a:tc>
                  <a:txBody>
                    <a:bodyPr/>
                    <a:lstStyle/>
                    <a:p>
                      <a:pPr algn="l" fontAlgn="ctr"/>
                      <a:endParaRPr lang="ja-JP" altLang="en-US" sz="600" b="0" i="0" u="none" strike="noStrike">
                        <a:solidFill>
                          <a:srgbClr val="000000"/>
                        </a:solidFill>
                        <a:effectLst/>
                        <a:latin typeface="メイリオ" panose="020B0604030504040204" pitchFamily="50" charset="-128"/>
                        <a:ea typeface="メイリオ" panose="020B0604030504040204" pitchFamily="50" charset="-128"/>
                      </a:endParaRPr>
                    </a:p>
                  </a:txBody>
                  <a:tcPr marL="5106" marR="5106" marT="5106" marB="0" anchor="ctr">
                    <a:lnL>
                      <a:noFill/>
                    </a:lnL>
                    <a:lnR>
                      <a:noFill/>
                    </a:lnR>
                    <a:lnT>
                      <a:noFill/>
                    </a:lnT>
                    <a:lnB>
                      <a:noFill/>
                    </a:lnB>
                  </a:tcPr>
                </a:tc>
                <a:tc>
                  <a:txBody>
                    <a:bodyPr/>
                    <a:lstStyle/>
                    <a:p>
                      <a:pPr algn="l" fontAlgn="ctr"/>
                      <a:endParaRPr lang="ja-JP" altLang="en-US" sz="600" b="0" i="0" u="none" strike="noStrike">
                        <a:solidFill>
                          <a:srgbClr val="000000"/>
                        </a:solidFill>
                        <a:effectLst/>
                        <a:latin typeface="メイリオ" panose="020B0604030504040204" pitchFamily="50" charset="-128"/>
                        <a:ea typeface="メイリオ" panose="020B0604030504040204" pitchFamily="50" charset="-128"/>
                      </a:endParaRPr>
                    </a:p>
                  </a:txBody>
                  <a:tcPr marL="5106" marR="5106" marT="5106" marB="0" anchor="ctr">
                    <a:lnL>
                      <a:noFill/>
                    </a:lnL>
                    <a:lnR>
                      <a:noFill/>
                    </a:lnR>
                    <a:lnT>
                      <a:noFill/>
                    </a:lnT>
                    <a:lnB>
                      <a:noFill/>
                    </a:lnB>
                  </a:tcPr>
                </a:tc>
                <a:tc>
                  <a:txBody>
                    <a:bodyPr/>
                    <a:lstStyle/>
                    <a:p>
                      <a:pPr algn="l" fontAlgn="ctr"/>
                      <a:endParaRPr lang="ja-JP" altLang="en-US" sz="600" b="0" i="0" u="none" strike="noStrike">
                        <a:solidFill>
                          <a:srgbClr val="000000"/>
                        </a:solidFill>
                        <a:effectLst/>
                        <a:latin typeface="メイリオ" panose="020B0604030504040204" pitchFamily="50" charset="-128"/>
                        <a:ea typeface="メイリオ" panose="020B0604030504040204" pitchFamily="50" charset="-128"/>
                      </a:endParaRPr>
                    </a:p>
                  </a:txBody>
                  <a:tcPr marL="5106" marR="5106" marT="5106" marB="0" anchor="ctr">
                    <a:lnL>
                      <a:noFill/>
                    </a:lnL>
                    <a:lnR>
                      <a:noFill/>
                    </a:lnR>
                    <a:lnT>
                      <a:noFill/>
                    </a:lnT>
                    <a:lnB>
                      <a:noFill/>
                    </a:lnB>
                  </a:tcPr>
                </a:tc>
                <a:tc>
                  <a:txBody>
                    <a:bodyPr/>
                    <a:lstStyle/>
                    <a:p>
                      <a:pPr algn="l" fontAlgn="ctr"/>
                      <a:endParaRPr lang="ja-JP" altLang="en-US" sz="600" b="0" i="0" u="none" strike="noStrike">
                        <a:solidFill>
                          <a:srgbClr val="000000"/>
                        </a:solidFill>
                        <a:effectLst/>
                        <a:latin typeface="メイリオ" panose="020B0604030504040204" pitchFamily="50" charset="-128"/>
                        <a:ea typeface="メイリオ" panose="020B0604030504040204" pitchFamily="50" charset="-128"/>
                      </a:endParaRPr>
                    </a:p>
                  </a:txBody>
                  <a:tcPr marL="5106" marR="5106" marT="5106" marB="0" anchor="ctr">
                    <a:lnL>
                      <a:noFill/>
                    </a:lnL>
                    <a:lnR>
                      <a:noFill/>
                    </a:lnR>
                    <a:lnT>
                      <a:noFill/>
                    </a:lnT>
                    <a:lnB>
                      <a:noFill/>
                    </a:lnB>
                  </a:tcPr>
                </a:tc>
                <a:tc>
                  <a:txBody>
                    <a:bodyPr/>
                    <a:lstStyle/>
                    <a:p>
                      <a:pPr algn="l" fontAlgn="ctr"/>
                      <a:endParaRPr lang="ja-JP" altLang="en-US" sz="600" b="0" i="0" u="none" strike="noStrike">
                        <a:solidFill>
                          <a:srgbClr val="000000"/>
                        </a:solidFill>
                        <a:effectLst/>
                        <a:latin typeface="メイリオ" panose="020B0604030504040204" pitchFamily="50" charset="-128"/>
                        <a:ea typeface="メイリオ" panose="020B0604030504040204" pitchFamily="50" charset="-128"/>
                      </a:endParaRPr>
                    </a:p>
                  </a:txBody>
                  <a:tcPr marL="5106" marR="5106" marT="5106" marB="0" anchor="ctr">
                    <a:lnL>
                      <a:noFill/>
                    </a:lnL>
                    <a:lnR>
                      <a:noFill/>
                    </a:lnR>
                    <a:lnT>
                      <a:noFill/>
                    </a:lnT>
                    <a:lnB>
                      <a:noFill/>
                    </a:lnB>
                  </a:tcPr>
                </a:tc>
                <a:tc>
                  <a:txBody>
                    <a:bodyPr/>
                    <a:lstStyle/>
                    <a:p>
                      <a:pPr algn="l" fontAlgn="ctr"/>
                      <a:endParaRPr lang="ja-JP" altLang="en-US" sz="600" b="0" i="0" u="none" strike="noStrike">
                        <a:solidFill>
                          <a:srgbClr val="000000"/>
                        </a:solidFill>
                        <a:effectLst/>
                        <a:latin typeface="メイリオ" panose="020B0604030504040204" pitchFamily="50" charset="-128"/>
                        <a:ea typeface="メイリオ" panose="020B0604030504040204" pitchFamily="50" charset="-128"/>
                      </a:endParaRPr>
                    </a:p>
                  </a:txBody>
                  <a:tcPr marL="5106" marR="5106" marT="5106" marB="0" anchor="ctr">
                    <a:lnL>
                      <a:noFill/>
                    </a:lnL>
                    <a:lnR>
                      <a:noFill/>
                    </a:lnR>
                    <a:lnT>
                      <a:noFill/>
                    </a:lnT>
                    <a:lnB>
                      <a:noFill/>
                    </a:lnB>
                  </a:tcPr>
                </a:tc>
                <a:tc>
                  <a:txBody>
                    <a:bodyPr/>
                    <a:lstStyle/>
                    <a:p>
                      <a:pPr algn="l" fontAlgn="ctr"/>
                      <a:endParaRPr lang="ja-JP" altLang="en-US" sz="600" b="0" i="0" u="none" strike="noStrike">
                        <a:solidFill>
                          <a:srgbClr val="000000"/>
                        </a:solidFill>
                        <a:effectLst/>
                        <a:latin typeface="メイリオ" panose="020B0604030504040204" pitchFamily="50" charset="-128"/>
                        <a:ea typeface="メイリオ" panose="020B0604030504040204" pitchFamily="50" charset="-128"/>
                      </a:endParaRPr>
                    </a:p>
                  </a:txBody>
                  <a:tcPr marL="5106" marR="5106" marT="5106" marB="0" anchor="ctr">
                    <a:lnL>
                      <a:noFill/>
                    </a:lnL>
                    <a:lnR>
                      <a:noFill/>
                    </a:lnR>
                    <a:lnT>
                      <a:noFill/>
                    </a:lnT>
                    <a:lnB>
                      <a:noFill/>
                    </a:lnB>
                  </a:tcPr>
                </a:tc>
                <a:tc>
                  <a:txBody>
                    <a:bodyPr/>
                    <a:lstStyle/>
                    <a:p>
                      <a:pPr algn="l" fontAlgn="ctr"/>
                      <a:endParaRPr lang="ja-JP" altLang="en-US" sz="600" b="0" i="0" u="none" strike="noStrike">
                        <a:solidFill>
                          <a:srgbClr val="000000"/>
                        </a:solidFill>
                        <a:effectLst/>
                        <a:latin typeface="メイリオ" panose="020B0604030504040204" pitchFamily="50" charset="-128"/>
                        <a:ea typeface="メイリオ" panose="020B0604030504040204" pitchFamily="50" charset="-128"/>
                      </a:endParaRPr>
                    </a:p>
                  </a:txBody>
                  <a:tcPr marL="5106" marR="5106" marT="5106" marB="0" anchor="ctr">
                    <a:lnL>
                      <a:noFill/>
                    </a:lnL>
                    <a:lnR>
                      <a:noFill/>
                    </a:lnR>
                    <a:lnT>
                      <a:noFill/>
                    </a:lnT>
                    <a:lnB>
                      <a:noFill/>
                    </a:lnB>
                  </a:tcPr>
                </a:tc>
                <a:extLst>
                  <a:ext uri="{0D108BD9-81ED-4DB2-BD59-A6C34878D82A}">
                    <a16:rowId xmlns:a16="http://schemas.microsoft.com/office/drawing/2014/main" val="759026655"/>
                  </a:ext>
                </a:extLst>
              </a:tr>
              <a:tr h="135923">
                <a:tc>
                  <a:txBody>
                    <a:bodyPr/>
                    <a:lstStyle/>
                    <a:p>
                      <a:pPr algn="ctr" fontAlgn="ctr"/>
                      <a:r>
                        <a:rPr lang="ja-JP" altLang="en-US" sz="600" b="1" i="0" u="none" strike="noStrike" dirty="0">
                          <a:solidFill>
                            <a:srgbClr val="FFFFFF"/>
                          </a:solidFill>
                          <a:effectLst/>
                          <a:latin typeface="メイリオ" panose="020B0604030504040204" pitchFamily="50" charset="-128"/>
                          <a:ea typeface="メイリオ" panose="020B0604030504040204" pitchFamily="50" charset="-128"/>
                        </a:rPr>
                        <a:t>期間</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noFill/>
                      <a:prstDash val="dash"/>
                      <a:round/>
                      <a:headEnd type="none" w="med" len="med"/>
                      <a:tailEnd type="none" w="med" len="med"/>
                    </a:lnT>
                    <a:lnB w="6350" cap="flat" cmpd="sng" algn="ctr">
                      <a:solidFill>
                        <a:srgbClr val="000000"/>
                      </a:solidFill>
                      <a:prstDash val="dash"/>
                      <a:round/>
                      <a:headEnd type="none" w="med" len="med"/>
                      <a:tailEnd type="none" w="med" len="med"/>
                    </a:lnB>
                    <a:solidFill>
                      <a:srgbClr val="C00000"/>
                    </a:solidFill>
                  </a:tcPr>
                </a:tc>
                <a:tc>
                  <a:txBody>
                    <a:bodyPr/>
                    <a:lstStyle/>
                    <a:p>
                      <a:pPr algn="ctr" fontAlgn="ctr"/>
                      <a:r>
                        <a:rPr lang="ja-JP" altLang="en-US" sz="600" b="1" i="0" u="none" strike="noStrike">
                          <a:solidFill>
                            <a:srgbClr val="FFFFFF"/>
                          </a:solidFill>
                          <a:effectLst/>
                          <a:latin typeface="メイリオ" panose="020B0604030504040204" pitchFamily="50" charset="-128"/>
                          <a:ea typeface="メイリオ" panose="020B0604030504040204" pitchFamily="50" charset="-128"/>
                        </a:rPr>
                        <a:t>　</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solidFill>
                      <a:srgbClr val="C00000"/>
                    </a:solidFill>
                  </a:tcPr>
                </a:tc>
                <a:tc>
                  <a:txBody>
                    <a:bodyPr/>
                    <a:lstStyle/>
                    <a:p>
                      <a:pPr algn="ctr" fontAlgn="ctr"/>
                      <a:r>
                        <a:rPr lang="ja-JP" altLang="en-US" sz="600" b="1" i="0" u="none" strike="noStrike">
                          <a:solidFill>
                            <a:srgbClr val="FFFFFF"/>
                          </a:solidFill>
                          <a:effectLst/>
                          <a:latin typeface="メイリオ" panose="020B0604030504040204" pitchFamily="50" charset="-128"/>
                          <a:ea typeface="メイリオ" panose="020B0604030504040204" pitchFamily="50" charset="-128"/>
                        </a:rPr>
                        <a:t>友だち数</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noFill/>
                      <a:prstDash val="dash"/>
                      <a:round/>
                      <a:headEnd type="none" w="med" len="med"/>
                      <a:tailEnd type="none" w="med" len="med"/>
                    </a:lnT>
                    <a:lnB w="6350" cap="flat" cmpd="sng" algn="ctr">
                      <a:solidFill>
                        <a:srgbClr val="000000"/>
                      </a:solidFill>
                      <a:prstDash val="dash"/>
                      <a:round/>
                      <a:headEnd type="none" w="med" len="med"/>
                      <a:tailEnd type="none" w="med" len="med"/>
                    </a:lnB>
                    <a:solidFill>
                      <a:srgbClr val="C00000"/>
                    </a:solidFill>
                  </a:tcPr>
                </a:tc>
                <a:tc>
                  <a:txBody>
                    <a:bodyPr/>
                    <a:lstStyle/>
                    <a:p>
                      <a:pPr algn="ctr" fontAlgn="ctr"/>
                      <a:r>
                        <a:rPr lang="ja-JP" altLang="en-US" sz="600" b="1" i="0" u="none" strike="noStrike">
                          <a:solidFill>
                            <a:srgbClr val="FFFFFF"/>
                          </a:solidFill>
                          <a:effectLst/>
                          <a:latin typeface="メイリオ" panose="020B0604030504040204" pitchFamily="50" charset="-128"/>
                          <a:ea typeface="メイリオ" panose="020B0604030504040204" pitchFamily="50" charset="-128"/>
                        </a:rPr>
                        <a:t>ブロック率</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noFill/>
                      <a:prstDash val="dash"/>
                      <a:round/>
                      <a:headEnd type="none" w="med" len="med"/>
                      <a:tailEnd type="none" w="med" len="med"/>
                    </a:lnT>
                    <a:lnB w="6350" cap="flat" cmpd="sng" algn="ctr">
                      <a:solidFill>
                        <a:srgbClr val="000000"/>
                      </a:solidFill>
                      <a:prstDash val="dash"/>
                      <a:round/>
                      <a:headEnd type="none" w="med" len="med"/>
                      <a:tailEnd type="none" w="med" len="med"/>
                    </a:lnB>
                    <a:solidFill>
                      <a:srgbClr val="C00000"/>
                    </a:solidFill>
                  </a:tcPr>
                </a:tc>
                <a:tc>
                  <a:txBody>
                    <a:bodyPr/>
                    <a:lstStyle/>
                    <a:p>
                      <a:pPr algn="ctr" fontAlgn="ctr"/>
                      <a:r>
                        <a:rPr lang="ja-JP" altLang="en-US" sz="600" b="1" i="0" u="none" strike="noStrike">
                          <a:solidFill>
                            <a:srgbClr val="FFFFFF"/>
                          </a:solidFill>
                          <a:effectLst/>
                          <a:latin typeface="メイリオ" panose="020B0604030504040204" pitchFamily="50" charset="-128"/>
                          <a:ea typeface="メイリオ" panose="020B0604030504040204" pitchFamily="50" charset="-128"/>
                        </a:rPr>
                        <a:t>コスト</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noFill/>
                      <a:prstDash val="dash"/>
                      <a:round/>
                      <a:headEnd type="none" w="med" len="med"/>
                      <a:tailEnd type="none" w="med" len="med"/>
                    </a:lnT>
                    <a:lnB w="6350" cap="flat" cmpd="sng" algn="ctr">
                      <a:solidFill>
                        <a:srgbClr val="000000"/>
                      </a:solidFill>
                      <a:prstDash val="dash"/>
                      <a:round/>
                      <a:headEnd type="none" w="med" len="med"/>
                      <a:tailEnd type="none" w="med" len="med"/>
                    </a:lnB>
                    <a:solidFill>
                      <a:srgbClr val="C00000"/>
                    </a:solidFill>
                  </a:tcPr>
                </a:tc>
                <a:tc>
                  <a:txBody>
                    <a:bodyPr/>
                    <a:lstStyle/>
                    <a:p>
                      <a:pPr algn="ctr" fontAlgn="ctr"/>
                      <a:r>
                        <a:rPr lang="ja-JP" altLang="en-US" sz="600" b="1" i="0" u="none" strike="noStrike">
                          <a:solidFill>
                            <a:srgbClr val="FFFFFF"/>
                          </a:solidFill>
                          <a:effectLst/>
                          <a:latin typeface="メイリオ" panose="020B0604030504040204" pitchFamily="50" charset="-128"/>
                          <a:ea typeface="メイリオ" panose="020B0604030504040204" pitchFamily="50" charset="-128"/>
                        </a:rPr>
                        <a:t>配信メッセ数</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noFill/>
                      <a:prstDash val="dash"/>
                      <a:round/>
                      <a:headEnd type="none" w="med" len="med"/>
                      <a:tailEnd type="none" w="med" len="med"/>
                    </a:lnT>
                    <a:lnB w="6350" cap="flat" cmpd="sng" algn="ctr">
                      <a:solidFill>
                        <a:srgbClr val="000000"/>
                      </a:solidFill>
                      <a:prstDash val="dash"/>
                      <a:round/>
                      <a:headEnd type="none" w="med" len="med"/>
                      <a:tailEnd type="none" w="med" len="med"/>
                    </a:lnB>
                    <a:solidFill>
                      <a:srgbClr val="C00000"/>
                    </a:solidFill>
                  </a:tcPr>
                </a:tc>
                <a:tc>
                  <a:txBody>
                    <a:bodyPr/>
                    <a:lstStyle/>
                    <a:p>
                      <a:pPr algn="ctr" fontAlgn="ctr"/>
                      <a:r>
                        <a:rPr lang="ja-JP" altLang="en-US" sz="600" b="1" i="0" u="none" strike="noStrike">
                          <a:solidFill>
                            <a:srgbClr val="FFFFFF"/>
                          </a:solidFill>
                          <a:effectLst/>
                          <a:latin typeface="メイリオ" panose="020B0604030504040204" pitchFamily="50" charset="-128"/>
                          <a:ea typeface="メイリオ" panose="020B0604030504040204" pitchFamily="50" charset="-128"/>
                        </a:rPr>
                        <a:t>開封率</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noFill/>
                      <a:prstDash val="dash"/>
                      <a:round/>
                      <a:headEnd type="none" w="med" len="med"/>
                      <a:tailEnd type="none" w="med" len="med"/>
                    </a:lnT>
                    <a:lnB w="6350" cap="flat" cmpd="sng" algn="ctr">
                      <a:solidFill>
                        <a:srgbClr val="000000"/>
                      </a:solidFill>
                      <a:prstDash val="dash"/>
                      <a:round/>
                      <a:headEnd type="none" w="med" len="med"/>
                      <a:tailEnd type="none" w="med" len="med"/>
                    </a:lnB>
                    <a:solidFill>
                      <a:srgbClr val="C00000"/>
                    </a:solidFill>
                  </a:tcPr>
                </a:tc>
                <a:tc>
                  <a:txBody>
                    <a:bodyPr/>
                    <a:lstStyle/>
                    <a:p>
                      <a:pPr algn="ctr" fontAlgn="ctr"/>
                      <a:r>
                        <a:rPr lang="ja-JP" altLang="en-US" sz="600" b="1" i="0" u="none" strike="noStrike">
                          <a:solidFill>
                            <a:srgbClr val="FFFFFF"/>
                          </a:solidFill>
                          <a:effectLst/>
                          <a:latin typeface="メイリオ" panose="020B0604030504040204" pitchFamily="50" charset="-128"/>
                          <a:ea typeface="メイリオ" panose="020B0604030504040204" pitchFamily="50" charset="-128"/>
                        </a:rPr>
                        <a:t>クリック率</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noFill/>
                      <a:prstDash val="dash"/>
                      <a:round/>
                      <a:headEnd type="none" w="med" len="med"/>
                      <a:tailEnd type="none" w="med" len="med"/>
                    </a:lnT>
                    <a:lnB w="6350" cap="flat" cmpd="sng" algn="ctr">
                      <a:solidFill>
                        <a:srgbClr val="000000"/>
                      </a:solidFill>
                      <a:prstDash val="dash"/>
                      <a:round/>
                      <a:headEnd type="none" w="med" len="med"/>
                      <a:tailEnd type="none" w="med" len="med"/>
                    </a:lnB>
                    <a:solidFill>
                      <a:srgbClr val="C00000"/>
                    </a:solidFill>
                  </a:tcPr>
                </a:tc>
                <a:tc>
                  <a:txBody>
                    <a:bodyPr/>
                    <a:lstStyle/>
                    <a:p>
                      <a:pPr algn="ctr" fontAlgn="ctr"/>
                      <a:r>
                        <a:rPr lang="ja-JP" altLang="en-US" sz="600" b="1" i="0" u="none" strike="noStrike">
                          <a:solidFill>
                            <a:srgbClr val="FFFFFF"/>
                          </a:solidFill>
                          <a:effectLst/>
                          <a:latin typeface="メイリオ" panose="020B0604030504040204" pitchFamily="50" charset="-128"/>
                          <a:ea typeface="メイリオ" panose="020B0604030504040204" pitchFamily="50" charset="-128"/>
                        </a:rPr>
                        <a:t>その他流入</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noFill/>
                      <a:prstDash val="dash"/>
                      <a:round/>
                      <a:headEnd type="none" w="med" len="med"/>
                      <a:tailEnd type="none" w="med" len="med"/>
                    </a:lnT>
                    <a:lnB w="6350" cap="flat" cmpd="sng" algn="ctr">
                      <a:solidFill>
                        <a:srgbClr val="000000"/>
                      </a:solidFill>
                      <a:prstDash val="dash"/>
                      <a:round/>
                      <a:headEnd type="none" w="med" len="med"/>
                      <a:tailEnd type="none" w="med" len="med"/>
                    </a:lnB>
                    <a:solidFill>
                      <a:srgbClr val="C00000"/>
                    </a:solidFill>
                  </a:tcPr>
                </a:tc>
                <a:tc>
                  <a:txBody>
                    <a:bodyPr/>
                    <a:lstStyle/>
                    <a:p>
                      <a:pPr algn="ctr" fontAlgn="ctr"/>
                      <a:r>
                        <a:rPr lang="ja-JP" altLang="en-US" sz="600" b="1" i="0" u="none" strike="noStrike">
                          <a:solidFill>
                            <a:srgbClr val="FFFFFF"/>
                          </a:solidFill>
                          <a:effectLst/>
                          <a:latin typeface="メイリオ" panose="020B0604030504040204" pitchFamily="50" charset="-128"/>
                          <a:ea typeface="メイリオ" panose="020B0604030504040204" pitchFamily="50" charset="-128"/>
                        </a:rPr>
                        <a:t>流入計</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noFill/>
                      <a:prstDash val="dash"/>
                      <a:round/>
                      <a:headEnd type="none" w="med" len="med"/>
                      <a:tailEnd type="none" w="med" len="med"/>
                    </a:lnT>
                    <a:lnB w="6350" cap="flat" cmpd="sng" algn="ctr">
                      <a:solidFill>
                        <a:srgbClr val="000000"/>
                      </a:solidFill>
                      <a:prstDash val="dash"/>
                      <a:round/>
                      <a:headEnd type="none" w="med" len="med"/>
                      <a:tailEnd type="none" w="med" len="med"/>
                    </a:lnB>
                    <a:solidFill>
                      <a:srgbClr val="C00000"/>
                    </a:solidFill>
                  </a:tcPr>
                </a:tc>
                <a:tc>
                  <a:txBody>
                    <a:bodyPr/>
                    <a:lstStyle/>
                    <a:p>
                      <a:pPr algn="ctr" fontAlgn="ctr"/>
                      <a:r>
                        <a:rPr lang="ja-JP" altLang="en-US" sz="600" b="1" i="0" u="none" strike="noStrike">
                          <a:solidFill>
                            <a:srgbClr val="FFFFFF"/>
                          </a:solidFill>
                          <a:effectLst/>
                          <a:latin typeface="メイリオ" panose="020B0604030504040204" pitchFamily="50" charset="-128"/>
                          <a:ea typeface="メイリオ" panose="020B0604030504040204" pitchFamily="50" charset="-128"/>
                        </a:rPr>
                        <a:t>流入単価</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noFill/>
                      <a:prstDash val="dash"/>
                      <a:round/>
                      <a:headEnd type="none" w="med" len="med"/>
                      <a:tailEnd type="none" w="med" len="med"/>
                    </a:lnT>
                    <a:lnB w="6350" cap="flat" cmpd="sng" algn="ctr">
                      <a:solidFill>
                        <a:srgbClr val="000000"/>
                      </a:solidFill>
                      <a:prstDash val="dash"/>
                      <a:round/>
                      <a:headEnd type="none" w="med" len="med"/>
                      <a:tailEnd type="none" w="med" len="med"/>
                    </a:lnB>
                    <a:solidFill>
                      <a:srgbClr val="C00000"/>
                    </a:solidFill>
                  </a:tcPr>
                </a:tc>
                <a:tc>
                  <a:txBody>
                    <a:bodyPr/>
                    <a:lstStyle/>
                    <a:p>
                      <a:pPr algn="ctr" fontAlgn="ctr"/>
                      <a:r>
                        <a:rPr lang="en-US" sz="600" b="1" i="0" u="none" strike="noStrike">
                          <a:solidFill>
                            <a:srgbClr val="FFFFFF"/>
                          </a:solidFill>
                          <a:effectLst/>
                          <a:latin typeface="メイリオ" panose="020B0604030504040204" pitchFamily="50" charset="-128"/>
                          <a:ea typeface="メイリオ" panose="020B0604030504040204" pitchFamily="50" charset="-128"/>
                        </a:rPr>
                        <a:t>GA_CV</a:t>
                      </a:r>
                      <a:r>
                        <a:rPr lang="ja-JP" altLang="en-US" sz="600" b="1" i="0" u="none" strike="noStrike">
                          <a:solidFill>
                            <a:srgbClr val="FFFFFF"/>
                          </a:solidFill>
                          <a:effectLst/>
                          <a:latin typeface="メイリオ" panose="020B0604030504040204" pitchFamily="50" charset="-128"/>
                          <a:ea typeface="メイリオ" panose="020B0604030504040204" pitchFamily="50" charset="-128"/>
                        </a:rPr>
                        <a:t>計</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noFill/>
                      <a:prstDash val="dash"/>
                      <a:round/>
                      <a:headEnd type="none" w="med" len="med"/>
                      <a:tailEnd type="none" w="med" len="med"/>
                    </a:lnT>
                    <a:lnB w="6350" cap="flat" cmpd="sng" algn="ctr">
                      <a:solidFill>
                        <a:srgbClr val="000000"/>
                      </a:solidFill>
                      <a:prstDash val="dash"/>
                      <a:round/>
                      <a:headEnd type="none" w="med" len="med"/>
                      <a:tailEnd type="none" w="med" len="med"/>
                    </a:lnB>
                    <a:solidFill>
                      <a:srgbClr val="C00000"/>
                    </a:solidFill>
                  </a:tcPr>
                </a:tc>
                <a:tc>
                  <a:txBody>
                    <a:bodyPr/>
                    <a:lstStyle/>
                    <a:p>
                      <a:pPr algn="ctr" fontAlgn="ctr"/>
                      <a:r>
                        <a:rPr lang="en-US" sz="600" b="1" i="0" u="none" strike="noStrike">
                          <a:solidFill>
                            <a:srgbClr val="FFFFFF"/>
                          </a:solidFill>
                          <a:effectLst/>
                          <a:latin typeface="メイリオ" panose="020B0604030504040204" pitchFamily="50" charset="-128"/>
                          <a:ea typeface="メイリオ" panose="020B0604030504040204" pitchFamily="50" charset="-128"/>
                        </a:rPr>
                        <a:t>CV_</a:t>
                      </a:r>
                      <a:r>
                        <a:rPr lang="ja-JP" altLang="en-US" sz="600" b="1" i="0" u="none" strike="noStrike">
                          <a:solidFill>
                            <a:srgbClr val="FFFFFF"/>
                          </a:solidFill>
                          <a:effectLst/>
                          <a:latin typeface="メイリオ" panose="020B0604030504040204" pitchFamily="50" charset="-128"/>
                          <a:ea typeface="メイリオ" panose="020B0604030504040204" pitchFamily="50" charset="-128"/>
                        </a:rPr>
                        <a:t>その他 </a:t>
                      </a:r>
                      <a:r>
                        <a:rPr lang="en-US" altLang="ja-JP" sz="600" b="1" i="0" u="none" strike="noStrike">
                          <a:solidFill>
                            <a:srgbClr val="FFFFFF"/>
                          </a:solidFill>
                          <a:effectLst/>
                          <a:latin typeface="メイリオ" panose="020B0604030504040204" pitchFamily="50" charset="-128"/>
                          <a:ea typeface="メイリオ" panose="020B0604030504040204" pitchFamily="50" charset="-128"/>
                        </a:rPr>
                        <a:t>※</a:t>
                      </a:r>
                      <a:r>
                        <a:rPr lang="ja-JP" altLang="en-US" sz="600" b="1" i="0" u="none" strike="noStrike">
                          <a:solidFill>
                            <a:srgbClr val="FFFFFF"/>
                          </a:solidFill>
                          <a:effectLst/>
                          <a:latin typeface="メイリオ" panose="020B0604030504040204" pitchFamily="50" charset="-128"/>
                          <a:ea typeface="メイリオ" panose="020B0604030504040204" pitchFamily="50" charset="-128"/>
                        </a:rPr>
                        <a:t>仮</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noFill/>
                      <a:prstDash val="dash"/>
                      <a:round/>
                      <a:headEnd type="none" w="med" len="med"/>
                      <a:tailEnd type="none" w="med" len="med"/>
                    </a:lnT>
                    <a:lnB w="6350" cap="flat" cmpd="sng" algn="ctr">
                      <a:solidFill>
                        <a:srgbClr val="000000"/>
                      </a:solidFill>
                      <a:prstDash val="dash"/>
                      <a:round/>
                      <a:headEnd type="none" w="med" len="med"/>
                      <a:tailEnd type="none" w="med" len="med"/>
                    </a:lnB>
                    <a:solidFill>
                      <a:srgbClr val="3A3838"/>
                    </a:solidFill>
                  </a:tcPr>
                </a:tc>
                <a:tc>
                  <a:txBody>
                    <a:bodyPr/>
                    <a:lstStyle/>
                    <a:p>
                      <a:pPr algn="ctr" fontAlgn="ctr"/>
                      <a:r>
                        <a:rPr lang="en-US" sz="600" b="1" i="0" u="none" strike="noStrike">
                          <a:solidFill>
                            <a:srgbClr val="FFFFFF"/>
                          </a:solidFill>
                          <a:effectLst/>
                          <a:latin typeface="メイリオ" panose="020B0604030504040204" pitchFamily="50" charset="-128"/>
                          <a:ea typeface="メイリオ" panose="020B0604030504040204" pitchFamily="50" charset="-128"/>
                        </a:rPr>
                        <a:t>CV</a:t>
                      </a:r>
                      <a:r>
                        <a:rPr lang="ja-JP" altLang="en-US" sz="600" b="1" i="0" u="none" strike="noStrike">
                          <a:solidFill>
                            <a:srgbClr val="FFFFFF"/>
                          </a:solidFill>
                          <a:effectLst/>
                          <a:latin typeface="メイリオ" panose="020B0604030504040204" pitchFamily="50" charset="-128"/>
                          <a:ea typeface="メイリオ" panose="020B0604030504040204" pitchFamily="50" charset="-128"/>
                        </a:rPr>
                        <a:t>率</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noFill/>
                      <a:prstDash val="dash"/>
                      <a:round/>
                      <a:headEnd type="none" w="med" len="med"/>
                      <a:tailEnd type="none" w="med" len="med"/>
                    </a:lnT>
                    <a:lnB w="6350" cap="flat" cmpd="sng" algn="ctr">
                      <a:solidFill>
                        <a:srgbClr val="000000"/>
                      </a:solidFill>
                      <a:prstDash val="dash"/>
                      <a:round/>
                      <a:headEnd type="none" w="med" len="med"/>
                      <a:tailEnd type="none" w="med" len="med"/>
                    </a:lnB>
                    <a:solidFill>
                      <a:srgbClr val="C00000"/>
                    </a:solidFill>
                  </a:tcPr>
                </a:tc>
                <a:tc>
                  <a:txBody>
                    <a:bodyPr/>
                    <a:lstStyle/>
                    <a:p>
                      <a:pPr algn="ctr" fontAlgn="ctr"/>
                      <a:r>
                        <a:rPr lang="en-US" sz="600" b="1" i="0" u="none" strike="noStrike">
                          <a:solidFill>
                            <a:srgbClr val="FFFFFF"/>
                          </a:solidFill>
                          <a:effectLst/>
                          <a:latin typeface="メイリオ" panose="020B0604030504040204" pitchFamily="50" charset="-128"/>
                          <a:ea typeface="メイリオ" panose="020B0604030504040204" pitchFamily="50" charset="-128"/>
                        </a:rPr>
                        <a:t>CPA</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noFill/>
                      <a:prstDash val="dash"/>
                      <a:round/>
                      <a:headEnd type="none" w="med" len="med"/>
                      <a:tailEnd type="none" w="med" len="med"/>
                    </a:lnT>
                    <a:lnB w="6350" cap="flat" cmpd="sng" algn="ctr">
                      <a:solidFill>
                        <a:srgbClr val="000000"/>
                      </a:solidFill>
                      <a:prstDash val="dash"/>
                      <a:round/>
                      <a:headEnd type="none" w="med" len="med"/>
                      <a:tailEnd type="none" w="med" len="med"/>
                    </a:lnB>
                    <a:solidFill>
                      <a:srgbClr val="C00000"/>
                    </a:solidFill>
                  </a:tcPr>
                </a:tc>
                <a:extLst>
                  <a:ext uri="{0D108BD9-81ED-4DB2-BD59-A6C34878D82A}">
                    <a16:rowId xmlns:a16="http://schemas.microsoft.com/office/drawing/2014/main" val="2732671633"/>
                  </a:ext>
                </a:extLst>
              </a:tr>
              <a:tr h="135923">
                <a:tc>
                  <a:txBody>
                    <a:bodyPr/>
                    <a:lstStyle/>
                    <a:p>
                      <a:pPr algn="ctr" fontAlgn="ctr"/>
                      <a:r>
                        <a:rPr lang="ja-JP" altLang="en-US" sz="600" b="0" i="0" u="none" strike="noStrike">
                          <a:solidFill>
                            <a:srgbClr val="000000"/>
                          </a:solidFill>
                          <a:effectLst/>
                          <a:latin typeface="メイリオ" panose="020B0604030504040204" pitchFamily="50" charset="-128"/>
                          <a:ea typeface="メイリオ" panose="020B0604030504040204" pitchFamily="50" charset="-128"/>
                        </a:rPr>
                        <a:t>ご提案時</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ctr" fontAlgn="ctr"/>
                      <a:r>
                        <a:rPr lang="ja-JP" altLang="en-US" sz="600" b="0" i="0" u="none" strike="noStrike">
                          <a:solidFill>
                            <a:srgbClr val="000000"/>
                          </a:solidFill>
                          <a:effectLst/>
                          <a:latin typeface="メイリオ" panose="020B0604030504040204" pitchFamily="50" charset="-128"/>
                          <a:ea typeface="メイリオ" panose="020B0604030504040204" pitchFamily="50" charset="-128"/>
                        </a:rPr>
                        <a:t>　</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180,000</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70.0%</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¥450,000</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70,000</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75.0%</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4.0%</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100</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2,200</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¥205</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25</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15</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1.1%</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¥18,000</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extLst>
                  <a:ext uri="{0D108BD9-81ED-4DB2-BD59-A6C34878D82A}">
                    <a16:rowId xmlns:a16="http://schemas.microsoft.com/office/drawing/2014/main" val="3647146513"/>
                  </a:ext>
                </a:extLst>
              </a:tr>
              <a:tr h="135923">
                <a:tc gridSpan="2">
                  <a:txBody>
                    <a:bodyPr/>
                    <a:lstStyle/>
                    <a:p>
                      <a:pPr algn="l" fontAlgn="ctr"/>
                      <a:r>
                        <a:rPr lang="ja-JP" altLang="en-US" sz="600" b="1" i="0" u="none" strike="noStrike" dirty="0">
                          <a:solidFill>
                            <a:srgbClr val="000000"/>
                          </a:solidFill>
                          <a:effectLst/>
                          <a:latin typeface="メイリオ" panose="020B0604030504040204" pitchFamily="50" charset="-128"/>
                          <a:ea typeface="メイリオ" panose="020B0604030504040204" pitchFamily="50" charset="-128"/>
                        </a:rPr>
                        <a:t>■月次データ（概要）</a:t>
                      </a:r>
                    </a:p>
                  </a:txBody>
                  <a:tcPr marL="5106" marR="5106" marT="5106" marB="0" anchor="ctr">
                    <a:lnL>
                      <a:noFill/>
                    </a:lnL>
                    <a:lnR>
                      <a:noFill/>
                    </a:lnR>
                    <a:lnT w="6350" cap="flat" cmpd="sng" algn="ctr">
                      <a:solidFill>
                        <a:srgbClr val="000000"/>
                      </a:solidFill>
                      <a:prstDash val="dash"/>
                      <a:round/>
                      <a:headEnd type="none" w="med" len="med"/>
                      <a:tailEnd type="none" w="med" len="med"/>
                    </a:lnT>
                    <a:lnB>
                      <a:noFill/>
                    </a:lnB>
                  </a:tcPr>
                </a:tc>
                <a:tc hMerge="1">
                  <a:txBody>
                    <a:bodyPr/>
                    <a:lstStyle/>
                    <a:p>
                      <a:endParaRPr kumimoji="1" lang="ja-JP" altLang="en-US"/>
                    </a:p>
                  </a:txBody>
                  <a:tcPr/>
                </a:tc>
                <a:tc>
                  <a:txBody>
                    <a:bodyPr/>
                    <a:lstStyle/>
                    <a:p>
                      <a:pPr algn="l" fontAlgn="ctr"/>
                      <a:endParaRPr lang="ja-JP" altLang="en-US" sz="600" b="0" i="0" u="none" strike="noStrike">
                        <a:solidFill>
                          <a:srgbClr val="000000"/>
                        </a:solidFill>
                        <a:effectLst/>
                        <a:latin typeface="メイリオ" panose="020B0604030504040204" pitchFamily="50" charset="-128"/>
                        <a:ea typeface="メイリオ" panose="020B0604030504040204" pitchFamily="50" charset="-128"/>
                      </a:endParaRPr>
                    </a:p>
                  </a:txBody>
                  <a:tcPr marL="5106" marR="5106" marT="5106" marB="0" anchor="ctr">
                    <a:lnL>
                      <a:noFill/>
                    </a:lnL>
                    <a:lnR>
                      <a:noFill/>
                    </a:lnR>
                    <a:lnT w="6350" cap="flat" cmpd="sng" algn="ctr">
                      <a:solidFill>
                        <a:srgbClr val="000000"/>
                      </a:solidFill>
                      <a:prstDash val="dash"/>
                      <a:round/>
                      <a:headEnd type="none" w="med" len="med"/>
                      <a:tailEnd type="none" w="med" len="med"/>
                    </a:lnT>
                    <a:lnB>
                      <a:noFill/>
                    </a:lnB>
                  </a:tcPr>
                </a:tc>
                <a:tc>
                  <a:txBody>
                    <a:bodyPr/>
                    <a:lstStyle/>
                    <a:p>
                      <a:pPr algn="l" fontAlgn="ctr"/>
                      <a:endParaRPr lang="ja-JP" altLang="en-US" sz="600" b="0" i="0" u="none" strike="noStrike">
                        <a:solidFill>
                          <a:srgbClr val="000000"/>
                        </a:solidFill>
                        <a:effectLst/>
                        <a:latin typeface="メイリオ" panose="020B0604030504040204" pitchFamily="50" charset="-128"/>
                        <a:ea typeface="メイリオ" panose="020B0604030504040204" pitchFamily="50" charset="-128"/>
                      </a:endParaRPr>
                    </a:p>
                  </a:txBody>
                  <a:tcPr marL="5106" marR="5106" marT="5106" marB="0" anchor="ctr">
                    <a:lnL>
                      <a:noFill/>
                    </a:lnL>
                    <a:lnR>
                      <a:noFill/>
                    </a:lnR>
                    <a:lnT w="6350" cap="flat" cmpd="sng" algn="ctr">
                      <a:solidFill>
                        <a:srgbClr val="000000"/>
                      </a:solidFill>
                      <a:prstDash val="dash"/>
                      <a:round/>
                      <a:headEnd type="none" w="med" len="med"/>
                      <a:tailEnd type="none" w="med" len="med"/>
                    </a:lnT>
                    <a:lnB>
                      <a:noFill/>
                    </a:lnB>
                  </a:tcPr>
                </a:tc>
                <a:tc>
                  <a:txBody>
                    <a:bodyPr/>
                    <a:lstStyle/>
                    <a:p>
                      <a:pPr algn="l" fontAlgn="ctr"/>
                      <a:endParaRPr lang="ja-JP" altLang="en-US" sz="600" b="0" i="0" u="none" strike="noStrike">
                        <a:solidFill>
                          <a:srgbClr val="000000"/>
                        </a:solidFill>
                        <a:effectLst/>
                        <a:latin typeface="メイリオ" panose="020B0604030504040204" pitchFamily="50" charset="-128"/>
                        <a:ea typeface="メイリオ" panose="020B0604030504040204" pitchFamily="50" charset="-128"/>
                      </a:endParaRPr>
                    </a:p>
                  </a:txBody>
                  <a:tcPr marL="5106" marR="5106" marT="5106" marB="0" anchor="ctr">
                    <a:lnL>
                      <a:noFill/>
                    </a:lnL>
                    <a:lnR>
                      <a:noFill/>
                    </a:lnR>
                    <a:lnT w="6350" cap="flat" cmpd="sng" algn="ctr">
                      <a:solidFill>
                        <a:srgbClr val="000000"/>
                      </a:solidFill>
                      <a:prstDash val="dash"/>
                      <a:round/>
                      <a:headEnd type="none" w="med" len="med"/>
                      <a:tailEnd type="none" w="med" len="med"/>
                    </a:lnT>
                    <a:lnB>
                      <a:noFill/>
                    </a:lnB>
                  </a:tcPr>
                </a:tc>
                <a:tc>
                  <a:txBody>
                    <a:bodyPr/>
                    <a:lstStyle/>
                    <a:p>
                      <a:pPr algn="l" fontAlgn="ctr"/>
                      <a:endParaRPr lang="ja-JP" altLang="en-US" sz="600" b="0" i="0" u="none" strike="noStrike">
                        <a:solidFill>
                          <a:srgbClr val="000000"/>
                        </a:solidFill>
                        <a:effectLst/>
                        <a:latin typeface="メイリオ" panose="020B0604030504040204" pitchFamily="50" charset="-128"/>
                        <a:ea typeface="メイリオ" panose="020B0604030504040204" pitchFamily="50" charset="-128"/>
                      </a:endParaRPr>
                    </a:p>
                  </a:txBody>
                  <a:tcPr marL="5106" marR="5106" marT="5106" marB="0" anchor="ctr">
                    <a:lnL>
                      <a:noFill/>
                    </a:lnL>
                    <a:lnR>
                      <a:noFill/>
                    </a:lnR>
                    <a:lnT w="6350" cap="flat" cmpd="sng" algn="ctr">
                      <a:solidFill>
                        <a:srgbClr val="000000"/>
                      </a:solidFill>
                      <a:prstDash val="dash"/>
                      <a:round/>
                      <a:headEnd type="none" w="med" len="med"/>
                      <a:tailEnd type="none" w="med" len="med"/>
                    </a:lnT>
                    <a:lnB>
                      <a:noFill/>
                    </a:lnB>
                  </a:tcPr>
                </a:tc>
                <a:tc>
                  <a:txBody>
                    <a:bodyPr/>
                    <a:lstStyle/>
                    <a:p>
                      <a:pPr algn="l" fontAlgn="ctr"/>
                      <a:endParaRPr lang="ja-JP" altLang="en-US" sz="600" b="0" i="0" u="none" strike="noStrike">
                        <a:solidFill>
                          <a:srgbClr val="000000"/>
                        </a:solidFill>
                        <a:effectLst/>
                        <a:latin typeface="メイリオ" panose="020B0604030504040204" pitchFamily="50" charset="-128"/>
                        <a:ea typeface="メイリオ" panose="020B0604030504040204" pitchFamily="50" charset="-128"/>
                      </a:endParaRPr>
                    </a:p>
                  </a:txBody>
                  <a:tcPr marL="5106" marR="5106" marT="5106" marB="0" anchor="ctr">
                    <a:lnL>
                      <a:noFill/>
                    </a:lnL>
                    <a:lnR>
                      <a:noFill/>
                    </a:lnR>
                    <a:lnT w="6350" cap="flat" cmpd="sng" algn="ctr">
                      <a:solidFill>
                        <a:srgbClr val="000000"/>
                      </a:solidFill>
                      <a:prstDash val="dash"/>
                      <a:round/>
                      <a:headEnd type="none" w="med" len="med"/>
                      <a:tailEnd type="none" w="med" len="med"/>
                    </a:lnT>
                    <a:lnB>
                      <a:noFill/>
                    </a:lnB>
                  </a:tcPr>
                </a:tc>
                <a:tc>
                  <a:txBody>
                    <a:bodyPr/>
                    <a:lstStyle/>
                    <a:p>
                      <a:pPr algn="l" fontAlgn="ctr"/>
                      <a:endParaRPr lang="ja-JP" altLang="en-US" sz="600" b="0" i="0" u="none" strike="noStrike">
                        <a:solidFill>
                          <a:srgbClr val="000000"/>
                        </a:solidFill>
                        <a:effectLst/>
                        <a:latin typeface="メイリオ" panose="020B0604030504040204" pitchFamily="50" charset="-128"/>
                        <a:ea typeface="メイリオ" panose="020B0604030504040204" pitchFamily="50" charset="-128"/>
                      </a:endParaRPr>
                    </a:p>
                  </a:txBody>
                  <a:tcPr marL="5106" marR="5106" marT="5106" marB="0" anchor="ctr">
                    <a:lnL>
                      <a:noFill/>
                    </a:lnL>
                    <a:lnR>
                      <a:noFill/>
                    </a:lnR>
                    <a:lnT w="6350" cap="flat" cmpd="sng" algn="ctr">
                      <a:solidFill>
                        <a:srgbClr val="000000"/>
                      </a:solidFill>
                      <a:prstDash val="dash"/>
                      <a:round/>
                      <a:headEnd type="none" w="med" len="med"/>
                      <a:tailEnd type="none" w="med" len="med"/>
                    </a:lnT>
                    <a:lnB>
                      <a:noFill/>
                    </a:lnB>
                  </a:tcPr>
                </a:tc>
                <a:tc>
                  <a:txBody>
                    <a:bodyPr/>
                    <a:lstStyle/>
                    <a:p>
                      <a:pPr algn="l" fontAlgn="ctr"/>
                      <a:endParaRPr lang="ja-JP" altLang="en-US" sz="600" b="0" i="0" u="none" strike="noStrike">
                        <a:solidFill>
                          <a:srgbClr val="000000"/>
                        </a:solidFill>
                        <a:effectLst/>
                        <a:latin typeface="メイリオ" panose="020B0604030504040204" pitchFamily="50" charset="-128"/>
                        <a:ea typeface="メイリオ" panose="020B0604030504040204" pitchFamily="50" charset="-128"/>
                      </a:endParaRPr>
                    </a:p>
                  </a:txBody>
                  <a:tcPr marL="5106" marR="5106" marT="5106" marB="0" anchor="ctr">
                    <a:lnL>
                      <a:noFill/>
                    </a:lnL>
                    <a:lnR>
                      <a:noFill/>
                    </a:lnR>
                    <a:lnT w="6350" cap="flat" cmpd="sng" algn="ctr">
                      <a:solidFill>
                        <a:srgbClr val="000000"/>
                      </a:solidFill>
                      <a:prstDash val="dash"/>
                      <a:round/>
                      <a:headEnd type="none" w="med" len="med"/>
                      <a:tailEnd type="none" w="med" len="med"/>
                    </a:lnT>
                    <a:lnB>
                      <a:noFill/>
                    </a:lnB>
                  </a:tcPr>
                </a:tc>
                <a:tc>
                  <a:txBody>
                    <a:bodyPr/>
                    <a:lstStyle/>
                    <a:p>
                      <a:pPr algn="l" fontAlgn="ctr"/>
                      <a:endParaRPr lang="ja-JP" altLang="en-US" sz="600" b="0" i="0" u="none" strike="noStrike">
                        <a:solidFill>
                          <a:srgbClr val="000000"/>
                        </a:solidFill>
                        <a:effectLst/>
                        <a:latin typeface="メイリオ" panose="020B0604030504040204" pitchFamily="50" charset="-128"/>
                        <a:ea typeface="メイリオ" panose="020B0604030504040204" pitchFamily="50" charset="-128"/>
                      </a:endParaRPr>
                    </a:p>
                  </a:txBody>
                  <a:tcPr marL="5106" marR="5106" marT="5106" marB="0" anchor="ctr">
                    <a:lnL>
                      <a:noFill/>
                    </a:lnL>
                    <a:lnR>
                      <a:noFill/>
                    </a:lnR>
                    <a:lnT w="6350" cap="flat" cmpd="sng" algn="ctr">
                      <a:solidFill>
                        <a:srgbClr val="000000"/>
                      </a:solidFill>
                      <a:prstDash val="dash"/>
                      <a:round/>
                      <a:headEnd type="none" w="med" len="med"/>
                      <a:tailEnd type="none" w="med" len="med"/>
                    </a:lnT>
                    <a:lnB>
                      <a:noFill/>
                    </a:lnB>
                  </a:tcPr>
                </a:tc>
                <a:tc>
                  <a:txBody>
                    <a:bodyPr/>
                    <a:lstStyle/>
                    <a:p>
                      <a:pPr algn="l" fontAlgn="ctr"/>
                      <a:endParaRPr lang="ja-JP" altLang="en-US" sz="600" b="0" i="0" u="none" strike="noStrike">
                        <a:solidFill>
                          <a:srgbClr val="000000"/>
                        </a:solidFill>
                        <a:effectLst/>
                        <a:latin typeface="メイリオ" panose="020B0604030504040204" pitchFamily="50" charset="-128"/>
                        <a:ea typeface="メイリオ" panose="020B0604030504040204" pitchFamily="50" charset="-128"/>
                      </a:endParaRPr>
                    </a:p>
                  </a:txBody>
                  <a:tcPr marL="5106" marR="5106" marT="5106" marB="0" anchor="ctr">
                    <a:lnL>
                      <a:noFill/>
                    </a:lnL>
                    <a:lnR>
                      <a:noFill/>
                    </a:lnR>
                    <a:lnT w="6350" cap="flat" cmpd="sng" algn="ctr">
                      <a:solidFill>
                        <a:srgbClr val="000000"/>
                      </a:solidFill>
                      <a:prstDash val="dash"/>
                      <a:round/>
                      <a:headEnd type="none" w="med" len="med"/>
                      <a:tailEnd type="none" w="med" len="med"/>
                    </a:lnT>
                    <a:lnB>
                      <a:noFill/>
                    </a:lnB>
                  </a:tcPr>
                </a:tc>
                <a:tc>
                  <a:txBody>
                    <a:bodyPr/>
                    <a:lstStyle/>
                    <a:p>
                      <a:pPr algn="l" fontAlgn="ctr"/>
                      <a:endParaRPr lang="ja-JP" altLang="en-US" sz="600" b="0" i="0" u="none" strike="noStrike">
                        <a:solidFill>
                          <a:srgbClr val="000000"/>
                        </a:solidFill>
                        <a:effectLst/>
                        <a:latin typeface="メイリオ" panose="020B0604030504040204" pitchFamily="50" charset="-128"/>
                        <a:ea typeface="メイリオ" panose="020B0604030504040204" pitchFamily="50" charset="-128"/>
                      </a:endParaRPr>
                    </a:p>
                  </a:txBody>
                  <a:tcPr marL="5106" marR="5106" marT="5106" marB="0" anchor="ctr">
                    <a:lnL>
                      <a:noFill/>
                    </a:lnL>
                    <a:lnR>
                      <a:noFill/>
                    </a:lnR>
                    <a:lnT w="6350" cap="flat" cmpd="sng" algn="ctr">
                      <a:solidFill>
                        <a:srgbClr val="000000"/>
                      </a:solidFill>
                      <a:prstDash val="dash"/>
                      <a:round/>
                      <a:headEnd type="none" w="med" len="med"/>
                      <a:tailEnd type="none" w="med" len="med"/>
                    </a:lnT>
                    <a:lnB>
                      <a:noFill/>
                    </a:lnB>
                  </a:tcPr>
                </a:tc>
                <a:tc>
                  <a:txBody>
                    <a:bodyPr/>
                    <a:lstStyle/>
                    <a:p>
                      <a:pPr algn="l" fontAlgn="ctr"/>
                      <a:endParaRPr lang="ja-JP" altLang="en-US" sz="600" b="0" i="0" u="none" strike="noStrike">
                        <a:solidFill>
                          <a:srgbClr val="000000"/>
                        </a:solidFill>
                        <a:effectLst/>
                        <a:latin typeface="メイリオ" panose="020B0604030504040204" pitchFamily="50" charset="-128"/>
                        <a:ea typeface="メイリオ" panose="020B0604030504040204" pitchFamily="50" charset="-128"/>
                      </a:endParaRPr>
                    </a:p>
                  </a:txBody>
                  <a:tcPr marL="5106" marR="5106" marT="5106" marB="0" anchor="ctr">
                    <a:lnL>
                      <a:noFill/>
                    </a:lnL>
                    <a:lnR>
                      <a:noFill/>
                    </a:lnR>
                    <a:lnT w="6350" cap="flat" cmpd="sng" algn="ctr">
                      <a:solidFill>
                        <a:srgbClr val="000000"/>
                      </a:solidFill>
                      <a:prstDash val="dash"/>
                      <a:round/>
                      <a:headEnd type="none" w="med" len="med"/>
                      <a:tailEnd type="none" w="med" len="med"/>
                    </a:lnT>
                    <a:lnB>
                      <a:noFill/>
                    </a:lnB>
                  </a:tcPr>
                </a:tc>
                <a:tc>
                  <a:txBody>
                    <a:bodyPr/>
                    <a:lstStyle/>
                    <a:p>
                      <a:pPr algn="l" fontAlgn="ctr"/>
                      <a:endParaRPr lang="ja-JP" altLang="en-US" sz="600" b="0" i="0" u="none" strike="noStrike">
                        <a:solidFill>
                          <a:srgbClr val="000000"/>
                        </a:solidFill>
                        <a:effectLst/>
                        <a:latin typeface="メイリオ" panose="020B0604030504040204" pitchFamily="50" charset="-128"/>
                        <a:ea typeface="メイリオ" panose="020B0604030504040204" pitchFamily="50" charset="-128"/>
                      </a:endParaRPr>
                    </a:p>
                  </a:txBody>
                  <a:tcPr marL="5106" marR="5106" marT="5106" marB="0" anchor="ctr">
                    <a:lnL>
                      <a:noFill/>
                    </a:lnL>
                    <a:lnR>
                      <a:noFill/>
                    </a:lnR>
                    <a:lnT w="6350" cap="flat" cmpd="sng" algn="ctr">
                      <a:solidFill>
                        <a:srgbClr val="000000"/>
                      </a:solidFill>
                      <a:prstDash val="dash"/>
                      <a:round/>
                      <a:headEnd type="none" w="med" len="med"/>
                      <a:tailEnd type="none" w="med" len="med"/>
                    </a:lnT>
                    <a:lnB>
                      <a:noFill/>
                    </a:lnB>
                  </a:tcPr>
                </a:tc>
                <a:tc>
                  <a:txBody>
                    <a:bodyPr/>
                    <a:lstStyle/>
                    <a:p>
                      <a:pPr algn="l" fontAlgn="ctr"/>
                      <a:endParaRPr lang="ja-JP" altLang="en-US" sz="600" b="0" i="0" u="none" strike="noStrike">
                        <a:solidFill>
                          <a:srgbClr val="000000"/>
                        </a:solidFill>
                        <a:effectLst/>
                        <a:latin typeface="メイリオ" panose="020B0604030504040204" pitchFamily="50" charset="-128"/>
                        <a:ea typeface="メイリオ" panose="020B0604030504040204" pitchFamily="50" charset="-128"/>
                      </a:endParaRPr>
                    </a:p>
                  </a:txBody>
                  <a:tcPr marL="5106" marR="5106" marT="5106" marB="0" anchor="ctr">
                    <a:lnL>
                      <a:noFill/>
                    </a:lnL>
                    <a:lnR>
                      <a:noFill/>
                    </a:lnR>
                    <a:lnT w="6350" cap="flat" cmpd="sng" algn="ctr">
                      <a:solidFill>
                        <a:srgbClr val="000000"/>
                      </a:solidFill>
                      <a:prstDash val="dash"/>
                      <a:round/>
                      <a:headEnd type="none" w="med" len="med"/>
                      <a:tailEnd type="none" w="med" len="med"/>
                    </a:lnT>
                    <a:lnB>
                      <a:noFill/>
                    </a:lnB>
                  </a:tcPr>
                </a:tc>
                <a:extLst>
                  <a:ext uri="{0D108BD9-81ED-4DB2-BD59-A6C34878D82A}">
                    <a16:rowId xmlns:a16="http://schemas.microsoft.com/office/drawing/2014/main" val="2623514694"/>
                  </a:ext>
                </a:extLst>
              </a:tr>
              <a:tr h="135923">
                <a:tc>
                  <a:txBody>
                    <a:bodyPr/>
                    <a:lstStyle/>
                    <a:p>
                      <a:pPr algn="ctr" fontAlgn="ctr"/>
                      <a:r>
                        <a:rPr lang="ja-JP" altLang="en-US" sz="600" b="1" i="0" u="none" strike="noStrike" dirty="0">
                          <a:solidFill>
                            <a:srgbClr val="FFFFFF"/>
                          </a:solidFill>
                          <a:effectLst/>
                          <a:latin typeface="メイリオ" panose="020B0604030504040204" pitchFamily="50" charset="-128"/>
                          <a:ea typeface="メイリオ" panose="020B0604030504040204" pitchFamily="50" charset="-128"/>
                        </a:rPr>
                        <a:t>期間</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noFill/>
                      <a:prstDash val="dash"/>
                      <a:round/>
                      <a:headEnd type="none" w="med" len="med"/>
                      <a:tailEnd type="none" w="med" len="med"/>
                    </a:lnT>
                    <a:lnB w="6350" cap="flat" cmpd="sng" algn="ctr">
                      <a:solidFill>
                        <a:srgbClr val="000000"/>
                      </a:solidFill>
                      <a:prstDash val="dash"/>
                      <a:round/>
                      <a:headEnd type="none" w="med" len="med"/>
                      <a:tailEnd type="none" w="med" len="med"/>
                    </a:lnB>
                    <a:solidFill>
                      <a:srgbClr val="44546A"/>
                    </a:solidFill>
                  </a:tcPr>
                </a:tc>
                <a:tc>
                  <a:txBody>
                    <a:bodyPr/>
                    <a:lstStyle/>
                    <a:p>
                      <a:pPr algn="ctr" fontAlgn="ctr"/>
                      <a:r>
                        <a:rPr lang="ja-JP" altLang="en-US" sz="600" b="1" i="0" u="none" strike="noStrike">
                          <a:solidFill>
                            <a:srgbClr val="FFFFFF"/>
                          </a:solidFill>
                          <a:effectLst/>
                          <a:latin typeface="メイリオ" panose="020B0604030504040204" pitchFamily="50" charset="-128"/>
                          <a:ea typeface="メイリオ" panose="020B0604030504040204" pitchFamily="50" charset="-128"/>
                        </a:rPr>
                        <a:t>変換用</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solidFill>
                      <a:srgbClr val="44546A"/>
                    </a:solidFill>
                  </a:tcPr>
                </a:tc>
                <a:tc>
                  <a:txBody>
                    <a:bodyPr/>
                    <a:lstStyle/>
                    <a:p>
                      <a:pPr algn="ctr" fontAlgn="ctr"/>
                      <a:r>
                        <a:rPr lang="ja-JP" altLang="en-US" sz="600" b="1" i="0" u="none" strike="noStrike">
                          <a:solidFill>
                            <a:srgbClr val="FFFFFF"/>
                          </a:solidFill>
                          <a:effectLst/>
                          <a:latin typeface="メイリオ" panose="020B0604030504040204" pitchFamily="50" charset="-128"/>
                          <a:ea typeface="メイリオ" panose="020B0604030504040204" pitchFamily="50" charset="-128"/>
                        </a:rPr>
                        <a:t>友だち数</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noFill/>
                      <a:prstDash val="dash"/>
                      <a:round/>
                      <a:headEnd type="none" w="med" len="med"/>
                      <a:tailEnd type="none" w="med" len="med"/>
                    </a:lnT>
                    <a:lnB w="6350" cap="flat" cmpd="sng" algn="ctr">
                      <a:solidFill>
                        <a:srgbClr val="000000"/>
                      </a:solidFill>
                      <a:prstDash val="dash"/>
                      <a:round/>
                      <a:headEnd type="none" w="med" len="med"/>
                      <a:tailEnd type="none" w="med" len="med"/>
                    </a:lnB>
                    <a:solidFill>
                      <a:srgbClr val="44546A"/>
                    </a:solidFill>
                  </a:tcPr>
                </a:tc>
                <a:tc>
                  <a:txBody>
                    <a:bodyPr/>
                    <a:lstStyle/>
                    <a:p>
                      <a:pPr algn="ctr" fontAlgn="ctr"/>
                      <a:r>
                        <a:rPr lang="ja-JP" altLang="en-US" sz="600" b="1" i="0" u="none" strike="noStrike">
                          <a:solidFill>
                            <a:srgbClr val="FFFFFF"/>
                          </a:solidFill>
                          <a:effectLst/>
                          <a:latin typeface="メイリオ" panose="020B0604030504040204" pitchFamily="50" charset="-128"/>
                          <a:ea typeface="メイリオ" panose="020B0604030504040204" pitchFamily="50" charset="-128"/>
                        </a:rPr>
                        <a:t>ブロック率</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noFill/>
                      <a:prstDash val="dash"/>
                      <a:round/>
                      <a:headEnd type="none" w="med" len="med"/>
                      <a:tailEnd type="none" w="med" len="med"/>
                    </a:lnT>
                    <a:lnB w="6350" cap="flat" cmpd="sng" algn="ctr">
                      <a:solidFill>
                        <a:srgbClr val="000000"/>
                      </a:solidFill>
                      <a:prstDash val="dash"/>
                      <a:round/>
                      <a:headEnd type="none" w="med" len="med"/>
                      <a:tailEnd type="none" w="med" len="med"/>
                    </a:lnB>
                    <a:solidFill>
                      <a:srgbClr val="44546A"/>
                    </a:solidFill>
                  </a:tcPr>
                </a:tc>
                <a:tc>
                  <a:txBody>
                    <a:bodyPr/>
                    <a:lstStyle/>
                    <a:p>
                      <a:pPr algn="ctr" fontAlgn="ctr"/>
                      <a:r>
                        <a:rPr lang="ja-JP" altLang="en-US" sz="600" b="1" i="0" u="none" strike="noStrike">
                          <a:solidFill>
                            <a:srgbClr val="FFFFFF"/>
                          </a:solidFill>
                          <a:effectLst/>
                          <a:latin typeface="メイリオ" panose="020B0604030504040204" pitchFamily="50" charset="-128"/>
                          <a:ea typeface="メイリオ" panose="020B0604030504040204" pitchFamily="50" charset="-128"/>
                        </a:rPr>
                        <a:t>コスト</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noFill/>
                      <a:prstDash val="dash"/>
                      <a:round/>
                      <a:headEnd type="none" w="med" len="med"/>
                      <a:tailEnd type="none" w="med" len="med"/>
                    </a:lnT>
                    <a:lnB w="6350" cap="flat" cmpd="sng" algn="ctr">
                      <a:solidFill>
                        <a:srgbClr val="000000"/>
                      </a:solidFill>
                      <a:prstDash val="dash"/>
                      <a:round/>
                      <a:headEnd type="none" w="med" len="med"/>
                      <a:tailEnd type="none" w="med" len="med"/>
                    </a:lnB>
                    <a:solidFill>
                      <a:srgbClr val="44546A"/>
                    </a:solidFill>
                  </a:tcPr>
                </a:tc>
                <a:tc>
                  <a:txBody>
                    <a:bodyPr/>
                    <a:lstStyle/>
                    <a:p>
                      <a:pPr algn="ctr" fontAlgn="ctr"/>
                      <a:r>
                        <a:rPr lang="ja-JP" altLang="en-US" sz="600" b="1" i="0" u="none" strike="noStrike">
                          <a:solidFill>
                            <a:srgbClr val="FFFFFF"/>
                          </a:solidFill>
                          <a:effectLst/>
                          <a:latin typeface="メイリオ" panose="020B0604030504040204" pitchFamily="50" charset="-128"/>
                          <a:ea typeface="メイリオ" panose="020B0604030504040204" pitchFamily="50" charset="-128"/>
                        </a:rPr>
                        <a:t>配信メッセ数</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noFill/>
                      <a:prstDash val="dash"/>
                      <a:round/>
                      <a:headEnd type="none" w="med" len="med"/>
                      <a:tailEnd type="none" w="med" len="med"/>
                    </a:lnT>
                    <a:lnB w="6350" cap="flat" cmpd="sng" algn="ctr">
                      <a:solidFill>
                        <a:srgbClr val="000000"/>
                      </a:solidFill>
                      <a:prstDash val="dash"/>
                      <a:round/>
                      <a:headEnd type="none" w="med" len="med"/>
                      <a:tailEnd type="none" w="med" len="med"/>
                    </a:lnB>
                    <a:solidFill>
                      <a:srgbClr val="44546A"/>
                    </a:solidFill>
                  </a:tcPr>
                </a:tc>
                <a:tc>
                  <a:txBody>
                    <a:bodyPr/>
                    <a:lstStyle/>
                    <a:p>
                      <a:pPr algn="ctr" fontAlgn="ctr"/>
                      <a:r>
                        <a:rPr lang="ja-JP" altLang="en-US" sz="600" b="1" i="0" u="none" strike="noStrike">
                          <a:solidFill>
                            <a:srgbClr val="FFFFFF"/>
                          </a:solidFill>
                          <a:effectLst/>
                          <a:latin typeface="メイリオ" panose="020B0604030504040204" pitchFamily="50" charset="-128"/>
                          <a:ea typeface="メイリオ" panose="020B0604030504040204" pitchFamily="50" charset="-128"/>
                        </a:rPr>
                        <a:t>開封率</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noFill/>
                      <a:prstDash val="dash"/>
                      <a:round/>
                      <a:headEnd type="none" w="med" len="med"/>
                      <a:tailEnd type="none" w="med" len="med"/>
                    </a:lnT>
                    <a:lnB w="6350" cap="flat" cmpd="sng" algn="ctr">
                      <a:solidFill>
                        <a:srgbClr val="000000"/>
                      </a:solidFill>
                      <a:prstDash val="dash"/>
                      <a:round/>
                      <a:headEnd type="none" w="med" len="med"/>
                      <a:tailEnd type="none" w="med" len="med"/>
                    </a:lnB>
                    <a:solidFill>
                      <a:srgbClr val="44546A"/>
                    </a:solidFill>
                  </a:tcPr>
                </a:tc>
                <a:tc>
                  <a:txBody>
                    <a:bodyPr/>
                    <a:lstStyle/>
                    <a:p>
                      <a:pPr algn="ctr" fontAlgn="ctr"/>
                      <a:r>
                        <a:rPr lang="ja-JP" altLang="en-US" sz="600" b="1" i="0" u="none" strike="noStrike">
                          <a:solidFill>
                            <a:srgbClr val="FFFFFF"/>
                          </a:solidFill>
                          <a:effectLst/>
                          <a:latin typeface="メイリオ" panose="020B0604030504040204" pitchFamily="50" charset="-128"/>
                          <a:ea typeface="メイリオ" panose="020B0604030504040204" pitchFamily="50" charset="-128"/>
                        </a:rPr>
                        <a:t>クリック率</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noFill/>
                      <a:prstDash val="dash"/>
                      <a:round/>
                      <a:headEnd type="none" w="med" len="med"/>
                      <a:tailEnd type="none" w="med" len="med"/>
                    </a:lnT>
                    <a:lnB w="6350" cap="flat" cmpd="sng" algn="ctr">
                      <a:solidFill>
                        <a:srgbClr val="000000"/>
                      </a:solidFill>
                      <a:prstDash val="dash"/>
                      <a:round/>
                      <a:headEnd type="none" w="med" len="med"/>
                      <a:tailEnd type="none" w="med" len="med"/>
                    </a:lnB>
                    <a:solidFill>
                      <a:srgbClr val="44546A"/>
                    </a:solidFill>
                  </a:tcPr>
                </a:tc>
                <a:tc>
                  <a:txBody>
                    <a:bodyPr/>
                    <a:lstStyle/>
                    <a:p>
                      <a:pPr algn="ctr" fontAlgn="ctr"/>
                      <a:r>
                        <a:rPr lang="ja-JP" altLang="en-US" sz="600" b="1" i="0" u="none" strike="noStrike">
                          <a:solidFill>
                            <a:srgbClr val="FFFFFF"/>
                          </a:solidFill>
                          <a:effectLst/>
                          <a:latin typeface="メイリオ" panose="020B0604030504040204" pitchFamily="50" charset="-128"/>
                          <a:ea typeface="メイリオ" panose="020B0604030504040204" pitchFamily="50" charset="-128"/>
                        </a:rPr>
                        <a:t>その他流入</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noFill/>
                      <a:prstDash val="dash"/>
                      <a:round/>
                      <a:headEnd type="none" w="med" len="med"/>
                      <a:tailEnd type="none" w="med" len="med"/>
                    </a:lnT>
                    <a:lnB w="6350" cap="flat" cmpd="sng" algn="ctr">
                      <a:solidFill>
                        <a:srgbClr val="000000"/>
                      </a:solidFill>
                      <a:prstDash val="dash"/>
                      <a:round/>
                      <a:headEnd type="none" w="med" len="med"/>
                      <a:tailEnd type="none" w="med" len="med"/>
                    </a:lnB>
                    <a:solidFill>
                      <a:srgbClr val="44546A"/>
                    </a:solidFill>
                  </a:tcPr>
                </a:tc>
                <a:tc>
                  <a:txBody>
                    <a:bodyPr/>
                    <a:lstStyle/>
                    <a:p>
                      <a:pPr algn="ctr" fontAlgn="ctr"/>
                      <a:r>
                        <a:rPr lang="ja-JP" altLang="en-US" sz="600" b="1" i="0" u="none" strike="noStrike">
                          <a:solidFill>
                            <a:srgbClr val="FFFFFF"/>
                          </a:solidFill>
                          <a:effectLst/>
                          <a:latin typeface="メイリオ" panose="020B0604030504040204" pitchFamily="50" charset="-128"/>
                          <a:ea typeface="メイリオ" panose="020B0604030504040204" pitchFamily="50" charset="-128"/>
                        </a:rPr>
                        <a:t>流入計</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noFill/>
                      <a:prstDash val="dash"/>
                      <a:round/>
                      <a:headEnd type="none" w="med" len="med"/>
                      <a:tailEnd type="none" w="med" len="med"/>
                    </a:lnT>
                    <a:lnB w="6350" cap="flat" cmpd="sng" algn="ctr">
                      <a:solidFill>
                        <a:srgbClr val="000000"/>
                      </a:solidFill>
                      <a:prstDash val="dash"/>
                      <a:round/>
                      <a:headEnd type="none" w="med" len="med"/>
                      <a:tailEnd type="none" w="med" len="med"/>
                    </a:lnB>
                    <a:solidFill>
                      <a:srgbClr val="44546A"/>
                    </a:solidFill>
                  </a:tcPr>
                </a:tc>
                <a:tc>
                  <a:txBody>
                    <a:bodyPr/>
                    <a:lstStyle/>
                    <a:p>
                      <a:pPr algn="ctr" fontAlgn="ctr"/>
                      <a:r>
                        <a:rPr lang="ja-JP" altLang="en-US" sz="600" b="1" i="0" u="none" strike="noStrike">
                          <a:solidFill>
                            <a:srgbClr val="FFFFFF"/>
                          </a:solidFill>
                          <a:effectLst/>
                          <a:latin typeface="メイリオ" panose="020B0604030504040204" pitchFamily="50" charset="-128"/>
                          <a:ea typeface="メイリオ" panose="020B0604030504040204" pitchFamily="50" charset="-128"/>
                        </a:rPr>
                        <a:t>流入単価</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noFill/>
                      <a:prstDash val="dash"/>
                      <a:round/>
                      <a:headEnd type="none" w="med" len="med"/>
                      <a:tailEnd type="none" w="med" len="med"/>
                    </a:lnT>
                    <a:lnB w="6350" cap="flat" cmpd="sng" algn="ctr">
                      <a:solidFill>
                        <a:srgbClr val="000000"/>
                      </a:solidFill>
                      <a:prstDash val="dash"/>
                      <a:round/>
                      <a:headEnd type="none" w="med" len="med"/>
                      <a:tailEnd type="none" w="med" len="med"/>
                    </a:lnB>
                    <a:solidFill>
                      <a:srgbClr val="44546A"/>
                    </a:solidFill>
                  </a:tcPr>
                </a:tc>
                <a:tc>
                  <a:txBody>
                    <a:bodyPr/>
                    <a:lstStyle/>
                    <a:p>
                      <a:pPr algn="ctr" fontAlgn="ctr"/>
                      <a:r>
                        <a:rPr lang="en-US" sz="600" b="1" i="0" u="none" strike="noStrike">
                          <a:solidFill>
                            <a:srgbClr val="FFFFFF"/>
                          </a:solidFill>
                          <a:effectLst/>
                          <a:latin typeface="メイリオ" panose="020B0604030504040204" pitchFamily="50" charset="-128"/>
                          <a:ea typeface="メイリオ" panose="020B0604030504040204" pitchFamily="50" charset="-128"/>
                        </a:rPr>
                        <a:t>GA_CV</a:t>
                      </a:r>
                      <a:r>
                        <a:rPr lang="ja-JP" altLang="en-US" sz="600" b="1" i="0" u="none" strike="noStrike">
                          <a:solidFill>
                            <a:srgbClr val="FFFFFF"/>
                          </a:solidFill>
                          <a:effectLst/>
                          <a:latin typeface="メイリオ" panose="020B0604030504040204" pitchFamily="50" charset="-128"/>
                          <a:ea typeface="メイリオ" panose="020B0604030504040204" pitchFamily="50" charset="-128"/>
                        </a:rPr>
                        <a:t>計</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noFill/>
                      <a:prstDash val="dash"/>
                      <a:round/>
                      <a:headEnd type="none" w="med" len="med"/>
                      <a:tailEnd type="none" w="med" len="med"/>
                    </a:lnT>
                    <a:lnB w="6350" cap="flat" cmpd="sng" algn="ctr">
                      <a:solidFill>
                        <a:srgbClr val="000000"/>
                      </a:solidFill>
                      <a:prstDash val="dash"/>
                      <a:round/>
                      <a:headEnd type="none" w="med" len="med"/>
                      <a:tailEnd type="none" w="med" len="med"/>
                    </a:lnB>
                    <a:solidFill>
                      <a:srgbClr val="FF0000"/>
                    </a:solidFill>
                  </a:tcPr>
                </a:tc>
                <a:tc>
                  <a:txBody>
                    <a:bodyPr/>
                    <a:lstStyle/>
                    <a:p>
                      <a:pPr algn="ctr" fontAlgn="ctr"/>
                      <a:r>
                        <a:rPr lang="en-US" sz="600" b="1" i="0" u="none" strike="noStrike">
                          <a:solidFill>
                            <a:srgbClr val="FFFFFF"/>
                          </a:solidFill>
                          <a:effectLst/>
                          <a:latin typeface="メイリオ" panose="020B0604030504040204" pitchFamily="50" charset="-128"/>
                          <a:ea typeface="メイリオ" panose="020B0604030504040204" pitchFamily="50" charset="-128"/>
                        </a:rPr>
                        <a:t>CV_</a:t>
                      </a:r>
                      <a:r>
                        <a:rPr lang="ja-JP" altLang="en-US" sz="600" b="1" i="0" u="none" strike="noStrike">
                          <a:solidFill>
                            <a:srgbClr val="FFFFFF"/>
                          </a:solidFill>
                          <a:effectLst/>
                          <a:latin typeface="メイリオ" panose="020B0604030504040204" pitchFamily="50" charset="-128"/>
                          <a:ea typeface="メイリオ" panose="020B0604030504040204" pitchFamily="50" charset="-128"/>
                        </a:rPr>
                        <a:t>その他 </a:t>
                      </a:r>
                      <a:r>
                        <a:rPr lang="en-US" altLang="ja-JP" sz="600" b="1" i="0" u="none" strike="noStrike">
                          <a:solidFill>
                            <a:srgbClr val="FFFFFF"/>
                          </a:solidFill>
                          <a:effectLst/>
                          <a:latin typeface="メイリオ" panose="020B0604030504040204" pitchFamily="50" charset="-128"/>
                          <a:ea typeface="メイリオ" panose="020B0604030504040204" pitchFamily="50" charset="-128"/>
                        </a:rPr>
                        <a:t>※</a:t>
                      </a:r>
                      <a:r>
                        <a:rPr lang="ja-JP" altLang="en-US" sz="600" b="1" i="0" u="none" strike="noStrike">
                          <a:solidFill>
                            <a:srgbClr val="FFFFFF"/>
                          </a:solidFill>
                          <a:effectLst/>
                          <a:latin typeface="メイリオ" panose="020B0604030504040204" pitchFamily="50" charset="-128"/>
                          <a:ea typeface="メイリオ" panose="020B0604030504040204" pitchFamily="50" charset="-128"/>
                        </a:rPr>
                        <a:t>仮</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noFill/>
                      <a:prstDash val="dash"/>
                      <a:round/>
                      <a:headEnd type="none" w="med" len="med"/>
                      <a:tailEnd type="none" w="med" len="med"/>
                    </a:lnT>
                    <a:lnB w="6350" cap="flat" cmpd="sng" algn="ctr">
                      <a:solidFill>
                        <a:srgbClr val="000000"/>
                      </a:solidFill>
                      <a:prstDash val="dash"/>
                      <a:round/>
                      <a:headEnd type="none" w="med" len="med"/>
                      <a:tailEnd type="none" w="med" len="med"/>
                    </a:lnB>
                    <a:solidFill>
                      <a:srgbClr val="3A3838"/>
                    </a:solidFill>
                  </a:tcPr>
                </a:tc>
                <a:tc>
                  <a:txBody>
                    <a:bodyPr/>
                    <a:lstStyle/>
                    <a:p>
                      <a:pPr algn="ctr" fontAlgn="ctr"/>
                      <a:r>
                        <a:rPr lang="en-US" sz="600" b="1" i="0" u="none" strike="noStrike">
                          <a:solidFill>
                            <a:srgbClr val="FFFFFF"/>
                          </a:solidFill>
                          <a:effectLst/>
                          <a:latin typeface="メイリオ" panose="020B0604030504040204" pitchFamily="50" charset="-128"/>
                          <a:ea typeface="メイリオ" panose="020B0604030504040204" pitchFamily="50" charset="-128"/>
                        </a:rPr>
                        <a:t>CV</a:t>
                      </a:r>
                      <a:r>
                        <a:rPr lang="ja-JP" altLang="en-US" sz="600" b="1" i="0" u="none" strike="noStrike">
                          <a:solidFill>
                            <a:srgbClr val="FFFFFF"/>
                          </a:solidFill>
                          <a:effectLst/>
                          <a:latin typeface="メイリオ" panose="020B0604030504040204" pitchFamily="50" charset="-128"/>
                          <a:ea typeface="メイリオ" panose="020B0604030504040204" pitchFamily="50" charset="-128"/>
                        </a:rPr>
                        <a:t>率</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noFill/>
                      <a:prstDash val="dash"/>
                      <a:round/>
                      <a:headEnd type="none" w="med" len="med"/>
                      <a:tailEnd type="none" w="med" len="med"/>
                    </a:lnT>
                    <a:lnB w="6350" cap="flat" cmpd="sng" algn="ctr">
                      <a:solidFill>
                        <a:srgbClr val="000000"/>
                      </a:solidFill>
                      <a:prstDash val="dash"/>
                      <a:round/>
                      <a:headEnd type="none" w="med" len="med"/>
                      <a:tailEnd type="none" w="med" len="med"/>
                    </a:lnB>
                    <a:solidFill>
                      <a:srgbClr val="44546A"/>
                    </a:solidFill>
                  </a:tcPr>
                </a:tc>
                <a:tc>
                  <a:txBody>
                    <a:bodyPr/>
                    <a:lstStyle/>
                    <a:p>
                      <a:pPr algn="ctr" fontAlgn="ctr"/>
                      <a:r>
                        <a:rPr lang="en-US" sz="600" b="1" i="0" u="none" strike="noStrike">
                          <a:solidFill>
                            <a:srgbClr val="FFFFFF"/>
                          </a:solidFill>
                          <a:effectLst/>
                          <a:latin typeface="メイリオ" panose="020B0604030504040204" pitchFamily="50" charset="-128"/>
                          <a:ea typeface="メイリオ" panose="020B0604030504040204" pitchFamily="50" charset="-128"/>
                        </a:rPr>
                        <a:t>CPA</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noFill/>
                      <a:prstDash val="dash"/>
                      <a:round/>
                      <a:headEnd type="none" w="med" len="med"/>
                      <a:tailEnd type="none" w="med" len="med"/>
                    </a:lnT>
                    <a:lnB w="6350" cap="flat" cmpd="sng" algn="ctr">
                      <a:solidFill>
                        <a:srgbClr val="000000"/>
                      </a:solidFill>
                      <a:prstDash val="dash"/>
                      <a:round/>
                      <a:headEnd type="none" w="med" len="med"/>
                      <a:tailEnd type="none" w="med" len="med"/>
                    </a:lnB>
                    <a:solidFill>
                      <a:srgbClr val="44546A"/>
                    </a:solidFill>
                  </a:tcPr>
                </a:tc>
                <a:extLst>
                  <a:ext uri="{0D108BD9-81ED-4DB2-BD59-A6C34878D82A}">
                    <a16:rowId xmlns:a16="http://schemas.microsoft.com/office/drawing/2014/main" val="2368346719"/>
                  </a:ext>
                </a:extLst>
              </a:tr>
              <a:tr h="135923">
                <a:tc>
                  <a:txBody>
                    <a:bodyPr/>
                    <a:lstStyle/>
                    <a:p>
                      <a:pPr algn="ct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2025/1</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ct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20250101 </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184,548</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68.2%</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¥450,000</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22,901</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77.0%</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3.9%</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0</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683</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¥659</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1" i="0" u="none" strike="noStrike">
                          <a:solidFill>
                            <a:srgbClr val="000000"/>
                          </a:solidFill>
                          <a:effectLst/>
                          <a:latin typeface="メイリオ" panose="020B0604030504040204" pitchFamily="50" charset="-128"/>
                          <a:ea typeface="メイリオ" panose="020B0604030504040204" pitchFamily="50" charset="-128"/>
                        </a:rPr>
                        <a:t>32</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solidFill>
                      <a:srgbClr val="FCE4D6"/>
                    </a:solidFill>
                  </a:tcPr>
                </a:tc>
                <a:tc>
                  <a:txBody>
                    <a:bodyPr/>
                    <a:lstStyle/>
                    <a:p>
                      <a:pPr algn="r" fontAlgn="ctr"/>
                      <a:r>
                        <a:rPr lang="en-US" altLang="ja-JP" sz="600" b="1" i="0" u="none" strike="noStrike">
                          <a:solidFill>
                            <a:srgbClr val="000000"/>
                          </a:solidFill>
                          <a:effectLst/>
                          <a:latin typeface="メイリオ" panose="020B0604030504040204" pitchFamily="50" charset="-128"/>
                          <a:ea typeface="メイリオ" panose="020B0604030504040204" pitchFamily="50" charset="-128"/>
                        </a:rPr>
                        <a:t>0</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4.7%</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FF0000"/>
                          </a:solidFill>
                          <a:effectLst/>
                          <a:latin typeface="メイリオ" panose="020B0604030504040204" pitchFamily="50" charset="-128"/>
                          <a:ea typeface="メイリオ" panose="020B0604030504040204" pitchFamily="50" charset="-128"/>
                        </a:rPr>
                        <a:t>¥14,063</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extLst>
                  <a:ext uri="{0D108BD9-81ED-4DB2-BD59-A6C34878D82A}">
                    <a16:rowId xmlns:a16="http://schemas.microsoft.com/office/drawing/2014/main" val="3018188146"/>
                  </a:ext>
                </a:extLst>
              </a:tr>
              <a:tr h="135923">
                <a:tc>
                  <a:txBody>
                    <a:bodyPr/>
                    <a:lstStyle/>
                    <a:p>
                      <a:pPr algn="ct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2024/12</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ct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20241201 </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181,780</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68.3%</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¥450,000</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82,916</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47.8%</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4.2%</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187</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1,865</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¥241</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1" i="0" u="none" strike="noStrike">
                          <a:solidFill>
                            <a:srgbClr val="000000"/>
                          </a:solidFill>
                          <a:effectLst/>
                          <a:latin typeface="メイリオ" panose="020B0604030504040204" pitchFamily="50" charset="-128"/>
                          <a:ea typeface="メイリオ" panose="020B0604030504040204" pitchFamily="50" charset="-128"/>
                        </a:rPr>
                        <a:t>22</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solidFill>
                      <a:srgbClr val="FCE4D6"/>
                    </a:solidFill>
                  </a:tcPr>
                </a:tc>
                <a:tc>
                  <a:txBody>
                    <a:bodyPr/>
                    <a:lstStyle/>
                    <a:p>
                      <a:pPr algn="r" fontAlgn="ctr"/>
                      <a:r>
                        <a:rPr lang="en-US" altLang="ja-JP" sz="600" b="1" i="0" u="none" strike="noStrike">
                          <a:solidFill>
                            <a:srgbClr val="000000"/>
                          </a:solidFill>
                          <a:effectLst/>
                          <a:latin typeface="メイリオ" panose="020B0604030504040204" pitchFamily="50" charset="-128"/>
                          <a:ea typeface="メイリオ" panose="020B0604030504040204" pitchFamily="50" charset="-128"/>
                        </a:rPr>
                        <a:t>5</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1.2%</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FF0000"/>
                          </a:solidFill>
                          <a:effectLst/>
                          <a:latin typeface="メイリオ" panose="020B0604030504040204" pitchFamily="50" charset="-128"/>
                          <a:ea typeface="メイリオ" panose="020B0604030504040204" pitchFamily="50" charset="-128"/>
                        </a:rPr>
                        <a:t>¥20,455</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extLst>
                  <a:ext uri="{0D108BD9-81ED-4DB2-BD59-A6C34878D82A}">
                    <a16:rowId xmlns:a16="http://schemas.microsoft.com/office/drawing/2014/main" val="242232307"/>
                  </a:ext>
                </a:extLst>
              </a:tr>
              <a:tr h="135923">
                <a:tc>
                  <a:txBody>
                    <a:bodyPr/>
                    <a:lstStyle/>
                    <a:p>
                      <a:pPr algn="ct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2024/11</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ct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20241101 </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179,053</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68.4%</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¥450,000</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53,464</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57.7%</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3.5%</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67</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1,150</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¥391</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1" i="0" u="none" strike="noStrike">
                          <a:solidFill>
                            <a:srgbClr val="000000"/>
                          </a:solidFill>
                          <a:effectLst/>
                          <a:latin typeface="メイリオ" panose="020B0604030504040204" pitchFamily="50" charset="-128"/>
                          <a:ea typeface="メイリオ" panose="020B0604030504040204" pitchFamily="50" charset="-128"/>
                        </a:rPr>
                        <a:t>16</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solidFill>
                      <a:srgbClr val="FCE4D6"/>
                    </a:solidFill>
                  </a:tcPr>
                </a:tc>
                <a:tc>
                  <a:txBody>
                    <a:bodyPr/>
                    <a:lstStyle/>
                    <a:p>
                      <a:pPr algn="r" fontAlgn="ctr"/>
                      <a:r>
                        <a:rPr lang="en-US" altLang="ja-JP" sz="600" b="1" i="0" u="none" strike="noStrike">
                          <a:solidFill>
                            <a:srgbClr val="000000"/>
                          </a:solidFill>
                          <a:effectLst/>
                          <a:latin typeface="メイリオ" panose="020B0604030504040204" pitchFamily="50" charset="-128"/>
                          <a:ea typeface="メイリオ" panose="020B0604030504040204" pitchFamily="50" charset="-128"/>
                        </a:rPr>
                        <a:t>11</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1.4%</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FF0000"/>
                          </a:solidFill>
                          <a:effectLst/>
                          <a:latin typeface="メイリオ" panose="020B0604030504040204" pitchFamily="50" charset="-128"/>
                          <a:ea typeface="メイリオ" panose="020B0604030504040204" pitchFamily="50" charset="-128"/>
                        </a:rPr>
                        <a:t>¥28,125</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extLst>
                  <a:ext uri="{0D108BD9-81ED-4DB2-BD59-A6C34878D82A}">
                    <a16:rowId xmlns:a16="http://schemas.microsoft.com/office/drawing/2014/main" val="3491418966"/>
                  </a:ext>
                </a:extLst>
              </a:tr>
              <a:tr h="135923">
                <a:tc>
                  <a:txBody>
                    <a:bodyPr/>
                    <a:lstStyle/>
                    <a:p>
                      <a:pPr algn="ct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2024/10</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ct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20241001 </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176,367</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68.5%</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¥450,000</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82,279</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53.2%</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4.3%</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0</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1,868</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¥241</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1" i="0" u="none" strike="noStrike">
                          <a:solidFill>
                            <a:srgbClr val="000000"/>
                          </a:solidFill>
                          <a:effectLst/>
                          <a:latin typeface="メイリオ" panose="020B0604030504040204" pitchFamily="50" charset="-128"/>
                          <a:ea typeface="メイリオ" panose="020B0604030504040204" pitchFamily="50" charset="-128"/>
                        </a:rPr>
                        <a:t>12</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solidFill>
                      <a:srgbClr val="FCE4D6"/>
                    </a:solidFill>
                  </a:tcPr>
                </a:tc>
                <a:tc>
                  <a:txBody>
                    <a:bodyPr/>
                    <a:lstStyle/>
                    <a:p>
                      <a:pPr algn="r" fontAlgn="ctr"/>
                      <a:r>
                        <a:rPr lang="en-US" altLang="ja-JP" sz="600" b="1" i="0" u="none" strike="noStrike">
                          <a:solidFill>
                            <a:srgbClr val="000000"/>
                          </a:solidFill>
                          <a:effectLst/>
                          <a:latin typeface="メイリオ" panose="020B0604030504040204" pitchFamily="50" charset="-128"/>
                          <a:ea typeface="メイリオ" panose="020B0604030504040204" pitchFamily="50" charset="-128"/>
                        </a:rPr>
                        <a:t>6</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0.6%</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FF0000"/>
                          </a:solidFill>
                          <a:effectLst/>
                          <a:latin typeface="メイリオ" panose="020B0604030504040204" pitchFamily="50" charset="-128"/>
                          <a:ea typeface="メイリオ" panose="020B0604030504040204" pitchFamily="50" charset="-128"/>
                        </a:rPr>
                        <a:t>¥37,500</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extLst>
                  <a:ext uri="{0D108BD9-81ED-4DB2-BD59-A6C34878D82A}">
                    <a16:rowId xmlns:a16="http://schemas.microsoft.com/office/drawing/2014/main" val="3705770834"/>
                  </a:ext>
                </a:extLst>
              </a:tr>
              <a:tr h="135923">
                <a:tc>
                  <a:txBody>
                    <a:bodyPr/>
                    <a:lstStyle/>
                    <a:p>
                      <a:pPr algn="ct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2024/9</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ct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20240901 </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173,722</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68.7%</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¥450,000</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24,240</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88.3%</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2.9%</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0</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617</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¥1,159</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1" i="0" u="none" strike="noStrike">
                          <a:solidFill>
                            <a:srgbClr val="000000"/>
                          </a:solidFill>
                          <a:effectLst/>
                          <a:latin typeface="メイリオ" panose="020B0604030504040204" pitchFamily="50" charset="-128"/>
                          <a:ea typeface="メイリオ" panose="020B0604030504040204" pitchFamily="50" charset="-128"/>
                        </a:rPr>
                        <a:t>11</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solidFill>
                      <a:srgbClr val="FCE4D6"/>
                    </a:solidFill>
                  </a:tcPr>
                </a:tc>
                <a:tc>
                  <a:txBody>
                    <a:bodyPr/>
                    <a:lstStyle/>
                    <a:p>
                      <a:pPr algn="r" fontAlgn="ctr"/>
                      <a:r>
                        <a:rPr lang="en-US" altLang="ja-JP" sz="600" b="1" i="0" u="none" strike="noStrike">
                          <a:solidFill>
                            <a:srgbClr val="000000"/>
                          </a:solidFill>
                          <a:effectLst/>
                          <a:latin typeface="メイリオ" panose="020B0604030504040204" pitchFamily="50" charset="-128"/>
                          <a:ea typeface="メイリオ" panose="020B0604030504040204" pitchFamily="50" charset="-128"/>
                        </a:rPr>
                        <a:t>18</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1.8%</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FF0000"/>
                          </a:solidFill>
                          <a:effectLst/>
                          <a:latin typeface="メイリオ" panose="020B0604030504040204" pitchFamily="50" charset="-128"/>
                          <a:ea typeface="メイリオ" panose="020B0604030504040204" pitchFamily="50" charset="-128"/>
                        </a:rPr>
                        <a:t>¥40,909</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extLst>
                  <a:ext uri="{0D108BD9-81ED-4DB2-BD59-A6C34878D82A}">
                    <a16:rowId xmlns:a16="http://schemas.microsoft.com/office/drawing/2014/main" val="2777529875"/>
                  </a:ext>
                </a:extLst>
              </a:tr>
              <a:tr h="135923">
                <a:tc>
                  <a:txBody>
                    <a:bodyPr/>
                    <a:lstStyle/>
                    <a:p>
                      <a:pPr algn="ct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2024/8</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ct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20240801 </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171,116</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68.8%</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¥450,000</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39,665</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86.0%</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3.1%</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0</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1,064</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¥699</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1" i="0" u="none" strike="noStrike">
                          <a:solidFill>
                            <a:srgbClr val="000000"/>
                          </a:solidFill>
                          <a:effectLst/>
                          <a:latin typeface="メイリオ" panose="020B0604030504040204" pitchFamily="50" charset="-128"/>
                          <a:ea typeface="メイリオ" panose="020B0604030504040204" pitchFamily="50" charset="-128"/>
                        </a:rPr>
                        <a:t>10</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solidFill>
                      <a:srgbClr val="FCE4D6"/>
                    </a:solidFill>
                  </a:tcPr>
                </a:tc>
                <a:tc>
                  <a:txBody>
                    <a:bodyPr/>
                    <a:lstStyle/>
                    <a:p>
                      <a:pPr algn="r" fontAlgn="ctr"/>
                      <a:r>
                        <a:rPr lang="en-US" altLang="ja-JP" sz="600" b="1" i="0" u="none" strike="noStrike">
                          <a:solidFill>
                            <a:srgbClr val="000000"/>
                          </a:solidFill>
                          <a:effectLst/>
                          <a:latin typeface="メイリオ" panose="020B0604030504040204" pitchFamily="50" charset="-128"/>
                          <a:ea typeface="メイリオ" panose="020B0604030504040204" pitchFamily="50" charset="-128"/>
                        </a:rPr>
                        <a:t>2</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0.9%</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FF0000"/>
                          </a:solidFill>
                          <a:effectLst/>
                          <a:latin typeface="メイリオ" panose="020B0604030504040204" pitchFamily="50" charset="-128"/>
                          <a:ea typeface="メイリオ" panose="020B0604030504040204" pitchFamily="50" charset="-128"/>
                        </a:rPr>
                        <a:t>¥45,000</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extLst>
                  <a:ext uri="{0D108BD9-81ED-4DB2-BD59-A6C34878D82A}">
                    <a16:rowId xmlns:a16="http://schemas.microsoft.com/office/drawing/2014/main" val="3532772668"/>
                  </a:ext>
                </a:extLst>
              </a:tr>
              <a:tr h="135923">
                <a:tc>
                  <a:txBody>
                    <a:bodyPr/>
                    <a:lstStyle/>
                    <a:p>
                      <a:pPr algn="ct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2024/7</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ct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20240701 </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168,549</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68.9%</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¥450,000</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74,478</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44.6%</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4.0%</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dirty="0">
                          <a:solidFill>
                            <a:srgbClr val="000000"/>
                          </a:solidFill>
                          <a:effectLst/>
                          <a:latin typeface="メイリオ" panose="020B0604030504040204" pitchFamily="50" charset="-128"/>
                          <a:ea typeface="メイリオ" panose="020B0604030504040204" pitchFamily="50" charset="-128"/>
                        </a:rPr>
                        <a:t>0</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1,321</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¥680</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1" i="0" u="none" strike="noStrike">
                          <a:solidFill>
                            <a:srgbClr val="000000"/>
                          </a:solidFill>
                          <a:effectLst/>
                          <a:latin typeface="メイリオ" panose="020B0604030504040204" pitchFamily="50" charset="-128"/>
                          <a:ea typeface="メイリオ" panose="020B0604030504040204" pitchFamily="50" charset="-128"/>
                        </a:rPr>
                        <a:t>8</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solidFill>
                      <a:srgbClr val="FCE4D6"/>
                    </a:solidFill>
                  </a:tcPr>
                </a:tc>
                <a:tc>
                  <a:txBody>
                    <a:bodyPr/>
                    <a:lstStyle/>
                    <a:p>
                      <a:pPr algn="r" fontAlgn="ctr"/>
                      <a:r>
                        <a:rPr lang="en-US" altLang="ja-JP" sz="600" b="1" i="0" u="none" strike="noStrike">
                          <a:solidFill>
                            <a:srgbClr val="000000"/>
                          </a:solidFill>
                          <a:effectLst/>
                          <a:latin typeface="メイリオ" panose="020B0604030504040204" pitchFamily="50" charset="-128"/>
                          <a:ea typeface="メイリオ" panose="020B0604030504040204" pitchFamily="50" charset="-128"/>
                        </a:rPr>
                        <a:t>0</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0.6%</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dirty="0">
                          <a:solidFill>
                            <a:srgbClr val="FF0000"/>
                          </a:solidFill>
                          <a:effectLst/>
                          <a:latin typeface="メイリオ" panose="020B0604030504040204" pitchFamily="50" charset="-128"/>
                          <a:ea typeface="メイリオ" panose="020B0604030504040204" pitchFamily="50" charset="-128"/>
                        </a:rPr>
                        <a:t>¥56,250</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extLst>
                  <a:ext uri="{0D108BD9-81ED-4DB2-BD59-A6C34878D82A}">
                    <a16:rowId xmlns:a16="http://schemas.microsoft.com/office/drawing/2014/main" val="1526691278"/>
                  </a:ext>
                </a:extLst>
              </a:tr>
            </a:tbl>
          </a:graphicData>
        </a:graphic>
      </p:graphicFrame>
      <p:sp>
        <p:nvSpPr>
          <p:cNvPr id="9" name="正方形/長方形 8"/>
          <p:cNvSpPr/>
          <p:nvPr/>
        </p:nvSpPr>
        <p:spPr>
          <a:xfrm>
            <a:off x="5164183" y="2352739"/>
            <a:ext cx="4219296" cy="1762616"/>
          </a:xfrm>
          <a:prstGeom prst="rect">
            <a:avLst/>
          </a:prstGeom>
          <a:noFill/>
          <a:ln>
            <a:solidFill>
              <a:schemeClr val="tx2">
                <a:alpha val="50000"/>
              </a:schemeClr>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正方形/長方形 14"/>
          <p:cNvSpPr/>
          <p:nvPr/>
        </p:nvSpPr>
        <p:spPr>
          <a:xfrm>
            <a:off x="7192964" y="3902953"/>
            <a:ext cx="2206519" cy="209848"/>
          </a:xfrm>
          <a:prstGeom prst="rect">
            <a:avLst/>
          </a:prstGeom>
        </p:spPr>
        <p:txBody>
          <a:bodyPr wrap="none">
            <a:spAutoFit/>
          </a:bodyPr>
          <a:lstStyle/>
          <a:p>
            <a:r>
              <a:rPr lang="en-US" altLang="ja-JP" sz="1050" b="1" dirty="0">
                <a:solidFill>
                  <a:schemeClr val="tx1">
                    <a:lumMod val="65000"/>
                    <a:lumOff val="35000"/>
                  </a:schemeClr>
                </a:solidFill>
                <a:latin typeface="Meiryo"/>
                <a:ea typeface="Meiryo"/>
                <a:cs typeface="Meiryo"/>
                <a:sym typeface="Meiryo"/>
              </a:rPr>
              <a:t>GA</a:t>
            </a:r>
            <a:r>
              <a:rPr lang="ja-JP" altLang="en-US" sz="1050" b="1" dirty="0">
                <a:solidFill>
                  <a:schemeClr val="tx1">
                    <a:lumMod val="65000"/>
                    <a:lumOff val="35000"/>
                  </a:schemeClr>
                </a:solidFill>
                <a:latin typeface="Meiryo"/>
                <a:ea typeface="Meiryo"/>
                <a:cs typeface="Meiryo"/>
                <a:sym typeface="Meiryo"/>
              </a:rPr>
              <a:t>管理画面上で計測し、数値反映</a:t>
            </a:r>
            <a:endParaRPr lang="ja-JP" altLang="en-US" sz="1050" dirty="0"/>
          </a:p>
        </p:txBody>
      </p:sp>
      <p:sp>
        <p:nvSpPr>
          <p:cNvPr id="16" name="右矢印 15"/>
          <p:cNvSpPr/>
          <p:nvPr/>
        </p:nvSpPr>
        <p:spPr>
          <a:xfrm>
            <a:off x="4570905" y="4720337"/>
            <a:ext cx="717764" cy="680165"/>
          </a:xfrm>
          <a:prstGeom prst="rightArrow">
            <a:avLst>
              <a:gd name="adj1" fmla="val 65364"/>
              <a:gd name="adj2" fmla="val 50000"/>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7" name="図 16"/>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661717" y="4408755"/>
            <a:ext cx="1685243" cy="2001227"/>
          </a:xfrm>
          <a:prstGeom prst="rect">
            <a:avLst/>
          </a:prstGeom>
        </p:spPr>
      </p:pic>
      <p:pic>
        <p:nvPicPr>
          <p:cNvPr id="18" name="図 17"/>
          <p:cNvPicPr>
            <a:picLocks noChangeAspect="1"/>
          </p:cNvPicPr>
          <p:nvPr/>
        </p:nvPicPr>
        <p:blipFill rotWithShape="1">
          <a:blip r:embed="rId4" cstate="print">
            <a:extLst>
              <a:ext uri="{28A0092B-C50C-407E-A947-70E740481C1C}">
                <a14:useLocalDpi xmlns:a14="http://schemas.microsoft.com/office/drawing/2010/main" val="0"/>
              </a:ext>
            </a:extLst>
          </a:blip>
          <a:srcRect r="4805" b="31533"/>
          <a:stretch/>
        </p:blipFill>
        <p:spPr>
          <a:xfrm>
            <a:off x="934688" y="5400502"/>
            <a:ext cx="1403563" cy="1009480"/>
          </a:xfrm>
          <a:prstGeom prst="rect">
            <a:avLst/>
          </a:prstGeom>
        </p:spPr>
      </p:pic>
      <p:pic>
        <p:nvPicPr>
          <p:cNvPr id="19" name="図 18"/>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486163" y="4408755"/>
            <a:ext cx="1685243" cy="2001227"/>
          </a:xfrm>
          <a:prstGeom prst="rect">
            <a:avLst/>
          </a:prstGeom>
        </p:spPr>
      </p:pic>
      <p:pic>
        <p:nvPicPr>
          <p:cNvPr id="21" name="図 20"/>
          <p:cNvPicPr>
            <a:picLocks noChangeAspect="1"/>
          </p:cNvPicPr>
          <p:nvPr/>
        </p:nvPicPr>
        <p:blipFill>
          <a:blip r:embed="rId5"/>
          <a:stretch>
            <a:fillRect/>
          </a:stretch>
        </p:blipFill>
        <p:spPr>
          <a:xfrm>
            <a:off x="5535676" y="4826463"/>
            <a:ext cx="1309023" cy="542766"/>
          </a:xfrm>
          <a:prstGeom prst="rect">
            <a:avLst/>
          </a:prstGeom>
        </p:spPr>
      </p:pic>
      <p:sp>
        <p:nvSpPr>
          <p:cNvPr id="22" name="楕円 21"/>
          <p:cNvSpPr/>
          <p:nvPr/>
        </p:nvSpPr>
        <p:spPr>
          <a:xfrm>
            <a:off x="7644705" y="5440910"/>
            <a:ext cx="1326812" cy="552958"/>
          </a:xfrm>
          <a:prstGeom prst="ellipse">
            <a:avLst/>
          </a:prstGeom>
          <a:solidFill>
            <a:schemeClr val="bg1"/>
          </a:solidFill>
          <a:ln>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200" dirty="0">
                <a:solidFill>
                  <a:schemeClr val="tx1">
                    <a:lumMod val="65000"/>
                    <a:lumOff val="35000"/>
                  </a:schemeClr>
                </a:solidFill>
                <a:latin typeface="メイリオ" panose="020B0604030504040204" pitchFamily="50" charset="-128"/>
                <a:ea typeface="メイリオ" panose="020B0604030504040204" pitchFamily="50" charset="-128"/>
              </a:rPr>
              <a:t>売上</a:t>
            </a:r>
          </a:p>
        </p:txBody>
      </p:sp>
      <p:sp>
        <p:nvSpPr>
          <p:cNvPr id="24" name="楕円 23"/>
          <p:cNvSpPr/>
          <p:nvPr/>
        </p:nvSpPr>
        <p:spPr>
          <a:xfrm>
            <a:off x="6613630" y="5424347"/>
            <a:ext cx="1326812" cy="552958"/>
          </a:xfrm>
          <a:prstGeom prst="ellipse">
            <a:avLst/>
          </a:prstGeom>
          <a:solidFill>
            <a:schemeClr val="bg1"/>
          </a:solidFill>
          <a:ln>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lumMod val="65000"/>
                    <a:lumOff val="35000"/>
                  </a:schemeClr>
                </a:solidFill>
                <a:latin typeface="メイリオ" panose="020B0604030504040204" pitchFamily="50" charset="-128"/>
                <a:ea typeface="メイリオ" panose="020B0604030504040204" pitchFamily="50" charset="-128"/>
              </a:rPr>
              <a:t>CV</a:t>
            </a:r>
            <a:endParaRPr kumimoji="1" lang="ja-JP" altLang="en-US" sz="12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25" name="楕円 24"/>
          <p:cNvSpPr/>
          <p:nvPr/>
        </p:nvSpPr>
        <p:spPr>
          <a:xfrm>
            <a:off x="5459174" y="5424348"/>
            <a:ext cx="1326812" cy="552958"/>
          </a:xfrm>
          <a:prstGeom prst="ellipse">
            <a:avLst/>
          </a:prstGeom>
          <a:solidFill>
            <a:schemeClr val="bg1"/>
          </a:solidFill>
          <a:ln>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sz="1100" dirty="0">
                <a:solidFill>
                  <a:schemeClr val="tx1">
                    <a:lumMod val="65000"/>
                    <a:lumOff val="35000"/>
                  </a:schemeClr>
                </a:solidFill>
                <a:latin typeface="メイリオ" panose="020B0604030504040204" pitchFamily="50" charset="-128"/>
                <a:ea typeface="メイリオ" panose="020B0604030504040204" pitchFamily="50" charset="-128"/>
              </a:rPr>
              <a:t>有効（</a:t>
            </a:r>
            <a:r>
              <a:rPr lang="en-US" altLang="ja-JP" sz="1100" dirty="0">
                <a:solidFill>
                  <a:schemeClr val="tx1">
                    <a:lumMod val="65000"/>
                    <a:lumOff val="35000"/>
                  </a:schemeClr>
                </a:solidFill>
                <a:latin typeface="メイリオ" panose="020B0604030504040204" pitchFamily="50" charset="-128"/>
                <a:ea typeface="メイリオ" panose="020B0604030504040204" pitchFamily="50" charset="-128"/>
              </a:rPr>
              <a:t>mcv</a:t>
            </a:r>
            <a:r>
              <a:rPr lang="ja-JP" altLang="en-US" sz="1100" dirty="0">
                <a:solidFill>
                  <a:schemeClr val="tx1">
                    <a:lumMod val="65000"/>
                    <a:lumOff val="35000"/>
                  </a:schemeClr>
                </a:solidFill>
                <a:latin typeface="メイリオ" panose="020B0604030504040204" pitchFamily="50" charset="-128"/>
                <a:ea typeface="メイリオ" panose="020B0604030504040204" pitchFamily="50" charset="-128"/>
              </a:rPr>
              <a:t>）</a:t>
            </a:r>
            <a:endParaRPr kumimoji="1" lang="ja-JP" altLang="en-US" sz="11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26" name="正方形/長方形 25"/>
          <p:cNvSpPr/>
          <p:nvPr/>
        </p:nvSpPr>
        <p:spPr>
          <a:xfrm>
            <a:off x="6785986" y="5037438"/>
            <a:ext cx="2492990" cy="276999"/>
          </a:xfrm>
          <a:prstGeom prst="rect">
            <a:avLst/>
          </a:prstGeom>
        </p:spPr>
        <p:txBody>
          <a:bodyPr wrap="none">
            <a:spAutoFit/>
          </a:bodyPr>
          <a:lstStyle/>
          <a:p>
            <a:r>
              <a:rPr lang="ja-JP" altLang="en-US" sz="1200" b="1" dirty="0">
                <a:latin typeface="Meiryo"/>
                <a:ea typeface="Meiryo"/>
                <a:cs typeface="Meiryo"/>
                <a:sym typeface="Meiryo"/>
              </a:rPr>
              <a:t>管理画面を成果としてレポート化</a:t>
            </a:r>
            <a:endParaRPr lang="ja-JP" altLang="en-US" sz="1200" b="1" dirty="0"/>
          </a:p>
        </p:txBody>
      </p:sp>
      <p:sp>
        <p:nvSpPr>
          <p:cNvPr id="27" name="正方形/長方形 26"/>
          <p:cNvSpPr/>
          <p:nvPr/>
        </p:nvSpPr>
        <p:spPr>
          <a:xfrm>
            <a:off x="5895888" y="6013913"/>
            <a:ext cx="2762295" cy="261610"/>
          </a:xfrm>
          <a:prstGeom prst="rect">
            <a:avLst/>
          </a:prstGeom>
        </p:spPr>
        <p:txBody>
          <a:bodyPr wrap="none">
            <a:spAutoFit/>
          </a:bodyPr>
          <a:lstStyle/>
          <a:p>
            <a:r>
              <a:rPr lang="en-US" altLang="ja-JP" sz="1100" dirty="0">
                <a:solidFill>
                  <a:schemeClr val="tx1">
                    <a:lumMod val="50000"/>
                    <a:lumOff val="50000"/>
                  </a:schemeClr>
                </a:solidFill>
                <a:latin typeface="Meiryo"/>
                <a:ea typeface="Meiryo"/>
                <a:sym typeface="Meiryo"/>
              </a:rPr>
              <a:t>※</a:t>
            </a:r>
            <a:r>
              <a:rPr lang="en-US" altLang="ja-JP" sz="1100" dirty="0" err="1">
                <a:solidFill>
                  <a:schemeClr val="tx1">
                    <a:lumMod val="50000"/>
                    <a:lumOff val="50000"/>
                  </a:schemeClr>
                </a:solidFill>
                <a:latin typeface="Meiryo"/>
                <a:ea typeface="Meiryo"/>
                <a:sym typeface="Meiryo"/>
              </a:rPr>
              <a:t>AdEbis</a:t>
            </a:r>
            <a:r>
              <a:rPr lang="ja-JP" altLang="en-US" sz="1100" dirty="0">
                <a:solidFill>
                  <a:schemeClr val="tx1">
                    <a:lumMod val="50000"/>
                    <a:lumOff val="50000"/>
                  </a:schemeClr>
                </a:solidFill>
                <a:latin typeface="Meiryo"/>
                <a:ea typeface="Meiryo"/>
                <a:sym typeface="Meiryo"/>
              </a:rPr>
              <a:t>等の外部ツールの対応も可能。</a:t>
            </a:r>
            <a:endParaRPr lang="ja-JP" altLang="en-US" sz="1100" dirty="0">
              <a:solidFill>
                <a:schemeClr val="tx1">
                  <a:lumMod val="50000"/>
                  <a:lumOff val="50000"/>
                </a:schemeClr>
              </a:solidFill>
            </a:endParaRPr>
          </a:p>
        </p:txBody>
      </p:sp>
      <p:sp>
        <p:nvSpPr>
          <p:cNvPr id="28" name="正方形/長方形 27"/>
          <p:cNvSpPr/>
          <p:nvPr/>
        </p:nvSpPr>
        <p:spPr>
          <a:xfrm>
            <a:off x="390709" y="4227706"/>
            <a:ext cx="4219296" cy="277788"/>
          </a:xfrm>
          <a:prstGeom prst="rect">
            <a:avLst/>
          </a:prstGeom>
          <a:solidFill>
            <a:srgbClr val="00C05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ja-JP" sz="1200" b="1" dirty="0">
                <a:latin typeface="メイリオ" panose="020B0604030504040204" pitchFamily="50" charset="-128"/>
                <a:ea typeface="メイリオ" panose="020B0604030504040204" pitchFamily="50" charset="-128"/>
              </a:rPr>
              <a:t>LINE</a:t>
            </a:r>
            <a:r>
              <a:rPr lang="ja-JP" altLang="en-US" sz="1200" b="1" dirty="0">
                <a:latin typeface="メイリオ" panose="020B0604030504040204" pitchFamily="50" charset="-128"/>
                <a:ea typeface="メイリオ" panose="020B0604030504040204" pitchFamily="50" charset="-128"/>
              </a:rPr>
              <a:t>アプリ上</a:t>
            </a:r>
            <a:endParaRPr kumimoji="1" lang="ja-JP" altLang="en-US" sz="1200" b="1" dirty="0">
              <a:latin typeface="メイリオ" panose="020B0604030504040204" pitchFamily="50" charset="-128"/>
              <a:ea typeface="メイリオ" panose="020B0604030504040204" pitchFamily="50" charset="-128"/>
            </a:endParaRPr>
          </a:p>
        </p:txBody>
      </p:sp>
      <p:pic>
        <p:nvPicPr>
          <p:cNvPr id="1034" name="Picture 10" descr="Illustrazione Stock クリック,チェック,注目,選ぶ,指,押す,注意,決定,タッチ,おすすめ,案内,重要,選択,発見,検索,ピクトグラム,カーソル,ポインター,マウス,指す,記号,マーク,ワンポイント,シンボル,サイン,タップ,スワイプ,ポイント,手,人差し指,ゆび,イチ押し,スライド,アイコン,広告,ひらめき,チラシ,シンプル,プッシュ,開く,イラスト | Adobe Stock"/>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rot="13670773">
            <a:off x="1882803" y="6009237"/>
            <a:ext cx="542505" cy="382945"/>
          </a:xfrm>
          <a:prstGeom prst="rect">
            <a:avLst/>
          </a:prstGeom>
          <a:noFill/>
          <a:extLst>
            <a:ext uri="{909E8E84-426E-40DD-AFC4-6F175D3DCCD1}">
              <a14:hiddenFill xmlns:a14="http://schemas.microsoft.com/office/drawing/2010/main">
                <a:solidFill>
                  <a:srgbClr val="FFFFFF"/>
                </a:solidFill>
              </a14:hiddenFill>
            </a:ext>
          </a:extLst>
        </p:spPr>
      </p:pic>
      <p:pic>
        <p:nvPicPr>
          <p:cNvPr id="35" name="Picture 10" descr="Illustrazione Stock クリック,チェック,注目,選ぶ,指,押す,注意,決定,タッチ,おすすめ,案内,重要,選択,発見,検索,ピクトグラム,カーソル,ポインター,マウス,指す,記号,マーク,ワンポイント,シンボル,サイン,タップ,スワイプ,ポイント,手,人差し指,ゆび,イチ押し,スライド,アイコン,広告,ひらめき,チラシ,シンプル,プッシュ,開く,イラスト | Adobe Stock"/>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rot="13670773">
            <a:off x="3827252" y="6144220"/>
            <a:ext cx="542505" cy="382945"/>
          </a:xfrm>
          <a:prstGeom prst="rect">
            <a:avLst/>
          </a:prstGeom>
          <a:noFill/>
          <a:extLst>
            <a:ext uri="{909E8E84-426E-40DD-AFC4-6F175D3DCCD1}">
              <a14:hiddenFill xmlns:a14="http://schemas.microsoft.com/office/drawing/2010/main">
                <a:solidFill>
                  <a:srgbClr val="FFFFFF"/>
                </a:solidFill>
              </a14:hiddenFill>
            </a:ext>
          </a:extLst>
        </p:spPr>
      </p:pic>
      <p:grpSp>
        <p:nvGrpSpPr>
          <p:cNvPr id="41" name="グループ化 40"/>
          <p:cNvGrpSpPr/>
          <p:nvPr/>
        </p:nvGrpSpPr>
        <p:grpSpPr>
          <a:xfrm>
            <a:off x="1802228" y="5899367"/>
            <a:ext cx="125343" cy="138465"/>
            <a:chOff x="4245087" y="1539805"/>
            <a:chExt cx="325106" cy="269830"/>
          </a:xfrm>
        </p:grpSpPr>
        <p:sp>
          <p:nvSpPr>
            <p:cNvPr id="42" name="二等辺三角形 41"/>
            <p:cNvSpPr/>
            <p:nvPr/>
          </p:nvSpPr>
          <p:spPr>
            <a:xfrm rot="7826235">
              <a:off x="4335416" y="1595821"/>
              <a:ext cx="87064" cy="267721"/>
            </a:xfrm>
            <a:prstGeom prst="triangle">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3" name="二等辺三角形 42"/>
            <p:cNvSpPr/>
            <p:nvPr/>
          </p:nvSpPr>
          <p:spPr>
            <a:xfrm rot="9540823">
              <a:off x="4394543" y="1541914"/>
              <a:ext cx="87064" cy="267721"/>
            </a:xfrm>
            <a:prstGeom prst="triangle">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4" name="二等辺三角形 43"/>
            <p:cNvSpPr/>
            <p:nvPr/>
          </p:nvSpPr>
          <p:spPr>
            <a:xfrm rot="10800000">
              <a:off x="4483129" y="1539805"/>
              <a:ext cx="87064" cy="267721"/>
            </a:xfrm>
            <a:prstGeom prst="triangle">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54" name="グループ化 53"/>
          <p:cNvGrpSpPr/>
          <p:nvPr/>
        </p:nvGrpSpPr>
        <p:grpSpPr>
          <a:xfrm>
            <a:off x="3722470" y="6025641"/>
            <a:ext cx="125343" cy="138465"/>
            <a:chOff x="4245087" y="1539805"/>
            <a:chExt cx="325106" cy="269830"/>
          </a:xfrm>
        </p:grpSpPr>
        <p:sp>
          <p:nvSpPr>
            <p:cNvPr id="55" name="二等辺三角形 54"/>
            <p:cNvSpPr/>
            <p:nvPr/>
          </p:nvSpPr>
          <p:spPr>
            <a:xfrm rot="7826235">
              <a:off x="4335416" y="1595821"/>
              <a:ext cx="87064" cy="267721"/>
            </a:xfrm>
            <a:prstGeom prst="triangle">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6" name="二等辺三角形 55"/>
            <p:cNvSpPr/>
            <p:nvPr/>
          </p:nvSpPr>
          <p:spPr>
            <a:xfrm rot="9540823">
              <a:off x="4394543" y="1541914"/>
              <a:ext cx="87064" cy="267721"/>
            </a:xfrm>
            <a:prstGeom prst="triangle">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7" name="二等辺三角形 56"/>
            <p:cNvSpPr/>
            <p:nvPr/>
          </p:nvSpPr>
          <p:spPr>
            <a:xfrm rot="10800000">
              <a:off x="4483129" y="1539805"/>
              <a:ext cx="87064" cy="267721"/>
            </a:xfrm>
            <a:prstGeom prst="triangle">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33" name="正方形/長方形 32"/>
          <p:cNvSpPr/>
          <p:nvPr/>
        </p:nvSpPr>
        <p:spPr>
          <a:xfrm>
            <a:off x="5180187" y="4221922"/>
            <a:ext cx="4219296" cy="277788"/>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ja-JP" sz="1200" b="1" dirty="0">
                <a:latin typeface="メイリオ" panose="020B0604030504040204" pitchFamily="50" charset="-128"/>
                <a:ea typeface="メイリオ" panose="020B0604030504040204" pitchFamily="50" charset="-128"/>
              </a:rPr>
              <a:t>WEB</a:t>
            </a:r>
            <a:r>
              <a:rPr lang="ja-JP" altLang="en-US" sz="1200" b="1" dirty="0">
                <a:latin typeface="メイリオ" panose="020B0604030504040204" pitchFamily="50" charset="-128"/>
                <a:ea typeface="メイリオ" panose="020B0604030504040204" pitchFamily="50" charset="-128"/>
              </a:rPr>
              <a:t>サイト上</a:t>
            </a:r>
            <a:endParaRPr kumimoji="1" lang="ja-JP" altLang="en-US" sz="1200" b="1" dirty="0">
              <a:latin typeface="メイリオ" panose="020B0604030504040204" pitchFamily="50" charset="-128"/>
              <a:ea typeface="メイリオ" panose="020B0604030504040204" pitchFamily="50" charset="-128"/>
            </a:endParaRPr>
          </a:p>
        </p:txBody>
      </p:sp>
      <p:pic>
        <p:nvPicPr>
          <p:cNvPr id="10" name="図 9"/>
          <p:cNvPicPr>
            <a:picLocks noChangeAspect="1"/>
          </p:cNvPicPr>
          <p:nvPr/>
        </p:nvPicPr>
        <p:blipFill>
          <a:blip r:embed="rId7"/>
          <a:stretch>
            <a:fillRect/>
          </a:stretch>
        </p:blipFill>
        <p:spPr>
          <a:xfrm>
            <a:off x="2758013" y="4552453"/>
            <a:ext cx="1379725" cy="919257"/>
          </a:xfrm>
          <a:prstGeom prst="rect">
            <a:avLst/>
          </a:prstGeom>
        </p:spPr>
      </p:pic>
      <p:sp>
        <p:nvSpPr>
          <p:cNvPr id="11" name="正方形/長方形 10">
            <a:extLst>
              <a:ext uri="{FF2B5EF4-FFF2-40B4-BE49-F238E27FC236}">
                <a16:creationId xmlns:a16="http://schemas.microsoft.com/office/drawing/2014/main" id="{22778390-5C65-8A0B-FBCC-331F4769C279}"/>
              </a:ext>
            </a:extLst>
          </p:cNvPr>
          <p:cNvSpPr/>
          <p:nvPr/>
        </p:nvSpPr>
        <p:spPr>
          <a:xfrm>
            <a:off x="6757851" y="93594"/>
            <a:ext cx="1320961" cy="344039"/>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sz="1100" dirty="0">
                <a:latin typeface="メイリオ" panose="020B0604030504040204" pitchFamily="50" charset="-128"/>
                <a:ea typeface="メイリオ" panose="020B0604030504040204" pitchFamily="50" charset="-128"/>
              </a:rPr>
              <a:t>効果計測</a:t>
            </a:r>
            <a:endParaRPr kumimoji="1" lang="ja-JP" altLang="en-US" sz="1100" dirty="0">
              <a:latin typeface="メイリオ" panose="020B0604030504040204" pitchFamily="50" charset="-128"/>
              <a:ea typeface="メイリオ" panose="020B0604030504040204" pitchFamily="50" charset="-128"/>
            </a:endParaRPr>
          </a:p>
        </p:txBody>
      </p:sp>
      <p:sp>
        <p:nvSpPr>
          <p:cNvPr id="12" name="Google Shape;156;p7">
            <a:extLst>
              <a:ext uri="{FF2B5EF4-FFF2-40B4-BE49-F238E27FC236}">
                <a16:creationId xmlns:a16="http://schemas.microsoft.com/office/drawing/2014/main" id="{6FA8B775-64BA-CC75-EC39-92A06C7D5702}"/>
              </a:ext>
            </a:extLst>
          </p:cNvPr>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サポート体制（報告</a:t>
            </a:r>
            <a:r>
              <a:rPr lang="en-US" altLang="ja-JP" sz="1600" b="1" dirty="0">
                <a:solidFill>
                  <a:srgbClr val="002060"/>
                </a:solidFill>
                <a:latin typeface="Meiryo"/>
                <a:ea typeface="Meiryo"/>
                <a:cs typeface="Meiryo"/>
                <a:sym typeface="Meiryo"/>
              </a:rPr>
              <a:t>FMT</a:t>
            </a:r>
            <a:r>
              <a:rPr lang="ja-JP" altLang="en-US" sz="1600" b="1" dirty="0">
                <a:solidFill>
                  <a:srgbClr val="002060"/>
                </a:solidFill>
                <a:latin typeface="Meiryo"/>
                <a:ea typeface="Meiryo"/>
                <a:cs typeface="Meiryo"/>
                <a:sym typeface="Meiryo"/>
              </a:rPr>
              <a:t>）</a:t>
            </a:r>
            <a:endParaRPr sz="1600" b="1" dirty="0">
              <a:solidFill>
                <a:srgbClr val="002060"/>
              </a:solidFill>
              <a:latin typeface="Meiryo"/>
              <a:ea typeface="Meiryo"/>
              <a:cs typeface="Meiryo"/>
              <a:sym typeface="Meiryo"/>
            </a:endParaRPr>
          </a:p>
        </p:txBody>
      </p:sp>
    </p:spTree>
    <p:extLst>
      <p:ext uri="{BB962C8B-B14F-4D97-AF65-F5344CB8AC3E}">
        <p14:creationId xmlns:p14="http://schemas.microsoft.com/office/powerpoint/2010/main" val="299463497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72F862-6825-0A25-E527-0C644CE20321}"/>
            </a:ext>
          </a:extLst>
        </p:cNvPr>
        <p:cNvGrpSpPr/>
        <p:nvPr/>
      </p:nvGrpSpPr>
      <p:grpSpPr>
        <a:xfrm>
          <a:off x="0" y="0"/>
          <a:ext cx="0" cy="0"/>
          <a:chOff x="0" y="0"/>
          <a:chExt cx="0" cy="0"/>
        </a:xfrm>
      </p:grpSpPr>
      <p:sp>
        <p:nvSpPr>
          <p:cNvPr id="4" name="正方形/長方形 3">
            <a:extLst>
              <a:ext uri="{FF2B5EF4-FFF2-40B4-BE49-F238E27FC236}">
                <a16:creationId xmlns:a16="http://schemas.microsoft.com/office/drawing/2014/main" id="{1B95EDD6-658F-4CEF-BC87-63AE1294A97D}"/>
              </a:ext>
            </a:extLst>
          </p:cNvPr>
          <p:cNvSpPr/>
          <p:nvPr/>
        </p:nvSpPr>
        <p:spPr>
          <a:xfrm>
            <a:off x="253638" y="835690"/>
            <a:ext cx="2541320" cy="485775"/>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sz="1600" b="1" dirty="0">
                <a:latin typeface="メイリオ" panose="020B0604030504040204" pitchFamily="50" charset="-128"/>
                <a:ea typeface="メイリオ" panose="020B0604030504040204" pitchFamily="50" charset="-128"/>
              </a:rPr>
              <a:t>弊社体制図</a:t>
            </a:r>
            <a:endParaRPr kumimoji="1" lang="ja-JP" altLang="en-US" sz="1600" b="1" dirty="0">
              <a:latin typeface="メイリオ" panose="020B0604030504040204" pitchFamily="50" charset="-128"/>
              <a:ea typeface="メイリオ" panose="020B0604030504040204" pitchFamily="50" charset="-128"/>
            </a:endParaRPr>
          </a:p>
        </p:txBody>
      </p:sp>
      <p:sp>
        <p:nvSpPr>
          <p:cNvPr id="6" name="Google Shape;156;p7">
            <a:extLst>
              <a:ext uri="{FF2B5EF4-FFF2-40B4-BE49-F238E27FC236}">
                <a16:creationId xmlns:a16="http://schemas.microsoft.com/office/drawing/2014/main" id="{3BA0E9AE-61D3-01E9-521B-2E5746D00D89}"/>
              </a:ext>
            </a:extLst>
          </p:cNvPr>
          <p:cNvSpPr txBox="1"/>
          <p:nvPr/>
        </p:nvSpPr>
        <p:spPr>
          <a:xfrm>
            <a:off x="2857804" y="786210"/>
            <a:ext cx="7217767" cy="584735"/>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chemeClr val="tx1">
                    <a:lumMod val="65000"/>
                    <a:lumOff val="35000"/>
                  </a:schemeClr>
                </a:solidFill>
                <a:latin typeface="Meiryo"/>
                <a:ea typeface="Meiryo"/>
                <a:cs typeface="Meiryo"/>
                <a:sym typeface="Meiryo"/>
              </a:rPr>
              <a:t>GA</a:t>
            </a:r>
            <a:r>
              <a:rPr lang="ja-JP" altLang="en-US" sz="1600" b="1" dirty="0">
                <a:solidFill>
                  <a:schemeClr val="tx1">
                    <a:lumMod val="65000"/>
                    <a:lumOff val="35000"/>
                  </a:schemeClr>
                </a:solidFill>
                <a:latin typeface="Meiryo"/>
                <a:ea typeface="Meiryo"/>
                <a:cs typeface="Meiryo"/>
                <a:sym typeface="Meiryo"/>
              </a:rPr>
              <a:t>及び</a:t>
            </a:r>
            <a:r>
              <a:rPr lang="en-US" altLang="ja-JP" sz="1600" b="1" dirty="0">
                <a:solidFill>
                  <a:schemeClr val="tx1">
                    <a:lumMod val="65000"/>
                    <a:lumOff val="35000"/>
                  </a:schemeClr>
                </a:solidFill>
                <a:latin typeface="Meiryo"/>
                <a:ea typeface="Meiryo"/>
                <a:cs typeface="Meiryo"/>
                <a:sym typeface="Meiryo"/>
              </a:rPr>
              <a:t>MA</a:t>
            </a:r>
            <a:r>
              <a:rPr lang="ja-JP" altLang="en-US" sz="1600" b="1" dirty="0">
                <a:solidFill>
                  <a:schemeClr val="tx1">
                    <a:lumMod val="65000"/>
                    <a:lumOff val="35000"/>
                  </a:schemeClr>
                </a:solidFill>
                <a:latin typeface="Meiryo"/>
                <a:ea typeface="Meiryo"/>
                <a:cs typeface="Meiryo"/>
                <a:sym typeface="Meiryo"/>
              </a:rPr>
              <a:t>ツール両面での計測ができるようパラメータ管理。</a:t>
            </a:r>
            <a:endParaRPr lang="en-US" altLang="ja-JP" sz="1600" b="1" dirty="0">
              <a:solidFill>
                <a:schemeClr val="tx1">
                  <a:lumMod val="65000"/>
                  <a:lumOff val="35000"/>
                </a:schemeClr>
              </a:solidFill>
              <a:latin typeface="Meiryo"/>
              <a:ea typeface="Meiryo"/>
              <a:cs typeface="Meiryo"/>
              <a:sym typeface="Meiryo"/>
            </a:endParaRPr>
          </a:p>
          <a:p>
            <a:pPr lvl="0">
              <a:buClr>
                <a:srgbClr val="002060"/>
              </a:buClr>
              <a:buSzPts val="1600"/>
            </a:pP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公式アカウントの管理画面には出ない、サイト上の結果を紐づけ。</a:t>
            </a:r>
            <a:endParaRPr sz="1600" b="1" dirty="0">
              <a:solidFill>
                <a:schemeClr val="tx1">
                  <a:lumMod val="65000"/>
                  <a:lumOff val="35000"/>
                </a:schemeClr>
              </a:solidFill>
              <a:latin typeface="Meiryo"/>
              <a:ea typeface="Meiryo"/>
              <a:cs typeface="Meiryo"/>
              <a:sym typeface="Meiryo"/>
            </a:endParaRPr>
          </a:p>
        </p:txBody>
      </p:sp>
      <p:sp>
        <p:nvSpPr>
          <p:cNvPr id="12" name="Google Shape;156;p7">
            <a:extLst>
              <a:ext uri="{FF2B5EF4-FFF2-40B4-BE49-F238E27FC236}">
                <a16:creationId xmlns:a16="http://schemas.microsoft.com/office/drawing/2014/main" id="{C5C4EFC6-EAB9-6A05-AE92-8FF390EDDDE3}"/>
              </a:ext>
            </a:extLst>
          </p:cNvPr>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体制図（イメージ）</a:t>
            </a:r>
            <a:endParaRPr sz="1600" b="1" dirty="0">
              <a:solidFill>
                <a:srgbClr val="002060"/>
              </a:solidFill>
              <a:latin typeface="Meiryo"/>
              <a:ea typeface="Meiryo"/>
              <a:cs typeface="Meiryo"/>
              <a:sym typeface="Meiryo"/>
            </a:endParaRPr>
          </a:p>
        </p:txBody>
      </p:sp>
      <p:sp>
        <p:nvSpPr>
          <p:cNvPr id="8" name="Shape 6"/>
          <p:cNvSpPr/>
          <p:nvPr/>
        </p:nvSpPr>
        <p:spPr>
          <a:xfrm>
            <a:off x="621091" y="3084378"/>
            <a:ext cx="4674326" cy="738321"/>
          </a:xfrm>
          <a:prstGeom prst="rect">
            <a:avLst/>
          </a:prstGeom>
          <a:solidFill>
            <a:srgbClr val="FFFFFF"/>
          </a:solidFill>
          <a:ln w="12700">
            <a:solidFill>
              <a:srgbClr val="C0CEDE"/>
            </a:solidFill>
            <a:prstDash val="solid"/>
          </a:ln>
        </p:spPr>
        <p:txBody>
          <a:bodyPr anchor="ctr"/>
          <a:lstStyle/>
          <a:p>
            <a:r>
              <a:rPr lang="ja-JP" altLang="en-US" sz="1200" dirty="0">
                <a:solidFill>
                  <a:srgbClr val="1A1A1A"/>
                </a:solidFill>
                <a:latin typeface="メイリオ" panose="020B0604030504040204" pitchFamily="50" charset="-128"/>
                <a:ea typeface="メイリオ" panose="020B0604030504040204" pitchFamily="50" charset="-128"/>
                <a:cs typeface="MS Gothic" pitchFamily="34" charset="-120"/>
              </a:rPr>
              <a:t>　</a:t>
            </a:r>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本プロモーションの戦略立案</a:t>
            </a:r>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 / </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方針決定</a:t>
            </a:r>
            <a:endParaRPr lang="en-US" altLang="ja-JP" sz="1200" dirty="0">
              <a:latin typeface="メイリオ" panose="020B0604030504040204" pitchFamily="50" charset="-128"/>
              <a:ea typeface="メイリオ" panose="020B0604030504040204" pitchFamily="50" charset="-128"/>
            </a:endParaRPr>
          </a:p>
        </p:txBody>
      </p:sp>
      <p:sp>
        <p:nvSpPr>
          <p:cNvPr id="3" name="Shape 15"/>
          <p:cNvSpPr/>
          <p:nvPr/>
        </p:nvSpPr>
        <p:spPr>
          <a:xfrm>
            <a:off x="660472" y="4383083"/>
            <a:ext cx="2148840" cy="578878"/>
          </a:xfrm>
          <a:prstGeom prst="rect">
            <a:avLst/>
          </a:prstGeom>
          <a:solidFill>
            <a:srgbClr val="FFFFFF"/>
          </a:solidFill>
          <a:ln w="12700">
            <a:solidFill>
              <a:srgbClr val="C0CEDE"/>
            </a:solidFill>
            <a:prstDash val="solid"/>
          </a:ln>
        </p:spPr>
        <p:txBody>
          <a:bodyPr anchor="ctr"/>
          <a:lstStyle/>
          <a:p>
            <a:endParaRPr lang="en-US" altLang="ja-JP" sz="3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1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100" dirty="0" err="1">
                <a:solidFill>
                  <a:srgbClr val="1A1A1A"/>
                </a:solidFill>
                <a:latin typeface="メイリオ" panose="020B0604030504040204" pitchFamily="50" charset="-128"/>
                <a:ea typeface="メイリオ" panose="020B0604030504040204" pitchFamily="50" charset="-128"/>
                <a:cs typeface="MS Gothic" pitchFamily="34" charset="-120"/>
              </a:rPr>
              <a:t>アカウント設計</a:t>
            </a:r>
            <a:endParaRPr lang="en-US" altLang="ja-JP" sz="11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1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100" dirty="0" err="1">
                <a:solidFill>
                  <a:srgbClr val="1A1A1A"/>
                </a:solidFill>
                <a:latin typeface="メイリオ" panose="020B0604030504040204" pitchFamily="50" charset="-128"/>
                <a:ea typeface="メイリオ" panose="020B0604030504040204" pitchFamily="50" charset="-128"/>
                <a:cs typeface="MS Gothic" pitchFamily="34" charset="-120"/>
              </a:rPr>
              <a:t>運用調整</a:t>
            </a:r>
            <a:endParaRPr lang="en-US" altLang="ja-JP" sz="1100" dirty="0">
              <a:latin typeface="メイリオ" panose="020B0604030504040204" pitchFamily="50" charset="-128"/>
              <a:ea typeface="メイリオ" panose="020B0604030504040204" pitchFamily="50" charset="-128"/>
            </a:endParaRPr>
          </a:p>
        </p:txBody>
      </p:sp>
      <p:sp>
        <p:nvSpPr>
          <p:cNvPr id="18" name="Shape 16"/>
          <p:cNvSpPr/>
          <p:nvPr/>
        </p:nvSpPr>
        <p:spPr>
          <a:xfrm>
            <a:off x="645163" y="4065900"/>
            <a:ext cx="2148840" cy="347472"/>
          </a:xfrm>
          <a:prstGeom prst="rect">
            <a:avLst/>
          </a:prstGeom>
          <a:solidFill>
            <a:srgbClr val="1F3864"/>
          </a:solidFill>
          <a:ln w="12700">
            <a:solidFill>
              <a:srgbClr val="1F3864"/>
            </a:solidFill>
            <a:prstDash val="solid"/>
          </a:ln>
        </p:spPr>
        <p:txBody>
          <a:bodyPr anchor="ctr"/>
          <a:lstStyle/>
          <a:p>
            <a:pPr algn="ctr"/>
            <a:r>
              <a:rPr lang="ja-JP" altLang="en-US" sz="1350" b="1" dirty="0">
                <a:solidFill>
                  <a:srgbClr val="FFFFFF"/>
                </a:solidFill>
                <a:latin typeface="メイリオ" panose="020B0604030504040204" pitchFamily="50" charset="-128"/>
                <a:ea typeface="メイリオ" panose="020B0604030504040204" pitchFamily="50" charset="-128"/>
                <a:cs typeface="MS Gothic" pitchFamily="34" charset="-120"/>
              </a:rPr>
              <a:t>リス・</a:t>
            </a:r>
            <a:r>
              <a:rPr lang="en-US" altLang="ja-JP" sz="1350" b="1" dirty="0" err="1">
                <a:solidFill>
                  <a:srgbClr val="FFFFFF"/>
                </a:solidFill>
                <a:latin typeface="メイリオ" panose="020B0604030504040204" pitchFamily="50" charset="-128"/>
                <a:ea typeface="メイリオ" panose="020B0604030504040204" pitchFamily="50" charset="-128"/>
                <a:cs typeface="MS Gothic" pitchFamily="34" charset="-120"/>
              </a:rPr>
              <a:t>SNS運用</a:t>
            </a:r>
            <a:endParaRPr lang="en-US" altLang="ja-JP" sz="1350" dirty="0">
              <a:latin typeface="メイリオ" panose="020B0604030504040204" pitchFamily="50" charset="-128"/>
              <a:ea typeface="メイリオ" panose="020B0604030504040204" pitchFamily="50" charset="-128"/>
            </a:endParaRPr>
          </a:p>
        </p:txBody>
      </p:sp>
      <p:sp>
        <p:nvSpPr>
          <p:cNvPr id="28" name="Shape 26"/>
          <p:cNvSpPr/>
          <p:nvPr/>
        </p:nvSpPr>
        <p:spPr>
          <a:xfrm>
            <a:off x="633127" y="5566878"/>
            <a:ext cx="2140131" cy="626818"/>
          </a:xfrm>
          <a:prstGeom prst="rect">
            <a:avLst/>
          </a:prstGeom>
          <a:solidFill>
            <a:srgbClr val="FFFFFF"/>
          </a:solidFill>
          <a:ln w="12700">
            <a:solidFill>
              <a:srgbClr val="C0CEDE"/>
            </a:solidFill>
            <a:prstDash val="solid"/>
          </a:ln>
        </p:spPr>
        <p:txBody>
          <a:bodyPr anchor="ctr"/>
          <a:lstStyle/>
          <a:p>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  ・</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運用調整</a:t>
            </a:r>
            <a:endPar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 ・</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入稿作業</a:t>
            </a:r>
            <a:endParaRPr lang="en-US" altLang="ja-JP" sz="1200" dirty="0">
              <a:latin typeface="メイリオ" panose="020B0604030504040204" pitchFamily="50" charset="-128"/>
              <a:ea typeface="メイリオ" panose="020B0604030504040204" pitchFamily="50" charset="-128"/>
            </a:endParaRPr>
          </a:p>
        </p:txBody>
      </p:sp>
      <p:sp>
        <p:nvSpPr>
          <p:cNvPr id="29" name="Shape 27"/>
          <p:cNvSpPr/>
          <p:nvPr/>
        </p:nvSpPr>
        <p:spPr>
          <a:xfrm>
            <a:off x="633127" y="5231331"/>
            <a:ext cx="2140131" cy="347472"/>
          </a:xfrm>
          <a:prstGeom prst="rect">
            <a:avLst/>
          </a:prstGeom>
          <a:solidFill>
            <a:srgbClr val="1F3864"/>
          </a:solidFill>
          <a:ln w="12700">
            <a:solidFill>
              <a:srgbClr val="1F3864"/>
            </a:solidFill>
            <a:prstDash val="solid"/>
          </a:ln>
        </p:spPr>
        <p:txBody>
          <a:bodyPr anchor="ctr"/>
          <a:lstStyle/>
          <a:p>
            <a:pPr algn="ctr"/>
            <a:r>
              <a:rPr lang="en-US" altLang="ja-JP" sz="1200" b="1">
                <a:solidFill>
                  <a:srgbClr val="FFFFFF"/>
                </a:solidFill>
                <a:latin typeface="メイリオ" panose="020B0604030504040204" pitchFamily="50" charset="-128"/>
                <a:ea typeface="メイリオ" panose="020B0604030504040204" pitchFamily="50" charset="-128"/>
                <a:cs typeface="MS Gothic" pitchFamily="34" charset="-120"/>
              </a:rPr>
              <a:t>運用サポート</a:t>
            </a:r>
            <a:endParaRPr lang="en-US" altLang="ja-JP" sz="1200" dirty="0">
              <a:latin typeface="メイリオ" panose="020B0604030504040204" pitchFamily="50" charset="-128"/>
              <a:ea typeface="メイリオ" panose="020B0604030504040204" pitchFamily="50" charset="-128"/>
            </a:endParaRPr>
          </a:p>
        </p:txBody>
      </p:sp>
      <p:sp>
        <p:nvSpPr>
          <p:cNvPr id="30" name="Text 28"/>
          <p:cNvSpPr/>
          <p:nvPr/>
        </p:nvSpPr>
        <p:spPr>
          <a:xfrm>
            <a:off x="633128" y="5231331"/>
            <a:ext cx="2140131" cy="347472"/>
          </a:xfrm>
          <a:prstGeom prst="rect">
            <a:avLst/>
          </a:prstGeom>
          <a:noFill/>
          <a:ln/>
        </p:spPr>
        <p:txBody>
          <a:bodyPr wrap="square" lIns="0" tIns="0" rIns="0" bIns="0" rtlCol="0" anchor="ctr"/>
          <a:lstStyle/>
          <a:p>
            <a:pPr marL="0" indent="0" algn="ctr">
              <a:buNone/>
            </a:pPr>
            <a:endParaRPr lang="en-US" sz="1050" dirty="0">
              <a:latin typeface="メイリオ" panose="020B0604030504040204" pitchFamily="50" charset="-128"/>
              <a:ea typeface="メイリオ" panose="020B0604030504040204" pitchFamily="50" charset="-128"/>
            </a:endParaRPr>
          </a:p>
        </p:txBody>
      </p:sp>
      <p:sp>
        <p:nvSpPr>
          <p:cNvPr id="33" name="Shape 31"/>
          <p:cNvSpPr/>
          <p:nvPr/>
        </p:nvSpPr>
        <p:spPr>
          <a:xfrm>
            <a:off x="2921304" y="5532054"/>
            <a:ext cx="2386149" cy="641636"/>
          </a:xfrm>
          <a:prstGeom prst="rect">
            <a:avLst/>
          </a:prstGeom>
          <a:solidFill>
            <a:srgbClr val="FFFFFF"/>
          </a:solidFill>
          <a:ln w="12700">
            <a:solidFill>
              <a:srgbClr val="C0CEDE"/>
            </a:solidFill>
            <a:prstDash val="solid"/>
          </a:ln>
        </p:spPr>
        <p:txBody>
          <a:bodyPr anchor="ctr"/>
          <a:lstStyle/>
          <a:p>
            <a:endPar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バナー制作</a:t>
            </a:r>
            <a:endPar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LP制作</a:t>
            </a:r>
            <a:endPar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動画制作</a:t>
            </a:r>
            <a:endPar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endParaRPr>
          </a:p>
        </p:txBody>
      </p:sp>
      <p:sp>
        <p:nvSpPr>
          <p:cNvPr id="34" name="Shape 32"/>
          <p:cNvSpPr/>
          <p:nvPr/>
        </p:nvSpPr>
        <p:spPr>
          <a:xfrm>
            <a:off x="2921304" y="5221392"/>
            <a:ext cx="2386149" cy="347472"/>
          </a:xfrm>
          <a:prstGeom prst="rect">
            <a:avLst/>
          </a:prstGeom>
          <a:solidFill>
            <a:schemeClr val="bg1">
              <a:lumMod val="65000"/>
            </a:schemeClr>
          </a:solidFill>
          <a:ln w="12700">
            <a:solidFill>
              <a:srgbClr val="1F3864"/>
            </a:solidFill>
            <a:prstDash val="solid"/>
          </a:ln>
        </p:spPr>
        <p:txBody>
          <a:bodyPr anchor="ctr"/>
          <a:lstStyle/>
          <a:p>
            <a:pPr algn="ctr"/>
            <a:r>
              <a:rPr lang="en-US" altLang="ja-JP" sz="1200" b="1">
                <a:solidFill>
                  <a:srgbClr val="FFFFFF"/>
                </a:solidFill>
                <a:latin typeface="メイリオ" panose="020B0604030504040204" pitchFamily="50" charset="-128"/>
                <a:ea typeface="メイリオ" panose="020B0604030504040204" pitchFamily="50" charset="-128"/>
                <a:cs typeface="MS Gothic" pitchFamily="34" charset="-120"/>
              </a:rPr>
              <a:t>制作</a:t>
            </a:r>
            <a:endParaRPr lang="en-US" altLang="ja-JP" sz="1200" dirty="0">
              <a:latin typeface="メイリオ" panose="020B0604030504040204" pitchFamily="50" charset="-128"/>
              <a:ea typeface="メイリオ" panose="020B0604030504040204" pitchFamily="50" charset="-128"/>
            </a:endParaRPr>
          </a:p>
        </p:txBody>
      </p:sp>
      <p:sp>
        <p:nvSpPr>
          <p:cNvPr id="40" name="Shape 38"/>
          <p:cNvSpPr/>
          <p:nvPr/>
        </p:nvSpPr>
        <p:spPr>
          <a:xfrm>
            <a:off x="5740699" y="4097070"/>
            <a:ext cx="3293358" cy="347472"/>
          </a:xfrm>
          <a:prstGeom prst="rect">
            <a:avLst/>
          </a:prstGeom>
          <a:solidFill>
            <a:srgbClr val="8496B8"/>
          </a:solidFill>
          <a:ln w="12700">
            <a:solidFill>
              <a:srgbClr val="8496B8"/>
            </a:solidFill>
            <a:prstDash val="solid"/>
          </a:ln>
        </p:spPr>
        <p:txBody>
          <a:bodyPr anchor="ctr"/>
          <a:lstStyle/>
          <a:p>
            <a:pPr algn="ctr"/>
            <a:r>
              <a:rPr lang="ja-JP" altLang="en-US" sz="1200" dirty="0">
                <a:solidFill>
                  <a:schemeClr val="bg1"/>
                </a:solidFill>
                <a:latin typeface="メイリオ" panose="020B0604030504040204" pitchFamily="50" charset="-128"/>
                <a:ea typeface="メイリオ" panose="020B0604030504040204" pitchFamily="50" charset="-128"/>
              </a:rPr>
              <a:t>媒体担当</a:t>
            </a:r>
          </a:p>
        </p:txBody>
      </p:sp>
      <p:sp>
        <p:nvSpPr>
          <p:cNvPr id="75" name="Shape 20">
            <a:extLst>
              <a:ext uri="{FF2B5EF4-FFF2-40B4-BE49-F238E27FC236}">
                <a16:creationId xmlns:a16="http://schemas.microsoft.com/office/drawing/2014/main" id="{9B35F62E-D565-EC7D-5BED-9E3AD8414C54}"/>
              </a:ext>
            </a:extLst>
          </p:cNvPr>
          <p:cNvSpPr/>
          <p:nvPr/>
        </p:nvSpPr>
        <p:spPr>
          <a:xfrm>
            <a:off x="2930013" y="4391542"/>
            <a:ext cx="2377440" cy="578878"/>
          </a:xfrm>
          <a:prstGeom prst="rect">
            <a:avLst/>
          </a:prstGeom>
          <a:solidFill>
            <a:srgbClr val="FFFFFF"/>
          </a:solidFill>
          <a:ln w="12700">
            <a:solidFill>
              <a:srgbClr val="C0CEDE"/>
            </a:solidFill>
            <a:prstDash val="solid"/>
          </a:ln>
        </p:spPr>
        <p:txBody>
          <a:bodyPr anchor="ctr"/>
          <a:lstStyle/>
          <a:p>
            <a:endParaRPr lang="en-US" altLang="ja-JP" sz="1100" dirty="0">
              <a:solidFill>
                <a:srgbClr val="1A1A1A"/>
              </a:solidFill>
              <a:latin typeface="メイリオ" panose="020B0604030504040204" pitchFamily="50" charset="-128"/>
              <a:ea typeface="メイリオ" panose="020B0604030504040204" pitchFamily="50" charset="-128"/>
              <a:cs typeface="MS Gothic" pitchFamily="34" charset="-120"/>
            </a:endParaRPr>
          </a:p>
          <a:p>
            <a:endParaRPr lang="en-US" altLang="ja-JP" sz="11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1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100" dirty="0" err="1">
                <a:solidFill>
                  <a:srgbClr val="1A1A1A"/>
                </a:solidFill>
                <a:latin typeface="メイリオ" panose="020B0604030504040204" pitchFamily="50" charset="-128"/>
                <a:ea typeface="メイリオ" panose="020B0604030504040204" pitchFamily="50" charset="-128"/>
                <a:cs typeface="MS Gothic" pitchFamily="34" charset="-120"/>
              </a:rPr>
              <a:t>アカウント設計</a:t>
            </a:r>
            <a:r>
              <a:rPr lang="ja-JP" altLang="en-US" sz="11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100" dirty="0" err="1">
                <a:solidFill>
                  <a:srgbClr val="1A1A1A"/>
                </a:solidFill>
                <a:latin typeface="メイリオ" panose="020B0604030504040204" pitchFamily="50" charset="-128"/>
                <a:ea typeface="メイリオ" panose="020B0604030504040204" pitchFamily="50" charset="-128"/>
                <a:cs typeface="MS Gothic" pitchFamily="34" charset="-120"/>
              </a:rPr>
              <a:t>運用調整</a:t>
            </a:r>
            <a:endParaRPr lang="en-US" altLang="ja-JP" sz="11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1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100" dirty="0" err="1">
                <a:solidFill>
                  <a:srgbClr val="1A1A1A"/>
                </a:solidFill>
                <a:latin typeface="メイリオ" panose="020B0604030504040204" pitchFamily="50" charset="-128"/>
                <a:ea typeface="メイリオ" panose="020B0604030504040204" pitchFamily="50" charset="-128"/>
                <a:cs typeface="MS Gothic" pitchFamily="34" charset="-120"/>
              </a:rPr>
              <a:t>クリエイティブディレクション</a:t>
            </a:r>
            <a:endParaRPr lang="en-US" altLang="ja-JP" sz="1100" dirty="0">
              <a:latin typeface="メイリオ" panose="020B0604030504040204" pitchFamily="50" charset="-128"/>
              <a:ea typeface="メイリオ" panose="020B0604030504040204" pitchFamily="50" charset="-128"/>
            </a:endParaRPr>
          </a:p>
          <a:p>
            <a:endParaRPr lang="en-US" altLang="ja-JP" sz="1100" dirty="0">
              <a:latin typeface="メイリオ" panose="020B0604030504040204" pitchFamily="50" charset="-128"/>
              <a:ea typeface="メイリオ" panose="020B0604030504040204" pitchFamily="50" charset="-128"/>
            </a:endParaRPr>
          </a:p>
          <a:p>
            <a:endParaRPr lang="en-US" altLang="ja-JP" sz="1100" dirty="0">
              <a:latin typeface="メイリオ" panose="020B0604030504040204" pitchFamily="50" charset="-128"/>
              <a:ea typeface="メイリオ" panose="020B0604030504040204" pitchFamily="50" charset="-128"/>
            </a:endParaRPr>
          </a:p>
        </p:txBody>
      </p:sp>
      <p:sp>
        <p:nvSpPr>
          <p:cNvPr id="76" name="Shape 21">
            <a:extLst>
              <a:ext uri="{FF2B5EF4-FFF2-40B4-BE49-F238E27FC236}">
                <a16:creationId xmlns:a16="http://schemas.microsoft.com/office/drawing/2014/main" id="{0A9AF3DD-64DC-1BF0-8119-2924ECA0B69F}"/>
              </a:ext>
            </a:extLst>
          </p:cNvPr>
          <p:cNvSpPr/>
          <p:nvPr/>
        </p:nvSpPr>
        <p:spPr>
          <a:xfrm>
            <a:off x="2930013" y="4059656"/>
            <a:ext cx="2377440" cy="347472"/>
          </a:xfrm>
          <a:prstGeom prst="rect">
            <a:avLst/>
          </a:prstGeom>
          <a:solidFill>
            <a:srgbClr val="FFC000"/>
          </a:solidFill>
          <a:ln w="12700">
            <a:solidFill>
              <a:srgbClr val="1F3864"/>
            </a:solidFill>
            <a:prstDash val="solid"/>
          </a:ln>
        </p:spPr>
        <p:txBody>
          <a:bodyPr anchor="ctr"/>
          <a:lstStyle/>
          <a:p>
            <a:pPr algn="ctr"/>
            <a:r>
              <a:rPr lang="en-US" altLang="ja-JP" sz="1350" b="1" dirty="0" err="1">
                <a:solidFill>
                  <a:srgbClr val="FFFFFF"/>
                </a:solidFill>
                <a:latin typeface="メイリオ" panose="020B0604030504040204" pitchFamily="50" charset="-128"/>
                <a:ea typeface="メイリオ" panose="020B0604030504040204" pitchFamily="50" charset="-128"/>
                <a:cs typeface="MS Gothic" pitchFamily="34" charset="-120"/>
              </a:rPr>
              <a:t>LINEOA運用</a:t>
            </a:r>
            <a:endParaRPr lang="en-US" altLang="ja-JP" sz="1350" dirty="0">
              <a:latin typeface="メイリオ" panose="020B0604030504040204" pitchFamily="50" charset="-128"/>
              <a:ea typeface="メイリオ" panose="020B0604030504040204" pitchFamily="50" charset="-128"/>
            </a:endParaRPr>
          </a:p>
        </p:txBody>
      </p:sp>
      <p:sp>
        <p:nvSpPr>
          <p:cNvPr id="5" name="Shape 6">
            <a:extLst>
              <a:ext uri="{FF2B5EF4-FFF2-40B4-BE49-F238E27FC236}">
                <a16:creationId xmlns:a16="http://schemas.microsoft.com/office/drawing/2014/main" id="{85CDFD14-B545-2394-79CD-B4BB79EC6A1B}"/>
              </a:ext>
            </a:extLst>
          </p:cNvPr>
          <p:cNvSpPr/>
          <p:nvPr/>
        </p:nvSpPr>
        <p:spPr>
          <a:xfrm>
            <a:off x="5425961" y="3084378"/>
            <a:ext cx="3557928" cy="738321"/>
          </a:xfrm>
          <a:prstGeom prst="rect">
            <a:avLst/>
          </a:prstGeom>
          <a:solidFill>
            <a:srgbClr val="FFFFFF"/>
          </a:solidFill>
          <a:ln w="12700">
            <a:solidFill>
              <a:srgbClr val="C0CEDE"/>
            </a:solidFill>
            <a:prstDash val="solid"/>
          </a:ln>
        </p:spPr>
        <p:txBody>
          <a:bodyPr/>
          <a:lstStyle/>
          <a:p>
            <a:endPar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貴社担当との連絡やり取り全般</a:t>
            </a:r>
            <a:endPar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・書</a:t>
            </a:r>
            <a:r>
              <a:rPr lang="ja-JP" altLang="en-US" sz="1200" dirty="0">
                <a:solidFill>
                  <a:srgbClr val="1A1A1A"/>
                </a:solidFill>
                <a:latin typeface="メイリオ" panose="020B0604030504040204" pitchFamily="50" charset="-128"/>
                <a:ea typeface="メイリオ" panose="020B0604030504040204" pitchFamily="50" charset="-128"/>
                <a:cs typeface="MS Gothic" pitchFamily="34" charset="-120"/>
              </a:rPr>
              <a:t>類</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の作成等、事務面までサポート</a:t>
            </a:r>
            <a:endParaRPr lang="en-US" altLang="ja-JP" sz="1200" dirty="0">
              <a:latin typeface="メイリオ" panose="020B0604030504040204" pitchFamily="50" charset="-128"/>
              <a:ea typeface="メイリオ" panose="020B0604030504040204" pitchFamily="50" charset="-128"/>
            </a:endParaRPr>
          </a:p>
        </p:txBody>
      </p:sp>
      <p:sp>
        <p:nvSpPr>
          <p:cNvPr id="7" name="Shape 7">
            <a:extLst>
              <a:ext uri="{FF2B5EF4-FFF2-40B4-BE49-F238E27FC236}">
                <a16:creationId xmlns:a16="http://schemas.microsoft.com/office/drawing/2014/main" id="{DE68CBB6-5454-1932-8D24-8CA86C03FDAF}"/>
              </a:ext>
            </a:extLst>
          </p:cNvPr>
          <p:cNvSpPr/>
          <p:nvPr/>
        </p:nvSpPr>
        <p:spPr>
          <a:xfrm>
            <a:off x="5425961" y="2849521"/>
            <a:ext cx="3557928" cy="347472"/>
          </a:xfrm>
          <a:prstGeom prst="rect">
            <a:avLst/>
          </a:prstGeom>
          <a:solidFill>
            <a:schemeClr val="accent1">
              <a:lumMod val="75000"/>
            </a:schemeClr>
          </a:solidFill>
          <a:ln w="12700">
            <a:solidFill>
              <a:srgbClr val="1F3864"/>
            </a:solidFill>
            <a:prstDash val="solid"/>
          </a:ln>
        </p:spPr>
        <p:txBody>
          <a:bodyPr anchor="ctr"/>
          <a:lstStyle/>
          <a:p>
            <a:pPr algn="ctr"/>
            <a:r>
              <a:rPr lang="en-US" altLang="ja-JP" sz="1350" b="1" dirty="0" err="1">
                <a:solidFill>
                  <a:srgbClr val="FFFFFF"/>
                </a:solidFill>
                <a:latin typeface="メイリオ" panose="020B0604030504040204" pitchFamily="50" charset="-128"/>
                <a:ea typeface="メイリオ" panose="020B0604030504040204" pitchFamily="50" charset="-128"/>
                <a:cs typeface="MS Gothic" pitchFamily="34" charset="-120"/>
              </a:rPr>
              <a:t>営業</a:t>
            </a:r>
            <a:r>
              <a:rPr lang="en-US" altLang="ja-JP" sz="1350" b="1" dirty="0">
                <a:solidFill>
                  <a:srgbClr val="FFFFFF"/>
                </a:solidFill>
                <a:latin typeface="メイリオ" panose="020B0604030504040204" pitchFamily="50" charset="-128"/>
                <a:ea typeface="メイリオ" panose="020B0604030504040204" pitchFamily="50" charset="-128"/>
                <a:cs typeface="MS Gothic" pitchFamily="34" charset="-120"/>
              </a:rPr>
              <a:t> / </a:t>
            </a:r>
            <a:r>
              <a:rPr lang="en-US" altLang="ja-JP" sz="1350" b="1" dirty="0" err="1">
                <a:solidFill>
                  <a:srgbClr val="FFFFFF"/>
                </a:solidFill>
                <a:latin typeface="メイリオ" panose="020B0604030504040204" pitchFamily="50" charset="-128"/>
                <a:ea typeface="メイリオ" panose="020B0604030504040204" pitchFamily="50" charset="-128"/>
                <a:cs typeface="MS Gothic" pitchFamily="34" charset="-120"/>
              </a:rPr>
              <a:t>フロント対応（サブ</a:t>
            </a:r>
            <a:r>
              <a:rPr lang="en-US" altLang="ja-JP" sz="1350" b="1" dirty="0">
                <a:solidFill>
                  <a:srgbClr val="FFFFFF"/>
                </a:solidFill>
                <a:latin typeface="メイリオ" panose="020B0604030504040204" pitchFamily="50" charset="-128"/>
                <a:ea typeface="メイリオ" panose="020B0604030504040204" pitchFamily="50" charset="-128"/>
                <a:cs typeface="MS Gothic" pitchFamily="34" charset="-120"/>
              </a:rPr>
              <a:t>）</a:t>
            </a:r>
            <a:endParaRPr lang="en-US" altLang="ja-JP" sz="1350" dirty="0">
              <a:latin typeface="メイリオ" panose="020B0604030504040204" pitchFamily="50" charset="-128"/>
              <a:ea typeface="メイリオ" panose="020B0604030504040204" pitchFamily="50" charset="-128"/>
            </a:endParaRPr>
          </a:p>
        </p:txBody>
      </p:sp>
      <p:sp>
        <p:nvSpPr>
          <p:cNvPr id="20" name="Shape 7"/>
          <p:cNvSpPr/>
          <p:nvPr/>
        </p:nvSpPr>
        <p:spPr>
          <a:xfrm>
            <a:off x="612383" y="2849521"/>
            <a:ext cx="4683034" cy="347472"/>
          </a:xfrm>
          <a:prstGeom prst="rect">
            <a:avLst/>
          </a:prstGeom>
          <a:solidFill>
            <a:schemeClr val="accent1">
              <a:lumMod val="75000"/>
            </a:schemeClr>
          </a:solidFill>
          <a:ln w="12700">
            <a:solidFill>
              <a:srgbClr val="1F3864"/>
            </a:solidFill>
            <a:prstDash val="solid"/>
          </a:ln>
        </p:spPr>
        <p:txBody>
          <a:bodyPr anchor="ctr"/>
          <a:lstStyle/>
          <a:p>
            <a:pPr algn="ctr"/>
            <a:r>
              <a:rPr lang="ja-JP" altLang="en-US" sz="1350" b="1" dirty="0">
                <a:solidFill>
                  <a:srgbClr val="FFFFFF"/>
                </a:solidFill>
                <a:latin typeface="メイリオ" panose="020B0604030504040204" pitchFamily="50" charset="-128"/>
                <a:ea typeface="メイリオ" panose="020B0604030504040204" pitchFamily="50" charset="-128"/>
                <a:cs typeface="MS Gothic" pitchFamily="34" charset="-120"/>
              </a:rPr>
              <a:t>広告運用統括・コンサル</a:t>
            </a:r>
            <a:endParaRPr lang="en-US" altLang="ja-JP" sz="1350" dirty="0">
              <a:latin typeface="メイリオ" panose="020B0604030504040204" pitchFamily="50" charset="-128"/>
              <a:ea typeface="メイリオ" panose="020B0604030504040204" pitchFamily="50" charset="-128"/>
            </a:endParaRPr>
          </a:p>
        </p:txBody>
      </p:sp>
      <p:sp>
        <p:nvSpPr>
          <p:cNvPr id="31" name="Shape 6">
            <a:extLst>
              <a:ext uri="{FF2B5EF4-FFF2-40B4-BE49-F238E27FC236}">
                <a16:creationId xmlns:a16="http://schemas.microsoft.com/office/drawing/2014/main" id="{40835ECB-DBED-5389-F67F-16368EB09190}"/>
              </a:ext>
            </a:extLst>
          </p:cNvPr>
          <p:cNvSpPr/>
          <p:nvPr/>
        </p:nvSpPr>
        <p:spPr>
          <a:xfrm>
            <a:off x="548883" y="1995744"/>
            <a:ext cx="8545959" cy="615505"/>
          </a:xfrm>
          <a:prstGeom prst="rect">
            <a:avLst/>
          </a:prstGeom>
          <a:solidFill>
            <a:srgbClr val="FFFFFF"/>
          </a:solidFill>
          <a:ln w="12700">
            <a:solidFill>
              <a:srgbClr val="C0CEDE"/>
            </a:solidFill>
            <a:prstDash val="solid"/>
          </a:ln>
        </p:spPr>
        <p:txBody>
          <a:bodyPr/>
          <a:lstStyle/>
          <a:p>
            <a:endPar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ja-JP" altLang="en-US" sz="1200" dirty="0">
                <a:solidFill>
                  <a:srgbClr val="1A1A1A"/>
                </a:solidFill>
                <a:latin typeface="メイリオ" panose="020B0604030504040204" pitchFamily="50" charset="-128"/>
                <a:ea typeface="メイリオ" panose="020B0604030504040204" pitchFamily="50" charset="-128"/>
                <a:cs typeface="MS Gothic" pitchFamily="34" charset="-120"/>
              </a:rPr>
              <a:t>　</a:t>
            </a:r>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本プロモーションの戦略立案</a:t>
            </a:r>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 / </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方針決定</a:t>
            </a:r>
            <a:r>
              <a:rPr lang="ja-JP" altLang="en-US" sz="1200" dirty="0">
                <a:solidFill>
                  <a:srgbClr val="1A1A1A"/>
                </a:solidFill>
                <a:latin typeface="メイリオ" panose="020B0604030504040204" pitchFamily="50" charset="-128"/>
                <a:ea typeface="メイリオ" panose="020B0604030504040204" pitchFamily="50" charset="-128"/>
                <a:cs typeface="MS Gothic" pitchFamily="34" charset="-120"/>
              </a:rPr>
              <a:t>　　　　・貴社ご担当者様との連絡やり取り全般</a:t>
            </a:r>
            <a:endParaRPr lang="en-US" altLang="ja-JP" sz="1200" dirty="0">
              <a:latin typeface="メイリオ" panose="020B0604030504040204" pitchFamily="50" charset="-128"/>
              <a:ea typeface="メイリオ" panose="020B0604030504040204" pitchFamily="50" charset="-128"/>
            </a:endParaRPr>
          </a:p>
        </p:txBody>
      </p:sp>
      <p:sp>
        <p:nvSpPr>
          <p:cNvPr id="32" name="Shape 7">
            <a:extLst>
              <a:ext uri="{FF2B5EF4-FFF2-40B4-BE49-F238E27FC236}">
                <a16:creationId xmlns:a16="http://schemas.microsoft.com/office/drawing/2014/main" id="{67B490AF-C245-DAC8-B203-E07692B565EF}"/>
              </a:ext>
            </a:extLst>
          </p:cNvPr>
          <p:cNvSpPr/>
          <p:nvPr/>
        </p:nvSpPr>
        <p:spPr>
          <a:xfrm>
            <a:off x="548883" y="1729963"/>
            <a:ext cx="4073917" cy="347472"/>
          </a:xfrm>
          <a:prstGeom prst="rect">
            <a:avLst/>
          </a:prstGeom>
          <a:solidFill>
            <a:schemeClr val="accent1">
              <a:lumMod val="75000"/>
            </a:schemeClr>
          </a:solidFill>
          <a:ln w="12700">
            <a:solidFill>
              <a:srgbClr val="1F3864"/>
            </a:solidFill>
            <a:prstDash val="solid"/>
          </a:ln>
        </p:spPr>
        <p:txBody>
          <a:bodyPr anchor="ctr"/>
          <a:lstStyle/>
          <a:p>
            <a:pPr algn="ctr"/>
            <a:r>
              <a:rPr lang="en-US" altLang="ja-JP" sz="1350" b="1" dirty="0" err="1">
                <a:solidFill>
                  <a:srgbClr val="FFFFFF"/>
                </a:solidFill>
                <a:latin typeface="メイリオ" panose="020B0604030504040204" pitchFamily="50" charset="-128"/>
                <a:ea typeface="メイリオ" panose="020B0604030504040204" pitchFamily="50" charset="-128"/>
                <a:cs typeface="MS Gothic" pitchFamily="34" charset="-120"/>
              </a:rPr>
              <a:t>営業</a:t>
            </a:r>
            <a:r>
              <a:rPr lang="en-US" altLang="ja-JP" sz="1350" b="1" dirty="0">
                <a:solidFill>
                  <a:srgbClr val="FFFFFF"/>
                </a:solidFill>
                <a:latin typeface="メイリオ" panose="020B0604030504040204" pitchFamily="50" charset="-128"/>
                <a:ea typeface="メイリオ" panose="020B0604030504040204" pitchFamily="50" charset="-128"/>
                <a:cs typeface="MS Gothic" pitchFamily="34" charset="-120"/>
              </a:rPr>
              <a:t> / </a:t>
            </a:r>
            <a:r>
              <a:rPr lang="en-US" altLang="ja-JP" sz="1350" b="1" dirty="0" err="1">
                <a:solidFill>
                  <a:srgbClr val="FFFFFF"/>
                </a:solidFill>
                <a:latin typeface="メイリオ" panose="020B0604030504040204" pitchFamily="50" charset="-128"/>
                <a:ea typeface="メイリオ" panose="020B0604030504040204" pitchFamily="50" charset="-128"/>
                <a:cs typeface="MS Gothic" pitchFamily="34" charset="-120"/>
              </a:rPr>
              <a:t>フロント対応</a:t>
            </a:r>
            <a:r>
              <a:rPr lang="en-US" altLang="ja-JP" sz="1350" b="1" dirty="0">
                <a:solidFill>
                  <a:srgbClr val="FFFFFF"/>
                </a:solidFill>
                <a:latin typeface="メイリオ" panose="020B0604030504040204" pitchFamily="50" charset="-128"/>
                <a:ea typeface="メイリオ" panose="020B0604030504040204" pitchFamily="50" charset="-128"/>
                <a:cs typeface="MS Gothic" pitchFamily="34" charset="-120"/>
              </a:rPr>
              <a:t>（</a:t>
            </a:r>
            <a:r>
              <a:rPr lang="ja-JP" altLang="en-US" sz="1350" b="1" dirty="0">
                <a:solidFill>
                  <a:srgbClr val="FFFFFF"/>
                </a:solidFill>
                <a:latin typeface="メイリオ" panose="020B0604030504040204" pitchFamily="50" charset="-128"/>
                <a:ea typeface="メイリオ" panose="020B0604030504040204" pitchFamily="50" charset="-128"/>
                <a:cs typeface="MS Gothic" pitchFamily="34" charset="-120"/>
              </a:rPr>
              <a:t>全体統括</a:t>
            </a:r>
            <a:r>
              <a:rPr lang="en-US" altLang="ja-JP" sz="1350" b="1" dirty="0">
                <a:solidFill>
                  <a:srgbClr val="FFFFFF"/>
                </a:solidFill>
                <a:latin typeface="メイリオ" panose="020B0604030504040204" pitchFamily="50" charset="-128"/>
                <a:ea typeface="メイリオ" panose="020B0604030504040204" pitchFamily="50" charset="-128"/>
                <a:cs typeface="MS Gothic" pitchFamily="34" charset="-120"/>
              </a:rPr>
              <a:t>）</a:t>
            </a:r>
            <a:r>
              <a:rPr lang="ja-JP" altLang="en-US" sz="1350" b="1" dirty="0">
                <a:solidFill>
                  <a:srgbClr val="FFFFFF"/>
                </a:solidFill>
                <a:latin typeface="メイリオ" panose="020B0604030504040204" pitchFamily="50" charset="-128"/>
                <a:ea typeface="メイリオ" panose="020B0604030504040204" pitchFamily="50" charset="-128"/>
                <a:cs typeface="MS Gothic" pitchFamily="34" charset="-120"/>
              </a:rPr>
              <a:t>　</a:t>
            </a:r>
            <a:endParaRPr lang="en-US" altLang="ja-JP" sz="1350" dirty="0">
              <a:latin typeface="メイリオ" panose="020B0604030504040204" pitchFamily="50" charset="-128"/>
              <a:ea typeface="メイリオ" panose="020B0604030504040204" pitchFamily="50" charset="-128"/>
            </a:endParaRPr>
          </a:p>
        </p:txBody>
      </p:sp>
      <p:sp>
        <p:nvSpPr>
          <p:cNvPr id="35" name="Shape 38">
            <a:extLst>
              <a:ext uri="{FF2B5EF4-FFF2-40B4-BE49-F238E27FC236}">
                <a16:creationId xmlns:a16="http://schemas.microsoft.com/office/drawing/2014/main" id="{0C1173B9-EECF-693B-9E7D-0C69C5B122BF}"/>
              </a:ext>
            </a:extLst>
          </p:cNvPr>
          <p:cNvSpPr/>
          <p:nvPr/>
        </p:nvSpPr>
        <p:spPr>
          <a:xfrm>
            <a:off x="5740699" y="4509077"/>
            <a:ext cx="3293358" cy="1146893"/>
          </a:xfrm>
          <a:prstGeom prst="rect">
            <a:avLst/>
          </a:prstGeom>
          <a:solidFill>
            <a:schemeClr val="accent1">
              <a:lumMod val="20000"/>
              <a:lumOff val="80000"/>
            </a:schemeClr>
          </a:solidFill>
          <a:ln w="12700">
            <a:solidFill>
              <a:srgbClr val="8496B8"/>
            </a:solidFill>
            <a:prstDash val="solid"/>
          </a:ln>
        </p:spPr>
        <p:txBody>
          <a:bodyPr anchor="ctr"/>
          <a:lstStyle/>
          <a:p>
            <a:pPr algn="ctr"/>
            <a:endParaRPr lang="ja-JP" altLang="en-US" sz="1200" dirty="0">
              <a:solidFill>
                <a:schemeClr val="bg1"/>
              </a:solidFill>
              <a:latin typeface="メイリオ" panose="020B0604030504040204" pitchFamily="50" charset="-128"/>
              <a:ea typeface="メイリオ" panose="020B0604030504040204" pitchFamily="50" charset="-128"/>
            </a:endParaRPr>
          </a:p>
        </p:txBody>
      </p:sp>
      <p:sp>
        <p:nvSpPr>
          <p:cNvPr id="36" name="矢印: 下 35">
            <a:extLst>
              <a:ext uri="{FF2B5EF4-FFF2-40B4-BE49-F238E27FC236}">
                <a16:creationId xmlns:a16="http://schemas.microsoft.com/office/drawing/2014/main" id="{7CCB5C34-442B-3398-0780-2D0336E6D4ED}"/>
              </a:ext>
            </a:extLst>
          </p:cNvPr>
          <p:cNvSpPr/>
          <p:nvPr/>
        </p:nvSpPr>
        <p:spPr>
          <a:xfrm>
            <a:off x="1528292" y="3735148"/>
            <a:ext cx="254000" cy="306911"/>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7" name="矢印: 下 36">
            <a:extLst>
              <a:ext uri="{FF2B5EF4-FFF2-40B4-BE49-F238E27FC236}">
                <a16:creationId xmlns:a16="http://schemas.microsoft.com/office/drawing/2014/main" id="{F4FC4967-B41B-4444-4ADE-4F30B9156CB8}"/>
              </a:ext>
            </a:extLst>
          </p:cNvPr>
          <p:cNvSpPr/>
          <p:nvPr/>
        </p:nvSpPr>
        <p:spPr>
          <a:xfrm>
            <a:off x="3987378" y="3740258"/>
            <a:ext cx="254000" cy="306911"/>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026" name="Picture 2">
            <a:extLst>
              <a:ext uri="{FF2B5EF4-FFF2-40B4-BE49-F238E27FC236}">
                <a16:creationId xmlns:a16="http://schemas.microsoft.com/office/drawing/2014/main" id="{AC3EAB26-5599-F35D-4523-6C68BD69EF6E}"/>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549980" y="4692784"/>
            <a:ext cx="570053" cy="376235"/>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ロゴガイドライン｜LINEヤフー for Business">
            <a:extLst>
              <a:ext uri="{FF2B5EF4-FFF2-40B4-BE49-F238E27FC236}">
                <a16:creationId xmlns:a16="http://schemas.microsoft.com/office/drawing/2014/main" id="{CEFB2BC3-422C-45B1-E9EF-4EF91F4D9897}"/>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972902" y="4459743"/>
            <a:ext cx="2357368" cy="855810"/>
          </a:xfrm>
          <a:prstGeom prst="rect">
            <a:avLst/>
          </a:prstGeom>
          <a:noFill/>
          <a:extLst>
            <a:ext uri="{909E8E84-426E-40DD-AFC4-6F175D3DCCD1}">
              <a14:hiddenFill xmlns:a14="http://schemas.microsoft.com/office/drawing/2010/main">
                <a:solidFill>
                  <a:srgbClr val="FFFFFF"/>
                </a:solidFill>
              </a14:hiddenFill>
            </a:ext>
          </a:extLst>
        </p:spPr>
      </p:pic>
      <p:pic>
        <p:nvPicPr>
          <p:cNvPr id="49" name="図 48">
            <a:extLst>
              <a:ext uri="{FF2B5EF4-FFF2-40B4-BE49-F238E27FC236}">
                <a16:creationId xmlns:a16="http://schemas.microsoft.com/office/drawing/2014/main" id="{C827C962-E7C6-7341-785B-5CEA2F163BA9}"/>
              </a:ext>
            </a:extLst>
          </p:cNvPr>
          <p:cNvPicPr>
            <a:picLocks noChangeAspect="1"/>
          </p:cNvPicPr>
          <p:nvPr/>
        </p:nvPicPr>
        <p:blipFill>
          <a:blip r:embed="rId5" cstate="print">
            <a:extLst>
              <a:ext uri="{28A0092B-C50C-407E-A947-70E740481C1C}">
                <a14:useLocalDpi xmlns:a14="http://schemas.microsoft.com/office/drawing/2010/main" val="0"/>
              </a:ext>
            </a:extLst>
          </a:blip>
          <a:srcRect l="10032" t="9688" r="9713" b="9686"/>
          <a:stretch>
            <a:fillRect/>
          </a:stretch>
        </p:blipFill>
        <p:spPr>
          <a:xfrm>
            <a:off x="7294243" y="4673418"/>
            <a:ext cx="411545" cy="413459"/>
          </a:xfrm>
          <a:prstGeom prst="rect">
            <a:avLst/>
          </a:prstGeom>
        </p:spPr>
      </p:pic>
      <p:pic>
        <p:nvPicPr>
          <p:cNvPr id="1034" name="Picture 10" descr="Google ロゴ（グーグル） – ICONLAB（アイコンラボ）">
            <a:extLst>
              <a:ext uri="{FF2B5EF4-FFF2-40B4-BE49-F238E27FC236}">
                <a16:creationId xmlns:a16="http://schemas.microsoft.com/office/drawing/2014/main" id="{EF486F86-4362-411E-58E4-AF8FA89FFB1A}"/>
              </a:ext>
            </a:extLst>
          </p:cNvPr>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6916281" y="5170783"/>
            <a:ext cx="1167467" cy="383075"/>
          </a:xfrm>
          <a:prstGeom prst="rect">
            <a:avLst/>
          </a:prstGeom>
          <a:noFill/>
          <a:extLst>
            <a:ext uri="{909E8E84-426E-40DD-AFC4-6F175D3DCCD1}">
              <a14:hiddenFill xmlns:a14="http://schemas.microsoft.com/office/drawing/2010/main">
                <a:solidFill>
                  <a:srgbClr val="FFFFFF"/>
                </a:solidFill>
              </a14:hiddenFill>
            </a:ext>
          </a:extLst>
        </p:spPr>
      </p:pic>
      <p:sp>
        <p:nvSpPr>
          <p:cNvPr id="52" name="AutoShape 16" descr="TikTok Vector Logo - Download Free SVG Icon | Worldvectorlogo">
            <a:extLst>
              <a:ext uri="{FF2B5EF4-FFF2-40B4-BE49-F238E27FC236}">
                <a16:creationId xmlns:a16="http://schemas.microsoft.com/office/drawing/2014/main" id="{FC9F455A-4712-6D98-BB84-88AB6130694C}"/>
              </a:ext>
            </a:extLst>
          </p:cNvPr>
          <p:cNvSpPr>
            <a:spLocks noChangeAspect="1" noChangeArrowheads="1"/>
          </p:cNvSpPr>
          <p:nvPr/>
        </p:nvSpPr>
        <p:spPr bwMode="auto">
          <a:xfrm>
            <a:off x="4800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ja-JP" altLang="en-US"/>
          </a:p>
        </p:txBody>
      </p:sp>
      <p:pic>
        <p:nvPicPr>
          <p:cNvPr id="55" name="グラフィックス 54">
            <a:extLst>
              <a:ext uri="{FF2B5EF4-FFF2-40B4-BE49-F238E27FC236}">
                <a16:creationId xmlns:a16="http://schemas.microsoft.com/office/drawing/2014/main" id="{236DDCA7-2D38-04D7-5FB4-240CFC7457DF}"/>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7915162" y="4592565"/>
            <a:ext cx="431326" cy="494866"/>
          </a:xfrm>
          <a:prstGeom prst="rect">
            <a:avLst/>
          </a:prstGeom>
        </p:spPr>
      </p:pic>
      <p:pic>
        <p:nvPicPr>
          <p:cNvPr id="1042" name="Picture 18" descr="スマートニュースはSNSでも情報を発信しています">
            <a:extLst>
              <a:ext uri="{FF2B5EF4-FFF2-40B4-BE49-F238E27FC236}">
                <a16:creationId xmlns:a16="http://schemas.microsoft.com/office/drawing/2014/main" id="{4F12F3EC-DFC2-4480-39CA-8C4C8AE3C056}"/>
              </a:ext>
            </a:extLst>
          </p:cNvPr>
          <p:cNvPicPr>
            <a:picLocks noChangeAspect="1" noChangeArrowheads="1"/>
          </p:cNvPicPr>
          <p:nvPr/>
        </p:nvPicPr>
        <p:blipFill rotWithShape="1">
          <a:blip r:embed="rId8" cstate="print">
            <a:extLst>
              <a:ext uri="{28A0092B-C50C-407E-A947-70E740481C1C}">
                <a14:useLocalDpi xmlns:a14="http://schemas.microsoft.com/office/drawing/2010/main" val="0"/>
              </a:ext>
            </a:extLst>
          </a:blip>
          <a:srcRect r="70053"/>
          <a:stretch>
            <a:fillRect/>
          </a:stretch>
        </p:blipFill>
        <p:spPr bwMode="auto">
          <a:xfrm>
            <a:off x="8334066" y="4584625"/>
            <a:ext cx="564335" cy="580417"/>
          </a:xfrm>
          <a:prstGeom prst="rect">
            <a:avLst/>
          </a:prstGeom>
          <a:noFill/>
          <a:extLst>
            <a:ext uri="{909E8E84-426E-40DD-AFC4-6F175D3DCCD1}">
              <a14:hiddenFill xmlns:a14="http://schemas.microsoft.com/office/drawing/2010/main">
                <a:solidFill>
                  <a:srgbClr val="FFFFFF"/>
                </a:solidFill>
              </a14:hiddenFill>
            </a:ext>
          </a:extLst>
        </p:spPr>
      </p:pic>
      <p:sp>
        <p:nvSpPr>
          <p:cNvPr id="56" name="矢印: 下 55">
            <a:extLst>
              <a:ext uri="{FF2B5EF4-FFF2-40B4-BE49-F238E27FC236}">
                <a16:creationId xmlns:a16="http://schemas.microsoft.com/office/drawing/2014/main" id="{E75D1A0F-AE27-48A1-23FB-0EB865F9868F}"/>
              </a:ext>
            </a:extLst>
          </p:cNvPr>
          <p:cNvSpPr/>
          <p:nvPr/>
        </p:nvSpPr>
        <p:spPr>
          <a:xfrm>
            <a:off x="2694214" y="2529121"/>
            <a:ext cx="254000" cy="306911"/>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7" name="矢印: 下 56">
            <a:extLst>
              <a:ext uri="{FF2B5EF4-FFF2-40B4-BE49-F238E27FC236}">
                <a16:creationId xmlns:a16="http://schemas.microsoft.com/office/drawing/2014/main" id="{45EAB25F-C320-6516-2457-A8EC46BA5759}"/>
              </a:ext>
            </a:extLst>
          </p:cNvPr>
          <p:cNvSpPr/>
          <p:nvPr/>
        </p:nvSpPr>
        <p:spPr>
          <a:xfrm>
            <a:off x="7125416" y="2500315"/>
            <a:ext cx="254000" cy="306911"/>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8" name="矢印: 下 57">
            <a:extLst>
              <a:ext uri="{FF2B5EF4-FFF2-40B4-BE49-F238E27FC236}">
                <a16:creationId xmlns:a16="http://schemas.microsoft.com/office/drawing/2014/main" id="{D4C3E4FB-FBBD-F807-4224-633D3437041D}"/>
              </a:ext>
            </a:extLst>
          </p:cNvPr>
          <p:cNvSpPr/>
          <p:nvPr/>
        </p:nvSpPr>
        <p:spPr>
          <a:xfrm>
            <a:off x="7077925" y="3692382"/>
            <a:ext cx="254000" cy="306911"/>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9" name="矢印: 下 58">
            <a:extLst>
              <a:ext uri="{FF2B5EF4-FFF2-40B4-BE49-F238E27FC236}">
                <a16:creationId xmlns:a16="http://schemas.microsoft.com/office/drawing/2014/main" id="{101128B9-99D7-A912-7FA8-A54843D9D245}"/>
              </a:ext>
            </a:extLst>
          </p:cNvPr>
          <p:cNvSpPr/>
          <p:nvPr/>
        </p:nvSpPr>
        <p:spPr>
          <a:xfrm>
            <a:off x="1531548" y="4943191"/>
            <a:ext cx="254000" cy="306911"/>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0" name="矢印: 下 59">
            <a:extLst>
              <a:ext uri="{FF2B5EF4-FFF2-40B4-BE49-F238E27FC236}">
                <a16:creationId xmlns:a16="http://schemas.microsoft.com/office/drawing/2014/main" id="{98D6B609-F1DC-B6C8-DC56-54C22972DE71}"/>
              </a:ext>
            </a:extLst>
          </p:cNvPr>
          <p:cNvSpPr/>
          <p:nvPr/>
        </p:nvSpPr>
        <p:spPr>
          <a:xfrm>
            <a:off x="3985192" y="4946879"/>
            <a:ext cx="254000" cy="306911"/>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1" name="矢印: 下 60">
            <a:extLst>
              <a:ext uri="{FF2B5EF4-FFF2-40B4-BE49-F238E27FC236}">
                <a16:creationId xmlns:a16="http://schemas.microsoft.com/office/drawing/2014/main" id="{CBA9CA06-6F9A-2C27-90F1-49EDB667ED05}"/>
              </a:ext>
            </a:extLst>
          </p:cNvPr>
          <p:cNvSpPr/>
          <p:nvPr/>
        </p:nvSpPr>
        <p:spPr>
          <a:xfrm rot="17888006">
            <a:off x="5384120" y="4622183"/>
            <a:ext cx="254000" cy="306911"/>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2" name="矢印: 下 61">
            <a:extLst>
              <a:ext uri="{FF2B5EF4-FFF2-40B4-BE49-F238E27FC236}">
                <a16:creationId xmlns:a16="http://schemas.microsoft.com/office/drawing/2014/main" id="{50FA0F8D-4B66-B543-827F-E62BB2D7A5C7}"/>
              </a:ext>
            </a:extLst>
          </p:cNvPr>
          <p:cNvSpPr/>
          <p:nvPr/>
        </p:nvSpPr>
        <p:spPr>
          <a:xfrm rot="7261747">
            <a:off x="5310324" y="4360130"/>
            <a:ext cx="254000" cy="306911"/>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354400245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Google Shape;156;p7"/>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運用スケジュール</a:t>
            </a:r>
            <a:endParaRPr sz="1600" b="1" dirty="0">
              <a:solidFill>
                <a:srgbClr val="002060"/>
              </a:solidFill>
              <a:latin typeface="Meiryo"/>
              <a:ea typeface="Meiryo"/>
              <a:cs typeface="Meiryo"/>
              <a:sym typeface="Meiryo"/>
            </a:endParaRPr>
          </a:p>
        </p:txBody>
      </p:sp>
      <p:sp>
        <p:nvSpPr>
          <p:cNvPr id="28" name="角丸四角形 27"/>
          <p:cNvSpPr/>
          <p:nvPr/>
        </p:nvSpPr>
        <p:spPr>
          <a:xfrm>
            <a:off x="910833" y="1994083"/>
            <a:ext cx="2144546" cy="520517"/>
          </a:xfrm>
          <a:prstGeom prst="roundRect">
            <a:avLst>
              <a:gd name="adj" fmla="val 4701"/>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lumMod val="50000"/>
                    <a:lumOff val="50000"/>
                  </a:schemeClr>
                </a:solidFill>
                <a:latin typeface="メイリオ" panose="020B0604030504040204" pitchFamily="50" charset="-128"/>
                <a:ea typeface="メイリオ" panose="020B0604030504040204" pitchFamily="50" charset="-128"/>
              </a:rPr>
              <a:t>STEP1</a:t>
            </a:r>
            <a:endParaRPr kumimoji="1" lang="ja-JP" altLang="en-US" dirty="0">
              <a:solidFill>
                <a:schemeClr val="tx1">
                  <a:lumMod val="50000"/>
                  <a:lumOff val="50000"/>
                </a:schemeClr>
              </a:solidFill>
              <a:latin typeface="メイリオ" panose="020B0604030504040204" pitchFamily="50" charset="-128"/>
              <a:ea typeface="メイリオ" panose="020B0604030504040204" pitchFamily="50" charset="-128"/>
            </a:endParaRPr>
          </a:p>
        </p:txBody>
      </p:sp>
      <p:sp>
        <p:nvSpPr>
          <p:cNvPr id="29" name="角丸四角形 28"/>
          <p:cNvSpPr/>
          <p:nvPr/>
        </p:nvSpPr>
        <p:spPr>
          <a:xfrm>
            <a:off x="910833" y="3537133"/>
            <a:ext cx="2144546" cy="520517"/>
          </a:xfrm>
          <a:prstGeom prst="roundRect">
            <a:avLst>
              <a:gd name="adj" fmla="val 4701"/>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lumMod val="50000"/>
                    <a:lumOff val="50000"/>
                  </a:schemeClr>
                </a:solidFill>
                <a:latin typeface="メイリオ" panose="020B0604030504040204" pitchFamily="50" charset="-128"/>
                <a:ea typeface="メイリオ" panose="020B0604030504040204" pitchFamily="50" charset="-128"/>
              </a:rPr>
              <a:t>STEP3</a:t>
            </a:r>
            <a:endParaRPr kumimoji="1" lang="ja-JP" altLang="en-US" dirty="0">
              <a:solidFill>
                <a:schemeClr val="tx1">
                  <a:lumMod val="50000"/>
                  <a:lumOff val="50000"/>
                </a:schemeClr>
              </a:solidFill>
              <a:latin typeface="メイリオ" panose="020B0604030504040204" pitchFamily="50" charset="-128"/>
              <a:ea typeface="メイリオ" panose="020B0604030504040204" pitchFamily="50" charset="-128"/>
            </a:endParaRPr>
          </a:p>
        </p:txBody>
      </p:sp>
      <p:sp>
        <p:nvSpPr>
          <p:cNvPr id="31" name="角丸四角形 30"/>
          <p:cNvSpPr/>
          <p:nvPr/>
        </p:nvSpPr>
        <p:spPr>
          <a:xfrm>
            <a:off x="910833" y="2765608"/>
            <a:ext cx="2144546" cy="520517"/>
          </a:xfrm>
          <a:prstGeom prst="roundRect">
            <a:avLst>
              <a:gd name="adj" fmla="val 4701"/>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lumMod val="50000"/>
                    <a:lumOff val="50000"/>
                  </a:schemeClr>
                </a:solidFill>
                <a:latin typeface="メイリオ" panose="020B0604030504040204" pitchFamily="50" charset="-128"/>
                <a:ea typeface="メイリオ" panose="020B0604030504040204" pitchFamily="50" charset="-128"/>
              </a:rPr>
              <a:t>STEP2</a:t>
            </a:r>
            <a:endParaRPr kumimoji="1" lang="ja-JP" altLang="en-US" dirty="0">
              <a:solidFill>
                <a:schemeClr val="tx1">
                  <a:lumMod val="50000"/>
                  <a:lumOff val="50000"/>
                </a:schemeClr>
              </a:solidFill>
              <a:latin typeface="メイリオ" panose="020B0604030504040204" pitchFamily="50" charset="-128"/>
              <a:ea typeface="メイリオ" panose="020B0604030504040204" pitchFamily="50" charset="-128"/>
            </a:endParaRPr>
          </a:p>
        </p:txBody>
      </p:sp>
      <p:sp>
        <p:nvSpPr>
          <p:cNvPr id="32" name="角丸四角形 31"/>
          <p:cNvSpPr/>
          <p:nvPr/>
        </p:nvSpPr>
        <p:spPr>
          <a:xfrm>
            <a:off x="910833" y="4308658"/>
            <a:ext cx="2144546" cy="520517"/>
          </a:xfrm>
          <a:prstGeom prst="roundRect">
            <a:avLst>
              <a:gd name="adj" fmla="val 4701"/>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lumMod val="50000"/>
                    <a:lumOff val="50000"/>
                  </a:schemeClr>
                </a:solidFill>
                <a:latin typeface="メイリオ" panose="020B0604030504040204" pitchFamily="50" charset="-128"/>
                <a:ea typeface="メイリオ" panose="020B0604030504040204" pitchFamily="50" charset="-128"/>
              </a:rPr>
              <a:t>STEP4</a:t>
            </a:r>
            <a:endParaRPr kumimoji="1" lang="ja-JP" altLang="en-US" dirty="0">
              <a:solidFill>
                <a:schemeClr val="tx1">
                  <a:lumMod val="50000"/>
                  <a:lumOff val="50000"/>
                </a:schemeClr>
              </a:solidFill>
              <a:latin typeface="メイリオ" panose="020B0604030504040204" pitchFamily="50" charset="-128"/>
              <a:ea typeface="メイリオ" panose="020B0604030504040204" pitchFamily="50" charset="-128"/>
            </a:endParaRPr>
          </a:p>
        </p:txBody>
      </p:sp>
      <p:sp>
        <p:nvSpPr>
          <p:cNvPr id="33" name="角丸四角形 32"/>
          <p:cNvSpPr/>
          <p:nvPr/>
        </p:nvSpPr>
        <p:spPr>
          <a:xfrm>
            <a:off x="910833" y="5080183"/>
            <a:ext cx="2144546" cy="520517"/>
          </a:xfrm>
          <a:prstGeom prst="roundRect">
            <a:avLst>
              <a:gd name="adj" fmla="val 4701"/>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lumMod val="50000"/>
                    <a:lumOff val="50000"/>
                  </a:schemeClr>
                </a:solidFill>
                <a:latin typeface="メイリオ" panose="020B0604030504040204" pitchFamily="50" charset="-128"/>
                <a:ea typeface="メイリオ" panose="020B0604030504040204" pitchFamily="50" charset="-128"/>
              </a:rPr>
              <a:t>STEP5</a:t>
            </a:r>
            <a:endParaRPr kumimoji="1" lang="ja-JP" altLang="en-US" dirty="0">
              <a:solidFill>
                <a:schemeClr val="tx1">
                  <a:lumMod val="50000"/>
                  <a:lumOff val="50000"/>
                </a:schemeClr>
              </a:solidFill>
              <a:latin typeface="メイリオ" panose="020B0604030504040204" pitchFamily="50" charset="-128"/>
              <a:ea typeface="メイリオ" panose="020B0604030504040204" pitchFamily="50" charset="-128"/>
            </a:endParaRPr>
          </a:p>
        </p:txBody>
      </p:sp>
      <p:sp>
        <p:nvSpPr>
          <p:cNvPr id="2" name="正方形/長方形 1"/>
          <p:cNvSpPr/>
          <p:nvPr/>
        </p:nvSpPr>
        <p:spPr>
          <a:xfrm>
            <a:off x="4600923" y="2266950"/>
            <a:ext cx="1638300" cy="3916493"/>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0" name="角丸四角形 39"/>
          <p:cNvSpPr/>
          <p:nvPr/>
        </p:nvSpPr>
        <p:spPr>
          <a:xfrm>
            <a:off x="3133924" y="1994083"/>
            <a:ext cx="4749705" cy="520517"/>
          </a:xfrm>
          <a:prstGeom prst="roundRect">
            <a:avLst>
              <a:gd name="adj" fmla="val 4701"/>
            </a:avLst>
          </a:prstGeom>
          <a:solidFill>
            <a:schemeClr val="bg1"/>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1">
                    <a:lumMod val="50000"/>
                  </a:schemeClr>
                </a:solidFill>
                <a:latin typeface="メイリオ" panose="020B0604030504040204" pitchFamily="50" charset="-128"/>
                <a:ea typeface="メイリオ" panose="020B0604030504040204" pitchFamily="50" charset="-128"/>
              </a:rPr>
              <a:t>お申込み（書類締結）</a:t>
            </a:r>
            <a:endParaRPr kumimoji="1" lang="ja-JP" altLang="en-US" dirty="0">
              <a:solidFill>
                <a:schemeClr val="bg1">
                  <a:lumMod val="50000"/>
                </a:schemeClr>
              </a:solidFill>
              <a:latin typeface="メイリオ" panose="020B0604030504040204" pitchFamily="50" charset="-128"/>
              <a:ea typeface="メイリオ" panose="020B0604030504040204" pitchFamily="50" charset="-128"/>
            </a:endParaRPr>
          </a:p>
        </p:txBody>
      </p:sp>
      <p:sp>
        <p:nvSpPr>
          <p:cNvPr id="41" name="角丸四角形 40"/>
          <p:cNvSpPr/>
          <p:nvPr/>
        </p:nvSpPr>
        <p:spPr>
          <a:xfrm>
            <a:off x="3133924" y="3537133"/>
            <a:ext cx="4749705" cy="520517"/>
          </a:xfrm>
          <a:prstGeom prst="roundRect">
            <a:avLst>
              <a:gd name="adj" fmla="val 4701"/>
            </a:avLst>
          </a:prstGeom>
          <a:solidFill>
            <a:schemeClr val="bg1"/>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bg1">
                    <a:lumMod val="50000"/>
                  </a:schemeClr>
                </a:solidFill>
                <a:latin typeface="メイリオ" panose="020B0604030504040204" pitchFamily="50" charset="-128"/>
                <a:ea typeface="メイリオ" panose="020B0604030504040204" pitchFamily="50" charset="-128"/>
              </a:rPr>
              <a:t>連携の設定 </a:t>
            </a:r>
            <a:r>
              <a:rPr kumimoji="1" lang="en-US" altLang="ja-JP" dirty="0">
                <a:solidFill>
                  <a:schemeClr val="bg1">
                    <a:lumMod val="50000"/>
                  </a:schemeClr>
                </a:solidFill>
                <a:latin typeface="メイリオ" panose="020B0604030504040204" pitchFamily="50" charset="-128"/>
                <a:ea typeface="メイリオ" panose="020B0604030504040204" pitchFamily="50" charset="-128"/>
              </a:rPr>
              <a:t>/ </a:t>
            </a:r>
            <a:r>
              <a:rPr kumimoji="1" lang="ja-JP" altLang="en-US" dirty="0">
                <a:solidFill>
                  <a:schemeClr val="bg1">
                    <a:lumMod val="50000"/>
                  </a:schemeClr>
                </a:solidFill>
                <a:latin typeface="メイリオ" panose="020B0604030504040204" pitchFamily="50" charset="-128"/>
                <a:ea typeface="メイリオ" panose="020B0604030504040204" pitchFamily="50" charset="-128"/>
              </a:rPr>
              <a:t>タグ確認</a:t>
            </a:r>
          </a:p>
        </p:txBody>
      </p:sp>
      <p:sp>
        <p:nvSpPr>
          <p:cNvPr id="42" name="角丸四角形 41"/>
          <p:cNvSpPr/>
          <p:nvPr/>
        </p:nvSpPr>
        <p:spPr>
          <a:xfrm>
            <a:off x="3133924" y="2765608"/>
            <a:ext cx="4749705" cy="520517"/>
          </a:xfrm>
          <a:prstGeom prst="roundRect">
            <a:avLst>
              <a:gd name="adj" fmla="val 4701"/>
            </a:avLst>
          </a:prstGeom>
          <a:solidFill>
            <a:schemeClr val="bg1"/>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bg1">
                    <a:lumMod val="50000"/>
                  </a:schemeClr>
                </a:solidFill>
                <a:latin typeface="メイリオ" panose="020B0604030504040204" pitchFamily="50" charset="-128"/>
                <a:ea typeface="メイリオ" panose="020B0604030504040204" pitchFamily="50" charset="-128"/>
              </a:rPr>
              <a:t>キックオフ</a:t>
            </a:r>
            <a:r>
              <a:rPr kumimoji="1" lang="en-US" altLang="ja-JP" dirty="0">
                <a:solidFill>
                  <a:schemeClr val="bg1">
                    <a:lumMod val="50000"/>
                  </a:schemeClr>
                </a:solidFill>
                <a:latin typeface="メイリオ" panose="020B0604030504040204" pitchFamily="50" charset="-128"/>
                <a:ea typeface="メイリオ" panose="020B0604030504040204" pitchFamily="50" charset="-128"/>
              </a:rPr>
              <a:t>MTG</a:t>
            </a:r>
            <a:endParaRPr kumimoji="1" lang="ja-JP" altLang="en-US" dirty="0">
              <a:solidFill>
                <a:schemeClr val="bg1">
                  <a:lumMod val="50000"/>
                </a:schemeClr>
              </a:solidFill>
              <a:latin typeface="メイリオ" panose="020B0604030504040204" pitchFamily="50" charset="-128"/>
              <a:ea typeface="メイリオ" panose="020B0604030504040204" pitchFamily="50" charset="-128"/>
            </a:endParaRPr>
          </a:p>
        </p:txBody>
      </p:sp>
      <p:sp>
        <p:nvSpPr>
          <p:cNvPr id="44" name="角丸四角形 43"/>
          <p:cNvSpPr/>
          <p:nvPr/>
        </p:nvSpPr>
        <p:spPr>
          <a:xfrm>
            <a:off x="3133924" y="4308658"/>
            <a:ext cx="4749705" cy="520517"/>
          </a:xfrm>
          <a:prstGeom prst="roundRect">
            <a:avLst>
              <a:gd name="adj" fmla="val 4701"/>
            </a:avLst>
          </a:prstGeom>
          <a:solidFill>
            <a:schemeClr val="bg1"/>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1">
                    <a:lumMod val="50000"/>
                  </a:schemeClr>
                </a:solidFill>
                <a:latin typeface="メイリオ" panose="020B0604030504040204" pitchFamily="50" charset="-128"/>
                <a:ea typeface="メイリオ" panose="020B0604030504040204" pitchFamily="50" charset="-128"/>
              </a:rPr>
              <a:t>初期設計の構築</a:t>
            </a:r>
          </a:p>
        </p:txBody>
      </p:sp>
      <p:sp>
        <p:nvSpPr>
          <p:cNvPr id="45" name="角丸四角形 44"/>
          <p:cNvSpPr/>
          <p:nvPr/>
        </p:nvSpPr>
        <p:spPr>
          <a:xfrm>
            <a:off x="3133924" y="5080183"/>
            <a:ext cx="4749705" cy="520517"/>
          </a:xfrm>
          <a:prstGeom prst="roundRect">
            <a:avLst>
              <a:gd name="adj" fmla="val 4701"/>
            </a:avLst>
          </a:prstGeom>
          <a:solidFill>
            <a:schemeClr val="bg1"/>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bg1">
                    <a:lumMod val="50000"/>
                  </a:schemeClr>
                </a:solidFill>
                <a:latin typeface="メイリオ" panose="020B0604030504040204" pitchFamily="50" charset="-128"/>
                <a:ea typeface="メイリオ" panose="020B0604030504040204" pitchFamily="50" charset="-128"/>
              </a:rPr>
              <a:t>運用開始</a:t>
            </a:r>
          </a:p>
        </p:txBody>
      </p:sp>
      <p:sp>
        <p:nvSpPr>
          <p:cNvPr id="19" name="正方形/長方形 18"/>
          <p:cNvSpPr/>
          <p:nvPr/>
        </p:nvSpPr>
        <p:spPr>
          <a:xfrm>
            <a:off x="548883" y="1033120"/>
            <a:ext cx="8921032" cy="461665"/>
          </a:xfrm>
          <a:prstGeom prst="rect">
            <a:avLst/>
          </a:prstGeom>
        </p:spPr>
        <p:txBody>
          <a:bodyPr wrap="none">
            <a:spAutoFit/>
          </a:bodyPr>
          <a:lstStyle/>
          <a:p>
            <a:r>
              <a:rPr lang="ja-JP" altLang="en-US" sz="2400" dirty="0">
                <a:latin typeface="メイリオ" panose="020B0604030504040204" pitchFamily="50" charset="-128"/>
                <a:ea typeface="メイリオ" panose="020B0604030504040204" pitchFamily="50" charset="-128"/>
              </a:rPr>
              <a:t>サイト</a:t>
            </a:r>
            <a:r>
              <a:rPr lang="en-US" altLang="ja-JP" sz="2400" dirty="0">
                <a:latin typeface="メイリオ" panose="020B0604030504040204" pitchFamily="50" charset="-128"/>
                <a:ea typeface="メイリオ" panose="020B0604030504040204" pitchFamily="50" charset="-128"/>
              </a:rPr>
              <a:t>/LINE</a:t>
            </a:r>
            <a:r>
              <a:rPr lang="ja-JP" altLang="en-US" sz="2400" dirty="0">
                <a:latin typeface="メイリオ" panose="020B0604030504040204" pitchFamily="50" charset="-128"/>
                <a:ea typeface="メイリオ" panose="020B0604030504040204" pitchFamily="50" charset="-128"/>
              </a:rPr>
              <a:t>上への実装については、約</a:t>
            </a:r>
            <a:r>
              <a:rPr lang="en-US" altLang="ja-JP" sz="2400" dirty="0">
                <a:latin typeface="メイリオ" panose="020B0604030504040204" pitchFamily="50" charset="-128"/>
                <a:ea typeface="メイリオ" panose="020B0604030504040204" pitchFamily="50" charset="-128"/>
              </a:rPr>
              <a:t>1</a:t>
            </a:r>
            <a:r>
              <a:rPr lang="ja-JP" altLang="en-US" sz="2400" dirty="0">
                <a:latin typeface="メイリオ" panose="020B0604030504040204" pitchFamily="50" charset="-128"/>
                <a:ea typeface="メイリオ" panose="020B0604030504040204" pitchFamily="50" charset="-128"/>
              </a:rPr>
              <a:t>か月程度を頂き進行。</a:t>
            </a:r>
            <a:endParaRPr lang="ja-JP" altLang="en-US" sz="2400" dirty="0"/>
          </a:p>
        </p:txBody>
      </p:sp>
      <p:sp>
        <p:nvSpPr>
          <p:cNvPr id="20" name="正方形/長方形 19"/>
          <p:cNvSpPr/>
          <p:nvPr/>
        </p:nvSpPr>
        <p:spPr>
          <a:xfrm>
            <a:off x="4708989" y="5841409"/>
            <a:ext cx="4955203" cy="276999"/>
          </a:xfrm>
          <a:prstGeom prst="rect">
            <a:avLst/>
          </a:prstGeom>
        </p:spPr>
        <p:txBody>
          <a:bodyPr wrap="none">
            <a:spAutoFit/>
          </a:bodyPr>
          <a:lstStyle/>
          <a:p>
            <a:r>
              <a:rPr lang="en-US" altLang="ja-JP" sz="1200" dirty="0">
                <a:solidFill>
                  <a:schemeClr val="tx1">
                    <a:lumMod val="50000"/>
                    <a:lumOff val="50000"/>
                  </a:schemeClr>
                </a:solidFill>
                <a:latin typeface="メイリオ" panose="020B0604030504040204" pitchFamily="50" charset="-128"/>
                <a:ea typeface="メイリオ" panose="020B0604030504040204" pitchFamily="50" charset="-128"/>
              </a:rPr>
              <a:t>※</a:t>
            </a:r>
            <a:r>
              <a:rPr lang="ja-JP" altLang="en-US" sz="1200" dirty="0">
                <a:solidFill>
                  <a:schemeClr val="tx1">
                    <a:lumMod val="50000"/>
                    <a:lumOff val="50000"/>
                  </a:schemeClr>
                </a:solidFill>
                <a:latin typeface="メイリオ" panose="020B0604030504040204" pitchFamily="50" charset="-128"/>
                <a:ea typeface="メイリオ" panose="020B0604030504040204" pitchFamily="50" charset="-128"/>
              </a:rPr>
              <a:t>貴社作業・確認にかかる時間により前後する可能性がございます。</a:t>
            </a:r>
          </a:p>
        </p:txBody>
      </p:sp>
      <p:cxnSp>
        <p:nvCxnSpPr>
          <p:cNvPr id="21" name="直線矢印コネクタ 20"/>
          <p:cNvCxnSpPr/>
          <p:nvPr/>
        </p:nvCxnSpPr>
        <p:spPr>
          <a:xfrm>
            <a:off x="6985106" y="2256762"/>
            <a:ext cx="0" cy="3086100"/>
          </a:xfrm>
          <a:prstGeom prst="straightConnector1">
            <a:avLst/>
          </a:prstGeom>
          <a:ln w="38100">
            <a:solidFill>
              <a:schemeClr val="tx1">
                <a:lumMod val="75000"/>
                <a:lumOff val="2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22" name="正方形/長方形 21"/>
          <p:cNvSpPr/>
          <p:nvPr/>
        </p:nvSpPr>
        <p:spPr>
          <a:xfrm>
            <a:off x="7042256" y="2130871"/>
            <a:ext cx="742511" cy="276999"/>
          </a:xfrm>
          <a:prstGeom prst="rect">
            <a:avLst/>
          </a:prstGeom>
          <a:solidFill>
            <a:schemeClr val="accent1">
              <a:lumMod val="20000"/>
              <a:lumOff val="80000"/>
            </a:schemeClr>
          </a:solidFill>
        </p:spPr>
        <p:txBody>
          <a:bodyPr wrap="none">
            <a:spAutoFit/>
          </a:bodyPr>
          <a:lstStyle/>
          <a:p>
            <a:r>
              <a:rPr lang="ja-JP" altLang="en-US" sz="1200" dirty="0">
                <a:latin typeface="メイリオ" panose="020B0604030504040204" pitchFamily="50" charset="-128"/>
                <a:ea typeface="メイリオ" panose="020B0604030504040204" pitchFamily="50" charset="-128"/>
              </a:rPr>
              <a:t>約</a:t>
            </a:r>
            <a:r>
              <a:rPr lang="en-US" altLang="ja-JP" sz="1200" dirty="0">
                <a:latin typeface="メイリオ" panose="020B0604030504040204" pitchFamily="50" charset="-128"/>
                <a:ea typeface="メイリオ" panose="020B0604030504040204" pitchFamily="50" charset="-128"/>
              </a:rPr>
              <a:t>1</a:t>
            </a:r>
            <a:r>
              <a:rPr lang="ja-JP" altLang="en-US" sz="1200" dirty="0">
                <a:latin typeface="メイリオ" panose="020B0604030504040204" pitchFamily="50" charset="-128"/>
                <a:ea typeface="メイリオ" panose="020B0604030504040204" pitchFamily="50" charset="-128"/>
              </a:rPr>
              <a:t>か月</a:t>
            </a:r>
            <a:endParaRPr lang="ja-JP" altLang="en-US" sz="1200" dirty="0"/>
          </a:p>
        </p:txBody>
      </p:sp>
      <p:sp>
        <p:nvSpPr>
          <p:cNvPr id="3" name="正方形/長方形 2"/>
          <p:cNvSpPr/>
          <p:nvPr/>
        </p:nvSpPr>
        <p:spPr>
          <a:xfrm>
            <a:off x="7902506" y="3514209"/>
            <a:ext cx="1415772" cy="584775"/>
          </a:xfrm>
          <a:prstGeom prst="rect">
            <a:avLst/>
          </a:prstGeom>
        </p:spPr>
        <p:txBody>
          <a:bodyPr wrap="none">
            <a:spAutoFit/>
          </a:bodyPr>
          <a:lstStyle/>
          <a:p>
            <a:r>
              <a:rPr lang="ja-JP" altLang="en-US" sz="800" dirty="0">
                <a:solidFill>
                  <a:schemeClr val="bg1">
                    <a:lumMod val="50000"/>
                  </a:schemeClr>
                </a:solidFill>
                <a:latin typeface="メイリオ" panose="020B0604030504040204" pitchFamily="50" charset="-128"/>
                <a:ea typeface="メイリオ" panose="020B0604030504040204" pitchFamily="50" charset="-128"/>
              </a:rPr>
              <a:t>オーディエンスリスト作成</a:t>
            </a:r>
            <a:endParaRPr lang="en-US" altLang="ja-JP" sz="800" dirty="0">
              <a:solidFill>
                <a:schemeClr val="bg1">
                  <a:lumMod val="50000"/>
                </a:schemeClr>
              </a:solidFill>
              <a:latin typeface="メイリオ" panose="020B0604030504040204" pitchFamily="50" charset="-128"/>
              <a:ea typeface="メイリオ" panose="020B0604030504040204" pitchFamily="50" charset="-128"/>
            </a:endParaRPr>
          </a:p>
          <a:p>
            <a:r>
              <a:rPr lang="ja-JP" altLang="en-US" sz="800" dirty="0">
                <a:solidFill>
                  <a:schemeClr val="bg1">
                    <a:lumMod val="50000"/>
                  </a:schemeClr>
                </a:solidFill>
                <a:latin typeface="メイリオ" panose="020B0604030504040204" pitchFamily="50" charset="-128"/>
                <a:ea typeface="メイリオ" panose="020B0604030504040204" pitchFamily="50" charset="-128"/>
              </a:rPr>
              <a:t>タグ設定</a:t>
            </a:r>
            <a:endParaRPr lang="en-US" altLang="ja-JP" sz="800" dirty="0">
              <a:solidFill>
                <a:schemeClr val="bg1">
                  <a:lumMod val="50000"/>
                </a:schemeClr>
              </a:solidFill>
              <a:latin typeface="メイリオ" panose="020B0604030504040204" pitchFamily="50" charset="-128"/>
              <a:ea typeface="メイリオ" panose="020B0604030504040204" pitchFamily="50" charset="-128"/>
            </a:endParaRPr>
          </a:p>
          <a:p>
            <a:r>
              <a:rPr lang="en-US" altLang="ja-JP" sz="800" dirty="0">
                <a:solidFill>
                  <a:schemeClr val="bg1">
                    <a:lumMod val="50000"/>
                  </a:schemeClr>
                </a:solidFill>
                <a:latin typeface="メイリオ" panose="020B0604030504040204" pitchFamily="50" charset="-128"/>
                <a:ea typeface="メイリオ" panose="020B0604030504040204" pitchFamily="50" charset="-128"/>
              </a:rPr>
              <a:t>GA</a:t>
            </a:r>
            <a:r>
              <a:rPr lang="ja-JP" altLang="en-US" sz="800" dirty="0">
                <a:solidFill>
                  <a:schemeClr val="bg1">
                    <a:lumMod val="50000"/>
                  </a:schemeClr>
                </a:solidFill>
                <a:latin typeface="メイリオ" panose="020B0604030504040204" pitchFamily="50" charset="-128"/>
                <a:ea typeface="メイリオ" panose="020B0604030504040204" pitchFamily="50" charset="-128"/>
              </a:rPr>
              <a:t>設定</a:t>
            </a:r>
            <a:endParaRPr lang="en-US" altLang="ja-JP" sz="800" dirty="0">
              <a:solidFill>
                <a:schemeClr val="bg1">
                  <a:lumMod val="50000"/>
                </a:schemeClr>
              </a:solidFill>
              <a:latin typeface="メイリオ" panose="020B0604030504040204" pitchFamily="50" charset="-128"/>
              <a:ea typeface="メイリオ" panose="020B0604030504040204" pitchFamily="50" charset="-128"/>
            </a:endParaRPr>
          </a:p>
          <a:p>
            <a:r>
              <a:rPr lang="en-US" altLang="ja-JP" sz="800" dirty="0">
                <a:solidFill>
                  <a:schemeClr val="bg1">
                    <a:lumMod val="50000"/>
                  </a:schemeClr>
                </a:solidFill>
                <a:latin typeface="メイリオ" panose="020B0604030504040204" pitchFamily="50" charset="-128"/>
                <a:ea typeface="メイリオ" panose="020B0604030504040204" pitchFamily="50" charset="-128"/>
              </a:rPr>
              <a:t>etc...</a:t>
            </a:r>
          </a:p>
        </p:txBody>
      </p:sp>
      <p:sp>
        <p:nvSpPr>
          <p:cNvPr id="24" name="正方形/長方形 23"/>
          <p:cNvSpPr/>
          <p:nvPr/>
        </p:nvSpPr>
        <p:spPr>
          <a:xfrm>
            <a:off x="7897281" y="4276528"/>
            <a:ext cx="1107996" cy="584775"/>
          </a:xfrm>
          <a:prstGeom prst="rect">
            <a:avLst/>
          </a:prstGeom>
        </p:spPr>
        <p:txBody>
          <a:bodyPr wrap="none">
            <a:spAutoFit/>
          </a:bodyPr>
          <a:lstStyle/>
          <a:p>
            <a:r>
              <a:rPr lang="ja-JP" altLang="en-US" sz="800" dirty="0">
                <a:solidFill>
                  <a:schemeClr val="bg1">
                    <a:lumMod val="50000"/>
                  </a:schemeClr>
                </a:solidFill>
                <a:latin typeface="メイリオ" panose="020B0604030504040204" pitchFamily="50" charset="-128"/>
                <a:ea typeface="メイリオ" panose="020B0604030504040204" pitchFamily="50" charset="-128"/>
              </a:rPr>
              <a:t>リッチメニュー作成</a:t>
            </a:r>
            <a:endParaRPr lang="en-US" altLang="ja-JP" sz="800" dirty="0">
              <a:solidFill>
                <a:schemeClr val="bg1">
                  <a:lumMod val="50000"/>
                </a:schemeClr>
              </a:solidFill>
              <a:latin typeface="メイリオ" panose="020B0604030504040204" pitchFamily="50" charset="-128"/>
              <a:ea typeface="メイリオ" panose="020B0604030504040204" pitchFamily="50" charset="-128"/>
            </a:endParaRPr>
          </a:p>
          <a:p>
            <a:r>
              <a:rPr lang="ja-JP" altLang="en-US" sz="800" dirty="0">
                <a:solidFill>
                  <a:schemeClr val="bg1">
                    <a:lumMod val="50000"/>
                  </a:schemeClr>
                </a:solidFill>
                <a:latin typeface="メイリオ" panose="020B0604030504040204" pitchFamily="50" charset="-128"/>
                <a:ea typeface="メイリオ" panose="020B0604030504040204" pitchFamily="50" charset="-128"/>
              </a:rPr>
              <a:t>アンケート設計</a:t>
            </a:r>
            <a:endParaRPr lang="en-US" altLang="ja-JP" sz="800" dirty="0">
              <a:solidFill>
                <a:schemeClr val="bg1">
                  <a:lumMod val="50000"/>
                </a:schemeClr>
              </a:solidFill>
              <a:latin typeface="メイリオ" panose="020B0604030504040204" pitchFamily="50" charset="-128"/>
              <a:ea typeface="メイリオ" panose="020B0604030504040204" pitchFamily="50" charset="-128"/>
            </a:endParaRPr>
          </a:p>
          <a:p>
            <a:r>
              <a:rPr lang="ja-JP" altLang="en-US" sz="800" dirty="0">
                <a:solidFill>
                  <a:schemeClr val="bg1">
                    <a:lumMod val="50000"/>
                  </a:schemeClr>
                </a:solidFill>
                <a:latin typeface="メイリオ" panose="020B0604030504040204" pitchFamily="50" charset="-128"/>
                <a:ea typeface="メイリオ" panose="020B0604030504040204" pitchFamily="50" charset="-128"/>
              </a:rPr>
              <a:t>シナリオ設計</a:t>
            </a:r>
            <a:endParaRPr lang="en-US" altLang="ja-JP" sz="800" dirty="0">
              <a:solidFill>
                <a:schemeClr val="bg1">
                  <a:lumMod val="50000"/>
                </a:schemeClr>
              </a:solidFill>
              <a:latin typeface="メイリオ" panose="020B0604030504040204" pitchFamily="50" charset="-128"/>
              <a:ea typeface="メイリオ" panose="020B0604030504040204" pitchFamily="50" charset="-128"/>
            </a:endParaRPr>
          </a:p>
          <a:p>
            <a:r>
              <a:rPr lang="en-US" altLang="ja-JP" sz="800" dirty="0">
                <a:solidFill>
                  <a:schemeClr val="bg1">
                    <a:lumMod val="50000"/>
                  </a:schemeClr>
                </a:solidFill>
                <a:latin typeface="メイリオ" panose="020B0604030504040204" pitchFamily="50" charset="-128"/>
                <a:ea typeface="メイリオ" panose="020B0604030504040204" pitchFamily="50" charset="-128"/>
              </a:rPr>
              <a:t>etc...</a:t>
            </a:r>
          </a:p>
        </p:txBody>
      </p:sp>
    </p:spTree>
    <p:extLst>
      <p:ext uri="{BB962C8B-B14F-4D97-AF65-F5344CB8AC3E}">
        <p14:creationId xmlns:p14="http://schemas.microsoft.com/office/powerpoint/2010/main" val="212143481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72D1DD-CAE7-7DB8-9684-F3A91B9AE85F}"/>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C357DA0F-C67D-8DDD-608D-27940C40784B}"/>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chemeClr val="bg1">
                    <a:lumMod val="65000"/>
                  </a:schemeClr>
                </a:solidFill>
                <a:latin typeface="メイリオ" panose="020B0604030504040204" pitchFamily="50" charset="-128"/>
                <a:ea typeface="メイリオ" panose="020B0604030504040204" pitchFamily="50" charset="-128"/>
                <a:cs typeface="Meiryo"/>
                <a:sym typeface="Meiryo"/>
              </a:rPr>
              <a:t>アジェンダ</a:t>
            </a:r>
          </a:p>
        </p:txBody>
      </p:sp>
      <p:sp>
        <p:nvSpPr>
          <p:cNvPr id="14" name="Google Shape;752;p28">
            <a:extLst>
              <a:ext uri="{FF2B5EF4-FFF2-40B4-BE49-F238E27FC236}">
                <a16:creationId xmlns:a16="http://schemas.microsoft.com/office/drawing/2014/main" id="{26E1192D-9AA2-9014-0964-28399C9BEE8D}"/>
              </a:ext>
            </a:extLst>
          </p:cNvPr>
          <p:cNvSpPr txBox="1"/>
          <p:nvPr/>
        </p:nvSpPr>
        <p:spPr>
          <a:xfrm>
            <a:off x="602223" y="1104688"/>
            <a:ext cx="1104657" cy="584735"/>
          </a:xfrm>
          <a:prstGeom prst="rect">
            <a:avLst/>
          </a:prstGeom>
          <a:noFill/>
          <a:ln>
            <a:noFill/>
          </a:ln>
        </p:spPr>
        <p:txBody>
          <a:bodyPr spcFirstLastPara="1" wrap="square" lIns="91425" tIns="45700" rIns="91425" bIns="45700" anchor="ctr" anchorCtr="0">
            <a:spAutoFit/>
          </a:bodyPr>
          <a:lstStyle/>
          <a:p>
            <a:pPr lvl="0"/>
            <a:r>
              <a:rPr lang="en-US" altLang="ja-JP" sz="3200" b="1" dirty="0">
                <a:solidFill>
                  <a:srgbClr val="323366"/>
                </a:solidFill>
                <a:latin typeface="メイリオ" panose="020B0604030504040204" pitchFamily="50" charset="-128"/>
                <a:ea typeface="メイリオ" panose="020B0604030504040204" pitchFamily="50" charset="-128"/>
                <a:cs typeface="Meiryo"/>
                <a:sym typeface="Meiryo"/>
              </a:rPr>
              <a:t>06</a:t>
            </a:r>
            <a:endParaRPr lang="ja-JP" altLang="en-US" sz="3200" b="1" dirty="0">
              <a:solidFill>
                <a:srgbClr val="323366"/>
              </a:solidFill>
              <a:latin typeface="メイリオ" panose="020B0604030504040204" pitchFamily="50" charset="-128"/>
              <a:ea typeface="メイリオ" panose="020B0604030504040204" pitchFamily="50" charset="-128"/>
              <a:cs typeface="Meiryo"/>
              <a:sym typeface="Meiryo"/>
            </a:endParaRPr>
          </a:p>
        </p:txBody>
      </p:sp>
      <p:sp>
        <p:nvSpPr>
          <p:cNvPr id="16" name="Google Shape;752;p28">
            <a:extLst>
              <a:ext uri="{FF2B5EF4-FFF2-40B4-BE49-F238E27FC236}">
                <a16:creationId xmlns:a16="http://schemas.microsoft.com/office/drawing/2014/main" id="{C6DC77DA-F435-23D0-D2CE-3DB2470F38A6}"/>
              </a:ext>
            </a:extLst>
          </p:cNvPr>
          <p:cNvSpPr txBox="1"/>
          <p:nvPr/>
        </p:nvSpPr>
        <p:spPr>
          <a:xfrm>
            <a:off x="1867143" y="1043132"/>
            <a:ext cx="5966217" cy="707846"/>
          </a:xfrm>
          <a:prstGeom prst="rect">
            <a:avLst/>
          </a:prstGeom>
          <a:noFill/>
          <a:ln>
            <a:noFill/>
          </a:ln>
        </p:spPr>
        <p:txBody>
          <a:bodyPr spcFirstLastPara="1" wrap="square" lIns="91425" tIns="45700" rIns="91425" bIns="45700" anchor="ctr" anchorCtr="0">
            <a:spAutoFit/>
          </a:bodyPr>
          <a:lstStyle/>
          <a:p>
            <a:pPr lvl="0"/>
            <a:r>
              <a:rPr lang="ja-JP" altLang="en-US" sz="4000" b="1" dirty="0">
                <a:solidFill>
                  <a:schemeClr val="tx1">
                    <a:lumMod val="65000"/>
                    <a:lumOff val="35000"/>
                  </a:schemeClr>
                </a:solidFill>
                <a:latin typeface="メイリオ" panose="020B0604030504040204" pitchFamily="50" charset="-128"/>
                <a:ea typeface="メイリオ" panose="020B0604030504040204" pitchFamily="50" charset="-128"/>
                <a:cs typeface="Meiryo"/>
                <a:sym typeface="Meiryo"/>
              </a:rPr>
              <a:t>次回ご提案に向けて</a:t>
            </a:r>
          </a:p>
        </p:txBody>
      </p:sp>
      <p:cxnSp>
        <p:nvCxnSpPr>
          <p:cNvPr id="17" name="直線コネクタ 16">
            <a:extLst>
              <a:ext uri="{FF2B5EF4-FFF2-40B4-BE49-F238E27FC236}">
                <a16:creationId xmlns:a16="http://schemas.microsoft.com/office/drawing/2014/main" id="{3F50B547-1157-51AB-1A19-0181140945B2}"/>
              </a:ext>
            </a:extLst>
          </p:cNvPr>
          <p:cNvCxnSpPr>
            <a:cxnSpLocks/>
          </p:cNvCxnSpPr>
          <p:nvPr/>
        </p:nvCxnSpPr>
        <p:spPr>
          <a:xfrm>
            <a:off x="608527" y="1681803"/>
            <a:ext cx="944805" cy="0"/>
          </a:xfrm>
          <a:prstGeom prst="line">
            <a:avLst/>
          </a:prstGeom>
          <a:ln w="57150">
            <a:solidFill>
              <a:srgbClr val="10253F"/>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5667232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A4FD29-E6FC-0B1A-9DA4-17FF75836D9E}"/>
            </a:ext>
          </a:extLst>
        </p:cNvPr>
        <p:cNvGrpSpPr/>
        <p:nvPr/>
      </p:nvGrpSpPr>
      <p:grpSpPr>
        <a:xfrm>
          <a:off x="0" y="0"/>
          <a:ext cx="0" cy="0"/>
          <a:chOff x="0" y="0"/>
          <a:chExt cx="0" cy="0"/>
        </a:xfrm>
      </p:grpSpPr>
      <p:sp>
        <p:nvSpPr>
          <p:cNvPr id="3" name="テキスト ボックス 47">
            <a:extLst>
              <a:ext uri="{FF2B5EF4-FFF2-40B4-BE49-F238E27FC236}">
                <a16:creationId xmlns:a16="http://schemas.microsoft.com/office/drawing/2014/main" id="{54048A3F-BF68-8CBE-2D2A-EA19B4DB550B}"/>
              </a:ext>
            </a:extLst>
          </p:cNvPr>
          <p:cNvSpPr txBox="1">
            <a:spLocks noChangeArrowheads="1"/>
          </p:cNvSpPr>
          <p:nvPr/>
        </p:nvSpPr>
        <p:spPr bwMode="auto">
          <a:xfrm>
            <a:off x="456501"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Calibri" charset="0"/>
                <a:ea typeface="ＭＳ Ｐゴシック" charset="0"/>
                <a:cs typeface="ＭＳ Ｐゴシック" charset="0"/>
              </a:defRPr>
            </a:lvl1pPr>
            <a:lvl2pPr>
              <a:defRPr kumimoji="1" sz="2800">
                <a:solidFill>
                  <a:schemeClr val="tx1"/>
                </a:solidFill>
                <a:latin typeface="Calibri" charset="0"/>
                <a:ea typeface="ＭＳ Ｐゴシック" charset="0"/>
              </a:defRPr>
            </a:lvl2pPr>
            <a:lvl3pPr>
              <a:defRPr kumimoji="1" sz="2400">
                <a:solidFill>
                  <a:schemeClr val="tx1"/>
                </a:solidFill>
                <a:latin typeface="Calibri" charset="0"/>
                <a:ea typeface="ＭＳ Ｐゴシック" charset="0"/>
              </a:defRPr>
            </a:lvl3pPr>
            <a:lvl4pPr>
              <a:defRPr kumimoji="1" sz="2000">
                <a:solidFill>
                  <a:schemeClr val="tx1"/>
                </a:solidFill>
                <a:latin typeface="Calibri" charset="0"/>
                <a:ea typeface="ＭＳ Ｐゴシック" charset="0"/>
              </a:defRPr>
            </a:lvl4pPr>
            <a:lvl5pPr>
              <a:defRPr kumimoji="1" sz="2000">
                <a:solidFill>
                  <a:schemeClr val="tx1"/>
                </a:solidFill>
                <a:latin typeface="Calibri" charset="0"/>
                <a:ea typeface="ＭＳ Ｐゴシック" charset="0"/>
              </a:defRPr>
            </a:lvl5pPr>
            <a:lvl6pPr eaLnBrk="0" fontAlgn="base" hangingPunct="0">
              <a:spcAft>
                <a:spcPct val="0"/>
              </a:spcAft>
              <a:buFont typeface="Arial" charset="0"/>
              <a:buChar char="»"/>
              <a:defRPr kumimoji="1" sz="2000">
                <a:solidFill>
                  <a:schemeClr val="tx1"/>
                </a:solidFill>
                <a:latin typeface="Calibri" charset="0"/>
                <a:ea typeface="ＭＳ Ｐゴシック" charset="0"/>
              </a:defRPr>
            </a:lvl6pPr>
            <a:lvl7pPr eaLnBrk="0" fontAlgn="base" hangingPunct="0">
              <a:spcAft>
                <a:spcPct val="0"/>
              </a:spcAft>
              <a:buFont typeface="Arial" charset="0"/>
              <a:buChar char="»"/>
              <a:defRPr kumimoji="1" sz="2000">
                <a:solidFill>
                  <a:schemeClr val="tx1"/>
                </a:solidFill>
                <a:latin typeface="Calibri" charset="0"/>
                <a:ea typeface="ＭＳ Ｐゴシック" charset="0"/>
              </a:defRPr>
            </a:lvl7pPr>
            <a:lvl8pPr eaLnBrk="0" fontAlgn="base" hangingPunct="0">
              <a:spcAft>
                <a:spcPct val="0"/>
              </a:spcAft>
              <a:buFont typeface="Arial" charset="0"/>
              <a:buChar char="»"/>
              <a:defRPr kumimoji="1" sz="2000">
                <a:solidFill>
                  <a:schemeClr val="tx1"/>
                </a:solidFill>
                <a:latin typeface="Calibri" charset="0"/>
                <a:ea typeface="ＭＳ Ｐゴシック" charset="0"/>
              </a:defRPr>
            </a:lvl8pPr>
            <a:lvl9pPr eaLnBrk="0" fontAlgn="base" hangingPunct="0">
              <a:spcAft>
                <a:spcPct val="0"/>
              </a:spcAft>
              <a:buFont typeface="Arial" charset="0"/>
              <a:buChar char="»"/>
              <a:defRPr kumimoji="1" sz="2000">
                <a:solidFill>
                  <a:schemeClr val="tx1"/>
                </a:solidFill>
                <a:latin typeface="Calibri" charset="0"/>
                <a:ea typeface="ＭＳ Ｐゴシック" charset="0"/>
              </a:defRPr>
            </a:lvl9pPr>
          </a:lstStyle>
          <a:p>
            <a:pPr>
              <a:spcBef>
                <a:spcPct val="20000"/>
              </a:spcBef>
              <a:buFont typeface="Arial" charset="0"/>
              <a:buNone/>
            </a:pPr>
            <a:r>
              <a:rPr lang="ja-JP" altLang="en-US" sz="1600" b="1" dirty="0">
                <a:solidFill>
                  <a:srgbClr val="1F2A5C"/>
                </a:solidFill>
                <a:latin typeface="メイリオ"/>
                <a:ea typeface="メイリオ"/>
                <a:cs typeface="メイリオ"/>
              </a:rPr>
              <a:t>提案に向けて明確化したいポイント①　施策の重要度</a:t>
            </a:r>
          </a:p>
        </p:txBody>
      </p:sp>
      <p:sp>
        <p:nvSpPr>
          <p:cNvPr id="5" name="Rectangle 2">
            <a:extLst>
              <a:ext uri="{FF2B5EF4-FFF2-40B4-BE49-F238E27FC236}">
                <a16:creationId xmlns:a16="http://schemas.microsoft.com/office/drawing/2014/main" id="{234E3E2F-FF11-E565-7999-FABF8B29646D}"/>
              </a:ext>
            </a:extLst>
          </p:cNvPr>
          <p:cNvSpPr/>
          <p:nvPr/>
        </p:nvSpPr>
        <p:spPr>
          <a:xfrm>
            <a:off x="121798" y="960120"/>
            <a:ext cx="914400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t"/>
          <a:lstStyle/>
          <a:p>
            <a:pPr algn="l">
              <a:spcAft>
                <a:spcPts val="300"/>
              </a:spcAft>
            </a:pPr>
            <a:r>
              <a:rPr sz="1600" b="1">
                <a:solidFill>
                  <a:srgbClr val="4A6FA5"/>
                </a:solidFill>
                <a:latin typeface="メイリオ"/>
                <a:ea typeface="メイリオ"/>
                <a:cs typeface="メイリオ"/>
              </a:rPr>
              <a:t>新規／既存／ファン化／効率化のうち、何を、どの程度重視するか</a:t>
            </a:r>
          </a:p>
        </p:txBody>
      </p:sp>
      <p:sp>
        <p:nvSpPr>
          <p:cNvPr id="7" name="Rectangle 3">
            <a:extLst>
              <a:ext uri="{FF2B5EF4-FFF2-40B4-BE49-F238E27FC236}">
                <a16:creationId xmlns:a16="http://schemas.microsoft.com/office/drawing/2014/main" id="{0E411E5A-CC07-761C-CB20-F06A383B1BB9}"/>
              </a:ext>
            </a:extLst>
          </p:cNvPr>
          <p:cNvSpPr/>
          <p:nvPr/>
        </p:nvSpPr>
        <p:spPr>
          <a:xfrm>
            <a:off x="841248" y="1783080"/>
            <a:ext cx="1252728" cy="384048"/>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400" b="1">
                <a:solidFill>
                  <a:srgbClr val="FFFFFF"/>
                </a:solidFill>
                <a:latin typeface="メイリオ"/>
                <a:ea typeface="メイリオ"/>
                <a:cs typeface="メイリオ"/>
              </a:rPr>
              <a:t>軸</a:t>
            </a:r>
          </a:p>
        </p:txBody>
      </p:sp>
      <p:sp>
        <p:nvSpPr>
          <p:cNvPr id="9" name="Rectangle 4">
            <a:extLst>
              <a:ext uri="{FF2B5EF4-FFF2-40B4-BE49-F238E27FC236}">
                <a16:creationId xmlns:a16="http://schemas.microsoft.com/office/drawing/2014/main" id="{7E370F07-31E8-4A03-CB72-CF991FB2B5C1}"/>
              </a:ext>
            </a:extLst>
          </p:cNvPr>
          <p:cNvSpPr/>
          <p:nvPr/>
        </p:nvSpPr>
        <p:spPr>
          <a:xfrm>
            <a:off x="2121408" y="1783080"/>
            <a:ext cx="3794760" cy="384048"/>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400" b="1">
                <a:solidFill>
                  <a:srgbClr val="FFFFFF"/>
                </a:solidFill>
                <a:latin typeface="メイリオ"/>
                <a:ea typeface="メイリオ"/>
                <a:cs typeface="メイリオ"/>
              </a:rPr>
              <a:t>施策の例</a:t>
            </a:r>
          </a:p>
        </p:txBody>
      </p:sp>
      <p:sp>
        <p:nvSpPr>
          <p:cNvPr id="11" name="Rectangle 5">
            <a:extLst>
              <a:ext uri="{FF2B5EF4-FFF2-40B4-BE49-F238E27FC236}">
                <a16:creationId xmlns:a16="http://schemas.microsoft.com/office/drawing/2014/main" id="{3AA8E495-6AA3-81B3-F377-60D6929EA446}"/>
              </a:ext>
            </a:extLst>
          </p:cNvPr>
          <p:cNvSpPr/>
          <p:nvPr/>
        </p:nvSpPr>
        <p:spPr>
          <a:xfrm>
            <a:off x="5943600" y="1783080"/>
            <a:ext cx="822960" cy="384048"/>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400" b="1">
                <a:solidFill>
                  <a:srgbClr val="FFFFFF"/>
                </a:solidFill>
                <a:latin typeface="メイリオ"/>
                <a:ea typeface="メイリオ"/>
                <a:cs typeface="メイリオ"/>
              </a:rPr>
              <a:t>重要度</a:t>
            </a:r>
          </a:p>
        </p:txBody>
      </p:sp>
      <p:sp>
        <p:nvSpPr>
          <p:cNvPr id="18" name="Rectangle 7">
            <a:extLst>
              <a:ext uri="{FF2B5EF4-FFF2-40B4-BE49-F238E27FC236}">
                <a16:creationId xmlns:a16="http://schemas.microsoft.com/office/drawing/2014/main" id="{0DE26C81-EAA6-9BC7-2010-07A0AE499222}"/>
              </a:ext>
            </a:extLst>
          </p:cNvPr>
          <p:cNvSpPr/>
          <p:nvPr/>
        </p:nvSpPr>
        <p:spPr>
          <a:xfrm>
            <a:off x="841248" y="2203704"/>
            <a:ext cx="1252728" cy="877824"/>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新規</a:t>
            </a:r>
          </a:p>
        </p:txBody>
      </p:sp>
      <p:sp>
        <p:nvSpPr>
          <p:cNvPr id="20" name="Rectangle 8">
            <a:extLst>
              <a:ext uri="{FF2B5EF4-FFF2-40B4-BE49-F238E27FC236}">
                <a16:creationId xmlns:a16="http://schemas.microsoft.com/office/drawing/2014/main" id="{104C26B0-503F-BDBF-1F0A-FBB30E665B09}"/>
              </a:ext>
            </a:extLst>
          </p:cNvPr>
          <p:cNvSpPr/>
          <p:nvPr/>
        </p:nvSpPr>
        <p:spPr>
          <a:xfrm>
            <a:off x="2121408" y="2203704"/>
            <a:ext cx="3794760" cy="877824"/>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dirty="0" err="1">
                <a:solidFill>
                  <a:srgbClr val="333333"/>
                </a:solidFill>
                <a:latin typeface="メイリオ"/>
                <a:ea typeface="メイリオ"/>
                <a:cs typeface="メイリオ"/>
              </a:rPr>
              <a:t>友だち追加の入口を増やす</a:t>
            </a:r>
            <a:br>
              <a:rPr sz="1400" b="0" dirty="0" err="1">
                <a:solidFill>
                  <a:srgbClr val="333333"/>
                </a:solidFill>
                <a:latin typeface="メイリオ"/>
                <a:ea typeface="メイリオ"/>
                <a:cs typeface="メイリオ"/>
              </a:rPr>
            </a:br>
            <a:r>
              <a:rPr sz="1400" b="0" dirty="0" err="1">
                <a:solidFill>
                  <a:srgbClr val="333333"/>
                </a:solidFill>
                <a:latin typeface="メイリオ"/>
                <a:ea typeface="メイリオ"/>
                <a:cs typeface="メイリオ"/>
              </a:rPr>
              <a:t>（ポップアップ・広告・店頭）</a:t>
            </a:r>
          </a:p>
        </p:txBody>
      </p:sp>
      <p:sp>
        <p:nvSpPr>
          <p:cNvPr id="23" name="Rectangle 9">
            <a:extLst>
              <a:ext uri="{FF2B5EF4-FFF2-40B4-BE49-F238E27FC236}">
                <a16:creationId xmlns:a16="http://schemas.microsoft.com/office/drawing/2014/main" id="{4D555954-77CD-7E09-CEBD-4C58033525FD}"/>
              </a:ext>
            </a:extLst>
          </p:cNvPr>
          <p:cNvSpPr/>
          <p:nvPr/>
        </p:nvSpPr>
        <p:spPr>
          <a:xfrm>
            <a:off x="5943600" y="2203704"/>
            <a:ext cx="822960" cy="877824"/>
          </a:xfrm>
          <a:prstGeom prst="rect">
            <a:avLst/>
          </a:prstGeom>
          <a:solidFill>
            <a:srgbClr val="FFF8E1"/>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ctr">
              <a:spcAft>
                <a:spcPts val="0"/>
              </a:spcAft>
            </a:pPr>
            <a:r>
              <a:rPr sz="1400" b="0">
                <a:solidFill>
                  <a:srgbClr val="999999"/>
                </a:solidFill>
                <a:latin typeface="メイリオ"/>
                <a:ea typeface="メイリオ"/>
                <a:cs typeface="メイリオ"/>
              </a:rPr>
              <a:t>◎ ○ △</a:t>
            </a:r>
          </a:p>
        </p:txBody>
      </p:sp>
      <p:sp>
        <p:nvSpPr>
          <p:cNvPr id="27" name="Rectangle 11">
            <a:extLst>
              <a:ext uri="{FF2B5EF4-FFF2-40B4-BE49-F238E27FC236}">
                <a16:creationId xmlns:a16="http://schemas.microsoft.com/office/drawing/2014/main" id="{CB2A3195-221A-72EE-7427-467D873BA83B}"/>
              </a:ext>
            </a:extLst>
          </p:cNvPr>
          <p:cNvSpPr/>
          <p:nvPr/>
        </p:nvSpPr>
        <p:spPr>
          <a:xfrm>
            <a:off x="841248" y="3118104"/>
            <a:ext cx="1252728" cy="877824"/>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既存</a:t>
            </a:r>
          </a:p>
        </p:txBody>
      </p:sp>
      <p:sp>
        <p:nvSpPr>
          <p:cNvPr id="29" name="Rectangle 12">
            <a:extLst>
              <a:ext uri="{FF2B5EF4-FFF2-40B4-BE49-F238E27FC236}">
                <a16:creationId xmlns:a16="http://schemas.microsoft.com/office/drawing/2014/main" id="{A4AC3903-60B0-B8B7-E4C3-00D581DF3EF8}"/>
              </a:ext>
            </a:extLst>
          </p:cNvPr>
          <p:cNvSpPr/>
          <p:nvPr/>
        </p:nvSpPr>
        <p:spPr>
          <a:xfrm>
            <a:off x="2121408" y="3118104"/>
            <a:ext cx="3794760" cy="877824"/>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既存の友だち・顧客へのCV・リピート促進</a:t>
            </a:r>
          </a:p>
        </p:txBody>
      </p:sp>
      <p:sp>
        <p:nvSpPr>
          <p:cNvPr id="31" name="Rectangle 13">
            <a:extLst>
              <a:ext uri="{FF2B5EF4-FFF2-40B4-BE49-F238E27FC236}">
                <a16:creationId xmlns:a16="http://schemas.microsoft.com/office/drawing/2014/main" id="{584CF8C4-B5B9-FFE8-EA87-8C8DDDF96F7B}"/>
              </a:ext>
            </a:extLst>
          </p:cNvPr>
          <p:cNvSpPr/>
          <p:nvPr/>
        </p:nvSpPr>
        <p:spPr>
          <a:xfrm>
            <a:off x="5943600" y="3118104"/>
            <a:ext cx="822960" cy="877824"/>
          </a:xfrm>
          <a:prstGeom prst="rect">
            <a:avLst/>
          </a:prstGeom>
          <a:solidFill>
            <a:srgbClr val="FFF8E1"/>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ctr">
              <a:spcAft>
                <a:spcPts val="0"/>
              </a:spcAft>
            </a:pPr>
            <a:r>
              <a:rPr sz="1400" b="0">
                <a:solidFill>
                  <a:srgbClr val="999999"/>
                </a:solidFill>
                <a:latin typeface="メイリオ"/>
                <a:ea typeface="メイリオ"/>
                <a:cs typeface="メイリオ"/>
              </a:rPr>
              <a:t>◎ ○ △</a:t>
            </a:r>
          </a:p>
        </p:txBody>
      </p:sp>
      <p:sp>
        <p:nvSpPr>
          <p:cNvPr id="35" name="Rectangle 15">
            <a:extLst>
              <a:ext uri="{FF2B5EF4-FFF2-40B4-BE49-F238E27FC236}">
                <a16:creationId xmlns:a16="http://schemas.microsoft.com/office/drawing/2014/main" id="{6C54381C-EDB8-6610-8581-D5F4C5355345}"/>
              </a:ext>
            </a:extLst>
          </p:cNvPr>
          <p:cNvSpPr/>
          <p:nvPr/>
        </p:nvSpPr>
        <p:spPr>
          <a:xfrm>
            <a:off x="841248" y="4032504"/>
            <a:ext cx="1252728" cy="877824"/>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ファン化</a:t>
            </a:r>
          </a:p>
        </p:txBody>
      </p:sp>
      <p:sp>
        <p:nvSpPr>
          <p:cNvPr id="37" name="Rectangle 16">
            <a:extLst>
              <a:ext uri="{FF2B5EF4-FFF2-40B4-BE49-F238E27FC236}">
                <a16:creationId xmlns:a16="http://schemas.microsoft.com/office/drawing/2014/main" id="{9C16E17E-2CCE-D35F-C811-2C0A6D66E20F}"/>
              </a:ext>
            </a:extLst>
          </p:cNvPr>
          <p:cNvSpPr/>
          <p:nvPr/>
        </p:nvSpPr>
        <p:spPr>
          <a:xfrm>
            <a:off x="2121408" y="4032504"/>
            <a:ext cx="3794760" cy="877824"/>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限定コミュニティ・特典でLTVを高める</a:t>
            </a:r>
          </a:p>
        </p:txBody>
      </p:sp>
      <p:sp>
        <p:nvSpPr>
          <p:cNvPr id="39" name="Rectangle 17">
            <a:extLst>
              <a:ext uri="{FF2B5EF4-FFF2-40B4-BE49-F238E27FC236}">
                <a16:creationId xmlns:a16="http://schemas.microsoft.com/office/drawing/2014/main" id="{6F107650-F753-AB36-FB6A-2B9143014268}"/>
              </a:ext>
            </a:extLst>
          </p:cNvPr>
          <p:cNvSpPr/>
          <p:nvPr/>
        </p:nvSpPr>
        <p:spPr>
          <a:xfrm>
            <a:off x="5943600" y="4032504"/>
            <a:ext cx="822960" cy="877824"/>
          </a:xfrm>
          <a:prstGeom prst="rect">
            <a:avLst/>
          </a:prstGeom>
          <a:solidFill>
            <a:srgbClr val="FFF8E1"/>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ctr">
              <a:spcAft>
                <a:spcPts val="0"/>
              </a:spcAft>
            </a:pPr>
            <a:r>
              <a:rPr sz="1400" b="0">
                <a:solidFill>
                  <a:srgbClr val="999999"/>
                </a:solidFill>
                <a:latin typeface="メイリオ"/>
                <a:ea typeface="メイリオ"/>
                <a:cs typeface="メイリオ"/>
              </a:rPr>
              <a:t>◎ ○ △</a:t>
            </a:r>
          </a:p>
        </p:txBody>
      </p:sp>
      <p:sp>
        <p:nvSpPr>
          <p:cNvPr id="43" name="Rectangle 19">
            <a:extLst>
              <a:ext uri="{FF2B5EF4-FFF2-40B4-BE49-F238E27FC236}">
                <a16:creationId xmlns:a16="http://schemas.microsoft.com/office/drawing/2014/main" id="{16CB7492-2668-EFB7-5628-A5714FE43E02}"/>
              </a:ext>
            </a:extLst>
          </p:cNvPr>
          <p:cNvSpPr/>
          <p:nvPr/>
        </p:nvSpPr>
        <p:spPr>
          <a:xfrm>
            <a:off x="841248" y="4946904"/>
            <a:ext cx="1252728" cy="877824"/>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効率化</a:t>
            </a:r>
          </a:p>
        </p:txBody>
      </p:sp>
      <p:sp>
        <p:nvSpPr>
          <p:cNvPr id="54" name="Rectangle 6">
            <a:extLst>
              <a:ext uri="{FF2B5EF4-FFF2-40B4-BE49-F238E27FC236}">
                <a16:creationId xmlns:a16="http://schemas.microsoft.com/office/drawing/2014/main" id="{3006611C-155B-26D2-87F5-F1073BED0DD5}"/>
              </a:ext>
            </a:extLst>
          </p:cNvPr>
          <p:cNvSpPr/>
          <p:nvPr/>
        </p:nvSpPr>
        <p:spPr>
          <a:xfrm>
            <a:off x="6793992" y="1783080"/>
            <a:ext cx="2203704" cy="384048"/>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200" b="1">
                <a:solidFill>
                  <a:srgbClr val="FFFFFF"/>
                </a:solidFill>
                <a:latin typeface="メイリオ"/>
                <a:ea typeface="メイリオ"/>
                <a:cs typeface="メイリオ"/>
              </a:rPr>
              <a:t>度合い・目標</a:t>
            </a:r>
          </a:p>
        </p:txBody>
      </p:sp>
      <p:sp>
        <p:nvSpPr>
          <p:cNvPr id="55" name="Rectangle 10">
            <a:extLst>
              <a:ext uri="{FF2B5EF4-FFF2-40B4-BE49-F238E27FC236}">
                <a16:creationId xmlns:a16="http://schemas.microsoft.com/office/drawing/2014/main" id="{86F1D30D-393D-E40A-6D1C-9AFE711E6551}"/>
              </a:ext>
            </a:extLst>
          </p:cNvPr>
          <p:cNvSpPr/>
          <p:nvPr/>
        </p:nvSpPr>
        <p:spPr>
          <a:xfrm>
            <a:off x="6793992" y="2203704"/>
            <a:ext cx="2203704" cy="877824"/>
          </a:xfrm>
          <a:prstGeom prst="rect">
            <a:avLst/>
          </a:prstGeom>
          <a:solidFill>
            <a:srgbClr val="FFF8E1"/>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ctr">
              <a:spcAft>
                <a:spcPts val="0"/>
              </a:spcAft>
            </a:pPr>
            <a:r>
              <a:rPr sz="1200" b="0">
                <a:solidFill>
                  <a:srgbClr val="999999"/>
                </a:solidFill>
                <a:latin typeface="メイリオ"/>
                <a:ea typeface="メイリオ"/>
                <a:cs typeface="メイリオ"/>
              </a:rPr>
              <a:t>（例：月間追加数）</a:t>
            </a:r>
          </a:p>
        </p:txBody>
      </p:sp>
      <p:sp>
        <p:nvSpPr>
          <p:cNvPr id="56" name="Rectangle 14">
            <a:extLst>
              <a:ext uri="{FF2B5EF4-FFF2-40B4-BE49-F238E27FC236}">
                <a16:creationId xmlns:a16="http://schemas.microsoft.com/office/drawing/2014/main" id="{BDC1EB93-A86A-84CE-F73E-2149AD61E5FC}"/>
              </a:ext>
            </a:extLst>
          </p:cNvPr>
          <p:cNvSpPr/>
          <p:nvPr/>
        </p:nvSpPr>
        <p:spPr>
          <a:xfrm>
            <a:off x="6793992" y="3118104"/>
            <a:ext cx="2203704" cy="877824"/>
          </a:xfrm>
          <a:prstGeom prst="rect">
            <a:avLst/>
          </a:prstGeom>
          <a:solidFill>
            <a:srgbClr val="FFF8E1"/>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ctr">
              <a:spcAft>
                <a:spcPts val="0"/>
              </a:spcAft>
            </a:pPr>
            <a:r>
              <a:rPr sz="1200" b="0">
                <a:solidFill>
                  <a:srgbClr val="999999"/>
                </a:solidFill>
                <a:latin typeface="メイリオ"/>
                <a:ea typeface="メイリオ"/>
                <a:cs typeface="メイリオ"/>
              </a:rPr>
              <a:t>（例：CV数・リピート率）</a:t>
            </a:r>
          </a:p>
        </p:txBody>
      </p:sp>
      <p:sp>
        <p:nvSpPr>
          <p:cNvPr id="57" name="Rectangle 18">
            <a:extLst>
              <a:ext uri="{FF2B5EF4-FFF2-40B4-BE49-F238E27FC236}">
                <a16:creationId xmlns:a16="http://schemas.microsoft.com/office/drawing/2014/main" id="{188A2264-AC44-69F3-AADC-6C99A3918A5E}"/>
              </a:ext>
            </a:extLst>
          </p:cNvPr>
          <p:cNvSpPr/>
          <p:nvPr/>
        </p:nvSpPr>
        <p:spPr>
          <a:xfrm>
            <a:off x="6793992" y="4032504"/>
            <a:ext cx="2203704" cy="877824"/>
          </a:xfrm>
          <a:prstGeom prst="rect">
            <a:avLst/>
          </a:prstGeom>
          <a:solidFill>
            <a:srgbClr val="FFF8E1"/>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ctr">
              <a:spcAft>
                <a:spcPts val="0"/>
              </a:spcAft>
            </a:pPr>
            <a:r>
              <a:rPr sz="1200" b="0">
                <a:solidFill>
                  <a:srgbClr val="999999"/>
                </a:solidFill>
                <a:latin typeface="メイリオ"/>
                <a:ea typeface="メイリオ"/>
                <a:cs typeface="メイリオ"/>
              </a:rPr>
              <a:t>（例：会員数・反応率）</a:t>
            </a:r>
          </a:p>
        </p:txBody>
      </p:sp>
      <p:sp>
        <p:nvSpPr>
          <p:cNvPr id="58" name="Rectangle 22">
            <a:extLst>
              <a:ext uri="{FF2B5EF4-FFF2-40B4-BE49-F238E27FC236}">
                <a16:creationId xmlns:a16="http://schemas.microsoft.com/office/drawing/2014/main" id="{E8B63E0D-903B-EFBB-A4FF-728A697ABE8D}"/>
              </a:ext>
            </a:extLst>
          </p:cNvPr>
          <p:cNvSpPr/>
          <p:nvPr/>
        </p:nvSpPr>
        <p:spPr>
          <a:xfrm>
            <a:off x="6793992" y="4946904"/>
            <a:ext cx="2203704" cy="877824"/>
          </a:xfrm>
          <a:prstGeom prst="rect">
            <a:avLst/>
          </a:prstGeom>
          <a:solidFill>
            <a:srgbClr val="FFF8E1"/>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ctr">
              <a:spcAft>
                <a:spcPts val="0"/>
              </a:spcAft>
            </a:pPr>
            <a:r>
              <a:rPr sz="1200" b="0">
                <a:solidFill>
                  <a:srgbClr val="999999"/>
                </a:solidFill>
                <a:latin typeface="メイリオ"/>
                <a:ea typeface="メイリオ"/>
                <a:cs typeface="メイリオ"/>
              </a:rPr>
              <a:t>（例：通数費の削減額）</a:t>
            </a:r>
          </a:p>
        </p:txBody>
      </p:sp>
      <p:sp>
        <p:nvSpPr>
          <p:cNvPr id="45" name="Rectangle 20">
            <a:extLst>
              <a:ext uri="{FF2B5EF4-FFF2-40B4-BE49-F238E27FC236}">
                <a16:creationId xmlns:a16="http://schemas.microsoft.com/office/drawing/2014/main" id="{B7F2AF46-39FB-CD72-C394-6101BBA1E6AE}"/>
              </a:ext>
            </a:extLst>
          </p:cNvPr>
          <p:cNvSpPr/>
          <p:nvPr/>
        </p:nvSpPr>
        <p:spPr>
          <a:xfrm>
            <a:off x="2121408" y="4946904"/>
            <a:ext cx="3794760" cy="877824"/>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通数費・運用工数の削減</a:t>
            </a:r>
            <a:br>
              <a:rPr sz="1400" b="0">
                <a:solidFill>
                  <a:srgbClr val="333333"/>
                </a:solidFill>
                <a:latin typeface="メイリオ"/>
                <a:ea typeface="メイリオ"/>
                <a:cs typeface="メイリオ"/>
              </a:rPr>
            </a:br>
            <a:r>
              <a:rPr sz="1400" b="0">
                <a:solidFill>
                  <a:srgbClr val="333333"/>
                </a:solidFill>
                <a:latin typeface="メイリオ"/>
                <a:ea typeface="メイリオ"/>
                <a:cs typeface="メイリオ"/>
              </a:rPr>
              <a:t>（セグメント・自動化）</a:t>
            </a:r>
          </a:p>
        </p:txBody>
      </p:sp>
      <p:sp>
        <p:nvSpPr>
          <p:cNvPr id="47" name="Rectangle 21">
            <a:extLst>
              <a:ext uri="{FF2B5EF4-FFF2-40B4-BE49-F238E27FC236}">
                <a16:creationId xmlns:a16="http://schemas.microsoft.com/office/drawing/2014/main" id="{1C65ED6F-D773-2D2E-6B1F-B627C96E1B17}"/>
              </a:ext>
            </a:extLst>
          </p:cNvPr>
          <p:cNvSpPr/>
          <p:nvPr/>
        </p:nvSpPr>
        <p:spPr>
          <a:xfrm>
            <a:off x="5943600" y="4946904"/>
            <a:ext cx="822960" cy="877824"/>
          </a:xfrm>
          <a:prstGeom prst="rect">
            <a:avLst/>
          </a:prstGeom>
          <a:solidFill>
            <a:srgbClr val="FFF8E1"/>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ctr">
              <a:spcAft>
                <a:spcPts val="0"/>
              </a:spcAft>
            </a:pPr>
            <a:r>
              <a:rPr sz="1400" b="0">
                <a:solidFill>
                  <a:srgbClr val="999999"/>
                </a:solidFill>
                <a:latin typeface="メイリオ"/>
                <a:ea typeface="メイリオ"/>
                <a:cs typeface="メイリオ"/>
              </a:rPr>
              <a:t>◎ ○ △</a:t>
            </a:r>
          </a:p>
        </p:txBody>
      </p:sp>
      <p:sp>
        <p:nvSpPr>
          <p:cNvPr id="51" name="Rectangle 23">
            <a:extLst>
              <a:ext uri="{FF2B5EF4-FFF2-40B4-BE49-F238E27FC236}">
                <a16:creationId xmlns:a16="http://schemas.microsoft.com/office/drawing/2014/main" id="{B53BF0F8-9B97-5A93-DC50-8004A6ADA6B5}"/>
              </a:ext>
            </a:extLst>
          </p:cNvPr>
          <p:cNvSpPr/>
          <p:nvPr/>
        </p:nvSpPr>
        <p:spPr>
          <a:xfrm>
            <a:off x="841248" y="5897880"/>
            <a:ext cx="8156448" cy="603504"/>
          </a:xfrm>
          <a:prstGeom prst="rect">
            <a:avLst/>
          </a:prstGeom>
          <a:solidFill>
            <a:srgbClr val="F3F5FA"/>
          </a:solidFill>
          <a:ln w="12700">
            <a:solidFill>
              <a:srgbClr val="1F2A5C"/>
            </a:solidFill>
          </a:ln>
          <a:effectLst/>
        </p:spPr>
        <p:style>
          <a:lnRef idx="1">
            <a:schemeClr val="accent1"/>
          </a:lnRef>
          <a:fillRef idx="3">
            <a:schemeClr val="accent1"/>
          </a:fillRef>
          <a:effectRef idx="2">
            <a:schemeClr val="accent1"/>
          </a:effectRef>
          <a:fontRef idx="minor">
            <a:schemeClr val="lt1"/>
          </a:fontRef>
        </p:style>
        <p:txBody>
          <a:bodyPr wrap="square" lIns="137160" tIns="18288" rIns="137160" bIns="18288" rtlCol="0" anchor="ctr"/>
          <a:lstStyle/>
          <a:p>
            <a:pPr algn="ctr">
              <a:spcAft>
                <a:spcPts val="0"/>
              </a:spcAft>
            </a:pPr>
            <a:r>
              <a:rPr sz="1400" b="1">
                <a:solidFill>
                  <a:srgbClr val="1F2A5C"/>
                </a:solidFill>
                <a:latin typeface="メイリオ"/>
                <a:ea typeface="メイリオ"/>
                <a:cs typeface="メイリオ"/>
              </a:rPr>
              <a:t>◎＝最重視／○＝重視／△＝優先度は低い。</a:t>
            </a:r>
            <a:br>
              <a:rPr sz="1400" b="1">
                <a:solidFill>
                  <a:srgbClr val="1F2A5C"/>
                </a:solidFill>
                <a:latin typeface="メイリオ"/>
                <a:ea typeface="メイリオ"/>
                <a:cs typeface="メイリオ"/>
              </a:rPr>
            </a:br>
            <a:r>
              <a:rPr sz="1400" b="1">
                <a:solidFill>
                  <a:srgbClr val="1F2A5C"/>
                </a:solidFill>
                <a:latin typeface="メイリオ"/>
                <a:ea typeface="メイリオ"/>
                <a:cs typeface="メイリオ"/>
              </a:rPr>
              <a:t>ヒアリングで記入し、施策の配分と予算の目安に反映する</a:t>
            </a:r>
          </a:p>
        </p:txBody>
      </p:sp>
      <p:sp>
        <p:nvSpPr>
          <p:cNvPr id="53" name="正方形/長方形 52">
            <a:extLst>
              <a:ext uri="{FF2B5EF4-FFF2-40B4-BE49-F238E27FC236}">
                <a16:creationId xmlns:a16="http://schemas.microsoft.com/office/drawing/2014/main" id="{F6341BEF-3885-9CF9-B1B6-B2D4EA06ED5E}"/>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b="1"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138606982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FDE2BF-63A1-B882-547A-489CE17D8FD7}"/>
            </a:ext>
          </a:extLst>
        </p:cNvPr>
        <p:cNvGrpSpPr/>
        <p:nvPr/>
      </p:nvGrpSpPr>
      <p:grpSpPr>
        <a:xfrm>
          <a:off x="0" y="0"/>
          <a:ext cx="0" cy="0"/>
          <a:chOff x="0" y="0"/>
          <a:chExt cx="0" cy="0"/>
        </a:xfrm>
      </p:grpSpPr>
      <p:sp>
        <p:nvSpPr>
          <p:cNvPr id="3" name="テキスト ボックス 47">
            <a:extLst>
              <a:ext uri="{FF2B5EF4-FFF2-40B4-BE49-F238E27FC236}">
                <a16:creationId xmlns:a16="http://schemas.microsoft.com/office/drawing/2014/main" id="{2422549E-4218-60BD-B63F-BC5503BDE6D6}"/>
              </a:ext>
            </a:extLst>
          </p:cNvPr>
          <p:cNvSpPr txBox="1">
            <a:spLocks noChangeArrowheads="1"/>
          </p:cNvSpPr>
          <p:nvPr/>
        </p:nvSpPr>
        <p:spPr bwMode="auto">
          <a:xfrm>
            <a:off x="456501"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Calibri" charset="0"/>
                <a:ea typeface="ＭＳ Ｐゴシック" charset="0"/>
                <a:cs typeface="ＭＳ Ｐゴシック" charset="0"/>
              </a:defRPr>
            </a:lvl1pPr>
            <a:lvl2pPr>
              <a:defRPr kumimoji="1" sz="2800">
                <a:solidFill>
                  <a:schemeClr val="tx1"/>
                </a:solidFill>
                <a:latin typeface="Calibri" charset="0"/>
                <a:ea typeface="ＭＳ Ｐゴシック" charset="0"/>
              </a:defRPr>
            </a:lvl2pPr>
            <a:lvl3pPr>
              <a:defRPr kumimoji="1" sz="2400">
                <a:solidFill>
                  <a:schemeClr val="tx1"/>
                </a:solidFill>
                <a:latin typeface="Calibri" charset="0"/>
                <a:ea typeface="ＭＳ Ｐゴシック" charset="0"/>
              </a:defRPr>
            </a:lvl3pPr>
            <a:lvl4pPr>
              <a:defRPr kumimoji="1" sz="2000">
                <a:solidFill>
                  <a:schemeClr val="tx1"/>
                </a:solidFill>
                <a:latin typeface="Calibri" charset="0"/>
                <a:ea typeface="ＭＳ Ｐゴシック" charset="0"/>
              </a:defRPr>
            </a:lvl4pPr>
            <a:lvl5pPr>
              <a:defRPr kumimoji="1" sz="2000">
                <a:solidFill>
                  <a:schemeClr val="tx1"/>
                </a:solidFill>
                <a:latin typeface="Calibri" charset="0"/>
                <a:ea typeface="ＭＳ Ｐゴシック" charset="0"/>
              </a:defRPr>
            </a:lvl5pPr>
            <a:lvl6pPr eaLnBrk="0" fontAlgn="base" hangingPunct="0">
              <a:spcAft>
                <a:spcPct val="0"/>
              </a:spcAft>
              <a:buFont typeface="Arial" charset="0"/>
              <a:buChar char="»"/>
              <a:defRPr kumimoji="1" sz="2000">
                <a:solidFill>
                  <a:schemeClr val="tx1"/>
                </a:solidFill>
                <a:latin typeface="Calibri" charset="0"/>
                <a:ea typeface="ＭＳ Ｐゴシック" charset="0"/>
              </a:defRPr>
            </a:lvl6pPr>
            <a:lvl7pPr eaLnBrk="0" fontAlgn="base" hangingPunct="0">
              <a:spcAft>
                <a:spcPct val="0"/>
              </a:spcAft>
              <a:buFont typeface="Arial" charset="0"/>
              <a:buChar char="»"/>
              <a:defRPr kumimoji="1" sz="2000">
                <a:solidFill>
                  <a:schemeClr val="tx1"/>
                </a:solidFill>
                <a:latin typeface="Calibri" charset="0"/>
                <a:ea typeface="ＭＳ Ｐゴシック" charset="0"/>
              </a:defRPr>
            </a:lvl7pPr>
            <a:lvl8pPr eaLnBrk="0" fontAlgn="base" hangingPunct="0">
              <a:spcAft>
                <a:spcPct val="0"/>
              </a:spcAft>
              <a:buFont typeface="Arial" charset="0"/>
              <a:buChar char="»"/>
              <a:defRPr kumimoji="1" sz="2000">
                <a:solidFill>
                  <a:schemeClr val="tx1"/>
                </a:solidFill>
                <a:latin typeface="Calibri" charset="0"/>
                <a:ea typeface="ＭＳ Ｐゴシック" charset="0"/>
              </a:defRPr>
            </a:lvl8pPr>
            <a:lvl9pPr eaLnBrk="0" fontAlgn="base" hangingPunct="0">
              <a:spcAft>
                <a:spcPct val="0"/>
              </a:spcAft>
              <a:buFont typeface="Arial" charset="0"/>
              <a:buChar char="»"/>
              <a:defRPr kumimoji="1" sz="2000">
                <a:solidFill>
                  <a:schemeClr val="tx1"/>
                </a:solidFill>
                <a:latin typeface="Calibri" charset="0"/>
                <a:ea typeface="ＭＳ Ｐゴシック" charset="0"/>
              </a:defRPr>
            </a:lvl9pPr>
          </a:lstStyle>
          <a:p>
            <a:pPr>
              <a:spcBef>
                <a:spcPct val="20000"/>
              </a:spcBef>
              <a:buFont typeface="Arial" charset="0"/>
              <a:buNone/>
            </a:pPr>
            <a:r>
              <a:rPr lang="ja-JP" altLang="en-US" sz="1600" b="1" dirty="0">
                <a:solidFill>
                  <a:srgbClr val="1F2A5C"/>
                </a:solidFill>
                <a:latin typeface="メイリオ"/>
                <a:ea typeface="メイリオ"/>
                <a:cs typeface="メイリオ"/>
              </a:rPr>
              <a:t>提案に向けて明確化したいポイント②　既存WEBサイトのパワー</a:t>
            </a:r>
          </a:p>
        </p:txBody>
      </p:sp>
      <p:sp>
        <p:nvSpPr>
          <p:cNvPr id="5" name="Rectangle 2">
            <a:extLst>
              <a:ext uri="{FF2B5EF4-FFF2-40B4-BE49-F238E27FC236}">
                <a16:creationId xmlns:a16="http://schemas.microsoft.com/office/drawing/2014/main" id="{29DDE3F2-B3CE-2F35-E720-21B38FDDB0E2}"/>
              </a:ext>
            </a:extLst>
          </p:cNvPr>
          <p:cNvSpPr/>
          <p:nvPr/>
        </p:nvSpPr>
        <p:spPr>
          <a:xfrm>
            <a:off x="121798" y="960120"/>
            <a:ext cx="914400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t"/>
          <a:lstStyle/>
          <a:p>
            <a:pPr>
              <a:spcAft>
                <a:spcPts val="300"/>
              </a:spcAft>
            </a:pPr>
            <a:r>
              <a:rPr lang="ja-JP" altLang="en-US" sz="1600" b="1" dirty="0">
                <a:solidFill>
                  <a:srgbClr val="4A6FA5"/>
                </a:solidFill>
                <a:latin typeface="メイリオ"/>
                <a:ea typeface="メイリオ"/>
                <a:cs typeface="メイリオ"/>
              </a:rPr>
              <a:t>流入量・CV・CV地点から、LINEで拾えるユーザーの規模を見積もる</a:t>
            </a:r>
          </a:p>
        </p:txBody>
      </p:sp>
      <p:sp>
        <p:nvSpPr>
          <p:cNvPr id="53" name="正方形/長方形 52">
            <a:extLst>
              <a:ext uri="{FF2B5EF4-FFF2-40B4-BE49-F238E27FC236}">
                <a16:creationId xmlns:a16="http://schemas.microsoft.com/office/drawing/2014/main" id="{407A83F0-AB60-A7A3-0DE3-ADB4AB087238}"/>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b="1" dirty="0">
              <a:latin typeface="メイリオ" panose="020B0604030504040204" pitchFamily="50" charset="-128"/>
              <a:ea typeface="メイリオ" panose="020B0604030504040204" pitchFamily="50" charset="-128"/>
            </a:endParaRPr>
          </a:p>
        </p:txBody>
      </p:sp>
      <p:sp>
        <p:nvSpPr>
          <p:cNvPr id="4" name="Rectangle 3">
            <a:extLst>
              <a:ext uri="{FF2B5EF4-FFF2-40B4-BE49-F238E27FC236}">
                <a16:creationId xmlns:a16="http://schemas.microsoft.com/office/drawing/2014/main" id="{EBAA925A-E8DA-FF18-93A2-9EA6DA656475}"/>
              </a:ext>
            </a:extLst>
          </p:cNvPr>
          <p:cNvSpPr/>
          <p:nvPr/>
        </p:nvSpPr>
        <p:spPr>
          <a:xfrm>
            <a:off x="841248" y="1783080"/>
            <a:ext cx="2075688" cy="384048"/>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400" b="1">
                <a:solidFill>
                  <a:srgbClr val="FFFFFF"/>
                </a:solidFill>
                <a:latin typeface="メイリオ"/>
                <a:ea typeface="メイリオ"/>
                <a:cs typeface="メイリオ"/>
              </a:rPr>
              <a:t>項目</a:t>
            </a:r>
          </a:p>
        </p:txBody>
      </p:sp>
      <p:sp>
        <p:nvSpPr>
          <p:cNvPr id="8" name="Rectangle 4">
            <a:extLst>
              <a:ext uri="{FF2B5EF4-FFF2-40B4-BE49-F238E27FC236}">
                <a16:creationId xmlns:a16="http://schemas.microsoft.com/office/drawing/2014/main" id="{1F99B4A0-CAAB-226D-724F-0101D5180384}"/>
              </a:ext>
            </a:extLst>
          </p:cNvPr>
          <p:cNvSpPr/>
          <p:nvPr/>
        </p:nvSpPr>
        <p:spPr>
          <a:xfrm>
            <a:off x="2944368" y="1783080"/>
            <a:ext cx="3995928" cy="384048"/>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400" b="1">
                <a:solidFill>
                  <a:srgbClr val="FFFFFF"/>
                </a:solidFill>
                <a:latin typeface="メイリオ"/>
                <a:ea typeface="メイリオ"/>
                <a:cs typeface="メイリオ"/>
              </a:rPr>
              <a:t>確認内容</a:t>
            </a:r>
          </a:p>
        </p:txBody>
      </p:sp>
      <p:sp>
        <p:nvSpPr>
          <p:cNvPr id="15" name="Rectangle 6">
            <a:extLst>
              <a:ext uri="{FF2B5EF4-FFF2-40B4-BE49-F238E27FC236}">
                <a16:creationId xmlns:a16="http://schemas.microsoft.com/office/drawing/2014/main" id="{ECF4FAB5-94CA-8D75-4428-FE51AE61E877}"/>
              </a:ext>
            </a:extLst>
          </p:cNvPr>
          <p:cNvSpPr/>
          <p:nvPr/>
        </p:nvSpPr>
        <p:spPr>
          <a:xfrm>
            <a:off x="841248" y="2203704"/>
            <a:ext cx="2075688" cy="539496"/>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サイトUU（月間）</a:t>
            </a:r>
          </a:p>
        </p:txBody>
      </p:sp>
      <p:sp>
        <p:nvSpPr>
          <p:cNvPr id="17" name="Rectangle 7">
            <a:extLst>
              <a:ext uri="{FF2B5EF4-FFF2-40B4-BE49-F238E27FC236}">
                <a16:creationId xmlns:a16="http://schemas.microsoft.com/office/drawing/2014/main" id="{59ABF4AC-E182-56EE-AF0A-8E996E913D89}"/>
              </a:ext>
            </a:extLst>
          </p:cNvPr>
          <p:cNvSpPr/>
          <p:nvPr/>
        </p:nvSpPr>
        <p:spPr>
          <a:xfrm>
            <a:off x="2944368" y="2203704"/>
            <a:ext cx="3995928" cy="539496"/>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サイト全体のユニークユーザー数</a:t>
            </a:r>
          </a:p>
        </p:txBody>
      </p:sp>
      <p:sp>
        <p:nvSpPr>
          <p:cNvPr id="24" name="Rectangle 9">
            <a:extLst>
              <a:ext uri="{FF2B5EF4-FFF2-40B4-BE49-F238E27FC236}">
                <a16:creationId xmlns:a16="http://schemas.microsoft.com/office/drawing/2014/main" id="{D73FA1D7-BEA3-B981-6155-AEFEF0286995}"/>
              </a:ext>
            </a:extLst>
          </p:cNvPr>
          <p:cNvSpPr/>
          <p:nvPr/>
        </p:nvSpPr>
        <p:spPr>
          <a:xfrm>
            <a:off x="841248" y="2770632"/>
            <a:ext cx="2075688" cy="539496"/>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広告UU・広告費用</a:t>
            </a:r>
          </a:p>
        </p:txBody>
      </p:sp>
      <p:sp>
        <p:nvSpPr>
          <p:cNvPr id="28" name="Rectangle 10">
            <a:extLst>
              <a:ext uri="{FF2B5EF4-FFF2-40B4-BE49-F238E27FC236}">
                <a16:creationId xmlns:a16="http://schemas.microsoft.com/office/drawing/2014/main" id="{C1EFEFFE-E7CB-5EE7-1AB5-590315FE3980}"/>
              </a:ext>
            </a:extLst>
          </p:cNvPr>
          <p:cNvSpPr/>
          <p:nvPr/>
        </p:nvSpPr>
        <p:spPr>
          <a:xfrm>
            <a:off x="2944368" y="2770632"/>
            <a:ext cx="3995928" cy="539496"/>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広告経由の流入と月間の広告費</a:t>
            </a:r>
          </a:p>
        </p:txBody>
      </p:sp>
      <p:sp>
        <p:nvSpPr>
          <p:cNvPr id="36" name="Rectangle 12">
            <a:extLst>
              <a:ext uri="{FF2B5EF4-FFF2-40B4-BE49-F238E27FC236}">
                <a16:creationId xmlns:a16="http://schemas.microsoft.com/office/drawing/2014/main" id="{697ECEAF-7BB9-7DE2-205B-BF4102EA1DC3}"/>
              </a:ext>
            </a:extLst>
          </p:cNvPr>
          <p:cNvSpPr/>
          <p:nvPr/>
        </p:nvSpPr>
        <p:spPr>
          <a:xfrm>
            <a:off x="841248" y="3337560"/>
            <a:ext cx="2075688" cy="539496"/>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月間CV数</a:t>
            </a:r>
          </a:p>
        </p:txBody>
      </p:sp>
      <p:sp>
        <p:nvSpPr>
          <p:cNvPr id="40" name="Rectangle 13">
            <a:extLst>
              <a:ext uri="{FF2B5EF4-FFF2-40B4-BE49-F238E27FC236}">
                <a16:creationId xmlns:a16="http://schemas.microsoft.com/office/drawing/2014/main" id="{C02F7488-4398-6603-803E-B682EA6639F8}"/>
              </a:ext>
            </a:extLst>
          </p:cNvPr>
          <p:cNvSpPr/>
          <p:nvPr/>
        </p:nvSpPr>
        <p:spPr>
          <a:xfrm>
            <a:off x="2944368" y="3337560"/>
            <a:ext cx="3995928" cy="539496"/>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申込・予約・購入などの件数</a:t>
            </a:r>
          </a:p>
        </p:txBody>
      </p:sp>
      <p:sp>
        <p:nvSpPr>
          <p:cNvPr id="48" name="Rectangle 15">
            <a:extLst>
              <a:ext uri="{FF2B5EF4-FFF2-40B4-BE49-F238E27FC236}">
                <a16:creationId xmlns:a16="http://schemas.microsoft.com/office/drawing/2014/main" id="{61F4857C-44FC-330D-6E38-FCB957103270}"/>
              </a:ext>
            </a:extLst>
          </p:cNvPr>
          <p:cNvSpPr/>
          <p:nvPr/>
        </p:nvSpPr>
        <p:spPr>
          <a:xfrm>
            <a:off x="841248" y="3904487"/>
            <a:ext cx="2075688" cy="539496"/>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CV地点</a:t>
            </a:r>
          </a:p>
        </p:txBody>
      </p:sp>
      <p:sp>
        <p:nvSpPr>
          <p:cNvPr id="52" name="Rectangle 16">
            <a:extLst>
              <a:ext uri="{FF2B5EF4-FFF2-40B4-BE49-F238E27FC236}">
                <a16:creationId xmlns:a16="http://schemas.microsoft.com/office/drawing/2014/main" id="{83517BD4-932E-04BC-6215-04A0EC53978D}"/>
              </a:ext>
            </a:extLst>
          </p:cNvPr>
          <p:cNvSpPr/>
          <p:nvPr/>
        </p:nvSpPr>
        <p:spPr>
          <a:xfrm>
            <a:off x="2944368" y="3904487"/>
            <a:ext cx="3995928" cy="539496"/>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電話／フォーム／来店予約／購入など</a:t>
            </a:r>
          </a:p>
        </p:txBody>
      </p:sp>
      <p:sp>
        <p:nvSpPr>
          <p:cNvPr id="57" name="Rectangle 18">
            <a:extLst>
              <a:ext uri="{FF2B5EF4-FFF2-40B4-BE49-F238E27FC236}">
                <a16:creationId xmlns:a16="http://schemas.microsoft.com/office/drawing/2014/main" id="{E3B3C022-C821-43A8-BDFA-36760FBCB427}"/>
              </a:ext>
            </a:extLst>
          </p:cNvPr>
          <p:cNvSpPr/>
          <p:nvPr/>
        </p:nvSpPr>
        <p:spPr>
          <a:xfrm>
            <a:off x="841248" y="4471416"/>
            <a:ext cx="2075688" cy="539496"/>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主な流入元</a:t>
            </a:r>
          </a:p>
        </p:txBody>
      </p:sp>
      <p:sp>
        <p:nvSpPr>
          <p:cNvPr id="59" name="Rectangle 19">
            <a:extLst>
              <a:ext uri="{FF2B5EF4-FFF2-40B4-BE49-F238E27FC236}">
                <a16:creationId xmlns:a16="http://schemas.microsoft.com/office/drawing/2014/main" id="{4FEAAEBA-5690-AC8F-8FF3-276F88FCE6A0}"/>
              </a:ext>
            </a:extLst>
          </p:cNvPr>
          <p:cNvSpPr/>
          <p:nvPr/>
        </p:nvSpPr>
        <p:spPr>
          <a:xfrm>
            <a:off x="2944368" y="4471416"/>
            <a:ext cx="3995928" cy="539496"/>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SEO・広告・SNS・ディスプレイの比率</a:t>
            </a:r>
          </a:p>
        </p:txBody>
      </p:sp>
      <p:sp>
        <p:nvSpPr>
          <p:cNvPr id="63" name="Rectangle 21">
            <a:extLst>
              <a:ext uri="{FF2B5EF4-FFF2-40B4-BE49-F238E27FC236}">
                <a16:creationId xmlns:a16="http://schemas.microsoft.com/office/drawing/2014/main" id="{7313DF05-AD69-66C6-AA40-BD1CA81439B5}"/>
              </a:ext>
            </a:extLst>
          </p:cNvPr>
          <p:cNvSpPr/>
          <p:nvPr/>
        </p:nvSpPr>
        <p:spPr>
          <a:xfrm>
            <a:off x="841248" y="5038344"/>
            <a:ext cx="2075688" cy="539496"/>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現在のLINE導線</a:t>
            </a:r>
          </a:p>
        </p:txBody>
      </p:sp>
      <p:sp>
        <p:nvSpPr>
          <p:cNvPr id="65" name="Rectangle 22">
            <a:extLst>
              <a:ext uri="{FF2B5EF4-FFF2-40B4-BE49-F238E27FC236}">
                <a16:creationId xmlns:a16="http://schemas.microsoft.com/office/drawing/2014/main" id="{E8EA0A2C-B891-6674-4DCF-61D5975B1186}"/>
              </a:ext>
            </a:extLst>
          </p:cNvPr>
          <p:cNvSpPr/>
          <p:nvPr/>
        </p:nvSpPr>
        <p:spPr>
          <a:xfrm>
            <a:off x="2944368" y="5038344"/>
            <a:ext cx="3995928" cy="539496"/>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サイト上の友だち追加の入口の有無</a:t>
            </a:r>
          </a:p>
        </p:txBody>
      </p:sp>
      <p:sp>
        <p:nvSpPr>
          <p:cNvPr id="69" name="Rectangle 24">
            <a:extLst>
              <a:ext uri="{FF2B5EF4-FFF2-40B4-BE49-F238E27FC236}">
                <a16:creationId xmlns:a16="http://schemas.microsoft.com/office/drawing/2014/main" id="{C6E03287-2BFA-C776-5D36-CFA637C8C321}"/>
              </a:ext>
            </a:extLst>
          </p:cNvPr>
          <p:cNvSpPr/>
          <p:nvPr/>
        </p:nvSpPr>
        <p:spPr>
          <a:xfrm>
            <a:off x="841248" y="5605272"/>
            <a:ext cx="2075688" cy="539496"/>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リード保有数・他SNS</a:t>
            </a:r>
          </a:p>
        </p:txBody>
      </p:sp>
      <p:sp>
        <p:nvSpPr>
          <p:cNvPr id="76" name="Rectangle 5">
            <a:extLst>
              <a:ext uri="{FF2B5EF4-FFF2-40B4-BE49-F238E27FC236}">
                <a16:creationId xmlns:a16="http://schemas.microsoft.com/office/drawing/2014/main" id="{B38F1B92-D634-77F8-3356-02B435E0FAEE}"/>
              </a:ext>
            </a:extLst>
          </p:cNvPr>
          <p:cNvSpPr/>
          <p:nvPr/>
        </p:nvSpPr>
        <p:spPr>
          <a:xfrm>
            <a:off x="6967728" y="1783080"/>
            <a:ext cx="2029968" cy="384048"/>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200" b="1">
                <a:solidFill>
                  <a:srgbClr val="FFFFFF"/>
                </a:solidFill>
                <a:latin typeface="メイリオ"/>
                <a:ea typeface="メイリオ"/>
                <a:cs typeface="メイリオ"/>
              </a:rPr>
              <a:t>数値・内容</a:t>
            </a:r>
          </a:p>
        </p:txBody>
      </p:sp>
      <p:sp>
        <p:nvSpPr>
          <p:cNvPr id="77" name="Rectangle 8">
            <a:extLst>
              <a:ext uri="{FF2B5EF4-FFF2-40B4-BE49-F238E27FC236}">
                <a16:creationId xmlns:a16="http://schemas.microsoft.com/office/drawing/2014/main" id="{192BDBE0-827A-A566-E2C7-3CE69EF889BE}"/>
              </a:ext>
            </a:extLst>
          </p:cNvPr>
          <p:cNvSpPr/>
          <p:nvPr/>
        </p:nvSpPr>
        <p:spPr>
          <a:xfrm>
            <a:off x="6967728" y="2203704"/>
            <a:ext cx="2029968" cy="539496"/>
          </a:xfrm>
          <a:prstGeom prst="rect">
            <a:avLst/>
          </a:prstGeom>
          <a:solidFill>
            <a:srgbClr val="FFF8E1"/>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ctr">
              <a:spcAft>
                <a:spcPts val="0"/>
              </a:spcAft>
            </a:pPr>
            <a:r>
              <a:rPr sz="1150" b="0">
                <a:solidFill>
                  <a:srgbClr val="999999"/>
                </a:solidFill>
                <a:latin typeface="メイリオ"/>
                <a:ea typeface="メイリオ"/>
                <a:cs typeface="メイリオ"/>
              </a:rPr>
              <a:t>（ご記入）</a:t>
            </a:r>
          </a:p>
        </p:txBody>
      </p:sp>
      <p:sp>
        <p:nvSpPr>
          <p:cNvPr id="78" name="Rectangle 11">
            <a:extLst>
              <a:ext uri="{FF2B5EF4-FFF2-40B4-BE49-F238E27FC236}">
                <a16:creationId xmlns:a16="http://schemas.microsoft.com/office/drawing/2014/main" id="{DF2E3318-BC22-D10A-07C4-5D09E1B00A87}"/>
              </a:ext>
            </a:extLst>
          </p:cNvPr>
          <p:cNvSpPr/>
          <p:nvPr/>
        </p:nvSpPr>
        <p:spPr>
          <a:xfrm>
            <a:off x="6967728" y="2770632"/>
            <a:ext cx="2029968" cy="539496"/>
          </a:xfrm>
          <a:prstGeom prst="rect">
            <a:avLst/>
          </a:prstGeom>
          <a:solidFill>
            <a:srgbClr val="FFF8E1"/>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ctr">
              <a:spcAft>
                <a:spcPts val="0"/>
              </a:spcAft>
            </a:pPr>
            <a:r>
              <a:rPr sz="1150" b="0">
                <a:solidFill>
                  <a:srgbClr val="999999"/>
                </a:solidFill>
                <a:latin typeface="メイリオ"/>
                <a:ea typeface="メイリオ"/>
                <a:cs typeface="メイリオ"/>
              </a:rPr>
              <a:t>（ご記入）</a:t>
            </a:r>
          </a:p>
        </p:txBody>
      </p:sp>
      <p:sp>
        <p:nvSpPr>
          <p:cNvPr id="79" name="Rectangle 14">
            <a:extLst>
              <a:ext uri="{FF2B5EF4-FFF2-40B4-BE49-F238E27FC236}">
                <a16:creationId xmlns:a16="http://schemas.microsoft.com/office/drawing/2014/main" id="{2F30D830-C8E5-B05E-3354-E6780E4D8F34}"/>
              </a:ext>
            </a:extLst>
          </p:cNvPr>
          <p:cNvSpPr/>
          <p:nvPr/>
        </p:nvSpPr>
        <p:spPr>
          <a:xfrm>
            <a:off x="6967728" y="3337560"/>
            <a:ext cx="2029968" cy="539496"/>
          </a:xfrm>
          <a:prstGeom prst="rect">
            <a:avLst/>
          </a:prstGeom>
          <a:solidFill>
            <a:srgbClr val="FFF8E1"/>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ctr">
              <a:spcAft>
                <a:spcPts val="0"/>
              </a:spcAft>
            </a:pPr>
            <a:r>
              <a:rPr sz="1150" b="0">
                <a:solidFill>
                  <a:srgbClr val="999999"/>
                </a:solidFill>
                <a:latin typeface="メイリオ"/>
                <a:ea typeface="メイリオ"/>
                <a:cs typeface="メイリオ"/>
              </a:rPr>
              <a:t>（ご記入）</a:t>
            </a:r>
          </a:p>
        </p:txBody>
      </p:sp>
      <p:sp>
        <p:nvSpPr>
          <p:cNvPr id="80" name="Rectangle 17">
            <a:extLst>
              <a:ext uri="{FF2B5EF4-FFF2-40B4-BE49-F238E27FC236}">
                <a16:creationId xmlns:a16="http://schemas.microsoft.com/office/drawing/2014/main" id="{68B146F0-A9E6-7C8D-DC20-A149DB41E5D2}"/>
              </a:ext>
            </a:extLst>
          </p:cNvPr>
          <p:cNvSpPr/>
          <p:nvPr/>
        </p:nvSpPr>
        <p:spPr>
          <a:xfrm>
            <a:off x="6967728" y="3904487"/>
            <a:ext cx="2029968" cy="539496"/>
          </a:xfrm>
          <a:prstGeom prst="rect">
            <a:avLst/>
          </a:prstGeom>
          <a:solidFill>
            <a:srgbClr val="FFF8E1"/>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ctr">
              <a:spcAft>
                <a:spcPts val="0"/>
              </a:spcAft>
            </a:pPr>
            <a:r>
              <a:rPr sz="1150" b="0">
                <a:solidFill>
                  <a:srgbClr val="999999"/>
                </a:solidFill>
                <a:latin typeface="メイリオ"/>
                <a:ea typeface="メイリオ"/>
                <a:cs typeface="メイリオ"/>
              </a:rPr>
              <a:t>（ご記入）</a:t>
            </a:r>
          </a:p>
        </p:txBody>
      </p:sp>
      <p:sp>
        <p:nvSpPr>
          <p:cNvPr id="81" name="Rectangle 20">
            <a:extLst>
              <a:ext uri="{FF2B5EF4-FFF2-40B4-BE49-F238E27FC236}">
                <a16:creationId xmlns:a16="http://schemas.microsoft.com/office/drawing/2014/main" id="{886B0D5C-0C30-0B30-0BA4-E1C772ECF373}"/>
              </a:ext>
            </a:extLst>
          </p:cNvPr>
          <p:cNvSpPr/>
          <p:nvPr/>
        </p:nvSpPr>
        <p:spPr>
          <a:xfrm>
            <a:off x="6967728" y="4471416"/>
            <a:ext cx="2029968" cy="539496"/>
          </a:xfrm>
          <a:prstGeom prst="rect">
            <a:avLst/>
          </a:prstGeom>
          <a:solidFill>
            <a:srgbClr val="FFF8E1"/>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ctr">
              <a:spcAft>
                <a:spcPts val="0"/>
              </a:spcAft>
            </a:pPr>
            <a:r>
              <a:rPr sz="1150" b="0">
                <a:solidFill>
                  <a:srgbClr val="999999"/>
                </a:solidFill>
                <a:latin typeface="メイリオ"/>
                <a:ea typeface="メイリオ"/>
                <a:cs typeface="メイリオ"/>
              </a:rPr>
              <a:t>（ご記入）</a:t>
            </a:r>
          </a:p>
        </p:txBody>
      </p:sp>
      <p:sp>
        <p:nvSpPr>
          <p:cNvPr id="82" name="Rectangle 23">
            <a:extLst>
              <a:ext uri="{FF2B5EF4-FFF2-40B4-BE49-F238E27FC236}">
                <a16:creationId xmlns:a16="http://schemas.microsoft.com/office/drawing/2014/main" id="{22594C73-0280-1178-5856-83C2C8C7B870}"/>
              </a:ext>
            </a:extLst>
          </p:cNvPr>
          <p:cNvSpPr/>
          <p:nvPr/>
        </p:nvSpPr>
        <p:spPr>
          <a:xfrm>
            <a:off x="6967728" y="5038344"/>
            <a:ext cx="2029968" cy="539496"/>
          </a:xfrm>
          <a:prstGeom prst="rect">
            <a:avLst/>
          </a:prstGeom>
          <a:solidFill>
            <a:srgbClr val="FFF8E1"/>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ctr">
              <a:spcAft>
                <a:spcPts val="0"/>
              </a:spcAft>
            </a:pPr>
            <a:r>
              <a:rPr sz="1150" b="0">
                <a:solidFill>
                  <a:srgbClr val="999999"/>
                </a:solidFill>
                <a:latin typeface="メイリオ"/>
                <a:ea typeface="メイリオ"/>
                <a:cs typeface="メイリオ"/>
              </a:rPr>
              <a:t>（ご記入）</a:t>
            </a:r>
          </a:p>
        </p:txBody>
      </p:sp>
      <p:sp>
        <p:nvSpPr>
          <p:cNvPr id="83" name="Rectangle 26">
            <a:extLst>
              <a:ext uri="{FF2B5EF4-FFF2-40B4-BE49-F238E27FC236}">
                <a16:creationId xmlns:a16="http://schemas.microsoft.com/office/drawing/2014/main" id="{646B48C3-12AF-E6E5-8AEE-F4C5DD2EEC0C}"/>
              </a:ext>
            </a:extLst>
          </p:cNvPr>
          <p:cNvSpPr/>
          <p:nvPr/>
        </p:nvSpPr>
        <p:spPr>
          <a:xfrm>
            <a:off x="6967728" y="5605272"/>
            <a:ext cx="2029968" cy="539496"/>
          </a:xfrm>
          <a:prstGeom prst="rect">
            <a:avLst/>
          </a:prstGeom>
          <a:solidFill>
            <a:srgbClr val="FFF8E1"/>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ctr">
              <a:spcAft>
                <a:spcPts val="0"/>
              </a:spcAft>
            </a:pPr>
            <a:r>
              <a:rPr sz="1150" b="0">
                <a:solidFill>
                  <a:srgbClr val="999999"/>
                </a:solidFill>
                <a:latin typeface="メイリオ"/>
                <a:ea typeface="メイリオ"/>
                <a:cs typeface="メイリオ"/>
              </a:rPr>
              <a:t>（ご記入）</a:t>
            </a:r>
          </a:p>
        </p:txBody>
      </p:sp>
      <p:sp>
        <p:nvSpPr>
          <p:cNvPr id="71" name="Rectangle 25">
            <a:extLst>
              <a:ext uri="{FF2B5EF4-FFF2-40B4-BE49-F238E27FC236}">
                <a16:creationId xmlns:a16="http://schemas.microsoft.com/office/drawing/2014/main" id="{FC84BF14-9CF1-6C23-B694-B5ABD998471B}"/>
              </a:ext>
            </a:extLst>
          </p:cNvPr>
          <p:cNvSpPr/>
          <p:nvPr/>
        </p:nvSpPr>
        <p:spPr>
          <a:xfrm>
            <a:off x="2944368" y="5605272"/>
            <a:ext cx="3995928" cy="539496"/>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メール会員・他SNSのフォロワー数など</a:t>
            </a:r>
          </a:p>
        </p:txBody>
      </p:sp>
      <p:sp>
        <p:nvSpPr>
          <p:cNvPr id="75" name="Rectangle 27">
            <a:extLst>
              <a:ext uri="{FF2B5EF4-FFF2-40B4-BE49-F238E27FC236}">
                <a16:creationId xmlns:a16="http://schemas.microsoft.com/office/drawing/2014/main" id="{9173779F-195E-9786-2251-C130A6484F81}"/>
              </a:ext>
            </a:extLst>
          </p:cNvPr>
          <p:cNvSpPr/>
          <p:nvPr/>
        </p:nvSpPr>
        <p:spPr>
          <a:xfrm>
            <a:off x="841248" y="6307118"/>
            <a:ext cx="8156448" cy="18736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t"/>
          <a:lstStyle/>
          <a:p>
            <a:pPr algn="l">
              <a:spcAft>
                <a:spcPts val="300"/>
              </a:spcAft>
            </a:pPr>
            <a:r>
              <a:rPr sz="800" b="0">
                <a:solidFill>
                  <a:srgbClr val="777777"/>
                </a:solidFill>
                <a:latin typeface="メイリオ"/>
                <a:ea typeface="メイリオ"/>
                <a:cs typeface="メイリオ"/>
              </a:rPr>
              <a:t>※数値は貴社ヒアリングおよびGA等の外部計測をもとに想定します</a:t>
            </a:r>
          </a:p>
        </p:txBody>
      </p:sp>
    </p:spTree>
    <p:extLst>
      <p:ext uri="{BB962C8B-B14F-4D97-AF65-F5344CB8AC3E}">
        <p14:creationId xmlns:p14="http://schemas.microsoft.com/office/powerpoint/2010/main" val="3306063931"/>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10FB08-13E3-C993-1F60-B189537A26F7}"/>
            </a:ext>
          </a:extLst>
        </p:cNvPr>
        <p:cNvGrpSpPr/>
        <p:nvPr/>
      </p:nvGrpSpPr>
      <p:grpSpPr>
        <a:xfrm>
          <a:off x="0" y="0"/>
          <a:ext cx="0" cy="0"/>
          <a:chOff x="0" y="0"/>
          <a:chExt cx="0" cy="0"/>
        </a:xfrm>
      </p:grpSpPr>
      <p:sp>
        <p:nvSpPr>
          <p:cNvPr id="3" name="テキスト ボックス 47">
            <a:extLst>
              <a:ext uri="{FF2B5EF4-FFF2-40B4-BE49-F238E27FC236}">
                <a16:creationId xmlns:a16="http://schemas.microsoft.com/office/drawing/2014/main" id="{2637A23C-033D-1544-8EE9-E879FC52D382}"/>
              </a:ext>
            </a:extLst>
          </p:cNvPr>
          <p:cNvSpPr txBox="1">
            <a:spLocks noChangeArrowheads="1"/>
          </p:cNvSpPr>
          <p:nvPr/>
        </p:nvSpPr>
        <p:spPr bwMode="auto">
          <a:xfrm>
            <a:off x="456501"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Calibri" charset="0"/>
                <a:ea typeface="ＭＳ Ｐゴシック" charset="0"/>
                <a:cs typeface="ＭＳ Ｐゴシック" charset="0"/>
              </a:defRPr>
            </a:lvl1pPr>
            <a:lvl2pPr>
              <a:defRPr kumimoji="1" sz="2800">
                <a:solidFill>
                  <a:schemeClr val="tx1"/>
                </a:solidFill>
                <a:latin typeface="Calibri" charset="0"/>
                <a:ea typeface="ＭＳ Ｐゴシック" charset="0"/>
              </a:defRPr>
            </a:lvl2pPr>
            <a:lvl3pPr>
              <a:defRPr kumimoji="1" sz="2400">
                <a:solidFill>
                  <a:schemeClr val="tx1"/>
                </a:solidFill>
                <a:latin typeface="Calibri" charset="0"/>
                <a:ea typeface="ＭＳ Ｐゴシック" charset="0"/>
              </a:defRPr>
            </a:lvl3pPr>
            <a:lvl4pPr>
              <a:defRPr kumimoji="1" sz="2000">
                <a:solidFill>
                  <a:schemeClr val="tx1"/>
                </a:solidFill>
                <a:latin typeface="Calibri" charset="0"/>
                <a:ea typeface="ＭＳ Ｐゴシック" charset="0"/>
              </a:defRPr>
            </a:lvl4pPr>
            <a:lvl5pPr>
              <a:defRPr kumimoji="1" sz="2000">
                <a:solidFill>
                  <a:schemeClr val="tx1"/>
                </a:solidFill>
                <a:latin typeface="Calibri" charset="0"/>
                <a:ea typeface="ＭＳ Ｐゴシック" charset="0"/>
              </a:defRPr>
            </a:lvl5pPr>
            <a:lvl6pPr eaLnBrk="0" fontAlgn="base" hangingPunct="0">
              <a:spcAft>
                <a:spcPct val="0"/>
              </a:spcAft>
              <a:buFont typeface="Arial" charset="0"/>
              <a:buChar char="»"/>
              <a:defRPr kumimoji="1" sz="2000">
                <a:solidFill>
                  <a:schemeClr val="tx1"/>
                </a:solidFill>
                <a:latin typeface="Calibri" charset="0"/>
                <a:ea typeface="ＭＳ Ｐゴシック" charset="0"/>
              </a:defRPr>
            </a:lvl6pPr>
            <a:lvl7pPr eaLnBrk="0" fontAlgn="base" hangingPunct="0">
              <a:spcAft>
                <a:spcPct val="0"/>
              </a:spcAft>
              <a:buFont typeface="Arial" charset="0"/>
              <a:buChar char="»"/>
              <a:defRPr kumimoji="1" sz="2000">
                <a:solidFill>
                  <a:schemeClr val="tx1"/>
                </a:solidFill>
                <a:latin typeface="Calibri" charset="0"/>
                <a:ea typeface="ＭＳ Ｐゴシック" charset="0"/>
              </a:defRPr>
            </a:lvl7pPr>
            <a:lvl8pPr eaLnBrk="0" fontAlgn="base" hangingPunct="0">
              <a:spcAft>
                <a:spcPct val="0"/>
              </a:spcAft>
              <a:buFont typeface="Arial" charset="0"/>
              <a:buChar char="»"/>
              <a:defRPr kumimoji="1" sz="2000">
                <a:solidFill>
                  <a:schemeClr val="tx1"/>
                </a:solidFill>
                <a:latin typeface="Calibri" charset="0"/>
                <a:ea typeface="ＭＳ Ｐゴシック" charset="0"/>
              </a:defRPr>
            </a:lvl8pPr>
            <a:lvl9pPr eaLnBrk="0" fontAlgn="base" hangingPunct="0">
              <a:spcAft>
                <a:spcPct val="0"/>
              </a:spcAft>
              <a:buFont typeface="Arial" charset="0"/>
              <a:buChar char="»"/>
              <a:defRPr kumimoji="1" sz="2000">
                <a:solidFill>
                  <a:schemeClr val="tx1"/>
                </a:solidFill>
                <a:latin typeface="Calibri" charset="0"/>
                <a:ea typeface="ＭＳ Ｐゴシック" charset="0"/>
              </a:defRPr>
            </a:lvl9pPr>
          </a:lstStyle>
          <a:p>
            <a:pPr>
              <a:spcBef>
                <a:spcPct val="20000"/>
              </a:spcBef>
              <a:buFont typeface="Arial" charset="0"/>
              <a:buNone/>
            </a:pPr>
            <a:r>
              <a:rPr lang="ja-JP" altLang="en-US" sz="1600" b="1" dirty="0">
                <a:solidFill>
                  <a:srgbClr val="1F2A5C"/>
                </a:solidFill>
                <a:latin typeface="メイリオ"/>
                <a:ea typeface="メイリオ"/>
                <a:cs typeface="メイリオ"/>
              </a:rPr>
              <a:t>提案に向けて明確化したいポイント③　既存LINE公式アカウント</a:t>
            </a:r>
          </a:p>
        </p:txBody>
      </p:sp>
      <p:sp>
        <p:nvSpPr>
          <p:cNvPr id="5" name="Rectangle 2">
            <a:extLst>
              <a:ext uri="{FF2B5EF4-FFF2-40B4-BE49-F238E27FC236}">
                <a16:creationId xmlns:a16="http://schemas.microsoft.com/office/drawing/2014/main" id="{A3FC988D-B1DD-8205-D73C-DA166AB12BBD}"/>
              </a:ext>
            </a:extLst>
          </p:cNvPr>
          <p:cNvSpPr/>
          <p:nvPr/>
        </p:nvSpPr>
        <p:spPr>
          <a:xfrm>
            <a:off x="121798" y="960120"/>
            <a:ext cx="914400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t"/>
          <a:lstStyle/>
          <a:p>
            <a:pPr>
              <a:spcAft>
                <a:spcPts val="300"/>
              </a:spcAft>
            </a:pPr>
            <a:r>
              <a:rPr lang="ja-JP" altLang="en-US" sz="1600" b="1" dirty="0">
                <a:solidFill>
                  <a:srgbClr val="4A6FA5"/>
                </a:solidFill>
                <a:latin typeface="メイリオ"/>
                <a:ea typeface="メイリオ"/>
                <a:cs typeface="メイリオ"/>
              </a:rPr>
              <a:t>現状の規模・活用度・費用から、改善余地を見極める</a:t>
            </a:r>
          </a:p>
        </p:txBody>
      </p:sp>
      <p:sp>
        <p:nvSpPr>
          <p:cNvPr id="53" name="正方形/長方形 52">
            <a:extLst>
              <a:ext uri="{FF2B5EF4-FFF2-40B4-BE49-F238E27FC236}">
                <a16:creationId xmlns:a16="http://schemas.microsoft.com/office/drawing/2014/main" id="{019F89D8-176F-C4D3-FA4F-CC6F45A8E89D}"/>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b="1" dirty="0">
              <a:latin typeface="メイリオ" panose="020B0604030504040204" pitchFamily="50" charset="-128"/>
              <a:ea typeface="メイリオ" panose="020B0604030504040204" pitchFamily="50" charset="-128"/>
            </a:endParaRPr>
          </a:p>
        </p:txBody>
      </p:sp>
      <p:sp>
        <p:nvSpPr>
          <p:cNvPr id="4" name="Rectangle 3">
            <a:extLst>
              <a:ext uri="{FF2B5EF4-FFF2-40B4-BE49-F238E27FC236}">
                <a16:creationId xmlns:a16="http://schemas.microsoft.com/office/drawing/2014/main" id="{2E9E5595-5564-F6B6-4231-BF3FBBE8BF96}"/>
              </a:ext>
            </a:extLst>
          </p:cNvPr>
          <p:cNvSpPr/>
          <p:nvPr/>
        </p:nvSpPr>
        <p:spPr>
          <a:xfrm>
            <a:off x="836762" y="1780907"/>
            <a:ext cx="1714414" cy="384048"/>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400" b="1">
                <a:solidFill>
                  <a:srgbClr val="FFFFFF"/>
                </a:solidFill>
                <a:latin typeface="メイリオ"/>
                <a:ea typeface="メイリオ"/>
                <a:cs typeface="メイリオ"/>
              </a:rPr>
              <a:t>項目</a:t>
            </a:r>
          </a:p>
        </p:txBody>
      </p:sp>
      <p:sp>
        <p:nvSpPr>
          <p:cNvPr id="8" name="Rectangle 4">
            <a:extLst>
              <a:ext uri="{FF2B5EF4-FFF2-40B4-BE49-F238E27FC236}">
                <a16:creationId xmlns:a16="http://schemas.microsoft.com/office/drawing/2014/main" id="{1B2F3472-C219-FE04-0FAB-2471178F9BAE}"/>
              </a:ext>
            </a:extLst>
          </p:cNvPr>
          <p:cNvSpPr/>
          <p:nvPr/>
        </p:nvSpPr>
        <p:spPr>
          <a:xfrm>
            <a:off x="2578608" y="1780907"/>
            <a:ext cx="3995928" cy="384048"/>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400" b="1">
                <a:solidFill>
                  <a:srgbClr val="FFFFFF"/>
                </a:solidFill>
                <a:latin typeface="メイリオ"/>
                <a:ea typeface="メイリオ"/>
                <a:cs typeface="メイリオ"/>
              </a:rPr>
              <a:t>確認内容</a:t>
            </a:r>
          </a:p>
        </p:txBody>
      </p:sp>
      <p:sp>
        <p:nvSpPr>
          <p:cNvPr id="15" name="Rectangle 6">
            <a:extLst>
              <a:ext uri="{FF2B5EF4-FFF2-40B4-BE49-F238E27FC236}">
                <a16:creationId xmlns:a16="http://schemas.microsoft.com/office/drawing/2014/main" id="{E019A0C2-CAAE-25A0-61D2-699B65C42417}"/>
              </a:ext>
            </a:extLst>
          </p:cNvPr>
          <p:cNvSpPr/>
          <p:nvPr/>
        </p:nvSpPr>
        <p:spPr>
          <a:xfrm>
            <a:off x="836762" y="2203668"/>
            <a:ext cx="1714414" cy="565265"/>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友だち数</a:t>
            </a:r>
          </a:p>
        </p:txBody>
      </p:sp>
      <p:sp>
        <p:nvSpPr>
          <p:cNvPr id="17" name="Rectangle 7">
            <a:extLst>
              <a:ext uri="{FF2B5EF4-FFF2-40B4-BE49-F238E27FC236}">
                <a16:creationId xmlns:a16="http://schemas.microsoft.com/office/drawing/2014/main" id="{18AC0B76-9D3D-7E03-E909-B45DC15D43B6}"/>
              </a:ext>
            </a:extLst>
          </p:cNvPr>
          <p:cNvSpPr/>
          <p:nvPr/>
        </p:nvSpPr>
        <p:spPr>
          <a:xfrm>
            <a:off x="2578608" y="2203668"/>
            <a:ext cx="3995928" cy="565265"/>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累計と、直近の月間増加数</a:t>
            </a:r>
          </a:p>
        </p:txBody>
      </p:sp>
      <p:sp>
        <p:nvSpPr>
          <p:cNvPr id="24" name="Rectangle 9">
            <a:extLst>
              <a:ext uri="{FF2B5EF4-FFF2-40B4-BE49-F238E27FC236}">
                <a16:creationId xmlns:a16="http://schemas.microsoft.com/office/drawing/2014/main" id="{382D44E1-F4E2-5751-D452-0D8CCC481730}"/>
              </a:ext>
            </a:extLst>
          </p:cNvPr>
          <p:cNvSpPr/>
          <p:nvPr/>
        </p:nvSpPr>
        <p:spPr>
          <a:xfrm>
            <a:off x="836762" y="2809782"/>
            <a:ext cx="1714414" cy="565265"/>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アクティブ率</a:t>
            </a:r>
          </a:p>
        </p:txBody>
      </p:sp>
      <p:sp>
        <p:nvSpPr>
          <p:cNvPr id="28" name="Rectangle 10">
            <a:extLst>
              <a:ext uri="{FF2B5EF4-FFF2-40B4-BE49-F238E27FC236}">
                <a16:creationId xmlns:a16="http://schemas.microsoft.com/office/drawing/2014/main" id="{8BBA3D2A-3669-05A3-FEA9-C9200F5ACDCB}"/>
              </a:ext>
            </a:extLst>
          </p:cNvPr>
          <p:cNvSpPr/>
          <p:nvPr/>
        </p:nvSpPr>
        <p:spPr>
          <a:xfrm>
            <a:off x="2578608" y="2809782"/>
            <a:ext cx="3995928" cy="565265"/>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ブロック率、開封率、クリック率</a:t>
            </a:r>
          </a:p>
        </p:txBody>
      </p:sp>
      <p:sp>
        <p:nvSpPr>
          <p:cNvPr id="36" name="Rectangle 12">
            <a:extLst>
              <a:ext uri="{FF2B5EF4-FFF2-40B4-BE49-F238E27FC236}">
                <a16:creationId xmlns:a16="http://schemas.microsoft.com/office/drawing/2014/main" id="{C5BC36E1-E9EC-5F99-6730-862D59A7268A}"/>
              </a:ext>
            </a:extLst>
          </p:cNvPr>
          <p:cNvSpPr/>
          <p:nvPr/>
        </p:nvSpPr>
        <p:spPr>
          <a:xfrm>
            <a:off x="836762" y="3424605"/>
            <a:ext cx="1714414" cy="565265"/>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月間投稿数</a:t>
            </a:r>
          </a:p>
        </p:txBody>
      </p:sp>
      <p:sp>
        <p:nvSpPr>
          <p:cNvPr id="40" name="Rectangle 13">
            <a:extLst>
              <a:ext uri="{FF2B5EF4-FFF2-40B4-BE49-F238E27FC236}">
                <a16:creationId xmlns:a16="http://schemas.microsoft.com/office/drawing/2014/main" id="{D7C51E36-A3E0-FAF5-4F2A-F634C9ABFEB4}"/>
              </a:ext>
            </a:extLst>
          </p:cNvPr>
          <p:cNvSpPr/>
          <p:nvPr/>
        </p:nvSpPr>
        <p:spPr>
          <a:xfrm>
            <a:off x="2578608" y="3424605"/>
            <a:ext cx="3995928" cy="565265"/>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一斉配信・ステップ配信の本数、月間通数</a:t>
            </a:r>
          </a:p>
        </p:txBody>
      </p:sp>
      <p:sp>
        <p:nvSpPr>
          <p:cNvPr id="48" name="Rectangle 15">
            <a:extLst>
              <a:ext uri="{FF2B5EF4-FFF2-40B4-BE49-F238E27FC236}">
                <a16:creationId xmlns:a16="http://schemas.microsoft.com/office/drawing/2014/main" id="{7A4A3E0B-F476-7DC4-F177-948A5D80A39F}"/>
              </a:ext>
            </a:extLst>
          </p:cNvPr>
          <p:cNvSpPr/>
          <p:nvPr/>
        </p:nvSpPr>
        <p:spPr>
          <a:xfrm>
            <a:off x="836762" y="4030719"/>
            <a:ext cx="1714414" cy="565265"/>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契約プラン</a:t>
            </a:r>
          </a:p>
        </p:txBody>
      </p:sp>
      <p:sp>
        <p:nvSpPr>
          <p:cNvPr id="52" name="Rectangle 16">
            <a:extLst>
              <a:ext uri="{FF2B5EF4-FFF2-40B4-BE49-F238E27FC236}">
                <a16:creationId xmlns:a16="http://schemas.microsoft.com/office/drawing/2014/main" id="{A4648CD6-60C7-E224-DC81-0EA8893B695C}"/>
              </a:ext>
            </a:extLst>
          </p:cNvPr>
          <p:cNvSpPr/>
          <p:nvPr/>
        </p:nvSpPr>
        <p:spPr>
          <a:xfrm>
            <a:off x="2578608" y="4030719"/>
            <a:ext cx="3995928" cy="565265"/>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LINE公式アカウントの料金プラン</a:t>
            </a:r>
          </a:p>
        </p:txBody>
      </p:sp>
      <p:sp>
        <p:nvSpPr>
          <p:cNvPr id="57" name="Rectangle 18">
            <a:extLst>
              <a:ext uri="{FF2B5EF4-FFF2-40B4-BE49-F238E27FC236}">
                <a16:creationId xmlns:a16="http://schemas.microsoft.com/office/drawing/2014/main" id="{279B2C05-4721-5850-5790-24F42D16195C}"/>
              </a:ext>
            </a:extLst>
          </p:cNvPr>
          <p:cNvSpPr/>
          <p:nvPr/>
        </p:nvSpPr>
        <p:spPr>
          <a:xfrm>
            <a:off x="836762" y="4645542"/>
            <a:ext cx="1714414" cy="565265"/>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契約ツール</a:t>
            </a:r>
          </a:p>
        </p:txBody>
      </p:sp>
      <p:sp>
        <p:nvSpPr>
          <p:cNvPr id="59" name="Rectangle 19">
            <a:extLst>
              <a:ext uri="{FF2B5EF4-FFF2-40B4-BE49-F238E27FC236}">
                <a16:creationId xmlns:a16="http://schemas.microsoft.com/office/drawing/2014/main" id="{072A4C57-A1E2-FE0C-0F9A-495CB437882F}"/>
              </a:ext>
            </a:extLst>
          </p:cNvPr>
          <p:cNvSpPr/>
          <p:nvPr/>
        </p:nvSpPr>
        <p:spPr>
          <a:xfrm>
            <a:off x="2578608" y="4645542"/>
            <a:ext cx="3995928" cy="565265"/>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APIツール（Lステップ等）の有無・プラン</a:t>
            </a:r>
          </a:p>
        </p:txBody>
      </p:sp>
      <p:sp>
        <p:nvSpPr>
          <p:cNvPr id="63" name="Rectangle 21">
            <a:extLst>
              <a:ext uri="{FF2B5EF4-FFF2-40B4-BE49-F238E27FC236}">
                <a16:creationId xmlns:a16="http://schemas.microsoft.com/office/drawing/2014/main" id="{F4210959-8935-1BA3-A155-B4D4B1BE79EA}"/>
              </a:ext>
            </a:extLst>
          </p:cNvPr>
          <p:cNvSpPr/>
          <p:nvPr/>
        </p:nvSpPr>
        <p:spPr>
          <a:xfrm>
            <a:off x="836762" y="5251655"/>
            <a:ext cx="1714414" cy="565265"/>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全体費用感</a:t>
            </a:r>
          </a:p>
        </p:txBody>
      </p:sp>
      <p:sp>
        <p:nvSpPr>
          <p:cNvPr id="70" name="Rectangle 5">
            <a:extLst>
              <a:ext uri="{FF2B5EF4-FFF2-40B4-BE49-F238E27FC236}">
                <a16:creationId xmlns:a16="http://schemas.microsoft.com/office/drawing/2014/main" id="{5BA3C8AC-F83B-8887-50C2-B4AED74F4F54}"/>
              </a:ext>
            </a:extLst>
          </p:cNvPr>
          <p:cNvSpPr/>
          <p:nvPr/>
        </p:nvSpPr>
        <p:spPr>
          <a:xfrm>
            <a:off x="6601968" y="1780907"/>
            <a:ext cx="2395383" cy="384048"/>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200" b="1">
                <a:solidFill>
                  <a:srgbClr val="FFFFFF"/>
                </a:solidFill>
                <a:latin typeface="メイリオ"/>
                <a:ea typeface="メイリオ"/>
                <a:cs typeface="メイリオ"/>
              </a:rPr>
              <a:t>数値・内容</a:t>
            </a:r>
          </a:p>
        </p:txBody>
      </p:sp>
      <p:sp>
        <p:nvSpPr>
          <p:cNvPr id="71" name="Rectangle 8">
            <a:extLst>
              <a:ext uri="{FF2B5EF4-FFF2-40B4-BE49-F238E27FC236}">
                <a16:creationId xmlns:a16="http://schemas.microsoft.com/office/drawing/2014/main" id="{090C52B4-5C5E-4082-D9D0-B3F682D1D56B}"/>
              </a:ext>
            </a:extLst>
          </p:cNvPr>
          <p:cNvSpPr/>
          <p:nvPr/>
        </p:nvSpPr>
        <p:spPr>
          <a:xfrm>
            <a:off x="6601968" y="2203668"/>
            <a:ext cx="2395383" cy="565265"/>
          </a:xfrm>
          <a:prstGeom prst="rect">
            <a:avLst/>
          </a:prstGeom>
          <a:solidFill>
            <a:srgbClr val="FFF8E1"/>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ctr">
              <a:spcAft>
                <a:spcPts val="0"/>
              </a:spcAft>
            </a:pPr>
            <a:r>
              <a:rPr sz="1150" b="0">
                <a:solidFill>
                  <a:srgbClr val="999999"/>
                </a:solidFill>
                <a:latin typeface="メイリオ"/>
                <a:ea typeface="メイリオ"/>
                <a:cs typeface="メイリオ"/>
              </a:rPr>
              <a:t>（ご記入）</a:t>
            </a:r>
          </a:p>
        </p:txBody>
      </p:sp>
      <p:sp>
        <p:nvSpPr>
          <p:cNvPr id="72" name="Rectangle 11">
            <a:extLst>
              <a:ext uri="{FF2B5EF4-FFF2-40B4-BE49-F238E27FC236}">
                <a16:creationId xmlns:a16="http://schemas.microsoft.com/office/drawing/2014/main" id="{5D95E04F-E0EF-7048-CE4F-52EF8E06A51C}"/>
              </a:ext>
            </a:extLst>
          </p:cNvPr>
          <p:cNvSpPr/>
          <p:nvPr/>
        </p:nvSpPr>
        <p:spPr>
          <a:xfrm>
            <a:off x="6601968" y="2809782"/>
            <a:ext cx="2395383" cy="565265"/>
          </a:xfrm>
          <a:prstGeom prst="rect">
            <a:avLst/>
          </a:prstGeom>
          <a:solidFill>
            <a:srgbClr val="FFF8E1"/>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ctr">
              <a:spcAft>
                <a:spcPts val="0"/>
              </a:spcAft>
            </a:pPr>
            <a:r>
              <a:rPr sz="1150" b="0">
                <a:solidFill>
                  <a:srgbClr val="999999"/>
                </a:solidFill>
                <a:latin typeface="メイリオ"/>
                <a:ea typeface="メイリオ"/>
                <a:cs typeface="メイリオ"/>
              </a:rPr>
              <a:t>（ご記入）</a:t>
            </a:r>
          </a:p>
        </p:txBody>
      </p:sp>
      <p:sp>
        <p:nvSpPr>
          <p:cNvPr id="73" name="Rectangle 14">
            <a:extLst>
              <a:ext uri="{FF2B5EF4-FFF2-40B4-BE49-F238E27FC236}">
                <a16:creationId xmlns:a16="http://schemas.microsoft.com/office/drawing/2014/main" id="{8DF123B9-F9C1-F5AC-B9B8-847E3B54BB6E}"/>
              </a:ext>
            </a:extLst>
          </p:cNvPr>
          <p:cNvSpPr/>
          <p:nvPr/>
        </p:nvSpPr>
        <p:spPr>
          <a:xfrm>
            <a:off x="6601968" y="3424605"/>
            <a:ext cx="2395383" cy="565265"/>
          </a:xfrm>
          <a:prstGeom prst="rect">
            <a:avLst/>
          </a:prstGeom>
          <a:solidFill>
            <a:srgbClr val="FFF8E1"/>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ctr">
              <a:spcAft>
                <a:spcPts val="0"/>
              </a:spcAft>
            </a:pPr>
            <a:r>
              <a:rPr sz="1150" b="0">
                <a:solidFill>
                  <a:srgbClr val="999999"/>
                </a:solidFill>
                <a:latin typeface="メイリオ"/>
                <a:ea typeface="メイリオ"/>
                <a:cs typeface="メイリオ"/>
              </a:rPr>
              <a:t>（ご記入）</a:t>
            </a:r>
          </a:p>
        </p:txBody>
      </p:sp>
      <p:sp>
        <p:nvSpPr>
          <p:cNvPr id="74" name="Rectangle 17">
            <a:extLst>
              <a:ext uri="{FF2B5EF4-FFF2-40B4-BE49-F238E27FC236}">
                <a16:creationId xmlns:a16="http://schemas.microsoft.com/office/drawing/2014/main" id="{8586DBF7-7FC5-FCBD-008A-A179145000C4}"/>
              </a:ext>
            </a:extLst>
          </p:cNvPr>
          <p:cNvSpPr/>
          <p:nvPr/>
        </p:nvSpPr>
        <p:spPr>
          <a:xfrm>
            <a:off x="6601968" y="4030719"/>
            <a:ext cx="2395383" cy="565265"/>
          </a:xfrm>
          <a:prstGeom prst="rect">
            <a:avLst/>
          </a:prstGeom>
          <a:solidFill>
            <a:srgbClr val="FFF8E1"/>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ctr">
              <a:spcAft>
                <a:spcPts val="0"/>
              </a:spcAft>
            </a:pPr>
            <a:r>
              <a:rPr sz="1150" b="0">
                <a:solidFill>
                  <a:srgbClr val="999999"/>
                </a:solidFill>
                <a:latin typeface="メイリオ"/>
                <a:ea typeface="メイリオ"/>
                <a:cs typeface="メイリオ"/>
              </a:rPr>
              <a:t>（ご記入）</a:t>
            </a:r>
          </a:p>
        </p:txBody>
      </p:sp>
      <p:sp>
        <p:nvSpPr>
          <p:cNvPr id="75" name="Rectangle 20">
            <a:extLst>
              <a:ext uri="{FF2B5EF4-FFF2-40B4-BE49-F238E27FC236}">
                <a16:creationId xmlns:a16="http://schemas.microsoft.com/office/drawing/2014/main" id="{DB7FB4C0-51C6-3078-A140-B7A1B50F861A}"/>
              </a:ext>
            </a:extLst>
          </p:cNvPr>
          <p:cNvSpPr/>
          <p:nvPr/>
        </p:nvSpPr>
        <p:spPr>
          <a:xfrm>
            <a:off x="6601968" y="4645542"/>
            <a:ext cx="2395383" cy="565265"/>
          </a:xfrm>
          <a:prstGeom prst="rect">
            <a:avLst/>
          </a:prstGeom>
          <a:solidFill>
            <a:srgbClr val="FFF8E1"/>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ctr">
              <a:spcAft>
                <a:spcPts val="0"/>
              </a:spcAft>
            </a:pPr>
            <a:r>
              <a:rPr sz="1150" b="0">
                <a:solidFill>
                  <a:srgbClr val="999999"/>
                </a:solidFill>
                <a:latin typeface="メイリオ"/>
                <a:ea typeface="メイリオ"/>
                <a:cs typeface="メイリオ"/>
              </a:rPr>
              <a:t>（ご記入）</a:t>
            </a:r>
          </a:p>
        </p:txBody>
      </p:sp>
      <p:sp>
        <p:nvSpPr>
          <p:cNvPr id="76" name="Rectangle 23">
            <a:extLst>
              <a:ext uri="{FF2B5EF4-FFF2-40B4-BE49-F238E27FC236}">
                <a16:creationId xmlns:a16="http://schemas.microsoft.com/office/drawing/2014/main" id="{0B10266D-13DE-7185-5A31-5B2D7BD7491A}"/>
              </a:ext>
            </a:extLst>
          </p:cNvPr>
          <p:cNvSpPr/>
          <p:nvPr/>
        </p:nvSpPr>
        <p:spPr>
          <a:xfrm>
            <a:off x="6601968" y="5251655"/>
            <a:ext cx="2395383" cy="565265"/>
          </a:xfrm>
          <a:prstGeom prst="rect">
            <a:avLst/>
          </a:prstGeom>
          <a:solidFill>
            <a:srgbClr val="FFF8E1"/>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ctr">
              <a:spcAft>
                <a:spcPts val="0"/>
              </a:spcAft>
            </a:pPr>
            <a:r>
              <a:rPr sz="1150" b="0">
                <a:solidFill>
                  <a:srgbClr val="999999"/>
                </a:solidFill>
                <a:latin typeface="メイリオ"/>
                <a:ea typeface="メイリオ"/>
                <a:cs typeface="メイリオ"/>
              </a:rPr>
              <a:t>（ご記入）</a:t>
            </a:r>
          </a:p>
        </p:txBody>
      </p:sp>
      <p:sp>
        <p:nvSpPr>
          <p:cNvPr id="65" name="Rectangle 22">
            <a:extLst>
              <a:ext uri="{FF2B5EF4-FFF2-40B4-BE49-F238E27FC236}">
                <a16:creationId xmlns:a16="http://schemas.microsoft.com/office/drawing/2014/main" id="{16CDB4BF-4971-BB2D-5EDB-62359C5FCF0B}"/>
              </a:ext>
            </a:extLst>
          </p:cNvPr>
          <p:cNvSpPr/>
          <p:nvPr/>
        </p:nvSpPr>
        <p:spPr>
          <a:xfrm>
            <a:off x="2578608" y="5251655"/>
            <a:ext cx="3995928" cy="565265"/>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アカウント費・ツール費・運用費・</a:t>
            </a:r>
            <a:br>
              <a:rPr sz="1400" b="0">
                <a:solidFill>
                  <a:srgbClr val="333333"/>
                </a:solidFill>
                <a:latin typeface="メイリオ"/>
                <a:ea typeface="メイリオ"/>
                <a:cs typeface="メイリオ"/>
              </a:rPr>
            </a:br>
            <a:r>
              <a:rPr sz="1400" b="0">
                <a:solidFill>
                  <a:srgbClr val="333333"/>
                </a:solidFill>
                <a:latin typeface="メイリオ"/>
                <a:ea typeface="メイリオ"/>
                <a:cs typeface="メイリオ"/>
              </a:rPr>
              <a:t>通数費の月額合計</a:t>
            </a:r>
          </a:p>
        </p:txBody>
      </p:sp>
      <p:sp>
        <p:nvSpPr>
          <p:cNvPr id="69" name="Rectangle 24">
            <a:extLst>
              <a:ext uri="{FF2B5EF4-FFF2-40B4-BE49-F238E27FC236}">
                <a16:creationId xmlns:a16="http://schemas.microsoft.com/office/drawing/2014/main" id="{809B7433-BAD1-B81E-97BD-B889CD809E11}"/>
              </a:ext>
            </a:extLst>
          </p:cNvPr>
          <p:cNvSpPr/>
          <p:nvPr/>
        </p:nvSpPr>
        <p:spPr>
          <a:xfrm>
            <a:off x="836762" y="6000207"/>
            <a:ext cx="8160589" cy="502920"/>
          </a:xfrm>
          <a:prstGeom prst="rect">
            <a:avLst/>
          </a:prstGeom>
          <a:solidFill>
            <a:srgbClr val="F3F5FA"/>
          </a:solidFill>
          <a:ln w="12700">
            <a:solidFill>
              <a:srgbClr val="1F2A5C"/>
            </a:solidFill>
          </a:ln>
          <a:effectLst/>
        </p:spPr>
        <p:style>
          <a:lnRef idx="1">
            <a:schemeClr val="accent1"/>
          </a:lnRef>
          <a:fillRef idx="3">
            <a:schemeClr val="accent1"/>
          </a:fillRef>
          <a:effectRef idx="2">
            <a:schemeClr val="accent1"/>
          </a:effectRef>
          <a:fontRef idx="minor">
            <a:schemeClr val="lt1"/>
          </a:fontRef>
        </p:style>
        <p:txBody>
          <a:bodyPr wrap="square" lIns="137160" tIns="18288" rIns="137160" bIns="18288" rtlCol="0" anchor="ctr"/>
          <a:lstStyle/>
          <a:p>
            <a:pPr algn="ctr">
              <a:spcAft>
                <a:spcPts val="0"/>
              </a:spcAft>
            </a:pPr>
            <a:r>
              <a:rPr sz="1400" b="1">
                <a:solidFill>
                  <a:srgbClr val="1F2A5C"/>
                </a:solidFill>
                <a:latin typeface="メイリオ"/>
                <a:ea typeface="メイリオ"/>
                <a:cs typeface="メイリオ"/>
              </a:rPr>
              <a:t>アクティブ率・通数費の現状を見て、セグメント配信などで改善できる範囲を提案に反映する</a:t>
            </a:r>
          </a:p>
        </p:txBody>
      </p:sp>
    </p:spTree>
    <p:extLst>
      <p:ext uri="{BB962C8B-B14F-4D97-AF65-F5344CB8AC3E}">
        <p14:creationId xmlns:p14="http://schemas.microsoft.com/office/powerpoint/2010/main" val="2363105677"/>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6C866B-D0C2-7EA1-2C00-9FD2CFA7473A}"/>
            </a:ext>
          </a:extLst>
        </p:cNvPr>
        <p:cNvGrpSpPr/>
        <p:nvPr/>
      </p:nvGrpSpPr>
      <p:grpSpPr>
        <a:xfrm>
          <a:off x="0" y="0"/>
          <a:ext cx="0" cy="0"/>
          <a:chOff x="0" y="0"/>
          <a:chExt cx="0" cy="0"/>
        </a:xfrm>
      </p:grpSpPr>
      <p:sp>
        <p:nvSpPr>
          <p:cNvPr id="3" name="テキスト ボックス 47">
            <a:extLst>
              <a:ext uri="{FF2B5EF4-FFF2-40B4-BE49-F238E27FC236}">
                <a16:creationId xmlns:a16="http://schemas.microsoft.com/office/drawing/2014/main" id="{649E6FCE-AA7B-DE7B-9452-E5F490B34B37}"/>
              </a:ext>
            </a:extLst>
          </p:cNvPr>
          <p:cNvSpPr txBox="1">
            <a:spLocks noChangeArrowheads="1"/>
          </p:cNvSpPr>
          <p:nvPr/>
        </p:nvSpPr>
        <p:spPr bwMode="auto">
          <a:xfrm>
            <a:off x="456501"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Calibri" charset="0"/>
                <a:ea typeface="ＭＳ Ｐゴシック" charset="0"/>
                <a:cs typeface="ＭＳ Ｐゴシック" charset="0"/>
              </a:defRPr>
            </a:lvl1pPr>
            <a:lvl2pPr>
              <a:defRPr kumimoji="1" sz="2800">
                <a:solidFill>
                  <a:schemeClr val="tx1"/>
                </a:solidFill>
                <a:latin typeface="Calibri" charset="0"/>
                <a:ea typeface="ＭＳ Ｐゴシック" charset="0"/>
              </a:defRPr>
            </a:lvl2pPr>
            <a:lvl3pPr>
              <a:defRPr kumimoji="1" sz="2400">
                <a:solidFill>
                  <a:schemeClr val="tx1"/>
                </a:solidFill>
                <a:latin typeface="Calibri" charset="0"/>
                <a:ea typeface="ＭＳ Ｐゴシック" charset="0"/>
              </a:defRPr>
            </a:lvl3pPr>
            <a:lvl4pPr>
              <a:defRPr kumimoji="1" sz="2000">
                <a:solidFill>
                  <a:schemeClr val="tx1"/>
                </a:solidFill>
                <a:latin typeface="Calibri" charset="0"/>
                <a:ea typeface="ＭＳ Ｐゴシック" charset="0"/>
              </a:defRPr>
            </a:lvl4pPr>
            <a:lvl5pPr>
              <a:defRPr kumimoji="1" sz="2000">
                <a:solidFill>
                  <a:schemeClr val="tx1"/>
                </a:solidFill>
                <a:latin typeface="Calibri" charset="0"/>
                <a:ea typeface="ＭＳ Ｐゴシック" charset="0"/>
              </a:defRPr>
            </a:lvl5pPr>
            <a:lvl6pPr eaLnBrk="0" fontAlgn="base" hangingPunct="0">
              <a:spcAft>
                <a:spcPct val="0"/>
              </a:spcAft>
              <a:buFont typeface="Arial" charset="0"/>
              <a:buChar char="»"/>
              <a:defRPr kumimoji="1" sz="2000">
                <a:solidFill>
                  <a:schemeClr val="tx1"/>
                </a:solidFill>
                <a:latin typeface="Calibri" charset="0"/>
                <a:ea typeface="ＭＳ Ｐゴシック" charset="0"/>
              </a:defRPr>
            </a:lvl6pPr>
            <a:lvl7pPr eaLnBrk="0" fontAlgn="base" hangingPunct="0">
              <a:spcAft>
                <a:spcPct val="0"/>
              </a:spcAft>
              <a:buFont typeface="Arial" charset="0"/>
              <a:buChar char="»"/>
              <a:defRPr kumimoji="1" sz="2000">
                <a:solidFill>
                  <a:schemeClr val="tx1"/>
                </a:solidFill>
                <a:latin typeface="Calibri" charset="0"/>
                <a:ea typeface="ＭＳ Ｐゴシック" charset="0"/>
              </a:defRPr>
            </a:lvl7pPr>
            <a:lvl8pPr eaLnBrk="0" fontAlgn="base" hangingPunct="0">
              <a:spcAft>
                <a:spcPct val="0"/>
              </a:spcAft>
              <a:buFont typeface="Arial" charset="0"/>
              <a:buChar char="»"/>
              <a:defRPr kumimoji="1" sz="2000">
                <a:solidFill>
                  <a:schemeClr val="tx1"/>
                </a:solidFill>
                <a:latin typeface="Calibri" charset="0"/>
                <a:ea typeface="ＭＳ Ｐゴシック" charset="0"/>
              </a:defRPr>
            </a:lvl8pPr>
            <a:lvl9pPr eaLnBrk="0" fontAlgn="base" hangingPunct="0">
              <a:spcAft>
                <a:spcPct val="0"/>
              </a:spcAft>
              <a:buFont typeface="Arial" charset="0"/>
              <a:buChar char="»"/>
              <a:defRPr kumimoji="1" sz="2000">
                <a:solidFill>
                  <a:schemeClr val="tx1"/>
                </a:solidFill>
                <a:latin typeface="Calibri" charset="0"/>
                <a:ea typeface="ＭＳ Ｐゴシック" charset="0"/>
              </a:defRPr>
            </a:lvl9pPr>
          </a:lstStyle>
          <a:p>
            <a:pPr>
              <a:spcBef>
                <a:spcPct val="20000"/>
              </a:spcBef>
              <a:buFont typeface="Arial" charset="0"/>
              <a:buNone/>
            </a:pPr>
            <a:r>
              <a:rPr lang="ja-JP" altLang="en-US" sz="1600" b="1" dirty="0">
                <a:solidFill>
                  <a:srgbClr val="1F2A5C"/>
                </a:solidFill>
                <a:latin typeface="メイリオ"/>
                <a:ea typeface="メイリオ"/>
                <a:cs typeface="メイリオ"/>
              </a:rPr>
              <a:t>提案に向けて明確化したいポイント④　その他</a:t>
            </a:r>
          </a:p>
        </p:txBody>
      </p:sp>
      <p:sp>
        <p:nvSpPr>
          <p:cNvPr id="5" name="Rectangle 2">
            <a:extLst>
              <a:ext uri="{FF2B5EF4-FFF2-40B4-BE49-F238E27FC236}">
                <a16:creationId xmlns:a16="http://schemas.microsoft.com/office/drawing/2014/main" id="{2A2003E7-DEBA-516C-5544-9E84FEB0FAAA}"/>
              </a:ext>
            </a:extLst>
          </p:cNvPr>
          <p:cNvSpPr/>
          <p:nvPr/>
        </p:nvSpPr>
        <p:spPr>
          <a:xfrm>
            <a:off x="121798" y="960120"/>
            <a:ext cx="914400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t"/>
          <a:lstStyle/>
          <a:p>
            <a:pPr>
              <a:spcAft>
                <a:spcPts val="300"/>
              </a:spcAft>
            </a:pPr>
            <a:r>
              <a:rPr lang="ja-JP" altLang="en-US" sz="1600" b="1" dirty="0">
                <a:solidFill>
                  <a:srgbClr val="4A6FA5"/>
                </a:solidFill>
                <a:latin typeface="メイリオ"/>
                <a:ea typeface="メイリオ"/>
                <a:cs typeface="メイリオ"/>
              </a:rPr>
              <a:t>配信の体制や社内の確認の流れなど、運用の進め方に関わる確認事項</a:t>
            </a:r>
          </a:p>
        </p:txBody>
      </p:sp>
      <p:sp>
        <p:nvSpPr>
          <p:cNvPr id="53" name="正方形/長方形 52">
            <a:extLst>
              <a:ext uri="{FF2B5EF4-FFF2-40B4-BE49-F238E27FC236}">
                <a16:creationId xmlns:a16="http://schemas.microsoft.com/office/drawing/2014/main" id="{5161E2C4-62DD-580C-6DB6-319F2E18B5A8}"/>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b="1" dirty="0">
              <a:latin typeface="メイリオ" panose="020B0604030504040204" pitchFamily="50" charset="-128"/>
              <a:ea typeface="メイリオ" panose="020B0604030504040204" pitchFamily="50" charset="-128"/>
            </a:endParaRPr>
          </a:p>
        </p:txBody>
      </p:sp>
      <p:sp>
        <p:nvSpPr>
          <p:cNvPr id="4" name="Rectangle 3">
            <a:extLst>
              <a:ext uri="{FF2B5EF4-FFF2-40B4-BE49-F238E27FC236}">
                <a16:creationId xmlns:a16="http://schemas.microsoft.com/office/drawing/2014/main" id="{2E9E5595-5564-F6B6-4231-BF3FBBE8BF96}"/>
              </a:ext>
            </a:extLst>
          </p:cNvPr>
          <p:cNvSpPr/>
          <p:nvPr/>
        </p:nvSpPr>
        <p:spPr>
          <a:xfrm>
            <a:off x="841248" y="1783080"/>
            <a:ext cx="1709928" cy="384048"/>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400" b="1">
                <a:solidFill>
                  <a:srgbClr val="FFFFFF"/>
                </a:solidFill>
                <a:latin typeface="メイリオ"/>
                <a:ea typeface="メイリオ"/>
                <a:cs typeface="メイリオ"/>
              </a:rPr>
              <a:t>項目</a:t>
            </a:r>
          </a:p>
        </p:txBody>
      </p:sp>
      <p:sp>
        <p:nvSpPr>
          <p:cNvPr id="8" name="Rectangle 4">
            <a:extLst>
              <a:ext uri="{FF2B5EF4-FFF2-40B4-BE49-F238E27FC236}">
                <a16:creationId xmlns:a16="http://schemas.microsoft.com/office/drawing/2014/main" id="{1B2F3472-C219-FE04-0FAB-2471178F9BAE}"/>
              </a:ext>
            </a:extLst>
          </p:cNvPr>
          <p:cNvSpPr/>
          <p:nvPr/>
        </p:nvSpPr>
        <p:spPr>
          <a:xfrm>
            <a:off x="2578608" y="1783080"/>
            <a:ext cx="6419088" cy="384048"/>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400" b="1">
                <a:solidFill>
                  <a:srgbClr val="FFFFFF"/>
                </a:solidFill>
                <a:latin typeface="メイリオ"/>
                <a:ea typeface="メイリオ"/>
                <a:cs typeface="メイリオ"/>
              </a:rPr>
              <a:t>確認内容</a:t>
            </a:r>
          </a:p>
        </p:txBody>
      </p:sp>
      <p:sp>
        <p:nvSpPr>
          <p:cNvPr id="15" name="Rectangle 6">
            <a:extLst>
              <a:ext uri="{FF2B5EF4-FFF2-40B4-BE49-F238E27FC236}">
                <a16:creationId xmlns:a16="http://schemas.microsoft.com/office/drawing/2014/main" id="{E019A0C2-CAAE-25A0-61D2-699B65C42417}"/>
              </a:ext>
            </a:extLst>
          </p:cNvPr>
          <p:cNvSpPr/>
          <p:nvPr/>
        </p:nvSpPr>
        <p:spPr>
          <a:xfrm>
            <a:off x="841248" y="2203704"/>
            <a:ext cx="1709928" cy="566928"/>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配信の確認体制</a:t>
            </a:r>
          </a:p>
        </p:txBody>
      </p:sp>
      <p:sp>
        <p:nvSpPr>
          <p:cNvPr id="17" name="Rectangle 7">
            <a:extLst>
              <a:ext uri="{FF2B5EF4-FFF2-40B4-BE49-F238E27FC236}">
                <a16:creationId xmlns:a16="http://schemas.microsoft.com/office/drawing/2014/main" id="{18AC0B76-9D3D-7E03-E909-B45DC15D43B6}"/>
              </a:ext>
            </a:extLst>
          </p:cNvPr>
          <p:cNvSpPr/>
          <p:nvPr/>
        </p:nvSpPr>
        <p:spPr>
          <a:xfrm>
            <a:off x="2578608" y="2203704"/>
            <a:ext cx="6419088" cy="566928"/>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確認する方・承認の流れ・確認にかかる日数</a:t>
            </a:r>
          </a:p>
        </p:txBody>
      </p:sp>
      <p:sp>
        <p:nvSpPr>
          <p:cNvPr id="2" name="Rectangle 6">
            <a:extLst>
              <a:ext uri="{FF2B5EF4-FFF2-40B4-BE49-F238E27FC236}">
                <a16:creationId xmlns:a16="http://schemas.microsoft.com/office/drawing/2014/main" id="{E019A0C2-CAAE-25A0-61D2-699B65C42417}"/>
              </a:ext>
            </a:extLst>
          </p:cNvPr>
          <p:cNvSpPr/>
          <p:nvPr/>
        </p:nvSpPr>
        <p:spPr>
          <a:xfrm>
            <a:off x="841248" y="2811780"/>
            <a:ext cx="1709928" cy="566928"/>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窓口・素材</a:t>
            </a:r>
          </a:p>
        </p:txBody>
      </p:sp>
      <p:sp>
        <p:nvSpPr>
          <p:cNvPr id="6" name="Rectangle 7">
            <a:extLst>
              <a:ext uri="{FF2B5EF4-FFF2-40B4-BE49-F238E27FC236}">
                <a16:creationId xmlns:a16="http://schemas.microsoft.com/office/drawing/2014/main" id="{18AC0B76-9D3D-7E03-E909-B45DC15D43B6}"/>
              </a:ext>
            </a:extLst>
          </p:cNvPr>
          <p:cNvSpPr/>
          <p:nvPr/>
        </p:nvSpPr>
        <p:spPr>
          <a:xfrm>
            <a:off x="2578608" y="2811780"/>
            <a:ext cx="6419088" cy="566928"/>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社内の窓口、写真・事例などの素材</a:t>
            </a:r>
          </a:p>
        </p:txBody>
      </p:sp>
      <p:sp>
        <p:nvSpPr>
          <p:cNvPr id="7" name="Rectangle 6">
            <a:extLst>
              <a:ext uri="{FF2B5EF4-FFF2-40B4-BE49-F238E27FC236}">
                <a16:creationId xmlns:a16="http://schemas.microsoft.com/office/drawing/2014/main" id="{E019A0C2-CAAE-25A0-61D2-699B65C42417}"/>
              </a:ext>
            </a:extLst>
          </p:cNvPr>
          <p:cNvSpPr/>
          <p:nvPr/>
        </p:nvSpPr>
        <p:spPr>
          <a:xfrm>
            <a:off x="841248" y="3419856"/>
            <a:ext cx="1709928" cy="566928"/>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年間の予定</a:t>
            </a:r>
          </a:p>
        </p:txBody>
      </p:sp>
      <p:sp>
        <p:nvSpPr>
          <p:cNvPr id="9" name="Rectangle 7">
            <a:extLst>
              <a:ext uri="{FF2B5EF4-FFF2-40B4-BE49-F238E27FC236}">
                <a16:creationId xmlns:a16="http://schemas.microsoft.com/office/drawing/2014/main" id="{18AC0B76-9D3D-7E03-E909-B45DC15D43B6}"/>
              </a:ext>
            </a:extLst>
          </p:cNvPr>
          <p:cNvSpPr/>
          <p:nvPr/>
        </p:nvSpPr>
        <p:spPr>
          <a:xfrm>
            <a:off x="2578608" y="3419856"/>
            <a:ext cx="6419088" cy="566928"/>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繁忙期・キャンペーン・イベントの時期</a:t>
            </a:r>
          </a:p>
        </p:txBody>
      </p:sp>
      <p:sp>
        <p:nvSpPr>
          <p:cNvPr id="10" name="Rectangle 6">
            <a:extLst>
              <a:ext uri="{FF2B5EF4-FFF2-40B4-BE49-F238E27FC236}">
                <a16:creationId xmlns:a16="http://schemas.microsoft.com/office/drawing/2014/main" id="{E019A0C2-CAAE-25A0-61D2-699B65C42417}"/>
              </a:ext>
            </a:extLst>
          </p:cNvPr>
          <p:cNvSpPr/>
          <p:nvPr/>
        </p:nvSpPr>
        <p:spPr>
          <a:xfrm>
            <a:off x="841248" y="4027932"/>
            <a:ext cx="1709928" cy="566928"/>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予約・顧客管理</a:t>
            </a:r>
          </a:p>
        </p:txBody>
      </p:sp>
      <p:sp>
        <p:nvSpPr>
          <p:cNvPr id="11" name="Rectangle 7">
            <a:extLst>
              <a:ext uri="{FF2B5EF4-FFF2-40B4-BE49-F238E27FC236}">
                <a16:creationId xmlns:a16="http://schemas.microsoft.com/office/drawing/2014/main" id="{18AC0B76-9D3D-7E03-E909-B45DC15D43B6}"/>
              </a:ext>
            </a:extLst>
          </p:cNvPr>
          <p:cNvSpPr/>
          <p:nvPr/>
        </p:nvSpPr>
        <p:spPr>
          <a:xfrm>
            <a:off x="2578608" y="4027932"/>
            <a:ext cx="6419088" cy="566928"/>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使っているシステムと、LINE連携の可否</a:t>
            </a:r>
          </a:p>
        </p:txBody>
      </p:sp>
      <p:sp>
        <p:nvSpPr>
          <p:cNvPr id="12" name="Rectangle 6">
            <a:extLst>
              <a:ext uri="{FF2B5EF4-FFF2-40B4-BE49-F238E27FC236}">
                <a16:creationId xmlns:a16="http://schemas.microsoft.com/office/drawing/2014/main" id="{E019A0C2-CAAE-25A0-61D2-699B65C42417}"/>
              </a:ext>
            </a:extLst>
          </p:cNvPr>
          <p:cNvSpPr/>
          <p:nvPr/>
        </p:nvSpPr>
        <p:spPr>
          <a:xfrm>
            <a:off x="841248" y="4636008"/>
            <a:ext cx="1709928" cy="566928"/>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表現の決まり</a:t>
            </a:r>
          </a:p>
        </p:txBody>
      </p:sp>
      <p:sp>
        <p:nvSpPr>
          <p:cNvPr id="13" name="Rectangle 7">
            <a:extLst>
              <a:ext uri="{FF2B5EF4-FFF2-40B4-BE49-F238E27FC236}">
                <a16:creationId xmlns:a16="http://schemas.microsoft.com/office/drawing/2014/main" id="{18AC0B76-9D3D-7E03-E909-B45DC15D43B6}"/>
              </a:ext>
            </a:extLst>
          </p:cNvPr>
          <p:cNvSpPr/>
          <p:nvPr/>
        </p:nvSpPr>
        <p:spPr>
          <a:xfrm>
            <a:off x="2578608" y="4636008"/>
            <a:ext cx="6419088" cy="566928"/>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業法・社内ルールで使えない表現</a:t>
            </a:r>
          </a:p>
        </p:txBody>
      </p:sp>
      <p:sp>
        <p:nvSpPr>
          <p:cNvPr id="69" name="Rectangle 24">
            <a:extLst>
              <a:ext uri="{FF2B5EF4-FFF2-40B4-BE49-F238E27FC236}">
                <a16:creationId xmlns:a16="http://schemas.microsoft.com/office/drawing/2014/main" id="{A485A409-0FAF-105F-F311-A3F789094A81}"/>
              </a:ext>
            </a:extLst>
          </p:cNvPr>
          <p:cNvSpPr/>
          <p:nvPr/>
        </p:nvSpPr>
        <p:spPr>
          <a:xfrm>
            <a:off x="841248" y="5897880"/>
            <a:ext cx="8156448" cy="603504"/>
          </a:xfrm>
          <a:prstGeom prst="rect">
            <a:avLst/>
          </a:prstGeom>
          <a:solidFill>
            <a:srgbClr val="F3F5FA"/>
          </a:solidFill>
          <a:ln w="12700">
            <a:solidFill>
              <a:srgbClr val="1F2A5C"/>
            </a:solidFill>
          </a:ln>
          <a:effectLst/>
        </p:spPr>
        <p:style>
          <a:lnRef idx="1">
            <a:schemeClr val="accent1"/>
          </a:lnRef>
          <a:fillRef idx="3">
            <a:schemeClr val="accent1"/>
          </a:fillRef>
          <a:effectRef idx="2">
            <a:schemeClr val="accent1"/>
          </a:effectRef>
          <a:fontRef idx="minor">
            <a:schemeClr val="lt1"/>
          </a:fontRef>
        </p:style>
        <p:txBody>
          <a:bodyPr wrap="square" lIns="137160" tIns="18288" rIns="137160" bIns="18288" rtlCol="0" anchor="ctr"/>
          <a:lstStyle/>
          <a:p>
            <a:pPr algn="ctr">
              <a:spcAft>
                <a:spcPts val="0"/>
              </a:spcAft>
            </a:pPr>
            <a:r>
              <a:rPr lang="en-US" altLang="ja-JP" sz="1400" b="1" dirty="0">
                <a:solidFill>
                  <a:srgbClr val="1F2A5C"/>
                </a:solidFill>
                <a:latin typeface="メイリオ"/>
                <a:ea typeface="メイリオ"/>
                <a:cs typeface="メイリオ"/>
              </a:rPr>
              <a:t>LINE Official</a:t>
            </a:r>
            <a:r>
              <a:rPr lang="ja-JP" altLang="en-US" sz="1400" b="1" dirty="0">
                <a:solidFill>
                  <a:srgbClr val="1F2A5C"/>
                </a:solidFill>
                <a:latin typeface="メイリオ"/>
                <a:ea typeface="メイリオ"/>
                <a:cs typeface="メイリオ"/>
              </a:rPr>
              <a:t> </a:t>
            </a:r>
            <a:r>
              <a:rPr lang="en-US" altLang="ja-JP" sz="1400" b="1" dirty="0">
                <a:solidFill>
                  <a:srgbClr val="1F2A5C"/>
                </a:solidFill>
                <a:latin typeface="メイリオ"/>
                <a:ea typeface="メイリオ"/>
                <a:cs typeface="メイリオ"/>
              </a:rPr>
              <a:t>Manager</a:t>
            </a:r>
            <a:r>
              <a:rPr lang="ja-JP" altLang="en-US" sz="1400" b="1" dirty="0">
                <a:solidFill>
                  <a:srgbClr val="1F2A5C"/>
                </a:solidFill>
                <a:latin typeface="メイリオ"/>
                <a:ea typeface="メイリオ"/>
                <a:cs typeface="メイリオ"/>
              </a:rPr>
              <a:t>、</a:t>
            </a:r>
            <a:r>
              <a:rPr lang="en-US" altLang="ja-JP" sz="1400" b="1" dirty="0">
                <a:solidFill>
                  <a:srgbClr val="1F2A5C"/>
                </a:solidFill>
                <a:latin typeface="メイリオ"/>
                <a:ea typeface="メイリオ"/>
                <a:cs typeface="メイリオ"/>
              </a:rPr>
              <a:t>API</a:t>
            </a:r>
            <a:r>
              <a:rPr lang="ja-JP" altLang="en-US" sz="1400" b="1" dirty="0">
                <a:solidFill>
                  <a:srgbClr val="1F2A5C"/>
                </a:solidFill>
                <a:latin typeface="メイリオ"/>
                <a:ea typeface="メイリオ"/>
                <a:cs typeface="メイリオ"/>
              </a:rPr>
              <a:t>ツール等、配信にかかわる</a:t>
            </a:r>
            <a:br>
              <a:rPr lang="ja-JP" altLang="en-US" sz="1400" b="1" dirty="0">
                <a:solidFill>
                  <a:srgbClr val="1F2A5C"/>
                </a:solidFill>
                <a:latin typeface="メイリオ"/>
                <a:ea typeface="メイリオ"/>
                <a:cs typeface="メイリオ"/>
              </a:rPr>
            </a:br>
            <a:r>
              <a:rPr lang="ja-JP" altLang="en-US" sz="1400" b="1" dirty="0">
                <a:solidFill>
                  <a:srgbClr val="1F2A5C"/>
                </a:solidFill>
                <a:latin typeface="メイリオ"/>
                <a:ea typeface="メイリオ"/>
                <a:cs typeface="メイリオ"/>
              </a:rPr>
              <a:t>管理画面の共有をいただければ詳細なご提案が可能</a:t>
            </a:r>
            <a:endParaRPr sz="1400" b="1" dirty="0">
              <a:solidFill>
                <a:srgbClr val="1F2A5C"/>
              </a:solidFill>
              <a:latin typeface="メイリオ"/>
              <a:ea typeface="メイリオ"/>
              <a:cs typeface="メイリオ"/>
            </a:endParaRPr>
          </a:p>
        </p:txBody>
      </p:sp>
    </p:spTree>
    <p:extLst>
      <p:ext uri="{BB962C8B-B14F-4D97-AF65-F5344CB8AC3E}">
        <p14:creationId xmlns:p14="http://schemas.microsoft.com/office/powerpoint/2010/main" val="1634953255"/>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角丸四角形 6"/>
          <p:cNvSpPr/>
          <p:nvPr/>
        </p:nvSpPr>
        <p:spPr>
          <a:xfrm>
            <a:off x="3459839" y="1776142"/>
            <a:ext cx="2986322" cy="4471347"/>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8" name="角丸四角形 7"/>
          <p:cNvSpPr/>
          <p:nvPr/>
        </p:nvSpPr>
        <p:spPr>
          <a:xfrm>
            <a:off x="256642" y="1776143"/>
            <a:ext cx="2986322" cy="4471347"/>
          </a:xfrm>
          <a:prstGeom prst="roundRect">
            <a:avLst>
              <a:gd name="adj" fmla="val 3567"/>
            </a:avLst>
          </a:prstGeom>
          <a:solidFill>
            <a:schemeClr val="accent1">
              <a:lumMod val="20000"/>
              <a:lumOff val="80000"/>
            </a:schemeClr>
          </a:solidFill>
          <a:ln w="25400" cap="flat" cmpd="sng" algn="ctr">
            <a:solidFill>
              <a:schemeClr val="accent1"/>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9" name="角丸四角形 8"/>
          <p:cNvSpPr/>
          <p:nvPr/>
        </p:nvSpPr>
        <p:spPr>
          <a:xfrm>
            <a:off x="6663036" y="1776142"/>
            <a:ext cx="2986322" cy="4471347"/>
          </a:xfrm>
          <a:prstGeom prst="roundRect">
            <a:avLst>
              <a:gd name="adj" fmla="val 3567"/>
            </a:avLst>
          </a:prstGeom>
          <a:solidFill>
            <a:schemeClr val="accent1">
              <a:lumMod val="20000"/>
              <a:lumOff val="80000"/>
            </a:schemeClr>
          </a:solidFill>
          <a:ln w="25400" cap="flat" cmpd="sng" algn="ctr">
            <a:solidFill>
              <a:schemeClr val="accent1"/>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11" name="Google Shape;178;p7"/>
          <p:cNvSpPr txBox="1"/>
          <p:nvPr/>
        </p:nvSpPr>
        <p:spPr>
          <a:xfrm>
            <a:off x="592643" y="1940375"/>
            <a:ext cx="2314319"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Meiryo"/>
                <a:ea typeface="Meiryo"/>
                <a:cs typeface="Meiryo"/>
                <a:sym typeface="Meiryo"/>
              </a:rPr>
              <a:t>ポップアップ</a:t>
            </a:r>
            <a:endParaRPr lang="en-US" altLang="ja-JP" sz="2000" b="1" dirty="0">
              <a:solidFill>
                <a:srgbClr val="002060"/>
              </a:solidFill>
              <a:latin typeface="Meiryo"/>
              <a:ea typeface="Meiryo"/>
              <a:cs typeface="Meiryo"/>
              <a:sym typeface="Meiryo"/>
            </a:endParaRPr>
          </a:p>
        </p:txBody>
      </p:sp>
      <p:sp>
        <p:nvSpPr>
          <p:cNvPr id="13" name="Google Shape;178;p7"/>
          <p:cNvSpPr txBox="1"/>
          <p:nvPr/>
        </p:nvSpPr>
        <p:spPr>
          <a:xfrm>
            <a:off x="3795840" y="1940375"/>
            <a:ext cx="2314319"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2000" b="1" dirty="0">
                <a:solidFill>
                  <a:srgbClr val="002060"/>
                </a:solidFill>
                <a:latin typeface="Meiryo"/>
                <a:ea typeface="Meiryo"/>
                <a:cs typeface="Meiryo"/>
                <a:sym typeface="Meiryo"/>
              </a:rPr>
              <a:t>CPF</a:t>
            </a:r>
            <a:r>
              <a:rPr lang="ja-JP" altLang="en-US" sz="2000" b="1" dirty="0">
                <a:solidFill>
                  <a:srgbClr val="002060"/>
                </a:solidFill>
                <a:latin typeface="Meiryo"/>
                <a:ea typeface="Meiryo"/>
                <a:cs typeface="Meiryo"/>
                <a:sym typeface="Meiryo"/>
              </a:rPr>
              <a:t>広告</a:t>
            </a:r>
            <a:endParaRPr lang="en-US" altLang="ja-JP" sz="2000" b="1" dirty="0">
              <a:solidFill>
                <a:srgbClr val="002060"/>
              </a:solidFill>
              <a:latin typeface="Meiryo"/>
              <a:ea typeface="Meiryo"/>
              <a:cs typeface="Meiryo"/>
              <a:sym typeface="Meiryo"/>
            </a:endParaRPr>
          </a:p>
        </p:txBody>
      </p:sp>
      <p:sp>
        <p:nvSpPr>
          <p:cNvPr id="14" name="Google Shape;178;p7"/>
          <p:cNvSpPr txBox="1"/>
          <p:nvPr/>
        </p:nvSpPr>
        <p:spPr>
          <a:xfrm>
            <a:off x="6756033" y="1949959"/>
            <a:ext cx="2800326" cy="76772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Meiryo"/>
                <a:ea typeface="Meiryo"/>
                <a:cs typeface="Meiryo"/>
                <a:sym typeface="Meiryo"/>
              </a:rPr>
              <a:t>サンクス</a:t>
            </a:r>
            <a:r>
              <a:rPr lang="en-US" altLang="ja-JP" sz="2000" b="1" dirty="0">
                <a:solidFill>
                  <a:srgbClr val="002060"/>
                </a:solidFill>
                <a:latin typeface="Meiryo"/>
                <a:ea typeface="Meiryo"/>
                <a:cs typeface="Meiryo"/>
                <a:sym typeface="Meiryo"/>
              </a:rPr>
              <a:t>LINE</a:t>
            </a:r>
            <a:r>
              <a:rPr lang="ja-JP" altLang="en-US" sz="2000" b="1" dirty="0">
                <a:solidFill>
                  <a:srgbClr val="002060"/>
                </a:solidFill>
                <a:latin typeface="Meiryo"/>
                <a:ea typeface="Meiryo"/>
                <a:cs typeface="Meiryo"/>
                <a:sym typeface="Meiryo"/>
              </a:rPr>
              <a:t>誘導</a:t>
            </a:r>
            <a:endParaRPr lang="en-US" altLang="ja-JP" sz="2000" b="1" dirty="0">
              <a:solidFill>
                <a:srgbClr val="002060"/>
              </a:solidFill>
              <a:latin typeface="Meiryo"/>
              <a:ea typeface="Meiryo"/>
              <a:cs typeface="Meiryo"/>
              <a:sym typeface="Meiryo"/>
            </a:endParaRPr>
          </a:p>
        </p:txBody>
      </p:sp>
      <p:sp>
        <p:nvSpPr>
          <p:cNvPr id="16" name="Google Shape;178;p7"/>
          <p:cNvSpPr txBox="1"/>
          <p:nvPr/>
        </p:nvSpPr>
        <p:spPr>
          <a:xfrm>
            <a:off x="92849" y="5014843"/>
            <a:ext cx="2067109" cy="36761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solidFill>
                  <a:schemeClr val="tx1">
                    <a:lumMod val="50000"/>
                    <a:lumOff val="50000"/>
                  </a:schemeClr>
                </a:solidFill>
                <a:latin typeface="Meiryo"/>
                <a:ea typeface="Meiryo"/>
                <a:cs typeface="Meiryo"/>
                <a:sym typeface="Meiryo"/>
              </a:rPr>
              <a:t>事例：車買取</a:t>
            </a:r>
            <a:endParaRPr lang="en-US" altLang="ja-JP" sz="1400" dirty="0">
              <a:solidFill>
                <a:schemeClr val="tx1">
                  <a:lumMod val="50000"/>
                  <a:lumOff val="50000"/>
                </a:schemeClr>
              </a:solidFill>
              <a:latin typeface="Meiryo"/>
              <a:ea typeface="Meiryo"/>
              <a:cs typeface="Meiryo"/>
              <a:sym typeface="Meiryo"/>
            </a:endParaRPr>
          </a:p>
        </p:txBody>
      </p:sp>
      <p:pic>
        <p:nvPicPr>
          <p:cNvPr id="2" name="図 1"/>
          <p:cNvPicPr>
            <a:picLocks noChangeAspect="1"/>
          </p:cNvPicPr>
          <p:nvPr/>
        </p:nvPicPr>
        <p:blipFill rotWithShape="1">
          <a:blip r:embed="rId2" cstate="print">
            <a:extLst>
              <a:ext uri="{28A0092B-C50C-407E-A947-70E740481C1C}">
                <a14:useLocalDpi xmlns:a14="http://schemas.microsoft.com/office/drawing/2010/main" val="0"/>
              </a:ext>
            </a:extLst>
          </a:blip>
          <a:srcRect t="34585" b="34763"/>
          <a:stretch/>
        </p:blipFill>
        <p:spPr>
          <a:xfrm>
            <a:off x="314053" y="2324099"/>
            <a:ext cx="2871498" cy="1564723"/>
          </a:xfrm>
          <a:prstGeom prst="rect">
            <a:avLst/>
          </a:prstGeom>
        </p:spPr>
      </p:pic>
      <p:sp>
        <p:nvSpPr>
          <p:cNvPr id="17" name="Google Shape;178;p7"/>
          <p:cNvSpPr txBox="1"/>
          <p:nvPr/>
        </p:nvSpPr>
        <p:spPr>
          <a:xfrm>
            <a:off x="-80913" y="4068767"/>
            <a:ext cx="3501626" cy="79850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latin typeface="Meiryo"/>
                <a:ea typeface="Meiryo"/>
                <a:cs typeface="Meiryo"/>
                <a:sym typeface="Meiryo"/>
              </a:rPr>
              <a:t>興味はあるが利用まで</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至らなかったユーザーを</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友だちとして囲い込む。</a:t>
            </a:r>
            <a:endParaRPr lang="en-US" altLang="ja-JP" sz="1400" dirty="0">
              <a:latin typeface="Meiryo"/>
              <a:ea typeface="Meiryo"/>
              <a:cs typeface="Meiryo"/>
              <a:sym typeface="Meiryo"/>
            </a:endParaRPr>
          </a:p>
        </p:txBody>
      </p:sp>
      <p:sp>
        <p:nvSpPr>
          <p:cNvPr id="19" name="Google Shape;178;p7"/>
          <p:cNvSpPr txBox="1"/>
          <p:nvPr/>
        </p:nvSpPr>
        <p:spPr>
          <a:xfrm>
            <a:off x="3161410" y="4053056"/>
            <a:ext cx="3501626" cy="79850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1400" dirty="0">
                <a:latin typeface="Meiryo"/>
                <a:ea typeface="Meiryo"/>
                <a:cs typeface="Meiryo"/>
                <a:sym typeface="Meiryo"/>
              </a:rPr>
              <a:t>CPF</a:t>
            </a:r>
            <a:r>
              <a:rPr lang="ja-JP" altLang="en-US" sz="1400" dirty="0">
                <a:latin typeface="Meiryo"/>
                <a:ea typeface="Meiryo"/>
                <a:cs typeface="Meiryo"/>
                <a:sym typeface="Meiryo"/>
              </a:rPr>
              <a:t>約</a:t>
            </a:r>
            <a:r>
              <a:rPr lang="en-US" altLang="ja-JP" sz="1400" dirty="0">
                <a:latin typeface="Meiryo"/>
                <a:ea typeface="Meiryo"/>
                <a:cs typeface="Meiryo"/>
                <a:sym typeface="Meiryo"/>
              </a:rPr>
              <a:t>100-200</a:t>
            </a:r>
            <a:r>
              <a:rPr lang="ja-JP" altLang="en-US" sz="1400" dirty="0">
                <a:latin typeface="Meiryo"/>
                <a:ea typeface="Meiryo"/>
                <a:cs typeface="Meiryo"/>
                <a:sym typeface="Meiryo"/>
              </a:rPr>
              <a:t>円台。</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かなり安価かつ成果報酬で</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友だちを増やす広告。</a:t>
            </a:r>
            <a:endParaRPr lang="en-US" altLang="ja-JP" sz="1400" dirty="0">
              <a:latin typeface="Meiryo"/>
              <a:ea typeface="Meiryo"/>
              <a:cs typeface="Meiryo"/>
              <a:sym typeface="Meiryo"/>
            </a:endParaRPr>
          </a:p>
        </p:txBody>
      </p:sp>
      <p:sp>
        <p:nvSpPr>
          <p:cNvPr id="20" name="Google Shape;178;p7"/>
          <p:cNvSpPr txBox="1"/>
          <p:nvPr/>
        </p:nvSpPr>
        <p:spPr>
          <a:xfrm>
            <a:off x="3242964" y="5014843"/>
            <a:ext cx="2338123" cy="36761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solidFill>
                  <a:schemeClr val="tx1">
                    <a:lumMod val="50000"/>
                    <a:lumOff val="50000"/>
                  </a:schemeClr>
                </a:solidFill>
                <a:latin typeface="Meiryo"/>
                <a:ea typeface="Meiryo"/>
                <a:cs typeface="Meiryo"/>
                <a:sym typeface="Meiryo"/>
              </a:rPr>
              <a:t>事例：アパレル</a:t>
            </a:r>
            <a:endParaRPr lang="en-US" altLang="ja-JP" sz="1400" dirty="0">
              <a:solidFill>
                <a:schemeClr val="tx1">
                  <a:lumMod val="50000"/>
                  <a:lumOff val="50000"/>
                </a:schemeClr>
              </a:solidFill>
              <a:latin typeface="Meiryo"/>
              <a:ea typeface="Meiryo"/>
              <a:cs typeface="Meiryo"/>
              <a:sym typeface="Meiryo"/>
            </a:endParaRPr>
          </a:p>
        </p:txBody>
      </p:sp>
      <p:sp>
        <p:nvSpPr>
          <p:cNvPr id="21" name="Google Shape;178;p7"/>
          <p:cNvSpPr txBox="1"/>
          <p:nvPr/>
        </p:nvSpPr>
        <p:spPr>
          <a:xfrm>
            <a:off x="3639325" y="5328640"/>
            <a:ext cx="2795420" cy="521504"/>
          </a:xfrm>
          <a:prstGeom prst="rect">
            <a:avLst/>
          </a:prstGeom>
          <a:noFill/>
          <a:ln>
            <a:noFill/>
          </a:ln>
        </p:spPr>
        <p:txBody>
          <a:bodyPr spcFirstLastPara="1" wrap="square" lIns="150750" tIns="75350" rIns="150750" bIns="75350" anchor="t" anchorCtr="0">
            <a:spAutoFit/>
          </a:bodyPr>
          <a:lstStyle/>
          <a:p>
            <a:pPr lvl="0">
              <a:buClr>
                <a:schemeClr val="dk1"/>
              </a:buClr>
              <a:buSzPts val="1500"/>
            </a:pPr>
            <a:r>
              <a:rPr lang="en-US" altLang="ja-JP" sz="1200" dirty="0">
                <a:solidFill>
                  <a:schemeClr val="tx1">
                    <a:lumMod val="50000"/>
                    <a:lumOff val="50000"/>
                  </a:schemeClr>
                </a:solidFill>
                <a:latin typeface="Meiryo"/>
                <a:ea typeface="Meiryo"/>
                <a:cs typeface="Meiryo"/>
                <a:sym typeface="Meiryo"/>
              </a:rPr>
              <a:t>1</a:t>
            </a:r>
            <a:r>
              <a:rPr lang="ja-JP" altLang="en-US" sz="1200" dirty="0">
                <a:solidFill>
                  <a:schemeClr val="tx1">
                    <a:lumMod val="50000"/>
                    <a:lumOff val="50000"/>
                  </a:schemeClr>
                </a:solidFill>
                <a:latin typeface="Meiryo"/>
                <a:ea typeface="Meiryo"/>
                <a:cs typeface="Meiryo"/>
                <a:sym typeface="Meiryo"/>
              </a:rPr>
              <a:t>人あたり</a:t>
            </a:r>
            <a:r>
              <a:rPr lang="en-US" altLang="ja-JP" sz="1200" dirty="0">
                <a:solidFill>
                  <a:schemeClr val="tx1">
                    <a:lumMod val="50000"/>
                    <a:lumOff val="50000"/>
                  </a:schemeClr>
                </a:solidFill>
                <a:latin typeface="Meiryo"/>
                <a:ea typeface="Meiryo"/>
                <a:cs typeface="Meiryo"/>
                <a:sym typeface="Meiryo"/>
              </a:rPr>
              <a:t>50</a:t>
            </a:r>
            <a:r>
              <a:rPr lang="ja-JP" altLang="en-US" sz="1200" dirty="0">
                <a:solidFill>
                  <a:schemeClr val="tx1">
                    <a:lumMod val="50000"/>
                    <a:lumOff val="50000"/>
                  </a:schemeClr>
                </a:solidFill>
                <a:latin typeface="Meiryo"/>
                <a:ea typeface="Meiryo"/>
                <a:cs typeface="Meiryo"/>
                <a:sym typeface="Meiryo"/>
              </a:rPr>
              <a:t>円で友だち獲得</a:t>
            </a:r>
            <a:endParaRPr lang="en-US" altLang="ja-JP" sz="1200" dirty="0">
              <a:solidFill>
                <a:schemeClr val="tx1">
                  <a:lumMod val="50000"/>
                  <a:lumOff val="50000"/>
                </a:schemeClr>
              </a:solidFill>
              <a:latin typeface="Meiryo"/>
              <a:ea typeface="Meiryo"/>
              <a:cs typeface="Meiryo"/>
              <a:sym typeface="Meiryo"/>
            </a:endParaRPr>
          </a:p>
          <a:p>
            <a:pPr lvl="0">
              <a:buClr>
                <a:schemeClr val="dk1"/>
              </a:buClr>
              <a:buSzPts val="1500"/>
            </a:pPr>
            <a:r>
              <a:rPr lang="en-US" altLang="ja-JP" sz="1200" dirty="0">
                <a:solidFill>
                  <a:schemeClr val="tx1">
                    <a:lumMod val="50000"/>
                    <a:lumOff val="50000"/>
                  </a:schemeClr>
                </a:solidFill>
                <a:latin typeface="Meiryo"/>
                <a:ea typeface="Meiryo"/>
                <a:cs typeface="Meiryo"/>
                <a:sym typeface="Meiryo"/>
              </a:rPr>
              <a:t>LINE</a:t>
            </a:r>
            <a:r>
              <a:rPr lang="ja-JP" altLang="en-US" sz="1200" dirty="0">
                <a:solidFill>
                  <a:schemeClr val="tx1">
                    <a:lumMod val="50000"/>
                    <a:lumOff val="50000"/>
                  </a:schemeClr>
                </a:solidFill>
                <a:latin typeface="Meiryo"/>
                <a:ea typeface="Meiryo"/>
                <a:cs typeface="Meiryo"/>
                <a:sym typeface="Meiryo"/>
              </a:rPr>
              <a:t>経由の購入</a:t>
            </a:r>
            <a:r>
              <a:rPr lang="en-US" altLang="ja-JP" sz="1200" dirty="0">
                <a:solidFill>
                  <a:schemeClr val="tx1">
                    <a:lumMod val="50000"/>
                    <a:lumOff val="50000"/>
                  </a:schemeClr>
                </a:solidFill>
                <a:latin typeface="Meiryo"/>
                <a:ea typeface="Meiryo"/>
                <a:cs typeface="Meiryo"/>
                <a:sym typeface="Meiryo"/>
              </a:rPr>
              <a:t>1.5</a:t>
            </a:r>
            <a:r>
              <a:rPr lang="ja-JP" altLang="en-US" sz="1200" dirty="0">
                <a:solidFill>
                  <a:schemeClr val="tx1">
                    <a:lumMod val="50000"/>
                    <a:lumOff val="50000"/>
                  </a:schemeClr>
                </a:solidFill>
                <a:latin typeface="Meiryo"/>
                <a:ea typeface="Meiryo"/>
                <a:cs typeface="Meiryo"/>
                <a:sym typeface="Meiryo"/>
              </a:rPr>
              <a:t>倍</a:t>
            </a:r>
            <a:endParaRPr lang="en-US" altLang="ja-JP" sz="1200" dirty="0">
              <a:solidFill>
                <a:schemeClr val="tx1">
                  <a:lumMod val="50000"/>
                  <a:lumOff val="50000"/>
                </a:schemeClr>
              </a:solidFill>
              <a:latin typeface="Meiryo"/>
              <a:ea typeface="Meiryo"/>
              <a:cs typeface="Meiryo"/>
              <a:sym typeface="Meiryo"/>
            </a:endParaRPr>
          </a:p>
        </p:txBody>
      </p:sp>
      <p:sp>
        <p:nvSpPr>
          <p:cNvPr id="22" name="Google Shape;178;p7"/>
          <p:cNvSpPr txBox="1"/>
          <p:nvPr/>
        </p:nvSpPr>
        <p:spPr>
          <a:xfrm>
            <a:off x="6434745" y="4068766"/>
            <a:ext cx="3501626" cy="79850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latin typeface="Meiryo"/>
                <a:ea typeface="Meiryo"/>
                <a:cs typeface="Meiryo"/>
                <a:sym typeface="Meiryo"/>
              </a:rPr>
              <a:t>サンクスページに到達した</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ユーザーを自動で</a:t>
            </a:r>
            <a:r>
              <a:rPr lang="en-US" altLang="ja-JP" sz="1400" dirty="0">
                <a:latin typeface="Meiryo"/>
                <a:ea typeface="Meiryo"/>
                <a:cs typeface="Meiryo"/>
                <a:sym typeface="Meiryo"/>
              </a:rPr>
              <a:t>LINE</a:t>
            </a:r>
            <a:r>
              <a:rPr lang="ja-JP" altLang="en-US" sz="1400" dirty="0">
                <a:latin typeface="Meiryo"/>
                <a:ea typeface="Meiryo"/>
                <a:cs typeface="Meiryo"/>
                <a:sym typeface="Meiryo"/>
              </a:rPr>
              <a:t>に誘導。</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友だち追加、追客に活用可能。</a:t>
            </a:r>
            <a:endParaRPr lang="en-US" altLang="ja-JP" sz="1400" dirty="0">
              <a:latin typeface="Meiryo"/>
              <a:ea typeface="Meiryo"/>
              <a:cs typeface="Meiryo"/>
              <a:sym typeface="Meiryo"/>
            </a:endParaRPr>
          </a:p>
        </p:txBody>
      </p:sp>
      <p:sp>
        <p:nvSpPr>
          <p:cNvPr id="23" name="Google Shape;178;p7"/>
          <p:cNvSpPr txBox="1"/>
          <p:nvPr/>
        </p:nvSpPr>
        <p:spPr>
          <a:xfrm>
            <a:off x="6434745" y="5014843"/>
            <a:ext cx="2338123" cy="36761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solidFill>
                  <a:schemeClr val="tx1">
                    <a:lumMod val="50000"/>
                    <a:lumOff val="50000"/>
                  </a:schemeClr>
                </a:solidFill>
                <a:latin typeface="Meiryo"/>
                <a:ea typeface="Meiryo"/>
                <a:cs typeface="Meiryo"/>
                <a:sym typeface="Meiryo"/>
              </a:rPr>
              <a:t>事例：美容医療</a:t>
            </a:r>
            <a:endParaRPr lang="en-US" altLang="ja-JP" sz="1400" dirty="0">
              <a:solidFill>
                <a:schemeClr val="tx1">
                  <a:lumMod val="50000"/>
                  <a:lumOff val="50000"/>
                </a:schemeClr>
              </a:solidFill>
              <a:latin typeface="Meiryo"/>
              <a:ea typeface="Meiryo"/>
              <a:cs typeface="Meiryo"/>
              <a:sym typeface="Meiryo"/>
            </a:endParaRPr>
          </a:p>
        </p:txBody>
      </p:sp>
      <p:pic>
        <p:nvPicPr>
          <p:cNvPr id="4" name="図 3"/>
          <p:cNvPicPr>
            <a:picLocks noChangeAspect="1"/>
          </p:cNvPicPr>
          <p:nvPr/>
        </p:nvPicPr>
        <p:blipFill>
          <a:blip r:embed="rId3"/>
          <a:stretch>
            <a:fillRect/>
          </a:stretch>
        </p:blipFill>
        <p:spPr>
          <a:xfrm>
            <a:off x="3639325" y="2409907"/>
            <a:ext cx="2627350" cy="1492812"/>
          </a:xfrm>
          <a:prstGeom prst="rect">
            <a:avLst/>
          </a:prstGeom>
        </p:spPr>
      </p:pic>
      <p:sp>
        <p:nvSpPr>
          <p:cNvPr id="24" name="Google Shape;178;p7"/>
          <p:cNvSpPr txBox="1"/>
          <p:nvPr/>
        </p:nvSpPr>
        <p:spPr>
          <a:xfrm>
            <a:off x="440374" y="5328640"/>
            <a:ext cx="2752048" cy="890835"/>
          </a:xfrm>
          <a:prstGeom prst="rect">
            <a:avLst/>
          </a:prstGeom>
          <a:noFill/>
          <a:ln>
            <a:noFill/>
          </a:ln>
        </p:spPr>
        <p:txBody>
          <a:bodyPr spcFirstLastPara="1" wrap="square" lIns="150750" tIns="75350" rIns="150750" bIns="75350" anchor="t" anchorCtr="0">
            <a:spAutoFit/>
          </a:bodyPr>
          <a:lstStyle/>
          <a:p>
            <a:pPr lvl="0">
              <a:buClr>
                <a:schemeClr val="dk1"/>
              </a:buClr>
              <a:buSzPts val="1500"/>
            </a:pPr>
            <a:r>
              <a:rPr lang="en-US" altLang="ja-JP" sz="1200" dirty="0">
                <a:solidFill>
                  <a:schemeClr val="tx1">
                    <a:lumMod val="50000"/>
                    <a:lumOff val="50000"/>
                  </a:schemeClr>
                </a:solidFill>
                <a:latin typeface="Meiryo"/>
                <a:ea typeface="Meiryo"/>
                <a:cs typeface="Meiryo"/>
                <a:sym typeface="Meiryo"/>
              </a:rPr>
              <a:t>LP</a:t>
            </a:r>
            <a:r>
              <a:rPr lang="ja-JP" altLang="en-US" sz="1200" dirty="0">
                <a:solidFill>
                  <a:schemeClr val="tx1">
                    <a:lumMod val="50000"/>
                    <a:lumOff val="50000"/>
                  </a:schemeClr>
                </a:solidFill>
                <a:latin typeface="Meiryo"/>
                <a:ea typeface="Meiryo"/>
                <a:cs typeface="Meiryo"/>
                <a:sym typeface="Meiryo"/>
              </a:rPr>
              <a:t>離脱ユーザーに対して</a:t>
            </a:r>
            <a:endParaRPr lang="en-US" altLang="ja-JP" sz="1200" dirty="0">
              <a:solidFill>
                <a:schemeClr val="tx1">
                  <a:lumMod val="50000"/>
                  <a:lumOff val="50000"/>
                </a:schemeClr>
              </a:solidFill>
              <a:latin typeface="Meiryo"/>
              <a:ea typeface="Meiryo"/>
              <a:cs typeface="Meiryo"/>
              <a:sym typeface="Meiryo"/>
            </a:endParaRPr>
          </a:p>
          <a:p>
            <a:pPr lvl="0">
              <a:buClr>
                <a:schemeClr val="dk1"/>
              </a:buClr>
              <a:buSzPts val="1500"/>
            </a:pPr>
            <a:r>
              <a:rPr lang="en-US" altLang="ja-JP" sz="1200" dirty="0">
                <a:solidFill>
                  <a:schemeClr val="tx1">
                    <a:lumMod val="50000"/>
                    <a:lumOff val="50000"/>
                  </a:schemeClr>
                </a:solidFill>
                <a:latin typeface="Meiryo"/>
                <a:ea typeface="Meiryo"/>
                <a:cs typeface="Meiryo"/>
                <a:sym typeface="Meiryo"/>
              </a:rPr>
              <a:t>LINE</a:t>
            </a:r>
            <a:r>
              <a:rPr lang="ja-JP" altLang="en-US" sz="1200" dirty="0">
                <a:solidFill>
                  <a:schemeClr val="tx1">
                    <a:lumMod val="50000"/>
                    <a:lumOff val="50000"/>
                  </a:schemeClr>
                </a:solidFill>
                <a:latin typeface="Meiryo"/>
                <a:ea typeface="Meiryo"/>
                <a:cs typeface="Meiryo"/>
                <a:sym typeface="Meiryo"/>
              </a:rPr>
              <a:t>誘導を実施。</a:t>
            </a:r>
            <a:endParaRPr lang="en-US" altLang="ja-JP" sz="1200" dirty="0">
              <a:solidFill>
                <a:schemeClr val="tx1">
                  <a:lumMod val="50000"/>
                  <a:lumOff val="50000"/>
                </a:schemeClr>
              </a:solidFill>
              <a:latin typeface="Meiryo"/>
              <a:ea typeface="Meiryo"/>
              <a:cs typeface="Meiryo"/>
              <a:sym typeface="Meiryo"/>
            </a:endParaRPr>
          </a:p>
          <a:p>
            <a:pPr lvl="0">
              <a:buClr>
                <a:schemeClr val="dk1"/>
              </a:buClr>
              <a:buSzPts val="1500"/>
            </a:pPr>
            <a:r>
              <a:rPr lang="en-US" altLang="ja-JP" sz="1200" dirty="0">
                <a:solidFill>
                  <a:schemeClr val="tx1">
                    <a:lumMod val="50000"/>
                    <a:lumOff val="50000"/>
                  </a:schemeClr>
                </a:solidFill>
                <a:latin typeface="Meiryo"/>
                <a:ea typeface="Meiryo"/>
                <a:cs typeface="Meiryo"/>
                <a:sym typeface="Meiryo"/>
              </a:rPr>
              <a:t>LINE</a:t>
            </a:r>
            <a:r>
              <a:rPr lang="ja-JP" altLang="en-US" sz="1200" dirty="0">
                <a:solidFill>
                  <a:schemeClr val="tx1">
                    <a:lumMod val="50000"/>
                    <a:lumOff val="50000"/>
                  </a:schemeClr>
                </a:solidFill>
                <a:latin typeface="Meiryo"/>
                <a:ea typeface="Meiryo"/>
                <a:cs typeface="Meiryo"/>
                <a:sym typeface="Meiryo"/>
              </a:rPr>
              <a:t>追加から</a:t>
            </a:r>
            <a:r>
              <a:rPr lang="en-US" altLang="ja-JP" sz="1200" dirty="0">
                <a:solidFill>
                  <a:schemeClr val="tx1">
                    <a:lumMod val="50000"/>
                    <a:lumOff val="50000"/>
                  </a:schemeClr>
                </a:solidFill>
                <a:latin typeface="Meiryo"/>
                <a:ea typeface="Meiryo"/>
                <a:cs typeface="Meiryo"/>
                <a:sym typeface="Meiryo"/>
              </a:rPr>
              <a:t>20</a:t>
            </a:r>
            <a:r>
              <a:rPr lang="ja-JP" altLang="en-US" sz="1200" dirty="0">
                <a:solidFill>
                  <a:schemeClr val="tx1">
                    <a:lumMod val="50000"/>
                    <a:lumOff val="50000"/>
                  </a:schemeClr>
                </a:solidFill>
                <a:latin typeface="Meiryo"/>
                <a:ea typeface="Meiryo"/>
                <a:cs typeface="Meiryo"/>
                <a:sym typeface="Meiryo"/>
              </a:rPr>
              <a:t>％が</a:t>
            </a:r>
            <a:r>
              <a:rPr lang="en-US" altLang="ja-JP" sz="1200" dirty="0">
                <a:solidFill>
                  <a:schemeClr val="tx1">
                    <a:lumMod val="50000"/>
                    <a:lumOff val="50000"/>
                  </a:schemeClr>
                </a:solidFill>
                <a:latin typeface="Meiryo"/>
                <a:ea typeface="Meiryo"/>
                <a:cs typeface="Meiryo"/>
                <a:sym typeface="Meiryo"/>
              </a:rPr>
              <a:t>CV</a:t>
            </a:r>
          </a:p>
          <a:p>
            <a:pPr lvl="0">
              <a:buClr>
                <a:schemeClr val="dk1"/>
              </a:buClr>
              <a:buSzPts val="1500"/>
            </a:pPr>
            <a:endParaRPr lang="en-US" altLang="ja-JP" sz="1200" dirty="0">
              <a:solidFill>
                <a:schemeClr val="tx1">
                  <a:lumMod val="50000"/>
                  <a:lumOff val="50000"/>
                </a:schemeClr>
              </a:solidFill>
              <a:latin typeface="Meiryo"/>
              <a:ea typeface="Meiryo"/>
              <a:cs typeface="Meiryo"/>
              <a:sym typeface="Meiryo"/>
            </a:endParaRPr>
          </a:p>
        </p:txBody>
      </p:sp>
      <p:sp>
        <p:nvSpPr>
          <p:cNvPr id="25" name="Google Shape;178;p7"/>
          <p:cNvSpPr txBox="1"/>
          <p:nvPr/>
        </p:nvSpPr>
        <p:spPr>
          <a:xfrm>
            <a:off x="6825208" y="5328640"/>
            <a:ext cx="2851751" cy="521504"/>
          </a:xfrm>
          <a:prstGeom prst="rect">
            <a:avLst/>
          </a:prstGeom>
          <a:noFill/>
          <a:ln>
            <a:noFill/>
          </a:ln>
        </p:spPr>
        <p:txBody>
          <a:bodyPr spcFirstLastPara="1" wrap="square" lIns="150750" tIns="75350" rIns="150750" bIns="75350" anchor="t" anchorCtr="0">
            <a:spAutoFit/>
          </a:bodyPr>
          <a:lstStyle/>
          <a:p>
            <a:pPr lvl="0">
              <a:buClr>
                <a:schemeClr val="dk1"/>
              </a:buClr>
              <a:buSzPts val="1500"/>
            </a:pPr>
            <a:r>
              <a:rPr lang="ja-JP" altLang="en-US" sz="1200" dirty="0">
                <a:solidFill>
                  <a:schemeClr val="tx1">
                    <a:lumMod val="50000"/>
                    <a:lumOff val="50000"/>
                  </a:schemeClr>
                </a:solidFill>
                <a:latin typeface="Meiryo"/>
                <a:ea typeface="Meiryo"/>
                <a:cs typeface="Meiryo"/>
                <a:sym typeface="Meiryo"/>
              </a:rPr>
              <a:t>導入後友だち増加数が</a:t>
            </a:r>
            <a:r>
              <a:rPr lang="en-US" altLang="ja-JP" sz="1200" dirty="0">
                <a:solidFill>
                  <a:schemeClr val="tx1">
                    <a:lumMod val="50000"/>
                    <a:lumOff val="50000"/>
                  </a:schemeClr>
                </a:solidFill>
                <a:latin typeface="Meiryo"/>
                <a:ea typeface="Meiryo"/>
                <a:cs typeface="Meiryo"/>
                <a:sym typeface="Meiryo"/>
              </a:rPr>
              <a:t>1.5</a:t>
            </a:r>
            <a:r>
              <a:rPr lang="ja-JP" altLang="en-US" sz="1200" dirty="0">
                <a:solidFill>
                  <a:schemeClr val="tx1">
                    <a:lumMod val="50000"/>
                    <a:lumOff val="50000"/>
                  </a:schemeClr>
                </a:solidFill>
                <a:latin typeface="Meiryo"/>
                <a:ea typeface="Meiryo"/>
                <a:cs typeface="Meiryo"/>
                <a:sym typeface="Meiryo"/>
              </a:rPr>
              <a:t>倍に。</a:t>
            </a:r>
            <a:endParaRPr lang="en-US" altLang="ja-JP" sz="1200" dirty="0">
              <a:solidFill>
                <a:schemeClr val="tx1">
                  <a:lumMod val="50000"/>
                  <a:lumOff val="50000"/>
                </a:schemeClr>
              </a:solidFill>
              <a:latin typeface="Meiryo"/>
              <a:ea typeface="Meiryo"/>
              <a:cs typeface="Meiryo"/>
              <a:sym typeface="Meiryo"/>
            </a:endParaRPr>
          </a:p>
          <a:p>
            <a:pPr lvl="0">
              <a:buClr>
                <a:schemeClr val="dk1"/>
              </a:buClr>
              <a:buSzPts val="1500"/>
            </a:pPr>
            <a:r>
              <a:rPr lang="ja-JP" altLang="en-US" sz="1200" dirty="0">
                <a:solidFill>
                  <a:schemeClr val="tx1">
                    <a:lumMod val="50000"/>
                    <a:lumOff val="50000"/>
                  </a:schemeClr>
                </a:solidFill>
                <a:latin typeface="Meiryo"/>
                <a:ea typeface="Meiryo"/>
                <a:cs typeface="Meiryo"/>
                <a:sym typeface="Meiryo"/>
              </a:rPr>
              <a:t>実反響率も</a:t>
            </a:r>
            <a:r>
              <a:rPr lang="en-US" altLang="ja-JP" sz="1200" dirty="0">
                <a:solidFill>
                  <a:schemeClr val="tx1">
                    <a:lumMod val="50000"/>
                    <a:lumOff val="50000"/>
                  </a:schemeClr>
                </a:solidFill>
                <a:latin typeface="Meiryo"/>
                <a:ea typeface="Meiryo"/>
                <a:cs typeface="Meiryo"/>
                <a:sym typeface="Meiryo"/>
              </a:rPr>
              <a:t>40%</a:t>
            </a:r>
            <a:r>
              <a:rPr lang="ja-JP" altLang="en-US" sz="1200" dirty="0">
                <a:solidFill>
                  <a:schemeClr val="tx1">
                    <a:lumMod val="50000"/>
                    <a:lumOff val="50000"/>
                  </a:schemeClr>
                </a:solidFill>
                <a:latin typeface="Meiryo"/>
                <a:ea typeface="Meiryo"/>
                <a:cs typeface="Meiryo"/>
                <a:sym typeface="Meiryo"/>
              </a:rPr>
              <a:t>程度改善。</a:t>
            </a:r>
            <a:endParaRPr lang="en-US" altLang="ja-JP" sz="1200" dirty="0">
              <a:solidFill>
                <a:schemeClr val="tx1">
                  <a:lumMod val="50000"/>
                  <a:lumOff val="50000"/>
                </a:schemeClr>
              </a:solidFill>
              <a:latin typeface="Meiryo"/>
              <a:ea typeface="Meiryo"/>
              <a:cs typeface="Meiryo"/>
              <a:sym typeface="Meiryo"/>
            </a:endParaRPr>
          </a:p>
        </p:txBody>
      </p:sp>
      <p:sp>
        <p:nvSpPr>
          <p:cNvPr id="37" name="角丸四角形 8">
            <a:extLst>
              <a:ext uri="{FF2B5EF4-FFF2-40B4-BE49-F238E27FC236}">
                <a16:creationId xmlns:a16="http://schemas.microsoft.com/office/drawing/2014/main" id="{C9E1ACA7-99C2-0E6B-91F5-B9518FC16E7C}"/>
              </a:ext>
            </a:extLst>
          </p:cNvPr>
          <p:cNvSpPr/>
          <p:nvPr/>
        </p:nvSpPr>
        <p:spPr>
          <a:xfrm>
            <a:off x="3460688" y="1776142"/>
            <a:ext cx="2986322" cy="4471347"/>
          </a:xfrm>
          <a:prstGeom prst="roundRect">
            <a:avLst>
              <a:gd name="adj" fmla="val 3567"/>
            </a:avLst>
          </a:prstGeom>
          <a:solidFill>
            <a:schemeClr val="accent1">
              <a:lumMod val="20000"/>
              <a:lumOff val="80000"/>
            </a:schemeClr>
          </a:solidFill>
          <a:ln w="25400" cap="flat" cmpd="sng" algn="ctr">
            <a:solidFill>
              <a:schemeClr val="accent1"/>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38" name="Google Shape;178;p7">
            <a:extLst>
              <a:ext uri="{FF2B5EF4-FFF2-40B4-BE49-F238E27FC236}">
                <a16:creationId xmlns:a16="http://schemas.microsoft.com/office/drawing/2014/main" id="{6F13136C-FF05-A088-CA87-3ACA257BC421}"/>
              </a:ext>
            </a:extLst>
          </p:cNvPr>
          <p:cNvSpPr txBox="1"/>
          <p:nvPr/>
        </p:nvSpPr>
        <p:spPr>
          <a:xfrm>
            <a:off x="3796689" y="1949959"/>
            <a:ext cx="2314319"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Meiryo"/>
                <a:ea typeface="Meiryo"/>
                <a:cs typeface="Meiryo"/>
                <a:sym typeface="Meiryo"/>
              </a:rPr>
              <a:t>通知メッセージ</a:t>
            </a:r>
            <a:endParaRPr lang="en-US" altLang="ja-JP" sz="2000" b="1" dirty="0">
              <a:solidFill>
                <a:srgbClr val="002060"/>
              </a:solidFill>
              <a:latin typeface="Meiryo"/>
              <a:ea typeface="Meiryo"/>
              <a:cs typeface="Meiryo"/>
              <a:sym typeface="Meiryo"/>
            </a:endParaRPr>
          </a:p>
        </p:txBody>
      </p:sp>
      <p:sp>
        <p:nvSpPr>
          <p:cNvPr id="39" name="Google Shape;178;p7">
            <a:extLst>
              <a:ext uri="{FF2B5EF4-FFF2-40B4-BE49-F238E27FC236}">
                <a16:creationId xmlns:a16="http://schemas.microsoft.com/office/drawing/2014/main" id="{07FD580D-9A27-0246-033B-9F6EAE799E8D}"/>
              </a:ext>
            </a:extLst>
          </p:cNvPr>
          <p:cNvSpPr txBox="1"/>
          <p:nvPr/>
        </p:nvSpPr>
        <p:spPr>
          <a:xfrm>
            <a:off x="3232397" y="4068766"/>
            <a:ext cx="3501626" cy="79850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latin typeface="Meiryo"/>
                <a:ea typeface="Meiryo"/>
                <a:cs typeface="Meiryo"/>
                <a:sym typeface="Meiryo"/>
              </a:rPr>
              <a:t>友だちではないユーザーに</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対して予約完了通知などを</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送り友だちを増やす。</a:t>
            </a:r>
            <a:endParaRPr lang="en-US" altLang="ja-JP" sz="1400" dirty="0">
              <a:latin typeface="Meiryo"/>
              <a:ea typeface="Meiryo"/>
              <a:cs typeface="Meiryo"/>
              <a:sym typeface="Meiryo"/>
            </a:endParaRPr>
          </a:p>
        </p:txBody>
      </p:sp>
      <p:sp>
        <p:nvSpPr>
          <p:cNvPr id="40" name="Google Shape;178;p7">
            <a:extLst>
              <a:ext uri="{FF2B5EF4-FFF2-40B4-BE49-F238E27FC236}">
                <a16:creationId xmlns:a16="http://schemas.microsoft.com/office/drawing/2014/main" id="{9F664541-9CBE-3991-FFCD-6CC51F91112E}"/>
              </a:ext>
            </a:extLst>
          </p:cNvPr>
          <p:cNvSpPr txBox="1"/>
          <p:nvPr/>
        </p:nvSpPr>
        <p:spPr>
          <a:xfrm>
            <a:off x="3232397" y="5014843"/>
            <a:ext cx="2338123" cy="36761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solidFill>
                  <a:schemeClr val="tx1">
                    <a:lumMod val="50000"/>
                    <a:lumOff val="50000"/>
                  </a:schemeClr>
                </a:solidFill>
                <a:latin typeface="Meiryo"/>
                <a:ea typeface="Meiryo"/>
                <a:cs typeface="Meiryo"/>
                <a:sym typeface="Meiryo"/>
              </a:rPr>
              <a:t>事例：宅配ピザ</a:t>
            </a:r>
            <a:endParaRPr lang="en-US" altLang="ja-JP" sz="1400" dirty="0">
              <a:solidFill>
                <a:schemeClr val="tx1">
                  <a:lumMod val="50000"/>
                  <a:lumOff val="50000"/>
                </a:schemeClr>
              </a:solidFill>
              <a:latin typeface="Meiryo"/>
              <a:ea typeface="Meiryo"/>
              <a:cs typeface="Meiryo"/>
              <a:sym typeface="Meiryo"/>
            </a:endParaRPr>
          </a:p>
        </p:txBody>
      </p:sp>
      <p:pic>
        <p:nvPicPr>
          <p:cNvPr id="41" name="図 40">
            <a:extLst>
              <a:ext uri="{FF2B5EF4-FFF2-40B4-BE49-F238E27FC236}">
                <a16:creationId xmlns:a16="http://schemas.microsoft.com/office/drawing/2014/main" id="{EBE29AD0-3B27-DC79-2BA9-92067E227221}"/>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3968283" y="1481069"/>
            <a:ext cx="2029853" cy="3608629"/>
          </a:xfrm>
          <a:prstGeom prst="rect">
            <a:avLst/>
          </a:prstGeom>
        </p:spPr>
      </p:pic>
      <p:sp>
        <p:nvSpPr>
          <p:cNvPr id="42" name="Google Shape;178;p7">
            <a:extLst>
              <a:ext uri="{FF2B5EF4-FFF2-40B4-BE49-F238E27FC236}">
                <a16:creationId xmlns:a16="http://schemas.microsoft.com/office/drawing/2014/main" id="{D998E418-5C84-71C1-1C83-DA02AB529AF7}"/>
              </a:ext>
            </a:extLst>
          </p:cNvPr>
          <p:cNvSpPr txBox="1"/>
          <p:nvPr/>
        </p:nvSpPr>
        <p:spPr>
          <a:xfrm>
            <a:off x="3622860" y="5328640"/>
            <a:ext cx="2851751" cy="521504"/>
          </a:xfrm>
          <a:prstGeom prst="rect">
            <a:avLst/>
          </a:prstGeom>
          <a:noFill/>
          <a:ln>
            <a:noFill/>
          </a:ln>
        </p:spPr>
        <p:txBody>
          <a:bodyPr spcFirstLastPara="1" wrap="square" lIns="150750" tIns="75350" rIns="150750" bIns="75350" anchor="t" anchorCtr="0">
            <a:spAutoFit/>
          </a:bodyPr>
          <a:lstStyle/>
          <a:p>
            <a:pPr lvl="0">
              <a:buClr>
                <a:schemeClr val="dk1"/>
              </a:buClr>
              <a:buSzPts val="1500"/>
            </a:pPr>
            <a:r>
              <a:rPr lang="ja-JP" altLang="en-US" sz="1200" dirty="0">
                <a:solidFill>
                  <a:schemeClr val="tx1">
                    <a:lumMod val="50000"/>
                    <a:lumOff val="50000"/>
                  </a:schemeClr>
                </a:solidFill>
                <a:latin typeface="Meiryo"/>
                <a:ea typeface="Meiryo"/>
                <a:cs typeface="Meiryo"/>
                <a:sym typeface="Meiryo"/>
              </a:rPr>
              <a:t>通知メッセージ導入４ヶ月で</a:t>
            </a:r>
            <a:endParaRPr lang="en-US" altLang="ja-JP" sz="1200" dirty="0">
              <a:solidFill>
                <a:schemeClr val="tx1">
                  <a:lumMod val="50000"/>
                  <a:lumOff val="50000"/>
                </a:schemeClr>
              </a:solidFill>
              <a:latin typeface="Meiryo"/>
              <a:ea typeface="Meiryo"/>
              <a:cs typeface="Meiryo"/>
              <a:sym typeface="Meiryo"/>
            </a:endParaRPr>
          </a:p>
          <a:p>
            <a:pPr lvl="0">
              <a:buClr>
                <a:schemeClr val="dk1"/>
              </a:buClr>
              <a:buSzPts val="1500"/>
            </a:pPr>
            <a:r>
              <a:rPr lang="ja-JP" altLang="en-US" sz="1200" dirty="0">
                <a:solidFill>
                  <a:schemeClr val="tx1">
                    <a:lumMod val="50000"/>
                    <a:lumOff val="50000"/>
                  </a:schemeClr>
                </a:solidFill>
                <a:latin typeface="Meiryo"/>
                <a:ea typeface="Meiryo"/>
                <a:cs typeface="Meiryo"/>
                <a:sym typeface="Meiryo"/>
              </a:rPr>
              <a:t>友だち数</a:t>
            </a:r>
            <a:r>
              <a:rPr lang="en-US" altLang="ja-JP" sz="1200" dirty="0">
                <a:solidFill>
                  <a:schemeClr val="tx1">
                    <a:lumMod val="50000"/>
                    <a:lumOff val="50000"/>
                  </a:schemeClr>
                </a:solidFill>
                <a:latin typeface="Meiryo"/>
                <a:ea typeface="Meiryo"/>
                <a:cs typeface="Meiryo"/>
                <a:sym typeface="Meiryo"/>
              </a:rPr>
              <a:t>2</a:t>
            </a:r>
            <a:r>
              <a:rPr lang="ja-JP" altLang="en-US" sz="1200" dirty="0">
                <a:solidFill>
                  <a:schemeClr val="tx1">
                    <a:lumMod val="50000"/>
                    <a:lumOff val="50000"/>
                  </a:schemeClr>
                </a:solidFill>
                <a:latin typeface="Meiryo"/>
                <a:ea typeface="Meiryo"/>
                <a:cs typeface="Meiryo"/>
                <a:sym typeface="Meiryo"/>
              </a:rPr>
              <a:t>倍</a:t>
            </a:r>
            <a:endParaRPr lang="en-US" altLang="ja-JP" sz="1200" dirty="0">
              <a:solidFill>
                <a:schemeClr val="tx1">
                  <a:lumMod val="50000"/>
                  <a:lumOff val="50000"/>
                </a:schemeClr>
              </a:solidFill>
              <a:latin typeface="Meiryo"/>
              <a:ea typeface="Meiryo"/>
              <a:cs typeface="Meiryo"/>
              <a:sym typeface="Meiryo"/>
            </a:endParaRPr>
          </a:p>
        </p:txBody>
      </p:sp>
      <p:pic>
        <p:nvPicPr>
          <p:cNvPr id="1026" name="Picture 2" descr="サンクスページ インスタ無料テンプレートデザイン。イラストや ...">
            <a:extLst>
              <a:ext uri="{FF2B5EF4-FFF2-40B4-BE49-F238E27FC236}">
                <a16:creationId xmlns:a16="http://schemas.microsoft.com/office/drawing/2014/main" id="{EF2FB526-72BA-45FB-7AF8-36501049F967}"/>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t="18239" b="39628"/>
          <a:stretch>
            <a:fillRect/>
          </a:stretch>
        </p:blipFill>
        <p:spPr bwMode="auto">
          <a:xfrm>
            <a:off x="7001437" y="2549254"/>
            <a:ext cx="2326770" cy="1225425"/>
          </a:xfrm>
          <a:prstGeom prst="rect">
            <a:avLst/>
          </a:prstGeom>
          <a:noFill/>
          <a:extLst>
            <a:ext uri="{909E8E84-426E-40DD-AFC4-6F175D3DCCD1}">
              <a14:hiddenFill xmlns:a14="http://schemas.microsoft.com/office/drawing/2010/main">
                <a:solidFill>
                  <a:srgbClr val="FFFFFF"/>
                </a:solidFill>
              </a14:hiddenFill>
            </a:ext>
          </a:extLst>
        </p:spPr>
      </p:pic>
      <p:sp>
        <p:nvSpPr>
          <p:cNvPr id="3" name="Google Shape;752;p28">
            <a:extLst>
              <a:ext uri="{FF2B5EF4-FFF2-40B4-BE49-F238E27FC236}">
                <a16:creationId xmlns:a16="http://schemas.microsoft.com/office/drawing/2014/main" id="{E6ACC822-B6F9-6C30-928D-BAC3D63D473A}"/>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提供施策について</a:t>
            </a:r>
          </a:p>
        </p:txBody>
      </p:sp>
      <p:sp>
        <p:nvSpPr>
          <p:cNvPr id="5" name="Google Shape;178;p7">
            <a:extLst>
              <a:ext uri="{FF2B5EF4-FFF2-40B4-BE49-F238E27FC236}">
                <a16:creationId xmlns:a16="http://schemas.microsoft.com/office/drawing/2014/main" id="{617CCD27-0570-5EC2-D489-ADCA03A0F721}"/>
              </a:ext>
            </a:extLst>
          </p:cNvPr>
          <p:cNvSpPr txBox="1"/>
          <p:nvPr/>
        </p:nvSpPr>
        <p:spPr>
          <a:xfrm>
            <a:off x="77003" y="943920"/>
            <a:ext cx="9751992" cy="398393"/>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600" dirty="0">
                <a:latin typeface="Meiryo"/>
                <a:ea typeface="Meiryo"/>
                <a:cs typeface="Meiryo"/>
                <a:sym typeface="Meiryo"/>
              </a:rPr>
              <a:t>準顕在（獲得見込みが高い）層の</a:t>
            </a:r>
            <a:r>
              <a:rPr lang="ja-JP" altLang="en-US" sz="1600" b="1" dirty="0">
                <a:latin typeface="Meiryo"/>
                <a:ea typeface="Meiryo"/>
                <a:cs typeface="Meiryo"/>
                <a:sym typeface="Meiryo"/>
              </a:rPr>
              <a:t>独自獲得手法が豊富</a:t>
            </a:r>
            <a:r>
              <a:rPr lang="ja-JP" altLang="en-US" sz="1600" dirty="0">
                <a:latin typeface="Meiryo"/>
                <a:ea typeface="Meiryo"/>
                <a:cs typeface="Meiryo"/>
                <a:sym typeface="Meiryo"/>
              </a:rPr>
              <a:t>で尚且つ</a:t>
            </a:r>
            <a:r>
              <a:rPr lang="ja-JP" altLang="en-US" sz="1600" b="1" dirty="0">
                <a:latin typeface="Meiryo"/>
                <a:ea typeface="Meiryo"/>
                <a:cs typeface="Meiryo"/>
                <a:sym typeface="Meiryo"/>
              </a:rPr>
              <a:t>利用までナーチャリング</a:t>
            </a:r>
            <a:endParaRPr lang="en-US" altLang="ja-JP" sz="1600" dirty="0">
              <a:latin typeface="Meiryo"/>
              <a:ea typeface="Meiryo"/>
              <a:cs typeface="Meiryo"/>
              <a:sym typeface="Meiryo"/>
            </a:endParaRPr>
          </a:p>
        </p:txBody>
      </p:sp>
    </p:spTree>
    <p:extLst>
      <p:ext uri="{BB962C8B-B14F-4D97-AF65-F5344CB8AC3E}">
        <p14:creationId xmlns:p14="http://schemas.microsoft.com/office/powerpoint/2010/main" val="3000134590"/>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975156-99A2-3647-6F9D-3BD80C596EF5}"/>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AB249BA1-EB38-DDA6-8221-FC109239C49F}"/>
              </a:ext>
            </a:extLst>
          </p:cNvPr>
          <p:cNvSpPr txBox="1"/>
          <p:nvPr/>
        </p:nvSpPr>
        <p:spPr>
          <a:xfrm>
            <a:off x="548883" y="138138"/>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Meiryo"/>
                <a:ea typeface="Meiryo"/>
                <a:cs typeface="Meiryo"/>
                <a:sym typeface="Meiryo"/>
              </a:rPr>
              <a:t>新規友だちの追加（ポップアップ）</a:t>
            </a:r>
          </a:p>
        </p:txBody>
      </p:sp>
      <p:grpSp>
        <p:nvGrpSpPr>
          <p:cNvPr id="3" name="グループ化 2">
            <a:extLst>
              <a:ext uri="{FF2B5EF4-FFF2-40B4-BE49-F238E27FC236}">
                <a16:creationId xmlns:a16="http://schemas.microsoft.com/office/drawing/2014/main" id="{EA805D6F-0719-17C7-4E97-2705F1D9A93C}"/>
              </a:ext>
            </a:extLst>
          </p:cNvPr>
          <p:cNvGrpSpPr/>
          <p:nvPr/>
        </p:nvGrpSpPr>
        <p:grpSpPr>
          <a:xfrm>
            <a:off x="543398" y="777681"/>
            <a:ext cx="3105325" cy="485102"/>
            <a:chOff x="507969" y="928495"/>
            <a:chExt cx="3105325" cy="485102"/>
          </a:xfrm>
        </p:grpSpPr>
        <p:sp>
          <p:nvSpPr>
            <p:cNvPr id="4" name="Google Shape;51;p19">
              <a:extLst>
                <a:ext uri="{FF2B5EF4-FFF2-40B4-BE49-F238E27FC236}">
                  <a16:creationId xmlns:a16="http://schemas.microsoft.com/office/drawing/2014/main" id="{0895EF17-7734-EE92-7BF3-5B0ADCDC65B8}"/>
                </a:ext>
              </a:extLst>
            </p:cNvPr>
            <p:cNvSpPr/>
            <p:nvPr/>
          </p:nvSpPr>
          <p:spPr>
            <a:xfrm>
              <a:off x="507969" y="928495"/>
              <a:ext cx="3105325" cy="485102"/>
            </a:xfrm>
            <a:prstGeom prst="roundRect">
              <a:avLst>
                <a:gd name="adj" fmla="val 16667"/>
              </a:avLst>
            </a:pr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dirty="0">
                <a:solidFill>
                  <a:schemeClr val="lt1"/>
                </a:solidFill>
                <a:latin typeface="Meiryo"/>
                <a:ea typeface="Meiryo"/>
                <a:cs typeface="Meiryo"/>
                <a:sym typeface="Meiryo"/>
              </a:endParaRPr>
            </a:p>
          </p:txBody>
        </p:sp>
        <p:sp>
          <p:nvSpPr>
            <p:cNvPr id="5" name="テキスト ボックス 4">
              <a:extLst>
                <a:ext uri="{FF2B5EF4-FFF2-40B4-BE49-F238E27FC236}">
                  <a16:creationId xmlns:a16="http://schemas.microsoft.com/office/drawing/2014/main" id="{23AD98A9-882F-05AA-BB4E-3FB88AAA7C20}"/>
                </a:ext>
              </a:extLst>
            </p:cNvPr>
            <p:cNvSpPr txBox="1"/>
            <p:nvPr/>
          </p:nvSpPr>
          <p:spPr>
            <a:xfrm>
              <a:off x="687498" y="938979"/>
              <a:ext cx="2746265" cy="357790"/>
            </a:xfrm>
            <a:prstGeom prst="rect">
              <a:avLst/>
            </a:prstGeom>
            <a:noFill/>
          </p:spPr>
          <p:txBody>
            <a:bodyPr wrap="non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nSpc>
                  <a:spcPct val="120000"/>
                </a:lnSpc>
              </a:pPr>
              <a:r>
                <a:rPr kumimoji="1" lang="ja-JP" altLang="en-US" sz="1500" b="1" dirty="0">
                  <a:solidFill>
                    <a:schemeClr val="bg1"/>
                  </a:solidFill>
                  <a:latin typeface="Meiryo" panose="020B0604030504040204" pitchFamily="34" charset="-128"/>
                  <a:ea typeface="Meiryo" panose="020B0604030504040204" pitchFamily="34" charset="-128"/>
                </a:rPr>
                <a:t>ポップアップ</a:t>
              </a:r>
            </a:p>
          </p:txBody>
        </p:sp>
      </p:grpSp>
      <p:sp>
        <p:nvSpPr>
          <p:cNvPr id="8" name="正方形/長方形 7">
            <a:extLst>
              <a:ext uri="{FF2B5EF4-FFF2-40B4-BE49-F238E27FC236}">
                <a16:creationId xmlns:a16="http://schemas.microsoft.com/office/drawing/2014/main" id="{EB668975-CA29-64DD-88DF-17EAAC94AE34}"/>
              </a:ext>
            </a:extLst>
          </p:cNvPr>
          <p:cNvSpPr/>
          <p:nvPr/>
        </p:nvSpPr>
        <p:spPr>
          <a:xfrm>
            <a:off x="3806311" y="788165"/>
            <a:ext cx="5880088" cy="584775"/>
          </a:xfrm>
          <a:prstGeom prst="rect">
            <a:avLst/>
          </a:prstGeom>
        </p:spPr>
        <p:txBody>
          <a:bodyPr wrap="square">
            <a:spAutoFit/>
          </a:bodyPr>
          <a:lstStyle/>
          <a:p>
            <a:pPr lvl="0" algn="ctr">
              <a:buClr>
                <a:schemeClr val="dk1"/>
              </a:buClr>
              <a:buSzPts val="1500"/>
            </a:pPr>
            <a:r>
              <a:rPr lang="en-US" altLang="ja-JP" sz="1600" dirty="0">
                <a:latin typeface="Meiryo"/>
                <a:ea typeface="Meiryo"/>
                <a:cs typeface="Meiryo"/>
                <a:sym typeface="Meiryo"/>
              </a:rPr>
              <a:t>WEB</a:t>
            </a:r>
            <a:r>
              <a:rPr lang="ja-JP" altLang="en-US" sz="1600" dirty="0">
                <a:latin typeface="Meiryo"/>
                <a:ea typeface="Meiryo"/>
                <a:cs typeface="Meiryo"/>
                <a:sym typeface="Meiryo"/>
              </a:rPr>
              <a:t>サイト上の特定アクションを起こしたユーザーに対して</a:t>
            </a:r>
            <a:endParaRPr lang="en-US" altLang="ja-JP" sz="1600" dirty="0">
              <a:latin typeface="Meiryo"/>
              <a:ea typeface="Meiryo"/>
              <a:cs typeface="Meiryo"/>
              <a:sym typeface="Meiryo"/>
            </a:endParaRPr>
          </a:p>
          <a:p>
            <a:pPr lvl="0" algn="ctr">
              <a:buClr>
                <a:schemeClr val="dk1"/>
              </a:buClr>
              <a:buSzPts val="1500"/>
            </a:pPr>
            <a:r>
              <a:rPr lang="ja-JP" altLang="en-US" sz="1600" dirty="0">
                <a:latin typeface="Meiryo"/>
                <a:ea typeface="Meiryo"/>
                <a:cs typeface="Meiryo"/>
                <a:sym typeface="Meiryo"/>
              </a:rPr>
              <a:t>ポップアップの形で</a:t>
            </a:r>
            <a:r>
              <a:rPr lang="en-US" altLang="ja-JP" sz="1600" dirty="0">
                <a:latin typeface="Meiryo"/>
                <a:ea typeface="Meiryo"/>
                <a:cs typeface="Meiryo"/>
                <a:sym typeface="Meiryo"/>
              </a:rPr>
              <a:t>LINE</a:t>
            </a:r>
            <a:r>
              <a:rPr lang="ja-JP" altLang="en-US" sz="1600" dirty="0">
                <a:latin typeface="Meiryo"/>
                <a:ea typeface="Meiryo"/>
                <a:cs typeface="Meiryo"/>
                <a:sym typeface="Meiryo"/>
              </a:rPr>
              <a:t>誘導の動線を提示。</a:t>
            </a:r>
          </a:p>
        </p:txBody>
      </p:sp>
      <p:pic>
        <p:nvPicPr>
          <p:cNvPr id="6" name="図 5">
            <a:extLst>
              <a:ext uri="{FF2B5EF4-FFF2-40B4-BE49-F238E27FC236}">
                <a16:creationId xmlns:a16="http://schemas.microsoft.com/office/drawing/2014/main" id="{4BC18E84-0DF3-01E6-D82D-0A9DCD2D5F30}"/>
              </a:ext>
            </a:extLst>
          </p:cNvPr>
          <p:cNvPicPr>
            <a:picLocks noChangeAspect="1"/>
          </p:cNvPicPr>
          <p:nvPr/>
        </p:nvPicPr>
        <p:blipFill>
          <a:blip r:embed="rId2"/>
          <a:stretch>
            <a:fillRect/>
          </a:stretch>
        </p:blipFill>
        <p:spPr>
          <a:xfrm>
            <a:off x="5764329" y="2258734"/>
            <a:ext cx="1524677" cy="3096752"/>
          </a:xfrm>
          <a:prstGeom prst="rect">
            <a:avLst/>
          </a:prstGeom>
        </p:spPr>
      </p:pic>
      <p:sp>
        <p:nvSpPr>
          <p:cNvPr id="9" name="テキスト ボックス 8">
            <a:extLst>
              <a:ext uri="{FF2B5EF4-FFF2-40B4-BE49-F238E27FC236}">
                <a16:creationId xmlns:a16="http://schemas.microsoft.com/office/drawing/2014/main" id="{10FACA28-BE3D-80E4-091C-39F6141694C7}"/>
              </a:ext>
            </a:extLst>
          </p:cNvPr>
          <p:cNvSpPr txBox="1"/>
          <p:nvPr/>
        </p:nvSpPr>
        <p:spPr>
          <a:xfrm>
            <a:off x="5214938" y="1372940"/>
            <a:ext cx="4148137" cy="261610"/>
          </a:xfrm>
          <a:prstGeom prst="rect">
            <a:avLst/>
          </a:prstGeom>
          <a:noFill/>
        </p:spPr>
        <p:txBody>
          <a:bodyPr wrap="square">
            <a:spAutoFit/>
          </a:bodyPr>
          <a:lstStyle/>
          <a:p>
            <a:r>
              <a:rPr lang="en-US" altLang="ja-JP" sz="1050" dirty="0">
                <a:solidFill>
                  <a:srgbClr val="FF0000"/>
                </a:solidFill>
                <a:latin typeface="Meiryo"/>
                <a:ea typeface="Meiryo"/>
                <a:cs typeface="Meiryo"/>
                <a:sym typeface="Meiryo"/>
              </a:rPr>
              <a:t>LINE</a:t>
            </a:r>
            <a:r>
              <a:rPr lang="ja-JP" altLang="en-US" sz="1050" dirty="0">
                <a:solidFill>
                  <a:srgbClr val="FF0000"/>
                </a:solidFill>
                <a:latin typeface="Meiryo"/>
                <a:ea typeface="Meiryo"/>
                <a:cs typeface="Meiryo"/>
                <a:sym typeface="Meiryo"/>
              </a:rPr>
              <a:t>以外の注力動線への誘導も同バナーから実施が可能です。</a:t>
            </a:r>
            <a:endParaRPr lang="ja-JP" altLang="en-US" sz="1050" dirty="0">
              <a:solidFill>
                <a:srgbClr val="FF0000"/>
              </a:solidFill>
            </a:endParaRPr>
          </a:p>
        </p:txBody>
      </p:sp>
      <p:pic>
        <p:nvPicPr>
          <p:cNvPr id="11" name="図 10">
            <a:extLst>
              <a:ext uri="{FF2B5EF4-FFF2-40B4-BE49-F238E27FC236}">
                <a16:creationId xmlns:a16="http://schemas.microsoft.com/office/drawing/2014/main" id="{FC908A63-1EE8-A605-1D4F-460FED9442AA}"/>
              </a:ext>
            </a:extLst>
          </p:cNvPr>
          <p:cNvPicPr>
            <a:picLocks noChangeAspect="1"/>
          </p:cNvPicPr>
          <p:nvPr/>
        </p:nvPicPr>
        <p:blipFill>
          <a:blip r:embed="rId2"/>
          <a:stretch>
            <a:fillRect/>
          </a:stretch>
        </p:blipFill>
        <p:spPr>
          <a:xfrm>
            <a:off x="8032877" y="2846109"/>
            <a:ext cx="1524677" cy="3096752"/>
          </a:xfrm>
          <a:prstGeom prst="rect">
            <a:avLst/>
          </a:prstGeom>
        </p:spPr>
      </p:pic>
      <p:sp>
        <p:nvSpPr>
          <p:cNvPr id="12" name="矢印: 右 11">
            <a:extLst>
              <a:ext uri="{FF2B5EF4-FFF2-40B4-BE49-F238E27FC236}">
                <a16:creationId xmlns:a16="http://schemas.microsoft.com/office/drawing/2014/main" id="{C5B2A6E8-796B-963F-0A04-9B9D1A36ADF0}"/>
              </a:ext>
            </a:extLst>
          </p:cNvPr>
          <p:cNvSpPr/>
          <p:nvPr/>
        </p:nvSpPr>
        <p:spPr>
          <a:xfrm>
            <a:off x="7373222" y="3359435"/>
            <a:ext cx="571500" cy="619125"/>
          </a:xfrm>
          <a:prstGeom prst="rightArrow">
            <a:avLst>
              <a:gd name="adj1" fmla="val 64359"/>
              <a:gd name="adj2" fmla="val 50000"/>
            </a:avLst>
          </a:prstGeom>
          <a:solidFill>
            <a:schemeClr val="tx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正方形/長方形 12">
            <a:extLst>
              <a:ext uri="{FF2B5EF4-FFF2-40B4-BE49-F238E27FC236}">
                <a16:creationId xmlns:a16="http://schemas.microsoft.com/office/drawing/2014/main" id="{DB49FAB7-0FB8-4D5F-CF13-A19BBA28C8C7}"/>
              </a:ext>
            </a:extLst>
          </p:cNvPr>
          <p:cNvSpPr/>
          <p:nvPr/>
        </p:nvSpPr>
        <p:spPr>
          <a:xfrm>
            <a:off x="8117093" y="3057525"/>
            <a:ext cx="1371145" cy="2585494"/>
          </a:xfrm>
          <a:prstGeom prst="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Google Shape;51;p19">
            <a:extLst>
              <a:ext uri="{FF2B5EF4-FFF2-40B4-BE49-F238E27FC236}">
                <a16:creationId xmlns:a16="http://schemas.microsoft.com/office/drawing/2014/main" id="{1B34220E-1DA3-AC59-C2DE-15AB3320AC1C}"/>
              </a:ext>
            </a:extLst>
          </p:cNvPr>
          <p:cNvSpPr/>
          <p:nvPr/>
        </p:nvSpPr>
        <p:spPr>
          <a:xfrm>
            <a:off x="543399"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初期：</a:t>
            </a:r>
            <a:r>
              <a:rPr lang="en-US" altLang="ja-JP" sz="1400" b="1" i="0" u="none" strike="noStrike" cap="none" dirty="0">
                <a:solidFill>
                  <a:schemeClr val="lt1"/>
                </a:solidFill>
                <a:latin typeface="Meiryo"/>
                <a:ea typeface="Meiryo"/>
                <a:cs typeface="Meiryo"/>
                <a:sym typeface="Meiryo"/>
              </a:rPr>
              <a:t>1.5</a:t>
            </a:r>
            <a:r>
              <a:rPr lang="ja-JP" altLang="en-US" sz="1400" b="1" i="0" u="none" strike="noStrike" cap="none" dirty="0">
                <a:solidFill>
                  <a:schemeClr val="lt1"/>
                </a:solidFill>
                <a:latin typeface="Meiryo"/>
                <a:ea typeface="Meiryo"/>
                <a:cs typeface="Meiryo"/>
                <a:sym typeface="Meiryo"/>
              </a:rPr>
              <a:t>万円</a:t>
            </a:r>
            <a:endParaRPr sz="1400" b="1" i="0" u="none" strike="noStrike" cap="none" dirty="0">
              <a:solidFill>
                <a:schemeClr val="lt1"/>
              </a:solidFill>
              <a:latin typeface="Meiryo"/>
              <a:ea typeface="Meiryo"/>
              <a:cs typeface="Meiryo"/>
              <a:sym typeface="Meiryo"/>
            </a:endParaRPr>
          </a:p>
        </p:txBody>
      </p:sp>
      <p:sp>
        <p:nvSpPr>
          <p:cNvPr id="17" name="Google Shape;51;p19">
            <a:extLst>
              <a:ext uri="{FF2B5EF4-FFF2-40B4-BE49-F238E27FC236}">
                <a16:creationId xmlns:a16="http://schemas.microsoft.com/office/drawing/2014/main" id="{EBA2E7AC-5299-C000-0A43-CCF8CE458AAF}"/>
              </a:ext>
            </a:extLst>
          </p:cNvPr>
          <p:cNvSpPr/>
          <p:nvPr/>
        </p:nvSpPr>
        <p:spPr>
          <a:xfrm>
            <a:off x="2137897"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月額</a:t>
            </a:r>
            <a:r>
              <a:rPr lang="en-US" altLang="ja-JP" sz="1400" b="1" i="0" u="none" strike="noStrike" cap="none" dirty="0">
                <a:solidFill>
                  <a:schemeClr val="lt1"/>
                </a:solidFill>
                <a:latin typeface="Meiryo"/>
                <a:ea typeface="Meiryo"/>
                <a:cs typeface="Meiryo"/>
                <a:sym typeface="Meiryo"/>
              </a:rPr>
              <a:t>3</a:t>
            </a:r>
            <a:r>
              <a:rPr lang="ja-JP" altLang="en-US" sz="1400" b="1" i="0" u="none" strike="noStrike" cap="none" dirty="0">
                <a:solidFill>
                  <a:schemeClr val="lt1"/>
                </a:solidFill>
                <a:latin typeface="Meiryo"/>
                <a:ea typeface="Meiryo"/>
                <a:cs typeface="Meiryo"/>
                <a:sym typeface="Meiryo"/>
              </a:rPr>
              <a:t>万円</a:t>
            </a:r>
            <a:endParaRPr sz="1400" b="1" i="0" u="none" strike="noStrike" cap="none" dirty="0">
              <a:solidFill>
                <a:schemeClr val="lt1"/>
              </a:solidFill>
              <a:latin typeface="Meiryo"/>
              <a:ea typeface="Meiryo"/>
              <a:cs typeface="Meiryo"/>
              <a:sym typeface="Meiryo"/>
            </a:endParaRPr>
          </a:p>
        </p:txBody>
      </p:sp>
      <p:pic>
        <p:nvPicPr>
          <p:cNvPr id="19" name="図 18">
            <a:extLst>
              <a:ext uri="{FF2B5EF4-FFF2-40B4-BE49-F238E27FC236}">
                <a16:creationId xmlns:a16="http://schemas.microsoft.com/office/drawing/2014/main" id="{98FF8283-5B2F-5018-9D25-736A384B4D23}"/>
              </a:ext>
            </a:extLst>
          </p:cNvPr>
          <p:cNvPicPr>
            <a:picLocks noChangeAspect="1"/>
          </p:cNvPicPr>
          <p:nvPr/>
        </p:nvPicPr>
        <p:blipFill>
          <a:blip r:embed="rId3"/>
          <a:stretch>
            <a:fillRect/>
          </a:stretch>
        </p:blipFill>
        <p:spPr>
          <a:xfrm>
            <a:off x="8263942" y="3752836"/>
            <a:ext cx="1062545" cy="1115066"/>
          </a:xfrm>
          <a:prstGeom prst="rect">
            <a:avLst/>
          </a:prstGeom>
        </p:spPr>
      </p:pic>
      <p:sp>
        <p:nvSpPr>
          <p:cNvPr id="24" name="正方形/長方形 23">
            <a:extLst>
              <a:ext uri="{FF2B5EF4-FFF2-40B4-BE49-F238E27FC236}">
                <a16:creationId xmlns:a16="http://schemas.microsoft.com/office/drawing/2014/main" id="{E4AE5F6C-0BA5-6768-64B9-9CD156133552}"/>
              </a:ext>
            </a:extLst>
          </p:cNvPr>
          <p:cNvSpPr/>
          <p:nvPr/>
        </p:nvSpPr>
        <p:spPr>
          <a:xfrm>
            <a:off x="5769326" y="1938056"/>
            <a:ext cx="3788228" cy="244151"/>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bg1"/>
                </a:solidFill>
                <a:latin typeface="メイリオ" panose="020B0604030504040204" pitchFamily="50" charset="-128"/>
                <a:ea typeface="メイリオ" panose="020B0604030504040204" pitchFamily="50" charset="-128"/>
              </a:rPr>
              <a:t>動作イメージ</a:t>
            </a:r>
            <a:endParaRPr kumimoji="1" lang="ja-JP" altLang="en-US" sz="1100" b="1" dirty="0">
              <a:solidFill>
                <a:schemeClr val="bg1"/>
              </a:solidFill>
              <a:latin typeface="メイリオ" panose="020B0604030504040204" pitchFamily="50" charset="-128"/>
              <a:ea typeface="メイリオ" panose="020B0604030504040204" pitchFamily="50" charset="-128"/>
            </a:endParaRPr>
          </a:p>
        </p:txBody>
      </p:sp>
      <p:pic>
        <p:nvPicPr>
          <p:cNvPr id="7" name="図 6">
            <a:extLst>
              <a:ext uri="{FF2B5EF4-FFF2-40B4-BE49-F238E27FC236}">
                <a16:creationId xmlns:a16="http://schemas.microsoft.com/office/drawing/2014/main" id="{669C67AE-8870-AB99-9BB8-030F3AB8CB3B}"/>
              </a:ext>
            </a:extLst>
          </p:cNvPr>
          <p:cNvPicPr>
            <a:picLocks noChangeAspect="1"/>
          </p:cNvPicPr>
          <p:nvPr/>
        </p:nvPicPr>
        <p:blipFill>
          <a:blip r:embed="rId4"/>
          <a:stretch>
            <a:fillRect/>
          </a:stretch>
        </p:blipFill>
        <p:spPr>
          <a:xfrm>
            <a:off x="543398" y="4259719"/>
            <a:ext cx="5059180" cy="2191534"/>
          </a:xfrm>
          <a:prstGeom prst="rect">
            <a:avLst/>
          </a:prstGeom>
        </p:spPr>
      </p:pic>
      <p:pic>
        <p:nvPicPr>
          <p:cNvPr id="14" name="図 13">
            <a:extLst>
              <a:ext uri="{FF2B5EF4-FFF2-40B4-BE49-F238E27FC236}">
                <a16:creationId xmlns:a16="http://schemas.microsoft.com/office/drawing/2014/main" id="{CFFD213E-DE33-0075-6E07-F24DBD7A9441}"/>
              </a:ext>
            </a:extLst>
          </p:cNvPr>
          <p:cNvPicPr>
            <a:picLocks noChangeAspect="1"/>
          </p:cNvPicPr>
          <p:nvPr/>
        </p:nvPicPr>
        <p:blipFill>
          <a:blip r:embed="rId5"/>
          <a:stretch>
            <a:fillRect/>
          </a:stretch>
        </p:blipFill>
        <p:spPr>
          <a:xfrm>
            <a:off x="579513" y="1977951"/>
            <a:ext cx="5023065" cy="2231287"/>
          </a:xfrm>
          <a:prstGeom prst="rect">
            <a:avLst/>
          </a:prstGeom>
        </p:spPr>
      </p:pic>
    </p:spTree>
    <p:extLst>
      <p:ext uri="{BB962C8B-B14F-4D97-AF65-F5344CB8AC3E}">
        <p14:creationId xmlns:p14="http://schemas.microsoft.com/office/powerpoint/2010/main" val="1058933459"/>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C61D1B-00B3-A324-FA45-8227BFE7C87E}"/>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A92EBA17-1F28-FC74-FD04-7BBA4028B4C8}"/>
              </a:ext>
            </a:extLst>
          </p:cNvPr>
          <p:cNvSpPr txBox="1"/>
          <p:nvPr/>
        </p:nvSpPr>
        <p:spPr>
          <a:xfrm>
            <a:off x="548883" y="138138"/>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Meiryo"/>
                <a:ea typeface="Meiryo"/>
                <a:cs typeface="Meiryo"/>
                <a:sym typeface="Meiryo"/>
              </a:rPr>
              <a:t>新規友だちの追加（ポップアップ）</a:t>
            </a:r>
          </a:p>
        </p:txBody>
      </p:sp>
      <p:grpSp>
        <p:nvGrpSpPr>
          <p:cNvPr id="3" name="グループ化 2">
            <a:extLst>
              <a:ext uri="{FF2B5EF4-FFF2-40B4-BE49-F238E27FC236}">
                <a16:creationId xmlns:a16="http://schemas.microsoft.com/office/drawing/2014/main" id="{A495E905-6DD4-9945-098D-841CB438C3EE}"/>
              </a:ext>
            </a:extLst>
          </p:cNvPr>
          <p:cNvGrpSpPr/>
          <p:nvPr/>
        </p:nvGrpSpPr>
        <p:grpSpPr>
          <a:xfrm>
            <a:off x="543398" y="777681"/>
            <a:ext cx="3105325" cy="485102"/>
            <a:chOff x="507969" y="928495"/>
            <a:chExt cx="3105325" cy="485102"/>
          </a:xfrm>
        </p:grpSpPr>
        <p:sp>
          <p:nvSpPr>
            <p:cNvPr id="4" name="Google Shape;51;p19">
              <a:extLst>
                <a:ext uri="{FF2B5EF4-FFF2-40B4-BE49-F238E27FC236}">
                  <a16:creationId xmlns:a16="http://schemas.microsoft.com/office/drawing/2014/main" id="{460E3190-8E00-961F-6C91-89DE5F3546AF}"/>
                </a:ext>
              </a:extLst>
            </p:cNvPr>
            <p:cNvSpPr/>
            <p:nvPr/>
          </p:nvSpPr>
          <p:spPr>
            <a:xfrm>
              <a:off x="507969" y="928495"/>
              <a:ext cx="3105325" cy="485102"/>
            </a:xfrm>
            <a:prstGeom prst="roundRect">
              <a:avLst>
                <a:gd name="adj" fmla="val 16667"/>
              </a:avLst>
            </a:pr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dirty="0">
                <a:solidFill>
                  <a:schemeClr val="lt1"/>
                </a:solidFill>
                <a:latin typeface="Meiryo"/>
                <a:ea typeface="Meiryo"/>
                <a:cs typeface="Meiryo"/>
                <a:sym typeface="Meiryo"/>
              </a:endParaRPr>
            </a:p>
          </p:txBody>
        </p:sp>
        <p:sp>
          <p:nvSpPr>
            <p:cNvPr id="5" name="テキスト ボックス 4">
              <a:extLst>
                <a:ext uri="{FF2B5EF4-FFF2-40B4-BE49-F238E27FC236}">
                  <a16:creationId xmlns:a16="http://schemas.microsoft.com/office/drawing/2014/main" id="{214929DF-C4CB-63FB-BAED-F6A1BE2438B2}"/>
                </a:ext>
              </a:extLst>
            </p:cNvPr>
            <p:cNvSpPr txBox="1"/>
            <p:nvPr/>
          </p:nvSpPr>
          <p:spPr>
            <a:xfrm>
              <a:off x="687498" y="938979"/>
              <a:ext cx="2746265" cy="357790"/>
            </a:xfrm>
            <a:prstGeom prst="rect">
              <a:avLst/>
            </a:prstGeom>
            <a:noFill/>
          </p:spPr>
          <p:txBody>
            <a:bodyPr wrap="non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nSpc>
                  <a:spcPct val="120000"/>
                </a:lnSpc>
              </a:pPr>
              <a:r>
                <a:rPr kumimoji="1" lang="ja-JP" altLang="en-US" sz="1500" b="1" dirty="0">
                  <a:solidFill>
                    <a:schemeClr val="bg1"/>
                  </a:solidFill>
                  <a:latin typeface="Meiryo" panose="020B0604030504040204" pitchFamily="34" charset="-128"/>
                  <a:ea typeface="Meiryo" panose="020B0604030504040204" pitchFamily="34" charset="-128"/>
                </a:rPr>
                <a:t>ポップアップ</a:t>
              </a:r>
            </a:p>
          </p:txBody>
        </p:sp>
      </p:grpSp>
      <p:sp>
        <p:nvSpPr>
          <p:cNvPr id="8" name="正方形/長方形 7">
            <a:extLst>
              <a:ext uri="{FF2B5EF4-FFF2-40B4-BE49-F238E27FC236}">
                <a16:creationId xmlns:a16="http://schemas.microsoft.com/office/drawing/2014/main" id="{200A9277-1702-628D-6325-0D765E09FBE7}"/>
              </a:ext>
            </a:extLst>
          </p:cNvPr>
          <p:cNvSpPr/>
          <p:nvPr/>
        </p:nvSpPr>
        <p:spPr>
          <a:xfrm>
            <a:off x="3806311" y="788165"/>
            <a:ext cx="5880088" cy="584775"/>
          </a:xfrm>
          <a:prstGeom prst="rect">
            <a:avLst/>
          </a:prstGeom>
        </p:spPr>
        <p:txBody>
          <a:bodyPr wrap="square">
            <a:spAutoFit/>
          </a:bodyPr>
          <a:lstStyle/>
          <a:p>
            <a:pPr lvl="0" algn="ctr">
              <a:buClr>
                <a:schemeClr val="dk1"/>
              </a:buClr>
              <a:buSzPts val="1500"/>
            </a:pPr>
            <a:r>
              <a:rPr lang="en-US" altLang="ja-JP" sz="1600" dirty="0">
                <a:latin typeface="Meiryo"/>
                <a:ea typeface="Meiryo"/>
                <a:cs typeface="Meiryo"/>
                <a:sym typeface="Meiryo"/>
              </a:rPr>
              <a:t>WEB</a:t>
            </a:r>
            <a:r>
              <a:rPr lang="ja-JP" altLang="en-US" sz="1600" dirty="0">
                <a:latin typeface="Meiryo"/>
                <a:ea typeface="Meiryo"/>
                <a:cs typeface="Meiryo"/>
                <a:sym typeface="Meiryo"/>
              </a:rPr>
              <a:t>サイト上の特定アクションを起こしたユーザーに対して</a:t>
            </a:r>
            <a:endParaRPr lang="en-US" altLang="ja-JP" sz="1600" dirty="0">
              <a:latin typeface="Meiryo"/>
              <a:ea typeface="Meiryo"/>
              <a:cs typeface="Meiryo"/>
              <a:sym typeface="Meiryo"/>
            </a:endParaRPr>
          </a:p>
          <a:p>
            <a:pPr lvl="0" algn="ctr">
              <a:buClr>
                <a:schemeClr val="dk1"/>
              </a:buClr>
              <a:buSzPts val="1500"/>
            </a:pPr>
            <a:r>
              <a:rPr lang="ja-JP" altLang="en-US" sz="1600" dirty="0">
                <a:latin typeface="Meiryo"/>
                <a:ea typeface="Meiryo"/>
                <a:cs typeface="Meiryo"/>
                <a:sym typeface="Meiryo"/>
              </a:rPr>
              <a:t>ポップアップの形で</a:t>
            </a:r>
            <a:r>
              <a:rPr lang="en-US" altLang="ja-JP" sz="1600" dirty="0">
                <a:latin typeface="Meiryo"/>
                <a:ea typeface="Meiryo"/>
                <a:cs typeface="Meiryo"/>
                <a:sym typeface="Meiryo"/>
              </a:rPr>
              <a:t>LINE</a:t>
            </a:r>
            <a:r>
              <a:rPr lang="ja-JP" altLang="en-US" sz="1600" dirty="0">
                <a:latin typeface="Meiryo"/>
                <a:ea typeface="Meiryo"/>
                <a:cs typeface="Meiryo"/>
                <a:sym typeface="Meiryo"/>
              </a:rPr>
              <a:t>誘導の動線を提示。</a:t>
            </a:r>
          </a:p>
        </p:txBody>
      </p:sp>
      <p:sp>
        <p:nvSpPr>
          <p:cNvPr id="9" name="テキスト ボックス 8">
            <a:extLst>
              <a:ext uri="{FF2B5EF4-FFF2-40B4-BE49-F238E27FC236}">
                <a16:creationId xmlns:a16="http://schemas.microsoft.com/office/drawing/2014/main" id="{FC59C8DC-A3F5-6C82-BBB6-1DCA2E2FCA1E}"/>
              </a:ext>
            </a:extLst>
          </p:cNvPr>
          <p:cNvSpPr txBox="1"/>
          <p:nvPr/>
        </p:nvSpPr>
        <p:spPr>
          <a:xfrm>
            <a:off x="5214938" y="1372940"/>
            <a:ext cx="4148137" cy="261610"/>
          </a:xfrm>
          <a:prstGeom prst="rect">
            <a:avLst/>
          </a:prstGeom>
          <a:noFill/>
        </p:spPr>
        <p:txBody>
          <a:bodyPr wrap="square">
            <a:spAutoFit/>
          </a:bodyPr>
          <a:lstStyle/>
          <a:p>
            <a:r>
              <a:rPr lang="en-US" altLang="ja-JP" sz="1050" dirty="0">
                <a:solidFill>
                  <a:srgbClr val="FF0000"/>
                </a:solidFill>
                <a:latin typeface="Meiryo"/>
                <a:ea typeface="Meiryo"/>
                <a:cs typeface="Meiryo"/>
                <a:sym typeface="Meiryo"/>
              </a:rPr>
              <a:t>LINE</a:t>
            </a:r>
            <a:r>
              <a:rPr lang="ja-JP" altLang="en-US" sz="1050" dirty="0">
                <a:solidFill>
                  <a:srgbClr val="FF0000"/>
                </a:solidFill>
                <a:latin typeface="Meiryo"/>
                <a:ea typeface="Meiryo"/>
                <a:cs typeface="Meiryo"/>
                <a:sym typeface="Meiryo"/>
              </a:rPr>
              <a:t>以外の注力動線への誘導も同バナーから実施が可能です。</a:t>
            </a:r>
            <a:endParaRPr lang="ja-JP" altLang="en-US" sz="1050" dirty="0">
              <a:solidFill>
                <a:srgbClr val="FF0000"/>
              </a:solidFill>
            </a:endParaRPr>
          </a:p>
        </p:txBody>
      </p:sp>
      <p:sp>
        <p:nvSpPr>
          <p:cNvPr id="15" name="Google Shape;51;p19">
            <a:extLst>
              <a:ext uri="{FF2B5EF4-FFF2-40B4-BE49-F238E27FC236}">
                <a16:creationId xmlns:a16="http://schemas.microsoft.com/office/drawing/2014/main" id="{ECC096EC-7A42-299D-ADFB-A11583AA36AB}"/>
              </a:ext>
            </a:extLst>
          </p:cNvPr>
          <p:cNvSpPr/>
          <p:nvPr/>
        </p:nvSpPr>
        <p:spPr>
          <a:xfrm>
            <a:off x="543399"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初期：</a:t>
            </a:r>
            <a:r>
              <a:rPr lang="en-US" altLang="ja-JP" sz="1400" b="1" i="0" u="none" strike="noStrike" cap="none" dirty="0">
                <a:solidFill>
                  <a:schemeClr val="lt1"/>
                </a:solidFill>
                <a:latin typeface="Meiryo"/>
                <a:ea typeface="Meiryo"/>
                <a:cs typeface="Meiryo"/>
                <a:sym typeface="Meiryo"/>
              </a:rPr>
              <a:t>1.5</a:t>
            </a:r>
            <a:r>
              <a:rPr lang="ja-JP" altLang="en-US" sz="1400" b="1" i="0" u="none" strike="noStrike" cap="none" dirty="0">
                <a:solidFill>
                  <a:schemeClr val="lt1"/>
                </a:solidFill>
                <a:latin typeface="Meiryo"/>
                <a:ea typeface="Meiryo"/>
                <a:cs typeface="Meiryo"/>
                <a:sym typeface="Meiryo"/>
              </a:rPr>
              <a:t>万円</a:t>
            </a:r>
            <a:endParaRPr sz="1400" b="1" i="0" u="none" strike="noStrike" cap="none" dirty="0">
              <a:solidFill>
                <a:schemeClr val="lt1"/>
              </a:solidFill>
              <a:latin typeface="Meiryo"/>
              <a:ea typeface="Meiryo"/>
              <a:cs typeface="Meiryo"/>
              <a:sym typeface="Meiryo"/>
            </a:endParaRPr>
          </a:p>
        </p:txBody>
      </p:sp>
      <p:sp>
        <p:nvSpPr>
          <p:cNvPr id="17" name="Google Shape;51;p19">
            <a:extLst>
              <a:ext uri="{FF2B5EF4-FFF2-40B4-BE49-F238E27FC236}">
                <a16:creationId xmlns:a16="http://schemas.microsoft.com/office/drawing/2014/main" id="{C52155A1-F32D-8503-456F-3138842AD308}"/>
              </a:ext>
            </a:extLst>
          </p:cNvPr>
          <p:cNvSpPr/>
          <p:nvPr/>
        </p:nvSpPr>
        <p:spPr>
          <a:xfrm>
            <a:off x="2137897"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月額</a:t>
            </a:r>
            <a:r>
              <a:rPr lang="en-US" altLang="ja-JP" sz="1400" b="1" i="0" u="none" strike="noStrike" cap="none" dirty="0">
                <a:solidFill>
                  <a:schemeClr val="lt1"/>
                </a:solidFill>
                <a:latin typeface="Meiryo"/>
                <a:ea typeface="Meiryo"/>
                <a:cs typeface="Meiryo"/>
                <a:sym typeface="Meiryo"/>
              </a:rPr>
              <a:t>3</a:t>
            </a:r>
            <a:r>
              <a:rPr lang="ja-JP" altLang="en-US" sz="1400" b="1" i="0" u="none" strike="noStrike" cap="none" dirty="0">
                <a:solidFill>
                  <a:schemeClr val="lt1"/>
                </a:solidFill>
                <a:latin typeface="Meiryo"/>
                <a:ea typeface="Meiryo"/>
                <a:cs typeface="Meiryo"/>
                <a:sym typeface="Meiryo"/>
              </a:rPr>
              <a:t>万円</a:t>
            </a:r>
            <a:endParaRPr sz="1400" b="1" i="0" u="none" strike="noStrike" cap="none" dirty="0">
              <a:solidFill>
                <a:schemeClr val="lt1"/>
              </a:solidFill>
              <a:latin typeface="Meiryo"/>
              <a:ea typeface="Meiryo"/>
              <a:cs typeface="Meiryo"/>
              <a:sym typeface="Meiryo"/>
            </a:endParaRPr>
          </a:p>
        </p:txBody>
      </p:sp>
      <p:pic>
        <p:nvPicPr>
          <p:cNvPr id="10" name="図 9">
            <a:extLst>
              <a:ext uri="{FF2B5EF4-FFF2-40B4-BE49-F238E27FC236}">
                <a16:creationId xmlns:a16="http://schemas.microsoft.com/office/drawing/2014/main" id="{3B15DB85-15F3-FF15-AB96-FDFE17717CDB}"/>
              </a:ext>
            </a:extLst>
          </p:cNvPr>
          <p:cNvPicPr>
            <a:picLocks noChangeAspect="1"/>
          </p:cNvPicPr>
          <p:nvPr/>
        </p:nvPicPr>
        <p:blipFill>
          <a:blip r:embed="rId2"/>
          <a:stretch>
            <a:fillRect/>
          </a:stretch>
        </p:blipFill>
        <p:spPr>
          <a:xfrm>
            <a:off x="1172081" y="1882008"/>
            <a:ext cx="7561838" cy="4661631"/>
          </a:xfrm>
          <a:prstGeom prst="rect">
            <a:avLst/>
          </a:prstGeom>
        </p:spPr>
      </p:pic>
    </p:spTree>
    <p:extLst>
      <p:ext uri="{BB962C8B-B14F-4D97-AF65-F5344CB8AC3E}">
        <p14:creationId xmlns:p14="http://schemas.microsoft.com/office/powerpoint/2010/main" val="4271334844"/>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E341AF-76F7-F354-A08C-287945F04D7D}"/>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CEDF5177-0A5C-5E57-5AEC-2A3A0A3E97A1}"/>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Meiryo"/>
                <a:ea typeface="Meiryo"/>
                <a:cs typeface="Meiryo"/>
                <a:sym typeface="Meiryo"/>
              </a:rPr>
              <a:t>新規友だちの追加</a:t>
            </a:r>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（通知メッセージ）</a:t>
            </a:r>
          </a:p>
        </p:txBody>
      </p:sp>
      <p:grpSp>
        <p:nvGrpSpPr>
          <p:cNvPr id="3" name="グループ化 2">
            <a:extLst>
              <a:ext uri="{FF2B5EF4-FFF2-40B4-BE49-F238E27FC236}">
                <a16:creationId xmlns:a16="http://schemas.microsoft.com/office/drawing/2014/main" id="{40037302-E6AA-0829-6AB4-E8C68E0B5350}"/>
              </a:ext>
            </a:extLst>
          </p:cNvPr>
          <p:cNvGrpSpPr/>
          <p:nvPr/>
        </p:nvGrpSpPr>
        <p:grpSpPr>
          <a:xfrm>
            <a:off x="543398" y="777681"/>
            <a:ext cx="3105325" cy="485102"/>
            <a:chOff x="507969" y="928495"/>
            <a:chExt cx="3105325" cy="485102"/>
          </a:xfrm>
        </p:grpSpPr>
        <p:sp>
          <p:nvSpPr>
            <p:cNvPr id="4" name="Google Shape;51;p19">
              <a:extLst>
                <a:ext uri="{FF2B5EF4-FFF2-40B4-BE49-F238E27FC236}">
                  <a16:creationId xmlns:a16="http://schemas.microsoft.com/office/drawing/2014/main" id="{596B7C8B-2830-475F-54BD-39885C61FB2A}"/>
                </a:ext>
              </a:extLst>
            </p:cNvPr>
            <p:cNvSpPr/>
            <p:nvPr/>
          </p:nvSpPr>
          <p:spPr>
            <a:xfrm>
              <a:off x="507969" y="928495"/>
              <a:ext cx="3105325" cy="485102"/>
            </a:xfrm>
            <a:prstGeom prst="roundRect">
              <a:avLst>
                <a:gd name="adj" fmla="val 16667"/>
              </a:avLst>
            </a:pr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dirty="0">
                <a:solidFill>
                  <a:schemeClr val="lt1"/>
                </a:solidFill>
                <a:latin typeface="Meiryo"/>
                <a:ea typeface="Meiryo"/>
                <a:cs typeface="Meiryo"/>
                <a:sym typeface="Meiryo"/>
              </a:endParaRPr>
            </a:p>
          </p:txBody>
        </p:sp>
        <p:sp>
          <p:nvSpPr>
            <p:cNvPr id="5" name="テキスト ボックス 4">
              <a:extLst>
                <a:ext uri="{FF2B5EF4-FFF2-40B4-BE49-F238E27FC236}">
                  <a16:creationId xmlns:a16="http://schemas.microsoft.com/office/drawing/2014/main" id="{5F77E149-8797-8964-2351-34587DDB9A0B}"/>
                </a:ext>
              </a:extLst>
            </p:cNvPr>
            <p:cNvSpPr txBox="1"/>
            <p:nvPr/>
          </p:nvSpPr>
          <p:spPr>
            <a:xfrm>
              <a:off x="1140096" y="988192"/>
              <a:ext cx="1531188" cy="357790"/>
            </a:xfrm>
            <a:prstGeom prst="rect">
              <a:avLst/>
            </a:prstGeom>
            <a:noFill/>
          </p:spPr>
          <p:txBody>
            <a:bodyPr wrap="non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nSpc>
                  <a:spcPct val="120000"/>
                </a:lnSpc>
              </a:pPr>
              <a:r>
                <a:rPr kumimoji="1" lang="ja-JP" altLang="en-US" sz="1500" b="1" dirty="0">
                  <a:solidFill>
                    <a:schemeClr val="bg1"/>
                  </a:solidFill>
                  <a:latin typeface="Meiryo" panose="020B0604030504040204" pitchFamily="34" charset="-128"/>
                  <a:ea typeface="Meiryo" panose="020B0604030504040204" pitchFamily="34" charset="-128"/>
                </a:rPr>
                <a:t>通知メッセージ</a:t>
              </a:r>
            </a:p>
          </p:txBody>
        </p:sp>
      </p:grpSp>
      <p:sp>
        <p:nvSpPr>
          <p:cNvPr id="9" name="正方形/長方形 8">
            <a:extLst>
              <a:ext uri="{FF2B5EF4-FFF2-40B4-BE49-F238E27FC236}">
                <a16:creationId xmlns:a16="http://schemas.microsoft.com/office/drawing/2014/main" id="{C076E43E-4FBE-86BD-F3B4-70DD95B2A175}"/>
              </a:ext>
            </a:extLst>
          </p:cNvPr>
          <p:cNvSpPr/>
          <p:nvPr/>
        </p:nvSpPr>
        <p:spPr>
          <a:xfrm>
            <a:off x="3806311" y="788165"/>
            <a:ext cx="5880088" cy="584775"/>
          </a:xfrm>
          <a:prstGeom prst="rect">
            <a:avLst/>
          </a:prstGeom>
        </p:spPr>
        <p:txBody>
          <a:bodyPr wrap="square">
            <a:spAutoFit/>
          </a:bodyPr>
          <a:lstStyle/>
          <a:p>
            <a:pPr lvl="0" algn="ctr">
              <a:buClr>
                <a:schemeClr val="dk1"/>
              </a:buClr>
              <a:buSzPts val="1500"/>
            </a:pPr>
            <a:r>
              <a:rPr lang="en-US" altLang="ja-JP" sz="1600" dirty="0">
                <a:latin typeface="Meiryo"/>
                <a:ea typeface="Meiryo"/>
                <a:cs typeface="Meiryo"/>
                <a:sym typeface="Meiryo"/>
              </a:rPr>
              <a:t>WEB</a:t>
            </a:r>
            <a:r>
              <a:rPr lang="ja-JP" altLang="en-US" sz="1600" dirty="0">
                <a:latin typeface="Meiryo"/>
                <a:ea typeface="Meiryo"/>
                <a:cs typeface="Meiryo"/>
                <a:sym typeface="Meiryo"/>
              </a:rPr>
              <a:t>上のアクションユーザー、貴社保有リスト をターゲット</a:t>
            </a:r>
            <a:endParaRPr lang="en-US" altLang="ja-JP" sz="1600" dirty="0">
              <a:latin typeface="Meiryo"/>
              <a:ea typeface="Meiryo"/>
              <a:cs typeface="Meiryo"/>
              <a:sym typeface="Meiryo"/>
            </a:endParaRPr>
          </a:p>
          <a:p>
            <a:pPr lvl="0" algn="ctr">
              <a:buClr>
                <a:schemeClr val="dk1"/>
              </a:buClr>
              <a:buSzPts val="1500"/>
            </a:pPr>
            <a:r>
              <a:rPr lang="ja-JP" altLang="en-US" sz="1600" dirty="0">
                <a:latin typeface="Meiryo"/>
                <a:ea typeface="Meiryo"/>
                <a:cs typeface="Meiryo"/>
                <a:sym typeface="Meiryo"/>
              </a:rPr>
              <a:t>に友だち登録、ステータス通知を行うことが出来る機能です。</a:t>
            </a:r>
          </a:p>
        </p:txBody>
      </p:sp>
      <p:sp>
        <p:nvSpPr>
          <p:cNvPr id="75" name="Google Shape;51;p19">
            <a:extLst>
              <a:ext uri="{FF2B5EF4-FFF2-40B4-BE49-F238E27FC236}">
                <a16:creationId xmlns:a16="http://schemas.microsoft.com/office/drawing/2014/main" id="{3BC521D4-BDAA-5741-5164-4E22535838BC}"/>
              </a:ext>
            </a:extLst>
          </p:cNvPr>
          <p:cNvSpPr/>
          <p:nvPr/>
        </p:nvSpPr>
        <p:spPr>
          <a:xfrm>
            <a:off x="543399"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初期：</a:t>
            </a:r>
            <a:r>
              <a:rPr lang="en-US" altLang="ja-JP" sz="1400" b="1" i="0" u="none" strike="noStrike" cap="none" dirty="0">
                <a:solidFill>
                  <a:schemeClr val="lt1"/>
                </a:solidFill>
                <a:latin typeface="Meiryo"/>
                <a:ea typeface="Meiryo"/>
                <a:cs typeface="Meiryo"/>
                <a:sym typeface="Meiryo"/>
              </a:rPr>
              <a:t>10</a:t>
            </a:r>
            <a:r>
              <a:rPr lang="ja-JP" altLang="en-US" sz="1400" b="1" i="0" u="none" strike="noStrike" cap="none" dirty="0">
                <a:solidFill>
                  <a:schemeClr val="lt1"/>
                </a:solidFill>
                <a:latin typeface="Meiryo"/>
                <a:ea typeface="Meiryo"/>
                <a:cs typeface="Meiryo"/>
                <a:sym typeface="Meiryo"/>
              </a:rPr>
              <a:t>万円</a:t>
            </a:r>
            <a:endParaRPr sz="1400" b="1" i="0" u="none" strike="noStrike" cap="none" dirty="0">
              <a:solidFill>
                <a:schemeClr val="lt1"/>
              </a:solidFill>
              <a:latin typeface="Meiryo"/>
              <a:ea typeface="Meiryo"/>
              <a:cs typeface="Meiryo"/>
              <a:sym typeface="Meiryo"/>
            </a:endParaRPr>
          </a:p>
        </p:txBody>
      </p:sp>
      <p:sp>
        <p:nvSpPr>
          <p:cNvPr id="77" name="Google Shape;51;p19">
            <a:extLst>
              <a:ext uri="{FF2B5EF4-FFF2-40B4-BE49-F238E27FC236}">
                <a16:creationId xmlns:a16="http://schemas.microsoft.com/office/drawing/2014/main" id="{91E7069A-2F1F-16FB-F2FD-E91D9E716C95}"/>
              </a:ext>
            </a:extLst>
          </p:cNvPr>
          <p:cNvSpPr/>
          <p:nvPr/>
        </p:nvSpPr>
        <p:spPr>
          <a:xfrm>
            <a:off x="2137897"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月額</a:t>
            </a:r>
            <a:r>
              <a:rPr lang="en-US" altLang="ja-JP" sz="1400" b="1" i="0" u="none" strike="noStrike" cap="none" dirty="0">
                <a:solidFill>
                  <a:schemeClr val="lt1"/>
                </a:solidFill>
                <a:latin typeface="Meiryo"/>
                <a:ea typeface="Meiryo"/>
                <a:cs typeface="Meiryo"/>
                <a:sym typeface="Meiryo"/>
              </a:rPr>
              <a:t>8</a:t>
            </a:r>
            <a:r>
              <a:rPr lang="ja-JP" altLang="en-US" sz="1400" b="1" i="0" u="none" strike="noStrike" cap="none" dirty="0">
                <a:solidFill>
                  <a:schemeClr val="lt1"/>
                </a:solidFill>
                <a:latin typeface="Meiryo"/>
                <a:ea typeface="Meiryo"/>
                <a:cs typeface="Meiryo"/>
                <a:sym typeface="Meiryo"/>
              </a:rPr>
              <a:t>万円～</a:t>
            </a:r>
            <a:endParaRPr lang="en-US" altLang="ja-JP" sz="1400" b="1" i="0" u="none" strike="noStrike" cap="none" dirty="0">
              <a:solidFill>
                <a:schemeClr val="lt1"/>
              </a:solidFill>
              <a:latin typeface="Meiryo"/>
              <a:ea typeface="Meiryo"/>
              <a:cs typeface="Meiryo"/>
              <a:sym typeface="Meiryo"/>
            </a:endParaRPr>
          </a:p>
          <a:p>
            <a:pPr marL="0" marR="0" lvl="0" indent="0" algn="ctr" rtl="0">
              <a:lnSpc>
                <a:spcPct val="100000"/>
              </a:lnSpc>
              <a:spcBef>
                <a:spcPts val="0"/>
              </a:spcBef>
              <a:spcAft>
                <a:spcPts val="0"/>
              </a:spcAft>
              <a:buClr>
                <a:srgbClr val="000000"/>
              </a:buClr>
              <a:buSzPts val="1400"/>
              <a:buFont typeface="Arial"/>
              <a:buNone/>
            </a:pPr>
            <a:r>
              <a:rPr lang="en-US" altLang="ja-JP" sz="1050" b="1" dirty="0">
                <a:solidFill>
                  <a:srgbClr val="FFFF00"/>
                </a:solidFill>
                <a:latin typeface="Meiryo"/>
                <a:ea typeface="Meiryo"/>
                <a:cs typeface="Meiryo"/>
                <a:sym typeface="Meiryo"/>
              </a:rPr>
              <a:t>+</a:t>
            </a:r>
            <a:r>
              <a:rPr lang="ja-JP" altLang="en-US" sz="1050" b="1" dirty="0">
                <a:solidFill>
                  <a:srgbClr val="FFFF00"/>
                </a:solidFill>
                <a:latin typeface="Meiryo"/>
                <a:ea typeface="Meiryo"/>
                <a:cs typeface="Meiryo"/>
                <a:sym typeface="Meiryo"/>
              </a:rPr>
              <a:t>通数単価：</a:t>
            </a:r>
            <a:r>
              <a:rPr lang="en-US" altLang="ja-JP" sz="1050" b="1" dirty="0">
                <a:solidFill>
                  <a:srgbClr val="FFFF00"/>
                </a:solidFill>
                <a:latin typeface="Meiryo"/>
                <a:ea typeface="Meiryo"/>
                <a:cs typeface="Meiryo"/>
                <a:sym typeface="Meiryo"/>
              </a:rPr>
              <a:t>7</a:t>
            </a:r>
            <a:r>
              <a:rPr lang="ja-JP" altLang="en-US" sz="1050" b="1" dirty="0">
                <a:solidFill>
                  <a:srgbClr val="FFFF00"/>
                </a:solidFill>
                <a:latin typeface="Meiryo"/>
                <a:ea typeface="Meiryo"/>
                <a:cs typeface="Meiryo"/>
                <a:sym typeface="Meiryo"/>
              </a:rPr>
              <a:t>円</a:t>
            </a:r>
            <a:endParaRPr sz="1050" b="1" i="0" u="none" strike="noStrike" cap="none" dirty="0">
              <a:solidFill>
                <a:srgbClr val="FFFF00"/>
              </a:solidFill>
              <a:latin typeface="Meiryo"/>
              <a:ea typeface="Meiryo"/>
              <a:cs typeface="Meiryo"/>
              <a:sym typeface="Meiryo"/>
            </a:endParaRPr>
          </a:p>
        </p:txBody>
      </p:sp>
      <p:sp>
        <p:nvSpPr>
          <p:cNvPr id="79" name="正方形/長方形 78">
            <a:extLst>
              <a:ext uri="{FF2B5EF4-FFF2-40B4-BE49-F238E27FC236}">
                <a16:creationId xmlns:a16="http://schemas.microsoft.com/office/drawing/2014/main" id="{B31CA3DA-9F8B-560D-3F3E-1B37667D3043}"/>
              </a:ext>
            </a:extLst>
          </p:cNvPr>
          <p:cNvSpPr/>
          <p:nvPr/>
        </p:nvSpPr>
        <p:spPr>
          <a:xfrm>
            <a:off x="5769326" y="1938056"/>
            <a:ext cx="3788228" cy="244151"/>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bg1"/>
                </a:solidFill>
                <a:latin typeface="メイリオ" panose="020B0604030504040204" pitchFamily="50" charset="-128"/>
                <a:ea typeface="メイリオ" panose="020B0604030504040204" pitchFamily="50" charset="-128"/>
              </a:rPr>
              <a:t>動作イメージ</a:t>
            </a:r>
            <a:endParaRPr kumimoji="1" lang="ja-JP" altLang="en-US" sz="1100" b="1" dirty="0">
              <a:solidFill>
                <a:schemeClr val="bg1"/>
              </a:solidFill>
              <a:latin typeface="メイリオ" panose="020B0604030504040204" pitchFamily="50" charset="-128"/>
              <a:ea typeface="メイリオ" panose="020B0604030504040204" pitchFamily="50" charset="-128"/>
            </a:endParaRPr>
          </a:p>
        </p:txBody>
      </p:sp>
      <p:pic>
        <p:nvPicPr>
          <p:cNvPr id="82" name="図 81">
            <a:extLst>
              <a:ext uri="{FF2B5EF4-FFF2-40B4-BE49-F238E27FC236}">
                <a16:creationId xmlns:a16="http://schemas.microsoft.com/office/drawing/2014/main" id="{8B5BACB1-E619-75E8-84E9-0C790B13F4E4}"/>
              </a:ext>
            </a:extLst>
          </p:cNvPr>
          <p:cNvPicPr>
            <a:picLocks noChangeAspect="1"/>
          </p:cNvPicPr>
          <p:nvPr/>
        </p:nvPicPr>
        <p:blipFill>
          <a:blip r:embed="rId2"/>
          <a:stretch>
            <a:fillRect/>
          </a:stretch>
        </p:blipFill>
        <p:spPr>
          <a:xfrm>
            <a:off x="532512" y="4787607"/>
            <a:ext cx="3533302" cy="1714690"/>
          </a:xfrm>
          <a:prstGeom prst="rect">
            <a:avLst/>
          </a:prstGeom>
        </p:spPr>
      </p:pic>
      <p:pic>
        <p:nvPicPr>
          <p:cNvPr id="84" name="図 83">
            <a:extLst>
              <a:ext uri="{FF2B5EF4-FFF2-40B4-BE49-F238E27FC236}">
                <a16:creationId xmlns:a16="http://schemas.microsoft.com/office/drawing/2014/main" id="{A2B50304-2B09-7BB6-6FD5-2122ADB3185D}"/>
              </a:ext>
            </a:extLst>
          </p:cNvPr>
          <p:cNvPicPr>
            <a:picLocks noChangeAspect="1"/>
          </p:cNvPicPr>
          <p:nvPr/>
        </p:nvPicPr>
        <p:blipFill>
          <a:blip r:embed="rId3"/>
          <a:stretch>
            <a:fillRect/>
          </a:stretch>
        </p:blipFill>
        <p:spPr>
          <a:xfrm>
            <a:off x="4065814" y="4801141"/>
            <a:ext cx="1586275" cy="1701156"/>
          </a:xfrm>
          <a:prstGeom prst="rect">
            <a:avLst/>
          </a:prstGeom>
        </p:spPr>
      </p:pic>
      <p:pic>
        <p:nvPicPr>
          <p:cNvPr id="86" name="図 85">
            <a:extLst>
              <a:ext uri="{FF2B5EF4-FFF2-40B4-BE49-F238E27FC236}">
                <a16:creationId xmlns:a16="http://schemas.microsoft.com/office/drawing/2014/main" id="{FBAEE1FF-4E25-D523-E0EA-6A3361C12E5A}"/>
              </a:ext>
            </a:extLst>
          </p:cNvPr>
          <p:cNvPicPr>
            <a:picLocks noChangeAspect="1"/>
          </p:cNvPicPr>
          <p:nvPr/>
        </p:nvPicPr>
        <p:blipFill>
          <a:blip r:embed="rId4"/>
          <a:stretch>
            <a:fillRect/>
          </a:stretch>
        </p:blipFill>
        <p:spPr>
          <a:xfrm>
            <a:off x="5988432" y="2468072"/>
            <a:ext cx="3362361" cy="1977297"/>
          </a:xfrm>
          <a:prstGeom prst="rect">
            <a:avLst/>
          </a:prstGeom>
        </p:spPr>
      </p:pic>
      <p:pic>
        <p:nvPicPr>
          <p:cNvPr id="88" name="図 87">
            <a:extLst>
              <a:ext uri="{FF2B5EF4-FFF2-40B4-BE49-F238E27FC236}">
                <a16:creationId xmlns:a16="http://schemas.microsoft.com/office/drawing/2014/main" id="{3517C81E-3BB9-067B-DB2E-F6109D78F069}"/>
              </a:ext>
            </a:extLst>
          </p:cNvPr>
          <p:cNvPicPr>
            <a:picLocks noChangeAspect="1"/>
          </p:cNvPicPr>
          <p:nvPr/>
        </p:nvPicPr>
        <p:blipFill>
          <a:blip r:embed="rId5"/>
          <a:stretch>
            <a:fillRect/>
          </a:stretch>
        </p:blipFill>
        <p:spPr>
          <a:xfrm>
            <a:off x="5927443" y="4787607"/>
            <a:ext cx="3471994" cy="1626185"/>
          </a:xfrm>
          <a:prstGeom prst="rect">
            <a:avLst/>
          </a:prstGeom>
        </p:spPr>
      </p:pic>
      <p:sp>
        <p:nvSpPr>
          <p:cNvPr id="90" name="正方形/長方形 89">
            <a:extLst>
              <a:ext uri="{FF2B5EF4-FFF2-40B4-BE49-F238E27FC236}">
                <a16:creationId xmlns:a16="http://schemas.microsoft.com/office/drawing/2014/main" id="{DAE064A8-FF19-CBAF-1BB4-15234EAFE4C3}"/>
              </a:ext>
            </a:extLst>
          </p:cNvPr>
          <p:cNvSpPr/>
          <p:nvPr/>
        </p:nvSpPr>
        <p:spPr>
          <a:xfrm>
            <a:off x="5941518" y="2223921"/>
            <a:ext cx="3443844" cy="244151"/>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dirty="0">
                <a:solidFill>
                  <a:schemeClr val="tx1"/>
                </a:solidFill>
                <a:latin typeface="メイリオ" panose="020B0604030504040204" pitchFamily="50" charset="-128"/>
                <a:ea typeface="メイリオ" panose="020B0604030504040204" pitchFamily="50" charset="-128"/>
              </a:rPr>
              <a:t>佐川急便</a:t>
            </a:r>
            <a:endParaRPr kumimoji="1" lang="ja-JP" altLang="en-US" sz="1100" dirty="0">
              <a:solidFill>
                <a:schemeClr val="tx1"/>
              </a:solidFill>
              <a:latin typeface="メイリオ" panose="020B0604030504040204" pitchFamily="50" charset="-128"/>
              <a:ea typeface="メイリオ" panose="020B0604030504040204" pitchFamily="50" charset="-128"/>
            </a:endParaRPr>
          </a:p>
        </p:txBody>
      </p:sp>
      <p:sp>
        <p:nvSpPr>
          <p:cNvPr id="92" name="正方形/長方形 91">
            <a:extLst>
              <a:ext uri="{FF2B5EF4-FFF2-40B4-BE49-F238E27FC236}">
                <a16:creationId xmlns:a16="http://schemas.microsoft.com/office/drawing/2014/main" id="{D4794AD6-6F68-15DB-7568-78E492020B13}"/>
              </a:ext>
            </a:extLst>
          </p:cNvPr>
          <p:cNvSpPr/>
          <p:nvPr/>
        </p:nvSpPr>
        <p:spPr>
          <a:xfrm>
            <a:off x="5941518" y="4499415"/>
            <a:ext cx="3443844" cy="244151"/>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tx1"/>
                </a:solidFill>
                <a:latin typeface="メイリオ" panose="020B0604030504040204" pitchFamily="50" charset="-128"/>
                <a:ea typeface="メイリオ" panose="020B0604030504040204" pitchFamily="50" charset="-128"/>
              </a:rPr>
              <a:t>やまや（</a:t>
            </a:r>
            <a:r>
              <a:rPr kumimoji="1" lang="en-US" altLang="ja-JP" sz="1100" dirty="0">
                <a:solidFill>
                  <a:schemeClr val="tx1"/>
                </a:solidFill>
                <a:latin typeface="メイリオ" panose="020B0604030504040204" pitchFamily="50" charset="-128"/>
                <a:ea typeface="メイリオ" panose="020B0604030504040204" pitchFamily="50" charset="-128"/>
              </a:rPr>
              <a:t>EC</a:t>
            </a:r>
            <a:r>
              <a:rPr kumimoji="1" lang="ja-JP" altLang="en-US" sz="1100" dirty="0">
                <a:solidFill>
                  <a:schemeClr val="tx1"/>
                </a:solidFill>
                <a:latin typeface="メイリオ" panose="020B0604030504040204" pitchFamily="50" charset="-128"/>
                <a:ea typeface="メイリオ" panose="020B0604030504040204" pitchFamily="50" charset="-128"/>
              </a:rPr>
              <a:t>）</a:t>
            </a:r>
          </a:p>
        </p:txBody>
      </p:sp>
      <p:sp>
        <p:nvSpPr>
          <p:cNvPr id="94" name="テキスト ボックス 93">
            <a:extLst>
              <a:ext uri="{FF2B5EF4-FFF2-40B4-BE49-F238E27FC236}">
                <a16:creationId xmlns:a16="http://schemas.microsoft.com/office/drawing/2014/main" id="{89F8E75C-F7C6-511B-BA1F-6EB60A9DEADA}"/>
              </a:ext>
            </a:extLst>
          </p:cNvPr>
          <p:cNvSpPr txBox="1"/>
          <p:nvPr/>
        </p:nvSpPr>
        <p:spPr>
          <a:xfrm>
            <a:off x="3904548" y="1368741"/>
            <a:ext cx="4962524" cy="230832"/>
          </a:xfrm>
          <a:prstGeom prst="rect">
            <a:avLst/>
          </a:prstGeom>
          <a:noFill/>
        </p:spPr>
        <p:txBody>
          <a:bodyPr wrap="square">
            <a:spAutoFit/>
          </a:bodyPr>
          <a:lstStyle/>
          <a:p>
            <a:r>
              <a:rPr lang="en-US" altLang="ja-JP" sz="900" dirty="0">
                <a:solidFill>
                  <a:srgbClr val="FF0000"/>
                </a:solidFill>
                <a:latin typeface="メイリオ" panose="020B0604030504040204" pitchFamily="50" charset="-128"/>
                <a:ea typeface="メイリオ" panose="020B0604030504040204" pitchFamily="50" charset="-128"/>
              </a:rPr>
              <a:t>Sales Partner</a:t>
            </a:r>
            <a:r>
              <a:rPr lang="ja-JP" altLang="en-US" sz="900" dirty="0">
                <a:solidFill>
                  <a:srgbClr val="FF0000"/>
                </a:solidFill>
                <a:latin typeface="メイリオ" panose="020B0604030504040204" pitchFamily="50" charset="-128"/>
                <a:ea typeface="メイリオ" panose="020B0604030504040204" pitchFamily="50" charset="-128"/>
              </a:rPr>
              <a:t>、</a:t>
            </a:r>
            <a:r>
              <a:rPr lang="en-US" altLang="ja-JP" sz="900" dirty="0">
                <a:solidFill>
                  <a:srgbClr val="FF0000"/>
                </a:solidFill>
                <a:latin typeface="メイリオ" panose="020B0604030504040204" pitchFamily="50" charset="-128"/>
                <a:ea typeface="メイリオ" panose="020B0604030504040204" pitchFamily="50" charset="-128"/>
              </a:rPr>
              <a:t>Tech Partner</a:t>
            </a:r>
            <a:r>
              <a:rPr lang="ja-JP" altLang="en-US" sz="900" dirty="0">
                <a:solidFill>
                  <a:srgbClr val="FF0000"/>
                </a:solidFill>
                <a:latin typeface="メイリオ" panose="020B0604030504040204" pitchFamily="50" charset="-128"/>
                <a:ea typeface="メイリオ" panose="020B0604030504040204" pitchFamily="50" charset="-128"/>
              </a:rPr>
              <a:t>限定公開の</a:t>
            </a:r>
            <a:r>
              <a:rPr lang="en-US" altLang="ja-JP" sz="900" dirty="0">
                <a:solidFill>
                  <a:srgbClr val="FF0000"/>
                </a:solidFill>
                <a:latin typeface="メイリオ" panose="020B0604030504040204" pitchFamily="50" charset="-128"/>
                <a:ea typeface="メイリオ" panose="020B0604030504040204" pitchFamily="50" charset="-128"/>
              </a:rPr>
              <a:t>API</a:t>
            </a:r>
            <a:r>
              <a:rPr lang="ja-JP" altLang="en-US" sz="900" dirty="0">
                <a:solidFill>
                  <a:srgbClr val="FF0000"/>
                </a:solidFill>
                <a:latin typeface="メイリオ" panose="020B0604030504040204" pitchFamily="50" charset="-128"/>
                <a:ea typeface="メイリオ" panose="020B0604030504040204" pitchFamily="50" charset="-128"/>
              </a:rPr>
              <a:t>を使用した機能です。</a:t>
            </a:r>
          </a:p>
        </p:txBody>
      </p:sp>
      <p:sp>
        <p:nvSpPr>
          <p:cNvPr id="96" name="正方形/長方形 95">
            <a:extLst>
              <a:ext uri="{FF2B5EF4-FFF2-40B4-BE49-F238E27FC236}">
                <a16:creationId xmlns:a16="http://schemas.microsoft.com/office/drawing/2014/main" id="{6569B015-2B51-9A35-9379-E64729B15375}"/>
              </a:ext>
            </a:extLst>
          </p:cNvPr>
          <p:cNvSpPr/>
          <p:nvPr/>
        </p:nvSpPr>
        <p:spPr>
          <a:xfrm>
            <a:off x="543398" y="1938056"/>
            <a:ext cx="4981102" cy="244151"/>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rPr>
              <a:t>利用可能シーン</a:t>
            </a:r>
          </a:p>
        </p:txBody>
      </p:sp>
      <p:pic>
        <p:nvPicPr>
          <p:cNvPr id="7" name="図 6">
            <a:extLst>
              <a:ext uri="{FF2B5EF4-FFF2-40B4-BE49-F238E27FC236}">
                <a16:creationId xmlns:a16="http://schemas.microsoft.com/office/drawing/2014/main" id="{00862346-A302-637E-2976-3985B23ED00C}"/>
              </a:ext>
            </a:extLst>
          </p:cNvPr>
          <p:cNvPicPr>
            <a:picLocks noChangeAspect="1"/>
          </p:cNvPicPr>
          <p:nvPr/>
        </p:nvPicPr>
        <p:blipFill>
          <a:blip r:embed="rId6"/>
          <a:stretch>
            <a:fillRect/>
          </a:stretch>
        </p:blipFill>
        <p:spPr>
          <a:xfrm>
            <a:off x="381811" y="2197911"/>
            <a:ext cx="5286856" cy="2497015"/>
          </a:xfrm>
          <a:prstGeom prst="rect">
            <a:avLst/>
          </a:prstGeom>
        </p:spPr>
      </p:pic>
      <p:sp>
        <p:nvSpPr>
          <p:cNvPr id="10" name="テキスト ボックス 9">
            <a:extLst>
              <a:ext uri="{FF2B5EF4-FFF2-40B4-BE49-F238E27FC236}">
                <a16:creationId xmlns:a16="http://schemas.microsoft.com/office/drawing/2014/main" id="{63354FD4-3595-E9AA-7603-C702E42E9BD1}"/>
              </a:ext>
            </a:extLst>
          </p:cNvPr>
          <p:cNvSpPr txBox="1"/>
          <p:nvPr/>
        </p:nvSpPr>
        <p:spPr>
          <a:xfrm>
            <a:off x="3904548" y="1558412"/>
            <a:ext cx="4962524" cy="230832"/>
          </a:xfrm>
          <a:prstGeom prst="rect">
            <a:avLst/>
          </a:prstGeom>
          <a:noFill/>
        </p:spPr>
        <p:txBody>
          <a:bodyPr wrap="square">
            <a:spAutoFit/>
          </a:bodyPr>
          <a:lstStyle/>
          <a:p>
            <a:r>
              <a:rPr lang="ja-JP" altLang="en-US" sz="900" dirty="0">
                <a:solidFill>
                  <a:srgbClr val="FF0000"/>
                </a:solidFill>
                <a:latin typeface="メイリオ" panose="020B0604030504040204" pitchFamily="50" charset="-128"/>
                <a:ea typeface="メイリオ" panose="020B0604030504040204" pitchFamily="50" charset="-128"/>
              </a:rPr>
              <a:t>料金プランにより通数単価、利用可能機能が異なります。</a:t>
            </a:r>
          </a:p>
        </p:txBody>
      </p:sp>
    </p:spTree>
    <p:extLst>
      <p:ext uri="{BB962C8B-B14F-4D97-AF65-F5344CB8AC3E}">
        <p14:creationId xmlns:p14="http://schemas.microsoft.com/office/powerpoint/2010/main" val="3731031205"/>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0EB58E-2E23-6D6E-492D-03C38E7A1D6F}"/>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B579369E-F53C-FDC8-7374-AB2F5B31CD4F}"/>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Meiryo"/>
                <a:ea typeface="Meiryo"/>
                <a:cs typeface="Meiryo"/>
                <a:sym typeface="Meiryo"/>
              </a:rPr>
              <a:t>新規友だちの追加</a:t>
            </a:r>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（通知メッセージ）</a:t>
            </a:r>
          </a:p>
        </p:txBody>
      </p:sp>
      <p:grpSp>
        <p:nvGrpSpPr>
          <p:cNvPr id="3" name="グループ化 2">
            <a:extLst>
              <a:ext uri="{FF2B5EF4-FFF2-40B4-BE49-F238E27FC236}">
                <a16:creationId xmlns:a16="http://schemas.microsoft.com/office/drawing/2014/main" id="{16CDA247-29F1-37E2-FCEA-D79F4493519C}"/>
              </a:ext>
            </a:extLst>
          </p:cNvPr>
          <p:cNvGrpSpPr/>
          <p:nvPr/>
        </p:nvGrpSpPr>
        <p:grpSpPr>
          <a:xfrm>
            <a:off x="543398" y="777681"/>
            <a:ext cx="3105325" cy="485102"/>
            <a:chOff x="507969" y="928495"/>
            <a:chExt cx="3105325" cy="485102"/>
          </a:xfrm>
        </p:grpSpPr>
        <p:sp>
          <p:nvSpPr>
            <p:cNvPr id="4" name="Google Shape;51;p19">
              <a:extLst>
                <a:ext uri="{FF2B5EF4-FFF2-40B4-BE49-F238E27FC236}">
                  <a16:creationId xmlns:a16="http://schemas.microsoft.com/office/drawing/2014/main" id="{BB8D843F-BDAA-6DE1-DFCE-2A6A73C04E2B}"/>
                </a:ext>
              </a:extLst>
            </p:cNvPr>
            <p:cNvSpPr/>
            <p:nvPr/>
          </p:nvSpPr>
          <p:spPr>
            <a:xfrm>
              <a:off x="507969" y="928495"/>
              <a:ext cx="3105325" cy="485102"/>
            </a:xfrm>
            <a:prstGeom prst="roundRect">
              <a:avLst>
                <a:gd name="adj" fmla="val 16667"/>
              </a:avLst>
            </a:pr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dirty="0">
                <a:solidFill>
                  <a:schemeClr val="lt1"/>
                </a:solidFill>
                <a:latin typeface="Meiryo"/>
                <a:ea typeface="Meiryo"/>
                <a:cs typeface="Meiryo"/>
                <a:sym typeface="Meiryo"/>
              </a:endParaRPr>
            </a:p>
          </p:txBody>
        </p:sp>
        <p:sp>
          <p:nvSpPr>
            <p:cNvPr id="5" name="テキスト ボックス 4">
              <a:extLst>
                <a:ext uri="{FF2B5EF4-FFF2-40B4-BE49-F238E27FC236}">
                  <a16:creationId xmlns:a16="http://schemas.microsoft.com/office/drawing/2014/main" id="{D91D75E4-A706-8EF4-1ECC-1D62C09F934E}"/>
                </a:ext>
              </a:extLst>
            </p:cNvPr>
            <p:cNvSpPr txBox="1"/>
            <p:nvPr/>
          </p:nvSpPr>
          <p:spPr>
            <a:xfrm>
              <a:off x="1140096" y="988192"/>
              <a:ext cx="1531188" cy="357790"/>
            </a:xfrm>
            <a:prstGeom prst="rect">
              <a:avLst/>
            </a:prstGeom>
            <a:noFill/>
          </p:spPr>
          <p:txBody>
            <a:bodyPr wrap="non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nSpc>
                  <a:spcPct val="120000"/>
                </a:lnSpc>
              </a:pPr>
              <a:r>
                <a:rPr kumimoji="1" lang="ja-JP" altLang="en-US" sz="1500" b="1" dirty="0">
                  <a:solidFill>
                    <a:schemeClr val="bg1"/>
                  </a:solidFill>
                  <a:latin typeface="Meiryo" panose="020B0604030504040204" pitchFamily="34" charset="-128"/>
                  <a:ea typeface="Meiryo" panose="020B0604030504040204" pitchFamily="34" charset="-128"/>
                </a:rPr>
                <a:t>通知メッセージ</a:t>
              </a:r>
            </a:p>
          </p:txBody>
        </p:sp>
      </p:grpSp>
      <p:sp>
        <p:nvSpPr>
          <p:cNvPr id="9" name="正方形/長方形 8">
            <a:extLst>
              <a:ext uri="{FF2B5EF4-FFF2-40B4-BE49-F238E27FC236}">
                <a16:creationId xmlns:a16="http://schemas.microsoft.com/office/drawing/2014/main" id="{F191580C-EA72-3903-0A46-57D229D50274}"/>
              </a:ext>
            </a:extLst>
          </p:cNvPr>
          <p:cNvSpPr/>
          <p:nvPr/>
        </p:nvSpPr>
        <p:spPr>
          <a:xfrm>
            <a:off x="3806311" y="788165"/>
            <a:ext cx="5880088" cy="584775"/>
          </a:xfrm>
          <a:prstGeom prst="rect">
            <a:avLst/>
          </a:prstGeom>
        </p:spPr>
        <p:txBody>
          <a:bodyPr wrap="square">
            <a:spAutoFit/>
          </a:bodyPr>
          <a:lstStyle/>
          <a:p>
            <a:pPr lvl="0" algn="ctr">
              <a:buClr>
                <a:schemeClr val="dk1"/>
              </a:buClr>
              <a:buSzPts val="1500"/>
            </a:pPr>
            <a:r>
              <a:rPr lang="en-US" altLang="ja-JP" sz="1600" dirty="0">
                <a:latin typeface="Meiryo"/>
                <a:ea typeface="Meiryo"/>
                <a:cs typeface="Meiryo"/>
                <a:sym typeface="Meiryo"/>
              </a:rPr>
              <a:t>WEB</a:t>
            </a:r>
            <a:r>
              <a:rPr lang="ja-JP" altLang="en-US" sz="1600" dirty="0">
                <a:latin typeface="Meiryo"/>
                <a:ea typeface="Meiryo"/>
                <a:cs typeface="Meiryo"/>
                <a:sym typeface="Meiryo"/>
              </a:rPr>
              <a:t>上のアクションユーザー、貴社保有リスト をターゲット</a:t>
            </a:r>
            <a:endParaRPr lang="en-US" altLang="ja-JP" sz="1600" dirty="0">
              <a:latin typeface="Meiryo"/>
              <a:ea typeface="Meiryo"/>
              <a:cs typeface="Meiryo"/>
              <a:sym typeface="Meiryo"/>
            </a:endParaRPr>
          </a:p>
          <a:p>
            <a:pPr lvl="0" algn="ctr">
              <a:buClr>
                <a:schemeClr val="dk1"/>
              </a:buClr>
              <a:buSzPts val="1500"/>
            </a:pPr>
            <a:r>
              <a:rPr lang="ja-JP" altLang="en-US" sz="1600" dirty="0">
                <a:latin typeface="Meiryo"/>
                <a:ea typeface="Meiryo"/>
                <a:cs typeface="Meiryo"/>
                <a:sym typeface="Meiryo"/>
              </a:rPr>
              <a:t>に友だち登録、ステータス通知を行うことが出来る機能です。</a:t>
            </a:r>
          </a:p>
        </p:txBody>
      </p:sp>
      <p:sp>
        <p:nvSpPr>
          <p:cNvPr id="75" name="Google Shape;51;p19">
            <a:extLst>
              <a:ext uri="{FF2B5EF4-FFF2-40B4-BE49-F238E27FC236}">
                <a16:creationId xmlns:a16="http://schemas.microsoft.com/office/drawing/2014/main" id="{5B83E274-8AAB-1C88-48EF-6D543C0091D3}"/>
              </a:ext>
            </a:extLst>
          </p:cNvPr>
          <p:cNvSpPr/>
          <p:nvPr/>
        </p:nvSpPr>
        <p:spPr>
          <a:xfrm>
            <a:off x="543399"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初期：</a:t>
            </a:r>
            <a:r>
              <a:rPr lang="en-US" altLang="ja-JP" sz="1400" b="1" i="0" u="none" strike="noStrike" cap="none" dirty="0">
                <a:solidFill>
                  <a:schemeClr val="lt1"/>
                </a:solidFill>
                <a:latin typeface="Meiryo"/>
                <a:ea typeface="Meiryo"/>
                <a:cs typeface="Meiryo"/>
                <a:sym typeface="Meiryo"/>
              </a:rPr>
              <a:t>10</a:t>
            </a:r>
            <a:r>
              <a:rPr lang="ja-JP" altLang="en-US" sz="1400" b="1" i="0" u="none" strike="noStrike" cap="none" dirty="0">
                <a:solidFill>
                  <a:schemeClr val="lt1"/>
                </a:solidFill>
                <a:latin typeface="Meiryo"/>
                <a:ea typeface="Meiryo"/>
                <a:cs typeface="Meiryo"/>
                <a:sym typeface="Meiryo"/>
              </a:rPr>
              <a:t>万円</a:t>
            </a:r>
            <a:endParaRPr sz="1400" b="1" i="0" u="none" strike="noStrike" cap="none" dirty="0">
              <a:solidFill>
                <a:schemeClr val="lt1"/>
              </a:solidFill>
              <a:latin typeface="Meiryo"/>
              <a:ea typeface="Meiryo"/>
              <a:cs typeface="Meiryo"/>
              <a:sym typeface="Meiryo"/>
            </a:endParaRPr>
          </a:p>
        </p:txBody>
      </p:sp>
      <p:sp>
        <p:nvSpPr>
          <p:cNvPr id="77" name="Google Shape;51;p19">
            <a:extLst>
              <a:ext uri="{FF2B5EF4-FFF2-40B4-BE49-F238E27FC236}">
                <a16:creationId xmlns:a16="http://schemas.microsoft.com/office/drawing/2014/main" id="{1ACE7ABA-DEAD-27A6-7DA0-D29E467F0A0D}"/>
              </a:ext>
            </a:extLst>
          </p:cNvPr>
          <p:cNvSpPr/>
          <p:nvPr/>
        </p:nvSpPr>
        <p:spPr>
          <a:xfrm>
            <a:off x="2137897"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月額</a:t>
            </a:r>
            <a:r>
              <a:rPr lang="en-US" altLang="ja-JP" sz="1400" b="1" i="0" u="none" strike="noStrike" cap="none" dirty="0">
                <a:solidFill>
                  <a:schemeClr val="lt1"/>
                </a:solidFill>
                <a:latin typeface="Meiryo"/>
                <a:ea typeface="Meiryo"/>
                <a:cs typeface="Meiryo"/>
                <a:sym typeface="Meiryo"/>
              </a:rPr>
              <a:t>8</a:t>
            </a:r>
            <a:r>
              <a:rPr lang="ja-JP" altLang="en-US" sz="1400" b="1" i="0" u="none" strike="noStrike" cap="none" dirty="0">
                <a:solidFill>
                  <a:schemeClr val="lt1"/>
                </a:solidFill>
                <a:latin typeface="Meiryo"/>
                <a:ea typeface="Meiryo"/>
                <a:cs typeface="Meiryo"/>
                <a:sym typeface="Meiryo"/>
              </a:rPr>
              <a:t>万円～</a:t>
            </a:r>
            <a:endParaRPr lang="en-US" altLang="ja-JP" sz="1400" b="1" i="0" u="none" strike="noStrike" cap="none" dirty="0">
              <a:solidFill>
                <a:schemeClr val="lt1"/>
              </a:solidFill>
              <a:latin typeface="Meiryo"/>
              <a:ea typeface="Meiryo"/>
              <a:cs typeface="Meiryo"/>
              <a:sym typeface="Meiryo"/>
            </a:endParaRPr>
          </a:p>
          <a:p>
            <a:pPr marL="0" marR="0" lvl="0" indent="0" algn="ctr" rtl="0">
              <a:lnSpc>
                <a:spcPct val="100000"/>
              </a:lnSpc>
              <a:spcBef>
                <a:spcPts val="0"/>
              </a:spcBef>
              <a:spcAft>
                <a:spcPts val="0"/>
              </a:spcAft>
              <a:buClr>
                <a:srgbClr val="000000"/>
              </a:buClr>
              <a:buSzPts val="1400"/>
              <a:buFont typeface="Arial"/>
              <a:buNone/>
            </a:pPr>
            <a:r>
              <a:rPr lang="en-US" altLang="ja-JP" sz="1050" b="1" dirty="0">
                <a:solidFill>
                  <a:srgbClr val="FFFF00"/>
                </a:solidFill>
                <a:latin typeface="Meiryo"/>
                <a:ea typeface="Meiryo"/>
                <a:cs typeface="Meiryo"/>
                <a:sym typeface="Meiryo"/>
              </a:rPr>
              <a:t>+</a:t>
            </a:r>
            <a:r>
              <a:rPr lang="ja-JP" altLang="en-US" sz="1050" b="1" dirty="0">
                <a:solidFill>
                  <a:srgbClr val="FFFF00"/>
                </a:solidFill>
                <a:latin typeface="Meiryo"/>
                <a:ea typeface="Meiryo"/>
                <a:cs typeface="Meiryo"/>
                <a:sym typeface="Meiryo"/>
              </a:rPr>
              <a:t>通数単価：</a:t>
            </a:r>
            <a:r>
              <a:rPr lang="en-US" altLang="ja-JP" sz="1050" b="1" dirty="0">
                <a:solidFill>
                  <a:srgbClr val="FFFF00"/>
                </a:solidFill>
                <a:latin typeface="Meiryo"/>
                <a:ea typeface="Meiryo"/>
                <a:cs typeface="Meiryo"/>
                <a:sym typeface="Meiryo"/>
              </a:rPr>
              <a:t>7</a:t>
            </a:r>
            <a:r>
              <a:rPr lang="ja-JP" altLang="en-US" sz="1050" b="1" dirty="0">
                <a:solidFill>
                  <a:srgbClr val="FFFF00"/>
                </a:solidFill>
                <a:latin typeface="Meiryo"/>
                <a:ea typeface="Meiryo"/>
                <a:cs typeface="Meiryo"/>
                <a:sym typeface="Meiryo"/>
              </a:rPr>
              <a:t>円</a:t>
            </a:r>
            <a:endParaRPr sz="1050" b="1" i="0" u="none" strike="noStrike" cap="none" dirty="0">
              <a:solidFill>
                <a:srgbClr val="FFFF00"/>
              </a:solidFill>
              <a:latin typeface="Meiryo"/>
              <a:ea typeface="Meiryo"/>
              <a:cs typeface="Meiryo"/>
              <a:sym typeface="Meiryo"/>
            </a:endParaRPr>
          </a:p>
        </p:txBody>
      </p:sp>
      <p:sp>
        <p:nvSpPr>
          <p:cNvPr id="94" name="テキスト ボックス 93">
            <a:extLst>
              <a:ext uri="{FF2B5EF4-FFF2-40B4-BE49-F238E27FC236}">
                <a16:creationId xmlns:a16="http://schemas.microsoft.com/office/drawing/2014/main" id="{6BA13AD6-A7FE-E393-39F7-12604E6F2A59}"/>
              </a:ext>
            </a:extLst>
          </p:cNvPr>
          <p:cNvSpPr txBox="1"/>
          <p:nvPr/>
        </p:nvSpPr>
        <p:spPr>
          <a:xfrm>
            <a:off x="3904548" y="1368741"/>
            <a:ext cx="4962524" cy="230832"/>
          </a:xfrm>
          <a:prstGeom prst="rect">
            <a:avLst/>
          </a:prstGeom>
          <a:noFill/>
        </p:spPr>
        <p:txBody>
          <a:bodyPr wrap="square">
            <a:spAutoFit/>
          </a:bodyPr>
          <a:lstStyle/>
          <a:p>
            <a:r>
              <a:rPr lang="en-US" altLang="ja-JP" sz="900" dirty="0">
                <a:solidFill>
                  <a:srgbClr val="FF0000"/>
                </a:solidFill>
                <a:latin typeface="メイリオ" panose="020B0604030504040204" pitchFamily="50" charset="-128"/>
                <a:ea typeface="メイリオ" panose="020B0604030504040204" pitchFamily="50" charset="-128"/>
              </a:rPr>
              <a:t>Sales Partner</a:t>
            </a:r>
            <a:r>
              <a:rPr lang="ja-JP" altLang="en-US" sz="900" dirty="0">
                <a:solidFill>
                  <a:srgbClr val="FF0000"/>
                </a:solidFill>
                <a:latin typeface="メイリオ" panose="020B0604030504040204" pitchFamily="50" charset="-128"/>
                <a:ea typeface="メイリオ" panose="020B0604030504040204" pitchFamily="50" charset="-128"/>
              </a:rPr>
              <a:t>、</a:t>
            </a:r>
            <a:r>
              <a:rPr lang="en-US" altLang="ja-JP" sz="900" dirty="0">
                <a:solidFill>
                  <a:srgbClr val="FF0000"/>
                </a:solidFill>
                <a:latin typeface="メイリオ" panose="020B0604030504040204" pitchFamily="50" charset="-128"/>
                <a:ea typeface="メイリオ" panose="020B0604030504040204" pitchFamily="50" charset="-128"/>
              </a:rPr>
              <a:t>Tech Partner</a:t>
            </a:r>
            <a:r>
              <a:rPr lang="ja-JP" altLang="en-US" sz="900" dirty="0">
                <a:solidFill>
                  <a:srgbClr val="FF0000"/>
                </a:solidFill>
                <a:latin typeface="メイリオ" panose="020B0604030504040204" pitchFamily="50" charset="-128"/>
                <a:ea typeface="メイリオ" panose="020B0604030504040204" pitchFamily="50" charset="-128"/>
              </a:rPr>
              <a:t>限定公開の</a:t>
            </a:r>
            <a:r>
              <a:rPr lang="en-US" altLang="ja-JP" sz="900" dirty="0">
                <a:solidFill>
                  <a:srgbClr val="FF0000"/>
                </a:solidFill>
                <a:latin typeface="メイリオ" panose="020B0604030504040204" pitchFamily="50" charset="-128"/>
                <a:ea typeface="メイリオ" panose="020B0604030504040204" pitchFamily="50" charset="-128"/>
              </a:rPr>
              <a:t>API</a:t>
            </a:r>
            <a:r>
              <a:rPr lang="ja-JP" altLang="en-US" sz="900" dirty="0">
                <a:solidFill>
                  <a:srgbClr val="FF0000"/>
                </a:solidFill>
                <a:latin typeface="メイリオ" panose="020B0604030504040204" pitchFamily="50" charset="-128"/>
                <a:ea typeface="メイリオ" panose="020B0604030504040204" pitchFamily="50" charset="-128"/>
              </a:rPr>
              <a:t>を使用した機能です。</a:t>
            </a:r>
          </a:p>
        </p:txBody>
      </p:sp>
      <p:sp>
        <p:nvSpPr>
          <p:cNvPr id="6" name="テキスト ボックス 5">
            <a:extLst>
              <a:ext uri="{FF2B5EF4-FFF2-40B4-BE49-F238E27FC236}">
                <a16:creationId xmlns:a16="http://schemas.microsoft.com/office/drawing/2014/main" id="{52DBA794-F4DB-834A-6EBA-1F38E3EB8D25}"/>
              </a:ext>
            </a:extLst>
          </p:cNvPr>
          <p:cNvSpPr txBox="1"/>
          <p:nvPr/>
        </p:nvSpPr>
        <p:spPr>
          <a:xfrm>
            <a:off x="3904548" y="1558412"/>
            <a:ext cx="4962524" cy="230832"/>
          </a:xfrm>
          <a:prstGeom prst="rect">
            <a:avLst/>
          </a:prstGeom>
          <a:noFill/>
        </p:spPr>
        <p:txBody>
          <a:bodyPr wrap="square">
            <a:spAutoFit/>
          </a:bodyPr>
          <a:lstStyle/>
          <a:p>
            <a:r>
              <a:rPr lang="ja-JP" altLang="en-US" sz="900" dirty="0">
                <a:solidFill>
                  <a:srgbClr val="FF0000"/>
                </a:solidFill>
                <a:latin typeface="メイリオ" panose="020B0604030504040204" pitchFamily="50" charset="-128"/>
                <a:ea typeface="メイリオ" panose="020B0604030504040204" pitchFamily="50" charset="-128"/>
              </a:rPr>
              <a:t>料金プランにより通数単価、利用可能機能が異なります。</a:t>
            </a:r>
          </a:p>
        </p:txBody>
      </p:sp>
      <p:pic>
        <p:nvPicPr>
          <p:cNvPr id="8" name="図 7">
            <a:extLst>
              <a:ext uri="{FF2B5EF4-FFF2-40B4-BE49-F238E27FC236}">
                <a16:creationId xmlns:a16="http://schemas.microsoft.com/office/drawing/2014/main" id="{6FEAB905-6FFF-5D16-B66E-DAD05A44B7D7}"/>
              </a:ext>
            </a:extLst>
          </p:cNvPr>
          <p:cNvPicPr>
            <a:picLocks noChangeAspect="1"/>
          </p:cNvPicPr>
          <p:nvPr/>
        </p:nvPicPr>
        <p:blipFill>
          <a:blip r:embed="rId2"/>
          <a:stretch>
            <a:fillRect/>
          </a:stretch>
        </p:blipFill>
        <p:spPr>
          <a:xfrm>
            <a:off x="543398" y="1953516"/>
            <a:ext cx="8918385" cy="4389153"/>
          </a:xfrm>
          <a:prstGeom prst="rect">
            <a:avLst/>
          </a:prstGeom>
        </p:spPr>
      </p:pic>
      <p:sp>
        <p:nvSpPr>
          <p:cNvPr id="11" name="Google Shape;51;p19">
            <a:extLst>
              <a:ext uri="{FF2B5EF4-FFF2-40B4-BE49-F238E27FC236}">
                <a16:creationId xmlns:a16="http://schemas.microsoft.com/office/drawing/2014/main" id="{3A8AD54E-DAE5-1F54-4C9C-6EA993DDD1A7}"/>
              </a:ext>
            </a:extLst>
          </p:cNvPr>
          <p:cNvSpPr/>
          <p:nvPr/>
        </p:nvSpPr>
        <p:spPr>
          <a:xfrm>
            <a:off x="6635873" y="5673123"/>
            <a:ext cx="2647463" cy="331332"/>
          </a:xfrm>
          <a:prstGeom prst="roundRect">
            <a:avLst>
              <a:gd name="adj" fmla="val 16667"/>
            </a:avLst>
          </a:prstGeom>
          <a:solidFill>
            <a:schemeClr val="tx1">
              <a:lumMod val="50000"/>
              <a:lumOff val="50000"/>
            </a:schemeClr>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100" i="0" u="none" strike="noStrike" cap="none" dirty="0">
                <a:solidFill>
                  <a:schemeClr val="lt1"/>
                </a:solidFill>
                <a:latin typeface="Meiryo"/>
                <a:ea typeface="Meiryo"/>
                <a:cs typeface="Meiryo"/>
                <a:sym typeface="Meiryo"/>
              </a:rPr>
              <a:t>利用可能なシーン一例</a:t>
            </a:r>
            <a:endParaRPr sz="900" i="0" u="none" strike="noStrike" cap="none" dirty="0">
              <a:solidFill>
                <a:srgbClr val="FFFF00"/>
              </a:solidFill>
              <a:latin typeface="Meiryo"/>
              <a:ea typeface="Meiryo"/>
              <a:cs typeface="Meiryo"/>
              <a:sym typeface="Meiryo"/>
            </a:endParaRPr>
          </a:p>
        </p:txBody>
      </p:sp>
    </p:spTree>
    <p:extLst>
      <p:ext uri="{BB962C8B-B14F-4D97-AF65-F5344CB8AC3E}">
        <p14:creationId xmlns:p14="http://schemas.microsoft.com/office/powerpoint/2010/main" val="1795848844"/>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Google Shape;752;p28">
            <a:extLst>
              <a:ext uri="{FF2B5EF4-FFF2-40B4-BE49-F238E27FC236}">
                <a16:creationId xmlns:a16="http://schemas.microsoft.com/office/drawing/2014/main" id="{AA80CD04-9456-70DB-2E44-D3EDB1461933}"/>
              </a:ext>
            </a:extLst>
          </p:cNvPr>
          <p:cNvSpPr txBox="1"/>
          <p:nvPr/>
        </p:nvSpPr>
        <p:spPr>
          <a:xfrm>
            <a:off x="547200" y="136800"/>
            <a:ext cx="6516000" cy="338400"/>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メイリオ"/>
                <a:ea typeface="メイリオ"/>
                <a:cs typeface="メイリオ"/>
                <a:sym typeface="Meiryo"/>
              </a:rPr>
              <a:t>新規友だちの追加（サンクスLINE誘導）</a:t>
            </a:r>
            <a:endParaRPr lang="en-US" altLang="ja-JP" sz="1600" b="1" dirty="0">
              <a:solidFill>
                <a:srgbClr val="002060"/>
              </a:solidFill>
              <a:latin typeface="メイリオ"/>
              <a:ea typeface="メイリオ"/>
              <a:cs typeface="メイリオ"/>
              <a:sym typeface="Meiryo"/>
            </a:endParaRPr>
          </a:p>
        </p:txBody>
      </p:sp>
      <p:sp>
        <p:nvSpPr>
          <p:cNvPr id="16" name="正方形/長方形 15">
            <a:extLst>
              <a:ext uri="{FF2B5EF4-FFF2-40B4-BE49-F238E27FC236}">
                <a16:creationId xmlns:a16="http://schemas.microsoft.com/office/drawing/2014/main" id="{32BBF438-B1EF-A61A-EE3D-69CD39766C7E}"/>
              </a:ext>
            </a:extLst>
          </p:cNvPr>
          <p:cNvSpPr/>
          <p:nvPr/>
        </p:nvSpPr>
        <p:spPr>
          <a:xfrm>
            <a:off x="6123840" y="2144236"/>
            <a:ext cx="2487570" cy="1821208"/>
          </a:xfrm>
          <a:prstGeom prst="rect">
            <a:avLst/>
          </a:prstGeom>
          <a:no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endParaRPr lang="ja-JP" altLang="en-US">
              <a:latin typeface="メイリオ"/>
              <a:ea typeface="メイリオ"/>
              <a:cs typeface="メイリオ"/>
            </a:endParaRPr>
          </a:p>
        </p:txBody>
      </p:sp>
      <p:sp>
        <p:nvSpPr>
          <p:cNvPr id="17" name="正方形/長方形 16">
            <a:extLst>
              <a:ext uri="{FF2B5EF4-FFF2-40B4-BE49-F238E27FC236}">
                <a16:creationId xmlns:a16="http://schemas.microsoft.com/office/drawing/2014/main" id="{1A1E4128-77DC-C871-EE20-5BD43326E078}"/>
              </a:ext>
            </a:extLst>
          </p:cNvPr>
          <p:cNvSpPr/>
          <p:nvPr/>
        </p:nvSpPr>
        <p:spPr>
          <a:xfrm>
            <a:off x="6123841" y="4317370"/>
            <a:ext cx="2487569" cy="1821208"/>
          </a:xfrm>
          <a:prstGeom prst="rect">
            <a:avLst/>
          </a:prstGeom>
          <a:no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endParaRPr lang="ja-JP" altLang="en-US">
              <a:latin typeface="メイリオ"/>
              <a:ea typeface="メイリオ"/>
              <a:cs typeface="メイリオ"/>
            </a:endParaRPr>
          </a:p>
        </p:txBody>
      </p:sp>
      <p:sp>
        <p:nvSpPr>
          <p:cNvPr id="20" name="正方形/長方形 19">
            <a:extLst>
              <a:ext uri="{FF2B5EF4-FFF2-40B4-BE49-F238E27FC236}">
                <a16:creationId xmlns:a16="http://schemas.microsoft.com/office/drawing/2014/main" id="{F37BB268-660A-FEE4-BB39-0E338F1DDC23}"/>
              </a:ext>
            </a:extLst>
          </p:cNvPr>
          <p:cNvSpPr/>
          <p:nvPr/>
        </p:nvSpPr>
        <p:spPr>
          <a:xfrm>
            <a:off x="6161261" y="1989652"/>
            <a:ext cx="1315634" cy="244151"/>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en-US" altLang="ja-JP" sz="850" b="1" dirty="0">
                <a:solidFill>
                  <a:schemeClr val="tx1"/>
                </a:solidFill>
                <a:latin typeface="メイリオ" panose="020B0604030504040204" pitchFamily="50" charset="-128"/>
                <a:ea typeface="メイリオ" panose="020B0604030504040204" pitchFamily="50" charset="-128"/>
                <a:cs typeface="メイリオ"/>
              </a:rPr>
              <a:t>LINE</a:t>
            </a:r>
            <a:r>
              <a:rPr lang="ja-JP" altLang="en-US" sz="850" b="1" dirty="0">
                <a:solidFill>
                  <a:schemeClr val="tx1"/>
                </a:solidFill>
                <a:latin typeface="メイリオ" panose="020B0604030504040204" pitchFamily="50" charset="-128"/>
                <a:ea typeface="メイリオ" panose="020B0604030504040204" pitchFamily="50" charset="-128"/>
                <a:cs typeface="メイリオ"/>
              </a:rPr>
              <a:t>未追加の場合</a:t>
            </a:r>
          </a:p>
        </p:txBody>
      </p:sp>
      <p:sp>
        <p:nvSpPr>
          <p:cNvPr id="21" name="正方形/長方形 20">
            <a:extLst>
              <a:ext uri="{FF2B5EF4-FFF2-40B4-BE49-F238E27FC236}">
                <a16:creationId xmlns:a16="http://schemas.microsoft.com/office/drawing/2014/main" id="{C9FF4626-FD17-CA1C-8064-F46606D0BCCE}"/>
              </a:ext>
            </a:extLst>
          </p:cNvPr>
          <p:cNvSpPr/>
          <p:nvPr/>
        </p:nvSpPr>
        <p:spPr>
          <a:xfrm>
            <a:off x="6161261" y="4195296"/>
            <a:ext cx="1315634" cy="244151"/>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en-US" altLang="ja-JP" sz="850" b="1" dirty="0">
                <a:solidFill>
                  <a:schemeClr val="tx1"/>
                </a:solidFill>
                <a:latin typeface="メイリオ" panose="020B0604030504040204" pitchFamily="50" charset="-128"/>
                <a:ea typeface="メイリオ" panose="020B0604030504040204" pitchFamily="50" charset="-128"/>
                <a:cs typeface="メイリオ"/>
              </a:rPr>
              <a:t>LINE</a:t>
            </a:r>
            <a:r>
              <a:rPr lang="ja-JP" altLang="en-US" sz="850" b="1" dirty="0">
                <a:solidFill>
                  <a:schemeClr val="tx1"/>
                </a:solidFill>
                <a:latin typeface="メイリオ" panose="020B0604030504040204" pitchFamily="50" charset="-128"/>
                <a:ea typeface="メイリオ" panose="020B0604030504040204" pitchFamily="50" charset="-128"/>
                <a:cs typeface="メイリオ"/>
              </a:rPr>
              <a:t>追加済みの場合</a:t>
            </a:r>
          </a:p>
        </p:txBody>
      </p:sp>
      <p:cxnSp>
        <p:nvCxnSpPr>
          <p:cNvPr id="23" name="直線矢印コネクタ 22">
            <a:extLst>
              <a:ext uri="{FF2B5EF4-FFF2-40B4-BE49-F238E27FC236}">
                <a16:creationId xmlns:a16="http://schemas.microsoft.com/office/drawing/2014/main" id="{8F202453-7FF9-8AE7-D10D-66F74A74A2F4}"/>
              </a:ext>
            </a:extLst>
          </p:cNvPr>
          <p:cNvCxnSpPr>
            <a:cxnSpLocks/>
          </p:cNvCxnSpPr>
          <p:nvPr/>
        </p:nvCxnSpPr>
        <p:spPr>
          <a:xfrm flipV="1">
            <a:off x="5819550" y="2932418"/>
            <a:ext cx="318138" cy="421706"/>
          </a:xfrm>
          <a:prstGeom prst="straightConnector1">
            <a:avLst/>
          </a:prstGeom>
          <a:ln w="19050">
            <a:solidFill>
              <a:srgbClr val="00B050">
                <a:alpha val="80000"/>
              </a:srgbClr>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24" name="直線矢印コネクタ 23">
            <a:extLst>
              <a:ext uri="{FF2B5EF4-FFF2-40B4-BE49-F238E27FC236}">
                <a16:creationId xmlns:a16="http://schemas.microsoft.com/office/drawing/2014/main" id="{C92F6E28-BBFF-1A56-AC22-CA16D2F1B1EA}"/>
              </a:ext>
            </a:extLst>
          </p:cNvPr>
          <p:cNvCxnSpPr>
            <a:cxnSpLocks/>
          </p:cNvCxnSpPr>
          <p:nvPr/>
        </p:nvCxnSpPr>
        <p:spPr>
          <a:xfrm>
            <a:off x="5819550" y="3354124"/>
            <a:ext cx="280718" cy="1392760"/>
          </a:xfrm>
          <a:prstGeom prst="straightConnector1">
            <a:avLst/>
          </a:prstGeom>
          <a:ln w="19050">
            <a:solidFill>
              <a:srgbClr val="00B050">
                <a:alpha val="80000"/>
              </a:srgbClr>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45" name="図 44" descr="グラフィカル ユーザー インターフェイス, アプリケーション, Teams&#10;&#10;AI 生成コンテンツは誤りを含む可能性があります。">
            <a:extLst>
              <a:ext uri="{FF2B5EF4-FFF2-40B4-BE49-F238E27FC236}">
                <a16:creationId xmlns:a16="http://schemas.microsoft.com/office/drawing/2014/main" id="{E91CA7A5-62B3-F1F8-38C3-DDCE33E1CC3D}"/>
              </a:ext>
            </a:extLst>
          </p:cNvPr>
          <p:cNvPicPr>
            <a:picLocks noChangeAspect="1"/>
          </p:cNvPicPr>
          <p:nvPr/>
        </p:nvPicPr>
        <p:blipFill>
          <a:blip r:embed="rId2" cstate="print">
            <a:extLst>
              <a:ext uri="{28A0092B-C50C-407E-A947-70E740481C1C}">
                <a14:useLocalDpi xmlns:a14="http://schemas.microsoft.com/office/drawing/2010/main" val="0"/>
              </a:ext>
            </a:extLst>
          </a:blip>
          <a:srcRect t="4580"/>
          <a:stretch>
            <a:fillRect/>
          </a:stretch>
        </p:blipFill>
        <p:spPr>
          <a:xfrm>
            <a:off x="7518319" y="2173082"/>
            <a:ext cx="1000253" cy="1694141"/>
          </a:xfrm>
          <a:prstGeom prst="rect">
            <a:avLst/>
          </a:prstGeom>
        </p:spPr>
      </p:pic>
      <p:pic>
        <p:nvPicPr>
          <p:cNvPr id="46" name="図 45" descr="電卓の写真のスマートフォンのスクリーンショット&#10;&#10;AI 生成コンテンツは誤りを含む可能性があります。">
            <a:extLst>
              <a:ext uri="{FF2B5EF4-FFF2-40B4-BE49-F238E27FC236}">
                <a16:creationId xmlns:a16="http://schemas.microsoft.com/office/drawing/2014/main" id="{31EEAD2C-3BE8-0210-FD8E-46D52B30A0AE}"/>
              </a:ext>
            </a:extLst>
          </p:cNvPr>
          <p:cNvPicPr>
            <a:picLocks noChangeAspect="1"/>
          </p:cNvPicPr>
          <p:nvPr/>
        </p:nvPicPr>
        <p:blipFill>
          <a:blip r:embed="rId3" cstate="print">
            <a:extLst>
              <a:ext uri="{28A0092B-C50C-407E-A947-70E740481C1C}">
                <a14:useLocalDpi xmlns:a14="http://schemas.microsoft.com/office/drawing/2010/main" val="0"/>
              </a:ext>
            </a:extLst>
          </a:blip>
          <a:srcRect t="4580"/>
          <a:stretch>
            <a:fillRect/>
          </a:stretch>
        </p:blipFill>
        <p:spPr>
          <a:xfrm>
            <a:off x="7527889" y="4316771"/>
            <a:ext cx="1000253" cy="1694142"/>
          </a:xfrm>
          <a:prstGeom prst="rect">
            <a:avLst/>
          </a:prstGeom>
        </p:spPr>
      </p:pic>
      <p:sp>
        <p:nvSpPr>
          <p:cNvPr id="48" name="テキスト ボックス 47">
            <a:extLst>
              <a:ext uri="{FF2B5EF4-FFF2-40B4-BE49-F238E27FC236}">
                <a16:creationId xmlns:a16="http://schemas.microsoft.com/office/drawing/2014/main" id="{E989AEB3-EF0E-8885-B426-8B6A5E01F40A}"/>
              </a:ext>
            </a:extLst>
          </p:cNvPr>
          <p:cNvSpPr txBox="1"/>
          <p:nvPr/>
        </p:nvSpPr>
        <p:spPr>
          <a:xfrm>
            <a:off x="6161261" y="2335961"/>
            <a:ext cx="1227667" cy="400110"/>
          </a:xfrm>
          <a:prstGeom prst="rect">
            <a:avLst/>
          </a:prstGeom>
          <a:noFill/>
        </p:spPr>
        <p:txBody>
          <a:bodyPr wrap="square" lIns="74295" rIns="74295">
            <a:spAutoFit/>
          </a:bodyPr>
          <a:lstStyle/>
          <a:p>
            <a:r>
              <a:rPr lang="ja-JP" altLang="en-US" sz="1000" b="1" dirty="0">
                <a:latin typeface="メイリオ" panose="020B0604030504040204" pitchFamily="50" charset="-128"/>
                <a:ea typeface="メイリオ" panose="020B0604030504040204" pitchFamily="50" charset="-128"/>
                <a:cs typeface="メイリオ"/>
              </a:rPr>
              <a:t>友だち登録ページ</a:t>
            </a:r>
            <a:r>
              <a:rPr lang="ja-JP" altLang="en-US" sz="1000" dirty="0">
                <a:latin typeface="メイリオ" panose="020B0604030504040204" pitchFamily="50" charset="-128"/>
                <a:ea typeface="メイリオ" panose="020B0604030504040204" pitchFamily="50" charset="-128"/>
                <a:cs typeface="メイリオ"/>
              </a:rPr>
              <a:t>へ遷移する。</a:t>
            </a:r>
          </a:p>
        </p:txBody>
      </p:sp>
      <p:sp>
        <p:nvSpPr>
          <p:cNvPr id="49" name="テキスト ボックス 48">
            <a:extLst>
              <a:ext uri="{FF2B5EF4-FFF2-40B4-BE49-F238E27FC236}">
                <a16:creationId xmlns:a16="http://schemas.microsoft.com/office/drawing/2014/main" id="{4E6D08E3-E0B3-1DF4-0533-E4EE67240415}"/>
              </a:ext>
            </a:extLst>
          </p:cNvPr>
          <p:cNvSpPr txBox="1"/>
          <p:nvPr/>
        </p:nvSpPr>
        <p:spPr>
          <a:xfrm>
            <a:off x="6157879" y="4570201"/>
            <a:ext cx="1338278" cy="400110"/>
          </a:xfrm>
          <a:prstGeom prst="rect">
            <a:avLst/>
          </a:prstGeom>
          <a:noFill/>
        </p:spPr>
        <p:txBody>
          <a:bodyPr wrap="square" lIns="74295" rIns="74295">
            <a:spAutoFit/>
          </a:bodyPr>
          <a:lstStyle/>
          <a:p>
            <a:r>
              <a:rPr lang="ja-JP" altLang="en-US" sz="1000" b="1" dirty="0">
                <a:latin typeface="メイリオ" panose="020B0604030504040204" pitchFamily="50" charset="-128"/>
                <a:ea typeface="メイリオ" panose="020B0604030504040204" pitchFamily="50" charset="-128"/>
                <a:cs typeface="メイリオ"/>
              </a:rPr>
              <a:t>トーク画面</a:t>
            </a:r>
            <a:r>
              <a:rPr lang="ja-JP" altLang="en-US" sz="1000" dirty="0">
                <a:latin typeface="メイリオ" panose="020B0604030504040204" pitchFamily="50" charset="-128"/>
                <a:ea typeface="メイリオ" panose="020B0604030504040204" pitchFamily="50" charset="-128"/>
                <a:cs typeface="メイリオ"/>
              </a:rPr>
              <a:t>へ</a:t>
            </a:r>
            <a:endParaRPr lang="en-US" altLang="ja-JP" sz="1000" dirty="0">
              <a:latin typeface="メイリオ" panose="020B0604030504040204" pitchFamily="50" charset="-128"/>
              <a:ea typeface="メイリオ" panose="020B0604030504040204" pitchFamily="50" charset="-128"/>
              <a:cs typeface="メイリオ"/>
            </a:endParaRPr>
          </a:p>
          <a:p>
            <a:r>
              <a:rPr lang="ja-JP" altLang="en-US" sz="1000" dirty="0">
                <a:latin typeface="メイリオ" panose="020B0604030504040204" pitchFamily="50" charset="-128"/>
                <a:ea typeface="メイリオ" panose="020B0604030504040204" pitchFamily="50" charset="-128"/>
                <a:cs typeface="メイリオ"/>
              </a:rPr>
              <a:t>遷移する。</a:t>
            </a:r>
            <a:endParaRPr lang="en-US" altLang="ja-JP" sz="1000" dirty="0">
              <a:latin typeface="メイリオ" panose="020B0604030504040204" pitchFamily="50" charset="-128"/>
              <a:ea typeface="メイリオ" panose="020B0604030504040204" pitchFamily="50" charset="-128"/>
              <a:cs typeface="メイリオ"/>
            </a:endParaRPr>
          </a:p>
        </p:txBody>
      </p:sp>
      <p:pic>
        <p:nvPicPr>
          <p:cNvPr id="56" name="図 55">
            <a:extLst>
              <a:ext uri="{FF2B5EF4-FFF2-40B4-BE49-F238E27FC236}">
                <a16:creationId xmlns:a16="http://schemas.microsoft.com/office/drawing/2014/main" id="{0B7B313D-7D5F-4357-9B38-DFC3DBC5FCF6}"/>
              </a:ext>
            </a:extLst>
          </p:cNvPr>
          <p:cNvPicPr>
            <a:picLocks noChangeAspect="1"/>
          </p:cNvPicPr>
          <p:nvPr/>
        </p:nvPicPr>
        <p:blipFill>
          <a:blip r:embed="rId4"/>
          <a:stretch>
            <a:fillRect/>
          </a:stretch>
        </p:blipFill>
        <p:spPr>
          <a:xfrm>
            <a:off x="7557873" y="2950101"/>
            <a:ext cx="921141" cy="89556"/>
          </a:xfrm>
          <a:prstGeom prst="rect">
            <a:avLst/>
          </a:prstGeom>
        </p:spPr>
      </p:pic>
      <p:pic>
        <p:nvPicPr>
          <p:cNvPr id="57" name="図 56">
            <a:extLst>
              <a:ext uri="{FF2B5EF4-FFF2-40B4-BE49-F238E27FC236}">
                <a16:creationId xmlns:a16="http://schemas.microsoft.com/office/drawing/2014/main" id="{A8EA42C4-338F-850B-B276-B83DC2A73148}"/>
              </a:ext>
            </a:extLst>
          </p:cNvPr>
          <p:cNvPicPr>
            <a:picLocks noChangeAspect="1"/>
          </p:cNvPicPr>
          <p:nvPr/>
        </p:nvPicPr>
        <p:blipFill>
          <a:blip r:embed="rId5"/>
          <a:stretch>
            <a:fillRect/>
          </a:stretch>
        </p:blipFill>
        <p:spPr>
          <a:xfrm>
            <a:off x="7825776" y="2949394"/>
            <a:ext cx="389971" cy="86660"/>
          </a:xfrm>
          <a:prstGeom prst="rect">
            <a:avLst/>
          </a:prstGeom>
        </p:spPr>
      </p:pic>
      <p:pic>
        <p:nvPicPr>
          <p:cNvPr id="58" name="図 57">
            <a:extLst>
              <a:ext uri="{FF2B5EF4-FFF2-40B4-BE49-F238E27FC236}">
                <a16:creationId xmlns:a16="http://schemas.microsoft.com/office/drawing/2014/main" id="{CCB04072-A708-EEE7-1345-D4C9E9FA9C1D}"/>
              </a:ext>
            </a:extLst>
          </p:cNvPr>
          <p:cNvPicPr>
            <a:picLocks noChangeAspect="1"/>
          </p:cNvPicPr>
          <p:nvPr/>
        </p:nvPicPr>
        <p:blipFill>
          <a:blip r:embed="rId5"/>
          <a:stretch>
            <a:fillRect/>
          </a:stretch>
        </p:blipFill>
        <p:spPr>
          <a:xfrm>
            <a:off x="7849883" y="4314411"/>
            <a:ext cx="271710" cy="60381"/>
          </a:xfrm>
          <a:prstGeom prst="rect">
            <a:avLst/>
          </a:prstGeom>
        </p:spPr>
      </p:pic>
      <p:pic>
        <p:nvPicPr>
          <p:cNvPr id="59" name="図 58">
            <a:extLst>
              <a:ext uri="{FF2B5EF4-FFF2-40B4-BE49-F238E27FC236}">
                <a16:creationId xmlns:a16="http://schemas.microsoft.com/office/drawing/2014/main" id="{EDED354B-362F-AAF7-76A6-52D8547EDC91}"/>
              </a:ext>
            </a:extLst>
          </p:cNvPr>
          <p:cNvPicPr>
            <a:picLocks noChangeAspect="1"/>
          </p:cNvPicPr>
          <p:nvPr/>
        </p:nvPicPr>
        <p:blipFill>
          <a:blip r:embed="rId5"/>
          <a:stretch>
            <a:fillRect/>
          </a:stretch>
        </p:blipFill>
        <p:spPr>
          <a:xfrm>
            <a:off x="7973708" y="4438236"/>
            <a:ext cx="271710" cy="60381"/>
          </a:xfrm>
          <a:prstGeom prst="rect">
            <a:avLst/>
          </a:prstGeom>
        </p:spPr>
      </p:pic>
      <p:sp>
        <p:nvSpPr>
          <p:cNvPr id="1030" name="楕円 1029">
            <a:extLst>
              <a:ext uri="{FF2B5EF4-FFF2-40B4-BE49-F238E27FC236}">
                <a16:creationId xmlns:a16="http://schemas.microsoft.com/office/drawing/2014/main" id="{A0934BB8-8F8D-D4F0-8D59-8F32A6A6E03A}"/>
              </a:ext>
            </a:extLst>
          </p:cNvPr>
          <p:cNvSpPr/>
          <p:nvPr/>
        </p:nvSpPr>
        <p:spPr>
          <a:xfrm>
            <a:off x="7855110" y="2591706"/>
            <a:ext cx="321750" cy="321750"/>
          </a:xfrm>
          <a:prstGeom prst="ellipse">
            <a:avLst/>
          </a:prstGeom>
          <a:solidFill>
            <a:schemeClr val="bg1">
              <a:lumMod val="95000"/>
            </a:schemeClr>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ja-JP" altLang="en-US" sz="700" dirty="0">
                <a:solidFill>
                  <a:schemeClr val="tx1"/>
                </a:solidFill>
                <a:latin typeface="メイリオ" panose="020B0604030504040204" pitchFamily="50" charset="-128"/>
                <a:ea typeface="メイリオ" panose="020B0604030504040204" pitchFamily="50" charset="-128"/>
                <a:cs typeface="メイリオ"/>
              </a:rPr>
              <a:t>ロゴ</a:t>
            </a:r>
          </a:p>
        </p:txBody>
      </p:sp>
      <p:sp>
        <p:nvSpPr>
          <p:cNvPr id="34" name="正方形/長方形 33">
            <a:extLst>
              <a:ext uri="{FF2B5EF4-FFF2-40B4-BE49-F238E27FC236}">
                <a16:creationId xmlns:a16="http://schemas.microsoft.com/office/drawing/2014/main" id="{A593FC72-954C-48DC-E845-1A5FCE4C9E00}"/>
              </a:ext>
            </a:extLst>
          </p:cNvPr>
          <p:cNvSpPr/>
          <p:nvPr/>
        </p:nvSpPr>
        <p:spPr>
          <a:xfrm>
            <a:off x="693249" y="1644209"/>
            <a:ext cx="1142154" cy="2841034"/>
          </a:xfrm>
          <a:prstGeom prst="rect">
            <a:avLst/>
          </a:prstGeom>
          <a:no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endParaRPr lang="ja-JP" altLang="en-US">
              <a:latin typeface="メイリオ"/>
              <a:ea typeface="メイリオ"/>
              <a:cs typeface="メイリオ"/>
            </a:endParaRPr>
          </a:p>
        </p:txBody>
      </p:sp>
      <p:sp>
        <p:nvSpPr>
          <p:cNvPr id="36" name="二等辺三角形 35">
            <a:extLst>
              <a:ext uri="{FF2B5EF4-FFF2-40B4-BE49-F238E27FC236}">
                <a16:creationId xmlns:a16="http://schemas.microsoft.com/office/drawing/2014/main" id="{626832A8-575E-5E2B-73F4-BE5567514E57}"/>
              </a:ext>
            </a:extLst>
          </p:cNvPr>
          <p:cNvSpPr/>
          <p:nvPr/>
        </p:nvSpPr>
        <p:spPr>
          <a:xfrm rot="5400000">
            <a:off x="1869100" y="2879016"/>
            <a:ext cx="205320" cy="182781"/>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endParaRPr lang="ja-JP" altLang="en-US">
              <a:latin typeface="メイリオ"/>
              <a:ea typeface="メイリオ"/>
              <a:cs typeface="メイリオ"/>
            </a:endParaRPr>
          </a:p>
        </p:txBody>
      </p:sp>
      <p:sp>
        <p:nvSpPr>
          <p:cNvPr id="38" name="正方形/長方形 37">
            <a:extLst>
              <a:ext uri="{FF2B5EF4-FFF2-40B4-BE49-F238E27FC236}">
                <a16:creationId xmlns:a16="http://schemas.microsoft.com/office/drawing/2014/main" id="{28671F13-F479-AFF6-9832-C7C00D2D05EE}"/>
              </a:ext>
            </a:extLst>
          </p:cNvPr>
          <p:cNvSpPr/>
          <p:nvPr/>
        </p:nvSpPr>
        <p:spPr>
          <a:xfrm>
            <a:off x="693249" y="4241092"/>
            <a:ext cx="1142154" cy="244151"/>
          </a:xfrm>
          <a:prstGeom prst="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ja-JP" altLang="en-US" sz="850" b="1" dirty="0">
                <a:solidFill>
                  <a:schemeClr val="tx1"/>
                </a:solidFill>
                <a:latin typeface="メイリオ" panose="020B0604030504040204" pitchFamily="50" charset="-128"/>
                <a:ea typeface="メイリオ" panose="020B0604030504040204" pitchFamily="50" charset="-128"/>
                <a:cs typeface="メイリオ"/>
              </a:rPr>
              <a:t>フォーム入力</a:t>
            </a:r>
          </a:p>
        </p:txBody>
      </p:sp>
      <p:pic>
        <p:nvPicPr>
          <p:cNvPr id="55" name="図 54">
            <a:extLst>
              <a:ext uri="{FF2B5EF4-FFF2-40B4-BE49-F238E27FC236}">
                <a16:creationId xmlns:a16="http://schemas.microsoft.com/office/drawing/2014/main" id="{8AF12F67-4C9A-867F-4608-8FE9DA811630}"/>
              </a:ext>
            </a:extLst>
          </p:cNvPr>
          <p:cNvPicPr>
            <a:picLocks noChangeAspect="1"/>
          </p:cNvPicPr>
          <p:nvPr/>
        </p:nvPicPr>
        <p:blipFill>
          <a:blip r:embed="rId6"/>
          <a:stretch>
            <a:fillRect/>
          </a:stretch>
        </p:blipFill>
        <p:spPr>
          <a:xfrm>
            <a:off x="760471" y="2042343"/>
            <a:ext cx="1015294" cy="1834505"/>
          </a:xfrm>
          <a:prstGeom prst="rect">
            <a:avLst/>
          </a:prstGeom>
        </p:spPr>
      </p:pic>
      <p:sp>
        <p:nvSpPr>
          <p:cNvPr id="1032" name="正方形/長方形 1031">
            <a:extLst>
              <a:ext uri="{FF2B5EF4-FFF2-40B4-BE49-F238E27FC236}">
                <a16:creationId xmlns:a16="http://schemas.microsoft.com/office/drawing/2014/main" id="{D1D96D42-255C-636E-49E5-2CDA95DD6764}"/>
              </a:ext>
            </a:extLst>
          </p:cNvPr>
          <p:cNvSpPr/>
          <p:nvPr/>
        </p:nvSpPr>
        <p:spPr>
          <a:xfrm>
            <a:off x="2102458" y="1617265"/>
            <a:ext cx="1225682" cy="2841034"/>
          </a:xfrm>
          <a:prstGeom prst="rect">
            <a:avLst/>
          </a:prstGeom>
          <a:solidFill>
            <a:schemeClr val="bg1"/>
          </a:solid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endParaRPr lang="ja-JP" altLang="en-US">
              <a:latin typeface="メイリオ"/>
              <a:ea typeface="メイリオ"/>
              <a:cs typeface="メイリオ"/>
            </a:endParaRPr>
          </a:p>
        </p:txBody>
      </p:sp>
      <p:sp>
        <p:nvSpPr>
          <p:cNvPr id="1034" name="正方形/長方形 1033">
            <a:extLst>
              <a:ext uri="{FF2B5EF4-FFF2-40B4-BE49-F238E27FC236}">
                <a16:creationId xmlns:a16="http://schemas.microsoft.com/office/drawing/2014/main" id="{8693E451-BCB1-207B-6B73-131F2A8588BF}"/>
              </a:ext>
            </a:extLst>
          </p:cNvPr>
          <p:cNvSpPr/>
          <p:nvPr/>
        </p:nvSpPr>
        <p:spPr>
          <a:xfrm>
            <a:off x="2100228" y="4219785"/>
            <a:ext cx="1225683" cy="244151"/>
          </a:xfrm>
          <a:prstGeom prst="rect">
            <a:avLst/>
          </a:pr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ja-JP" altLang="en-US" sz="850" b="1" dirty="0">
                <a:latin typeface="メイリオ" panose="020B0604030504040204" pitchFamily="50" charset="-128"/>
                <a:ea typeface="メイリオ" panose="020B0604030504040204" pitchFamily="50" charset="-128"/>
                <a:cs typeface="メイリオ"/>
              </a:rPr>
              <a:t>サンクス画面へ</a:t>
            </a:r>
            <a:endParaRPr lang="en-US" altLang="ja-JP" sz="850" b="1" dirty="0">
              <a:latin typeface="メイリオ" panose="020B0604030504040204" pitchFamily="50" charset="-128"/>
              <a:ea typeface="メイリオ" panose="020B0604030504040204" pitchFamily="50" charset="-128"/>
              <a:cs typeface="メイリオ"/>
            </a:endParaRPr>
          </a:p>
        </p:txBody>
      </p:sp>
      <p:pic>
        <p:nvPicPr>
          <p:cNvPr id="1038" name="図 1037" descr="テキスト, 手紙&#10;&#10;AI 生成コンテンツは誤りを含む可能性があります。">
            <a:extLst>
              <a:ext uri="{FF2B5EF4-FFF2-40B4-BE49-F238E27FC236}">
                <a16:creationId xmlns:a16="http://schemas.microsoft.com/office/drawing/2014/main" id="{85260668-6C66-A032-FFE0-0276021F9433}"/>
              </a:ext>
            </a:extLst>
          </p:cNvPr>
          <p:cNvPicPr>
            <a:picLocks noChangeAspect="1"/>
          </p:cNvPicPr>
          <p:nvPr/>
        </p:nvPicPr>
        <p:blipFill>
          <a:blip r:embed="rId7" cstate="print">
            <a:extLst>
              <a:ext uri="{28A0092B-C50C-407E-A947-70E740481C1C}">
                <a14:useLocalDpi xmlns:a14="http://schemas.microsoft.com/office/drawing/2010/main" val="0"/>
              </a:ext>
            </a:extLst>
          </a:blip>
          <a:srcRect t="4580"/>
          <a:stretch>
            <a:fillRect/>
          </a:stretch>
        </p:blipFill>
        <p:spPr>
          <a:xfrm>
            <a:off x="2195552" y="2083381"/>
            <a:ext cx="1066362" cy="1789421"/>
          </a:xfrm>
          <a:prstGeom prst="rect">
            <a:avLst/>
          </a:prstGeom>
        </p:spPr>
      </p:pic>
      <p:pic>
        <p:nvPicPr>
          <p:cNvPr id="1039" name="Picture 2" descr="買い物完了！イラスト｜無料イラスト・フリー素材なら「イラストAC」">
            <a:extLst>
              <a:ext uri="{FF2B5EF4-FFF2-40B4-BE49-F238E27FC236}">
                <a16:creationId xmlns:a16="http://schemas.microsoft.com/office/drawing/2014/main" id="{23D05307-D6FE-6284-27D3-3433EE0122E2}"/>
              </a:ext>
            </a:extLst>
          </p:cNvPr>
          <p:cNvPicPr>
            <a:picLocks noChangeAspect="1" noChangeArrowheads="1"/>
          </p:cNvPicPr>
          <p:nvPr/>
        </p:nvPicPr>
        <p:blipFill rotWithShape="1">
          <a:blip r:embed="rId8" cstate="print">
            <a:extLst>
              <a:ext uri="{28A0092B-C50C-407E-A947-70E740481C1C}">
                <a14:useLocalDpi xmlns:a14="http://schemas.microsoft.com/office/drawing/2010/main" val="0"/>
              </a:ext>
            </a:extLst>
          </a:blip>
          <a:srcRect l="20270" r="23682"/>
          <a:stretch>
            <a:fillRect/>
          </a:stretch>
        </p:blipFill>
        <p:spPr bwMode="auto">
          <a:xfrm>
            <a:off x="3292898" y="1459246"/>
            <a:ext cx="250223" cy="335086"/>
          </a:xfrm>
          <a:prstGeom prst="rect">
            <a:avLst/>
          </a:prstGeom>
          <a:noFill/>
          <a:extLst>
            <a:ext uri="{909E8E84-426E-40DD-AFC4-6F175D3DCCD1}">
              <a14:hiddenFill xmlns:a14="http://schemas.microsoft.com/office/drawing/2010/main">
                <a:solidFill>
                  <a:srgbClr val="FFFFFF"/>
                </a:solidFill>
              </a14:hiddenFill>
            </a:ext>
          </a:extLst>
        </p:spPr>
      </p:pic>
      <p:grpSp>
        <p:nvGrpSpPr>
          <p:cNvPr id="3" name="グループ化 2">
            <a:extLst>
              <a:ext uri="{FF2B5EF4-FFF2-40B4-BE49-F238E27FC236}">
                <a16:creationId xmlns:a16="http://schemas.microsoft.com/office/drawing/2014/main" id="{E76D8F54-2926-2D56-7238-F66ACCBC4F20}"/>
              </a:ext>
            </a:extLst>
          </p:cNvPr>
          <p:cNvGrpSpPr/>
          <p:nvPr/>
        </p:nvGrpSpPr>
        <p:grpSpPr>
          <a:xfrm>
            <a:off x="1261302" y="837894"/>
            <a:ext cx="2523077" cy="485102"/>
            <a:chOff x="507969" y="928495"/>
            <a:chExt cx="3105325" cy="485102"/>
          </a:xfrm>
        </p:grpSpPr>
        <p:sp>
          <p:nvSpPr>
            <p:cNvPr id="4" name="Google Shape;51;p19">
              <a:extLst>
                <a:ext uri="{FF2B5EF4-FFF2-40B4-BE49-F238E27FC236}">
                  <a16:creationId xmlns:a16="http://schemas.microsoft.com/office/drawing/2014/main" id="{98F6BB16-EFC6-9846-2A11-E624E876E64B}"/>
                </a:ext>
              </a:extLst>
            </p:cNvPr>
            <p:cNvSpPr/>
            <p:nvPr/>
          </p:nvSpPr>
          <p:spPr>
            <a:xfrm>
              <a:off x="507969" y="928495"/>
              <a:ext cx="3105325" cy="485102"/>
            </a:xfrm>
            <a:prstGeom prst="roundRect">
              <a:avLst>
                <a:gd name="adj" fmla="val 16667"/>
              </a:avLst>
            </a:prstGeom>
            <a:solidFill>
              <a:schemeClr val="dk1"/>
            </a:solidFill>
            <a:ln>
              <a:noFill/>
            </a:ln>
          </p:spPr>
          <p:txBody>
            <a:bodyPr spcFirstLastPara="1" wrap="square" lIns="74282" tIns="45700" rIns="74282"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9pPr>
            </a:lstStyle>
            <a:p>
              <a:pPr algn="ctr">
                <a:buSzPts val="1400"/>
              </a:pPr>
              <a:endParaRPr b="1" dirty="0">
                <a:solidFill>
                  <a:schemeClr val="lt1"/>
                </a:solidFill>
                <a:sym typeface="Meiryo"/>
              </a:endParaRPr>
            </a:p>
          </p:txBody>
        </p:sp>
        <p:sp>
          <p:nvSpPr>
            <p:cNvPr id="5" name="テキスト ボックス 4">
              <a:extLst>
                <a:ext uri="{FF2B5EF4-FFF2-40B4-BE49-F238E27FC236}">
                  <a16:creationId xmlns:a16="http://schemas.microsoft.com/office/drawing/2014/main" id="{560EDF30-5F09-B70A-2993-8CD4F9E40EFA}"/>
                </a:ext>
              </a:extLst>
            </p:cNvPr>
            <p:cNvSpPr txBox="1"/>
            <p:nvPr/>
          </p:nvSpPr>
          <p:spPr>
            <a:xfrm>
              <a:off x="1140096" y="988192"/>
              <a:ext cx="1832553" cy="357790"/>
            </a:xfrm>
            <a:prstGeom prst="rect">
              <a:avLst/>
            </a:prstGeom>
            <a:noFill/>
          </p:spPr>
          <p:txBody>
            <a:bodyPr wrap="none" lIns="74295" rIns="74295"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9pPr>
            </a:lstStyle>
            <a:p>
              <a:pPr>
                <a:lnSpc>
                  <a:spcPct val="120000"/>
                </a:lnSpc>
              </a:pPr>
              <a:r>
                <a:rPr lang="ja-JP" altLang="en-US" sz="1200" b="1" dirty="0">
                  <a:solidFill>
                    <a:schemeClr val="bg1"/>
                  </a:solidFill>
                  <a:latin typeface="メイリオ" panose="020B0604030504040204" pitchFamily="34" charset="-128"/>
                  <a:ea typeface="メイリオ" panose="020B0604030504040204" pitchFamily="34" charset="-128"/>
                </a:rPr>
                <a:t>サンクス</a:t>
              </a:r>
              <a:r>
                <a:rPr lang="en-US" altLang="ja-JP" sz="1200" b="1" dirty="0">
                  <a:solidFill>
                    <a:schemeClr val="bg1"/>
                  </a:solidFill>
                  <a:latin typeface="メイリオ" panose="020B0604030504040204" pitchFamily="34" charset="-128"/>
                  <a:ea typeface="メイリオ" panose="020B0604030504040204" pitchFamily="34" charset="-128"/>
                </a:rPr>
                <a:t>LINE</a:t>
              </a:r>
              <a:r>
                <a:rPr lang="ja-JP" altLang="en-US" sz="1200" b="1" dirty="0">
                  <a:solidFill>
                    <a:schemeClr val="bg1"/>
                  </a:solidFill>
                  <a:latin typeface="メイリオ" panose="020B0604030504040204" pitchFamily="34" charset="-128"/>
                  <a:ea typeface="メイリオ" panose="020B0604030504040204" pitchFamily="34" charset="-128"/>
                </a:rPr>
                <a:t>誘導</a:t>
              </a:r>
            </a:p>
          </p:txBody>
        </p:sp>
      </p:grpSp>
      <p:sp>
        <p:nvSpPr>
          <p:cNvPr id="6" name="正方形/長方形 5">
            <a:extLst>
              <a:ext uri="{FF2B5EF4-FFF2-40B4-BE49-F238E27FC236}">
                <a16:creationId xmlns:a16="http://schemas.microsoft.com/office/drawing/2014/main" id="{8B20BFF3-9D3E-A4D7-FF5A-70927F78FC9D}"/>
              </a:ext>
            </a:extLst>
          </p:cNvPr>
          <p:cNvSpPr/>
          <p:nvPr/>
        </p:nvSpPr>
        <p:spPr>
          <a:xfrm>
            <a:off x="7729169" y="4623314"/>
            <a:ext cx="730843" cy="649672"/>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endParaRPr lang="ja-JP" altLang="en-US">
              <a:latin typeface="メイリオ"/>
              <a:ea typeface="メイリオ"/>
              <a:cs typeface="メイリオ"/>
            </a:endParaRPr>
          </a:p>
        </p:txBody>
      </p:sp>
      <p:sp>
        <p:nvSpPr>
          <p:cNvPr id="9" name="正方形/長方形 8">
            <a:extLst>
              <a:ext uri="{FF2B5EF4-FFF2-40B4-BE49-F238E27FC236}">
                <a16:creationId xmlns:a16="http://schemas.microsoft.com/office/drawing/2014/main" id="{DC4FF56C-47EE-47DB-92F1-3F0EF57613D9}"/>
              </a:ext>
            </a:extLst>
          </p:cNvPr>
          <p:cNvSpPr/>
          <p:nvPr/>
        </p:nvSpPr>
        <p:spPr>
          <a:xfrm>
            <a:off x="4180596" y="846996"/>
            <a:ext cx="4575836" cy="307777"/>
          </a:xfrm>
          <a:prstGeom prst="rect">
            <a:avLst/>
          </a:prstGeom>
        </p:spPr>
        <p:txBody>
          <a:bodyPr wrap="square" lIns="74295" rIns="74295">
            <a:spAutoFit/>
          </a:bodyPr>
          <a:lstStyle/>
          <a:p>
            <a:pPr lvl="0">
              <a:buClr>
                <a:schemeClr val="dk1"/>
              </a:buClr>
              <a:buSzPts val="1500"/>
            </a:pPr>
            <a:r>
              <a:rPr lang="ja-JP" altLang="en-US" sz="1400" dirty="0">
                <a:latin typeface="メイリオ"/>
                <a:ea typeface="メイリオ"/>
                <a:cs typeface="メイリオ"/>
                <a:sym typeface="Meiryo"/>
              </a:rPr>
              <a:t>フォーム送信後の</a:t>
            </a:r>
            <a:r>
              <a:rPr lang="en-US" altLang="ja-JP" sz="1400" dirty="0">
                <a:latin typeface="メイリオ"/>
                <a:ea typeface="メイリオ"/>
                <a:cs typeface="メイリオ"/>
                <a:sym typeface="Meiryo"/>
              </a:rPr>
              <a:t>LINE</a:t>
            </a:r>
            <a:r>
              <a:rPr lang="ja-JP" altLang="en-US" sz="1400" dirty="0">
                <a:latin typeface="メイリオ"/>
                <a:ea typeface="メイリオ"/>
                <a:cs typeface="メイリオ"/>
                <a:sym typeface="Meiryo"/>
              </a:rPr>
              <a:t>誘導を自動化するツール</a:t>
            </a:r>
            <a:endParaRPr lang="en-US" altLang="ja-JP" sz="1400" dirty="0">
              <a:latin typeface="メイリオ"/>
              <a:ea typeface="メイリオ"/>
              <a:cs typeface="メイリオ"/>
              <a:sym typeface="Meiryo"/>
            </a:endParaRPr>
          </a:p>
        </p:txBody>
      </p:sp>
      <p:sp>
        <p:nvSpPr>
          <p:cNvPr id="8" name="正方形/長方形 7">
            <a:extLst>
              <a:ext uri="{FF2B5EF4-FFF2-40B4-BE49-F238E27FC236}">
                <a16:creationId xmlns:a16="http://schemas.microsoft.com/office/drawing/2014/main" id="{F5B8C83A-7191-D772-EF88-AE268D007E63}"/>
              </a:ext>
            </a:extLst>
          </p:cNvPr>
          <p:cNvSpPr/>
          <p:nvPr/>
        </p:nvSpPr>
        <p:spPr>
          <a:xfrm>
            <a:off x="6097538" y="1666571"/>
            <a:ext cx="2513872" cy="284744"/>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ja-JP" altLang="en-US" sz="1100" b="1" dirty="0">
                <a:solidFill>
                  <a:schemeClr val="bg1"/>
                </a:solidFill>
                <a:latin typeface="メイリオ" panose="020B0604030504040204" pitchFamily="50" charset="-128"/>
                <a:ea typeface="メイリオ" panose="020B0604030504040204" pitchFamily="50" charset="-128"/>
                <a:cs typeface="メイリオ"/>
              </a:rPr>
              <a:t>動作イメージ</a:t>
            </a:r>
          </a:p>
        </p:txBody>
      </p:sp>
      <p:sp>
        <p:nvSpPr>
          <p:cNvPr id="11" name="正方形/長方形 10">
            <a:extLst>
              <a:ext uri="{FF2B5EF4-FFF2-40B4-BE49-F238E27FC236}">
                <a16:creationId xmlns:a16="http://schemas.microsoft.com/office/drawing/2014/main" id="{189A6A4C-E34E-E7CF-D6DD-C175E600A94D}"/>
              </a:ext>
            </a:extLst>
          </p:cNvPr>
          <p:cNvSpPr/>
          <p:nvPr/>
        </p:nvSpPr>
        <p:spPr>
          <a:xfrm>
            <a:off x="1209560" y="1525688"/>
            <a:ext cx="1510467" cy="244151"/>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en-US" altLang="ja-JP" sz="95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WEB</a:t>
            </a:r>
            <a:r>
              <a:rPr lang="ja-JP" altLang="en-US" sz="95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サイト</a:t>
            </a:r>
          </a:p>
        </p:txBody>
      </p:sp>
      <p:pic>
        <p:nvPicPr>
          <p:cNvPr id="18" name="図 17">
            <a:extLst>
              <a:ext uri="{FF2B5EF4-FFF2-40B4-BE49-F238E27FC236}">
                <a16:creationId xmlns:a16="http://schemas.microsoft.com/office/drawing/2014/main" id="{122BEACA-AA0E-EFF8-CDF2-B0A5B58840D0}"/>
              </a:ext>
            </a:extLst>
          </p:cNvPr>
          <p:cNvPicPr>
            <a:picLocks noChangeAspect="1"/>
          </p:cNvPicPr>
          <p:nvPr/>
        </p:nvPicPr>
        <p:blipFill>
          <a:blip r:embed="rId9"/>
          <a:stretch>
            <a:fillRect/>
          </a:stretch>
        </p:blipFill>
        <p:spPr>
          <a:xfrm>
            <a:off x="2412518" y="3590272"/>
            <a:ext cx="379108" cy="69986"/>
          </a:xfrm>
          <a:prstGeom prst="rect">
            <a:avLst/>
          </a:prstGeom>
        </p:spPr>
      </p:pic>
      <p:pic>
        <p:nvPicPr>
          <p:cNvPr id="27" name="図 26">
            <a:extLst>
              <a:ext uri="{FF2B5EF4-FFF2-40B4-BE49-F238E27FC236}">
                <a16:creationId xmlns:a16="http://schemas.microsoft.com/office/drawing/2014/main" id="{D971BE53-7CD8-C375-2A00-B224602AC25F}"/>
              </a:ext>
            </a:extLst>
          </p:cNvPr>
          <p:cNvPicPr>
            <a:picLocks noChangeAspect="1"/>
          </p:cNvPicPr>
          <p:nvPr/>
        </p:nvPicPr>
        <p:blipFill>
          <a:blip r:embed="rId9"/>
          <a:stretch>
            <a:fillRect/>
          </a:stretch>
        </p:blipFill>
        <p:spPr>
          <a:xfrm>
            <a:off x="2234699" y="2111288"/>
            <a:ext cx="379108" cy="69986"/>
          </a:xfrm>
          <a:prstGeom prst="rect">
            <a:avLst/>
          </a:prstGeom>
        </p:spPr>
      </p:pic>
      <p:sp>
        <p:nvSpPr>
          <p:cNvPr id="33" name="四角形: 角を丸くする 32">
            <a:extLst>
              <a:ext uri="{FF2B5EF4-FFF2-40B4-BE49-F238E27FC236}">
                <a16:creationId xmlns:a16="http://schemas.microsoft.com/office/drawing/2014/main" id="{B7D71D80-6086-B1B4-3E2C-EE891B12909E}"/>
              </a:ext>
            </a:extLst>
          </p:cNvPr>
          <p:cNvSpPr/>
          <p:nvPr/>
        </p:nvSpPr>
        <p:spPr>
          <a:xfrm>
            <a:off x="1511868" y="4640731"/>
            <a:ext cx="3960179" cy="659955"/>
          </a:xfrm>
          <a:prstGeom prst="roundRect">
            <a:avLst>
              <a:gd name="adj" fmla="val 25327"/>
            </a:avLst>
          </a:prstGeom>
          <a:solidFill>
            <a:srgbClr val="04FA0A">
              <a:alpha val="4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ja-JP" altLang="en-US" sz="1300" dirty="0">
                <a:solidFill>
                  <a:schemeClr val="tx1"/>
                </a:solidFill>
                <a:latin typeface="メイリオ" panose="020B0604030504040204" pitchFamily="50" charset="-128"/>
                <a:ea typeface="メイリオ" panose="020B0604030504040204" pitchFamily="50" charset="-128"/>
              </a:rPr>
              <a:t>フォーム入力内容を</a:t>
            </a:r>
            <a:br>
              <a:rPr lang="en-US" altLang="ja-JP" sz="1300" dirty="0">
                <a:solidFill>
                  <a:schemeClr val="tx1"/>
                </a:solidFill>
                <a:latin typeface="メイリオ" panose="020B0604030504040204" pitchFamily="50" charset="-128"/>
                <a:ea typeface="メイリオ" panose="020B0604030504040204" pitchFamily="50" charset="-128"/>
              </a:rPr>
            </a:br>
            <a:r>
              <a:rPr lang="en-US" altLang="ja-JP" sz="1300" dirty="0">
                <a:solidFill>
                  <a:schemeClr val="tx1"/>
                </a:solidFill>
                <a:latin typeface="メイリオ" panose="020B0604030504040204" pitchFamily="50" charset="-128"/>
                <a:ea typeface="メイリオ" panose="020B0604030504040204" pitchFamily="50" charset="-128"/>
              </a:rPr>
              <a:t>LINE</a:t>
            </a:r>
            <a:r>
              <a:rPr lang="ja-JP" altLang="en-US" sz="1300" dirty="0">
                <a:solidFill>
                  <a:schemeClr val="tx1"/>
                </a:solidFill>
                <a:latin typeface="メイリオ" panose="020B0604030504040204" pitchFamily="50" charset="-128"/>
                <a:ea typeface="メイリオ" panose="020B0604030504040204" pitchFamily="50" charset="-128"/>
              </a:rPr>
              <a:t>トーク入力画面へ引き継ぎ可能</a:t>
            </a:r>
          </a:p>
        </p:txBody>
      </p:sp>
      <p:cxnSp>
        <p:nvCxnSpPr>
          <p:cNvPr id="44" name="直線矢印コネクタ 43">
            <a:extLst>
              <a:ext uri="{FF2B5EF4-FFF2-40B4-BE49-F238E27FC236}">
                <a16:creationId xmlns:a16="http://schemas.microsoft.com/office/drawing/2014/main" id="{666CF79B-D322-06BC-F342-DE710BE7473B}"/>
              </a:ext>
            </a:extLst>
          </p:cNvPr>
          <p:cNvCxnSpPr>
            <a:cxnSpLocks/>
          </p:cNvCxnSpPr>
          <p:nvPr/>
        </p:nvCxnSpPr>
        <p:spPr>
          <a:xfrm flipH="1" flipV="1">
            <a:off x="1145256" y="4485242"/>
            <a:ext cx="515326" cy="485466"/>
          </a:xfrm>
          <a:prstGeom prst="straightConnector1">
            <a:avLst/>
          </a:prstGeom>
          <a:ln w="19050">
            <a:solidFill>
              <a:srgbClr val="00B050">
                <a:alpha val="80000"/>
              </a:srgb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29" name="正方形/長方形 28">
            <a:extLst>
              <a:ext uri="{FF2B5EF4-FFF2-40B4-BE49-F238E27FC236}">
                <a16:creationId xmlns:a16="http://schemas.microsoft.com/office/drawing/2014/main" id="{1D29A9C3-A3E8-0780-A758-0C8E7E376668}"/>
              </a:ext>
            </a:extLst>
          </p:cNvPr>
          <p:cNvSpPr/>
          <p:nvPr/>
        </p:nvSpPr>
        <p:spPr>
          <a:xfrm>
            <a:off x="5284944" y="2415812"/>
            <a:ext cx="530810" cy="1821208"/>
          </a:xfrm>
          <a:prstGeom prst="rect">
            <a:avLst/>
          </a:prstGeom>
          <a:solidFill>
            <a:srgbClr val="04FA0A">
              <a:alpha val="4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en-US" altLang="ja-JP" sz="950" b="1" dirty="0">
                <a:solidFill>
                  <a:schemeClr val="tx1"/>
                </a:solidFill>
                <a:latin typeface="メイリオ" panose="020B0604030504040204" pitchFamily="50" charset="-128"/>
                <a:ea typeface="メイリオ" panose="020B0604030504040204" pitchFamily="50" charset="-128"/>
                <a:cs typeface="メイリオ"/>
              </a:rPr>
              <a:t>DYM</a:t>
            </a:r>
          </a:p>
          <a:p>
            <a:pPr algn="ctr"/>
            <a:r>
              <a:rPr lang="ja-JP" altLang="en-US" sz="950" b="1" dirty="0">
                <a:solidFill>
                  <a:schemeClr val="tx1"/>
                </a:solidFill>
                <a:latin typeface="メイリオ" panose="020B0604030504040204" pitchFamily="50" charset="-128"/>
                <a:ea typeface="メイリオ" panose="020B0604030504040204" pitchFamily="50" charset="-128"/>
                <a:cs typeface="メイリオ"/>
              </a:rPr>
              <a:t>開発</a:t>
            </a:r>
            <a:endParaRPr lang="en-US" altLang="ja-JP" sz="950" b="1" dirty="0">
              <a:solidFill>
                <a:schemeClr val="tx1"/>
              </a:solidFill>
              <a:latin typeface="メイリオ" panose="020B0604030504040204" pitchFamily="50" charset="-128"/>
              <a:ea typeface="メイリオ" panose="020B0604030504040204" pitchFamily="50" charset="-128"/>
              <a:cs typeface="メイリオ"/>
            </a:endParaRPr>
          </a:p>
          <a:p>
            <a:pPr algn="ctr"/>
            <a:r>
              <a:rPr lang="ja-JP" altLang="en-US" sz="950" b="1" dirty="0">
                <a:solidFill>
                  <a:schemeClr val="tx1"/>
                </a:solidFill>
                <a:latin typeface="メイリオ" panose="020B0604030504040204" pitchFamily="50" charset="-128"/>
                <a:ea typeface="メイリオ" panose="020B0604030504040204" pitchFamily="50" charset="-128"/>
                <a:cs typeface="メイリオ"/>
              </a:rPr>
              <a:t>ツール</a:t>
            </a:r>
            <a:endParaRPr lang="en-US" altLang="ja-JP" sz="950" b="1" dirty="0">
              <a:solidFill>
                <a:schemeClr val="tx1"/>
              </a:solidFill>
              <a:latin typeface="メイリオ" panose="020B0604030504040204" pitchFamily="50" charset="-128"/>
              <a:ea typeface="メイリオ" panose="020B0604030504040204" pitchFamily="50" charset="-128"/>
              <a:cs typeface="メイリオ"/>
            </a:endParaRPr>
          </a:p>
        </p:txBody>
      </p:sp>
      <p:sp>
        <p:nvSpPr>
          <p:cNvPr id="1048" name="矢印: 右 1047">
            <a:extLst>
              <a:ext uri="{FF2B5EF4-FFF2-40B4-BE49-F238E27FC236}">
                <a16:creationId xmlns:a16="http://schemas.microsoft.com/office/drawing/2014/main" id="{6A5BBE8E-2B42-49E0-686B-A6584B59E72F}"/>
              </a:ext>
            </a:extLst>
          </p:cNvPr>
          <p:cNvSpPr/>
          <p:nvPr/>
        </p:nvSpPr>
        <p:spPr>
          <a:xfrm>
            <a:off x="3398999" y="3203047"/>
            <a:ext cx="1843892" cy="392774"/>
          </a:xfrm>
          <a:prstGeom prst="rightArrow">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endParaRPr lang="ja-JP" altLang="en-US"/>
          </a:p>
        </p:txBody>
      </p:sp>
      <p:sp>
        <p:nvSpPr>
          <p:cNvPr id="1050" name="吹き出し: 角を丸めた四角形 1049">
            <a:extLst>
              <a:ext uri="{FF2B5EF4-FFF2-40B4-BE49-F238E27FC236}">
                <a16:creationId xmlns:a16="http://schemas.microsoft.com/office/drawing/2014/main" id="{0D7606B7-7AEE-445F-FB97-74913C4A4F60}"/>
              </a:ext>
            </a:extLst>
          </p:cNvPr>
          <p:cNvSpPr/>
          <p:nvPr/>
        </p:nvSpPr>
        <p:spPr>
          <a:xfrm>
            <a:off x="3492025" y="2641849"/>
            <a:ext cx="1624523" cy="476757"/>
          </a:xfrm>
          <a:prstGeom prst="wedgeRoundRectCallout">
            <a:avLst/>
          </a:prstGeom>
          <a:solidFill>
            <a:srgbClr val="FDFDFD"/>
          </a:solidFill>
          <a:ln w="19050">
            <a:solidFill>
              <a:schemeClr val="tx2">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r>
              <a:rPr lang="en-US" altLang="ja-JP" sz="1100" dirty="0">
                <a:solidFill>
                  <a:schemeClr val="tx1"/>
                </a:solidFill>
                <a:latin typeface="メイリオ" panose="020B0604030504040204" pitchFamily="50" charset="-128"/>
                <a:ea typeface="メイリオ" panose="020B0604030504040204" pitchFamily="50" charset="-128"/>
              </a:rPr>
              <a:t>CV</a:t>
            </a:r>
            <a:r>
              <a:rPr lang="ja-JP" altLang="en-US" sz="1100" dirty="0">
                <a:solidFill>
                  <a:schemeClr val="tx1"/>
                </a:solidFill>
                <a:latin typeface="メイリオ" panose="020B0604030504040204" pitchFamily="50" charset="-128"/>
                <a:ea typeface="メイリオ" panose="020B0604030504040204" pitchFamily="50" charset="-128"/>
              </a:rPr>
              <a:t>完了後約</a:t>
            </a:r>
            <a:r>
              <a:rPr lang="en-US" altLang="ja-JP" sz="1100" dirty="0">
                <a:solidFill>
                  <a:schemeClr val="tx1"/>
                </a:solidFill>
                <a:latin typeface="メイリオ" panose="020B0604030504040204" pitchFamily="50" charset="-128"/>
                <a:ea typeface="メイリオ" panose="020B0604030504040204" pitchFamily="50" charset="-128"/>
              </a:rPr>
              <a:t>2~3</a:t>
            </a:r>
            <a:r>
              <a:rPr lang="ja-JP" altLang="en-US" sz="1100" dirty="0">
                <a:solidFill>
                  <a:schemeClr val="tx1"/>
                </a:solidFill>
                <a:latin typeface="メイリオ" panose="020B0604030504040204" pitchFamily="50" charset="-128"/>
                <a:ea typeface="メイリオ" panose="020B0604030504040204" pitchFamily="50" charset="-128"/>
              </a:rPr>
              <a:t>秒で</a:t>
            </a:r>
            <a:br>
              <a:rPr lang="en-US" altLang="ja-JP" sz="1100" dirty="0">
                <a:solidFill>
                  <a:schemeClr val="tx1"/>
                </a:solidFill>
                <a:latin typeface="メイリオ" panose="020B0604030504040204" pitchFamily="50" charset="-128"/>
                <a:ea typeface="メイリオ" panose="020B0604030504040204" pitchFamily="50" charset="-128"/>
              </a:rPr>
            </a:br>
            <a:r>
              <a:rPr lang="en-US" altLang="ja-JP" sz="1100" dirty="0">
                <a:solidFill>
                  <a:schemeClr val="tx1"/>
                </a:solidFill>
                <a:latin typeface="メイリオ" panose="020B0604030504040204" pitchFamily="50" charset="-128"/>
                <a:ea typeface="メイリオ" panose="020B0604030504040204" pitchFamily="50" charset="-128"/>
              </a:rPr>
              <a:t>LINE</a:t>
            </a:r>
            <a:r>
              <a:rPr lang="ja-JP" altLang="en-US" sz="1100" dirty="0">
                <a:solidFill>
                  <a:schemeClr val="tx1"/>
                </a:solidFill>
                <a:latin typeface="メイリオ" panose="020B0604030504040204" pitchFamily="50" charset="-128"/>
                <a:ea typeface="メイリオ" panose="020B0604030504040204" pitchFamily="50" charset="-128"/>
              </a:rPr>
              <a:t>へ自動遷移</a:t>
            </a:r>
            <a:endParaRPr lang="en-US" altLang="ja-JP" sz="1100" dirty="0">
              <a:solidFill>
                <a:schemeClr val="tx1"/>
              </a:solidFill>
              <a:latin typeface="メイリオ" panose="020B0604030504040204" pitchFamily="50" charset="-128"/>
              <a:ea typeface="メイリオ" panose="020B0604030504040204" pitchFamily="50" charset="-128"/>
            </a:endParaRPr>
          </a:p>
        </p:txBody>
      </p:sp>
      <p:cxnSp>
        <p:nvCxnSpPr>
          <p:cNvPr id="1052" name="直線矢印コネクタ 1051">
            <a:extLst>
              <a:ext uri="{FF2B5EF4-FFF2-40B4-BE49-F238E27FC236}">
                <a16:creationId xmlns:a16="http://schemas.microsoft.com/office/drawing/2014/main" id="{5B4E7079-E54A-2282-BDB8-487FFE5E8981}"/>
              </a:ext>
            </a:extLst>
          </p:cNvPr>
          <p:cNvCxnSpPr>
            <a:cxnSpLocks/>
          </p:cNvCxnSpPr>
          <p:nvPr/>
        </p:nvCxnSpPr>
        <p:spPr>
          <a:xfrm>
            <a:off x="5242891" y="4971540"/>
            <a:ext cx="2486278" cy="256434"/>
          </a:xfrm>
          <a:prstGeom prst="straightConnector1">
            <a:avLst/>
          </a:prstGeom>
          <a:ln w="19050">
            <a:solidFill>
              <a:srgbClr val="00B050">
                <a:alpha val="80000"/>
              </a:srgb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7" name="矢印: 右 6">
            <a:extLst>
              <a:ext uri="{FF2B5EF4-FFF2-40B4-BE49-F238E27FC236}">
                <a16:creationId xmlns:a16="http://schemas.microsoft.com/office/drawing/2014/main" id="{9EC51A72-DCD0-B1E9-7CCE-6674E65DC641}"/>
              </a:ext>
            </a:extLst>
          </p:cNvPr>
          <p:cNvSpPr/>
          <p:nvPr/>
        </p:nvSpPr>
        <p:spPr>
          <a:xfrm rot="5400000">
            <a:off x="6436767" y="3831408"/>
            <a:ext cx="349205" cy="392774"/>
          </a:xfrm>
          <a:prstGeom prst="rightArrow">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endParaRPr lang="ja-JP" altLang="en-US"/>
          </a:p>
        </p:txBody>
      </p:sp>
      <p:sp>
        <p:nvSpPr>
          <p:cNvPr id="41" name="四角形: 角を丸くする 40">
            <a:extLst>
              <a:ext uri="{FF2B5EF4-FFF2-40B4-BE49-F238E27FC236}">
                <a16:creationId xmlns:a16="http://schemas.microsoft.com/office/drawing/2014/main" id="{3DEB8AF5-27EB-F2A5-5738-9D4876D62932}"/>
              </a:ext>
            </a:extLst>
          </p:cNvPr>
          <p:cNvSpPr/>
          <p:nvPr/>
        </p:nvSpPr>
        <p:spPr>
          <a:xfrm>
            <a:off x="1331634" y="5386674"/>
            <a:ext cx="3965148" cy="1126724"/>
          </a:xfrm>
          <a:prstGeom prst="roundRect">
            <a:avLst>
              <a:gd name="adj" fmla="val 8129"/>
            </a:avLst>
          </a:prstGeom>
          <a:solidFill>
            <a:schemeClr val="bg1">
              <a:lumMod val="85000"/>
            </a:schemeClr>
          </a:solidFill>
          <a:ln w="12700">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43" name="図 42">
            <a:extLst>
              <a:ext uri="{FF2B5EF4-FFF2-40B4-BE49-F238E27FC236}">
                <a16:creationId xmlns:a16="http://schemas.microsoft.com/office/drawing/2014/main" id="{F4AEE4F6-B4F2-3B63-B340-970573C6BC9B}"/>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1407362" y="5422614"/>
            <a:ext cx="1068810" cy="1060107"/>
          </a:xfrm>
          <a:prstGeom prst="rect">
            <a:avLst/>
          </a:prstGeom>
        </p:spPr>
      </p:pic>
      <p:sp>
        <p:nvSpPr>
          <p:cNvPr id="50" name="テキスト ボックス 49">
            <a:extLst>
              <a:ext uri="{FF2B5EF4-FFF2-40B4-BE49-F238E27FC236}">
                <a16:creationId xmlns:a16="http://schemas.microsoft.com/office/drawing/2014/main" id="{9E529396-156F-55A0-24A1-E3F30C8D079F}"/>
              </a:ext>
            </a:extLst>
          </p:cNvPr>
          <p:cNvSpPr txBox="1"/>
          <p:nvPr/>
        </p:nvSpPr>
        <p:spPr>
          <a:xfrm>
            <a:off x="2607260" y="6011736"/>
            <a:ext cx="1740223" cy="430887"/>
          </a:xfrm>
          <a:prstGeom prst="rect">
            <a:avLst/>
          </a:prstGeom>
          <a:noFill/>
        </p:spPr>
        <p:txBody>
          <a:bodyPr wrap="square">
            <a:spAutoFit/>
          </a:bodyPr>
          <a:lstStyle/>
          <a:p>
            <a:r>
              <a:rPr lang="ja-JP" altLang="ja-JP" sz="1050" b="1" dirty="0">
                <a:latin typeface="メイリオ" panose="020B0604030504040204" pitchFamily="50" charset="-128"/>
                <a:ea typeface="メイリオ" panose="020B0604030504040204" pitchFamily="50" charset="-128"/>
              </a:rPr>
              <a:t>QRコードを読み取って</a:t>
            </a:r>
            <a:endParaRPr lang="en-US" altLang="ja-JP" sz="1050" b="1" dirty="0">
              <a:latin typeface="メイリオ" panose="020B0604030504040204" pitchFamily="50" charset="-128"/>
              <a:ea typeface="メイリオ" panose="020B0604030504040204" pitchFamily="50" charset="-128"/>
            </a:endParaRPr>
          </a:p>
          <a:p>
            <a:r>
              <a:rPr lang="ja-JP" altLang="ja-JP" sz="1050" b="1" dirty="0">
                <a:latin typeface="メイリオ" panose="020B0604030504040204" pitchFamily="50" charset="-128"/>
                <a:ea typeface="メイリオ" panose="020B0604030504040204" pitchFamily="50" charset="-128"/>
              </a:rPr>
              <a:t>動画を見る（約22秒）</a:t>
            </a:r>
            <a:endParaRPr lang="en-US" altLang="ja-JP" sz="1050" b="1" dirty="0">
              <a:latin typeface="メイリオ" panose="020B0604030504040204" pitchFamily="50" charset="-128"/>
              <a:ea typeface="メイリオ" panose="020B0604030504040204" pitchFamily="50" charset="-128"/>
            </a:endParaRPr>
          </a:p>
        </p:txBody>
      </p:sp>
      <p:sp>
        <p:nvSpPr>
          <p:cNvPr id="52" name="テキスト ボックス 51">
            <a:extLst>
              <a:ext uri="{FF2B5EF4-FFF2-40B4-BE49-F238E27FC236}">
                <a16:creationId xmlns:a16="http://schemas.microsoft.com/office/drawing/2014/main" id="{FA39FB9E-0354-C79E-71A4-67DB6A28B75A}"/>
              </a:ext>
            </a:extLst>
          </p:cNvPr>
          <p:cNvSpPr txBox="1"/>
          <p:nvPr/>
        </p:nvSpPr>
        <p:spPr>
          <a:xfrm>
            <a:off x="4032248" y="5546685"/>
            <a:ext cx="869321" cy="276999"/>
          </a:xfrm>
          <a:prstGeom prst="rect">
            <a:avLst/>
          </a:prstGeom>
          <a:solidFill>
            <a:schemeClr val="tx2"/>
          </a:solidFill>
        </p:spPr>
        <p:txBody>
          <a:bodyPr wrap="square">
            <a:spAutoFit/>
          </a:bodyPr>
          <a:lstStyle/>
          <a:p>
            <a:r>
              <a:rPr lang="ja-JP" altLang="en-US" sz="1200" dirty="0">
                <a:solidFill>
                  <a:schemeClr val="bg1"/>
                </a:solidFill>
                <a:latin typeface="メイリオ" panose="020B0604030504040204" pitchFamily="50" charset="-128"/>
                <a:ea typeface="メイリオ" panose="020B0604030504040204" pitchFamily="50" charset="-128"/>
                <a:hlinkClick r:id="rId11">
                  <a:extLst>
                    <a:ext uri="{A12FA001-AC4F-418D-AE19-62706E023703}">
                      <ahyp:hlinkClr xmlns:ahyp="http://schemas.microsoft.com/office/drawing/2018/hyperlinkcolor" val="tx"/>
                    </a:ext>
                  </a:extLst>
                </a:hlinkClick>
              </a:rPr>
              <a:t>再生</a:t>
            </a:r>
            <a:r>
              <a:rPr lang="ja-JP" altLang="en-US" sz="1200" dirty="0">
                <a:solidFill>
                  <a:srgbClr val="0000FF"/>
                </a:solidFill>
                <a:latin typeface="メイリオ" panose="020B0604030504040204" pitchFamily="50" charset="-128"/>
                <a:ea typeface="メイリオ" panose="020B0604030504040204" pitchFamily="50" charset="-128"/>
                <a:hlinkClick r:id="rId11">
                  <a:extLst>
                    <a:ext uri="{A12FA001-AC4F-418D-AE19-62706E023703}">
                      <ahyp:hlinkClr xmlns:ahyp="http://schemas.microsoft.com/office/drawing/2018/hyperlinkcolor" val="tx"/>
                    </a:ext>
                  </a:extLst>
                </a:hlinkClick>
              </a:rPr>
              <a:t> </a:t>
            </a:r>
            <a:r>
              <a:rPr lang="en-US" altLang="ja-JP" sz="1200" dirty="0">
                <a:solidFill>
                  <a:schemeClr val="bg1"/>
                </a:solidFill>
                <a:latin typeface="メイリオ" panose="020B0604030504040204" pitchFamily="50" charset="-128"/>
                <a:ea typeface="メイリオ" panose="020B0604030504040204" pitchFamily="50" charset="-128"/>
                <a:hlinkClick r:id="rId11">
                  <a:extLst>
                    <a:ext uri="{A12FA001-AC4F-418D-AE19-62706E023703}">
                      <ahyp:hlinkClr xmlns:ahyp="http://schemas.microsoft.com/office/drawing/2018/hyperlinkcolor" val="tx"/>
                    </a:ext>
                  </a:extLst>
                </a:hlinkClick>
              </a:rPr>
              <a:t>[▷]</a:t>
            </a:r>
            <a:endParaRPr lang="ja-JP" altLang="en-US" sz="1200" dirty="0">
              <a:solidFill>
                <a:schemeClr val="bg1"/>
              </a:solidFill>
              <a:latin typeface="メイリオ" panose="020B0604030504040204" pitchFamily="50" charset="-128"/>
              <a:ea typeface="メイリオ" panose="020B0604030504040204" pitchFamily="50" charset="-128"/>
            </a:endParaRPr>
          </a:p>
        </p:txBody>
      </p:sp>
      <p:sp>
        <p:nvSpPr>
          <p:cNvPr id="54" name="テキスト ボックス 53">
            <a:extLst>
              <a:ext uri="{FF2B5EF4-FFF2-40B4-BE49-F238E27FC236}">
                <a16:creationId xmlns:a16="http://schemas.microsoft.com/office/drawing/2014/main" id="{C2099EF7-D4DC-D52C-E0A5-F84C559A9E47}"/>
              </a:ext>
            </a:extLst>
          </p:cNvPr>
          <p:cNvSpPr txBox="1"/>
          <p:nvPr/>
        </p:nvSpPr>
        <p:spPr>
          <a:xfrm>
            <a:off x="2648894" y="5570417"/>
            <a:ext cx="1740223" cy="253916"/>
          </a:xfrm>
          <a:prstGeom prst="rect">
            <a:avLst/>
          </a:prstGeom>
          <a:noFill/>
        </p:spPr>
        <p:txBody>
          <a:bodyPr wrap="square">
            <a:spAutoFit/>
          </a:bodyPr>
          <a:lstStyle/>
          <a:p>
            <a:r>
              <a:rPr lang="ja-JP" altLang="en-US" sz="1050" b="1" dirty="0">
                <a:latin typeface="メイリオ" panose="020B0604030504040204" pitchFamily="50" charset="-128"/>
                <a:ea typeface="メイリオ" panose="020B0604030504040204" pitchFamily="50" charset="-128"/>
              </a:rPr>
              <a:t>クリックして再生</a:t>
            </a:r>
            <a:endParaRPr lang="en-US" altLang="ja-JP" sz="1050" b="1" dirty="0">
              <a:latin typeface="メイリオ" panose="020B0604030504040204" pitchFamily="50" charset="-128"/>
              <a:ea typeface="メイリオ" panose="020B0604030504040204" pitchFamily="50" charset="-128"/>
            </a:endParaRPr>
          </a:p>
        </p:txBody>
      </p:sp>
      <p:sp>
        <p:nvSpPr>
          <p:cNvPr id="1053" name="Rectangle 1052"/>
          <p:cNvSpPr/>
          <p:nvPr/>
        </p:nvSpPr>
        <p:spPr>
          <a:xfrm>
            <a:off x="4178808" y="1216152"/>
            <a:ext cx="1143000" cy="256032"/>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18000" tIns="0" rIns="18000" bIns="0" rtlCol="0" anchor="ctr"/>
          <a:lstStyle/>
          <a:p>
            <a:pPr algn="ctr">
              <a:lnSpc>
                <a:spcPct val="110000"/>
              </a:lnSpc>
              <a:spcAft>
                <a:spcPts val="0"/>
              </a:spcAft>
            </a:pPr>
            <a:r>
              <a:rPr sz="1100" b="1">
                <a:solidFill>
                  <a:srgbClr val="FFFFFF"/>
                </a:solidFill>
                <a:latin typeface="メイリオ"/>
                <a:ea typeface="メイリオ"/>
                <a:cs typeface="メイリオ"/>
              </a:rPr>
              <a:t>初期：15万円</a:t>
            </a:r>
          </a:p>
        </p:txBody>
      </p:sp>
      <p:sp>
        <p:nvSpPr>
          <p:cNvPr id="1054" name="Rectangle 1053"/>
          <p:cNvSpPr/>
          <p:nvPr/>
        </p:nvSpPr>
        <p:spPr>
          <a:xfrm>
            <a:off x="5394960" y="1216152"/>
            <a:ext cx="2103120" cy="256032"/>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18000" tIns="0" rIns="18000" bIns="0" rtlCol="0" anchor="ctr"/>
          <a:lstStyle/>
          <a:p>
            <a:pPr algn="ctr">
              <a:lnSpc>
                <a:spcPct val="110000"/>
              </a:lnSpc>
              <a:spcAft>
                <a:spcPts val="0"/>
              </a:spcAft>
            </a:pPr>
            <a:r>
              <a:rPr sz="1100" b="1">
                <a:solidFill>
                  <a:srgbClr val="FFFFFF"/>
                </a:solidFill>
                <a:latin typeface="メイリオ"/>
                <a:ea typeface="メイリオ"/>
                <a:cs typeface="メイリオ"/>
              </a:rPr>
              <a:t>月額3万円〜＋設定地点追加</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752;p28">
            <a:extLst>
              <a:ext uri="{FF2B5EF4-FFF2-40B4-BE49-F238E27FC236}">
                <a16:creationId xmlns:a16="http://schemas.microsoft.com/office/drawing/2014/main" id="{E371F4F6-3F93-7830-595E-799AA69EA971}"/>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提供施策について</a:t>
            </a:r>
          </a:p>
        </p:txBody>
      </p:sp>
      <p:sp>
        <p:nvSpPr>
          <p:cNvPr id="2" name="角丸四角形 8">
            <a:extLst>
              <a:ext uri="{FF2B5EF4-FFF2-40B4-BE49-F238E27FC236}">
                <a16:creationId xmlns:a16="http://schemas.microsoft.com/office/drawing/2014/main" id="{FD5318E5-8B5E-2D7D-A660-11170C412EF2}"/>
              </a:ext>
            </a:extLst>
          </p:cNvPr>
          <p:cNvSpPr/>
          <p:nvPr/>
        </p:nvSpPr>
        <p:spPr>
          <a:xfrm>
            <a:off x="6663036" y="4093029"/>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3" name="Google Shape;178;p7">
            <a:extLst>
              <a:ext uri="{FF2B5EF4-FFF2-40B4-BE49-F238E27FC236}">
                <a16:creationId xmlns:a16="http://schemas.microsoft.com/office/drawing/2014/main" id="{5B7BDCE2-F32C-98D5-860A-09F3912D9718}"/>
              </a:ext>
            </a:extLst>
          </p:cNvPr>
          <p:cNvSpPr txBox="1"/>
          <p:nvPr/>
        </p:nvSpPr>
        <p:spPr>
          <a:xfrm>
            <a:off x="6756034" y="4153224"/>
            <a:ext cx="2800326" cy="67539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Meiryo"/>
                <a:ea typeface="Meiryo"/>
                <a:cs typeface="Meiryo"/>
                <a:sym typeface="Meiryo"/>
              </a:rPr>
              <a:t>オフライン動線</a:t>
            </a:r>
            <a:endParaRPr lang="en-US" altLang="ja-JP" sz="2000" b="1" dirty="0">
              <a:solidFill>
                <a:srgbClr val="002060"/>
              </a:solidFill>
              <a:latin typeface="Meiryo"/>
              <a:ea typeface="Meiryo"/>
              <a:cs typeface="Meiryo"/>
              <a:sym typeface="Meiryo"/>
            </a:endParaRPr>
          </a:p>
          <a:p>
            <a:pPr lvl="0" algn="ctr">
              <a:buClr>
                <a:schemeClr val="dk1"/>
              </a:buClr>
              <a:buSzPts val="1500"/>
            </a:pPr>
            <a:r>
              <a:rPr lang="ja-JP" altLang="en-US" sz="1400" b="1" dirty="0">
                <a:solidFill>
                  <a:srgbClr val="002060"/>
                </a:solidFill>
                <a:latin typeface="Meiryo"/>
                <a:ea typeface="Meiryo"/>
                <a:cs typeface="Meiryo"/>
                <a:sym typeface="Meiryo"/>
              </a:rPr>
              <a:t>ニュースリリース等</a:t>
            </a:r>
            <a:endParaRPr lang="en-US" altLang="ja-JP" sz="1400" b="1" dirty="0">
              <a:solidFill>
                <a:srgbClr val="002060"/>
              </a:solidFill>
              <a:latin typeface="Meiryo"/>
              <a:ea typeface="Meiryo"/>
              <a:cs typeface="Meiryo"/>
              <a:sym typeface="Meiryo"/>
            </a:endParaRPr>
          </a:p>
        </p:txBody>
      </p:sp>
      <p:sp>
        <p:nvSpPr>
          <p:cNvPr id="5" name="角丸四角形 7">
            <a:extLst>
              <a:ext uri="{FF2B5EF4-FFF2-40B4-BE49-F238E27FC236}">
                <a16:creationId xmlns:a16="http://schemas.microsoft.com/office/drawing/2014/main" id="{467076C6-3952-617E-47B1-6B2C5D00137B}"/>
              </a:ext>
            </a:extLst>
          </p:cNvPr>
          <p:cNvSpPr/>
          <p:nvPr/>
        </p:nvSpPr>
        <p:spPr>
          <a:xfrm>
            <a:off x="3462784" y="4090156"/>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6" name="Google Shape;178;p7">
            <a:extLst>
              <a:ext uri="{FF2B5EF4-FFF2-40B4-BE49-F238E27FC236}">
                <a16:creationId xmlns:a16="http://schemas.microsoft.com/office/drawing/2014/main" id="{421A0D53-7019-D33A-B0BD-DBDF4AAB2FEE}"/>
              </a:ext>
            </a:extLst>
          </p:cNvPr>
          <p:cNvSpPr txBox="1"/>
          <p:nvPr/>
        </p:nvSpPr>
        <p:spPr>
          <a:xfrm>
            <a:off x="3563068" y="4245557"/>
            <a:ext cx="2800326"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2000" b="1" dirty="0">
                <a:solidFill>
                  <a:srgbClr val="002060"/>
                </a:solidFill>
                <a:latin typeface="Meiryo"/>
                <a:ea typeface="Meiryo"/>
                <a:cs typeface="Meiryo"/>
                <a:sym typeface="Meiryo"/>
              </a:rPr>
              <a:t>WEB</a:t>
            </a:r>
            <a:r>
              <a:rPr lang="ja-JP" altLang="en-US" sz="2000" b="1" dirty="0">
                <a:solidFill>
                  <a:srgbClr val="002060"/>
                </a:solidFill>
                <a:latin typeface="Meiryo"/>
                <a:ea typeface="Meiryo"/>
                <a:cs typeface="Meiryo"/>
                <a:sym typeface="Meiryo"/>
              </a:rPr>
              <a:t>サイト動線整備</a:t>
            </a:r>
            <a:endParaRPr lang="en-US" altLang="ja-JP" sz="2000" b="1" dirty="0">
              <a:solidFill>
                <a:srgbClr val="002060"/>
              </a:solidFill>
              <a:latin typeface="Meiryo"/>
              <a:ea typeface="Meiryo"/>
              <a:cs typeface="Meiryo"/>
              <a:sym typeface="Meiryo"/>
            </a:endParaRPr>
          </a:p>
        </p:txBody>
      </p:sp>
      <p:sp>
        <p:nvSpPr>
          <p:cNvPr id="7" name="角丸四角形 8">
            <a:extLst>
              <a:ext uri="{FF2B5EF4-FFF2-40B4-BE49-F238E27FC236}">
                <a16:creationId xmlns:a16="http://schemas.microsoft.com/office/drawing/2014/main" id="{6248FCF3-6E9E-CB4D-40D9-251911AC2CEF}"/>
              </a:ext>
            </a:extLst>
          </p:cNvPr>
          <p:cNvSpPr/>
          <p:nvPr/>
        </p:nvSpPr>
        <p:spPr>
          <a:xfrm>
            <a:off x="262251" y="4093029"/>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8" name="Google Shape;178;p7">
            <a:extLst>
              <a:ext uri="{FF2B5EF4-FFF2-40B4-BE49-F238E27FC236}">
                <a16:creationId xmlns:a16="http://schemas.microsoft.com/office/drawing/2014/main" id="{E5C2AF7A-FA8D-3471-762D-FC84F5818E88}"/>
              </a:ext>
            </a:extLst>
          </p:cNvPr>
          <p:cNvSpPr txBox="1"/>
          <p:nvPr/>
        </p:nvSpPr>
        <p:spPr>
          <a:xfrm>
            <a:off x="598393" y="4153224"/>
            <a:ext cx="2314319" cy="644614"/>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Meiryo"/>
                <a:ea typeface="Meiryo"/>
                <a:cs typeface="Meiryo"/>
                <a:sym typeface="Meiryo"/>
              </a:rPr>
              <a:t>友だち紹介</a:t>
            </a:r>
            <a:endParaRPr lang="en-US" altLang="ja-JP" sz="2000" b="1" dirty="0">
              <a:solidFill>
                <a:srgbClr val="002060"/>
              </a:solidFill>
              <a:latin typeface="Meiryo"/>
              <a:ea typeface="Meiryo"/>
              <a:cs typeface="Meiryo"/>
              <a:sym typeface="Meiryo"/>
            </a:endParaRPr>
          </a:p>
          <a:p>
            <a:pPr lvl="0" algn="ctr">
              <a:buClr>
                <a:schemeClr val="dk1"/>
              </a:buClr>
              <a:buSzPts val="1500"/>
            </a:pPr>
            <a:r>
              <a:rPr lang="ja-JP" altLang="en-US" sz="1200" b="1" dirty="0">
                <a:solidFill>
                  <a:srgbClr val="002060"/>
                </a:solidFill>
                <a:latin typeface="Meiryo"/>
                <a:ea typeface="Meiryo"/>
                <a:cs typeface="Meiryo"/>
                <a:sym typeface="Meiryo"/>
              </a:rPr>
              <a:t>（</a:t>
            </a:r>
            <a:r>
              <a:rPr lang="en-US" altLang="ja-JP" sz="1200" b="1" dirty="0">
                <a:solidFill>
                  <a:srgbClr val="002060"/>
                </a:solidFill>
                <a:latin typeface="Meiryo"/>
                <a:ea typeface="Meiryo"/>
                <a:cs typeface="Meiryo"/>
                <a:sym typeface="Meiryo"/>
              </a:rPr>
              <a:t>LINE</a:t>
            </a:r>
            <a:r>
              <a:rPr lang="ja-JP" altLang="en-US" sz="1200" b="1" dirty="0">
                <a:solidFill>
                  <a:srgbClr val="002060"/>
                </a:solidFill>
                <a:latin typeface="Meiryo"/>
                <a:ea typeface="Meiryo"/>
                <a:cs typeface="Meiryo"/>
                <a:sym typeface="Meiryo"/>
              </a:rPr>
              <a:t>ポイントコネクト）</a:t>
            </a:r>
            <a:endParaRPr lang="en-US" altLang="ja-JP" sz="1200" b="1" dirty="0">
              <a:solidFill>
                <a:srgbClr val="002060"/>
              </a:solidFill>
              <a:latin typeface="Meiryo"/>
              <a:ea typeface="Meiryo"/>
              <a:cs typeface="Meiryo"/>
              <a:sym typeface="Meiryo"/>
            </a:endParaRPr>
          </a:p>
        </p:txBody>
      </p:sp>
      <p:sp>
        <p:nvSpPr>
          <p:cNvPr id="9" name="角丸四角形 8">
            <a:extLst>
              <a:ext uri="{FF2B5EF4-FFF2-40B4-BE49-F238E27FC236}">
                <a16:creationId xmlns:a16="http://schemas.microsoft.com/office/drawing/2014/main" id="{B44E38B3-9697-65AF-1E0A-CE143B30BA15}"/>
              </a:ext>
            </a:extLst>
          </p:cNvPr>
          <p:cNvSpPr/>
          <p:nvPr/>
        </p:nvSpPr>
        <p:spPr>
          <a:xfrm>
            <a:off x="6663036" y="1859432"/>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10" name="Google Shape;178;p7">
            <a:extLst>
              <a:ext uri="{FF2B5EF4-FFF2-40B4-BE49-F238E27FC236}">
                <a16:creationId xmlns:a16="http://schemas.microsoft.com/office/drawing/2014/main" id="{227F189E-B3B2-1E1B-232D-81C3B9F95AF9}"/>
              </a:ext>
            </a:extLst>
          </p:cNvPr>
          <p:cNvSpPr txBox="1"/>
          <p:nvPr/>
        </p:nvSpPr>
        <p:spPr>
          <a:xfrm>
            <a:off x="6756034" y="2011960"/>
            <a:ext cx="2800326"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2000" b="1" dirty="0">
                <a:solidFill>
                  <a:srgbClr val="002060"/>
                </a:solidFill>
                <a:latin typeface="Meiryo"/>
                <a:ea typeface="Meiryo"/>
                <a:cs typeface="Meiryo"/>
                <a:sym typeface="Meiryo"/>
              </a:rPr>
              <a:t>LINE</a:t>
            </a:r>
            <a:r>
              <a:rPr lang="ja-JP" altLang="en-US" sz="2000" b="1" dirty="0">
                <a:solidFill>
                  <a:srgbClr val="002060"/>
                </a:solidFill>
                <a:latin typeface="Meiryo"/>
                <a:ea typeface="Meiryo"/>
                <a:cs typeface="Meiryo"/>
                <a:sym typeface="Meiryo"/>
              </a:rPr>
              <a:t>ポイント</a:t>
            </a:r>
            <a:r>
              <a:rPr lang="en-US" altLang="ja-JP" sz="2000" b="1" dirty="0">
                <a:solidFill>
                  <a:srgbClr val="002060"/>
                </a:solidFill>
                <a:latin typeface="Meiryo"/>
                <a:ea typeface="Meiryo"/>
                <a:cs typeface="Meiryo"/>
                <a:sym typeface="Meiryo"/>
              </a:rPr>
              <a:t>Ads</a:t>
            </a:r>
            <a:endParaRPr lang="en-US" altLang="ja-JP" sz="1400" b="1" dirty="0">
              <a:solidFill>
                <a:srgbClr val="002060"/>
              </a:solidFill>
              <a:latin typeface="Meiryo"/>
              <a:ea typeface="Meiryo"/>
              <a:cs typeface="Meiryo"/>
              <a:sym typeface="Meiryo"/>
            </a:endParaRPr>
          </a:p>
        </p:txBody>
      </p:sp>
      <p:sp>
        <p:nvSpPr>
          <p:cNvPr id="11" name="角丸四角形 7">
            <a:extLst>
              <a:ext uri="{FF2B5EF4-FFF2-40B4-BE49-F238E27FC236}">
                <a16:creationId xmlns:a16="http://schemas.microsoft.com/office/drawing/2014/main" id="{246EA7DE-13D3-9A9C-9E03-EF6250D306DC}"/>
              </a:ext>
            </a:extLst>
          </p:cNvPr>
          <p:cNvSpPr/>
          <p:nvPr/>
        </p:nvSpPr>
        <p:spPr>
          <a:xfrm>
            <a:off x="3462784" y="1856559"/>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12" name="Google Shape;178;p7">
            <a:extLst>
              <a:ext uri="{FF2B5EF4-FFF2-40B4-BE49-F238E27FC236}">
                <a16:creationId xmlns:a16="http://schemas.microsoft.com/office/drawing/2014/main" id="{5045D5F0-5F86-568D-455F-0F514426CF62}"/>
              </a:ext>
            </a:extLst>
          </p:cNvPr>
          <p:cNvSpPr txBox="1"/>
          <p:nvPr/>
        </p:nvSpPr>
        <p:spPr>
          <a:xfrm>
            <a:off x="3563068" y="2011960"/>
            <a:ext cx="2800326"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Meiryo"/>
                <a:ea typeface="Meiryo"/>
                <a:cs typeface="Meiryo"/>
                <a:sym typeface="Meiryo"/>
              </a:rPr>
              <a:t>スタンプ施策</a:t>
            </a:r>
            <a:endParaRPr lang="en-US" altLang="ja-JP" sz="2000" b="1" dirty="0">
              <a:solidFill>
                <a:srgbClr val="002060"/>
              </a:solidFill>
              <a:latin typeface="Meiryo"/>
              <a:ea typeface="Meiryo"/>
              <a:cs typeface="Meiryo"/>
              <a:sym typeface="Meiryo"/>
            </a:endParaRPr>
          </a:p>
        </p:txBody>
      </p:sp>
      <p:sp>
        <p:nvSpPr>
          <p:cNvPr id="13" name="角丸四角形 8">
            <a:extLst>
              <a:ext uri="{FF2B5EF4-FFF2-40B4-BE49-F238E27FC236}">
                <a16:creationId xmlns:a16="http://schemas.microsoft.com/office/drawing/2014/main" id="{3600FC78-1A6B-42D9-C939-11449F5EA1D7}"/>
              </a:ext>
            </a:extLst>
          </p:cNvPr>
          <p:cNvSpPr/>
          <p:nvPr/>
        </p:nvSpPr>
        <p:spPr>
          <a:xfrm>
            <a:off x="262251" y="1859432"/>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14" name="Google Shape;178;p7">
            <a:extLst>
              <a:ext uri="{FF2B5EF4-FFF2-40B4-BE49-F238E27FC236}">
                <a16:creationId xmlns:a16="http://schemas.microsoft.com/office/drawing/2014/main" id="{DE80A45D-1C7E-C6F5-E8EB-2D7BDFC995E0}"/>
              </a:ext>
            </a:extLst>
          </p:cNvPr>
          <p:cNvSpPr txBox="1"/>
          <p:nvPr/>
        </p:nvSpPr>
        <p:spPr>
          <a:xfrm>
            <a:off x="598393" y="2011960"/>
            <a:ext cx="2314319"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2000" b="1" dirty="0">
                <a:solidFill>
                  <a:srgbClr val="002060"/>
                </a:solidFill>
                <a:latin typeface="Meiryo"/>
                <a:ea typeface="Meiryo"/>
                <a:cs typeface="Meiryo"/>
                <a:sym typeface="Meiryo"/>
              </a:rPr>
              <a:t>CPF</a:t>
            </a:r>
            <a:r>
              <a:rPr lang="ja-JP" altLang="en-US" sz="2000" b="1" dirty="0">
                <a:solidFill>
                  <a:srgbClr val="002060"/>
                </a:solidFill>
                <a:latin typeface="Meiryo"/>
                <a:ea typeface="Meiryo"/>
                <a:cs typeface="Meiryo"/>
                <a:sym typeface="Meiryo"/>
              </a:rPr>
              <a:t>広告</a:t>
            </a:r>
            <a:endParaRPr lang="en-US" altLang="ja-JP" sz="1200" b="1" dirty="0">
              <a:solidFill>
                <a:srgbClr val="002060"/>
              </a:solidFill>
              <a:latin typeface="Meiryo"/>
              <a:ea typeface="Meiryo"/>
              <a:cs typeface="Meiryo"/>
              <a:sym typeface="Meiryo"/>
            </a:endParaRPr>
          </a:p>
        </p:txBody>
      </p:sp>
      <p:sp>
        <p:nvSpPr>
          <p:cNvPr id="16" name="テキスト ボックス 15">
            <a:extLst>
              <a:ext uri="{FF2B5EF4-FFF2-40B4-BE49-F238E27FC236}">
                <a16:creationId xmlns:a16="http://schemas.microsoft.com/office/drawing/2014/main" id="{E2BE065C-FC2C-F8DB-8D4D-6A6CF2961B74}"/>
              </a:ext>
            </a:extLst>
          </p:cNvPr>
          <p:cNvSpPr txBox="1"/>
          <p:nvPr/>
        </p:nvSpPr>
        <p:spPr>
          <a:xfrm>
            <a:off x="6663036" y="5212007"/>
            <a:ext cx="2980713" cy="369332"/>
          </a:xfrm>
          <a:prstGeom prst="rect">
            <a:avLst/>
          </a:prstGeom>
          <a:noFill/>
        </p:spPr>
        <p:txBody>
          <a:bodyPr wrap="square">
            <a:spAutoFit/>
          </a:bodyPr>
          <a:lstStyle/>
          <a:p>
            <a:pPr algn="ctr"/>
            <a:r>
              <a:rPr lang="ja-JP" altLang="en-US" sz="1600" dirty="0">
                <a:latin typeface="Meiryo"/>
                <a:ea typeface="Meiryo"/>
                <a:sym typeface="Meiryo"/>
              </a:rPr>
              <a:t>コンサル発注</a:t>
            </a:r>
            <a:r>
              <a:rPr lang="ja-JP" altLang="en-US" sz="1200" dirty="0">
                <a:latin typeface="Meiryo"/>
                <a:ea typeface="Meiryo"/>
                <a:sym typeface="Meiryo"/>
              </a:rPr>
              <a:t>であれば </a:t>
            </a:r>
            <a:r>
              <a:rPr lang="ja-JP" altLang="en-US" b="1" dirty="0">
                <a:solidFill>
                  <a:srgbClr val="FF0000"/>
                </a:solidFill>
                <a:latin typeface="Meiryo"/>
                <a:ea typeface="Meiryo"/>
                <a:sym typeface="Meiryo"/>
              </a:rPr>
              <a:t>無償</a:t>
            </a:r>
            <a:endParaRPr lang="ja-JP" altLang="en-US" dirty="0">
              <a:solidFill>
                <a:srgbClr val="FF0000"/>
              </a:solidFill>
            </a:endParaRPr>
          </a:p>
        </p:txBody>
      </p:sp>
      <p:sp>
        <p:nvSpPr>
          <p:cNvPr id="18" name="正方形/長方形 17">
            <a:extLst>
              <a:ext uri="{FF2B5EF4-FFF2-40B4-BE49-F238E27FC236}">
                <a16:creationId xmlns:a16="http://schemas.microsoft.com/office/drawing/2014/main" id="{6E06F22F-E0C7-5FD3-4405-6102987BD5DF}"/>
              </a:ext>
            </a:extLst>
          </p:cNvPr>
          <p:cNvSpPr/>
          <p:nvPr/>
        </p:nvSpPr>
        <p:spPr>
          <a:xfrm>
            <a:off x="519852" y="4164059"/>
            <a:ext cx="2453983"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正方形/長方形 18">
            <a:extLst>
              <a:ext uri="{FF2B5EF4-FFF2-40B4-BE49-F238E27FC236}">
                <a16:creationId xmlns:a16="http://schemas.microsoft.com/office/drawing/2014/main" id="{B0050C1C-B390-1662-9BFB-21BE29D83F9A}"/>
              </a:ext>
            </a:extLst>
          </p:cNvPr>
          <p:cNvSpPr/>
          <p:nvPr/>
        </p:nvSpPr>
        <p:spPr>
          <a:xfrm>
            <a:off x="3613540" y="4162491"/>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正方形/長方形 19">
            <a:extLst>
              <a:ext uri="{FF2B5EF4-FFF2-40B4-BE49-F238E27FC236}">
                <a16:creationId xmlns:a16="http://schemas.microsoft.com/office/drawing/2014/main" id="{D5EE4289-C478-AD62-AE99-69AE5A069F77}"/>
              </a:ext>
            </a:extLst>
          </p:cNvPr>
          <p:cNvSpPr/>
          <p:nvPr/>
        </p:nvSpPr>
        <p:spPr>
          <a:xfrm>
            <a:off x="6825208" y="4153224"/>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 name="正方形/長方形 20">
            <a:extLst>
              <a:ext uri="{FF2B5EF4-FFF2-40B4-BE49-F238E27FC236}">
                <a16:creationId xmlns:a16="http://schemas.microsoft.com/office/drawing/2014/main" id="{1396C237-CE79-2CD6-FC3A-C050A56E6C7C}"/>
              </a:ext>
            </a:extLst>
          </p:cNvPr>
          <p:cNvSpPr/>
          <p:nvPr/>
        </p:nvSpPr>
        <p:spPr>
          <a:xfrm>
            <a:off x="6825208" y="1936348"/>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正方形/長方形 21">
            <a:extLst>
              <a:ext uri="{FF2B5EF4-FFF2-40B4-BE49-F238E27FC236}">
                <a16:creationId xmlns:a16="http://schemas.microsoft.com/office/drawing/2014/main" id="{4F441C91-30FF-B254-D31A-0BF09A82F0CC}"/>
              </a:ext>
            </a:extLst>
          </p:cNvPr>
          <p:cNvSpPr/>
          <p:nvPr/>
        </p:nvSpPr>
        <p:spPr>
          <a:xfrm>
            <a:off x="405862" y="1938891"/>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 name="正方形/長方形 22">
            <a:extLst>
              <a:ext uri="{FF2B5EF4-FFF2-40B4-BE49-F238E27FC236}">
                <a16:creationId xmlns:a16="http://schemas.microsoft.com/office/drawing/2014/main" id="{0444B2FB-B600-A32F-FC5C-CA7414D41D09}"/>
              </a:ext>
            </a:extLst>
          </p:cNvPr>
          <p:cNvSpPr/>
          <p:nvPr/>
        </p:nvSpPr>
        <p:spPr>
          <a:xfrm>
            <a:off x="3627794" y="1936348"/>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5" name="テキスト ボックス 24">
            <a:extLst>
              <a:ext uri="{FF2B5EF4-FFF2-40B4-BE49-F238E27FC236}">
                <a16:creationId xmlns:a16="http://schemas.microsoft.com/office/drawing/2014/main" id="{0EB1A30C-0F7E-2CA8-AFC7-86F4D2F0F62E}"/>
              </a:ext>
            </a:extLst>
          </p:cNvPr>
          <p:cNvSpPr txBox="1"/>
          <p:nvPr/>
        </p:nvSpPr>
        <p:spPr>
          <a:xfrm>
            <a:off x="3457175" y="5206261"/>
            <a:ext cx="2980713" cy="369332"/>
          </a:xfrm>
          <a:prstGeom prst="rect">
            <a:avLst/>
          </a:prstGeom>
          <a:noFill/>
        </p:spPr>
        <p:txBody>
          <a:bodyPr wrap="square">
            <a:spAutoFit/>
          </a:bodyPr>
          <a:lstStyle/>
          <a:p>
            <a:pPr algn="ctr"/>
            <a:r>
              <a:rPr lang="ja-JP" altLang="en-US" sz="1600" dirty="0">
                <a:latin typeface="Meiryo"/>
                <a:ea typeface="Meiryo"/>
                <a:sym typeface="Meiryo"/>
              </a:rPr>
              <a:t>コンサル発注</a:t>
            </a:r>
            <a:r>
              <a:rPr lang="ja-JP" altLang="en-US" sz="1200" dirty="0">
                <a:latin typeface="Meiryo"/>
                <a:ea typeface="Meiryo"/>
                <a:sym typeface="Meiryo"/>
              </a:rPr>
              <a:t>であれば </a:t>
            </a:r>
            <a:r>
              <a:rPr lang="ja-JP" altLang="en-US" b="1" dirty="0">
                <a:solidFill>
                  <a:srgbClr val="FF0000"/>
                </a:solidFill>
                <a:latin typeface="Meiryo"/>
                <a:ea typeface="Meiryo"/>
                <a:sym typeface="Meiryo"/>
              </a:rPr>
              <a:t>無償</a:t>
            </a:r>
            <a:endParaRPr lang="ja-JP" altLang="en-US" dirty="0">
              <a:solidFill>
                <a:srgbClr val="FF0000"/>
              </a:solidFill>
            </a:endParaRPr>
          </a:p>
        </p:txBody>
      </p:sp>
      <p:sp>
        <p:nvSpPr>
          <p:cNvPr id="27" name="テキスト ボックス 26">
            <a:extLst>
              <a:ext uri="{FF2B5EF4-FFF2-40B4-BE49-F238E27FC236}">
                <a16:creationId xmlns:a16="http://schemas.microsoft.com/office/drawing/2014/main" id="{E132920A-5E9A-4275-387D-200CCBF9F676}"/>
              </a:ext>
            </a:extLst>
          </p:cNvPr>
          <p:cNvSpPr txBox="1"/>
          <p:nvPr/>
        </p:nvSpPr>
        <p:spPr>
          <a:xfrm>
            <a:off x="251033" y="5206261"/>
            <a:ext cx="2980713" cy="369332"/>
          </a:xfrm>
          <a:prstGeom prst="rect">
            <a:avLst/>
          </a:prstGeom>
          <a:noFill/>
        </p:spPr>
        <p:txBody>
          <a:bodyPr wrap="square">
            <a:spAutoFit/>
          </a:bodyPr>
          <a:lstStyle/>
          <a:p>
            <a:pPr algn="ctr"/>
            <a:r>
              <a:rPr lang="ja-JP" altLang="en-US" b="1" dirty="0">
                <a:solidFill>
                  <a:schemeClr val="tx1">
                    <a:lumMod val="50000"/>
                    <a:lumOff val="50000"/>
                  </a:schemeClr>
                </a:solidFill>
                <a:latin typeface="Meiryo"/>
                <a:ea typeface="Meiryo"/>
                <a:sym typeface="Meiryo"/>
              </a:rPr>
              <a:t>サービス停止中</a:t>
            </a:r>
            <a:endParaRPr lang="ja-JP" altLang="en-US" b="1" dirty="0">
              <a:solidFill>
                <a:schemeClr val="tx1">
                  <a:lumMod val="50000"/>
                  <a:lumOff val="50000"/>
                </a:schemeClr>
              </a:solidFill>
            </a:endParaRPr>
          </a:p>
        </p:txBody>
      </p:sp>
      <p:sp>
        <p:nvSpPr>
          <p:cNvPr id="28" name="テキスト ボックス 27">
            <a:extLst>
              <a:ext uri="{FF2B5EF4-FFF2-40B4-BE49-F238E27FC236}">
                <a16:creationId xmlns:a16="http://schemas.microsoft.com/office/drawing/2014/main" id="{F730E614-90C4-E99C-1611-CBB84BD8881C}"/>
              </a:ext>
            </a:extLst>
          </p:cNvPr>
          <p:cNvSpPr txBox="1"/>
          <p:nvPr/>
        </p:nvSpPr>
        <p:spPr>
          <a:xfrm>
            <a:off x="6680454" y="2978410"/>
            <a:ext cx="2980713" cy="400110"/>
          </a:xfrm>
          <a:prstGeom prst="rect">
            <a:avLst/>
          </a:prstGeom>
          <a:noFill/>
        </p:spPr>
        <p:txBody>
          <a:bodyPr wrap="square">
            <a:spAutoFit/>
          </a:bodyPr>
          <a:lstStyle/>
          <a:p>
            <a:pPr algn="ctr"/>
            <a:r>
              <a:rPr lang="en-US" altLang="ja-JP" sz="2000" b="1" dirty="0">
                <a:solidFill>
                  <a:srgbClr val="FF0000"/>
                </a:solidFill>
                <a:latin typeface="Meiryo"/>
                <a:ea typeface="Meiryo"/>
                <a:sym typeface="Meiryo"/>
              </a:rPr>
              <a:t>200</a:t>
            </a:r>
            <a:r>
              <a:rPr lang="ja-JP" altLang="en-US" sz="2000" b="1" dirty="0">
                <a:solidFill>
                  <a:srgbClr val="FF0000"/>
                </a:solidFill>
                <a:latin typeface="Meiryo"/>
                <a:ea typeface="Meiryo"/>
                <a:sym typeface="Meiryo"/>
              </a:rPr>
              <a:t>万円</a:t>
            </a:r>
            <a:r>
              <a:rPr lang="en-US" altLang="ja-JP" sz="2000" b="1" dirty="0">
                <a:solidFill>
                  <a:srgbClr val="FF0000"/>
                </a:solidFill>
                <a:latin typeface="Meiryo"/>
                <a:ea typeface="Meiryo"/>
                <a:sym typeface="Meiryo"/>
              </a:rPr>
              <a:t>~</a:t>
            </a:r>
            <a:r>
              <a:rPr lang="ja-JP" altLang="en-US" sz="1200" dirty="0">
                <a:latin typeface="Meiryo"/>
                <a:ea typeface="Meiryo"/>
                <a:sym typeface="Meiryo"/>
              </a:rPr>
              <a:t>（期間合計）</a:t>
            </a:r>
            <a:endParaRPr lang="ja-JP" altLang="en-US" sz="2000" dirty="0">
              <a:solidFill>
                <a:srgbClr val="FF0000"/>
              </a:solidFill>
            </a:endParaRPr>
          </a:p>
        </p:txBody>
      </p:sp>
      <p:sp>
        <p:nvSpPr>
          <p:cNvPr id="29" name="テキスト ボックス 28">
            <a:extLst>
              <a:ext uri="{FF2B5EF4-FFF2-40B4-BE49-F238E27FC236}">
                <a16:creationId xmlns:a16="http://schemas.microsoft.com/office/drawing/2014/main" id="{BD4CB354-FCE0-FE83-2308-4BB89D24B9EE}"/>
              </a:ext>
            </a:extLst>
          </p:cNvPr>
          <p:cNvSpPr txBox="1"/>
          <p:nvPr/>
        </p:nvSpPr>
        <p:spPr>
          <a:xfrm>
            <a:off x="3474593" y="2972664"/>
            <a:ext cx="2980713" cy="400110"/>
          </a:xfrm>
          <a:prstGeom prst="rect">
            <a:avLst/>
          </a:prstGeom>
          <a:noFill/>
        </p:spPr>
        <p:txBody>
          <a:bodyPr wrap="square">
            <a:spAutoFit/>
          </a:bodyPr>
          <a:lstStyle/>
          <a:p>
            <a:pPr algn="ctr"/>
            <a:r>
              <a:rPr lang="en-US" altLang="ja-JP" sz="2000" b="1" dirty="0">
                <a:solidFill>
                  <a:srgbClr val="FF0000"/>
                </a:solidFill>
                <a:latin typeface="Meiryo"/>
                <a:ea typeface="Meiryo"/>
                <a:sym typeface="Meiryo"/>
              </a:rPr>
              <a:t>200</a:t>
            </a:r>
            <a:r>
              <a:rPr lang="ja-JP" altLang="en-US" sz="2000" b="1" dirty="0">
                <a:solidFill>
                  <a:srgbClr val="FF0000"/>
                </a:solidFill>
                <a:latin typeface="Meiryo"/>
                <a:ea typeface="Meiryo"/>
                <a:sym typeface="Meiryo"/>
              </a:rPr>
              <a:t>万円</a:t>
            </a:r>
            <a:r>
              <a:rPr lang="en-US" altLang="ja-JP" sz="2000" b="1" dirty="0">
                <a:solidFill>
                  <a:srgbClr val="FF0000"/>
                </a:solidFill>
                <a:latin typeface="Meiryo"/>
                <a:ea typeface="Meiryo"/>
                <a:sym typeface="Meiryo"/>
              </a:rPr>
              <a:t>~</a:t>
            </a:r>
            <a:r>
              <a:rPr lang="ja-JP" altLang="en-US" sz="1200" dirty="0">
                <a:latin typeface="Meiryo"/>
                <a:ea typeface="Meiryo"/>
                <a:sym typeface="Meiryo"/>
              </a:rPr>
              <a:t>（期間合計）</a:t>
            </a:r>
            <a:endParaRPr lang="ja-JP" altLang="en-US" sz="2000" dirty="0">
              <a:solidFill>
                <a:srgbClr val="FF0000"/>
              </a:solidFill>
            </a:endParaRPr>
          </a:p>
        </p:txBody>
      </p:sp>
      <p:sp>
        <p:nvSpPr>
          <p:cNvPr id="30" name="テキスト ボックス 29">
            <a:extLst>
              <a:ext uri="{FF2B5EF4-FFF2-40B4-BE49-F238E27FC236}">
                <a16:creationId xmlns:a16="http://schemas.microsoft.com/office/drawing/2014/main" id="{409CCF04-7F2B-649D-F219-27BCA34C2D62}"/>
              </a:ext>
            </a:extLst>
          </p:cNvPr>
          <p:cNvSpPr txBox="1"/>
          <p:nvPr/>
        </p:nvSpPr>
        <p:spPr>
          <a:xfrm>
            <a:off x="268451" y="2972664"/>
            <a:ext cx="2980713" cy="400110"/>
          </a:xfrm>
          <a:prstGeom prst="rect">
            <a:avLst/>
          </a:prstGeom>
          <a:noFill/>
        </p:spPr>
        <p:txBody>
          <a:bodyPr wrap="square">
            <a:spAutoFit/>
          </a:bodyPr>
          <a:lstStyle/>
          <a:p>
            <a:pPr algn="ctr"/>
            <a:r>
              <a:rPr lang="en-US" altLang="ja-JP" sz="2000" b="1" dirty="0">
                <a:solidFill>
                  <a:srgbClr val="FF0000"/>
                </a:solidFill>
                <a:latin typeface="Meiryo"/>
                <a:ea typeface="Meiryo"/>
                <a:sym typeface="Meiryo"/>
              </a:rPr>
              <a:t>20</a:t>
            </a:r>
            <a:r>
              <a:rPr lang="ja-JP" altLang="en-US" sz="2000" b="1" dirty="0">
                <a:solidFill>
                  <a:srgbClr val="FF0000"/>
                </a:solidFill>
                <a:latin typeface="Meiryo"/>
                <a:ea typeface="Meiryo"/>
                <a:sym typeface="Meiryo"/>
              </a:rPr>
              <a:t>万円</a:t>
            </a:r>
            <a:r>
              <a:rPr lang="en-US" altLang="ja-JP" sz="2000" b="1" dirty="0">
                <a:solidFill>
                  <a:srgbClr val="FF0000"/>
                </a:solidFill>
                <a:latin typeface="Meiryo"/>
                <a:ea typeface="Meiryo"/>
                <a:sym typeface="Meiryo"/>
              </a:rPr>
              <a:t>~</a:t>
            </a:r>
            <a:r>
              <a:rPr lang="ja-JP" altLang="en-US" sz="1200" dirty="0">
                <a:latin typeface="Meiryo"/>
                <a:ea typeface="Meiryo"/>
                <a:sym typeface="Meiryo"/>
              </a:rPr>
              <a:t>（</a:t>
            </a:r>
            <a:r>
              <a:rPr lang="en-US" altLang="ja-JP" sz="1200" dirty="0">
                <a:latin typeface="Meiryo"/>
                <a:ea typeface="Meiryo"/>
                <a:sym typeface="Meiryo"/>
              </a:rPr>
              <a:t>1</a:t>
            </a:r>
            <a:r>
              <a:rPr lang="ja-JP" altLang="en-US" sz="1200" dirty="0">
                <a:latin typeface="Meiryo"/>
                <a:ea typeface="Meiryo"/>
                <a:sym typeface="Meiryo"/>
              </a:rPr>
              <a:t>ヶ月</a:t>
            </a:r>
            <a:r>
              <a:rPr lang="en-US" altLang="ja-JP" sz="1200" dirty="0">
                <a:latin typeface="Meiryo"/>
                <a:ea typeface="Meiryo"/>
                <a:sym typeface="Meiryo"/>
              </a:rPr>
              <a:t>~</a:t>
            </a:r>
            <a:r>
              <a:rPr lang="ja-JP" altLang="en-US" sz="1200" dirty="0">
                <a:latin typeface="Meiryo"/>
                <a:ea typeface="Meiryo"/>
                <a:sym typeface="Meiryo"/>
              </a:rPr>
              <a:t>）</a:t>
            </a:r>
            <a:endParaRPr lang="ja-JP" altLang="en-US" sz="2000" dirty="0">
              <a:solidFill>
                <a:srgbClr val="FF0000"/>
              </a:solidFill>
            </a:endParaRPr>
          </a:p>
        </p:txBody>
      </p:sp>
      <p:sp>
        <p:nvSpPr>
          <p:cNvPr id="31" name="正方形/長方形 30">
            <a:extLst>
              <a:ext uri="{FF2B5EF4-FFF2-40B4-BE49-F238E27FC236}">
                <a16:creationId xmlns:a16="http://schemas.microsoft.com/office/drawing/2014/main" id="{48479E1B-BB51-2C74-9251-6EC7A8EFC419}"/>
              </a:ext>
            </a:extLst>
          </p:cNvPr>
          <p:cNvSpPr/>
          <p:nvPr/>
        </p:nvSpPr>
        <p:spPr>
          <a:xfrm>
            <a:off x="663410" y="899253"/>
            <a:ext cx="8628148" cy="584775"/>
          </a:xfrm>
          <a:prstGeom prst="rect">
            <a:avLst/>
          </a:prstGeom>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lvl="0" algn="ctr">
              <a:buClr>
                <a:srgbClr val="002060"/>
              </a:buClr>
              <a:buSzPts val="1600"/>
            </a:pPr>
            <a:r>
              <a:rPr lang="ja-JP" altLang="en-US" sz="1600" b="1" dirty="0">
                <a:solidFill>
                  <a:schemeClr val="tx1">
                    <a:lumMod val="65000"/>
                    <a:lumOff val="35000"/>
                  </a:schemeClr>
                </a:solidFill>
                <a:latin typeface="Meiryo"/>
                <a:ea typeface="Meiryo"/>
                <a:cs typeface="Meiryo"/>
                <a:sym typeface="Meiryo"/>
              </a:rPr>
              <a:t>各拡張施策についても</a:t>
            </a:r>
            <a:r>
              <a:rPr lang="en-US" altLang="ja-JP" sz="1600" b="1" dirty="0">
                <a:solidFill>
                  <a:schemeClr val="tx1">
                    <a:lumMod val="65000"/>
                    <a:lumOff val="35000"/>
                  </a:schemeClr>
                </a:solidFill>
                <a:latin typeface="Meiryo"/>
                <a:ea typeface="Meiryo"/>
                <a:cs typeface="Meiryo"/>
                <a:sym typeface="Meiryo"/>
              </a:rPr>
              <a:t>MIN</a:t>
            </a:r>
            <a:r>
              <a:rPr lang="ja-JP" altLang="en-US" sz="1600" b="1" dirty="0">
                <a:solidFill>
                  <a:schemeClr val="tx1">
                    <a:lumMod val="65000"/>
                    <a:lumOff val="35000"/>
                  </a:schemeClr>
                </a:solidFill>
                <a:latin typeface="Meiryo"/>
                <a:ea typeface="Meiryo"/>
                <a:cs typeface="Meiryo"/>
                <a:sym typeface="Meiryo"/>
              </a:rPr>
              <a:t>金額からの発注、動線設計が可能です。</a:t>
            </a:r>
            <a:endParaRPr lang="en-US" altLang="ja-JP" sz="1600" b="1" dirty="0">
              <a:solidFill>
                <a:schemeClr val="tx1">
                  <a:lumMod val="65000"/>
                  <a:lumOff val="35000"/>
                </a:schemeClr>
              </a:solidFill>
              <a:latin typeface="Meiryo"/>
              <a:ea typeface="Meiryo"/>
              <a:cs typeface="Meiryo"/>
              <a:sym typeface="Meiryo"/>
            </a:endParaRPr>
          </a:p>
          <a:p>
            <a:pPr lvl="0" algn="ctr">
              <a:buClr>
                <a:srgbClr val="002060"/>
              </a:buClr>
              <a:buSzPts val="1600"/>
            </a:pP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友だち追加後の動線設計（特に友だち追加後すぐ）の検証後の拡大施策として用意。</a:t>
            </a:r>
            <a:endParaRPr lang="en-US" altLang="ja-JP" sz="1600" b="1" dirty="0">
              <a:solidFill>
                <a:schemeClr val="tx1">
                  <a:lumMod val="65000"/>
                  <a:lumOff val="35000"/>
                </a:schemeClr>
              </a:solidFill>
              <a:latin typeface="Meiryo"/>
              <a:ea typeface="Meiryo"/>
              <a:cs typeface="Meiryo"/>
              <a:sym typeface="Meiryo"/>
            </a:endParaRPr>
          </a:p>
        </p:txBody>
      </p:sp>
    </p:spTree>
    <p:extLst>
      <p:ext uri="{BB962C8B-B14F-4D97-AF65-F5344CB8AC3E}">
        <p14:creationId xmlns:p14="http://schemas.microsoft.com/office/powerpoint/2010/main" val="1720263100"/>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40CEAE-3814-32E7-D45E-2C4EC8610FFA}"/>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6CD37268-DB4A-D96C-3487-68A9F7301931}"/>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提供施策について</a:t>
            </a:r>
          </a:p>
        </p:txBody>
      </p:sp>
      <p:pic>
        <p:nvPicPr>
          <p:cNvPr id="52" name="図 51">
            <a:extLst>
              <a:ext uri="{FF2B5EF4-FFF2-40B4-BE49-F238E27FC236}">
                <a16:creationId xmlns:a16="http://schemas.microsoft.com/office/drawing/2014/main" id="{190D62DD-D102-4473-AB6A-16C880141BF8}"/>
              </a:ext>
            </a:extLst>
          </p:cNvPr>
          <p:cNvPicPr>
            <a:picLocks noChangeAspect="1"/>
          </p:cNvPicPr>
          <p:nvPr/>
        </p:nvPicPr>
        <p:blipFill>
          <a:blip r:embed="rId2"/>
          <a:stretch>
            <a:fillRect/>
          </a:stretch>
        </p:blipFill>
        <p:spPr>
          <a:xfrm>
            <a:off x="554449" y="1858069"/>
            <a:ext cx="4461381" cy="1873780"/>
          </a:xfrm>
          <a:prstGeom prst="rect">
            <a:avLst/>
          </a:prstGeom>
        </p:spPr>
      </p:pic>
      <p:sp>
        <p:nvSpPr>
          <p:cNvPr id="53" name="正方形/長方形 52">
            <a:extLst>
              <a:ext uri="{FF2B5EF4-FFF2-40B4-BE49-F238E27FC236}">
                <a16:creationId xmlns:a16="http://schemas.microsoft.com/office/drawing/2014/main" id="{1E454A9D-8A4D-3389-458B-9DC647A79863}"/>
              </a:ext>
            </a:extLst>
          </p:cNvPr>
          <p:cNvSpPr/>
          <p:nvPr/>
        </p:nvSpPr>
        <p:spPr>
          <a:xfrm>
            <a:off x="419696" y="732614"/>
            <a:ext cx="2365444" cy="673262"/>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ctr"/>
            <a:r>
              <a:rPr lang="en-US" altLang="ja-JP" sz="1600" b="1" dirty="0">
                <a:latin typeface="メイリオ" panose="020B0604030504040204" pitchFamily="50" charset="-128"/>
                <a:ea typeface="メイリオ" panose="020B0604030504040204" pitchFamily="50" charset="-128"/>
              </a:rPr>
              <a:t>LINE</a:t>
            </a:r>
            <a:r>
              <a:rPr lang="ja-JP" altLang="en-US" sz="1600" b="1" dirty="0">
                <a:latin typeface="メイリオ" panose="020B0604030504040204" pitchFamily="50" charset="-128"/>
                <a:ea typeface="メイリオ" panose="020B0604030504040204" pitchFamily="50" charset="-128"/>
              </a:rPr>
              <a:t>広告</a:t>
            </a:r>
            <a:r>
              <a:rPr lang="ja-JP" altLang="en-US" sz="1200" b="1" dirty="0">
                <a:latin typeface="メイリオ" panose="020B0604030504040204" pitchFamily="50" charset="-128"/>
                <a:ea typeface="メイリオ" panose="020B0604030504040204" pitchFamily="50" charset="-128"/>
              </a:rPr>
              <a:t>（友だち追加）</a:t>
            </a:r>
            <a:endParaRPr lang="en-US" altLang="ja-JP" sz="1200" b="1" dirty="0">
              <a:latin typeface="メイリオ" panose="020B0604030504040204" pitchFamily="50" charset="-128"/>
              <a:ea typeface="メイリオ" panose="020B0604030504040204" pitchFamily="50" charset="-128"/>
            </a:endParaRPr>
          </a:p>
          <a:p>
            <a:pPr algn="ctr"/>
            <a:r>
              <a:rPr lang="en-US" altLang="ja-JP" sz="1200" b="1" dirty="0">
                <a:solidFill>
                  <a:srgbClr val="FFFF00"/>
                </a:solidFill>
                <a:latin typeface="メイリオ" panose="020B0604030504040204" pitchFamily="50" charset="-128"/>
                <a:ea typeface="メイリオ" panose="020B0604030504040204" pitchFamily="50" charset="-128"/>
              </a:rPr>
              <a:t>※CPF</a:t>
            </a:r>
            <a:r>
              <a:rPr lang="ja-JP" altLang="en-US" sz="1200" b="1" dirty="0">
                <a:solidFill>
                  <a:srgbClr val="FFFF00"/>
                </a:solidFill>
                <a:latin typeface="メイリオ" panose="020B0604030504040204" pitchFamily="50" charset="-128"/>
                <a:ea typeface="メイリオ" panose="020B0604030504040204" pitchFamily="50" charset="-128"/>
              </a:rPr>
              <a:t>広告</a:t>
            </a:r>
            <a:r>
              <a:rPr lang="en-US" altLang="ja-JP" sz="1200" b="1" dirty="0">
                <a:solidFill>
                  <a:srgbClr val="FFFF00"/>
                </a:solidFill>
                <a:latin typeface="メイリオ" panose="020B0604030504040204" pitchFamily="50" charset="-128"/>
                <a:ea typeface="メイリオ" panose="020B0604030504040204" pitchFamily="50" charset="-128"/>
              </a:rPr>
              <a:t>※</a:t>
            </a:r>
          </a:p>
        </p:txBody>
      </p:sp>
      <p:sp>
        <p:nvSpPr>
          <p:cNvPr id="54" name="正方形/長方形 53">
            <a:extLst>
              <a:ext uri="{FF2B5EF4-FFF2-40B4-BE49-F238E27FC236}">
                <a16:creationId xmlns:a16="http://schemas.microsoft.com/office/drawing/2014/main" id="{CBF7AEFA-2BE6-4972-0C9D-4ED6780F0997}"/>
              </a:ext>
            </a:extLst>
          </p:cNvPr>
          <p:cNvSpPr/>
          <p:nvPr/>
        </p:nvSpPr>
        <p:spPr>
          <a:xfrm>
            <a:off x="2938369" y="776858"/>
            <a:ext cx="6482455" cy="584775"/>
          </a:xfrm>
          <a:prstGeom prst="rect">
            <a:avLst/>
          </a:prstGeom>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lvl="0">
              <a:buClr>
                <a:srgbClr val="002060"/>
              </a:buClr>
              <a:buSzPts val="1600"/>
            </a:pP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公式アカウントの友だちを増やすための広告を、</a:t>
            </a:r>
            <a:br>
              <a:rPr lang="en-US" altLang="ja-JP" sz="1600" b="1" dirty="0">
                <a:solidFill>
                  <a:schemeClr val="tx1">
                    <a:lumMod val="65000"/>
                    <a:lumOff val="35000"/>
                  </a:schemeClr>
                </a:solidFill>
                <a:latin typeface="Meiryo"/>
                <a:ea typeface="Meiryo"/>
                <a:cs typeface="Meiryo"/>
                <a:sym typeface="Meiryo"/>
              </a:rPr>
            </a:b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広告の管理画面より</a:t>
            </a: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アプリ内で掲載できる機能。</a:t>
            </a:r>
            <a:endParaRPr lang="en-US" altLang="ja-JP" sz="1600" b="1" dirty="0">
              <a:solidFill>
                <a:schemeClr val="tx1">
                  <a:lumMod val="65000"/>
                  <a:lumOff val="35000"/>
                </a:schemeClr>
              </a:solidFill>
              <a:latin typeface="Meiryo"/>
              <a:ea typeface="Meiryo"/>
              <a:cs typeface="Meiryo"/>
              <a:sym typeface="Meiryo"/>
            </a:endParaRPr>
          </a:p>
        </p:txBody>
      </p:sp>
      <p:grpSp>
        <p:nvGrpSpPr>
          <p:cNvPr id="55" name="グループ化 54">
            <a:extLst>
              <a:ext uri="{FF2B5EF4-FFF2-40B4-BE49-F238E27FC236}">
                <a16:creationId xmlns:a16="http://schemas.microsoft.com/office/drawing/2014/main" id="{AA1E2469-A533-1A69-9E3E-DCA5ECAE64F8}"/>
              </a:ext>
            </a:extLst>
          </p:cNvPr>
          <p:cNvGrpSpPr/>
          <p:nvPr/>
        </p:nvGrpSpPr>
        <p:grpSpPr>
          <a:xfrm>
            <a:off x="516143" y="1563631"/>
            <a:ext cx="2696339" cy="312276"/>
            <a:chOff x="548883" y="1619331"/>
            <a:chExt cx="2696339" cy="312276"/>
          </a:xfrm>
        </p:grpSpPr>
        <p:sp>
          <p:nvSpPr>
            <p:cNvPr id="56" name="四角形: 角を丸くする 55">
              <a:extLst>
                <a:ext uri="{FF2B5EF4-FFF2-40B4-BE49-F238E27FC236}">
                  <a16:creationId xmlns:a16="http://schemas.microsoft.com/office/drawing/2014/main" id="{A2BD085E-2BC4-9C8E-5DC8-B72B3DDB8E8D}"/>
                </a:ext>
              </a:extLst>
            </p:cNvPr>
            <p:cNvSpPr/>
            <p:nvPr/>
          </p:nvSpPr>
          <p:spPr>
            <a:xfrm>
              <a:off x="548883" y="1619331"/>
              <a:ext cx="2696339" cy="302592"/>
            </a:xfrm>
            <a:prstGeom prst="round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ctr"/>
              <a:endParaRPr kumimoji="1" lang="ja-JP" altLang="en-US"/>
            </a:p>
          </p:txBody>
        </p:sp>
        <p:sp>
          <p:nvSpPr>
            <p:cNvPr id="57" name="正方形/長方形 56">
              <a:extLst>
                <a:ext uri="{FF2B5EF4-FFF2-40B4-BE49-F238E27FC236}">
                  <a16:creationId xmlns:a16="http://schemas.microsoft.com/office/drawing/2014/main" id="{560B246B-790F-6D05-28ED-13ABB1AF3BEC}"/>
                </a:ext>
              </a:extLst>
            </p:cNvPr>
            <p:cNvSpPr/>
            <p:nvPr/>
          </p:nvSpPr>
          <p:spPr>
            <a:xfrm>
              <a:off x="548883" y="1654608"/>
              <a:ext cx="2696339" cy="276999"/>
            </a:xfrm>
            <a:prstGeom prst="rect">
              <a:avLst/>
            </a:prstGeom>
            <a:noFill/>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lvl="0" algn="ctr">
                <a:buClr>
                  <a:srgbClr val="002060"/>
                </a:buClr>
                <a:buSzPts val="1600"/>
              </a:pPr>
              <a:r>
                <a:rPr lang="en-US" altLang="ja-JP" sz="1200" b="1" dirty="0">
                  <a:solidFill>
                    <a:srgbClr val="0070C0"/>
                  </a:solidFill>
                  <a:latin typeface="Meiryo"/>
                  <a:ea typeface="Meiryo"/>
                  <a:cs typeface="Meiryo"/>
                  <a:sym typeface="Meiryo"/>
                </a:rPr>
                <a:t>LINE</a:t>
              </a:r>
              <a:r>
                <a:rPr lang="ja-JP" altLang="en-US" sz="1200" b="1" dirty="0">
                  <a:solidFill>
                    <a:srgbClr val="0070C0"/>
                  </a:solidFill>
                  <a:latin typeface="Meiryo"/>
                  <a:ea typeface="Meiryo"/>
                  <a:cs typeface="Meiryo"/>
                  <a:sym typeface="Meiryo"/>
                </a:rPr>
                <a:t>公式アカウントまでの導線</a:t>
              </a:r>
              <a:endParaRPr lang="en-US" altLang="ja-JP" sz="1200" b="1" dirty="0">
                <a:solidFill>
                  <a:srgbClr val="0070C0"/>
                </a:solidFill>
                <a:latin typeface="Meiryo"/>
                <a:ea typeface="Meiryo"/>
                <a:cs typeface="Meiryo"/>
                <a:sym typeface="Meiryo"/>
              </a:endParaRPr>
            </a:p>
          </p:txBody>
        </p:sp>
      </p:grpSp>
      <p:grpSp>
        <p:nvGrpSpPr>
          <p:cNvPr id="58" name="グループ化 57">
            <a:extLst>
              <a:ext uri="{FF2B5EF4-FFF2-40B4-BE49-F238E27FC236}">
                <a16:creationId xmlns:a16="http://schemas.microsoft.com/office/drawing/2014/main" id="{27EC4882-F1F7-3407-18D9-449D2F776799}"/>
              </a:ext>
            </a:extLst>
          </p:cNvPr>
          <p:cNvGrpSpPr/>
          <p:nvPr/>
        </p:nvGrpSpPr>
        <p:grpSpPr>
          <a:xfrm>
            <a:off x="516142" y="3819645"/>
            <a:ext cx="2696339" cy="312276"/>
            <a:chOff x="548883" y="1619331"/>
            <a:chExt cx="2696339" cy="312276"/>
          </a:xfrm>
        </p:grpSpPr>
        <p:sp>
          <p:nvSpPr>
            <p:cNvPr id="59" name="四角形: 角を丸くする 58">
              <a:extLst>
                <a:ext uri="{FF2B5EF4-FFF2-40B4-BE49-F238E27FC236}">
                  <a16:creationId xmlns:a16="http://schemas.microsoft.com/office/drawing/2014/main" id="{6B1769D7-5324-51AE-1D2D-802E7FFC46C9}"/>
                </a:ext>
              </a:extLst>
            </p:cNvPr>
            <p:cNvSpPr/>
            <p:nvPr/>
          </p:nvSpPr>
          <p:spPr>
            <a:xfrm>
              <a:off x="548883" y="1619331"/>
              <a:ext cx="2696339" cy="302592"/>
            </a:xfrm>
            <a:prstGeom prst="round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ctr"/>
              <a:endParaRPr kumimoji="1" lang="ja-JP" altLang="en-US"/>
            </a:p>
          </p:txBody>
        </p:sp>
        <p:sp>
          <p:nvSpPr>
            <p:cNvPr id="60" name="正方形/長方形 59">
              <a:extLst>
                <a:ext uri="{FF2B5EF4-FFF2-40B4-BE49-F238E27FC236}">
                  <a16:creationId xmlns:a16="http://schemas.microsoft.com/office/drawing/2014/main" id="{A0FD1FD7-9083-04AC-7FC2-C1EDD68A2FCA}"/>
                </a:ext>
              </a:extLst>
            </p:cNvPr>
            <p:cNvSpPr/>
            <p:nvPr/>
          </p:nvSpPr>
          <p:spPr>
            <a:xfrm>
              <a:off x="548883" y="1654608"/>
              <a:ext cx="2696339" cy="276999"/>
            </a:xfrm>
            <a:prstGeom prst="rect">
              <a:avLst/>
            </a:prstGeom>
            <a:noFill/>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lvl="0" algn="ctr">
                <a:buClr>
                  <a:srgbClr val="002060"/>
                </a:buClr>
                <a:buSzPts val="1600"/>
              </a:pPr>
              <a:r>
                <a:rPr lang="ja-JP" altLang="en-US" sz="1200" b="1" dirty="0">
                  <a:solidFill>
                    <a:srgbClr val="0070C0"/>
                  </a:solidFill>
                  <a:latin typeface="Meiryo"/>
                  <a:ea typeface="Meiryo"/>
                  <a:cs typeface="Meiryo"/>
                  <a:sym typeface="Meiryo"/>
                </a:rPr>
                <a:t>「友だち追加広告」との違い</a:t>
              </a:r>
              <a:endParaRPr lang="en-US" altLang="ja-JP" sz="1200" b="1" dirty="0">
                <a:solidFill>
                  <a:srgbClr val="0070C0"/>
                </a:solidFill>
                <a:latin typeface="Meiryo"/>
                <a:ea typeface="Meiryo"/>
                <a:cs typeface="Meiryo"/>
                <a:sym typeface="Meiryo"/>
              </a:endParaRPr>
            </a:p>
          </p:txBody>
        </p:sp>
      </p:grpSp>
      <p:pic>
        <p:nvPicPr>
          <p:cNvPr id="61" name="table">
            <a:extLst>
              <a:ext uri="{FF2B5EF4-FFF2-40B4-BE49-F238E27FC236}">
                <a16:creationId xmlns:a16="http://schemas.microsoft.com/office/drawing/2014/main" id="{9AC26B4B-6733-A76D-2762-4EE39F3BE270}"/>
              </a:ext>
            </a:extLst>
          </p:cNvPr>
          <p:cNvPicPr>
            <a:picLocks noChangeAspect="1"/>
          </p:cNvPicPr>
          <p:nvPr/>
        </p:nvPicPr>
        <p:blipFill>
          <a:blip r:embed="rId3"/>
          <a:stretch>
            <a:fillRect/>
          </a:stretch>
        </p:blipFill>
        <p:spPr>
          <a:xfrm>
            <a:off x="787611" y="4201880"/>
            <a:ext cx="8672139" cy="2202180"/>
          </a:xfrm>
          <a:prstGeom prst="rect">
            <a:avLst/>
          </a:prstGeom>
        </p:spPr>
      </p:pic>
      <p:sp>
        <p:nvSpPr>
          <p:cNvPr id="62" name="矢印: 右 61">
            <a:extLst>
              <a:ext uri="{FF2B5EF4-FFF2-40B4-BE49-F238E27FC236}">
                <a16:creationId xmlns:a16="http://schemas.microsoft.com/office/drawing/2014/main" id="{FAA46C63-E291-C5BA-59B1-5AA6EB934DE7}"/>
              </a:ext>
            </a:extLst>
          </p:cNvPr>
          <p:cNvSpPr/>
          <p:nvPr/>
        </p:nvSpPr>
        <p:spPr>
          <a:xfrm>
            <a:off x="5232623" y="2618810"/>
            <a:ext cx="430306" cy="352298"/>
          </a:xfrm>
          <a:prstGeom prst="rightArrow">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ctr"/>
            <a:endParaRPr kumimoji="1" lang="ja-JP" altLang="en-US"/>
          </a:p>
        </p:txBody>
      </p:sp>
      <p:pic>
        <p:nvPicPr>
          <p:cNvPr id="63" name="図 62">
            <a:extLst>
              <a:ext uri="{FF2B5EF4-FFF2-40B4-BE49-F238E27FC236}">
                <a16:creationId xmlns:a16="http://schemas.microsoft.com/office/drawing/2014/main" id="{15AB3743-9D18-6CD5-EBAE-3179EFAD1455}"/>
              </a:ext>
            </a:extLst>
          </p:cNvPr>
          <p:cNvPicPr>
            <a:picLocks noChangeAspect="1"/>
          </p:cNvPicPr>
          <p:nvPr/>
        </p:nvPicPr>
        <p:blipFill>
          <a:blip r:embed="rId4"/>
          <a:srcRect l="35517" r="35515"/>
          <a:stretch>
            <a:fillRect/>
          </a:stretch>
        </p:blipFill>
        <p:spPr>
          <a:xfrm>
            <a:off x="6038472" y="1875907"/>
            <a:ext cx="917480" cy="1779333"/>
          </a:xfrm>
          <a:prstGeom prst="rect">
            <a:avLst/>
          </a:prstGeom>
        </p:spPr>
      </p:pic>
      <p:sp>
        <p:nvSpPr>
          <p:cNvPr id="64" name="テキスト ボックス 34">
            <a:extLst>
              <a:ext uri="{FF2B5EF4-FFF2-40B4-BE49-F238E27FC236}">
                <a16:creationId xmlns:a16="http://schemas.microsoft.com/office/drawing/2014/main" id="{F684D30B-FB35-7D4D-6BE2-919C8EE56C1F}"/>
              </a:ext>
            </a:extLst>
          </p:cNvPr>
          <p:cNvSpPr txBox="1"/>
          <p:nvPr/>
        </p:nvSpPr>
        <p:spPr>
          <a:xfrm>
            <a:off x="6868291" y="2618810"/>
            <a:ext cx="2705100" cy="523220"/>
          </a:xfrm>
          <a:prstGeom prst="rect">
            <a:avLst/>
          </a:prstGeom>
          <a:noFill/>
        </p:spPr>
        <p:txBody>
          <a:bodyPr wrap="squar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r>
              <a:rPr kumimoji="1" lang="en-US" altLang="ja-JP" sz="1200" dirty="0">
                <a:latin typeface="メイリオ" panose="020B0604030504040204" pitchFamily="50" charset="-128"/>
                <a:ea typeface="メイリオ" panose="020B0604030504040204" pitchFamily="50" charset="-128"/>
              </a:rPr>
              <a:t>LINE</a:t>
            </a:r>
            <a:r>
              <a:rPr kumimoji="1" lang="ja-JP" altLang="en-US" sz="1200" dirty="0">
                <a:latin typeface="メイリオ" panose="020B0604030504040204" pitchFamily="50" charset="-128"/>
                <a:ea typeface="メイリオ" panose="020B0604030504040204" pitchFamily="50" charset="-128"/>
              </a:rPr>
              <a:t>アプリ内から</a:t>
            </a:r>
            <a:br>
              <a:rPr kumimoji="1" lang="en-US" altLang="ja-JP" sz="1200" dirty="0">
                <a:latin typeface="メイリオ" panose="020B0604030504040204" pitchFamily="50" charset="-128"/>
                <a:ea typeface="メイリオ" panose="020B0604030504040204" pitchFamily="50" charset="-128"/>
              </a:rPr>
            </a:br>
            <a:r>
              <a:rPr kumimoji="1" lang="ja-JP" altLang="en-US" sz="1200" dirty="0">
                <a:latin typeface="メイリオ" panose="020B0604030504040204" pitchFamily="50" charset="-128"/>
                <a:ea typeface="メイリオ" panose="020B0604030504040204" pitchFamily="50" charset="-128"/>
              </a:rPr>
              <a:t>自社アカウントに</a:t>
            </a:r>
            <a:r>
              <a:rPr kumimoji="1" lang="en-US" altLang="ja-JP" sz="1600" b="1" dirty="0">
                <a:solidFill>
                  <a:srgbClr val="33CC33"/>
                </a:solidFill>
                <a:latin typeface="メイリオ" panose="020B0604030504040204" pitchFamily="50" charset="-128"/>
                <a:ea typeface="メイリオ" panose="020B0604030504040204" pitchFamily="50" charset="-128"/>
              </a:rPr>
              <a:t>“</a:t>
            </a:r>
            <a:r>
              <a:rPr kumimoji="1" lang="ja-JP" altLang="en-US" sz="1600" b="1" dirty="0">
                <a:solidFill>
                  <a:srgbClr val="33CC33"/>
                </a:solidFill>
                <a:latin typeface="メイリオ" panose="020B0604030504040204" pitchFamily="50" charset="-128"/>
                <a:ea typeface="メイリオ" panose="020B0604030504040204" pitchFamily="50" charset="-128"/>
              </a:rPr>
              <a:t>直接</a:t>
            </a:r>
            <a:r>
              <a:rPr kumimoji="1" lang="en-US" altLang="ja-JP" sz="1600" b="1" dirty="0">
                <a:solidFill>
                  <a:srgbClr val="33CC33"/>
                </a:solidFill>
                <a:latin typeface="メイリオ" panose="020B0604030504040204" pitchFamily="50" charset="-128"/>
                <a:ea typeface="メイリオ" panose="020B0604030504040204" pitchFamily="50" charset="-128"/>
              </a:rPr>
              <a:t>”</a:t>
            </a:r>
            <a:r>
              <a:rPr kumimoji="1" lang="ja-JP" altLang="en-US" sz="1200" dirty="0">
                <a:latin typeface="メイリオ" panose="020B0604030504040204" pitchFamily="50" charset="-128"/>
                <a:ea typeface="メイリオ" panose="020B0604030504040204" pitchFamily="50" charset="-128"/>
              </a:rPr>
              <a:t>誘導</a:t>
            </a:r>
            <a:endParaRPr kumimoji="1" lang="en-US" altLang="ja-JP" sz="1200"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3574118905"/>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正方形/長方形 18"/>
          <p:cNvSpPr>
            <a:spLocks noChangeArrowheads="1"/>
          </p:cNvSpPr>
          <p:nvPr/>
        </p:nvSpPr>
        <p:spPr bwMode="auto">
          <a:xfrm>
            <a:off x="1649030" y="5820984"/>
            <a:ext cx="6192837" cy="37362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p>
            <a:pPr marL="0" lvl="1" fontAlgn="base">
              <a:spcBef>
                <a:spcPct val="20000"/>
              </a:spcBef>
              <a:spcAft>
                <a:spcPct val="0"/>
              </a:spcAft>
              <a:defRPr/>
            </a:pPr>
            <a:r>
              <a:rPr lang="ja-JP" altLang="en-US" sz="831" b="1" dirty="0">
                <a:solidFill>
                  <a:prstClr val="black"/>
                </a:solidFill>
                <a:latin typeface="メイリオ"/>
                <a:ea typeface="メイリオ"/>
                <a:cs typeface="メイリオ"/>
              </a:rPr>
              <a:t>株式会社</a:t>
            </a:r>
            <a:r>
              <a:rPr lang="en-US" altLang="ja-JP" sz="831" b="1" dirty="0">
                <a:solidFill>
                  <a:prstClr val="black"/>
                </a:solidFill>
                <a:latin typeface="メイリオ"/>
                <a:ea typeface="メイリオ"/>
                <a:cs typeface="メイリオ"/>
              </a:rPr>
              <a:t>DYM</a:t>
            </a:r>
            <a:r>
              <a:rPr lang="ja-JP" altLang="en-US" sz="831" b="1" dirty="0">
                <a:solidFill>
                  <a:prstClr val="black"/>
                </a:solidFill>
                <a:latin typeface="メイリオ"/>
                <a:ea typeface="メイリオ"/>
                <a:cs typeface="メイリオ"/>
              </a:rPr>
              <a:t>　〒</a:t>
            </a:r>
            <a:r>
              <a:rPr lang="en-US" altLang="ja-JP" sz="831" b="1" dirty="0">
                <a:solidFill>
                  <a:prstClr val="black"/>
                </a:solidFill>
                <a:latin typeface="メイリオ"/>
                <a:ea typeface="メイリオ"/>
                <a:cs typeface="メイリオ"/>
              </a:rPr>
              <a:t>141-0032</a:t>
            </a:r>
            <a:r>
              <a:rPr lang="ja-JP" altLang="en-US" sz="831" b="1" dirty="0">
                <a:solidFill>
                  <a:prstClr val="black"/>
                </a:solidFill>
                <a:latin typeface="メイリオ"/>
                <a:ea typeface="メイリオ"/>
                <a:cs typeface="メイリオ"/>
              </a:rPr>
              <a:t>　東京都品川区大崎</a:t>
            </a:r>
            <a:r>
              <a:rPr lang="en-US" altLang="ja-JP" sz="831" b="1" dirty="0">
                <a:solidFill>
                  <a:prstClr val="black"/>
                </a:solidFill>
                <a:latin typeface="メイリオ"/>
                <a:ea typeface="メイリオ"/>
                <a:cs typeface="メイリオ"/>
              </a:rPr>
              <a:t>1-11-2</a:t>
            </a:r>
            <a:r>
              <a:rPr lang="ja-JP" altLang="en-US" sz="831" b="1" dirty="0">
                <a:solidFill>
                  <a:prstClr val="black"/>
                </a:solidFill>
                <a:latin typeface="メイリオ"/>
                <a:ea typeface="メイリオ"/>
                <a:cs typeface="メイリオ"/>
              </a:rPr>
              <a:t>　ゲートシティ大崎イーストタワー</a:t>
            </a:r>
            <a:r>
              <a:rPr lang="en-US" altLang="ja-JP" sz="831" b="1" dirty="0">
                <a:solidFill>
                  <a:prstClr val="black"/>
                </a:solidFill>
                <a:latin typeface="メイリオ"/>
                <a:ea typeface="メイリオ"/>
                <a:cs typeface="メイリオ"/>
              </a:rPr>
              <a:t>10</a:t>
            </a:r>
            <a:r>
              <a:rPr lang="ja-JP" altLang="en-US" sz="831" b="1" dirty="0">
                <a:solidFill>
                  <a:prstClr val="black"/>
                </a:solidFill>
                <a:latin typeface="メイリオ"/>
                <a:ea typeface="メイリオ"/>
                <a:cs typeface="メイリオ"/>
              </a:rPr>
              <a:t>階</a:t>
            </a:r>
            <a:endParaRPr lang="en-US" altLang="ja-JP" sz="831" b="1" dirty="0">
              <a:solidFill>
                <a:prstClr val="black"/>
              </a:solidFill>
              <a:latin typeface="メイリオ"/>
              <a:ea typeface="メイリオ"/>
              <a:cs typeface="メイリオ"/>
            </a:endParaRPr>
          </a:p>
          <a:p>
            <a:pPr marL="0" lvl="1" fontAlgn="base">
              <a:spcBef>
                <a:spcPct val="20000"/>
              </a:spcBef>
              <a:spcAft>
                <a:spcPct val="0"/>
              </a:spcAft>
              <a:defRPr/>
            </a:pPr>
            <a:r>
              <a:rPr lang="en-US" altLang="ja-JP" sz="831" b="1" dirty="0">
                <a:solidFill>
                  <a:prstClr val="black"/>
                </a:solidFill>
                <a:latin typeface="メイリオ"/>
                <a:ea typeface="メイリオ"/>
                <a:cs typeface="メイリオ"/>
              </a:rPr>
              <a:t>TEL: 03-5745-0200</a:t>
            </a:r>
            <a:r>
              <a:rPr lang="ja-JP" altLang="en-US" sz="831" b="1" dirty="0">
                <a:solidFill>
                  <a:prstClr val="black"/>
                </a:solidFill>
                <a:latin typeface="メイリオ"/>
                <a:ea typeface="メイリオ"/>
                <a:cs typeface="メイリオ"/>
              </a:rPr>
              <a:t>　</a:t>
            </a:r>
            <a:r>
              <a:rPr lang="en-US" altLang="ja-JP" sz="831" b="1" dirty="0">
                <a:solidFill>
                  <a:prstClr val="black"/>
                </a:solidFill>
                <a:latin typeface="メイリオ"/>
                <a:ea typeface="メイリオ"/>
                <a:cs typeface="メイリオ"/>
              </a:rPr>
              <a:t>FAX: 03-3779-8720 </a:t>
            </a:r>
            <a:r>
              <a:rPr lang="ja-JP" altLang="en-US" sz="831" b="1" dirty="0">
                <a:solidFill>
                  <a:prstClr val="black"/>
                </a:solidFill>
                <a:latin typeface="メイリオ"/>
                <a:ea typeface="メイリオ"/>
                <a:cs typeface="メイリオ"/>
              </a:rPr>
              <a:t>　</a:t>
            </a:r>
            <a:r>
              <a:rPr lang="en-US" altLang="ja-JP" sz="831" b="1" dirty="0">
                <a:solidFill>
                  <a:prstClr val="black"/>
                </a:solidFill>
                <a:latin typeface="メイリオ"/>
                <a:ea typeface="メイリオ"/>
                <a:cs typeface="メイリオ"/>
              </a:rPr>
              <a:t>http://dym.asia   </a:t>
            </a:r>
            <a:r>
              <a:rPr lang="ja-JP" altLang="en-US" sz="831" b="1" dirty="0">
                <a:solidFill>
                  <a:prstClr val="black"/>
                </a:solidFill>
                <a:latin typeface="メイリオ"/>
                <a:ea typeface="メイリオ"/>
                <a:cs typeface="メイリオ"/>
              </a:rPr>
              <a:t>代表取締役　水谷佑毅</a:t>
            </a:r>
          </a:p>
        </p:txBody>
      </p:sp>
      <p:pic>
        <p:nvPicPr>
          <p:cNvPr id="24" name="図 1"/>
          <p:cNvPicPr>
            <a:picLocks noChangeAspect="1"/>
          </p:cNvPicPr>
          <p:nvPr/>
        </p:nvPicPr>
        <p:blipFill rotWithShape="1">
          <a:blip r:embed="rId3" cstate="email">
            <a:extLst>
              <a:ext uri="{28A0092B-C50C-407E-A947-70E740481C1C}">
                <a14:useLocalDpi xmlns:a14="http://schemas.microsoft.com/office/drawing/2010/main"/>
              </a:ext>
            </a:extLst>
          </a:blip>
          <a:srcRect l="-1647" r="-11171"/>
          <a:stretch/>
        </p:blipFill>
        <p:spPr bwMode="auto">
          <a:xfrm>
            <a:off x="543897" y="5895365"/>
            <a:ext cx="1100981" cy="22486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 name="テキスト ボックス 2"/>
          <p:cNvSpPr txBox="1"/>
          <p:nvPr/>
        </p:nvSpPr>
        <p:spPr>
          <a:xfrm>
            <a:off x="5070232" y="5597769"/>
            <a:ext cx="184731" cy="369332"/>
          </a:xfrm>
          <a:prstGeom prst="rect">
            <a:avLst/>
          </a:prstGeom>
          <a:noFill/>
        </p:spPr>
        <p:txBody>
          <a:bodyPr wrap="none" rtlCol="0">
            <a:spAutoFit/>
          </a:bodyPr>
          <a:lstStyle/>
          <a:p>
            <a:pPr fontAlgn="base">
              <a:spcBef>
                <a:spcPct val="0"/>
              </a:spcBef>
              <a:spcAft>
                <a:spcPct val="0"/>
              </a:spcAft>
              <a:defRPr/>
            </a:pPr>
            <a:endParaRPr lang="ja-JP" altLang="en-US">
              <a:solidFill>
                <a:prstClr val="black"/>
              </a:solidFill>
              <a:latin typeface="Arial" pitchFamily="34" charset="0"/>
              <a:ea typeface="ＭＳ Ｐゴシック" pitchFamily="50" charset="-128"/>
            </a:endParaRPr>
          </a:p>
        </p:txBody>
      </p:sp>
      <p:sp>
        <p:nvSpPr>
          <p:cNvPr id="18" name="正方形/長方形 17"/>
          <p:cNvSpPr/>
          <p:nvPr/>
        </p:nvSpPr>
        <p:spPr>
          <a:xfrm>
            <a:off x="2170038" y="989684"/>
            <a:ext cx="5565924" cy="369332"/>
          </a:xfrm>
          <a:prstGeom prst="rect">
            <a:avLst/>
          </a:prstGeom>
        </p:spPr>
        <p:txBody>
          <a:bodyPr wrap="square">
            <a:spAutoFit/>
          </a:bodyPr>
          <a:lstStyle/>
          <a:p>
            <a:pPr algn="ctr" fontAlgn="base">
              <a:spcBef>
                <a:spcPct val="20000"/>
              </a:spcBef>
              <a:spcAft>
                <a:spcPct val="0"/>
              </a:spcAft>
              <a:defRPr/>
            </a:pPr>
            <a:r>
              <a:rPr lang="ja-JP" altLang="en-US" b="1" dirty="0">
                <a:solidFill>
                  <a:prstClr val="black"/>
                </a:solidFill>
                <a:latin typeface="メイリオ" charset="0"/>
                <a:ea typeface="メイリオ" charset="0"/>
                <a:cs typeface="メイリオ" charset="0"/>
              </a:rPr>
              <a:t>貴社の明るい未来に必ず貢献致します。</a:t>
            </a:r>
          </a:p>
        </p:txBody>
      </p:sp>
      <p:sp>
        <p:nvSpPr>
          <p:cNvPr id="14" name="正方形/長方形 13"/>
          <p:cNvSpPr/>
          <p:nvPr/>
        </p:nvSpPr>
        <p:spPr>
          <a:xfrm>
            <a:off x="382695" y="2698377"/>
            <a:ext cx="598220" cy="205890"/>
          </a:xfrm>
          <a:prstGeom prst="rect">
            <a:avLst/>
          </a:prstGeom>
        </p:spPr>
        <p:txBody>
          <a:bodyPr wrap="square">
            <a:spAutoFit/>
          </a:bodyPr>
          <a:lstStyle/>
          <a:p>
            <a:pPr algn="ctr" fontAlgn="base">
              <a:spcBef>
                <a:spcPct val="20000"/>
              </a:spcBef>
              <a:spcAft>
                <a:spcPct val="0"/>
              </a:spcAft>
              <a:defRPr/>
            </a:pPr>
            <a:r>
              <a:rPr lang="ja-JP" altLang="en-US" sz="738">
                <a:solidFill>
                  <a:srgbClr val="FFFFFF"/>
                </a:solidFill>
                <a:latin typeface="メイリオ" charset="0"/>
                <a:ea typeface="メイリオ" charset="0"/>
                <a:cs typeface="メイリオ" charset="0"/>
              </a:rPr>
              <a:t>本社</a:t>
            </a:r>
          </a:p>
        </p:txBody>
      </p:sp>
      <p:sp>
        <p:nvSpPr>
          <p:cNvPr id="15" name="正方形/長方形 14"/>
          <p:cNvSpPr/>
          <p:nvPr/>
        </p:nvSpPr>
        <p:spPr>
          <a:xfrm>
            <a:off x="368300" y="2355213"/>
            <a:ext cx="756684" cy="215444"/>
          </a:xfrm>
          <a:prstGeom prst="rect">
            <a:avLst/>
          </a:prstGeom>
        </p:spPr>
        <p:txBody>
          <a:bodyPr wrap="square">
            <a:spAutoFit/>
          </a:bodyPr>
          <a:lstStyle/>
          <a:p>
            <a:pPr algn="ctr" fontAlgn="base">
              <a:spcBef>
                <a:spcPct val="20000"/>
              </a:spcBef>
              <a:spcAft>
                <a:spcPct val="0"/>
              </a:spcAft>
              <a:defRPr/>
            </a:pPr>
            <a:r>
              <a:rPr lang="ja-JP" altLang="en-US" sz="800" dirty="0">
                <a:solidFill>
                  <a:srgbClr val="FFFFFF"/>
                </a:solidFill>
                <a:latin typeface="メイリオ" charset="0"/>
                <a:ea typeface="メイリオ" charset="0"/>
                <a:cs typeface="メイリオ" charset="0"/>
              </a:rPr>
              <a:t>本社</a:t>
            </a:r>
          </a:p>
        </p:txBody>
      </p:sp>
      <p:grpSp>
        <p:nvGrpSpPr>
          <p:cNvPr id="22" name="グループ化 21">
            <a:extLst>
              <a:ext uri="{FF2B5EF4-FFF2-40B4-BE49-F238E27FC236}">
                <a16:creationId xmlns:a16="http://schemas.microsoft.com/office/drawing/2014/main" id="{05A1AABC-CDB8-5B83-4CFD-649967A361BF}"/>
              </a:ext>
            </a:extLst>
          </p:cNvPr>
          <p:cNvGrpSpPr/>
          <p:nvPr/>
        </p:nvGrpSpPr>
        <p:grpSpPr>
          <a:xfrm>
            <a:off x="381002" y="1772817"/>
            <a:ext cx="9143999" cy="3314853"/>
            <a:chOff x="1" y="1772816"/>
            <a:chExt cx="9143999" cy="3314853"/>
          </a:xfrm>
        </p:grpSpPr>
        <p:pic>
          <p:nvPicPr>
            <p:cNvPr id="21" name="図 20" descr="ポーズをとる男性グループ&#10;&#10;自動的に生成された説明">
              <a:extLst>
                <a:ext uri="{FF2B5EF4-FFF2-40B4-BE49-F238E27FC236}">
                  <a16:creationId xmlns:a16="http://schemas.microsoft.com/office/drawing/2014/main" id="{4927F40E-D146-C638-5583-C9DC2984722E}"/>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l="3642" r="4076"/>
            <a:stretch/>
          </p:blipFill>
          <p:spPr>
            <a:xfrm>
              <a:off x="6973793" y="3518745"/>
              <a:ext cx="2170207" cy="1567781"/>
            </a:xfrm>
            <a:prstGeom prst="rect">
              <a:avLst/>
            </a:prstGeom>
          </p:spPr>
        </p:pic>
        <p:pic>
          <p:nvPicPr>
            <p:cNvPr id="16" name="図 15" descr="白いシャツを着ている男性&#10;&#10;中程度の精度で自動的に生成された説明">
              <a:extLst>
                <a:ext uri="{FF2B5EF4-FFF2-40B4-BE49-F238E27FC236}">
                  <a16:creationId xmlns:a16="http://schemas.microsoft.com/office/drawing/2014/main" id="{2ECDFCA7-8611-D865-F999-FDCD0EC21269}"/>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4983808" y="3519888"/>
              <a:ext cx="1989985" cy="1567781"/>
            </a:xfrm>
            <a:prstGeom prst="rect">
              <a:avLst/>
            </a:prstGeom>
          </p:spPr>
        </p:pic>
        <p:pic>
          <p:nvPicPr>
            <p:cNvPr id="10" name="図 9" descr="スーツを着た男性たち&#10;&#10;自動的に生成された説明">
              <a:extLst>
                <a:ext uri="{FF2B5EF4-FFF2-40B4-BE49-F238E27FC236}">
                  <a16:creationId xmlns:a16="http://schemas.microsoft.com/office/drawing/2014/main" id="{9D3AD52A-1514-4350-FFDD-09984B3666E2}"/>
                </a:ext>
              </a:extLst>
            </p:cNvPr>
            <p:cNvPicPr>
              <a:picLocks noChangeAspect="1"/>
            </p:cNvPicPr>
            <p:nvPr/>
          </p:nvPicPr>
          <p:blipFill rotWithShape="1">
            <a:blip r:embed="rId6" cstate="print">
              <a:extLst>
                <a:ext uri="{28A0092B-C50C-407E-A947-70E740481C1C}">
                  <a14:useLocalDpi xmlns:a14="http://schemas.microsoft.com/office/drawing/2010/main" val="0"/>
                </a:ext>
              </a:extLst>
            </a:blip>
            <a:srcRect l="10703" r="10363"/>
            <a:stretch/>
          </p:blipFill>
          <p:spPr>
            <a:xfrm>
              <a:off x="7299681" y="1773979"/>
              <a:ext cx="1842624" cy="1745909"/>
            </a:xfrm>
            <a:prstGeom prst="rect">
              <a:avLst/>
            </a:prstGeom>
          </p:spPr>
        </p:pic>
        <p:pic>
          <p:nvPicPr>
            <p:cNvPr id="7" name="図 6" descr="講堂にいる人たち&#10;&#10;中程度の精度で自動的に生成された説明">
              <a:extLst>
                <a:ext uri="{FF2B5EF4-FFF2-40B4-BE49-F238E27FC236}">
                  <a16:creationId xmlns:a16="http://schemas.microsoft.com/office/drawing/2014/main" id="{B1CA0DFF-0DAF-D5BD-8D9F-8AFB103E2698}"/>
                </a:ext>
              </a:extLst>
            </p:cNvPr>
            <p:cNvPicPr>
              <a:picLocks noChangeAspect="1"/>
            </p:cNvPicPr>
            <p:nvPr/>
          </p:nvPicPr>
          <p:blipFill rotWithShape="1">
            <a:blip r:embed="rId7" cstate="print">
              <a:extLst>
                <a:ext uri="{28A0092B-C50C-407E-A947-70E740481C1C}">
                  <a14:useLocalDpi xmlns:a14="http://schemas.microsoft.com/office/drawing/2010/main" val="0"/>
                </a:ext>
              </a:extLst>
            </a:blip>
            <a:srcRect l="2512" t="12879" r="2477"/>
            <a:stretch/>
          </p:blipFill>
          <p:spPr>
            <a:xfrm>
              <a:off x="1" y="1772816"/>
              <a:ext cx="5089778" cy="3314853"/>
            </a:xfrm>
            <a:prstGeom prst="rect">
              <a:avLst/>
            </a:prstGeom>
          </p:spPr>
        </p:pic>
        <p:pic>
          <p:nvPicPr>
            <p:cNvPr id="11" name="図 10" descr="スーツを着た男性グループの写真&#10;&#10;低い精度で自動的に生成された説明">
              <a:extLst>
                <a:ext uri="{FF2B5EF4-FFF2-40B4-BE49-F238E27FC236}">
                  <a16:creationId xmlns:a16="http://schemas.microsoft.com/office/drawing/2014/main" id="{FEFAFF33-EFBF-C67E-586A-08D93AF295F8}"/>
                </a:ext>
              </a:extLst>
            </p:cNvPr>
            <p:cNvPicPr>
              <a:picLocks noChangeAspect="1"/>
            </p:cNvPicPr>
            <p:nvPr/>
          </p:nvPicPr>
          <p:blipFill rotWithShape="1">
            <a:blip r:embed="rId8" cstate="print">
              <a:extLst>
                <a:ext uri="{28A0092B-C50C-407E-A947-70E740481C1C}">
                  <a14:useLocalDpi xmlns:a14="http://schemas.microsoft.com/office/drawing/2010/main" val="0"/>
                </a:ext>
              </a:extLst>
            </a:blip>
            <a:srcRect l="8595" r="6763"/>
            <a:stretch/>
          </p:blipFill>
          <p:spPr>
            <a:xfrm>
              <a:off x="5089779" y="1772836"/>
              <a:ext cx="2215315" cy="1745909"/>
            </a:xfrm>
            <a:prstGeom prst="rect">
              <a:avLst/>
            </a:prstGeom>
          </p:spPr>
        </p:pic>
      </p:grpSp>
      <p:sp>
        <p:nvSpPr>
          <p:cNvPr id="6" name="正方形/長方形 5">
            <a:extLst>
              <a:ext uri="{FF2B5EF4-FFF2-40B4-BE49-F238E27FC236}">
                <a16:creationId xmlns:a16="http://schemas.microsoft.com/office/drawing/2014/main" id="{238B92EF-519D-929F-4345-5BAC445EF234}"/>
              </a:ext>
            </a:extLst>
          </p:cNvPr>
          <p:cNvSpPr/>
          <p:nvPr/>
        </p:nvSpPr>
        <p:spPr>
          <a:xfrm>
            <a:off x="128016" y="6620256"/>
            <a:ext cx="2852928" cy="237744"/>
          </a:xfrm>
          <a:prstGeom prst="rect">
            <a:avLst/>
          </a:prstGeom>
          <a:solidFill>
            <a:srgbClr val="191F54"/>
          </a:solidFill>
          <a:ln>
            <a:solidFill>
              <a:srgbClr val="102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 name="正方形/長方形 1">
            <a:extLst>
              <a:ext uri="{FF2B5EF4-FFF2-40B4-BE49-F238E27FC236}">
                <a16:creationId xmlns:a16="http://schemas.microsoft.com/office/drawing/2014/main" id="{A949B271-D24D-666E-90F2-EA616E1EABC2}"/>
              </a:ext>
            </a:extLst>
          </p:cNvPr>
          <p:cNvSpPr/>
          <p:nvPr/>
        </p:nvSpPr>
        <p:spPr>
          <a:xfrm>
            <a:off x="368300" y="0"/>
            <a:ext cx="9537700" cy="514974"/>
          </a:xfrm>
          <a:prstGeom prst="rect">
            <a:avLst/>
          </a:prstGeom>
          <a:solidFill>
            <a:schemeClr val="bg1"/>
          </a:solidFill>
          <a:ln>
            <a:solidFill>
              <a:schemeClr val="bg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4185355464"/>
      </p:ext>
    </p:extLst>
  </p:cSld>
  <p:clrMapOvr>
    <a:masterClrMapping/>
  </p:clrMapOvr>
  <p:transition spd="slow"/>
</p:sld>
</file>

<file path=ppt/theme/theme1.xml><?xml version="1.0" encoding="utf-8"?>
<a:theme xmlns:a="http://schemas.openxmlformats.org/drawingml/2006/main" name="テーマ1">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テーマ1" id="{8EA1701B-0E00-4167-9612-575199E01EDB}" vid="{8EF6575E-BB77-44AE-AF00-801DE4CAFB82}"/>
    </a:ext>
  </a:extLst>
</a:theme>
</file>

<file path=ppt/theme/theme2.xml><?xml version="1.0" encoding="utf-8"?>
<a:theme xmlns:a="http://schemas.openxmlformats.org/drawingml/2006/main" name="DYMJAPAN">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Default Theme</Template>
  <TotalTime>146605</TotalTime>
  <Words>6149</Words>
  <Application>Microsoft Office PowerPoint</Application>
  <PresentationFormat>A4 210 x 297 mm</PresentationFormat>
  <Paragraphs>1629</Paragraphs>
  <Slides>53</Slides>
  <Notes>6</Notes>
  <HiddenSlides>0</HiddenSlides>
  <MMClips>0</MMClips>
  <ScaleCrop>false</ScaleCrop>
  <HeadingPairs>
    <vt:vector size="6" baseType="variant">
      <vt:variant>
        <vt:lpstr>使用されているフォント</vt:lpstr>
      </vt:variant>
      <vt:variant>
        <vt:i4>5</vt:i4>
      </vt:variant>
      <vt:variant>
        <vt:lpstr>テーマ</vt:lpstr>
      </vt:variant>
      <vt:variant>
        <vt:i4>2</vt:i4>
      </vt:variant>
      <vt:variant>
        <vt:lpstr>スライド タイトル</vt:lpstr>
      </vt:variant>
      <vt:variant>
        <vt:i4>53</vt:i4>
      </vt:variant>
    </vt:vector>
  </HeadingPairs>
  <TitlesOfParts>
    <vt:vector size="60" baseType="lpstr">
      <vt:lpstr>Arial</vt:lpstr>
      <vt:lpstr>Calibri</vt:lpstr>
      <vt:lpstr>Century Gothic</vt:lpstr>
      <vt:lpstr>メイリオ</vt:lpstr>
      <vt:lpstr>メイリオ</vt:lpstr>
      <vt:lpstr>テーマ1</vt:lpstr>
      <vt:lpstr>DYMJAPAN</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中村 駿</dc:creator>
  <cp:lastModifiedBy>殿村 亮太</cp:lastModifiedBy>
  <cp:revision>1984</cp:revision>
  <cp:lastPrinted>2022-11-01T11:38:14Z</cp:lastPrinted>
  <dcterms:created xsi:type="dcterms:W3CDTF">2015-09-04T09:21:15Z</dcterms:created>
  <dcterms:modified xsi:type="dcterms:W3CDTF">2026-10-29T09:00:34Z</dcterms:modified>
</cp:coreProperties>
</file>