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4"/>
  </p:notesMasterIdLst>
  <p:handoutMasterIdLst>
    <p:handoutMasterId r:id="rId65"/>
  </p:handoutMasterIdLst>
  <p:sldIdLst>
    <p:sldId id="2363" r:id="rId3"/>
    <p:sldId id="2726" r:id="rId4"/>
    <p:sldId id="2721" r:id="rId5"/>
    <p:sldId id="2723" r:id="rId6"/>
    <p:sldId id="2724" r:id="rId7"/>
    <p:sldId id="2364" r:id="rId8"/>
    <p:sldId id="2725" r:id="rId9"/>
    <p:sldId id="2365" r:id="rId10"/>
    <p:sldId id="2727" r:id="rId11"/>
    <p:sldId id="2734" r:id="rId12"/>
    <p:sldId id="2733" r:id="rId13"/>
    <p:sldId id="2735" r:id="rId14"/>
    <p:sldId id="2740" r:id="rId15"/>
    <p:sldId id="3039" r:id="rId16"/>
    <p:sldId id="3040" r:id="rId17"/>
    <p:sldId id="3041" r:id="rId18"/>
    <p:sldId id="3042" r:id="rId19"/>
    <p:sldId id="2741" r:id="rId20"/>
    <p:sldId id="2742" r:id="rId21"/>
    <p:sldId id="2738" r:id="rId22"/>
    <p:sldId id="2732" r:id="rId23"/>
    <p:sldId id="2739" r:id="rId24"/>
    <p:sldId id="2736" r:id="rId25"/>
    <p:sldId id="2737" r:id="rId26"/>
    <p:sldId id="2731" r:id="rId27"/>
    <p:sldId id="2744" r:id="rId28"/>
    <p:sldId id="2728" r:id="rId29"/>
    <p:sldId id="3033" r:id="rId30"/>
    <p:sldId id="3021" r:id="rId31"/>
    <p:sldId id="3022" r:id="rId32"/>
    <p:sldId id="3023" r:id="rId33"/>
    <p:sldId id="3024" r:id="rId34"/>
    <p:sldId id="3025" r:id="rId35"/>
    <p:sldId id="3026" r:id="rId36"/>
    <p:sldId id="3027" r:id="rId37"/>
    <p:sldId id="3028" r:id="rId38"/>
    <p:sldId id="2743" r:id="rId39"/>
    <p:sldId id="2639" r:id="rId40"/>
    <p:sldId id="3012" r:id="rId41"/>
    <p:sldId id="2729" r:id="rId42"/>
    <p:sldId id="3020" r:id="rId43"/>
    <p:sldId id="3029" r:id="rId44"/>
    <p:sldId id="3034" r:id="rId45"/>
    <p:sldId id="3030" r:id="rId46"/>
    <p:sldId id="3031" r:id="rId47"/>
    <p:sldId id="3037" r:id="rId48"/>
    <p:sldId id="3038" r:id="rId49"/>
    <p:sldId id="3032" r:id="rId50"/>
    <p:sldId id="3035" r:id="rId51"/>
    <p:sldId id="3036" r:id="rId52"/>
    <p:sldId id="2730" r:id="rId53"/>
    <p:sldId id="2595" r:id="rId54"/>
    <p:sldId id="2566" r:id="rId55"/>
    <p:sldId id="2915" r:id="rId56"/>
    <p:sldId id="2619" r:id="rId57"/>
    <p:sldId id="2994" r:id="rId58"/>
    <p:sldId id="2995" r:id="rId59"/>
    <p:sldId id="3003" r:id="rId60"/>
    <p:sldId id="3002" r:id="rId61"/>
    <p:sldId id="3001" r:id="rId62"/>
    <p:sldId id="1169" r:id="rId6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55" autoAdjust="0"/>
    <p:restoredTop sz="94424" autoAdjust="0"/>
  </p:normalViewPr>
  <p:slideViewPr>
    <p:cSldViewPr snapToGrid="0">
      <p:cViewPr varScale="1">
        <p:scale>
          <a:sx n="110" d="100"/>
          <a:sy n="110" d="100"/>
        </p:scale>
        <p:origin x="56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ja-JP" altLang="en-US" sz="1100"/>
              <a:t>月別</a:t>
            </a:r>
            <a:r>
              <a:rPr lang="en-US" sz="1100"/>
              <a:t>CV</a:t>
            </a:r>
            <a:r>
              <a:rPr lang="ja-JP" altLang="en-US" sz="1100"/>
              <a:t>数（件）</a:t>
            </a:r>
          </a:p>
        </c:rich>
      </c:tx>
      <c:overlay val="0"/>
    </c:title>
    <c:autoTitleDeleted val="0"/>
    <c:plotArea>
      <c:layout/>
      <c:barChart>
        <c:barDir val="col"/>
        <c:grouping val="stacked"/>
        <c:varyColors val="1"/>
        <c:ser>
          <c:idx val="0"/>
          <c:order val="0"/>
          <c:tx>
            <c:strRef>
              <c:f>Sheet1!$B$1</c:f>
              <c:strCache>
                <c:ptCount val="1"/>
                <c:pt idx="0">
                  <c:v>WB</c:v>
                </c:pt>
              </c:strCache>
            </c:strRef>
          </c:tx>
          <c:spPr>
            <a:solidFill>
              <a:srgbClr val="4A6FA5"/>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Sheet1!$B$2:$B$8</c:f>
              <c:numCache>
                <c:formatCode>General</c:formatCode>
                <c:ptCount val="7"/>
                <c:pt idx="0">
                  <c:v>13</c:v>
                </c:pt>
                <c:pt idx="1">
                  <c:v>10</c:v>
                </c:pt>
                <c:pt idx="2">
                  <c:v>7</c:v>
                </c:pt>
                <c:pt idx="3">
                  <c:v>14</c:v>
                </c:pt>
                <c:pt idx="4">
                  <c:v>18</c:v>
                </c:pt>
                <c:pt idx="5">
                  <c:v>3</c:v>
                </c:pt>
                <c:pt idx="6">
                  <c:v>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1BA-4266-AA82-599168E3BA2A}"/>
            </c:ext>
          </c:extLst>
        </c:ser>
        <c:ser>
          <c:idx val="1"/>
          <c:order val="1"/>
          <c:tx>
            <c:strRef>
              <c:f>Sheet1!$C$1</c:f>
              <c:strCache>
                <c:ptCount val="1"/>
                <c:pt idx="0">
                  <c:v>KD</c:v>
                </c:pt>
              </c:strCache>
            </c:strRef>
          </c:tx>
          <c:spPr>
            <a:solidFill>
              <a:srgbClr val="1F2A5C"/>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Sheet1!$C$2:$C$8</c:f>
              <c:numCache>
                <c:formatCode>General</c:formatCode>
                <c:ptCount val="7"/>
                <c:pt idx="0">
                  <c:v>57</c:v>
                </c:pt>
                <c:pt idx="1">
                  <c:v>58</c:v>
                </c:pt>
                <c:pt idx="2">
                  <c:v>75</c:v>
                </c:pt>
                <c:pt idx="3">
                  <c:v>106</c:v>
                </c:pt>
                <c:pt idx="4">
                  <c:v>94</c:v>
                </c:pt>
                <c:pt idx="5">
                  <c:v>25</c:v>
                </c:pt>
                <c:pt idx="6">
                  <c:v>61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1BA-4266-AA82-599168E3BA2A}"/>
            </c:ext>
          </c:extLst>
        </c:ser>
        <c:ser>
          <c:idx val="2"/>
          <c:order val="2"/>
          <c:tx>
            <c:strRef>
              <c:f>Sheet1!$D$1</c:f>
              <c:strCache>
                <c:ptCount val="1"/>
                <c:pt idx="0">
                  <c:v>KDI</c:v>
                </c:pt>
              </c:strCache>
            </c:strRef>
          </c:tx>
          <c:spPr>
            <a:solidFill>
              <a:srgbClr val="D9A441"/>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Sheet1!$D$2:$D$8</c:f>
              <c:numCache>
                <c:formatCode>General</c:formatCode>
                <c:ptCount val="7"/>
                <c:pt idx="0">
                  <c:v>6</c:v>
                </c:pt>
                <c:pt idx="1">
                  <c:v>9</c:v>
                </c:pt>
                <c:pt idx="2">
                  <c:v>6</c:v>
                </c:pt>
                <c:pt idx="3">
                  <c:v>8</c:v>
                </c:pt>
                <c:pt idx="4">
                  <c:v>8</c:v>
                </c:pt>
                <c:pt idx="5">
                  <c:v>1</c:v>
                </c:pt>
                <c:pt idx="6">
                  <c:v>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1BA-4266-AA82-599168E3BA2A}"/>
            </c:ext>
          </c:extLst>
        </c:ser>
        <c:ser>
          <c:idx val="3"/>
          <c:order val="3"/>
          <c:tx>
            <c:strRef>
              <c:f>Sheet1!$E$1</c:f>
              <c:strCache>
                <c:ptCount val="1"/>
                <c:pt idx="0">
                  <c:v>CE</c:v>
                </c:pt>
              </c:strCache>
            </c:strRef>
          </c:tx>
          <c:spPr>
            <a:solidFill>
              <a:srgbClr val="C8102E"/>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Sheet1!$E$2:$E$8</c:f>
              <c:numCache>
                <c:formatCode>General</c:formatCode>
                <c:ptCount val="7"/>
                <c:pt idx="0">
                  <c:v>44</c:v>
                </c:pt>
                <c:pt idx="1">
                  <c:v>40</c:v>
                </c:pt>
                <c:pt idx="2">
                  <c:v>39</c:v>
                </c:pt>
                <c:pt idx="3">
                  <c:v>30</c:v>
                </c:pt>
                <c:pt idx="4">
                  <c:v>27</c:v>
                </c:pt>
                <c:pt idx="5">
                  <c:v>21</c:v>
                </c:pt>
                <c:pt idx="6">
                  <c:v>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1BA-4266-AA82-599168E3BA2A}"/>
            </c:ext>
          </c:extLst>
        </c:ser>
        <c:ser>
          <c:idx val="4"/>
          <c:order val="4"/>
          <c:tx>
            <c:strRef>
              <c:f>Sheet1!$F$1</c:f>
              <c:strCache>
                <c:ptCount val="1"/>
                <c:pt idx="0">
                  <c:v>HAL</c:v>
                </c:pt>
              </c:strCache>
            </c:strRef>
          </c:tx>
          <c:spPr>
            <a:solidFill>
              <a:srgbClr val="8C93A8"/>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Sheet1!$F$2:$F$8</c:f>
              <c:numCache>
                <c:formatCode>General</c:formatCode>
                <c:ptCount val="7"/>
                <c:pt idx="0">
                  <c:v>15</c:v>
                </c:pt>
                <c:pt idx="1">
                  <c:v>18</c:v>
                </c:pt>
                <c:pt idx="2">
                  <c:v>8</c:v>
                </c:pt>
                <c:pt idx="3">
                  <c:v>17</c:v>
                </c:pt>
                <c:pt idx="4">
                  <c:v>17</c:v>
                </c:pt>
                <c:pt idx="5">
                  <c:v>7</c:v>
                </c:pt>
                <c:pt idx="6">
                  <c:v>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21BA-4266-AA82-599168E3BA2A}"/>
            </c:ext>
          </c:extLst>
        </c:ser>
        <c:ser>
          <c:idx val="5"/>
          <c:order val="5"/>
          <c:tx>
            <c:strRef>
              <c:f>Sheet1!$G$1</c:f>
              <c:strCache>
                <c:ptCount val="1"/>
                <c:pt idx="0">
                  <c:v>N9</c:v>
                </c:pt>
              </c:strCache>
            </c:strRef>
          </c:tx>
          <c:spPr>
            <a:solidFill>
              <a:srgbClr val="2F8F83"/>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Sheet1!$G$2:$G$8</c:f>
              <c:numCache>
                <c:formatCode>General</c:formatCode>
                <c:ptCount val="7"/>
                <c:pt idx="0">
                  <c:v>53</c:v>
                </c:pt>
                <c:pt idx="1">
                  <c:v>49</c:v>
                </c:pt>
                <c:pt idx="2">
                  <c:v>28</c:v>
                </c:pt>
                <c:pt idx="3">
                  <c:v>40</c:v>
                </c:pt>
                <c:pt idx="4">
                  <c:v>56</c:v>
                </c:pt>
                <c:pt idx="5">
                  <c:v>24</c:v>
                </c:pt>
                <c:pt idx="6">
                  <c:v>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21BA-4266-AA82-599168E3BA2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ja-JP"/>
          </a:p>
        </c:txPr>
        <c:crossAx val="-2113994440"/>
        <c:crosses val="autoZero"/>
        <c:auto val="1"/>
        <c:lblAlgn val="ctr"/>
        <c:lblOffset val="100"/>
        <c:noMultiLvlLbl val="0"/>
      </c:catAx>
      <c:valAx>
        <c:axId val="-2113994440"/>
        <c:scaling>
          <c:orientation val="minMax"/>
        </c:scaling>
        <c:delete val="0"/>
        <c:axPos val="l"/>
        <c:majorGridlines>
          <c:spPr>
            <a:ln>
              <a:solidFill>
                <a:srgbClr val="D0D5E0"/>
              </a:solidFill>
            </a:ln>
          </c:spPr>
        </c:majorGridlines>
        <c:numFmt formatCode="#,##0" sourceLinked="0"/>
        <c:majorTickMark val="out"/>
        <c:minorTickMark val="none"/>
        <c:tickLblPos val="nextTo"/>
        <c:txPr>
          <a:bodyPr/>
          <a:lstStyle/>
          <a:p>
            <a:pPr>
              <a:defRPr sz="900"/>
            </a:pPr>
            <a:endParaRPr lang="ja-JP"/>
          </a:p>
        </c:txPr>
        <c:crossAx val="-2068027336"/>
        <c:crosses val="autoZero"/>
        <c:crossBetween val="between"/>
      </c:valAx>
    </c:plotArea>
    <c:legend>
      <c:legendPos val="r"/>
      <c:overlay val="0"/>
      <c:txPr>
        <a:bodyPr/>
        <a:lstStyle/>
        <a:p>
          <a:pPr>
            <a:defRPr sz="1000"/>
          </a:pPr>
          <a:endParaRPr lang="ja-JP"/>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ja-JP" altLang="en-US" sz="1100"/>
              <a:t>月別 友だち獲得数（人・単月）</a:t>
            </a:r>
          </a:p>
        </c:rich>
      </c:tx>
      <c:overlay val="0"/>
    </c:title>
    <c:autoTitleDeleted val="0"/>
    <c:plotArea>
      <c:layout/>
      <c:barChart>
        <c:barDir val="col"/>
        <c:grouping val="stacked"/>
        <c:varyColors val="1"/>
        <c:ser>
          <c:idx val="0"/>
          <c:order val="0"/>
          <c:tx>
            <c:strRef>
              <c:f>Sheet1!$B$1</c:f>
              <c:strCache>
                <c:ptCount val="1"/>
                <c:pt idx="0">
                  <c:v>WB</c:v>
                </c:pt>
              </c:strCache>
            </c:strRef>
          </c:tx>
          <c:spPr>
            <a:solidFill>
              <a:srgbClr val="4A6FA5"/>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Sheet1!$B$2:$B$8</c:f>
              <c:numCache>
                <c:formatCode>General</c:formatCode>
                <c:ptCount val="7"/>
                <c:pt idx="0">
                  <c:v>51</c:v>
                </c:pt>
                <c:pt idx="1">
                  <c:v>67</c:v>
                </c:pt>
                <c:pt idx="2">
                  <c:v>45</c:v>
                </c:pt>
                <c:pt idx="3">
                  <c:v>127</c:v>
                </c:pt>
                <c:pt idx="4">
                  <c:v>66</c:v>
                </c:pt>
                <c:pt idx="5">
                  <c:v>36</c:v>
                </c:pt>
                <c:pt idx="6">
                  <c:v>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FE6-480C-B1B1-6CF0E7C6E441}"/>
            </c:ext>
          </c:extLst>
        </c:ser>
        <c:ser>
          <c:idx val="1"/>
          <c:order val="1"/>
          <c:tx>
            <c:strRef>
              <c:f>Sheet1!$C$1</c:f>
              <c:strCache>
                <c:ptCount val="1"/>
                <c:pt idx="0">
                  <c:v>KD</c:v>
                </c:pt>
              </c:strCache>
            </c:strRef>
          </c:tx>
          <c:spPr>
            <a:solidFill>
              <a:srgbClr val="1F2A5C"/>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Sheet1!$C$2:$C$8</c:f>
              <c:numCache>
                <c:formatCode>General</c:formatCode>
                <c:ptCount val="7"/>
                <c:pt idx="0">
                  <c:v>390</c:v>
                </c:pt>
                <c:pt idx="1">
                  <c:v>470</c:v>
                </c:pt>
                <c:pt idx="2">
                  <c:v>570</c:v>
                </c:pt>
                <c:pt idx="3">
                  <c:v>784</c:v>
                </c:pt>
                <c:pt idx="4">
                  <c:v>489</c:v>
                </c:pt>
                <c:pt idx="5">
                  <c:v>263</c:v>
                </c:pt>
                <c:pt idx="6">
                  <c:v>291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FE6-480C-B1B1-6CF0E7C6E441}"/>
            </c:ext>
          </c:extLst>
        </c:ser>
        <c:ser>
          <c:idx val="2"/>
          <c:order val="2"/>
          <c:tx>
            <c:strRef>
              <c:f>Sheet1!$D$1</c:f>
              <c:strCache>
                <c:ptCount val="1"/>
                <c:pt idx="0">
                  <c:v>KDI</c:v>
                </c:pt>
              </c:strCache>
            </c:strRef>
          </c:tx>
          <c:spPr>
            <a:solidFill>
              <a:srgbClr val="D9A441"/>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Sheet1!$D$2:$D$8</c:f>
              <c:numCache>
                <c:formatCode>General</c:formatCode>
                <c:ptCount val="7"/>
                <c:pt idx="0">
                  <c:v>117</c:v>
                </c:pt>
                <c:pt idx="1">
                  <c:v>132</c:v>
                </c:pt>
                <c:pt idx="2">
                  <c:v>113</c:v>
                </c:pt>
                <c:pt idx="3">
                  <c:v>130</c:v>
                </c:pt>
                <c:pt idx="4">
                  <c:v>92</c:v>
                </c:pt>
                <c:pt idx="5">
                  <c:v>66</c:v>
                </c:pt>
                <c:pt idx="6">
                  <c:v>120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FE6-480C-B1B1-6CF0E7C6E441}"/>
            </c:ext>
          </c:extLst>
        </c:ser>
        <c:ser>
          <c:idx val="3"/>
          <c:order val="3"/>
          <c:tx>
            <c:strRef>
              <c:f>Sheet1!$E$1</c:f>
              <c:strCache>
                <c:ptCount val="1"/>
                <c:pt idx="0">
                  <c:v>CE</c:v>
                </c:pt>
              </c:strCache>
            </c:strRef>
          </c:tx>
          <c:spPr>
            <a:solidFill>
              <a:srgbClr val="C8102E"/>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Sheet1!$E$2:$E$8</c:f>
              <c:numCache>
                <c:formatCode>General</c:formatCode>
                <c:ptCount val="7"/>
                <c:pt idx="0">
                  <c:v>274</c:v>
                </c:pt>
                <c:pt idx="1">
                  <c:v>266</c:v>
                </c:pt>
                <c:pt idx="2">
                  <c:v>262</c:v>
                </c:pt>
                <c:pt idx="3">
                  <c:v>265</c:v>
                </c:pt>
                <c:pt idx="4">
                  <c:v>229</c:v>
                </c:pt>
                <c:pt idx="5">
                  <c:v>165</c:v>
                </c:pt>
                <c:pt idx="6">
                  <c:v>224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FE6-480C-B1B1-6CF0E7C6E441}"/>
            </c:ext>
          </c:extLst>
        </c:ser>
        <c:ser>
          <c:idx val="4"/>
          <c:order val="4"/>
          <c:tx>
            <c:strRef>
              <c:f>Sheet1!$F$1</c:f>
              <c:strCache>
                <c:ptCount val="1"/>
                <c:pt idx="0">
                  <c:v>HAL</c:v>
                </c:pt>
              </c:strCache>
            </c:strRef>
          </c:tx>
          <c:spPr>
            <a:solidFill>
              <a:srgbClr val="8C93A8"/>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Sheet1!$F$2:$F$8</c:f>
              <c:numCache>
                <c:formatCode>General</c:formatCode>
                <c:ptCount val="7"/>
                <c:pt idx="0">
                  <c:v>155</c:v>
                </c:pt>
                <c:pt idx="1">
                  <c:v>133</c:v>
                </c:pt>
                <c:pt idx="2">
                  <c:v>115</c:v>
                </c:pt>
                <c:pt idx="3">
                  <c:v>174</c:v>
                </c:pt>
                <c:pt idx="4">
                  <c:v>150</c:v>
                </c:pt>
                <c:pt idx="5">
                  <c:v>68</c:v>
                </c:pt>
                <c:pt idx="6">
                  <c:v>56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2FE6-480C-B1B1-6CF0E7C6E441}"/>
            </c:ext>
          </c:extLst>
        </c:ser>
        <c:ser>
          <c:idx val="5"/>
          <c:order val="5"/>
          <c:tx>
            <c:strRef>
              <c:f>Sheet1!$G$1</c:f>
              <c:strCache>
                <c:ptCount val="1"/>
                <c:pt idx="0">
                  <c:v>N9</c:v>
                </c:pt>
              </c:strCache>
            </c:strRef>
          </c:tx>
          <c:spPr>
            <a:solidFill>
              <a:srgbClr val="2F8F83"/>
            </a:solidFill>
          </c:spPr>
          <c:invertIfNegative val="1"/>
          <c:cat>
            <c:strRef>
              <c:f>Sheet1!$A$2:$A$8</c:f>
              <c:strCache>
                <c:ptCount val="7"/>
                <c:pt idx="0">
                  <c:v>3月</c:v>
                </c:pt>
                <c:pt idx="1">
                  <c:v>4月</c:v>
                </c:pt>
                <c:pt idx="2">
                  <c:v>5月</c:v>
                </c:pt>
                <c:pt idx="3">
                  <c:v>6月</c:v>
                </c:pt>
                <c:pt idx="4">
                  <c:v>7月</c:v>
                </c:pt>
                <c:pt idx="5">
                  <c:v>8月</c:v>
                </c:pt>
                <c:pt idx="6">
                  <c:v>9月*</c:v>
                </c:pt>
              </c:strCache>
            </c:strRef>
          </c:cat>
          <c:val>
            <c:numRef>
              <c:f>Sheet1!$G$2:$G$8</c:f>
              <c:numCache>
                <c:formatCode>General</c:formatCode>
                <c:ptCount val="7"/>
                <c:pt idx="0">
                  <c:v>341</c:v>
                </c:pt>
                <c:pt idx="1">
                  <c:v>321</c:v>
                </c:pt>
                <c:pt idx="2">
                  <c:v>261</c:v>
                </c:pt>
                <c:pt idx="3">
                  <c:v>307</c:v>
                </c:pt>
                <c:pt idx="4">
                  <c:v>228</c:v>
                </c:pt>
                <c:pt idx="5">
                  <c:v>213</c:v>
                </c:pt>
                <c:pt idx="6">
                  <c:v>292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2FE6-480C-B1B1-6CF0E7C6E441}"/>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ja-JP"/>
          </a:p>
        </c:txPr>
        <c:crossAx val="-2113994440"/>
        <c:crosses val="autoZero"/>
        <c:auto val="1"/>
        <c:lblAlgn val="ctr"/>
        <c:lblOffset val="100"/>
        <c:noMultiLvlLbl val="0"/>
      </c:catAx>
      <c:valAx>
        <c:axId val="-2113994440"/>
        <c:scaling>
          <c:orientation val="minMax"/>
        </c:scaling>
        <c:delete val="0"/>
        <c:axPos val="l"/>
        <c:majorGridlines>
          <c:spPr>
            <a:ln>
              <a:solidFill>
                <a:srgbClr val="D0D5E0"/>
              </a:solidFill>
            </a:ln>
          </c:spPr>
        </c:majorGridlines>
        <c:numFmt formatCode="#,##0" sourceLinked="0"/>
        <c:majorTickMark val="out"/>
        <c:minorTickMark val="none"/>
        <c:tickLblPos val="nextTo"/>
        <c:txPr>
          <a:bodyPr/>
          <a:lstStyle/>
          <a:p>
            <a:pPr>
              <a:defRPr sz="900"/>
            </a:pPr>
            <a:endParaRPr lang="ja-JP"/>
          </a:p>
        </c:txPr>
        <c:crossAx val="-2068027336"/>
        <c:crosses val="autoZero"/>
        <c:crossBetween val="between"/>
      </c:valAx>
    </c:plotArea>
    <c:legend>
      <c:legendPos val="r"/>
      <c:overlay val="0"/>
      <c:txPr>
        <a:bodyPr/>
        <a:lstStyle/>
        <a:p>
          <a:pPr>
            <a:defRPr sz="1000"/>
          </a:pPr>
          <a:endParaRPr lang="ja-JP"/>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ja-JP" altLang="en-US" sz="1100">
                <a:latin typeface="メイリオ"/>
              </a:rPr>
              <a:t>月間の延べ配信対象者（人）</a:t>
            </a:r>
          </a:p>
        </c:rich>
      </c:tx>
      <c:overlay val="0"/>
    </c:title>
    <c:autoTitleDeleted val="0"/>
    <c:plotArea>
      <c:layout/>
      <c:barChart>
        <c:barDir val="col"/>
        <c:grouping val="clustered"/>
        <c:varyColors val="1"/>
        <c:ser>
          <c:idx val="0"/>
          <c:order val="0"/>
          <c:tx>
            <c:strRef>
              <c:f>Sheet1!$B$1</c:f>
              <c:strCache>
                <c:ptCount val="1"/>
                <c:pt idx="0">
                  <c:v>延べ配信対象者（人）</c:v>
                </c:pt>
              </c:strCache>
            </c:strRef>
          </c:tx>
          <c:spPr>
            <a:solidFill>
              <a:srgbClr val="1F2A5C"/>
            </a:solidFill>
          </c:spPr>
          <c:invertIfNegative val="1"/>
          <c:cat>
            <c:strRef>
              <c:f>Sheet1!$A$2:$A$39</c:f>
              <c:strCache>
                <c:ptCount val="38"/>
                <c:pt idx="0">
                  <c:v>23/08</c:v>
                </c:pt>
                <c:pt idx="1">
                  <c:v>23/09</c:v>
                </c:pt>
                <c:pt idx="2">
                  <c:v>23/10</c:v>
                </c:pt>
                <c:pt idx="3">
                  <c:v>23/11</c:v>
                </c:pt>
                <c:pt idx="4">
                  <c:v>23/12</c:v>
                </c:pt>
                <c:pt idx="5">
                  <c:v>24/01</c:v>
                </c:pt>
                <c:pt idx="6">
                  <c:v>24/02</c:v>
                </c:pt>
                <c:pt idx="7">
                  <c:v>24/03</c:v>
                </c:pt>
                <c:pt idx="8">
                  <c:v>24/04</c:v>
                </c:pt>
                <c:pt idx="9">
                  <c:v>24/05</c:v>
                </c:pt>
                <c:pt idx="10">
                  <c:v>24/06</c:v>
                </c:pt>
                <c:pt idx="11">
                  <c:v>24/07</c:v>
                </c:pt>
                <c:pt idx="12">
                  <c:v>24/08</c:v>
                </c:pt>
                <c:pt idx="13">
                  <c:v>24/09</c:v>
                </c:pt>
                <c:pt idx="14">
                  <c:v>24/10</c:v>
                </c:pt>
                <c:pt idx="15">
                  <c:v>24/11</c:v>
                </c:pt>
                <c:pt idx="16">
                  <c:v>24/12</c:v>
                </c:pt>
                <c:pt idx="17">
                  <c:v>25/01</c:v>
                </c:pt>
                <c:pt idx="18">
                  <c:v>25/02</c:v>
                </c:pt>
                <c:pt idx="19">
                  <c:v>25/03</c:v>
                </c:pt>
                <c:pt idx="20">
                  <c:v>25/04</c:v>
                </c:pt>
                <c:pt idx="21">
                  <c:v>25/05</c:v>
                </c:pt>
                <c:pt idx="22">
                  <c:v>25/06</c:v>
                </c:pt>
                <c:pt idx="23">
                  <c:v>25/07</c:v>
                </c:pt>
                <c:pt idx="24">
                  <c:v>25/08</c:v>
                </c:pt>
                <c:pt idx="25">
                  <c:v>25/09</c:v>
                </c:pt>
                <c:pt idx="26">
                  <c:v>25/10</c:v>
                </c:pt>
                <c:pt idx="27">
                  <c:v>25/11</c:v>
                </c:pt>
                <c:pt idx="28">
                  <c:v>25/12</c:v>
                </c:pt>
                <c:pt idx="29">
                  <c:v>26/01</c:v>
                </c:pt>
                <c:pt idx="30">
                  <c:v>26/02</c:v>
                </c:pt>
                <c:pt idx="31">
                  <c:v>26/03</c:v>
                </c:pt>
                <c:pt idx="32">
                  <c:v>26/04</c:v>
                </c:pt>
                <c:pt idx="33">
                  <c:v>26/05</c:v>
                </c:pt>
                <c:pt idx="34">
                  <c:v>26/06</c:v>
                </c:pt>
                <c:pt idx="35">
                  <c:v>26/07</c:v>
                </c:pt>
                <c:pt idx="36">
                  <c:v>26/08</c:v>
                </c:pt>
                <c:pt idx="37">
                  <c:v>26/09</c:v>
                </c:pt>
              </c:strCache>
            </c:strRef>
          </c:cat>
          <c:val>
            <c:numRef>
              <c:f>Sheet1!$B$2:$B$39</c:f>
              <c:numCache>
                <c:formatCode>General</c:formatCode>
                <c:ptCount val="38"/>
                <c:pt idx="0">
                  <c:v>934</c:v>
                </c:pt>
                <c:pt idx="1">
                  <c:v>4394</c:v>
                </c:pt>
                <c:pt idx="2">
                  <c:v>7412</c:v>
                </c:pt>
                <c:pt idx="3">
                  <c:v>6111</c:v>
                </c:pt>
                <c:pt idx="4">
                  <c:v>16069</c:v>
                </c:pt>
                <c:pt idx="5">
                  <c:v>15543</c:v>
                </c:pt>
                <c:pt idx="6">
                  <c:v>17961</c:v>
                </c:pt>
                <c:pt idx="7">
                  <c:v>19517</c:v>
                </c:pt>
                <c:pt idx="8">
                  <c:v>20669</c:v>
                </c:pt>
                <c:pt idx="9">
                  <c:v>21806</c:v>
                </c:pt>
                <c:pt idx="10">
                  <c:v>24752</c:v>
                </c:pt>
                <c:pt idx="11">
                  <c:v>27286</c:v>
                </c:pt>
                <c:pt idx="12">
                  <c:v>27861</c:v>
                </c:pt>
                <c:pt idx="13">
                  <c:v>28643</c:v>
                </c:pt>
                <c:pt idx="14">
                  <c:v>29999</c:v>
                </c:pt>
                <c:pt idx="15">
                  <c:v>25295</c:v>
                </c:pt>
                <c:pt idx="16">
                  <c:v>26115</c:v>
                </c:pt>
                <c:pt idx="17">
                  <c:v>26635</c:v>
                </c:pt>
                <c:pt idx="18">
                  <c:v>27455</c:v>
                </c:pt>
                <c:pt idx="19">
                  <c:v>28348</c:v>
                </c:pt>
                <c:pt idx="20">
                  <c:v>14388</c:v>
                </c:pt>
                <c:pt idx="21">
                  <c:v>22409</c:v>
                </c:pt>
                <c:pt idx="22">
                  <c:v>32253</c:v>
                </c:pt>
                <c:pt idx="23">
                  <c:v>50920</c:v>
                </c:pt>
                <c:pt idx="24">
                  <c:v>30234</c:v>
                </c:pt>
                <c:pt idx="25">
                  <c:v>34926</c:v>
                </c:pt>
                <c:pt idx="26">
                  <c:v>44072</c:v>
                </c:pt>
                <c:pt idx="27">
                  <c:v>36178</c:v>
                </c:pt>
                <c:pt idx="28">
                  <c:v>36582</c:v>
                </c:pt>
                <c:pt idx="29">
                  <c:v>36818</c:v>
                </c:pt>
                <c:pt idx="30">
                  <c:v>37258</c:v>
                </c:pt>
                <c:pt idx="31">
                  <c:v>37610</c:v>
                </c:pt>
                <c:pt idx="32">
                  <c:v>47838</c:v>
                </c:pt>
                <c:pt idx="33">
                  <c:v>39225</c:v>
                </c:pt>
                <c:pt idx="34">
                  <c:v>41033</c:v>
                </c:pt>
                <c:pt idx="35">
                  <c:v>42295</c:v>
                </c:pt>
                <c:pt idx="36">
                  <c:v>32476</c:v>
                </c:pt>
                <c:pt idx="37">
                  <c:v>43902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4D6-4D1B-8071-FA3C2FA3559D}"/>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ja-JP"/>
          </a:p>
        </c:txPr>
        <c:crossAx val="-2113994440"/>
        <c:crosses val="autoZero"/>
        <c:auto val="1"/>
        <c:lblAlgn val="ctr"/>
        <c:lblOffset val="100"/>
        <c:noMultiLvlLbl val="0"/>
      </c:catAx>
      <c:valAx>
        <c:axId val="-2113994440"/>
        <c:scaling>
          <c:orientation val="minMax"/>
        </c:scaling>
        <c:delete val="0"/>
        <c:axPos val="l"/>
        <c:majorGridlines>
          <c:spPr>
            <a:ln>
              <a:solidFill>
                <a:srgbClr val="D0D5E0"/>
              </a:solidFill>
            </a:ln>
          </c:spPr>
        </c:majorGridlines>
        <c:numFmt formatCode="#,##0" sourceLinked="0"/>
        <c:majorTickMark val="out"/>
        <c:minorTickMark val="none"/>
        <c:tickLblPos val="nextTo"/>
        <c:txPr>
          <a:bodyPr/>
          <a:lstStyle/>
          <a:p>
            <a:pPr>
              <a:defRPr sz="900"/>
            </a:pPr>
            <a:endParaRPr lang="ja-JP"/>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ja-JP" altLang="en-US" sz="1100">
                <a:latin typeface="メイリオ"/>
              </a:rPr>
              <a:t>月間</a:t>
            </a:r>
            <a:r>
              <a:rPr lang="en-US" altLang="ja-JP" sz="1100">
                <a:latin typeface="メイリオ"/>
              </a:rPr>
              <a:t>CTR</a:t>
            </a:r>
            <a:r>
              <a:rPr lang="ja-JP" altLang="en-US" sz="1100">
                <a:latin typeface="メイリオ"/>
              </a:rPr>
              <a:t>（延べ反応者</a:t>
            </a:r>
            <a:r>
              <a:rPr lang="en-US" altLang="ja-JP" sz="1100">
                <a:latin typeface="メイリオ"/>
              </a:rPr>
              <a:t>÷</a:t>
            </a:r>
            <a:r>
              <a:rPr lang="ja-JP" altLang="en-US" sz="1100">
                <a:latin typeface="メイリオ"/>
              </a:rPr>
              <a:t>延べ配信対象者）</a:t>
            </a:r>
          </a:p>
        </c:rich>
      </c:tx>
      <c:overlay val="0"/>
    </c:title>
    <c:autoTitleDeleted val="0"/>
    <c:plotArea>
      <c:layout/>
      <c:lineChart>
        <c:grouping val="standard"/>
        <c:varyColors val="0"/>
        <c:ser>
          <c:idx val="0"/>
          <c:order val="0"/>
          <c:tx>
            <c:strRef>
              <c:f>Sheet1!$B$1</c:f>
              <c:strCache>
                <c:ptCount val="1"/>
                <c:pt idx="0">
                  <c:v>CTR</c:v>
                </c:pt>
              </c:strCache>
            </c:strRef>
          </c:tx>
          <c:spPr>
            <a:ln>
              <a:solidFill>
                <a:srgbClr val="C8102E"/>
              </a:solidFill>
            </a:ln>
          </c:spPr>
          <c:marker>
            <c:spPr>
              <a:solidFill>
                <a:srgbClr val="C8102E"/>
              </a:solidFill>
            </c:spPr>
          </c:marker>
          <c:cat>
            <c:strRef>
              <c:f>Sheet1!$A$2:$A$39</c:f>
              <c:strCache>
                <c:ptCount val="38"/>
                <c:pt idx="0">
                  <c:v>23/08</c:v>
                </c:pt>
                <c:pt idx="1">
                  <c:v>23/09</c:v>
                </c:pt>
                <c:pt idx="2">
                  <c:v>23/10</c:v>
                </c:pt>
                <c:pt idx="3">
                  <c:v>23/11</c:v>
                </c:pt>
                <c:pt idx="4">
                  <c:v>23/12</c:v>
                </c:pt>
                <c:pt idx="5">
                  <c:v>24/01</c:v>
                </c:pt>
                <c:pt idx="6">
                  <c:v>24/02</c:v>
                </c:pt>
                <c:pt idx="7">
                  <c:v>24/03</c:v>
                </c:pt>
                <c:pt idx="8">
                  <c:v>24/04</c:v>
                </c:pt>
                <c:pt idx="9">
                  <c:v>24/05</c:v>
                </c:pt>
                <c:pt idx="10">
                  <c:v>24/06</c:v>
                </c:pt>
                <c:pt idx="11">
                  <c:v>24/07</c:v>
                </c:pt>
                <c:pt idx="12">
                  <c:v>24/08</c:v>
                </c:pt>
                <c:pt idx="13">
                  <c:v>24/09</c:v>
                </c:pt>
                <c:pt idx="14">
                  <c:v>24/10</c:v>
                </c:pt>
                <c:pt idx="15">
                  <c:v>24/11</c:v>
                </c:pt>
                <c:pt idx="16">
                  <c:v>24/12</c:v>
                </c:pt>
                <c:pt idx="17">
                  <c:v>25/01</c:v>
                </c:pt>
                <c:pt idx="18">
                  <c:v>25/02</c:v>
                </c:pt>
                <c:pt idx="19">
                  <c:v>25/03</c:v>
                </c:pt>
                <c:pt idx="20">
                  <c:v>25/04</c:v>
                </c:pt>
                <c:pt idx="21">
                  <c:v>25/05</c:v>
                </c:pt>
                <c:pt idx="22">
                  <c:v>25/06</c:v>
                </c:pt>
                <c:pt idx="23">
                  <c:v>25/07</c:v>
                </c:pt>
                <c:pt idx="24">
                  <c:v>25/08</c:v>
                </c:pt>
                <c:pt idx="25">
                  <c:v>25/09</c:v>
                </c:pt>
                <c:pt idx="26">
                  <c:v>25/10</c:v>
                </c:pt>
                <c:pt idx="27">
                  <c:v>25/11</c:v>
                </c:pt>
                <c:pt idx="28">
                  <c:v>25/12</c:v>
                </c:pt>
                <c:pt idx="29">
                  <c:v>26/01</c:v>
                </c:pt>
                <c:pt idx="30">
                  <c:v>26/02</c:v>
                </c:pt>
                <c:pt idx="31">
                  <c:v>26/03</c:v>
                </c:pt>
                <c:pt idx="32">
                  <c:v>26/04</c:v>
                </c:pt>
                <c:pt idx="33">
                  <c:v>26/05</c:v>
                </c:pt>
                <c:pt idx="34">
                  <c:v>26/06</c:v>
                </c:pt>
                <c:pt idx="35">
                  <c:v>26/07</c:v>
                </c:pt>
                <c:pt idx="36">
                  <c:v>26/08</c:v>
                </c:pt>
                <c:pt idx="37">
                  <c:v>26/09</c:v>
                </c:pt>
              </c:strCache>
            </c:strRef>
          </c:cat>
          <c:val>
            <c:numRef>
              <c:f>Sheet1!$B$2:$B$39</c:f>
              <c:numCache>
                <c:formatCode>General</c:formatCode>
                <c:ptCount val="38"/>
                <c:pt idx="0">
                  <c:v>2.7837259100642397E-2</c:v>
                </c:pt>
                <c:pt idx="1">
                  <c:v>6.5771506599908963E-2</c:v>
                </c:pt>
                <c:pt idx="2">
                  <c:v>3.6832164058283864E-2</c:v>
                </c:pt>
                <c:pt idx="3">
                  <c:v>5.4491899852724596E-2</c:v>
                </c:pt>
                <c:pt idx="4">
                  <c:v>4.4806770800921027E-2</c:v>
                </c:pt>
                <c:pt idx="5">
                  <c:v>2.0395033133886638E-2</c:v>
                </c:pt>
                <c:pt idx="6">
                  <c:v>2.3495351038360892E-2</c:v>
                </c:pt>
                <c:pt idx="7">
                  <c:v>1.501255315878465E-2</c:v>
                </c:pt>
                <c:pt idx="8">
                  <c:v>1.7465769993710387E-2</c:v>
                </c:pt>
                <c:pt idx="9">
                  <c:v>2.948729707419976E-2</c:v>
                </c:pt>
                <c:pt idx="10">
                  <c:v>2.0563994828700711E-2</c:v>
                </c:pt>
                <c:pt idx="11">
                  <c:v>2.3198709961152239E-2</c:v>
                </c:pt>
                <c:pt idx="12">
                  <c:v>1.4321094002368903E-2</c:v>
                </c:pt>
                <c:pt idx="13">
                  <c:v>2.1436302063331355E-2</c:v>
                </c:pt>
                <c:pt idx="14">
                  <c:v>1.9233974465815526E-2</c:v>
                </c:pt>
                <c:pt idx="15">
                  <c:v>1.7948211108914806E-2</c:v>
                </c:pt>
                <c:pt idx="16">
                  <c:v>1.9682174995213478E-2</c:v>
                </c:pt>
                <c:pt idx="17">
                  <c:v>2.1738314248169702E-2</c:v>
                </c:pt>
                <c:pt idx="18">
                  <c:v>1.9304316153706064E-2</c:v>
                </c:pt>
                <c:pt idx="19">
                  <c:v>1.6967687314801749E-2</c:v>
                </c:pt>
                <c:pt idx="20">
                  <c:v>1.2788434806783431E-2</c:v>
                </c:pt>
                <c:pt idx="21">
                  <c:v>2.4052835914141639E-2</c:v>
                </c:pt>
                <c:pt idx="22">
                  <c:v>1.8943974203950019E-2</c:v>
                </c:pt>
                <c:pt idx="23">
                  <c:v>1.1252945797329144E-2</c:v>
                </c:pt>
                <c:pt idx="24">
                  <c:v>1.1113316134153601E-2</c:v>
                </c:pt>
                <c:pt idx="25">
                  <c:v>1.8295825459543034E-2</c:v>
                </c:pt>
                <c:pt idx="26">
                  <c:v>1.4544381920493737E-2</c:v>
                </c:pt>
                <c:pt idx="27">
                  <c:v>1.5589584830560008E-2</c:v>
                </c:pt>
                <c:pt idx="28">
                  <c:v>9.6222185774424585E-3</c:v>
                </c:pt>
                <c:pt idx="29">
                  <c:v>1.4884024118637623E-2</c:v>
                </c:pt>
                <c:pt idx="30">
                  <c:v>9.8233936335820494E-3</c:v>
                </c:pt>
                <c:pt idx="31">
                  <c:v>7.684126562084552E-3</c:v>
                </c:pt>
                <c:pt idx="32">
                  <c:v>1.6973953760608722E-2</c:v>
                </c:pt>
                <c:pt idx="33">
                  <c:v>1.7488846398980244E-2</c:v>
                </c:pt>
                <c:pt idx="34">
                  <c:v>1.3769405112957864E-2</c:v>
                </c:pt>
                <c:pt idx="35">
                  <c:v>1.1277928833195413E-2</c:v>
                </c:pt>
                <c:pt idx="36">
                  <c:v>4.5572114792462124E-3</c:v>
                </c:pt>
                <c:pt idx="37">
                  <c:v>1.1707894856726344E-2</c:v>
                </c:pt>
              </c:numCache>
            </c:numRef>
          </c:val>
          <c:smooth val="0"/>
          <c:extLst>
            <c:ext xmlns:c16="http://schemas.microsoft.com/office/drawing/2014/chart" uri="{C3380CC4-5D6E-409C-BE32-E72D297353CC}">
              <c16:uniqueId val="{00000000-C5BC-43AD-8266-AB34802E5EEA}"/>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ja-JP"/>
          </a:p>
        </c:txPr>
        <c:crossAx val="2140495176"/>
        <c:crosses val="autoZero"/>
        <c:auto val="1"/>
        <c:lblAlgn val="ctr"/>
        <c:lblOffset val="100"/>
        <c:noMultiLvlLbl val="0"/>
      </c:catAx>
      <c:valAx>
        <c:axId val="2140495176"/>
        <c:scaling>
          <c:orientation val="minMax"/>
        </c:scaling>
        <c:delete val="0"/>
        <c:axPos val="l"/>
        <c:majorGridlines>
          <c:spPr>
            <a:ln>
              <a:solidFill>
                <a:srgbClr val="D0D5E0"/>
              </a:solidFill>
            </a:ln>
          </c:spPr>
        </c:majorGridlines>
        <c:numFmt formatCode="0.0%" sourceLinked="0"/>
        <c:majorTickMark val="out"/>
        <c:minorTickMark val="none"/>
        <c:tickLblPos val="nextTo"/>
        <c:txPr>
          <a:bodyPr/>
          <a:lstStyle/>
          <a:p>
            <a:pPr>
              <a:defRPr sz="900"/>
            </a:pPr>
            <a:endParaRPr lang="ja-JP"/>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54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57</a:t>
            </a:fld>
            <a:endParaRPr kumimoji="1" lang="ja-JP" altLang="en-US"/>
          </a:p>
        </p:txBody>
      </p:sp>
    </p:spTree>
    <p:extLst>
      <p:ext uri="{BB962C8B-B14F-4D97-AF65-F5344CB8AC3E}">
        <p14:creationId xmlns:p14="http://schemas.microsoft.com/office/powerpoint/2010/main" val="2500609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58</a:t>
            </a:fld>
            <a:endParaRPr kumimoji="1" lang="ja-JP" altLang="en-US"/>
          </a:p>
        </p:txBody>
      </p:sp>
    </p:spTree>
    <p:extLst>
      <p:ext uri="{BB962C8B-B14F-4D97-AF65-F5344CB8AC3E}">
        <p14:creationId xmlns:p14="http://schemas.microsoft.com/office/powerpoint/2010/main" val="3737857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59</a:t>
            </a:fld>
            <a:endParaRPr kumimoji="1" lang="ja-JP" altLang="en-US"/>
          </a:p>
        </p:txBody>
      </p:sp>
    </p:spTree>
    <p:extLst>
      <p:ext uri="{BB962C8B-B14F-4D97-AF65-F5344CB8AC3E}">
        <p14:creationId xmlns:p14="http://schemas.microsoft.com/office/powerpoint/2010/main" val="1101790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60</a:t>
            </a:fld>
            <a:endParaRPr kumimoji="1" lang="ja-JP" altLang="en-US"/>
          </a:p>
        </p:txBody>
      </p:sp>
    </p:spTree>
    <p:extLst>
      <p:ext uri="{BB962C8B-B14F-4D97-AF65-F5344CB8AC3E}">
        <p14:creationId xmlns:p14="http://schemas.microsoft.com/office/powerpoint/2010/main" val="3289051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61</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2.png"/><Relationship Id="rId7" Type="http://schemas.openxmlformats.org/officeDocument/2006/relationships/image" Target="../media/image30.jpe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3.png"/><Relationship Id="rId9"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10" Type="http://schemas.openxmlformats.org/officeDocument/2006/relationships/image" Target="../media/image32.png"/><Relationship Id="rId4" Type="http://schemas.openxmlformats.org/officeDocument/2006/relationships/image" Target="../media/image35.jpeg"/><Relationship Id="rId9" Type="http://schemas.openxmlformats.org/officeDocument/2006/relationships/image" Target="../media/image40.jpeg"/></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ikidsstar.jp/classrooms/detail/2405/#link-meeting" TargetMode="External"/><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jpeg"/><Relationship Id="rId7" Type="http://schemas.openxmlformats.org/officeDocument/2006/relationships/image" Target="../media/image61.png"/><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image" Target="../media/image59.png"/><Relationship Id="rId10" Type="http://schemas.openxmlformats.org/officeDocument/2006/relationships/image" Target="../media/image64.jpeg"/><Relationship Id="rId4" Type="http://schemas.openxmlformats.org/officeDocument/2006/relationships/image" Target="../media/image58.png"/><Relationship Id="rId9" Type="http://schemas.openxmlformats.org/officeDocument/2006/relationships/image" Target="../media/image6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4.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89.jpeg"/><Relationship Id="rId3" Type="http://schemas.openxmlformats.org/officeDocument/2006/relationships/image" Target="../media/image3.emf"/><Relationship Id="rId7" Type="http://schemas.openxmlformats.org/officeDocument/2006/relationships/image" Target="../media/image88.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87.jpeg"/><Relationship Id="rId5" Type="http://schemas.openxmlformats.org/officeDocument/2006/relationships/image" Target="../media/image86.jpeg"/><Relationship Id="rId4" Type="http://schemas.openxmlformats.org/officeDocument/2006/relationships/image" Target="../media/image8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165225" y="183122"/>
            <a:ext cx="4965824" cy="400110"/>
          </a:xfrm>
          <a:prstGeom prst="rect">
            <a:avLst/>
          </a:prstGeom>
          <a:noFill/>
        </p:spPr>
        <p:txBody>
          <a:bodyPr wrap="square">
            <a:spAutoFit/>
          </a:bodyPr>
          <a:lstStyle/>
          <a:p>
            <a:r>
              <a:rPr lang="ja-JP" altLang="en-US" sz="2000" b="1" dirty="0">
                <a:solidFill>
                  <a:schemeClr val="tx1">
                    <a:lumMod val="50000"/>
                    <a:lumOff val="50000"/>
                  </a:schemeClr>
                </a:solidFill>
                <a:latin typeface="Meiryo" panose="020B0604030504040204" pitchFamily="34" charset="-128"/>
                <a:ea typeface="Meiryo" panose="020B0604030504040204" pitchFamily="34" charset="-128"/>
              </a:rPr>
              <a:t>やる気スイッチグループ株式会社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pic>
        <p:nvPicPr>
          <p:cNvPr id="3" name="図 2">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49039" y="580289"/>
            <a:ext cx="9807922" cy="5969472"/>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dirty="0">
                <a:solidFill>
                  <a:schemeClr val="tx1"/>
                </a:solidFill>
                <a:latin typeface="メイリオ" panose="020B0604030504040204" pitchFamily="50" charset="-128"/>
                <a:ea typeface="メイリオ" panose="020B0604030504040204" pitchFamily="50" charset="-128"/>
              </a:rPr>
              <a:t>LINEOA</a:t>
            </a:r>
            <a:r>
              <a:rPr lang="ja-JP" altLang="en-US" sz="16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dirty="0">
              <a:solidFill>
                <a:schemeClr val="tx1"/>
              </a:solidFill>
              <a:latin typeface="メイリオ" panose="020B0604030504040204" pitchFamily="50" charset="-128"/>
              <a:ea typeface="メイリオ" panose="020B0604030504040204" pitchFamily="50" charset="-128"/>
            </a:endParaRPr>
          </a:p>
          <a:p>
            <a:pPr algn="ctr"/>
            <a:r>
              <a:rPr lang="ja-JP" altLang="en-US" sz="16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65999"/>
            <a:ext cx="6603340" cy="260597"/>
          </a:xfrm>
          <a:prstGeom prst="rect">
            <a:avLst/>
          </a:prstGeom>
          <a:noFill/>
        </p:spPr>
        <p:txBody>
          <a:bodyPr wrap="square">
            <a:spAutoFit/>
          </a:bodyPr>
          <a:lstStyle/>
          <a:p>
            <a:pPr algn="ctr"/>
            <a:r>
              <a:rPr lang="en-US" altLang="ja-JP" sz="1200" dirty="0">
                <a:solidFill>
                  <a:srgbClr val="FF0000"/>
                </a:solidFill>
                <a:latin typeface="メイリオ" panose="020B0604030504040204" pitchFamily="50" charset="-128"/>
                <a:ea typeface="メイリオ" panose="020B0604030504040204" pitchFamily="50" charset="-128"/>
              </a:rPr>
              <a:t>※</a:t>
            </a:r>
            <a:r>
              <a:rPr lang="ja-JP" altLang="en-US" sz="120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00</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F7DEF308-40A8-69BE-5BB7-ED8242200D80}"/>
              </a:ext>
            </a:extLst>
          </p:cNvPr>
          <p:cNvPicPr>
            <a:picLocks noChangeAspect="1"/>
          </p:cNvPicPr>
          <p:nvPr/>
        </p:nvPicPr>
        <p:blipFill>
          <a:blip r:embed="rId2"/>
          <a:stretch>
            <a:fillRect/>
          </a:stretch>
        </p:blipFill>
        <p:spPr>
          <a:xfrm>
            <a:off x="4731535" y="4233742"/>
            <a:ext cx="4865885" cy="2313349"/>
          </a:xfrm>
          <a:prstGeom prst="rect">
            <a:avLst/>
          </a:prstGeom>
        </p:spPr>
      </p:pic>
      <p:pic>
        <p:nvPicPr>
          <p:cNvPr id="31" name="図 30">
            <a:extLst>
              <a:ext uri="{FF2B5EF4-FFF2-40B4-BE49-F238E27FC236}">
                <a16:creationId xmlns:a16="http://schemas.microsoft.com/office/drawing/2014/main" id="{5AFA21A8-B65F-707A-35D1-2A4F15C04A44}"/>
              </a:ext>
            </a:extLst>
          </p:cNvPr>
          <p:cNvPicPr>
            <a:picLocks noChangeAspect="1"/>
          </p:cNvPicPr>
          <p:nvPr/>
        </p:nvPicPr>
        <p:blipFill>
          <a:blip r:embed="rId3"/>
          <a:stretch>
            <a:fillRect/>
          </a:stretch>
        </p:blipFill>
        <p:spPr>
          <a:xfrm>
            <a:off x="4718139" y="1835728"/>
            <a:ext cx="5077085" cy="2286240"/>
          </a:xfrm>
          <a:prstGeom prst="rect">
            <a:avLst/>
          </a:prstGeom>
        </p:spPr>
      </p:pic>
      <p:pic>
        <p:nvPicPr>
          <p:cNvPr id="51" name="図 50">
            <a:extLst>
              <a:ext uri="{FF2B5EF4-FFF2-40B4-BE49-F238E27FC236}">
                <a16:creationId xmlns:a16="http://schemas.microsoft.com/office/drawing/2014/main" id="{6253C5D1-05A8-2211-6044-702E3BE1C7DC}"/>
              </a:ext>
            </a:extLst>
          </p:cNvPr>
          <p:cNvPicPr>
            <a:picLocks noChangeAspect="1"/>
          </p:cNvPicPr>
          <p:nvPr/>
        </p:nvPicPr>
        <p:blipFill>
          <a:blip r:embed="rId4"/>
          <a:stretch>
            <a:fillRect/>
          </a:stretch>
        </p:blipFill>
        <p:spPr>
          <a:xfrm>
            <a:off x="121721" y="1834550"/>
            <a:ext cx="4547463" cy="2271992"/>
          </a:xfrm>
          <a:prstGeom prst="rect">
            <a:avLst/>
          </a:prstGeom>
        </p:spPr>
      </p:pic>
      <p:pic>
        <p:nvPicPr>
          <p:cNvPr id="55" name="図 54">
            <a:extLst>
              <a:ext uri="{FF2B5EF4-FFF2-40B4-BE49-F238E27FC236}">
                <a16:creationId xmlns:a16="http://schemas.microsoft.com/office/drawing/2014/main" id="{5042F902-E1EE-C85B-2F67-BC7C99FD6A45}"/>
              </a:ext>
            </a:extLst>
          </p:cNvPr>
          <p:cNvPicPr>
            <a:picLocks noChangeAspect="1"/>
          </p:cNvPicPr>
          <p:nvPr/>
        </p:nvPicPr>
        <p:blipFill>
          <a:blip r:embed="rId5"/>
          <a:stretch>
            <a:fillRect/>
          </a:stretch>
        </p:blipFill>
        <p:spPr>
          <a:xfrm>
            <a:off x="121721" y="4260956"/>
            <a:ext cx="4547463" cy="2282442"/>
          </a:xfrm>
          <a:prstGeom prst="rect">
            <a:avLst/>
          </a:prstGeom>
        </p:spPr>
      </p:pic>
      <p:sp>
        <p:nvSpPr>
          <p:cNvPr id="2" name="正方形/長方形 1">
            <a:extLst>
              <a:ext uri="{FF2B5EF4-FFF2-40B4-BE49-F238E27FC236}">
                <a16:creationId xmlns:a16="http://schemas.microsoft.com/office/drawing/2014/main" id="{2429B6AA-0D83-D1E2-F95B-E48567F42DC8}"/>
              </a:ext>
            </a:extLst>
          </p:cNvPr>
          <p:cNvSpPr/>
          <p:nvPr/>
        </p:nvSpPr>
        <p:spPr>
          <a:xfrm>
            <a:off x="55908" y="1723002"/>
            <a:ext cx="9784288" cy="4824089"/>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570D2E4-1B25-E172-8860-9A0DE84E333D}"/>
              </a:ext>
            </a:extLst>
          </p:cNvPr>
          <p:cNvSpPr/>
          <p:nvPr/>
        </p:nvSpPr>
        <p:spPr>
          <a:xfrm>
            <a:off x="212090" y="1807648"/>
            <a:ext cx="4646483" cy="230557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D533EED3-5557-F353-F54E-3317F56D4A5F}"/>
              </a:ext>
            </a:extLst>
          </p:cNvPr>
          <p:cNvSpPr/>
          <p:nvPr/>
        </p:nvSpPr>
        <p:spPr>
          <a:xfrm>
            <a:off x="4929998" y="1807648"/>
            <a:ext cx="4646483" cy="230557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BBC27D8D-8DB2-F4CB-AEE9-841D72959E17}"/>
              </a:ext>
            </a:extLst>
          </p:cNvPr>
          <p:cNvSpPr/>
          <p:nvPr/>
        </p:nvSpPr>
        <p:spPr>
          <a:xfrm>
            <a:off x="212090" y="4159215"/>
            <a:ext cx="4646483" cy="230557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15431220-D746-B209-E647-183A41A5BEF9}"/>
              </a:ext>
            </a:extLst>
          </p:cNvPr>
          <p:cNvSpPr/>
          <p:nvPr/>
        </p:nvSpPr>
        <p:spPr>
          <a:xfrm>
            <a:off x="4929998" y="4158243"/>
            <a:ext cx="4646483" cy="230557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7016B96-B8E9-96B8-E774-3485445E411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CE2AD977-FC6D-4BF4-B35A-C99973C42EE8}"/>
              </a:ext>
            </a:extLst>
          </p:cNvPr>
          <p:cNvSpPr txBox="1"/>
          <p:nvPr/>
        </p:nvSpPr>
        <p:spPr>
          <a:xfrm>
            <a:off x="4996962" y="3438172"/>
            <a:ext cx="4509655" cy="253916"/>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追加動線とメイン動線により変動</a:t>
            </a:r>
            <a:r>
              <a:rPr lang="en-US" altLang="ja-JP" sz="1000" b="1" dirty="0">
                <a:solidFill>
                  <a:srgbClr val="FF0000"/>
                </a:solidFill>
                <a:latin typeface="メイリオ" panose="020B0604030504040204" pitchFamily="50" charset="-128"/>
                <a:ea typeface="メイリオ" panose="020B0604030504040204" pitchFamily="50" charset="-128"/>
              </a:rPr>
              <a:t>※</a:t>
            </a:r>
            <a:endParaRPr lang="ja-JP" altLang="en-US" sz="1100" b="1" dirty="0"/>
          </a:p>
        </p:txBody>
      </p:sp>
    </p:spTree>
    <p:extLst>
      <p:ext uri="{BB962C8B-B14F-4D97-AF65-F5344CB8AC3E}">
        <p14:creationId xmlns:p14="http://schemas.microsoft.com/office/powerpoint/2010/main" val="1819059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4233742"/>
            <a:ext cx="4865885" cy="2313349"/>
          </a:xfrm>
          <a:prstGeom prst="rect">
            <a:avLst/>
          </a:prstGeom>
        </p:spPr>
      </p:pic>
      <p:pic>
        <p:nvPicPr>
          <p:cNvPr id="31" name="図 30">
            <a:extLst>
              <a:ext uri="{FF2B5EF4-FFF2-40B4-BE49-F238E27FC236}">
                <a16:creationId xmlns:a16="http://schemas.microsoft.com/office/drawing/2014/main" id="{A5C0C345-1ED2-5AE5-F7D3-C9EB8A8FD1C4}"/>
              </a:ext>
            </a:extLst>
          </p:cNvPr>
          <p:cNvPicPr>
            <a:picLocks noChangeAspect="1"/>
          </p:cNvPicPr>
          <p:nvPr/>
        </p:nvPicPr>
        <p:blipFill>
          <a:blip r:embed="rId3"/>
          <a:stretch>
            <a:fillRect/>
          </a:stretch>
        </p:blipFill>
        <p:spPr>
          <a:xfrm>
            <a:off x="4718139" y="1835728"/>
            <a:ext cx="5077085" cy="2286240"/>
          </a:xfrm>
          <a:prstGeom prst="rect">
            <a:avLst/>
          </a:prstGeom>
        </p:spPr>
      </p:pic>
      <p:pic>
        <p:nvPicPr>
          <p:cNvPr id="51" name="図 50">
            <a:extLst>
              <a:ext uri="{FF2B5EF4-FFF2-40B4-BE49-F238E27FC236}">
                <a16:creationId xmlns:a16="http://schemas.microsoft.com/office/drawing/2014/main" id="{3FF04328-3D64-E68C-0310-CCA5D4445EB8}"/>
              </a:ext>
            </a:extLst>
          </p:cNvPr>
          <p:cNvPicPr>
            <a:picLocks noChangeAspect="1"/>
          </p:cNvPicPr>
          <p:nvPr/>
        </p:nvPicPr>
        <p:blipFill>
          <a:blip r:embed="rId4"/>
          <a:stretch>
            <a:fillRect/>
          </a:stretch>
        </p:blipFill>
        <p:spPr>
          <a:xfrm>
            <a:off x="121721" y="1834550"/>
            <a:ext cx="4547463" cy="2271992"/>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5"/>
          <a:stretch>
            <a:fillRect/>
          </a:stretch>
        </p:blipFill>
        <p:spPr>
          <a:xfrm>
            <a:off x="121721" y="4260956"/>
            <a:ext cx="4547463" cy="2282442"/>
          </a:xfrm>
          <a:prstGeom prst="rect">
            <a:avLst/>
          </a:prstGeom>
        </p:spPr>
      </p:pic>
    </p:spTree>
    <p:extLst>
      <p:ext uri="{BB962C8B-B14F-4D97-AF65-F5344CB8AC3E}">
        <p14:creationId xmlns:p14="http://schemas.microsoft.com/office/powerpoint/2010/main" val="1580338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ヒヤリング内容より</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B2ED3-4F68-C67E-FE61-313AAF57B58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216F4A-1700-E8AA-B7C5-8C6EDE75AD4E}"/>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7402F16-EC43-4CCB-61F2-6194727D9E07}"/>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245D62B-E3DF-D13F-5DB5-63E4A9276718}"/>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前提ヒアリング</a:t>
            </a:r>
            <a:endParaRPr lang="ja-JP" altLang="en-US" sz="1100" dirty="0"/>
          </a:p>
        </p:txBody>
      </p:sp>
      <p:sp>
        <p:nvSpPr>
          <p:cNvPr id="7" name="テキスト ボックス 6">
            <a:extLst>
              <a:ext uri="{FF2B5EF4-FFF2-40B4-BE49-F238E27FC236}">
                <a16:creationId xmlns:a16="http://schemas.microsoft.com/office/drawing/2014/main" id="{341F29F3-218B-733E-9EEE-F37E7D33DF1A}"/>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動線：</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追加への動線は少なく、店舗選択時に </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日中の電話対応が難しい方向け</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のような切り口をしている。</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36FB43E7-DA62-F4E8-7303-D5A91387E72C}"/>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grpSp>
        <p:nvGrpSpPr>
          <p:cNvPr id="2" name="グループ化 1">
            <a:extLst>
              <a:ext uri="{FF2B5EF4-FFF2-40B4-BE49-F238E27FC236}">
                <a16:creationId xmlns:a16="http://schemas.microsoft.com/office/drawing/2014/main" id="{A22963E0-0049-C175-7BEA-6D0BA50C7FF2}"/>
              </a:ext>
            </a:extLst>
          </p:cNvPr>
          <p:cNvGrpSpPr/>
          <p:nvPr/>
        </p:nvGrpSpPr>
        <p:grpSpPr>
          <a:xfrm>
            <a:off x="460785" y="2121546"/>
            <a:ext cx="1741783" cy="3944390"/>
            <a:chOff x="6535471" y="2253093"/>
            <a:chExt cx="983191" cy="2694071"/>
          </a:xfrm>
        </p:grpSpPr>
        <p:grpSp>
          <p:nvGrpSpPr>
            <p:cNvPr id="4" name="グループ化 3">
              <a:extLst>
                <a:ext uri="{FF2B5EF4-FFF2-40B4-BE49-F238E27FC236}">
                  <a16:creationId xmlns:a16="http://schemas.microsoft.com/office/drawing/2014/main" id="{5A6FB916-46FC-9600-C95D-56E74FDC0E59}"/>
                </a:ext>
              </a:extLst>
            </p:cNvPr>
            <p:cNvGrpSpPr/>
            <p:nvPr/>
          </p:nvGrpSpPr>
          <p:grpSpPr>
            <a:xfrm>
              <a:off x="6535471" y="2253093"/>
              <a:ext cx="983191" cy="2279515"/>
              <a:chOff x="2738005" y="1809988"/>
              <a:chExt cx="1905955" cy="3871161"/>
            </a:xfrm>
          </p:grpSpPr>
          <p:pic>
            <p:nvPicPr>
              <p:cNvPr id="10" name="図 9">
                <a:extLst>
                  <a:ext uri="{FF2B5EF4-FFF2-40B4-BE49-F238E27FC236}">
                    <a16:creationId xmlns:a16="http://schemas.microsoft.com/office/drawing/2014/main" id="{60C36CF5-5E6D-2D71-44EE-BC96461FE90F}"/>
                  </a:ext>
                </a:extLst>
              </p:cNvPr>
              <p:cNvPicPr>
                <a:picLocks noChangeAspect="1"/>
              </p:cNvPicPr>
              <p:nvPr/>
            </p:nvPicPr>
            <p:blipFill>
              <a:blip r:embed="rId2"/>
              <a:stretch>
                <a:fillRect/>
              </a:stretch>
            </p:blipFill>
            <p:spPr>
              <a:xfrm>
                <a:off x="2738005" y="1809988"/>
                <a:ext cx="1905955" cy="3871161"/>
              </a:xfrm>
              <a:prstGeom prst="rect">
                <a:avLst/>
              </a:prstGeom>
            </p:spPr>
          </p:pic>
          <p:sp>
            <p:nvSpPr>
              <p:cNvPr id="11" name="正方形/長方形 10">
                <a:extLst>
                  <a:ext uri="{FF2B5EF4-FFF2-40B4-BE49-F238E27FC236}">
                    <a16:creationId xmlns:a16="http://schemas.microsoft.com/office/drawing/2014/main" id="{D82AFB19-A797-549C-208D-0AD51E81FD2B}"/>
                  </a:ext>
                </a:extLst>
              </p:cNvPr>
              <p:cNvSpPr/>
              <p:nvPr/>
            </p:nvSpPr>
            <p:spPr>
              <a:xfrm>
                <a:off x="2837458" y="2066078"/>
                <a:ext cx="1715492" cy="322347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pSp>
        <p:pic>
          <p:nvPicPr>
            <p:cNvPr id="6" name="図 5">
              <a:extLst>
                <a:ext uri="{FF2B5EF4-FFF2-40B4-BE49-F238E27FC236}">
                  <a16:creationId xmlns:a16="http://schemas.microsoft.com/office/drawing/2014/main" id="{96EBDA2E-FD94-17C9-4E1C-E762A548FDEF}"/>
                </a:ext>
              </a:extLst>
            </p:cNvPr>
            <p:cNvPicPr>
              <a:picLocks noChangeAspect="1"/>
            </p:cNvPicPr>
            <p:nvPr/>
          </p:nvPicPr>
          <p:blipFill>
            <a:blip r:embed="rId3"/>
            <a:stretch>
              <a:fillRect/>
            </a:stretch>
          </p:blipFill>
          <p:spPr>
            <a:xfrm>
              <a:off x="6581064" y="2384172"/>
              <a:ext cx="912021" cy="1515007"/>
            </a:xfrm>
            <a:prstGeom prst="rect">
              <a:avLst/>
            </a:prstGeom>
          </p:spPr>
        </p:pic>
        <p:pic>
          <p:nvPicPr>
            <p:cNvPr id="8" name="図 7">
              <a:extLst>
                <a:ext uri="{FF2B5EF4-FFF2-40B4-BE49-F238E27FC236}">
                  <a16:creationId xmlns:a16="http://schemas.microsoft.com/office/drawing/2014/main" id="{4B099D0C-1A1D-7712-B678-0D5DC01B12D4}"/>
                </a:ext>
              </a:extLst>
            </p:cNvPr>
            <p:cNvPicPr>
              <a:picLocks noChangeAspect="1"/>
            </p:cNvPicPr>
            <p:nvPr/>
          </p:nvPicPr>
          <p:blipFill>
            <a:blip r:embed="rId4"/>
            <a:stretch>
              <a:fillRect/>
            </a:stretch>
          </p:blipFill>
          <p:spPr>
            <a:xfrm>
              <a:off x="6573899" y="3831176"/>
              <a:ext cx="893789" cy="1115988"/>
            </a:xfrm>
            <a:prstGeom prst="rect">
              <a:avLst/>
            </a:prstGeom>
          </p:spPr>
        </p:pic>
      </p:grpSp>
      <p:grpSp>
        <p:nvGrpSpPr>
          <p:cNvPr id="23" name="グループ化 22">
            <a:extLst>
              <a:ext uri="{FF2B5EF4-FFF2-40B4-BE49-F238E27FC236}">
                <a16:creationId xmlns:a16="http://schemas.microsoft.com/office/drawing/2014/main" id="{3A5000E6-FABC-1119-565F-4BE6719A230D}"/>
              </a:ext>
            </a:extLst>
          </p:cNvPr>
          <p:cNvGrpSpPr/>
          <p:nvPr/>
        </p:nvGrpSpPr>
        <p:grpSpPr>
          <a:xfrm>
            <a:off x="2579627" y="2514413"/>
            <a:ext cx="1346354" cy="2734564"/>
            <a:chOff x="5330402" y="2342328"/>
            <a:chExt cx="1629088" cy="3308822"/>
          </a:xfrm>
        </p:grpSpPr>
        <p:pic>
          <p:nvPicPr>
            <p:cNvPr id="20" name="図 19">
              <a:extLst>
                <a:ext uri="{FF2B5EF4-FFF2-40B4-BE49-F238E27FC236}">
                  <a16:creationId xmlns:a16="http://schemas.microsoft.com/office/drawing/2014/main" id="{5208C88D-47C0-F380-A851-F4234587B0FE}"/>
                </a:ext>
              </a:extLst>
            </p:cNvPr>
            <p:cNvPicPr>
              <a:picLocks noChangeAspect="1"/>
            </p:cNvPicPr>
            <p:nvPr/>
          </p:nvPicPr>
          <p:blipFill>
            <a:blip r:embed="rId5"/>
            <a:stretch>
              <a:fillRect/>
            </a:stretch>
          </p:blipFill>
          <p:spPr>
            <a:xfrm>
              <a:off x="5330402" y="2342328"/>
              <a:ext cx="1629088" cy="3308822"/>
            </a:xfrm>
            <a:prstGeom prst="rect">
              <a:avLst/>
            </a:prstGeom>
          </p:spPr>
        </p:pic>
        <p:pic>
          <p:nvPicPr>
            <p:cNvPr id="22" name="図 21">
              <a:extLst>
                <a:ext uri="{FF2B5EF4-FFF2-40B4-BE49-F238E27FC236}">
                  <a16:creationId xmlns:a16="http://schemas.microsoft.com/office/drawing/2014/main" id="{54863AE2-5292-6CF6-3881-7E47E39AB057}"/>
                </a:ext>
              </a:extLst>
            </p:cNvPr>
            <p:cNvPicPr>
              <a:picLocks noChangeAspect="1"/>
            </p:cNvPicPr>
            <p:nvPr/>
          </p:nvPicPr>
          <p:blipFill>
            <a:blip r:embed="rId6"/>
            <a:stretch>
              <a:fillRect/>
            </a:stretch>
          </p:blipFill>
          <p:spPr>
            <a:xfrm>
              <a:off x="5421971" y="2567611"/>
              <a:ext cx="1460249" cy="2526298"/>
            </a:xfrm>
            <a:prstGeom prst="rect">
              <a:avLst/>
            </a:prstGeom>
          </p:spPr>
        </p:pic>
      </p:grpSp>
      <p:sp>
        <p:nvSpPr>
          <p:cNvPr id="25" name="正方形/長方形 24">
            <a:extLst>
              <a:ext uri="{FF2B5EF4-FFF2-40B4-BE49-F238E27FC236}">
                <a16:creationId xmlns:a16="http://schemas.microsoft.com/office/drawing/2014/main" id="{95564C00-41ED-6166-9DA8-1E5ADD5E38E9}"/>
              </a:ext>
            </a:extLst>
          </p:cNvPr>
          <p:cNvSpPr/>
          <p:nvPr/>
        </p:nvSpPr>
        <p:spPr>
          <a:xfrm>
            <a:off x="6038595" y="2514413"/>
            <a:ext cx="914145" cy="552637"/>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電話</a:t>
            </a:r>
          </a:p>
        </p:txBody>
      </p:sp>
      <p:cxnSp>
        <p:nvCxnSpPr>
          <p:cNvPr id="33" name="直線矢印コネクタ 32">
            <a:extLst>
              <a:ext uri="{FF2B5EF4-FFF2-40B4-BE49-F238E27FC236}">
                <a16:creationId xmlns:a16="http://schemas.microsoft.com/office/drawing/2014/main" id="{C1A89EA4-5A3B-1C11-C161-64F84961F4EB}"/>
              </a:ext>
            </a:extLst>
          </p:cNvPr>
          <p:cNvCxnSpPr>
            <a:cxnSpLocks/>
          </p:cNvCxnSpPr>
          <p:nvPr/>
        </p:nvCxnSpPr>
        <p:spPr>
          <a:xfrm>
            <a:off x="2383160" y="2360693"/>
            <a:ext cx="1732022"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673B220B-DE3B-04F1-7C20-3DCD9EEFF4E4}"/>
              </a:ext>
            </a:extLst>
          </p:cNvPr>
          <p:cNvSpPr/>
          <p:nvPr/>
        </p:nvSpPr>
        <p:spPr>
          <a:xfrm>
            <a:off x="2795731" y="3455532"/>
            <a:ext cx="914145" cy="552637"/>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教室を</a:t>
            </a:r>
            <a:endParaRPr kumimoji="1" lang="en-US" altLang="ja-JP" sz="1050" b="1" dirty="0">
              <a:latin typeface="メイリオ" panose="020B0604030504040204" pitchFamily="50" charset="-128"/>
              <a:ea typeface="メイリオ" panose="020B0604030504040204" pitchFamily="50" charset="-128"/>
            </a:endParaRPr>
          </a:p>
          <a:p>
            <a:pPr algn="ctr"/>
            <a:r>
              <a:rPr lang="ja-JP" altLang="en-US" sz="1050" b="1" dirty="0">
                <a:latin typeface="メイリオ" panose="020B0604030504040204" pitchFamily="50" charset="-128"/>
                <a:ea typeface="メイリオ" panose="020B0604030504040204" pitchFamily="50" charset="-128"/>
              </a:rPr>
              <a:t>探す</a:t>
            </a:r>
            <a:endParaRPr kumimoji="1" lang="ja-JP" altLang="en-US" sz="1050" b="1" dirty="0">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62AC932B-3970-DC7B-1DA1-F50B042A8152}"/>
              </a:ext>
            </a:extLst>
          </p:cNvPr>
          <p:cNvSpPr/>
          <p:nvPr/>
        </p:nvSpPr>
        <p:spPr>
          <a:xfrm>
            <a:off x="4537890" y="1945517"/>
            <a:ext cx="2414850" cy="3238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問い合わせ動線（２経路）</a:t>
            </a:r>
          </a:p>
        </p:txBody>
      </p:sp>
      <p:pic>
        <p:nvPicPr>
          <p:cNvPr id="44" name="図 43">
            <a:extLst>
              <a:ext uri="{FF2B5EF4-FFF2-40B4-BE49-F238E27FC236}">
                <a16:creationId xmlns:a16="http://schemas.microsoft.com/office/drawing/2014/main" id="{37959F77-3ED3-413F-890E-A857FB87001D}"/>
              </a:ext>
            </a:extLst>
          </p:cNvPr>
          <p:cNvPicPr>
            <a:picLocks noChangeAspect="1"/>
          </p:cNvPicPr>
          <p:nvPr/>
        </p:nvPicPr>
        <p:blipFill>
          <a:blip r:embed="rId5"/>
          <a:stretch>
            <a:fillRect/>
          </a:stretch>
        </p:blipFill>
        <p:spPr>
          <a:xfrm>
            <a:off x="4537890" y="2514413"/>
            <a:ext cx="1346354" cy="2734564"/>
          </a:xfrm>
          <a:prstGeom prst="rect">
            <a:avLst/>
          </a:prstGeom>
        </p:spPr>
      </p:pic>
      <p:sp>
        <p:nvSpPr>
          <p:cNvPr id="50" name="正方形/長方形 49">
            <a:extLst>
              <a:ext uri="{FF2B5EF4-FFF2-40B4-BE49-F238E27FC236}">
                <a16:creationId xmlns:a16="http://schemas.microsoft.com/office/drawing/2014/main" id="{27EDEFCB-29A7-4480-A157-21A30AAFB785}"/>
              </a:ext>
            </a:extLst>
          </p:cNvPr>
          <p:cNvSpPr/>
          <p:nvPr/>
        </p:nvSpPr>
        <p:spPr>
          <a:xfrm>
            <a:off x="4753992" y="3455531"/>
            <a:ext cx="914145" cy="552637"/>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フォーム</a:t>
            </a:r>
          </a:p>
        </p:txBody>
      </p:sp>
      <p:cxnSp>
        <p:nvCxnSpPr>
          <p:cNvPr id="51" name="直線矢印コネクタ 50">
            <a:extLst>
              <a:ext uri="{FF2B5EF4-FFF2-40B4-BE49-F238E27FC236}">
                <a16:creationId xmlns:a16="http://schemas.microsoft.com/office/drawing/2014/main" id="{49E306D0-804F-8469-5609-030BA04C41B0}"/>
              </a:ext>
            </a:extLst>
          </p:cNvPr>
          <p:cNvCxnSpPr>
            <a:cxnSpLocks/>
          </p:cNvCxnSpPr>
          <p:nvPr/>
        </p:nvCxnSpPr>
        <p:spPr>
          <a:xfrm>
            <a:off x="4451425" y="2360693"/>
            <a:ext cx="2789438"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E6E91F8D-55C8-07CF-B212-B73619BAD03E}"/>
              </a:ext>
            </a:extLst>
          </p:cNvPr>
          <p:cNvSpPr/>
          <p:nvPr/>
        </p:nvSpPr>
        <p:spPr>
          <a:xfrm>
            <a:off x="7395214" y="2066009"/>
            <a:ext cx="914145" cy="55263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見学</a:t>
            </a:r>
          </a:p>
        </p:txBody>
      </p:sp>
      <p:sp>
        <p:nvSpPr>
          <p:cNvPr id="55" name="正方形/長方形 54">
            <a:extLst>
              <a:ext uri="{FF2B5EF4-FFF2-40B4-BE49-F238E27FC236}">
                <a16:creationId xmlns:a16="http://schemas.microsoft.com/office/drawing/2014/main" id="{739486D9-87A0-C1E3-079C-E68E37C7087D}"/>
              </a:ext>
            </a:extLst>
          </p:cNvPr>
          <p:cNvSpPr/>
          <p:nvPr/>
        </p:nvSpPr>
        <p:spPr>
          <a:xfrm>
            <a:off x="8463710" y="2066009"/>
            <a:ext cx="914145" cy="55263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電話</a:t>
            </a:r>
          </a:p>
        </p:txBody>
      </p:sp>
      <p:sp>
        <p:nvSpPr>
          <p:cNvPr id="65" name="矢印: 下 64">
            <a:extLst>
              <a:ext uri="{FF2B5EF4-FFF2-40B4-BE49-F238E27FC236}">
                <a16:creationId xmlns:a16="http://schemas.microsoft.com/office/drawing/2014/main" id="{472778B0-634E-F8F9-85DE-D0BB22BFCFCD}"/>
              </a:ext>
            </a:extLst>
          </p:cNvPr>
          <p:cNvSpPr/>
          <p:nvPr/>
        </p:nvSpPr>
        <p:spPr>
          <a:xfrm>
            <a:off x="5001516" y="5294577"/>
            <a:ext cx="419100" cy="266414"/>
          </a:xfrm>
          <a:prstGeom prst="down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66" name="直線矢印コネクタ 65">
            <a:extLst>
              <a:ext uri="{FF2B5EF4-FFF2-40B4-BE49-F238E27FC236}">
                <a16:creationId xmlns:a16="http://schemas.microsoft.com/office/drawing/2014/main" id="{59121833-CF3A-ACCA-3214-6EB3AF6AC38A}"/>
              </a:ext>
            </a:extLst>
          </p:cNvPr>
          <p:cNvCxnSpPr>
            <a:cxnSpLocks/>
          </p:cNvCxnSpPr>
          <p:nvPr/>
        </p:nvCxnSpPr>
        <p:spPr>
          <a:xfrm>
            <a:off x="6347194" y="6058681"/>
            <a:ext cx="1417250"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B2FA106E-C986-181B-57A9-7FCBB0D59E7C}"/>
              </a:ext>
            </a:extLst>
          </p:cNvPr>
          <p:cNvCxnSpPr>
            <a:cxnSpLocks/>
          </p:cNvCxnSpPr>
          <p:nvPr/>
        </p:nvCxnSpPr>
        <p:spPr>
          <a:xfrm rot="16200000">
            <a:off x="6318095" y="4388706"/>
            <a:ext cx="3068382"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69" name="図 68">
            <a:extLst>
              <a:ext uri="{FF2B5EF4-FFF2-40B4-BE49-F238E27FC236}">
                <a16:creationId xmlns:a16="http://schemas.microsoft.com/office/drawing/2014/main" id="{5D95FD6A-4325-9325-78B6-E223AD0BD24F}"/>
              </a:ext>
            </a:extLst>
          </p:cNvPr>
          <p:cNvPicPr>
            <a:picLocks noChangeAspect="1"/>
          </p:cNvPicPr>
          <p:nvPr/>
        </p:nvPicPr>
        <p:blipFill>
          <a:blip r:embed="rId7" cstate="print">
            <a:extLst>
              <a:ext uri="{28A0092B-C50C-407E-A947-70E740481C1C}">
                <a14:useLocalDpi xmlns:a14="http://schemas.microsoft.com/office/drawing/2010/main" val="0"/>
              </a:ext>
            </a:extLst>
          </a:blip>
          <a:srcRect t="4492"/>
          <a:stretch>
            <a:fillRect/>
          </a:stretch>
        </p:blipFill>
        <p:spPr>
          <a:xfrm>
            <a:off x="7243386" y="4020669"/>
            <a:ext cx="1209824" cy="2500288"/>
          </a:xfrm>
          <a:prstGeom prst="rect">
            <a:avLst/>
          </a:prstGeom>
          <a:ln w="19050">
            <a:solidFill>
              <a:srgbClr val="04FA0A"/>
            </a:solidFill>
          </a:ln>
        </p:spPr>
      </p:pic>
      <p:sp>
        <p:nvSpPr>
          <p:cNvPr id="13" name="正方形/長方形 12">
            <a:extLst>
              <a:ext uri="{FF2B5EF4-FFF2-40B4-BE49-F238E27FC236}">
                <a16:creationId xmlns:a16="http://schemas.microsoft.com/office/drawing/2014/main" id="{92DCDC67-431A-D687-C27E-1D5FA67BC231}"/>
              </a:ext>
            </a:extLst>
          </p:cNvPr>
          <p:cNvSpPr/>
          <p:nvPr/>
        </p:nvSpPr>
        <p:spPr>
          <a:xfrm>
            <a:off x="317785" y="5575218"/>
            <a:ext cx="1986454" cy="346315"/>
          </a:xfrm>
          <a:prstGeom prst="rect">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5CBCBE83-2D39-8C5A-1505-6FC89C5405A9}"/>
              </a:ext>
            </a:extLst>
          </p:cNvPr>
          <p:cNvCxnSpPr>
            <a:cxnSpLocks/>
          </p:cNvCxnSpPr>
          <p:nvPr/>
        </p:nvCxnSpPr>
        <p:spPr>
          <a:xfrm>
            <a:off x="2319098" y="5753881"/>
            <a:ext cx="4892733"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28AA6FE4-18F7-1837-825C-AB45FEF14B46}"/>
              </a:ext>
            </a:extLst>
          </p:cNvPr>
          <p:cNvPicPr>
            <a:picLocks noChangeAspect="1"/>
          </p:cNvPicPr>
          <p:nvPr/>
        </p:nvPicPr>
        <p:blipFill>
          <a:blip r:embed="rId8"/>
          <a:stretch>
            <a:fillRect/>
          </a:stretch>
        </p:blipFill>
        <p:spPr>
          <a:xfrm>
            <a:off x="4149265" y="5583903"/>
            <a:ext cx="2123600" cy="949556"/>
          </a:xfrm>
          <a:prstGeom prst="rect">
            <a:avLst/>
          </a:prstGeom>
        </p:spPr>
      </p:pic>
    </p:spTree>
    <p:extLst>
      <p:ext uri="{BB962C8B-B14F-4D97-AF65-F5344CB8AC3E}">
        <p14:creationId xmlns:p14="http://schemas.microsoft.com/office/powerpoint/2010/main" val="805038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D81D-A487-C4E9-BF0A-5DA46F98F315}"/>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BF277BB-8E78-4580-2CA0-293945AE5DA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FE58A988-48DB-1BE8-75E9-7DA00FACB854}"/>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B81AC22-A739-EFD8-5D34-853068FD6FF0}"/>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前提ヒアリング</a:t>
            </a:r>
            <a:endParaRPr lang="ja-JP" altLang="en-US" sz="1100" dirty="0"/>
          </a:p>
        </p:txBody>
      </p:sp>
      <p:sp>
        <p:nvSpPr>
          <p:cNvPr id="7" name="テキスト ボックス 6">
            <a:extLst>
              <a:ext uri="{FF2B5EF4-FFF2-40B4-BE49-F238E27FC236}">
                <a16:creationId xmlns:a16="http://schemas.microsoft.com/office/drawing/2014/main" id="{36BC591E-CA55-8887-D5B2-C12E120C6912}"/>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ユーザーのアクションしたブランドに対してステップ配信を構築、だが大半がリッチメニューに流れている。</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5A881CB8-F38C-90E5-5A97-4EA94CEA709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grpSp>
        <p:nvGrpSpPr>
          <p:cNvPr id="32" name="グループ化 31">
            <a:extLst>
              <a:ext uri="{FF2B5EF4-FFF2-40B4-BE49-F238E27FC236}">
                <a16:creationId xmlns:a16="http://schemas.microsoft.com/office/drawing/2014/main" id="{62F26E3A-020C-4409-6CCF-37162986E294}"/>
              </a:ext>
            </a:extLst>
          </p:cNvPr>
          <p:cNvGrpSpPr/>
          <p:nvPr/>
        </p:nvGrpSpPr>
        <p:grpSpPr>
          <a:xfrm>
            <a:off x="2697706" y="2400946"/>
            <a:ext cx="1613686" cy="3186071"/>
            <a:chOff x="2369705" y="1848088"/>
            <a:chExt cx="1905955" cy="3871161"/>
          </a:xfrm>
        </p:grpSpPr>
        <p:pic>
          <p:nvPicPr>
            <p:cNvPr id="28" name="図 27">
              <a:extLst>
                <a:ext uri="{FF2B5EF4-FFF2-40B4-BE49-F238E27FC236}">
                  <a16:creationId xmlns:a16="http://schemas.microsoft.com/office/drawing/2014/main" id="{F23B1E9A-7FE4-AC60-7935-9C1E55F44C3F}"/>
                </a:ext>
              </a:extLst>
            </p:cNvPr>
            <p:cNvPicPr>
              <a:picLocks noChangeAspect="1"/>
            </p:cNvPicPr>
            <p:nvPr/>
          </p:nvPicPr>
          <p:blipFill>
            <a:blip r:embed="rId2"/>
            <a:stretch>
              <a:fillRect/>
            </a:stretch>
          </p:blipFill>
          <p:spPr>
            <a:xfrm>
              <a:off x="2369705" y="1848088"/>
              <a:ext cx="1905955" cy="3871161"/>
            </a:xfrm>
            <a:prstGeom prst="rect">
              <a:avLst/>
            </a:prstGeom>
          </p:spPr>
        </p:pic>
        <p:sp>
          <p:nvSpPr>
            <p:cNvPr id="30" name="正方形/長方形 29">
              <a:extLst>
                <a:ext uri="{FF2B5EF4-FFF2-40B4-BE49-F238E27FC236}">
                  <a16:creationId xmlns:a16="http://schemas.microsoft.com/office/drawing/2014/main" id="{E0B461AF-4FC5-DE47-7199-863E3D129598}"/>
                </a:ext>
              </a:extLst>
            </p:cNvPr>
            <p:cNvSpPr/>
            <p:nvPr/>
          </p:nvSpPr>
          <p:spPr>
            <a:xfrm>
              <a:off x="2469158" y="2104178"/>
              <a:ext cx="1715492" cy="322347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pSp>
      <p:grpSp>
        <p:nvGrpSpPr>
          <p:cNvPr id="64" name="グループ化 63">
            <a:extLst>
              <a:ext uri="{FF2B5EF4-FFF2-40B4-BE49-F238E27FC236}">
                <a16:creationId xmlns:a16="http://schemas.microsoft.com/office/drawing/2014/main" id="{7513F9EA-3C12-4E9F-5BDA-7A381BD0BE0B}"/>
              </a:ext>
            </a:extLst>
          </p:cNvPr>
          <p:cNvGrpSpPr/>
          <p:nvPr/>
        </p:nvGrpSpPr>
        <p:grpSpPr>
          <a:xfrm>
            <a:off x="460785" y="2121546"/>
            <a:ext cx="1741783" cy="3944390"/>
            <a:chOff x="6535471" y="2253093"/>
            <a:chExt cx="983191" cy="2694071"/>
          </a:xfrm>
        </p:grpSpPr>
        <p:grpSp>
          <p:nvGrpSpPr>
            <p:cNvPr id="65" name="グループ化 64">
              <a:extLst>
                <a:ext uri="{FF2B5EF4-FFF2-40B4-BE49-F238E27FC236}">
                  <a16:creationId xmlns:a16="http://schemas.microsoft.com/office/drawing/2014/main" id="{EF66B8FE-54FB-F261-CCB9-F6580C5EF7D6}"/>
                </a:ext>
              </a:extLst>
            </p:cNvPr>
            <p:cNvGrpSpPr/>
            <p:nvPr/>
          </p:nvGrpSpPr>
          <p:grpSpPr>
            <a:xfrm>
              <a:off x="6535471" y="2253093"/>
              <a:ext cx="983191" cy="2279515"/>
              <a:chOff x="2738005" y="1809988"/>
              <a:chExt cx="1905955" cy="3871161"/>
            </a:xfrm>
          </p:grpSpPr>
          <p:pic>
            <p:nvPicPr>
              <p:cNvPr id="68" name="図 67">
                <a:extLst>
                  <a:ext uri="{FF2B5EF4-FFF2-40B4-BE49-F238E27FC236}">
                    <a16:creationId xmlns:a16="http://schemas.microsoft.com/office/drawing/2014/main" id="{6CCBBFCB-B2A4-9FC2-46CE-6D0B725EB4EF}"/>
                  </a:ext>
                </a:extLst>
              </p:cNvPr>
              <p:cNvPicPr>
                <a:picLocks noChangeAspect="1"/>
              </p:cNvPicPr>
              <p:nvPr/>
            </p:nvPicPr>
            <p:blipFill>
              <a:blip r:embed="rId2"/>
              <a:stretch>
                <a:fillRect/>
              </a:stretch>
            </p:blipFill>
            <p:spPr>
              <a:xfrm>
                <a:off x="2738005" y="1809988"/>
                <a:ext cx="1905955" cy="3871161"/>
              </a:xfrm>
              <a:prstGeom prst="rect">
                <a:avLst/>
              </a:prstGeom>
            </p:spPr>
          </p:pic>
          <p:sp>
            <p:nvSpPr>
              <p:cNvPr id="69" name="正方形/長方形 68">
                <a:extLst>
                  <a:ext uri="{FF2B5EF4-FFF2-40B4-BE49-F238E27FC236}">
                    <a16:creationId xmlns:a16="http://schemas.microsoft.com/office/drawing/2014/main" id="{C246F0EF-03F9-3628-ED27-7A35000CA7B7}"/>
                  </a:ext>
                </a:extLst>
              </p:cNvPr>
              <p:cNvSpPr/>
              <p:nvPr/>
            </p:nvSpPr>
            <p:spPr>
              <a:xfrm>
                <a:off x="2837458" y="2066078"/>
                <a:ext cx="1715492" cy="322347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pSp>
        <p:pic>
          <p:nvPicPr>
            <p:cNvPr id="66" name="図 65">
              <a:extLst>
                <a:ext uri="{FF2B5EF4-FFF2-40B4-BE49-F238E27FC236}">
                  <a16:creationId xmlns:a16="http://schemas.microsoft.com/office/drawing/2014/main" id="{DD28CE77-B673-58A0-660F-86D66CC7C8BF}"/>
                </a:ext>
              </a:extLst>
            </p:cNvPr>
            <p:cNvPicPr>
              <a:picLocks noChangeAspect="1"/>
            </p:cNvPicPr>
            <p:nvPr/>
          </p:nvPicPr>
          <p:blipFill>
            <a:blip r:embed="rId3"/>
            <a:stretch>
              <a:fillRect/>
            </a:stretch>
          </p:blipFill>
          <p:spPr>
            <a:xfrm>
              <a:off x="6581064" y="2384172"/>
              <a:ext cx="912021" cy="1515007"/>
            </a:xfrm>
            <a:prstGeom prst="rect">
              <a:avLst/>
            </a:prstGeom>
          </p:spPr>
        </p:pic>
        <p:pic>
          <p:nvPicPr>
            <p:cNvPr id="67" name="図 66">
              <a:extLst>
                <a:ext uri="{FF2B5EF4-FFF2-40B4-BE49-F238E27FC236}">
                  <a16:creationId xmlns:a16="http://schemas.microsoft.com/office/drawing/2014/main" id="{3734251F-6194-41EC-0B94-A738D3F00091}"/>
                </a:ext>
              </a:extLst>
            </p:cNvPr>
            <p:cNvPicPr>
              <a:picLocks noChangeAspect="1"/>
            </p:cNvPicPr>
            <p:nvPr/>
          </p:nvPicPr>
          <p:blipFill>
            <a:blip r:embed="rId4"/>
            <a:stretch>
              <a:fillRect/>
            </a:stretch>
          </p:blipFill>
          <p:spPr>
            <a:xfrm>
              <a:off x="6573899" y="3831176"/>
              <a:ext cx="893789" cy="1115988"/>
            </a:xfrm>
            <a:prstGeom prst="rect">
              <a:avLst/>
            </a:prstGeom>
          </p:spPr>
        </p:pic>
      </p:grpSp>
      <p:grpSp>
        <p:nvGrpSpPr>
          <p:cNvPr id="70" name="グループ化 69">
            <a:extLst>
              <a:ext uri="{FF2B5EF4-FFF2-40B4-BE49-F238E27FC236}">
                <a16:creationId xmlns:a16="http://schemas.microsoft.com/office/drawing/2014/main" id="{2CAC0B05-5C83-28F9-B161-1D0C3934F036}"/>
              </a:ext>
            </a:extLst>
          </p:cNvPr>
          <p:cNvGrpSpPr/>
          <p:nvPr/>
        </p:nvGrpSpPr>
        <p:grpSpPr>
          <a:xfrm>
            <a:off x="4395594" y="2400946"/>
            <a:ext cx="1613686" cy="3186071"/>
            <a:chOff x="2369705" y="1848088"/>
            <a:chExt cx="1905955" cy="3871161"/>
          </a:xfrm>
        </p:grpSpPr>
        <p:pic>
          <p:nvPicPr>
            <p:cNvPr id="71" name="図 70">
              <a:extLst>
                <a:ext uri="{FF2B5EF4-FFF2-40B4-BE49-F238E27FC236}">
                  <a16:creationId xmlns:a16="http://schemas.microsoft.com/office/drawing/2014/main" id="{12699B64-6D43-C5BF-EF7A-F854258A271C}"/>
                </a:ext>
              </a:extLst>
            </p:cNvPr>
            <p:cNvPicPr>
              <a:picLocks noChangeAspect="1"/>
            </p:cNvPicPr>
            <p:nvPr/>
          </p:nvPicPr>
          <p:blipFill>
            <a:blip r:embed="rId2"/>
            <a:stretch>
              <a:fillRect/>
            </a:stretch>
          </p:blipFill>
          <p:spPr>
            <a:xfrm>
              <a:off x="2369705" y="1848088"/>
              <a:ext cx="1905955" cy="3871161"/>
            </a:xfrm>
            <a:prstGeom prst="rect">
              <a:avLst/>
            </a:prstGeom>
          </p:spPr>
        </p:pic>
        <p:sp>
          <p:nvSpPr>
            <p:cNvPr id="72" name="正方形/長方形 71">
              <a:extLst>
                <a:ext uri="{FF2B5EF4-FFF2-40B4-BE49-F238E27FC236}">
                  <a16:creationId xmlns:a16="http://schemas.microsoft.com/office/drawing/2014/main" id="{98C61FB0-2959-CE84-9735-898159D05D9C}"/>
                </a:ext>
              </a:extLst>
            </p:cNvPr>
            <p:cNvSpPr/>
            <p:nvPr/>
          </p:nvSpPr>
          <p:spPr>
            <a:xfrm>
              <a:off x="2469158" y="2104178"/>
              <a:ext cx="1715492" cy="322347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pSp>
      <p:grpSp>
        <p:nvGrpSpPr>
          <p:cNvPr id="73" name="グループ化 72">
            <a:extLst>
              <a:ext uri="{FF2B5EF4-FFF2-40B4-BE49-F238E27FC236}">
                <a16:creationId xmlns:a16="http://schemas.microsoft.com/office/drawing/2014/main" id="{15977194-29AC-0C4E-BD6B-8EEDA471E8BC}"/>
              </a:ext>
            </a:extLst>
          </p:cNvPr>
          <p:cNvGrpSpPr/>
          <p:nvPr/>
        </p:nvGrpSpPr>
        <p:grpSpPr>
          <a:xfrm>
            <a:off x="6093482" y="2400945"/>
            <a:ext cx="1613686" cy="3186071"/>
            <a:chOff x="2369705" y="1848088"/>
            <a:chExt cx="1905955" cy="3871161"/>
          </a:xfrm>
        </p:grpSpPr>
        <p:pic>
          <p:nvPicPr>
            <p:cNvPr id="74" name="図 73">
              <a:extLst>
                <a:ext uri="{FF2B5EF4-FFF2-40B4-BE49-F238E27FC236}">
                  <a16:creationId xmlns:a16="http://schemas.microsoft.com/office/drawing/2014/main" id="{AD722100-1FDC-23F3-1047-0CDF96C70B95}"/>
                </a:ext>
              </a:extLst>
            </p:cNvPr>
            <p:cNvPicPr>
              <a:picLocks noChangeAspect="1"/>
            </p:cNvPicPr>
            <p:nvPr/>
          </p:nvPicPr>
          <p:blipFill>
            <a:blip r:embed="rId2"/>
            <a:stretch>
              <a:fillRect/>
            </a:stretch>
          </p:blipFill>
          <p:spPr>
            <a:xfrm>
              <a:off x="2369705" y="1848088"/>
              <a:ext cx="1905955" cy="3871161"/>
            </a:xfrm>
            <a:prstGeom prst="rect">
              <a:avLst/>
            </a:prstGeom>
          </p:spPr>
        </p:pic>
        <p:sp>
          <p:nvSpPr>
            <p:cNvPr id="75" name="正方形/長方形 74">
              <a:extLst>
                <a:ext uri="{FF2B5EF4-FFF2-40B4-BE49-F238E27FC236}">
                  <a16:creationId xmlns:a16="http://schemas.microsoft.com/office/drawing/2014/main" id="{D2543756-B1C1-27BE-70EF-ED2BE6D10677}"/>
                </a:ext>
              </a:extLst>
            </p:cNvPr>
            <p:cNvSpPr/>
            <p:nvPr/>
          </p:nvSpPr>
          <p:spPr>
            <a:xfrm>
              <a:off x="2469158" y="2104178"/>
              <a:ext cx="1715492" cy="322347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pSp>
      <p:grpSp>
        <p:nvGrpSpPr>
          <p:cNvPr id="76" name="グループ化 75">
            <a:extLst>
              <a:ext uri="{FF2B5EF4-FFF2-40B4-BE49-F238E27FC236}">
                <a16:creationId xmlns:a16="http://schemas.microsoft.com/office/drawing/2014/main" id="{052181DB-D053-B66F-3058-E254DD90F91F}"/>
              </a:ext>
            </a:extLst>
          </p:cNvPr>
          <p:cNvGrpSpPr/>
          <p:nvPr/>
        </p:nvGrpSpPr>
        <p:grpSpPr>
          <a:xfrm>
            <a:off x="7791370" y="2400944"/>
            <a:ext cx="1613686" cy="3186071"/>
            <a:chOff x="2369705" y="1848088"/>
            <a:chExt cx="1905955" cy="3871161"/>
          </a:xfrm>
        </p:grpSpPr>
        <p:pic>
          <p:nvPicPr>
            <p:cNvPr id="77" name="図 76">
              <a:extLst>
                <a:ext uri="{FF2B5EF4-FFF2-40B4-BE49-F238E27FC236}">
                  <a16:creationId xmlns:a16="http://schemas.microsoft.com/office/drawing/2014/main" id="{00D25820-6054-9FA9-7738-C25722E74C06}"/>
                </a:ext>
              </a:extLst>
            </p:cNvPr>
            <p:cNvPicPr>
              <a:picLocks noChangeAspect="1"/>
            </p:cNvPicPr>
            <p:nvPr/>
          </p:nvPicPr>
          <p:blipFill>
            <a:blip r:embed="rId2"/>
            <a:stretch>
              <a:fillRect/>
            </a:stretch>
          </p:blipFill>
          <p:spPr>
            <a:xfrm>
              <a:off x="2369705" y="1848088"/>
              <a:ext cx="1905955" cy="3871161"/>
            </a:xfrm>
            <a:prstGeom prst="rect">
              <a:avLst/>
            </a:prstGeom>
          </p:spPr>
        </p:pic>
        <p:sp>
          <p:nvSpPr>
            <p:cNvPr id="78" name="正方形/長方形 77">
              <a:extLst>
                <a:ext uri="{FF2B5EF4-FFF2-40B4-BE49-F238E27FC236}">
                  <a16:creationId xmlns:a16="http://schemas.microsoft.com/office/drawing/2014/main" id="{4E54BEDC-B71E-D4BA-38D7-B512959FC274}"/>
                </a:ext>
              </a:extLst>
            </p:cNvPr>
            <p:cNvSpPr/>
            <p:nvPr/>
          </p:nvSpPr>
          <p:spPr>
            <a:xfrm>
              <a:off x="2469158" y="2104178"/>
              <a:ext cx="1715492" cy="322347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pSp>
      <p:pic>
        <p:nvPicPr>
          <p:cNvPr id="80" name="図 79">
            <a:extLst>
              <a:ext uri="{FF2B5EF4-FFF2-40B4-BE49-F238E27FC236}">
                <a16:creationId xmlns:a16="http://schemas.microsoft.com/office/drawing/2014/main" id="{AC156D28-7C96-2AB4-A095-34EBEF39BFE1}"/>
              </a:ext>
            </a:extLst>
          </p:cNvPr>
          <p:cNvPicPr>
            <a:picLocks noChangeAspect="1"/>
          </p:cNvPicPr>
          <p:nvPr/>
        </p:nvPicPr>
        <p:blipFill>
          <a:blip r:embed="rId5" cstate="print">
            <a:extLst>
              <a:ext uri="{28A0092B-C50C-407E-A947-70E740481C1C}">
                <a14:useLocalDpi xmlns:a14="http://schemas.microsoft.com/office/drawing/2010/main" val="0"/>
              </a:ext>
            </a:extLst>
          </a:blip>
          <a:srcRect t="5464"/>
          <a:stretch>
            <a:fillRect/>
          </a:stretch>
        </p:blipFill>
        <p:spPr>
          <a:xfrm>
            <a:off x="2784285" y="2611840"/>
            <a:ext cx="1449392" cy="2964922"/>
          </a:xfrm>
          <a:prstGeom prst="rect">
            <a:avLst/>
          </a:prstGeom>
        </p:spPr>
      </p:pic>
      <p:pic>
        <p:nvPicPr>
          <p:cNvPr id="88" name="図 87">
            <a:extLst>
              <a:ext uri="{FF2B5EF4-FFF2-40B4-BE49-F238E27FC236}">
                <a16:creationId xmlns:a16="http://schemas.microsoft.com/office/drawing/2014/main" id="{67AE6A99-75F3-AE6B-B765-B9C84C4E6E27}"/>
              </a:ext>
            </a:extLst>
          </p:cNvPr>
          <p:cNvPicPr>
            <a:picLocks noChangeAspect="1"/>
          </p:cNvPicPr>
          <p:nvPr/>
        </p:nvPicPr>
        <p:blipFill>
          <a:blip r:embed="rId6" cstate="print">
            <a:extLst>
              <a:ext uri="{28A0092B-C50C-407E-A947-70E740481C1C}">
                <a14:useLocalDpi xmlns:a14="http://schemas.microsoft.com/office/drawing/2010/main" val="0"/>
              </a:ext>
            </a:extLst>
          </a:blip>
          <a:srcRect t="5464"/>
          <a:stretch>
            <a:fillRect/>
          </a:stretch>
        </p:blipFill>
        <p:spPr>
          <a:xfrm>
            <a:off x="4481014" y="2613025"/>
            <a:ext cx="1449392" cy="2964922"/>
          </a:xfrm>
          <a:prstGeom prst="rect">
            <a:avLst/>
          </a:prstGeom>
        </p:spPr>
      </p:pic>
      <p:pic>
        <p:nvPicPr>
          <p:cNvPr id="94" name="図 93">
            <a:extLst>
              <a:ext uri="{FF2B5EF4-FFF2-40B4-BE49-F238E27FC236}">
                <a16:creationId xmlns:a16="http://schemas.microsoft.com/office/drawing/2014/main" id="{7B4F367F-358E-0333-67A9-9A270ECA7FE6}"/>
              </a:ext>
            </a:extLst>
          </p:cNvPr>
          <p:cNvPicPr>
            <a:picLocks noChangeAspect="1"/>
          </p:cNvPicPr>
          <p:nvPr/>
        </p:nvPicPr>
        <p:blipFill>
          <a:blip r:embed="rId7" cstate="print">
            <a:extLst>
              <a:ext uri="{28A0092B-C50C-407E-A947-70E740481C1C}">
                <a14:useLocalDpi xmlns:a14="http://schemas.microsoft.com/office/drawing/2010/main" val="0"/>
              </a:ext>
            </a:extLst>
          </a:blip>
          <a:srcRect t="5057"/>
          <a:stretch>
            <a:fillRect/>
          </a:stretch>
        </p:blipFill>
        <p:spPr>
          <a:xfrm>
            <a:off x="6180722" y="2605363"/>
            <a:ext cx="1449392" cy="2977650"/>
          </a:xfrm>
          <a:prstGeom prst="rect">
            <a:avLst/>
          </a:prstGeom>
        </p:spPr>
      </p:pic>
      <p:pic>
        <p:nvPicPr>
          <p:cNvPr id="96" name="図 95">
            <a:extLst>
              <a:ext uri="{FF2B5EF4-FFF2-40B4-BE49-F238E27FC236}">
                <a16:creationId xmlns:a16="http://schemas.microsoft.com/office/drawing/2014/main" id="{98F7B97A-ED0B-4E72-5DB4-2BF500249624}"/>
              </a:ext>
            </a:extLst>
          </p:cNvPr>
          <p:cNvPicPr>
            <a:picLocks noChangeAspect="1"/>
          </p:cNvPicPr>
          <p:nvPr/>
        </p:nvPicPr>
        <p:blipFill>
          <a:blip r:embed="rId8" cstate="print">
            <a:extLst>
              <a:ext uri="{28A0092B-C50C-407E-A947-70E740481C1C}">
                <a14:useLocalDpi xmlns:a14="http://schemas.microsoft.com/office/drawing/2010/main" val="0"/>
              </a:ext>
            </a:extLst>
          </a:blip>
          <a:srcRect t="5509"/>
          <a:stretch>
            <a:fillRect/>
          </a:stretch>
        </p:blipFill>
        <p:spPr>
          <a:xfrm>
            <a:off x="7873517" y="2611713"/>
            <a:ext cx="1449392" cy="2963505"/>
          </a:xfrm>
          <a:prstGeom prst="rect">
            <a:avLst/>
          </a:prstGeom>
        </p:spPr>
      </p:pic>
      <p:sp>
        <p:nvSpPr>
          <p:cNvPr id="97" name="正方形/長方形 96">
            <a:extLst>
              <a:ext uri="{FF2B5EF4-FFF2-40B4-BE49-F238E27FC236}">
                <a16:creationId xmlns:a16="http://schemas.microsoft.com/office/drawing/2014/main" id="{7AC65C31-68C4-4733-B196-C1D775DB7CBE}"/>
              </a:ext>
            </a:extLst>
          </p:cNvPr>
          <p:cNvSpPr/>
          <p:nvPr/>
        </p:nvSpPr>
        <p:spPr>
          <a:xfrm>
            <a:off x="2692866" y="5146417"/>
            <a:ext cx="6745992" cy="9092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8" name="直線矢印コネクタ 97">
            <a:extLst>
              <a:ext uri="{FF2B5EF4-FFF2-40B4-BE49-F238E27FC236}">
                <a16:creationId xmlns:a16="http://schemas.microsoft.com/office/drawing/2014/main" id="{01897C02-8AC3-116D-9B10-9F7DD0919862}"/>
              </a:ext>
            </a:extLst>
          </p:cNvPr>
          <p:cNvCxnSpPr>
            <a:cxnSpLocks/>
          </p:cNvCxnSpPr>
          <p:nvPr/>
        </p:nvCxnSpPr>
        <p:spPr>
          <a:xfrm>
            <a:off x="2832210" y="5489675"/>
            <a:ext cx="6447750" cy="0"/>
          </a:xfrm>
          <a:prstGeom prst="straightConnector1">
            <a:avLst/>
          </a:prstGeom>
          <a:ln w="38100">
            <a:solidFill>
              <a:srgbClr val="04FA0A"/>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67DDD19F-B283-D28C-7E2C-D27A5290EE3F}"/>
              </a:ext>
            </a:extLst>
          </p:cNvPr>
          <p:cNvSpPr txBox="1"/>
          <p:nvPr/>
        </p:nvSpPr>
        <p:spPr>
          <a:xfrm>
            <a:off x="3557612" y="5658699"/>
            <a:ext cx="4965700" cy="523220"/>
          </a:xfrm>
          <a:prstGeom prst="rect">
            <a:avLst/>
          </a:prstGeom>
          <a:noFill/>
        </p:spPr>
        <p:txBody>
          <a:bodyPr wrap="square">
            <a:spAutoFit/>
          </a:bodyPr>
          <a:lstStyle/>
          <a:p>
            <a:pPr algn="ct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【Kids Duo】</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用 </a:t>
            </a: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該当ユーザーが離脱したサービス を </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ベースにアンケート実施 → 入会案内をしている。</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04" name="図 103" descr="สอบถามข้อมูลสั่งซื้อสินค้า ขอใบเสนอราคา ติดต่อเรา - RAMA1989">
            <a:extLst>
              <a:ext uri="{FF2B5EF4-FFF2-40B4-BE49-F238E27FC236}">
                <a16:creationId xmlns:a16="http://schemas.microsoft.com/office/drawing/2014/main" id="{B6C6BB30-F7D4-458B-B688-15C213AFB5BD}"/>
              </a:ext>
            </a:extLst>
          </p:cNvPr>
          <p:cNvPicPr>
            <a:picLocks noChangeAspect="1"/>
          </p:cNvPicPr>
          <p:nvPr/>
        </p:nvPicPr>
        <p:blipFill>
          <a:blip r:embed="rId9"/>
          <a:stretch>
            <a:fillRect/>
          </a:stretch>
        </p:blipFill>
        <p:spPr>
          <a:xfrm>
            <a:off x="2661955" y="5259848"/>
            <a:ext cx="739595" cy="739595"/>
          </a:xfrm>
          <a:prstGeom prst="rect">
            <a:avLst/>
          </a:prstGeom>
        </p:spPr>
      </p:pic>
      <p:sp>
        <p:nvSpPr>
          <p:cNvPr id="2" name="正方形/長方形 1">
            <a:extLst>
              <a:ext uri="{FF2B5EF4-FFF2-40B4-BE49-F238E27FC236}">
                <a16:creationId xmlns:a16="http://schemas.microsoft.com/office/drawing/2014/main" id="{2788CF16-3E0F-9E7C-36D8-08AC835A07C3}"/>
              </a:ext>
            </a:extLst>
          </p:cNvPr>
          <p:cNvSpPr/>
          <p:nvPr/>
        </p:nvSpPr>
        <p:spPr>
          <a:xfrm>
            <a:off x="317785" y="5575218"/>
            <a:ext cx="1986454" cy="346315"/>
          </a:xfrm>
          <a:prstGeom prst="rect">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64AC8F86-07B8-5171-98F5-101097BFB113}"/>
              </a:ext>
            </a:extLst>
          </p:cNvPr>
          <p:cNvSpPr/>
          <p:nvPr/>
        </p:nvSpPr>
        <p:spPr>
          <a:xfrm>
            <a:off x="317785" y="3204116"/>
            <a:ext cx="1986454" cy="346315"/>
          </a:xfrm>
          <a:prstGeom prst="rect">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0039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1B06D-F27E-9B43-E0A5-FD584B684A15}"/>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F1688AE-860A-E789-902C-8EEC9C72448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F0A65C9-58DE-8CAF-3C10-7A753B17388A}"/>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4C3ACE5-E2D9-9FF3-9550-F895E53B49E9}"/>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前提ヒアリング</a:t>
            </a:r>
            <a:endParaRPr lang="ja-JP" altLang="en-US" sz="1100" dirty="0"/>
          </a:p>
        </p:txBody>
      </p:sp>
      <p:sp>
        <p:nvSpPr>
          <p:cNvPr id="7" name="テキスト ボックス 6">
            <a:extLst>
              <a:ext uri="{FF2B5EF4-FFF2-40B4-BE49-F238E27FC236}">
                <a16:creationId xmlns:a16="http://schemas.microsoft.com/office/drawing/2014/main" id="{A2E47DDF-96E8-3309-1A1E-450DC38D9DDF}"/>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ユーザーが離脱、反応したブランドに対して挨拶メッセ </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&gt; CTA</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を設計している。アクションはリッチメニューが大半。</a:t>
            </a:r>
            <a:endParaRPr lang="ja-JP" altLang="en-US" sz="1000" dirty="0"/>
          </a:p>
        </p:txBody>
      </p:sp>
      <p:sp>
        <p:nvSpPr>
          <p:cNvPr id="9" name="テキスト ボックス 8">
            <a:extLst>
              <a:ext uri="{FF2B5EF4-FFF2-40B4-BE49-F238E27FC236}">
                <a16:creationId xmlns:a16="http://schemas.microsoft.com/office/drawing/2014/main" id="{11DA6386-20CF-94D4-A090-106FB149F527}"/>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5" name="図 24">
            <a:extLst>
              <a:ext uri="{FF2B5EF4-FFF2-40B4-BE49-F238E27FC236}">
                <a16:creationId xmlns:a16="http://schemas.microsoft.com/office/drawing/2014/main" id="{72A316EB-396B-65A8-338E-0AB780C942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9944" y="2826099"/>
            <a:ext cx="1221922" cy="2644055"/>
          </a:xfrm>
          <a:prstGeom prst="rect">
            <a:avLst/>
          </a:prstGeom>
        </p:spPr>
      </p:pic>
      <p:pic>
        <p:nvPicPr>
          <p:cNvPr id="27" name="図 26">
            <a:extLst>
              <a:ext uri="{FF2B5EF4-FFF2-40B4-BE49-F238E27FC236}">
                <a16:creationId xmlns:a16="http://schemas.microsoft.com/office/drawing/2014/main" id="{655F3C03-6631-577A-C97A-AD718F11D0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99333" y="3071623"/>
            <a:ext cx="1221922" cy="2644055"/>
          </a:xfrm>
          <a:prstGeom prst="rect">
            <a:avLst/>
          </a:prstGeom>
        </p:spPr>
      </p:pic>
      <p:pic>
        <p:nvPicPr>
          <p:cNvPr id="31" name="図 30">
            <a:extLst>
              <a:ext uri="{FF2B5EF4-FFF2-40B4-BE49-F238E27FC236}">
                <a16:creationId xmlns:a16="http://schemas.microsoft.com/office/drawing/2014/main" id="{CF15251C-47C8-817A-BE61-DB225E3366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8722" y="3317147"/>
            <a:ext cx="1221922" cy="2644055"/>
          </a:xfrm>
          <a:prstGeom prst="rect">
            <a:avLst/>
          </a:prstGeom>
        </p:spPr>
      </p:pic>
      <p:pic>
        <p:nvPicPr>
          <p:cNvPr id="34" name="図 33">
            <a:extLst>
              <a:ext uri="{FF2B5EF4-FFF2-40B4-BE49-F238E27FC236}">
                <a16:creationId xmlns:a16="http://schemas.microsoft.com/office/drawing/2014/main" id="{50437968-F2D7-6D3A-C5D1-97C2652C9C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58111" y="3562671"/>
            <a:ext cx="1221922" cy="2644055"/>
          </a:xfrm>
          <a:prstGeom prst="rect">
            <a:avLst/>
          </a:prstGeom>
        </p:spPr>
      </p:pic>
      <p:pic>
        <p:nvPicPr>
          <p:cNvPr id="36" name="図 35">
            <a:extLst>
              <a:ext uri="{FF2B5EF4-FFF2-40B4-BE49-F238E27FC236}">
                <a16:creationId xmlns:a16="http://schemas.microsoft.com/office/drawing/2014/main" id="{6878B683-AF2B-A9CE-556F-E608FEA59B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37500" y="3808197"/>
            <a:ext cx="1221922" cy="2644055"/>
          </a:xfrm>
          <a:prstGeom prst="rect">
            <a:avLst/>
          </a:prstGeom>
        </p:spPr>
      </p:pic>
      <p:pic>
        <p:nvPicPr>
          <p:cNvPr id="42" name="図 41">
            <a:extLst>
              <a:ext uri="{FF2B5EF4-FFF2-40B4-BE49-F238E27FC236}">
                <a16:creationId xmlns:a16="http://schemas.microsoft.com/office/drawing/2014/main" id="{6C9C6AF6-A85C-D734-B5C5-5455E5F5861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9034" y="2826099"/>
            <a:ext cx="1344114" cy="2908460"/>
          </a:xfrm>
          <a:prstGeom prst="rect">
            <a:avLst/>
          </a:prstGeom>
        </p:spPr>
      </p:pic>
      <p:pic>
        <p:nvPicPr>
          <p:cNvPr id="4" name="図 3">
            <a:extLst>
              <a:ext uri="{FF2B5EF4-FFF2-40B4-BE49-F238E27FC236}">
                <a16:creationId xmlns:a16="http://schemas.microsoft.com/office/drawing/2014/main" id="{D0296C12-48C0-3DC7-54C3-CC63705D62A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70580" y="2826099"/>
            <a:ext cx="1221922" cy="2644055"/>
          </a:xfrm>
          <a:prstGeom prst="rect">
            <a:avLst/>
          </a:prstGeom>
        </p:spPr>
      </p:pic>
      <p:pic>
        <p:nvPicPr>
          <p:cNvPr id="8" name="図 7">
            <a:extLst>
              <a:ext uri="{FF2B5EF4-FFF2-40B4-BE49-F238E27FC236}">
                <a16:creationId xmlns:a16="http://schemas.microsoft.com/office/drawing/2014/main" id="{1C665889-C179-0566-805D-DA644E0531E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463645" y="2826099"/>
            <a:ext cx="1221922" cy="2644055"/>
          </a:xfrm>
          <a:prstGeom prst="rect">
            <a:avLst/>
          </a:prstGeom>
        </p:spPr>
      </p:pic>
      <p:pic>
        <p:nvPicPr>
          <p:cNvPr id="11" name="図 10" descr="สอบถามข้อมูลสั่งซื้อสินค้า ขอใบเสนอราคา ติดต่อเรา - RAMA1989">
            <a:extLst>
              <a:ext uri="{FF2B5EF4-FFF2-40B4-BE49-F238E27FC236}">
                <a16:creationId xmlns:a16="http://schemas.microsoft.com/office/drawing/2014/main" id="{69AE9C63-2723-768A-CA81-D6AA60DBA958}"/>
              </a:ext>
            </a:extLst>
          </p:cNvPr>
          <p:cNvPicPr>
            <a:picLocks noChangeAspect="1"/>
          </p:cNvPicPr>
          <p:nvPr/>
        </p:nvPicPr>
        <p:blipFill>
          <a:blip r:embed="rId10"/>
          <a:stretch>
            <a:fillRect/>
          </a:stretch>
        </p:blipFill>
        <p:spPr>
          <a:xfrm>
            <a:off x="49339" y="1520535"/>
            <a:ext cx="739595" cy="739595"/>
          </a:xfrm>
          <a:prstGeom prst="rect">
            <a:avLst/>
          </a:prstGeom>
        </p:spPr>
      </p:pic>
      <p:sp>
        <p:nvSpPr>
          <p:cNvPr id="13" name="正方形/長方形 12">
            <a:extLst>
              <a:ext uri="{FF2B5EF4-FFF2-40B4-BE49-F238E27FC236}">
                <a16:creationId xmlns:a16="http://schemas.microsoft.com/office/drawing/2014/main" id="{447937C9-07D8-FFC7-A06E-AB9FA0BE1540}"/>
              </a:ext>
            </a:extLst>
          </p:cNvPr>
          <p:cNvSpPr/>
          <p:nvPr/>
        </p:nvSpPr>
        <p:spPr>
          <a:xfrm>
            <a:off x="162531" y="2461983"/>
            <a:ext cx="1545357" cy="3238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プロフ</a:t>
            </a:r>
          </a:p>
        </p:txBody>
      </p:sp>
      <p:sp>
        <p:nvSpPr>
          <p:cNvPr id="15" name="正方形/長方形 14">
            <a:extLst>
              <a:ext uri="{FF2B5EF4-FFF2-40B4-BE49-F238E27FC236}">
                <a16:creationId xmlns:a16="http://schemas.microsoft.com/office/drawing/2014/main" id="{474E8B92-15D3-6FAF-7C62-41663902886D}"/>
              </a:ext>
            </a:extLst>
          </p:cNvPr>
          <p:cNvSpPr/>
          <p:nvPr/>
        </p:nvSpPr>
        <p:spPr>
          <a:xfrm>
            <a:off x="1756813" y="2468713"/>
            <a:ext cx="5256105" cy="3238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挨拶メッセ  →  アンケート</a:t>
            </a:r>
          </a:p>
        </p:txBody>
      </p:sp>
      <p:sp>
        <p:nvSpPr>
          <p:cNvPr id="17" name="正方形/長方形 16">
            <a:extLst>
              <a:ext uri="{FF2B5EF4-FFF2-40B4-BE49-F238E27FC236}">
                <a16:creationId xmlns:a16="http://schemas.microsoft.com/office/drawing/2014/main" id="{C17C6575-8F6B-091B-DE64-35F5A4100D58}"/>
              </a:ext>
            </a:extLst>
          </p:cNvPr>
          <p:cNvSpPr/>
          <p:nvPr/>
        </p:nvSpPr>
        <p:spPr>
          <a:xfrm>
            <a:off x="7061843" y="2468713"/>
            <a:ext cx="2722359" cy="3238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latin typeface="メイリオ" panose="020B0604030504040204" pitchFamily="50" charset="-128"/>
                <a:ea typeface="メイリオ" panose="020B0604030504040204" pitchFamily="50" charset="-128"/>
              </a:rPr>
              <a:t>CTA</a:t>
            </a:r>
            <a:endParaRPr kumimoji="1" lang="ja-JP" altLang="en-US" sz="105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771A2DE4-7E49-CAD1-218D-5FC574374B76}"/>
              </a:ext>
            </a:extLst>
          </p:cNvPr>
          <p:cNvSpPr txBox="1"/>
          <p:nvPr/>
        </p:nvSpPr>
        <p:spPr>
          <a:xfrm>
            <a:off x="285282" y="5830048"/>
            <a:ext cx="1344115" cy="215444"/>
          </a:xfrm>
          <a:prstGeom prst="rect">
            <a:avLst/>
          </a:prstGeom>
          <a:noFill/>
        </p:spPr>
        <p:txBody>
          <a:bodyPr wrap="square">
            <a:spAutoFit/>
          </a:bodyPr>
          <a:lstStyle/>
          <a:p>
            <a:pPr algn="ctr"/>
            <a:r>
              <a:rPr kumimoji="1" lang="ja-JP" altLang="en-US" sz="800" dirty="0">
                <a:latin typeface="メイリオ" panose="020B0604030504040204" pitchFamily="50" charset="-128"/>
                <a:ea typeface="メイリオ" panose="020B0604030504040204" pitchFamily="50" charset="-128"/>
              </a:rPr>
              <a:t>設定項目が最小規模。</a:t>
            </a:r>
          </a:p>
        </p:txBody>
      </p:sp>
      <p:sp>
        <p:nvSpPr>
          <p:cNvPr id="21" name="テキスト ボックス 20">
            <a:extLst>
              <a:ext uri="{FF2B5EF4-FFF2-40B4-BE49-F238E27FC236}">
                <a16:creationId xmlns:a16="http://schemas.microsoft.com/office/drawing/2014/main" id="{B1B9A879-1C1D-D1E6-B95F-53ED99020F98}"/>
              </a:ext>
            </a:extLst>
          </p:cNvPr>
          <p:cNvSpPr txBox="1"/>
          <p:nvPr/>
        </p:nvSpPr>
        <p:spPr>
          <a:xfrm>
            <a:off x="1819944" y="6099004"/>
            <a:ext cx="3768056" cy="338554"/>
          </a:xfrm>
          <a:prstGeom prst="rect">
            <a:avLst/>
          </a:prstGeom>
          <a:noFill/>
        </p:spPr>
        <p:txBody>
          <a:bodyPr wrap="square">
            <a:spAutoFit/>
          </a:bodyPr>
          <a:lstStyle/>
          <a:p>
            <a:pPr algn="ctr"/>
            <a:r>
              <a:rPr kumimoji="1" lang="ja-JP" altLang="en-US" sz="800" dirty="0">
                <a:latin typeface="メイリオ" panose="020B0604030504040204" pitchFamily="50" charset="-128"/>
                <a:ea typeface="メイリオ" panose="020B0604030504040204" pitchFamily="50" charset="-128"/>
              </a:rPr>
              <a:t>挨拶→診断は推奨程度の設定がなされている。</a:t>
            </a:r>
            <a:endParaRPr kumimoji="1" lang="en-US" altLang="ja-JP" sz="800"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逆にステップ配信内では、具体的なブランド強みの訴求が弱い状態。</a:t>
            </a:r>
          </a:p>
        </p:txBody>
      </p:sp>
      <p:sp>
        <p:nvSpPr>
          <p:cNvPr id="23" name="テキスト ボックス 22">
            <a:extLst>
              <a:ext uri="{FF2B5EF4-FFF2-40B4-BE49-F238E27FC236}">
                <a16:creationId xmlns:a16="http://schemas.microsoft.com/office/drawing/2014/main" id="{4B5EA77D-A248-B64A-0D82-9454F41782AF}"/>
              </a:ext>
            </a:extLst>
          </p:cNvPr>
          <p:cNvSpPr txBox="1"/>
          <p:nvPr/>
        </p:nvSpPr>
        <p:spPr>
          <a:xfrm>
            <a:off x="7170580" y="5377124"/>
            <a:ext cx="2514987" cy="215444"/>
          </a:xfrm>
          <a:prstGeom prst="rect">
            <a:avLst/>
          </a:prstGeom>
          <a:noFill/>
        </p:spPr>
        <p:txBody>
          <a:bodyPr wrap="square">
            <a:spAutoFit/>
          </a:bodyPr>
          <a:lstStyle/>
          <a:p>
            <a:pPr algn="ctr"/>
            <a:r>
              <a:rPr kumimoji="1" lang="ja-JP" altLang="en-US" sz="800" dirty="0">
                <a:latin typeface="メイリオ" panose="020B0604030504040204" pitchFamily="50" charset="-128"/>
                <a:ea typeface="メイリオ" panose="020B0604030504040204" pitchFamily="50" charset="-128"/>
              </a:rPr>
              <a:t>診断後に入会の案内がされる動線。</a:t>
            </a:r>
          </a:p>
        </p:txBody>
      </p:sp>
    </p:spTree>
    <p:extLst>
      <p:ext uri="{BB962C8B-B14F-4D97-AF65-F5344CB8AC3E}">
        <p14:creationId xmlns:p14="http://schemas.microsoft.com/office/powerpoint/2010/main" val="2304959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7EC0E-F0B5-A67D-9407-73B2A50197A7}"/>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EA8B726A-CEE1-F920-6AAD-A909517FFB0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30A218E-840A-BC5D-8197-F318AB51E5B8}"/>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01B125D-E7E7-B3D4-DBCF-F12FF203A120}"/>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a:t>
            </a:r>
            <a:endParaRPr lang="ja-JP" altLang="en-US" sz="1100" dirty="0"/>
          </a:p>
        </p:txBody>
      </p:sp>
      <p:sp>
        <p:nvSpPr>
          <p:cNvPr id="7" name="テキスト ボックス 6">
            <a:extLst>
              <a:ext uri="{FF2B5EF4-FFF2-40B4-BE49-F238E27FC236}">
                <a16:creationId xmlns:a16="http://schemas.microsoft.com/office/drawing/2014/main" id="{E8C0CD4E-8930-BFC0-3352-C49B52F8E36F}"/>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現状の配信状況をまとめております。</a:t>
            </a:r>
            <a:endParaRPr lang="ja-JP" altLang="en-US" sz="1000" dirty="0"/>
          </a:p>
        </p:txBody>
      </p:sp>
      <p:sp>
        <p:nvSpPr>
          <p:cNvPr id="9" name="テキスト ボックス 8">
            <a:extLst>
              <a:ext uri="{FF2B5EF4-FFF2-40B4-BE49-F238E27FC236}">
                <a16:creationId xmlns:a16="http://schemas.microsoft.com/office/drawing/2014/main" id="{9E0924C0-A196-3C1C-A0C3-3DCB6C46F65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4" name="Rounded Rectangle 3">
            <a:extLst>
              <a:ext uri="{FF2B5EF4-FFF2-40B4-BE49-F238E27FC236}">
                <a16:creationId xmlns:a16="http://schemas.microsoft.com/office/drawing/2014/main" id="{A87A7DC5-3BC4-2662-E227-DB924B6DC5D5}"/>
              </a:ext>
            </a:extLst>
          </p:cNvPr>
          <p:cNvSpPr/>
          <p:nvPr/>
        </p:nvSpPr>
        <p:spPr>
          <a:xfrm>
            <a:off x="460785" y="2026731"/>
            <a:ext cx="2926080" cy="86905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a:solidFill>
                  <a:srgbClr val="FFFFFF"/>
                </a:solidFill>
                <a:latin typeface="Arial"/>
              </a:rPr>
              <a:t>¥590,000</a:t>
            </a:r>
          </a:p>
          <a:p>
            <a:pPr algn="ctr"/>
            <a:r>
              <a:rPr sz="1100">
                <a:solidFill>
                  <a:srgbClr val="FFFFFF"/>
                </a:solidFill>
                <a:latin typeface="メイリオ"/>
              </a:rPr>
              <a:t>固定月額利用費</a:t>
            </a:r>
          </a:p>
        </p:txBody>
      </p:sp>
      <p:sp>
        <p:nvSpPr>
          <p:cNvPr id="8" name="Rounded Rectangle 4">
            <a:extLst>
              <a:ext uri="{FF2B5EF4-FFF2-40B4-BE49-F238E27FC236}">
                <a16:creationId xmlns:a16="http://schemas.microsoft.com/office/drawing/2014/main" id="{83B03ACD-9016-8BCA-A476-951598B2E1F4}"/>
              </a:ext>
            </a:extLst>
          </p:cNvPr>
          <p:cNvSpPr/>
          <p:nvPr/>
        </p:nvSpPr>
        <p:spPr>
          <a:xfrm>
            <a:off x="3569745" y="2026731"/>
            <a:ext cx="2926080" cy="869058"/>
          </a:xfrm>
          <a:prstGeom prst="roundRect">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a:solidFill>
                  <a:srgbClr val="FFFFFF"/>
                </a:solidFill>
                <a:latin typeface="Arial"/>
              </a:rPr>
              <a:t>¥15,000</a:t>
            </a:r>
          </a:p>
          <a:p>
            <a:pPr algn="ctr"/>
            <a:r>
              <a:rPr sz="1100">
                <a:solidFill>
                  <a:srgbClr val="FFFFFF"/>
                </a:solidFill>
                <a:latin typeface="メイリオ"/>
              </a:rPr>
              <a:t>スタンダードプラン</a:t>
            </a:r>
          </a:p>
        </p:txBody>
      </p:sp>
      <p:sp>
        <p:nvSpPr>
          <p:cNvPr id="11" name="Rounded Rectangle 5">
            <a:extLst>
              <a:ext uri="{FF2B5EF4-FFF2-40B4-BE49-F238E27FC236}">
                <a16:creationId xmlns:a16="http://schemas.microsoft.com/office/drawing/2014/main" id="{940F0319-E9CB-7A18-9865-CB7C2EB809D6}"/>
              </a:ext>
            </a:extLst>
          </p:cNvPr>
          <p:cNvSpPr/>
          <p:nvPr/>
        </p:nvSpPr>
        <p:spPr>
          <a:xfrm>
            <a:off x="6678705" y="2026731"/>
            <a:ext cx="2926080" cy="869058"/>
          </a:xfrm>
          <a:prstGeom prst="roundRect">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a:solidFill>
                  <a:srgbClr val="FFFFFF"/>
                </a:solidFill>
                <a:latin typeface="Arial"/>
              </a:rPr>
              <a:t>¥201,581</a:t>
            </a:r>
          </a:p>
          <a:p>
            <a:pPr algn="ctr"/>
            <a:r>
              <a:rPr sz="1100">
                <a:solidFill>
                  <a:srgbClr val="FFFFFF"/>
                </a:solidFill>
                <a:latin typeface="メイリオ"/>
              </a:rPr>
              <a:t>変動：LINE配信費用（超過分）</a:t>
            </a:r>
          </a:p>
        </p:txBody>
      </p:sp>
      <p:sp>
        <p:nvSpPr>
          <p:cNvPr id="13" name="Rectangle 6">
            <a:extLst>
              <a:ext uri="{FF2B5EF4-FFF2-40B4-BE49-F238E27FC236}">
                <a16:creationId xmlns:a16="http://schemas.microsoft.com/office/drawing/2014/main" id="{55FA5E16-65EB-1E98-A3EB-07F1FE3831C9}"/>
              </a:ext>
            </a:extLst>
          </p:cNvPr>
          <p:cNvSpPr/>
          <p:nvPr/>
        </p:nvSpPr>
        <p:spPr>
          <a:xfrm>
            <a:off x="460785" y="3083052"/>
            <a:ext cx="54864" cy="256032"/>
          </a:xfrm>
          <a:prstGeom prst="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5" name="Rectangle 7">
            <a:extLst>
              <a:ext uri="{FF2B5EF4-FFF2-40B4-BE49-F238E27FC236}">
                <a16:creationId xmlns:a16="http://schemas.microsoft.com/office/drawing/2014/main" id="{8DA721FA-71A2-2087-1020-B13F4A4F2327}"/>
              </a:ext>
            </a:extLst>
          </p:cNvPr>
          <p:cNvSpPr/>
          <p:nvPr/>
        </p:nvSpPr>
        <p:spPr>
          <a:xfrm>
            <a:off x="552225" y="3055620"/>
            <a:ext cx="54864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200" b="1">
                <a:solidFill>
                  <a:srgbClr val="1F2A5C"/>
                </a:solidFill>
                <a:latin typeface="メイリオ"/>
              </a:rPr>
              <a:t>月額合計と構成比</a:t>
            </a:r>
          </a:p>
        </p:txBody>
      </p:sp>
      <p:pic>
        <p:nvPicPr>
          <p:cNvPr id="17" name="table">
            <a:extLst>
              <a:ext uri="{FF2B5EF4-FFF2-40B4-BE49-F238E27FC236}">
                <a16:creationId xmlns:a16="http://schemas.microsoft.com/office/drawing/2014/main" id="{BFEC2F5B-7965-7978-1B51-1DBE423ABB00}"/>
              </a:ext>
            </a:extLst>
          </p:cNvPr>
          <p:cNvPicPr>
            <a:picLocks noChangeAspect="1"/>
          </p:cNvPicPr>
          <p:nvPr/>
        </p:nvPicPr>
        <p:blipFill>
          <a:blip r:embed="rId2"/>
          <a:stretch>
            <a:fillRect/>
          </a:stretch>
        </p:blipFill>
        <p:spPr>
          <a:xfrm>
            <a:off x="460785" y="3421380"/>
            <a:ext cx="9144000" cy="2194560"/>
          </a:xfrm>
          <a:prstGeom prst="rect">
            <a:avLst/>
          </a:prstGeom>
        </p:spPr>
      </p:pic>
      <p:sp>
        <p:nvSpPr>
          <p:cNvPr id="25" name="Rectangle 9">
            <a:extLst>
              <a:ext uri="{FF2B5EF4-FFF2-40B4-BE49-F238E27FC236}">
                <a16:creationId xmlns:a16="http://schemas.microsoft.com/office/drawing/2014/main" id="{7976EB2A-E0C4-C991-FF10-157DB9DC4842}"/>
              </a:ext>
            </a:extLst>
          </p:cNvPr>
          <p:cNvSpPr/>
          <p:nvPr/>
        </p:nvSpPr>
        <p:spPr>
          <a:xfrm>
            <a:off x="460785" y="5745480"/>
            <a:ext cx="9144000" cy="594360"/>
          </a:xfrm>
          <a:prstGeom prst="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a:solidFill>
                  <a:srgbClr val="1F2A5C"/>
                </a:solidFill>
                <a:latin typeface="メイリオ"/>
              </a:rPr>
              <a:t>示唆　変動費は配信通数に連動するため、セグメント配信で対象を絞ると圧縮の余地がある</a:t>
            </a:r>
          </a:p>
        </p:txBody>
      </p:sp>
    </p:spTree>
    <p:extLst>
      <p:ext uri="{BB962C8B-B14F-4D97-AF65-F5344CB8AC3E}">
        <p14:creationId xmlns:p14="http://schemas.microsoft.com/office/powerpoint/2010/main" val="1329562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A22FF-1CF4-EA1D-850C-1CA4501B80D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E909015D-53AB-C0BA-AD72-511498BA840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FCDEC8D3-3D6D-17D3-A9E3-059E1D416B66}"/>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88D877BD-83FA-F1B9-3C36-0C0CCC0CF1D1}"/>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配信状況（全体）</a:t>
            </a:r>
            <a:endParaRPr lang="ja-JP" altLang="en-US" sz="1100" dirty="0"/>
          </a:p>
        </p:txBody>
      </p:sp>
      <p:sp>
        <p:nvSpPr>
          <p:cNvPr id="7" name="テキスト ボックス 6">
            <a:extLst>
              <a:ext uri="{FF2B5EF4-FFF2-40B4-BE49-F238E27FC236}">
                <a16:creationId xmlns:a16="http://schemas.microsoft.com/office/drawing/2014/main" id="{A6909648-CBBF-5F53-2611-A13E0D40247C}"/>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9</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月の着地見込み：目標比</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89%</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。友だち獲得数の低迷が</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数増加につながっていない大きな要因と想定。</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3272F008-B8C0-4FB6-F558-C4A243DD364D}"/>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4" name="Rounded Rectangle 3">
            <a:extLst>
              <a:ext uri="{FF2B5EF4-FFF2-40B4-BE49-F238E27FC236}">
                <a16:creationId xmlns:a16="http://schemas.microsoft.com/office/drawing/2014/main" id="{68EE6174-170C-D02B-D99F-280A7324E01C}"/>
              </a:ext>
            </a:extLst>
          </p:cNvPr>
          <p:cNvSpPr/>
          <p:nvPr/>
        </p:nvSpPr>
        <p:spPr>
          <a:xfrm>
            <a:off x="381000" y="2024521"/>
            <a:ext cx="2926080" cy="790053"/>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Arial"/>
              </a:rPr>
              <a:t>1,218件</a:t>
            </a:r>
          </a:p>
          <a:p>
            <a:pPr algn="ctr"/>
            <a:r>
              <a:rPr sz="1100" dirty="0">
                <a:solidFill>
                  <a:srgbClr val="FFFFFF"/>
                </a:solidFill>
                <a:latin typeface="メイリオ"/>
              </a:rPr>
              <a:t>通算CV（3〜9月・6ブランド）</a:t>
            </a:r>
          </a:p>
        </p:txBody>
      </p:sp>
      <p:sp>
        <p:nvSpPr>
          <p:cNvPr id="8" name="Rounded Rectangle 4">
            <a:extLst>
              <a:ext uri="{FF2B5EF4-FFF2-40B4-BE49-F238E27FC236}">
                <a16:creationId xmlns:a16="http://schemas.microsoft.com/office/drawing/2014/main" id="{1895B4B7-6AEF-7EB0-A17C-183D8FA3F97A}"/>
              </a:ext>
            </a:extLst>
          </p:cNvPr>
          <p:cNvSpPr/>
          <p:nvPr/>
        </p:nvSpPr>
        <p:spPr>
          <a:xfrm>
            <a:off x="3489960" y="2024521"/>
            <a:ext cx="2926080" cy="790053"/>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Arial"/>
              </a:rPr>
              <a:t>167件</a:t>
            </a:r>
          </a:p>
          <a:p>
            <a:pPr algn="ctr"/>
            <a:r>
              <a:rPr sz="1100" dirty="0">
                <a:solidFill>
                  <a:srgbClr val="FFFFFF"/>
                </a:solidFill>
                <a:latin typeface="メイリオ"/>
              </a:rPr>
              <a:t>9月CV着地見込み（目標188件／89%）</a:t>
            </a:r>
          </a:p>
        </p:txBody>
      </p:sp>
      <p:sp>
        <p:nvSpPr>
          <p:cNvPr id="11" name="Rounded Rectangle 5">
            <a:extLst>
              <a:ext uri="{FF2B5EF4-FFF2-40B4-BE49-F238E27FC236}">
                <a16:creationId xmlns:a16="http://schemas.microsoft.com/office/drawing/2014/main" id="{119432EC-019A-B112-EBB4-F36066E93B4C}"/>
              </a:ext>
            </a:extLst>
          </p:cNvPr>
          <p:cNvSpPr/>
          <p:nvPr/>
        </p:nvSpPr>
        <p:spPr>
          <a:xfrm>
            <a:off x="6598920" y="2024521"/>
            <a:ext cx="2926080" cy="790053"/>
          </a:xfrm>
          <a:prstGeom prst="roundRect">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Arial"/>
              </a:rPr>
              <a:t>1,021人</a:t>
            </a:r>
          </a:p>
          <a:p>
            <a:pPr algn="ctr"/>
            <a:r>
              <a:rPr sz="1100" dirty="0">
                <a:solidFill>
                  <a:srgbClr val="FFFFFF"/>
                </a:solidFill>
                <a:latin typeface="メイリオ"/>
              </a:rPr>
              <a:t>9月友だち獲得（目標2,091人／49%）</a:t>
            </a:r>
          </a:p>
        </p:txBody>
      </p:sp>
      <p:pic>
        <p:nvPicPr>
          <p:cNvPr id="13" name="table">
            <a:extLst>
              <a:ext uri="{FF2B5EF4-FFF2-40B4-BE49-F238E27FC236}">
                <a16:creationId xmlns:a16="http://schemas.microsoft.com/office/drawing/2014/main" id="{9FCD7302-891E-1452-D3A1-25AFA69DCF39}"/>
              </a:ext>
            </a:extLst>
          </p:cNvPr>
          <p:cNvPicPr>
            <a:picLocks noChangeAspect="1"/>
          </p:cNvPicPr>
          <p:nvPr/>
        </p:nvPicPr>
        <p:blipFill>
          <a:blip r:embed="rId2"/>
          <a:stretch>
            <a:fillRect/>
          </a:stretch>
        </p:blipFill>
        <p:spPr>
          <a:xfrm>
            <a:off x="709551" y="3046815"/>
            <a:ext cx="8312727" cy="3059078"/>
          </a:xfrm>
          <a:prstGeom prst="rect">
            <a:avLst/>
          </a:prstGeom>
        </p:spPr>
      </p:pic>
      <p:sp>
        <p:nvSpPr>
          <p:cNvPr id="15" name="Rectangle 7">
            <a:extLst>
              <a:ext uri="{FF2B5EF4-FFF2-40B4-BE49-F238E27FC236}">
                <a16:creationId xmlns:a16="http://schemas.microsoft.com/office/drawing/2014/main" id="{10B12EDA-8081-808B-D746-9E55732A290F}"/>
              </a:ext>
            </a:extLst>
          </p:cNvPr>
          <p:cNvSpPr/>
          <p:nvPr/>
        </p:nvSpPr>
        <p:spPr>
          <a:xfrm>
            <a:off x="849971" y="6258191"/>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800" b="0">
                <a:solidFill>
                  <a:srgbClr val="777777"/>
                </a:solidFill>
                <a:latin typeface="メイリオ"/>
              </a:rPr>
              <a:t>出典：MTG資料（2026/09/30）。通算＝3〜9月の合計。9月は9/29時点の実績＋着地予測（MTG資料）。3〜8月は実績</a:t>
            </a:r>
          </a:p>
        </p:txBody>
      </p:sp>
    </p:spTree>
    <p:extLst>
      <p:ext uri="{BB962C8B-B14F-4D97-AF65-F5344CB8AC3E}">
        <p14:creationId xmlns:p14="http://schemas.microsoft.com/office/powerpoint/2010/main" val="612529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89811-2040-02EC-DD8A-059E93BB29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E6E7920B-CA06-493A-8607-496D860218A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395C48FF-D5E7-6D64-81C6-3920E4CB2577}"/>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045B0D4-B7FF-0C99-E655-4C0C63ABC61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配信状況（全体）</a:t>
            </a:r>
            <a:endParaRPr lang="ja-JP" altLang="en-US" sz="1100" dirty="0"/>
          </a:p>
        </p:txBody>
      </p:sp>
      <p:sp>
        <p:nvSpPr>
          <p:cNvPr id="7" name="テキスト ボックス 6">
            <a:extLst>
              <a:ext uri="{FF2B5EF4-FFF2-40B4-BE49-F238E27FC236}">
                <a16:creationId xmlns:a16="http://schemas.microsoft.com/office/drawing/2014/main" id="{21FF9A19-F8C6-64E3-73B3-71D3C6276BA8}"/>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9</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月の着地見込み：目標比</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89%</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。友だち獲得数の低迷が</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数増加につながっていない大きな要因と想定。</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7418CA60-FB4B-5AED-2B8E-014D2A601DB3}"/>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5" name="Rectangle 7">
            <a:extLst>
              <a:ext uri="{FF2B5EF4-FFF2-40B4-BE49-F238E27FC236}">
                <a16:creationId xmlns:a16="http://schemas.microsoft.com/office/drawing/2014/main" id="{EB719C4F-8FAC-B25E-FDFC-9BD53387347D}"/>
              </a:ext>
            </a:extLst>
          </p:cNvPr>
          <p:cNvSpPr/>
          <p:nvPr/>
        </p:nvSpPr>
        <p:spPr>
          <a:xfrm>
            <a:off x="849971" y="6258191"/>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800" b="0">
                <a:solidFill>
                  <a:srgbClr val="777777"/>
                </a:solidFill>
                <a:latin typeface="メイリオ"/>
              </a:rPr>
              <a:t>出典：MTG資料（2026/09/30）。通算＝3〜9月の合計。9月は9/29時点の実績＋着地予測（MTG資料）。3〜8月は実績</a:t>
            </a:r>
          </a:p>
        </p:txBody>
      </p:sp>
      <p:pic>
        <p:nvPicPr>
          <p:cNvPr id="2" name="table">
            <a:extLst>
              <a:ext uri="{FF2B5EF4-FFF2-40B4-BE49-F238E27FC236}">
                <a16:creationId xmlns:a16="http://schemas.microsoft.com/office/drawing/2014/main" id="{F620646C-B6FF-289B-E134-C166CACC1FB1}"/>
              </a:ext>
            </a:extLst>
          </p:cNvPr>
          <p:cNvPicPr>
            <a:picLocks noChangeAspect="1"/>
          </p:cNvPicPr>
          <p:nvPr/>
        </p:nvPicPr>
        <p:blipFill>
          <a:blip r:embed="rId2"/>
          <a:stretch>
            <a:fillRect/>
          </a:stretch>
        </p:blipFill>
        <p:spPr>
          <a:xfrm>
            <a:off x="1000314" y="1835830"/>
            <a:ext cx="7557025" cy="2267104"/>
          </a:xfrm>
          <a:prstGeom prst="rect">
            <a:avLst/>
          </a:prstGeom>
        </p:spPr>
      </p:pic>
      <p:graphicFrame>
        <p:nvGraphicFramePr>
          <p:cNvPr id="6" name="Chart 4">
            <a:extLst>
              <a:ext uri="{FF2B5EF4-FFF2-40B4-BE49-F238E27FC236}">
                <a16:creationId xmlns:a16="http://schemas.microsoft.com/office/drawing/2014/main" id="{9E7E261D-6CD1-F579-AC89-742E2E524DAA}"/>
              </a:ext>
            </a:extLst>
          </p:cNvPr>
          <p:cNvGraphicFramePr>
            <a:graphicFrameLocks noGrp="1"/>
          </p:cNvGraphicFramePr>
          <p:nvPr>
            <p:extLst>
              <p:ext uri="{D42A27DB-BD31-4B8C-83A1-F6EECF244321}">
                <p14:modId xmlns:p14="http://schemas.microsoft.com/office/powerpoint/2010/main" val="242055345"/>
              </p:ext>
            </p:extLst>
          </p:nvPr>
        </p:nvGraphicFramePr>
        <p:xfrm>
          <a:off x="924367" y="4170114"/>
          <a:ext cx="7708921" cy="199505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75493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57931-AD67-224B-9E3E-C7CFE96BD38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B1D0B5F-F97D-B469-B0C0-BB768EE7CE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481E79BA-3046-8BBD-EEDD-C044D872EA99}"/>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F5F8E87-03F0-A411-BBEA-23971681CBAB}"/>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配信状況（全体）</a:t>
            </a:r>
            <a:endParaRPr lang="ja-JP" altLang="en-US" sz="1100" dirty="0"/>
          </a:p>
        </p:txBody>
      </p:sp>
      <p:sp>
        <p:nvSpPr>
          <p:cNvPr id="7" name="テキスト ボックス 6">
            <a:extLst>
              <a:ext uri="{FF2B5EF4-FFF2-40B4-BE49-F238E27FC236}">
                <a16:creationId xmlns:a16="http://schemas.microsoft.com/office/drawing/2014/main" id="{B4637BD4-79B1-2B45-74F0-272D1C434BDF}"/>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9</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月の着地見込み：目標比</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89%</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。友だち獲得数の低迷が</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数増加につながっていない大きな要因と想定。</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1D369AE0-27E0-53AA-C34F-7E11470EE06A}"/>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5" name="Rectangle 7">
            <a:extLst>
              <a:ext uri="{FF2B5EF4-FFF2-40B4-BE49-F238E27FC236}">
                <a16:creationId xmlns:a16="http://schemas.microsoft.com/office/drawing/2014/main" id="{0C439AFF-D6A2-6FDE-6BDD-B9D9B5FE7875}"/>
              </a:ext>
            </a:extLst>
          </p:cNvPr>
          <p:cNvSpPr/>
          <p:nvPr/>
        </p:nvSpPr>
        <p:spPr>
          <a:xfrm>
            <a:off x="849971" y="6258191"/>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800" b="0">
                <a:solidFill>
                  <a:srgbClr val="777777"/>
                </a:solidFill>
                <a:latin typeface="メイリオ"/>
              </a:rPr>
              <a:t>出典：MTG資料（2026/09/30）。通算＝3〜9月の合計。9月は9/29時点の実績＋着地予測（MTG資料）。3〜8月は実績</a:t>
            </a:r>
          </a:p>
        </p:txBody>
      </p:sp>
      <p:pic>
        <p:nvPicPr>
          <p:cNvPr id="4" name="table">
            <a:extLst>
              <a:ext uri="{FF2B5EF4-FFF2-40B4-BE49-F238E27FC236}">
                <a16:creationId xmlns:a16="http://schemas.microsoft.com/office/drawing/2014/main" id="{452F618A-D0F8-1F0A-7EF3-5B48FBF44C00}"/>
              </a:ext>
            </a:extLst>
          </p:cNvPr>
          <p:cNvPicPr>
            <a:picLocks noChangeAspect="1"/>
          </p:cNvPicPr>
          <p:nvPr/>
        </p:nvPicPr>
        <p:blipFill>
          <a:blip r:embed="rId2"/>
          <a:stretch>
            <a:fillRect/>
          </a:stretch>
        </p:blipFill>
        <p:spPr>
          <a:xfrm>
            <a:off x="998363" y="1777987"/>
            <a:ext cx="7909274" cy="2372778"/>
          </a:xfrm>
          <a:prstGeom prst="rect">
            <a:avLst/>
          </a:prstGeom>
        </p:spPr>
      </p:pic>
      <p:graphicFrame>
        <p:nvGraphicFramePr>
          <p:cNvPr id="8" name="Chart 4">
            <a:extLst>
              <a:ext uri="{FF2B5EF4-FFF2-40B4-BE49-F238E27FC236}">
                <a16:creationId xmlns:a16="http://schemas.microsoft.com/office/drawing/2014/main" id="{B3268EE3-E887-F43E-9FCC-3215A8C7192F}"/>
              </a:ext>
            </a:extLst>
          </p:cNvPr>
          <p:cNvGraphicFramePr>
            <a:graphicFrameLocks noGrp="1"/>
          </p:cNvGraphicFramePr>
          <p:nvPr>
            <p:extLst>
              <p:ext uri="{D42A27DB-BD31-4B8C-83A1-F6EECF244321}">
                <p14:modId xmlns:p14="http://schemas.microsoft.com/office/powerpoint/2010/main" val="55730761"/>
              </p:ext>
            </p:extLst>
          </p:nvPr>
        </p:nvGraphicFramePr>
        <p:xfrm>
          <a:off x="878533" y="4094119"/>
          <a:ext cx="8148934" cy="21945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89070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794D-D92A-AFB1-43B2-67A5E65FDBAA}"/>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F781C4B-A8C1-D96C-7028-832150D0ACF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9621B9AB-2BF3-6A10-927C-B7912B069AE9}"/>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C39A583-F378-17A8-3B9A-D745CE622A48}"/>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配信状況（全体）</a:t>
            </a:r>
            <a:endParaRPr lang="ja-JP" altLang="en-US" sz="1100" dirty="0"/>
          </a:p>
        </p:txBody>
      </p:sp>
      <p:sp>
        <p:nvSpPr>
          <p:cNvPr id="7" name="テキスト ボックス 6">
            <a:extLst>
              <a:ext uri="{FF2B5EF4-FFF2-40B4-BE49-F238E27FC236}">
                <a16:creationId xmlns:a16="http://schemas.microsoft.com/office/drawing/2014/main" id="{BFB7184D-72D4-811A-AAAA-9F3E1EAD9066}"/>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経由のセッション、</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につながっていないともに減少しており、施策効率が悪化しているのが数字に見えている。</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E0256843-9653-FA6C-14C7-D2724008DCAE}"/>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 name="table">
            <a:extLst>
              <a:ext uri="{FF2B5EF4-FFF2-40B4-BE49-F238E27FC236}">
                <a16:creationId xmlns:a16="http://schemas.microsoft.com/office/drawing/2014/main" id="{E3C4EFFC-1C88-DB26-5487-FEDB5892E95A}"/>
              </a:ext>
            </a:extLst>
          </p:cNvPr>
          <p:cNvPicPr>
            <a:picLocks noChangeAspect="1"/>
          </p:cNvPicPr>
          <p:nvPr/>
        </p:nvPicPr>
        <p:blipFill>
          <a:blip r:embed="rId2"/>
          <a:stretch>
            <a:fillRect/>
          </a:stretch>
        </p:blipFill>
        <p:spPr>
          <a:xfrm>
            <a:off x="369004" y="1809988"/>
            <a:ext cx="8963827" cy="2778782"/>
          </a:xfrm>
          <a:prstGeom prst="rect">
            <a:avLst/>
          </a:prstGeom>
        </p:spPr>
      </p:pic>
      <p:sp>
        <p:nvSpPr>
          <p:cNvPr id="6" name="Rounded Rectangle 4">
            <a:extLst>
              <a:ext uri="{FF2B5EF4-FFF2-40B4-BE49-F238E27FC236}">
                <a16:creationId xmlns:a16="http://schemas.microsoft.com/office/drawing/2014/main" id="{8F20828F-9014-F017-C642-4464B3993BD5}"/>
              </a:ext>
            </a:extLst>
          </p:cNvPr>
          <p:cNvSpPr/>
          <p:nvPr/>
        </p:nvSpPr>
        <p:spPr>
          <a:xfrm>
            <a:off x="369004" y="4698396"/>
            <a:ext cx="2172833" cy="91440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000" b="1" dirty="0">
                <a:solidFill>
                  <a:srgbClr val="FFFFFF"/>
                </a:solidFill>
                <a:latin typeface="Arial"/>
              </a:rPr>
              <a:t>+27.5%</a:t>
            </a:r>
          </a:p>
          <a:p>
            <a:pPr algn="ctr"/>
            <a:r>
              <a:rPr sz="1050" dirty="0" err="1">
                <a:solidFill>
                  <a:srgbClr val="FFFFFF"/>
                </a:solidFill>
                <a:latin typeface="メイリオ"/>
              </a:rPr>
              <a:t>登録フロ</a:t>
            </a:r>
            <a:r>
              <a:rPr sz="1050" dirty="0">
                <a:solidFill>
                  <a:srgbClr val="FFFFFF"/>
                </a:solidFill>
                <a:latin typeface="メイリオ"/>
              </a:rPr>
              <a:t>ー（131 → 167）</a:t>
            </a:r>
          </a:p>
        </p:txBody>
      </p:sp>
      <p:sp>
        <p:nvSpPr>
          <p:cNvPr id="10" name="Rounded Rectangle 5">
            <a:extLst>
              <a:ext uri="{FF2B5EF4-FFF2-40B4-BE49-F238E27FC236}">
                <a16:creationId xmlns:a16="http://schemas.microsoft.com/office/drawing/2014/main" id="{86BAF53B-3FEF-6E3E-C84B-4E1C6BFFF82C}"/>
              </a:ext>
            </a:extLst>
          </p:cNvPr>
          <p:cNvSpPr/>
          <p:nvPr/>
        </p:nvSpPr>
        <p:spPr>
          <a:xfrm>
            <a:off x="2700724" y="4698396"/>
            <a:ext cx="2172833" cy="91440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000" b="1">
                <a:solidFill>
                  <a:srgbClr val="FFFFFF"/>
                </a:solidFill>
                <a:latin typeface="Arial"/>
              </a:rPr>
              <a:t>-40.7%</a:t>
            </a:r>
          </a:p>
          <a:p>
            <a:pPr algn="ctr"/>
            <a:r>
              <a:rPr sz="1050">
                <a:solidFill>
                  <a:srgbClr val="FFFFFF"/>
                </a:solidFill>
                <a:latin typeface="メイリオ"/>
              </a:rPr>
              <a:t>リッチメニュー（759 → 450）</a:t>
            </a:r>
          </a:p>
        </p:txBody>
      </p:sp>
      <p:sp>
        <p:nvSpPr>
          <p:cNvPr id="11" name="Rounded Rectangle 6">
            <a:extLst>
              <a:ext uri="{FF2B5EF4-FFF2-40B4-BE49-F238E27FC236}">
                <a16:creationId xmlns:a16="http://schemas.microsoft.com/office/drawing/2014/main" id="{0395A4D8-5893-4D00-0AA7-65C85972129A}"/>
              </a:ext>
            </a:extLst>
          </p:cNvPr>
          <p:cNvSpPr/>
          <p:nvPr/>
        </p:nvSpPr>
        <p:spPr>
          <a:xfrm>
            <a:off x="5032444" y="4698396"/>
            <a:ext cx="2172833" cy="91440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a:solidFill>
                  <a:srgbClr val="FFFFFF"/>
                </a:solidFill>
                <a:latin typeface="Arial"/>
              </a:rPr>
              <a:t>+4.9%</a:t>
            </a:r>
          </a:p>
          <a:p>
            <a:pPr algn="ctr"/>
            <a:r>
              <a:rPr sz="1050">
                <a:solidFill>
                  <a:srgbClr val="FFFFFF"/>
                </a:solidFill>
                <a:latin typeface="メイリオ"/>
              </a:rPr>
              <a:t>後追い（61 → 64）</a:t>
            </a:r>
          </a:p>
        </p:txBody>
      </p:sp>
      <p:sp>
        <p:nvSpPr>
          <p:cNvPr id="12" name="Rounded Rectangle 7">
            <a:extLst>
              <a:ext uri="{FF2B5EF4-FFF2-40B4-BE49-F238E27FC236}">
                <a16:creationId xmlns:a16="http://schemas.microsoft.com/office/drawing/2014/main" id="{CA9E3B9A-D068-C3BF-19DB-7FFE64E72529}"/>
              </a:ext>
            </a:extLst>
          </p:cNvPr>
          <p:cNvSpPr/>
          <p:nvPr/>
        </p:nvSpPr>
        <p:spPr>
          <a:xfrm>
            <a:off x="7364164" y="4698396"/>
            <a:ext cx="2172833" cy="91440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a:solidFill>
                  <a:srgbClr val="FFFFFF"/>
                </a:solidFill>
                <a:latin typeface="Arial"/>
              </a:rPr>
              <a:t>-7.8%</a:t>
            </a:r>
          </a:p>
          <a:p>
            <a:pPr algn="ctr"/>
            <a:r>
              <a:rPr sz="1050">
                <a:solidFill>
                  <a:srgbClr val="FFFFFF"/>
                </a:solidFill>
                <a:latin typeface="メイリオ"/>
              </a:rPr>
              <a:t>一斉配信（523 → 482）</a:t>
            </a:r>
          </a:p>
        </p:txBody>
      </p:sp>
      <p:sp>
        <p:nvSpPr>
          <p:cNvPr id="13" name="Rectangle 8">
            <a:extLst>
              <a:ext uri="{FF2B5EF4-FFF2-40B4-BE49-F238E27FC236}">
                <a16:creationId xmlns:a16="http://schemas.microsoft.com/office/drawing/2014/main" id="{EEC7541E-7D6F-B1E5-987C-B3788FE736A7}"/>
              </a:ext>
            </a:extLst>
          </p:cNvPr>
          <p:cNvSpPr/>
          <p:nvPr/>
        </p:nvSpPr>
        <p:spPr>
          <a:xfrm>
            <a:off x="403408" y="5686817"/>
            <a:ext cx="9053465" cy="548640"/>
          </a:xfrm>
          <a:prstGeom prst="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a:solidFill>
                  <a:srgbClr val="1F2A5C"/>
                </a:solidFill>
                <a:latin typeface="メイリオ"/>
              </a:rPr>
              <a:t>リッチメニュー経由が-40.7%と減少幅が大きい。CE・N9は前年を上回る</a:t>
            </a:r>
          </a:p>
        </p:txBody>
      </p:sp>
      <p:sp>
        <p:nvSpPr>
          <p:cNvPr id="14" name="Rectangle 9">
            <a:extLst>
              <a:ext uri="{FF2B5EF4-FFF2-40B4-BE49-F238E27FC236}">
                <a16:creationId xmlns:a16="http://schemas.microsoft.com/office/drawing/2014/main" id="{CC6270CB-40D1-6D4D-F5CB-AEEBE21DD552}"/>
              </a:ext>
            </a:extLst>
          </p:cNvPr>
          <p:cNvSpPr/>
          <p:nvPr/>
        </p:nvSpPr>
        <p:spPr>
          <a:xfrm>
            <a:off x="403408" y="6272467"/>
            <a:ext cx="905346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800" b="0">
                <a:solidFill>
                  <a:srgbClr val="777777"/>
                </a:solidFill>
                <a:latin typeface="メイリオ"/>
              </a:rPr>
              <a:t>出典：MTG資料。2026/10/1–10/14 と 2025/10/2–10/15（同曜日）の比較。6ブランド合計のカテゴリー別セッション数</a:t>
            </a:r>
          </a:p>
        </p:txBody>
      </p:sp>
    </p:spTree>
    <p:extLst>
      <p:ext uri="{BB962C8B-B14F-4D97-AF65-F5344CB8AC3E}">
        <p14:creationId xmlns:p14="http://schemas.microsoft.com/office/powerpoint/2010/main" val="2555890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F2D03-3C50-76A7-E173-9CCB71AA7E19}"/>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027BEB8-CD5F-C9AE-DE2D-CBD8FC6E8289}"/>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3E4DEF1D-5CC5-BD78-A8FF-617B349ACAAF}"/>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3D26277-72B8-04AC-91A4-F63C15A0F488}"/>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配信状況（企画配信）</a:t>
            </a:r>
            <a:endParaRPr lang="ja-JP" altLang="en-US" sz="1100" dirty="0"/>
          </a:p>
        </p:txBody>
      </p:sp>
      <p:sp>
        <p:nvSpPr>
          <p:cNvPr id="7" name="テキスト ボックス 6">
            <a:extLst>
              <a:ext uri="{FF2B5EF4-FFF2-40B4-BE49-F238E27FC236}">
                <a16:creationId xmlns:a16="http://schemas.microsoft.com/office/drawing/2014/main" id="{E3C646F9-95BF-A6EA-7DE2-CADDDB47A1AF}"/>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現状の配信状況をまとめております。</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配信回数は多いものの、平均</a:t>
            </a: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3-4</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回程度で同様配信を実施している状況です。</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C07A2D0F-6BF7-151C-CACA-9E7D1D3BD3E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ounded Rectangle 3">
            <a:extLst>
              <a:ext uri="{FF2B5EF4-FFF2-40B4-BE49-F238E27FC236}">
                <a16:creationId xmlns:a16="http://schemas.microsoft.com/office/drawing/2014/main" id="{E7CA5432-94BC-3010-D43A-790905AF4813}"/>
              </a:ext>
            </a:extLst>
          </p:cNvPr>
          <p:cNvSpPr/>
          <p:nvPr/>
        </p:nvSpPr>
        <p:spPr>
          <a:xfrm>
            <a:off x="381000" y="1877961"/>
            <a:ext cx="2926080" cy="86905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Arial"/>
              </a:rPr>
              <a:t>571回</a:t>
            </a:r>
          </a:p>
          <a:p>
            <a:pPr algn="ctr"/>
            <a:r>
              <a:rPr sz="1100" dirty="0">
                <a:solidFill>
                  <a:srgbClr val="FFFFFF"/>
                </a:solidFill>
                <a:latin typeface="メイリオ"/>
              </a:rPr>
              <a:t>累計配信回数（6アカウント）</a:t>
            </a:r>
          </a:p>
        </p:txBody>
      </p:sp>
      <p:sp>
        <p:nvSpPr>
          <p:cNvPr id="6" name="Rounded Rectangle 4">
            <a:extLst>
              <a:ext uri="{FF2B5EF4-FFF2-40B4-BE49-F238E27FC236}">
                <a16:creationId xmlns:a16="http://schemas.microsoft.com/office/drawing/2014/main" id="{D63D708B-D6E1-4128-247F-D38B98A68F3F}"/>
              </a:ext>
            </a:extLst>
          </p:cNvPr>
          <p:cNvSpPr/>
          <p:nvPr/>
        </p:nvSpPr>
        <p:spPr>
          <a:xfrm>
            <a:off x="3489960" y="1877961"/>
            <a:ext cx="2926080" cy="869058"/>
          </a:xfrm>
          <a:prstGeom prst="roundRect">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Arial"/>
              </a:rPr>
              <a:t>1,581,887</a:t>
            </a:r>
          </a:p>
          <a:p>
            <a:pPr algn="ctr"/>
            <a:r>
              <a:rPr sz="1100" dirty="0" err="1">
                <a:solidFill>
                  <a:srgbClr val="FFFFFF"/>
                </a:solidFill>
                <a:latin typeface="メイリオ"/>
              </a:rPr>
              <a:t>延べ配信</a:t>
            </a:r>
            <a:r>
              <a:rPr lang="ja-JP" altLang="en-US" sz="1100" dirty="0">
                <a:solidFill>
                  <a:srgbClr val="FFFFFF"/>
                </a:solidFill>
                <a:latin typeface="メイリオ"/>
              </a:rPr>
              <a:t>通数</a:t>
            </a:r>
            <a:endParaRPr sz="1100" dirty="0">
              <a:solidFill>
                <a:srgbClr val="FFFFFF"/>
              </a:solidFill>
              <a:latin typeface="メイリオ"/>
            </a:endParaRPr>
          </a:p>
        </p:txBody>
      </p:sp>
      <p:sp>
        <p:nvSpPr>
          <p:cNvPr id="10" name="Rounded Rectangle 5">
            <a:extLst>
              <a:ext uri="{FF2B5EF4-FFF2-40B4-BE49-F238E27FC236}">
                <a16:creationId xmlns:a16="http://schemas.microsoft.com/office/drawing/2014/main" id="{BB9ED445-41FB-EACB-4873-D0EFEB525DF7}"/>
              </a:ext>
            </a:extLst>
          </p:cNvPr>
          <p:cNvSpPr/>
          <p:nvPr/>
        </p:nvSpPr>
        <p:spPr>
          <a:xfrm>
            <a:off x="6598920" y="1877961"/>
            <a:ext cx="2926080" cy="869058"/>
          </a:xfrm>
          <a:prstGeom prst="roundRect">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Arial"/>
              </a:rPr>
              <a:t>1.98%</a:t>
            </a:r>
          </a:p>
          <a:p>
            <a:pPr algn="ctr"/>
            <a:r>
              <a:rPr sz="1100">
                <a:solidFill>
                  <a:srgbClr val="FFFFFF"/>
                </a:solidFill>
                <a:latin typeface="メイリオ"/>
              </a:rPr>
              <a:t>CTR（延べ反応者 31,328）</a:t>
            </a:r>
          </a:p>
        </p:txBody>
      </p:sp>
      <p:pic>
        <p:nvPicPr>
          <p:cNvPr id="12" name="table">
            <a:extLst>
              <a:ext uri="{FF2B5EF4-FFF2-40B4-BE49-F238E27FC236}">
                <a16:creationId xmlns:a16="http://schemas.microsoft.com/office/drawing/2014/main" id="{392BE495-B6DD-61A5-8A1D-BAFE50FC44AF}"/>
              </a:ext>
            </a:extLst>
          </p:cNvPr>
          <p:cNvPicPr>
            <a:picLocks noChangeAspect="1"/>
          </p:cNvPicPr>
          <p:nvPr/>
        </p:nvPicPr>
        <p:blipFill>
          <a:blip r:embed="rId2"/>
          <a:stretch>
            <a:fillRect/>
          </a:stretch>
        </p:blipFill>
        <p:spPr>
          <a:xfrm>
            <a:off x="381000" y="2858421"/>
            <a:ext cx="9144000" cy="3108959"/>
          </a:xfrm>
          <a:prstGeom prst="rect">
            <a:avLst/>
          </a:prstGeom>
        </p:spPr>
      </p:pic>
      <p:sp>
        <p:nvSpPr>
          <p:cNvPr id="14" name="Rectangle 7">
            <a:extLst>
              <a:ext uri="{FF2B5EF4-FFF2-40B4-BE49-F238E27FC236}">
                <a16:creationId xmlns:a16="http://schemas.microsoft.com/office/drawing/2014/main" id="{D152F992-9E66-53D3-F1D0-821BBABFC9A1}"/>
              </a:ext>
            </a:extLst>
          </p:cNvPr>
          <p:cNvSpPr/>
          <p:nvPr/>
        </p:nvSpPr>
        <p:spPr>
          <a:xfrm>
            <a:off x="381000" y="6284315"/>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800" b="0" dirty="0">
                <a:solidFill>
                  <a:srgbClr val="777777"/>
                </a:solidFill>
                <a:latin typeface="メイリオ"/>
              </a:rPr>
              <a:t>※「配信済み」かつ配信対象者が入力された行を集計。WBは2025/10、CE・KDI・HALは2025/2までが入力済み（以降は企画のみで実績未反映の可能性。要確認）。</a:t>
            </a:r>
            <a:r>
              <a:rPr sz="800" b="0" dirty="0" err="1">
                <a:solidFill>
                  <a:srgbClr val="777777"/>
                </a:solidFill>
                <a:latin typeface="メイリオ"/>
              </a:rPr>
              <a:t>CVはシート入力値</a:t>
            </a:r>
            <a:endParaRPr sz="800" b="0" dirty="0">
              <a:solidFill>
                <a:srgbClr val="777777"/>
              </a:solidFill>
              <a:latin typeface="メイリオ"/>
            </a:endParaRPr>
          </a:p>
        </p:txBody>
      </p:sp>
      <p:sp>
        <p:nvSpPr>
          <p:cNvPr id="18" name="Rounded Rectangle 3">
            <a:extLst>
              <a:ext uri="{FF2B5EF4-FFF2-40B4-BE49-F238E27FC236}">
                <a16:creationId xmlns:a16="http://schemas.microsoft.com/office/drawing/2014/main" id="{0C4A43EA-0EE8-A201-AD4B-6F93223085B8}"/>
              </a:ext>
            </a:extLst>
          </p:cNvPr>
          <p:cNvSpPr/>
          <p:nvPr/>
        </p:nvSpPr>
        <p:spPr>
          <a:xfrm>
            <a:off x="7024113" y="2880926"/>
            <a:ext cx="700480" cy="335059"/>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ja-JP" altLang="en-US" sz="800" b="1" dirty="0">
                <a:solidFill>
                  <a:srgbClr val="FFFFFF"/>
                </a:solidFill>
                <a:latin typeface="メイリオ" panose="020B0604030504040204" pitchFamily="50" charset="-128"/>
                <a:ea typeface="メイリオ" panose="020B0604030504040204" pitchFamily="50" charset="-128"/>
              </a:rPr>
              <a:t>開封</a:t>
            </a:r>
            <a:r>
              <a:rPr lang="en-US" altLang="ja-JP" sz="800" b="1" dirty="0">
                <a:solidFill>
                  <a:srgbClr val="FFFFFF"/>
                </a:solidFill>
                <a:latin typeface="メイリオ" panose="020B0604030504040204" pitchFamily="50" charset="-128"/>
                <a:ea typeface="メイリオ" panose="020B0604030504040204" pitchFamily="50" charset="-128"/>
              </a:rPr>
              <a:t>×</a:t>
            </a:r>
          </a:p>
          <a:p>
            <a:pPr algn="ctr"/>
            <a:r>
              <a:rPr lang="ja-JP" altLang="en-US" sz="800" b="1" dirty="0">
                <a:solidFill>
                  <a:srgbClr val="FFFFFF"/>
                </a:solidFill>
                <a:latin typeface="メイリオ" panose="020B0604030504040204" pitchFamily="50" charset="-128"/>
                <a:ea typeface="メイリオ" panose="020B0604030504040204" pitchFamily="50" charset="-128"/>
              </a:rPr>
              <a:t>クリック率</a:t>
            </a:r>
            <a:endParaRPr sz="100"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95251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E123-4433-CDC2-B21A-E1849EED881D}"/>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6403D48-3A96-9569-B701-564DB6AB80B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070C2C73-3B11-1133-E9FF-FCEC9F7E16BF}"/>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1A07DD4-148A-90D4-67A1-D36949EB5D85}"/>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配信状況</a:t>
            </a:r>
            <a:endParaRPr lang="ja-JP" altLang="en-US" sz="1100" dirty="0"/>
          </a:p>
        </p:txBody>
      </p:sp>
      <p:sp>
        <p:nvSpPr>
          <p:cNvPr id="7" name="テキスト ボックス 6">
            <a:extLst>
              <a:ext uri="{FF2B5EF4-FFF2-40B4-BE49-F238E27FC236}">
                <a16:creationId xmlns:a16="http://schemas.microsoft.com/office/drawing/2014/main" id="{8C2C6DA1-812A-441C-5AA4-A164F5F791C8}"/>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現状の配信状況をまとめております。直近の配信は</a:t>
            </a: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40,000</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件程度で安定、開封率</a:t>
            </a: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×CTR</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％を割っており効果低迷</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000" dirty="0"/>
          </a:p>
        </p:txBody>
      </p:sp>
      <p:sp>
        <p:nvSpPr>
          <p:cNvPr id="9" name="テキスト ボックス 8">
            <a:extLst>
              <a:ext uri="{FF2B5EF4-FFF2-40B4-BE49-F238E27FC236}">
                <a16:creationId xmlns:a16="http://schemas.microsoft.com/office/drawing/2014/main" id="{BC7D96CF-267B-019C-7E14-B84890D64FA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graphicFrame>
        <p:nvGraphicFramePr>
          <p:cNvPr id="4" name="Chart 3">
            <a:extLst>
              <a:ext uri="{FF2B5EF4-FFF2-40B4-BE49-F238E27FC236}">
                <a16:creationId xmlns:a16="http://schemas.microsoft.com/office/drawing/2014/main" id="{2A2843B5-B838-CDF4-6A52-9BAF29799A10}"/>
              </a:ext>
            </a:extLst>
          </p:cNvPr>
          <p:cNvGraphicFramePr>
            <a:graphicFrameLocks noGrp="1"/>
          </p:cNvGraphicFramePr>
          <p:nvPr>
            <p:extLst>
              <p:ext uri="{D42A27DB-BD31-4B8C-83A1-F6EECF244321}">
                <p14:modId xmlns:p14="http://schemas.microsoft.com/office/powerpoint/2010/main" val="3482653393"/>
              </p:ext>
            </p:extLst>
          </p:nvPr>
        </p:nvGraphicFramePr>
        <p:xfrm>
          <a:off x="277443" y="1897165"/>
          <a:ext cx="9235052" cy="22488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4">
            <a:extLst>
              <a:ext uri="{FF2B5EF4-FFF2-40B4-BE49-F238E27FC236}">
                <a16:creationId xmlns:a16="http://schemas.microsoft.com/office/drawing/2014/main" id="{BF8BB32D-87D8-E11A-2F68-B893A528BF98}"/>
              </a:ext>
            </a:extLst>
          </p:cNvPr>
          <p:cNvGraphicFramePr>
            <a:graphicFrameLocks noGrp="1"/>
          </p:cNvGraphicFramePr>
          <p:nvPr>
            <p:extLst>
              <p:ext uri="{D42A27DB-BD31-4B8C-83A1-F6EECF244321}">
                <p14:modId xmlns:p14="http://schemas.microsoft.com/office/powerpoint/2010/main" val="1663607518"/>
              </p:ext>
            </p:extLst>
          </p:nvPr>
        </p:nvGraphicFramePr>
        <p:xfrm>
          <a:off x="368495" y="4138046"/>
          <a:ext cx="9144000" cy="2082303"/>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5">
            <a:extLst>
              <a:ext uri="{FF2B5EF4-FFF2-40B4-BE49-F238E27FC236}">
                <a16:creationId xmlns:a16="http://schemas.microsoft.com/office/drawing/2014/main" id="{AE07668D-2CB7-59F3-55B8-F7F93FC420F2}"/>
              </a:ext>
            </a:extLst>
          </p:cNvPr>
          <p:cNvSpPr/>
          <p:nvPr/>
        </p:nvSpPr>
        <p:spPr>
          <a:xfrm>
            <a:off x="277443" y="6334715"/>
            <a:ext cx="8312727" cy="226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800" b="0">
                <a:solidFill>
                  <a:srgbClr val="777777"/>
                </a:solidFill>
                <a:latin typeface="メイリオ"/>
              </a:rPr>
              <a:t>出典：配信管理(KD)。2024年CTR 2.01% → 2026年（1〜9月）1.23%。配信対象者は各配信の対象人数の合計（友だち数の増加を反映）</a:t>
            </a:r>
          </a:p>
        </p:txBody>
      </p:sp>
    </p:spTree>
    <p:extLst>
      <p:ext uri="{BB962C8B-B14F-4D97-AF65-F5344CB8AC3E}">
        <p14:creationId xmlns:p14="http://schemas.microsoft.com/office/powerpoint/2010/main" val="1076676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3281-6DAE-CAA4-CD3E-EE2832D65F2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6FCBB1D-22E8-F113-A9FC-AF0EE45967EF}"/>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886F820-355A-C2BE-F2F8-582BB46F893E}"/>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BF8C8BB-403C-8DA3-9E52-1CA1915D90E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前提ヒアリング</a:t>
            </a:r>
            <a:endParaRPr lang="ja-JP" altLang="en-US" sz="1100" dirty="0"/>
          </a:p>
        </p:txBody>
      </p:sp>
      <p:sp>
        <p:nvSpPr>
          <p:cNvPr id="7" name="テキスト ボックス 6">
            <a:extLst>
              <a:ext uri="{FF2B5EF4-FFF2-40B4-BE49-F238E27FC236}">
                <a16:creationId xmlns:a16="http://schemas.microsoft.com/office/drawing/2014/main" id="{C88D0E3E-01DE-7813-4A33-F1EA96845563}"/>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は主に２動線（店舗検索時の日程調整</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タイプ別診断後の教育）に限定され、集客の効率化につながっていない。</a:t>
            </a:r>
            <a:endParaRPr lang="ja-JP" altLang="en-US" sz="1000" dirty="0"/>
          </a:p>
        </p:txBody>
      </p:sp>
      <p:sp>
        <p:nvSpPr>
          <p:cNvPr id="9" name="テキスト ボックス 8">
            <a:extLst>
              <a:ext uri="{FF2B5EF4-FFF2-40B4-BE49-F238E27FC236}">
                <a16:creationId xmlns:a16="http://schemas.microsoft.com/office/drawing/2014/main" id="{55BEB693-2ACC-4FF7-9E2A-06B1CC9729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前提設定</a:t>
            </a:r>
            <a:endParaRPr lang="ja-JP" altLang="en-US" sz="1100" dirty="0"/>
          </a:p>
        </p:txBody>
      </p:sp>
      <p:sp>
        <p:nvSpPr>
          <p:cNvPr id="13" name="正方形/長方形 12">
            <a:extLst>
              <a:ext uri="{FF2B5EF4-FFF2-40B4-BE49-F238E27FC236}">
                <a16:creationId xmlns:a16="http://schemas.microsoft.com/office/drawing/2014/main" id="{F4F2CCFD-B14B-E527-827C-B0BE1A0C6FBE}"/>
              </a:ext>
            </a:extLst>
          </p:cNvPr>
          <p:cNvSpPr/>
          <p:nvPr/>
        </p:nvSpPr>
        <p:spPr>
          <a:xfrm>
            <a:off x="1624759" y="2252866"/>
            <a:ext cx="4647571" cy="373402"/>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WEB</a:t>
            </a:r>
            <a:r>
              <a:rPr kumimoji="1" lang="ja-JP" altLang="en-US" sz="1200" b="1" dirty="0">
                <a:latin typeface="メイリオ" panose="020B0604030504040204" pitchFamily="50" charset="-128"/>
                <a:ea typeface="メイリオ" panose="020B0604030504040204" pitchFamily="50" charset="-128"/>
              </a:rPr>
              <a:t>サイト</a:t>
            </a:r>
          </a:p>
        </p:txBody>
      </p:sp>
      <p:sp>
        <p:nvSpPr>
          <p:cNvPr id="27" name="正方形/長方形 26">
            <a:extLst>
              <a:ext uri="{FF2B5EF4-FFF2-40B4-BE49-F238E27FC236}">
                <a16:creationId xmlns:a16="http://schemas.microsoft.com/office/drawing/2014/main" id="{E2D6A5C8-C971-434C-AE97-A26AC584CB10}"/>
              </a:ext>
            </a:extLst>
          </p:cNvPr>
          <p:cNvSpPr/>
          <p:nvPr/>
        </p:nvSpPr>
        <p:spPr>
          <a:xfrm>
            <a:off x="6364274" y="2252866"/>
            <a:ext cx="3263376" cy="3734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成果</a:t>
            </a:r>
          </a:p>
        </p:txBody>
      </p:sp>
      <p:sp>
        <p:nvSpPr>
          <p:cNvPr id="42" name="正方形/長方形 41">
            <a:extLst>
              <a:ext uri="{FF2B5EF4-FFF2-40B4-BE49-F238E27FC236}">
                <a16:creationId xmlns:a16="http://schemas.microsoft.com/office/drawing/2014/main" id="{5931D311-41C9-A1BB-E67F-4F6E9C463EEA}"/>
              </a:ext>
            </a:extLst>
          </p:cNvPr>
          <p:cNvSpPr/>
          <p:nvPr/>
        </p:nvSpPr>
        <p:spPr>
          <a:xfrm>
            <a:off x="278350" y="2252866"/>
            <a:ext cx="1254466" cy="37340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集客</a:t>
            </a:r>
          </a:p>
        </p:txBody>
      </p:sp>
      <p:sp>
        <p:nvSpPr>
          <p:cNvPr id="138" name="正方形/長方形 137">
            <a:extLst>
              <a:ext uri="{FF2B5EF4-FFF2-40B4-BE49-F238E27FC236}">
                <a16:creationId xmlns:a16="http://schemas.microsoft.com/office/drawing/2014/main" id="{D6A1898D-382C-D08C-3FD0-9217B2C34196}"/>
              </a:ext>
            </a:extLst>
          </p:cNvPr>
          <p:cNvSpPr/>
          <p:nvPr/>
        </p:nvSpPr>
        <p:spPr>
          <a:xfrm>
            <a:off x="278350" y="2722653"/>
            <a:ext cx="1254466" cy="3504333"/>
          </a:xfrm>
          <a:prstGeom prst="rect">
            <a:avLst/>
          </a:prstGeom>
          <a:solidFill>
            <a:schemeClr val="accent1">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latin typeface="メイリオ" panose="020B0604030504040204" pitchFamily="50" charset="-128"/>
              <a:ea typeface="メイリオ" panose="020B0604030504040204" pitchFamily="50" charset="-128"/>
            </a:endParaRPr>
          </a:p>
        </p:txBody>
      </p:sp>
      <p:sp>
        <p:nvSpPr>
          <p:cNvPr id="142" name="正方形/長方形 141">
            <a:extLst>
              <a:ext uri="{FF2B5EF4-FFF2-40B4-BE49-F238E27FC236}">
                <a16:creationId xmlns:a16="http://schemas.microsoft.com/office/drawing/2014/main" id="{A7879B9B-B4A9-1777-5F08-E59C876D3912}"/>
              </a:ext>
            </a:extLst>
          </p:cNvPr>
          <p:cNvSpPr/>
          <p:nvPr/>
        </p:nvSpPr>
        <p:spPr>
          <a:xfrm>
            <a:off x="391573" y="3197722"/>
            <a:ext cx="1020375" cy="37340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SEO</a:t>
            </a:r>
            <a:endParaRPr kumimoji="1" lang="ja-JP" altLang="en-US" sz="1200" b="1" dirty="0">
              <a:latin typeface="メイリオ" panose="020B0604030504040204" pitchFamily="50" charset="-128"/>
              <a:ea typeface="メイリオ" panose="020B0604030504040204" pitchFamily="50" charset="-128"/>
            </a:endParaRPr>
          </a:p>
        </p:txBody>
      </p:sp>
      <p:sp>
        <p:nvSpPr>
          <p:cNvPr id="146" name="正方形/長方形 145">
            <a:extLst>
              <a:ext uri="{FF2B5EF4-FFF2-40B4-BE49-F238E27FC236}">
                <a16:creationId xmlns:a16="http://schemas.microsoft.com/office/drawing/2014/main" id="{5C2298BA-C154-B0DE-5B9D-609EECFE0E52}"/>
              </a:ext>
            </a:extLst>
          </p:cNvPr>
          <p:cNvSpPr/>
          <p:nvPr/>
        </p:nvSpPr>
        <p:spPr>
          <a:xfrm>
            <a:off x="391573" y="3652284"/>
            <a:ext cx="1020375" cy="37340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SNS</a:t>
            </a:r>
            <a:endParaRPr kumimoji="1" lang="ja-JP" altLang="en-US" sz="1200" b="1" dirty="0">
              <a:latin typeface="メイリオ" panose="020B0604030504040204" pitchFamily="50" charset="-128"/>
              <a:ea typeface="メイリオ" panose="020B0604030504040204" pitchFamily="50" charset="-128"/>
            </a:endParaRPr>
          </a:p>
        </p:txBody>
      </p:sp>
      <p:sp>
        <p:nvSpPr>
          <p:cNvPr id="150" name="正方形/長方形 149">
            <a:extLst>
              <a:ext uri="{FF2B5EF4-FFF2-40B4-BE49-F238E27FC236}">
                <a16:creationId xmlns:a16="http://schemas.microsoft.com/office/drawing/2014/main" id="{525578CA-43CA-9019-F019-8E2D23C55A82}"/>
              </a:ext>
            </a:extLst>
          </p:cNvPr>
          <p:cNvSpPr/>
          <p:nvPr/>
        </p:nvSpPr>
        <p:spPr>
          <a:xfrm>
            <a:off x="384429" y="4112127"/>
            <a:ext cx="1020375" cy="37340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広告</a:t>
            </a:r>
          </a:p>
        </p:txBody>
      </p:sp>
      <p:sp>
        <p:nvSpPr>
          <p:cNvPr id="154" name="正方形/長方形 153">
            <a:extLst>
              <a:ext uri="{FF2B5EF4-FFF2-40B4-BE49-F238E27FC236}">
                <a16:creationId xmlns:a16="http://schemas.microsoft.com/office/drawing/2014/main" id="{AA1C4F93-9113-4776-2961-8AC507CDB52A}"/>
              </a:ext>
            </a:extLst>
          </p:cNvPr>
          <p:cNvSpPr/>
          <p:nvPr/>
        </p:nvSpPr>
        <p:spPr>
          <a:xfrm>
            <a:off x="384429" y="4566689"/>
            <a:ext cx="1020375" cy="37340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成果型施策</a:t>
            </a:r>
          </a:p>
        </p:txBody>
      </p:sp>
      <p:sp>
        <p:nvSpPr>
          <p:cNvPr id="157" name="正方形/長方形 156">
            <a:extLst>
              <a:ext uri="{FF2B5EF4-FFF2-40B4-BE49-F238E27FC236}">
                <a16:creationId xmlns:a16="http://schemas.microsoft.com/office/drawing/2014/main" id="{4567E84A-75FF-0E8A-676F-C4DC31422678}"/>
              </a:ext>
            </a:extLst>
          </p:cNvPr>
          <p:cNvSpPr/>
          <p:nvPr/>
        </p:nvSpPr>
        <p:spPr>
          <a:xfrm>
            <a:off x="1624758" y="2722652"/>
            <a:ext cx="4647571" cy="3504333"/>
          </a:xfrm>
          <a:prstGeom prst="rect">
            <a:avLst/>
          </a:prstGeom>
          <a:solidFill>
            <a:schemeClr val="accent1">
              <a:lumMod val="40000"/>
              <a:lumOff val="6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latin typeface="メイリオ" panose="020B0604030504040204" pitchFamily="50" charset="-128"/>
              <a:ea typeface="メイリオ" panose="020B0604030504040204" pitchFamily="50" charset="-128"/>
            </a:endParaRPr>
          </a:p>
        </p:txBody>
      </p:sp>
      <p:sp>
        <p:nvSpPr>
          <p:cNvPr id="159" name="正方形/長方形 158">
            <a:extLst>
              <a:ext uri="{FF2B5EF4-FFF2-40B4-BE49-F238E27FC236}">
                <a16:creationId xmlns:a16="http://schemas.microsoft.com/office/drawing/2014/main" id="{3770849C-2372-7F55-0A9A-D78EC479C50F}"/>
              </a:ext>
            </a:extLst>
          </p:cNvPr>
          <p:cNvSpPr/>
          <p:nvPr/>
        </p:nvSpPr>
        <p:spPr>
          <a:xfrm>
            <a:off x="6374037" y="2722652"/>
            <a:ext cx="3253613" cy="3504333"/>
          </a:xfrm>
          <a:prstGeom prst="rect">
            <a:avLst/>
          </a:prstGeom>
          <a:solidFill>
            <a:schemeClr val="accent1">
              <a:lumMod val="60000"/>
              <a:lumOff val="4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latin typeface="メイリオ" panose="020B0604030504040204" pitchFamily="50" charset="-128"/>
              <a:ea typeface="メイリオ" panose="020B0604030504040204" pitchFamily="50" charset="-128"/>
            </a:endParaRPr>
          </a:p>
        </p:txBody>
      </p:sp>
      <p:sp>
        <p:nvSpPr>
          <p:cNvPr id="160" name="正方形/長方形 159">
            <a:extLst>
              <a:ext uri="{FF2B5EF4-FFF2-40B4-BE49-F238E27FC236}">
                <a16:creationId xmlns:a16="http://schemas.microsoft.com/office/drawing/2014/main" id="{05C6299B-D565-7E2A-9022-99A74CF70600}"/>
              </a:ext>
            </a:extLst>
          </p:cNvPr>
          <p:cNvSpPr/>
          <p:nvPr/>
        </p:nvSpPr>
        <p:spPr>
          <a:xfrm>
            <a:off x="6513769" y="2902386"/>
            <a:ext cx="831041" cy="316628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メイリオ" panose="020B0604030504040204" pitchFamily="50" charset="-128"/>
                <a:ea typeface="メイリオ" panose="020B0604030504040204" pitchFamily="50" charset="-128"/>
              </a:rPr>
              <a:t>見</a:t>
            </a:r>
            <a:endParaRPr kumimoji="1" lang="en-US" altLang="ja-JP" sz="1600" dirty="0">
              <a:latin typeface="メイリオ" panose="020B0604030504040204" pitchFamily="50" charset="-128"/>
              <a:ea typeface="メイリオ" panose="020B0604030504040204" pitchFamily="50" charset="-128"/>
            </a:endParaRPr>
          </a:p>
          <a:p>
            <a:pPr algn="ctr"/>
            <a:r>
              <a:rPr kumimoji="1" lang="ja-JP" altLang="en-US" sz="1600" dirty="0">
                <a:latin typeface="メイリオ" panose="020B0604030504040204" pitchFamily="50" charset="-128"/>
                <a:ea typeface="メイリオ" panose="020B0604030504040204" pitchFamily="50" charset="-128"/>
              </a:rPr>
              <a:t>学</a:t>
            </a:r>
          </a:p>
        </p:txBody>
      </p:sp>
      <p:sp>
        <p:nvSpPr>
          <p:cNvPr id="161" name="正方形/長方形 160">
            <a:extLst>
              <a:ext uri="{FF2B5EF4-FFF2-40B4-BE49-F238E27FC236}">
                <a16:creationId xmlns:a16="http://schemas.microsoft.com/office/drawing/2014/main" id="{36BC12CC-F42E-600B-CD62-2E3EC6F3A400}"/>
              </a:ext>
            </a:extLst>
          </p:cNvPr>
          <p:cNvSpPr/>
          <p:nvPr/>
        </p:nvSpPr>
        <p:spPr>
          <a:xfrm>
            <a:off x="7573012" y="2902386"/>
            <a:ext cx="831041" cy="316628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メイリオ" panose="020B0604030504040204" pitchFamily="50" charset="-128"/>
                <a:ea typeface="メイリオ" panose="020B0604030504040204" pitchFamily="50" charset="-128"/>
              </a:rPr>
              <a:t>来</a:t>
            </a:r>
            <a:endParaRPr kumimoji="1" lang="en-US" altLang="ja-JP" sz="1600" dirty="0">
              <a:latin typeface="メイリオ" panose="020B0604030504040204" pitchFamily="50" charset="-128"/>
              <a:ea typeface="メイリオ" panose="020B0604030504040204" pitchFamily="50" charset="-128"/>
            </a:endParaRPr>
          </a:p>
          <a:p>
            <a:pPr algn="ctr"/>
            <a:r>
              <a:rPr kumimoji="1" lang="ja-JP" altLang="en-US" sz="1600" dirty="0">
                <a:latin typeface="メイリオ" panose="020B0604030504040204" pitchFamily="50" charset="-128"/>
                <a:ea typeface="メイリオ" panose="020B0604030504040204" pitchFamily="50" charset="-128"/>
              </a:rPr>
              <a:t>場</a:t>
            </a:r>
          </a:p>
        </p:txBody>
      </p:sp>
      <p:sp>
        <p:nvSpPr>
          <p:cNvPr id="162" name="正方形/長方形 161">
            <a:extLst>
              <a:ext uri="{FF2B5EF4-FFF2-40B4-BE49-F238E27FC236}">
                <a16:creationId xmlns:a16="http://schemas.microsoft.com/office/drawing/2014/main" id="{EF6C5343-82D5-7C8F-0C76-096B8CE03A68}"/>
              </a:ext>
            </a:extLst>
          </p:cNvPr>
          <p:cNvSpPr/>
          <p:nvPr/>
        </p:nvSpPr>
        <p:spPr>
          <a:xfrm>
            <a:off x="8632255" y="2902386"/>
            <a:ext cx="831041" cy="316628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契</a:t>
            </a:r>
            <a:endParaRPr lang="en-US" altLang="ja-JP" sz="1600" dirty="0">
              <a:latin typeface="メイリオ" panose="020B0604030504040204" pitchFamily="50" charset="-128"/>
              <a:ea typeface="メイリオ" panose="020B0604030504040204" pitchFamily="50" charset="-128"/>
            </a:endParaRPr>
          </a:p>
          <a:p>
            <a:pPr algn="ctr"/>
            <a:r>
              <a:rPr lang="ja-JP" altLang="en-US" sz="1600" dirty="0">
                <a:latin typeface="メイリオ" panose="020B0604030504040204" pitchFamily="50" charset="-128"/>
                <a:ea typeface="メイリオ" panose="020B0604030504040204" pitchFamily="50" charset="-128"/>
              </a:rPr>
              <a:t>約</a:t>
            </a:r>
            <a:endParaRPr kumimoji="1" lang="ja-JP" altLang="en-US" sz="1600" dirty="0">
              <a:latin typeface="メイリオ" panose="020B0604030504040204" pitchFamily="50" charset="-128"/>
              <a:ea typeface="メイリオ" panose="020B0604030504040204" pitchFamily="50" charset="-128"/>
            </a:endParaRPr>
          </a:p>
        </p:txBody>
      </p:sp>
      <p:sp>
        <p:nvSpPr>
          <p:cNvPr id="163" name="正方形/長方形 162">
            <a:extLst>
              <a:ext uri="{FF2B5EF4-FFF2-40B4-BE49-F238E27FC236}">
                <a16:creationId xmlns:a16="http://schemas.microsoft.com/office/drawing/2014/main" id="{1B35245E-16F8-F43B-3FE9-772B455ED080}"/>
              </a:ext>
            </a:extLst>
          </p:cNvPr>
          <p:cNvSpPr/>
          <p:nvPr/>
        </p:nvSpPr>
        <p:spPr>
          <a:xfrm>
            <a:off x="2087243" y="3033518"/>
            <a:ext cx="3286537" cy="53760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　　　　　　　　　　電話</a:t>
            </a:r>
          </a:p>
        </p:txBody>
      </p:sp>
      <p:sp>
        <p:nvSpPr>
          <p:cNvPr id="164" name="正方形/長方形 163">
            <a:extLst>
              <a:ext uri="{FF2B5EF4-FFF2-40B4-BE49-F238E27FC236}">
                <a16:creationId xmlns:a16="http://schemas.microsoft.com/office/drawing/2014/main" id="{F6C52B26-4309-B504-0444-CBAFB5F1AD96}"/>
              </a:ext>
            </a:extLst>
          </p:cNvPr>
          <p:cNvSpPr/>
          <p:nvPr/>
        </p:nvSpPr>
        <p:spPr>
          <a:xfrm>
            <a:off x="2087242" y="3756883"/>
            <a:ext cx="3286537" cy="53760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来場予約（フォーム）</a:t>
            </a:r>
          </a:p>
        </p:txBody>
      </p:sp>
      <p:sp>
        <p:nvSpPr>
          <p:cNvPr id="165" name="正方形/長方形 164">
            <a:extLst>
              <a:ext uri="{FF2B5EF4-FFF2-40B4-BE49-F238E27FC236}">
                <a16:creationId xmlns:a16="http://schemas.microsoft.com/office/drawing/2014/main" id="{7F4E03A5-A50B-C5DC-4535-B2A61A9BD6DE}"/>
              </a:ext>
            </a:extLst>
          </p:cNvPr>
          <p:cNvSpPr/>
          <p:nvPr/>
        </p:nvSpPr>
        <p:spPr>
          <a:xfrm>
            <a:off x="1860532" y="4909146"/>
            <a:ext cx="1604627" cy="53760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店舗検索</a:t>
            </a:r>
          </a:p>
        </p:txBody>
      </p:sp>
      <p:sp>
        <p:nvSpPr>
          <p:cNvPr id="166" name="正方形/長方形 165">
            <a:extLst>
              <a:ext uri="{FF2B5EF4-FFF2-40B4-BE49-F238E27FC236}">
                <a16:creationId xmlns:a16="http://schemas.microsoft.com/office/drawing/2014/main" id="{046A6997-91D3-2FFF-2698-B08F1B34FB24}"/>
              </a:ext>
            </a:extLst>
          </p:cNvPr>
          <p:cNvSpPr/>
          <p:nvPr/>
        </p:nvSpPr>
        <p:spPr>
          <a:xfrm>
            <a:off x="1860531" y="5567866"/>
            <a:ext cx="1604627" cy="53760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タイプ別診断</a:t>
            </a:r>
          </a:p>
        </p:txBody>
      </p:sp>
      <p:cxnSp>
        <p:nvCxnSpPr>
          <p:cNvPr id="167" name="コネクタ: カギ線 166">
            <a:extLst>
              <a:ext uri="{FF2B5EF4-FFF2-40B4-BE49-F238E27FC236}">
                <a16:creationId xmlns:a16="http://schemas.microsoft.com/office/drawing/2014/main" id="{F7CC54FE-1F6A-45B7-160A-842FCA1215C6}"/>
              </a:ext>
            </a:extLst>
          </p:cNvPr>
          <p:cNvCxnSpPr>
            <a:cxnSpLocks/>
            <a:stCxn id="163" idx="3"/>
            <a:endCxn id="160" idx="1"/>
          </p:cNvCxnSpPr>
          <p:nvPr/>
        </p:nvCxnSpPr>
        <p:spPr>
          <a:xfrm>
            <a:off x="5373780" y="3302321"/>
            <a:ext cx="1139989" cy="1183208"/>
          </a:xfrm>
          <a:prstGeom prst="bentConnector3">
            <a:avLst>
              <a:gd name="adj1" fmla="val 50000"/>
            </a:avLst>
          </a:prstGeom>
          <a:ln w="1905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8" name="コネクタ: カギ線 167">
            <a:extLst>
              <a:ext uri="{FF2B5EF4-FFF2-40B4-BE49-F238E27FC236}">
                <a16:creationId xmlns:a16="http://schemas.microsoft.com/office/drawing/2014/main" id="{29D87B22-5A54-9087-2191-CC6287D83829}"/>
              </a:ext>
            </a:extLst>
          </p:cNvPr>
          <p:cNvCxnSpPr>
            <a:cxnSpLocks/>
            <a:stCxn id="164" idx="3"/>
            <a:endCxn id="160" idx="1"/>
          </p:cNvCxnSpPr>
          <p:nvPr/>
        </p:nvCxnSpPr>
        <p:spPr>
          <a:xfrm>
            <a:off x="5373779" y="4025686"/>
            <a:ext cx="1139990" cy="459843"/>
          </a:xfrm>
          <a:prstGeom prst="bentConnector3">
            <a:avLst>
              <a:gd name="adj1" fmla="val 50000"/>
            </a:avLst>
          </a:prstGeom>
          <a:ln w="1905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9" name="コネクタ: カギ線 168">
            <a:extLst>
              <a:ext uri="{FF2B5EF4-FFF2-40B4-BE49-F238E27FC236}">
                <a16:creationId xmlns:a16="http://schemas.microsoft.com/office/drawing/2014/main" id="{6596C45F-F4B4-11A4-4F08-DBC0A78A316F}"/>
              </a:ext>
            </a:extLst>
          </p:cNvPr>
          <p:cNvCxnSpPr>
            <a:cxnSpLocks/>
          </p:cNvCxnSpPr>
          <p:nvPr/>
        </p:nvCxnSpPr>
        <p:spPr>
          <a:xfrm rot="5400000" flipH="1" flipV="1">
            <a:off x="2202717" y="4024363"/>
            <a:ext cx="1338022" cy="431544"/>
          </a:xfrm>
          <a:prstGeom prst="bentConnector3">
            <a:avLst>
              <a:gd name="adj1" fmla="val 25714"/>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0" name="コネクタ: カギ線 169">
            <a:extLst>
              <a:ext uri="{FF2B5EF4-FFF2-40B4-BE49-F238E27FC236}">
                <a16:creationId xmlns:a16="http://schemas.microsoft.com/office/drawing/2014/main" id="{68E2C22F-ACEA-FBAE-3411-4220C5525E51}"/>
              </a:ext>
            </a:extLst>
          </p:cNvPr>
          <p:cNvCxnSpPr>
            <a:cxnSpLocks/>
          </p:cNvCxnSpPr>
          <p:nvPr/>
        </p:nvCxnSpPr>
        <p:spPr>
          <a:xfrm rot="5400000" flipH="1" flipV="1">
            <a:off x="2462226" y="4422120"/>
            <a:ext cx="679302" cy="294750"/>
          </a:xfrm>
          <a:prstGeom prst="bentConnector3">
            <a:avLst>
              <a:gd name="adj1" fmla="val 50000"/>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71" name="図 170" descr="สอบถามข้อมูลสั่งซื้อสินค้า ขอใบเสนอราคา ติดต่อเรา - RAMA1989">
            <a:extLst>
              <a:ext uri="{FF2B5EF4-FFF2-40B4-BE49-F238E27FC236}">
                <a16:creationId xmlns:a16="http://schemas.microsoft.com/office/drawing/2014/main" id="{88FE5EFE-FE58-4E3E-5E21-E95782CBCF0F}"/>
              </a:ext>
            </a:extLst>
          </p:cNvPr>
          <p:cNvPicPr>
            <a:picLocks noChangeAspect="1"/>
          </p:cNvPicPr>
          <p:nvPr/>
        </p:nvPicPr>
        <p:blipFill>
          <a:blip r:embed="rId2"/>
          <a:stretch>
            <a:fillRect/>
          </a:stretch>
        </p:blipFill>
        <p:spPr>
          <a:xfrm>
            <a:off x="2363528" y="4357660"/>
            <a:ext cx="459230" cy="459230"/>
          </a:xfrm>
          <a:prstGeom prst="rect">
            <a:avLst/>
          </a:prstGeom>
        </p:spPr>
      </p:pic>
      <p:cxnSp>
        <p:nvCxnSpPr>
          <p:cNvPr id="172" name="コネクタ: カギ線 171">
            <a:extLst>
              <a:ext uri="{FF2B5EF4-FFF2-40B4-BE49-F238E27FC236}">
                <a16:creationId xmlns:a16="http://schemas.microsoft.com/office/drawing/2014/main" id="{D954268A-DB22-EED1-2840-603B64B7AB68}"/>
              </a:ext>
            </a:extLst>
          </p:cNvPr>
          <p:cNvCxnSpPr>
            <a:cxnSpLocks/>
          </p:cNvCxnSpPr>
          <p:nvPr/>
        </p:nvCxnSpPr>
        <p:spPr>
          <a:xfrm rot="5400000" flipH="1" flipV="1">
            <a:off x="2318957" y="4295554"/>
            <a:ext cx="1996742" cy="547883"/>
          </a:xfrm>
          <a:prstGeom prst="bentConnector3">
            <a:avLst>
              <a:gd name="adj1" fmla="val 42367"/>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3" name="コネクタ: カギ線 172">
            <a:extLst>
              <a:ext uri="{FF2B5EF4-FFF2-40B4-BE49-F238E27FC236}">
                <a16:creationId xmlns:a16="http://schemas.microsoft.com/office/drawing/2014/main" id="{6A7D8311-8CBD-EE9F-A521-21F22E50D269}"/>
              </a:ext>
            </a:extLst>
          </p:cNvPr>
          <p:cNvCxnSpPr>
            <a:cxnSpLocks/>
          </p:cNvCxnSpPr>
          <p:nvPr/>
        </p:nvCxnSpPr>
        <p:spPr>
          <a:xfrm rot="5400000" flipH="1" flipV="1">
            <a:off x="2591740" y="4744073"/>
            <a:ext cx="1273377" cy="374211"/>
          </a:xfrm>
          <a:prstGeom prst="bentConnector3">
            <a:avLst>
              <a:gd name="adj1" fmla="val 66456"/>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74" name="図 173" descr="สอบถามข้อมูลสั่งซื้อสินค้า ขอใบเสนอราคา ติดต่อเรา - RAMA1989">
            <a:extLst>
              <a:ext uri="{FF2B5EF4-FFF2-40B4-BE49-F238E27FC236}">
                <a16:creationId xmlns:a16="http://schemas.microsoft.com/office/drawing/2014/main" id="{237F34D9-3B61-D7F8-BF62-9C0CBEC85EBB}"/>
              </a:ext>
            </a:extLst>
          </p:cNvPr>
          <p:cNvPicPr>
            <a:picLocks noChangeAspect="1"/>
          </p:cNvPicPr>
          <p:nvPr/>
        </p:nvPicPr>
        <p:blipFill>
          <a:blip r:embed="rId2"/>
          <a:stretch>
            <a:fillRect/>
          </a:stretch>
        </p:blipFill>
        <p:spPr>
          <a:xfrm>
            <a:off x="3617943" y="4372202"/>
            <a:ext cx="459230" cy="459230"/>
          </a:xfrm>
          <a:prstGeom prst="rect">
            <a:avLst/>
          </a:prstGeom>
        </p:spPr>
      </p:pic>
      <p:sp>
        <p:nvSpPr>
          <p:cNvPr id="175" name="テキスト ボックス 174">
            <a:extLst>
              <a:ext uri="{FF2B5EF4-FFF2-40B4-BE49-F238E27FC236}">
                <a16:creationId xmlns:a16="http://schemas.microsoft.com/office/drawing/2014/main" id="{152AD333-8CFD-4B04-FE44-AA8EFB68679C}"/>
              </a:ext>
            </a:extLst>
          </p:cNvPr>
          <p:cNvSpPr txBox="1"/>
          <p:nvPr/>
        </p:nvSpPr>
        <p:spPr>
          <a:xfrm>
            <a:off x="3910844" y="5050129"/>
            <a:ext cx="2059302" cy="900246"/>
          </a:xfrm>
          <a:prstGeom prst="rect">
            <a:avLst/>
          </a:prstGeom>
          <a:noFill/>
        </p:spPr>
        <p:txBody>
          <a:bodyPr wrap="square">
            <a:spAutoFit/>
          </a:bodyPr>
          <a:lstStyle/>
          <a:p>
            <a:r>
              <a:rPr kumimoji="1" lang="ja-JP" altLang="en-US" sz="1050" b="1" dirty="0">
                <a:latin typeface="メイリオ" panose="020B0604030504040204" pitchFamily="50" charset="-128"/>
                <a:ea typeface="メイリオ" panose="020B0604030504040204" pitchFamily="50" charset="-128"/>
              </a:rPr>
              <a:t>✅ </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動線は</a:t>
            </a:r>
            <a:r>
              <a:rPr kumimoji="1" lang="en-US" altLang="ja-JP" sz="1050" b="1" dirty="0">
                <a:latin typeface="メイリオ" panose="020B0604030504040204" pitchFamily="50" charset="-128"/>
                <a:ea typeface="メイリオ" panose="020B0604030504040204" pitchFamily="50" charset="-128"/>
              </a:rPr>
              <a:t>2</a:t>
            </a:r>
            <a:r>
              <a:rPr kumimoji="1" lang="ja-JP" altLang="en-US" sz="1050" b="1" dirty="0">
                <a:latin typeface="メイリオ" panose="020B0604030504040204" pitchFamily="50" charset="-128"/>
                <a:ea typeface="メイリオ" panose="020B0604030504040204" pitchFamily="50" charset="-128"/>
              </a:rPr>
              <a:t>通り</a:t>
            </a:r>
            <a:endParaRPr kumimoji="1" lang="en-US" altLang="ja-JP" sz="1050" b="1" dirty="0">
              <a:latin typeface="メイリオ" panose="020B0604030504040204" pitchFamily="50" charset="-128"/>
              <a:ea typeface="メイリオ" panose="020B0604030504040204" pitchFamily="50" charset="-128"/>
            </a:endParaRPr>
          </a:p>
          <a:p>
            <a:r>
              <a:rPr lang="en-US" altLang="ja-JP" sz="1050" dirty="0">
                <a:latin typeface="メイリオ" panose="020B0604030504040204" pitchFamily="50" charset="-128"/>
                <a:ea typeface="メイリオ" panose="020B0604030504040204" pitchFamily="50" charset="-128"/>
              </a:rPr>
              <a:t>----</a:t>
            </a:r>
          </a:p>
          <a:p>
            <a:r>
              <a:rPr lang="ja-JP" altLang="en-US" sz="1050" b="1" dirty="0">
                <a:solidFill>
                  <a:srgbClr val="FF0000"/>
                </a:solidFill>
                <a:latin typeface="メイリオ" panose="020B0604030504040204" pitchFamily="50" charset="-128"/>
                <a:ea typeface="メイリオ" panose="020B0604030504040204" pitchFamily="50" charset="-128"/>
              </a:rPr>
              <a:t>◎店舗検索時の日程調整用</a:t>
            </a:r>
            <a:endParaRPr lang="en-US" altLang="ja-JP" sz="1050" b="1" dirty="0">
              <a:solidFill>
                <a:srgbClr val="FF0000"/>
              </a:solidFill>
              <a:latin typeface="メイリオ" panose="020B0604030504040204" pitchFamily="50" charset="-128"/>
              <a:ea typeface="メイリオ" panose="020B0604030504040204" pitchFamily="50" charset="-128"/>
            </a:endParaRPr>
          </a:p>
          <a:p>
            <a:r>
              <a:rPr kumimoji="1" lang="ja-JP" altLang="en-US" sz="1050" b="1" dirty="0">
                <a:solidFill>
                  <a:srgbClr val="FF0000"/>
                </a:solidFill>
                <a:latin typeface="メイリオ" panose="020B0604030504040204" pitchFamily="50" charset="-128"/>
                <a:ea typeface="メイリオ" panose="020B0604030504040204" pitchFamily="50" charset="-128"/>
              </a:rPr>
              <a:t>◎タイプ別診断からの教育用</a:t>
            </a:r>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p:txBody>
      </p:sp>
      <p:sp>
        <p:nvSpPr>
          <p:cNvPr id="182" name="テキスト ボックス 181">
            <a:extLst>
              <a:ext uri="{FF2B5EF4-FFF2-40B4-BE49-F238E27FC236}">
                <a16:creationId xmlns:a16="http://schemas.microsoft.com/office/drawing/2014/main" id="{366A7D96-DED1-F376-4EF7-3F3E57D43A9E}"/>
              </a:ext>
            </a:extLst>
          </p:cNvPr>
          <p:cNvSpPr txBox="1"/>
          <p:nvPr/>
        </p:nvSpPr>
        <p:spPr>
          <a:xfrm>
            <a:off x="391573" y="5149814"/>
            <a:ext cx="1367250" cy="415498"/>
          </a:xfrm>
          <a:prstGeom prst="rect">
            <a:avLst/>
          </a:prstGeom>
          <a:noFill/>
        </p:spPr>
        <p:txBody>
          <a:bodyPr wrap="square">
            <a:spAutoFit/>
          </a:bodyPr>
          <a:lstStyle/>
          <a:p>
            <a:r>
              <a:rPr kumimoji="1" lang="ja-JP" altLang="en-US" sz="1050" b="1" dirty="0">
                <a:latin typeface="メイリオ" panose="020B0604030504040204" pitchFamily="50" charset="-128"/>
                <a:ea typeface="メイリオ" panose="020B0604030504040204" pitchFamily="50" charset="-128"/>
              </a:rPr>
              <a:t>✅ 集客動線は</a:t>
            </a:r>
            <a:endParaRPr kumimoji="1" lang="en-US" altLang="ja-JP" sz="1050" b="1" dirty="0">
              <a:latin typeface="メイリオ" panose="020B0604030504040204" pitchFamily="50" charset="-128"/>
              <a:ea typeface="メイリオ" panose="020B0604030504040204" pitchFamily="50" charset="-128"/>
            </a:endParaRPr>
          </a:p>
          <a:p>
            <a:r>
              <a:rPr lang="ja-JP" altLang="en-US" sz="1050" b="1" dirty="0">
                <a:latin typeface="メイリオ" panose="020B0604030504040204" pitchFamily="50" charset="-128"/>
                <a:ea typeface="メイリオ" panose="020B0604030504040204" pitchFamily="50" charset="-128"/>
              </a:rPr>
              <a:t>弊社ご提案で強化</a:t>
            </a:r>
            <a:endParaRPr kumimoji="1" lang="ja-JP" altLang="en-US" sz="105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33602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5FE45-1264-EB7F-8561-D7FEB356901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D1527B0-44C4-306B-71C7-084A54CBE86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91600F5E-3E26-AF63-43CA-824DD7037606}"/>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79A7459-A73E-5295-E58F-CEF0FC820240}"/>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A95EA1D0-AD01-FA8E-F180-2305917DBDA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
        <p:nvSpPr>
          <p:cNvPr id="25" name="四角形: 角を丸くする 24">
            <a:extLst>
              <a:ext uri="{FF2B5EF4-FFF2-40B4-BE49-F238E27FC236}">
                <a16:creationId xmlns:a16="http://schemas.microsoft.com/office/drawing/2014/main" id="{AD4143A5-B10A-B8AE-D8FE-A3B696D1D784}"/>
              </a:ext>
            </a:extLst>
          </p:cNvPr>
          <p:cNvSpPr/>
          <p:nvPr/>
        </p:nvSpPr>
        <p:spPr>
          <a:xfrm>
            <a:off x="616181" y="2302511"/>
            <a:ext cx="8791290" cy="3711248"/>
          </a:xfrm>
          <a:prstGeom prst="roundRect">
            <a:avLst>
              <a:gd name="adj" fmla="val 584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26" name="四角形: 角を丸くする 25">
            <a:extLst>
              <a:ext uri="{FF2B5EF4-FFF2-40B4-BE49-F238E27FC236}">
                <a16:creationId xmlns:a16="http://schemas.microsoft.com/office/drawing/2014/main" id="{2F83F903-21E3-0F13-DC8B-1199A302F2DA}"/>
              </a:ext>
            </a:extLst>
          </p:cNvPr>
          <p:cNvSpPr/>
          <p:nvPr/>
        </p:nvSpPr>
        <p:spPr>
          <a:xfrm>
            <a:off x="1196871" y="2635173"/>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1</a:t>
            </a:r>
            <a:endParaRPr kumimoji="1" lang="ja-JP" altLang="en-US" dirty="0">
              <a:latin typeface="メイリオ" panose="020B0604030504040204" pitchFamily="50" charset="-128"/>
              <a:ea typeface="メイリオ" panose="020B0604030504040204" pitchFamily="50" charset="-128"/>
            </a:endParaRPr>
          </a:p>
        </p:txBody>
      </p:sp>
      <p:sp>
        <p:nvSpPr>
          <p:cNvPr id="27" name="四角形: 角を丸くする 26">
            <a:extLst>
              <a:ext uri="{FF2B5EF4-FFF2-40B4-BE49-F238E27FC236}">
                <a16:creationId xmlns:a16="http://schemas.microsoft.com/office/drawing/2014/main" id="{7D5A701E-2308-012E-85D9-8F5008C4EB5B}"/>
              </a:ext>
            </a:extLst>
          </p:cNvPr>
          <p:cNvSpPr/>
          <p:nvPr/>
        </p:nvSpPr>
        <p:spPr>
          <a:xfrm>
            <a:off x="1200313" y="3602026"/>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2</a:t>
            </a:r>
            <a:endParaRPr kumimoji="1" lang="ja-JP" altLang="en-US" dirty="0">
              <a:latin typeface="メイリオ" panose="020B0604030504040204" pitchFamily="50" charset="-128"/>
              <a:ea typeface="メイリオ" panose="020B0604030504040204" pitchFamily="50" charset="-128"/>
            </a:endParaRPr>
          </a:p>
        </p:txBody>
      </p:sp>
      <p:sp>
        <p:nvSpPr>
          <p:cNvPr id="30" name="四角形: 角を丸くする 29">
            <a:extLst>
              <a:ext uri="{FF2B5EF4-FFF2-40B4-BE49-F238E27FC236}">
                <a16:creationId xmlns:a16="http://schemas.microsoft.com/office/drawing/2014/main" id="{E33FA7AF-C4BF-43C2-B6D8-C4A5C822ADFF}"/>
              </a:ext>
            </a:extLst>
          </p:cNvPr>
          <p:cNvSpPr/>
          <p:nvPr/>
        </p:nvSpPr>
        <p:spPr>
          <a:xfrm>
            <a:off x="1969203" y="2635173"/>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追加の入り口施策を強化し</a:t>
            </a:r>
            <a:endParaRPr kumimoji="1"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600" b="1" dirty="0">
                <a:solidFill>
                  <a:srgbClr val="FF0000"/>
                </a:solidFill>
                <a:latin typeface="メイリオ" panose="020B0604030504040204" pitchFamily="50" charset="-128"/>
                <a:ea typeface="メイリオ" panose="020B0604030504040204" pitchFamily="50" charset="-128"/>
              </a:rPr>
              <a:t>LINE</a:t>
            </a:r>
            <a:r>
              <a:rPr lang="ja-JP" altLang="en-US" sz="1600" b="1" dirty="0">
                <a:solidFill>
                  <a:srgbClr val="FF0000"/>
                </a:solidFill>
                <a:latin typeface="メイリオ" panose="020B0604030504040204" pitchFamily="50" charset="-128"/>
                <a:ea typeface="メイリオ" panose="020B0604030504040204" pitchFamily="50" charset="-128"/>
              </a:rPr>
              <a:t>友だち追加数</a:t>
            </a:r>
            <a:r>
              <a:rPr lang="ja-JP" altLang="en-US" sz="1600" b="1" dirty="0">
                <a:solidFill>
                  <a:schemeClr val="tx1"/>
                </a:solidFill>
                <a:latin typeface="メイリオ" panose="020B0604030504040204" pitchFamily="50" charset="-128"/>
                <a:ea typeface="メイリオ" panose="020B0604030504040204" pitchFamily="50" charset="-128"/>
              </a:rPr>
              <a:t>を改善</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31" name="四角形: 角を丸くする 30">
            <a:extLst>
              <a:ext uri="{FF2B5EF4-FFF2-40B4-BE49-F238E27FC236}">
                <a16:creationId xmlns:a16="http://schemas.microsoft.com/office/drawing/2014/main" id="{A911436C-2B88-AE30-D02C-C6397431905D}"/>
              </a:ext>
            </a:extLst>
          </p:cNvPr>
          <p:cNvSpPr/>
          <p:nvPr/>
        </p:nvSpPr>
        <p:spPr>
          <a:xfrm>
            <a:off x="1972645" y="3602026"/>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施策内の最適化を行い</a:t>
            </a:r>
            <a:endParaRPr kumimoji="1"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rgbClr val="FF0000"/>
                </a:solidFill>
                <a:latin typeface="メイリオ" panose="020B0604030504040204" pitchFamily="50" charset="-128"/>
                <a:ea typeface="メイリオ" panose="020B0604030504040204" pitchFamily="50" charset="-128"/>
              </a:rPr>
              <a:t>開封率</a:t>
            </a:r>
            <a:r>
              <a:rPr lang="en-US" altLang="ja-JP" sz="1600" b="1" dirty="0">
                <a:solidFill>
                  <a:srgbClr val="FF0000"/>
                </a:solidFill>
                <a:latin typeface="メイリオ" panose="020B0604030504040204" pitchFamily="50" charset="-128"/>
                <a:ea typeface="メイリオ" panose="020B0604030504040204" pitchFamily="50" charset="-128"/>
              </a:rPr>
              <a:t>×</a:t>
            </a:r>
            <a:r>
              <a:rPr lang="ja-JP" altLang="en-US" sz="1600" b="1" dirty="0">
                <a:solidFill>
                  <a:srgbClr val="FF0000"/>
                </a:solidFill>
                <a:latin typeface="メイリオ" panose="020B0604030504040204" pitchFamily="50" charset="-128"/>
                <a:ea typeface="メイリオ" panose="020B0604030504040204" pitchFamily="50" charset="-128"/>
              </a:rPr>
              <a:t>クリック率</a:t>
            </a:r>
            <a:r>
              <a:rPr lang="en-US" altLang="ja-JP" sz="1600" b="1" dirty="0">
                <a:solidFill>
                  <a:srgbClr val="FF0000"/>
                </a:solidFill>
                <a:latin typeface="メイリオ" panose="020B0604030504040204" pitchFamily="50" charset="-128"/>
                <a:ea typeface="メイリオ" panose="020B0604030504040204" pitchFamily="50" charset="-128"/>
              </a:rPr>
              <a:t>×CV</a:t>
            </a:r>
            <a:r>
              <a:rPr lang="ja-JP" altLang="en-US" sz="1600" b="1" dirty="0">
                <a:solidFill>
                  <a:srgbClr val="FF0000"/>
                </a:solidFill>
                <a:latin typeface="メイリオ" panose="020B0604030504040204" pitchFamily="50" charset="-128"/>
                <a:ea typeface="メイリオ" panose="020B0604030504040204" pitchFamily="50" charset="-128"/>
              </a:rPr>
              <a:t>率</a:t>
            </a:r>
            <a:r>
              <a:rPr lang="ja-JP" altLang="en-US" sz="1600" b="1" dirty="0">
                <a:solidFill>
                  <a:schemeClr val="tx1"/>
                </a:solidFill>
                <a:latin typeface="メイリオ" panose="020B0604030504040204" pitchFamily="50" charset="-128"/>
                <a:ea typeface="メイリオ" panose="020B0604030504040204" pitchFamily="50" charset="-128"/>
              </a:rPr>
              <a:t>で改善</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242698F6-F74D-8681-4767-B1D4312A6183}"/>
              </a:ext>
            </a:extLst>
          </p:cNvPr>
          <p:cNvSpPr/>
          <p:nvPr/>
        </p:nvSpPr>
        <p:spPr>
          <a:xfrm>
            <a:off x="1196871" y="4876353"/>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3</a:t>
            </a:r>
            <a:endParaRPr kumimoji="1" lang="ja-JP" altLang="en-US" dirty="0">
              <a:latin typeface="メイリオ" panose="020B0604030504040204" pitchFamily="50" charset="-128"/>
              <a:ea typeface="メイリオ" panose="020B0604030504040204" pitchFamily="50" charset="-128"/>
            </a:endParaRPr>
          </a:p>
        </p:txBody>
      </p:sp>
      <p:cxnSp>
        <p:nvCxnSpPr>
          <p:cNvPr id="36" name="直線コネクタ 35">
            <a:extLst>
              <a:ext uri="{FF2B5EF4-FFF2-40B4-BE49-F238E27FC236}">
                <a16:creationId xmlns:a16="http://schemas.microsoft.com/office/drawing/2014/main" id="{AEA8E642-C0F9-A3DE-E524-1EE96EBC5E01}"/>
              </a:ext>
            </a:extLst>
          </p:cNvPr>
          <p:cNvCxnSpPr>
            <a:cxnSpLocks/>
          </p:cNvCxnSpPr>
          <p:nvPr/>
        </p:nvCxnSpPr>
        <p:spPr>
          <a:xfrm>
            <a:off x="935374" y="4625150"/>
            <a:ext cx="2227804" cy="0"/>
          </a:xfrm>
          <a:prstGeom prst="line">
            <a:avLst/>
          </a:prstGeom>
          <a:ln w="22225">
            <a:solidFill>
              <a:srgbClr val="10253F"/>
            </a:solidFill>
            <a:prstDash val="sysDot"/>
          </a:ln>
        </p:spPr>
        <p:style>
          <a:lnRef idx="1">
            <a:schemeClr val="accent1"/>
          </a:lnRef>
          <a:fillRef idx="0">
            <a:schemeClr val="accent1"/>
          </a:fillRef>
          <a:effectRef idx="0">
            <a:schemeClr val="accent1"/>
          </a:effectRef>
          <a:fontRef idx="minor">
            <a:schemeClr val="tx1"/>
          </a:fontRef>
        </p:style>
      </p:cxnSp>
      <p:sp>
        <p:nvSpPr>
          <p:cNvPr id="37" name="四角形: 角を丸くする 36">
            <a:extLst>
              <a:ext uri="{FF2B5EF4-FFF2-40B4-BE49-F238E27FC236}">
                <a16:creationId xmlns:a16="http://schemas.microsoft.com/office/drawing/2014/main" id="{E6F035D7-F30E-8442-CCF9-EE3E3B4D4A9D}"/>
              </a:ext>
            </a:extLst>
          </p:cNvPr>
          <p:cNvSpPr/>
          <p:nvPr/>
        </p:nvSpPr>
        <p:spPr>
          <a:xfrm>
            <a:off x="1969203" y="4876353"/>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来場予約者を</a:t>
            </a: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に誘導し</a:t>
            </a:r>
            <a:r>
              <a:rPr lang="ja-JP" altLang="en-US" sz="1600" b="1" dirty="0">
                <a:solidFill>
                  <a:schemeClr val="tx1"/>
                </a:solidFill>
                <a:latin typeface="メイリオ" panose="020B0604030504040204" pitchFamily="50" charset="-128"/>
                <a:ea typeface="メイリオ" panose="020B0604030504040204" pitchFamily="50" charset="-128"/>
              </a:rPr>
              <a:t>、</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600" b="1" dirty="0">
                <a:solidFill>
                  <a:schemeClr val="tx1"/>
                </a:solidFill>
                <a:latin typeface="メイリオ" panose="020B0604030504040204" pitchFamily="50" charset="-128"/>
                <a:ea typeface="メイリオ" panose="020B0604030504040204" pitchFamily="50" charset="-128"/>
              </a:rPr>
              <a:t>来場・契約を最大化する機能導入</a:t>
            </a:r>
            <a:endParaRPr kumimoji="1" lang="en-US" altLang="ja-JP" sz="1600" b="1" dirty="0">
              <a:solidFill>
                <a:schemeClr val="tx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9ED0924E-F14F-1FA0-05AF-574788184E92}"/>
              </a:ext>
            </a:extLst>
          </p:cNvPr>
          <p:cNvSpPr txBox="1"/>
          <p:nvPr/>
        </p:nvSpPr>
        <p:spPr>
          <a:xfrm>
            <a:off x="6089995" y="5092059"/>
            <a:ext cx="3729025" cy="307777"/>
          </a:xfrm>
          <a:prstGeom prst="rect">
            <a:avLst/>
          </a:prstGeom>
          <a:noFill/>
        </p:spPr>
        <p:txBody>
          <a:bodyPr wrap="square">
            <a:spAutoFit/>
          </a:bodyPr>
          <a:lstStyle/>
          <a:p>
            <a:r>
              <a:rPr kumimoji="1" lang="en-US" altLang="ja-JP" sz="1400" dirty="0">
                <a:solidFill>
                  <a:srgbClr val="FF0000"/>
                </a:solidFill>
                <a:latin typeface="メイリオ" panose="020B0604030504040204" pitchFamily="50" charset="-128"/>
                <a:ea typeface="メイリオ" panose="020B0604030504040204" pitchFamily="50" charset="-128"/>
              </a:rPr>
              <a:t>※</a:t>
            </a:r>
            <a:r>
              <a:rPr kumimoji="1" lang="ja-JP" altLang="en-US" sz="1400" dirty="0">
                <a:solidFill>
                  <a:srgbClr val="FF0000"/>
                </a:solidFill>
                <a:latin typeface="メイリオ" panose="020B0604030504040204" pitchFamily="50" charset="-128"/>
                <a:ea typeface="メイリオ" panose="020B0604030504040204" pitchFamily="50" charset="-128"/>
              </a:rPr>
              <a:t>こちらは追加提案となります。</a:t>
            </a:r>
          </a:p>
        </p:txBody>
      </p:sp>
      <p:sp>
        <p:nvSpPr>
          <p:cNvPr id="5" name="正方形/長方形 4">
            <a:extLst>
              <a:ext uri="{FF2B5EF4-FFF2-40B4-BE49-F238E27FC236}">
                <a16:creationId xmlns:a16="http://schemas.microsoft.com/office/drawing/2014/main" id="{F65261F1-CAC3-F851-6247-6920E5534D2E}"/>
              </a:ext>
            </a:extLst>
          </p:cNvPr>
          <p:cNvSpPr/>
          <p:nvPr/>
        </p:nvSpPr>
        <p:spPr>
          <a:xfrm>
            <a:off x="498529" y="1958473"/>
            <a:ext cx="9108072" cy="4259443"/>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55219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ED5A-5E2D-619C-2E43-FEBE89B23A3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85CF26C8-F4C8-8484-1531-96F33612E6B6}"/>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3B24A91B-88B6-FCF4-E2C2-1D65BE745601}"/>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C381DF94-97CF-17A6-5D2A-AE2C8B4738B0}"/>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ご提案概要</a:t>
            </a:r>
            <a:endParaRPr lang="ja-JP" altLang="en-US" sz="1100" dirty="0"/>
          </a:p>
        </p:txBody>
      </p:sp>
      <p:sp>
        <p:nvSpPr>
          <p:cNvPr id="7" name="テキスト ボックス 6">
            <a:extLst>
              <a:ext uri="{FF2B5EF4-FFF2-40B4-BE49-F238E27FC236}">
                <a16:creationId xmlns:a16="http://schemas.microsoft.com/office/drawing/2014/main" id="{F0A12DFD-5D4B-F2AD-CFC1-CDAAC1A3F546}"/>
              </a:ext>
            </a:extLst>
          </p:cNvPr>
          <p:cNvSpPr txBox="1"/>
          <p:nvPr/>
        </p:nvSpPr>
        <p:spPr>
          <a:xfrm>
            <a:off x="96788" y="1202790"/>
            <a:ext cx="9687414" cy="461665"/>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現状施策に於いては③地点で課題が多く、</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の単純成果で</a:t>
            </a:r>
            <a:r>
              <a:rPr lang="en-US" altLang="ja-JP" sz="2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40%</a:t>
            </a:r>
            <a:r>
              <a:rPr lang="ja-JP" altLang="en-US" sz="2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前後</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の改善が見込める状態。</a:t>
            </a:r>
            <a:endParaRPr lang="ja-JP" altLang="en-US" sz="1000" dirty="0"/>
          </a:p>
        </p:txBody>
      </p:sp>
      <p:sp>
        <p:nvSpPr>
          <p:cNvPr id="9" name="テキスト ボックス 8">
            <a:extLst>
              <a:ext uri="{FF2B5EF4-FFF2-40B4-BE49-F238E27FC236}">
                <a16:creationId xmlns:a16="http://schemas.microsoft.com/office/drawing/2014/main" id="{8CF5CD17-ECC6-651E-46E2-190A7A8FAC3D}"/>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想定動線</a:t>
            </a:r>
            <a:endParaRPr lang="ja-JP" altLang="en-US" sz="1100" dirty="0"/>
          </a:p>
        </p:txBody>
      </p:sp>
      <p:sp>
        <p:nvSpPr>
          <p:cNvPr id="13" name="正方形/長方形 12">
            <a:extLst>
              <a:ext uri="{FF2B5EF4-FFF2-40B4-BE49-F238E27FC236}">
                <a16:creationId xmlns:a16="http://schemas.microsoft.com/office/drawing/2014/main" id="{9B741898-040F-DE5D-EA51-E717423322B9}"/>
              </a:ext>
            </a:extLst>
          </p:cNvPr>
          <p:cNvSpPr/>
          <p:nvPr/>
        </p:nvSpPr>
        <p:spPr>
          <a:xfrm>
            <a:off x="1624759" y="2252866"/>
            <a:ext cx="4647571" cy="373402"/>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WEB</a:t>
            </a:r>
            <a:r>
              <a:rPr kumimoji="1" lang="ja-JP" altLang="en-US" sz="1200" b="1" dirty="0">
                <a:latin typeface="メイリオ" panose="020B0604030504040204" pitchFamily="50" charset="-128"/>
                <a:ea typeface="メイリオ" panose="020B0604030504040204" pitchFamily="50" charset="-128"/>
              </a:rPr>
              <a:t>サイト</a:t>
            </a:r>
          </a:p>
        </p:txBody>
      </p:sp>
      <p:sp>
        <p:nvSpPr>
          <p:cNvPr id="27" name="正方形/長方形 26">
            <a:extLst>
              <a:ext uri="{FF2B5EF4-FFF2-40B4-BE49-F238E27FC236}">
                <a16:creationId xmlns:a16="http://schemas.microsoft.com/office/drawing/2014/main" id="{6EA4F3BC-A649-CD2A-E156-F989EC62D528}"/>
              </a:ext>
            </a:extLst>
          </p:cNvPr>
          <p:cNvSpPr/>
          <p:nvPr/>
        </p:nvSpPr>
        <p:spPr>
          <a:xfrm>
            <a:off x="6364274" y="2252866"/>
            <a:ext cx="3263376" cy="3734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成果</a:t>
            </a:r>
          </a:p>
        </p:txBody>
      </p:sp>
      <p:sp>
        <p:nvSpPr>
          <p:cNvPr id="42" name="正方形/長方形 41">
            <a:extLst>
              <a:ext uri="{FF2B5EF4-FFF2-40B4-BE49-F238E27FC236}">
                <a16:creationId xmlns:a16="http://schemas.microsoft.com/office/drawing/2014/main" id="{F4F1FAB6-757F-0BB5-9D69-B4A7F0687FE8}"/>
              </a:ext>
            </a:extLst>
          </p:cNvPr>
          <p:cNvSpPr/>
          <p:nvPr/>
        </p:nvSpPr>
        <p:spPr>
          <a:xfrm>
            <a:off x="278350" y="2252866"/>
            <a:ext cx="1254466" cy="37340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集客</a:t>
            </a:r>
          </a:p>
        </p:txBody>
      </p:sp>
      <p:sp>
        <p:nvSpPr>
          <p:cNvPr id="138" name="正方形/長方形 137">
            <a:extLst>
              <a:ext uri="{FF2B5EF4-FFF2-40B4-BE49-F238E27FC236}">
                <a16:creationId xmlns:a16="http://schemas.microsoft.com/office/drawing/2014/main" id="{47E5DE5C-5681-07F5-4917-B2010D366CD4}"/>
              </a:ext>
            </a:extLst>
          </p:cNvPr>
          <p:cNvSpPr/>
          <p:nvPr/>
        </p:nvSpPr>
        <p:spPr>
          <a:xfrm>
            <a:off x="278350" y="2722653"/>
            <a:ext cx="1254466" cy="3504333"/>
          </a:xfrm>
          <a:prstGeom prst="rect">
            <a:avLst/>
          </a:prstGeom>
          <a:solidFill>
            <a:schemeClr val="accent1">
              <a:lumMod val="20000"/>
              <a:lumOff val="8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latin typeface="メイリオ" panose="020B0604030504040204" pitchFamily="50" charset="-128"/>
              <a:ea typeface="メイリオ" panose="020B0604030504040204" pitchFamily="50" charset="-128"/>
            </a:endParaRPr>
          </a:p>
        </p:txBody>
      </p:sp>
      <p:sp>
        <p:nvSpPr>
          <p:cNvPr id="142" name="正方形/長方形 141">
            <a:extLst>
              <a:ext uri="{FF2B5EF4-FFF2-40B4-BE49-F238E27FC236}">
                <a16:creationId xmlns:a16="http://schemas.microsoft.com/office/drawing/2014/main" id="{22CE59D4-85A4-DE80-5586-89D1373FA886}"/>
              </a:ext>
            </a:extLst>
          </p:cNvPr>
          <p:cNvSpPr/>
          <p:nvPr/>
        </p:nvSpPr>
        <p:spPr>
          <a:xfrm>
            <a:off x="391573" y="3197722"/>
            <a:ext cx="1020375" cy="37340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SEO</a:t>
            </a:r>
            <a:endParaRPr kumimoji="1" lang="ja-JP" altLang="en-US" sz="1200" b="1" dirty="0">
              <a:latin typeface="メイリオ" panose="020B0604030504040204" pitchFamily="50" charset="-128"/>
              <a:ea typeface="メイリオ" panose="020B0604030504040204" pitchFamily="50" charset="-128"/>
            </a:endParaRPr>
          </a:p>
        </p:txBody>
      </p:sp>
      <p:sp>
        <p:nvSpPr>
          <p:cNvPr id="146" name="正方形/長方形 145">
            <a:extLst>
              <a:ext uri="{FF2B5EF4-FFF2-40B4-BE49-F238E27FC236}">
                <a16:creationId xmlns:a16="http://schemas.microsoft.com/office/drawing/2014/main" id="{9A86BEBF-B2CB-EDAC-25E1-DC86C4676A3E}"/>
              </a:ext>
            </a:extLst>
          </p:cNvPr>
          <p:cNvSpPr/>
          <p:nvPr/>
        </p:nvSpPr>
        <p:spPr>
          <a:xfrm>
            <a:off x="391573" y="3652284"/>
            <a:ext cx="1020375" cy="37340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SNS</a:t>
            </a:r>
            <a:endParaRPr kumimoji="1" lang="ja-JP" altLang="en-US" sz="1200" b="1" dirty="0">
              <a:latin typeface="メイリオ" panose="020B0604030504040204" pitchFamily="50" charset="-128"/>
              <a:ea typeface="メイリオ" panose="020B0604030504040204" pitchFamily="50" charset="-128"/>
            </a:endParaRPr>
          </a:p>
        </p:txBody>
      </p:sp>
      <p:sp>
        <p:nvSpPr>
          <p:cNvPr id="150" name="正方形/長方形 149">
            <a:extLst>
              <a:ext uri="{FF2B5EF4-FFF2-40B4-BE49-F238E27FC236}">
                <a16:creationId xmlns:a16="http://schemas.microsoft.com/office/drawing/2014/main" id="{A905FB4C-D042-0104-5BF8-FF8E2D33FCD3}"/>
              </a:ext>
            </a:extLst>
          </p:cNvPr>
          <p:cNvSpPr/>
          <p:nvPr/>
        </p:nvSpPr>
        <p:spPr>
          <a:xfrm>
            <a:off x="384429" y="4112127"/>
            <a:ext cx="1020375" cy="37340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広告</a:t>
            </a:r>
          </a:p>
        </p:txBody>
      </p:sp>
      <p:sp>
        <p:nvSpPr>
          <p:cNvPr id="154" name="正方形/長方形 153">
            <a:extLst>
              <a:ext uri="{FF2B5EF4-FFF2-40B4-BE49-F238E27FC236}">
                <a16:creationId xmlns:a16="http://schemas.microsoft.com/office/drawing/2014/main" id="{282390DB-36C1-2DA8-EA32-F341125393C6}"/>
              </a:ext>
            </a:extLst>
          </p:cNvPr>
          <p:cNvSpPr/>
          <p:nvPr/>
        </p:nvSpPr>
        <p:spPr>
          <a:xfrm>
            <a:off x="384429" y="4566689"/>
            <a:ext cx="1020375" cy="37340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成果型施策</a:t>
            </a:r>
          </a:p>
        </p:txBody>
      </p:sp>
      <p:sp>
        <p:nvSpPr>
          <p:cNvPr id="157" name="正方形/長方形 156">
            <a:extLst>
              <a:ext uri="{FF2B5EF4-FFF2-40B4-BE49-F238E27FC236}">
                <a16:creationId xmlns:a16="http://schemas.microsoft.com/office/drawing/2014/main" id="{A6F329DE-1501-8D56-EA2E-5398EDA0CEB0}"/>
              </a:ext>
            </a:extLst>
          </p:cNvPr>
          <p:cNvSpPr/>
          <p:nvPr/>
        </p:nvSpPr>
        <p:spPr>
          <a:xfrm>
            <a:off x="1624758" y="2722652"/>
            <a:ext cx="4647571" cy="3504333"/>
          </a:xfrm>
          <a:prstGeom prst="rect">
            <a:avLst/>
          </a:prstGeom>
          <a:solidFill>
            <a:schemeClr val="accent1">
              <a:lumMod val="40000"/>
              <a:lumOff val="6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latin typeface="メイリオ" panose="020B0604030504040204" pitchFamily="50" charset="-128"/>
              <a:ea typeface="メイリオ" panose="020B0604030504040204" pitchFamily="50" charset="-128"/>
            </a:endParaRPr>
          </a:p>
        </p:txBody>
      </p:sp>
      <p:sp>
        <p:nvSpPr>
          <p:cNvPr id="159" name="正方形/長方形 158">
            <a:extLst>
              <a:ext uri="{FF2B5EF4-FFF2-40B4-BE49-F238E27FC236}">
                <a16:creationId xmlns:a16="http://schemas.microsoft.com/office/drawing/2014/main" id="{C4BFBC9C-208B-5635-ED0F-A321DCA648A2}"/>
              </a:ext>
            </a:extLst>
          </p:cNvPr>
          <p:cNvSpPr/>
          <p:nvPr/>
        </p:nvSpPr>
        <p:spPr>
          <a:xfrm>
            <a:off x="6374037" y="2722652"/>
            <a:ext cx="3253613" cy="3504333"/>
          </a:xfrm>
          <a:prstGeom prst="rect">
            <a:avLst/>
          </a:prstGeom>
          <a:solidFill>
            <a:schemeClr val="accent1">
              <a:lumMod val="60000"/>
              <a:lumOff val="4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latin typeface="メイリオ" panose="020B0604030504040204" pitchFamily="50" charset="-128"/>
              <a:ea typeface="メイリオ" panose="020B0604030504040204" pitchFamily="50" charset="-128"/>
            </a:endParaRPr>
          </a:p>
        </p:txBody>
      </p:sp>
      <p:sp>
        <p:nvSpPr>
          <p:cNvPr id="160" name="正方形/長方形 159">
            <a:extLst>
              <a:ext uri="{FF2B5EF4-FFF2-40B4-BE49-F238E27FC236}">
                <a16:creationId xmlns:a16="http://schemas.microsoft.com/office/drawing/2014/main" id="{7477E580-2534-E748-2B7F-7624EAA5B89A}"/>
              </a:ext>
            </a:extLst>
          </p:cNvPr>
          <p:cNvSpPr/>
          <p:nvPr/>
        </p:nvSpPr>
        <p:spPr>
          <a:xfrm>
            <a:off x="6513769" y="2902386"/>
            <a:ext cx="831041" cy="316628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メイリオ" panose="020B0604030504040204" pitchFamily="50" charset="-128"/>
                <a:ea typeface="メイリオ" panose="020B0604030504040204" pitchFamily="50" charset="-128"/>
              </a:rPr>
              <a:t>見</a:t>
            </a:r>
            <a:endParaRPr kumimoji="1" lang="en-US" altLang="ja-JP" sz="1600" dirty="0">
              <a:latin typeface="メイリオ" panose="020B0604030504040204" pitchFamily="50" charset="-128"/>
              <a:ea typeface="メイリオ" panose="020B0604030504040204" pitchFamily="50" charset="-128"/>
            </a:endParaRPr>
          </a:p>
          <a:p>
            <a:pPr algn="ctr"/>
            <a:r>
              <a:rPr kumimoji="1" lang="ja-JP" altLang="en-US" sz="1600" dirty="0">
                <a:latin typeface="メイリオ" panose="020B0604030504040204" pitchFamily="50" charset="-128"/>
                <a:ea typeface="メイリオ" panose="020B0604030504040204" pitchFamily="50" charset="-128"/>
              </a:rPr>
              <a:t>学</a:t>
            </a:r>
          </a:p>
        </p:txBody>
      </p:sp>
      <p:sp>
        <p:nvSpPr>
          <p:cNvPr id="161" name="正方形/長方形 160">
            <a:extLst>
              <a:ext uri="{FF2B5EF4-FFF2-40B4-BE49-F238E27FC236}">
                <a16:creationId xmlns:a16="http://schemas.microsoft.com/office/drawing/2014/main" id="{084D7B83-489F-7622-14FD-6AAC42273E2A}"/>
              </a:ext>
            </a:extLst>
          </p:cNvPr>
          <p:cNvSpPr/>
          <p:nvPr/>
        </p:nvSpPr>
        <p:spPr>
          <a:xfrm>
            <a:off x="7573012" y="2902386"/>
            <a:ext cx="831041" cy="316628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latin typeface="メイリオ" panose="020B0604030504040204" pitchFamily="50" charset="-128"/>
                <a:ea typeface="メイリオ" panose="020B0604030504040204" pitchFamily="50" charset="-128"/>
              </a:rPr>
              <a:t>来</a:t>
            </a:r>
            <a:endParaRPr kumimoji="1" lang="en-US" altLang="ja-JP" sz="1600" dirty="0">
              <a:latin typeface="メイリオ" panose="020B0604030504040204" pitchFamily="50" charset="-128"/>
              <a:ea typeface="メイリオ" panose="020B0604030504040204" pitchFamily="50" charset="-128"/>
            </a:endParaRPr>
          </a:p>
          <a:p>
            <a:pPr algn="ctr"/>
            <a:r>
              <a:rPr kumimoji="1" lang="ja-JP" altLang="en-US" sz="1600" dirty="0">
                <a:latin typeface="メイリオ" panose="020B0604030504040204" pitchFamily="50" charset="-128"/>
                <a:ea typeface="メイリオ" panose="020B0604030504040204" pitchFamily="50" charset="-128"/>
              </a:rPr>
              <a:t>場</a:t>
            </a:r>
          </a:p>
        </p:txBody>
      </p:sp>
      <p:sp>
        <p:nvSpPr>
          <p:cNvPr id="162" name="正方形/長方形 161">
            <a:extLst>
              <a:ext uri="{FF2B5EF4-FFF2-40B4-BE49-F238E27FC236}">
                <a16:creationId xmlns:a16="http://schemas.microsoft.com/office/drawing/2014/main" id="{44A663B7-20BF-059E-01F8-59F0EAF99B39}"/>
              </a:ext>
            </a:extLst>
          </p:cNvPr>
          <p:cNvSpPr/>
          <p:nvPr/>
        </p:nvSpPr>
        <p:spPr>
          <a:xfrm>
            <a:off x="8632255" y="2902386"/>
            <a:ext cx="831041" cy="316628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latin typeface="メイリオ" panose="020B0604030504040204" pitchFamily="50" charset="-128"/>
                <a:ea typeface="メイリオ" panose="020B0604030504040204" pitchFamily="50" charset="-128"/>
              </a:rPr>
              <a:t>契</a:t>
            </a:r>
            <a:endParaRPr lang="en-US" altLang="ja-JP" sz="1600" dirty="0">
              <a:latin typeface="メイリオ" panose="020B0604030504040204" pitchFamily="50" charset="-128"/>
              <a:ea typeface="メイリオ" panose="020B0604030504040204" pitchFamily="50" charset="-128"/>
            </a:endParaRPr>
          </a:p>
          <a:p>
            <a:pPr algn="ctr"/>
            <a:r>
              <a:rPr lang="ja-JP" altLang="en-US" sz="1600" dirty="0">
                <a:latin typeface="メイリオ" panose="020B0604030504040204" pitchFamily="50" charset="-128"/>
                <a:ea typeface="メイリオ" panose="020B0604030504040204" pitchFamily="50" charset="-128"/>
              </a:rPr>
              <a:t>約</a:t>
            </a:r>
            <a:endParaRPr kumimoji="1" lang="ja-JP" altLang="en-US" sz="1600" dirty="0">
              <a:latin typeface="メイリオ" panose="020B0604030504040204" pitchFamily="50" charset="-128"/>
              <a:ea typeface="メイリオ" panose="020B0604030504040204" pitchFamily="50" charset="-128"/>
            </a:endParaRPr>
          </a:p>
        </p:txBody>
      </p:sp>
      <p:sp>
        <p:nvSpPr>
          <p:cNvPr id="163" name="正方形/長方形 162">
            <a:extLst>
              <a:ext uri="{FF2B5EF4-FFF2-40B4-BE49-F238E27FC236}">
                <a16:creationId xmlns:a16="http://schemas.microsoft.com/office/drawing/2014/main" id="{B61E8609-3F3D-E379-1B11-1E5DD7877A21}"/>
              </a:ext>
            </a:extLst>
          </p:cNvPr>
          <p:cNvSpPr/>
          <p:nvPr/>
        </p:nvSpPr>
        <p:spPr>
          <a:xfrm>
            <a:off x="2087243" y="3033518"/>
            <a:ext cx="3286537" cy="53760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　　　　　　　　　　電話</a:t>
            </a:r>
          </a:p>
        </p:txBody>
      </p:sp>
      <p:sp>
        <p:nvSpPr>
          <p:cNvPr id="164" name="正方形/長方形 163">
            <a:extLst>
              <a:ext uri="{FF2B5EF4-FFF2-40B4-BE49-F238E27FC236}">
                <a16:creationId xmlns:a16="http://schemas.microsoft.com/office/drawing/2014/main" id="{453987B4-8F77-215A-47BA-8DA2FAF14F29}"/>
              </a:ext>
            </a:extLst>
          </p:cNvPr>
          <p:cNvSpPr/>
          <p:nvPr/>
        </p:nvSpPr>
        <p:spPr>
          <a:xfrm>
            <a:off x="2087242" y="3756883"/>
            <a:ext cx="3286537" cy="53760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来場予約（フォーム）</a:t>
            </a:r>
          </a:p>
        </p:txBody>
      </p:sp>
      <p:sp>
        <p:nvSpPr>
          <p:cNvPr id="165" name="正方形/長方形 164">
            <a:extLst>
              <a:ext uri="{FF2B5EF4-FFF2-40B4-BE49-F238E27FC236}">
                <a16:creationId xmlns:a16="http://schemas.microsoft.com/office/drawing/2014/main" id="{59B47467-2429-F614-796C-BFCE67A1D206}"/>
              </a:ext>
            </a:extLst>
          </p:cNvPr>
          <p:cNvSpPr/>
          <p:nvPr/>
        </p:nvSpPr>
        <p:spPr>
          <a:xfrm>
            <a:off x="1860532" y="4909146"/>
            <a:ext cx="1604627" cy="53760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店舗検索</a:t>
            </a:r>
          </a:p>
        </p:txBody>
      </p:sp>
      <p:sp>
        <p:nvSpPr>
          <p:cNvPr id="166" name="正方形/長方形 165">
            <a:extLst>
              <a:ext uri="{FF2B5EF4-FFF2-40B4-BE49-F238E27FC236}">
                <a16:creationId xmlns:a16="http://schemas.microsoft.com/office/drawing/2014/main" id="{BD10C3A8-15A9-E6D6-8632-D79988B92AE1}"/>
              </a:ext>
            </a:extLst>
          </p:cNvPr>
          <p:cNvSpPr/>
          <p:nvPr/>
        </p:nvSpPr>
        <p:spPr>
          <a:xfrm>
            <a:off x="1860531" y="5567866"/>
            <a:ext cx="1604627" cy="53760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タイプ別診断</a:t>
            </a:r>
          </a:p>
        </p:txBody>
      </p:sp>
      <p:cxnSp>
        <p:nvCxnSpPr>
          <p:cNvPr id="167" name="コネクタ: カギ線 166">
            <a:extLst>
              <a:ext uri="{FF2B5EF4-FFF2-40B4-BE49-F238E27FC236}">
                <a16:creationId xmlns:a16="http://schemas.microsoft.com/office/drawing/2014/main" id="{CC89BDFC-0BFE-1E83-E538-555CFA15E607}"/>
              </a:ext>
            </a:extLst>
          </p:cNvPr>
          <p:cNvCxnSpPr>
            <a:cxnSpLocks/>
            <a:stCxn id="163" idx="3"/>
            <a:endCxn id="160" idx="1"/>
          </p:cNvCxnSpPr>
          <p:nvPr/>
        </p:nvCxnSpPr>
        <p:spPr>
          <a:xfrm>
            <a:off x="5373780" y="3302321"/>
            <a:ext cx="1139989" cy="1183208"/>
          </a:xfrm>
          <a:prstGeom prst="bentConnector3">
            <a:avLst>
              <a:gd name="adj1" fmla="val 50000"/>
            </a:avLst>
          </a:prstGeom>
          <a:ln w="1905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8" name="コネクタ: カギ線 167">
            <a:extLst>
              <a:ext uri="{FF2B5EF4-FFF2-40B4-BE49-F238E27FC236}">
                <a16:creationId xmlns:a16="http://schemas.microsoft.com/office/drawing/2014/main" id="{BD817B3F-6F42-BA8F-7DAC-B0F18EC4C610}"/>
              </a:ext>
            </a:extLst>
          </p:cNvPr>
          <p:cNvCxnSpPr>
            <a:cxnSpLocks/>
            <a:stCxn id="164" idx="3"/>
            <a:endCxn id="160" idx="1"/>
          </p:cNvCxnSpPr>
          <p:nvPr/>
        </p:nvCxnSpPr>
        <p:spPr>
          <a:xfrm>
            <a:off x="5373779" y="4025686"/>
            <a:ext cx="1139990" cy="459843"/>
          </a:xfrm>
          <a:prstGeom prst="bentConnector3">
            <a:avLst>
              <a:gd name="adj1" fmla="val 50000"/>
            </a:avLst>
          </a:prstGeom>
          <a:ln w="1905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9" name="コネクタ: カギ線 168">
            <a:extLst>
              <a:ext uri="{FF2B5EF4-FFF2-40B4-BE49-F238E27FC236}">
                <a16:creationId xmlns:a16="http://schemas.microsoft.com/office/drawing/2014/main" id="{D4F3F806-69F8-EB41-00FA-E66672626578}"/>
              </a:ext>
            </a:extLst>
          </p:cNvPr>
          <p:cNvCxnSpPr>
            <a:cxnSpLocks/>
          </p:cNvCxnSpPr>
          <p:nvPr/>
        </p:nvCxnSpPr>
        <p:spPr>
          <a:xfrm rot="5400000" flipH="1" flipV="1">
            <a:off x="2202717" y="4024363"/>
            <a:ext cx="1338022" cy="431544"/>
          </a:xfrm>
          <a:prstGeom prst="bentConnector3">
            <a:avLst>
              <a:gd name="adj1" fmla="val 25714"/>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0" name="コネクタ: カギ線 169">
            <a:extLst>
              <a:ext uri="{FF2B5EF4-FFF2-40B4-BE49-F238E27FC236}">
                <a16:creationId xmlns:a16="http://schemas.microsoft.com/office/drawing/2014/main" id="{2B0812E2-2C33-13E5-CFE3-C16257BEC644}"/>
              </a:ext>
            </a:extLst>
          </p:cNvPr>
          <p:cNvCxnSpPr>
            <a:cxnSpLocks/>
          </p:cNvCxnSpPr>
          <p:nvPr/>
        </p:nvCxnSpPr>
        <p:spPr>
          <a:xfrm rot="5400000" flipH="1" flipV="1">
            <a:off x="2462226" y="4422120"/>
            <a:ext cx="679302" cy="294750"/>
          </a:xfrm>
          <a:prstGeom prst="bentConnector3">
            <a:avLst>
              <a:gd name="adj1" fmla="val 50000"/>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71" name="図 170" descr="สอบถามข้อมูลสั่งซื้อสินค้า ขอใบเสนอราคา ติดต่อเรา - RAMA1989">
            <a:extLst>
              <a:ext uri="{FF2B5EF4-FFF2-40B4-BE49-F238E27FC236}">
                <a16:creationId xmlns:a16="http://schemas.microsoft.com/office/drawing/2014/main" id="{997224F0-3363-2E73-A3B5-3783AF9BDDA0}"/>
              </a:ext>
            </a:extLst>
          </p:cNvPr>
          <p:cNvPicPr>
            <a:picLocks noChangeAspect="1"/>
          </p:cNvPicPr>
          <p:nvPr/>
        </p:nvPicPr>
        <p:blipFill>
          <a:blip r:embed="rId2"/>
          <a:stretch>
            <a:fillRect/>
          </a:stretch>
        </p:blipFill>
        <p:spPr>
          <a:xfrm>
            <a:off x="2363528" y="4357660"/>
            <a:ext cx="459230" cy="459230"/>
          </a:xfrm>
          <a:prstGeom prst="rect">
            <a:avLst/>
          </a:prstGeom>
        </p:spPr>
      </p:pic>
      <p:cxnSp>
        <p:nvCxnSpPr>
          <p:cNvPr id="172" name="コネクタ: カギ線 171">
            <a:extLst>
              <a:ext uri="{FF2B5EF4-FFF2-40B4-BE49-F238E27FC236}">
                <a16:creationId xmlns:a16="http://schemas.microsoft.com/office/drawing/2014/main" id="{95C1F55D-4BB4-04B3-6BCD-5AC110276677}"/>
              </a:ext>
            </a:extLst>
          </p:cNvPr>
          <p:cNvCxnSpPr>
            <a:cxnSpLocks/>
          </p:cNvCxnSpPr>
          <p:nvPr/>
        </p:nvCxnSpPr>
        <p:spPr>
          <a:xfrm rot="5400000" flipH="1" flipV="1">
            <a:off x="2318957" y="4295554"/>
            <a:ext cx="1996742" cy="547883"/>
          </a:xfrm>
          <a:prstGeom prst="bentConnector3">
            <a:avLst>
              <a:gd name="adj1" fmla="val 42367"/>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3" name="コネクタ: カギ線 172">
            <a:extLst>
              <a:ext uri="{FF2B5EF4-FFF2-40B4-BE49-F238E27FC236}">
                <a16:creationId xmlns:a16="http://schemas.microsoft.com/office/drawing/2014/main" id="{E068F39D-D4FD-1356-2439-2A46C160EE69}"/>
              </a:ext>
            </a:extLst>
          </p:cNvPr>
          <p:cNvCxnSpPr>
            <a:cxnSpLocks/>
          </p:cNvCxnSpPr>
          <p:nvPr/>
        </p:nvCxnSpPr>
        <p:spPr>
          <a:xfrm rot="5400000" flipH="1" flipV="1">
            <a:off x="2591740" y="4744073"/>
            <a:ext cx="1273377" cy="374211"/>
          </a:xfrm>
          <a:prstGeom prst="bentConnector3">
            <a:avLst>
              <a:gd name="adj1" fmla="val 66456"/>
            </a:avLst>
          </a:prstGeom>
          <a:ln w="38100">
            <a:solidFill>
              <a:srgbClr val="04FA0A"/>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74" name="図 173" descr="สอบถามข้อมูลสั่งซื้อสินค้า ขอใบเสนอราคา ติดต่อเรา - RAMA1989">
            <a:extLst>
              <a:ext uri="{FF2B5EF4-FFF2-40B4-BE49-F238E27FC236}">
                <a16:creationId xmlns:a16="http://schemas.microsoft.com/office/drawing/2014/main" id="{425F016D-280F-0DE3-1FA2-162851EAA95B}"/>
              </a:ext>
            </a:extLst>
          </p:cNvPr>
          <p:cNvPicPr>
            <a:picLocks noChangeAspect="1"/>
          </p:cNvPicPr>
          <p:nvPr/>
        </p:nvPicPr>
        <p:blipFill>
          <a:blip r:embed="rId2"/>
          <a:stretch>
            <a:fillRect/>
          </a:stretch>
        </p:blipFill>
        <p:spPr>
          <a:xfrm>
            <a:off x="3617943" y="4372202"/>
            <a:ext cx="459230" cy="459230"/>
          </a:xfrm>
          <a:prstGeom prst="rect">
            <a:avLst/>
          </a:prstGeom>
        </p:spPr>
      </p:pic>
      <p:sp>
        <p:nvSpPr>
          <p:cNvPr id="175" name="テキスト ボックス 174">
            <a:extLst>
              <a:ext uri="{FF2B5EF4-FFF2-40B4-BE49-F238E27FC236}">
                <a16:creationId xmlns:a16="http://schemas.microsoft.com/office/drawing/2014/main" id="{7D190123-71CE-5088-9A6B-7D58E14A1660}"/>
              </a:ext>
            </a:extLst>
          </p:cNvPr>
          <p:cNvSpPr txBox="1"/>
          <p:nvPr/>
        </p:nvSpPr>
        <p:spPr>
          <a:xfrm>
            <a:off x="3910844" y="5050129"/>
            <a:ext cx="2059302" cy="900246"/>
          </a:xfrm>
          <a:prstGeom prst="rect">
            <a:avLst/>
          </a:prstGeom>
          <a:noFill/>
        </p:spPr>
        <p:txBody>
          <a:bodyPr wrap="square">
            <a:spAutoFit/>
          </a:bodyPr>
          <a:lstStyle/>
          <a:p>
            <a:r>
              <a:rPr kumimoji="1" lang="ja-JP" altLang="en-US" sz="1050" b="1" dirty="0">
                <a:latin typeface="メイリオ" panose="020B0604030504040204" pitchFamily="50" charset="-128"/>
                <a:ea typeface="メイリオ" panose="020B0604030504040204" pitchFamily="50" charset="-128"/>
              </a:rPr>
              <a:t>✅ </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動線は</a:t>
            </a:r>
            <a:r>
              <a:rPr kumimoji="1" lang="en-US" altLang="ja-JP" sz="1050" b="1" dirty="0">
                <a:latin typeface="メイリオ" panose="020B0604030504040204" pitchFamily="50" charset="-128"/>
                <a:ea typeface="メイリオ" panose="020B0604030504040204" pitchFamily="50" charset="-128"/>
              </a:rPr>
              <a:t>2</a:t>
            </a:r>
            <a:r>
              <a:rPr kumimoji="1" lang="ja-JP" altLang="en-US" sz="1050" b="1" dirty="0">
                <a:latin typeface="メイリオ" panose="020B0604030504040204" pitchFamily="50" charset="-128"/>
                <a:ea typeface="メイリオ" panose="020B0604030504040204" pitchFamily="50" charset="-128"/>
              </a:rPr>
              <a:t>通り</a:t>
            </a:r>
            <a:endParaRPr kumimoji="1" lang="en-US" altLang="ja-JP" sz="1050" b="1" dirty="0">
              <a:latin typeface="メイリオ" panose="020B0604030504040204" pitchFamily="50" charset="-128"/>
              <a:ea typeface="メイリオ" panose="020B0604030504040204" pitchFamily="50" charset="-128"/>
            </a:endParaRPr>
          </a:p>
          <a:p>
            <a:r>
              <a:rPr lang="en-US" altLang="ja-JP" sz="1050" dirty="0">
                <a:latin typeface="メイリオ" panose="020B0604030504040204" pitchFamily="50" charset="-128"/>
                <a:ea typeface="メイリオ" panose="020B0604030504040204" pitchFamily="50" charset="-128"/>
              </a:rPr>
              <a:t>----</a:t>
            </a:r>
          </a:p>
          <a:p>
            <a:r>
              <a:rPr lang="ja-JP" altLang="en-US" sz="1050" b="1" dirty="0">
                <a:solidFill>
                  <a:srgbClr val="FF0000"/>
                </a:solidFill>
                <a:latin typeface="メイリオ" panose="020B0604030504040204" pitchFamily="50" charset="-128"/>
                <a:ea typeface="メイリオ" panose="020B0604030504040204" pitchFamily="50" charset="-128"/>
              </a:rPr>
              <a:t>◎店舗検索時の日程調整用</a:t>
            </a:r>
            <a:endParaRPr lang="en-US" altLang="ja-JP" sz="1050" b="1" dirty="0">
              <a:solidFill>
                <a:srgbClr val="FF0000"/>
              </a:solidFill>
              <a:latin typeface="メイリオ" panose="020B0604030504040204" pitchFamily="50" charset="-128"/>
              <a:ea typeface="メイリオ" panose="020B0604030504040204" pitchFamily="50" charset="-128"/>
            </a:endParaRPr>
          </a:p>
          <a:p>
            <a:r>
              <a:rPr kumimoji="1" lang="ja-JP" altLang="en-US" sz="1050" b="1" dirty="0">
                <a:solidFill>
                  <a:srgbClr val="FF0000"/>
                </a:solidFill>
                <a:latin typeface="メイリオ" panose="020B0604030504040204" pitchFamily="50" charset="-128"/>
                <a:ea typeface="メイリオ" panose="020B0604030504040204" pitchFamily="50" charset="-128"/>
              </a:rPr>
              <a:t>◎タイプ別診断からの教育用</a:t>
            </a:r>
            <a:endParaRPr kumimoji="1" lang="en-US" altLang="ja-JP" sz="1050" b="1" dirty="0">
              <a:solidFill>
                <a:srgbClr val="FF0000"/>
              </a:solidFill>
              <a:latin typeface="メイリオ" panose="020B0604030504040204" pitchFamily="50" charset="-128"/>
              <a:ea typeface="メイリオ" panose="020B0604030504040204" pitchFamily="50" charset="-128"/>
            </a:endParaRPr>
          </a:p>
          <a:p>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p:txBody>
      </p:sp>
      <p:sp>
        <p:nvSpPr>
          <p:cNvPr id="182" name="テキスト ボックス 181">
            <a:extLst>
              <a:ext uri="{FF2B5EF4-FFF2-40B4-BE49-F238E27FC236}">
                <a16:creationId xmlns:a16="http://schemas.microsoft.com/office/drawing/2014/main" id="{7BA04938-D665-F38D-C987-65E00A65B97C}"/>
              </a:ext>
            </a:extLst>
          </p:cNvPr>
          <p:cNvSpPr txBox="1"/>
          <p:nvPr/>
        </p:nvSpPr>
        <p:spPr>
          <a:xfrm>
            <a:off x="391573" y="5149814"/>
            <a:ext cx="1367250" cy="415498"/>
          </a:xfrm>
          <a:prstGeom prst="rect">
            <a:avLst/>
          </a:prstGeom>
          <a:noFill/>
        </p:spPr>
        <p:txBody>
          <a:bodyPr wrap="square">
            <a:spAutoFit/>
          </a:bodyPr>
          <a:lstStyle/>
          <a:p>
            <a:r>
              <a:rPr kumimoji="1" lang="ja-JP" altLang="en-US" sz="1050" b="1" dirty="0">
                <a:latin typeface="メイリオ" panose="020B0604030504040204" pitchFamily="50" charset="-128"/>
                <a:ea typeface="メイリオ" panose="020B0604030504040204" pitchFamily="50" charset="-128"/>
              </a:rPr>
              <a:t>✅ 集客動線は</a:t>
            </a:r>
            <a:endParaRPr kumimoji="1" lang="en-US" altLang="ja-JP" sz="1050" b="1" dirty="0">
              <a:latin typeface="メイリオ" panose="020B0604030504040204" pitchFamily="50" charset="-128"/>
              <a:ea typeface="メイリオ" panose="020B0604030504040204" pitchFamily="50" charset="-128"/>
            </a:endParaRPr>
          </a:p>
          <a:p>
            <a:r>
              <a:rPr lang="ja-JP" altLang="en-US" sz="1050" b="1" dirty="0">
                <a:latin typeface="メイリオ" panose="020B0604030504040204" pitchFamily="50" charset="-128"/>
                <a:ea typeface="メイリオ" panose="020B0604030504040204" pitchFamily="50" charset="-128"/>
              </a:rPr>
              <a:t>弊社ご提案で強化</a:t>
            </a:r>
            <a:endParaRPr kumimoji="1" lang="ja-JP" altLang="en-US" sz="1050" dirty="0">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EBC09A27-271D-FFDD-BD20-F43AF7A32C6B}"/>
              </a:ext>
            </a:extLst>
          </p:cNvPr>
          <p:cNvSpPr/>
          <p:nvPr/>
        </p:nvSpPr>
        <p:spPr>
          <a:xfrm>
            <a:off x="182880" y="2004060"/>
            <a:ext cx="9532620" cy="4444009"/>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BBE66D72-6D22-FEB4-81FE-5A84C56593AD}"/>
              </a:ext>
            </a:extLst>
          </p:cNvPr>
          <p:cNvSpPr/>
          <p:nvPr/>
        </p:nvSpPr>
        <p:spPr>
          <a:xfrm>
            <a:off x="1010194" y="2626268"/>
            <a:ext cx="3361509" cy="3821801"/>
          </a:xfrm>
          <a:prstGeom prst="rect">
            <a:avLst/>
          </a:prstGeom>
          <a:solidFill>
            <a:srgbClr val="04FA0A">
              <a:alpha val="5000"/>
            </a:srgbClr>
          </a:solidFill>
          <a:ln w="38100">
            <a:solidFill>
              <a:srgbClr val="04FA0A"/>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C5C98A7-A00F-7864-CA9A-036941FC9003}"/>
              </a:ext>
            </a:extLst>
          </p:cNvPr>
          <p:cNvSpPr/>
          <p:nvPr/>
        </p:nvSpPr>
        <p:spPr>
          <a:xfrm>
            <a:off x="1095690" y="5976194"/>
            <a:ext cx="3291959" cy="373402"/>
          </a:xfrm>
          <a:prstGeom prst="rect">
            <a:avLst/>
          </a:prstGeom>
          <a:solidFill>
            <a:schemeClr val="bg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メイリオ" panose="020B0604030504040204" pitchFamily="50" charset="-128"/>
                <a:ea typeface="メイリオ" panose="020B0604030504040204" pitchFamily="50" charset="-128"/>
              </a:rPr>
              <a:t>①</a:t>
            </a:r>
            <a:r>
              <a:rPr kumimoji="1" lang="en-US" altLang="ja-JP" sz="1200" b="1" dirty="0">
                <a:solidFill>
                  <a:schemeClr val="tx1"/>
                </a:solidFill>
                <a:latin typeface="メイリオ" panose="020B0604030504040204" pitchFamily="50" charset="-128"/>
                <a:ea typeface="メイリオ" panose="020B0604030504040204" pitchFamily="50" charset="-128"/>
              </a:rPr>
              <a:t>LINE</a:t>
            </a:r>
            <a:r>
              <a:rPr kumimoji="1" lang="ja-JP" altLang="en-US" sz="1200" b="1" dirty="0">
                <a:solidFill>
                  <a:schemeClr val="tx1"/>
                </a:solidFill>
                <a:latin typeface="メイリオ" panose="020B0604030504040204" pitchFamily="50" charset="-128"/>
                <a:ea typeface="メイリオ" panose="020B0604030504040204" pitchFamily="50" charset="-128"/>
              </a:rPr>
              <a:t>につながる動線・</a:t>
            </a:r>
            <a:r>
              <a:rPr lang="ja-JP" altLang="en-US" sz="1200" b="1" dirty="0">
                <a:solidFill>
                  <a:schemeClr val="tx1"/>
                </a:solidFill>
                <a:latin typeface="メイリオ" panose="020B0604030504040204" pitchFamily="50" charset="-128"/>
                <a:ea typeface="メイリオ" panose="020B0604030504040204" pitchFamily="50" charset="-128"/>
              </a:rPr>
              <a:t>パターンが少なく</a:t>
            </a:r>
            <a:endParaRPr lang="en-US" altLang="ja-JP" sz="12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200" b="1" dirty="0">
                <a:solidFill>
                  <a:srgbClr val="FF0000"/>
                </a:solidFill>
                <a:latin typeface="メイリオ" panose="020B0604030504040204" pitchFamily="50" charset="-128"/>
                <a:ea typeface="メイリオ" panose="020B0604030504040204" pitchFamily="50" charset="-128"/>
              </a:rPr>
              <a:t>効果的な友だち数増につながっていない</a:t>
            </a:r>
            <a:r>
              <a:rPr kumimoji="1" lang="ja-JP" altLang="en-US" sz="1200" b="1" dirty="0">
                <a:solidFill>
                  <a:schemeClr val="tx1"/>
                </a:solidFill>
                <a:latin typeface="メイリオ" panose="020B0604030504040204" pitchFamily="50" charset="-128"/>
                <a:ea typeface="メイリオ" panose="020B0604030504040204" pitchFamily="50" charset="-128"/>
              </a:rPr>
              <a:t>。</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584C93F5-B75F-6B25-E5D0-FD9067852714}"/>
              </a:ext>
            </a:extLst>
          </p:cNvPr>
          <p:cNvSpPr/>
          <p:nvPr/>
        </p:nvSpPr>
        <p:spPr>
          <a:xfrm>
            <a:off x="6199584" y="2626269"/>
            <a:ext cx="3532980" cy="2594030"/>
          </a:xfrm>
          <a:prstGeom prst="rect">
            <a:avLst/>
          </a:prstGeom>
          <a:solidFill>
            <a:srgbClr val="04FA0A">
              <a:alpha val="5000"/>
            </a:srgbClr>
          </a:solidFill>
          <a:ln w="38100">
            <a:solidFill>
              <a:srgbClr val="04FA0A"/>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7F8EC127-AAC5-D06C-EF44-EB4A2943CD3D}"/>
              </a:ext>
            </a:extLst>
          </p:cNvPr>
          <p:cNvSpPr/>
          <p:nvPr/>
        </p:nvSpPr>
        <p:spPr>
          <a:xfrm>
            <a:off x="6396859" y="2777594"/>
            <a:ext cx="3183345" cy="373402"/>
          </a:xfrm>
          <a:prstGeom prst="rect">
            <a:avLst/>
          </a:prstGeom>
          <a:solidFill>
            <a:schemeClr val="bg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lumMod val="50000"/>
                  </a:schemeClr>
                </a:solidFill>
                <a:latin typeface="メイリオ" panose="020B0604030504040204" pitchFamily="50" charset="-128"/>
                <a:ea typeface="メイリオ" panose="020B0604030504040204" pitchFamily="50" charset="-128"/>
              </a:rPr>
              <a:t>③</a:t>
            </a:r>
            <a:r>
              <a:rPr kumimoji="1" lang="en-US" altLang="ja-JP" sz="1200" b="1" dirty="0">
                <a:solidFill>
                  <a:schemeClr val="bg1">
                    <a:lumMod val="50000"/>
                  </a:schemeClr>
                </a:solidFill>
                <a:latin typeface="メイリオ" panose="020B0604030504040204" pitchFamily="50" charset="-128"/>
                <a:ea typeface="メイリオ" panose="020B0604030504040204" pitchFamily="50" charset="-128"/>
              </a:rPr>
              <a:t>CPO</a:t>
            </a:r>
            <a:r>
              <a:rPr kumimoji="1" lang="ja-JP" altLang="en-US" sz="1200" b="1" dirty="0">
                <a:solidFill>
                  <a:schemeClr val="bg1">
                    <a:lumMod val="50000"/>
                  </a:schemeClr>
                </a:solidFill>
                <a:latin typeface="メイリオ" panose="020B0604030504040204" pitchFamily="50" charset="-128"/>
                <a:ea typeface="メイリオ" panose="020B0604030504040204" pitchFamily="50" charset="-128"/>
              </a:rPr>
              <a:t>改善に向けて、見学→来場→契約</a:t>
            </a:r>
            <a:endParaRPr kumimoji="1" lang="en-US" altLang="ja-JP" sz="1200" b="1" dirty="0">
              <a:solidFill>
                <a:schemeClr val="bg1">
                  <a:lumMod val="50000"/>
                </a:schemeClr>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bg1">
                    <a:lumMod val="50000"/>
                  </a:schemeClr>
                </a:solidFill>
                <a:latin typeface="メイリオ" panose="020B0604030504040204" pitchFamily="50" charset="-128"/>
                <a:ea typeface="メイリオ" panose="020B0604030504040204" pitchFamily="50" charset="-128"/>
              </a:rPr>
              <a:t>の動線を強化することで離脱を減らず。</a:t>
            </a:r>
            <a:endParaRPr kumimoji="1" lang="en-US" altLang="ja-JP" sz="1200" b="1"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4BF28BCB-5E2E-F240-E99D-ED369D131194}"/>
              </a:ext>
            </a:extLst>
          </p:cNvPr>
          <p:cNvSpPr/>
          <p:nvPr/>
        </p:nvSpPr>
        <p:spPr>
          <a:xfrm>
            <a:off x="1978502" y="4293656"/>
            <a:ext cx="3361509" cy="615490"/>
          </a:xfrm>
          <a:prstGeom prst="rect">
            <a:avLst/>
          </a:prstGeom>
          <a:solidFill>
            <a:srgbClr val="04FA0A">
              <a:alpha val="5000"/>
            </a:srgbClr>
          </a:solidFill>
          <a:ln w="38100">
            <a:solidFill>
              <a:srgbClr val="04FA0A"/>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660CE4E-DFCE-7295-1E0B-31AC8BD0CE71}"/>
              </a:ext>
            </a:extLst>
          </p:cNvPr>
          <p:cNvSpPr/>
          <p:nvPr/>
        </p:nvSpPr>
        <p:spPr>
          <a:xfrm>
            <a:off x="2170852" y="4336383"/>
            <a:ext cx="3022617" cy="519107"/>
          </a:xfrm>
          <a:prstGeom prst="rect">
            <a:avLst/>
          </a:prstGeom>
          <a:solidFill>
            <a:schemeClr val="bg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メイリオ" panose="020B0604030504040204" pitchFamily="50" charset="-128"/>
                <a:ea typeface="メイリオ" panose="020B0604030504040204" pitchFamily="50" charset="-128"/>
              </a:rPr>
              <a:t>②施策の結果数字（開封、</a:t>
            </a:r>
            <a:r>
              <a:rPr kumimoji="1" lang="en-US" altLang="ja-JP" sz="1200" b="1" dirty="0">
                <a:solidFill>
                  <a:schemeClr val="tx1"/>
                </a:solidFill>
                <a:latin typeface="メイリオ" panose="020B0604030504040204" pitchFamily="50" charset="-128"/>
                <a:ea typeface="メイリオ" panose="020B0604030504040204" pitchFamily="50" charset="-128"/>
              </a:rPr>
              <a:t>Click</a:t>
            </a:r>
            <a:r>
              <a:rPr kumimoji="1" lang="ja-JP" altLang="en-US" sz="1200" b="1" dirty="0">
                <a:solidFill>
                  <a:schemeClr val="tx1"/>
                </a:solidFill>
                <a:latin typeface="メイリオ" panose="020B0604030504040204" pitchFamily="50" charset="-128"/>
                <a:ea typeface="メイリオ" panose="020B0604030504040204" pitchFamily="50" charset="-128"/>
              </a:rPr>
              <a:t>）が低い</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0234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FFC4-0579-CBF8-1ABE-0142D1797ADF}"/>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48CE75A-5178-365A-5FCD-21D54B3190E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D5B3022-FB30-90FD-A1C0-8264794EC7F2}"/>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DE6D9AD-0425-4D12-850F-3C6FE827B87C}"/>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前提整理</a:t>
            </a:r>
            <a:endParaRPr lang="ja-JP" altLang="en-US" sz="1100" dirty="0"/>
          </a:p>
        </p:txBody>
      </p:sp>
      <p:sp>
        <p:nvSpPr>
          <p:cNvPr id="7" name="テキスト ボックス 6">
            <a:extLst>
              <a:ext uri="{FF2B5EF4-FFF2-40B4-BE49-F238E27FC236}">
                <a16:creationId xmlns:a16="http://schemas.microsoft.com/office/drawing/2014/main" id="{3C64CD41-7123-9F59-C1DD-79B434EA07A5}"/>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各種ウェブサイトの情報をまとめております。</a:t>
            </a:r>
            <a:r>
              <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※HP</a:t>
            </a: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は別軸で</a:t>
            </a:r>
            <a:r>
              <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22,500</a:t>
            </a: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件程度の月間流入がある。</a:t>
            </a:r>
            <a:endParaRPr lang="ja-JP" altLang="en-US" sz="1000" dirty="0">
              <a:solidFill>
                <a:srgbClr val="FF0000"/>
              </a:solidFill>
            </a:endParaRPr>
          </a:p>
        </p:txBody>
      </p:sp>
      <p:sp>
        <p:nvSpPr>
          <p:cNvPr id="9" name="テキスト ボックス 8">
            <a:extLst>
              <a:ext uri="{FF2B5EF4-FFF2-40B4-BE49-F238E27FC236}">
                <a16:creationId xmlns:a16="http://schemas.microsoft.com/office/drawing/2014/main" id="{E5340EEB-8F31-F516-8C7D-C2507986BB45}"/>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前提整理</a:t>
            </a:r>
            <a:endParaRPr lang="ja-JP" altLang="en-US" sz="1100" dirty="0"/>
          </a:p>
        </p:txBody>
      </p:sp>
      <p:sp>
        <p:nvSpPr>
          <p:cNvPr id="2" name="テキスト ボックス 30">
            <a:extLst>
              <a:ext uri="{FF2B5EF4-FFF2-40B4-BE49-F238E27FC236}">
                <a16:creationId xmlns:a16="http://schemas.microsoft.com/office/drawing/2014/main" id="{4084F56D-F327-A822-5987-1D40EC17F819}"/>
              </a:ext>
            </a:extLst>
          </p:cNvPr>
          <p:cNvSpPr txBox="1"/>
          <p:nvPr/>
        </p:nvSpPr>
        <p:spPr>
          <a:xfrm>
            <a:off x="375961" y="1954469"/>
            <a:ext cx="287355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dirty="0">
                <a:solidFill>
                  <a:srgbClr val="FFFF00"/>
                </a:solidFill>
                <a:latin typeface="メイリオ" panose="020B0604030504040204" pitchFamily="50" charset="-128"/>
                <a:ea typeface="メイリオ" panose="020B0604030504040204" pitchFamily="50" charset="-128"/>
              </a:rPr>
              <a:t>N9</a:t>
            </a:r>
            <a:r>
              <a:rPr lang="ja-JP" altLang="en-US" sz="1200" dirty="0">
                <a:solidFill>
                  <a:srgbClr val="FFFF00"/>
                </a:solidFill>
                <a:latin typeface="メイリオ" panose="020B0604030504040204" pitchFamily="50" charset="-128"/>
                <a:ea typeface="メイリオ" panose="020B0604030504040204" pitchFamily="50" charset="-128"/>
              </a:rPr>
              <a:t>　　</a:t>
            </a:r>
            <a:r>
              <a:rPr lang="ja-JP" altLang="en-US" sz="1200" dirty="0">
                <a:solidFill>
                  <a:schemeClr val="bg1"/>
                </a:solidFill>
                <a:latin typeface="メイリオ" panose="020B0604030504040204" pitchFamily="50" charset="-128"/>
                <a:ea typeface="メイリオ" panose="020B0604030504040204" pitchFamily="50" charset="-128"/>
              </a:rPr>
              <a:t>忍者ナイン</a:t>
            </a:r>
            <a:endParaRPr lang="ja-JP" altLang="en-US" sz="1200" dirty="0">
              <a:solidFill>
                <a:schemeClr val="bg1"/>
              </a:solidFill>
            </a:endParaRPr>
          </a:p>
        </p:txBody>
      </p:sp>
      <p:sp>
        <p:nvSpPr>
          <p:cNvPr id="10" name="テキスト ボックス 64">
            <a:extLst>
              <a:ext uri="{FF2B5EF4-FFF2-40B4-BE49-F238E27FC236}">
                <a16:creationId xmlns:a16="http://schemas.microsoft.com/office/drawing/2014/main" id="{C742707A-0EFE-C959-2429-B7F41C6A6533}"/>
              </a:ext>
            </a:extLst>
          </p:cNvPr>
          <p:cNvSpPr txBox="1"/>
          <p:nvPr/>
        </p:nvSpPr>
        <p:spPr>
          <a:xfrm>
            <a:off x="1574379" y="237247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2" name="テキスト ボックス 66">
            <a:extLst>
              <a:ext uri="{FF2B5EF4-FFF2-40B4-BE49-F238E27FC236}">
                <a16:creationId xmlns:a16="http://schemas.microsoft.com/office/drawing/2014/main" id="{F4B640EE-F406-8C64-40BB-99B4F8666757}"/>
              </a:ext>
            </a:extLst>
          </p:cNvPr>
          <p:cNvSpPr txBox="1"/>
          <p:nvPr/>
        </p:nvSpPr>
        <p:spPr>
          <a:xfrm>
            <a:off x="1574379" y="5501321"/>
            <a:ext cx="1714770"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700" dirty="0">
                <a:solidFill>
                  <a:schemeClr val="bg1">
                    <a:lumMod val="65000"/>
                  </a:schemeClr>
                </a:solidFill>
                <a:latin typeface="メイリオ" panose="020B0604030504040204" pitchFamily="50" charset="-128"/>
                <a:ea typeface="メイリオ" panose="020B0604030504040204" pitchFamily="50" charset="-128"/>
              </a:rPr>
              <a:t>※</a:t>
            </a:r>
            <a:r>
              <a:rPr lang="ja-JP" altLang="en-US" sz="7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7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7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100" dirty="0">
              <a:solidFill>
                <a:schemeClr val="bg1">
                  <a:lumMod val="65000"/>
                </a:schemeClr>
              </a:solidFill>
            </a:endParaRPr>
          </a:p>
        </p:txBody>
      </p:sp>
      <p:sp>
        <p:nvSpPr>
          <p:cNvPr id="14" name="テキスト ボックス 68">
            <a:extLst>
              <a:ext uri="{FF2B5EF4-FFF2-40B4-BE49-F238E27FC236}">
                <a16:creationId xmlns:a16="http://schemas.microsoft.com/office/drawing/2014/main" id="{005CE4EC-9DAD-614D-EF21-189AC4A54B8B}"/>
              </a:ext>
            </a:extLst>
          </p:cNvPr>
          <p:cNvSpPr txBox="1"/>
          <p:nvPr/>
        </p:nvSpPr>
        <p:spPr>
          <a:xfrm>
            <a:off x="1574379" y="268850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6" name="テキスト ボックス 70">
            <a:extLst>
              <a:ext uri="{FF2B5EF4-FFF2-40B4-BE49-F238E27FC236}">
                <a16:creationId xmlns:a16="http://schemas.microsoft.com/office/drawing/2014/main" id="{E9F2E720-D964-9A60-45CD-5C6E8BAA9807}"/>
              </a:ext>
            </a:extLst>
          </p:cNvPr>
          <p:cNvSpPr txBox="1"/>
          <p:nvPr/>
        </p:nvSpPr>
        <p:spPr>
          <a:xfrm>
            <a:off x="1574379" y="300453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72">
            <a:extLst>
              <a:ext uri="{FF2B5EF4-FFF2-40B4-BE49-F238E27FC236}">
                <a16:creationId xmlns:a16="http://schemas.microsoft.com/office/drawing/2014/main" id="{C569673A-D559-A164-179E-003DC44124E7}"/>
              </a:ext>
            </a:extLst>
          </p:cNvPr>
          <p:cNvSpPr txBox="1"/>
          <p:nvPr/>
        </p:nvSpPr>
        <p:spPr>
          <a:xfrm>
            <a:off x="1574379" y="521671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74">
            <a:extLst>
              <a:ext uri="{FF2B5EF4-FFF2-40B4-BE49-F238E27FC236}">
                <a16:creationId xmlns:a16="http://schemas.microsoft.com/office/drawing/2014/main" id="{5DF15628-8396-5390-0708-F6E808EFAAFF}"/>
              </a:ext>
            </a:extLst>
          </p:cNvPr>
          <p:cNvSpPr txBox="1"/>
          <p:nvPr/>
        </p:nvSpPr>
        <p:spPr>
          <a:xfrm>
            <a:off x="1574379" y="490068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20" name="テキスト ボックス 75">
            <a:extLst>
              <a:ext uri="{FF2B5EF4-FFF2-40B4-BE49-F238E27FC236}">
                <a16:creationId xmlns:a16="http://schemas.microsoft.com/office/drawing/2014/main" id="{4C5B2CB3-9726-166D-3753-A503CCEF0A26}"/>
              </a:ext>
            </a:extLst>
          </p:cNvPr>
          <p:cNvSpPr txBox="1"/>
          <p:nvPr/>
        </p:nvSpPr>
        <p:spPr>
          <a:xfrm>
            <a:off x="1574379" y="458466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1" name="テキスト ボックス 77">
            <a:extLst>
              <a:ext uri="{FF2B5EF4-FFF2-40B4-BE49-F238E27FC236}">
                <a16:creationId xmlns:a16="http://schemas.microsoft.com/office/drawing/2014/main" id="{DC4812CB-3D04-2C5B-A271-41DFEDCAB4C8}"/>
              </a:ext>
            </a:extLst>
          </p:cNvPr>
          <p:cNvSpPr txBox="1"/>
          <p:nvPr/>
        </p:nvSpPr>
        <p:spPr>
          <a:xfrm>
            <a:off x="1574379" y="332055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2" name="テキスト ボックス 79">
            <a:extLst>
              <a:ext uri="{FF2B5EF4-FFF2-40B4-BE49-F238E27FC236}">
                <a16:creationId xmlns:a16="http://schemas.microsoft.com/office/drawing/2014/main" id="{0482930D-56AE-298D-A6EB-FFBDE40ECC00}"/>
              </a:ext>
            </a:extLst>
          </p:cNvPr>
          <p:cNvSpPr txBox="1"/>
          <p:nvPr/>
        </p:nvSpPr>
        <p:spPr>
          <a:xfrm>
            <a:off x="1574379" y="363658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81">
            <a:extLst>
              <a:ext uri="{FF2B5EF4-FFF2-40B4-BE49-F238E27FC236}">
                <a16:creationId xmlns:a16="http://schemas.microsoft.com/office/drawing/2014/main" id="{3C4E2BA0-63A7-25D9-1A97-5C69DFD79C77}"/>
              </a:ext>
            </a:extLst>
          </p:cNvPr>
          <p:cNvSpPr txBox="1"/>
          <p:nvPr/>
        </p:nvSpPr>
        <p:spPr>
          <a:xfrm>
            <a:off x="1574379" y="395260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4" name="テキスト ボックス 83">
            <a:extLst>
              <a:ext uri="{FF2B5EF4-FFF2-40B4-BE49-F238E27FC236}">
                <a16:creationId xmlns:a16="http://schemas.microsoft.com/office/drawing/2014/main" id="{7302A54D-423F-C71A-CF81-E2452E967C73}"/>
              </a:ext>
            </a:extLst>
          </p:cNvPr>
          <p:cNvSpPr txBox="1"/>
          <p:nvPr/>
        </p:nvSpPr>
        <p:spPr>
          <a:xfrm>
            <a:off x="1574379" y="426863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6" name="テキスト ボックス 105">
            <a:extLst>
              <a:ext uri="{FF2B5EF4-FFF2-40B4-BE49-F238E27FC236}">
                <a16:creationId xmlns:a16="http://schemas.microsoft.com/office/drawing/2014/main" id="{6C91CF70-D90C-4141-8B26-5B1DD07D7D1D}"/>
              </a:ext>
            </a:extLst>
          </p:cNvPr>
          <p:cNvSpPr txBox="1"/>
          <p:nvPr/>
        </p:nvSpPr>
        <p:spPr>
          <a:xfrm>
            <a:off x="2401596" y="2374465"/>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17,607</a:t>
            </a:r>
          </a:p>
        </p:txBody>
      </p:sp>
      <p:sp>
        <p:nvSpPr>
          <p:cNvPr id="28" name="テキスト ボックス 107">
            <a:extLst>
              <a:ext uri="{FF2B5EF4-FFF2-40B4-BE49-F238E27FC236}">
                <a16:creationId xmlns:a16="http://schemas.microsoft.com/office/drawing/2014/main" id="{2786C9AD-9375-AA46-5333-046CCBB18FE2}"/>
              </a:ext>
            </a:extLst>
          </p:cNvPr>
          <p:cNvSpPr txBox="1"/>
          <p:nvPr/>
        </p:nvSpPr>
        <p:spPr>
          <a:xfrm>
            <a:off x="2401596" y="2690490"/>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7,000</a:t>
            </a:r>
            <a:endParaRPr lang="en-US" altLang="ja-JP" sz="500" b="1" dirty="0">
              <a:latin typeface="メイリオ" panose="020B0604030504040204" pitchFamily="50" charset="-128"/>
              <a:ea typeface="メイリオ" panose="020B0604030504040204" pitchFamily="50" charset="-128"/>
            </a:endParaRPr>
          </a:p>
        </p:txBody>
      </p:sp>
      <p:sp>
        <p:nvSpPr>
          <p:cNvPr id="29" name="テキスト ボックス 109">
            <a:extLst>
              <a:ext uri="{FF2B5EF4-FFF2-40B4-BE49-F238E27FC236}">
                <a16:creationId xmlns:a16="http://schemas.microsoft.com/office/drawing/2014/main" id="{813069E4-69E1-66A2-90C2-822AF2276F64}"/>
              </a:ext>
            </a:extLst>
          </p:cNvPr>
          <p:cNvSpPr txBox="1"/>
          <p:nvPr/>
        </p:nvSpPr>
        <p:spPr>
          <a:xfrm>
            <a:off x="2401596" y="3006517"/>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0" name="テキスト ボックス 111">
            <a:extLst>
              <a:ext uri="{FF2B5EF4-FFF2-40B4-BE49-F238E27FC236}">
                <a16:creationId xmlns:a16="http://schemas.microsoft.com/office/drawing/2014/main" id="{9864CA39-A311-2EB8-804E-4F1BBDF74575}"/>
              </a:ext>
            </a:extLst>
          </p:cNvPr>
          <p:cNvSpPr txBox="1"/>
          <p:nvPr/>
        </p:nvSpPr>
        <p:spPr>
          <a:xfrm>
            <a:off x="2401596" y="5218699"/>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32" name="テキスト ボックス 113">
            <a:extLst>
              <a:ext uri="{FF2B5EF4-FFF2-40B4-BE49-F238E27FC236}">
                <a16:creationId xmlns:a16="http://schemas.microsoft.com/office/drawing/2014/main" id="{EDFB7A90-75B8-B37D-145F-272542CA021E}"/>
              </a:ext>
            </a:extLst>
          </p:cNvPr>
          <p:cNvSpPr txBox="1"/>
          <p:nvPr/>
        </p:nvSpPr>
        <p:spPr>
          <a:xfrm>
            <a:off x="2401596" y="4902672"/>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3" name="テキスト ボックス 115">
            <a:extLst>
              <a:ext uri="{FF2B5EF4-FFF2-40B4-BE49-F238E27FC236}">
                <a16:creationId xmlns:a16="http://schemas.microsoft.com/office/drawing/2014/main" id="{EFFD1CA4-9630-0E9F-4C5E-ED52F6370CB1}"/>
              </a:ext>
            </a:extLst>
          </p:cNvPr>
          <p:cNvSpPr txBox="1"/>
          <p:nvPr/>
        </p:nvSpPr>
        <p:spPr>
          <a:xfrm>
            <a:off x="2401596" y="4586647"/>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5" name="テキスト ボックス 117">
            <a:extLst>
              <a:ext uri="{FF2B5EF4-FFF2-40B4-BE49-F238E27FC236}">
                <a16:creationId xmlns:a16="http://schemas.microsoft.com/office/drawing/2014/main" id="{550EE59A-47D1-9367-09B0-1A6F7E0AE0E3}"/>
              </a:ext>
            </a:extLst>
          </p:cNvPr>
          <p:cNvSpPr txBox="1"/>
          <p:nvPr/>
        </p:nvSpPr>
        <p:spPr>
          <a:xfrm>
            <a:off x="2401596" y="3322543"/>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7" name="テキスト ボックス 119">
            <a:extLst>
              <a:ext uri="{FF2B5EF4-FFF2-40B4-BE49-F238E27FC236}">
                <a16:creationId xmlns:a16="http://schemas.microsoft.com/office/drawing/2014/main" id="{23698D91-4F04-ED85-ACCD-AD4A9AC48A1B}"/>
              </a:ext>
            </a:extLst>
          </p:cNvPr>
          <p:cNvSpPr txBox="1"/>
          <p:nvPr/>
        </p:nvSpPr>
        <p:spPr>
          <a:xfrm>
            <a:off x="2401596" y="3634721"/>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38" name="テキスト ボックス 121">
            <a:extLst>
              <a:ext uri="{FF2B5EF4-FFF2-40B4-BE49-F238E27FC236}">
                <a16:creationId xmlns:a16="http://schemas.microsoft.com/office/drawing/2014/main" id="{5E8D7F39-4F6F-4AF2-4196-C2EA1FC38898}"/>
              </a:ext>
            </a:extLst>
          </p:cNvPr>
          <p:cNvSpPr txBox="1"/>
          <p:nvPr/>
        </p:nvSpPr>
        <p:spPr>
          <a:xfrm>
            <a:off x="2401596" y="3954595"/>
            <a:ext cx="847924" cy="215444"/>
          </a:xfrm>
          <a:prstGeom prst="rect">
            <a:avLst/>
          </a:prstGeom>
          <a:solidFill>
            <a:srgbClr val="04FA0A"/>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39" name="テキスト ボックス 123">
            <a:extLst>
              <a:ext uri="{FF2B5EF4-FFF2-40B4-BE49-F238E27FC236}">
                <a16:creationId xmlns:a16="http://schemas.microsoft.com/office/drawing/2014/main" id="{D32F8AF1-295B-DEF7-DF39-7ADF991996BA}"/>
              </a:ext>
            </a:extLst>
          </p:cNvPr>
          <p:cNvSpPr txBox="1"/>
          <p:nvPr/>
        </p:nvSpPr>
        <p:spPr>
          <a:xfrm>
            <a:off x="2401596" y="4266773"/>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pic>
        <p:nvPicPr>
          <p:cNvPr id="40" name="図 39">
            <a:extLst>
              <a:ext uri="{FF2B5EF4-FFF2-40B4-BE49-F238E27FC236}">
                <a16:creationId xmlns:a16="http://schemas.microsoft.com/office/drawing/2014/main" id="{CF50BD48-FC75-6DA2-1A57-02F2D17728F6}"/>
              </a:ext>
            </a:extLst>
          </p:cNvPr>
          <p:cNvPicPr>
            <a:picLocks noChangeAspect="1"/>
          </p:cNvPicPr>
          <p:nvPr/>
        </p:nvPicPr>
        <p:blipFill>
          <a:blip r:embed="rId2"/>
          <a:stretch>
            <a:fillRect/>
          </a:stretch>
        </p:blipFill>
        <p:spPr>
          <a:xfrm>
            <a:off x="247492" y="2358478"/>
            <a:ext cx="1301793" cy="2644055"/>
          </a:xfrm>
          <a:prstGeom prst="rect">
            <a:avLst/>
          </a:prstGeom>
        </p:spPr>
      </p:pic>
      <p:sp>
        <p:nvSpPr>
          <p:cNvPr id="47" name="テキスト ボックス 30">
            <a:extLst>
              <a:ext uri="{FF2B5EF4-FFF2-40B4-BE49-F238E27FC236}">
                <a16:creationId xmlns:a16="http://schemas.microsoft.com/office/drawing/2014/main" id="{C9DE939B-F3BF-420F-03E9-DC58A46B7B14}"/>
              </a:ext>
            </a:extLst>
          </p:cNvPr>
          <p:cNvSpPr txBox="1"/>
          <p:nvPr/>
        </p:nvSpPr>
        <p:spPr>
          <a:xfrm>
            <a:off x="3551171" y="1954469"/>
            <a:ext cx="287355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dirty="0">
                <a:solidFill>
                  <a:srgbClr val="FFFF00"/>
                </a:solidFill>
                <a:latin typeface="メイリオ" panose="020B0604030504040204" pitchFamily="50" charset="-128"/>
                <a:ea typeface="メイリオ" panose="020B0604030504040204" pitchFamily="50" charset="-128"/>
              </a:rPr>
              <a:t>CE</a:t>
            </a:r>
            <a:r>
              <a:rPr lang="ja-JP" altLang="en-US" sz="1200" dirty="0">
                <a:solidFill>
                  <a:srgbClr val="FFFF00"/>
                </a:solidFill>
                <a:latin typeface="メイリオ" panose="020B0604030504040204" pitchFamily="50" charset="-128"/>
                <a:ea typeface="メイリオ" panose="020B0604030504040204" pitchFamily="50" charset="-128"/>
              </a:rPr>
              <a:t>　</a:t>
            </a:r>
            <a:r>
              <a:rPr lang="ja-JP" altLang="en-US" sz="1200" dirty="0">
                <a:solidFill>
                  <a:schemeClr val="bg1"/>
                </a:solidFill>
                <a:latin typeface="メイリオ" panose="020B0604030504040204" pitchFamily="50" charset="-128"/>
                <a:ea typeface="メイリオ" panose="020B0604030504040204" pitchFamily="50" charset="-128"/>
              </a:rPr>
              <a:t>チャイルドアイズ</a:t>
            </a:r>
            <a:endParaRPr lang="ja-JP" altLang="en-US" sz="1200" dirty="0">
              <a:solidFill>
                <a:schemeClr val="bg1"/>
              </a:solidFill>
            </a:endParaRPr>
          </a:p>
        </p:txBody>
      </p:sp>
      <p:sp>
        <p:nvSpPr>
          <p:cNvPr id="49" name="テキスト ボックス 30">
            <a:extLst>
              <a:ext uri="{FF2B5EF4-FFF2-40B4-BE49-F238E27FC236}">
                <a16:creationId xmlns:a16="http://schemas.microsoft.com/office/drawing/2014/main" id="{333A8281-96A3-2029-67DD-0457CFEA26A5}"/>
              </a:ext>
            </a:extLst>
          </p:cNvPr>
          <p:cNvSpPr txBox="1"/>
          <p:nvPr/>
        </p:nvSpPr>
        <p:spPr>
          <a:xfrm>
            <a:off x="6726381" y="1954468"/>
            <a:ext cx="287355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1200" dirty="0">
                <a:solidFill>
                  <a:schemeClr val="bg1"/>
                </a:solidFill>
                <a:latin typeface="メイリオ" panose="020B0604030504040204" pitchFamily="50" charset="-128"/>
                <a:ea typeface="メイリオ" panose="020B0604030504040204" pitchFamily="50" charset="-128"/>
              </a:rPr>
              <a:t>スクール</a:t>
            </a:r>
            <a:r>
              <a:rPr lang="en-US" altLang="ja-JP" sz="1200" dirty="0">
                <a:solidFill>
                  <a:schemeClr val="bg1"/>
                </a:solidFill>
                <a:latin typeface="メイリオ" panose="020B0604030504040204" pitchFamily="50" charset="-128"/>
                <a:ea typeface="メイリオ" panose="020B0604030504040204" pitchFamily="50" charset="-128"/>
              </a:rPr>
              <a:t>IE</a:t>
            </a:r>
          </a:p>
        </p:txBody>
      </p:sp>
      <p:sp>
        <p:nvSpPr>
          <p:cNvPr id="52" name="テキスト ボックス 66">
            <a:extLst>
              <a:ext uri="{FF2B5EF4-FFF2-40B4-BE49-F238E27FC236}">
                <a16:creationId xmlns:a16="http://schemas.microsoft.com/office/drawing/2014/main" id="{786D7DA7-503E-05B5-F9CB-0A21161B6913}"/>
              </a:ext>
            </a:extLst>
          </p:cNvPr>
          <p:cNvSpPr txBox="1"/>
          <p:nvPr/>
        </p:nvSpPr>
        <p:spPr>
          <a:xfrm>
            <a:off x="4872062" y="5507279"/>
            <a:ext cx="2183307"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700" dirty="0">
                <a:solidFill>
                  <a:schemeClr val="bg1">
                    <a:lumMod val="65000"/>
                  </a:schemeClr>
                </a:solidFill>
                <a:latin typeface="メイリオ" panose="020B0604030504040204" pitchFamily="50" charset="-128"/>
                <a:ea typeface="メイリオ" panose="020B0604030504040204" pitchFamily="50" charset="-128"/>
              </a:rPr>
              <a:t>※</a:t>
            </a:r>
            <a:r>
              <a:rPr lang="ja-JP" altLang="en-US" sz="7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7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7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100" dirty="0">
              <a:solidFill>
                <a:schemeClr val="bg1">
                  <a:lumMod val="65000"/>
                </a:schemeClr>
              </a:solidFill>
            </a:endParaRPr>
          </a:p>
        </p:txBody>
      </p:sp>
      <p:sp>
        <p:nvSpPr>
          <p:cNvPr id="63" name="テキスト ボックス 105">
            <a:extLst>
              <a:ext uri="{FF2B5EF4-FFF2-40B4-BE49-F238E27FC236}">
                <a16:creationId xmlns:a16="http://schemas.microsoft.com/office/drawing/2014/main" id="{B6ADA316-97DB-19DE-5310-2D4AFF7C5555}"/>
              </a:ext>
            </a:extLst>
          </p:cNvPr>
          <p:cNvSpPr txBox="1"/>
          <p:nvPr/>
        </p:nvSpPr>
        <p:spPr>
          <a:xfrm>
            <a:off x="5675169" y="2389922"/>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18,784</a:t>
            </a:r>
          </a:p>
        </p:txBody>
      </p:sp>
      <p:sp>
        <p:nvSpPr>
          <p:cNvPr id="64" name="テキスト ボックス 107">
            <a:extLst>
              <a:ext uri="{FF2B5EF4-FFF2-40B4-BE49-F238E27FC236}">
                <a16:creationId xmlns:a16="http://schemas.microsoft.com/office/drawing/2014/main" id="{47F3F567-C41D-6459-A492-84B20AAA216D}"/>
              </a:ext>
            </a:extLst>
          </p:cNvPr>
          <p:cNvSpPr txBox="1"/>
          <p:nvPr/>
        </p:nvSpPr>
        <p:spPr>
          <a:xfrm>
            <a:off x="5675169" y="2705947"/>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4,500</a:t>
            </a:r>
            <a:endParaRPr lang="en-US" altLang="ja-JP" sz="500" b="1" dirty="0">
              <a:latin typeface="メイリオ" panose="020B0604030504040204" pitchFamily="50" charset="-128"/>
              <a:ea typeface="メイリオ" panose="020B0604030504040204" pitchFamily="50" charset="-128"/>
            </a:endParaRPr>
          </a:p>
        </p:txBody>
      </p:sp>
      <p:sp>
        <p:nvSpPr>
          <p:cNvPr id="65" name="テキスト ボックス 109">
            <a:extLst>
              <a:ext uri="{FF2B5EF4-FFF2-40B4-BE49-F238E27FC236}">
                <a16:creationId xmlns:a16="http://schemas.microsoft.com/office/drawing/2014/main" id="{EA12EB97-C2CF-9EF7-68AC-1F725E44C0C6}"/>
              </a:ext>
            </a:extLst>
          </p:cNvPr>
          <p:cNvSpPr txBox="1"/>
          <p:nvPr/>
        </p:nvSpPr>
        <p:spPr>
          <a:xfrm>
            <a:off x="5675169" y="3021974"/>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66" name="テキスト ボックス 111">
            <a:extLst>
              <a:ext uri="{FF2B5EF4-FFF2-40B4-BE49-F238E27FC236}">
                <a16:creationId xmlns:a16="http://schemas.microsoft.com/office/drawing/2014/main" id="{C7BA49E9-9AD1-C8F1-045C-F99303CC534D}"/>
              </a:ext>
            </a:extLst>
          </p:cNvPr>
          <p:cNvSpPr txBox="1"/>
          <p:nvPr/>
        </p:nvSpPr>
        <p:spPr>
          <a:xfrm>
            <a:off x="5675169" y="5234156"/>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67" name="テキスト ボックス 113">
            <a:extLst>
              <a:ext uri="{FF2B5EF4-FFF2-40B4-BE49-F238E27FC236}">
                <a16:creationId xmlns:a16="http://schemas.microsoft.com/office/drawing/2014/main" id="{7BE2FF98-F2E6-8CBD-5248-49871F114542}"/>
              </a:ext>
            </a:extLst>
          </p:cNvPr>
          <p:cNvSpPr txBox="1"/>
          <p:nvPr/>
        </p:nvSpPr>
        <p:spPr>
          <a:xfrm>
            <a:off x="5675169" y="4918129"/>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68" name="テキスト ボックス 115">
            <a:extLst>
              <a:ext uri="{FF2B5EF4-FFF2-40B4-BE49-F238E27FC236}">
                <a16:creationId xmlns:a16="http://schemas.microsoft.com/office/drawing/2014/main" id="{914EF112-00D2-D47D-0B61-A93CBE8BB645}"/>
              </a:ext>
            </a:extLst>
          </p:cNvPr>
          <p:cNvSpPr txBox="1"/>
          <p:nvPr/>
        </p:nvSpPr>
        <p:spPr>
          <a:xfrm>
            <a:off x="5675169" y="4602104"/>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69" name="テキスト ボックス 117">
            <a:extLst>
              <a:ext uri="{FF2B5EF4-FFF2-40B4-BE49-F238E27FC236}">
                <a16:creationId xmlns:a16="http://schemas.microsoft.com/office/drawing/2014/main" id="{986694EA-BD3A-DAC6-4DEE-7D91F77FBE22}"/>
              </a:ext>
            </a:extLst>
          </p:cNvPr>
          <p:cNvSpPr txBox="1"/>
          <p:nvPr/>
        </p:nvSpPr>
        <p:spPr>
          <a:xfrm>
            <a:off x="5675169" y="3338000"/>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70" name="テキスト ボックス 119">
            <a:extLst>
              <a:ext uri="{FF2B5EF4-FFF2-40B4-BE49-F238E27FC236}">
                <a16:creationId xmlns:a16="http://schemas.microsoft.com/office/drawing/2014/main" id="{55C2042F-3220-C5D3-61DE-7D9D40613A6E}"/>
              </a:ext>
            </a:extLst>
          </p:cNvPr>
          <p:cNvSpPr txBox="1"/>
          <p:nvPr/>
        </p:nvSpPr>
        <p:spPr>
          <a:xfrm>
            <a:off x="5675169" y="3650178"/>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71" name="テキスト ボックス 121">
            <a:extLst>
              <a:ext uri="{FF2B5EF4-FFF2-40B4-BE49-F238E27FC236}">
                <a16:creationId xmlns:a16="http://schemas.microsoft.com/office/drawing/2014/main" id="{153D3F2B-14F9-70C0-50BC-B7CB286E2D8F}"/>
              </a:ext>
            </a:extLst>
          </p:cNvPr>
          <p:cNvSpPr txBox="1"/>
          <p:nvPr/>
        </p:nvSpPr>
        <p:spPr>
          <a:xfrm>
            <a:off x="5675169" y="3970052"/>
            <a:ext cx="809405" cy="215444"/>
          </a:xfrm>
          <a:prstGeom prst="rect">
            <a:avLst/>
          </a:prstGeom>
          <a:solidFill>
            <a:srgbClr val="04FA0A"/>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72" name="テキスト ボックス 123">
            <a:extLst>
              <a:ext uri="{FF2B5EF4-FFF2-40B4-BE49-F238E27FC236}">
                <a16:creationId xmlns:a16="http://schemas.microsoft.com/office/drawing/2014/main" id="{2263D4CF-8260-F1E1-BCF7-ED72C65AF07F}"/>
              </a:ext>
            </a:extLst>
          </p:cNvPr>
          <p:cNvSpPr txBox="1"/>
          <p:nvPr/>
        </p:nvSpPr>
        <p:spPr>
          <a:xfrm>
            <a:off x="5675169" y="4282230"/>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pic>
        <p:nvPicPr>
          <p:cNvPr id="73" name="図 72">
            <a:extLst>
              <a:ext uri="{FF2B5EF4-FFF2-40B4-BE49-F238E27FC236}">
                <a16:creationId xmlns:a16="http://schemas.microsoft.com/office/drawing/2014/main" id="{3446BF02-9F13-C513-57CD-571CF79F7E70}"/>
              </a:ext>
            </a:extLst>
          </p:cNvPr>
          <p:cNvPicPr>
            <a:picLocks noChangeAspect="1"/>
          </p:cNvPicPr>
          <p:nvPr/>
        </p:nvPicPr>
        <p:blipFill>
          <a:blip r:embed="rId3"/>
          <a:stretch>
            <a:fillRect/>
          </a:stretch>
        </p:blipFill>
        <p:spPr>
          <a:xfrm>
            <a:off x="3551171" y="2372480"/>
            <a:ext cx="1294899" cy="2630054"/>
          </a:xfrm>
          <a:prstGeom prst="rect">
            <a:avLst/>
          </a:prstGeom>
        </p:spPr>
      </p:pic>
      <p:sp>
        <p:nvSpPr>
          <p:cNvPr id="95" name="テキスト ボックス 64">
            <a:extLst>
              <a:ext uri="{FF2B5EF4-FFF2-40B4-BE49-F238E27FC236}">
                <a16:creationId xmlns:a16="http://schemas.microsoft.com/office/drawing/2014/main" id="{7535EF03-0A72-3CC6-C3EB-CB2237E04838}"/>
              </a:ext>
            </a:extLst>
          </p:cNvPr>
          <p:cNvSpPr txBox="1"/>
          <p:nvPr/>
        </p:nvSpPr>
        <p:spPr>
          <a:xfrm>
            <a:off x="4872062" y="238992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97" name="テキスト ボックス 68">
            <a:extLst>
              <a:ext uri="{FF2B5EF4-FFF2-40B4-BE49-F238E27FC236}">
                <a16:creationId xmlns:a16="http://schemas.microsoft.com/office/drawing/2014/main" id="{73C943E3-6B26-3E14-29C5-4790227D5D35}"/>
              </a:ext>
            </a:extLst>
          </p:cNvPr>
          <p:cNvSpPr txBox="1"/>
          <p:nvPr/>
        </p:nvSpPr>
        <p:spPr>
          <a:xfrm>
            <a:off x="4872062" y="270594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99" name="テキスト ボックス 70">
            <a:extLst>
              <a:ext uri="{FF2B5EF4-FFF2-40B4-BE49-F238E27FC236}">
                <a16:creationId xmlns:a16="http://schemas.microsoft.com/office/drawing/2014/main" id="{C5BCC33B-076B-2AA8-2239-87EA7C290C26}"/>
              </a:ext>
            </a:extLst>
          </p:cNvPr>
          <p:cNvSpPr txBox="1"/>
          <p:nvPr/>
        </p:nvSpPr>
        <p:spPr>
          <a:xfrm>
            <a:off x="4872062" y="302197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1" name="テキスト ボックス 72">
            <a:extLst>
              <a:ext uri="{FF2B5EF4-FFF2-40B4-BE49-F238E27FC236}">
                <a16:creationId xmlns:a16="http://schemas.microsoft.com/office/drawing/2014/main" id="{4EBEDD00-888B-3FF1-5640-9D947CF59AC5}"/>
              </a:ext>
            </a:extLst>
          </p:cNvPr>
          <p:cNvSpPr txBox="1"/>
          <p:nvPr/>
        </p:nvSpPr>
        <p:spPr>
          <a:xfrm>
            <a:off x="4872062" y="523415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3" name="テキスト ボックス 74">
            <a:extLst>
              <a:ext uri="{FF2B5EF4-FFF2-40B4-BE49-F238E27FC236}">
                <a16:creationId xmlns:a16="http://schemas.microsoft.com/office/drawing/2014/main" id="{136ABEBA-1F58-0D4C-A8D7-D1064362210F}"/>
              </a:ext>
            </a:extLst>
          </p:cNvPr>
          <p:cNvSpPr txBox="1"/>
          <p:nvPr/>
        </p:nvSpPr>
        <p:spPr>
          <a:xfrm>
            <a:off x="4872062" y="491813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105" name="テキスト ボックス 75">
            <a:extLst>
              <a:ext uri="{FF2B5EF4-FFF2-40B4-BE49-F238E27FC236}">
                <a16:creationId xmlns:a16="http://schemas.microsoft.com/office/drawing/2014/main" id="{F7601305-A8CB-861C-50EB-2EA49E5A1DC2}"/>
              </a:ext>
            </a:extLst>
          </p:cNvPr>
          <p:cNvSpPr txBox="1"/>
          <p:nvPr/>
        </p:nvSpPr>
        <p:spPr>
          <a:xfrm>
            <a:off x="4872062" y="460210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7" name="テキスト ボックス 77">
            <a:extLst>
              <a:ext uri="{FF2B5EF4-FFF2-40B4-BE49-F238E27FC236}">
                <a16:creationId xmlns:a16="http://schemas.microsoft.com/office/drawing/2014/main" id="{08EFFD9D-A84C-282A-6107-59B549235D0E}"/>
              </a:ext>
            </a:extLst>
          </p:cNvPr>
          <p:cNvSpPr txBox="1"/>
          <p:nvPr/>
        </p:nvSpPr>
        <p:spPr>
          <a:xfrm>
            <a:off x="4872062" y="333800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9" name="テキスト ボックス 79">
            <a:extLst>
              <a:ext uri="{FF2B5EF4-FFF2-40B4-BE49-F238E27FC236}">
                <a16:creationId xmlns:a16="http://schemas.microsoft.com/office/drawing/2014/main" id="{68897B67-8015-463D-A868-8F87ABD5F81C}"/>
              </a:ext>
            </a:extLst>
          </p:cNvPr>
          <p:cNvSpPr txBox="1"/>
          <p:nvPr/>
        </p:nvSpPr>
        <p:spPr>
          <a:xfrm>
            <a:off x="4872062" y="365402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11" name="テキスト ボックス 81">
            <a:extLst>
              <a:ext uri="{FF2B5EF4-FFF2-40B4-BE49-F238E27FC236}">
                <a16:creationId xmlns:a16="http://schemas.microsoft.com/office/drawing/2014/main" id="{7626B64E-1D4B-BC18-441D-B378B263FBC2}"/>
              </a:ext>
            </a:extLst>
          </p:cNvPr>
          <p:cNvSpPr txBox="1"/>
          <p:nvPr/>
        </p:nvSpPr>
        <p:spPr>
          <a:xfrm>
            <a:off x="4872062" y="397005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13" name="テキスト ボックス 83">
            <a:extLst>
              <a:ext uri="{FF2B5EF4-FFF2-40B4-BE49-F238E27FC236}">
                <a16:creationId xmlns:a16="http://schemas.microsoft.com/office/drawing/2014/main" id="{F3F1392F-6D5F-6C74-055D-7A48ED1496C6}"/>
              </a:ext>
            </a:extLst>
          </p:cNvPr>
          <p:cNvSpPr txBox="1"/>
          <p:nvPr/>
        </p:nvSpPr>
        <p:spPr>
          <a:xfrm>
            <a:off x="4872062" y="428607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17" name="テキスト ボックス 105">
            <a:extLst>
              <a:ext uri="{FF2B5EF4-FFF2-40B4-BE49-F238E27FC236}">
                <a16:creationId xmlns:a16="http://schemas.microsoft.com/office/drawing/2014/main" id="{5BCA6A17-C684-890D-D139-C6A105808C98}"/>
              </a:ext>
            </a:extLst>
          </p:cNvPr>
          <p:cNvSpPr txBox="1"/>
          <p:nvPr/>
        </p:nvSpPr>
        <p:spPr>
          <a:xfrm>
            <a:off x="8775617" y="2389921"/>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91,220</a:t>
            </a:r>
          </a:p>
        </p:txBody>
      </p:sp>
      <p:sp>
        <p:nvSpPr>
          <p:cNvPr id="119" name="テキスト ボックス 107">
            <a:extLst>
              <a:ext uri="{FF2B5EF4-FFF2-40B4-BE49-F238E27FC236}">
                <a16:creationId xmlns:a16="http://schemas.microsoft.com/office/drawing/2014/main" id="{7FE8970D-6A56-0781-5C98-3A0F37D5A728}"/>
              </a:ext>
            </a:extLst>
          </p:cNvPr>
          <p:cNvSpPr txBox="1"/>
          <p:nvPr/>
        </p:nvSpPr>
        <p:spPr>
          <a:xfrm>
            <a:off x="8775617" y="2705946"/>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15,000</a:t>
            </a:r>
            <a:endParaRPr lang="en-US" altLang="ja-JP" sz="500" b="1" dirty="0">
              <a:latin typeface="メイリオ" panose="020B0604030504040204" pitchFamily="50" charset="-128"/>
              <a:ea typeface="メイリオ" panose="020B0604030504040204" pitchFamily="50" charset="-128"/>
            </a:endParaRPr>
          </a:p>
        </p:txBody>
      </p:sp>
      <p:sp>
        <p:nvSpPr>
          <p:cNvPr id="121" name="テキスト ボックス 109">
            <a:extLst>
              <a:ext uri="{FF2B5EF4-FFF2-40B4-BE49-F238E27FC236}">
                <a16:creationId xmlns:a16="http://schemas.microsoft.com/office/drawing/2014/main" id="{89A6CF0F-F77F-F1EE-3C95-960C4F082F02}"/>
              </a:ext>
            </a:extLst>
          </p:cNvPr>
          <p:cNvSpPr txBox="1"/>
          <p:nvPr/>
        </p:nvSpPr>
        <p:spPr>
          <a:xfrm>
            <a:off x="8775617" y="3021973"/>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3" name="テキスト ボックス 111">
            <a:extLst>
              <a:ext uri="{FF2B5EF4-FFF2-40B4-BE49-F238E27FC236}">
                <a16:creationId xmlns:a16="http://schemas.microsoft.com/office/drawing/2014/main" id="{0CA563DF-C2A5-4DA1-1EC3-C477F38ECE24}"/>
              </a:ext>
            </a:extLst>
          </p:cNvPr>
          <p:cNvSpPr txBox="1"/>
          <p:nvPr/>
        </p:nvSpPr>
        <p:spPr>
          <a:xfrm>
            <a:off x="8775617" y="5234155"/>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125" name="テキスト ボックス 113">
            <a:extLst>
              <a:ext uri="{FF2B5EF4-FFF2-40B4-BE49-F238E27FC236}">
                <a16:creationId xmlns:a16="http://schemas.microsoft.com/office/drawing/2014/main" id="{393D21F1-D93E-12A6-5AEF-356FD38B6058}"/>
              </a:ext>
            </a:extLst>
          </p:cNvPr>
          <p:cNvSpPr txBox="1"/>
          <p:nvPr/>
        </p:nvSpPr>
        <p:spPr>
          <a:xfrm>
            <a:off x="8775617" y="4918128"/>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7" name="テキスト ボックス 115">
            <a:extLst>
              <a:ext uri="{FF2B5EF4-FFF2-40B4-BE49-F238E27FC236}">
                <a16:creationId xmlns:a16="http://schemas.microsoft.com/office/drawing/2014/main" id="{02E35D4E-12CE-88AD-DA76-9BE0EF6F1856}"/>
              </a:ext>
            </a:extLst>
          </p:cNvPr>
          <p:cNvSpPr txBox="1"/>
          <p:nvPr/>
        </p:nvSpPr>
        <p:spPr>
          <a:xfrm>
            <a:off x="8775617" y="4602103"/>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9" name="テキスト ボックス 117">
            <a:extLst>
              <a:ext uri="{FF2B5EF4-FFF2-40B4-BE49-F238E27FC236}">
                <a16:creationId xmlns:a16="http://schemas.microsoft.com/office/drawing/2014/main" id="{9352A2FB-4ECD-21C1-7F28-05F91B44E72A}"/>
              </a:ext>
            </a:extLst>
          </p:cNvPr>
          <p:cNvSpPr txBox="1"/>
          <p:nvPr/>
        </p:nvSpPr>
        <p:spPr>
          <a:xfrm>
            <a:off x="8775617" y="3337999"/>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31" name="テキスト ボックス 119">
            <a:extLst>
              <a:ext uri="{FF2B5EF4-FFF2-40B4-BE49-F238E27FC236}">
                <a16:creationId xmlns:a16="http://schemas.microsoft.com/office/drawing/2014/main" id="{0CC7F9B0-A375-9370-9FAF-1E25E911662B}"/>
              </a:ext>
            </a:extLst>
          </p:cNvPr>
          <p:cNvSpPr txBox="1"/>
          <p:nvPr/>
        </p:nvSpPr>
        <p:spPr>
          <a:xfrm>
            <a:off x="8775617" y="3650177"/>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r>
              <a:rPr lang="en-US" altLang="ja-JP" sz="800" b="1" dirty="0">
                <a:solidFill>
                  <a:srgbClr val="FF0000"/>
                </a:solidFill>
                <a:latin typeface="メイリオ" panose="020B0604030504040204" pitchFamily="50" charset="-128"/>
                <a:ea typeface="メイリオ" panose="020B0604030504040204" pitchFamily="50" charset="-128"/>
              </a:rPr>
              <a:t>,</a:t>
            </a:r>
            <a:r>
              <a:rPr lang="ja-JP" altLang="en-US" sz="800" b="1" dirty="0">
                <a:solidFill>
                  <a:srgbClr val="FF0000"/>
                </a:solidFill>
                <a:latin typeface="メイリオ" panose="020B0604030504040204" pitchFamily="50" charset="-128"/>
                <a:ea typeface="メイリオ" panose="020B0604030504040204" pitchFamily="50" charset="-128"/>
              </a:rPr>
              <a:t>資料</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133" name="テキスト ボックス 121">
            <a:extLst>
              <a:ext uri="{FF2B5EF4-FFF2-40B4-BE49-F238E27FC236}">
                <a16:creationId xmlns:a16="http://schemas.microsoft.com/office/drawing/2014/main" id="{FADF90DD-3EBB-7A16-C8FC-6492D6D3B97F}"/>
              </a:ext>
            </a:extLst>
          </p:cNvPr>
          <p:cNvSpPr txBox="1"/>
          <p:nvPr/>
        </p:nvSpPr>
        <p:spPr>
          <a:xfrm>
            <a:off x="8775617" y="3970051"/>
            <a:ext cx="833931" cy="215444"/>
          </a:xfrm>
          <a:prstGeom prst="rect">
            <a:avLst/>
          </a:prstGeom>
          <a:solidFill>
            <a:srgbClr val="04FA0A"/>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135" name="テキスト ボックス 123">
            <a:extLst>
              <a:ext uri="{FF2B5EF4-FFF2-40B4-BE49-F238E27FC236}">
                <a16:creationId xmlns:a16="http://schemas.microsoft.com/office/drawing/2014/main" id="{A2C2BD67-3D89-9FC2-7D73-72F475DFF460}"/>
              </a:ext>
            </a:extLst>
          </p:cNvPr>
          <p:cNvSpPr txBox="1"/>
          <p:nvPr/>
        </p:nvSpPr>
        <p:spPr>
          <a:xfrm>
            <a:off x="8775617" y="4282229"/>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sp>
        <p:nvSpPr>
          <p:cNvPr id="137" name="テキスト ボックス 64">
            <a:extLst>
              <a:ext uri="{FF2B5EF4-FFF2-40B4-BE49-F238E27FC236}">
                <a16:creationId xmlns:a16="http://schemas.microsoft.com/office/drawing/2014/main" id="{DB6FA066-3CA2-2728-CB95-B5E105280CB8}"/>
              </a:ext>
            </a:extLst>
          </p:cNvPr>
          <p:cNvSpPr txBox="1"/>
          <p:nvPr/>
        </p:nvSpPr>
        <p:spPr>
          <a:xfrm>
            <a:off x="7984773" y="2389922"/>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39" name="テキスト ボックス 68">
            <a:extLst>
              <a:ext uri="{FF2B5EF4-FFF2-40B4-BE49-F238E27FC236}">
                <a16:creationId xmlns:a16="http://schemas.microsoft.com/office/drawing/2014/main" id="{B759AD18-89CA-1050-2037-E2F4A4D12832}"/>
              </a:ext>
            </a:extLst>
          </p:cNvPr>
          <p:cNvSpPr txBox="1"/>
          <p:nvPr/>
        </p:nvSpPr>
        <p:spPr>
          <a:xfrm>
            <a:off x="7984773" y="2705948"/>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41" name="テキスト ボックス 70">
            <a:extLst>
              <a:ext uri="{FF2B5EF4-FFF2-40B4-BE49-F238E27FC236}">
                <a16:creationId xmlns:a16="http://schemas.microsoft.com/office/drawing/2014/main" id="{C46C7CB3-C98F-8DE9-C79E-87D97FE6C197}"/>
              </a:ext>
            </a:extLst>
          </p:cNvPr>
          <p:cNvSpPr txBox="1"/>
          <p:nvPr/>
        </p:nvSpPr>
        <p:spPr>
          <a:xfrm>
            <a:off x="7984773" y="3021974"/>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43" name="テキスト ボックス 72">
            <a:extLst>
              <a:ext uri="{FF2B5EF4-FFF2-40B4-BE49-F238E27FC236}">
                <a16:creationId xmlns:a16="http://schemas.microsoft.com/office/drawing/2014/main" id="{2C0B9C6D-855E-0F1C-AB35-6B3DC89F7110}"/>
              </a:ext>
            </a:extLst>
          </p:cNvPr>
          <p:cNvSpPr txBox="1"/>
          <p:nvPr/>
        </p:nvSpPr>
        <p:spPr>
          <a:xfrm>
            <a:off x="7984773" y="5234156"/>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45" name="テキスト ボックス 74">
            <a:extLst>
              <a:ext uri="{FF2B5EF4-FFF2-40B4-BE49-F238E27FC236}">
                <a16:creationId xmlns:a16="http://schemas.microsoft.com/office/drawing/2014/main" id="{56900908-CFBC-6A7A-2D47-DEB50C9EFB60}"/>
              </a:ext>
            </a:extLst>
          </p:cNvPr>
          <p:cNvSpPr txBox="1"/>
          <p:nvPr/>
        </p:nvSpPr>
        <p:spPr>
          <a:xfrm>
            <a:off x="7984773" y="4918130"/>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147" name="テキスト ボックス 75">
            <a:extLst>
              <a:ext uri="{FF2B5EF4-FFF2-40B4-BE49-F238E27FC236}">
                <a16:creationId xmlns:a16="http://schemas.microsoft.com/office/drawing/2014/main" id="{70F33194-1F7F-6E90-1C9D-50833BE30B47}"/>
              </a:ext>
            </a:extLst>
          </p:cNvPr>
          <p:cNvSpPr txBox="1"/>
          <p:nvPr/>
        </p:nvSpPr>
        <p:spPr>
          <a:xfrm>
            <a:off x="7984773" y="4602104"/>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49" name="テキスト ボックス 77">
            <a:extLst>
              <a:ext uri="{FF2B5EF4-FFF2-40B4-BE49-F238E27FC236}">
                <a16:creationId xmlns:a16="http://schemas.microsoft.com/office/drawing/2014/main" id="{D71686E9-1DA4-A6D8-A397-8C2F76F15C9A}"/>
              </a:ext>
            </a:extLst>
          </p:cNvPr>
          <p:cNvSpPr txBox="1"/>
          <p:nvPr/>
        </p:nvSpPr>
        <p:spPr>
          <a:xfrm>
            <a:off x="7984773" y="3338000"/>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51" name="テキスト ボックス 79">
            <a:extLst>
              <a:ext uri="{FF2B5EF4-FFF2-40B4-BE49-F238E27FC236}">
                <a16:creationId xmlns:a16="http://schemas.microsoft.com/office/drawing/2014/main" id="{C0D7E608-2C1E-6F76-D7A3-74A51CBA2B11}"/>
              </a:ext>
            </a:extLst>
          </p:cNvPr>
          <p:cNvSpPr txBox="1"/>
          <p:nvPr/>
        </p:nvSpPr>
        <p:spPr>
          <a:xfrm>
            <a:off x="7984773" y="3654026"/>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53" name="テキスト ボックス 81">
            <a:extLst>
              <a:ext uri="{FF2B5EF4-FFF2-40B4-BE49-F238E27FC236}">
                <a16:creationId xmlns:a16="http://schemas.microsoft.com/office/drawing/2014/main" id="{532A68C6-1CB8-BD38-4AD2-A01CD624597B}"/>
              </a:ext>
            </a:extLst>
          </p:cNvPr>
          <p:cNvSpPr txBox="1"/>
          <p:nvPr/>
        </p:nvSpPr>
        <p:spPr>
          <a:xfrm>
            <a:off x="7984773" y="3970052"/>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55" name="テキスト ボックス 83">
            <a:extLst>
              <a:ext uri="{FF2B5EF4-FFF2-40B4-BE49-F238E27FC236}">
                <a16:creationId xmlns:a16="http://schemas.microsoft.com/office/drawing/2014/main" id="{0113057A-172D-F360-4C50-56CC0754DDC0}"/>
              </a:ext>
            </a:extLst>
          </p:cNvPr>
          <p:cNvSpPr txBox="1"/>
          <p:nvPr/>
        </p:nvSpPr>
        <p:spPr>
          <a:xfrm>
            <a:off x="7984773" y="4286078"/>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5FF126EC-A844-7548-3DE6-4F0A17548351}"/>
              </a:ext>
            </a:extLst>
          </p:cNvPr>
          <p:cNvPicPr>
            <a:picLocks noChangeAspect="1"/>
          </p:cNvPicPr>
          <p:nvPr/>
        </p:nvPicPr>
        <p:blipFill>
          <a:blip r:embed="rId4"/>
          <a:stretch>
            <a:fillRect/>
          </a:stretch>
        </p:blipFill>
        <p:spPr>
          <a:xfrm>
            <a:off x="6662776" y="2366339"/>
            <a:ext cx="1301793" cy="2644055"/>
          </a:xfrm>
          <a:prstGeom prst="rect">
            <a:avLst/>
          </a:prstGeom>
        </p:spPr>
      </p:pic>
    </p:spTree>
    <p:extLst>
      <p:ext uri="{BB962C8B-B14F-4D97-AF65-F5344CB8AC3E}">
        <p14:creationId xmlns:p14="http://schemas.microsoft.com/office/powerpoint/2010/main" val="2840191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9BCF6-E383-9B7D-8AA9-003BC77C8C9D}"/>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7E5E0281-47EB-2162-3E5D-8CBF88763F3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01DFC30D-21BE-375F-F905-90DDF13ADBC5}"/>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EFD492EA-F628-C1E7-9AB7-DF2B1199B9A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前提整理</a:t>
            </a:r>
            <a:endParaRPr lang="ja-JP" altLang="en-US" sz="1100" dirty="0"/>
          </a:p>
        </p:txBody>
      </p:sp>
      <p:sp>
        <p:nvSpPr>
          <p:cNvPr id="7" name="テキスト ボックス 6">
            <a:extLst>
              <a:ext uri="{FF2B5EF4-FFF2-40B4-BE49-F238E27FC236}">
                <a16:creationId xmlns:a16="http://schemas.microsoft.com/office/drawing/2014/main" id="{01638ED6-029D-7658-2FBB-B8874042AEBA}"/>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各種ウェブサイトの情報をまとめております。</a:t>
            </a:r>
            <a:r>
              <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※HP</a:t>
            </a: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は別軸で</a:t>
            </a:r>
            <a:r>
              <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22,500</a:t>
            </a: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件程度の月間流入がある。</a:t>
            </a:r>
            <a:endParaRPr lang="ja-JP" altLang="en-US" sz="1000" dirty="0">
              <a:solidFill>
                <a:srgbClr val="FF0000"/>
              </a:solidFill>
            </a:endParaRPr>
          </a:p>
        </p:txBody>
      </p:sp>
      <p:sp>
        <p:nvSpPr>
          <p:cNvPr id="9" name="テキスト ボックス 8">
            <a:extLst>
              <a:ext uri="{FF2B5EF4-FFF2-40B4-BE49-F238E27FC236}">
                <a16:creationId xmlns:a16="http://schemas.microsoft.com/office/drawing/2014/main" id="{C67C8357-3294-3613-0745-D2CE912DF38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前提整理</a:t>
            </a:r>
            <a:endParaRPr lang="ja-JP" altLang="en-US" sz="1100" dirty="0"/>
          </a:p>
        </p:txBody>
      </p:sp>
      <p:sp>
        <p:nvSpPr>
          <p:cNvPr id="2" name="テキスト ボックス 30">
            <a:extLst>
              <a:ext uri="{FF2B5EF4-FFF2-40B4-BE49-F238E27FC236}">
                <a16:creationId xmlns:a16="http://schemas.microsoft.com/office/drawing/2014/main" id="{625DEDEE-9135-FFFF-44E2-F7197F80CDF7}"/>
              </a:ext>
            </a:extLst>
          </p:cNvPr>
          <p:cNvSpPr txBox="1"/>
          <p:nvPr/>
        </p:nvSpPr>
        <p:spPr>
          <a:xfrm>
            <a:off x="375961" y="1954469"/>
            <a:ext cx="287355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dirty="0" err="1">
                <a:solidFill>
                  <a:schemeClr val="bg1"/>
                </a:solidFill>
                <a:latin typeface="メイリオ" panose="020B0604030504040204" pitchFamily="50" charset="-128"/>
                <a:ea typeface="メイリオ" panose="020B0604030504040204" pitchFamily="50" charset="-128"/>
              </a:rPr>
              <a:t>WinBe</a:t>
            </a:r>
            <a:endParaRPr lang="ja-JP" altLang="en-US" sz="1200" dirty="0">
              <a:solidFill>
                <a:schemeClr val="bg1"/>
              </a:solidFill>
            </a:endParaRPr>
          </a:p>
        </p:txBody>
      </p:sp>
      <p:sp>
        <p:nvSpPr>
          <p:cNvPr id="10" name="テキスト ボックス 64">
            <a:extLst>
              <a:ext uri="{FF2B5EF4-FFF2-40B4-BE49-F238E27FC236}">
                <a16:creationId xmlns:a16="http://schemas.microsoft.com/office/drawing/2014/main" id="{A5937AA2-FC16-8C37-A695-9A68187391CB}"/>
              </a:ext>
            </a:extLst>
          </p:cNvPr>
          <p:cNvSpPr txBox="1"/>
          <p:nvPr/>
        </p:nvSpPr>
        <p:spPr>
          <a:xfrm>
            <a:off x="1574379" y="237247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2" name="テキスト ボックス 66">
            <a:extLst>
              <a:ext uri="{FF2B5EF4-FFF2-40B4-BE49-F238E27FC236}">
                <a16:creationId xmlns:a16="http://schemas.microsoft.com/office/drawing/2014/main" id="{A95E8613-C846-605A-24F8-BA557475A44B}"/>
              </a:ext>
            </a:extLst>
          </p:cNvPr>
          <p:cNvSpPr txBox="1"/>
          <p:nvPr/>
        </p:nvSpPr>
        <p:spPr>
          <a:xfrm>
            <a:off x="1574379" y="5501321"/>
            <a:ext cx="1714770"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700" dirty="0">
                <a:solidFill>
                  <a:schemeClr val="bg1">
                    <a:lumMod val="65000"/>
                  </a:schemeClr>
                </a:solidFill>
                <a:latin typeface="メイリオ" panose="020B0604030504040204" pitchFamily="50" charset="-128"/>
                <a:ea typeface="メイリオ" panose="020B0604030504040204" pitchFamily="50" charset="-128"/>
              </a:rPr>
              <a:t>※</a:t>
            </a:r>
            <a:r>
              <a:rPr lang="ja-JP" altLang="en-US" sz="7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7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7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100" dirty="0">
              <a:solidFill>
                <a:schemeClr val="bg1">
                  <a:lumMod val="65000"/>
                </a:schemeClr>
              </a:solidFill>
            </a:endParaRPr>
          </a:p>
        </p:txBody>
      </p:sp>
      <p:sp>
        <p:nvSpPr>
          <p:cNvPr id="14" name="テキスト ボックス 68">
            <a:extLst>
              <a:ext uri="{FF2B5EF4-FFF2-40B4-BE49-F238E27FC236}">
                <a16:creationId xmlns:a16="http://schemas.microsoft.com/office/drawing/2014/main" id="{93C82A74-ABB8-1F3A-D319-D90A5B48CE90}"/>
              </a:ext>
            </a:extLst>
          </p:cNvPr>
          <p:cNvSpPr txBox="1"/>
          <p:nvPr/>
        </p:nvSpPr>
        <p:spPr>
          <a:xfrm>
            <a:off x="1574379" y="268850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6" name="テキスト ボックス 70">
            <a:extLst>
              <a:ext uri="{FF2B5EF4-FFF2-40B4-BE49-F238E27FC236}">
                <a16:creationId xmlns:a16="http://schemas.microsoft.com/office/drawing/2014/main" id="{E5007BD9-91A5-545F-4C22-E5A503FD981F}"/>
              </a:ext>
            </a:extLst>
          </p:cNvPr>
          <p:cNvSpPr txBox="1"/>
          <p:nvPr/>
        </p:nvSpPr>
        <p:spPr>
          <a:xfrm>
            <a:off x="1574379" y="300453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72">
            <a:extLst>
              <a:ext uri="{FF2B5EF4-FFF2-40B4-BE49-F238E27FC236}">
                <a16:creationId xmlns:a16="http://schemas.microsoft.com/office/drawing/2014/main" id="{3599119B-3AC4-55B3-D8C8-429721461919}"/>
              </a:ext>
            </a:extLst>
          </p:cNvPr>
          <p:cNvSpPr txBox="1"/>
          <p:nvPr/>
        </p:nvSpPr>
        <p:spPr>
          <a:xfrm>
            <a:off x="1574379" y="521671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74">
            <a:extLst>
              <a:ext uri="{FF2B5EF4-FFF2-40B4-BE49-F238E27FC236}">
                <a16:creationId xmlns:a16="http://schemas.microsoft.com/office/drawing/2014/main" id="{82AB0DE2-E132-D053-BF2B-F04507F4062B}"/>
              </a:ext>
            </a:extLst>
          </p:cNvPr>
          <p:cNvSpPr txBox="1"/>
          <p:nvPr/>
        </p:nvSpPr>
        <p:spPr>
          <a:xfrm>
            <a:off x="1574379" y="490068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20" name="テキスト ボックス 75">
            <a:extLst>
              <a:ext uri="{FF2B5EF4-FFF2-40B4-BE49-F238E27FC236}">
                <a16:creationId xmlns:a16="http://schemas.microsoft.com/office/drawing/2014/main" id="{352C9A2A-DB2E-396E-E276-FC683E0BF03F}"/>
              </a:ext>
            </a:extLst>
          </p:cNvPr>
          <p:cNvSpPr txBox="1"/>
          <p:nvPr/>
        </p:nvSpPr>
        <p:spPr>
          <a:xfrm>
            <a:off x="1574379" y="458466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1" name="テキスト ボックス 77">
            <a:extLst>
              <a:ext uri="{FF2B5EF4-FFF2-40B4-BE49-F238E27FC236}">
                <a16:creationId xmlns:a16="http://schemas.microsoft.com/office/drawing/2014/main" id="{AE3CD44B-4DD2-2E18-A25A-8A4C5DA87C6A}"/>
              </a:ext>
            </a:extLst>
          </p:cNvPr>
          <p:cNvSpPr txBox="1"/>
          <p:nvPr/>
        </p:nvSpPr>
        <p:spPr>
          <a:xfrm>
            <a:off x="1574379" y="332055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2" name="テキスト ボックス 79">
            <a:extLst>
              <a:ext uri="{FF2B5EF4-FFF2-40B4-BE49-F238E27FC236}">
                <a16:creationId xmlns:a16="http://schemas.microsoft.com/office/drawing/2014/main" id="{67DAF97A-2E3A-97FE-4728-780F8F56A5BF}"/>
              </a:ext>
            </a:extLst>
          </p:cNvPr>
          <p:cNvSpPr txBox="1"/>
          <p:nvPr/>
        </p:nvSpPr>
        <p:spPr>
          <a:xfrm>
            <a:off x="1574379" y="363658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81">
            <a:extLst>
              <a:ext uri="{FF2B5EF4-FFF2-40B4-BE49-F238E27FC236}">
                <a16:creationId xmlns:a16="http://schemas.microsoft.com/office/drawing/2014/main" id="{0134DD73-9C88-BE71-E26F-EF9B8222D717}"/>
              </a:ext>
            </a:extLst>
          </p:cNvPr>
          <p:cNvSpPr txBox="1"/>
          <p:nvPr/>
        </p:nvSpPr>
        <p:spPr>
          <a:xfrm>
            <a:off x="1574379" y="395260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4" name="テキスト ボックス 83">
            <a:extLst>
              <a:ext uri="{FF2B5EF4-FFF2-40B4-BE49-F238E27FC236}">
                <a16:creationId xmlns:a16="http://schemas.microsoft.com/office/drawing/2014/main" id="{1A11D974-A4C7-FBDF-C688-CD0BF549E8FA}"/>
              </a:ext>
            </a:extLst>
          </p:cNvPr>
          <p:cNvSpPr txBox="1"/>
          <p:nvPr/>
        </p:nvSpPr>
        <p:spPr>
          <a:xfrm>
            <a:off x="1574379" y="426863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6" name="テキスト ボックス 105">
            <a:extLst>
              <a:ext uri="{FF2B5EF4-FFF2-40B4-BE49-F238E27FC236}">
                <a16:creationId xmlns:a16="http://schemas.microsoft.com/office/drawing/2014/main" id="{50C5B32A-134D-505F-3E6E-CBB8F19D741D}"/>
              </a:ext>
            </a:extLst>
          </p:cNvPr>
          <p:cNvSpPr txBox="1"/>
          <p:nvPr/>
        </p:nvSpPr>
        <p:spPr>
          <a:xfrm>
            <a:off x="2401596" y="2374465"/>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7,920</a:t>
            </a:r>
          </a:p>
        </p:txBody>
      </p:sp>
      <p:sp>
        <p:nvSpPr>
          <p:cNvPr id="28" name="テキスト ボックス 107">
            <a:extLst>
              <a:ext uri="{FF2B5EF4-FFF2-40B4-BE49-F238E27FC236}">
                <a16:creationId xmlns:a16="http://schemas.microsoft.com/office/drawing/2014/main" id="{46CAFED8-D716-B4EE-727C-386A8BAB12B1}"/>
              </a:ext>
            </a:extLst>
          </p:cNvPr>
          <p:cNvSpPr txBox="1"/>
          <p:nvPr/>
        </p:nvSpPr>
        <p:spPr>
          <a:xfrm>
            <a:off x="2401596" y="2690490"/>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1,800</a:t>
            </a:r>
            <a:endParaRPr lang="en-US" altLang="ja-JP" sz="500" b="1" dirty="0">
              <a:latin typeface="メイリオ" panose="020B0604030504040204" pitchFamily="50" charset="-128"/>
              <a:ea typeface="メイリオ" panose="020B0604030504040204" pitchFamily="50" charset="-128"/>
            </a:endParaRPr>
          </a:p>
        </p:txBody>
      </p:sp>
      <p:sp>
        <p:nvSpPr>
          <p:cNvPr id="29" name="テキスト ボックス 109">
            <a:extLst>
              <a:ext uri="{FF2B5EF4-FFF2-40B4-BE49-F238E27FC236}">
                <a16:creationId xmlns:a16="http://schemas.microsoft.com/office/drawing/2014/main" id="{D305DFC4-D134-EFBF-C64C-D91487A235EF}"/>
              </a:ext>
            </a:extLst>
          </p:cNvPr>
          <p:cNvSpPr txBox="1"/>
          <p:nvPr/>
        </p:nvSpPr>
        <p:spPr>
          <a:xfrm>
            <a:off x="2401596" y="3006517"/>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0" name="テキスト ボックス 111">
            <a:extLst>
              <a:ext uri="{FF2B5EF4-FFF2-40B4-BE49-F238E27FC236}">
                <a16:creationId xmlns:a16="http://schemas.microsoft.com/office/drawing/2014/main" id="{661C00E9-F21C-8F3A-1308-3AADF4C210B7}"/>
              </a:ext>
            </a:extLst>
          </p:cNvPr>
          <p:cNvSpPr txBox="1"/>
          <p:nvPr/>
        </p:nvSpPr>
        <p:spPr>
          <a:xfrm>
            <a:off x="2401596" y="5218699"/>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32" name="テキスト ボックス 113">
            <a:extLst>
              <a:ext uri="{FF2B5EF4-FFF2-40B4-BE49-F238E27FC236}">
                <a16:creationId xmlns:a16="http://schemas.microsoft.com/office/drawing/2014/main" id="{6CCEF5C8-70BB-59ED-AAC2-7AA8E01FDDA7}"/>
              </a:ext>
            </a:extLst>
          </p:cNvPr>
          <p:cNvSpPr txBox="1"/>
          <p:nvPr/>
        </p:nvSpPr>
        <p:spPr>
          <a:xfrm>
            <a:off x="2401596" y="4902672"/>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3" name="テキスト ボックス 115">
            <a:extLst>
              <a:ext uri="{FF2B5EF4-FFF2-40B4-BE49-F238E27FC236}">
                <a16:creationId xmlns:a16="http://schemas.microsoft.com/office/drawing/2014/main" id="{D4B4DEF7-A75D-5968-E778-D0136F0CEB95}"/>
              </a:ext>
            </a:extLst>
          </p:cNvPr>
          <p:cNvSpPr txBox="1"/>
          <p:nvPr/>
        </p:nvSpPr>
        <p:spPr>
          <a:xfrm>
            <a:off x="2401596" y="4586647"/>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5" name="テキスト ボックス 117">
            <a:extLst>
              <a:ext uri="{FF2B5EF4-FFF2-40B4-BE49-F238E27FC236}">
                <a16:creationId xmlns:a16="http://schemas.microsoft.com/office/drawing/2014/main" id="{084410CC-B5EE-124A-E41A-675F695BEECF}"/>
              </a:ext>
            </a:extLst>
          </p:cNvPr>
          <p:cNvSpPr txBox="1"/>
          <p:nvPr/>
        </p:nvSpPr>
        <p:spPr>
          <a:xfrm>
            <a:off x="2401596" y="3322543"/>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7" name="テキスト ボックス 119">
            <a:extLst>
              <a:ext uri="{FF2B5EF4-FFF2-40B4-BE49-F238E27FC236}">
                <a16:creationId xmlns:a16="http://schemas.microsoft.com/office/drawing/2014/main" id="{8385DA17-0886-88A2-003E-9532C4E94282}"/>
              </a:ext>
            </a:extLst>
          </p:cNvPr>
          <p:cNvSpPr txBox="1"/>
          <p:nvPr/>
        </p:nvSpPr>
        <p:spPr>
          <a:xfrm>
            <a:off x="2401596" y="3634721"/>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r>
              <a:rPr lang="en-US" altLang="ja-JP" sz="800" b="1" dirty="0">
                <a:solidFill>
                  <a:srgbClr val="FF0000"/>
                </a:solidFill>
                <a:latin typeface="メイリオ" panose="020B0604030504040204" pitchFamily="50" charset="-128"/>
                <a:ea typeface="メイリオ" panose="020B0604030504040204" pitchFamily="50" charset="-128"/>
              </a:rPr>
              <a:t>,</a:t>
            </a:r>
            <a:r>
              <a:rPr lang="ja-JP" altLang="en-US" sz="800" b="1" dirty="0">
                <a:solidFill>
                  <a:srgbClr val="FF0000"/>
                </a:solidFill>
                <a:latin typeface="メイリオ" panose="020B0604030504040204" pitchFamily="50" charset="-128"/>
                <a:ea typeface="メイリオ" panose="020B0604030504040204" pitchFamily="50" charset="-128"/>
              </a:rPr>
              <a:t>資料</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38" name="テキスト ボックス 121">
            <a:extLst>
              <a:ext uri="{FF2B5EF4-FFF2-40B4-BE49-F238E27FC236}">
                <a16:creationId xmlns:a16="http://schemas.microsoft.com/office/drawing/2014/main" id="{87FCC267-DB64-0203-F073-68D1FD23F539}"/>
              </a:ext>
            </a:extLst>
          </p:cNvPr>
          <p:cNvSpPr txBox="1"/>
          <p:nvPr/>
        </p:nvSpPr>
        <p:spPr>
          <a:xfrm>
            <a:off x="2401596" y="3954595"/>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39" name="テキスト ボックス 123">
            <a:extLst>
              <a:ext uri="{FF2B5EF4-FFF2-40B4-BE49-F238E27FC236}">
                <a16:creationId xmlns:a16="http://schemas.microsoft.com/office/drawing/2014/main" id="{49A3598A-0FB7-4610-3772-72FAC75B51CC}"/>
              </a:ext>
            </a:extLst>
          </p:cNvPr>
          <p:cNvSpPr txBox="1"/>
          <p:nvPr/>
        </p:nvSpPr>
        <p:spPr>
          <a:xfrm>
            <a:off x="2401596" y="4266773"/>
            <a:ext cx="847924"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sp>
        <p:nvSpPr>
          <p:cNvPr id="47" name="テキスト ボックス 30">
            <a:extLst>
              <a:ext uri="{FF2B5EF4-FFF2-40B4-BE49-F238E27FC236}">
                <a16:creationId xmlns:a16="http://schemas.microsoft.com/office/drawing/2014/main" id="{90AE6E88-A861-00F0-2648-963EA468DF64}"/>
              </a:ext>
            </a:extLst>
          </p:cNvPr>
          <p:cNvSpPr txBox="1"/>
          <p:nvPr/>
        </p:nvSpPr>
        <p:spPr>
          <a:xfrm>
            <a:off x="3551171" y="1954469"/>
            <a:ext cx="287355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dirty="0">
                <a:solidFill>
                  <a:srgbClr val="FFFF00"/>
                </a:solidFill>
                <a:latin typeface="メイリオ" panose="020B0604030504040204" pitchFamily="50" charset="-128"/>
                <a:ea typeface="メイリオ" panose="020B0604030504040204" pitchFamily="50" charset="-128"/>
              </a:rPr>
              <a:t>KD</a:t>
            </a:r>
            <a:r>
              <a:rPr lang="ja-JP" altLang="en-US" sz="1200" dirty="0">
                <a:solidFill>
                  <a:srgbClr val="FFFF00"/>
                </a:solidFill>
                <a:latin typeface="メイリオ" panose="020B0604030504040204" pitchFamily="50" charset="-128"/>
                <a:ea typeface="メイリオ" panose="020B0604030504040204" pitchFamily="50" charset="-128"/>
              </a:rPr>
              <a:t>　</a:t>
            </a:r>
            <a:r>
              <a:rPr lang="en-US" altLang="ja-JP" sz="1200" dirty="0" err="1">
                <a:solidFill>
                  <a:schemeClr val="bg1"/>
                </a:solidFill>
                <a:latin typeface="メイリオ" panose="020B0604030504040204" pitchFamily="50" charset="-128"/>
                <a:ea typeface="メイリオ" panose="020B0604030504040204" pitchFamily="50" charset="-128"/>
              </a:rPr>
              <a:t>KidsDuo</a:t>
            </a:r>
            <a:endParaRPr lang="ja-JP" altLang="en-US" sz="1200" dirty="0">
              <a:solidFill>
                <a:schemeClr val="bg1"/>
              </a:solidFill>
            </a:endParaRPr>
          </a:p>
        </p:txBody>
      </p:sp>
      <p:sp>
        <p:nvSpPr>
          <p:cNvPr id="49" name="テキスト ボックス 30">
            <a:extLst>
              <a:ext uri="{FF2B5EF4-FFF2-40B4-BE49-F238E27FC236}">
                <a16:creationId xmlns:a16="http://schemas.microsoft.com/office/drawing/2014/main" id="{59BF36EE-8E39-45FF-CCA9-B6D4F41F0208}"/>
              </a:ext>
            </a:extLst>
          </p:cNvPr>
          <p:cNvSpPr txBox="1"/>
          <p:nvPr/>
        </p:nvSpPr>
        <p:spPr>
          <a:xfrm>
            <a:off x="6726381" y="1954468"/>
            <a:ext cx="287355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dirty="0">
                <a:solidFill>
                  <a:schemeClr val="bg1"/>
                </a:solidFill>
                <a:latin typeface="メイリオ" panose="020B0604030504040204" pitchFamily="50" charset="-128"/>
                <a:ea typeface="メイリオ" panose="020B0604030504040204" pitchFamily="50" charset="-128"/>
              </a:rPr>
              <a:t>HALLO</a:t>
            </a:r>
            <a:endParaRPr lang="ja-JP" altLang="en-US" sz="1200" dirty="0">
              <a:solidFill>
                <a:schemeClr val="bg1"/>
              </a:solidFill>
            </a:endParaRPr>
          </a:p>
        </p:txBody>
      </p:sp>
      <p:sp>
        <p:nvSpPr>
          <p:cNvPr id="52" name="テキスト ボックス 66">
            <a:extLst>
              <a:ext uri="{FF2B5EF4-FFF2-40B4-BE49-F238E27FC236}">
                <a16:creationId xmlns:a16="http://schemas.microsoft.com/office/drawing/2014/main" id="{7EFE2A1C-4838-FE68-7EDA-B392E9C5E957}"/>
              </a:ext>
            </a:extLst>
          </p:cNvPr>
          <p:cNvSpPr txBox="1"/>
          <p:nvPr/>
        </p:nvSpPr>
        <p:spPr>
          <a:xfrm>
            <a:off x="4872062" y="5507279"/>
            <a:ext cx="2183307"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700" dirty="0">
                <a:solidFill>
                  <a:schemeClr val="bg1">
                    <a:lumMod val="65000"/>
                  </a:schemeClr>
                </a:solidFill>
                <a:latin typeface="メイリオ" panose="020B0604030504040204" pitchFamily="50" charset="-128"/>
                <a:ea typeface="メイリオ" panose="020B0604030504040204" pitchFamily="50" charset="-128"/>
              </a:rPr>
              <a:t>※</a:t>
            </a:r>
            <a:r>
              <a:rPr lang="ja-JP" altLang="en-US" sz="7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7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7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100" dirty="0">
              <a:solidFill>
                <a:schemeClr val="bg1">
                  <a:lumMod val="65000"/>
                </a:schemeClr>
              </a:solidFill>
            </a:endParaRPr>
          </a:p>
        </p:txBody>
      </p:sp>
      <p:sp>
        <p:nvSpPr>
          <p:cNvPr id="63" name="テキスト ボックス 105">
            <a:extLst>
              <a:ext uri="{FF2B5EF4-FFF2-40B4-BE49-F238E27FC236}">
                <a16:creationId xmlns:a16="http://schemas.microsoft.com/office/drawing/2014/main" id="{BBC7EB91-9FF3-1888-3400-229131FB8304}"/>
              </a:ext>
            </a:extLst>
          </p:cNvPr>
          <p:cNvSpPr txBox="1"/>
          <p:nvPr/>
        </p:nvSpPr>
        <p:spPr>
          <a:xfrm>
            <a:off x="5662906" y="2389922"/>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32,000</a:t>
            </a:r>
          </a:p>
        </p:txBody>
      </p:sp>
      <p:sp>
        <p:nvSpPr>
          <p:cNvPr id="64" name="テキスト ボックス 107">
            <a:extLst>
              <a:ext uri="{FF2B5EF4-FFF2-40B4-BE49-F238E27FC236}">
                <a16:creationId xmlns:a16="http://schemas.microsoft.com/office/drawing/2014/main" id="{9AEA4453-C442-1FC2-5183-B950F274A5B6}"/>
              </a:ext>
            </a:extLst>
          </p:cNvPr>
          <p:cNvSpPr txBox="1"/>
          <p:nvPr/>
        </p:nvSpPr>
        <p:spPr>
          <a:xfrm>
            <a:off x="5662906" y="2705947"/>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7,000</a:t>
            </a:r>
            <a:endParaRPr lang="en-US" altLang="ja-JP" sz="500" b="1" dirty="0">
              <a:latin typeface="メイリオ" panose="020B0604030504040204" pitchFamily="50" charset="-128"/>
              <a:ea typeface="メイリオ" panose="020B0604030504040204" pitchFamily="50" charset="-128"/>
            </a:endParaRPr>
          </a:p>
        </p:txBody>
      </p:sp>
      <p:sp>
        <p:nvSpPr>
          <p:cNvPr id="65" name="テキスト ボックス 109">
            <a:extLst>
              <a:ext uri="{FF2B5EF4-FFF2-40B4-BE49-F238E27FC236}">
                <a16:creationId xmlns:a16="http://schemas.microsoft.com/office/drawing/2014/main" id="{DAD3CEBB-54FD-8AF6-8540-EC1E374EE0D5}"/>
              </a:ext>
            </a:extLst>
          </p:cNvPr>
          <p:cNvSpPr txBox="1"/>
          <p:nvPr/>
        </p:nvSpPr>
        <p:spPr>
          <a:xfrm>
            <a:off x="5662906" y="3021974"/>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66" name="テキスト ボックス 111">
            <a:extLst>
              <a:ext uri="{FF2B5EF4-FFF2-40B4-BE49-F238E27FC236}">
                <a16:creationId xmlns:a16="http://schemas.microsoft.com/office/drawing/2014/main" id="{F60F5C49-9A80-C35E-0C8D-BA9176C72696}"/>
              </a:ext>
            </a:extLst>
          </p:cNvPr>
          <p:cNvSpPr txBox="1"/>
          <p:nvPr/>
        </p:nvSpPr>
        <p:spPr>
          <a:xfrm>
            <a:off x="5662906" y="5234156"/>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67" name="テキスト ボックス 113">
            <a:extLst>
              <a:ext uri="{FF2B5EF4-FFF2-40B4-BE49-F238E27FC236}">
                <a16:creationId xmlns:a16="http://schemas.microsoft.com/office/drawing/2014/main" id="{96ABD069-89BE-FFE1-1BFF-CCA3236AFC67}"/>
              </a:ext>
            </a:extLst>
          </p:cNvPr>
          <p:cNvSpPr txBox="1"/>
          <p:nvPr/>
        </p:nvSpPr>
        <p:spPr>
          <a:xfrm>
            <a:off x="5662906" y="4918129"/>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68" name="テキスト ボックス 115">
            <a:extLst>
              <a:ext uri="{FF2B5EF4-FFF2-40B4-BE49-F238E27FC236}">
                <a16:creationId xmlns:a16="http://schemas.microsoft.com/office/drawing/2014/main" id="{AC7D49C4-D9DA-0522-1E91-8256850DB8C4}"/>
              </a:ext>
            </a:extLst>
          </p:cNvPr>
          <p:cNvSpPr txBox="1"/>
          <p:nvPr/>
        </p:nvSpPr>
        <p:spPr>
          <a:xfrm>
            <a:off x="5662906" y="4602104"/>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69" name="テキスト ボックス 117">
            <a:extLst>
              <a:ext uri="{FF2B5EF4-FFF2-40B4-BE49-F238E27FC236}">
                <a16:creationId xmlns:a16="http://schemas.microsoft.com/office/drawing/2014/main" id="{ADE35F26-BF32-2478-8312-7E9B8B0AE4FC}"/>
              </a:ext>
            </a:extLst>
          </p:cNvPr>
          <p:cNvSpPr txBox="1"/>
          <p:nvPr/>
        </p:nvSpPr>
        <p:spPr>
          <a:xfrm>
            <a:off x="5662906" y="3338000"/>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70" name="テキスト ボックス 119">
            <a:extLst>
              <a:ext uri="{FF2B5EF4-FFF2-40B4-BE49-F238E27FC236}">
                <a16:creationId xmlns:a16="http://schemas.microsoft.com/office/drawing/2014/main" id="{066902DB-AF5E-8E01-2421-AE5FF4920BD4}"/>
              </a:ext>
            </a:extLst>
          </p:cNvPr>
          <p:cNvSpPr txBox="1"/>
          <p:nvPr/>
        </p:nvSpPr>
        <p:spPr>
          <a:xfrm>
            <a:off x="5662906" y="3650178"/>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r>
              <a:rPr lang="en-US" altLang="ja-JP" sz="800" b="1" dirty="0">
                <a:solidFill>
                  <a:srgbClr val="FF0000"/>
                </a:solidFill>
                <a:latin typeface="メイリオ" panose="020B0604030504040204" pitchFamily="50" charset="-128"/>
                <a:ea typeface="メイリオ" panose="020B0604030504040204" pitchFamily="50" charset="-128"/>
              </a:rPr>
              <a:t>,</a:t>
            </a:r>
            <a:r>
              <a:rPr lang="ja-JP" altLang="en-US" sz="800" b="1" dirty="0">
                <a:solidFill>
                  <a:srgbClr val="FF0000"/>
                </a:solidFill>
                <a:latin typeface="メイリオ" panose="020B0604030504040204" pitchFamily="50" charset="-128"/>
                <a:ea typeface="メイリオ" panose="020B0604030504040204" pitchFamily="50" charset="-128"/>
              </a:rPr>
              <a:t>資料</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71" name="テキスト ボックス 121">
            <a:extLst>
              <a:ext uri="{FF2B5EF4-FFF2-40B4-BE49-F238E27FC236}">
                <a16:creationId xmlns:a16="http://schemas.microsoft.com/office/drawing/2014/main" id="{21BF6887-9C53-6D5E-3E11-F7E3CB2F7397}"/>
              </a:ext>
            </a:extLst>
          </p:cNvPr>
          <p:cNvSpPr txBox="1"/>
          <p:nvPr/>
        </p:nvSpPr>
        <p:spPr>
          <a:xfrm>
            <a:off x="5662906" y="3970052"/>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72" name="テキスト ボックス 123">
            <a:extLst>
              <a:ext uri="{FF2B5EF4-FFF2-40B4-BE49-F238E27FC236}">
                <a16:creationId xmlns:a16="http://schemas.microsoft.com/office/drawing/2014/main" id="{84E31CF3-21BB-E6BE-8843-BFB4698136FF}"/>
              </a:ext>
            </a:extLst>
          </p:cNvPr>
          <p:cNvSpPr txBox="1"/>
          <p:nvPr/>
        </p:nvSpPr>
        <p:spPr>
          <a:xfrm>
            <a:off x="5662906" y="4282230"/>
            <a:ext cx="833931"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sp>
        <p:nvSpPr>
          <p:cNvPr id="95" name="テキスト ボックス 64">
            <a:extLst>
              <a:ext uri="{FF2B5EF4-FFF2-40B4-BE49-F238E27FC236}">
                <a16:creationId xmlns:a16="http://schemas.microsoft.com/office/drawing/2014/main" id="{7F966AA3-8EB4-1C59-92D3-784ED3D6CBF8}"/>
              </a:ext>
            </a:extLst>
          </p:cNvPr>
          <p:cNvSpPr txBox="1"/>
          <p:nvPr/>
        </p:nvSpPr>
        <p:spPr>
          <a:xfrm>
            <a:off x="4872062" y="238992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97" name="テキスト ボックス 68">
            <a:extLst>
              <a:ext uri="{FF2B5EF4-FFF2-40B4-BE49-F238E27FC236}">
                <a16:creationId xmlns:a16="http://schemas.microsoft.com/office/drawing/2014/main" id="{04C69ECB-80B3-A431-095F-C55DECC49746}"/>
              </a:ext>
            </a:extLst>
          </p:cNvPr>
          <p:cNvSpPr txBox="1"/>
          <p:nvPr/>
        </p:nvSpPr>
        <p:spPr>
          <a:xfrm>
            <a:off x="4872062" y="270594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99" name="テキスト ボックス 70">
            <a:extLst>
              <a:ext uri="{FF2B5EF4-FFF2-40B4-BE49-F238E27FC236}">
                <a16:creationId xmlns:a16="http://schemas.microsoft.com/office/drawing/2014/main" id="{0C020A85-B293-C09E-B0AA-A98BE7268754}"/>
              </a:ext>
            </a:extLst>
          </p:cNvPr>
          <p:cNvSpPr txBox="1"/>
          <p:nvPr/>
        </p:nvSpPr>
        <p:spPr>
          <a:xfrm>
            <a:off x="4872062" y="302197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1" name="テキスト ボックス 72">
            <a:extLst>
              <a:ext uri="{FF2B5EF4-FFF2-40B4-BE49-F238E27FC236}">
                <a16:creationId xmlns:a16="http://schemas.microsoft.com/office/drawing/2014/main" id="{A91CDDC8-7C42-DE9E-4685-FEB7DED96577}"/>
              </a:ext>
            </a:extLst>
          </p:cNvPr>
          <p:cNvSpPr txBox="1"/>
          <p:nvPr/>
        </p:nvSpPr>
        <p:spPr>
          <a:xfrm>
            <a:off x="4872062" y="523415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3" name="テキスト ボックス 74">
            <a:extLst>
              <a:ext uri="{FF2B5EF4-FFF2-40B4-BE49-F238E27FC236}">
                <a16:creationId xmlns:a16="http://schemas.microsoft.com/office/drawing/2014/main" id="{28A85D65-7FF2-7C20-EEAD-5C0777623709}"/>
              </a:ext>
            </a:extLst>
          </p:cNvPr>
          <p:cNvSpPr txBox="1"/>
          <p:nvPr/>
        </p:nvSpPr>
        <p:spPr>
          <a:xfrm>
            <a:off x="4872062" y="491813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105" name="テキスト ボックス 75">
            <a:extLst>
              <a:ext uri="{FF2B5EF4-FFF2-40B4-BE49-F238E27FC236}">
                <a16:creationId xmlns:a16="http://schemas.microsoft.com/office/drawing/2014/main" id="{1C59C20A-C98B-0C34-E7BD-527393145373}"/>
              </a:ext>
            </a:extLst>
          </p:cNvPr>
          <p:cNvSpPr txBox="1"/>
          <p:nvPr/>
        </p:nvSpPr>
        <p:spPr>
          <a:xfrm>
            <a:off x="4872062" y="4602105"/>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7" name="テキスト ボックス 77">
            <a:extLst>
              <a:ext uri="{FF2B5EF4-FFF2-40B4-BE49-F238E27FC236}">
                <a16:creationId xmlns:a16="http://schemas.microsoft.com/office/drawing/2014/main" id="{E9461157-CAEA-223D-0AC4-7ED7759CF99C}"/>
              </a:ext>
            </a:extLst>
          </p:cNvPr>
          <p:cNvSpPr txBox="1"/>
          <p:nvPr/>
        </p:nvSpPr>
        <p:spPr>
          <a:xfrm>
            <a:off x="4872062" y="3338001"/>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09" name="テキスト ボックス 79">
            <a:extLst>
              <a:ext uri="{FF2B5EF4-FFF2-40B4-BE49-F238E27FC236}">
                <a16:creationId xmlns:a16="http://schemas.microsoft.com/office/drawing/2014/main" id="{73F8F5E5-1570-A24B-AD16-A624F4001870}"/>
              </a:ext>
            </a:extLst>
          </p:cNvPr>
          <p:cNvSpPr txBox="1"/>
          <p:nvPr/>
        </p:nvSpPr>
        <p:spPr>
          <a:xfrm>
            <a:off x="4872062" y="3654027"/>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11" name="テキスト ボックス 81">
            <a:extLst>
              <a:ext uri="{FF2B5EF4-FFF2-40B4-BE49-F238E27FC236}">
                <a16:creationId xmlns:a16="http://schemas.microsoft.com/office/drawing/2014/main" id="{3F4F69BF-8C42-99D6-F3FC-71FA584473B9}"/>
              </a:ext>
            </a:extLst>
          </p:cNvPr>
          <p:cNvSpPr txBox="1"/>
          <p:nvPr/>
        </p:nvSpPr>
        <p:spPr>
          <a:xfrm>
            <a:off x="4872062" y="3970053"/>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13" name="テキスト ボックス 83">
            <a:extLst>
              <a:ext uri="{FF2B5EF4-FFF2-40B4-BE49-F238E27FC236}">
                <a16:creationId xmlns:a16="http://schemas.microsoft.com/office/drawing/2014/main" id="{3FEA6236-82F8-EF7C-8281-33D0DBFE3232}"/>
              </a:ext>
            </a:extLst>
          </p:cNvPr>
          <p:cNvSpPr txBox="1"/>
          <p:nvPr/>
        </p:nvSpPr>
        <p:spPr>
          <a:xfrm>
            <a:off x="4872062" y="4286079"/>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17" name="テキスト ボックス 105">
            <a:extLst>
              <a:ext uri="{FF2B5EF4-FFF2-40B4-BE49-F238E27FC236}">
                <a16:creationId xmlns:a16="http://schemas.microsoft.com/office/drawing/2014/main" id="{B65F1F8D-A086-AD24-8C55-7A0D03E84EE8}"/>
              </a:ext>
            </a:extLst>
          </p:cNvPr>
          <p:cNvSpPr txBox="1"/>
          <p:nvPr/>
        </p:nvSpPr>
        <p:spPr>
          <a:xfrm>
            <a:off x="8787880" y="2389921"/>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14,100</a:t>
            </a:r>
          </a:p>
        </p:txBody>
      </p:sp>
      <p:sp>
        <p:nvSpPr>
          <p:cNvPr id="119" name="テキスト ボックス 107">
            <a:extLst>
              <a:ext uri="{FF2B5EF4-FFF2-40B4-BE49-F238E27FC236}">
                <a16:creationId xmlns:a16="http://schemas.microsoft.com/office/drawing/2014/main" id="{845094A1-CC12-3591-A540-D8C4144418F0}"/>
              </a:ext>
            </a:extLst>
          </p:cNvPr>
          <p:cNvSpPr txBox="1"/>
          <p:nvPr/>
        </p:nvSpPr>
        <p:spPr>
          <a:xfrm>
            <a:off x="8787880" y="2705946"/>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1,500</a:t>
            </a:r>
            <a:endParaRPr lang="en-US" altLang="ja-JP" sz="500" b="1" dirty="0">
              <a:latin typeface="メイリオ" panose="020B0604030504040204" pitchFamily="50" charset="-128"/>
              <a:ea typeface="メイリオ" panose="020B0604030504040204" pitchFamily="50" charset="-128"/>
            </a:endParaRPr>
          </a:p>
        </p:txBody>
      </p:sp>
      <p:sp>
        <p:nvSpPr>
          <p:cNvPr id="121" name="テキスト ボックス 109">
            <a:extLst>
              <a:ext uri="{FF2B5EF4-FFF2-40B4-BE49-F238E27FC236}">
                <a16:creationId xmlns:a16="http://schemas.microsoft.com/office/drawing/2014/main" id="{95D48856-AB9E-E319-46CB-CB3C307B9348}"/>
              </a:ext>
            </a:extLst>
          </p:cNvPr>
          <p:cNvSpPr txBox="1"/>
          <p:nvPr/>
        </p:nvSpPr>
        <p:spPr>
          <a:xfrm>
            <a:off x="8787880" y="3021973"/>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3" name="テキスト ボックス 111">
            <a:extLst>
              <a:ext uri="{FF2B5EF4-FFF2-40B4-BE49-F238E27FC236}">
                <a16:creationId xmlns:a16="http://schemas.microsoft.com/office/drawing/2014/main" id="{2313C4CC-FF86-3F74-B727-EBCCB00FEBEF}"/>
              </a:ext>
            </a:extLst>
          </p:cNvPr>
          <p:cNvSpPr txBox="1"/>
          <p:nvPr/>
        </p:nvSpPr>
        <p:spPr>
          <a:xfrm>
            <a:off x="8787880" y="5234155"/>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125" name="テキスト ボックス 113">
            <a:extLst>
              <a:ext uri="{FF2B5EF4-FFF2-40B4-BE49-F238E27FC236}">
                <a16:creationId xmlns:a16="http://schemas.microsoft.com/office/drawing/2014/main" id="{72B7E1F4-D9B8-09A1-9252-77AFA57334FE}"/>
              </a:ext>
            </a:extLst>
          </p:cNvPr>
          <p:cNvSpPr txBox="1"/>
          <p:nvPr/>
        </p:nvSpPr>
        <p:spPr>
          <a:xfrm>
            <a:off x="8787880" y="4918128"/>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7" name="テキスト ボックス 115">
            <a:extLst>
              <a:ext uri="{FF2B5EF4-FFF2-40B4-BE49-F238E27FC236}">
                <a16:creationId xmlns:a16="http://schemas.microsoft.com/office/drawing/2014/main" id="{E8F9F0FE-9130-75CF-DB29-2D3606CB9DD1}"/>
              </a:ext>
            </a:extLst>
          </p:cNvPr>
          <p:cNvSpPr txBox="1"/>
          <p:nvPr/>
        </p:nvSpPr>
        <p:spPr>
          <a:xfrm>
            <a:off x="8787880" y="4602103"/>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9" name="テキスト ボックス 117">
            <a:extLst>
              <a:ext uri="{FF2B5EF4-FFF2-40B4-BE49-F238E27FC236}">
                <a16:creationId xmlns:a16="http://schemas.microsoft.com/office/drawing/2014/main" id="{50CB7075-0F83-49BB-9C7D-96AF31076EF2}"/>
              </a:ext>
            </a:extLst>
          </p:cNvPr>
          <p:cNvSpPr txBox="1"/>
          <p:nvPr/>
        </p:nvSpPr>
        <p:spPr>
          <a:xfrm>
            <a:off x="8787880" y="3337999"/>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31" name="テキスト ボックス 119">
            <a:extLst>
              <a:ext uri="{FF2B5EF4-FFF2-40B4-BE49-F238E27FC236}">
                <a16:creationId xmlns:a16="http://schemas.microsoft.com/office/drawing/2014/main" id="{89CF73A4-164E-1E66-423E-9514261CD4E1}"/>
              </a:ext>
            </a:extLst>
          </p:cNvPr>
          <p:cNvSpPr txBox="1"/>
          <p:nvPr/>
        </p:nvSpPr>
        <p:spPr>
          <a:xfrm>
            <a:off x="8787880" y="3650177"/>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133" name="テキスト ボックス 121">
            <a:extLst>
              <a:ext uri="{FF2B5EF4-FFF2-40B4-BE49-F238E27FC236}">
                <a16:creationId xmlns:a16="http://schemas.microsoft.com/office/drawing/2014/main" id="{9C6AE0FA-65B3-9E24-73E8-8E0D439181AC}"/>
              </a:ext>
            </a:extLst>
          </p:cNvPr>
          <p:cNvSpPr txBox="1"/>
          <p:nvPr/>
        </p:nvSpPr>
        <p:spPr>
          <a:xfrm>
            <a:off x="8787880" y="3970051"/>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135" name="テキスト ボックス 123">
            <a:extLst>
              <a:ext uri="{FF2B5EF4-FFF2-40B4-BE49-F238E27FC236}">
                <a16:creationId xmlns:a16="http://schemas.microsoft.com/office/drawing/2014/main" id="{AC73ABE8-66AB-9DEA-7D4A-B29886AF5AA1}"/>
              </a:ext>
            </a:extLst>
          </p:cNvPr>
          <p:cNvSpPr txBox="1"/>
          <p:nvPr/>
        </p:nvSpPr>
        <p:spPr>
          <a:xfrm>
            <a:off x="8787880" y="4282229"/>
            <a:ext cx="809405"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sp>
        <p:nvSpPr>
          <p:cNvPr id="137" name="テキスト ボックス 64">
            <a:extLst>
              <a:ext uri="{FF2B5EF4-FFF2-40B4-BE49-F238E27FC236}">
                <a16:creationId xmlns:a16="http://schemas.microsoft.com/office/drawing/2014/main" id="{A061C4A1-EF30-FBBC-8A5C-AD0FA7D3A8B3}"/>
              </a:ext>
            </a:extLst>
          </p:cNvPr>
          <p:cNvSpPr txBox="1"/>
          <p:nvPr/>
        </p:nvSpPr>
        <p:spPr>
          <a:xfrm>
            <a:off x="7984773" y="2389922"/>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39" name="テキスト ボックス 68">
            <a:extLst>
              <a:ext uri="{FF2B5EF4-FFF2-40B4-BE49-F238E27FC236}">
                <a16:creationId xmlns:a16="http://schemas.microsoft.com/office/drawing/2014/main" id="{F79C0733-901C-2A9A-67BB-BA7A2B511297}"/>
              </a:ext>
            </a:extLst>
          </p:cNvPr>
          <p:cNvSpPr txBox="1"/>
          <p:nvPr/>
        </p:nvSpPr>
        <p:spPr>
          <a:xfrm>
            <a:off x="7984773" y="2705948"/>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41" name="テキスト ボックス 70">
            <a:extLst>
              <a:ext uri="{FF2B5EF4-FFF2-40B4-BE49-F238E27FC236}">
                <a16:creationId xmlns:a16="http://schemas.microsoft.com/office/drawing/2014/main" id="{0BFDD563-3C77-0DC0-ECEF-B891C7C36B52}"/>
              </a:ext>
            </a:extLst>
          </p:cNvPr>
          <p:cNvSpPr txBox="1"/>
          <p:nvPr/>
        </p:nvSpPr>
        <p:spPr>
          <a:xfrm>
            <a:off x="7984773" y="3021974"/>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43" name="テキスト ボックス 72">
            <a:extLst>
              <a:ext uri="{FF2B5EF4-FFF2-40B4-BE49-F238E27FC236}">
                <a16:creationId xmlns:a16="http://schemas.microsoft.com/office/drawing/2014/main" id="{66E09D99-9B69-1FAC-52A3-0B9BCD476D5E}"/>
              </a:ext>
            </a:extLst>
          </p:cNvPr>
          <p:cNvSpPr txBox="1"/>
          <p:nvPr/>
        </p:nvSpPr>
        <p:spPr>
          <a:xfrm>
            <a:off x="7984773" y="5234156"/>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45" name="テキスト ボックス 74">
            <a:extLst>
              <a:ext uri="{FF2B5EF4-FFF2-40B4-BE49-F238E27FC236}">
                <a16:creationId xmlns:a16="http://schemas.microsoft.com/office/drawing/2014/main" id="{790778AA-D3FA-40F1-849A-D44D1AAF799C}"/>
              </a:ext>
            </a:extLst>
          </p:cNvPr>
          <p:cNvSpPr txBox="1"/>
          <p:nvPr/>
        </p:nvSpPr>
        <p:spPr>
          <a:xfrm>
            <a:off x="7984773" y="4918130"/>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147" name="テキスト ボックス 75">
            <a:extLst>
              <a:ext uri="{FF2B5EF4-FFF2-40B4-BE49-F238E27FC236}">
                <a16:creationId xmlns:a16="http://schemas.microsoft.com/office/drawing/2014/main" id="{0874A196-944C-C3B3-B323-98FC401B9176}"/>
              </a:ext>
            </a:extLst>
          </p:cNvPr>
          <p:cNvSpPr txBox="1"/>
          <p:nvPr/>
        </p:nvSpPr>
        <p:spPr>
          <a:xfrm>
            <a:off x="7984773" y="4602104"/>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49" name="テキスト ボックス 77">
            <a:extLst>
              <a:ext uri="{FF2B5EF4-FFF2-40B4-BE49-F238E27FC236}">
                <a16:creationId xmlns:a16="http://schemas.microsoft.com/office/drawing/2014/main" id="{347B99BD-456F-6046-02C5-E4954133F755}"/>
              </a:ext>
            </a:extLst>
          </p:cNvPr>
          <p:cNvSpPr txBox="1"/>
          <p:nvPr/>
        </p:nvSpPr>
        <p:spPr>
          <a:xfrm>
            <a:off x="7984773" y="3338000"/>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51" name="テキスト ボックス 79">
            <a:extLst>
              <a:ext uri="{FF2B5EF4-FFF2-40B4-BE49-F238E27FC236}">
                <a16:creationId xmlns:a16="http://schemas.microsoft.com/office/drawing/2014/main" id="{A79CCBE3-E8F8-8A8F-A573-B8E6254531AD}"/>
              </a:ext>
            </a:extLst>
          </p:cNvPr>
          <p:cNvSpPr txBox="1"/>
          <p:nvPr/>
        </p:nvSpPr>
        <p:spPr>
          <a:xfrm>
            <a:off x="7984773" y="3654026"/>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53" name="テキスト ボックス 81">
            <a:extLst>
              <a:ext uri="{FF2B5EF4-FFF2-40B4-BE49-F238E27FC236}">
                <a16:creationId xmlns:a16="http://schemas.microsoft.com/office/drawing/2014/main" id="{43D00727-437E-D08D-F0A6-0FC0E65EB017}"/>
              </a:ext>
            </a:extLst>
          </p:cNvPr>
          <p:cNvSpPr txBox="1"/>
          <p:nvPr/>
        </p:nvSpPr>
        <p:spPr>
          <a:xfrm>
            <a:off x="7984773" y="3970052"/>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55" name="テキスト ボックス 83">
            <a:extLst>
              <a:ext uri="{FF2B5EF4-FFF2-40B4-BE49-F238E27FC236}">
                <a16:creationId xmlns:a16="http://schemas.microsoft.com/office/drawing/2014/main" id="{2C969BF3-5B6B-5CF9-5357-F478BF0CA325}"/>
              </a:ext>
            </a:extLst>
          </p:cNvPr>
          <p:cNvSpPr txBox="1"/>
          <p:nvPr/>
        </p:nvSpPr>
        <p:spPr>
          <a:xfrm>
            <a:off x="7984773" y="4286078"/>
            <a:ext cx="809405"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pic>
        <p:nvPicPr>
          <p:cNvPr id="13" name="図 12">
            <a:extLst>
              <a:ext uri="{FF2B5EF4-FFF2-40B4-BE49-F238E27FC236}">
                <a16:creationId xmlns:a16="http://schemas.microsoft.com/office/drawing/2014/main" id="{DF329F05-6869-79D9-90F7-B5B306627861}"/>
              </a:ext>
            </a:extLst>
          </p:cNvPr>
          <p:cNvPicPr>
            <a:picLocks noChangeAspect="1"/>
          </p:cNvPicPr>
          <p:nvPr/>
        </p:nvPicPr>
        <p:blipFill>
          <a:blip r:embed="rId2"/>
          <a:stretch>
            <a:fillRect/>
          </a:stretch>
        </p:blipFill>
        <p:spPr>
          <a:xfrm>
            <a:off x="254774" y="2366339"/>
            <a:ext cx="1301793" cy="2644055"/>
          </a:xfrm>
          <a:prstGeom prst="rect">
            <a:avLst/>
          </a:prstGeom>
        </p:spPr>
      </p:pic>
      <p:pic>
        <p:nvPicPr>
          <p:cNvPr id="27" name="図 26">
            <a:extLst>
              <a:ext uri="{FF2B5EF4-FFF2-40B4-BE49-F238E27FC236}">
                <a16:creationId xmlns:a16="http://schemas.microsoft.com/office/drawing/2014/main" id="{2BDE1667-8135-8FD7-2ABC-2D88FA54E0BD}"/>
              </a:ext>
            </a:extLst>
          </p:cNvPr>
          <p:cNvPicPr>
            <a:picLocks noChangeAspect="1"/>
          </p:cNvPicPr>
          <p:nvPr/>
        </p:nvPicPr>
        <p:blipFill>
          <a:blip r:embed="rId3"/>
          <a:stretch>
            <a:fillRect/>
          </a:stretch>
        </p:blipFill>
        <p:spPr>
          <a:xfrm>
            <a:off x="3458121" y="2366339"/>
            <a:ext cx="1381443" cy="2640478"/>
          </a:xfrm>
          <a:prstGeom prst="rect">
            <a:avLst/>
          </a:prstGeom>
        </p:spPr>
      </p:pic>
      <p:sp>
        <p:nvSpPr>
          <p:cNvPr id="34" name="テキスト ボックス 66">
            <a:extLst>
              <a:ext uri="{FF2B5EF4-FFF2-40B4-BE49-F238E27FC236}">
                <a16:creationId xmlns:a16="http://schemas.microsoft.com/office/drawing/2014/main" id="{37CB3C99-4335-D0A8-CF5E-ED423A5B25F2}"/>
              </a:ext>
            </a:extLst>
          </p:cNvPr>
          <p:cNvSpPr txBox="1"/>
          <p:nvPr/>
        </p:nvSpPr>
        <p:spPr>
          <a:xfrm>
            <a:off x="7837330" y="5501321"/>
            <a:ext cx="2183307"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700" dirty="0">
                <a:solidFill>
                  <a:schemeClr val="bg1">
                    <a:lumMod val="65000"/>
                  </a:schemeClr>
                </a:solidFill>
                <a:latin typeface="メイリオ" panose="020B0604030504040204" pitchFamily="50" charset="-128"/>
                <a:ea typeface="メイリオ" panose="020B0604030504040204" pitchFamily="50" charset="-128"/>
              </a:rPr>
              <a:t>※</a:t>
            </a:r>
            <a:r>
              <a:rPr lang="ja-JP" altLang="en-US" sz="7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7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7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100" dirty="0">
              <a:solidFill>
                <a:schemeClr val="bg1">
                  <a:lumMod val="65000"/>
                </a:schemeClr>
              </a:solidFill>
            </a:endParaRPr>
          </a:p>
        </p:txBody>
      </p:sp>
      <p:pic>
        <p:nvPicPr>
          <p:cNvPr id="42" name="図 41">
            <a:extLst>
              <a:ext uri="{FF2B5EF4-FFF2-40B4-BE49-F238E27FC236}">
                <a16:creationId xmlns:a16="http://schemas.microsoft.com/office/drawing/2014/main" id="{FFA39F74-26F5-ABF1-280F-B86D1373D2E4}"/>
              </a:ext>
            </a:extLst>
          </p:cNvPr>
          <p:cNvPicPr>
            <a:picLocks noChangeAspect="1"/>
          </p:cNvPicPr>
          <p:nvPr/>
        </p:nvPicPr>
        <p:blipFill>
          <a:blip r:embed="rId4"/>
          <a:stretch>
            <a:fillRect/>
          </a:stretch>
        </p:blipFill>
        <p:spPr>
          <a:xfrm>
            <a:off x="6670717" y="2369775"/>
            <a:ext cx="1301793" cy="2644055"/>
          </a:xfrm>
          <a:prstGeom prst="rect">
            <a:avLst/>
          </a:prstGeom>
        </p:spPr>
      </p:pic>
    </p:spTree>
    <p:extLst>
      <p:ext uri="{BB962C8B-B14F-4D97-AF65-F5344CB8AC3E}">
        <p14:creationId xmlns:p14="http://schemas.microsoft.com/office/powerpoint/2010/main" val="1584189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B2410E48-B517-080B-7113-BD6E684E10EF}"/>
              </a:ext>
            </a:extLst>
          </p:cNvPr>
          <p:cNvSpPr txBox="1"/>
          <p:nvPr/>
        </p:nvSpPr>
        <p:spPr>
          <a:xfrm>
            <a:off x="340483" y="1841871"/>
            <a:ext cx="7512113" cy="3970318"/>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①LINEの１アカウントとしてのコンサル運用</a:t>
            </a:r>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r>
              <a:rPr lang="ja-JP" altLang="ja-JP" b="1" dirty="0">
                <a:latin typeface="メイリオ" panose="020B0604030504040204" pitchFamily="50" charset="-128"/>
                <a:ea typeface="メイリオ" panose="020B0604030504040204" pitchFamily="50" charset="-128"/>
              </a:rPr>
              <a:t>②IKSのLINEアカウント新規作成＋</a:t>
            </a:r>
            <a:r>
              <a:rPr lang="ja-JP" altLang="en-US" b="1" dirty="0">
                <a:latin typeface="メイリオ" panose="020B0604030504040204" pitchFamily="50" charset="-128"/>
                <a:ea typeface="メイリオ" panose="020B0604030504040204" pitchFamily="50" charset="-128"/>
              </a:rPr>
              <a:t>コンサル</a:t>
            </a:r>
            <a:r>
              <a:rPr lang="ja-JP" altLang="ja-JP" b="1" dirty="0">
                <a:latin typeface="メイリオ" panose="020B0604030504040204" pitchFamily="50" charset="-128"/>
                <a:ea typeface="メイリオ" panose="020B0604030504040204" pitchFamily="50" charset="-128"/>
              </a:rPr>
              <a:t>運用</a:t>
            </a:r>
            <a:br>
              <a:rPr lang="ja-JP" altLang="ja-JP" b="1" dirty="0">
                <a:latin typeface="メイリオ" panose="020B0604030504040204" pitchFamily="50" charset="-128"/>
                <a:ea typeface="メイリオ" panose="020B0604030504040204" pitchFamily="50" charset="-128"/>
              </a:rPr>
            </a:br>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r>
              <a:rPr lang="ja-JP" altLang="ja-JP" b="1" dirty="0">
                <a:latin typeface="メイリオ" panose="020B0604030504040204" pitchFamily="50" charset="-128"/>
                <a:ea typeface="メイリオ" panose="020B0604030504040204" pitchFamily="50" charset="-128"/>
              </a:rPr>
              <a:t>③IKSのLINEアカウント新規作成＋成果報酬型運用</a:t>
            </a:r>
            <a:endParaRPr lang="ja-JP" altLang="en-US" b="1" dirty="0">
              <a:latin typeface="メイリオ" panose="020B0604030504040204" pitchFamily="50" charset="-128"/>
              <a:ea typeface="メイリオ" panose="020B0604030504040204" pitchFamily="50" charset="-128"/>
            </a:endParaRPr>
          </a:p>
          <a:p>
            <a:endParaRPr lang="ja-JP" altLang="en-US"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6CC9B247-2052-29F5-CA2E-286E49BBB1DB}"/>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4C9665EB-FB03-DA2A-7E78-5BAFF0E837A6}"/>
              </a:ext>
            </a:extLst>
          </p:cNvPr>
          <p:cNvSpPr/>
          <p:nvPr/>
        </p:nvSpPr>
        <p:spPr>
          <a:xfrm>
            <a:off x="321116" y="3626983"/>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CCEC3787-15DF-AC2B-A964-B65BA35A7307}"/>
              </a:ext>
            </a:extLst>
          </p:cNvPr>
          <p:cNvSpPr/>
          <p:nvPr/>
        </p:nvSpPr>
        <p:spPr>
          <a:xfrm>
            <a:off x="340483" y="5305966"/>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1DC1B5E-0F61-B5E1-6CAB-05C6B1AFC55F}"/>
              </a:ext>
            </a:extLst>
          </p:cNvPr>
          <p:cNvSpPr/>
          <p:nvPr/>
        </p:nvSpPr>
        <p:spPr>
          <a:xfrm>
            <a:off x="486744" y="2341805"/>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B4E5012D-845B-D3BC-35B9-585F5A4A8C3D}"/>
              </a:ext>
            </a:extLst>
          </p:cNvPr>
          <p:cNvSpPr/>
          <p:nvPr/>
        </p:nvSpPr>
        <p:spPr>
          <a:xfrm>
            <a:off x="1683097" y="2341805"/>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latin typeface="メイリオ" panose="020B0604030504040204" pitchFamily="50" charset="-128"/>
                <a:ea typeface="メイリオ" panose="020B0604030504040204" pitchFamily="50" charset="-128"/>
              </a:rPr>
              <a:t>40</a:t>
            </a:r>
            <a:r>
              <a:rPr kumimoji="1" lang="ja-JP" altLang="en-US" sz="2000" b="1" dirty="0">
                <a:solidFill>
                  <a:schemeClr val="tx1"/>
                </a:solidFill>
                <a:latin typeface="メイリオ" panose="020B0604030504040204" pitchFamily="50" charset="-128"/>
                <a:ea typeface="メイリオ" panose="020B0604030504040204" pitchFamily="50" charset="-128"/>
              </a:rPr>
              <a:t>万円 </a:t>
            </a:r>
            <a:r>
              <a:rPr kumimoji="1" lang="en-US" altLang="ja-JP" sz="2000" b="1" dirty="0">
                <a:solidFill>
                  <a:schemeClr val="tx1"/>
                </a:solidFill>
                <a:latin typeface="メイリオ" panose="020B0604030504040204" pitchFamily="50" charset="-128"/>
                <a:ea typeface="メイリオ" panose="020B0604030504040204" pitchFamily="50" charset="-128"/>
              </a:rPr>
              <a:t>/ </a:t>
            </a:r>
            <a:r>
              <a:rPr kumimoji="1" lang="ja-JP" altLang="en-US" sz="2000" b="1" dirty="0">
                <a:solidFill>
                  <a:schemeClr val="tx1"/>
                </a:solidFill>
                <a:latin typeface="メイリオ" panose="020B0604030504040204" pitchFamily="50" charset="-128"/>
                <a:ea typeface="メイリオ" panose="020B0604030504040204" pitchFamily="50" charset="-128"/>
              </a:rPr>
              <a:t>構築</a:t>
            </a:r>
            <a:endParaRPr kumimoji="1"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ヶ月</a:t>
            </a:r>
            <a:endParaRPr kumimoji="1"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5A484504-E775-1074-A1D9-CCB63CE0A523}"/>
              </a:ext>
            </a:extLst>
          </p:cNvPr>
          <p:cNvSpPr/>
          <p:nvPr/>
        </p:nvSpPr>
        <p:spPr>
          <a:xfrm>
            <a:off x="4784940" y="2341805"/>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20" name="四角形: 角を丸くする 19">
            <a:extLst>
              <a:ext uri="{FF2B5EF4-FFF2-40B4-BE49-F238E27FC236}">
                <a16:creationId xmlns:a16="http://schemas.microsoft.com/office/drawing/2014/main" id="{9C0CD233-95B1-5005-15B8-F05697580E16}"/>
              </a:ext>
            </a:extLst>
          </p:cNvPr>
          <p:cNvSpPr/>
          <p:nvPr/>
        </p:nvSpPr>
        <p:spPr>
          <a:xfrm>
            <a:off x="5981293" y="2341805"/>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60</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6</a:t>
            </a:r>
            <a:r>
              <a:rPr lang="ja-JP" altLang="en-US" sz="1200" b="1" dirty="0">
                <a:solidFill>
                  <a:schemeClr val="tx1"/>
                </a:solidFill>
                <a:latin typeface="メイリオ" panose="020B0604030504040204" pitchFamily="50" charset="-128"/>
                <a:ea typeface="メイリオ" panose="020B0604030504040204" pitchFamily="50" charset="-128"/>
              </a:rPr>
              <a:t>ブランド運用</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運用</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企画・</a:t>
            </a:r>
            <a:r>
              <a:rPr lang="en-US" altLang="ja-JP" sz="1200" b="1" dirty="0">
                <a:solidFill>
                  <a:schemeClr val="tx1"/>
                </a:solidFill>
                <a:latin typeface="メイリオ" panose="020B0604030504040204" pitchFamily="50" charset="-128"/>
                <a:ea typeface="メイリオ" panose="020B0604030504040204" pitchFamily="50" charset="-128"/>
              </a:rPr>
              <a:t>CR</a:t>
            </a:r>
            <a:r>
              <a:rPr lang="ja-JP" altLang="en-US" sz="1200" b="1" dirty="0">
                <a:solidFill>
                  <a:schemeClr val="tx1"/>
                </a:solidFill>
                <a:latin typeface="メイリオ" panose="020B0604030504040204" pitchFamily="50" charset="-128"/>
                <a:ea typeface="メイリオ" panose="020B0604030504040204" pitchFamily="50" charset="-128"/>
              </a:rPr>
              <a:t>を含む</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22" name="四角形: 角を丸くする 21">
            <a:extLst>
              <a:ext uri="{FF2B5EF4-FFF2-40B4-BE49-F238E27FC236}">
                <a16:creationId xmlns:a16="http://schemas.microsoft.com/office/drawing/2014/main" id="{4B93A070-CD82-A6D2-5F30-2C9EC16AA230}"/>
              </a:ext>
            </a:extLst>
          </p:cNvPr>
          <p:cNvSpPr/>
          <p:nvPr/>
        </p:nvSpPr>
        <p:spPr>
          <a:xfrm>
            <a:off x="486744" y="3977540"/>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24" name="四角形: 角を丸くする 23">
            <a:extLst>
              <a:ext uri="{FF2B5EF4-FFF2-40B4-BE49-F238E27FC236}">
                <a16:creationId xmlns:a16="http://schemas.microsoft.com/office/drawing/2014/main" id="{10D10ED7-43B7-587E-0F41-802AEFE71FD5}"/>
              </a:ext>
            </a:extLst>
          </p:cNvPr>
          <p:cNvSpPr/>
          <p:nvPr/>
        </p:nvSpPr>
        <p:spPr>
          <a:xfrm>
            <a:off x="1683097" y="3977540"/>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15</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ja-JP" altLang="en-US" sz="2000" b="1" dirty="0">
                <a:solidFill>
                  <a:schemeClr val="tx1"/>
                </a:solidFill>
                <a:latin typeface="メイリオ" panose="020B0604030504040204" pitchFamily="50" charset="-128"/>
                <a:ea typeface="メイリオ" panose="020B0604030504040204" pitchFamily="50" charset="-128"/>
              </a:rPr>
              <a:t>構築</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ヶ月</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26" name="四角形: 角を丸くする 25">
            <a:extLst>
              <a:ext uri="{FF2B5EF4-FFF2-40B4-BE49-F238E27FC236}">
                <a16:creationId xmlns:a16="http://schemas.microsoft.com/office/drawing/2014/main" id="{06E5F97E-FAD8-CF9D-0378-FB2A981D908A}"/>
              </a:ext>
            </a:extLst>
          </p:cNvPr>
          <p:cNvSpPr/>
          <p:nvPr/>
        </p:nvSpPr>
        <p:spPr>
          <a:xfrm>
            <a:off x="4784940" y="3977540"/>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28" name="四角形: 角を丸くする 27">
            <a:extLst>
              <a:ext uri="{FF2B5EF4-FFF2-40B4-BE49-F238E27FC236}">
                <a16:creationId xmlns:a16="http://schemas.microsoft.com/office/drawing/2014/main" id="{9D02A44A-B86E-5C58-6709-0C120A326474}"/>
              </a:ext>
            </a:extLst>
          </p:cNvPr>
          <p:cNvSpPr/>
          <p:nvPr/>
        </p:nvSpPr>
        <p:spPr>
          <a:xfrm>
            <a:off x="5981293" y="3977540"/>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20</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ブランド運用</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運用</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企画・</a:t>
            </a:r>
            <a:r>
              <a:rPr lang="en-US" altLang="ja-JP" sz="1200" b="1" dirty="0">
                <a:solidFill>
                  <a:schemeClr val="tx1"/>
                </a:solidFill>
                <a:latin typeface="メイリオ" panose="020B0604030504040204" pitchFamily="50" charset="-128"/>
                <a:ea typeface="メイリオ" panose="020B0604030504040204" pitchFamily="50" charset="-128"/>
              </a:rPr>
              <a:t>CR</a:t>
            </a:r>
            <a:r>
              <a:rPr lang="ja-JP" altLang="en-US" sz="1200" b="1" dirty="0">
                <a:solidFill>
                  <a:schemeClr val="tx1"/>
                </a:solidFill>
                <a:latin typeface="メイリオ" panose="020B0604030504040204" pitchFamily="50" charset="-128"/>
                <a:ea typeface="メイリオ" panose="020B0604030504040204" pitchFamily="50" charset="-128"/>
              </a:rPr>
              <a:t>を含む</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30" name="四角形: 角を丸くする 29">
            <a:extLst>
              <a:ext uri="{FF2B5EF4-FFF2-40B4-BE49-F238E27FC236}">
                <a16:creationId xmlns:a16="http://schemas.microsoft.com/office/drawing/2014/main" id="{F84888B0-9609-A209-9104-C9190DCD2D05}"/>
              </a:ext>
            </a:extLst>
          </p:cNvPr>
          <p:cNvSpPr/>
          <p:nvPr/>
        </p:nvSpPr>
        <p:spPr>
          <a:xfrm>
            <a:off x="486744" y="5643589"/>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32" name="四角形: 角を丸くする 31">
            <a:extLst>
              <a:ext uri="{FF2B5EF4-FFF2-40B4-BE49-F238E27FC236}">
                <a16:creationId xmlns:a16="http://schemas.microsoft.com/office/drawing/2014/main" id="{BF1AD3CA-88ED-A8DE-252F-C4566AC5F384}"/>
              </a:ext>
            </a:extLst>
          </p:cNvPr>
          <p:cNvSpPr/>
          <p:nvPr/>
        </p:nvSpPr>
        <p:spPr>
          <a:xfrm>
            <a:off x="1683097" y="5643589"/>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15</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ja-JP" altLang="en-US" sz="2000" b="1" dirty="0">
                <a:solidFill>
                  <a:schemeClr val="tx1"/>
                </a:solidFill>
                <a:latin typeface="メイリオ" panose="020B0604030504040204" pitchFamily="50" charset="-128"/>
                <a:ea typeface="メイリオ" panose="020B0604030504040204" pitchFamily="50" charset="-128"/>
              </a:rPr>
              <a:t>構築</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ヶ月</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93BD7818-21BF-7C21-E53A-40C4E46D1370}"/>
              </a:ext>
            </a:extLst>
          </p:cNvPr>
          <p:cNvSpPr/>
          <p:nvPr/>
        </p:nvSpPr>
        <p:spPr>
          <a:xfrm>
            <a:off x="4784940" y="5643589"/>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36" name="四角形: 角を丸くする 35">
            <a:extLst>
              <a:ext uri="{FF2B5EF4-FFF2-40B4-BE49-F238E27FC236}">
                <a16:creationId xmlns:a16="http://schemas.microsoft.com/office/drawing/2014/main" id="{8DCF3FF5-15D1-9B9A-0CF6-8C5E99287D82}"/>
              </a:ext>
            </a:extLst>
          </p:cNvPr>
          <p:cNvSpPr/>
          <p:nvPr/>
        </p:nvSpPr>
        <p:spPr>
          <a:xfrm>
            <a:off x="5981293" y="5643589"/>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3</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ブランド運用</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成果報酬 </a:t>
            </a:r>
            <a:r>
              <a:rPr lang="en-US" altLang="ja-JP" b="1" dirty="0">
                <a:solidFill>
                  <a:schemeClr val="tx1"/>
                </a:solidFill>
                <a:latin typeface="メイリオ" panose="020B0604030504040204" pitchFamily="50" charset="-128"/>
                <a:ea typeface="メイリオ" panose="020B0604030504040204" pitchFamily="50" charset="-128"/>
              </a:rPr>
              <a:t>0.2</a:t>
            </a:r>
            <a:r>
              <a:rPr lang="ja-JP" altLang="en-US" b="1" dirty="0">
                <a:solidFill>
                  <a:schemeClr val="tx1"/>
                </a:solidFill>
                <a:latin typeface="メイリオ" panose="020B0604030504040204" pitchFamily="50" charset="-128"/>
                <a:ea typeface="メイリオ" panose="020B0604030504040204" pitchFamily="50" charset="-128"/>
              </a:rPr>
              <a:t>万円 </a:t>
            </a:r>
            <a:r>
              <a:rPr lang="en-US" altLang="ja-JP" b="1" dirty="0">
                <a:solidFill>
                  <a:schemeClr val="tx1"/>
                </a:solidFill>
                <a:latin typeface="メイリオ" panose="020B0604030504040204" pitchFamily="50" charset="-128"/>
                <a:ea typeface="メイリオ" panose="020B0604030504040204" pitchFamily="50" charset="-128"/>
              </a:rPr>
              <a:t>/ </a:t>
            </a:r>
            <a:r>
              <a:rPr lang="ja-JP" altLang="en-US" b="1" dirty="0">
                <a:solidFill>
                  <a:schemeClr val="tx1"/>
                </a:solidFill>
                <a:latin typeface="メイリオ" panose="020B0604030504040204" pitchFamily="50" charset="-128"/>
                <a:ea typeface="メイリオ" panose="020B0604030504040204" pitchFamily="50" charset="-128"/>
              </a:rPr>
              <a:t>件</a:t>
            </a:r>
            <a:endParaRPr lang="ja-JP" altLang="en-US" sz="3200" b="1"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94333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65273-3914-227C-776C-628892D46BEA}"/>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50F543C4-7983-F01D-286C-5DE100C3D6A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F84218F1-1252-2DC9-95F4-616BD45EF6C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D0274506-0098-9DF0-AEDD-106C45CA587D}"/>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7385F535-EBA6-73C5-4868-19B8BD4FBBF2}"/>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ブランドあたりの作業として設定。</a:t>
            </a:r>
            <a:endParaRPr lang="ja-JP" altLang="en-US" sz="1000" dirty="0"/>
          </a:p>
        </p:txBody>
      </p:sp>
      <p:sp>
        <p:nvSpPr>
          <p:cNvPr id="9" name="テキスト ボックス 8">
            <a:extLst>
              <a:ext uri="{FF2B5EF4-FFF2-40B4-BE49-F238E27FC236}">
                <a16:creationId xmlns:a16="http://schemas.microsoft.com/office/drawing/2014/main" id="{D16E247D-88FF-3ED6-35BA-236BC2DDCB05}"/>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14" name="四角形: 角を丸くする 13">
            <a:extLst>
              <a:ext uri="{FF2B5EF4-FFF2-40B4-BE49-F238E27FC236}">
                <a16:creationId xmlns:a16="http://schemas.microsoft.com/office/drawing/2014/main" id="{57BE260E-81FC-1314-6E51-3C16CB8BA0A1}"/>
              </a:ext>
            </a:extLst>
          </p:cNvPr>
          <p:cNvSpPr/>
          <p:nvPr/>
        </p:nvSpPr>
        <p:spPr>
          <a:xfrm>
            <a:off x="460785" y="2031839"/>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D462B39D-9DC1-01B7-3952-08743196986A}"/>
              </a:ext>
            </a:extLst>
          </p:cNvPr>
          <p:cNvSpPr/>
          <p:nvPr/>
        </p:nvSpPr>
        <p:spPr>
          <a:xfrm>
            <a:off x="1657138" y="2031839"/>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latin typeface="メイリオ" panose="020B0604030504040204" pitchFamily="50" charset="-128"/>
                <a:ea typeface="メイリオ" panose="020B0604030504040204" pitchFamily="50" charset="-128"/>
              </a:rPr>
              <a:t>プランにより変動</a:t>
            </a:r>
          </a:p>
        </p:txBody>
      </p:sp>
      <p:sp>
        <p:nvSpPr>
          <p:cNvPr id="18" name="四角形: 角を丸くする 17">
            <a:extLst>
              <a:ext uri="{FF2B5EF4-FFF2-40B4-BE49-F238E27FC236}">
                <a16:creationId xmlns:a16="http://schemas.microsoft.com/office/drawing/2014/main" id="{8FD7EBDD-B760-6762-AAB3-826E4730F7F8}"/>
              </a:ext>
            </a:extLst>
          </p:cNvPr>
          <p:cNvSpPr/>
          <p:nvPr/>
        </p:nvSpPr>
        <p:spPr>
          <a:xfrm>
            <a:off x="5005021" y="2031839"/>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20" name="四角形: 角を丸くする 19">
            <a:extLst>
              <a:ext uri="{FF2B5EF4-FFF2-40B4-BE49-F238E27FC236}">
                <a16:creationId xmlns:a16="http://schemas.microsoft.com/office/drawing/2014/main" id="{82CB6C1B-E3E5-D663-2A65-C2D31D33F0B0}"/>
              </a:ext>
            </a:extLst>
          </p:cNvPr>
          <p:cNvSpPr/>
          <p:nvPr/>
        </p:nvSpPr>
        <p:spPr>
          <a:xfrm>
            <a:off x="6201374" y="2031839"/>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latin typeface="メイリオ" panose="020B0604030504040204" pitchFamily="50" charset="-128"/>
                <a:ea typeface="メイリオ" panose="020B0604030504040204" pitchFamily="50" charset="-128"/>
              </a:rPr>
              <a:t>プランにより変動</a:t>
            </a:r>
          </a:p>
        </p:txBody>
      </p:sp>
      <p:sp>
        <p:nvSpPr>
          <p:cNvPr id="13" name="四角形: 角を丸くする 12">
            <a:extLst>
              <a:ext uri="{FF2B5EF4-FFF2-40B4-BE49-F238E27FC236}">
                <a16:creationId xmlns:a16="http://schemas.microsoft.com/office/drawing/2014/main" id="{27B33505-8E0F-F68C-1AA5-9B438FC6C770}"/>
              </a:ext>
            </a:extLst>
          </p:cNvPr>
          <p:cNvSpPr/>
          <p:nvPr/>
        </p:nvSpPr>
        <p:spPr>
          <a:xfrm>
            <a:off x="625519" y="2998823"/>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構築</a:t>
            </a:r>
            <a:endParaRPr kumimoji="1" lang="ja-JP" altLang="en-US" sz="1400" b="1" dirty="0">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466E32B0-8E53-487F-634E-6152B57A102E}"/>
              </a:ext>
            </a:extLst>
          </p:cNvPr>
          <p:cNvSpPr/>
          <p:nvPr/>
        </p:nvSpPr>
        <p:spPr>
          <a:xfrm>
            <a:off x="5169755" y="2998823"/>
            <a:ext cx="1262985" cy="410909"/>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アカウント費</a:t>
            </a:r>
            <a:endParaRPr kumimoji="1" lang="ja-JP" altLang="en-US" sz="1200" b="1" dirty="0">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7733365D-1578-FA4B-2412-0C19C03914A3}"/>
              </a:ext>
            </a:extLst>
          </p:cNvPr>
          <p:cNvSpPr/>
          <p:nvPr/>
        </p:nvSpPr>
        <p:spPr>
          <a:xfrm>
            <a:off x="1963540" y="2998823"/>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挨拶メッセ、プロフ、リッチメニュー</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25" name="四角形: 角を丸くする 24">
            <a:extLst>
              <a:ext uri="{FF2B5EF4-FFF2-40B4-BE49-F238E27FC236}">
                <a16:creationId xmlns:a16="http://schemas.microsoft.com/office/drawing/2014/main" id="{81107F3E-13E8-E252-664F-3CE9E650CCD6}"/>
              </a:ext>
            </a:extLst>
          </p:cNvPr>
          <p:cNvSpPr/>
          <p:nvPr/>
        </p:nvSpPr>
        <p:spPr>
          <a:xfrm>
            <a:off x="6507776" y="2998823"/>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費用内に含む</a:t>
            </a:r>
          </a:p>
        </p:txBody>
      </p:sp>
      <p:sp>
        <p:nvSpPr>
          <p:cNvPr id="29" name="四角形: 角を丸くする 28">
            <a:extLst>
              <a:ext uri="{FF2B5EF4-FFF2-40B4-BE49-F238E27FC236}">
                <a16:creationId xmlns:a16="http://schemas.microsoft.com/office/drawing/2014/main" id="{34689D4A-32B0-E782-E327-4B92D82BC826}"/>
              </a:ext>
            </a:extLst>
          </p:cNvPr>
          <p:cNvSpPr/>
          <p:nvPr/>
        </p:nvSpPr>
        <p:spPr>
          <a:xfrm>
            <a:off x="625519" y="3463767"/>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契約</a:t>
            </a:r>
          </a:p>
        </p:txBody>
      </p:sp>
      <p:sp>
        <p:nvSpPr>
          <p:cNvPr id="33" name="四角形: 角を丸くする 32">
            <a:extLst>
              <a:ext uri="{FF2B5EF4-FFF2-40B4-BE49-F238E27FC236}">
                <a16:creationId xmlns:a16="http://schemas.microsoft.com/office/drawing/2014/main" id="{55AE31CA-185A-1EB2-264D-378EB48EFFC2}"/>
              </a:ext>
            </a:extLst>
          </p:cNvPr>
          <p:cNvSpPr/>
          <p:nvPr/>
        </p:nvSpPr>
        <p:spPr>
          <a:xfrm>
            <a:off x="5169755" y="3463767"/>
            <a:ext cx="1262985" cy="410909"/>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ツール費</a:t>
            </a:r>
            <a:endParaRPr kumimoji="1" lang="ja-JP" altLang="en-US" sz="1200" b="1" dirty="0">
              <a:latin typeface="メイリオ" panose="020B0604030504040204" pitchFamily="50" charset="-128"/>
              <a:ea typeface="メイリオ" panose="020B0604030504040204" pitchFamily="50" charset="-128"/>
            </a:endParaRPr>
          </a:p>
        </p:txBody>
      </p:sp>
      <p:sp>
        <p:nvSpPr>
          <p:cNvPr id="37" name="四角形: 角を丸くする 36">
            <a:extLst>
              <a:ext uri="{FF2B5EF4-FFF2-40B4-BE49-F238E27FC236}">
                <a16:creationId xmlns:a16="http://schemas.microsoft.com/office/drawing/2014/main" id="{6AEFB6DD-4E34-A78C-01F4-9787E03E2934}"/>
              </a:ext>
            </a:extLst>
          </p:cNvPr>
          <p:cNvSpPr/>
          <p:nvPr/>
        </p:nvSpPr>
        <p:spPr>
          <a:xfrm>
            <a:off x="1963540" y="3463767"/>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ツール周辺作業</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39" name="四角形: 角を丸くする 38">
            <a:extLst>
              <a:ext uri="{FF2B5EF4-FFF2-40B4-BE49-F238E27FC236}">
                <a16:creationId xmlns:a16="http://schemas.microsoft.com/office/drawing/2014/main" id="{5A106DA6-84C5-752A-D410-39ABC80C02E4}"/>
              </a:ext>
            </a:extLst>
          </p:cNvPr>
          <p:cNvSpPr/>
          <p:nvPr/>
        </p:nvSpPr>
        <p:spPr>
          <a:xfrm>
            <a:off x="6507776" y="3463767"/>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費用内に含む</a:t>
            </a:r>
          </a:p>
        </p:txBody>
      </p:sp>
      <p:sp>
        <p:nvSpPr>
          <p:cNvPr id="41" name="四角形: 角を丸くする 40">
            <a:extLst>
              <a:ext uri="{FF2B5EF4-FFF2-40B4-BE49-F238E27FC236}">
                <a16:creationId xmlns:a16="http://schemas.microsoft.com/office/drawing/2014/main" id="{962F78E9-DD53-5A8D-5C14-E56254BBF5D8}"/>
              </a:ext>
            </a:extLst>
          </p:cNvPr>
          <p:cNvSpPr/>
          <p:nvPr/>
        </p:nvSpPr>
        <p:spPr>
          <a:xfrm>
            <a:off x="625519" y="3928711"/>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商流</a:t>
            </a:r>
            <a:endParaRPr kumimoji="1" lang="ja-JP" altLang="en-US" sz="1400" b="1" dirty="0">
              <a:latin typeface="メイリオ" panose="020B0604030504040204" pitchFamily="50" charset="-128"/>
              <a:ea typeface="メイリオ" panose="020B0604030504040204" pitchFamily="50" charset="-128"/>
            </a:endParaRPr>
          </a:p>
        </p:txBody>
      </p:sp>
      <p:sp>
        <p:nvSpPr>
          <p:cNvPr id="43" name="四角形: 角を丸くする 42">
            <a:extLst>
              <a:ext uri="{FF2B5EF4-FFF2-40B4-BE49-F238E27FC236}">
                <a16:creationId xmlns:a16="http://schemas.microsoft.com/office/drawing/2014/main" id="{192F9D49-349D-9514-2A85-EBBA615E6C5B}"/>
              </a:ext>
            </a:extLst>
          </p:cNvPr>
          <p:cNvSpPr/>
          <p:nvPr/>
        </p:nvSpPr>
        <p:spPr>
          <a:xfrm>
            <a:off x="5169755" y="4393655"/>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企画配信</a:t>
            </a:r>
            <a:endParaRPr kumimoji="1" lang="ja-JP" altLang="en-US" sz="1200" b="1" dirty="0">
              <a:latin typeface="メイリオ" panose="020B0604030504040204" pitchFamily="50" charset="-128"/>
              <a:ea typeface="メイリオ" panose="020B0604030504040204" pitchFamily="50" charset="-128"/>
            </a:endParaRPr>
          </a:p>
        </p:txBody>
      </p:sp>
      <p:sp>
        <p:nvSpPr>
          <p:cNvPr id="45" name="四角形: 角を丸くする 44">
            <a:extLst>
              <a:ext uri="{FF2B5EF4-FFF2-40B4-BE49-F238E27FC236}">
                <a16:creationId xmlns:a16="http://schemas.microsoft.com/office/drawing/2014/main" id="{34EBADAB-3A15-E030-269A-6688B65201FD}"/>
              </a:ext>
            </a:extLst>
          </p:cNvPr>
          <p:cNvSpPr/>
          <p:nvPr/>
        </p:nvSpPr>
        <p:spPr>
          <a:xfrm>
            <a:off x="1963540" y="3928711"/>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DYM</a:t>
            </a:r>
            <a:r>
              <a:rPr lang="ja-JP" altLang="en-US" sz="1100" dirty="0">
                <a:solidFill>
                  <a:schemeClr val="tx1"/>
                </a:solidFill>
                <a:latin typeface="メイリオ" panose="020B0604030504040204" pitchFamily="50" charset="-128"/>
                <a:ea typeface="メイリオ" panose="020B0604030504040204" pitchFamily="50" charset="-128"/>
              </a:rPr>
              <a:t>への変更作業 </a:t>
            </a:r>
            <a:r>
              <a:rPr lang="en-US" altLang="ja-JP" sz="1100" dirty="0">
                <a:solidFill>
                  <a:schemeClr val="tx1"/>
                </a:solidFill>
                <a:latin typeface="メイリオ" panose="020B0604030504040204" pitchFamily="50" charset="-128"/>
                <a:ea typeface="メイリオ" panose="020B0604030504040204" pitchFamily="50" charset="-128"/>
              </a:rPr>
              <a:t>/ </a:t>
            </a:r>
            <a:r>
              <a:rPr lang="ja-JP" altLang="en-US" sz="1100" dirty="0">
                <a:solidFill>
                  <a:schemeClr val="tx1"/>
                </a:solidFill>
                <a:latin typeface="メイリオ" panose="020B0604030504040204" pitchFamily="50" charset="-128"/>
                <a:ea typeface="メイリオ" panose="020B0604030504040204" pitchFamily="50" charset="-128"/>
              </a:rPr>
              <a:t>新規開設代行</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47" name="四角形: 角を丸くする 46">
            <a:extLst>
              <a:ext uri="{FF2B5EF4-FFF2-40B4-BE49-F238E27FC236}">
                <a16:creationId xmlns:a16="http://schemas.microsoft.com/office/drawing/2014/main" id="{FFA18476-2A48-4A79-2533-2A8A75E97515}"/>
              </a:ext>
            </a:extLst>
          </p:cNvPr>
          <p:cNvSpPr/>
          <p:nvPr/>
        </p:nvSpPr>
        <p:spPr>
          <a:xfrm>
            <a:off x="6507776" y="4393655"/>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月５</a:t>
            </a:r>
            <a:r>
              <a:rPr lang="en-US" altLang="ja-JP" sz="1100" dirty="0">
                <a:solidFill>
                  <a:schemeClr val="tx1"/>
                </a:solidFill>
                <a:latin typeface="メイリオ" panose="020B0604030504040204" pitchFamily="50" charset="-128"/>
                <a:ea typeface="メイリオ" panose="020B0604030504040204" pitchFamily="50" charset="-128"/>
              </a:rPr>
              <a:t>-</a:t>
            </a:r>
            <a:r>
              <a:rPr lang="ja-JP" altLang="en-US" sz="1100" dirty="0">
                <a:solidFill>
                  <a:schemeClr val="tx1"/>
                </a:solidFill>
                <a:latin typeface="メイリオ" panose="020B0604030504040204" pitchFamily="50" charset="-128"/>
                <a:ea typeface="メイリオ" panose="020B0604030504040204" pitchFamily="50" charset="-128"/>
              </a:rPr>
              <a:t>６本（週次）</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49" name="四角形: 角を丸くする 48">
            <a:extLst>
              <a:ext uri="{FF2B5EF4-FFF2-40B4-BE49-F238E27FC236}">
                <a16:creationId xmlns:a16="http://schemas.microsoft.com/office/drawing/2014/main" id="{F95C4723-6D11-3C63-5E89-3E3E72D5B67D}"/>
              </a:ext>
            </a:extLst>
          </p:cNvPr>
          <p:cNvSpPr/>
          <p:nvPr/>
        </p:nvSpPr>
        <p:spPr>
          <a:xfrm>
            <a:off x="625519" y="4393655"/>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ステップ</a:t>
            </a:r>
            <a:endParaRPr kumimoji="1" lang="ja-JP" altLang="en-US" sz="1400" b="1" dirty="0">
              <a:latin typeface="メイリオ" panose="020B0604030504040204" pitchFamily="50" charset="-128"/>
              <a:ea typeface="メイリオ" panose="020B0604030504040204" pitchFamily="50" charset="-128"/>
            </a:endParaRPr>
          </a:p>
        </p:txBody>
      </p:sp>
      <p:sp>
        <p:nvSpPr>
          <p:cNvPr id="51" name="四角形: 角を丸くする 50">
            <a:extLst>
              <a:ext uri="{FF2B5EF4-FFF2-40B4-BE49-F238E27FC236}">
                <a16:creationId xmlns:a16="http://schemas.microsoft.com/office/drawing/2014/main" id="{0155052E-D130-2A03-3708-E29959632E28}"/>
              </a:ext>
            </a:extLst>
          </p:cNvPr>
          <p:cNvSpPr/>
          <p:nvPr/>
        </p:nvSpPr>
        <p:spPr>
          <a:xfrm>
            <a:off x="5169755" y="4858599"/>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ステップ</a:t>
            </a:r>
          </a:p>
        </p:txBody>
      </p:sp>
      <p:sp>
        <p:nvSpPr>
          <p:cNvPr id="53" name="四角形: 角を丸くする 52">
            <a:extLst>
              <a:ext uri="{FF2B5EF4-FFF2-40B4-BE49-F238E27FC236}">
                <a16:creationId xmlns:a16="http://schemas.microsoft.com/office/drawing/2014/main" id="{E2AB389E-9AAD-A9F5-525D-335FCBCD1FF4}"/>
              </a:ext>
            </a:extLst>
          </p:cNvPr>
          <p:cNvSpPr/>
          <p:nvPr/>
        </p:nvSpPr>
        <p:spPr>
          <a:xfrm>
            <a:off x="1963540" y="4393655"/>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10</a:t>
            </a:r>
            <a:r>
              <a:rPr lang="ja-JP" altLang="en-US" sz="1100" dirty="0">
                <a:solidFill>
                  <a:schemeClr val="tx1"/>
                </a:solidFill>
                <a:latin typeface="メイリオ" panose="020B0604030504040204" pitchFamily="50" charset="-128"/>
                <a:ea typeface="メイリオ" panose="020B0604030504040204" pitchFamily="50" charset="-128"/>
              </a:rPr>
              <a:t>本程度 </a:t>
            </a:r>
            <a:r>
              <a:rPr lang="en-US" altLang="ja-JP" sz="1100" dirty="0">
                <a:solidFill>
                  <a:schemeClr val="tx1"/>
                </a:solidFill>
                <a:latin typeface="メイリオ" panose="020B0604030504040204" pitchFamily="50" charset="-128"/>
                <a:ea typeface="メイリオ" panose="020B0604030504040204" pitchFamily="50" charset="-128"/>
              </a:rPr>
              <a:t>/ </a:t>
            </a:r>
            <a:r>
              <a:rPr lang="ja-JP" altLang="en-US" sz="1100" dirty="0">
                <a:solidFill>
                  <a:schemeClr val="tx1"/>
                </a:solidFill>
                <a:latin typeface="メイリオ" panose="020B0604030504040204" pitchFamily="50" charset="-128"/>
                <a:ea typeface="メイリオ" panose="020B0604030504040204" pitchFamily="50" charset="-128"/>
              </a:rPr>
              <a:t>ブランド別</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55" name="四角形: 角を丸くする 54">
            <a:extLst>
              <a:ext uri="{FF2B5EF4-FFF2-40B4-BE49-F238E27FC236}">
                <a16:creationId xmlns:a16="http://schemas.microsoft.com/office/drawing/2014/main" id="{308C4599-3E3C-D8CC-FB8A-9BAA85403DCD}"/>
              </a:ext>
            </a:extLst>
          </p:cNvPr>
          <p:cNvSpPr/>
          <p:nvPr/>
        </p:nvSpPr>
        <p:spPr>
          <a:xfrm>
            <a:off x="6507776" y="4858599"/>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10</a:t>
            </a:r>
            <a:r>
              <a:rPr lang="ja-JP" altLang="en-US" sz="1100" dirty="0">
                <a:solidFill>
                  <a:schemeClr val="tx1"/>
                </a:solidFill>
                <a:latin typeface="メイリオ" panose="020B0604030504040204" pitchFamily="50" charset="-128"/>
                <a:ea typeface="メイリオ" panose="020B0604030504040204" pitchFamily="50" charset="-128"/>
              </a:rPr>
              <a:t>本程度 </a:t>
            </a:r>
            <a:r>
              <a:rPr lang="en-US" altLang="ja-JP" sz="1100" dirty="0">
                <a:solidFill>
                  <a:schemeClr val="tx1"/>
                </a:solidFill>
                <a:latin typeface="メイリオ" panose="020B0604030504040204" pitchFamily="50" charset="-128"/>
                <a:ea typeface="メイリオ" panose="020B0604030504040204" pitchFamily="50" charset="-128"/>
              </a:rPr>
              <a:t>/ </a:t>
            </a:r>
            <a:r>
              <a:rPr lang="ja-JP" altLang="en-US" sz="1100" dirty="0">
                <a:solidFill>
                  <a:schemeClr val="tx1"/>
                </a:solidFill>
                <a:latin typeface="メイリオ" panose="020B0604030504040204" pitchFamily="50" charset="-128"/>
                <a:ea typeface="メイリオ" panose="020B0604030504040204" pitchFamily="50" charset="-128"/>
              </a:rPr>
              <a:t>ブランド別 の修正込み</a:t>
            </a:r>
          </a:p>
        </p:txBody>
      </p:sp>
      <p:sp>
        <p:nvSpPr>
          <p:cNvPr id="57" name="四角形: 角を丸くする 56">
            <a:extLst>
              <a:ext uri="{FF2B5EF4-FFF2-40B4-BE49-F238E27FC236}">
                <a16:creationId xmlns:a16="http://schemas.microsoft.com/office/drawing/2014/main" id="{1A56B830-8EAE-419D-88DC-86636093F0D1}"/>
              </a:ext>
            </a:extLst>
          </p:cNvPr>
          <p:cNvSpPr/>
          <p:nvPr/>
        </p:nvSpPr>
        <p:spPr>
          <a:xfrm>
            <a:off x="625519" y="4858599"/>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アンケート</a:t>
            </a:r>
          </a:p>
        </p:txBody>
      </p:sp>
      <p:sp>
        <p:nvSpPr>
          <p:cNvPr id="60" name="四角形: 角を丸くする 59">
            <a:extLst>
              <a:ext uri="{FF2B5EF4-FFF2-40B4-BE49-F238E27FC236}">
                <a16:creationId xmlns:a16="http://schemas.microsoft.com/office/drawing/2014/main" id="{1F3CA055-45FB-13B6-492A-CFFF8FB6EEF5}"/>
              </a:ext>
            </a:extLst>
          </p:cNvPr>
          <p:cNvSpPr/>
          <p:nvPr/>
        </p:nvSpPr>
        <p:spPr>
          <a:xfrm>
            <a:off x="5169755" y="5323543"/>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アンケート</a:t>
            </a:r>
          </a:p>
        </p:txBody>
      </p:sp>
      <p:sp>
        <p:nvSpPr>
          <p:cNvPr id="62" name="四角形: 角を丸くする 61">
            <a:extLst>
              <a:ext uri="{FF2B5EF4-FFF2-40B4-BE49-F238E27FC236}">
                <a16:creationId xmlns:a16="http://schemas.microsoft.com/office/drawing/2014/main" id="{526C57F3-75EB-3FC1-6695-3E2831B9387D}"/>
              </a:ext>
            </a:extLst>
          </p:cNvPr>
          <p:cNvSpPr/>
          <p:nvPr/>
        </p:nvSpPr>
        <p:spPr>
          <a:xfrm>
            <a:off x="1963540" y="4858599"/>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1</a:t>
            </a:r>
            <a:r>
              <a:rPr lang="ja-JP" altLang="en-US" sz="1100" dirty="0">
                <a:solidFill>
                  <a:schemeClr val="tx1"/>
                </a:solidFill>
                <a:latin typeface="メイリオ" panose="020B0604030504040204" pitchFamily="50" charset="-128"/>
                <a:ea typeface="メイリオ" panose="020B0604030504040204" pitchFamily="50" charset="-128"/>
              </a:rPr>
              <a:t>本</a:t>
            </a:r>
            <a:r>
              <a:rPr lang="ja-JP" altLang="en-US" sz="1100" dirty="0">
                <a:solidFill>
                  <a:srgbClr val="FF0000"/>
                </a:solidFill>
                <a:latin typeface="メイリオ" panose="020B0604030504040204" pitchFamily="50" charset="-128"/>
                <a:ea typeface="メイリオ" panose="020B0604030504040204" pitchFamily="50" charset="-128"/>
              </a:rPr>
              <a:t>（＋簡易</a:t>
            </a:r>
            <a:r>
              <a:rPr lang="en-US" altLang="ja-JP" sz="1100" dirty="0">
                <a:solidFill>
                  <a:srgbClr val="FF0000"/>
                </a:solidFill>
                <a:latin typeface="メイリオ" panose="020B0604030504040204" pitchFamily="50" charset="-128"/>
                <a:ea typeface="メイリオ" panose="020B0604030504040204" pitchFamily="50" charset="-128"/>
              </a:rPr>
              <a:t>1</a:t>
            </a:r>
            <a:r>
              <a:rPr lang="ja-JP" altLang="en-US" sz="1100" dirty="0">
                <a:solidFill>
                  <a:srgbClr val="FF0000"/>
                </a:solidFill>
                <a:latin typeface="メイリオ" panose="020B0604030504040204" pitchFamily="50" charset="-128"/>
                <a:ea typeface="メイリオ" panose="020B0604030504040204" pitchFamily="50" charset="-128"/>
              </a:rPr>
              <a:t>本）</a:t>
            </a:r>
          </a:p>
        </p:txBody>
      </p:sp>
      <p:sp>
        <p:nvSpPr>
          <p:cNvPr id="64" name="四角形: 角を丸くする 63">
            <a:extLst>
              <a:ext uri="{FF2B5EF4-FFF2-40B4-BE49-F238E27FC236}">
                <a16:creationId xmlns:a16="http://schemas.microsoft.com/office/drawing/2014/main" id="{86091FD9-6205-F990-CF88-2153656E9F16}"/>
              </a:ext>
            </a:extLst>
          </p:cNvPr>
          <p:cNvSpPr/>
          <p:nvPr/>
        </p:nvSpPr>
        <p:spPr>
          <a:xfrm>
            <a:off x="6507776" y="5323543"/>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1</a:t>
            </a:r>
            <a:r>
              <a:rPr lang="ja-JP" altLang="en-US" sz="1100" dirty="0">
                <a:solidFill>
                  <a:schemeClr val="tx1"/>
                </a:solidFill>
                <a:latin typeface="メイリオ" panose="020B0604030504040204" pitchFamily="50" charset="-128"/>
                <a:ea typeface="メイリオ" panose="020B0604030504040204" pitchFamily="50" charset="-128"/>
              </a:rPr>
              <a:t>本</a:t>
            </a:r>
            <a:r>
              <a:rPr lang="ja-JP" altLang="en-US" sz="1100" dirty="0">
                <a:solidFill>
                  <a:srgbClr val="FF0000"/>
                </a:solidFill>
                <a:latin typeface="メイリオ" panose="020B0604030504040204" pitchFamily="50" charset="-128"/>
                <a:ea typeface="メイリオ" panose="020B0604030504040204" pitchFamily="50" charset="-128"/>
              </a:rPr>
              <a:t>（＋簡易</a:t>
            </a:r>
            <a:r>
              <a:rPr lang="en-US" altLang="ja-JP" sz="1100" dirty="0">
                <a:solidFill>
                  <a:srgbClr val="FF0000"/>
                </a:solidFill>
                <a:latin typeface="メイリオ" panose="020B0604030504040204" pitchFamily="50" charset="-128"/>
                <a:ea typeface="メイリオ" panose="020B0604030504040204" pitchFamily="50" charset="-128"/>
              </a:rPr>
              <a:t>1</a:t>
            </a:r>
            <a:r>
              <a:rPr lang="ja-JP" altLang="en-US" sz="1100" dirty="0">
                <a:solidFill>
                  <a:srgbClr val="FF0000"/>
                </a:solidFill>
                <a:latin typeface="メイリオ" panose="020B0604030504040204" pitchFamily="50" charset="-128"/>
                <a:ea typeface="メイリオ" panose="020B0604030504040204" pitchFamily="50" charset="-128"/>
              </a:rPr>
              <a:t>本）</a:t>
            </a:r>
            <a:r>
              <a:rPr lang="ja-JP" altLang="en-US" sz="1100" dirty="0">
                <a:solidFill>
                  <a:schemeClr val="tx1"/>
                </a:solidFill>
                <a:latin typeface="メイリオ" panose="020B0604030504040204" pitchFamily="50" charset="-128"/>
                <a:ea typeface="メイリオ" panose="020B0604030504040204" pitchFamily="50" charset="-128"/>
              </a:rPr>
              <a:t> の修正込み</a:t>
            </a:r>
          </a:p>
        </p:txBody>
      </p:sp>
      <p:sp>
        <p:nvSpPr>
          <p:cNvPr id="66" name="四角形: 角を丸くする 65">
            <a:extLst>
              <a:ext uri="{FF2B5EF4-FFF2-40B4-BE49-F238E27FC236}">
                <a16:creationId xmlns:a16="http://schemas.microsoft.com/office/drawing/2014/main" id="{06F13F98-3841-7D90-ED8B-E816B2F1BE04}"/>
              </a:ext>
            </a:extLst>
          </p:cNvPr>
          <p:cNvSpPr/>
          <p:nvPr/>
        </p:nvSpPr>
        <p:spPr>
          <a:xfrm>
            <a:off x="625519" y="5323543"/>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latin typeface="メイリオ" panose="020B0604030504040204" pitchFamily="50" charset="-128"/>
                <a:ea typeface="メイリオ" panose="020B0604030504040204" pitchFamily="50" charset="-128"/>
              </a:rPr>
              <a:t>CR</a:t>
            </a:r>
            <a:r>
              <a:rPr lang="ja-JP" altLang="en-US" sz="1400" b="1" dirty="0">
                <a:latin typeface="メイリオ" panose="020B0604030504040204" pitchFamily="50" charset="-128"/>
                <a:ea typeface="メイリオ" panose="020B0604030504040204" pitchFamily="50" charset="-128"/>
              </a:rPr>
              <a:t>作成</a:t>
            </a:r>
            <a:endParaRPr kumimoji="1" lang="ja-JP" altLang="en-US" sz="1400" b="1" dirty="0">
              <a:latin typeface="メイリオ" panose="020B0604030504040204" pitchFamily="50" charset="-128"/>
              <a:ea typeface="メイリオ" panose="020B0604030504040204" pitchFamily="50" charset="-128"/>
            </a:endParaRPr>
          </a:p>
        </p:txBody>
      </p:sp>
      <p:sp>
        <p:nvSpPr>
          <p:cNvPr id="70" name="四角形: 角を丸くする 69">
            <a:extLst>
              <a:ext uri="{FF2B5EF4-FFF2-40B4-BE49-F238E27FC236}">
                <a16:creationId xmlns:a16="http://schemas.microsoft.com/office/drawing/2014/main" id="{F3ABC0B1-180C-CD85-219A-60D481A02DFE}"/>
              </a:ext>
            </a:extLst>
          </p:cNvPr>
          <p:cNvSpPr/>
          <p:nvPr/>
        </p:nvSpPr>
        <p:spPr>
          <a:xfrm>
            <a:off x="1963540" y="5323543"/>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rgbClr val="FF0000"/>
                </a:solidFill>
                <a:latin typeface="メイリオ" panose="020B0604030504040204" pitchFamily="50" charset="-128"/>
                <a:ea typeface="メイリオ" panose="020B0604030504040204" pitchFamily="50" charset="-128"/>
              </a:rPr>
              <a:t>本数∞で対応実施</a:t>
            </a:r>
            <a:endParaRPr kumimoji="1" lang="ja-JP" altLang="en-US" sz="1100" dirty="0">
              <a:solidFill>
                <a:srgbClr val="FF0000"/>
              </a:solidFill>
              <a:latin typeface="メイリオ" panose="020B0604030504040204" pitchFamily="50" charset="-128"/>
              <a:ea typeface="メイリオ" panose="020B0604030504040204" pitchFamily="50" charset="-128"/>
            </a:endParaRPr>
          </a:p>
        </p:txBody>
      </p:sp>
      <p:sp>
        <p:nvSpPr>
          <p:cNvPr id="92" name="四角形: 角を丸くする 91">
            <a:extLst>
              <a:ext uri="{FF2B5EF4-FFF2-40B4-BE49-F238E27FC236}">
                <a16:creationId xmlns:a16="http://schemas.microsoft.com/office/drawing/2014/main" id="{E562257C-0AB9-54BF-54A8-400FD2C236BF}"/>
              </a:ext>
            </a:extLst>
          </p:cNvPr>
          <p:cNvSpPr/>
          <p:nvPr/>
        </p:nvSpPr>
        <p:spPr>
          <a:xfrm>
            <a:off x="5169755" y="5788487"/>
            <a:ext cx="1262985" cy="41090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CR</a:t>
            </a:r>
            <a:r>
              <a:rPr lang="ja-JP" altLang="en-US" sz="1200" b="1" dirty="0">
                <a:latin typeface="メイリオ" panose="020B0604030504040204" pitchFamily="50" charset="-128"/>
                <a:ea typeface="メイリオ" panose="020B0604030504040204" pitchFamily="50" charset="-128"/>
              </a:rPr>
              <a:t>作成</a:t>
            </a:r>
          </a:p>
        </p:txBody>
      </p:sp>
      <p:sp>
        <p:nvSpPr>
          <p:cNvPr id="96" name="四角形: 角を丸くする 95">
            <a:extLst>
              <a:ext uri="{FF2B5EF4-FFF2-40B4-BE49-F238E27FC236}">
                <a16:creationId xmlns:a16="http://schemas.microsoft.com/office/drawing/2014/main" id="{A1248FF2-975C-09F4-A098-CCFA28F1BBDC}"/>
              </a:ext>
            </a:extLst>
          </p:cNvPr>
          <p:cNvSpPr/>
          <p:nvPr/>
        </p:nvSpPr>
        <p:spPr>
          <a:xfrm>
            <a:off x="6507776" y="5788487"/>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rgbClr val="FF0000"/>
                </a:solidFill>
                <a:latin typeface="メイリオ" panose="020B0604030504040204" pitchFamily="50" charset="-128"/>
                <a:ea typeface="メイリオ" panose="020B0604030504040204" pitchFamily="50" charset="-128"/>
              </a:rPr>
              <a:t>企画投稿分で対応実施</a:t>
            </a:r>
          </a:p>
        </p:txBody>
      </p:sp>
      <p:sp>
        <p:nvSpPr>
          <p:cNvPr id="102" name="四角形: 角を丸くする 101">
            <a:extLst>
              <a:ext uri="{FF2B5EF4-FFF2-40B4-BE49-F238E27FC236}">
                <a16:creationId xmlns:a16="http://schemas.microsoft.com/office/drawing/2014/main" id="{BAC4A0F3-271D-55C6-28B9-B72FF797614D}"/>
              </a:ext>
            </a:extLst>
          </p:cNvPr>
          <p:cNvSpPr/>
          <p:nvPr/>
        </p:nvSpPr>
        <p:spPr>
          <a:xfrm>
            <a:off x="5169754" y="3928711"/>
            <a:ext cx="1262985" cy="410909"/>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成果報酬</a:t>
            </a:r>
            <a:endParaRPr kumimoji="1" lang="ja-JP" altLang="en-US" sz="1200" b="1" dirty="0">
              <a:latin typeface="メイリオ" panose="020B0604030504040204" pitchFamily="50" charset="-128"/>
              <a:ea typeface="メイリオ" panose="020B0604030504040204" pitchFamily="50" charset="-128"/>
            </a:endParaRPr>
          </a:p>
        </p:txBody>
      </p:sp>
      <p:sp>
        <p:nvSpPr>
          <p:cNvPr id="104" name="四角形: 角を丸くする 103">
            <a:extLst>
              <a:ext uri="{FF2B5EF4-FFF2-40B4-BE49-F238E27FC236}">
                <a16:creationId xmlns:a16="http://schemas.microsoft.com/office/drawing/2014/main" id="{BFCB199B-5798-FE8A-A758-BC731D59F0B0}"/>
              </a:ext>
            </a:extLst>
          </p:cNvPr>
          <p:cNvSpPr/>
          <p:nvPr/>
        </p:nvSpPr>
        <p:spPr>
          <a:xfrm>
            <a:off x="6507775" y="3928711"/>
            <a:ext cx="2772706" cy="41090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AD</a:t>
            </a:r>
            <a:r>
              <a:rPr lang="ja-JP" altLang="en-US" sz="1100" dirty="0">
                <a:solidFill>
                  <a:schemeClr val="tx1"/>
                </a:solidFill>
                <a:latin typeface="メイリオ" panose="020B0604030504040204" pitchFamily="50" charset="-128"/>
                <a:ea typeface="メイリオ" panose="020B0604030504040204" pitchFamily="50" charset="-128"/>
              </a:rPr>
              <a:t>の</a:t>
            </a:r>
            <a:r>
              <a:rPr lang="en-US" altLang="ja-JP" sz="1100" dirty="0">
                <a:solidFill>
                  <a:schemeClr val="tx1"/>
                </a:solidFill>
                <a:latin typeface="メイリオ" panose="020B0604030504040204" pitchFamily="50" charset="-128"/>
                <a:ea typeface="メイリオ" panose="020B0604030504040204" pitchFamily="50" charset="-128"/>
              </a:rPr>
              <a:t>CPA×0.8</a:t>
            </a:r>
            <a:r>
              <a:rPr lang="ja-JP" altLang="en-US" sz="1100" dirty="0">
                <a:solidFill>
                  <a:schemeClr val="tx1"/>
                </a:solidFill>
                <a:latin typeface="メイリオ" panose="020B0604030504040204" pitchFamily="50" charset="-128"/>
                <a:ea typeface="メイリオ" panose="020B0604030504040204" pitchFamily="50" charset="-128"/>
              </a:rPr>
              <a:t>にて設定</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A94DC81-5EA1-B7FA-FBF9-2A2F3F49B1CA}"/>
              </a:ext>
            </a:extLst>
          </p:cNvPr>
          <p:cNvSpPr/>
          <p:nvPr/>
        </p:nvSpPr>
        <p:spPr>
          <a:xfrm>
            <a:off x="182880" y="1936939"/>
            <a:ext cx="9532620" cy="967145"/>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69195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6811344"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1</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9A75D923-CF5A-07F3-BF01-DBD9025920AD}"/>
              </a:ext>
            </a:extLst>
          </p:cNvPr>
          <p:cNvSpPr/>
          <p:nvPr/>
        </p:nvSpPr>
        <p:spPr>
          <a:xfrm>
            <a:off x="616181" y="2302511"/>
            <a:ext cx="8791290" cy="3711248"/>
          </a:xfrm>
          <a:prstGeom prst="roundRect">
            <a:avLst>
              <a:gd name="adj" fmla="val 584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3" name="四角形: 角を丸くする 2">
            <a:extLst>
              <a:ext uri="{FF2B5EF4-FFF2-40B4-BE49-F238E27FC236}">
                <a16:creationId xmlns:a16="http://schemas.microsoft.com/office/drawing/2014/main" id="{EDBD955C-4766-027E-E0A1-5FE06FDCE9B3}"/>
              </a:ext>
            </a:extLst>
          </p:cNvPr>
          <p:cNvSpPr/>
          <p:nvPr/>
        </p:nvSpPr>
        <p:spPr>
          <a:xfrm>
            <a:off x="1196871" y="2635173"/>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1</a:t>
            </a:r>
            <a:endParaRPr kumimoji="1" lang="ja-JP" altLang="en-US"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188EDD8C-2102-ED5B-D8EB-BF8C59D25AF5}"/>
              </a:ext>
            </a:extLst>
          </p:cNvPr>
          <p:cNvSpPr/>
          <p:nvPr/>
        </p:nvSpPr>
        <p:spPr>
          <a:xfrm>
            <a:off x="1200313" y="3602026"/>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2</a:t>
            </a:r>
            <a:endParaRPr kumimoji="1" lang="ja-JP" altLang="en-US" dirty="0">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4AACE0B6-2227-42B1-B2D0-8EF74728940A}"/>
              </a:ext>
            </a:extLst>
          </p:cNvPr>
          <p:cNvSpPr/>
          <p:nvPr/>
        </p:nvSpPr>
        <p:spPr>
          <a:xfrm>
            <a:off x="1969203" y="2635173"/>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追加の入り口施策を強化し</a:t>
            </a:r>
            <a:endParaRPr kumimoji="1"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600" b="1" dirty="0">
                <a:solidFill>
                  <a:srgbClr val="FF0000"/>
                </a:solidFill>
                <a:latin typeface="メイリオ" panose="020B0604030504040204" pitchFamily="50" charset="-128"/>
                <a:ea typeface="メイリオ" panose="020B0604030504040204" pitchFamily="50" charset="-128"/>
              </a:rPr>
              <a:t>LINE</a:t>
            </a:r>
            <a:r>
              <a:rPr lang="ja-JP" altLang="en-US" sz="1600" b="1" dirty="0">
                <a:solidFill>
                  <a:srgbClr val="FF0000"/>
                </a:solidFill>
                <a:latin typeface="メイリオ" panose="020B0604030504040204" pitchFamily="50" charset="-128"/>
                <a:ea typeface="メイリオ" panose="020B0604030504040204" pitchFamily="50" charset="-128"/>
              </a:rPr>
              <a:t>友だち追加数</a:t>
            </a:r>
            <a:r>
              <a:rPr lang="ja-JP" altLang="en-US" sz="1600" b="1" dirty="0">
                <a:solidFill>
                  <a:schemeClr val="tx1"/>
                </a:solidFill>
                <a:latin typeface="メイリオ" panose="020B0604030504040204" pitchFamily="50" charset="-128"/>
                <a:ea typeface="メイリオ" panose="020B0604030504040204" pitchFamily="50" charset="-128"/>
              </a:rPr>
              <a:t>を改善</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6" name="四角形: 角を丸くする 5">
            <a:extLst>
              <a:ext uri="{FF2B5EF4-FFF2-40B4-BE49-F238E27FC236}">
                <a16:creationId xmlns:a16="http://schemas.microsoft.com/office/drawing/2014/main" id="{10E5112F-924C-B901-7BA3-584DF5B91E8B}"/>
              </a:ext>
            </a:extLst>
          </p:cNvPr>
          <p:cNvSpPr/>
          <p:nvPr/>
        </p:nvSpPr>
        <p:spPr>
          <a:xfrm>
            <a:off x="1972645" y="3602026"/>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施策内の最適化を行い</a:t>
            </a:r>
            <a:endParaRPr kumimoji="1"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rgbClr val="FF0000"/>
                </a:solidFill>
                <a:latin typeface="メイリオ" panose="020B0604030504040204" pitchFamily="50" charset="-128"/>
                <a:ea typeface="メイリオ" panose="020B0604030504040204" pitchFamily="50" charset="-128"/>
              </a:rPr>
              <a:t>開封率</a:t>
            </a:r>
            <a:r>
              <a:rPr lang="en-US" altLang="ja-JP" sz="1600" b="1" dirty="0">
                <a:solidFill>
                  <a:srgbClr val="FF0000"/>
                </a:solidFill>
                <a:latin typeface="メイリオ" panose="020B0604030504040204" pitchFamily="50" charset="-128"/>
                <a:ea typeface="メイリオ" panose="020B0604030504040204" pitchFamily="50" charset="-128"/>
              </a:rPr>
              <a:t>×</a:t>
            </a:r>
            <a:r>
              <a:rPr lang="ja-JP" altLang="en-US" sz="1600" b="1" dirty="0">
                <a:solidFill>
                  <a:srgbClr val="FF0000"/>
                </a:solidFill>
                <a:latin typeface="メイリオ" panose="020B0604030504040204" pitchFamily="50" charset="-128"/>
                <a:ea typeface="メイリオ" panose="020B0604030504040204" pitchFamily="50" charset="-128"/>
              </a:rPr>
              <a:t>クリック率</a:t>
            </a:r>
            <a:r>
              <a:rPr lang="en-US" altLang="ja-JP" sz="1600" b="1" dirty="0">
                <a:solidFill>
                  <a:srgbClr val="FF0000"/>
                </a:solidFill>
                <a:latin typeface="メイリオ" panose="020B0604030504040204" pitchFamily="50" charset="-128"/>
                <a:ea typeface="メイリオ" panose="020B0604030504040204" pitchFamily="50" charset="-128"/>
              </a:rPr>
              <a:t>×CV</a:t>
            </a:r>
            <a:r>
              <a:rPr lang="ja-JP" altLang="en-US" sz="1600" b="1" dirty="0">
                <a:solidFill>
                  <a:srgbClr val="FF0000"/>
                </a:solidFill>
                <a:latin typeface="メイリオ" panose="020B0604030504040204" pitchFamily="50" charset="-128"/>
                <a:ea typeface="メイリオ" panose="020B0604030504040204" pitchFamily="50" charset="-128"/>
              </a:rPr>
              <a:t>率</a:t>
            </a:r>
            <a:r>
              <a:rPr lang="ja-JP" altLang="en-US" sz="1600" b="1" dirty="0">
                <a:solidFill>
                  <a:schemeClr val="tx1"/>
                </a:solidFill>
                <a:latin typeface="メイリオ" panose="020B0604030504040204" pitchFamily="50" charset="-128"/>
                <a:ea typeface="メイリオ" panose="020B0604030504040204" pitchFamily="50" charset="-128"/>
              </a:rPr>
              <a:t>で改善</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3FD198A8-B8C9-EF0A-1AC4-3F1C617370B3}"/>
              </a:ext>
            </a:extLst>
          </p:cNvPr>
          <p:cNvSpPr/>
          <p:nvPr/>
        </p:nvSpPr>
        <p:spPr>
          <a:xfrm>
            <a:off x="1196871" y="4876353"/>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3</a:t>
            </a:r>
            <a:endParaRPr kumimoji="1" lang="ja-JP" altLang="en-US" dirty="0">
              <a:latin typeface="メイリオ" panose="020B0604030504040204" pitchFamily="50" charset="-128"/>
              <a:ea typeface="メイリオ" panose="020B0604030504040204" pitchFamily="50" charset="-128"/>
            </a:endParaRPr>
          </a:p>
        </p:txBody>
      </p:sp>
      <p:cxnSp>
        <p:nvCxnSpPr>
          <p:cNvPr id="8" name="直線コネクタ 7">
            <a:extLst>
              <a:ext uri="{FF2B5EF4-FFF2-40B4-BE49-F238E27FC236}">
                <a16:creationId xmlns:a16="http://schemas.microsoft.com/office/drawing/2014/main" id="{E210813C-8DEE-FA54-155D-445D74958DEE}"/>
              </a:ext>
            </a:extLst>
          </p:cNvPr>
          <p:cNvCxnSpPr>
            <a:cxnSpLocks/>
          </p:cNvCxnSpPr>
          <p:nvPr/>
        </p:nvCxnSpPr>
        <p:spPr>
          <a:xfrm>
            <a:off x="935374" y="4625150"/>
            <a:ext cx="2227804" cy="0"/>
          </a:xfrm>
          <a:prstGeom prst="line">
            <a:avLst/>
          </a:prstGeom>
          <a:ln w="22225">
            <a:solidFill>
              <a:srgbClr val="10253F"/>
            </a:solidFill>
            <a:prstDash val="sysDot"/>
          </a:ln>
        </p:spPr>
        <p:style>
          <a:lnRef idx="1">
            <a:schemeClr val="accent1"/>
          </a:lnRef>
          <a:fillRef idx="0">
            <a:schemeClr val="accent1"/>
          </a:fillRef>
          <a:effectRef idx="0">
            <a:schemeClr val="accent1"/>
          </a:effectRef>
          <a:fontRef idx="minor">
            <a:schemeClr val="tx1"/>
          </a:fontRef>
        </p:style>
      </p:cxnSp>
      <p:sp>
        <p:nvSpPr>
          <p:cNvPr id="9" name="四角形: 角を丸くする 8">
            <a:extLst>
              <a:ext uri="{FF2B5EF4-FFF2-40B4-BE49-F238E27FC236}">
                <a16:creationId xmlns:a16="http://schemas.microsoft.com/office/drawing/2014/main" id="{11106A60-2A0E-3A34-C04B-FD6B39C1D5A4}"/>
              </a:ext>
            </a:extLst>
          </p:cNvPr>
          <p:cNvSpPr/>
          <p:nvPr/>
        </p:nvSpPr>
        <p:spPr>
          <a:xfrm>
            <a:off x="1969203" y="4876353"/>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来場予約者を</a:t>
            </a: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に誘導し</a:t>
            </a:r>
            <a:r>
              <a:rPr lang="ja-JP" altLang="en-US" sz="1600" b="1" dirty="0">
                <a:solidFill>
                  <a:schemeClr val="tx1"/>
                </a:solidFill>
                <a:latin typeface="メイリオ" panose="020B0604030504040204" pitchFamily="50" charset="-128"/>
                <a:ea typeface="メイリオ" panose="020B0604030504040204" pitchFamily="50" charset="-128"/>
              </a:rPr>
              <a:t>、</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600" b="1" dirty="0">
                <a:solidFill>
                  <a:schemeClr val="tx1"/>
                </a:solidFill>
                <a:latin typeface="メイリオ" panose="020B0604030504040204" pitchFamily="50" charset="-128"/>
                <a:ea typeface="メイリオ" panose="020B0604030504040204" pitchFamily="50" charset="-128"/>
              </a:rPr>
              <a:t>来場・契約を最大化する機能導入</a:t>
            </a:r>
            <a:endParaRPr kumimoji="1" lang="en-US" altLang="ja-JP" sz="1600" b="1" dirty="0">
              <a:solidFill>
                <a:schemeClr val="tx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A3029AAC-3982-9BF8-4263-A579E2D8CD18}"/>
              </a:ext>
            </a:extLst>
          </p:cNvPr>
          <p:cNvSpPr txBox="1"/>
          <p:nvPr/>
        </p:nvSpPr>
        <p:spPr>
          <a:xfrm>
            <a:off x="6089995" y="5092059"/>
            <a:ext cx="3729025" cy="307777"/>
          </a:xfrm>
          <a:prstGeom prst="rect">
            <a:avLst/>
          </a:prstGeom>
          <a:noFill/>
        </p:spPr>
        <p:txBody>
          <a:bodyPr wrap="square">
            <a:spAutoFit/>
          </a:bodyPr>
          <a:lstStyle/>
          <a:p>
            <a:r>
              <a:rPr kumimoji="1" lang="en-US" altLang="ja-JP" sz="1400" dirty="0">
                <a:solidFill>
                  <a:srgbClr val="FF0000"/>
                </a:solidFill>
                <a:latin typeface="メイリオ" panose="020B0604030504040204" pitchFamily="50" charset="-128"/>
                <a:ea typeface="メイリオ" panose="020B0604030504040204" pitchFamily="50" charset="-128"/>
              </a:rPr>
              <a:t>※</a:t>
            </a:r>
            <a:r>
              <a:rPr kumimoji="1" lang="ja-JP" altLang="en-US" sz="1400" dirty="0">
                <a:solidFill>
                  <a:srgbClr val="FF0000"/>
                </a:solidFill>
                <a:latin typeface="メイリオ" panose="020B0604030504040204" pitchFamily="50" charset="-128"/>
                <a:ea typeface="メイリオ" panose="020B0604030504040204" pitchFamily="50" charset="-128"/>
              </a:rPr>
              <a:t>こちらは追加提案となります。</a:t>
            </a:r>
          </a:p>
        </p:txBody>
      </p:sp>
      <p:sp>
        <p:nvSpPr>
          <p:cNvPr id="12" name="正方形/長方形 11">
            <a:extLst>
              <a:ext uri="{FF2B5EF4-FFF2-40B4-BE49-F238E27FC236}">
                <a16:creationId xmlns:a16="http://schemas.microsoft.com/office/drawing/2014/main" id="{91F92537-9951-D07C-A457-79473ADB7BB6}"/>
              </a:ext>
            </a:extLst>
          </p:cNvPr>
          <p:cNvSpPr/>
          <p:nvPr/>
        </p:nvSpPr>
        <p:spPr>
          <a:xfrm>
            <a:off x="519138" y="4508078"/>
            <a:ext cx="9108072" cy="1884694"/>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509EA454-F811-69B0-27B8-BCAA339E8495}"/>
              </a:ext>
            </a:extLst>
          </p:cNvPr>
          <p:cNvSpPr/>
          <p:nvPr/>
        </p:nvSpPr>
        <p:spPr>
          <a:xfrm>
            <a:off x="498529" y="1958473"/>
            <a:ext cx="9108072" cy="4259443"/>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31399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790DC-678D-3E05-C773-FDA1052046DF}"/>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6AA610B-4600-841E-6AF2-DC3CBD78610D}"/>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D12A6AA-D6D7-3004-9170-58A4F45C7B5C}"/>
              </a:ext>
            </a:extLst>
          </p:cNvPr>
          <p:cNvSpPr/>
          <p:nvPr/>
        </p:nvSpPr>
        <p:spPr>
          <a:xfrm>
            <a:off x="109293" y="1739231"/>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EBB6FDE2-FD7F-0763-2144-3B4B7E6823E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前提整理</a:t>
            </a:r>
            <a:endParaRPr lang="ja-JP" altLang="en-US" sz="1100" dirty="0"/>
          </a:p>
        </p:txBody>
      </p:sp>
      <p:sp>
        <p:nvSpPr>
          <p:cNvPr id="7" name="テキスト ボックス 6">
            <a:extLst>
              <a:ext uri="{FF2B5EF4-FFF2-40B4-BE49-F238E27FC236}">
                <a16:creationId xmlns:a16="http://schemas.microsoft.com/office/drawing/2014/main" id="{5A9B76B5-AC0A-CBC3-7BC4-8CADE397E49B}"/>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各種ウェブサイトの情報をまとめております。</a:t>
            </a:r>
            <a:r>
              <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※HP</a:t>
            </a: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は別軸で</a:t>
            </a:r>
            <a:r>
              <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22,500</a:t>
            </a:r>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件程度の月間流入がある。</a:t>
            </a:r>
            <a:endParaRPr lang="ja-JP" altLang="en-US" sz="1000" dirty="0">
              <a:solidFill>
                <a:srgbClr val="FF0000"/>
              </a:solidFill>
            </a:endParaRPr>
          </a:p>
        </p:txBody>
      </p:sp>
      <p:sp>
        <p:nvSpPr>
          <p:cNvPr id="9" name="テキスト ボックス 8">
            <a:extLst>
              <a:ext uri="{FF2B5EF4-FFF2-40B4-BE49-F238E27FC236}">
                <a16:creationId xmlns:a16="http://schemas.microsoft.com/office/drawing/2014/main" id="{EEAAD122-315A-43E1-4624-FBA15A22BA5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前提整理</a:t>
            </a:r>
            <a:endParaRPr lang="ja-JP" altLang="en-US" sz="1100" dirty="0"/>
          </a:p>
        </p:txBody>
      </p:sp>
      <p:sp>
        <p:nvSpPr>
          <p:cNvPr id="2" name="テキスト ボックス 30">
            <a:extLst>
              <a:ext uri="{FF2B5EF4-FFF2-40B4-BE49-F238E27FC236}">
                <a16:creationId xmlns:a16="http://schemas.microsoft.com/office/drawing/2014/main" id="{DDCACB1F-E93D-304A-25FA-01D69B126AAD}"/>
              </a:ext>
            </a:extLst>
          </p:cNvPr>
          <p:cNvSpPr txBox="1"/>
          <p:nvPr/>
        </p:nvSpPr>
        <p:spPr>
          <a:xfrm>
            <a:off x="576260" y="2067682"/>
            <a:ext cx="3586439" cy="276999"/>
          </a:xfrm>
          <a:prstGeom prst="rect">
            <a:avLst/>
          </a:prstGeom>
          <a:solidFill>
            <a:schemeClr val="tx1"/>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1200" dirty="0">
                <a:solidFill>
                  <a:schemeClr val="bg1"/>
                </a:solidFill>
                <a:latin typeface="メイリオ" panose="020B0604030504040204" pitchFamily="50" charset="-128"/>
                <a:ea typeface="メイリオ" panose="020B0604030504040204" pitchFamily="50" charset="-128"/>
              </a:rPr>
              <a:t>IKS</a:t>
            </a:r>
            <a:endParaRPr lang="ja-JP" altLang="en-US" sz="1200" dirty="0">
              <a:solidFill>
                <a:schemeClr val="bg1"/>
              </a:solidFill>
            </a:endParaRPr>
          </a:p>
        </p:txBody>
      </p:sp>
      <p:sp>
        <p:nvSpPr>
          <p:cNvPr id="10" name="テキスト ボックス 64">
            <a:extLst>
              <a:ext uri="{FF2B5EF4-FFF2-40B4-BE49-F238E27FC236}">
                <a16:creationId xmlns:a16="http://schemas.microsoft.com/office/drawing/2014/main" id="{EFDBF68B-832E-C0B5-320B-F281FA46B2D7}"/>
              </a:ext>
            </a:extLst>
          </p:cNvPr>
          <p:cNvSpPr txBox="1"/>
          <p:nvPr/>
        </p:nvSpPr>
        <p:spPr>
          <a:xfrm>
            <a:off x="2369936" y="2450858"/>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サイト</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2" name="テキスト ボックス 66">
            <a:extLst>
              <a:ext uri="{FF2B5EF4-FFF2-40B4-BE49-F238E27FC236}">
                <a16:creationId xmlns:a16="http://schemas.microsoft.com/office/drawing/2014/main" id="{9909E789-A274-F9C3-5EDB-C9D60D1C9F0C}"/>
              </a:ext>
            </a:extLst>
          </p:cNvPr>
          <p:cNvSpPr txBox="1"/>
          <p:nvPr/>
        </p:nvSpPr>
        <p:spPr>
          <a:xfrm>
            <a:off x="2324669" y="5579700"/>
            <a:ext cx="1886247"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700" dirty="0">
                <a:solidFill>
                  <a:schemeClr val="bg1">
                    <a:lumMod val="65000"/>
                  </a:schemeClr>
                </a:solidFill>
                <a:latin typeface="メイリオ" panose="020B0604030504040204" pitchFamily="50" charset="-128"/>
                <a:ea typeface="メイリオ" panose="020B0604030504040204" pitchFamily="50" charset="-128"/>
              </a:rPr>
              <a:t>※</a:t>
            </a:r>
            <a:r>
              <a:rPr lang="ja-JP" altLang="en-US" sz="7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7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700" dirty="0">
                <a:solidFill>
                  <a:schemeClr val="bg1">
                    <a:lumMod val="65000"/>
                  </a:schemeClr>
                </a:solidFill>
                <a:latin typeface="メイリオ" panose="020B0604030504040204" pitchFamily="50" charset="-128"/>
                <a:ea typeface="メイリオ" panose="020B0604030504040204" pitchFamily="50" charset="-128"/>
              </a:rPr>
              <a:t>　をもとにした想定数値</a:t>
            </a:r>
            <a:endParaRPr lang="ja-JP" altLang="en-US" sz="1100" dirty="0">
              <a:solidFill>
                <a:schemeClr val="bg1">
                  <a:lumMod val="65000"/>
                </a:schemeClr>
              </a:solidFill>
            </a:endParaRPr>
          </a:p>
        </p:txBody>
      </p:sp>
      <p:sp>
        <p:nvSpPr>
          <p:cNvPr id="14" name="テキスト ボックス 68">
            <a:extLst>
              <a:ext uri="{FF2B5EF4-FFF2-40B4-BE49-F238E27FC236}">
                <a16:creationId xmlns:a16="http://schemas.microsoft.com/office/drawing/2014/main" id="{2CDFE333-3578-6437-FF2B-98B586A13471}"/>
              </a:ext>
            </a:extLst>
          </p:cNvPr>
          <p:cNvSpPr txBox="1"/>
          <p:nvPr/>
        </p:nvSpPr>
        <p:spPr>
          <a:xfrm>
            <a:off x="2369936" y="2766884"/>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a:t>
            </a:r>
            <a:r>
              <a:rPr lang="en-US" altLang="ja-JP" sz="800" dirty="0">
                <a:solidFill>
                  <a:schemeClr val="bg1"/>
                </a:solidFill>
                <a:latin typeface="メイリオ" panose="020B0604030504040204" pitchFamily="50" charset="-128"/>
                <a:ea typeface="メイリオ" panose="020B0604030504040204" pitchFamily="50" charset="-128"/>
              </a:rPr>
              <a:t>UU</a:t>
            </a:r>
          </a:p>
        </p:txBody>
      </p:sp>
      <p:sp>
        <p:nvSpPr>
          <p:cNvPr id="16" name="テキスト ボックス 70">
            <a:extLst>
              <a:ext uri="{FF2B5EF4-FFF2-40B4-BE49-F238E27FC236}">
                <a16:creationId xmlns:a16="http://schemas.microsoft.com/office/drawing/2014/main" id="{8A7DC604-EC73-B829-E0D2-5502AF6BE98F}"/>
              </a:ext>
            </a:extLst>
          </p:cNvPr>
          <p:cNvSpPr txBox="1"/>
          <p:nvPr/>
        </p:nvSpPr>
        <p:spPr>
          <a:xfrm>
            <a:off x="2369936" y="3082910"/>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広告費用</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72">
            <a:extLst>
              <a:ext uri="{FF2B5EF4-FFF2-40B4-BE49-F238E27FC236}">
                <a16:creationId xmlns:a16="http://schemas.microsoft.com/office/drawing/2014/main" id="{8D4FB5FB-1875-75FA-2381-2D8C2B218023}"/>
              </a:ext>
            </a:extLst>
          </p:cNvPr>
          <p:cNvSpPr txBox="1"/>
          <p:nvPr/>
        </p:nvSpPr>
        <p:spPr>
          <a:xfrm>
            <a:off x="2369936" y="5295092"/>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メイン流入元</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74">
            <a:extLst>
              <a:ext uri="{FF2B5EF4-FFF2-40B4-BE49-F238E27FC236}">
                <a16:creationId xmlns:a16="http://schemas.microsoft.com/office/drawing/2014/main" id="{73E6CFD1-485B-8899-E86B-EC6DAED66493}"/>
              </a:ext>
            </a:extLst>
          </p:cNvPr>
          <p:cNvSpPr txBox="1"/>
          <p:nvPr/>
        </p:nvSpPr>
        <p:spPr>
          <a:xfrm>
            <a:off x="2369936" y="4979066"/>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他</a:t>
            </a:r>
            <a:r>
              <a:rPr lang="en-US" altLang="ja-JP" sz="800" dirty="0">
                <a:solidFill>
                  <a:schemeClr val="bg1"/>
                </a:solidFill>
                <a:latin typeface="メイリオ" panose="020B0604030504040204" pitchFamily="50" charset="-128"/>
                <a:ea typeface="メイリオ" panose="020B0604030504040204" pitchFamily="50" charset="-128"/>
              </a:rPr>
              <a:t>SNS</a:t>
            </a:r>
          </a:p>
        </p:txBody>
      </p:sp>
      <p:sp>
        <p:nvSpPr>
          <p:cNvPr id="20" name="テキスト ボックス 75">
            <a:extLst>
              <a:ext uri="{FF2B5EF4-FFF2-40B4-BE49-F238E27FC236}">
                <a16:creationId xmlns:a16="http://schemas.microsoft.com/office/drawing/2014/main" id="{8AE421D7-AD77-D122-B17F-F5E958B064FC}"/>
              </a:ext>
            </a:extLst>
          </p:cNvPr>
          <p:cNvSpPr txBox="1"/>
          <p:nvPr/>
        </p:nvSpPr>
        <p:spPr>
          <a:xfrm>
            <a:off x="2369936" y="4663040"/>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リード保有数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1" name="テキスト ボックス 77">
            <a:extLst>
              <a:ext uri="{FF2B5EF4-FFF2-40B4-BE49-F238E27FC236}">
                <a16:creationId xmlns:a16="http://schemas.microsoft.com/office/drawing/2014/main" id="{EEED6789-7081-E316-9D80-B86D16AEDE3D}"/>
              </a:ext>
            </a:extLst>
          </p:cNvPr>
          <p:cNvSpPr txBox="1"/>
          <p:nvPr/>
        </p:nvSpPr>
        <p:spPr>
          <a:xfrm>
            <a:off x="2369936" y="3398936"/>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月間</a:t>
            </a: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2" name="テキスト ボックス 79">
            <a:extLst>
              <a:ext uri="{FF2B5EF4-FFF2-40B4-BE49-F238E27FC236}">
                <a16:creationId xmlns:a16="http://schemas.microsoft.com/office/drawing/2014/main" id="{F102C8FE-EF15-25DB-680D-DC37B3B4B072}"/>
              </a:ext>
            </a:extLst>
          </p:cNvPr>
          <p:cNvSpPr txBox="1"/>
          <p:nvPr/>
        </p:nvSpPr>
        <p:spPr>
          <a:xfrm>
            <a:off x="2369936" y="3714962"/>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CV</a:t>
            </a:r>
            <a:r>
              <a:rPr lang="ja-JP" altLang="en-US" sz="800" dirty="0">
                <a:solidFill>
                  <a:schemeClr val="bg1"/>
                </a:solidFill>
                <a:latin typeface="メイリオ" panose="020B0604030504040204" pitchFamily="50" charset="-128"/>
                <a:ea typeface="メイリオ" panose="020B0604030504040204" pitchFamily="50" charset="-128"/>
              </a:rPr>
              <a:t>地点</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81">
            <a:extLst>
              <a:ext uri="{FF2B5EF4-FFF2-40B4-BE49-F238E27FC236}">
                <a16:creationId xmlns:a16="http://schemas.microsoft.com/office/drawing/2014/main" id="{F5DDAF56-C9AB-CCEF-6AA3-65AE7A58FA7B}"/>
              </a:ext>
            </a:extLst>
          </p:cNvPr>
          <p:cNvSpPr txBox="1"/>
          <p:nvPr/>
        </p:nvSpPr>
        <p:spPr>
          <a:xfrm>
            <a:off x="2369936" y="4030988"/>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dirty="0">
                <a:solidFill>
                  <a:schemeClr val="bg1"/>
                </a:solidFill>
                <a:latin typeface="メイリオ" panose="020B0604030504040204" pitchFamily="50" charset="-128"/>
                <a:ea typeface="メイリオ" panose="020B0604030504040204" pitchFamily="50" charset="-128"/>
              </a:rPr>
              <a:t>LINE</a:t>
            </a:r>
            <a:r>
              <a:rPr lang="ja-JP" altLang="en-US" sz="800" dirty="0">
                <a:solidFill>
                  <a:schemeClr val="bg1"/>
                </a:solidFill>
                <a:latin typeface="メイリオ" panose="020B0604030504040204" pitchFamily="50" charset="-128"/>
                <a:ea typeface="メイリオ" panose="020B0604030504040204" pitchFamily="50" charset="-128"/>
              </a:rPr>
              <a:t>動線</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4" name="テキスト ボックス 83">
            <a:extLst>
              <a:ext uri="{FF2B5EF4-FFF2-40B4-BE49-F238E27FC236}">
                <a16:creationId xmlns:a16="http://schemas.microsoft.com/office/drawing/2014/main" id="{E00ADA21-73AF-B65E-C5C4-952C846CD3EB}"/>
              </a:ext>
            </a:extLst>
          </p:cNvPr>
          <p:cNvSpPr txBox="1"/>
          <p:nvPr/>
        </p:nvSpPr>
        <p:spPr>
          <a:xfrm>
            <a:off x="2369936" y="4347014"/>
            <a:ext cx="890346" cy="215444"/>
          </a:xfrm>
          <a:prstGeom prst="rect">
            <a:avLst/>
          </a:prstGeom>
          <a:solidFill>
            <a:schemeClr val="tx1">
              <a:lumMod val="50000"/>
              <a:lumOff val="50000"/>
            </a:schemeClr>
          </a:solid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dirty="0">
                <a:solidFill>
                  <a:schemeClr val="bg1"/>
                </a:solidFill>
                <a:latin typeface="メイリオ" panose="020B0604030504040204" pitchFamily="50" charset="-128"/>
                <a:ea typeface="メイリオ" panose="020B0604030504040204" pitchFamily="50" charset="-128"/>
              </a:rPr>
              <a:t>広告余地</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26" name="テキスト ボックス 105">
            <a:extLst>
              <a:ext uri="{FF2B5EF4-FFF2-40B4-BE49-F238E27FC236}">
                <a16:creationId xmlns:a16="http://schemas.microsoft.com/office/drawing/2014/main" id="{220CC8D3-E726-D6BF-8E5D-845AB76F28B1}"/>
              </a:ext>
            </a:extLst>
          </p:cNvPr>
          <p:cNvSpPr txBox="1"/>
          <p:nvPr/>
        </p:nvSpPr>
        <p:spPr>
          <a:xfrm>
            <a:off x="3299730" y="2444135"/>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7,920</a:t>
            </a:r>
          </a:p>
        </p:txBody>
      </p:sp>
      <p:sp>
        <p:nvSpPr>
          <p:cNvPr id="28" name="テキスト ボックス 107">
            <a:extLst>
              <a:ext uri="{FF2B5EF4-FFF2-40B4-BE49-F238E27FC236}">
                <a16:creationId xmlns:a16="http://schemas.microsoft.com/office/drawing/2014/main" id="{F6CF16F1-3BA7-E88D-17CE-2BAD7ED199AB}"/>
              </a:ext>
            </a:extLst>
          </p:cNvPr>
          <p:cNvSpPr txBox="1"/>
          <p:nvPr/>
        </p:nvSpPr>
        <p:spPr>
          <a:xfrm>
            <a:off x="3299730" y="2760160"/>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800" b="1" dirty="0">
                <a:latin typeface="メイリオ" panose="020B0604030504040204" pitchFamily="50" charset="-128"/>
                <a:ea typeface="メイリオ" panose="020B0604030504040204" pitchFamily="50" charset="-128"/>
              </a:rPr>
              <a:t>1,800</a:t>
            </a:r>
            <a:endParaRPr lang="en-US" altLang="ja-JP" sz="500" b="1" dirty="0">
              <a:latin typeface="メイリオ" panose="020B0604030504040204" pitchFamily="50" charset="-128"/>
              <a:ea typeface="メイリオ" panose="020B0604030504040204" pitchFamily="50" charset="-128"/>
            </a:endParaRPr>
          </a:p>
        </p:txBody>
      </p:sp>
      <p:sp>
        <p:nvSpPr>
          <p:cNvPr id="29" name="テキスト ボックス 109">
            <a:extLst>
              <a:ext uri="{FF2B5EF4-FFF2-40B4-BE49-F238E27FC236}">
                <a16:creationId xmlns:a16="http://schemas.microsoft.com/office/drawing/2014/main" id="{479C8DA7-2AA0-67FE-A817-DABEA3C7D057}"/>
              </a:ext>
            </a:extLst>
          </p:cNvPr>
          <p:cNvSpPr txBox="1"/>
          <p:nvPr/>
        </p:nvSpPr>
        <p:spPr>
          <a:xfrm>
            <a:off x="3299730" y="3076187"/>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0" name="テキスト ボックス 111">
            <a:extLst>
              <a:ext uri="{FF2B5EF4-FFF2-40B4-BE49-F238E27FC236}">
                <a16:creationId xmlns:a16="http://schemas.microsoft.com/office/drawing/2014/main" id="{3917C440-F620-BF4E-9B8C-5B6347D3BBCC}"/>
              </a:ext>
            </a:extLst>
          </p:cNvPr>
          <p:cNvSpPr txBox="1"/>
          <p:nvPr/>
        </p:nvSpPr>
        <p:spPr>
          <a:xfrm>
            <a:off x="3299730" y="5288369"/>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オーガニック</a:t>
            </a:r>
            <a:endParaRPr lang="en-US" altLang="ja-JP" sz="800" b="1" dirty="0">
              <a:latin typeface="メイリオ" panose="020B0604030504040204" pitchFamily="50" charset="-128"/>
              <a:ea typeface="メイリオ" panose="020B0604030504040204" pitchFamily="50" charset="-128"/>
            </a:endParaRPr>
          </a:p>
        </p:txBody>
      </p:sp>
      <p:sp>
        <p:nvSpPr>
          <p:cNvPr id="32" name="テキスト ボックス 113">
            <a:extLst>
              <a:ext uri="{FF2B5EF4-FFF2-40B4-BE49-F238E27FC236}">
                <a16:creationId xmlns:a16="http://schemas.microsoft.com/office/drawing/2014/main" id="{2A8CEC29-D2FF-C856-04B6-8A53C3349B15}"/>
              </a:ext>
            </a:extLst>
          </p:cNvPr>
          <p:cNvSpPr txBox="1"/>
          <p:nvPr/>
        </p:nvSpPr>
        <p:spPr>
          <a:xfrm>
            <a:off x="3299730" y="4972342"/>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3" name="テキスト ボックス 115">
            <a:extLst>
              <a:ext uri="{FF2B5EF4-FFF2-40B4-BE49-F238E27FC236}">
                <a16:creationId xmlns:a16="http://schemas.microsoft.com/office/drawing/2014/main" id="{626FE666-ECC2-7B73-4743-F116F6339C2C}"/>
              </a:ext>
            </a:extLst>
          </p:cNvPr>
          <p:cNvSpPr txBox="1"/>
          <p:nvPr/>
        </p:nvSpPr>
        <p:spPr>
          <a:xfrm>
            <a:off x="3299730" y="4656317"/>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5" name="テキスト ボックス 117">
            <a:extLst>
              <a:ext uri="{FF2B5EF4-FFF2-40B4-BE49-F238E27FC236}">
                <a16:creationId xmlns:a16="http://schemas.microsoft.com/office/drawing/2014/main" id="{02E2D581-C0CA-9964-B2A1-4F047D6C2507}"/>
              </a:ext>
            </a:extLst>
          </p:cNvPr>
          <p:cNvSpPr txBox="1"/>
          <p:nvPr/>
        </p:nvSpPr>
        <p:spPr>
          <a:xfrm>
            <a:off x="3299730" y="3392213"/>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8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37" name="テキスト ボックス 119">
            <a:extLst>
              <a:ext uri="{FF2B5EF4-FFF2-40B4-BE49-F238E27FC236}">
                <a16:creationId xmlns:a16="http://schemas.microsoft.com/office/drawing/2014/main" id="{84B64FD3-01D4-5E9E-C73E-7CF1C788C43B}"/>
              </a:ext>
            </a:extLst>
          </p:cNvPr>
          <p:cNvSpPr txBox="1"/>
          <p:nvPr/>
        </p:nvSpPr>
        <p:spPr>
          <a:xfrm>
            <a:off x="3299730" y="3704391"/>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solidFill>
                  <a:srgbClr val="FF0000"/>
                </a:solidFill>
                <a:latin typeface="メイリオ" panose="020B0604030504040204" pitchFamily="50" charset="-128"/>
                <a:ea typeface="メイリオ" panose="020B0604030504040204" pitchFamily="50" charset="-128"/>
              </a:rPr>
              <a:t>無料体験</a:t>
            </a:r>
            <a:r>
              <a:rPr lang="en-US" altLang="ja-JP" sz="800" b="1" dirty="0">
                <a:solidFill>
                  <a:srgbClr val="FF0000"/>
                </a:solidFill>
                <a:latin typeface="メイリオ" panose="020B0604030504040204" pitchFamily="50" charset="-128"/>
                <a:ea typeface="メイリオ" panose="020B0604030504040204" pitchFamily="50" charset="-128"/>
              </a:rPr>
              <a:t>,</a:t>
            </a:r>
            <a:r>
              <a:rPr lang="ja-JP" altLang="en-US" sz="800" b="1" dirty="0">
                <a:solidFill>
                  <a:srgbClr val="FF0000"/>
                </a:solidFill>
                <a:latin typeface="メイリオ" panose="020B0604030504040204" pitchFamily="50" charset="-128"/>
                <a:ea typeface="メイリオ" panose="020B0604030504040204" pitchFamily="50" charset="-128"/>
              </a:rPr>
              <a:t>資料</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38" name="テキスト ボックス 121">
            <a:extLst>
              <a:ext uri="{FF2B5EF4-FFF2-40B4-BE49-F238E27FC236}">
                <a16:creationId xmlns:a16="http://schemas.microsoft.com/office/drawing/2014/main" id="{0FE4E5C6-659D-3E08-33F2-A9687B29B4A1}"/>
              </a:ext>
            </a:extLst>
          </p:cNvPr>
          <p:cNvSpPr txBox="1"/>
          <p:nvPr/>
        </p:nvSpPr>
        <p:spPr>
          <a:xfrm>
            <a:off x="3299730" y="4024265"/>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未設定</a:t>
            </a:r>
            <a:endParaRPr lang="en-US" altLang="ja-JP" sz="800" b="1" dirty="0">
              <a:latin typeface="メイリオ" panose="020B0604030504040204" pitchFamily="50" charset="-128"/>
              <a:ea typeface="メイリオ" panose="020B0604030504040204" pitchFamily="50" charset="-128"/>
            </a:endParaRPr>
          </a:p>
        </p:txBody>
      </p:sp>
      <p:sp>
        <p:nvSpPr>
          <p:cNvPr id="39" name="テキスト ボックス 123">
            <a:extLst>
              <a:ext uri="{FF2B5EF4-FFF2-40B4-BE49-F238E27FC236}">
                <a16:creationId xmlns:a16="http://schemas.microsoft.com/office/drawing/2014/main" id="{4BE16659-4135-9AB8-968E-42110A68D309}"/>
              </a:ext>
            </a:extLst>
          </p:cNvPr>
          <p:cNvSpPr txBox="1"/>
          <p:nvPr/>
        </p:nvSpPr>
        <p:spPr>
          <a:xfrm>
            <a:off x="3299730" y="4336443"/>
            <a:ext cx="932716" cy="215444"/>
          </a:xfrm>
          <a:prstGeom prst="rect">
            <a:avLst/>
          </a:prstGeom>
          <a:solidFill>
            <a:schemeClr val="bg1">
              <a:lumMod val="95000"/>
            </a:schemeClr>
          </a:solidFill>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800" b="1" dirty="0">
                <a:latin typeface="メイリオ" panose="020B0604030504040204" pitchFamily="50" charset="-128"/>
                <a:ea typeface="メイリオ" panose="020B0604030504040204" pitchFamily="50" charset="-128"/>
              </a:rPr>
              <a:t>有</a:t>
            </a:r>
            <a:endParaRPr lang="en-US" altLang="ja-JP" sz="800" b="1"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CEAA3AF5-99C7-FEB8-8BD9-205BAE7B7006}"/>
              </a:ext>
            </a:extLst>
          </p:cNvPr>
          <p:cNvPicPr>
            <a:picLocks noChangeAspect="1"/>
          </p:cNvPicPr>
          <p:nvPr/>
        </p:nvPicPr>
        <p:blipFill>
          <a:blip r:embed="rId2"/>
          <a:stretch>
            <a:fillRect/>
          </a:stretch>
        </p:blipFill>
        <p:spPr>
          <a:xfrm>
            <a:off x="485717" y="2402973"/>
            <a:ext cx="1732686" cy="3519237"/>
          </a:xfrm>
          <a:prstGeom prst="rect">
            <a:avLst/>
          </a:prstGeom>
        </p:spPr>
      </p:pic>
      <p:sp>
        <p:nvSpPr>
          <p:cNvPr id="8" name="正方形/長方形 7">
            <a:extLst>
              <a:ext uri="{FF2B5EF4-FFF2-40B4-BE49-F238E27FC236}">
                <a16:creationId xmlns:a16="http://schemas.microsoft.com/office/drawing/2014/main" id="{78CF895B-98B8-60D5-C70A-BDFB10634CC8}"/>
              </a:ext>
            </a:extLst>
          </p:cNvPr>
          <p:cNvSpPr/>
          <p:nvPr/>
        </p:nvSpPr>
        <p:spPr>
          <a:xfrm>
            <a:off x="4640921" y="2440537"/>
            <a:ext cx="1562100" cy="1568048"/>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latin typeface="メイリオ" panose="020B0604030504040204" pitchFamily="50" charset="-128"/>
                <a:ea typeface="メイリオ" panose="020B0604030504040204" pitchFamily="50" charset="-128"/>
              </a:rPr>
              <a:t>LINE</a:t>
            </a:r>
          </a:p>
          <a:p>
            <a:pPr algn="ctr"/>
            <a:r>
              <a:rPr lang="ja-JP" altLang="en-US" sz="1600" b="1" dirty="0">
                <a:latin typeface="メイリオ" panose="020B0604030504040204" pitchFamily="50" charset="-128"/>
                <a:ea typeface="メイリオ" panose="020B0604030504040204" pitchFamily="50" charset="-128"/>
              </a:rPr>
              <a:t>未実施</a:t>
            </a:r>
            <a:endParaRPr kumimoji="1" lang="ja-JP" altLang="en-US" sz="1600" b="1"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C6B57E0-E104-444E-249F-2CD4132F9456}"/>
              </a:ext>
            </a:extLst>
          </p:cNvPr>
          <p:cNvSpPr txBox="1"/>
          <p:nvPr/>
        </p:nvSpPr>
        <p:spPr>
          <a:xfrm>
            <a:off x="2369479" y="5956641"/>
            <a:ext cx="4963884" cy="338554"/>
          </a:xfrm>
          <a:prstGeom prst="rect">
            <a:avLst/>
          </a:prstGeom>
          <a:noFill/>
        </p:spPr>
        <p:txBody>
          <a:bodyPr wrap="square">
            <a:spAutoFit/>
          </a:bodyPr>
          <a:lstStyle/>
          <a:p>
            <a:pPr algn="ctr"/>
            <a:r>
              <a:rPr kumimoji="1" lang="en-US" altLang="ja-JP" sz="1600" b="1" dirty="0">
                <a:latin typeface="メイリオ" panose="020B0604030504040204" pitchFamily="50" charset="-128"/>
                <a:ea typeface="メイリオ" panose="020B0604030504040204" pitchFamily="50" charset="-128"/>
              </a:rPr>
              <a:t>IKS</a:t>
            </a:r>
            <a:r>
              <a:rPr kumimoji="1" lang="ja-JP" altLang="en-US" sz="1600" b="1" dirty="0">
                <a:latin typeface="メイリオ" panose="020B0604030504040204" pitchFamily="50" charset="-128"/>
                <a:ea typeface="メイリオ" panose="020B0604030504040204" pitchFamily="50" charset="-128"/>
              </a:rPr>
              <a:t>を中心に資料を展開。</a:t>
            </a:r>
          </a:p>
        </p:txBody>
      </p:sp>
    </p:spTree>
    <p:extLst>
      <p:ext uri="{BB962C8B-B14F-4D97-AF65-F5344CB8AC3E}">
        <p14:creationId xmlns:p14="http://schemas.microsoft.com/office/powerpoint/2010/main" val="3641462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3B288-9F85-B08C-156D-3B64DE265B26}"/>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7754A74-EBA7-4943-9525-C021AA4D5069}"/>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E888B3D-2DE6-A064-C52B-2008B4BFE98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2AC826CC-DBAC-5C53-7BB8-2088F4E28BA6}"/>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友だち追加動線</a:t>
            </a:r>
            <a:endParaRPr lang="ja-JP" altLang="en-US" sz="1100" dirty="0"/>
          </a:p>
        </p:txBody>
      </p:sp>
      <p:sp>
        <p:nvSpPr>
          <p:cNvPr id="7" name="テキスト ボックス 6">
            <a:extLst>
              <a:ext uri="{FF2B5EF4-FFF2-40B4-BE49-F238E27FC236}">
                <a16:creationId xmlns:a16="http://schemas.microsoft.com/office/drawing/2014/main" id="{82E5F44A-C213-41F9-5E55-7CA76E06F735}"/>
              </a:ext>
            </a:extLst>
          </p:cNvPr>
          <p:cNvSpPr txBox="1"/>
          <p:nvPr/>
        </p:nvSpPr>
        <p:spPr>
          <a:xfrm>
            <a:off x="96788" y="1202790"/>
            <a:ext cx="9687414" cy="469359"/>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友だち追加率を改善することで、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施策自体の効果を引き上げる。</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050"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参照：</a:t>
            </a:r>
            <a:r>
              <a:rPr lang="en-US" altLang="ja-JP" sz="1050"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https://www.yarukiswitch.jp/school/#iks</a:t>
            </a:r>
            <a:endParaRPr lang="ja-JP" altLang="en-US" sz="700" dirty="0">
              <a:solidFill>
                <a:schemeClr val="tx2"/>
              </a:solidFill>
            </a:endParaRPr>
          </a:p>
        </p:txBody>
      </p:sp>
      <p:sp>
        <p:nvSpPr>
          <p:cNvPr id="9" name="テキスト ボックス 8">
            <a:extLst>
              <a:ext uri="{FF2B5EF4-FFF2-40B4-BE49-F238E27FC236}">
                <a16:creationId xmlns:a16="http://schemas.microsoft.com/office/drawing/2014/main" id="{312F2F70-E390-571B-6698-5183D234429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B4524301-57DF-9E40-3AC7-1E848171A8C3}"/>
              </a:ext>
            </a:extLst>
          </p:cNvPr>
          <p:cNvSpPr txBox="1"/>
          <p:nvPr/>
        </p:nvSpPr>
        <p:spPr>
          <a:xfrm>
            <a:off x="322217" y="1931396"/>
            <a:ext cx="4502332" cy="307777"/>
          </a:xfrm>
          <a:prstGeom prst="rect">
            <a:avLst/>
          </a:prstGeom>
          <a:noFill/>
        </p:spPr>
        <p:txBody>
          <a:bodyPr wrap="square">
            <a:spAutoFit/>
          </a:bodyPr>
          <a:lstStyle/>
          <a:p>
            <a:r>
              <a:rPr lang="ja-JP" altLang="en-US" sz="1400" b="1"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■ポップアップ作動例</a:t>
            </a:r>
            <a:endParaRPr lang="ja-JP" altLang="en-US" b="1" dirty="0">
              <a:solidFill>
                <a:schemeClr val="tx2"/>
              </a:solidFill>
            </a:endParaRPr>
          </a:p>
        </p:txBody>
      </p:sp>
      <p:sp>
        <p:nvSpPr>
          <p:cNvPr id="11" name="Shape 3">
            <a:extLst>
              <a:ext uri="{FF2B5EF4-FFF2-40B4-BE49-F238E27FC236}">
                <a16:creationId xmlns:a16="http://schemas.microsoft.com/office/drawing/2014/main" id="{70E7F954-B273-1FC3-2FB0-A655780895DC}"/>
              </a:ext>
            </a:extLst>
          </p:cNvPr>
          <p:cNvSpPr/>
          <p:nvPr/>
        </p:nvSpPr>
        <p:spPr>
          <a:xfrm>
            <a:off x="496817" y="5365586"/>
            <a:ext cx="8732562" cy="0"/>
          </a:xfrm>
          <a:prstGeom prst="line">
            <a:avLst/>
          </a:prstGeom>
          <a:noFill/>
          <a:ln w="6350">
            <a:solidFill>
              <a:srgbClr val="D9DCD6"/>
            </a:solidFill>
            <a:prstDash val="solid"/>
          </a:ln>
        </p:spPr>
        <p:txBody>
          <a:bodyPr/>
          <a:lstStyle/>
          <a:p>
            <a:endParaRPr lang="ja-JP" altLang="en-US"/>
          </a:p>
        </p:txBody>
      </p:sp>
      <p:pic>
        <p:nvPicPr>
          <p:cNvPr id="12" name="table">
            <a:extLst>
              <a:ext uri="{FF2B5EF4-FFF2-40B4-BE49-F238E27FC236}">
                <a16:creationId xmlns:a16="http://schemas.microsoft.com/office/drawing/2014/main" id="{10AE6EDA-3A07-7907-4CF5-3190EEDEC869}"/>
              </a:ext>
            </a:extLst>
          </p:cNvPr>
          <p:cNvPicPr>
            <a:picLocks noChangeAspect="1"/>
          </p:cNvPicPr>
          <p:nvPr/>
        </p:nvPicPr>
        <p:blipFill>
          <a:blip r:embed="rId2"/>
          <a:stretch>
            <a:fillRect/>
          </a:stretch>
        </p:blipFill>
        <p:spPr>
          <a:xfrm>
            <a:off x="460785" y="2342432"/>
            <a:ext cx="8716818" cy="2952536"/>
          </a:xfrm>
          <a:prstGeom prst="rect">
            <a:avLst/>
          </a:prstGeom>
        </p:spPr>
      </p:pic>
      <p:sp>
        <p:nvSpPr>
          <p:cNvPr id="14" name="Text 5">
            <a:extLst>
              <a:ext uri="{FF2B5EF4-FFF2-40B4-BE49-F238E27FC236}">
                <a16:creationId xmlns:a16="http://schemas.microsoft.com/office/drawing/2014/main" id="{7C4AFE7B-A340-B9D3-46CE-6F2182786B9D}"/>
              </a:ext>
            </a:extLst>
          </p:cNvPr>
          <p:cNvSpPr/>
          <p:nvPr/>
        </p:nvSpPr>
        <p:spPr>
          <a:xfrm>
            <a:off x="516460" y="5678308"/>
            <a:ext cx="720599" cy="263200"/>
          </a:xfrm>
          <a:custGeom>
            <a:avLst/>
            <a:gdLst/>
            <a:ahLst/>
            <a:cxnLst/>
            <a:rect l="l" t="t" r="r" b="b"/>
            <a:pathLst>
              <a:path w="792659" h="289520">
                <a:moveTo>
                  <a:pt x="144760" y="0"/>
                </a:moveTo>
                <a:lnTo>
                  <a:pt x="647898" y="0"/>
                </a:lnTo>
                <a:arcTo wR="144760" hR="144760" stAng="16200000" swAng="5400000"/>
                <a:lnTo>
                  <a:pt x="792659" y="144760"/>
                </a:lnTo>
                <a:arcTo wR="144760" hR="144760" stAng="0" swAng="5400000"/>
                <a:lnTo>
                  <a:pt x="144760" y="289520"/>
                </a:lnTo>
                <a:arcTo wR="144760" hR="144760" stAng="5400000" swAng="5400000"/>
                <a:lnTo>
                  <a:pt x="0" y="144760"/>
                </a:lnTo>
                <a:arcTo wR="144760" hR="144760" stAng="10800000" swAng="5400000"/>
                <a:close/>
              </a:path>
            </a:pathLst>
          </a:custGeom>
          <a:solidFill>
            <a:srgbClr val="05803F"/>
          </a:solidFill>
          <a:ln/>
        </p:spPr>
        <p:txBody>
          <a:bodyPr wrap="none" lIns="114300" tIns="38100" rIns="63500" bIns="1270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80"/>
              </a:lnSpc>
              <a:buNone/>
            </a:pPr>
            <a:r>
              <a:rPr lang="ja-JP" altLang="en-US" sz="1200" b="1" dirty="0">
                <a:solidFill>
                  <a:srgbClr val="F7F6F2"/>
                </a:solidFill>
                <a:latin typeface="Noto Sans JP" pitchFamily="34" charset="0"/>
                <a:ea typeface="Noto Sans JP" pitchFamily="34" charset="-122"/>
                <a:cs typeface="Noto Sans JP" pitchFamily="34" charset="-120"/>
              </a:rPr>
              <a:t>優先</a:t>
            </a:r>
            <a:endParaRPr lang="en-US" sz="1200" dirty="0"/>
          </a:p>
        </p:txBody>
      </p:sp>
      <p:sp>
        <p:nvSpPr>
          <p:cNvPr id="15" name="Text 6">
            <a:extLst>
              <a:ext uri="{FF2B5EF4-FFF2-40B4-BE49-F238E27FC236}">
                <a16:creationId xmlns:a16="http://schemas.microsoft.com/office/drawing/2014/main" id="{A78EA7F3-ADE0-5644-FBBF-C7596F46B4CF}"/>
              </a:ext>
            </a:extLst>
          </p:cNvPr>
          <p:cNvSpPr/>
          <p:nvPr/>
        </p:nvSpPr>
        <p:spPr>
          <a:xfrm>
            <a:off x="1473949" y="5655210"/>
            <a:ext cx="7755430" cy="44323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20"/>
              </a:lnSpc>
              <a:buNone/>
            </a:pPr>
            <a:r>
              <a:rPr lang="en-US" sz="1300" b="1" dirty="0">
                <a:solidFill>
                  <a:srgbClr val="1F2A37"/>
                </a:solidFill>
                <a:latin typeface="Noto Sans JP" pitchFamily="34" charset="0"/>
                <a:ea typeface="Noto Sans JP" pitchFamily="34" charset="-122"/>
                <a:cs typeface="Noto Sans JP" pitchFamily="34" charset="-120"/>
              </a:rPr>
              <a:t>1 料金・2 空き通知・4 </a:t>
            </a:r>
            <a:r>
              <a:rPr lang="en-US" sz="1300" b="1" dirty="0" err="1">
                <a:solidFill>
                  <a:srgbClr val="1F2A37"/>
                </a:solidFill>
                <a:latin typeface="Noto Sans JP" pitchFamily="34" charset="0"/>
                <a:ea typeface="Noto Sans JP" pitchFamily="34" charset="-122"/>
                <a:cs typeface="Noto Sans JP" pitchFamily="34" charset="-120"/>
              </a:rPr>
              <a:t>キャンセル待ち</a:t>
            </a:r>
            <a:r>
              <a:rPr lang="en-US" sz="1300" dirty="0" err="1">
                <a:solidFill>
                  <a:srgbClr val="1F2A37"/>
                </a:solidFill>
                <a:latin typeface="Noto Sans JP" pitchFamily="34" charset="0"/>
                <a:ea typeface="Noto Sans JP" pitchFamily="34" charset="-122"/>
                <a:cs typeface="Noto Sans JP" pitchFamily="34" charset="-120"/>
              </a:rPr>
              <a:t>から。サイト未掲載の情報で登録理由が明確</a:t>
            </a:r>
            <a:r>
              <a:rPr lang="en-US" sz="1300" dirty="0">
                <a:solidFill>
                  <a:srgbClr val="1F2A37"/>
                </a:solidFill>
                <a:latin typeface="Noto Sans JP" pitchFamily="34" charset="0"/>
                <a:ea typeface="Noto Sans JP" pitchFamily="34" charset="-122"/>
                <a:cs typeface="Noto Sans JP" pitchFamily="34" charset="-120"/>
              </a:rPr>
              <a:t>。</a:t>
            </a:r>
          </a:p>
          <a:p>
            <a:pPr marL="0" indent="0" algn="l">
              <a:lnSpc>
                <a:spcPts val="1820"/>
              </a:lnSpc>
              <a:buNone/>
            </a:pPr>
            <a:r>
              <a:rPr lang="en-US" sz="1300" dirty="0" err="1">
                <a:solidFill>
                  <a:srgbClr val="1F2A37"/>
                </a:solidFill>
                <a:latin typeface="Noto Sans JP" pitchFamily="34" charset="0"/>
                <a:ea typeface="Noto Sans JP" pitchFamily="34" charset="-122"/>
                <a:cs typeface="Noto Sans JP" pitchFamily="34" charset="-120"/>
              </a:rPr>
              <a:t>共通でスマホ固定メニューにLINEボタンを追加</a:t>
            </a:r>
            <a:r>
              <a:rPr lang="en-US" sz="1300" dirty="0">
                <a:solidFill>
                  <a:srgbClr val="1F2A37"/>
                </a:solidFill>
                <a:latin typeface="Noto Sans JP" pitchFamily="34" charset="0"/>
                <a:ea typeface="Noto Sans JP" pitchFamily="34" charset="-122"/>
                <a:cs typeface="Noto Sans JP" pitchFamily="34" charset="-120"/>
              </a:rPr>
              <a:t>。</a:t>
            </a:r>
            <a:endParaRPr lang="en-US" sz="1300" dirty="0"/>
          </a:p>
        </p:txBody>
      </p:sp>
      <p:sp>
        <p:nvSpPr>
          <p:cNvPr id="10" name="テキスト ボックス 9">
            <a:extLst>
              <a:ext uri="{FF2B5EF4-FFF2-40B4-BE49-F238E27FC236}">
                <a16:creationId xmlns:a16="http://schemas.microsoft.com/office/drawing/2014/main" id="{6038E1F5-4334-BA84-DEE3-F9BDB80AAA49}"/>
              </a:ext>
            </a:extLst>
          </p:cNvPr>
          <p:cNvSpPr txBox="1"/>
          <p:nvPr/>
        </p:nvSpPr>
        <p:spPr>
          <a:xfrm>
            <a:off x="7882144" y="1135778"/>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Tree>
    <p:extLst>
      <p:ext uri="{BB962C8B-B14F-4D97-AF65-F5344CB8AC3E}">
        <p14:creationId xmlns:p14="http://schemas.microsoft.com/office/powerpoint/2010/main" val="1064585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251BB-774B-196E-9D00-E531833061A6}"/>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A324E59-C2C2-D71C-F343-9A23292DA39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447D701E-DEB7-4379-3C84-0EF25FF24CF0}"/>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DD6F140-1B38-D87B-7A07-798B0CC705B1}"/>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セグメント設定</a:t>
            </a:r>
            <a:endParaRPr lang="ja-JP" altLang="en-US" sz="1100" dirty="0"/>
          </a:p>
        </p:txBody>
      </p:sp>
      <p:sp>
        <p:nvSpPr>
          <p:cNvPr id="7" name="テキスト ボックス 6">
            <a:extLst>
              <a:ext uri="{FF2B5EF4-FFF2-40B4-BE49-F238E27FC236}">
                <a16:creationId xmlns:a16="http://schemas.microsoft.com/office/drawing/2014/main" id="{3DDD989E-F65C-5907-CDD3-34C9A8C51549}"/>
              </a:ext>
            </a:extLst>
          </p:cNvPr>
          <p:cNvSpPr txBox="1"/>
          <p:nvPr/>
        </p:nvSpPr>
        <p:spPr>
          <a:xfrm>
            <a:off x="96788" y="1202790"/>
            <a:ext cx="9687414" cy="523220"/>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複数の導線を用いながら、効果的な運用を実現するための</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ターゲット（セグメント）設定を行える設計を行う。</a:t>
            </a:r>
            <a:endParaRPr lang="ja-JP" altLang="en-US" sz="1000" dirty="0"/>
          </a:p>
        </p:txBody>
      </p:sp>
      <p:sp>
        <p:nvSpPr>
          <p:cNvPr id="9" name="テキスト ボックス 8">
            <a:extLst>
              <a:ext uri="{FF2B5EF4-FFF2-40B4-BE49-F238E27FC236}">
                <a16:creationId xmlns:a16="http://schemas.microsoft.com/office/drawing/2014/main" id="{700D95A4-5083-8297-C814-E917751E6F95}"/>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pic>
        <p:nvPicPr>
          <p:cNvPr id="27" name="図 26">
            <a:extLst>
              <a:ext uri="{FF2B5EF4-FFF2-40B4-BE49-F238E27FC236}">
                <a16:creationId xmlns:a16="http://schemas.microsoft.com/office/drawing/2014/main" id="{AC485110-F5EA-F78A-29E4-2F1D546FA496}"/>
              </a:ext>
            </a:extLst>
          </p:cNvPr>
          <p:cNvPicPr>
            <a:picLocks noChangeAspect="1"/>
          </p:cNvPicPr>
          <p:nvPr/>
        </p:nvPicPr>
        <p:blipFill>
          <a:blip r:embed="rId2"/>
          <a:stretch>
            <a:fillRect/>
          </a:stretch>
        </p:blipFill>
        <p:spPr>
          <a:xfrm>
            <a:off x="5360423" y="2384948"/>
            <a:ext cx="4073138" cy="1652679"/>
          </a:xfrm>
          <a:prstGeom prst="rect">
            <a:avLst/>
          </a:prstGeom>
        </p:spPr>
      </p:pic>
      <p:sp>
        <p:nvSpPr>
          <p:cNvPr id="29" name="テキスト ボックス 28">
            <a:extLst>
              <a:ext uri="{FF2B5EF4-FFF2-40B4-BE49-F238E27FC236}">
                <a16:creationId xmlns:a16="http://schemas.microsoft.com/office/drawing/2014/main" id="{4A784CC9-06A3-36AE-DC4F-CADF6E84317D}"/>
              </a:ext>
            </a:extLst>
          </p:cNvPr>
          <p:cNvSpPr txBox="1"/>
          <p:nvPr/>
        </p:nvSpPr>
        <p:spPr>
          <a:xfrm>
            <a:off x="322217" y="1931396"/>
            <a:ext cx="4502332" cy="307777"/>
          </a:xfrm>
          <a:prstGeom prst="rect">
            <a:avLst/>
          </a:prstGeom>
          <a:noFill/>
        </p:spPr>
        <p:txBody>
          <a:bodyPr wrap="square">
            <a:spAutoFit/>
          </a:bodyPr>
          <a:lstStyle/>
          <a:p>
            <a:r>
              <a:rPr lang="ja-JP" altLang="en-US" sz="1400" b="1"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■追加した動線別（</a:t>
            </a:r>
            <a:r>
              <a:rPr lang="en-US" altLang="ja-JP" sz="1400" b="1"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b="1"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表示ページ）</a:t>
            </a:r>
            <a:endParaRPr lang="ja-JP" altLang="en-US" b="1" dirty="0">
              <a:solidFill>
                <a:schemeClr val="tx2"/>
              </a:solidFill>
            </a:endParaRPr>
          </a:p>
        </p:txBody>
      </p:sp>
      <p:sp>
        <p:nvSpPr>
          <p:cNvPr id="31" name="テキスト ボックス 30">
            <a:extLst>
              <a:ext uri="{FF2B5EF4-FFF2-40B4-BE49-F238E27FC236}">
                <a16:creationId xmlns:a16="http://schemas.microsoft.com/office/drawing/2014/main" id="{FAA1482B-1CF6-D3BA-E951-BB096070735D}"/>
              </a:ext>
            </a:extLst>
          </p:cNvPr>
          <p:cNvSpPr txBox="1"/>
          <p:nvPr/>
        </p:nvSpPr>
        <p:spPr>
          <a:xfrm>
            <a:off x="5145826" y="1931396"/>
            <a:ext cx="4502332" cy="307777"/>
          </a:xfrm>
          <a:prstGeom prst="rect">
            <a:avLst/>
          </a:prstGeom>
          <a:noFill/>
        </p:spPr>
        <p:txBody>
          <a:bodyPr wrap="square">
            <a:spAutoFit/>
          </a:bodyPr>
          <a:lstStyle/>
          <a:p>
            <a:r>
              <a:rPr lang="ja-JP" altLang="en-US" sz="1400" b="1"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■アンケート回答内容別</a:t>
            </a:r>
            <a:endParaRPr lang="ja-JP" altLang="en-US" b="1" dirty="0">
              <a:solidFill>
                <a:schemeClr val="tx2"/>
              </a:solidFill>
            </a:endParaRPr>
          </a:p>
        </p:txBody>
      </p:sp>
      <p:sp>
        <p:nvSpPr>
          <p:cNvPr id="33" name="テキスト ボックス 32">
            <a:extLst>
              <a:ext uri="{FF2B5EF4-FFF2-40B4-BE49-F238E27FC236}">
                <a16:creationId xmlns:a16="http://schemas.microsoft.com/office/drawing/2014/main" id="{1B655CA9-192C-B502-C7A3-1BBEEC5F8039}"/>
              </a:ext>
            </a:extLst>
          </p:cNvPr>
          <p:cNvSpPr txBox="1"/>
          <p:nvPr/>
        </p:nvSpPr>
        <p:spPr>
          <a:xfrm>
            <a:off x="5360423" y="5092242"/>
            <a:ext cx="4287735" cy="738664"/>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・学年別の「推奨理由」配信</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・カリキュラムの説明動画</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・エリア別 → 開園情報の公開</a:t>
            </a:r>
            <a:endParaRPr lang="ja-JP" altLang="en-US" sz="1400" b="1" dirty="0"/>
          </a:p>
        </p:txBody>
      </p:sp>
      <p:sp>
        <p:nvSpPr>
          <p:cNvPr id="34" name="矢印: 下 33">
            <a:extLst>
              <a:ext uri="{FF2B5EF4-FFF2-40B4-BE49-F238E27FC236}">
                <a16:creationId xmlns:a16="http://schemas.microsoft.com/office/drawing/2014/main" id="{932C0E94-2B7D-04C0-F4AE-45F41A769BC1}"/>
              </a:ext>
            </a:extLst>
          </p:cNvPr>
          <p:cNvSpPr/>
          <p:nvPr/>
        </p:nvSpPr>
        <p:spPr>
          <a:xfrm>
            <a:off x="5421971" y="4362995"/>
            <a:ext cx="775063" cy="403879"/>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51DD634F-75EE-EDA6-3A4E-146DD46E2D7F}"/>
              </a:ext>
            </a:extLst>
          </p:cNvPr>
          <p:cNvSpPr txBox="1"/>
          <p:nvPr/>
        </p:nvSpPr>
        <p:spPr>
          <a:xfrm>
            <a:off x="472439" y="2384948"/>
            <a:ext cx="4287735" cy="3539430"/>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・個別説明会　</a:t>
            </a:r>
            <a:r>
              <a:rPr lang="en-US" altLang="ja-JP" sz="600" b="1" dirty="0">
                <a:solidFill>
                  <a:schemeClr val="tx2"/>
                </a:solidFill>
                <a:latin typeface="メイリオ" panose="020B0604030504040204" pitchFamily="50" charset="-128"/>
                <a:ea typeface="メイリオ" panose="020B0604030504040204" pitchFamily="50" charset="-128"/>
                <a:hlinkClick r:id="rId3"/>
              </a:rPr>
              <a:t>https://www.ikidsstar.jp/classrooms/detail/2405/#link-meeting</a:t>
            </a:r>
            <a:endParaRPr lang="en-US" altLang="ja-JP" sz="600" b="1" dirty="0">
              <a:solidFill>
                <a:schemeClr val="tx2"/>
              </a:solidFill>
              <a:latin typeface="メイリオ" panose="020B0604030504040204" pitchFamily="50" charset="-128"/>
              <a:ea typeface="メイリオ" panose="020B0604030504040204" pitchFamily="50" charset="-128"/>
            </a:endParaRPr>
          </a:p>
          <a:p>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：途中入園のご案内</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：別日程のご案内</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・保護者の声　</a:t>
            </a:r>
            <a:r>
              <a:rPr lang="en-US" altLang="ja-JP" sz="900" b="1" dirty="0">
                <a:solidFill>
                  <a:schemeClr val="tx2"/>
                </a:solidFill>
                <a:latin typeface="メイリオ" panose="020B0604030504040204" pitchFamily="50" charset="-128"/>
                <a:ea typeface="メイリオ" panose="020B0604030504040204" pitchFamily="50" charset="-128"/>
              </a:rPr>
              <a:t>https://www.ikidsstar.jp/voice/</a:t>
            </a:r>
            <a:endParaRPr lang="en-US" altLang="ja-JP" sz="1400" b="1" dirty="0">
              <a:solidFill>
                <a:schemeClr val="tx2"/>
              </a:solidFill>
              <a:latin typeface="メイリオ" panose="020B0604030504040204" pitchFamily="50" charset="-128"/>
              <a:ea typeface="メイリオ" panose="020B0604030504040204" pitchFamily="50" charset="-128"/>
            </a:endParaRPr>
          </a:p>
          <a:p>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：こんなお子様も（事例紹介）</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：アンケート実施してコンテンツ化</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endParaRPr lang="en-US" altLang="ja-JP" sz="1400" b="1" dirty="0"/>
          </a:p>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・カリキュラム情報</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800" b="1" dirty="0">
                <a:solidFill>
                  <a:schemeClr val="tx2"/>
                </a:solidFill>
                <a:latin typeface="メイリオ" panose="020B0604030504040204" pitchFamily="50" charset="-128"/>
                <a:ea typeface="メイリオ" panose="020B0604030504040204" pitchFamily="50" charset="-128"/>
              </a:rPr>
              <a:t>https://www.ikidsstar.jp/curriculum/</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endParaRPr>
          </a:p>
          <a:p>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：効果的な授業、カリキュラム設定の裏側</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：こんな能力が伸びます</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rPr>
              <a:t>：週の流れ説明</a:t>
            </a:r>
            <a:endParaRPr lang="en-US" altLang="ja-JP" sz="1400" dirty="0">
              <a:solidFill>
                <a:schemeClr val="tx1">
                  <a:lumMod val="75000"/>
                  <a:lumOff val="25000"/>
                </a:schemeClr>
              </a:solidFill>
              <a:highlight>
                <a:srgbClr val="C0C0C0"/>
              </a:highlight>
              <a:latin typeface="メイリオ" panose="020B0604030504040204" pitchFamily="50" charset="-128"/>
              <a:ea typeface="メイリオ" panose="020B0604030504040204" pitchFamily="50" charset="-128"/>
            </a:endParaRPr>
          </a:p>
          <a:p>
            <a:endParaRPr lang="ja-JP" altLang="en-US" sz="1400" b="1" dirty="0"/>
          </a:p>
        </p:txBody>
      </p:sp>
      <p:sp>
        <p:nvSpPr>
          <p:cNvPr id="4" name="テキスト ボックス 3">
            <a:extLst>
              <a:ext uri="{FF2B5EF4-FFF2-40B4-BE49-F238E27FC236}">
                <a16:creationId xmlns:a16="http://schemas.microsoft.com/office/drawing/2014/main" id="{08A64138-16F9-158C-BC8E-ED5767F25074}"/>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
        <p:nvSpPr>
          <p:cNvPr id="8" name="テキスト ボックス 7">
            <a:extLst>
              <a:ext uri="{FF2B5EF4-FFF2-40B4-BE49-F238E27FC236}">
                <a16:creationId xmlns:a16="http://schemas.microsoft.com/office/drawing/2014/main" id="{0B9B752F-4D13-9313-21FC-BF885DE4DEC1}"/>
              </a:ext>
            </a:extLst>
          </p:cNvPr>
          <p:cNvSpPr txBox="1"/>
          <p:nvPr/>
        </p:nvSpPr>
        <p:spPr>
          <a:xfrm>
            <a:off x="7882144" y="1135778"/>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Tree>
    <p:extLst>
      <p:ext uri="{BB962C8B-B14F-4D97-AF65-F5344CB8AC3E}">
        <p14:creationId xmlns:p14="http://schemas.microsoft.com/office/powerpoint/2010/main" val="1735814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A0BC6-B0AE-AC92-E9A5-23CDA5E47D38}"/>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8ED1298C-04A5-E1C4-BC07-1A6ECCBBF9C6}"/>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AA2A710-9241-F1BD-28D3-4AF616753FC1}"/>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3D223B-D23B-F261-562B-8C6EB73ABA6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プロフィール・リッチメニュー設計</a:t>
            </a:r>
            <a:endParaRPr lang="ja-JP" altLang="en-US" sz="1100" dirty="0"/>
          </a:p>
        </p:txBody>
      </p:sp>
      <p:sp>
        <p:nvSpPr>
          <p:cNvPr id="7" name="テキスト ボックス 6">
            <a:extLst>
              <a:ext uri="{FF2B5EF4-FFF2-40B4-BE49-F238E27FC236}">
                <a16:creationId xmlns:a16="http://schemas.microsoft.com/office/drawing/2014/main" id="{2A6CF87F-7576-9317-0068-BF799AF27297}"/>
              </a:ext>
            </a:extLst>
          </p:cNvPr>
          <p:cNvSpPr txBox="1"/>
          <p:nvPr/>
        </p:nvSpPr>
        <p:spPr>
          <a:xfrm>
            <a:off x="96788" y="1202790"/>
            <a:ext cx="9687414" cy="523220"/>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各ブランドのクロスセル、またアクションに繋がるリッチメニューを構築する</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（特にアクションが見込める動線）</a:t>
            </a:r>
            <a:endParaRPr lang="ja-JP" altLang="en-US" sz="1000" dirty="0"/>
          </a:p>
        </p:txBody>
      </p:sp>
      <p:sp>
        <p:nvSpPr>
          <p:cNvPr id="9" name="テキスト ボックス 8">
            <a:extLst>
              <a:ext uri="{FF2B5EF4-FFF2-40B4-BE49-F238E27FC236}">
                <a16:creationId xmlns:a16="http://schemas.microsoft.com/office/drawing/2014/main" id="{FF0AFB35-E1B8-231E-AD5B-967F43DF5F7F}"/>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59" name="Rectangle 58"/>
          <p:cNvSpPr/>
          <p:nvPr/>
        </p:nvSpPr>
        <p:spPr>
          <a:xfrm>
            <a:off x="274320" y="1828800"/>
            <a:ext cx="393192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リッチメニュー設計案（6分割）</a:t>
            </a:r>
          </a:p>
        </p:txBody>
      </p:sp>
      <p:sp>
        <p:nvSpPr>
          <p:cNvPr id="60" name="Rectangle 59"/>
          <p:cNvSpPr/>
          <p:nvPr/>
        </p:nvSpPr>
        <p:spPr>
          <a:xfrm>
            <a:off x="274320" y="2212848"/>
            <a:ext cx="1947672" cy="124358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FFFFF"/>
                </a:solidFill>
                <a:latin typeface="メイリオ"/>
                <a:ea typeface="メイリオ"/>
                <a:cs typeface="メイリオ"/>
              </a:rPr>
              <a:t>① 見学・体験予約</a:t>
            </a:r>
          </a:p>
          <a:p>
            <a:pPr algn="ctr"/>
            <a:r>
              <a:rPr sz="1050" b="0">
                <a:solidFill>
                  <a:srgbClr val="FFFFFF"/>
                </a:solidFill>
                <a:latin typeface="メイリオ"/>
                <a:ea typeface="メイリオ"/>
                <a:cs typeface="メイリオ"/>
              </a:rPr>
              <a:t>最優先・最上段</a:t>
            </a:r>
          </a:p>
        </p:txBody>
      </p:sp>
      <p:sp>
        <p:nvSpPr>
          <p:cNvPr id="61" name="Rectangle 60"/>
          <p:cNvSpPr/>
          <p:nvPr/>
        </p:nvSpPr>
        <p:spPr>
          <a:xfrm>
            <a:off x="2258568" y="2212848"/>
            <a:ext cx="1947672" cy="12435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FFFFF"/>
                </a:solidFill>
                <a:latin typeface="メイリオ"/>
                <a:ea typeface="メイリオ"/>
                <a:cs typeface="メイリオ"/>
              </a:rPr>
              <a:t>② 3つの教育</a:t>
            </a:r>
          </a:p>
          <a:p>
            <a:pPr algn="ctr"/>
            <a:r>
              <a:rPr sz="1050" b="0">
                <a:solidFill>
                  <a:srgbClr val="FFFFFF"/>
                </a:solidFill>
                <a:latin typeface="メイリオ"/>
                <a:ea typeface="メイリオ"/>
                <a:cs typeface="メイリオ"/>
              </a:rPr>
              <a:t>英語・知能・運動</a:t>
            </a:r>
          </a:p>
        </p:txBody>
      </p:sp>
      <p:sp>
        <p:nvSpPr>
          <p:cNvPr id="62" name="Rectangle 61"/>
          <p:cNvSpPr/>
          <p:nvPr/>
        </p:nvSpPr>
        <p:spPr>
          <a:xfrm>
            <a:off x="274320" y="3493008"/>
            <a:ext cx="1947672" cy="12435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FFFFF"/>
                </a:solidFill>
                <a:latin typeface="メイリオ"/>
                <a:ea typeface="メイリオ"/>
                <a:cs typeface="メイリオ"/>
              </a:rPr>
              <a:t>③ 1日の流れ</a:t>
            </a:r>
          </a:p>
          <a:p>
            <a:pPr algn="ctr"/>
            <a:r>
              <a:rPr sz="1050" b="0">
                <a:solidFill>
                  <a:srgbClr val="FFFFFF"/>
                </a:solidFill>
                <a:latin typeface="メイリオ"/>
                <a:ea typeface="メイリオ"/>
                <a:cs typeface="メイリオ"/>
              </a:rPr>
              <a:t>ライフスキル・保育時間</a:t>
            </a:r>
          </a:p>
        </p:txBody>
      </p:sp>
      <p:sp>
        <p:nvSpPr>
          <p:cNvPr id="63" name="Rectangle 62"/>
          <p:cNvSpPr/>
          <p:nvPr/>
        </p:nvSpPr>
        <p:spPr>
          <a:xfrm>
            <a:off x="2258568" y="3493008"/>
            <a:ext cx="1947672" cy="1243584"/>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FFFFF"/>
                </a:solidFill>
                <a:latin typeface="メイリオ"/>
                <a:ea typeface="メイリオ"/>
                <a:cs typeface="メイリオ"/>
              </a:rPr>
              <a:t>④ よくある質問</a:t>
            </a:r>
          </a:p>
          <a:p>
            <a:pPr algn="ctr"/>
            <a:r>
              <a:rPr sz="1050" b="0">
                <a:solidFill>
                  <a:srgbClr val="FFFFFF"/>
                </a:solidFill>
                <a:latin typeface="メイリオ"/>
                <a:ea typeface="メイリオ"/>
                <a:cs typeface="メイリオ"/>
              </a:rPr>
              <a:t>費用・送迎・持ち物</a:t>
            </a:r>
          </a:p>
        </p:txBody>
      </p:sp>
      <p:sp>
        <p:nvSpPr>
          <p:cNvPr id="64" name="Rectangle 63"/>
          <p:cNvSpPr/>
          <p:nvPr/>
        </p:nvSpPr>
        <p:spPr>
          <a:xfrm>
            <a:off x="274320" y="4773168"/>
            <a:ext cx="1947672" cy="1243584"/>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FFFFF"/>
                </a:solidFill>
                <a:latin typeface="メイリオ"/>
                <a:ea typeface="メイリオ"/>
                <a:cs typeface="メイリオ"/>
              </a:rPr>
              <a:t>⑤ 園の場所</a:t>
            </a:r>
          </a:p>
          <a:p>
            <a:pPr algn="ctr"/>
            <a:r>
              <a:rPr sz="1050" b="0">
                <a:solidFill>
                  <a:srgbClr val="FFFFFF"/>
                </a:solidFill>
                <a:latin typeface="メイリオ"/>
                <a:ea typeface="メイリオ"/>
                <a:cs typeface="メイリオ"/>
              </a:rPr>
              <a:t>アクセス・見学日程</a:t>
            </a:r>
          </a:p>
        </p:txBody>
      </p:sp>
      <p:sp>
        <p:nvSpPr>
          <p:cNvPr id="65" name="Rectangle 64"/>
          <p:cNvSpPr/>
          <p:nvPr/>
        </p:nvSpPr>
        <p:spPr>
          <a:xfrm>
            <a:off x="2258568" y="4773168"/>
            <a:ext cx="1947672" cy="1243584"/>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FFFFF"/>
                </a:solidFill>
                <a:latin typeface="メイリオ"/>
                <a:ea typeface="メイリオ"/>
                <a:cs typeface="メイリオ"/>
              </a:rPr>
              <a:t>⑥ 系列ブランド</a:t>
            </a:r>
          </a:p>
          <a:p>
            <a:pPr algn="ctr"/>
            <a:r>
              <a:rPr sz="1050" b="0">
                <a:solidFill>
                  <a:srgbClr val="FFFFFF"/>
                </a:solidFill>
                <a:latin typeface="メイリオ"/>
                <a:ea typeface="メイリオ"/>
                <a:cs typeface="メイリオ"/>
              </a:rPr>
              <a:t>クロスセル枠</a:t>
            </a:r>
          </a:p>
        </p:txBody>
      </p:sp>
      <p:sp>
        <p:nvSpPr>
          <p:cNvPr id="66" name="Rectangle 65"/>
          <p:cNvSpPr/>
          <p:nvPr/>
        </p:nvSpPr>
        <p:spPr>
          <a:xfrm>
            <a:off x="274320" y="6053328"/>
            <a:ext cx="39319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1F2A5C"/>
                </a:solidFill>
                <a:latin typeface="メイリオ"/>
                <a:ea typeface="メイリオ"/>
                <a:cs typeface="メイリオ"/>
              </a:rPr>
              <a:t>未予約／予約済みでメニューを切り替え</a:t>
            </a:r>
          </a:p>
        </p:txBody>
      </p:sp>
      <p:sp>
        <p:nvSpPr>
          <p:cNvPr id="67" name="Rectangle 66"/>
          <p:cNvSpPr/>
          <p:nvPr/>
        </p:nvSpPr>
        <p:spPr>
          <a:xfrm>
            <a:off x="4389120" y="1828800"/>
            <a:ext cx="521208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プロフィール設計</a:t>
            </a:r>
          </a:p>
        </p:txBody>
      </p:sp>
      <p:sp>
        <p:nvSpPr>
          <p:cNvPr id="68" name="Rectangle 67"/>
          <p:cNvSpPr/>
          <p:nvPr/>
        </p:nvSpPr>
        <p:spPr>
          <a:xfrm>
            <a:off x="4389120" y="2212848"/>
            <a:ext cx="134416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項目</a:t>
            </a:r>
          </a:p>
        </p:txBody>
      </p:sp>
      <p:sp>
        <p:nvSpPr>
          <p:cNvPr id="69" name="Rectangle 68"/>
          <p:cNvSpPr/>
          <p:nvPr/>
        </p:nvSpPr>
        <p:spPr>
          <a:xfrm>
            <a:off x="5760720" y="2212848"/>
            <a:ext cx="381304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設計案</a:t>
            </a:r>
          </a:p>
        </p:txBody>
      </p:sp>
      <p:sp>
        <p:nvSpPr>
          <p:cNvPr id="70" name="Rectangle 69"/>
          <p:cNvSpPr/>
          <p:nvPr/>
        </p:nvSpPr>
        <p:spPr>
          <a:xfrm>
            <a:off x="4389120" y="2542032"/>
            <a:ext cx="1344168" cy="39319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ステータス</a:t>
            </a:r>
          </a:p>
        </p:txBody>
      </p:sp>
      <p:sp>
        <p:nvSpPr>
          <p:cNvPr id="71" name="Rectangle 70"/>
          <p:cNvSpPr/>
          <p:nvPr/>
        </p:nvSpPr>
        <p:spPr>
          <a:xfrm>
            <a:off x="5760720" y="2542032"/>
            <a:ext cx="3813048" cy="39319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英語・知能・運動で「やる気」を育てるバイリンガル保育</a:t>
            </a:r>
          </a:p>
        </p:txBody>
      </p:sp>
      <p:sp>
        <p:nvSpPr>
          <p:cNvPr id="72" name="Rectangle 71"/>
          <p:cNvSpPr/>
          <p:nvPr/>
        </p:nvSpPr>
        <p:spPr>
          <a:xfrm>
            <a:off x="4389120" y="2971800"/>
            <a:ext cx="1344168" cy="39319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プロフィール</a:t>
            </a:r>
          </a:p>
        </p:txBody>
      </p:sp>
      <p:sp>
        <p:nvSpPr>
          <p:cNvPr id="73" name="Rectangle 72"/>
          <p:cNvSpPr/>
          <p:nvPr/>
        </p:nvSpPr>
        <p:spPr>
          <a:xfrm>
            <a:off x="5760720" y="2971800"/>
            <a:ext cx="3813048" cy="39319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教育の3本柱と見学予約の入口を明記（予約は1タップ）</a:t>
            </a:r>
          </a:p>
        </p:txBody>
      </p:sp>
      <p:sp>
        <p:nvSpPr>
          <p:cNvPr id="74" name="Rectangle 73"/>
          <p:cNvSpPr/>
          <p:nvPr/>
        </p:nvSpPr>
        <p:spPr>
          <a:xfrm>
            <a:off x="4389120" y="3401568"/>
            <a:ext cx="1344168" cy="39319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背景・画像</a:t>
            </a:r>
          </a:p>
        </p:txBody>
      </p:sp>
      <p:sp>
        <p:nvSpPr>
          <p:cNvPr id="75" name="Rectangle 74"/>
          <p:cNvSpPr/>
          <p:nvPr/>
        </p:nvSpPr>
        <p:spPr>
          <a:xfrm>
            <a:off x="5760720" y="3401568"/>
            <a:ext cx="3813048" cy="39319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園の雰囲気が伝わる写真＋3つの教育を一枚で</a:t>
            </a:r>
          </a:p>
        </p:txBody>
      </p:sp>
      <p:sp>
        <p:nvSpPr>
          <p:cNvPr id="76" name="Rectangle 75"/>
          <p:cNvSpPr/>
          <p:nvPr/>
        </p:nvSpPr>
        <p:spPr>
          <a:xfrm>
            <a:off x="4389120" y="4023360"/>
            <a:ext cx="5212080"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設計のポイント</a:t>
            </a:r>
          </a:p>
        </p:txBody>
      </p:sp>
      <p:sp>
        <p:nvSpPr>
          <p:cNvPr id="77" name="Rectangle 76"/>
          <p:cNvSpPr/>
          <p:nvPr/>
        </p:nvSpPr>
        <p:spPr>
          <a:xfrm>
            <a:off x="4389120" y="4370832"/>
            <a:ext cx="5212080" cy="60350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1　アクション導線を最上段に</a:t>
            </a:r>
          </a:p>
          <a:p>
            <a:pPr algn="l"/>
            <a:r>
              <a:rPr sz="1050" b="0">
                <a:solidFill>
                  <a:srgbClr val="262626"/>
                </a:solidFill>
                <a:latin typeface="メイリオ"/>
                <a:ea typeface="メイリオ"/>
                <a:cs typeface="メイリオ"/>
              </a:rPr>
              <a:t>現状は大半がリッチメニュー経由。ここの改善が最も効く</a:t>
            </a:r>
          </a:p>
        </p:txBody>
      </p:sp>
      <p:sp>
        <p:nvSpPr>
          <p:cNvPr id="78" name="Rectangle 77"/>
          <p:cNvSpPr/>
          <p:nvPr/>
        </p:nvSpPr>
        <p:spPr>
          <a:xfrm>
            <a:off x="4389120" y="5010912"/>
            <a:ext cx="5212080" cy="60350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2　教育の3本柱を1タップで</a:t>
            </a:r>
          </a:p>
          <a:p>
            <a:pPr algn="l"/>
            <a:r>
              <a:rPr sz="1050" b="0">
                <a:solidFill>
                  <a:srgbClr val="262626"/>
                </a:solidFill>
                <a:latin typeface="メイリオ"/>
                <a:ea typeface="メイリオ"/>
                <a:cs typeface="メイリオ"/>
              </a:rPr>
              <a:t>英語／知能（年長平均IQ145※）／運動（深代千之氏監修）</a:t>
            </a:r>
          </a:p>
        </p:txBody>
      </p:sp>
      <p:sp>
        <p:nvSpPr>
          <p:cNvPr id="79" name="Rectangle 78"/>
          <p:cNvSpPr/>
          <p:nvPr/>
        </p:nvSpPr>
        <p:spPr>
          <a:xfrm>
            <a:off x="4389120" y="5650992"/>
            <a:ext cx="5212080" cy="60350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3　系列ブランドへのクロスセル</a:t>
            </a:r>
          </a:p>
          <a:p>
            <a:pPr algn="l"/>
            <a:r>
              <a:rPr sz="1050" b="0">
                <a:solidFill>
                  <a:srgbClr val="262626"/>
                </a:solidFill>
                <a:latin typeface="メイリオ"/>
                <a:ea typeface="メイリオ"/>
                <a:cs typeface="メイリオ"/>
              </a:rPr>
              <a:t>回答属性に合わせて案内先を出し分け（詳細はp30）</a:t>
            </a:r>
          </a:p>
        </p:txBody>
      </p:sp>
      <p:sp>
        <p:nvSpPr>
          <p:cNvPr id="80" name="Rectangle 79"/>
          <p:cNvSpPr/>
          <p:nvPr/>
        </p:nvSpPr>
        <p:spPr>
          <a:xfrm>
            <a:off x="274320" y="6336792"/>
            <a:ext cx="93268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l"/>
            <a:r>
              <a:rPr sz="900" b="0">
                <a:solidFill>
                  <a:srgbClr val="595959"/>
                </a:solidFill>
                <a:latin typeface="メイリオ"/>
                <a:ea typeface="メイリオ"/>
                <a:cs typeface="メイリオ"/>
              </a:rPr>
              <a:t>※2022年度 i Kids Star 全園実績（年長クラス平均）。出典：やる気スイッチグループ FC公式サイト（i Kids Star）</a:t>
            </a:r>
          </a:p>
        </p:txBody>
      </p:sp>
      <p:sp>
        <p:nvSpPr>
          <p:cNvPr id="4" name="テキスト ボックス 3">
            <a:extLst>
              <a:ext uri="{FF2B5EF4-FFF2-40B4-BE49-F238E27FC236}">
                <a16:creationId xmlns:a16="http://schemas.microsoft.com/office/drawing/2014/main" id="{811EDFD6-702D-141D-A6C8-ABEE1DAC2E11}"/>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
        <p:nvSpPr>
          <p:cNvPr id="8" name="テキスト ボックス 7">
            <a:extLst>
              <a:ext uri="{FF2B5EF4-FFF2-40B4-BE49-F238E27FC236}">
                <a16:creationId xmlns:a16="http://schemas.microsoft.com/office/drawing/2014/main" id="{CAC3A37F-3064-8F10-09F7-4201369547B5}"/>
              </a:ext>
            </a:extLst>
          </p:cNvPr>
          <p:cNvSpPr txBox="1"/>
          <p:nvPr/>
        </p:nvSpPr>
        <p:spPr>
          <a:xfrm>
            <a:off x="7882144" y="1135778"/>
            <a:ext cx="2023856" cy="369332"/>
          </a:xfrm>
          <a:prstGeom prst="rect">
            <a:avLst/>
          </a:prstGeom>
          <a:solidFill>
            <a:schemeClr val="bg1">
              <a:lumMod val="75000"/>
            </a:schemeClr>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Tree>
    <p:extLst>
      <p:ext uri="{BB962C8B-B14F-4D97-AF65-F5344CB8AC3E}">
        <p14:creationId xmlns:p14="http://schemas.microsoft.com/office/powerpoint/2010/main" val="2917264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59D2E-CF86-3B7D-05AB-EF16CB9F2DD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1349C1C-CC95-E375-41E8-1BD258E34A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001EAD6-D14A-D5EB-D58C-4DA84E706A7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C537CBD-58C3-A33D-9A50-5EFD8A8E20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挨拶メッセ・アンケート</a:t>
            </a:r>
            <a:endParaRPr lang="ja-JP" altLang="en-US" sz="1100" dirty="0"/>
          </a:p>
        </p:txBody>
      </p:sp>
      <p:sp>
        <p:nvSpPr>
          <p:cNvPr id="7" name="テキスト ボックス 6">
            <a:extLst>
              <a:ext uri="{FF2B5EF4-FFF2-40B4-BE49-F238E27FC236}">
                <a16:creationId xmlns:a16="http://schemas.microsoft.com/office/drawing/2014/main" id="{FBAFDAC4-BA6C-78EF-0996-9F3A2E7383BC}"/>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アクション率の高い友だち追加直後のユーザーに向けて、前後検索、市場データを下にした運用を実施。</a:t>
            </a:r>
            <a:endParaRPr lang="ja-JP" altLang="en-US" sz="1000" dirty="0"/>
          </a:p>
        </p:txBody>
      </p:sp>
      <p:sp>
        <p:nvSpPr>
          <p:cNvPr id="9" name="テキスト ボックス 8">
            <a:extLst>
              <a:ext uri="{FF2B5EF4-FFF2-40B4-BE49-F238E27FC236}">
                <a16:creationId xmlns:a16="http://schemas.microsoft.com/office/drawing/2014/main" id="{195A22DF-2F65-C6D0-C09C-36A0660AE52F}"/>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59" name="Rectangle 58"/>
          <p:cNvSpPr/>
          <p:nvPr/>
        </p:nvSpPr>
        <p:spPr>
          <a:xfrm>
            <a:off x="274320" y="1828800"/>
            <a:ext cx="2194560" cy="13716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① 挨拶メッセージ</a:t>
            </a:r>
          </a:p>
          <a:p>
            <a:pPr algn="l"/>
            <a:r>
              <a:rPr sz="1050" b="0">
                <a:solidFill>
                  <a:srgbClr val="FFFFFF"/>
                </a:solidFill>
                <a:latin typeface="メイリオ"/>
                <a:ea typeface="メイリオ"/>
                <a:cs typeface="メイリオ"/>
              </a:rPr>
              <a:t>IKSの強みを3つの教育で端的に提示。数字（年長平均IQ145※）で具体化</a:t>
            </a:r>
          </a:p>
        </p:txBody>
      </p:sp>
      <p:sp>
        <p:nvSpPr>
          <p:cNvPr id="60" name="Right Arrow 59"/>
          <p:cNvSpPr/>
          <p:nvPr/>
        </p:nvSpPr>
        <p:spPr>
          <a:xfrm>
            <a:off x="2487168" y="2331720"/>
            <a:ext cx="18288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l"/>
            <a:endParaRPr/>
          </a:p>
        </p:txBody>
      </p:sp>
      <p:sp>
        <p:nvSpPr>
          <p:cNvPr id="61" name="Rectangle 60"/>
          <p:cNvSpPr/>
          <p:nvPr/>
        </p:nvSpPr>
        <p:spPr>
          <a:xfrm>
            <a:off x="2633472" y="1828800"/>
            <a:ext cx="2194560" cy="13716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② 簡易アンケート</a:t>
            </a:r>
          </a:p>
          <a:p>
            <a:pPr algn="l"/>
            <a:r>
              <a:rPr sz="1050" b="0">
                <a:solidFill>
                  <a:srgbClr val="FFFFFF"/>
                </a:solidFill>
                <a:latin typeface="メイリオ"/>
                <a:ea typeface="メイリオ"/>
                <a:cs typeface="メイリオ"/>
              </a:rPr>
              <a:t>タップだけで答えられる1問から。答えた人だけ本アンケートへ</a:t>
            </a:r>
          </a:p>
        </p:txBody>
      </p:sp>
      <p:sp>
        <p:nvSpPr>
          <p:cNvPr id="62" name="Right Arrow 61"/>
          <p:cNvSpPr/>
          <p:nvPr/>
        </p:nvSpPr>
        <p:spPr>
          <a:xfrm>
            <a:off x="4846320" y="2331720"/>
            <a:ext cx="18288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l"/>
            <a:endParaRPr/>
          </a:p>
        </p:txBody>
      </p:sp>
      <p:sp>
        <p:nvSpPr>
          <p:cNvPr id="63" name="Rectangle 62"/>
          <p:cNvSpPr/>
          <p:nvPr/>
        </p:nvSpPr>
        <p:spPr>
          <a:xfrm>
            <a:off x="4992624" y="1828800"/>
            <a:ext cx="2194560" cy="13716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③ 回答別の自動案内</a:t>
            </a:r>
          </a:p>
          <a:p>
            <a:pPr algn="l"/>
            <a:r>
              <a:rPr sz="1050" b="0">
                <a:solidFill>
                  <a:srgbClr val="FFFFFF"/>
                </a:solidFill>
                <a:latin typeface="メイリオ"/>
                <a:ea typeface="メイリオ"/>
                <a:cs typeface="メイリオ"/>
              </a:rPr>
              <a:t>重視点に合う教育の紹介と、保護者の疑問に応える案内</a:t>
            </a:r>
          </a:p>
        </p:txBody>
      </p:sp>
      <p:sp>
        <p:nvSpPr>
          <p:cNvPr id="64" name="Right Arrow 63"/>
          <p:cNvSpPr/>
          <p:nvPr/>
        </p:nvSpPr>
        <p:spPr>
          <a:xfrm>
            <a:off x="7205472" y="2331720"/>
            <a:ext cx="18288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l"/>
            <a:endParaRPr/>
          </a:p>
        </p:txBody>
      </p:sp>
      <p:sp>
        <p:nvSpPr>
          <p:cNvPr id="65" name="Rectangle 64"/>
          <p:cNvSpPr/>
          <p:nvPr/>
        </p:nvSpPr>
        <p:spPr>
          <a:xfrm>
            <a:off x="7351776" y="1828800"/>
            <a:ext cx="2194560" cy="13716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④ 見学予約へ</a:t>
            </a:r>
          </a:p>
          <a:p>
            <a:pPr algn="l"/>
            <a:r>
              <a:rPr sz="1050" b="0">
                <a:solidFill>
                  <a:srgbClr val="FFFFFF"/>
                </a:solidFill>
                <a:latin typeface="メイリオ"/>
                <a:ea typeface="メイリオ"/>
                <a:cs typeface="メイリオ"/>
              </a:rPr>
              <a:t>見学・体験予約をCTAに。予約後は来場前案内へ接続</a:t>
            </a:r>
          </a:p>
        </p:txBody>
      </p:sp>
      <p:sp>
        <p:nvSpPr>
          <p:cNvPr id="66" name="Rectangle 65"/>
          <p:cNvSpPr/>
          <p:nvPr/>
        </p:nvSpPr>
        <p:spPr>
          <a:xfrm>
            <a:off x="274320" y="3401568"/>
            <a:ext cx="539496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dirty="0">
                <a:solidFill>
                  <a:srgbClr val="FFFFFF"/>
                </a:solidFill>
                <a:latin typeface="メイリオ"/>
                <a:ea typeface="メイリオ"/>
                <a:cs typeface="メイリオ"/>
              </a:rPr>
              <a:t>アンケート設問案（本1本＋簡易1本）</a:t>
            </a:r>
          </a:p>
        </p:txBody>
      </p:sp>
      <p:sp>
        <p:nvSpPr>
          <p:cNvPr id="67" name="Rectangle 66"/>
          <p:cNvSpPr/>
          <p:nvPr/>
        </p:nvSpPr>
        <p:spPr>
          <a:xfrm>
            <a:off x="274320" y="3785615"/>
            <a:ext cx="152704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設問</a:t>
            </a:r>
          </a:p>
        </p:txBody>
      </p:sp>
      <p:sp>
        <p:nvSpPr>
          <p:cNvPr id="68" name="Rectangle 67"/>
          <p:cNvSpPr/>
          <p:nvPr/>
        </p:nvSpPr>
        <p:spPr>
          <a:xfrm>
            <a:off x="1828800" y="3785615"/>
            <a:ext cx="381304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選択肢</a:t>
            </a:r>
          </a:p>
        </p:txBody>
      </p:sp>
      <p:sp>
        <p:nvSpPr>
          <p:cNvPr id="69" name="Rectangle 68"/>
          <p:cNvSpPr/>
          <p:nvPr/>
        </p:nvSpPr>
        <p:spPr>
          <a:xfrm>
            <a:off x="274320" y="4114800"/>
            <a:ext cx="1527048" cy="42062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Q1 お子様の年齢</a:t>
            </a:r>
          </a:p>
        </p:txBody>
      </p:sp>
      <p:sp>
        <p:nvSpPr>
          <p:cNvPr id="70" name="Rectangle 69"/>
          <p:cNvSpPr/>
          <p:nvPr/>
        </p:nvSpPr>
        <p:spPr>
          <a:xfrm>
            <a:off x="1828800" y="4114800"/>
            <a:ext cx="3813048" cy="420624"/>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年齢（学年）をボタンで選択</a:t>
            </a:r>
          </a:p>
        </p:txBody>
      </p:sp>
      <p:sp>
        <p:nvSpPr>
          <p:cNvPr id="71" name="Rectangle 70"/>
          <p:cNvSpPr/>
          <p:nvPr/>
        </p:nvSpPr>
        <p:spPr>
          <a:xfrm>
            <a:off x="274320" y="4572000"/>
            <a:ext cx="1527048" cy="42062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Q2 入園希望時期</a:t>
            </a:r>
          </a:p>
        </p:txBody>
      </p:sp>
      <p:sp>
        <p:nvSpPr>
          <p:cNvPr id="72" name="Rectangle 71"/>
          <p:cNvSpPr/>
          <p:nvPr/>
        </p:nvSpPr>
        <p:spPr>
          <a:xfrm>
            <a:off x="1828800" y="4572000"/>
            <a:ext cx="3813048" cy="420624"/>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2027年4月／随時／検討中</a:t>
            </a:r>
          </a:p>
        </p:txBody>
      </p:sp>
      <p:sp>
        <p:nvSpPr>
          <p:cNvPr id="73" name="Rectangle 72"/>
          <p:cNvSpPr/>
          <p:nvPr/>
        </p:nvSpPr>
        <p:spPr>
          <a:xfrm>
            <a:off x="274320" y="5029200"/>
            <a:ext cx="1527048" cy="42062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Q3 重視すること</a:t>
            </a:r>
          </a:p>
        </p:txBody>
      </p:sp>
      <p:sp>
        <p:nvSpPr>
          <p:cNvPr id="74" name="Rectangle 73"/>
          <p:cNvSpPr/>
          <p:nvPr/>
        </p:nvSpPr>
        <p:spPr>
          <a:xfrm>
            <a:off x="1828800" y="5029200"/>
            <a:ext cx="3813048" cy="420624"/>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英語／知能／運動／長時間保育／しつけ・生活習慣</a:t>
            </a:r>
          </a:p>
        </p:txBody>
      </p:sp>
      <p:sp>
        <p:nvSpPr>
          <p:cNvPr id="75" name="Rectangle 74"/>
          <p:cNvSpPr/>
          <p:nvPr/>
        </p:nvSpPr>
        <p:spPr>
          <a:xfrm>
            <a:off x="274320" y="5486400"/>
            <a:ext cx="1527048" cy="420624"/>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Q4 見学のご希望</a:t>
            </a:r>
          </a:p>
        </p:txBody>
      </p:sp>
      <p:sp>
        <p:nvSpPr>
          <p:cNvPr id="76" name="Rectangle 75"/>
          <p:cNvSpPr/>
          <p:nvPr/>
        </p:nvSpPr>
        <p:spPr>
          <a:xfrm>
            <a:off x="1828800" y="5486400"/>
            <a:ext cx="3813048" cy="420624"/>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今すぐ／後日／情報収集のみ</a:t>
            </a:r>
          </a:p>
        </p:txBody>
      </p:sp>
      <p:sp>
        <p:nvSpPr>
          <p:cNvPr id="77" name="Rectangle 76"/>
          <p:cNvSpPr/>
          <p:nvPr/>
        </p:nvSpPr>
        <p:spPr>
          <a:xfrm>
            <a:off x="5852160" y="3401568"/>
            <a:ext cx="3749039"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前提調査から見えた課題と対応</a:t>
            </a:r>
          </a:p>
        </p:txBody>
      </p:sp>
      <p:sp>
        <p:nvSpPr>
          <p:cNvPr id="78" name="Rectangle 77"/>
          <p:cNvSpPr/>
          <p:nvPr/>
        </p:nvSpPr>
        <p:spPr>
          <a:xfrm>
            <a:off x="5852160" y="3785615"/>
            <a:ext cx="3749039" cy="192024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200" b="1">
                <a:solidFill>
                  <a:srgbClr val="C00000"/>
                </a:solidFill>
                <a:latin typeface="メイリオ"/>
                <a:ea typeface="メイリオ"/>
                <a:cs typeface="メイリオ"/>
              </a:rPr>
              <a:t>現状</a:t>
            </a:r>
          </a:p>
          <a:p>
            <a:pPr algn="l"/>
            <a:r>
              <a:rPr sz="1150" b="0">
                <a:solidFill>
                  <a:srgbClr val="262626"/>
                </a:solidFill>
                <a:latin typeface="メイリオ"/>
                <a:ea typeface="メイリオ"/>
                <a:cs typeface="メイリオ"/>
              </a:rPr>
              <a:t>・挨拶→診断は推奨程度の設定</a:t>
            </a:r>
          </a:p>
          <a:p>
            <a:pPr algn="l"/>
            <a:r>
              <a:rPr sz="1150" b="0">
                <a:solidFill>
                  <a:srgbClr val="262626"/>
                </a:solidFill>
                <a:latin typeface="メイリオ"/>
                <a:ea typeface="メイリオ"/>
                <a:cs typeface="メイリオ"/>
              </a:rPr>
              <a:t>・ステップ内で具体的な強みの訴求が弱い</a:t>
            </a:r>
          </a:p>
          <a:p>
            <a:pPr algn="l"/>
            <a:r>
              <a:rPr sz="1200" b="1">
                <a:solidFill>
                  <a:srgbClr val="1F2A5C"/>
                </a:solidFill>
                <a:latin typeface="メイリオ"/>
                <a:ea typeface="メイリオ"/>
                <a:cs typeface="メイリオ"/>
              </a:rPr>
              <a:t>改善</a:t>
            </a:r>
          </a:p>
          <a:p>
            <a:pPr algn="l"/>
            <a:r>
              <a:rPr sz="1150" b="0">
                <a:solidFill>
                  <a:srgbClr val="262626"/>
                </a:solidFill>
                <a:latin typeface="メイリオ"/>
                <a:ea typeface="メイリオ"/>
                <a:cs typeface="メイリオ"/>
              </a:rPr>
              <a:t>・挨拶で3つの教育を数字で提示</a:t>
            </a:r>
          </a:p>
          <a:p>
            <a:pPr algn="l"/>
            <a:r>
              <a:rPr sz="1150" b="0">
                <a:solidFill>
                  <a:srgbClr val="262626"/>
                </a:solidFill>
                <a:latin typeface="メイリオ"/>
                <a:ea typeface="メイリオ"/>
                <a:cs typeface="メイリオ"/>
              </a:rPr>
              <a:t>・Q3の回答を配信セグメントに利用</a:t>
            </a:r>
          </a:p>
        </p:txBody>
      </p:sp>
      <p:sp>
        <p:nvSpPr>
          <p:cNvPr id="79" name="Rectangle 78"/>
          <p:cNvSpPr/>
          <p:nvPr/>
        </p:nvSpPr>
        <p:spPr>
          <a:xfrm>
            <a:off x="5852160" y="5760720"/>
            <a:ext cx="3749039" cy="502920"/>
          </a:xfrm>
          <a:prstGeom prst="rect">
            <a:avLst/>
          </a:prstGeom>
          <a:solidFill>
            <a:srgbClr val="DCE3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1F2A5C"/>
                </a:solidFill>
                <a:latin typeface="メイリオ"/>
                <a:ea typeface="メイリオ"/>
                <a:cs typeface="メイリオ"/>
              </a:rPr>
              <a:t>Q3×Q4で「今すぐ見学」層を即CTAへ分岐</a:t>
            </a:r>
          </a:p>
        </p:txBody>
      </p:sp>
      <p:sp>
        <p:nvSpPr>
          <p:cNvPr id="80" name="Rectangle 79"/>
          <p:cNvSpPr/>
          <p:nvPr/>
        </p:nvSpPr>
        <p:spPr>
          <a:xfrm>
            <a:off x="274320" y="6336792"/>
            <a:ext cx="93268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l"/>
            <a:r>
              <a:rPr sz="900" b="0">
                <a:solidFill>
                  <a:srgbClr val="595959"/>
                </a:solidFill>
                <a:latin typeface="メイリオ"/>
                <a:ea typeface="メイリオ"/>
                <a:cs typeface="メイリオ"/>
              </a:rPr>
              <a:t>※2022年度 i Kids Star 全園実績（年長クラス平均）。出典：やる気スイッチグループ FC公式サイト（i Kids Star）</a:t>
            </a:r>
          </a:p>
        </p:txBody>
      </p:sp>
      <p:sp>
        <p:nvSpPr>
          <p:cNvPr id="4" name="テキスト ボックス 3">
            <a:extLst>
              <a:ext uri="{FF2B5EF4-FFF2-40B4-BE49-F238E27FC236}">
                <a16:creationId xmlns:a16="http://schemas.microsoft.com/office/drawing/2014/main" id="{4A114FA3-B464-3C31-4264-B6880AA3F83E}"/>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Tree>
    <p:extLst>
      <p:ext uri="{BB962C8B-B14F-4D97-AF65-F5344CB8AC3E}">
        <p14:creationId xmlns:p14="http://schemas.microsoft.com/office/powerpoint/2010/main" val="4132959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3739-37E6-793A-F9EC-FAEAFF2381CD}"/>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A9CA3B2-D19A-AFBC-4D7E-A084D12E8D26}"/>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6DEE8D8-D7B5-E918-27E8-8E947AA9E705}"/>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C6A695C4-8256-9E41-C6EA-70277A15C51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企画配信</a:t>
            </a:r>
            <a:endParaRPr lang="ja-JP" altLang="en-US" sz="1100" dirty="0"/>
          </a:p>
        </p:txBody>
      </p:sp>
      <p:sp>
        <p:nvSpPr>
          <p:cNvPr id="7" name="テキスト ボックス 6">
            <a:extLst>
              <a:ext uri="{FF2B5EF4-FFF2-40B4-BE49-F238E27FC236}">
                <a16:creationId xmlns:a16="http://schemas.microsoft.com/office/drawing/2014/main" id="{F57EB251-5392-A934-412E-73D06BA0C7F7}"/>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月次のニーズに合わせて配信を実施し、ユーザーの変動するニーズ、シーズナリティを押さえた配信を実施。</a:t>
            </a:r>
            <a:endParaRPr lang="ja-JP" altLang="en-US" sz="1000" dirty="0"/>
          </a:p>
        </p:txBody>
      </p:sp>
      <p:sp>
        <p:nvSpPr>
          <p:cNvPr id="9" name="テキスト ボックス 8">
            <a:extLst>
              <a:ext uri="{FF2B5EF4-FFF2-40B4-BE49-F238E27FC236}">
                <a16:creationId xmlns:a16="http://schemas.microsoft.com/office/drawing/2014/main" id="{E690EC76-3BDF-F449-2543-ED52684AED49}"/>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59" name="Rectangle 58"/>
          <p:cNvSpPr/>
          <p:nvPr/>
        </p:nvSpPr>
        <p:spPr>
          <a:xfrm>
            <a:off x="274320" y="1828800"/>
            <a:ext cx="338328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配信設計（月5〜6本・週次）</a:t>
            </a:r>
          </a:p>
        </p:txBody>
      </p:sp>
      <p:sp>
        <p:nvSpPr>
          <p:cNvPr id="60" name="Rectangle 59"/>
          <p:cNvSpPr/>
          <p:nvPr/>
        </p:nvSpPr>
        <p:spPr>
          <a:xfrm>
            <a:off x="274320" y="2212848"/>
            <a:ext cx="1005840" cy="9144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毎週</a:t>
            </a:r>
          </a:p>
        </p:txBody>
      </p:sp>
      <p:sp>
        <p:nvSpPr>
          <p:cNvPr id="61" name="Rectangle 60"/>
          <p:cNvSpPr/>
          <p:nvPr/>
        </p:nvSpPr>
        <p:spPr>
          <a:xfrm>
            <a:off x="1307592" y="2212848"/>
            <a:ext cx="2350008"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教育コンテンツ</a:t>
            </a:r>
          </a:p>
          <a:p>
            <a:pPr algn="l"/>
            <a:r>
              <a:rPr sz="1050" b="0">
                <a:solidFill>
                  <a:srgbClr val="262626"/>
                </a:solidFill>
                <a:latin typeface="メイリオ"/>
                <a:ea typeface="メイリオ"/>
                <a:cs typeface="メイリオ"/>
              </a:rPr>
              <a:t>英語・知能・運動・ライフスキルをローテーション</a:t>
            </a:r>
          </a:p>
        </p:txBody>
      </p:sp>
      <p:sp>
        <p:nvSpPr>
          <p:cNvPr id="62" name="Rectangle 61"/>
          <p:cNvSpPr/>
          <p:nvPr/>
        </p:nvSpPr>
        <p:spPr>
          <a:xfrm>
            <a:off x="274320" y="3172968"/>
            <a:ext cx="1005840"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月1〜2回</a:t>
            </a:r>
          </a:p>
        </p:txBody>
      </p:sp>
      <p:sp>
        <p:nvSpPr>
          <p:cNvPr id="63" name="Rectangle 62"/>
          <p:cNvSpPr/>
          <p:nvPr/>
        </p:nvSpPr>
        <p:spPr>
          <a:xfrm>
            <a:off x="1307592" y="3172968"/>
            <a:ext cx="2350008"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見学・説明会の案内</a:t>
            </a:r>
          </a:p>
          <a:p>
            <a:pPr algn="l"/>
            <a:r>
              <a:rPr sz="1050" b="0">
                <a:solidFill>
                  <a:srgbClr val="262626"/>
                </a:solidFill>
                <a:latin typeface="メイリオ"/>
                <a:ea typeface="メイリオ"/>
                <a:cs typeface="メイリオ"/>
              </a:rPr>
              <a:t>時期に合わせて予約CTAを設置</a:t>
            </a:r>
          </a:p>
        </p:txBody>
      </p:sp>
      <p:sp>
        <p:nvSpPr>
          <p:cNvPr id="64" name="Rectangle 63"/>
          <p:cNvSpPr/>
          <p:nvPr/>
        </p:nvSpPr>
        <p:spPr>
          <a:xfrm>
            <a:off x="274320" y="4133087"/>
            <a:ext cx="1005840"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月1回</a:t>
            </a:r>
          </a:p>
        </p:txBody>
      </p:sp>
      <p:sp>
        <p:nvSpPr>
          <p:cNvPr id="65" name="Rectangle 64"/>
          <p:cNvSpPr/>
          <p:nvPr/>
        </p:nvSpPr>
        <p:spPr>
          <a:xfrm>
            <a:off x="1307592" y="4133087"/>
            <a:ext cx="2350008"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クロスセル・季節企画</a:t>
            </a:r>
          </a:p>
          <a:p>
            <a:pPr algn="l"/>
            <a:r>
              <a:rPr sz="1050" b="0">
                <a:solidFill>
                  <a:srgbClr val="262626"/>
                </a:solidFill>
                <a:latin typeface="メイリオ"/>
                <a:ea typeface="メイリオ"/>
                <a:cs typeface="メイリオ"/>
              </a:rPr>
              <a:t>系列ブランド案内、季節イベント</a:t>
            </a:r>
          </a:p>
        </p:txBody>
      </p:sp>
      <p:sp>
        <p:nvSpPr>
          <p:cNvPr id="66" name="Rectangle 65"/>
          <p:cNvSpPr/>
          <p:nvPr/>
        </p:nvSpPr>
        <p:spPr>
          <a:xfrm>
            <a:off x="274320" y="5138928"/>
            <a:ext cx="3383280" cy="1097280"/>
          </a:xfrm>
          <a:prstGeom prst="rect">
            <a:avLst/>
          </a:prstGeom>
          <a:solidFill>
            <a:srgbClr val="DCE3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100" b="1">
                <a:solidFill>
                  <a:srgbClr val="C00000"/>
                </a:solidFill>
                <a:latin typeface="メイリオ"/>
                <a:ea typeface="メイリオ"/>
                <a:cs typeface="メイリオ"/>
              </a:rPr>
              <a:t>運用ルール</a:t>
            </a:r>
          </a:p>
          <a:p>
            <a:pPr algn="l"/>
            <a:r>
              <a:rPr sz="1050" b="0">
                <a:solidFill>
                  <a:srgbClr val="262626"/>
                </a:solidFill>
                <a:latin typeface="メイリオ"/>
                <a:ea typeface="メイリオ"/>
                <a:cs typeface="メイリオ"/>
              </a:rPr>
              <a:t>属性（年齢・重視点）でセグメントし、全員配信を避ける</a:t>
            </a:r>
          </a:p>
          <a:p>
            <a:pPr algn="l"/>
            <a:r>
              <a:rPr sz="1050" b="0">
                <a:solidFill>
                  <a:srgbClr val="262626"/>
                </a:solidFill>
                <a:latin typeface="メイリオ"/>
                <a:ea typeface="メイリオ"/>
                <a:cs typeface="メイリオ"/>
              </a:rPr>
              <a:t>→ 変動費の抑制とCTR維持（KidsDuoはCTRが2.01%→1.23%）</a:t>
            </a:r>
          </a:p>
        </p:txBody>
      </p:sp>
      <p:sp>
        <p:nvSpPr>
          <p:cNvPr id="67" name="Rectangle 66"/>
          <p:cNvSpPr/>
          <p:nvPr/>
        </p:nvSpPr>
        <p:spPr>
          <a:xfrm>
            <a:off x="3840480" y="1828800"/>
            <a:ext cx="576072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シーズナリティ別の配信テーマ（想定）</a:t>
            </a:r>
          </a:p>
        </p:txBody>
      </p:sp>
      <p:sp>
        <p:nvSpPr>
          <p:cNvPr id="68" name="Rectangle 67"/>
          <p:cNvSpPr/>
          <p:nvPr/>
        </p:nvSpPr>
        <p:spPr>
          <a:xfrm>
            <a:off x="3840480" y="2212848"/>
            <a:ext cx="97840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時期</a:t>
            </a:r>
          </a:p>
        </p:txBody>
      </p:sp>
      <p:sp>
        <p:nvSpPr>
          <p:cNvPr id="69" name="Rectangle 68"/>
          <p:cNvSpPr/>
          <p:nvPr/>
        </p:nvSpPr>
        <p:spPr>
          <a:xfrm>
            <a:off x="4846320" y="2212848"/>
            <a:ext cx="189280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保護者のニーズ</a:t>
            </a:r>
          </a:p>
        </p:txBody>
      </p:sp>
      <p:sp>
        <p:nvSpPr>
          <p:cNvPr id="70" name="Rectangle 69"/>
          <p:cNvSpPr/>
          <p:nvPr/>
        </p:nvSpPr>
        <p:spPr>
          <a:xfrm>
            <a:off x="6766560" y="2212848"/>
            <a:ext cx="280720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配信テーマ</a:t>
            </a:r>
          </a:p>
        </p:txBody>
      </p:sp>
      <p:sp>
        <p:nvSpPr>
          <p:cNvPr id="71" name="Rectangle 70"/>
          <p:cNvSpPr/>
          <p:nvPr/>
        </p:nvSpPr>
        <p:spPr>
          <a:xfrm>
            <a:off x="3840480" y="2542032"/>
            <a:ext cx="978408" cy="53035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4〜5月</a:t>
            </a:r>
          </a:p>
        </p:txBody>
      </p:sp>
      <p:sp>
        <p:nvSpPr>
          <p:cNvPr id="72" name="Rectangle 71"/>
          <p:cNvSpPr/>
          <p:nvPr/>
        </p:nvSpPr>
        <p:spPr>
          <a:xfrm>
            <a:off x="4846320" y="2542032"/>
            <a:ext cx="18928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新年度・園探し</a:t>
            </a:r>
          </a:p>
        </p:txBody>
      </p:sp>
      <p:sp>
        <p:nvSpPr>
          <p:cNvPr id="73" name="Rectangle 72"/>
          <p:cNvSpPr/>
          <p:nvPr/>
        </p:nvSpPr>
        <p:spPr>
          <a:xfrm>
            <a:off x="6766560" y="2542032"/>
            <a:ext cx="28072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3つの教育の紹介・見学受付</a:t>
            </a:r>
          </a:p>
        </p:txBody>
      </p:sp>
      <p:sp>
        <p:nvSpPr>
          <p:cNvPr id="74" name="Rectangle 73"/>
          <p:cNvSpPr/>
          <p:nvPr/>
        </p:nvSpPr>
        <p:spPr>
          <a:xfrm>
            <a:off x="3840480" y="3108960"/>
            <a:ext cx="978408" cy="53035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6〜7月</a:t>
            </a:r>
          </a:p>
        </p:txBody>
      </p:sp>
      <p:sp>
        <p:nvSpPr>
          <p:cNvPr id="75" name="Rectangle 74"/>
          <p:cNvSpPr/>
          <p:nvPr/>
        </p:nvSpPr>
        <p:spPr>
          <a:xfrm>
            <a:off x="4846320" y="3108960"/>
            <a:ext cx="18928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夏前の情報収集</a:t>
            </a:r>
          </a:p>
        </p:txBody>
      </p:sp>
      <p:sp>
        <p:nvSpPr>
          <p:cNvPr id="76" name="Rectangle 75"/>
          <p:cNvSpPr/>
          <p:nvPr/>
        </p:nvSpPr>
        <p:spPr>
          <a:xfrm>
            <a:off x="6766560" y="3108960"/>
            <a:ext cx="28072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1日の流れ・夏のイベント案内</a:t>
            </a:r>
          </a:p>
        </p:txBody>
      </p:sp>
      <p:sp>
        <p:nvSpPr>
          <p:cNvPr id="77" name="Rectangle 76"/>
          <p:cNvSpPr/>
          <p:nvPr/>
        </p:nvSpPr>
        <p:spPr>
          <a:xfrm>
            <a:off x="3840480" y="3675887"/>
            <a:ext cx="978408" cy="53035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8〜9月</a:t>
            </a:r>
          </a:p>
        </p:txBody>
      </p:sp>
      <p:sp>
        <p:nvSpPr>
          <p:cNvPr id="78" name="Rectangle 77"/>
          <p:cNvSpPr/>
          <p:nvPr/>
        </p:nvSpPr>
        <p:spPr>
          <a:xfrm>
            <a:off x="4846320" y="3675887"/>
            <a:ext cx="18928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来年度の園探し開始</a:t>
            </a:r>
          </a:p>
        </p:txBody>
      </p:sp>
      <p:sp>
        <p:nvSpPr>
          <p:cNvPr id="79" name="Rectangle 78"/>
          <p:cNvSpPr/>
          <p:nvPr/>
        </p:nvSpPr>
        <p:spPr>
          <a:xfrm>
            <a:off x="6766560" y="3675887"/>
            <a:ext cx="28072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来年度入園の説明会予約</a:t>
            </a:r>
          </a:p>
        </p:txBody>
      </p:sp>
      <p:sp>
        <p:nvSpPr>
          <p:cNvPr id="80" name="Rectangle 79"/>
          <p:cNvSpPr/>
          <p:nvPr/>
        </p:nvSpPr>
        <p:spPr>
          <a:xfrm>
            <a:off x="3840480" y="4242816"/>
            <a:ext cx="978408" cy="53035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10〜11月</a:t>
            </a:r>
          </a:p>
        </p:txBody>
      </p:sp>
      <p:sp>
        <p:nvSpPr>
          <p:cNvPr id="81" name="Rectangle 80"/>
          <p:cNvSpPr/>
          <p:nvPr/>
        </p:nvSpPr>
        <p:spPr>
          <a:xfrm>
            <a:off x="4846320" y="4242816"/>
            <a:ext cx="18928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入園検討のピーク</a:t>
            </a:r>
          </a:p>
        </p:txBody>
      </p:sp>
      <p:sp>
        <p:nvSpPr>
          <p:cNvPr id="82" name="Rectangle 81"/>
          <p:cNvSpPr/>
          <p:nvPr/>
        </p:nvSpPr>
        <p:spPr>
          <a:xfrm>
            <a:off x="6766560" y="4242816"/>
            <a:ext cx="28072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見学・説明会の締切訴求</a:t>
            </a:r>
          </a:p>
        </p:txBody>
      </p:sp>
      <p:sp>
        <p:nvSpPr>
          <p:cNvPr id="83" name="Rectangle 82"/>
          <p:cNvSpPr/>
          <p:nvPr/>
        </p:nvSpPr>
        <p:spPr>
          <a:xfrm>
            <a:off x="3840480" y="4809744"/>
            <a:ext cx="978408" cy="53035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12〜1月</a:t>
            </a:r>
          </a:p>
        </p:txBody>
      </p:sp>
      <p:sp>
        <p:nvSpPr>
          <p:cNvPr id="84" name="Rectangle 83"/>
          <p:cNvSpPr/>
          <p:nvPr/>
        </p:nvSpPr>
        <p:spPr>
          <a:xfrm>
            <a:off x="4846320" y="4809744"/>
            <a:ext cx="18928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最終検討</a:t>
            </a:r>
          </a:p>
        </p:txBody>
      </p:sp>
      <p:sp>
        <p:nvSpPr>
          <p:cNvPr id="85" name="Rectangle 84"/>
          <p:cNvSpPr/>
          <p:nvPr/>
        </p:nvSpPr>
        <p:spPr>
          <a:xfrm>
            <a:off x="6766560" y="4809744"/>
            <a:ext cx="28072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よくある質問・不安の解消</a:t>
            </a:r>
          </a:p>
        </p:txBody>
      </p:sp>
      <p:sp>
        <p:nvSpPr>
          <p:cNvPr id="86" name="Rectangle 85"/>
          <p:cNvSpPr/>
          <p:nvPr/>
        </p:nvSpPr>
        <p:spPr>
          <a:xfrm>
            <a:off x="3840480" y="5376672"/>
            <a:ext cx="978408" cy="53035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2〜3月</a:t>
            </a:r>
          </a:p>
        </p:txBody>
      </p:sp>
      <p:sp>
        <p:nvSpPr>
          <p:cNvPr id="87" name="Rectangle 86"/>
          <p:cNvSpPr/>
          <p:nvPr/>
        </p:nvSpPr>
        <p:spPr>
          <a:xfrm>
            <a:off x="4846320" y="5376672"/>
            <a:ext cx="18928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入園直前</a:t>
            </a:r>
          </a:p>
        </p:txBody>
      </p:sp>
      <p:sp>
        <p:nvSpPr>
          <p:cNvPr id="88" name="Rectangle 87"/>
          <p:cNvSpPr/>
          <p:nvPr/>
        </p:nvSpPr>
        <p:spPr>
          <a:xfrm>
            <a:off x="6766560" y="5376672"/>
            <a:ext cx="2807208" cy="530352"/>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入園準備・空き状況</a:t>
            </a:r>
          </a:p>
        </p:txBody>
      </p:sp>
      <p:sp>
        <p:nvSpPr>
          <p:cNvPr id="89" name="Rectangle 88"/>
          <p:cNvSpPr/>
          <p:nvPr/>
        </p:nvSpPr>
        <p:spPr>
          <a:xfrm>
            <a:off x="274320" y="6336792"/>
            <a:ext cx="93268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l"/>
            <a:r>
              <a:rPr sz="900" b="0">
                <a:solidFill>
                  <a:srgbClr val="595959"/>
                </a:solidFill>
                <a:latin typeface="メイリオ"/>
                <a:ea typeface="メイリオ"/>
                <a:cs typeface="メイリオ"/>
              </a:rPr>
              <a:t>※時期とテーマはIKSの募集スケジュールに合わせて調整。教育内容の出典：やる気スイッチグループ FC公式サイト（i Kids Star）</a:t>
            </a:r>
          </a:p>
        </p:txBody>
      </p:sp>
      <p:sp>
        <p:nvSpPr>
          <p:cNvPr id="4" name="テキスト ボックス 3">
            <a:extLst>
              <a:ext uri="{FF2B5EF4-FFF2-40B4-BE49-F238E27FC236}">
                <a16:creationId xmlns:a16="http://schemas.microsoft.com/office/drawing/2014/main" id="{36EC9FF9-CF7B-5EF6-C790-D6A9C577BBF5}"/>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Tree>
    <p:extLst>
      <p:ext uri="{BB962C8B-B14F-4D97-AF65-F5344CB8AC3E}">
        <p14:creationId xmlns:p14="http://schemas.microsoft.com/office/powerpoint/2010/main" val="4261518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EB433-2B53-3AE8-1663-0A37DC5AE721}"/>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F411760D-1C6B-5391-8299-7B105F61060C}"/>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A778953-14DF-5C47-E23D-BBB509BFEBB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889BAEC2-9D39-D4CC-7C2C-617F21A2403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endParaRPr lang="ja-JP" altLang="en-US" sz="1100" dirty="0"/>
          </a:p>
        </p:txBody>
      </p:sp>
      <p:sp>
        <p:nvSpPr>
          <p:cNvPr id="7" name="テキスト ボックス 6">
            <a:extLst>
              <a:ext uri="{FF2B5EF4-FFF2-40B4-BE49-F238E27FC236}">
                <a16:creationId xmlns:a16="http://schemas.microsoft.com/office/drawing/2014/main" id="{45C0DC7C-4ABF-6AF6-386D-DCB45D49FA82}"/>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ユーザーの友だち追加後（</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15-30</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日間）、休眠掘り起こし施策の２軸で配信を実施する（ターゲット</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自動配信）</a:t>
            </a:r>
            <a:endParaRPr lang="ja-JP" altLang="en-US" sz="1000" dirty="0"/>
          </a:p>
        </p:txBody>
      </p:sp>
      <p:sp>
        <p:nvSpPr>
          <p:cNvPr id="9" name="テキスト ボックス 8">
            <a:extLst>
              <a:ext uri="{FF2B5EF4-FFF2-40B4-BE49-F238E27FC236}">
                <a16:creationId xmlns:a16="http://schemas.microsoft.com/office/drawing/2014/main" id="{D734C7DB-34F9-1DE7-4130-12D56DF4112D}"/>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59" name="Rectangle 58"/>
          <p:cNvSpPr/>
          <p:nvPr/>
        </p:nvSpPr>
        <p:spPr>
          <a:xfrm>
            <a:off x="274320" y="1828800"/>
            <a:ext cx="1810512" cy="3291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Day0</a:t>
            </a:r>
          </a:p>
        </p:txBody>
      </p:sp>
      <p:sp>
        <p:nvSpPr>
          <p:cNvPr id="60" name="Rectangle 59"/>
          <p:cNvSpPr/>
          <p:nvPr/>
        </p:nvSpPr>
        <p:spPr>
          <a:xfrm>
            <a:off x="274320" y="215798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挨拶＋アンケート</a:t>
            </a:r>
          </a:p>
          <a:p>
            <a:pPr algn="l"/>
            <a:r>
              <a:rPr sz="1150" b="0">
                <a:solidFill>
                  <a:srgbClr val="262626"/>
                </a:solidFill>
                <a:latin typeface="メイリオ"/>
                <a:ea typeface="メイリオ"/>
                <a:cs typeface="メイリオ"/>
              </a:rPr>
              <a:t>強みの提示と簡易1問</a:t>
            </a:r>
          </a:p>
        </p:txBody>
      </p:sp>
      <p:sp>
        <p:nvSpPr>
          <p:cNvPr id="61" name="Rectangle 60"/>
          <p:cNvSpPr/>
          <p:nvPr/>
        </p:nvSpPr>
        <p:spPr>
          <a:xfrm>
            <a:off x="2157984" y="1828800"/>
            <a:ext cx="1810512" cy="3291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Day1</a:t>
            </a:r>
          </a:p>
        </p:txBody>
      </p:sp>
      <p:sp>
        <p:nvSpPr>
          <p:cNvPr id="62" name="Rectangle 61"/>
          <p:cNvSpPr/>
          <p:nvPr/>
        </p:nvSpPr>
        <p:spPr>
          <a:xfrm>
            <a:off x="2157984" y="215798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IKSとは</a:t>
            </a:r>
          </a:p>
          <a:p>
            <a:pPr algn="l"/>
            <a:r>
              <a:rPr sz="1150" b="0">
                <a:solidFill>
                  <a:srgbClr val="262626"/>
                </a:solidFill>
                <a:latin typeface="メイリオ"/>
                <a:ea typeface="メイリオ"/>
                <a:cs typeface="メイリオ"/>
              </a:rPr>
              <a:t>やる気理論と3つの力</a:t>
            </a:r>
          </a:p>
        </p:txBody>
      </p:sp>
      <p:sp>
        <p:nvSpPr>
          <p:cNvPr id="63" name="Rectangle 62"/>
          <p:cNvSpPr/>
          <p:nvPr/>
        </p:nvSpPr>
        <p:spPr>
          <a:xfrm>
            <a:off x="4041648" y="1828800"/>
            <a:ext cx="1810512" cy="3291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Day3</a:t>
            </a:r>
          </a:p>
        </p:txBody>
      </p:sp>
      <p:sp>
        <p:nvSpPr>
          <p:cNvPr id="64" name="Rectangle 63"/>
          <p:cNvSpPr/>
          <p:nvPr/>
        </p:nvSpPr>
        <p:spPr>
          <a:xfrm>
            <a:off x="4041648" y="215798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英語教育</a:t>
            </a:r>
          </a:p>
          <a:p>
            <a:pPr algn="l"/>
            <a:r>
              <a:rPr sz="1150" b="0">
                <a:solidFill>
                  <a:srgbClr val="262626"/>
                </a:solidFill>
                <a:latin typeface="メイリオ"/>
                <a:ea typeface="メイリオ"/>
                <a:cs typeface="メイリオ"/>
              </a:rPr>
              <a:t>英語圏と日本の文化に触れる</a:t>
            </a:r>
          </a:p>
        </p:txBody>
      </p:sp>
      <p:sp>
        <p:nvSpPr>
          <p:cNvPr id="65" name="Rectangle 64"/>
          <p:cNvSpPr/>
          <p:nvPr/>
        </p:nvSpPr>
        <p:spPr>
          <a:xfrm>
            <a:off x="5925312" y="1828800"/>
            <a:ext cx="1810512" cy="3291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Day5</a:t>
            </a:r>
          </a:p>
        </p:txBody>
      </p:sp>
      <p:sp>
        <p:nvSpPr>
          <p:cNvPr id="66" name="Rectangle 65"/>
          <p:cNvSpPr/>
          <p:nvPr/>
        </p:nvSpPr>
        <p:spPr>
          <a:xfrm>
            <a:off x="5925312" y="215798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知能教育</a:t>
            </a:r>
          </a:p>
          <a:p>
            <a:pPr algn="l"/>
            <a:r>
              <a:rPr sz="1150" b="0">
                <a:solidFill>
                  <a:srgbClr val="262626"/>
                </a:solidFill>
                <a:latin typeface="メイリオ"/>
                <a:ea typeface="メイリオ"/>
                <a:cs typeface="メイリオ"/>
              </a:rPr>
              <a:t>考える遊び・年長平均IQ145※</a:t>
            </a:r>
          </a:p>
        </p:txBody>
      </p:sp>
      <p:sp>
        <p:nvSpPr>
          <p:cNvPr id="67" name="Rectangle 66"/>
          <p:cNvSpPr/>
          <p:nvPr/>
        </p:nvSpPr>
        <p:spPr>
          <a:xfrm>
            <a:off x="7808976" y="1828800"/>
            <a:ext cx="1810512" cy="329184"/>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Day7</a:t>
            </a:r>
          </a:p>
        </p:txBody>
      </p:sp>
      <p:sp>
        <p:nvSpPr>
          <p:cNvPr id="68" name="Rectangle 67"/>
          <p:cNvSpPr/>
          <p:nvPr/>
        </p:nvSpPr>
        <p:spPr>
          <a:xfrm>
            <a:off x="7808976" y="215798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運動指導</a:t>
            </a:r>
          </a:p>
          <a:p>
            <a:pPr algn="l"/>
            <a:r>
              <a:rPr sz="1150" b="0">
                <a:solidFill>
                  <a:srgbClr val="262626"/>
                </a:solidFill>
                <a:latin typeface="メイリオ"/>
                <a:ea typeface="メイリオ"/>
                <a:cs typeface="メイリオ"/>
              </a:rPr>
              <a:t>深代千之氏監修カリキュラム</a:t>
            </a:r>
          </a:p>
        </p:txBody>
      </p:sp>
      <p:sp>
        <p:nvSpPr>
          <p:cNvPr id="69" name="Rectangle 68"/>
          <p:cNvSpPr/>
          <p:nvPr/>
        </p:nvSpPr>
        <p:spPr>
          <a:xfrm>
            <a:off x="274320" y="3611880"/>
            <a:ext cx="1810512" cy="329184"/>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Day10</a:t>
            </a:r>
          </a:p>
        </p:txBody>
      </p:sp>
      <p:sp>
        <p:nvSpPr>
          <p:cNvPr id="70" name="Rectangle 69"/>
          <p:cNvSpPr/>
          <p:nvPr/>
        </p:nvSpPr>
        <p:spPr>
          <a:xfrm>
            <a:off x="274320" y="394106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ライフスキル</a:t>
            </a:r>
          </a:p>
          <a:p>
            <a:pPr algn="l"/>
            <a:r>
              <a:rPr sz="1150" b="0">
                <a:solidFill>
                  <a:srgbClr val="262626"/>
                </a:solidFill>
                <a:latin typeface="メイリオ"/>
                <a:ea typeface="メイリオ"/>
                <a:cs typeface="メイリオ"/>
              </a:rPr>
              <a:t>長時間保育・1日の流れ</a:t>
            </a:r>
          </a:p>
        </p:txBody>
      </p:sp>
      <p:sp>
        <p:nvSpPr>
          <p:cNvPr id="71" name="Rectangle 70"/>
          <p:cNvSpPr/>
          <p:nvPr/>
        </p:nvSpPr>
        <p:spPr>
          <a:xfrm>
            <a:off x="2157984" y="3611880"/>
            <a:ext cx="1810512" cy="329184"/>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Day14</a:t>
            </a:r>
          </a:p>
        </p:txBody>
      </p:sp>
      <p:sp>
        <p:nvSpPr>
          <p:cNvPr id="72" name="Rectangle 71"/>
          <p:cNvSpPr/>
          <p:nvPr/>
        </p:nvSpPr>
        <p:spPr>
          <a:xfrm>
            <a:off x="2157984" y="394106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ミックスエイジ</a:t>
            </a:r>
          </a:p>
          <a:p>
            <a:pPr algn="l"/>
            <a:r>
              <a:rPr sz="1150" b="0">
                <a:solidFill>
                  <a:srgbClr val="262626"/>
                </a:solidFill>
                <a:latin typeface="メイリオ"/>
                <a:ea typeface="メイリオ"/>
                <a:cs typeface="メイリオ"/>
              </a:rPr>
              <a:t>異学年での活動・協調性</a:t>
            </a:r>
          </a:p>
        </p:txBody>
      </p:sp>
      <p:sp>
        <p:nvSpPr>
          <p:cNvPr id="73" name="Rectangle 72"/>
          <p:cNvSpPr/>
          <p:nvPr/>
        </p:nvSpPr>
        <p:spPr>
          <a:xfrm>
            <a:off x="4041648" y="3611880"/>
            <a:ext cx="1810512" cy="32918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Day18</a:t>
            </a:r>
          </a:p>
        </p:txBody>
      </p:sp>
      <p:sp>
        <p:nvSpPr>
          <p:cNvPr id="74" name="Rectangle 73"/>
          <p:cNvSpPr/>
          <p:nvPr/>
        </p:nvSpPr>
        <p:spPr>
          <a:xfrm>
            <a:off x="4041648" y="394106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見学のご案内</a:t>
            </a:r>
          </a:p>
          <a:p>
            <a:pPr algn="l"/>
            <a:r>
              <a:rPr sz="1150" b="0">
                <a:solidFill>
                  <a:srgbClr val="262626"/>
                </a:solidFill>
                <a:latin typeface="メイリオ"/>
                <a:ea typeface="メイリオ"/>
                <a:cs typeface="メイリオ"/>
              </a:rPr>
              <a:t>予約CTA（空き日程）</a:t>
            </a:r>
          </a:p>
        </p:txBody>
      </p:sp>
      <p:sp>
        <p:nvSpPr>
          <p:cNvPr id="75" name="Rectangle 74"/>
          <p:cNvSpPr/>
          <p:nvPr/>
        </p:nvSpPr>
        <p:spPr>
          <a:xfrm>
            <a:off x="5925312" y="3611880"/>
            <a:ext cx="1810512" cy="32918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Day23</a:t>
            </a:r>
          </a:p>
        </p:txBody>
      </p:sp>
      <p:sp>
        <p:nvSpPr>
          <p:cNvPr id="76" name="Rectangle 75"/>
          <p:cNvSpPr/>
          <p:nvPr/>
        </p:nvSpPr>
        <p:spPr>
          <a:xfrm>
            <a:off x="5925312" y="394106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不安解消</a:t>
            </a:r>
          </a:p>
          <a:p>
            <a:pPr algn="l"/>
            <a:r>
              <a:rPr sz="1150" b="0">
                <a:solidFill>
                  <a:srgbClr val="262626"/>
                </a:solidFill>
                <a:latin typeface="メイリオ"/>
                <a:ea typeface="メイリオ"/>
                <a:cs typeface="メイリオ"/>
              </a:rPr>
              <a:t>よくある質問・費用・送迎</a:t>
            </a:r>
          </a:p>
        </p:txBody>
      </p:sp>
      <p:sp>
        <p:nvSpPr>
          <p:cNvPr id="77" name="Rectangle 76"/>
          <p:cNvSpPr/>
          <p:nvPr/>
        </p:nvSpPr>
        <p:spPr>
          <a:xfrm>
            <a:off x="7808976" y="3611880"/>
            <a:ext cx="1810512" cy="32918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FFFFF"/>
                </a:solidFill>
                <a:latin typeface="メイリオ"/>
                <a:ea typeface="メイリオ"/>
                <a:cs typeface="メイリオ"/>
              </a:rPr>
              <a:t>Day30</a:t>
            </a:r>
          </a:p>
        </p:txBody>
      </p:sp>
      <p:sp>
        <p:nvSpPr>
          <p:cNvPr id="78" name="Rectangle 77"/>
          <p:cNvSpPr/>
          <p:nvPr/>
        </p:nvSpPr>
        <p:spPr>
          <a:xfrm>
            <a:off x="7808976" y="3941064"/>
            <a:ext cx="1810512" cy="13258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r>
              <a:rPr sz="1300" b="1">
                <a:solidFill>
                  <a:srgbClr val="1F2A5C"/>
                </a:solidFill>
                <a:latin typeface="メイリオ"/>
                <a:ea typeface="メイリオ"/>
                <a:cs typeface="メイリオ"/>
              </a:rPr>
              <a:t>最終のご案内</a:t>
            </a:r>
          </a:p>
          <a:p>
            <a:pPr algn="l"/>
            <a:r>
              <a:rPr sz="1150" b="0">
                <a:solidFill>
                  <a:srgbClr val="262626"/>
                </a:solidFill>
                <a:latin typeface="メイリオ"/>
                <a:ea typeface="メイリオ"/>
                <a:cs typeface="メイリオ"/>
              </a:rPr>
              <a:t>未予約者のみ配信</a:t>
            </a:r>
          </a:p>
        </p:txBody>
      </p:sp>
      <p:sp>
        <p:nvSpPr>
          <p:cNvPr id="79" name="Rectangle 78"/>
          <p:cNvSpPr/>
          <p:nvPr/>
        </p:nvSpPr>
        <p:spPr>
          <a:xfrm>
            <a:off x="274320" y="5440680"/>
            <a:ext cx="301752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FFFFF"/>
                </a:solidFill>
                <a:latin typeface="メイリオ"/>
                <a:ea typeface="メイリオ"/>
                <a:cs typeface="メイリオ"/>
              </a:rPr>
              <a:t>理解：Day0〜7（教育の3本柱）</a:t>
            </a:r>
          </a:p>
        </p:txBody>
      </p:sp>
      <p:sp>
        <p:nvSpPr>
          <p:cNvPr id="80" name="Rectangle 79"/>
          <p:cNvSpPr/>
          <p:nvPr/>
        </p:nvSpPr>
        <p:spPr>
          <a:xfrm>
            <a:off x="3383280" y="5440680"/>
            <a:ext cx="3017520" cy="3840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FFFFF"/>
                </a:solidFill>
                <a:latin typeface="メイリオ"/>
                <a:ea typeface="メイリオ"/>
                <a:cs typeface="メイリオ"/>
              </a:rPr>
              <a:t>納得：Day10〜14（日常のイメージ）</a:t>
            </a:r>
          </a:p>
        </p:txBody>
      </p:sp>
      <p:sp>
        <p:nvSpPr>
          <p:cNvPr id="81" name="Rectangle 80"/>
          <p:cNvSpPr/>
          <p:nvPr/>
        </p:nvSpPr>
        <p:spPr>
          <a:xfrm>
            <a:off x="6492240" y="5440680"/>
            <a:ext cx="3108960" cy="38404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FFFFF"/>
                </a:solidFill>
                <a:latin typeface="メイリオ"/>
                <a:ea typeface="メイリオ"/>
                <a:cs typeface="メイリオ"/>
              </a:rPr>
              <a:t>行動：Day18〜30（予約へ）</a:t>
            </a:r>
          </a:p>
        </p:txBody>
      </p:sp>
      <p:sp>
        <p:nvSpPr>
          <p:cNvPr id="82" name="Rectangle 81"/>
          <p:cNvSpPr/>
          <p:nvPr/>
        </p:nvSpPr>
        <p:spPr>
          <a:xfrm>
            <a:off x="274320" y="5870448"/>
            <a:ext cx="9326880" cy="411480"/>
          </a:xfrm>
          <a:prstGeom prst="rect">
            <a:avLst/>
          </a:prstGeom>
          <a:solidFill>
            <a:srgbClr val="DCE3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見学予約が入った時点で停止し、来場前の案内（持ち物・アクセス）へ切り替え。反応が高い配信は他ブランドへ展開（全10本）</a:t>
            </a:r>
          </a:p>
        </p:txBody>
      </p:sp>
      <p:sp>
        <p:nvSpPr>
          <p:cNvPr id="83" name="Rectangle 82"/>
          <p:cNvSpPr/>
          <p:nvPr/>
        </p:nvSpPr>
        <p:spPr>
          <a:xfrm>
            <a:off x="274320" y="6355080"/>
            <a:ext cx="93268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l"/>
            <a:r>
              <a:rPr sz="900" b="0">
                <a:solidFill>
                  <a:srgbClr val="595959"/>
                </a:solidFill>
                <a:latin typeface="メイリオ"/>
                <a:ea typeface="メイリオ"/>
                <a:cs typeface="メイリオ"/>
              </a:rPr>
              <a:t>※2022年度 i Kids Star 全園実績（年長クラス平均）。出典：やる気スイッチグループ FC公式サイト（i Kids Star）</a:t>
            </a:r>
          </a:p>
        </p:txBody>
      </p:sp>
      <p:sp>
        <p:nvSpPr>
          <p:cNvPr id="4" name="テキスト ボックス 3">
            <a:extLst>
              <a:ext uri="{FF2B5EF4-FFF2-40B4-BE49-F238E27FC236}">
                <a16:creationId xmlns:a16="http://schemas.microsoft.com/office/drawing/2014/main" id="{CA65AA40-DC5C-A94E-2C0D-B2DB35B6824E}"/>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Tree>
    <p:extLst>
      <p:ext uri="{BB962C8B-B14F-4D97-AF65-F5344CB8AC3E}">
        <p14:creationId xmlns:p14="http://schemas.microsoft.com/office/powerpoint/2010/main" val="3820707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45179-5937-4E4A-C471-DD436A2CB0D8}"/>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55DA7F13-A002-540F-C31F-DD501A3B518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DE610C9-2860-2773-DDAD-3EC872BB94D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419FEBE-46C7-1112-77D8-64F28333C8C3}"/>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休眠掘り起こし企画</a:t>
            </a:r>
            <a:endParaRPr lang="ja-JP" altLang="en-US" sz="1100" dirty="0"/>
          </a:p>
        </p:txBody>
      </p:sp>
      <p:sp>
        <p:nvSpPr>
          <p:cNvPr id="7" name="テキスト ボックス 6">
            <a:extLst>
              <a:ext uri="{FF2B5EF4-FFF2-40B4-BE49-F238E27FC236}">
                <a16:creationId xmlns:a16="http://schemas.microsoft.com/office/drawing/2014/main" id="{D4A24AB6-0A5F-D41E-5E9C-C610ED9354C3}"/>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体験・来場・利用後のサポート</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引上げは動線上弱い状況。軽微なアンケートと共に引上げ施策を各ブランドで実施。</a:t>
            </a:r>
            <a:endParaRPr lang="ja-JP" altLang="en-US" sz="1000" dirty="0"/>
          </a:p>
        </p:txBody>
      </p:sp>
      <p:sp>
        <p:nvSpPr>
          <p:cNvPr id="9" name="テキスト ボックス 8">
            <a:extLst>
              <a:ext uri="{FF2B5EF4-FFF2-40B4-BE49-F238E27FC236}">
                <a16:creationId xmlns:a16="http://schemas.microsoft.com/office/drawing/2014/main" id="{CFB64563-2555-E3C5-FD33-8A92143A295C}"/>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59" name="Rectangle 58"/>
          <p:cNvSpPr/>
          <p:nvPr/>
        </p:nvSpPr>
        <p:spPr>
          <a:xfrm>
            <a:off x="274320" y="1828800"/>
            <a:ext cx="457200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対象A：見学・体験したが未入園</a:t>
            </a:r>
          </a:p>
        </p:txBody>
      </p:sp>
      <p:sp>
        <p:nvSpPr>
          <p:cNvPr id="60" name="Rectangle 59"/>
          <p:cNvSpPr/>
          <p:nvPr/>
        </p:nvSpPr>
        <p:spPr>
          <a:xfrm>
            <a:off x="274320" y="2194560"/>
            <a:ext cx="4572000" cy="457200"/>
          </a:xfrm>
          <a:prstGeom prst="rect">
            <a:avLst/>
          </a:prstGeom>
          <a:solidFill>
            <a:srgbClr val="DCE3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配信のきっかけ：見学・体験の3日後／2週間後／45日後</a:t>
            </a:r>
          </a:p>
        </p:txBody>
      </p:sp>
      <p:sp>
        <p:nvSpPr>
          <p:cNvPr id="61" name="Rectangle 60"/>
          <p:cNvSpPr/>
          <p:nvPr/>
        </p:nvSpPr>
        <p:spPr>
          <a:xfrm>
            <a:off x="274320" y="2743200"/>
            <a:ext cx="1143000" cy="93268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STEP1</a:t>
            </a:r>
          </a:p>
        </p:txBody>
      </p:sp>
      <p:sp>
        <p:nvSpPr>
          <p:cNvPr id="62" name="Rectangle 61"/>
          <p:cNvSpPr/>
          <p:nvPr/>
        </p:nvSpPr>
        <p:spPr>
          <a:xfrm>
            <a:off x="1444752" y="2743200"/>
            <a:ext cx="3401568" cy="9326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お礼＋簡易アンケート</a:t>
            </a:r>
          </a:p>
          <a:p>
            <a:pPr algn="l"/>
            <a:r>
              <a:rPr sz="1050" b="0">
                <a:solidFill>
                  <a:srgbClr val="262626"/>
                </a:solidFill>
                <a:latin typeface="メイリオ"/>
                <a:ea typeface="メイリオ"/>
                <a:cs typeface="メイリオ"/>
              </a:rPr>
              <a:t>「気になる点」を1タップで回答（費用／送迎／教育）</a:t>
            </a:r>
          </a:p>
        </p:txBody>
      </p:sp>
      <p:sp>
        <p:nvSpPr>
          <p:cNvPr id="63" name="Rectangle 62"/>
          <p:cNvSpPr/>
          <p:nvPr/>
        </p:nvSpPr>
        <p:spPr>
          <a:xfrm>
            <a:off x="274320" y="3767328"/>
            <a:ext cx="1143000" cy="93268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STEP2</a:t>
            </a:r>
          </a:p>
        </p:txBody>
      </p:sp>
      <p:sp>
        <p:nvSpPr>
          <p:cNvPr id="64" name="Rectangle 63"/>
          <p:cNvSpPr/>
          <p:nvPr/>
        </p:nvSpPr>
        <p:spPr>
          <a:xfrm>
            <a:off x="1444752" y="3767328"/>
            <a:ext cx="3401568" cy="9326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回答別のフォロー</a:t>
            </a:r>
          </a:p>
          <a:p>
            <a:pPr algn="l"/>
            <a:r>
              <a:rPr sz="1050" b="0">
                <a:solidFill>
                  <a:srgbClr val="262626"/>
                </a:solidFill>
                <a:latin typeface="メイリオ"/>
                <a:ea typeface="メイリオ"/>
                <a:cs typeface="メイリオ"/>
              </a:rPr>
              <a:t>回答に合わせて該当の教育・保育時間を案内</a:t>
            </a:r>
          </a:p>
        </p:txBody>
      </p:sp>
      <p:sp>
        <p:nvSpPr>
          <p:cNvPr id="65" name="Rectangle 64"/>
          <p:cNvSpPr/>
          <p:nvPr/>
        </p:nvSpPr>
        <p:spPr>
          <a:xfrm>
            <a:off x="274320" y="4791456"/>
            <a:ext cx="1143000" cy="93268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STEP3</a:t>
            </a:r>
          </a:p>
        </p:txBody>
      </p:sp>
      <p:sp>
        <p:nvSpPr>
          <p:cNvPr id="66" name="Rectangle 65"/>
          <p:cNvSpPr/>
          <p:nvPr/>
        </p:nvSpPr>
        <p:spPr>
          <a:xfrm>
            <a:off x="1444752" y="4791456"/>
            <a:ext cx="3401568" cy="9326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期限付きの案内</a:t>
            </a:r>
          </a:p>
          <a:p>
            <a:pPr algn="l"/>
            <a:r>
              <a:rPr sz="1050" b="0">
                <a:solidFill>
                  <a:srgbClr val="262626"/>
                </a:solidFill>
                <a:latin typeface="メイリオ"/>
                <a:ea typeface="メイリオ"/>
                <a:cs typeface="メイリオ"/>
              </a:rPr>
              <a:t>説明会・再見学の受付（日程と空き状況）</a:t>
            </a:r>
          </a:p>
        </p:txBody>
      </p:sp>
      <p:sp>
        <p:nvSpPr>
          <p:cNvPr id="67" name="Rectangle 66"/>
          <p:cNvSpPr/>
          <p:nvPr/>
        </p:nvSpPr>
        <p:spPr>
          <a:xfrm>
            <a:off x="5029200" y="1828800"/>
            <a:ext cx="4572000" cy="310896"/>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対象B：友だち追加後、未予約のまま休眠</a:t>
            </a:r>
          </a:p>
        </p:txBody>
      </p:sp>
      <p:sp>
        <p:nvSpPr>
          <p:cNvPr id="68" name="Rectangle 67"/>
          <p:cNvSpPr/>
          <p:nvPr/>
        </p:nvSpPr>
        <p:spPr>
          <a:xfrm>
            <a:off x="5029200" y="2194560"/>
            <a:ext cx="4572000" cy="457200"/>
          </a:xfrm>
          <a:prstGeom prst="rect">
            <a:avLst/>
          </a:prstGeom>
          <a:solidFill>
            <a:srgbClr val="DCE3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4A6FA5"/>
                </a:solidFill>
                <a:latin typeface="メイリオ"/>
                <a:ea typeface="メイリオ"/>
                <a:cs typeface="メイリオ"/>
              </a:rPr>
              <a:t>配信のきっかけ：追加から30日／60日／90日反応なし</a:t>
            </a:r>
          </a:p>
        </p:txBody>
      </p:sp>
      <p:sp>
        <p:nvSpPr>
          <p:cNvPr id="69" name="Rectangle 68"/>
          <p:cNvSpPr/>
          <p:nvPr/>
        </p:nvSpPr>
        <p:spPr>
          <a:xfrm>
            <a:off x="5029200" y="2743200"/>
            <a:ext cx="1143000" cy="93268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STEP1</a:t>
            </a:r>
          </a:p>
        </p:txBody>
      </p:sp>
      <p:sp>
        <p:nvSpPr>
          <p:cNvPr id="70" name="Rectangle 69"/>
          <p:cNvSpPr/>
          <p:nvPr/>
        </p:nvSpPr>
        <p:spPr>
          <a:xfrm>
            <a:off x="6199632" y="2743200"/>
            <a:ext cx="3401568" cy="9326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近況＋新しいコンテンツ</a:t>
            </a:r>
          </a:p>
          <a:p>
            <a:pPr algn="l"/>
            <a:r>
              <a:rPr sz="1050" b="0">
                <a:solidFill>
                  <a:srgbClr val="262626"/>
                </a:solidFill>
                <a:latin typeface="メイリオ"/>
                <a:ea typeface="メイリオ"/>
                <a:cs typeface="メイリオ"/>
              </a:rPr>
              <a:t>3つの教育・1日の流れの新着を紹介</a:t>
            </a:r>
          </a:p>
        </p:txBody>
      </p:sp>
      <p:sp>
        <p:nvSpPr>
          <p:cNvPr id="71" name="Rectangle 70"/>
          <p:cNvSpPr/>
          <p:nvPr/>
        </p:nvSpPr>
        <p:spPr>
          <a:xfrm>
            <a:off x="5029200" y="3767328"/>
            <a:ext cx="1143000" cy="93268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STEP2</a:t>
            </a:r>
          </a:p>
        </p:txBody>
      </p:sp>
      <p:sp>
        <p:nvSpPr>
          <p:cNvPr id="72" name="Rectangle 71"/>
          <p:cNvSpPr/>
          <p:nvPr/>
        </p:nvSpPr>
        <p:spPr>
          <a:xfrm>
            <a:off x="6199632" y="3767328"/>
            <a:ext cx="3401568" cy="9326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検討状況の簡易アンケート</a:t>
            </a:r>
          </a:p>
          <a:p>
            <a:pPr algn="l"/>
            <a:r>
              <a:rPr sz="1050" b="0">
                <a:solidFill>
                  <a:srgbClr val="262626"/>
                </a:solidFill>
                <a:latin typeface="メイリオ"/>
                <a:ea typeface="メイリオ"/>
                <a:cs typeface="メイリオ"/>
              </a:rPr>
              <a:t>「検討中／他園に決定／時期が未定」を選択</a:t>
            </a:r>
          </a:p>
        </p:txBody>
      </p:sp>
      <p:sp>
        <p:nvSpPr>
          <p:cNvPr id="73" name="Rectangle 72"/>
          <p:cNvSpPr/>
          <p:nvPr/>
        </p:nvSpPr>
        <p:spPr>
          <a:xfrm>
            <a:off x="5029200" y="4791456"/>
            <a:ext cx="1143000" cy="93268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FFFFF"/>
                </a:solidFill>
                <a:latin typeface="メイリオ"/>
                <a:ea typeface="メイリオ"/>
                <a:cs typeface="メイリオ"/>
              </a:rPr>
              <a:t>STEP3</a:t>
            </a:r>
          </a:p>
        </p:txBody>
      </p:sp>
      <p:sp>
        <p:nvSpPr>
          <p:cNvPr id="74" name="Rectangle 73"/>
          <p:cNvSpPr/>
          <p:nvPr/>
        </p:nvSpPr>
        <p:spPr>
          <a:xfrm>
            <a:off x="6199632" y="4791456"/>
            <a:ext cx="3401568" cy="93268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50" b="1">
                <a:solidFill>
                  <a:srgbClr val="1F2A5C"/>
                </a:solidFill>
                <a:latin typeface="メイリオ"/>
                <a:ea typeface="メイリオ"/>
                <a:cs typeface="メイリオ"/>
              </a:rPr>
              <a:t>再見学のご案内</a:t>
            </a:r>
          </a:p>
          <a:p>
            <a:pPr algn="l"/>
            <a:r>
              <a:rPr sz="1050" b="0">
                <a:solidFill>
                  <a:srgbClr val="262626"/>
                </a:solidFill>
                <a:latin typeface="メイリオ"/>
                <a:ea typeface="メイリオ"/>
                <a:cs typeface="メイリオ"/>
              </a:rPr>
              <a:t>検討中の方に、入園時期に合わせた予約案内</a:t>
            </a:r>
          </a:p>
        </p:txBody>
      </p:sp>
      <p:sp>
        <p:nvSpPr>
          <p:cNvPr id="75" name="Rectangle 74"/>
          <p:cNvSpPr/>
          <p:nvPr/>
        </p:nvSpPr>
        <p:spPr>
          <a:xfrm>
            <a:off x="274320" y="5870448"/>
            <a:ext cx="9326880" cy="411480"/>
          </a:xfrm>
          <a:prstGeom prst="rect">
            <a:avLst/>
          </a:prstGeom>
          <a:solidFill>
            <a:srgbClr val="DCE3F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効果測定：再反応率・再予約数。回答（時期・重視点）は配信セグメントとして蓄積し、各ブランドへ展開</a:t>
            </a:r>
          </a:p>
        </p:txBody>
      </p:sp>
      <p:sp>
        <p:nvSpPr>
          <p:cNvPr id="4" name="テキスト ボックス 3">
            <a:extLst>
              <a:ext uri="{FF2B5EF4-FFF2-40B4-BE49-F238E27FC236}">
                <a16:creationId xmlns:a16="http://schemas.microsoft.com/office/drawing/2014/main" id="{179A05DE-59A3-E630-7CF0-D08890581CF4}"/>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Tree>
    <p:extLst>
      <p:ext uri="{BB962C8B-B14F-4D97-AF65-F5344CB8AC3E}">
        <p14:creationId xmlns:p14="http://schemas.microsoft.com/office/powerpoint/2010/main" val="9345711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37918-F70F-9CF6-2DB9-D2CE4519ECB8}"/>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DAC50856-978A-E0AB-E122-7735DEB4042E}"/>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E5230873-7134-9B9D-D477-D9EB8C7DEFF3}"/>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E4C572D-06CC-B976-6836-D1A7F09504F9}"/>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追加企画</a:t>
            </a:r>
            <a:endParaRPr lang="ja-JP" altLang="en-US" sz="1100" dirty="0"/>
          </a:p>
        </p:txBody>
      </p:sp>
      <p:sp>
        <p:nvSpPr>
          <p:cNvPr id="7" name="テキスト ボックス 6">
            <a:extLst>
              <a:ext uri="{FF2B5EF4-FFF2-40B4-BE49-F238E27FC236}">
                <a16:creationId xmlns:a16="http://schemas.microsoft.com/office/drawing/2014/main" id="{9F80F94D-A241-BE19-0BE5-16234A3DB2AA}"/>
              </a:ext>
            </a:extLst>
          </p:cNvPr>
          <p:cNvSpPr txBox="1"/>
          <p:nvPr/>
        </p:nvSpPr>
        <p:spPr>
          <a:xfrm>
            <a:off x="96788" y="1202790"/>
            <a:ext cx="9687414" cy="523220"/>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アンケート内で、お子様の年齢、興味関心を取得することで、</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複数サービスの利用に向けた動線を開拓する。</a:t>
            </a:r>
            <a:endParaRPr lang="ja-JP" altLang="en-US" sz="1000" dirty="0"/>
          </a:p>
        </p:txBody>
      </p:sp>
      <p:sp>
        <p:nvSpPr>
          <p:cNvPr id="9" name="テキスト ボックス 8">
            <a:extLst>
              <a:ext uri="{FF2B5EF4-FFF2-40B4-BE49-F238E27FC236}">
                <a16:creationId xmlns:a16="http://schemas.microsoft.com/office/drawing/2014/main" id="{E0138160-F1E3-2F7C-C40F-DAE673E3B60A}"/>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59" name="Rectangle 58"/>
          <p:cNvSpPr/>
          <p:nvPr/>
        </p:nvSpPr>
        <p:spPr>
          <a:xfrm>
            <a:off x="274320" y="1828800"/>
            <a:ext cx="2926080"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① アンケートで取得</a:t>
            </a:r>
          </a:p>
          <a:p>
            <a:pPr algn="l"/>
            <a:r>
              <a:rPr sz="1050" b="0">
                <a:solidFill>
                  <a:srgbClr val="FFFFFF"/>
                </a:solidFill>
                <a:latin typeface="メイリオ"/>
                <a:ea typeface="メイリオ"/>
                <a:cs typeface="メイリオ"/>
              </a:rPr>
              <a:t>お子様の年齢と興味関心をタップで回答</a:t>
            </a:r>
          </a:p>
        </p:txBody>
      </p:sp>
      <p:sp>
        <p:nvSpPr>
          <p:cNvPr id="60" name="Right Arrow 59"/>
          <p:cNvSpPr/>
          <p:nvPr/>
        </p:nvSpPr>
        <p:spPr>
          <a:xfrm>
            <a:off x="3218688" y="2103120"/>
            <a:ext cx="201168"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l"/>
            <a:endParaRPr/>
          </a:p>
        </p:txBody>
      </p:sp>
      <p:sp>
        <p:nvSpPr>
          <p:cNvPr id="61" name="Rectangle 60"/>
          <p:cNvSpPr/>
          <p:nvPr/>
        </p:nvSpPr>
        <p:spPr>
          <a:xfrm>
            <a:off x="3429000" y="1828800"/>
            <a:ext cx="2926080"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② 友だち情報に保存</a:t>
            </a:r>
          </a:p>
          <a:p>
            <a:pPr algn="l"/>
            <a:r>
              <a:rPr sz="1050" b="0">
                <a:solidFill>
                  <a:srgbClr val="FFFFFF"/>
                </a:solidFill>
                <a:latin typeface="メイリオ"/>
                <a:ea typeface="メイリオ"/>
                <a:cs typeface="メイリオ"/>
              </a:rPr>
              <a:t>回答をタグ化し、配信セグメントに利用</a:t>
            </a:r>
          </a:p>
        </p:txBody>
      </p:sp>
      <p:sp>
        <p:nvSpPr>
          <p:cNvPr id="62" name="Right Arrow 61"/>
          <p:cNvSpPr/>
          <p:nvPr/>
        </p:nvSpPr>
        <p:spPr>
          <a:xfrm>
            <a:off x="6373368" y="2103120"/>
            <a:ext cx="201168"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l"/>
            <a:endParaRPr/>
          </a:p>
        </p:txBody>
      </p:sp>
      <p:sp>
        <p:nvSpPr>
          <p:cNvPr id="63" name="Rectangle 62"/>
          <p:cNvSpPr/>
          <p:nvPr/>
        </p:nvSpPr>
        <p:spPr>
          <a:xfrm>
            <a:off x="6583680" y="1828800"/>
            <a:ext cx="2926080"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③ 最適なブランドを案内</a:t>
            </a:r>
          </a:p>
          <a:p>
            <a:pPr algn="l"/>
            <a:r>
              <a:rPr sz="1050" b="0">
                <a:solidFill>
                  <a:srgbClr val="FFFFFF"/>
                </a:solidFill>
                <a:latin typeface="メイリオ"/>
                <a:ea typeface="メイリオ"/>
                <a:cs typeface="メイリオ"/>
              </a:rPr>
              <a:t>リッチメニューとステップ配信を出し分け</a:t>
            </a:r>
          </a:p>
        </p:txBody>
      </p:sp>
      <p:sp>
        <p:nvSpPr>
          <p:cNvPr id="64" name="Rectangle 63"/>
          <p:cNvSpPr/>
          <p:nvPr/>
        </p:nvSpPr>
        <p:spPr>
          <a:xfrm>
            <a:off x="274320" y="2926080"/>
            <a:ext cx="5760720"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興味関心別の案内先（例）</a:t>
            </a:r>
          </a:p>
        </p:txBody>
      </p:sp>
      <p:sp>
        <p:nvSpPr>
          <p:cNvPr id="65" name="Rectangle 64"/>
          <p:cNvSpPr/>
          <p:nvPr/>
        </p:nvSpPr>
        <p:spPr>
          <a:xfrm>
            <a:off x="274320" y="3310128"/>
            <a:ext cx="1801368"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興味・ニーズ</a:t>
            </a:r>
          </a:p>
        </p:txBody>
      </p:sp>
      <p:sp>
        <p:nvSpPr>
          <p:cNvPr id="66" name="Rectangle 65"/>
          <p:cNvSpPr/>
          <p:nvPr/>
        </p:nvSpPr>
        <p:spPr>
          <a:xfrm>
            <a:off x="2103120" y="3310128"/>
            <a:ext cx="3904487" cy="310896"/>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100" b="1">
                <a:solidFill>
                  <a:srgbClr val="FFFFFF"/>
                </a:solidFill>
                <a:latin typeface="メイリオ"/>
                <a:ea typeface="メイリオ"/>
                <a:cs typeface="メイリオ"/>
              </a:rPr>
              <a:t>案内するブランド</a:t>
            </a:r>
          </a:p>
        </p:txBody>
      </p:sp>
      <p:sp>
        <p:nvSpPr>
          <p:cNvPr id="67" name="Rectangle 66"/>
          <p:cNvSpPr/>
          <p:nvPr/>
        </p:nvSpPr>
        <p:spPr>
          <a:xfrm>
            <a:off x="274320" y="3639312"/>
            <a:ext cx="1801368"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英語</a:t>
            </a:r>
          </a:p>
        </p:txBody>
      </p:sp>
      <p:sp>
        <p:nvSpPr>
          <p:cNvPr id="68" name="Rectangle 67"/>
          <p:cNvSpPr/>
          <p:nvPr/>
        </p:nvSpPr>
        <p:spPr>
          <a:xfrm>
            <a:off x="2103120" y="3639312"/>
            <a:ext cx="3904487" cy="384048"/>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WinBe（英会話・フォニックス）</a:t>
            </a:r>
          </a:p>
        </p:txBody>
      </p:sp>
      <p:sp>
        <p:nvSpPr>
          <p:cNvPr id="69" name="Rectangle 68"/>
          <p:cNvSpPr/>
          <p:nvPr/>
        </p:nvSpPr>
        <p:spPr>
          <a:xfrm>
            <a:off x="274320" y="4059936"/>
            <a:ext cx="1801368"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学童・長時間の預かり</a:t>
            </a:r>
          </a:p>
        </p:txBody>
      </p:sp>
      <p:sp>
        <p:nvSpPr>
          <p:cNvPr id="70" name="Rectangle 69"/>
          <p:cNvSpPr/>
          <p:nvPr/>
        </p:nvSpPr>
        <p:spPr>
          <a:xfrm>
            <a:off x="2103120" y="4059936"/>
            <a:ext cx="3904487" cy="384048"/>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KidsDuo（学童保育×英語）</a:t>
            </a:r>
          </a:p>
        </p:txBody>
      </p:sp>
      <p:sp>
        <p:nvSpPr>
          <p:cNvPr id="71" name="Rectangle 70"/>
          <p:cNvSpPr/>
          <p:nvPr/>
        </p:nvSpPr>
        <p:spPr>
          <a:xfrm>
            <a:off x="274320" y="4480560"/>
            <a:ext cx="1801368"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知能・IQ</a:t>
            </a:r>
          </a:p>
        </p:txBody>
      </p:sp>
      <p:sp>
        <p:nvSpPr>
          <p:cNvPr id="72" name="Rectangle 71"/>
          <p:cNvSpPr/>
          <p:nvPr/>
        </p:nvSpPr>
        <p:spPr>
          <a:xfrm>
            <a:off x="2103120" y="4480560"/>
            <a:ext cx="3904487" cy="384048"/>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チャイルド・アイズ</a:t>
            </a:r>
          </a:p>
        </p:txBody>
      </p:sp>
      <p:sp>
        <p:nvSpPr>
          <p:cNvPr id="73" name="Rectangle 72"/>
          <p:cNvSpPr/>
          <p:nvPr/>
        </p:nvSpPr>
        <p:spPr>
          <a:xfrm>
            <a:off x="274320" y="4901184"/>
            <a:ext cx="1801368"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運動</a:t>
            </a:r>
          </a:p>
        </p:txBody>
      </p:sp>
      <p:sp>
        <p:nvSpPr>
          <p:cNvPr id="74" name="Rectangle 73"/>
          <p:cNvSpPr/>
          <p:nvPr/>
        </p:nvSpPr>
        <p:spPr>
          <a:xfrm>
            <a:off x="2103120" y="4901184"/>
            <a:ext cx="3904487" cy="384048"/>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忍者ナイン</a:t>
            </a:r>
          </a:p>
        </p:txBody>
      </p:sp>
      <p:sp>
        <p:nvSpPr>
          <p:cNvPr id="75" name="Rectangle 74"/>
          <p:cNvSpPr/>
          <p:nvPr/>
        </p:nvSpPr>
        <p:spPr>
          <a:xfrm>
            <a:off x="274320" y="5321808"/>
            <a:ext cx="1801368"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プログラミング</a:t>
            </a:r>
          </a:p>
        </p:txBody>
      </p:sp>
      <p:sp>
        <p:nvSpPr>
          <p:cNvPr id="76" name="Rectangle 75"/>
          <p:cNvSpPr/>
          <p:nvPr/>
        </p:nvSpPr>
        <p:spPr>
          <a:xfrm>
            <a:off x="2103120" y="5321808"/>
            <a:ext cx="3904487" cy="384048"/>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HALLO</a:t>
            </a:r>
          </a:p>
        </p:txBody>
      </p:sp>
      <p:sp>
        <p:nvSpPr>
          <p:cNvPr id="77" name="Rectangle 76"/>
          <p:cNvSpPr/>
          <p:nvPr/>
        </p:nvSpPr>
        <p:spPr>
          <a:xfrm>
            <a:off x="274320" y="5742432"/>
            <a:ext cx="1801368" cy="3840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1">
                <a:solidFill>
                  <a:srgbClr val="1F2A5C"/>
                </a:solidFill>
                <a:latin typeface="メイリオ"/>
                <a:ea typeface="メイリオ"/>
                <a:cs typeface="メイリオ"/>
              </a:rPr>
              <a:t>入園（幼児園）</a:t>
            </a:r>
          </a:p>
        </p:txBody>
      </p:sp>
      <p:sp>
        <p:nvSpPr>
          <p:cNvPr id="78" name="Rectangle 77"/>
          <p:cNvSpPr/>
          <p:nvPr/>
        </p:nvSpPr>
        <p:spPr>
          <a:xfrm>
            <a:off x="2103120" y="5742432"/>
            <a:ext cx="3904487" cy="384048"/>
          </a:xfrm>
          <a:prstGeom prst="rect">
            <a:avLst/>
          </a:prstGeom>
          <a:solidFill>
            <a:srgbClr val="F8F9F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050" b="0">
                <a:solidFill>
                  <a:srgbClr val="262626"/>
                </a:solidFill>
                <a:latin typeface="メイリオ"/>
                <a:ea typeface="メイリオ"/>
                <a:cs typeface="メイリオ"/>
              </a:rPr>
              <a:t>KDI（入園説明会）</a:t>
            </a:r>
          </a:p>
        </p:txBody>
      </p:sp>
      <p:sp>
        <p:nvSpPr>
          <p:cNvPr id="79" name="Rectangle 78"/>
          <p:cNvSpPr/>
          <p:nvPr/>
        </p:nvSpPr>
        <p:spPr>
          <a:xfrm>
            <a:off x="6217920" y="2926080"/>
            <a:ext cx="3383280" cy="31089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a:solidFill>
                  <a:srgbClr val="FFFFFF"/>
                </a:solidFill>
                <a:latin typeface="メイリオ"/>
                <a:ea typeface="メイリオ"/>
                <a:cs typeface="メイリオ"/>
              </a:rPr>
              <a:t>期待できること</a:t>
            </a:r>
          </a:p>
        </p:txBody>
      </p:sp>
      <p:sp>
        <p:nvSpPr>
          <p:cNvPr id="80" name="Rectangle 79"/>
          <p:cNvSpPr/>
          <p:nvPr/>
        </p:nvSpPr>
        <p:spPr>
          <a:xfrm>
            <a:off x="6217920" y="3310128"/>
            <a:ext cx="3383280" cy="2926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t"/>
          <a:lstStyle/>
          <a:p>
            <a:pPr algn="l"/>
            <a:r>
              <a:rPr sz="1300" b="1">
                <a:solidFill>
                  <a:srgbClr val="1F2A5C"/>
                </a:solidFill>
                <a:latin typeface="メイリオ"/>
                <a:ea typeface="メイリオ"/>
                <a:cs typeface="メイリオ"/>
              </a:rPr>
              <a:t>複数サービスの利用</a:t>
            </a:r>
          </a:p>
          <a:p>
            <a:pPr algn="l"/>
            <a:r>
              <a:rPr sz="1150" b="0">
                <a:solidFill>
                  <a:srgbClr val="262626"/>
                </a:solidFill>
                <a:latin typeface="メイリオ"/>
                <a:ea typeface="メイリオ"/>
                <a:cs typeface="メイリオ"/>
              </a:rPr>
              <a:t>兄弟姉妹・卒園後の学び先まで接点を維持</a:t>
            </a:r>
          </a:p>
          <a:p>
            <a:pPr algn="l"/>
            <a:r>
              <a:rPr sz="800" b="0">
                <a:solidFill>
                  <a:srgbClr val="262626"/>
                </a:solidFill>
                <a:latin typeface="メイリオ"/>
                <a:ea typeface="メイリオ"/>
                <a:cs typeface="メイリオ"/>
              </a:rPr>
              <a:t> </a:t>
            </a:r>
          </a:p>
          <a:p>
            <a:pPr algn="l"/>
            <a:r>
              <a:rPr sz="1300" b="1">
                <a:solidFill>
                  <a:srgbClr val="1F2A5C"/>
                </a:solidFill>
                <a:latin typeface="メイリオ"/>
                <a:ea typeface="メイリオ"/>
                <a:cs typeface="メイリオ"/>
              </a:rPr>
              <a:t>配信対象の最適化</a:t>
            </a:r>
          </a:p>
          <a:p>
            <a:pPr algn="l"/>
            <a:r>
              <a:rPr sz="1150" b="0">
                <a:solidFill>
                  <a:srgbClr val="262626"/>
                </a:solidFill>
                <a:latin typeface="メイリオ"/>
                <a:ea typeface="メイリオ"/>
                <a:cs typeface="メイリオ"/>
              </a:rPr>
              <a:t>関心のある人だけに配信し、変動費（現状25%）の抑制と反応率の向上へ</a:t>
            </a:r>
          </a:p>
          <a:p>
            <a:pPr algn="l"/>
            <a:r>
              <a:rPr sz="800" b="0">
                <a:solidFill>
                  <a:srgbClr val="262626"/>
                </a:solidFill>
                <a:latin typeface="メイリオ"/>
                <a:ea typeface="メイリオ"/>
                <a:cs typeface="メイリオ"/>
              </a:rPr>
              <a:t> </a:t>
            </a:r>
          </a:p>
          <a:p>
            <a:pPr algn="l"/>
            <a:r>
              <a:rPr sz="1300" b="1">
                <a:solidFill>
                  <a:srgbClr val="1F2A5C"/>
                </a:solidFill>
                <a:latin typeface="メイリオ"/>
                <a:ea typeface="メイリオ"/>
                <a:cs typeface="メイリオ"/>
              </a:rPr>
              <a:t>他ブランドへの送客</a:t>
            </a:r>
          </a:p>
          <a:p>
            <a:pPr algn="l"/>
            <a:r>
              <a:rPr sz="1150" b="0">
                <a:solidFill>
                  <a:srgbClr val="262626"/>
                </a:solidFill>
                <a:latin typeface="メイリオ"/>
                <a:ea typeface="メイリオ"/>
                <a:cs typeface="メイリオ"/>
              </a:rPr>
              <a:t>既存の友だち資産を各ブランドで活用</a:t>
            </a:r>
          </a:p>
        </p:txBody>
      </p:sp>
      <p:sp>
        <p:nvSpPr>
          <p:cNvPr id="81" name="Rectangle 80"/>
          <p:cNvSpPr/>
          <p:nvPr/>
        </p:nvSpPr>
        <p:spPr>
          <a:xfrm>
            <a:off x="274320" y="6336792"/>
            <a:ext cx="93268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p>
            <a:pPr algn="l"/>
            <a:r>
              <a:rPr sz="900" b="0">
                <a:solidFill>
                  <a:srgbClr val="595959"/>
                </a:solidFill>
                <a:latin typeface="メイリオ"/>
                <a:ea typeface="メイリオ"/>
                <a:cs typeface="メイリオ"/>
              </a:rPr>
              <a:t>※案内先の内容は各ブランドの配信実績・公式情報にもとづく簡易整理。実際の対象年齢・サービス範囲は貴社にてご確認ください</a:t>
            </a:r>
          </a:p>
        </p:txBody>
      </p:sp>
      <p:sp>
        <p:nvSpPr>
          <p:cNvPr id="4" name="テキスト ボックス 3">
            <a:extLst>
              <a:ext uri="{FF2B5EF4-FFF2-40B4-BE49-F238E27FC236}">
                <a16:creationId xmlns:a16="http://schemas.microsoft.com/office/drawing/2014/main" id="{2EAAD9A6-5F87-2249-ECD8-5340BE18387E}"/>
              </a:ext>
            </a:extLst>
          </p:cNvPr>
          <p:cNvSpPr txBox="1"/>
          <p:nvPr/>
        </p:nvSpPr>
        <p:spPr>
          <a:xfrm>
            <a:off x="7882144" y="72198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
        <p:nvSpPr>
          <p:cNvPr id="8" name="テキスト ボックス 7">
            <a:extLst>
              <a:ext uri="{FF2B5EF4-FFF2-40B4-BE49-F238E27FC236}">
                <a16:creationId xmlns:a16="http://schemas.microsoft.com/office/drawing/2014/main" id="{DA6E5A40-7501-F3EC-63D4-13712CD0B76C}"/>
              </a:ext>
            </a:extLst>
          </p:cNvPr>
          <p:cNvSpPr txBox="1"/>
          <p:nvPr/>
        </p:nvSpPr>
        <p:spPr>
          <a:xfrm>
            <a:off x="7882144" y="1135778"/>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Tree>
    <p:extLst>
      <p:ext uri="{BB962C8B-B14F-4D97-AF65-F5344CB8AC3E}">
        <p14:creationId xmlns:p14="http://schemas.microsoft.com/office/powerpoint/2010/main" val="591763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1B61F-65DF-6F11-C52E-77897750ACC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A99AA04-FE09-B8AB-5170-1D42DA6CAE8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3101D95A-5260-6E48-F426-99A4A0BBC0E9}"/>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3C28C46-583F-ACE7-0BAE-15DE64E8BA06}"/>
              </a:ext>
            </a:extLst>
          </p:cNvPr>
          <p:cNvSpPr txBox="1"/>
          <p:nvPr/>
        </p:nvSpPr>
        <p:spPr>
          <a:xfrm>
            <a:off x="1867143" y="1043132"/>
            <a:ext cx="6835155"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2</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t>
            </a:r>
          </a:p>
        </p:txBody>
      </p:sp>
      <p:cxnSp>
        <p:nvCxnSpPr>
          <p:cNvPr id="17" name="直線コネクタ 16">
            <a:extLst>
              <a:ext uri="{FF2B5EF4-FFF2-40B4-BE49-F238E27FC236}">
                <a16:creationId xmlns:a16="http://schemas.microsoft.com/office/drawing/2014/main" id="{3E32736D-4691-38DF-7C83-1D7CE04FD525}"/>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2AAE2969-02C6-3920-8BCD-24AA75460A94}"/>
              </a:ext>
            </a:extLst>
          </p:cNvPr>
          <p:cNvSpPr/>
          <p:nvPr/>
        </p:nvSpPr>
        <p:spPr>
          <a:xfrm>
            <a:off x="616181" y="2302511"/>
            <a:ext cx="8791290" cy="3711248"/>
          </a:xfrm>
          <a:prstGeom prst="roundRect">
            <a:avLst>
              <a:gd name="adj" fmla="val 584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3" name="四角形: 角を丸くする 2">
            <a:extLst>
              <a:ext uri="{FF2B5EF4-FFF2-40B4-BE49-F238E27FC236}">
                <a16:creationId xmlns:a16="http://schemas.microsoft.com/office/drawing/2014/main" id="{BD013CBB-27DA-96BC-E9D8-338A5CC3E54C}"/>
              </a:ext>
            </a:extLst>
          </p:cNvPr>
          <p:cNvSpPr/>
          <p:nvPr/>
        </p:nvSpPr>
        <p:spPr>
          <a:xfrm>
            <a:off x="1196871" y="2635173"/>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1</a:t>
            </a:r>
            <a:endParaRPr kumimoji="1" lang="ja-JP" altLang="en-US"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436D6D4D-42E9-770D-6A70-676CF084072E}"/>
              </a:ext>
            </a:extLst>
          </p:cNvPr>
          <p:cNvSpPr/>
          <p:nvPr/>
        </p:nvSpPr>
        <p:spPr>
          <a:xfrm>
            <a:off x="1200313" y="3602026"/>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2</a:t>
            </a:r>
            <a:endParaRPr kumimoji="1" lang="ja-JP" altLang="en-US" dirty="0">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237BD727-DC2C-62E6-6F60-C81189480FF3}"/>
              </a:ext>
            </a:extLst>
          </p:cNvPr>
          <p:cNvSpPr/>
          <p:nvPr/>
        </p:nvSpPr>
        <p:spPr>
          <a:xfrm>
            <a:off x="1969203" y="2635173"/>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追加の入り口施策を強化し</a:t>
            </a:r>
            <a:endParaRPr kumimoji="1"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600" b="1" dirty="0">
                <a:solidFill>
                  <a:srgbClr val="FF0000"/>
                </a:solidFill>
                <a:latin typeface="メイリオ" panose="020B0604030504040204" pitchFamily="50" charset="-128"/>
                <a:ea typeface="メイリオ" panose="020B0604030504040204" pitchFamily="50" charset="-128"/>
              </a:rPr>
              <a:t>LINE</a:t>
            </a:r>
            <a:r>
              <a:rPr lang="ja-JP" altLang="en-US" sz="1600" b="1" dirty="0">
                <a:solidFill>
                  <a:srgbClr val="FF0000"/>
                </a:solidFill>
                <a:latin typeface="メイリオ" panose="020B0604030504040204" pitchFamily="50" charset="-128"/>
                <a:ea typeface="メイリオ" panose="020B0604030504040204" pitchFamily="50" charset="-128"/>
              </a:rPr>
              <a:t>友だち追加数</a:t>
            </a:r>
            <a:r>
              <a:rPr lang="ja-JP" altLang="en-US" sz="1600" b="1" dirty="0">
                <a:solidFill>
                  <a:schemeClr val="tx1"/>
                </a:solidFill>
                <a:latin typeface="メイリオ" panose="020B0604030504040204" pitchFamily="50" charset="-128"/>
                <a:ea typeface="メイリオ" panose="020B0604030504040204" pitchFamily="50" charset="-128"/>
              </a:rPr>
              <a:t>を改善</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6" name="四角形: 角を丸くする 5">
            <a:extLst>
              <a:ext uri="{FF2B5EF4-FFF2-40B4-BE49-F238E27FC236}">
                <a16:creationId xmlns:a16="http://schemas.microsoft.com/office/drawing/2014/main" id="{530AA4F2-6067-0295-63DD-E0E8C819A9FC}"/>
              </a:ext>
            </a:extLst>
          </p:cNvPr>
          <p:cNvSpPr/>
          <p:nvPr/>
        </p:nvSpPr>
        <p:spPr>
          <a:xfrm>
            <a:off x="1972645" y="3602026"/>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施策内の最適化を行い</a:t>
            </a:r>
            <a:endParaRPr kumimoji="1"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rgbClr val="FF0000"/>
                </a:solidFill>
                <a:latin typeface="メイリオ" panose="020B0604030504040204" pitchFamily="50" charset="-128"/>
                <a:ea typeface="メイリオ" panose="020B0604030504040204" pitchFamily="50" charset="-128"/>
              </a:rPr>
              <a:t>開封率</a:t>
            </a:r>
            <a:r>
              <a:rPr lang="en-US" altLang="ja-JP" sz="1600" b="1" dirty="0">
                <a:solidFill>
                  <a:srgbClr val="FF0000"/>
                </a:solidFill>
                <a:latin typeface="メイリオ" panose="020B0604030504040204" pitchFamily="50" charset="-128"/>
                <a:ea typeface="メイリオ" panose="020B0604030504040204" pitchFamily="50" charset="-128"/>
              </a:rPr>
              <a:t>×</a:t>
            </a:r>
            <a:r>
              <a:rPr lang="ja-JP" altLang="en-US" sz="1600" b="1" dirty="0">
                <a:solidFill>
                  <a:srgbClr val="FF0000"/>
                </a:solidFill>
                <a:latin typeface="メイリオ" panose="020B0604030504040204" pitchFamily="50" charset="-128"/>
                <a:ea typeface="メイリオ" panose="020B0604030504040204" pitchFamily="50" charset="-128"/>
              </a:rPr>
              <a:t>クリック率</a:t>
            </a:r>
            <a:r>
              <a:rPr lang="en-US" altLang="ja-JP" sz="1600" b="1" dirty="0">
                <a:solidFill>
                  <a:srgbClr val="FF0000"/>
                </a:solidFill>
                <a:latin typeface="メイリオ" panose="020B0604030504040204" pitchFamily="50" charset="-128"/>
                <a:ea typeface="メイリオ" panose="020B0604030504040204" pitchFamily="50" charset="-128"/>
              </a:rPr>
              <a:t>×CV</a:t>
            </a:r>
            <a:r>
              <a:rPr lang="ja-JP" altLang="en-US" sz="1600" b="1" dirty="0">
                <a:solidFill>
                  <a:srgbClr val="FF0000"/>
                </a:solidFill>
                <a:latin typeface="メイリオ" panose="020B0604030504040204" pitchFamily="50" charset="-128"/>
                <a:ea typeface="メイリオ" panose="020B0604030504040204" pitchFamily="50" charset="-128"/>
              </a:rPr>
              <a:t>率</a:t>
            </a:r>
            <a:r>
              <a:rPr lang="ja-JP" altLang="en-US" sz="1600" b="1" dirty="0">
                <a:solidFill>
                  <a:schemeClr val="tx1"/>
                </a:solidFill>
                <a:latin typeface="メイリオ" panose="020B0604030504040204" pitchFamily="50" charset="-128"/>
                <a:ea typeface="メイリオ" panose="020B0604030504040204" pitchFamily="50" charset="-128"/>
              </a:rPr>
              <a:t>で改善</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CCF9A1A4-3E60-FAF4-5C16-2CFDB78C13E7}"/>
              </a:ext>
            </a:extLst>
          </p:cNvPr>
          <p:cNvSpPr/>
          <p:nvPr/>
        </p:nvSpPr>
        <p:spPr>
          <a:xfrm>
            <a:off x="1196871" y="4876353"/>
            <a:ext cx="712922"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メイリオ" panose="020B0604030504040204" pitchFamily="50" charset="-128"/>
                <a:ea typeface="メイリオ" panose="020B0604030504040204" pitchFamily="50" charset="-128"/>
              </a:rPr>
              <a:t>3</a:t>
            </a:r>
            <a:endParaRPr kumimoji="1" lang="ja-JP" altLang="en-US" dirty="0">
              <a:latin typeface="メイリオ" panose="020B0604030504040204" pitchFamily="50" charset="-128"/>
              <a:ea typeface="メイリオ" panose="020B0604030504040204" pitchFamily="50" charset="-128"/>
            </a:endParaRPr>
          </a:p>
        </p:txBody>
      </p:sp>
      <p:cxnSp>
        <p:nvCxnSpPr>
          <p:cNvPr id="8" name="直線コネクタ 7">
            <a:extLst>
              <a:ext uri="{FF2B5EF4-FFF2-40B4-BE49-F238E27FC236}">
                <a16:creationId xmlns:a16="http://schemas.microsoft.com/office/drawing/2014/main" id="{28D57A9D-E2E9-C645-5D40-D5806C1D91A4}"/>
              </a:ext>
            </a:extLst>
          </p:cNvPr>
          <p:cNvCxnSpPr>
            <a:cxnSpLocks/>
          </p:cNvCxnSpPr>
          <p:nvPr/>
        </p:nvCxnSpPr>
        <p:spPr>
          <a:xfrm>
            <a:off x="935374" y="4625150"/>
            <a:ext cx="2227804" cy="0"/>
          </a:xfrm>
          <a:prstGeom prst="line">
            <a:avLst/>
          </a:prstGeom>
          <a:ln w="22225">
            <a:solidFill>
              <a:srgbClr val="10253F"/>
            </a:solidFill>
            <a:prstDash val="sysDot"/>
          </a:ln>
        </p:spPr>
        <p:style>
          <a:lnRef idx="1">
            <a:schemeClr val="accent1"/>
          </a:lnRef>
          <a:fillRef idx="0">
            <a:schemeClr val="accent1"/>
          </a:fillRef>
          <a:effectRef idx="0">
            <a:schemeClr val="accent1"/>
          </a:effectRef>
          <a:fontRef idx="minor">
            <a:schemeClr val="tx1"/>
          </a:fontRef>
        </p:style>
      </p:cxnSp>
      <p:sp>
        <p:nvSpPr>
          <p:cNvPr id="9" name="四角形: 角を丸くする 8">
            <a:extLst>
              <a:ext uri="{FF2B5EF4-FFF2-40B4-BE49-F238E27FC236}">
                <a16:creationId xmlns:a16="http://schemas.microsoft.com/office/drawing/2014/main" id="{3D9ADB59-4588-F9D3-3AF5-80317732C0DA}"/>
              </a:ext>
            </a:extLst>
          </p:cNvPr>
          <p:cNvSpPr/>
          <p:nvPr/>
        </p:nvSpPr>
        <p:spPr>
          <a:xfrm>
            <a:off x="1969203" y="4876353"/>
            <a:ext cx="4075136" cy="80074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来場予約者を</a:t>
            </a:r>
            <a:r>
              <a:rPr kumimoji="1" lang="en-US" altLang="ja-JP" sz="1600" b="1" dirty="0">
                <a:solidFill>
                  <a:schemeClr val="tx1"/>
                </a:solidFill>
                <a:latin typeface="メイリオ" panose="020B0604030504040204" pitchFamily="50" charset="-128"/>
                <a:ea typeface="メイリオ" panose="020B0604030504040204" pitchFamily="50" charset="-128"/>
              </a:rPr>
              <a:t>LINE</a:t>
            </a:r>
            <a:r>
              <a:rPr kumimoji="1" lang="ja-JP" altLang="en-US" sz="1600" b="1" dirty="0">
                <a:solidFill>
                  <a:schemeClr val="tx1"/>
                </a:solidFill>
                <a:latin typeface="メイリオ" panose="020B0604030504040204" pitchFamily="50" charset="-128"/>
                <a:ea typeface="メイリオ" panose="020B0604030504040204" pitchFamily="50" charset="-128"/>
              </a:rPr>
              <a:t>に誘導し</a:t>
            </a:r>
            <a:r>
              <a:rPr lang="ja-JP" altLang="en-US" sz="1600" b="1" dirty="0">
                <a:solidFill>
                  <a:schemeClr val="tx1"/>
                </a:solidFill>
                <a:latin typeface="メイリオ" panose="020B0604030504040204" pitchFamily="50" charset="-128"/>
                <a:ea typeface="メイリオ" panose="020B0604030504040204" pitchFamily="50" charset="-128"/>
              </a:rPr>
              <a:t>、</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600" b="1" dirty="0">
                <a:solidFill>
                  <a:schemeClr val="tx1"/>
                </a:solidFill>
                <a:latin typeface="メイリオ" panose="020B0604030504040204" pitchFamily="50" charset="-128"/>
                <a:ea typeface="メイリオ" panose="020B0604030504040204" pitchFamily="50" charset="-128"/>
              </a:rPr>
              <a:t>来場・契約を最大化する機能導入</a:t>
            </a:r>
            <a:endParaRPr kumimoji="1" lang="en-US" altLang="ja-JP" sz="1600" b="1" dirty="0">
              <a:solidFill>
                <a:schemeClr val="tx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FB446583-ADA7-0F4C-04EB-BA365821A655}"/>
              </a:ext>
            </a:extLst>
          </p:cNvPr>
          <p:cNvSpPr txBox="1"/>
          <p:nvPr/>
        </p:nvSpPr>
        <p:spPr>
          <a:xfrm>
            <a:off x="6089995" y="5092059"/>
            <a:ext cx="3729025" cy="307777"/>
          </a:xfrm>
          <a:prstGeom prst="rect">
            <a:avLst/>
          </a:prstGeom>
          <a:noFill/>
        </p:spPr>
        <p:txBody>
          <a:bodyPr wrap="square">
            <a:spAutoFit/>
          </a:bodyPr>
          <a:lstStyle/>
          <a:p>
            <a:r>
              <a:rPr kumimoji="1" lang="en-US" altLang="ja-JP" sz="1400" dirty="0">
                <a:solidFill>
                  <a:srgbClr val="FF0000"/>
                </a:solidFill>
                <a:latin typeface="メイリオ" panose="020B0604030504040204" pitchFamily="50" charset="-128"/>
                <a:ea typeface="メイリオ" panose="020B0604030504040204" pitchFamily="50" charset="-128"/>
              </a:rPr>
              <a:t>※</a:t>
            </a:r>
            <a:r>
              <a:rPr kumimoji="1" lang="ja-JP" altLang="en-US" sz="1400" dirty="0">
                <a:solidFill>
                  <a:srgbClr val="FF0000"/>
                </a:solidFill>
                <a:latin typeface="メイリオ" panose="020B0604030504040204" pitchFamily="50" charset="-128"/>
                <a:ea typeface="メイリオ" panose="020B0604030504040204" pitchFamily="50" charset="-128"/>
              </a:rPr>
              <a:t>こちらは追加提案となります。</a:t>
            </a:r>
          </a:p>
        </p:txBody>
      </p:sp>
      <p:sp>
        <p:nvSpPr>
          <p:cNvPr id="11" name="正方形/長方形 10">
            <a:extLst>
              <a:ext uri="{FF2B5EF4-FFF2-40B4-BE49-F238E27FC236}">
                <a16:creationId xmlns:a16="http://schemas.microsoft.com/office/drawing/2014/main" id="{914A739F-0660-6AD2-B0BC-BD5C4348B2B0}"/>
              </a:ext>
            </a:extLst>
          </p:cNvPr>
          <p:cNvSpPr/>
          <p:nvPr/>
        </p:nvSpPr>
        <p:spPr>
          <a:xfrm>
            <a:off x="457146" y="2243378"/>
            <a:ext cx="9108072" cy="2508527"/>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854298DD-3FED-42D4-1183-1EDF5BB9DED1}"/>
              </a:ext>
            </a:extLst>
          </p:cNvPr>
          <p:cNvSpPr/>
          <p:nvPr/>
        </p:nvSpPr>
        <p:spPr>
          <a:xfrm>
            <a:off x="498529" y="1958473"/>
            <a:ext cx="9108072" cy="4259443"/>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8482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830997"/>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p>
          <a:p>
            <a:pPr lvl="0" algn="ctr">
              <a:buClr>
                <a:schemeClr val="dk1"/>
              </a:buClr>
              <a:buSzPts val="1500"/>
            </a:pPr>
            <a:r>
              <a:rPr lang="ja-JP" altLang="en-US" sz="1600" dirty="0">
                <a:latin typeface="Meiryo"/>
                <a:ea typeface="Meiryo"/>
                <a:cs typeface="Meiryo"/>
                <a:sym typeface="Meiryo"/>
              </a:rPr>
              <a:t>体験予約の後も来場・入会まで追えるため、</a:t>
            </a:r>
            <a:endParaRPr lang="en-US" altLang="ja-JP" sz="1600" dirty="0">
              <a:latin typeface="Meiryo"/>
              <a:ea typeface="Meiryo"/>
              <a:cs typeface="Meiryo"/>
              <a:sym typeface="Meiryo"/>
            </a:endParaRPr>
          </a:p>
          <a:p>
            <a:pPr lvl="0" algn="ctr">
              <a:buClr>
                <a:schemeClr val="dk1"/>
              </a:buClr>
              <a:buSzPts val="1500"/>
            </a:pPr>
            <a:r>
              <a:rPr lang="en-US" altLang="ja-JP" sz="1600" dirty="0">
                <a:latin typeface="Meiryo"/>
                <a:ea typeface="Meiryo"/>
                <a:cs typeface="Meiryo"/>
                <a:sym typeface="Meiryo"/>
              </a:rPr>
              <a:t>CPOの改善に最適なオプション</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603120"/>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ja-JP" altLang="en-US" b="1" dirty="0">
                <a:solidFill>
                  <a:schemeClr val="lt1"/>
                </a:solidFill>
                <a:latin typeface="Meiryo"/>
                <a:ea typeface="Meiryo"/>
                <a:cs typeface="Meiryo"/>
                <a:sym typeface="Meiryo"/>
              </a:rPr>
              <a:t>２</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ブランド別</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【オプション】CPO改善のご提案｜サンクスLINE誘導</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体験予約の完了画面からLINEへつなげ、来場・入会までを後押し</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入会率が上がるほど、入会1件あたりの費用（CPO）が下がる</a:t>
            </a:r>
          </a:p>
        </p:txBody>
      </p:sp>
      <p:sp>
        <p:nvSpPr>
          <p:cNvPr id="46" name="Rounded Rectangle 45"/>
          <p:cNvSpPr/>
          <p:nvPr/>
        </p:nvSpPr>
        <p:spPr>
          <a:xfrm>
            <a:off x="43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1F285A"/>
                </a:solidFill>
                <a:latin typeface="メイリオ"/>
                <a:ea typeface="メイリオ"/>
                <a:cs typeface="メイリオ"/>
              </a:rPr>
              <a:t>体験予約</a:t>
            </a:r>
          </a:p>
          <a:p>
            <a:pPr algn="ctr">
              <a:lnSpc>
                <a:spcPct val="120000"/>
              </a:lnSpc>
            </a:pPr>
            <a:r>
              <a:rPr sz="1100" b="0">
                <a:solidFill>
                  <a:srgbClr val="1F285A"/>
                </a:solidFill>
                <a:latin typeface="メイリオ"/>
                <a:ea typeface="メイリオ"/>
                <a:cs typeface="メイリオ"/>
              </a:rPr>
              <a:t>フォーム</a:t>
            </a:r>
          </a:p>
        </p:txBody>
      </p:sp>
      <p:sp>
        <p:nvSpPr>
          <p:cNvPr id="47" name="Right Arrow 46"/>
          <p:cNvSpPr/>
          <p:nvPr/>
        </p:nvSpPr>
        <p:spPr>
          <a:xfrm>
            <a:off x="2052000" y="2359800"/>
            <a:ext cx="288000" cy="3240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241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1F285A"/>
                </a:solidFill>
                <a:latin typeface="メイリオ"/>
                <a:ea typeface="メイリオ"/>
                <a:cs typeface="メイリオ"/>
              </a:rPr>
              <a:t>予約完了</a:t>
            </a:r>
          </a:p>
          <a:p>
            <a:pPr algn="ctr">
              <a:lnSpc>
                <a:spcPct val="120000"/>
              </a:lnSpc>
            </a:pPr>
            <a:r>
              <a:rPr sz="1100" b="0">
                <a:solidFill>
                  <a:srgbClr val="1F285A"/>
                </a:solidFill>
                <a:latin typeface="メイリオ"/>
                <a:ea typeface="メイリオ"/>
                <a:cs typeface="メイリオ"/>
              </a:rPr>
              <a:t>の画面</a:t>
            </a:r>
          </a:p>
        </p:txBody>
      </p:sp>
      <p:sp>
        <p:nvSpPr>
          <p:cNvPr id="49" name="Right Arrow 48"/>
          <p:cNvSpPr/>
          <p:nvPr/>
        </p:nvSpPr>
        <p:spPr>
          <a:xfrm>
            <a:off x="4031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4392000" y="2071800"/>
            <a:ext cx="14400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FFFFFF"/>
                </a:solidFill>
                <a:latin typeface="メイリオ"/>
                <a:ea typeface="メイリオ"/>
                <a:cs typeface="メイリオ"/>
              </a:rPr>
              <a:t>DYMの</a:t>
            </a:r>
          </a:p>
          <a:p>
            <a:pPr algn="ctr">
              <a:lnSpc>
                <a:spcPct val="120000"/>
              </a:lnSpc>
            </a:pPr>
            <a:r>
              <a:rPr sz="1100" b="0">
                <a:solidFill>
                  <a:srgbClr val="FFFFFF"/>
                </a:solidFill>
                <a:latin typeface="メイリオ"/>
                <a:ea typeface="メイリオ"/>
                <a:cs typeface="メイリオ"/>
              </a:rPr>
              <a:t>ツールで</a:t>
            </a:r>
          </a:p>
          <a:p>
            <a:pPr algn="ctr">
              <a:lnSpc>
                <a:spcPct val="120000"/>
              </a:lnSpc>
            </a:pPr>
            <a:r>
              <a:rPr sz="1100" b="0">
                <a:solidFill>
                  <a:srgbClr val="FFFFFF"/>
                </a:solidFill>
                <a:latin typeface="メイリオ"/>
                <a:ea typeface="メイリオ"/>
                <a:cs typeface="メイリオ"/>
              </a:rPr>
              <a:t>LINEへ</a:t>
            </a:r>
          </a:p>
        </p:txBody>
      </p:sp>
      <p:sp>
        <p:nvSpPr>
          <p:cNvPr id="51" name="Right Arrow 50"/>
          <p:cNvSpPr/>
          <p:nvPr/>
        </p:nvSpPr>
        <p:spPr>
          <a:xfrm>
            <a:off x="5903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263999" y="2071800"/>
            <a:ext cx="1584000" cy="900000"/>
          </a:xfrm>
          <a:prstGeom prst="roundRect">
            <a:avLst>
              <a:gd name="adj" fmla="val 10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200" b="1">
                <a:solidFill>
                  <a:srgbClr val="0B7A3B"/>
                </a:solidFill>
                <a:latin typeface="メイリオ"/>
                <a:ea typeface="メイリオ"/>
                <a:cs typeface="メイリオ"/>
              </a:rPr>
              <a:t>体験前の案内</a:t>
            </a:r>
          </a:p>
          <a:p>
            <a:pPr algn="ctr">
              <a:lnSpc>
                <a:spcPct val="120000"/>
              </a:lnSpc>
            </a:pPr>
            <a:r>
              <a:rPr sz="1000" b="0">
                <a:solidFill>
                  <a:srgbClr val="0B7A3B"/>
                </a:solidFill>
                <a:latin typeface="メイリオ"/>
                <a:ea typeface="メイリオ"/>
                <a:cs typeface="メイリオ"/>
              </a:rPr>
              <a:t>体験後のフォロー</a:t>
            </a:r>
          </a:p>
        </p:txBody>
      </p:sp>
      <p:sp>
        <p:nvSpPr>
          <p:cNvPr id="53" name="Right Arrow 52"/>
          <p:cNvSpPr/>
          <p:nvPr/>
        </p:nvSpPr>
        <p:spPr>
          <a:xfrm>
            <a:off x="7920000"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280000" y="2071800"/>
            <a:ext cx="11952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500" b="1">
                <a:solidFill>
                  <a:srgbClr val="FFFFFF"/>
                </a:solidFill>
                <a:latin typeface="メイリオ"/>
                <a:ea typeface="メイリオ"/>
                <a:cs typeface="メイリオ"/>
              </a:rPr>
              <a:t>入会</a:t>
            </a:r>
          </a:p>
        </p:txBody>
      </p:sp>
      <p:sp>
        <p:nvSpPr>
          <p:cNvPr id="55" name="Rounded Rectangle 54"/>
          <p:cNvSpPr/>
          <p:nvPr/>
        </p:nvSpPr>
        <p:spPr>
          <a:xfrm>
            <a:off x="4320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予約の直後に案内</a:t>
            </a:r>
          </a:p>
          <a:p>
            <a:pPr algn="l">
              <a:lnSpc>
                <a:spcPct val="125000"/>
              </a:lnSpc>
              <a:spcAft>
                <a:spcPts val="200"/>
              </a:spcAft>
            </a:pPr>
            <a:r>
              <a:rPr sz="1050">
                <a:solidFill>
                  <a:srgbClr val="333333"/>
                </a:solidFill>
                <a:latin typeface="メイリオ"/>
                <a:ea typeface="メイリオ"/>
                <a:cs typeface="メイリオ"/>
              </a:rPr>
              <a:t>関心が一番高いタイミングなので、友だちになっていただきやすい</a:t>
            </a:r>
          </a:p>
        </p:txBody>
      </p:sp>
      <p:sp>
        <p:nvSpPr>
          <p:cNvPr id="56" name="Rounded Rectangle 55"/>
          <p:cNvSpPr/>
          <p:nvPr/>
        </p:nvSpPr>
        <p:spPr>
          <a:xfrm>
            <a:off x="34776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予約内容をトークに反映</a:t>
            </a:r>
          </a:p>
          <a:p>
            <a:pPr algn="l">
              <a:lnSpc>
                <a:spcPct val="125000"/>
              </a:lnSpc>
              <a:spcAft>
                <a:spcPts val="200"/>
              </a:spcAft>
            </a:pPr>
            <a:r>
              <a:rPr sz="1050">
                <a:solidFill>
                  <a:srgbClr val="333333"/>
                </a:solidFill>
                <a:latin typeface="メイリオ"/>
                <a:ea typeface="メイリオ"/>
                <a:cs typeface="メイリオ"/>
              </a:rPr>
              <a:t>体験内容に合わせて、案内を出し分ける</a:t>
            </a:r>
          </a:p>
        </p:txBody>
      </p:sp>
      <p:sp>
        <p:nvSpPr>
          <p:cNvPr id="57" name="Rounded Rectangle 56"/>
          <p:cNvSpPr/>
          <p:nvPr/>
        </p:nvSpPr>
        <p:spPr>
          <a:xfrm>
            <a:off x="65232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体験前後のフォロー</a:t>
            </a:r>
          </a:p>
          <a:p>
            <a:pPr algn="l">
              <a:lnSpc>
                <a:spcPct val="125000"/>
              </a:lnSpc>
              <a:spcAft>
                <a:spcPts val="200"/>
              </a:spcAft>
            </a:pPr>
            <a:r>
              <a:rPr sz="1050">
                <a:solidFill>
                  <a:srgbClr val="333333"/>
                </a:solidFill>
                <a:latin typeface="メイリオ"/>
                <a:ea typeface="メイリオ"/>
                <a:cs typeface="メイリオ"/>
              </a:rPr>
              <a:t>体験前の案内で来場を、体験後のフォローで入会を後押し</a:t>
            </a:r>
          </a:p>
        </p:txBody>
      </p:sp>
      <p:sp>
        <p:nvSpPr>
          <p:cNvPr id="58" name="Rounded Rectangle 57"/>
          <p:cNvSpPr/>
          <p:nvPr/>
        </p:nvSpPr>
        <p:spPr>
          <a:xfrm>
            <a:off x="432000" y="4195801"/>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a:solidFill>
                  <a:srgbClr val="FFFFFF"/>
                </a:solidFill>
                <a:latin typeface="メイリオ"/>
                <a:ea typeface="メイリオ"/>
                <a:cs typeface="メイリオ"/>
              </a:rPr>
              <a:t>弊社実績：美容クリニックで、予約後の来院率が40〜50%改善</a:t>
            </a:r>
          </a:p>
        </p:txBody>
      </p:sp>
      <p:sp>
        <p:nvSpPr>
          <p:cNvPr id="59" name="Rounded Rectangle 58"/>
          <p:cNvSpPr/>
          <p:nvPr/>
        </p:nvSpPr>
        <p:spPr>
          <a:xfrm>
            <a:off x="2559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600" b="1" dirty="0" err="1">
                <a:solidFill>
                  <a:srgbClr val="FFFFFF"/>
                </a:solidFill>
                <a:latin typeface="メイリオ"/>
                <a:ea typeface="メイリオ"/>
                <a:cs typeface="メイリオ"/>
              </a:rPr>
              <a:t>初期</a:t>
            </a:r>
            <a:r>
              <a:rPr sz="1600" b="1" dirty="0">
                <a:solidFill>
                  <a:srgbClr val="FFFFFF"/>
                </a:solidFill>
                <a:latin typeface="メイリオ"/>
                <a:ea typeface="メイリオ"/>
                <a:cs typeface="メイリオ"/>
              </a:rPr>
              <a:t> 1</a:t>
            </a:r>
            <a:r>
              <a:rPr lang="en-US" sz="1600" b="1" dirty="0">
                <a:solidFill>
                  <a:srgbClr val="FFFFFF"/>
                </a:solidFill>
                <a:latin typeface="メイリオ"/>
                <a:ea typeface="メイリオ"/>
                <a:cs typeface="メイリオ"/>
              </a:rPr>
              <a:t>5</a:t>
            </a:r>
            <a:r>
              <a:rPr sz="1600" b="1" dirty="0">
                <a:solidFill>
                  <a:srgbClr val="FFFFFF"/>
                </a:solidFill>
                <a:latin typeface="メイリオ"/>
                <a:ea typeface="メイリオ"/>
                <a:cs typeface="メイリオ"/>
              </a:rPr>
              <a:t>万円</a:t>
            </a:r>
          </a:p>
        </p:txBody>
      </p:sp>
      <p:sp>
        <p:nvSpPr>
          <p:cNvPr id="60" name="Rounded Rectangle 59"/>
          <p:cNvSpPr/>
          <p:nvPr/>
        </p:nvSpPr>
        <p:spPr>
          <a:xfrm>
            <a:off x="5007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600" b="1" dirty="0" err="1">
                <a:solidFill>
                  <a:srgbClr val="FFFFFF"/>
                </a:solidFill>
                <a:latin typeface="メイリオ"/>
                <a:ea typeface="メイリオ"/>
                <a:cs typeface="メイリオ"/>
              </a:rPr>
              <a:t>月額</a:t>
            </a:r>
            <a:r>
              <a:rPr sz="1600" b="1" dirty="0">
                <a:solidFill>
                  <a:srgbClr val="FFFFFF"/>
                </a:solidFill>
                <a:latin typeface="メイリオ"/>
                <a:ea typeface="メイリオ"/>
                <a:cs typeface="メイリオ"/>
              </a:rPr>
              <a:t> </a:t>
            </a:r>
            <a:r>
              <a:rPr lang="en-US" sz="1600" b="1" dirty="0">
                <a:solidFill>
                  <a:srgbClr val="FFFFFF"/>
                </a:solidFill>
                <a:latin typeface="メイリオ"/>
                <a:ea typeface="メイリオ"/>
                <a:cs typeface="メイリオ"/>
              </a:rPr>
              <a:t>2</a:t>
            </a:r>
            <a:r>
              <a:rPr sz="1600" b="1" dirty="0">
                <a:solidFill>
                  <a:srgbClr val="FFFFFF"/>
                </a:solidFill>
                <a:latin typeface="メイリオ"/>
                <a:ea typeface="メイリオ"/>
                <a:cs typeface="メイリオ"/>
              </a:rPr>
              <a:t>万円</a:t>
            </a:r>
            <a:r>
              <a:rPr lang="ja-JP" altLang="en-US" sz="900" b="1" dirty="0">
                <a:solidFill>
                  <a:srgbClr val="FFFF00"/>
                </a:solidFill>
                <a:latin typeface="メイリオ"/>
                <a:ea typeface="メイリオ"/>
                <a:cs typeface="メイリオ"/>
              </a:rPr>
              <a:t> </a:t>
            </a:r>
            <a:r>
              <a:rPr lang="en-US" altLang="ja-JP" sz="900" b="1" dirty="0">
                <a:solidFill>
                  <a:srgbClr val="FFFF00"/>
                </a:solidFill>
                <a:latin typeface="メイリオ"/>
                <a:ea typeface="メイリオ"/>
                <a:cs typeface="メイリオ"/>
              </a:rPr>
              <a:t>※</a:t>
            </a:r>
            <a:r>
              <a:rPr lang="ja-JP" altLang="en-US" sz="900" b="1" dirty="0">
                <a:solidFill>
                  <a:srgbClr val="FFFF00"/>
                </a:solidFill>
                <a:latin typeface="メイリオ"/>
                <a:ea typeface="メイリオ"/>
                <a:cs typeface="メイリオ"/>
              </a:rPr>
              <a:t>ブランド別</a:t>
            </a:r>
            <a:endParaRPr sz="1600" b="1" dirty="0">
              <a:solidFill>
                <a:srgbClr val="FFFF00"/>
              </a:solidFill>
              <a:latin typeface="メイリオ"/>
              <a:ea typeface="メイリオ"/>
              <a:cs typeface="メイリオ"/>
            </a:endParaRPr>
          </a:p>
        </p:txBody>
      </p:sp>
      <p:sp>
        <p:nvSpPr>
          <p:cNvPr id="61" name="TextBox 60"/>
          <p:cNvSpPr txBox="1"/>
          <p:nvPr/>
        </p:nvSpPr>
        <p:spPr>
          <a:xfrm>
            <a:off x="432000" y="5347801"/>
            <a:ext cx="9043200" cy="396000"/>
          </a:xfrm>
          <a:prstGeom prst="rect">
            <a:avLst/>
          </a:prstGeom>
          <a:noFill/>
        </p:spPr>
        <p:txBody>
          <a:bodyPr wrap="square" lIns="0" tIns="21600" rIns="0" bIns="21600" anchor="ctr">
            <a:spAutoFit/>
          </a:bodyPr>
          <a:lstStyle/>
          <a:p>
            <a:pPr algn="ctr"/>
            <a:r>
              <a:rPr sz="1000">
                <a:solidFill>
                  <a:srgbClr val="7F7F7F"/>
                </a:solidFill>
                <a:latin typeface="メイリオ"/>
                <a:ea typeface="メイリオ"/>
                <a:cs typeface="メイリオ"/>
              </a:rPr>
              <a:t>※APIツール（Lステップ等）と併用可／完了画面を増やす場合は追加費用</a:t>
            </a:r>
          </a:p>
          <a:p>
            <a:pPr algn="ctr"/>
            <a:r>
              <a:rPr sz="1000">
                <a:solidFill>
                  <a:srgbClr val="7F7F7F"/>
                </a:solidFill>
                <a:latin typeface="メイリオ"/>
                <a:ea typeface="メイリオ"/>
                <a:cs typeface="メイリオ"/>
              </a:rPr>
              <a:t>※「想定の費用対効果」には含まれない、追加のご提案</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5E30-4CFB-01CB-5F3C-B6FA8C93AA82}"/>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34A9133-082E-FECD-66D6-B26D1E1E4FF2}"/>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EDA044EA-6591-A4E6-C145-F597AC296A4F}"/>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BC3B37A-41A4-7BE8-8BE9-80FAA5D1B618}"/>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24367A15-5696-1010-5E84-A4A142E0750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7DAF9168-353A-5D5A-E6D1-1A0133FA6929}"/>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施策方針（再掲）</a:t>
            </a:r>
            <a:endParaRPr lang="ja-JP" altLang="en-US" sz="1100" dirty="0"/>
          </a:p>
        </p:txBody>
      </p:sp>
      <p:sp>
        <p:nvSpPr>
          <p:cNvPr id="4" name="テキスト ボックス 3">
            <a:extLst>
              <a:ext uri="{FF2B5EF4-FFF2-40B4-BE49-F238E27FC236}">
                <a16:creationId xmlns:a16="http://schemas.microsoft.com/office/drawing/2014/main" id="{DB980C7D-63D4-CAD5-FFAA-59DBE7509E4B}"/>
              </a:ext>
            </a:extLst>
          </p:cNvPr>
          <p:cNvSpPr txBox="1"/>
          <p:nvPr/>
        </p:nvSpPr>
        <p:spPr>
          <a:xfrm>
            <a:off x="340483" y="1841871"/>
            <a:ext cx="7512113" cy="3970318"/>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①LINEの１アカウントとしてのコンサル運用</a:t>
            </a:r>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r>
              <a:rPr lang="ja-JP" altLang="ja-JP" b="1" dirty="0">
                <a:latin typeface="メイリオ" panose="020B0604030504040204" pitchFamily="50" charset="-128"/>
                <a:ea typeface="メイリオ" panose="020B0604030504040204" pitchFamily="50" charset="-128"/>
              </a:rPr>
              <a:t>②IKSのLINEアカウント新規作成＋</a:t>
            </a:r>
            <a:r>
              <a:rPr lang="ja-JP" altLang="en-US" b="1" dirty="0">
                <a:latin typeface="メイリオ" panose="020B0604030504040204" pitchFamily="50" charset="-128"/>
                <a:ea typeface="メイリオ" panose="020B0604030504040204" pitchFamily="50" charset="-128"/>
              </a:rPr>
              <a:t>コンサル</a:t>
            </a:r>
            <a:r>
              <a:rPr lang="ja-JP" altLang="ja-JP" b="1" dirty="0">
                <a:latin typeface="メイリオ" panose="020B0604030504040204" pitchFamily="50" charset="-128"/>
                <a:ea typeface="メイリオ" panose="020B0604030504040204" pitchFamily="50" charset="-128"/>
              </a:rPr>
              <a:t>運用</a:t>
            </a:r>
            <a:br>
              <a:rPr lang="ja-JP" altLang="ja-JP" b="1" dirty="0">
                <a:latin typeface="メイリオ" panose="020B0604030504040204" pitchFamily="50" charset="-128"/>
                <a:ea typeface="メイリオ" panose="020B0604030504040204" pitchFamily="50" charset="-128"/>
              </a:rPr>
            </a:br>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endParaRPr lang="en-US" altLang="ja-JP" b="1" dirty="0">
              <a:latin typeface="メイリオ" panose="020B0604030504040204" pitchFamily="50" charset="-128"/>
              <a:ea typeface="メイリオ" panose="020B0604030504040204" pitchFamily="50" charset="-128"/>
            </a:endParaRPr>
          </a:p>
          <a:p>
            <a:r>
              <a:rPr lang="ja-JP" altLang="ja-JP" b="1" dirty="0">
                <a:latin typeface="メイリオ" panose="020B0604030504040204" pitchFamily="50" charset="-128"/>
                <a:ea typeface="メイリオ" panose="020B0604030504040204" pitchFamily="50" charset="-128"/>
              </a:rPr>
              <a:t>③IKSのLINEアカウント新規作成＋成果報酬型運用</a:t>
            </a:r>
            <a:endParaRPr lang="ja-JP" altLang="en-US" b="1" dirty="0">
              <a:latin typeface="メイリオ" panose="020B0604030504040204" pitchFamily="50" charset="-128"/>
              <a:ea typeface="メイリオ" panose="020B0604030504040204" pitchFamily="50" charset="-128"/>
            </a:endParaRPr>
          </a:p>
          <a:p>
            <a:endParaRPr lang="ja-JP" altLang="en-US"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6AB920E0-E390-93D1-545D-9FBE7289A737}"/>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CE872BC0-E46B-70B3-7158-F55210AFEC6A}"/>
              </a:ext>
            </a:extLst>
          </p:cNvPr>
          <p:cNvSpPr/>
          <p:nvPr/>
        </p:nvSpPr>
        <p:spPr>
          <a:xfrm>
            <a:off x="321116" y="3626983"/>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08226E58-B613-1E0C-E4FF-617331A150D3}"/>
              </a:ext>
            </a:extLst>
          </p:cNvPr>
          <p:cNvSpPr/>
          <p:nvPr/>
        </p:nvSpPr>
        <p:spPr>
          <a:xfrm>
            <a:off x="340483" y="5305966"/>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CC406293-84A2-E82E-F55E-3E23FC68CDE4}"/>
              </a:ext>
            </a:extLst>
          </p:cNvPr>
          <p:cNvSpPr/>
          <p:nvPr/>
        </p:nvSpPr>
        <p:spPr>
          <a:xfrm>
            <a:off x="486744" y="2341805"/>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18CC6F2D-8028-01E1-2B7D-AA4FF39759A8}"/>
              </a:ext>
            </a:extLst>
          </p:cNvPr>
          <p:cNvSpPr/>
          <p:nvPr/>
        </p:nvSpPr>
        <p:spPr>
          <a:xfrm>
            <a:off x="1683097" y="2341805"/>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tx1"/>
                </a:solidFill>
                <a:latin typeface="メイリオ" panose="020B0604030504040204" pitchFamily="50" charset="-128"/>
                <a:ea typeface="メイリオ" panose="020B0604030504040204" pitchFamily="50" charset="-128"/>
              </a:rPr>
              <a:t>40</a:t>
            </a:r>
            <a:r>
              <a:rPr kumimoji="1" lang="ja-JP" altLang="en-US" sz="2000" b="1" dirty="0">
                <a:solidFill>
                  <a:schemeClr val="tx1"/>
                </a:solidFill>
                <a:latin typeface="メイリオ" panose="020B0604030504040204" pitchFamily="50" charset="-128"/>
                <a:ea typeface="メイリオ" panose="020B0604030504040204" pitchFamily="50" charset="-128"/>
              </a:rPr>
              <a:t>万円 </a:t>
            </a:r>
            <a:r>
              <a:rPr kumimoji="1" lang="en-US" altLang="ja-JP" sz="2000" b="1" dirty="0">
                <a:solidFill>
                  <a:schemeClr val="tx1"/>
                </a:solidFill>
                <a:latin typeface="メイリオ" panose="020B0604030504040204" pitchFamily="50" charset="-128"/>
                <a:ea typeface="メイリオ" panose="020B0604030504040204" pitchFamily="50" charset="-128"/>
              </a:rPr>
              <a:t>/ </a:t>
            </a:r>
            <a:r>
              <a:rPr kumimoji="1" lang="ja-JP" altLang="en-US" sz="2000" b="1" dirty="0">
                <a:solidFill>
                  <a:schemeClr val="tx1"/>
                </a:solidFill>
                <a:latin typeface="メイリオ" panose="020B0604030504040204" pitchFamily="50" charset="-128"/>
                <a:ea typeface="メイリオ" panose="020B0604030504040204" pitchFamily="50" charset="-128"/>
              </a:rPr>
              <a:t>構築</a:t>
            </a:r>
            <a:endParaRPr kumimoji="1"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ヶ月</a:t>
            </a:r>
            <a:endParaRPr kumimoji="1"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8780C13-1772-1977-11A9-93531B5814B8}"/>
              </a:ext>
            </a:extLst>
          </p:cNvPr>
          <p:cNvSpPr/>
          <p:nvPr/>
        </p:nvSpPr>
        <p:spPr>
          <a:xfrm>
            <a:off x="4784940" y="2341805"/>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20" name="四角形: 角を丸くする 19">
            <a:extLst>
              <a:ext uri="{FF2B5EF4-FFF2-40B4-BE49-F238E27FC236}">
                <a16:creationId xmlns:a16="http://schemas.microsoft.com/office/drawing/2014/main" id="{88F7B552-2658-893E-9EC1-C817C14E4DF7}"/>
              </a:ext>
            </a:extLst>
          </p:cNvPr>
          <p:cNvSpPr/>
          <p:nvPr/>
        </p:nvSpPr>
        <p:spPr>
          <a:xfrm>
            <a:off x="5981293" y="2341805"/>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60</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6</a:t>
            </a:r>
            <a:r>
              <a:rPr lang="ja-JP" altLang="en-US" sz="1200" b="1" dirty="0">
                <a:solidFill>
                  <a:schemeClr val="tx1"/>
                </a:solidFill>
                <a:latin typeface="メイリオ" panose="020B0604030504040204" pitchFamily="50" charset="-128"/>
                <a:ea typeface="メイリオ" panose="020B0604030504040204" pitchFamily="50" charset="-128"/>
              </a:rPr>
              <a:t>ブランド運用</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運用</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企画・</a:t>
            </a:r>
            <a:r>
              <a:rPr lang="en-US" altLang="ja-JP" sz="1200" b="1" dirty="0">
                <a:solidFill>
                  <a:schemeClr val="tx1"/>
                </a:solidFill>
                <a:latin typeface="メイリオ" panose="020B0604030504040204" pitchFamily="50" charset="-128"/>
                <a:ea typeface="メイリオ" panose="020B0604030504040204" pitchFamily="50" charset="-128"/>
              </a:rPr>
              <a:t>CR</a:t>
            </a:r>
            <a:r>
              <a:rPr lang="ja-JP" altLang="en-US" sz="1200" b="1" dirty="0">
                <a:solidFill>
                  <a:schemeClr val="tx1"/>
                </a:solidFill>
                <a:latin typeface="メイリオ" panose="020B0604030504040204" pitchFamily="50" charset="-128"/>
                <a:ea typeface="メイリオ" panose="020B0604030504040204" pitchFamily="50" charset="-128"/>
              </a:rPr>
              <a:t>を含む</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22" name="四角形: 角を丸くする 21">
            <a:extLst>
              <a:ext uri="{FF2B5EF4-FFF2-40B4-BE49-F238E27FC236}">
                <a16:creationId xmlns:a16="http://schemas.microsoft.com/office/drawing/2014/main" id="{1E80F0A4-787E-7098-1AEC-3E00A857D4C5}"/>
              </a:ext>
            </a:extLst>
          </p:cNvPr>
          <p:cNvSpPr/>
          <p:nvPr/>
        </p:nvSpPr>
        <p:spPr>
          <a:xfrm>
            <a:off x="486744" y="3977540"/>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24" name="四角形: 角を丸くする 23">
            <a:extLst>
              <a:ext uri="{FF2B5EF4-FFF2-40B4-BE49-F238E27FC236}">
                <a16:creationId xmlns:a16="http://schemas.microsoft.com/office/drawing/2014/main" id="{3D3583B8-9DD3-0D6B-9891-009FBC28A0A2}"/>
              </a:ext>
            </a:extLst>
          </p:cNvPr>
          <p:cNvSpPr/>
          <p:nvPr/>
        </p:nvSpPr>
        <p:spPr>
          <a:xfrm>
            <a:off x="1683097" y="3977540"/>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15</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ja-JP" altLang="en-US" sz="2000" b="1" dirty="0">
                <a:solidFill>
                  <a:schemeClr val="tx1"/>
                </a:solidFill>
                <a:latin typeface="メイリオ" panose="020B0604030504040204" pitchFamily="50" charset="-128"/>
                <a:ea typeface="メイリオ" panose="020B0604030504040204" pitchFamily="50" charset="-128"/>
              </a:rPr>
              <a:t>構築</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ヶ月</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26" name="四角形: 角を丸くする 25">
            <a:extLst>
              <a:ext uri="{FF2B5EF4-FFF2-40B4-BE49-F238E27FC236}">
                <a16:creationId xmlns:a16="http://schemas.microsoft.com/office/drawing/2014/main" id="{612D2F39-0A60-343F-545B-082596F4CA97}"/>
              </a:ext>
            </a:extLst>
          </p:cNvPr>
          <p:cNvSpPr/>
          <p:nvPr/>
        </p:nvSpPr>
        <p:spPr>
          <a:xfrm>
            <a:off x="4784940" y="3977540"/>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28" name="四角形: 角を丸くする 27">
            <a:extLst>
              <a:ext uri="{FF2B5EF4-FFF2-40B4-BE49-F238E27FC236}">
                <a16:creationId xmlns:a16="http://schemas.microsoft.com/office/drawing/2014/main" id="{748FBF68-3AA0-3B0A-1C1A-2053CA6A8ED5}"/>
              </a:ext>
            </a:extLst>
          </p:cNvPr>
          <p:cNvSpPr/>
          <p:nvPr/>
        </p:nvSpPr>
        <p:spPr>
          <a:xfrm>
            <a:off x="5981293" y="3977540"/>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20</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ブランド運用</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運用</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企画・</a:t>
            </a:r>
            <a:r>
              <a:rPr lang="en-US" altLang="ja-JP" sz="1200" b="1" dirty="0">
                <a:solidFill>
                  <a:schemeClr val="tx1"/>
                </a:solidFill>
                <a:latin typeface="メイリオ" panose="020B0604030504040204" pitchFamily="50" charset="-128"/>
                <a:ea typeface="メイリオ" panose="020B0604030504040204" pitchFamily="50" charset="-128"/>
              </a:rPr>
              <a:t>CR</a:t>
            </a:r>
            <a:r>
              <a:rPr lang="ja-JP" altLang="en-US" sz="1200" b="1" dirty="0">
                <a:solidFill>
                  <a:schemeClr val="tx1"/>
                </a:solidFill>
                <a:latin typeface="メイリオ" panose="020B0604030504040204" pitchFamily="50" charset="-128"/>
                <a:ea typeface="メイリオ" panose="020B0604030504040204" pitchFamily="50" charset="-128"/>
              </a:rPr>
              <a:t>を含む</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30" name="四角形: 角を丸くする 29">
            <a:extLst>
              <a:ext uri="{FF2B5EF4-FFF2-40B4-BE49-F238E27FC236}">
                <a16:creationId xmlns:a16="http://schemas.microsoft.com/office/drawing/2014/main" id="{A2D32CFD-F1A5-7F4B-E3B4-72E3B24E7F6C}"/>
              </a:ext>
            </a:extLst>
          </p:cNvPr>
          <p:cNvSpPr/>
          <p:nvPr/>
        </p:nvSpPr>
        <p:spPr>
          <a:xfrm>
            <a:off x="486744" y="5643589"/>
            <a:ext cx="1148168" cy="8007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32" name="四角形: 角を丸くする 31">
            <a:extLst>
              <a:ext uri="{FF2B5EF4-FFF2-40B4-BE49-F238E27FC236}">
                <a16:creationId xmlns:a16="http://schemas.microsoft.com/office/drawing/2014/main" id="{74550E92-257E-1A03-CA68-011B5CE02597}"/>
              </a:ext>
            </a:extLst>
          </p:cNvPr>
          <p:cNvSpPr/>
          <p:nvPr/>
        </p:nvSpPr>
        <p:spPr>
          <a:xfrm>
            <a:off x="1683097" y="5643589"/>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15</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ja-JP" altLang="en-US" sz="2000" b="1" dirty="0">
                <a:solidFill>
                  <a:schemeClr val="tx1"/>
                </a:solidFill>
                <a:latin typeface="メイリオ" panose="020B0604030504040204" pitchFamily="50" charset="-128"/>
                <a:ea typeface="メイリオ" panose="020B0604030504040204" pitchFamily="50" charset="-128"/>
              </a:rPr>
              <a:t>構築</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ヶ月</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8580AC5F-B7C2-F248-C373-0C14850F1CB7}"/>
              </a:ext>
            </a:extLst>
          </p:cNvPr>
          <p:cNvSpPr/>
          <p:nvPr/>
        </p:nvSpPr>
        <p:spPr>
          <a:xfrm>
            <a:off x="4784940" y="5643589"/>
            <a:ext cx="1148168" cy="8007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36" name="四角形: 角を丸くする 35">
            <a:extLst>
              <a:ext uri="{FF2B5EF4-FFF2-40B4-BE49-F238E27FC236}">
                <a16:creationId xmlns:a16="http://schemas.microsoft.com/office/drawing/2014/main" id="{3189BDC1-76A9-0261-EA63-77308E6C6604}"/>
              </a:ext>
            </a:extLst>
          </p:cNvPr>
          <p:cNvSpPr/>
          <p:nvPr/>
        </p:nvSpPr>
        <p:spPr>
          <a:xfrm>
            <a:off x="5981293" y="5643589"/>
            <a:ext cx="2943148" cy="8007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3</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ブランド運用</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成果報酬 </a:t>
            </a:r>
            <a:r>
              <a:rPr lang="en-US" altLang="ja-JP" b="1" dirty="0">
                <a:solidFill>
                  <a:schemeClr val="tx1"/>
                </a:solidFill>
                <a:latin typeface="メイリオ" panose="020B0604030504040204" pitchFamily="50" charset="-128"/>
                <a:ea typeface="メイリオ" panose="020B0604030504040204" pitchFamily="50" charset="-128"/>
              </a:rPr>
              <a:t>0.2</a:t>
            </a:r>
            <a:r>
              <a:rPr lang="ja-JP" altLang="en-US" b="1" dirty="0">
                <a:solidFill>
                  <a:schemeClr val="tx1"/>
                </a:solidFill>
                <a:latin typeface="メイリオ" panose="020B0604030504040204" pitchFamily="50" charset="-128"/>
                <a:ea typeface="メイリオ" panose="020B0604030504040204" pitchFamily="50" charset="-128"/>
              </a:rPr>
              <a:t>万円 </a:t>
            </a:r>
            <a:r>
              <a:rPr lang="en-US" altLang="ja-JP" b="1" dirty="0">
                <a:solidFill>
                  <a:schemeClr val="tx1"/>
                </a:solidFill>
                <a:latin typeface="メイリオ" panose="020B0604030504040204" pitchFamily="50" charset="-128"/>
                <a:ea typeface="メイリオ" panose="020B0604030504040204" pitchFamily="50" charset="-128"/>
              </a:rPr>
              <a:t>/ </a:t>
            </a:r>
            <a:r>
              <a:rPr lang="ja-JP" altLang="en-US" b="1" dirty="0">
                <a:solidFill>
                  <a:schemeClr val="tx1"/>
                </a:solidFill>
                <a:latin typeface="メイリオ" panose="020B0604030504040204" pitchFamily="50" charset="-128"/>
                <a:ea typeface="メイリオ" panose="020B0604030504040204" pitchFamily="50" charset="-128"/>
              </a:rPr>
              <a:t>件</a:t>
            </a:r>
            <a:endParaRPr lang="ja-JP" altLang="en-US" sz="3200" b="1"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79511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D2C2-5144-EA56-A8A8-BA2907B29437}"/>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508ADAA8-1627-E8FE-FE68-B77DCE5C1A6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43A93692-3BCA-85B8-56BC-AF08D70D4886}"/>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D743C74-8025-C808-EB60-56355A8875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B5DD7E47-125D-E051-A1A2-10D8AD0435F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ブランド追加につき、初期</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月額</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万円頂きます。</a:t>
            </a:r>
            <a:endPar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9BF53903-D539-0941-90E6-BEA2A807E0C2}"/>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B13D1617-CB23-35AB-EDF6-E549CCBFB3DD}"/>
              </a:ext>
            </a:extLst>
          </p:cNvPr>
          <p:cNvSpPr txBox="1"/>
          <p:nvPr/>
        </p:nvSpPr>
        <p:spPr>
          <a:xfrm>
            <a:off x="340483" y="1841871"/>
            <a:ext cx="7512113" cy="369332"/>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①LINEの１アカウントとしてのコンサル運用</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E7B48A6-7373-6B87-3DE8-CD268FCC96A3}"/>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F3C710A7-92DD-E459-7ED7-2A8C5145AD9C}"/>
              </a:ext>
            </a:extLst>
          </p:cNvPr>
          <p:cNvSpPr txBox="1"/>
          <p:nvPr/>
        </p:nvSpPr>
        <p:spPr>
          <a:xfrm>
            <a:off x="7882144" y="721982"/>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graphicFrame>
        <p:nvGraphicFramePr>
          <p:cNvPr id="2" name="表 1">
            <a:extLst>
              <a:ext uri="{FF2B5EF4-FFF2-40B4-BE49-F238E27FC236}">
                <a16:creationId xmlns:a16="http://schemas.microsoft.com/office/drawing/2014/main" id="{EB88A8DE-4CE9-BEC2-5082-F8A02EE12BC3}"/>
              </a:ext>
            </a:extLst>
          </p:cNvPr>
          <p:cNvGraphicFramePr>
            <a:graphicFrameLocks noGrp="1"/>
          </p:cNvGraphicFramePr>
          <p:nvPr>
            <p:extLst>
              <p:ext uri="{D42A27DB-BD31-4B8C-83A1-F6EECF244321}">
                <p14:modId xmlns:p14="http://schemas.microsoft.com/office/powerpoint/2010/main" val="3446791642"/>
              </p:ext>
            </p:extLst>
          </p:nvPr>
        </p:nvGraphicFramePr>
        <p:xfrm>
          <a:off x="350146" y="2270622"/>
          <a:ext cx="9228862" cy="4181597"/>
        </p:xfrm>
        <a:graphic>
          <a:graphicData uri="http://schemas.openxmlformats.org/drawingml/2006/table">
            <a:tbl>
              <a:tblPr/>
              <a:tblGrid>
                <a:gridCol w="987770">
                  <a:extLst>
                    <a:ext uri="{9D8B030D-6E8A-4147-A177-3AD203B41FA5}">
                      <a16:colId xmlns:a16="http://schemas.microsoft.com/office/drawing/2014/main" val="2553229651"/>
                    </a:ext>
                  </a:extLst>
                </a:gridCol>
                <a:gridCol w="1491214">
                  <a:extLst>
                    <a:ext uri="{9D8B030D-6E8A-4147-A177-3AD203B41FA5}">
                      <a16:colId xmlns:a16="http://schemas.microsoft.com/office/drawing/2014/main" val="3671578280"/>
                    </a:ext>
                  </a:extLst>
                </a:gridCol>
                <a:gridCol w="926167">
                  <a:extLst>
                    <a:ext uri="{9D8B030D-6E8A-4147-A177-3AD203B41FA5}">
                      <a16:colId xmlns:a16="http://schemas.microsoft.com/office/drawing/2014/main" val="2411129021"/>
                    </a:ext>
                  </a:extLst>
                </a:gridCol>
                <a:gridCol w="926167">
                  <a:extLst>
                    <a:ext uri="{9D8B030D-6E8A-4147-A177-3AD203B41FA5}">
                      <a16:colId xmlns:a16="http://schemas.microsoft.com/office/drawing/2014/main" val="1710919304"/>
                    </a:ext>
                  </a:extLst>
                </a:gridCol>
                <a:gridCol w="926167">
                  <a:extLst>
                    <a:ext uri="{9D8B030D-6E8A-4147-A177-3AD203B41FA5}">
                      <a16:colId xmlns:a16="http://schemas.microsoft.com/office/drawing/2014/main" val="4277717422"/>
                    </a:ext>
                  </a:extLst>
                </a:gridCol>
                <a:gridCol w="926167">
                  <a:extLst>
                    <a:ext uri="{9D8B030D-6E8A-4147-A177-3AD203B41FA5}">
                      <a16:colId xmlns:a16="http://schemas.microsoft.com/office/drawing/2014/main" val="3322049640"/>
                    </a:ext>
                  </a:extLst>
                </a:gridCol>
                <a:gridCol w="926167">
                  <a:extLst>
                    <a:ext uri="{9D8B030D-6E8A-4147-A177-3AD203B41FA5}">
                      <a16:colId xmlns:a16="http://schemas.microsoft.com/office/drawing/2014/main" val="922008028"/>
                    </a:ext>
                  </a:extLst>
                </a:gridCol>
                <a:gridCol w="926167">
                  <a:extLst>
                    <a:ext uri="{9D8B030D-6E8A-4147-A177-3AD203B41FA5}">
                      <a16:colId xmlns:a16="http://schemas.microsoft.com/office/drawing/2014/main" val="3671445626"/>
                    </a:ext>
                  </a:extLst>
                </a:gridCol>
                <a:gridCol w="926167">
                  <a:extLst>
                    <a:ext uri="{9D8B030D-6E8A-4147-A177-3AD203B41FA5}">
                      <a16:colId xmlns:a16="http://schemas.microsoft.com/office/drawing/2014/main" val="1982348504"/>
                    </a:ext>
                  </a:extLst>
                </a:gridCol>
                <a:gridCol w="266709">
                  <a:extLst>
                    <a:ext uri="{9D8B030D-6E8A-4147-A177-3AD203B41FA5}">
                      <a16:colId xmlns:a16="http://schemas.microsoft.com/office/drawing/2014/main" val="273177389"/>
                    </a:ext>
                  </a:extLst>
                </a:gridCol>
              </a:tblGrid>
              <a:tr h="151287">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rPr>
                        <a:t>項目</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p>
                  </a:txBody>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※↓現状数値</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1</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2</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alt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3</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4</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5</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6</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endParaRPr lang="ja-JP" sz="8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3459176635"/>
                  </a:ext>
                </a:extLst>
              </a:tr>
              <a:tr h="157340">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WEBサイト</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UU全体</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4139499163"/>
                  </a:ext>
                </a:extLst>
              </a:tr>
              <a:tr h="157340">
                <a:tc v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UU(うち広告)</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259525954"/>
                  </a:ext>
                </a:extLst>
              </a:tr>
              <a:tr h="157340">
                <a:tc v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CV（別施策）</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90099485"/>
                  </a:ext>
                </a:extLst>
              </a:tr>
              <a:tr h="151287">
                <a:tc rowSpan="5">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施策</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CPF</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902176378"/>
                  </a:ext>
                </a:extLst>
              </a:tr>
              <a:tr h="151287">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離脱防止</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rPr>
                        <a:t>実施想定</a:t>
                      </a:r>
                      <a:endParaRPr lang="ja-JP" sz="8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06771045"/>
                  </a:ext>
                </a:extLst>
              </a:tr>
              <a:tr h="151287">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サンクスLINE誘導</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437854284"/>
                  </a:ext>
                </a:extLst>
              </a:tr>
              <a:tr h="151287">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通知メッセージ_CV</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800" b="0" i="0" u="none" strike="noStrike" dirty="0">
                        <a:solidFill>
                          <a:srgbClr val="A6A6A6"/>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453609596"/>
                  </a:ext>
                </a:extLst>
              </a:tr>
              <a:tr h="151287">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通知メッセージ_既存リスト</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800" b="0" i="0" u="none" strike="noStrike" dirty="0">
                        <a:solidFill>
                          <a:srgbClr val="A6A6A6"/>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413380772"/>
                  </a:ext>
                </a:extLst>
              </a:tr>
              <a:tr h="151287">
                <a:tc rowSpan="4">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施策増分</a:t>
                      </a:r>
                      <a:br>
                        <a:rPr lang="ja-JP" sz="800" b="0" i="0" u="none" strike="noStrike">
                          <a:solidFill>
                            <a:srgbClr val="000000"/>
                          </a:solidFill>
                          <a:effectLst/>
                          <a:latin typeface="メイリオ" panose="020B0604030504040204" pitchFamily="50" charset="-128"/>
                          <a:ea typeface="メイリオ" panose="020B0604030504040204" pitchFamily="50" charset="-128"/>
                        </a:rPr>
                      </a:br>
                      <a:r>
                        <a:rPr lang="ja-JP" sz="800" b="0" i="0" u="none" strike="noStrike">
                          <a:solidFill>
                            <a:srgbClr val="000000"/>
                          </a:solidFill>
                          <a:effectLst/>
                          <a:latin typeface="メイリオ" panose="020B0604030504040204" pitchFamily="50" charset="-128"/>
                          <a:ea typeface="メイリオ" panose="020B0604030504040204" pitchFamily="50" charset="-128"/>
                        </a:rPr>
                        <a:t>※友だち</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CPF</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4151438693"/>
                  </a:ext>
                </a:extLst>
              </a:tr>
              <a:tr h="157340">
                <a:tc vMerge="1">
                  <a:txBody>
                    <a:bodyPr/>
                    <a:lstStyle/>
                    <a:p>
                      <a:endParaRPr kumimoji="1" lang="ja-JP" altLang="en-US"/>
                    </a:p>
                  </a:txBody>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離脱防止</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263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266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04337189"/>
                  </a:ext>
                </a:extLst>
              </a:tr>
              <a:tr h="157340">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サンクスLINE誘導</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152785895"/>
                  </a:ext>
                </a:extLst>
              </a:tr>
              <a:tr h="157340">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971464828"/>
                  </a:ext>
                </a:extLst>
              </a:tr>
              <a:tr h="157340">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友だち数_増加数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1,453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1,456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1,463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1,466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1,470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464003777"/>
                  </a:ext>
                </a:extLst>
              </a:tr>
              <a:tr h="15734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ブロック率</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67.24%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64.59%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63.95%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541890761"/>
                  </a:ext>
                </a:extLst>
              </a:tr>
              <a:tr h="157340">
                <a:tc gridSpan="2">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友だち数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37,891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39,344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40,801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42,260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43,723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45,190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46,660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384664241"/>
                  </a:ext>
                </a:extLst>
              </a:tr>
              <a:tr h="15734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ターゲット数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12,412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12,888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13,639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14,409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15,196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16,822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431329805"/>
                  </a:ext>
                </a:extLst>
              </a:tr>
              <a:tr h="15734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企画投稿数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526481384"/>
                  </a:ext>
                </a:extLst>
              </a:tr>
              <a:tr h="15734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企画投稿からの流入</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1,351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2,227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2,351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271601530"/>
                  </a:ext>
                </a:extLst>
              </a:tr>
              <a:tr h="15734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ステップ配信本数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117035144"/>
                  </a:ext>
                </a:extLst>
              </a:tr>
              <a:tr h="15734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ステップ配信からの流入</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771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1,334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1,411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1,491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1,415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1,490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307653986"/>
                  </a:ext>
                </a:extLst>
              </a:tr>
              <a:tr h="15734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配信数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63,674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102,846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108,843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114,982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109,136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114,914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120,816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650461769"/>
                  </a:ext>
                </a:extLst>
              </a:tr>
              <a:tr h="15734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想定Click数</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4,350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7,048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7,459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7,880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7,479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7,875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8,280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168020659"/>
                  </a:ext>
                </a:extLst>
              </a:tr>
              <a:tr h="151287">
                <a:tc rowSpan="2">
                  <a:txBody>
                    <a:bodyPr/>
                    <a:lstStyle/>
                    <a:p>
                      <a:pPr algn="ct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新規CV</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見学予約</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841695658"/>
                  </a:ext>
                </a:extLst>
              </a:tr>
              <a:tr h="151287">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来場</a:t>
                      </a: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405960016"/>
                  </a:ext>
                </a:extLst>
              </a:tr>
              <a:tr h="151287">
                <a:tc>
                  <a:txBody>
                    <a:bodyPr/>
                    <a:lstStyle/>
                    <a:p>
                      <a:pPr algn="l"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CVR</a:t>
                      </a:r>
                    </a:p>
                  </a:txBody>
                  <a:tcPr marL="5034" marR="5034" marT="503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0.00%</a:t>
                      </a:r>
                    </a:p>
                  </a:txBody>
                  <a:tcPr marL="5034" marR="5034" marT="503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3.19%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3.23%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3.26%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3.28%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3.30%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3.31%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40352877"/>
                  </a:ext>
                </a:extLst>
              </a:tr>
              <a:tr h="151287">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a:noFill/>
                    </a:lnL>
                    <a:lnR>
                      <a:noFill/>
                    </a:lnR>
                    <a:lnT>
                      <a:noFill/>
                    </a:lnT>
                    <a:lnB>
                      <a:noFill/>
                    </a:lnB>
                    <a:noFill/>
                  </a:tcPr>
                </a:tc>
                <a:tc>
                  <a:txBody>
                    <a:bodyPr/>
                    <a:lstStyle/>
                    <a:p>
                      <a:pPr algn="l"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反応率</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（開封率</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×CTR</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endParaRPr lang="ja-JP"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6.85%</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6.85%</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6.85%</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6.85%</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6.85%</a:t>
                      </a:r>
                    </a:p>
                  </a:txBody>
                  <a:tcPr marL="9525" marR="9525" marT="9525"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6.85%</a:t>
                      </a:r>
                    </a:p>
                  </a:txBody>
                  <a:tcPr marL="9525" marR="9525" marT="9525" marB="0" anchor="ctr">
                    <a:lnL>
                      <a:noFill/>
                    </a:lnL>
                    <a:lnR>
                      <a:noFill/>
                    </a:lnR>
                    <a:lnT>
                      <a:noFill/>
                    </a:lnT>
                    <a:lnB>
                      <a:noFill/>
                    </a:lnB>
                    <a:noFill/>
                  </a:tcPr>
                </a:tc>
                <a:tc>
                  <a:txBody>
                    <a:bodyPr/>
                    <a:lstStyle/>
                    <a:p>
                      <a:pPr algn="l"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034" marR="5034" marT="5034" marB="0" anchor="ctr">
                    <a:lnL>
                      <a:noFill/>
                    </a:lnL>
                    <a:lnR>
                      <a:noFill/>
                    </a:lnR>
                    <a:lnT>
                      <a:noFill/>
                    </a:lnT>
                    <a:lnB>
                      <a:noFill/>
                    </a:lnB>
                    <a:noFill/>
                  </a:tcPr>
                </a:tc>
                <a:extLst>
                  <a:ext uri="{0D108BD9-81ED-4DB2-BD59-A6C34878D82A}">
                    <a16:rowId xmlns:a16="http://schemas.microsoft.com/office/drawing/2014/main" val="1882250898"/>
                  </a:ext>
                </a:extLst>
              </a:tr>
            </a:tbl>
          </a:graphicData>
        </a:graphic>
      </p:graphicFrame>
    </p:spTree>
    <p:extLst>
      <p:ext uri="{BB962C8B-B14F-4D97-AF65-F5344CB8AC3E}">
        <p14:creationId xmlns:p14="http://schemas.microsoft.com/office/powerpoint/2010/main" val="508951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339D9-4B35-8CC5-8949-6D8DEFEA0B26}"/>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96AB01EB-C646-48F0-B6D2-CAB1E10833DC}"/>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F6E66D28-197D-0BF6-7479-F665413E36E6}"/>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CA2B2C2C-039E-57B4-3921-1189DA6E8C5B}"/>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E491B67A-0EAC-AAC7-A078-890731C4F45A}"/>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ブランド追加につき、初期</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月額</a:t>
            </a:r>
            <a:r>
              <a:rPr lang="en-US" altLang="ja-JP"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1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万円頂きます。</a:t>
            </a:r>
            <a:endParaRPr lang="en-US" altLang="ja-JP"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2019B3C5-F7ED-D5DF-6FE1-C25AF366F25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7EDFF7D6-3330-A6CE-DC52-24ADCF69B911}"/>
              </a:ext>
            </a:extLst>
          </p:cNvPr>
          <p:cNvSpPr txBox="1"/>
          <p:nvPr/>
        </p:nvSpPr>
        <p:spPr>
          <a:xfrm>
            <a:off x="340483" y="1841871"/>
            <a:ext cx="7512113" cy="369332"/>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①LINEの１アカウントとしてのコンサル運用</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87A9E025-AF62-612F-2DAA-FFBDE8FC4882}"/>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4B2D68DB-A40B-EC80-E132-71DC67917BEB}"/>
              </a:ext>
            </a:extLst>
          </p:cNvPr>
          <p:cNvSpPr txBox="1"/>
          <p:nvPr/>
        </p:nvSpPr>
        <p:spPr>
          <a:xfrm>
            <a:off x="7882144" y="721982"/>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graphicFrame>
        <p:nvGraphicFramePr>
          <p:cNvPr id="8" name="表 7">
            <a:extLst>
              <a:ext uri="{FF2B5EF4-FFF2-40B4-BE49-F238E27FC236}">
                <a16:creationId xmlns:a16="http://schemas.microsoft.com/office/drawing/2014/main" id="{7CEAB6E7-6A83-D827-98B0-954D08980D90}"/>
              </a:ext>
            </a:extLst>
          </p:cNvPr>
          <p:cNvGraphicFramePr>
            <a:graphicFrameLocks noGrp="1"/>
          </p:cNvGraphicFramePr>
          <p:nvPr>
            <p:extLst>
              <p:ext uri="{D42A27DB-BD31-4B8C-83A1-F6EECF244321}">
                <p14:modId xmlns:p14="http://schemas.microsoft.com/office/powerpoint/2010/main" val="778658901"/>
              </p:ext>
            </p:extLst>
          </p:nvPr>
        </p:nvGraphicFramePr>
        <p:xfrm>
          <a:off x="340483" y="2738759"/>
          <a:ext cx="9194132" cy="3315942"/>
        </p:xfrm>
        <a:graphic>
          <a:graphicData uri="http://schemas.openxmlformats.org/drawingml/2006/table">
            <a:tbl>
              <a:tblPr/>
              <a:tblGrid>
                <a:gridCol w="1012857">
                  <a:extLst>
                    <a:ext uri="{9D8B030D-6E8A-4147-A177-3AD203B41FA5}">
                      <a16:colId xmlns:a16="http://schemas.microsoft.com/office/drawing/2014/main" val="1052374898"/>
                    </a:ext>
                  </a:extLst>
                </a:gridCol>
                <a:gridCol w="1533445">
                  <a:extLst>
                    <a:ext uri="{9D8B030D-6E8A-4147-A177-3AD203B41FA5}">
                      <a16:colId xmlns:a16="http://schemas.microsoft.com/office/drawing/2014/main" val="3647870267"/>
                    </a:ext>
                  </a:extLst>
                </a:gridCol>
                <a:gridCol w="949690">
                  <a:extLst>
                    <a:ext uri="{9D8B030D-6E8A-4147-A177-3AD203B41FA5}">
                      <a16:colId xmlns:a16="http://schemas.microsoft.com/office/drawing/2014/main" val="982354620"/>
                    </a:ext>
                  </a:extLst>
                </a:gridCol>
                <a:gridCol w="949690">
                  <a:extLst>
                    <a:ext uri="{9D8B030D-6E8A-4147-A177-3AD203B41FA5}">
                      <a16:colId xmlns:a16="http://schemas.microsoft.com/office/drawing/2014/main" val="829429529"/>
                    </a:ext>
                  </a:extLst>
                </a:gridCol>
                <a:gridCol w="949690">
                  <a:extLst>
                    <a:ext uri="{9D8B030D-6E8A-4147-A177-3AD203B41FA5}">
                      <a16:colId xmlns:a16="http://schemas.microsoft.com/office/drawing/2014/main" val="1525726760"/>
                    </a:ext>
                  </a:extLst>
                </a:gridCol>
                <a:gridCol w="949690">
                  <a:extLst>
                    <a:ext uri="{9D8B030D-6E8A-4147-A177-3AD203B41FA5}">
                      <a16:colId xmlns:a16="http://schemas.microsoft.com/office/drawing/2014/main" val="2277949237"/>
                    </a:ext>
                  </a:extLst>
                </a:gridCol>
                <a:gridCol w="949690">
                  <a:extLst>
                    <a:ext uri="{9D8B030D-6E8A-4147-A177-3AD203B41FA5}">
                      <a16:colId xmlns:a16="http://schemas.microsoft.com/office/drawing/2014/main" val="1326257263"/>
                    </a:ext>
                  </a:extLst>
                </a:gridCol>
                <a:gridCol w="949690">
                  <a:extLst>
                    <a:ext uri="{9D8B030D-6E8A-4147-A177-3AD203B41FA5}">
                      <a16:colId xmlns:a16="http://schemas.microsoft.com/office/drawing/2014/main" val="474507845"/>
                    </a:ext>
                  </a:extLst>
                </a:gridCol>
                <a:gridCol w="949690">
                  <a:extLst>
                    <a:ext uri="{9D8B030D-6E8A-4147-A177-3AD203B41FA5}">
                      <a16:colId xmlns:a16="http://schemas.microsoft.com/office/drawing/2014/main" val="1330641217"/>
                    </a:ext>
                  </a:extLst>
                </a:gridCol>
              </a:tblGrid>
              <a:tr h="184219">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■コンサル運営</a:t>
                      </a: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5699587"/>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¥101,021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¥218,539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¥236,529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¥254,946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¥237,408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¥254,741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¥272,448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4042650"/>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¥400,000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¥593,539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¥611,529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¥629,946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¥612,408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¥629,741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¥647,448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402535"/>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7755467"/>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4668291"/>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5.91%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5.98%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6.02%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6.07%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6.10%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6.13%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7705983"/>
                  </a:ext>
                </a:extLst>
              </a:tr>
              <a:tr h="184219">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¥2,638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¥2,536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¥2,455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¥2,496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¥2,425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¥2,360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6504015"/>
                  </a:ext>
                </a:extLst>
              </a:tr>
              <a:tr h="184219">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8113510"/>
                  </a:ext>
                </a:extLst>
              </a:tr>
              <a:tr h="184219">
                <a:tc gridSpan="2">
                  <a:txBody>
                    <a:bodyPr/>
                    <a:lstStyle/>
                    <a:p>
                      <a:pPr algn="ctr" fontAlgn="ctr">
                        <a:buNone/>
                      </a:pPr>
                      <a:r>
                        <a:rPr lang="ja-JP" sz="700" b="1" i="0" u="none" strike="noStrike" dirty="0">
                          <a:solidFill>
                            <a:srgbClr val="FFFFFF"/>
                          </a:solidFill>
                          <a:effectLst/>
                          <a:latin typeface="メイリオ" panose="020B0604030504040204" pitchFamily="50" charset="-128"/>
                          <a:ea typeface="メイリオ" panose="020B0604030504040204" pitchFamily="50" charset="-128"/>
                        </a:rPr>
                        <a:t>総計コスト</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¥400,000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5145339"/>
                  </a:ext>
                </a:extLst>
              </a:tr>
              <a:tr h="184219">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93442248"/>
                  </a:ext>
                </a:extLst>
              </a:tr>
              <a:tr h="184219">
                <a:tc>
                  <a:txBody>
                    <a:bodyPr/>
                    <a:lstStyle/>
                    <a:p>
                      <a:pPr algn="ctr" fontAlgn="ctr">
                        <a:buNone/>
                      </a:pPr>
                      <a:r>
                        <a:rPr lang="ja-JP" sz="600" b="0" i="0" u="none" strike="noStrike" dirty="0">
                          <a:solidFill>
                            <a:srgbClr val="000000"/>
                          </a:solidFill>
                          <a:effectLst/>
                          <a:latin typeface="メイリオ" panose="020B0604030504040204" pitchFamily="50" charset="-128"/>
                          <a:ea typeface="メイリオ" panose="020B0604030504040204" pitchFamily="50" charset="-128"/>
                        </a:rPr>
                        <a:t>コスト備考</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CPF</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1400572"/>
                  </a:ext>
                </a:extLst>
              </a:tr>
              <a:tr h="184219">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※コンサル</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離脱防止</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6556215"/>
                  </a:ext>
                </a:extLst>
              </a:tr>
              <a:tr h="184219">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サンクス誘導</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9515543"/>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アカウント費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1223947"/>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コンサル費①</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9487502"/>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コンサル費②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223069063"/>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機能拡張</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7723512"/>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APIツール費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783480695"/>
                  </a:ext>
                </a:extLst>
              </a:tr>
            </a:tbl>
          </a:graphicData>
        </a:graphic>
      </p:graphicFrame>
      <p:sp>
        <p:nvSpPr>
          <p:cNvPr id="11" name="四角形: 角を丸くする 10">
            <a:extLst>
              <a:ext uri="{FF2B5EF4-FFF2-40B4-BE49-F238E27FC236}">
                <a16:creationId xmlns:a16="http://schemas.microsoft.com/office/drawing/2014/main" id="{2FAE601E-1F80-A598-FBE9-139D628D6D5F}"/>
              </a:ext>
            </a:extLst>
          </p:cNvPr>
          <p:cNvSpPr/>
          <p:nvPr/>
        </p:nvSpPr>
        <p:spPr>
          <a:xfrm>
            <a:off x="2888836" y="2512910"/>
            <a:ext cx="924862" cy="280657"/>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初期</a:t>
            </a:r>
            <a:endParaRPr kumimoji="1" lang="ja-JP" altLang="en-US" sz="1100" b="1" dirty="0">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FB241AA8-A1AB-65D5-C264-7F456E771C00}"/>
              </a:ext>
            </a:extLst>
          </p:cNvPr>
          <p:cNvSpPr/>
          <p:nvPr/>
        </p:nvSpPr>
        <p:spPr>
          <a:xfrm>
            <a:off x="3877266" y="2512910"/>
            <a:ext cx="5611534" cy="28065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月額</a:t>
            </a: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540054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0C468-0E41-A69E-3C0C-39D4816BFE4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3564270-7823-8CFD-6295-AB969DEEFB8D}"/>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2041641D-8B72-DED0-3C71-9FF4C900740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73B2D97-E138-C946-3965-EC8036E59D4C}"/>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B95B6619-8B88-7134-074A-B4FCBDDBBDE9}"/>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B85BA74C-8DCB-5B73-C6ED-B3B3378CD6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BEEB5C76-ADE7-43D2-4515-4014E8A9BF18}"/>
              </a:ext>
            </a:extLst>
          </p:cNvPr>
          <p:cNvSpPr txBox="1"/>
          <p:nvPr/>
        </p:nvSpPr>
        <p:spPr>
          <a:xfrm>
            <a:off x="340483" y="1841871"/>
            <a:ext cx="7512113" cy="369332"/>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②IKSのLINEアカウント新規作成＋</a:t>
            </a:r>
            <a:r>
              <a:rPr lang="ja-JP" altLang="en-US" b="1" dirty="0">
                <a:latin typeface="メイリオ" panose="020B0604030504040204" pitchFamily="50" charset="-128"/>
                <a:ea typeface="メイリオ" panose="020B0604030504040204" pitchFamily="50" charset="-128"/>
              </a:rPr>
              <a:t>コンサル</a:t>
            </a:r>
            <a:r>
              <a:rPr lang="ja-JP" altLang="ja-JP" b="1" dirty="0">
                <a:latin typeface="メイリオ" panose="020B0604030504040204" pitchFamily="50" charset="-128"/>
                <a:ea typeface="メイリオ" panose="020B0604030504040204" pitchFamily="50" charset="-128"/>
              </a:rPr>
              <a:t>運用</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DD70C7C8-AB70-83D1-2ABC-58CD3020B9E3}"/>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EC3A2677-0655-FF28-81D3-6D2F37223782}"/>
              </a:ext>
            </a:extLst>
          </p:cNvPr>
          <p:cNvSpPr txBox="1"/>
          <p:nvPr/>
        </p:nvSpPr>
        <p:spPr>
          <a:xfrm>
            <a:off x="7882144" y="72643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
        <p:nvSpPr>
          <p:cNvPr id="11" name="テキスト ボックス 10">
            <a:extLst>
              <a:ext uri="{FF2B5EF4-FFF2-40B4-BE49-F238E27FC236}">
                <a16:creationId xmlns:a16="http://schemas.microsoft.com/office/drawing/2014/main" id="{24518CB3-DF17-D14D-348C-7C797DFDCC07}"/>
              </a:ext>
            </a:extLst>
          </p:cNvPr>
          <p:cNvSpPr txBox="1"/>
          <p:nvPr/>
        </p:nvSpPr>
        <p:spPr>
          <a:xfrm>
            <a:off x="359850" y="2296055"/>
            <a:ext cx="7512113" cy="369332"/>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③IKSのLINEアカウント新規作成＋成果報酬型運用</a:t>
            </a:r>
            <a:endParaRPr lang="en-US" altLang="ja-JP" b="1" dirty="0">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B7F7659F-2AFA-AAE4-60B7-FF852DEAAB59}"/>
              </a:ext>
            </a:extLst>
          </p:cNvPr>
          <p:cNvSpPr/>
          <p:nvPr/>
        </p:nvSpPr>
        <p:spPr>
          <a:xfrm>
            <a:off x="340483" y="2461848"/>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aphicFrame>
        <p:nvGraphicFramePr>
          <p:cNvPr id="14" name="表 13">
            <a:extLst>
              <a:ext uri="{FF2B5EF4-FFF2-40B4-BE49-F238E27FC236}">
                <a16:creationId xmlns:a16="http://schemas.microsoft.com/office/drawing/2014/main" id="{D53D7427-BC63-8035-B9D0-E2F976FF4970}"/>
              </a:ext>
            </a:extLst>
          </p:cNvPr>
          <p:cNvGraphicFramePr>
            <a:graphicFrameLocks noGrp="1"/>
          </p:cNvGraphicFramePr>
          <p:nvPr>
            <p:extLst>
              <p:ext uri="{D42A27DB-BD31-4B8C-83A1-F6EECF244321}">
                <p14:modId xmlns:p14="http://schemas.microsoft.com/office/powerpoint/2010/main" val="3505146944"/>
              </p:ext>
            </p:extLst>
          </p:nvPr>
        </p:nvGraphicFramePr>
        <p:xfrm>
          <a:off x="354652" y="2750239"/>
          <a:ext cx="9216067" cy="3700933"/>
        </p:xfrm>
        <a:graphic>
          <a:graphicData uri="http://schemas.openxmlformats.org/drawingml/2006/table">
            <a:tbl>
              <a:tblPr/>
              <a:tblGrid>
                <a:gridCol w="1015755">
                  <a:extLst>
                    <a:ext uri="{9D8B030D-6E8A-4147-A177-3AD203B41FA5}">
                      <a16:colId xmlns:a16="http://schemas.microsoft.com/office/drawing/2014/main" val="2783599302"/>
                    </a:ext>
                  </a:extLst>
                </a:gridCol>
                <a:gridCol w="1533463">
                  <a:extLst>
                    <a:ext uri="{9D8B030D-6E8A-4147-A177-3AD203B41FA5}">
                      <a16:colId xmlns:a16="http://schemas.microsoft.com/office/drawing/2014/main" val="3064577136"/>
                    </a:ext>
                  </a:extLst>
                </a:gridCol>
                <a:gridCol w="952407">
                  <a:extLst>
                    <a:ext uri="{9D8B030D-6E8A-4147-A177-3AD203B41FA5}">
                      <a16:colId xmlns:a16="http://schemas.microsoft.com/office/drawing/2014/main" val="2340749862"/>
                    </a:ext>
                  </a:extLst>
                </a:gridCol>
                <a:gridCol w="952407">
                  <a:extLst>
                    <a:ext uri="{9D8B030D-6E8A-4147-A177-3AD203B41FA5}">
                      <a16:colId xmlns:a16="http://schemas.microsoft.com/office/drawing/2014/main" val="3771922128"/>
                    </a:ext>
                  </a:extLst>
                </a:gridCol>
                <a:gridCol w="952407">
                  <a:extLst>
                    <a:ext uri="{9D8B030D-6E8A-4147-A177-3AD203B41FA5}">
                      <a16:colId xmlns:a16="http://schemas.microsoft.com/office/drawing/2014/main" val="897942347"/>
                    </a:ext>
                  </a:extLst>
                </a:gridCol>
                <a:gridCol w="952407">
                  <a:extLst>
                    <a:ext uri="{9D8B030D-6E8A-4147-A177-3AD203B41FA5}">
                      <a16:colId xmlns:a16="http://schemas.microsoft.com/office/drawing/2014/main" val="2407942350"/>
                    </a:ext>
                  </a:extLst>
                </a:gridCol>
                <a:gridCol w="952407">
                  <a:extLst>
                    <a:ext uri="{9D8B030D-6E8A-4147-A177-3AD203B41FA5}">
                      <a16:colId xmlns:a16="http://schemas.microsoft.com/office/drawing/2014/main" val="3193477101"/>
                    </a:ext>
                  </a:extLst>
                </a:gridCol>
                <a:gridCol w="952407">
                  <a:extLst>
                    <a:ext uri="{9D8B030D-6E8A-4147-A177-3AD203B41FA5}">
                      <a16:colId xmlns:a16="http://schemas.microsoft.com/office/drawing/2014/main" val="1090109114"/>
                    </a:ext>
                  </a:extLst>
                </a:gridCol>
                <a:gridCol w="952407">
                  <a:extLst>
                    <a:ext uri="{9D8B030D-6E8A-4147-A177-3AD203B41FA5}">
                      <a16:colId xmlns:a16="http://schemas.microsoft.com/office/drawing/2014/main" val="557854473"/>
                    </a:ext>
                  </a:extLst>
                </a:gridCol>
              </a:tblGrid>
              <a:tr h="131365">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rPr>
                        <a:t>項目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p>
                  </a:txBody>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※↓現状数値</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1ヶ月目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2ヶ月目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3ヶ月目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4ヶ月目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5ヶ月目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6ヶ月目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339614855"/>
                  </a:ext>
                </a:extLst>
              </a:tr>
              <a:tr h="131365">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WEBサイト</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UU全体</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2745641"/>
                  </a:ext>
                </a:extLst>
              </a:tr>
              <a:tr h="131365">
                <a:tc v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UU(うち広告)</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7297664"/>
                  </a:ext>
                </a:extLst>
              </a:tr>
              <a:tr h="131365">
                <a:tc v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CV（別施策）</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4018196"/>
                  </a:ext>
                </a:extLst>
              </a:tr>
              <a:tr h="131365">
                <a:tc rowSpan="5">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施策</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CPF</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6626008"/>
                  </a:ext>
                </a:extLst>
              </a:tr>
              <a:tr h="153678">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離脱防止</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9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rPr>
                        <a:t>実施想定</a:t>
                      </a:r>
                      <a:endParaRPr lang="ja-JP" sz="9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900" b="0" i="0" u="none" strike="noStrike" kern="1200" cap="none" spc="0" normalizeH="0" baseline="0" noProof="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9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9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9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9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9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9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9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9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9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982916"/>
                  </a:ext>
                </a:extLst>
              </a:tr>
              <a:tr h="131365">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サンクスLINE誘導</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5996497"/>
                  </a:ext>
                </a:extLst>
              </a:tr>
              <a:tr h="131365">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通知メッセージ_CV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1265666"/>
                  </a:ext>
                </a:extLst>
              </a:tr>
              <a:tr h="131365">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通知メッセージ_既存リスト</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6172611"/>
                  </a:ext>
                </a:extLst>
              </a:tr>
              <a:tr h="131365">
                <a:tc rowSpan="4">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施策増分</a:t>
                      </a:r>
                      <a:br>
                        <a:rPr lang="ja-JP" sz="800" b="0" i="0" u="none" strike="noStrike">
                          <a:solidFill>
                            <a:srgbClr val="000000"/>
                          </a:solidFill>
                          <a:effectLst/>
                          <a:latin typeface="メイリオ" panose="020B0604030504040204" pitchFamily="50" charset="-128"/>
                          <a:ea typeface="メイリオ" panose="020B0604030504040204" pitchFamily="50" charset="-128"/>
                        </a:rPr>
                      </a:br>
                      <a:r>
                        <a:rPr lang="ja-JP" sz="800" b="0" i="0" u="none" strike="noStrike">
                          <a:solidFill>
                            <a:srgbClr val="000000"/>
                          </a:solidFill>
                          <a:effectLst/>
                          <a:latin typeface="メイリオ" panose="020B0604030504040204" pitchFamily="50" charset="-128"/>
                          <a:ea typeface="メイリオ" panose="020B0604030504040204" pitchFamily="50" charset="-128"/>
                        </a:rPr>
                        <a:t>※友だち</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CPF</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7737988"/>
                  </a:ext>
                </a:extLst>
              </a:tr>
              <a:tr h="131365">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2114911"/>
                  </a:ext>
                </a:extLst>
              </a:tr>
              <a:tr h="131365">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サンクスLINE誘導</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2634472"/>
                  </a:ext>
                </a:extLst>
              </a:tr>
              <a:tr h="131365">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1566975"/>
                  </a:ext>
                </a:extLst>
              </a:tr>
              <a:tr h="131365">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友だち数_増加数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9812202"/>
                  </a:ext>
                </a:extLst>
              </a:tr>
              <a:tr h="131365">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ブロック率</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19.80%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19.60%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19.21%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19.02%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9943903"/>
                  </a:ext>
                </a:extLst>
              </a:tr>
              <a:tr h="131365">
                <a:tc gridSpan="2">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友だち数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82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123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164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205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247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8610248"/>
                  </a:ext>
                </a:extLst>
              </a:tr>
              <a:tr h="131365">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ターゲット数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33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66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99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132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3764735"/>
                  </a:ext>
                </a:extLst>
              </a:tr>
              <a:tr h="131365">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企画投稿数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418758"/>
                  </a:ext>
                </a:extLst>
              </a:tr>
              <a:tr h="131365">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企画投稿からの流入</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590803"/>
                  </a:ext>
                </a:extLst>
              </a:tr>
              <a:tr h="131365">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ステップ配信本数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2002320"/>
                  </a:ext>
                </a:extLst>
              </a:tr>
              <a:tr h="131365">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ステップ配信からの流入</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136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171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7373342"/>
                  </a:ext>
                </a:extLst>
              </a:tr>
              <a:tr h="131365">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配信数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852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1,283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1,718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2,155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2,596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0011850"/>
                  </a:ext>
                </a:extLst>
              </a:tr>
              <a:tr h="131365">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想定Click数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89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178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268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359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451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543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89477777"/>
                  </a:ext>
                </a:extLst>
              </a:tr>
              <a:tr h="131365">
                <a:tc rowSpan="2">
                  <a:txBody>
                    <a:bodyPr/>
                    <a:lstStyle/>
                    <a:p>
                      <a:pPr algn="ct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新規CV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見学予約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8242452"/>
                  </a:ext>
                </a:extLst>
              </a:tr>
              <a:tr h="131365">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来場</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7252458"/>
                  </a:ext>
                </a:extLst>
              </a:tr>
              <a:tr h="131365">
                <a:tc gridSpan="2">
                  <a:txBody>
                    <a:bodyPr/>
                    <a:lstStyle/>
                    <a:p>
                      <a:pPr algn="ct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合計CV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9097356"/>
                  </a:ext>
                </a:extLst>
              </a:tr>
              <a:tr h="131365">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CVR</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0.00%</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11.28%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11.42%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11.51%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11.60%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11.65%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11.71%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22992814"/>
                  </a:ext>
                </a:extLst>
              </a:tr>
              <a:tr h="131365">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681" marR="5681" marT="5681" marB="0" anchor="ctr">
                    <a:lnL>
                      <a:noFill/>
                    </a:lnL>
                    <a:lnR>
                      <a:noFill/>
                    </a:lnR>
                    <a:lnT>
                      <a:noFill/>
                    </a:lnT>
                    <a:lnB>
                      <a:noFill/>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反応率</a:t>
                      </a:r>
                    </a:p>
                  </a:txBody>
                  <a:tcPr marL="5681" marR="5681" marT="5681"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681" marR="5681" marT="568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20.91%</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20.91%</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20.91%</a:t>
                      </a:r>
                    </a:p>
                  </a:txBody>
                  <a:tcPr marL="9525" marR="9525" marT="9525"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20.91%</a:t>
                      </a:r>
                    </a:p>
                  </a:txBody>
                  <a:tcPr marL="9525" marR="9525" marT="9525"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20.91%</a:t>
                      </a:r>
                    </a:p>
                  </a:txBody>
                  <a:tcPr marL="9525" marR="9525" marT="9525" marB="0" anchor="ctr">
                    <a:lnL>
                      <a:noFill/>
                    </a:lnL>
                    <a:lnR>
                      <a:noFill/>
                    </a:lnR>
                    <a:lnT>
                      <a:noFill/>
                    </a:lnT>
                    <a:lnB>
                      <a:noFill/>
                    </a:lnB>
                    <a:noFill/>
                  </a:tcPr>
                </a:tc>
                <a:tc>
                  <a:txBody>
                    <a:bodyPr/>
                    <a:lstStyle/>
                    <a:p>
                      <a:pPr algn="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20.91%</a:t>
                      </a:r>
                    </a:p>
                  </a:txBody>
                  <a:tcPr marL="9525" marR="9525" marT="9525" marB="0" anchor="ctr">
                    <a:lnL>
                      <a:noFill/>
                    </a:lnL>
                    <a:lnR>
                      <a:noFill/>
                    </a:lnR>
                    <a:lnT>
                      <a:noFill/>
                    </a:lnT>
                    <a:lnB>
                      <a:noFill/>
                    </a:lnB>
                    <a:noFill/>
                  </a:tcPr>
                </a:tc>
                <a:extLst>
                  <a:ext uri="{0D108BD9-81ED-4DB2-BD59-A6C34878D82A}">
                    <a16:rowId xmlns:a16="http://schemas.microsoft.com/office/drawing/2014/main" val="422846390"/>
                  </a:ext>
                </a:extLst>
              </a:tr>
            </a:tbl>
          </a:graphicData>
        </a:graphic>
      </p:graphicFrame>
    </p:spTree>
    <p:extLst>
      <p:ext uri="{BB962C8B-B14F-4D97-AF65-F5344CB8AC3E}">
        <p14:creationId xmlns:p14="http://schemas.microsoft.com/office/powerpoint/2010/main" val="1974524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900E-548E-2F62-7879-98C79E78D131}"/>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C74C9E9-F8B4-94D4-8E3F-CB8722BD7D46}"/>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00FAFE16-0B81-5913-2ABA-6EFB0924F175}"/>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B6EE366C-345B-EF11-A914-AECD518CBDC1}"/>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81FE4DF0-027F-10B9-8E42-20B2BF3C050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F7A16CF3-55D2-6C80-9999-43326624704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8" name="テキスト ボックス 7">
            <a:extLst>
              <a:ext uri="{FF2B5EF4-FFF2-40B4-BE49-F238E27FC236}">
                <a16:creationId xmlns:a16="http://schemas.microsoft.com/office/drawing/2014/main" id="{812F57DD-8848-560E-E99C-6CB3040A239A}"/>
              </a:ext>
            </a:extLst>
          </p:cNvPr>
          <p:cNvSpPr txBox="1"/>
          <p:nvPr/>
        </p:nvSpPr>
        <p:spPr>
          <a:xfrm>
            <a:off x="7882144" y="72643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
        <p:nvSpPr>
          <p:cNvPr id="10" name="テキスト ボックス 9">
            <a:extLst>
              <a:ext uri="{FF2B5EF4-FFF2-40B4-BE49-F238E27FC236}">
                <a16:creationId xmlns:a16="http://schemas.microsoft.com/office/drawing/2014/main" id="{C0C957AC-8BE9-271B-6230-1FB779213A31}"/>
              </a:ext>
            </a:extLst>
          </p:cNvPr>
          <p:cNvSpPr txBox="1"/>
          <p:nvPr/>
        </p:nvSpPr>
        <p:spPr>
          <a:xfrm>
            <a:off x="340483" y="1841871"/>
            <a:ext cx="7512113" cy="369332"/>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②IKSのLINEアカウント新規作成＋</a:t>
            </a:r>
            <a:r>
              <a:rPr lang="ja-JP" altLang="en-US" b="1" dirty="0">
                <a:latin typeface="メイリオ" panose="020B0604030504040204" pitchFamily="50" charset="-128"/>
                <a:ea typeface="メイリオ" panose="020B0604030504040204" pitchFamily="50" charset="-128"/>
              </a:rPr>
              <a:t>コンサル</a:t>
            </a:r>
            <a:r>
              <a:rPr lang="ja-JP" altLang="ja-JP" b="1" dirty="0">
                <a:latin typeface="メイリオ" panose="020B0604030504040204" pitchFamily="50" charset="-128"/>
                <a:ea typeface="メイリオ" panose="020B0604030504040204" pitchFamily="50" charset="-128"/>
              </a:rPr>
              <a:t>運用</a:t>
            </a:r>
            <a:endParaRPr lang="en-US" altLang="ja-JP" b="1" dirty="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22061E3F-C943-3B4C-25D7-991F4A168A78}"/>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graphicFrame>
        <p:nvGraphicFramePr>
          <p:cNvPr id="15" name="表 14">
            <a:extLst>
              <a:ext uri="{FF2B5EF4-FFF2-40B4-BE49-F238E27FC236}">
                <a16:creationId xmlns:a16="http://schemas.microsoft.com/office/drawing/2014/main" id="{1142EC7C-0302-F492-D160-00D85EDBC155}"/>
              </a:ext>
            </a:extLst>
          </p:cNvPr>
          <p:cNvGraphicFramePr>
            <a:graphicFrameLocks noGrp="1"/>
          </p:cNvGraphicFramePr>
          <p:nvPr>
            <p:extLst>
              <p:ext uri="{D42A27DB-BD31-4B8C-83A1-F6EECF244321}">
                <p14:modId xmlns:p14="http://schemas.microsoft.com/office/powerpoint/2010/main" val="1905061778"/>
              </p:ext>
            </p:extLst>
          </p:nvPr>
        </p:nvGraphicFramePr>
        <p:xfrm>
          <a:off x="321117" y="2883594"/>
          <a:ext cx="9099108" cy="1801008"/>
        </p:xfrm>
        <a:graphic>
          <a:graphicData uri="http://schemas.openxmlformats.org/drawingml/2006/table">
            <a:tbl>
              <a:tblPr/>
              <a:tblGrid>
                <a:gridCol w="1002388">
                  <a:extLst>
                    <a:ext uri="{9D8B030D-6E8A-4147-A177-3AD203B41FA5}">
                      <a16:colId xmlns:a16="http://schemas.microsoft.com/office/drawing/2014/main" val="2992207506"/>
                    </a:ext>
                  </a:extLst>
                </a:gridCol>
                <a:gridCol w="1517595">
                  <a:extLst>
                    <a:ext uri="{9D8B030D-6E8A-4147-A177-3AD203B41FA5}">
                      <a16:colId xmlns:a16="http://schemas.microsoft.com/office/drawing/2014/main" val="3912916455"/>
                    </a:ext>
                  </a:extLst>
                </a:gridCol>
                <a:gridCol w="939875">
                  <a:extLst>
                    <a:ext uri="{9D8B030D-6E8A-4147-A177-3AD203B41FA5}">
                      <a16:colId xmlns:a16="http://schemas.microsoft.com/office/drawing/2014/main" val="4146023740"/>
                    </a:ext>
                  </a:extLst>
                </a:gridCol>
                <a:gridCol w="939875">
                  <a:extLst>
                    <a:ext uri="{9D8B030D-6E8A-4147-A177-3AD203B41FA5}">
                      <a16:colId xmlns:a16="http://schemas.microsoft.com/office/drawing/2014/main" val="2526964384"/>
                    </a:ext>
                  </a:extLst>
                </a:gridCol>
                <a:gridCol w="939875">
                  <a:extLst>
                    <a:ext uri="{9D8B030D-6E8A-4147-A177-3AD203B41FA5}">
                      <a16:colId xmlns:a16="http://schemas.microsoft.com/office/drawing/2014/main" val="2952863666"/>
                    </a:ext>
                  </a:extLst>
                </a:gridCol>
                <a:gridCol w="939875">
                  <a:extLst>
                    <a:ext uri="{9D8B030D-6E8A-4147-A177-3AD203B41FA5}">
                      <a16:colId xmlns:a16="http://schemas.microsoft.com/office/drawing/2014/main" val="1945564121"/>
                    </a:ext>
                  </a:extLst>
                </a:gridCol>
                <a:gridCol w="939875">
                  <a:extLst>
                    <a:ext uri="{9D8B030D-6E8A-4147-A177-3AD203B41FA5}">
                      <a16:colId xmlns:a16="http://schemas.microsoft.com/office/drawing/2014/main" val="2123166504"/>
                    </a:ext>
                  </a:extLst>
                </a:gridCol>
                <a:gridCol w="939875">
                  <a:extLst>
                    <a:ext uri="{9D8B030D-6E8A-4147-A177-3AD203B41FA5}">
                      <a16:colId xmlns:a16="http://schemas.microsoft.com/office/drawing/2014/main" val="1374826734"/>
                    </a:ext>
                  </a:extLst>
                </a:gridCol>
                <a:gridCol w="939875">
                  <a:extLst>
                    <a:ext uri="{9D8B030D-6E8A-4147-A177-3AD203B41FA5}">
                      <a16:colId xmlns:a16="http://schemas.microsoft.com/office/drawing/2014/main" val="1874046056"/>
                    </a:ext>
                  </a:extLst>
                </a:gridCol>
              </a:tblGrid>
              <a:tr h="200112">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■コンサル運営</a:t>
                      </a: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5056477"/>
                  </a:ext>
                </a:extLst>
              </a:tr>
              <a:tr h="200112">
                <a:tc gridSpan="2">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従量課金</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8111872"/>
                  </a:ext>
                </a:extLst>
              </a:tr>
              <a:tr h="200112">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1026396"/>
                  </a:ext>
                </a:extLst>
              </a:tr>
              <a:tr h="200112">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871568"/>
                  </a:ext>
                </a:extLst>
              </a:tr>
              <a:tr h="200112">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¥2,257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¥1,122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¥745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¥557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¥444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¥368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6425391"/>
                  </a:ext>
                </a:extLst>
              </a:tr>
              <a:tr h="200112">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4.31%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4.33%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665928"/>
                  </a:ext>
                </a:extLst>
              </a:tr>
              <a:tr h="200112">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¥49,120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¥32,367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¥24,002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¥19,035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¥15,726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5394338"/>
                  </a:ext>
                </a:extLst>
              </a:tr>
              <a:tr h="200112">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4284952"/>
                  </a:ext>
                </a:extLst>
              </a:tr>
              <a:tr h="200112">
                <a:tc gridSpan="2">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総計コスト</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¥150,000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¥200,000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7373955"/>
                  </a:ext>
                </a:extLst>
              </a:tr>
            </a:tbl>
          </a:graphicData>
        </a:graphic>
      </p:graphicFrame>
      <p:graphicFrame>
        <p:nvGraphicFramePr>
          <p:cNvPr id="16" name="表 15">
            <a:extLst>
              <a:ext uri="{FF2B5EF4-FFF2-40B4-BE49-F238E27FC236}">
                <a16:creationId xmlns:a16="http://schemas.microsoft.com/office/drawing/2014/main" id="{08AD4A5B-A7B2-69A1-877F-6DD4B54C69F0}"/>
              </a:ext>
            </a:extLst>
          </p:cNvPr>
          <p:cNvGraphicFramePr>
            <a:graphicFrameLocks noGrp="1"/>
          </p:cNvGraphicFramePr>
          <p:nvPr>
            <p:extLst>
              <p:ext uri="{D42A27DB-BD31-4B8C-83A1-F6EECF244321}">
                <p14:modId xmlns:p14="http://schemas.microsoft.com/office/powerpoint/2010/main" val="385195839"/>
              </p:ext>
            </p:extLst>
          </p:nvPr>
        </p:nvGraphicFramePr>
        <p:xfrm>
          <a:off x="321116" y="4809768"/>
          <a:ext cx="9099110" cy="1321800"/>
        </p:xfrm>
        <a:graphic>
          <a:graphicData uri="http://schemas.openxmlformats.org/drawingml/2006/table">
            <a:tbl>
              <a:tblPr/>
              <a:tblGrid>
                <a:gridCol w="1002389">
                  <a:extLst>
                    <a:ext uri="{9D8B030D-6E8A-4147-A177-3AD203B41FA5}">
                      <a16:colId xmlns:a16="http://schemas.microsoft.com/office/drawing/2014/main" val="468674449"/>
                    </a:ext>
                  </a:extLst>
                </a:gridCol>
                <a:gridCol w="1517596">
                  <a:extLst>
                    <a:ext uri="{9D8B030D-6E8A-4147-A177-3AD203B41FA5}">
                      <a16:colId xmlns:a16="http://schemas.microsoft.com/office/drawing/2014/main" val="2404688257"/>
                    </a:ext>
                  </a:extLst>
                </a:gridCol>
                <a:gridCol w="939875">
                  <a:extLst>
                    <a:ext uri="{9D8B030D-6E8A-4147-A177-3AD203B41FA5}">
                      <a16:colId xmlns:a16="http://schemas.microsoft.com/office/drawing/2014/main" val="1201500368"/>
                    </a:ext>
                  </a:extLst>
                </a:gridCol>
                <a:gridCol w="939875">
                  <a:extLst>
                    <a:ext uri="{9D8B030D-6E8A-4147-A177-3AD203B41FA5}">
                      <a16:colId xmlns:a16="http://schemas.microsoft.com/office/drawing/2014/main" val="599158497"/>
                    </a:ext>
                  </a:extLst>
                </a:gridCol>
                <a:gridCol w="939875">
                  <a:extLst>
                    <a:ext uri="{9D8B030D-6E8A-4147-A177-3AD203B41FA5}">
                      <a16:colId xmlns:a16="http://schemas.microsoft.com/office/drawing/2014/main" val="2720916784"/>
                    </a:ext>
                  </a:extLst>
                </a:gridCol>
                <a:gridCol w="939875">
                  <a:extLst>
                    <a:ext uri="{9D8B030D-6E8A-4147-A177-3AD203B41FA5}">
                      <a16:colId xmlns:a16="http://schemas.microsoft.com/office/drawing/2014/main" val="2723723958"/>
                    </a:ext>
                  </a:extLst>
                </a:gridCol>
                <a:gridCol w="939875">
                  <a:extLst>
                    <a:ext uri="{9D8B030D-6E8A-4147-A177-3AD203B41FA5}">
                      <a16:colId xmlns:a16="http://schemas.microsoft.com/office/drawing/2014/main" val="1127333192"/>
                    </a:ext>
                  </a:extLst>
                </a:gridCol>
                <a:gridCol w="939875">
                  <a:extLst>
                    <a:ext uri="{9D8B030D-6E8A-4147-A177-3AD203B41FA5}">
                      <a16:colId xmlns:a16="http://schemas.microsoft.com/office/drawing/2014/main" val="3462903404"/>
                    </a:ext>
                  </a:extLst>
                </a:gridCol>
                <a:gridCol w="939875">
                  <a:extLst>
                    <a:ext uri="{9D8B030D-6E8A-4147-A177-3AD203B41FA5}">
                      <a16:colId xmlns:a16="http://schemas.microsoft.com/office/drawing/2014/main" val="1357492666"/>
                    </a:ext>
                  </a:extLst>
                </a:gridCol>
              </a:tblGrid>
              <a:tr h="165225">
                <a:tc>
                  <a:txBody>
                    <a:bodyPr/>
                    <a:lstStyle/>
                    <a:p>
                      <a:pPr algn="ct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コスト備考</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CPF</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0216124"/>
                  </a:ext>
                </a:extLst>
              </a:tr>
              <a:tr h="165225">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※コンサル</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9153985"/>
                  </a:ext>
                </a:extLst>
              </a:tr>
              <a:tr h="165225">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サンクス誘導</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2980695"/>
                  </a:ext>
                </a:extLst>
              </a:tr>
              <a:tr h="165225">
                <a:tc>
                  <a:txBody>
                    <a:bodyPr/>
                    <a:lstStyle/>
                    <a:p>
                      <a:pPr algn="l" fontAlgn="ctr">
                        <a:buNone/>
                      </a:pPr>
                      <a:endParaRPr lang="ja-JP" sz="7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アカウント費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571255"/>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コンサル費①</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7920393"/>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コンサル費②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¥160,000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¥160,000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94368406"/>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機能拡張</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4361224"/>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APIツール費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11835325"/>
                  </a:ext>
                </a:extLst>
              </a:tr>
            </a:tbl>
          </a:graphicData>
        </a:graphic>
      </p:graphicFrame>
      <p:sp>
        <p:nvSpPr>
          <p:cNvPr id="4" name="四角形: 角を丸くする 3">
            <a:extLst>
              <a:ext uri="{FF2B5EF4-FFF2-40B4-BE49-F238E27FC236}">
                <a16:creationId xmlns:a16="http://schemas.microsoft.com/office/drawing/2014/main" id="{4DA59ACD-D128-35AA-227E-4AF7EE30B0CA}"/>
              </a:ext>
            </a:extLst>
          </p:cNvPr>
          <p:cNvSpPr/>
          <p:nvPr/>
        </p:nvSpPr>
        <p:spPr>
          <a:xfrm>
            <a:off x="2888836" y="2512910"/>
            <a:ext cx="924862" cy="280657"/>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初期</a:t>
            </a:r>
            <a:endParaRPr kumimoji="1" lang="ja-JP" altLang="en-US" sz="1100" b="1" dirty="0">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74DD3131-C5F9-D7C4-2A92-A9C3CB893ED0}"/>
              </a:ext>
            </a:extLst>
          </p:cNvPr>
          <p:cNvSpPr/>
          <p:nvPr/>
        </p:nvSpPr>
        <p:spPr>
          <a:xfrm>
            <a:off x="3877266" y="2512910"/>
            <a:ext cx="5611534" cy="28065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月額</a:t>
            </a: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35157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4B077-1621-2E59-8AB4-189E5CF0D86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BDB8BFDE-355F-C720-1446-E482D67460E2}"/>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0FD37C62-57A4-6844-612C-1DE356833CD0}"/>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B03748B1-01AD-B2F8-A5F0-1B80993B81F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62865C2A-0047-7E93-DB44-15ADA4839719}"/>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B2970AA5-FE1D-CB95-8ADD-89352F527AF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1DF0EBE2-BF2F-6E21-95DD-7191834DBAE7}"/>
              </a:ext>
            </a:extLst>
          </p:cNvPr>
          <p:cNvSpPr txBox="1"/>
          <p:nvPr/>
        </p:nvSpPr>
        <p:spPr>
          <a:xfrm>
            <a:off x="340483" y="1841871"/>
            <a:ext cx="7512113" cy="369332"/>
          </a:xfrm>
          <a:prstGeom prst="rect">
            <a:avLst/>
          </a:prstGeom>
          <a:noFill/>
        </p:spPr>
        <p:txBody>
          <a:bodyPr wrap="square">
            <a:spAutoFit/>
          </a:bodyPr>
          <a:lstStyle/>
          <a:p>
            <a:r>
              <a:rPr lang="ja-JP" altLang="ja-JP" b="1" dirty="0">
                <a:latin typeface="メイリオ" panose="020B0604030504040204" pitchFamily="50" charset="-128"/>
                <a:ea typeface="メイリオ" panose="020B0604030504040204" pitchFamily="50" charset="-128"/>
              </a:rPr>
              <a:t>③IKSのLINEアカウント新規作成＋成果報酬型運用</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CE282C7C-6810-7F19-FBB0-773983D024A4}"/>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94EBADC2-DDD0-008E-B9E7-40E3F284996B}"/>
              </a:ext>
            </a:extLst>
          </p:cNvPr>
          <p:cNvSpPr txBox="1"/>
          <p:nvPr/>
        </p:nvSpPr>
        <p:spPr>
          <a:xfrm>
            <a:off x="7882144" y="72643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graphicFrame>
        <p:nvGraphicFramePr>
          <p:cNvPr id="2" name="表 1">
            <a:extLst>
              <a:ext uri="{FF2B5EF4-FFF2-40B4-BE49-F238E27FC236}">
                <a16:creationId xmlns:a16="http://schemas.microsoft.com/office/drawing/2014/main" id="{BAA12EC0-36BB-AB9D-B492-D4208C5848C7}"/>
              </a:ext>
            </a:extLst>
          </p:cNvPr>
          <p:cNvGraphicFramePr>
            <a:graphicFrameLocks noGrp="1"/>
          </p:cNvGraphicFramePr>
          <p:nvPr>
            <p:extLst>
              <p:ext uri="{D42A27DB-BD31-4B8C-83A1-F6EECF244321}">
                <p14:modId xmlns:p14="http://schemas.microsoft.com/office/powerpoint/2010/main" val="762666932"/>
              </p:ext>
            </p:extLst>
          </p:nvPr>
        </p:nvGraphicFramePr>
        <p:xfrm>
          <a:off x="321116" y="2895600"/>
          <a:ext cx="9099110" cy="1739196"/>
        </p:xfrm>
        <a:graphic>
          <a:graphicData uri="http://schemas.openxmlformats.org/drawingml/2006/table">
            <a:tbl>
              <a:tblPr/>
              <a:tblGrid>
                <a:gridCol w="1002389">
                  <a:extLst>
                    <a:ext uri="{9D8B030D-6E8A-4147-A177-3AD203B41FA5}">
                      <a16:colId xmlns:a16="http://schemas.microsoft.com/office/drawing/2014/main" val="1811158982"/>
                    </a:ext>
                  </a:extLst>
                </a:gridCol>
                <a:gridCol w="1517596">
                  <a:extLst>
                    <a:ext uri="{9D8B030D-6E8A-4147-A177-3AD203B41FA5}">
                      <a16:colId xmlns:a16="http://schemas.microsoft.com/office/drawing/2014/main" val="144419894"/>
                    </a:ext>
                  </a:extLst>
                </a:gridCol>
                <a:gridCol w="939875">
                  <a:extLst>
                    <a:ext uri="{9D8B030D-6E8A-4147-A177-3AD203B41FA5}">
                      <a16:colId xmlns:a16="http://schemas.microsoft.com/office/drawing/2014/main" val="108178757"/>
                    </a:ext>
                  </a:extLst>
                </a:gridCol>
                <a:gridCol w="939875">
                  <a:extLst>
                    <a:ext uri="{9D8B030D-6E8A-4147-A177-3AD203B41FA5}">
                      <a16:colId xmlns:a16="http://schemas.microsoft.com/office/drawing/2014/main" val="541989784"/>
                    </a:ext>
                  </a:extLst>
                </a:gridCol>
                <a:gridCol w="939875">
                  <a:extLst>
                    <a:ext uri="{9D8B030D-6E8A-4147-A177-3AD203B41FA5}">
                      <a16:colId xmlns:a16="http://schemas.microsoft.com/office/drawing/2014/main" val="2416927525"/>
                    </a:ext>
                  </a:extLst>
                </a:gridCol>
                <a:gridCol w="939875">
                  <a:extLst>
                    <a:ext uri="{9D8B030D-6E8A-4147-A177-3AD203B41FA5}">
                      <a16:colId xmlns:a16="http://schemas.microsoft.com/office/drawing/2014/main" val="2995885872"/>
                    </a:ext>
                  </a:extLst>
                </a:gridCol>
                <a:gridCol w="939875">
                  <a:extLst>
                    <a:ext uri="{9D8B030D-6E8A-4147-A177-3AD203B41FA5}">
                      <a16:colId xmlns:a16="http://schemas.microsoft.com/office/drawing/2014/main" val="3445804286"/>
                    </a:ext>
                  </a:extLst>
                </a:gridCol>
                <a:gridCol w="939875">
                  <a:extLst>
                    <a:ext uri="{9D8B030D-6E8A-4147-A177-3AD203B41FA5}">
                      <a16:colId xmlns:a16="http://schemas.microsoft.com/office/drawing/2014/main" val="1787787557"/>
                    </a:ext>
                  </a:extLst>
                </a:gridCol>
                <a:gridCol w="939875">
                  <a:extLst>
                    <a:ext uri="{9D8B030D-6E8A-4147-A177-3AD203B41FA5}">
                      <a16:colId xmlns:a16="http://schemas.microsoft.com/office/drawing/2014/main" val="3148700180"/>
                    </a:ext>
                  </a:extLst>
                </a:gridCol>
              </a:tblGrid>
              <a:tr h="193244">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■成果報酬運営</a:t>
                      </a: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8258998"/>
                  </a:ext>
                </a:extLst>
              </a:tr>
              <a:tr h="193244">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6950167"/>
                  </a:ext>
                </a:extLst>
              </a:tr>
              <a:tr h="193244">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770323"/>
                  </a:ext>
                </a:extLst>
              </a:tr>
              <a:tr h="193244">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¥242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0114280"/>
                  </a:ext>
                </a:extLst>
              </a:tr>
              <a:tr h="193244">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¥496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¥270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¥195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¥135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2949977"/>
                  </a:ext>
                </a:extLst>
              </a:tr>
              <a:tr h="193244">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4.17%</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4.31%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4.33%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0064452"/>
                  </a:ext>
                </a:extLst>
              </a:tr>
              <a:tr h="193244">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¥11,892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¥6,391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¥4,580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¥3,676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¥3,139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¥2,781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3248029"/>
                  </a:ext>
                </a:extLst>
              </a:tr>
              <a:tr h="193244">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メイリオ" panose="020B0604030504040204" pitchFamily="50" charset="-128"/>
                          <a:ea typeface="メイリオ" panose="020B0604030504040204" pitchFamily="50" charset="-128"/>
                        </a:rPr>
                        <a:t>¥20,000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メイリオ" panose="020B0604030504040204" pitchFamily="50" charset="-128"/>
                          <a:ea typeface="メイリオ" panose="020B0604030504040204" pitchFamily="50" charset="-128"/>
                        </a:rPr>
                        <a:t>¥24,000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メイリオ" panose="020B0604030504040204" pitchFamily="50" charset="-128"/>
                          <a:ea typeface="メイリオ" panose="020B0604030504040204" pitchFamily="50" charset="-128"/>
                        </a:rPr>
                        <a:t>¥26,000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メイリオ" panose="020B0604030504040204" pitchFamily="50" charset="-128"/>
                          <a:ea typeface="メイリオ" panose="020B0604030504040204" pitchFamily="50" charset="-128"/>
                        </a:rPr>
                        <a:t>¥30,000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メイリオ" panose="020B0604030504040204" pitchFamily="50" charset="-128"/>
                          <a:ea typeface="メイリオ" panose="020B0604030504040204" pitchFamily="50" charset="-128"/>
                        </a:rPr>
                        <a:t>¥36,000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メイリオ" panose="020B0604030504040204" pitchFamily="50" charset="-128"/>
                          <a:ea typeface="メイリオ" panose="020B0604030504040204" pitchFamily="50" charset="-128"/>
                        </a:rPr>
                        <a:t>¥40,000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55901"/>
                  </a:ext>
                </a:extLst>
              </a:tr>
              <a:tr h="193244">
                <a:tc gridSpan="2">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総計コスト</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¥150,000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FF0000"/>
                          </a:solidFill>
                          <a:effectLst/>
                          <a:latin typeface="メイリオ" panose="020B0604030504040204" pitchFamily="50" charset="-128"/>
                          <a:ea typeface="メイリオ" panose="020B0604030504040204" pitchFamily="50" charset="-128"/>
                        </a:rPr>
                        <a:t>¥64,000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¥66,000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FF0000"/>
                          </a:solidFill>
                          <a:effectLst/>
                          <a:latin typeface="メイリオ" panose="020B0604030504040204" pitchFamily="50" charset="-128"/>
                          <a:ea typeface="メイリオ" panose="020B0604030504040204" pitchFamily="50" charset="-128"/>
                        </a:rPr>
                        <a:t>¥70,000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a:solidFill>
                            <a:srgbClr val="FF0000"/>
                          </a:solidFill>
                          <a:effectLst/>
                          <a:latin typeface="メイリオ" panose="020B0604030504040204" pitchFamily="50" charset="-128"/>
                          <a:ea typeface="メイリオ" panose="020B0604030504040204" pitchFamily="50" charset="-128"/>
                        </a:rPr>
                        <a:t>¥76,000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1" i="0" u="none" strike="noStrike" dirty="0">
                          <a:solidFill>
                            <a:srgbClr val="FF0000"/>
                          </a:solidFill>
                          <a:effectLst/>
                          <a:latin typeface="メイリオ" panose="020B0604030504040204" pitchFamily="50" charset="-128"/>
                          <a:ea typeface="メイリオ" panose="020B0604030504040204" pitchFamily="50" charset="-128"/>
                        </a:rPr>
                        <a:t>¥80,000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8871470"/>
                  </a:ext>
                </a:extLst>
              </a:tr>
            </a:tbl>
          </a:graphicData>
        </a:graphic>
      </p:graphicFrame>
      <p:sp>
        <p:nvSpPr>
          <p:cNvPr id="11" name="四角形: 角を丸くする 10">
            <a:extLst>
              <a:ext uri="{FF2B5EF4-FFF2-40B4-BE49-F238E27FC236}">
                <a16:creationId xmlns:a16="http://schemas.microsoft.com/office/drawing/2014/main" id="{EA0AABB3-1246-89E4-FFDF-AF717D8CBEA9}"/>
              </a:ext>
            </a:extLst>
          </p:cNvPr>
          <p:cNvSpPr/>
          <p:nvPr/>
        </p:nvSpPr>
        <p:spPr>
          <a:xfrm>
            <a:off x="2888836" y="2512910"/>
            <a:ext cx="924862" cy="280657"/>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初期</a:t>
            </a:r>
            <a:endParaRPr kumimoji="1" lang="ja-JP" altLang="en-US" sz="1100" b="1" dirty="0">
              <a:latin typeface="メイリオ" panose="020B0604030504040204" pitchFamily="50" charset="-128"/>
              <a:ea typeface="メイリオ" panose="020B0604030504040204" pitchFamily="50" charset="-128"/>
            </a:endParaRPr>
          </a:p>
        </p:txBody>
      </p:sp>
      <p:sp>
        <p:nvSpPr>
          <p:cNvPr id="13" name="四角形: 角を丸くする 12">
            <a:extLst>
              <a:ext uri="{FF2B5EF4-FFF2-40B4-BE49-F238E27FC236}">
                <a16:creationId xmlns:a16="http://schemas.microsoft.com/office/drawing/2014/main" id="{5D5EAF60-591F-03BC-516F-6D79B3426A5F}"/>
              </a:ext>
            </a:extLst>
          </p:cNvPr>
          <p:cNvSpPr/>
          <p:nvPr/>
        </p:nvSpPr>
        <p:spPr>
          <a:xfrm>
            <a:off x="3877266" y="2512910"/>
            <a:ext cx="5611534" cy="28065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月額</a:t>
            </a:r>
            <a:endParaRPr kumimoji="1" lang="ja-JP" altLang="en-US" sz="1100" b="1" dirty="0">
              <a:latin typeface="メイリオ" panose="020B0604030504040204" pitchFamily="50" charset="-128"/>
              <a:ea typeface="メイリオ" panose="020B0604030504040204" pitchFamily="50" charset="-128"/>
            </a:endParaRPr>
          </a:p>
        </p:txBody>
      </p:sp>
      <p:graphicFrame>
        <p:nvGraphicFramePr>
          <p:cNvPr id="16" name="表 15">
            <a:extLst>
              <a:ext uri="{FF2B5EF4-FFF2-40B4-BE49-F238E27FC236}">
                <a16:creationId xmlns:a16="http://schemas.microsoft.com/office/drawing/2014/main" id="{B96292ED-FB66-C28C-9E06-F49776F6B59A}"/>
              </a:ext>
            </a:extLst>
          </p:cNvPr>
          <p:cNvGraphicFramePr>
            <a:graphicFrameLocks noGrp="1"/>
          </p:cNvGraphicFramePr>
          <p:nvPr>
            <p:extLst>
              <p:ext uri="{D42A27DB-BD31-4B8C-83A1-F6EECF244321}">
                <p14:modId xmlns:p14="http://schemas.microsoft.com/office/powerpoint/2010/main" val="3105489144"/>
              </p:ext>
            </p:extLst>
          </p:nvPr>
        </p:nvGraphicFramePr>
        <p:xfrm>
          <a:off x="321116" y="4809768"/>
          <a:ext cx="9099110" cy="1321800"/>
        </p:xfrm>
        <a:graphic>
          <a:graphicData uri="http://schemas.openxmlformats.org/drawingml/2006/table">
            <a:tbl>
              <a:tblPr/>
              <a:tblGrid>
                <a:gridCol w="1002389">
                  <a:extLst>
                    <a:ext uri="{9D8B030D-6E8A-4147-A177-3AD203B41FA5}">
                      <a16:colId xmlns:a16="http://schemas.microsoft.com/office/drawing/2014/main" val="2979167613"/>
                    </a:ext>
                  </a:extLst>
                </a:gridCol>
                <a:gridCol w="1517596">
                  <a:extLst>
                    <a:ext uri="{9D8B030D-6E8A-4147-A177-3AD203B41FA5}">
                      <a16:colId xmlns:a16="http://schemas.microsoft.com/office/drawing/2014/main" val="3658882547"/>
                    </a:ext>
                  </a:extLst>
                </a:gridCol>
                <a:gridCol w="939875">
                  <a:extLst>
                    <a:ext uri="{9D8B030D-6E8A-4147-A177-3AD203B41FA5}">
                      <a16:colId xmlns:a16="http://schemas.microsoft.com/office/drawing/2014/main" val="1745615610"/>
                    </a:ext>
                  </a:extLst>
                </a:gridCol>
                <a:gridCol w="939875">
                  <a:extLst>
                    <a:ext uri="{9D8B030D-6E8A-4147-A177-3AD203B41FA5}">
                      <a16:colId xmlns:a16="http://schemas.microsoft.com/office/drawing/2014/main" val="869884216"/>
                    </a:ext>
                  </a:extLst>
                </a:gridCol>
                <a:gridCol w="939875">
                  <a:extLst>
                    <a:ext uri="{9D8B030D-6E8A-4147-A177-3AD203B41FA5}">
                      <a16:colId xmlns:a16="http://schemas.microsoft.com/office/drawing/2014/main" val="1968237597"/>
                    </a:ext>
                  </a:extLst>
                </a:gridCol>
                <a:gridCol w="939875">
                  <a:extLst>
                    <a:ext uri="{9D8B030D-6E8A-4147-A177-3AD203B41FA5}">
                      <a16:colId xmlns:a16="http://schemas.microsoft.com/office/drawing/2014/main" val="1448655573"/>
                    </a:ext>
                  </a:extLst>
                </a:gridCol>
                <a:gridCol w="939875">
                  <a:extLst>
                    <a:ext uri="{9D8B030D-6E8A-4147-A177-3AD203B41FA5}">
                      <a16:colId xmlns:a16="http://schemas.microsoft.com/office/drawing/2014/main" val="1026228217"/>
                    </a:ext>
                  </a:extLst>
                </a:gridCol>
                <a:gridCol w="939875">
                  <a:extLst>
                    <a:ext uri="{9D8B030D-6E8A-4147-A177-3AD203B41FA5}">
                      <a16:colId xmlns:a16="http://schemas.microsoft.com/office/drawing/2014/main" val="580278233"/>
                    </a:ext>
                  </a:extLst>
                </a:gridCol>
                <a:gridCol w="939875">
                  <a:extLst>
                    <a:ext uri="{9D8B030D-6E8A-4147-A177-3AD203B41FA5}">
                      <a16:colId xmlns:a16="http://schemas.microsoft.com/office/drawing/2014/main" val="4218897141"/>
                    </a:ext>
                  </a:extLst>
                </a:gridCol>
              </a:tblGrid>
              <a:tr h="165225">
                <a:tc>
                  <a:txBody>
                    <a:bodyPr/>
                    <a:lstStyle/>
                    <a:p>
                      <a:pPr algn="ct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コスト備考</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CPF</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030637"/>
                  </a:ext>
                </a:extLst>
              </a:tr>
              <a:tr h="165225">
                <a:tc>
                  <a:txBody>
                    <a:bodyPr/>
                    <a:lstStyle/>
                    <a:p>
                      <a:pPr algn="ctr" fontAlgn="ctr">
                        <a:buNone/>
                      </a:pPr>
                      <a:r>
                        <a:rPr lang="ja-JP" sz="700" b="1"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700" b="1" i="0" u="none" strike="noStrike" dirty="0">
                          <a:solidFill>
                            <a:srgbClr val="000000"/>
                          </a:solidFill>
                          <a:effectLst/>
                          <a:latin typeface="メイリオ" panose="020B0604030504040204" pitchFamily="50" charset="-128"/>
                          <a:ea typeface="メイリオ" panose="020B0604030504040204" pitchFamily="50" charset="-128"/>
                        </a:rPr>
                        <a:t>固定費</a:t>
                      </a:r>
                      <a:endParaRPr lang="ja-JP" sz="7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6260286"/>
                  </a:ext>
                </a:extLst>
              </a:tr>
              <a:tr h="165225">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サンクス誘導</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9307184"/>
                  </a:ext>
                </a:extLst>
              </a:tr>
              <a:tr h="165225">
                <a:tc>
                  <a:txBody>
                    <a:bodyPr/>
                    <a:lstStyle/>
                    <a:p>
                      <a:pPr algn="l" fontAlgn="ctr">
                        <a:buNone/>
                      </a:pPr>
                      <a:endParaRPr lang="ja-JP" sz="7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アカウント費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4305699"/>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コンサル費①</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6687794"/>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コンサル費②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endParaRPr lang="ja-JP" sz="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552671728"/>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機能拡張</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0842612"/>
                  </a:ext>
                </a:extLst>
              </a:tr>
              <a:tr h="165225">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solidFill>
                      <a:schemeClr val="bg1">
                        <a:lumMod val="85000"/>
                      </a:schemeClr>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APIツール費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86644381"/>
                  </a:ext>
                </a:extLst>
              </a:tr>
            </a:tbl>
          </a:graphicData>
        </a:graphic>
      </p:graphicFrame>
    </p:spTree>
    <p:extLst>
      <p:ext uri="{BB962C8B-B14F-4D97-AF65-F5344CB8AC3E}">
        <p14:creationId xmlns:p14="http://schemas.microsoft.com/office/powerpoint/2010/main" val="4368754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E6E0-C5FB-BAB1-1BDB-6E3C7B3A6919}"/>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B39045E3-0229-1928-64B3-4A8C65F53643}"/>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5CA5E90-87E8-2403-84D7-4FE2C1E22125}"/>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A4848F9-2BD3-8113-8D2B-425E826AD178}"/>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96B91492-A6E2-5684-3820-E038BE8C6C69}"/>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年後には単月数値がコンサル＞成果報酬型となる可能性があり、</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6</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か月</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コンサル契約に移行するケースも。</a:t>
            </a:r>
            <a:endParaRPr lang="ja-JP" altLang="en-US" sz="1000" dirty="0"/>
          </a:p>
        </p:txBody>
      </p:sp>
      <p:sp>
        <p:nvSpPr>
          <p:cNvPr id="9" name="テキスト ボックス 8">
            <a:extLst>
              <a:ext uri="{FF2B5EF4-FFF2-40B4-BE49-F238E27FC236}">
                <a16:creationId xmlns:a16="http://schemas.microsoft.com/office/drawing/2014/main" id="{8B1AD70C-9F0B-515B-79A8-CF2339CC5445}"/>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1074DDEF-9361-5711-234D-FB7F881B9C77}"/>
              </a:ext>
            </a:extLst>
          </p:cNvPr>
          <p:cNvSpPr txBox="1"/>
          <p:nvPr/>
        </p:nvSpPr>
        <p:spPr>
          <a:xfrm>
            <a:off x="340483" y="1841871"/>
            <a:ext cx="7512113" cy="369332"/>
          </a:xfrm>
          <a:prstGeom prst="rect">
            <a:avLst/>
          </a:prstGeom>
          <a:noFill/>
        </p:spPr>
        <p:txBody>
          <a:bodyPr wrap="square">
            <a:spAutoFit/>
          </a:bodyPr>
          <a:lstStyle/>
          <a:p>
            <a:r>
              <a:rPr lang="ja-JP" altLang="en-US" b="1" dirty="0">
                <a:latin typeface="メイリオ" panose="020B0604030504040204" pitchFamily="50" charset="-128"/>
                <a:ea typeface="メイリオ" panose="020B0604030504040204" pitchFamily="50" charset="-128"/>
              </a:rPr>
              <a:t>②③のプラン比較（③ヶ月目、⑥ヶ月目、⑫ヶ月目）</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47541D45-8E7B-64EB-0FE2-44BB42FB3C58}"/>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4E94029-B96C-FB3D-D281-88B7470B557F}"/>
              </a:ext>
            </a:extLst>
          </p:cNvPr>
          <p:cNvSpPr txBox="1"/>
          <p:nvPr/>
        </p:nvSpPr>
        <p:spPr>
          <a:xfrm>
            <a:off x="7882144" y="72643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graphicFrame>
        <p:nvGraphicFramePr>
          <p:cNvPr id="10" name="表 9">
            <a:extLst>
              <a:ext uri="{FF2B5EF4-FFF2-40B4-BE49-F238E27FC236}">
                <a16:creationId xmlns:a16="http://schemas.microsoft.com/office/drawing/2014/main" id="{8BF3F8C7-F7F9-88D0-E28F-7442140084D0}"/>
              </a:ext>
            </a:extLst>
          </p:cNvPr>
          <p:cNvGraphicFramePr>
            <a:graphicFrameLocks noGrp="1"/>
          </p:cNvGraphicFramePr>
          <p:nvPr>
            <p:extLst>
              <p:ext uri="{D42A27DB-BD31-4B8C-83A1-F6EECF244321}">
                <p14:modId xmlns:p14="http://schemas.microsoft.com/office/powerpoint/2010/main" val="62467970"/>
              </p:ext>
            </p:extLst>
          </p:nvPr>
        </p:nvGraphicFramePr>
        <p:xfrm>
          <a:off x="321116" y="2376996"/>
          <a:ext cx="9156261" cy="4023810"/>
        </p:xfrm>
        <a:graphic>
          <a:graphicData uri="http://schemas.openxmlformats.org/drawingml/2006/table">
            <a:tbl>
              <a:tblPr/>
              <a:tblGrid>
                <a:gridCol w="2562119">
                  <a:extLst>
                    <a:ext uri="{9D8B030D-6E8A-4147-A177-3AD203B41FA5}">
                      <a16:colId xmlns:a16="http://schemas.microsoft.com/office/drawing/2014/main" val="1707700503"/>
                    </a:ext>
                  </a:extLst>
                </a:gridCol>
                <a:gridCol w="183738">
                  <a:extLst>
                    <a:ext uri="{9D8B030D-6E8A-4147-A177-3AD203B41FA5}">
                      <a16:colId xmlns:a16="http://schemas.microsoft.com/office/drawing/2014/main" val="870509643"/>
                    </a:ext>
                  </a:extLst>
                </a:gridCol>
                <a:gridCol w="1602601">
                  <a:extLst>
                    <a:ext uri="{9D8B030D-6E8A-4147-A177-3AD203B41FA5}">
                      <a16:colId xmlns:a16="http://schemas.microsoft.com/office/drawing/2014/main" val="4259558496"/>
                    </a:ext>
                  </a:extLst>
                </a:gridCol>
                <a:gridCol w="1602601">
                  <a:extLst>
                    <a:ext uri="{9D8B030D-6E8A-4147-A177-3AD203B41FA5}">
                      <a16:colId xmlns:a16="http://schemas.microsoft.com/office/drawing/2014/main" val="2449815109"/>
                    </a:ext>
                  </a:extLst>
                </a:gridCol>
                <a:gridCol w="1602601">
                  <a:extLst>
                    <a:ext uri="{9D8B030D-6E8A-4147-A177-3AD203B41FA5}">
                      <a16:colId xmlns:a16="http://schemas.microsoft.com/office/drawing/2014/main" val="1083799351"/>
                    </a:ext>
                  </a:extLst>
                </a:gridCol>
                <a:gridCol w="1602601">
                  <a:extLst>
                    <a:ext uri="{9D8B030D-6E8A-4147-A177-3AD203B41FA5}">
                      <a16:colId xmlns:a16="http://schemas.microsoft.com/office/drawing/2014/main" val="1052101653"/>
                    </a:ext>
                  </a:extLst>
                </a:gridCol>
              </a:tblGrid>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比較項目</a:t>
                      </a:r>
                    </a:p>
                  </a:txBody>
                  <a:tcPr marL="7144" marR="7144" marT="7144" marB="0" anchor="ctr">
                    <a:lnL>
                      <a:noFill/>
                    </a:lnL>
                    <a:lnR>
                      <a:noFill/>
                    </a:lnR>
                    <a:lnT>
                      <a:noFill/>
                    </a:lnT>
                    <a:lnB>
                      <a:noFill/>
                    </a:lnB>
                    <a:solidFill>
                      <a:srgbClr val="DAE9F8"/>
                    </a:solidFill>
                  </a:tcPr>
                </a:tc>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DAE9F8"/>
                    </a:solidFill>
                  </a:tcPr>
                </a:tc>
                <a:tc>
                  <a:txBody>
                    <a:bodyPr/>
                    <a:lstStyle/>
                    <a:p>
                      <a:pPr algn="ctr"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DYM実装前</a:t>
                      </a:r>
                    </a:p>
                  </a:txBody>
                  <a:tcPr marL="7144" marR="7144" marT="7144" marB="0" anchor="ctr">
                    <a:lnL>
                      <a:noFill/>
                    </a:lnL>
                    <a:lnR>
                      <a:noFill/>
                    </a:lnR>
                    <a:lnT>
                      <a:noFill/>
                    </a:lnT>
                    <a:lnB>
                      <a:noFill/>
                    </a:lnB>
                    <a:solidFill>
                      <a:srgbClr val="D0D0D0"/>
                    </a:solidFill>
                  </a:tcPr>
                </a:tc>
                <a:tc>
                  <a:txBody>
                    <a:bodyPr/>
                    <a:lstStyle/>
                    <a:p>
                      <a:pPr algn="ctr"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DYM実装後（③か月）</a:t>
                      </a:r>
                    </a:p>
                  </a:txBody>
                  <a:tcPr marL="7144" marR="7144" marT="7144" marB="0" anchor="ctr">
                    <a:lnL>
                      <a:noFill/>
                    </a:lnL>
                    <a:lnR>
                      <a:noFill/>
                    </a:lnR>
                    <a:lnT>
                      <a:noFill/>
                    </a:lnT>
                    <a:lnB>
                      <a:noFill/>
                    </a:lnB>
                    <a:solidFill>
                      <a:srgbClr val="DAE9F8"/>
                    </a:solidFill>
                  </a:tcPr>
                </a:tc>
                <a:tc>
                  <a:txBody>
                    <a:bodyPr/>
                    <a:lstStyle/>
                    <a:p>
                      <a:pPr algn="ctr"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DYM実装後（⑥か月）</a:t>
                      </a:r>
                    </a:p>
                  </a:txBody>
                  <a:tcPr marL="7144" marR="7144" marT="7144" marB="0" anchor="ctr">
                    <a:lnL>
                      <a:noFill/>
                    </a:lnL>
                    <a:lnR>
                      <a:noFill/>
                    </a:lnR>
                    <a:lnT>
                      <a:noFill/>
                    </a:lnT>
                    <a:lnB>
                      <a:noFill/>
                    </a:lnB>
                    <a:solidFill>
                      <a:srgbClr val="DAE9F8"/>
                    </a:solidFill>
                  </a:tcPr>
                </a:tc>
                <a:tc>
                  <a:txBody>
                    <a:bodyPr/>
                    <a:lstStyle/>
                    <a:p>
                      <a:pPr algn="ctr"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DYM実装後（⑫か月）</a:t>
                      </a:r>
                    </a:p>
                  </a:txBody>
                  <a:tcPr marL="7144" marR="7144" marT="7144" marB="0" anchor="ctr">
                    <a:lnL>
                      <a:noFill/>
                    </a:lnL>
                    <a:lnR>
                      <a:noFill/>
                    </a:lnR>
                    <a:lnT>
                      <a:noFill/>
                    </a:lnT>
                    <a:lnB>
                      <a:noFill/>
                    </a:lnB>
                    <a:solidFill>
                      <a:srgbClr val="DAE9F8"/>
                    </a:solidFill>
                  </a:tcPr>
                </a:tc>
                <a:extLst>
                  <a:ext uri="{0D108BD9-81ED-4DB2-BD59-A6C34878D82A}">
                    <a16:rowId xmlns:a16="http://schemas.microsoft.com/office/drawing/2014/main" val="4243266705"/>
                  </a:ext>
                </a:extLst>
              </a:tr>
              <a:tr h="191610">
                <a:tc>
                  <a:txBody>
                    <a:bodyPr/>
                    <a:lstStyle/>
                    <a:p>
                      <a:pPr algn="l" fontAlgn="ctr">
                        <a:buNone/>
                      </a:pPr>
                      <a:r>
                        <a:rPr lang="ja-JP" sz="1000" b="1" i="0" u="none" strike="noStrike" dirty="0">
                          <a:solidFill>
                            <a:srgbClr val="000000"/>
                          </a:solidFill>
                          <a:effectLst/>
                          <a:latin typeface="メイリオ" panose="020B0604030504040204" pitchFamily="50" charset="-128"/>
                          <a:ea typeface="メイリオ" panose="020B0604030504040204" pitchFamily="50" charset="-128"/>
                        </a:rPr>
                        <a:t>コスト想定 ※月額（成果報酬プラン）</a:t>
                      </a:r>
                    </a:p>
                  </a:txBody>
                  <a:tcPr marL="7144" marR="7144" marT="7144" marB="0" anchor="ctr">
                    <a:lnL>
                      <a:noFill/>
                    </a:lnL>
                    <a:lnR>
                      <a:noFill/>
                    </a:lnR>
                    <a:lnT>
                      <a:noFill/>
                    </a:lnT>
                    <a:lnB>
                      <a:noFill/>
                    </a:lnB>
                    <a:solidFill>
                      <a:srgbClr val="F2F2F2"/>
                    </a:solidFill>
                  </a:tcPr>
                </a:tc>
                <a:tc>
                  <a:txBody>
                    <a:bodyPr/>
                    <a:lstStyle/>
                    <a:p>
                      <a:pPr algn="l"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a:t>
                      </a:r>
                    </a:p>
                  </a:txBody>
                  <a:tcPr marL="7144" marR="7144" marT="7144"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¥66,000</a:t>
                      </a:r>
                    </a:p>
                  </a:txBody>
                  <a:tcPr marL="9525" marR="9525" marT="9525"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¥80,000</a:t>
                      </a:r>
                    </a:p>
                  </a:txBody>
                  <a:tcPr marL="9525" marR="9525" marT="9525"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¥227,692</a:t>
                      </a:r>
                    </a:p>
                  </a:txBody>
                  <a:tcPr marL="9525" marR="9525" marT="9525" marB="0" anchor="ctr">
                    <a:lnL>
                      <a:noFill/>
                    </a:lnL>
                    <a:lnR>
                      <a:noFill/>
                    </a:lnR>
                    <a:lnT>
                      <a:noFill/>
                    </a:lnT>
                    <a:lnB>
                      <a:noFill/>
                    </a:lnB>
                    <a:solidFill>
                      <a:srgbClr val="F2F2F2"/>
                    </a:solidFill>
                  </a:tcPr>
                </a:tc>
                <a:extLst>
                  <a:ext uri="{0D108BD9-81ED-4DB2-BD59-A6C34878D82A}">
                    <a16:rowId xmlns:a16="http://schemas.microsoft.com/office/drawing/2014/main" val="1524887655"/>
                  </a:ext>
                </a:extLst>
              </a:tr>
              <a:tr h="191610">
                <a:tc>
                  <a:txBody>
                    <a:bodyPr/>
                    <a:lstStyle/>
                    <a:p>
                      <a:pPr algn="l" fontAlgn="ctr">
                        <a:buNone/>
                      </a:pPr>
                      <a:r>
                        <a:rPr lang="ja-JP" sz="1000" b="1" i="0" u="none" strike="noStrike">
                          <a:solidFill>
                            <a:srgbClr val="FF0000"/>
                          </a:solidFill>
                          <a:effectLst/>
                          <a:latin typeface="メイリオ" panose="020B0604030504040204" pitchFamily="50" charset="-128"/>
                          <a:ea typeface="メイリオ" panose="020B0604030504040204" pitchFamily="50" charset="-128"/>
                        </a:rPr>
                        <a:t>コスト想定 ※月額（固定プラン）</a:t>
                      </a:r>
                    </a:p>
                  </a:txBody>
                  <a:tcPr marL="7144" marR="7144" marT="7144" marB="0" anchor="ctr">
                    <a:lnL>
                      <a:noFill/>
                    </a:lnL>
                    <a:lnR>
                      <a:noFill/>
                    </a:lnR>
                    <a:lnT>
                      <a:noFill/>
                    </a:lnT>
                    <a:lnB>
                      <a:noFill/>
                    </a:lnB>
                    <a:solidFill>
                      <a:srgbClr val="FBE2D5"/>
                    </a:solidFill>
                  </a:tcPr>
                </a:tc>
                <a:tc>
                  <a:txBody>
                    <a:bodyPr/>
                    <a:lstStyle/>
                    <a:p>
                      <a:pPr algn="l"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a:t>
                      </a:r>
                    </a:p>
                  </a:txBody>
                  <a:tcPr marL="7144" marR="7144" marT="7144"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¥200,000</a:t>
                      </a:r>
                    </a:p>
                  </a:txBody>
                  <a:tcPr marL="9525" marR="9525" marT="9525"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¥200,000</a:t>
                      </a:r>
                    </a:p>
                  </a:txBody>
                  <a:tcPr marL="9525" marR="9525" marT="9525"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¥200,000</a:t>
                      </a:r>
                    </a:p>
                  </a:txBody>
                  <a:tcPr marL="9525" marR="9525" marT="9525" marB="0" anchor="ctr">
                    <a:lnL>
                      <a:noFill/>
                    </a:lnL>
                    <a:lnR>
                      <a:noFill/>
                    </a:lnR>
                    <a:lnT>
                      <a:noFill/>
                    </a:lnT>
                    <a:lnB>
                      <a:noFill/>
                    </a:lnB>
                    <a:solidFill>
                      <a:srgbClr val="FBE2D5"/>
                    </a:solidFill>
                  </a:tcPr>
                </a:tc>
                <a:extLst>
                  <a:ext uri="{0D108BD9-81ED-4DB2-BD59-A6C34878D82A}">
                    <a16:rowId xmlns:a16="http://schemas.microsoft.com/office/drawing/2014/main" val="4262947343"/>
                  </a:ext>
                </a:extLst>
              </a:tr>
              <a:tr h="191610">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extLst>
                  <a:ext uri="{0D108BD9-81ED-4DB2-BD59-A6C34878D82A}">
                    <a16:rowId xmlns:a16="http://schemas.microsoft.com/office/drawing/2014/main" val="2780188898"/>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友だち数想定</a:t>
                      </a:r>
                    </a:p>
                  </a:txBody>
                  <a:tcPr marL="7144" marR="7144" marT="7144" marB="0" anchor="ctr">
                    <a:lnL>
                      <a:noFill/>
                    </a:lnL>
                    <a:lnR>
                      <a:noFill/>
                    </a:lnR>
                    <a:lnT>
                      <a:noFill/>
                    </a:lnT>
                    <a:lnB>
                      <a:noFill/>
                    </a:lnB>
                    <a:solidFill>
                      <a:schemeClr val="bg1">
                        <a:lumMod val="95000"/>
                      </a:schemeClr>
                    </a:solid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123</a:t>
                      </a:r>
                    </a:p>
                  </a:txBody>
                  <a:tcPr marL="9525" marR="9525" marT="9525"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247</a:t>
                      </a:r>
                    </a:p>
                  </a:txBody>
                  <a:tcPr marL="9525" marR="9525" marT="9525"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916</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80512179"/>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ブロック率想定</a:t>
                      </a:r>
                    </a:p>
                  </a:txBody>
                  <a:tcPr marL="7144" marR="7144" marT="7144" marB="0" anchor="ctr">
                    <a:lnL>
                      <a:noFill/>
                    </a:lnL>
                    <a:lnR>
                      <a:noFill/>
                    </a:lnR>
                    <a:lnT>
                      <a:noFill/>
                    </a:lnT>
                    <a:lnB>
                      <a:noFill/>
                    </a:lnB>
                    <a:solidFill>
                      <a:schemeClr val="bg1">
                        <a:lumMod val="95000"/>
                      </a:schemeClr>
                    </a:solid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19.6%</a:t>
                      </a:r>
                    </a:p>
                  </a:txBody>
                  <a:tcPr marL="9525" marR="9525" marT="9525"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19.0%</a:t>
                      </a:r>
                    </a:p>
                  </a:txBody>
                  <a:tcPr marL="9525" marR="9525" marT="9525" marB="0" anchor="ctr">
                    <a:lnL>
                      <a:noFill/>
                    </a:lnL>
                    <a:lnR>
                      <a:noFill/>
                    </a:lnR>
                    <a:lnT>
                      <a:noFill/>
                    </a:lnT>
                    <a:lnB>
                      <a:noFill/>
                    </a:lnB>
                    <a:solidFill>
                      <a:schemeClr val="bg1">
                        <a:lumMod val="95000"/>
                      </a:schemeClr>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18.4%</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06592933"/>
                  </a:ext>
                </a:extLst>
              </a:tr>
              <a:tr h="191610">
                <a:tc>
                  <a:txBody>
                    <a:bodyPr/>
                    <a:lstStyle/>
                    <a:p>
                      <a:pPr algn="l" fontAlgn="ctr">
                        <a:buNone/>
                      </a:pPr>
                      <a:r>
                        <a:rPr lang="ja-JP" sz="1000" b="1" i="0" u="none" strike="noStrike" dirty="0">
                          <a:solidFill>
                            <a:srgbClr val="000000"/>
                          </a:solidFill>
                          <a:effectLst/>
                          <a:latin typeface="メイリオ" panose="020B0604030504040204" pitchFamily="50" charset="-128"/>
                          <a:ea typeface="メイリオ" panose="020B0604030504040204" pitchFamily="50" charset="-128"/>
                        </a:rPr>
                        <a:t>友だち数（アクティブ）想定</a:t>
                      </a:r>
                    </a:p>
                  </a:txBody>
                  <a:tcPr marL="7144" marR="7144" marT="7144" marB="0" anchor="ctr">
                    <a:lnL>
                      <a:noFill/>
                    </a:lnL>
                    <a:lnR>
                      <a:noFill/>
                    </a:lnR>
                    <a:lnT>
                      <a:noFill/>
                    </a:lnT>
                    <a:lnB>
                      <a:noFill/>
                    </a:lnB>
                    <a:solidFill>
                      <a:schemeClr val="bg1">
                        <a:lumMod val="95000"/>
                      </a:schemeClr>
                    </a:solidFill>
                  </a:tcPr>
                </a:tc>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solidFill>
                      <a:schemeClr val="bg1">
                        <a:lumMod val="95000"/>
                      </a:schemeClr>
                    </a:solidFill>
                  </a:tcPr>
                </a:tc>
                <a:tc>
                  <a:txBody>
                    <a:bodyPr/>
                    <a:lstStyle/>
                    <a:p>
                      <a:pPr algn="r"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solidFill>
                      <a:schemeClr val="bg1">
                        <a:lumMod val="95000"/>
                      </a:schemeClr>
                    </a:solidFill>
                  </a:tcPr>
                </a:tc>
                <a:tc>
                  <a:txBody>
                    <a:bodyPr/>
                    <a:lstStyle/>
                    <a:p>
                      <a:pPr algn="r"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99</a:t>
                      </a:r>
                    </a:p>
                  </a:txBody>
                  <a:tcPr marL="9525" marR="9525" marT="9525" marB="0" anchor="ctr">
                    <a:lnL>
                      <a:noFill/>
                    </a:lnL>
                    <a:lnR>
                      <a:noFill/>
                    </a:lnR>
                    <a:lnT>
                      <a:noFill/>
                    </a:lnT>
                    <a:lnB>
                      <a:noFill/>
                    </a:lnB>
                    <a:solidFill>
                      <a:schemeClr val="bg1">
                        <a:lumMod val="95000"/>
                      </a:schemeClr>
                    </a:solidFill>
                  </a:tcPr>
                </a:tc>
                <a:tc>
                  <a:txBody>
                    <a:bodyPr/>
                    <a:lstStyle/>
                    <a:p>
                      <a:pPr algn="r" fontAlgn="ctr">
                        <a:buNone/>
                      </a:pPr>
                      <a:r>
                        <a:rPr lang="ja-JP" sz="1000" b="1" i="0" u="none" strike="noStrike" dirty="0">
                          <a:solidFill>
                            <a:srgbClr val="000000"/>
                          </a:solidFill>
                          <a:effectLst/>
                          <a:latin typeface="メイリオ" panose="020B0604030504040204" pitchFamily="50" charset="-128"/>
                          <a:ea typeface="メイリオ" panose="020B0604030504040204" pitchFamily="50" charset="-128"/>
                        </a:rPr>
                        <a:t>200</a:t>
                      </a:r>
                    </a:p>
                  </a:txBody>
                  <a:tcPr marL="9525" marR="9525" marT="9525" marB="0" anchor="ctr">
                    <a:lnL>
                      <a:noFill/>
                    </a:lnL>
                    <a:lnR>
                      <a:noFill/>
                    </a:lnR>
                    <a:lnT>
                      <a:noFill/>
                    </a:lnT>
                    <a:lnB>
                      <a:noFill/>
                    </a:lnB>
                    <a:solidFill>
                      <a:schemeClr val="bg1">
                        <a:lumMod val="95000"/>
                      </a:schemeClr>
                    </a:solidFill>
                  </a:tcPr>
                </a:tc>
                <a:tc>
                  <a:txBody>
                    <a:bodyPr/>
                    <a:lstStyle/>
                    <a:p>
                      <a:pPr algn="r" fontAlgn="ctr">
                        <a:buNone/>
                      </a:pPr>
                      <a:r>
                        <a:rPr lang="ja-JP" sz="1000" b="1" i="0" u="none" strike="noStrike" dirty="0">
                          <a:solidFill>
                            <a:srgbClr val="000000"/>
                          </a:solidFill>
                          <a:effectLst/>
                          <a:latin typeface="メイリオ" panose="020B0604030504040204" pitchFamily="50" charset="-128"/>
                          <a:ea typeface="メイリオ" panose="020B0604030504040204" pitchFamily="50" charset="-128"/>
                        </a:rPr>
                        <a:t>747</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633380522"/>
                  </a:ext>
                </a:extLst>
              </a:tr>
              <a:tr h="191610">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extLst>
                  <a:ext uri="{0D108BD9-81ED-4DB2-BD59-A6C34878D82A}">
                    <a16:rowId xmlns:a16="http://schemas.microsoft.com/office/drawing/2014/main" val="1557565149"/>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メッセ通数</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1,283</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2,596</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7,614</a:t>
                      </a:r>
                    </a:p>
                  </a:txBody>
                  <a:tcPr marL="9525" marR="9525" marT="9525" marB="0" anchor="ctr">
                    <a:lnL>
                      <a:noFill/>
                    </a:lnL>
                    <a:lnR>
                      <a:noFill/>
                    </a:lnR>
                    <a:lnT>
                      <a:noFill/>
                    </a:lnT>
                    <a:lnB>
                      <a:noFill/>
                    </a:lnB>
                    <a:noFill/>
                  </a:tcPr>
                </a:tc>
                <a:extLst>
                  <a:ext uri="{0D108BD9-81ED-4DB2-BD59-A6C34878D82A}">
                    <a16:rowId xmlns:a16="http://schemas.microsoft.com/office/drawing/2014/main" val="3265448641"/>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サイト流入数（LINEから）</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268</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543</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1,647</a:t>
                      </a:r>
                    </a:p>
                  </a:txBody>
                  <a:tcPr marL="9525" marR="9525" marT="9525" marB="0" anchor="ctr">
                    <a:lnL>
                      <a:noFill/>
                    </a:lnL>
                    <a:lnR>
                      <a:noFill/>
                    </a:lnR>
                    <a:lnT>
                      <a:noFill/>
                    </a:lnT>
                    <a:lnB>
                      <a:noFill/>
                    </a:lnB>
                    <a:noFill/>
                  </a:tcPr>
                </a:tc>
                <a:extLst>
                  <a:ext uri="{0D108BD9-81ED-4DB2-BD59-A6C34878D82A}">
                    <a16:rowId xmlns:a16="http://schemas.microsoft.com/office/drawing/2014/main" val="1378810033"/>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想定CPC（LINEOA施策）※成果の場合</a:t>
                      </a:r>
                    </a:p>
                  </a:txBody>
                  <a:tcPr marL="7144" marR="7144" marT="7144" marB="0" anchor="ctr">
                    <a:lnL>
                      <a:noFill/>
                    </a:lnL>
                    <a:lnR>
                      <a:noFill/>
                    </a:lnR>
                    <a:lnT>
                      <a:noFill/>
                    </a:lnT>
                    <a:lnB>
                      <a:noFill/>
                    </a:lnB>
                    <a:solidFill>
                      <a:srgbClr val="F2F2F2"/>
                    </a:solidFill>
                  </a:tcPr>
                </a:tc>
                <a:tc>
                  <a:txBody>
                    <a:bodyPr/>
                    <a:lstStyle/>
                    <a:p>
                      <a:pPr algn="l"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¥246</a:t>
                      </a:r>
                    </a:p>
                  </a:txBody>
                  <a:tcPr marL="9525" marR="9525" marT="9525"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¥147</a:t>
                      </a:r>
                    </a:p>
                  </a:txBody>
                  <a:tcPr marL="9525" marR="9525" marT="9525"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¥138</a:t>
                      </a:r>
                    </a:p>
                  </a:txBody>
                  <a:tcPr marL="9525" marR="9525" marT="9525" marB="0" anchor="ctr">
                    <a:lnL>
                      <a:noFill/>
                    </a:lnL>
                    <a:lnR>
                      <a:noFill/>
                    </a:lnR>
                    <a:lnT>
                      <a:noFill/>
                    </a:lnT>
                    <a:lnB>
                      <a:noFill/>
                    </a:lnB>
                    <a:solidFill>
                      <a:srgbClr val="F2F2F2"/>
                    </a:solidFill>
                  </a:tcPr>
                </a:tc>
                <a:extLst>
                  <a:ext uri="{0D108BD9-81ED-4DB2-BD59-A6C34878D82A}">
                    <a16:rowId xmlns:a16="http://schemas.microsoft.com/office/drawing/2014/main" val="1291118165"/>
                  </a:ext>
                </a:extLst>
              </a:tr>
              <a:tr h="191610">
                <a:tc>
                  <a:txBody>
                    <a:bodyPr/>
                    <a:lstStyle/>
                    <a:p>
                      <a:pPr algn="l" fontAlgn="ctr">
                        <a:buNone/>
                      </a:pPr>
                      <a:r>
                        <a:rPr lang="ja-JP" sz="1000" b="1" i="0" u="none" strike="noStrike">
                          <a:solidFill>
                            <a:srgbClr val="FF0000"/>
                          </a:solidFill>
                          <a:effectLst/>
                          <a:latin typeface="メイリオ" panose="020B0604030504040204" pitchFamily="50" charset="-128"/>
                          <a:ea typeface="メイリオ" panose="020B0604030504040204" pitchFamily="50" charset="-128"/>
                        </a:rPr>
                        <a:t>想定CPC（LINEOA施策）※固定の場合</a:t>
                      </a:r>
                    </a:p>
                  </a:txBody>
                  <a:tcPr marL="7144" marR="7144" marT="7144" marB="0" anchor="ctr">
                    <a:lnL>
                      <a:noFill/>
                    </a:lnL>
                    <a:lnR>
                      <a:noFill/>
                    </a:lnR>
                    <a:lnT>
                      <a:noFill/>
                    </a:lnT>
                    <a:lnB>
                      <a:noFill/>
                    </a:lnB>
                    <a:solidFill>
                      <a:srgbClr val="FBE2D5"/>
                    </a:solidFill>
                  </a:tcPr>
                </a:tc>
                <a:tc>
                  <a:txBody>
                    <a:bodyPr/>
                    <a:lstStyle/>
                    <a:p>
                      <a:pPr algn="l"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¥745</a:t>
                      </a:r>
                    </a:p>
                  </a:txBody>
                  <a:tcPr marL="9525" marR="9525" marT="9525"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¥368</a:t>
                      </a:r>
                    </a:p>
                  </a:txBody>
                  <a:tcPr marL="9525" marR="9525" marT="9525"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¥121</a:t>
                      </a:r>
                    </a:p>
                  </a:txBody>
                  <a:tcPr marL="9525" marR="9525" marT="9525" marB="0" anchor="ctr">
                    <a:lnL>
                      <a:noFill/>
                    </a:lnL>
                    <a:lnR>
                      <a:noFill/>
                    </a:lnR>
                    <a:lnT>
                      <a:noFill/>
                    </a:lnT>
                    <a:lnB>
                      <a:noFill/>
                    </a:lnB>
                    <a:solidFill>
                      <a:srgbClr val="FBE2D5"/>
                    </a:solidFill>
                  </a:tcPr>
                </a:tc>
                <a:extLst>
                  <a:ext uri="{0D108BD9-81ED-4DB2-BD59-A6C34878D82A}">
                    <a16:rowId xmlns:a16="http://schemas.microsoft.com/office/drawing/2014/main" val="1914658659"/>
                  </a:ext>
                </a:extLst>
              </a:tr>
              <a:tr h="191610">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extLst>
                  <a:ext uri="{0D108BD9-81ED-4DB2-BD59-A6C34878D82A}">
                    <a16:rowId xmlns:a16="http://schemas.microsoft.com/office/drawing/2014/main" val="478722221"/>
                  </a:ext>
                </a:extLst>
              </a:tr>
              <a:tr h="191610">
                <a:tc>
                  <a:txBody>
                    <a:bodyPr/>
                    <a:lstStyle/>
                    <a:p>
                      <a:pPr algn="l" fontAlgn="ctr">
                        <a:buNone/>
                      </a:pPr>
                      <a:r>
                        <a:rPr lang="ja-JP" sz="1000" b="1" i="0" u="none" strike="noStrike" dirty="0">
                          <a:solidFill>
                            <a:srgbClr val="000000"/>
                          </a:solidFill>
                          <a:effectLst/>
                          <a:latin typeface="メイリオ" panose="020B0604030504040204" pitchFamily="50" charset="-128"/>
                          <a:ea typeface="メイリオ" panose="020B0604030504040204" pitchFamily="50" charset="-128"/>
                        </a:rPr>
                        <a:t>CV数（+LINEOA施策）</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24</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37</a:t>
                      </a:r>
                    </a:p>
                  </a:txBody>
                  <a:tcPr marL="9525" marR="9525" marT="9525" marB="0" anchor="ctr">
                    <a:lnL>
                      <a:noFill/>
                    </a:lnL>
                    <a:lnR>
                      <a:noFill/>
                    </a:lnR>
                    <a:lnT>
                      <a:noFill/>
                    </a:lnT>
                    <a:lnB>
                      <a:noFill/>
                    </a:lnB>
                    <a:noFill/>
                  </a:tcPr>
                </a:tc>
                <a:tc>
                  <a:txBody>
                    <a:bodyPr/>
                    <a:lstStyle/>
                    <a:p>
                      <a:pPr algn="r" fontAlgn="ctr">
                        <a:buNone/>
                      </a:pPr>
                      <a:r>
                        <a:rPr lang="ja-JP" sz="1000" b="0" i="0" u="none" strike="noStrike" dirty="0">
                          <a:solidFill>
                            <a:srgbClr val="000000"/>
                          </a:solidFill>
                          <a:effectLst/>
                          <a:latin typeface="メイリオ" panose="020B0604030504040204" pitchFamily="50" charset="-128"/>
                          <a:ea typeface="メイリオ" panose="020B0604030504040204" pitchFamily="50" charset="-128"/>
                        </a:rPr>
                        <a:t>105</a:t>
                      </a:r>
                    </a:p>
                  </a:txBody>
                  <a:tcPr marL="9525" marR="9525" marT="9525" marB="0" anchor="ctr">
                    <a:lnL>
                      <a:noFill/>
                    </a:lnL>
                    <a:lnR>
                      <a:noFill/>
                    </a:lnR>
                    <a:lnT>
                      <a:noFill/>
                    </a:lnT>
                    <a:lnB>
                      <a:noFill/>
                    </a:lnB>
                    <a:noFill/>
                  </a:tcPr>
                </a:tc>
                <a:extLst>
                  <a:ext uri="{0D108BD9-81ED-4DB2-BD59-A6C34878D82A}">
                    <a16:rowId xmlns:a16="http://schemas.microsoft.com/office/drawing/2014/main" val="1794666260"/>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OA施策CV_内訳①_新規CV1</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13</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20</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57</a:t>
                      </a:r>
                    </a:p>
                  </a:txBody>
                  <a:tcPr marL="9525" marR="9525" marT="9525" marB="0" anchor="ctr">
                    <a:lnL>
                      <a:noFill/>
                    </a:lnL>
                    <a:lnR>
                      <a:noFill/>
                    </a:lnR>
                    <a:lnT>
                      <a:noFill/>
                    </a:lnT>
                    <a:lnB>
                      <a:noFill/>
                    </a:lnB>
                    <a:noFill/>
                  </a:tcPr>
                </a:tc>
                <a:extLst>
                  <a:ext uri="{0D108BD9-81ED-4DB2-BD59-A6C34878D82A}">
                    <a16:rowId xmlns:a16="http://schemas.microsoft.com/office/drawing/2014/main" val="1017423879"/>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OA施策CV_内訳②_新規CV2</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11</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17</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48</a:t>
                      </a:r>
                    </a:p>
                  </a:txBody>
                  <a:tcPr marL="9525" marR="9525" marT="9525" marB="0" anchor="ctr">
                    <a:lnL>
                      <a:noFill/>
                    </a:lnL>
                    <a:lnR>
                      <a:noFill/>
                    </a:lnR>
                    <a:lnT>
                      <a:noFill/>
                    </a:lnT>
                    <a:lnB>
                      <a:noFill/>
                    </a:lnB>
                    <a:noFill/>
                  </a:tcPr>
                </a:tc>
                <a:extLst>
                  <a:ext uri="{0D108BD9-81ED-4DB2-BD59-A6C34878D82A}">
                    <a16:rowId xmlns:a16="http://schemas.microsoft.com/office/drawing/2014/main" val="1722349999"/>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OA施策CV_内訳③_リピCV3</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a:noFill/>
                    </a:lnL>
                    <a:lnR>
                      <a:noFill/>
                    </a:lnR>
                    <a:lnT>
                      <a:noFill/>
                    </a:lnT>
                    <a:lnB>
                      <a:noFill/>
                    </a:lnB>
                    <a:noFill/>
                  </a:tcPr>
                </a:tc>
                <a:extLst>
                  <a:ext uri="{0D108BD9-81ED-4DB2-BD59-A6C34878D82A}">
                    <a16:rowId xmlns:a16="http://schemas.microsoft.com/office/drawing/2014/main" val="2577139335"/>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OA施策CV_内訳④_リピCV4</a:t>
                      </a: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7144" marR="7144" marT="7144"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0</a:t>
                      </a:r>
                    </a:p>
                  </a:txBody>
                  <a:tcPr marL="9525" marR="9525" marT="9525" marB="0" anchor="ctr">
                    <a:lnL>
                      <a:noFill/>
                    </a:lnL>
                    <a:lnR>
                      <a:noFill/>
                    </a:lnR>
                    <a:lnT>
                      <a:noFill/>
                    </a:lnT>
                    <a:lnB>
                      <a:noFill/>
                    </a:lnB>
                    <a:noFill/>
                  </a:tcPr>
                </a:tc>
                <a:extLst>
                  <a:ext uri="{0D108BD9-81ED-4DB2-BD59-A6C34878D82A}">
                    <a16:rowId xmlns:a16="http://schemas.microsoft.com/office/drawing/2014/main" val="3209536578"/>
                  </a:ext>
                </a:extLst>
              </a:tr>
              <a:tr h="191610">
                <a:tc>
                  <a:txBody>
                    <a:bodyPr/>
                    <a:lstStyle/>
                    <a:p>
                      <a:pPr algn="l" fontAlgn="ctr">
                        <a:buNone/>
                      </a:pPr>
                      <a:endParaRPr lang="ja-JP" sz="1000" b="1"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7144" marR="7144" marT="7144"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tc>
                  <a:txBody>
                    <a:bodyPr/>
                    <a:lstStyle/>
                    <a:p>
                      <a:pPr algn="l" fontAlgn="ctr">
                        <a:buNone/>
                      </a:pPr>
                      <a:endParaRPr lang="ja-JP" sz="1000" b="0" i="0" u="none" strike="noStrike">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a:noFill/>
                    </a:lnL>
                    <a:lnR>
                      <a:noFill/>
                    </a:lnR>
                    <a:lnT>
                      <a:noFill/>
                    </a:lnT>
                    <a:lnB>
                      <a:noFill/>
                    </a:lnB>
                    <a:noFill/>
                  </a:tcPr>
                </a:tc>
                <a:extLst>
                  <a:ext uri="{0D108BD9-81ED-4DB2-BD59-A6C34878D82A}">
                    <a16:rowId xmlns:a16="http://schemas.microsoft.com/office/drawing/2014/main" val="931704192"/>
                  </a:ext>
                </a:extLst>
              </a:tr>
              <a:tr h="191610">
                <a:tc>
                  <a:txBody>
                    <a:bodyPr/>
                    <a:lstStyle/>
                    <a:p>
                      <a:pPr algn="l" fontAlgn="ctr">
                        <a:buNone/>
                      </a:pPr>
                      <a:r>
                        <a:rPr lang="ja-JP" sz="1000" b="1" i="0" u="none" strike="noStrike">
                          <a:solidFill>
                            <a:srgbClr val="000000"/>
                          </a:solidFill>
                          <a:effectLst/>
                          <a:latin typeface="メイリオ" panose="020B0604030504040204" pitchFamily="50" charset="-128"/>
                          <a:ea typeface="メイリオ" panose="020B0604030504040204" pitchFamily="50" charset="-128"/>
                        </a:rPr>
                        <a:t>成果報酬プラン_CPA（単純計算）</a:t>
                      </a:r>
                    </a:p>
                  </a:txBody>
                  <a:tcPr marL="7144" marR="7144" marT="7144" marB="0" anchor="ctr">
                    <a:lnL>
                      <a:noFill/>
                    </a:lnL>
                    <a:lnR>
                      <a:noFill/>
                    </a:lnR>
                    <a:lnT>
                      <a:noFill/>
                    </a:lnT>
                    <a:lnB>
                      <a:noFill/>
                    </a:lnB>
                    <a:solidFill>
                      <a:srgbClr val="F2F2F2"/>
                    </a:solidFill>
                  </a:tcPr>
                </a:tc>
                <a:tc>
                  <a:txBody>
                    <a:bodyPr/>
                    <a:lstStyle/>
                    <a:p>
                      <a:pPr algn="l"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a:t>
                      </a:r>
                    </a:p>
                  </a:txBody>
                  <a:tcPr marL="7144" marR="7144" marT="7144"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¥2,744</a:t>
                      </a:r>
                    </a:p>
                  </a:txBody>
                  <a:tcPr marL="9525" marR="9525" marT="9525"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¥2,162</a:t>
                      </a:r>
                    </a:p>
                  </a:txBody>
                  <a:tcPr marL="9525" marR="9525" marT="9525" marB="0" anchor="ctr">
                    <a:lnL>
                      <a:noFill/>
                    </a:lnL>
                    <a:lnR>
                      <a:noFill/>
                    </a:lnR>
                    <a:lnT>
                      <a:noFill/>
                    </a:lnT>
                    <a:lnB>
                      <a:noFill/>
                    </a:lnB>
                    <a:solidFill>
                      <a:srgbClr val="F2F2F2"/>
                    </a:solidFill>
                  </a:tcPr>
                </a:tc>
                <a:tc>
                  <a:txBody>
                    <a:bodyPr/>
                    <a:lstStyle/>
                    <a:p>
                      <a:pPr algn="r" fontAlgn="ctr">
                        <a:buNone/>
                      </a:pPr>
                      <a:r>
                        <a:rPr lang="ja-JP" sz="1000" b="0" i="0" u="none" strike="noStrike">
                          <a:solidFill>
                            <a:srgbClr val="000000"/>
                          </a:solidFill>
                          <a:effectLst/>
                          <a:latin typeface="メイリオ" panose="020B0604030504040204" pitchFamily="50" charset="-128"/>
                          <a:ea typeface="メイリオ" panose="020B0604030504040204" pitchFamily="50" charset="-128"/>
                        </a:rPr>
                        <a:t>¥2,054</a:t>
                      </a:r>
                    </a:p>
                  </a:txBody>
                  <a:tcPr marL="9525" marR="9525" marT="9525" marB="0" anchor="ctr">
                    <a:lnL>
                      <a:noFill/>
                    </a:lnL>
                    <a:lnR>
                      <a:noFill/>
                    </a:lnR>
                    <a:lnT>
                      <a:noFill/>
                    </a:lnT>
                    <a:lnB>
                      <a:noFill/>
                    </a:lnB>
                    <a:solidFill>
                      <a:srgbClr val="F2F2F2"/>
                    </a:solidFill>
                  </a:tcPr>
                </a:tc>
                <a:extLst>
                  <a:ext uri="{0D108BD9-81ED-4DB2-BD59-A6C34878D82A}">
                    <a16:rowId xmlns:a16="http://schemas.microsoft.com/office/drawing/2014/main" val="1869847085"/>
                  </a:ext>
                </a:extLst>
              </a:tr>
              <a:tr h="191610">
                <a:tc>
                  <a:txBody>
                    <a:bodyPr/>
                    <a:lstStyle/>
                    <a:p>
                      <a:pPr algn="l" fontAlgn="ctr">
                        <a:buNone/>
                      </a:pPr>
                      <a:r>
                        <a:rPr lang="ja-JP" sz="1000" b="1" i="0" u="none" strike="noStrike">
                          <a:solidFill>
                            <a:srgbClr val="FF0000"/>
                          </a:solidFill>
                          <a:effectLst/>
                          <a:latin typeface="メイリオ" panose="020B0604030504040204" pitchFamily="50" charset="-128"/>
                          <a:ea typeface="メイリオ" panose="020B0604030504040204" pitchFamily="50" charset="-128"/>
                        </a:rPr>
                        <a:t>固定費プラン_CPA（単純計算）</a:t>
                      </a:r>
                    </a:p>
                  </a:txBody>
                  <a:tcPr marL="7144" marR="7144" marT="7144" marB="0" anchor="ctr">
                    <a:lnL>
                      <a:noFill/>
                    </a:lnL>
                    <a:lnR>
                      <a:noFill/>
                    </a:lnR>
                    <a:lnT>
                      <a:noFill/>
                    </a:lnT>
                    <a:lnB>
                      <a:noFill/>
                    </a:lnB>
                    <a:solidFill>
                      <a:srgbClr val="FBE2D5"/>
                    </a:solidFill>
                  </a:tcPr>
                </a:tc>
                <a:tc>
                  <a:txBody>
                    <a:bodyPr/>
                    <a:lstStyle/>
                    <a:p>
                      <a:pPr algn="l"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　</a:t>
                      </a:r>
                    </a:p>
                  </a:txBody>
                  <a:tcPr marL="7144" marR="7144" marT="7144"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a:t>
                      </a:r>
                    </a:p>
                  </a:txBody>
                  <a:tcPr marL="7144" marR="7144" marT="7144"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¥8,316</a:t>
                      </a:r>
                    </a:p>
                  </a:txBody>
                  <a:tcPr marL="9525" marR="9525" marT="9525" marB="0" anchor="ctr">
                    <a:lnL>
                      <a:noFill/>
                    </a:lnL>
                    <a:lnR>
                      <a:noFill/>
                    </a:lnR>
                    <a:lnT>
                      <a:noFill/>
                    </a:lnT>
                    <a:lnB>
                      <a:noFill/>
                    </a:lnB>
                    <a:solidFill>
                      <a:srgbClr val="FBE2D5"/>
                    </a:solidFill>
                  </a:tcPr>
                </a:tc>
                <a:tc>
                  <a:txBody>
                    <a:bodyPr/>
                    <a:lstStyle/>
                    <a:p>
                      <a:pPr algn="r" fontAlgn="ctr">
                        <a:buNone/>
                      </a:pPr>
                      <a:r>
                        <a:rPr lang="ja-JP" sz="1000" b="0" i="0" u="none" strike="noStrike">
                          <a:solidFill>
                            <a:srgbClr val="FF0000"/>
                          </a:solidFill>
                          <a:effectLst/>
                          <a:latin typeface="メイリオ" panose="020B0604030504040204" pitchFamily="50" charset="-128"/>
                          <a:ea typeface="メイリオ" panose="020B0604030504040204" pitchFamily="50" charset="-128"/>
                        </a:rPr>
                        <a:t>¥5,405</a:t>
                      </a:r>
                    </a:p>
                  </a:txBody>
                  <a:tcPr marL="9525" marR="9525" marT="9525" marB="0" anchor="ctr">
                    <a:lnL>
                      <a:noFill/>
                    </a:lnL>
                    <a:lnR>
                      <a:noFill/>
                    </a:lnR>
                    <a:lnT>
                      <a:noFill/>
                    </a:lnT>
                    <a:lnB>
                      <a:noFill/>
                    </a:lnB>
                    <a:solidFill>
                      <a:srgbClr val="FBE2D5"/>
                    </a:solidFill>
                  </a:tcPr>
                </a:tc>
                <a:tc>
                  <a:txBody>
                    <a:bodyPr/>
                    <a:lstStyle/>
                    <a:p>
                      <a:pPr algn="r" fontAlgn="ctr">
                        <a:buNone/>
                      </a:pPr>
                      <a:r>
                        <a:rPr lang="ja-JP" sz="1000" b="0" i="0" u="none" strike="noStrike" dirty="0">
                          <a:solidFill>
                            <a:srgbClr val="FF0000"/>
                          </a:solidFill>
                          <a:effectLst/>
                          <a:latin typeface="メイリオ" panose="020B0604030504040204" pitchFamily="50" charset="-128"/>
                          <a:ea typeface="メイリオ" panose="020B0604030504040204" pitchFamily="50" charset="-128"/>
                        </a:rPr>
                        <a:t>¥1,899</a:t>
                      </a:r>
                    </a:p>
                  </a:txBody>
                  <a:tcPr marL="9525" marR="9525" marT="9525" marB="0" anchor="ctr">
                    <a:lnL>
                      <a:noFill/>
                    </a:lnL>
                    <a:lnR>
                      <a:noFill/>
                    </a:lnR>
                    <a:lnT>
                      <a:noFill/>
                    </a:lnT>
                    <a:lnB>
                      <a:noFill/>
                    </a:lnB>
                    <a:solidFill>
                      <a:srgbClr val="FBE2D5"/>
                    </a:solidFill>
                  </a:tcPr>
                </a:tc>
                <a:extLst>
                  <a:ext uri="{0D108BD9-81ED-4DB2-BD59-A6C34878D82A}">
                    <a16:rowId xmlns:a16="http://schemas.microsoft.com/office/drawing/2014/main" val="4061060014"/>
                  </a:ext>
                </a:extLst>
              </a:tr>
            </a:tbl>
          </a:graphicData>
        </a:graphic>
      </p:graphicFrame>
    </p:spTree>
    <p:extLst>
      <p:ext uri="{BB962C8B-B14F-4D97-AF65-F5344CB8AC3E}">
        <p14:creationId xmlns:p14="http://schemas.microsoft.com/office/powerpoint/2010/main" val="3777747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336A2-8784-2D8C-0529-B9F6CBCD4BA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8304695B-CED6-280A-C9E8-FF0D104372B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9528F121-0A71-831A-9710-75A0B1FCC45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25E5C20-E030-FFC2-F77C-67F74501D669}"/>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C1886F63-768E-044F-FD58-2B1DB0D2E7ED}"/>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3025FD07-E097-AA2D-FF16-4842F9BA34DF}"/>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A94F5577-6681-D462-3C2E-DF55975C8B17}"/>
              </a:ext>
            </a:extLst>
          </p:cNvPr>
          <p:cNvSpPr txBox="1"/>
          <p:nvPr/>
        </p:nvSpPr>
        <p:spPr>
          <a:xfrm>
            <a:off x="340483" y="1841871"/>
            <a:ext cx="7512113" cy="369332"/>
          </a:xfrm>
          <a:prstGeom prst="rect">
            <a:avLst/>
          </a:prstGeom>
          <a:noFill/>
        </p:spPr>
        <p:txBody>
          <a:bodyPr wrap="square">
            <a:spAutoFit/>
          </a:bodyPr>
          <a:lstStyle/>
          <a:p>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α )) </a:t>
            </a:r>
            <a:r>
              <a:rPr lang="ja-JP" altLang="en-US" b="1" dirty="0">
                <a:latin typeface="メイリオ" panose="020B0604030504040204" pitchFamily="50" charset="-128"/>
                <a:ea typeface="メイリオ" panose="020B0604030504040204" pitchFamily="50" charset="-128"/>
              </a:rPr>
              <a:t>サンクス</a:t>
            </a:r>
            <a:r>
              <a:rPr lang="en-US" altLang="ja-JP" b="1" dirty="0">
                <a:latin typeface="メイリオ" panose="020B0604030504040204" pitchFamily="50" charset="-128"/>
                <a:ea typeface="メイリオ" panose="020B0604030504040204" pitchFamily="50" charset="-128"/>
              </a:rPr>
              <a:t>LINE</a:t>
            </a:r>
            <a:r>
              <a:rPr lang="ja-JP" altLang="en-US" b="1" dirty="0">
                <a:latin typeface="メイリオ" panose="020B0604030504040204" pitchFamily="50" charset="-128"/>
                <a:ea typeface="メイリオ" panose="020B0604030504040204" pitchFamily="50" charset="-128"/>
              </a:rPr>
              <a:t>誘導の導入</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DEBA0659-65E9-7AB0-2213-0DD79286FF23}"/>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F65EFC01-8193-F4F5-6AF5-673FF8825864}"/>
              </a:ext>
            </a:extLst>
          </p:cNvPr>
          <p:cNvSpPr/>
          <p:nvPr/>
        </p:nvSpPr>
        <p:spPr>
          <a:xfrm>
            <a:off x="702644" y="2628255"/>
            <a:ext cx="1148168" cy="110554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初期</a:t>
            </a:r>
            <a:endParaRPr kumimoji="1" lang="ja-JP" altLang="en-US" sz="1400" b="1" dirty="0">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743D470A-5E47-5050-621A-4B724FF8FD77}"/>
              </a:ext>
            </a:extLst>
          </p:cNvPr>
          <p:cNvSpPr/>
          <p:nvPr/>
        </p:nvSpPr>
        <p:spPr>
          <a:xfrm>
            <a:off x="1898997" y="2628255"/>
            <a:ext cx="3522974" cy="11055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15</a:t>
            </a:r>
            <a:r>
              <a:rPr lang="ja-JP" altLang="en-US" sz="2000" b="1" dirty="0">
                <a:solidFill>
                  <a:schemeClr val="tx1"/>
                </a:solidFill>
                <a:latin typeface="メイリオ" panose="020B0604030504040204" pitchFamily="50" charset="-128"/>
                <a:ea typeface="メイリオ" panose="020B0604030504040204" pitchFamily="50" charset="-128"/>
              </a:rPr>
              <a:t>万円 </a:t>
            </a:r>
            <a:r>
              <a:rPr lang="en-US" altLang="ja-JP" sz="2000" b="1" dirty="0">
                <a:solidFill>
                  <a:schemeClr val="tx1"/>
                </a:solidFill>
                <a:latin typeface="メイリオ" panose="020B0604030504040204" pitchFamily="50" charset="-128"/>
                <a:ea typeface="メイリオ" panose="020B0604030504040204" pitchFamily="50" charset="-128"/>
              </a:rPr>
              <a:t>/ </a:t>
            </a:r>
            <a:r>
              <a:rPr lang="ja-JP" altLang="en-US" sz="2000" b="1" dirty="0">
                <a:solidFill>
                  <a:schemeClr val="tx1"/>
                </a:solidFill>
                <a:latin typeface="メイリオ" panose="020B0604030504040204" pitchFamily="50" charset="-128"/>
                <a:ea typeface="メイリオ" panose="020B0604030504040204" pitchFamily="50" charset="-128"/>
              </a:rPr>
              <a:t>構築</a:t>
            </a:r>
          </a:p>
        </p:txBody>
      </p:sp>
      <p:sp>
        <p:nvSpPr>
          <p:cNvPr id="13" name="四角形: 角を丸くする 12">
            <a:extLst>
              <a:ext uri="{FF2B5EF4-FFF2-40B4-BE49-F238E27FC236}">
                <a16:creationId xmlns:a16="http://schemas.microsoft.com/office/drawing/2014/main" id="{292BF600-D5C0-50AB-0118-7A56FA78ED02}"/>
              </a:ext>
            </a:extLst>
          </p:cNvPr>
          <p:cNvSpPr/>
          <p:nvPr/>
        </p:nvSpPr>
        <p:spPr>
          <a:xfrm>
            <a:off x="702644" y="3866505"/>
            <a:ext cx="1148168" cy="134582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月額</a:t>
            </a:r>
            <a:endParaRPr kumimoji="1" lang="ja-JP" altLang="en-US" sz="1400" b="1" dirty="0">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CB44EAAC-36F5-E84B-28AA-6508736EC544}"/>
              </a:ext>
            </a:extLst>
          </p:cNvPr>
          <p:cNvSpPr/>
          <p:nvPr/>
        </p:nvSpPr>
        <p:spPr>
          <a:xfrm>
            <a:off x="1898997" y="3866505"/>
            <a:ext cx="3522974" cy="1345826"/>
          </a:xfrm>
          <a:prstGeom prst="roundRect">
            <a:avLst>
              <a:gd name="adj" fmla="val 1289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２万円</a:t>
            </a:r>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各ブランド別</a:t>
            </a:r>
            <a:endParaRPr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26E0FF2E-6C33-240C-EAC8-443BA1CF07DE}"/>
              </a:ext>
            </a:extLst>
          </p:cNvPr>
          <p:cNvSpPr txBox="1"/>
          <p:nvPr/>
        </p:nvSpPr>
        <p:spPr>
          <a:xfrm>
            <a:off x="7882144" y="726432"/>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
        <p:nvSpPr>
          <p:cNvPr id="14" name="テキスト ボックス 13">
            <a:extLst>
              <a:ext uri="{FF2B5EF4-FFF2-40B4-BE49-F238E27FC236}">
                <a16:creationId xmlns:a16="http://schemas.microsoft.com/office/drawing/2014/main" id="{2E9037EA-6BBF-ABF5-15F9-33CF0E1AB08A}"/>
              </a:ext>
            </a:extLst>
          </p:cNvPr>
          <p:cNvSpPr txBox="1"/>
          <p:nvPr/>
        </p:nvSpPr>
        <p:spPr>
          <a:xfrm>
            <a:off x="7882144" y="117201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sp>
        <p:nvSpPr>
          <p:cNvPr id="12" name="正方形/長方形 11">
            <a:extLst>
              <a:ext uri="{FF2B5EF4-FFF2-40B4-BE49-F238E27FC236}">
                <a16:creationId xmlns:a16="http://schemas.microsoft.com/office/drawing/2014/main" id="{1D43D368-9CFD-D2F8-DA8B-5480F02CCE16}"/>
              </a:ext>
            </a:extLst>
          </p:cNvPr>
          <p:cNvSpPr/>
          <p:nvPr/>
        </p:nvSpPr>
        <p:spPr>
          <a:xfrm>
            <a:off x="3716" y="587778"/>
            <a:ext cx="9919682" cy="5914977"/>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0000"/>
                </a:solidFill>
              </a:rPr>
              <a:t>※</a:t>
            </a:r>
            <a:r>
              <a:rPr kumimoji="1" lang="ja-JP" altLang="en-US" dirty="0">
                <a:solidFill>
                  <a:srgbClr val="FF0000"/>
                </a:solidFill>
              </a:rPr>
              <a:t>あくまでもオプションのプランとなります。</a:t>
            </a:r>
          </a:p>
        </p:txBody>
      </p:sp>
    </p:spTree>
    <p:extLst>
      <p:ext uri="{BB962C8B-B14F-4D97-AF65-F5344CB8AC3E}">
        <p14:creationId xmlns:p14="http://schemas.microsoft.com/office/powerpoint/2010/main" val="1519308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F822-9319-959F-8457-65C34BC5A4D8}"/>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57C6C32-935F-2720-F3C6-8583AD03DC7E}"/>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C2ACEFC-E2B0-E589-0FF1-DDCBFBD6FD90}"/>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B3E5E43-4F92-84B5-35F9-B4B5BE05E74C}"/>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9B8DB693-28BE-EFE0-04C1-A3393C1F96E7}"/>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BF07861C-736B-2B03-91DF-278D5274ECDC}"/>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41DB869A-3F7D-A24A-0AAC-EF9B136C9952}"/>
              </a:ext>
            </a:extLst>
          </p:cNvPr>
          <p:cNvSpPr txBox="1"/>
          <p:nvPr/>
        </p:nvSpPr>
        <p:spPr>
          <a:xfrm>
            <a:off x="340483" y="1841871"/>
            <a:ext cx="7512113" cy="369332"/>
          </a:xfrm>
          <a:prstGeom prst="rect">
            <a:avLst/>
          </a:prstGeom>
          <a:noFill/>
        </p:spPr>
        <p:txBody>
          <a:bodyPr wrap="square">
            <a:spAutoFit/>
          </a:bodyPr>
          <a:lstStyle/>
          <a:p>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α )) </a:t>
            </a:r>
            <a:r>
              <a:rPr lang="ja-JP" altLang="en-US" b="1" dirty="0">
                <a:latin typeface="メイリオ" panose="020B0604030504040204" pitchFamily="50" charset="-128"/>
                <a:ea typeface="メイリオ" panose="020B0604030504040204" pitchFamily="50" charset="-128"/>
              </a:rPr>
              <a:t>サンクス</a:t>
            </a:r>
            <a:r>
              <a:rPr lang="en-US" altLang="ja-JP" b="1" dirty="0">
                <a:latin typeface="メイリオ" panose="020B0604030504040204" pitchFamily="50" charset="-128"/>
                <a:ea typeface="メイリオ" panose="020B0604030504040204" pitchFamily="50" charset="-128"/>
              </a:rPr>
              <a:t>LINE</a:t>
            </a:r>
            <a:r>
              <a:rPr lang="ja-JP" altLang="en-US" b="1" dirty="0">
                <a:latin typeface="メイリオ" panose="020B0604030504040204" pitchFamily="50" charset="-128"/>
                <a:ea typeface="メイリオ" panose="020B0604030504040204" pitchFamily="50" charset="-128"/>
              </a:rPr>
              <a:t>誘導の導入</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59021610-9EB4-6A07-A7B5-BC6A839F1A4C}"/>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E591E04D-7BA5-D2F6-A085-C74112DC0DA1}"/>
              </a:ext>
            </a:extLst>
          </p:cNvPr>
          <p:cNvSpPr txBox="1"/>
          <p:nvPr/>
        </p:nvSpPr>
        <p:spPr>
          <a:xfrm>
            <a:off x="7882144" y="726432"/>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
        <p:nvSpPr>
          <p:cNvPr id="14" name="テキスト ボックス 13">
            <a:extLst>
              <a:ext uri="{FF2B5EF4-FFF2-40B4-BE49-F238E27FC236}">
                <a16:creationId xmlns:a16="http://schemas.microsoft.com/office/drawing/2014/main" id="{480CCF15-F287-0BEB-8B0B-E5B5A1BC8F2E}"/>
              </a:ext>
            </a:extLst>
          </p:cNvPr>
          <p:cNvSpPr txBox="1"/>
          <p:nvPr/>
        </p:nvSpPr>
        <p:spPr>
          <a:xfrm>
            <a:off x="7882144" y="117201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graphicFrame>
        <p:nvGraphicFramePr>
          <p:cNvPr id="12" name="表 11">
            <a:extLst>
              <a:ext uri="{FF2B5EF4-FFF2-40B4-BE49-F238E27FC236}">
                <a16:creationId xmlns:a16="http://schemas.microsoft.com/office/drawing/2014/main" id="{5220D970-7B71-84D1-1612-D42C0AEDE0CE}"/>
              </a:ext>
            </a:extLst>
          </p:cNvPr>
          <p:cNvGraphicFramePr>
            <a:graphicFrameLocks noGrp="1"/>
          </p:cNvGraphicFramePr>
          <p:nvPr>
            <p:extLst>
              <p:ext uri="{D42A27DB-BD31-4B8C-83A1-F6EECF244321}">
                <p14:modId xmlns:p14="http://schemas.microsoft.com/office/powerpoint/2010/main" val="327167387"/>
              </p:ext>
            </p:extLst>
          </p:nvPr>
        </p:nvGraphicFramePr>
        <p:xfrm>
          <a:off x="350146" y="2282628"/>
          <a:ext cx="8962530" cy="4187842"/>
        </p:xfrm>
        <a:graphic>
          <a:graphicData uri="http://schemas.openxmlformats.org/drawingml/2006/table">
            <a:tbl>
              <a:tblPr/>
              <a:tblGrid>
                <a:gridCol w="987811">
                  <a:extLst>
                    <a:ext uri="{9D8B030D-6E8A-4147-A177-3AD203B41FA5}">
                      <a16:colId xmlns:a16="http://schemas.microsoft.com/office/drawing/2014/main" val="2354549223"/>
                    </a:ext>
                  </a:extLst>
                </a:gridCol>
                <a:gridCol w="1491277">
                  <a:extLst>
                    <a:ext uri="{9D8B030D-6E8A-4147-A177-3AD203B41FA5}">
                      <a16:colId xmlns:a16="http://schemas.microsoft.com/office/drawing/2014/main" val="923638382"/>
                    </a:ext>
                  </a:extLst>
                </a:gridCol>
                <a:gridCol w="926206">
                  <a:extLst>
                    <a:ext uri="{9D8B030D-6E8A-4147-A177-3AD203B41FA5}">
                      <a16:colId xmlns:a16="http://schemas.microsoft.com/office/drawing/2014/main" val="713144323"/>
                    </a:ext>
                  </a:extLst>
                </a:gridCol>
                <a:gridCol w="926206">
                  <a:extLst>
                    <a:ext uri="{9D8B030D-6E8A-4147-A177-3AD203B41FA5}">
                      <a16:colId xmlns:a16="http://schemas.microsoft.com/office/drawing/2014/main" val="2782279933"/>
                    </a:ext>
                  </a:extLst>
                </a:gridCol>
                <a:gridCol w="926206">
                  <a:extLst>
                    <a:ext uri="{9D8B030D-6E8A-4147-A177-3AD203B41FA5}">
                      <a16:colId xmlns:a16="http://schemas.microsoft.com/office/drawing/2014/main" val="732245681"/>
                    </a:ext>
                  </a:extLst>
                </a:gridCol>
                <a:gridCol w="926206">
                  <a:extLst>
                    <a:ext uri="{9D8B030D-6E8A-4147-A177-3AD203B41FA5}">
                      <a16:colId xmlns:a16="http://schemas.microsoft.com/office/drawing/2014/main" val="2570037102"/>
                    </a:ext>
                  </a:extLst>
                </a:gridCol>
                <a:gridCol w="926206">
                  <a:extLst>
                    <a:ext uri="{9D8B030D-6E8A-4147-A177-3AD203B41FA5}">
                      <a16:colId xmlns:a16="http://schemas.microsoft.com/office/drawing/2014/main" val="4209819324"/>
                    </a:ext>
                  </a:extLst>
                </a:gridCol>
                <a:gridCol w="926206">
                  <a:extLst>
                    <a:ext uri="{9D8B030D-6E8A-4147-A177-3AD203B41FA5}">
                      <a16:colId xmlns:a16="http://schemas.microsoft.com/office/drawing/2014/main" val="1174716613"/>
                    </a:ext>
                  </a:extLst>
                </a:gridCol>
                <a:gridCol w="926206">
                  <a:extLst>
                    <a:ext uri="{9D8B030D-6E8A-4147-A177-3AD203B41FA5}">
                      <a16:colId xmlns:a16="http://schemas.microsoft.com/office/drawing/2014/main" val="672069462"/>
                    </a:ext>
                  </a:extLst>
                </a:gridCol>
              </a:tblGrid>
              <a:tr h="136679">
                <a:tc gridSpan="2">
                  <a:txBody>
                    <a:bodyPr/>
                    <a:lstStyle/>
                    <a:p>
                      <a:pPr algn="ctr" fontAlgn="ctr">
                        <a:buNone/>
                      </a:pPr>
                      <a:r>
                        <a:rPr lang="ja-JP" sz="700" b="1" i="0" u="none" strike="noStrike">
                          <a:solidFill>
                            <a:srgbClr val="FFFFFF"/>
                          </a:solidFill>
                          <a:effectLst/>
                          <a:latin typeface="メイリオ" panose="020B0604030504040204" pitchFamily="50" charset="-128"/>
                          <a:ea typeface="メイリオ" panose="020B0604030504040204" pitchFamily="50" charset="-128"/>
                        </a:rPr>
                        <a:t>項目</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p>
                  </a:txBody>
                  <a:tcPr/>
                </a:tc>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　※↓現状数値</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1</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2</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alt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3</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4</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5</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en-US" altLang="ja-JP" sz="700" b="1" i="0" u="none" strike="noStrike" dirty="0">
                          <a:solidFill>
                            <a:srgbClr val="FFFFFF"/>
                          </a:solidFill>
                          <a:effectLst/>
                          <a:latin typeface="メイリオ" panose="020B0604030504040204" pitchFamily="50" charset="-128"/>
                          <a:ea typeface="メイリオ" panose="020B0604030504040204" pitchFamily="50" charset="-128"/>
                        </a:rPr>
                        <a:t>6</a:t>
                      </a:r>
                      <a:r>
                        <a:rPr lang="ja-JP" altLang="en-US" sz="700" b="1" i="0" u="none" strike="noStrike" dirty="0">
                          <a:solidFill>
                            <a:srgbClr val="FFFFFF"/>
                          </a:solidFill>
                          <a:effectLst/>
                          <a:latin typeface="メイリオ" panose="020B0604030504040204" pitchFamily="50" charset="-128"/>
                          <a:ea typeface="メイリオ" panose="020B0604030504040204" pitchFamily="50" charset="-128"/>
                        </a:rPr>
                        <a:t>ヶ月目</a:t>
                      </a:r>
                      <a:endParaRPr lang="ja-JP" sz="700" b="1" i="0" u="none" strike="noStrike" dirty="0">
                        <a:solidFill>
                          <a:srgbClr val="FFFFFF"/>
                        </a:solidFill>
                        <a:effectLst/>
                        <a:latin typeface="メイリオ" panose="020B0604030504040204" pitchFamily="50" charset="-128"/>
                        <a:ea typeface="メイリオ" panose="020B0604030504040204"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733135402"/>
                  </a:ext>
                </a:extLst>
              </a:tr>
              <a:tr h="142146">
                <a:tc rowSpan="3">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WEBサイト</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UU全体</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203,500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3269914"/>
                  </a:ext>
                </a:extLst>
              </a:tr>
              <a:tr h="142146">
                <a:tc vMerge="1">
                  <a:txBody>
                    <a:bodyPr/>
                    <a:lstStyle/>
                    <a:p>
                      <a:endParaRPr kumimoji="1" lang="ja-JP" altLang="en-US"/>
                    </a:p>
                  </a:txBody>
                  <a:tcPr/>
                </a:tc>
                <a:tc>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UU(うち広告)</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37,000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7645742"/>
                  </a:ext>
                </a:extLst>
              </a:tr>
              <a:tr h="142146">
                <a:tc vMerge="1">
                  <a:txBody>
                    <a:bodyPr/>
                    <a:lstStyle/>
                    <a:p>
                      <a:endParaRPr kumimoji="1" lang="ja-JP" altLang="en-US"/>
                    </a:p>
                  </a:txBody>
                  <a:tcPr/>
                </a:tc>
                <a:tc>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CV（別施策）</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301800"/>
                  </a:ext>
                </a:extLst>
              </a:tr>
              <a:tr h="136679">
                <a:tc rowSpan="5">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施策</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700" b="0" i="0" u="none" strike="noStrike">
                          <a:solidFill>
                            <a:srgbClr val="A6A6A6"/>
                          </a:solidFill>
                          <a:effectLst/>
                          <a:latin typeface="メイリオ" panose="020B0604030504040204" pitchFamily="50" charset="-128"/>
                          <a:ea typeface="メイリオ" panose="020B0604030504040204" pitchFamily="50" charset="-128"/>
                        </a:rPr>
                        <a:t>CPF</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dirty="0">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0023643"/>
                  </a:ext>
                </a:extLst>
              </a:tr>
              <a:tr h="136679">
                <a:tc vMerge="1">
                  <a:txBody>
                    <a:bodyPr/>
                    <a:lstStyle/>
                    <a:p>
                      <a:endParaRPr kumimoji="1" lang="ja-JP" altLang="en-US"/>
                    </a:p>
                  </a:txBody>
                  <a:tcPr/>
                </a:tc>
                <a:tc>
                  <a:txBody>
                    <a:bodyPr/>
                    <a:lstStyle/>
                    <a:p>
                      <a:pPr algn="ctr" fontAlgn="ctr">
                        <a:buNone/>
                      </a:pPr>
                      <a:r>
                        <a:rPr lang="ja-JP" sz="700" b="0" i="0" u="none" strike="noStrike">
                          <a:solidFill>
                            <a:srgbClr val="A6A6A6"/>
                          </a:solidFill>
                          <a:effectLst/>
                          <a:latin typeface="メイリオ" panose="020B0604030504040204" pitchFamily="50" charset="-128"/>
                          <a:ea typeface="メイリオ" panose="020B0604030504040204" pitchFamily="50" charset="-128"/>
                        </a:rPr>
                        <a:t>離脱防止</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rPr>
                        <a:t>実施想定</a:t>
                      </a:r>
                      <a:endParaRPr lang="ja-JP" sz="8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1052553"/>
                  </a:ext>
                </a:extLst>
              </a:tr>
              <a:tr h="136679">
                <a:tc vMerge="1">
                  <a:txBody>
                    <a:bodyPr/>
                    <a:lstStyle/>
                    <a:p>
                      <a:endParaRPr kumimoji="1" lang="ja-JP" altLang="en-US"/>
                    </a:p>
                  </a:txBody>
                  <a:tcPr/>
                </a:tc>
                <a:tc>
                  <a:txBody>
                    <a:bodyPr/>
                    <a:lstStyle/>
                    <a:p>
                      <a:pPr algn="ctr" fontAlgn="ctr">
                        <a:buNone/>
                      </a:pPr>
                      <a:r>
                        <a:rPr lang="ja-JP" sz="700" b="0" i="0" u="none" strike="noStrike">
                          <a:solidFill>
                            <a:srgbClr val="A6A6A6"/>
                          </a:solidFill>
                          <a:effectLst/>
                          <a:latin typeface="メイリオ" panose="020B0604030504040204" pitchFamily="50" charset="-128"/>
                          <a:ea typeface="メイリオ" panose="020B0604030504040204" pitchFamily="50" charset="-128"/>
                        </a:rPr>
                        <a:t>サンクスLINE誘導</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rPr>
                        <a:t>実施想定</a:t>
                      </a:r>
                      <a:endParaRPr lang="ja-JP" sz="800" b="0" i="0" u="none" strike="noStrike" dirty="0">
                        <a:solidFill>
                          <a:srgbClr val="000000"/>
                        </a:solidFill>
                        <a:effectLst/>
                        <a:highlight>
                          <a:srgbClr val="FFFF00"/>
                        </a:highligh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游ゴシック" panose="020B0400000000000000" pitchFamily="50" charset="-128"/>
                          <a:cs typeface="+mn-cs"/>
                        </a:rPr>
                        <a:t>実施想定</a:t>
                      </a:r>
                      <a:endParaRPr lang="ja-JP" sz="800" b="0" i="0" u="none" strike="noStrike" dirty="0">
                        <a:solidFill>
                          <a:srgbClr val="000000"/>
                        </a:solidFill>
                        <a:effectLst/>
                        <a:latin typeface="Arial" panose="020B0604020202020204" pitchFamily="34" charset="0"/>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452656"/>
                  </a:ext>
                </a:extLst>
              </a:tr>
              <a:tr h="136679">
                <a:tc vMerge="1">
                  <a:txBody>
                    <a:bodyPr/>
                    <a:lstStyle/>
                    <a:p>
                      <a:endParaRPr kumimoji="1" lang="ja-JP" altLang="en-US"/>
                    </a:p>
                  </a:txBody>
                  <a:tcPr/>
                </a:tc>
                <a:tc>
                  <a:txBody>
                    <a:bodyPr/>
                    <a:lstStyle/>
                    <a:p>
                      <a:pPr algn="ctr" fontAlgn="ctr">
                        <a:buNone/>
                      </a:pPr>
                      <a:r>
                        <a:rPr lang="ja-JP" sz="700" b="0" i="0" u="none" strike="noStrike">
                          <a:solidFill>
                            <a:srgbClr val="A6A6A6"/>
                          </a:solidFill>
                          <a:effectLst/>
                          <a:latin typeface="メイリオ" panose="020B0604030504040204" pitchFamily="50" charset="-128"/>
                          <a:ea typeface="メイリオ" panose="020B0604030504040204" pitchFamily="50" charset="-128"/>
                        </a:rPr>
                        <a:t>通知メッセージ_CV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dirty="0">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511154"/>
                  </a:ext>
                </a:extLst>
              </a:tr>
              <a:tr h="136679">
                <a:tc vMerge="1">
                  <a:txBody>
                    <a:bodyPr/>
                    <a:lstStyle/>
                    <a:p>
                      <a:endParaRPr kumimoji="1" lang="ja-JP" altLang="en-US"/>
                    </a:p>
                  </a:txBody>
                  <a:tcPr/>
                </a:tc>
                <a:tc>
                  <a:txBody>
                    <a:bodyPr/>
                    <a:lstStyle/>
                    <a:p>
                      <a:pPr algn="ctr" fontAlgn="ctr">
                        <a:buNone/>
                      </a:pPr>
                      <a:r>
                        <a:rPr lang="ja-JP" sz="700" b="0" i="0" u="none" strike="noStrike">
                          <a:solidFill>
                            <a:srgbClr val="A6A6A6"/>
                          </a:solidFill>
                          <a:effectLst/>
                          <a:latin typeface="メイリオ" panose="020B0604030504040204" pitchFamily="50" charset="-128"/>
                          <a:ea typeface="メイリオ" panose="020B0604030504040204" pitchFamily="50" charset="-128"/>
                        </a:rPr>
                        <a:t>通知メッセージ_既存リスト</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700" b="0" i="0" u="none" strike="noStrike" dirty="0">
                        <a:solidFill>
                          <a:srgbClr val="000000"/>
                        </a:solidFill>
                        <a:effectLst/>
                        <a:latin typeface="Arial" panose="020B0604020202020204" pitchFamily="34" charset="0"/>
                        <a:ea typeface="游ゴシック" panose="020B0400000000000000" pitchFamily="50" charset="-128"/>
                      </a:endParaRP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95530"/>
                  </a:ext>
                </a:extLst>
              </a:tr>
              <a:tr h="136679">
                <a:tc rowSpan="4">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施策増分</a:t>
                      </a:r>
                      <a:br>
                        <a:rPr lang="ja-JP" sz="700" b="0" i="0" u="none" strike="noStrike">
                          <a:solidFill>
                            <a:srgbClr val="000000"/>
                          </a:solidFill>
                          <a:effectLst/>
                          <a:latin typeface="メイリオ" panose="020B0604030504040204" pitchFamily="50" charset="-128"/>
                          <a:ea typeface="メイリオ" panose="020B0604030504040204" pitchFamily="50" charset="-128"/>
                        </a:rPr>
                      </a:br>
                      <a:r>
                        <a:rPr lang="ja-JP" sz="700" b="0" i="0" u="none" strike="noStrike">
                          <a:solidFill>
                            <a:srgbClr val="000000"/>
                          </a:solidFill>
                          <a:effectLst/>
                          <a:latin typeface="メイリオ" panose="020B0604030504040204" pitchFamily="50" charset="-128"/>
                          <a:ea typeface="メイリオ" panose="020B0604030504040204" pitchFamily="50" charset="-128"/>
                        </a:rPr>
                        <a:t>※友だち</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CPF</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9676893"/>
                  </a:ext>
                </a:extLst>
              </a:tr>
              <a:tr h="142146">
                <a:tc vMerge="1">
                  <a:txBody>
                    <a:bodyPr/>
                    <a:lstStyle/>
                    <a:p>
                      <a:endParaRPr kumimoji="1" lang="ja-JP" altLang="en-US"/>
                    </a:p>
                  </a:txBody>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260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263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266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270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273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277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8057759"/>
                  </a:ext>
                </a:extLst>
              </a:tr>
              <a:tr h="142146">
                <a:tc vMerge="1">
                  <a:txBody>
                    <a:bodyPr/>
                    <a:lstStyle/>
                    <a:p>
                      <a:endParaRPr kumimoji="1" lang="ja-JP" altLang="en-US"/>
                    </a:p>
                  </a:txBody>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サンクスLINE誘導</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813059"/>
                  </a:ext>
                </a:extLst>
              </a:tr>
              <a:tr h="142146">
                <a:tc vMerge="1">
                  <a:txBody>
                    <a:bodyPr/>
                    <a:lstStyle/>
                    <a:p>
                      <a:endParaRPr kumimoji="1" lang="ja-JP" altLang="en-US"/>
                    </a:p>
                  </a:txBody>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4101810"/>
                  </a:ext>
                </a:extLst>
              </a:tr>
              <a:tr h="142146">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友だち数_増加数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1,566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1,570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1,574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1,579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1,583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1,588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363135"/>
                  </a:ext>
                </a:extLst>
              </a:tr>
              <a:tr h="142146">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ブロック率</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67.24%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67.24%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66.57%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65.90%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65.25%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64.59%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63.95%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858064"/>
                  </a:ext>
                </a:extLst>
              </a:tr>
              <a:tr h="142146">
                <a:tc gridSpan="2">
                  <a:txBody>
                    <a:bodyPr/>
                    <a:lstStyle/>
                    <a:p>
                      <a:pPr algn="ctr"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友だち数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37,891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39,457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41,027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42,601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44,180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45,764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47,352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0198307"/>
                  </a:ext>
                </a:extLst>
              </a:tr>
              <a:tr h="142146">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ターゲット数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12,412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12,925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13,715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14,525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15,355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16,203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17,072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8562385"/>
                  </a:ext>
                </a:extLst>
              </a:tr>
              <a:tr h="142146">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企画投稿数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12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9827558"/>
                  </a:ext>
                </a:extLst>
              </a:tr>
              <a:tr h="142146">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企画投稿からの流入</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1,351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2,110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2,240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2,372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2,256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2,381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2,509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9445571"/>
                  </a:ext>
                </a:extLst>
              </a:tr>
              <a:tr h="142146">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ステップ配信本数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700" b="0" i="0" u="none" strike="noStrike">
                          <a:solidFill>
                            <a:srgbClr val="FF0000"/>
                          </a:solidFill>
                          <a:effectLst/>
                          <a:latin typeface="メイリオ" panose="020B0604030504040204" pitchFamily="50" charset="-128"/>
                          <a:ea typeface="メイリオ" panose="020B0604030504040204" pitchFamily="50" charset="-128"/>
                        </a:rPr>
                        <a:t>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9863547"/>
                  </a:ext>
                </a:extLst>
              </a:tr>
              <a:tr h="142146">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ステップ配信からの流入</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771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1,338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1,419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1,430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1,590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8760212"/>
                  </a:ext>
                </a:extLst>
              </a:tr>
              <a:tr h="142146">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配信数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63,674</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103,140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109,446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115,909</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110,276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116,373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122,608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1632086"/>
                  </a:ext>
                </a:extLst>
              </a:tr>
              <a:tr h="142146">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想定Click数</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4,350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7,068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7,500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7,943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7,557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7,975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8,403</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884160312"/>
                  </a:ext>
                </a:extLst>
              </a:tr>
              <a:tr h="136679">
                <a:tc rowSpan="2">
                  <a:txBody>
                    <a:bodyPr/>
                    <a:lstStyle/>
                    <a:p>
                      <a:pPr algn="ct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新規CV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見学予約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225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242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258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247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262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278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9728173"/>
                  </a:ext>
                </a:extLst>
              </a:tr>
              <a:tr h="136679">
                <a:tc vMerge="1">
                  <a:txBody>
                    <a:bodyPr/>
                    <a:lstStyle/>
                    <a:p>
                      <a:endParaRPr kumimoji="1" lang="ja-JP" altLang="en-US"/>
                    </a:p>
                  </a:txBody>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来場</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210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226</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241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231</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245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260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8656146"/>
                  </a:ext>
                </a:extLst>
              </a:tr>
              <a:tr h="136679">
                <a:tc rowSpan="2">
                  <a:txBody>
                    <a:bodyPr/>
                    <a:lstStyle/>
                    <a:p>
                      <a:pPr algn="ctr" fontAlgn="ctr">
                        <a:buNone/>
                      </a:pPr>
                      <a:r>
                        <a:rPr lang="ja-JP" sz="7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リピートCV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7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契約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＋20%改善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＋20%改善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＋20%改善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＋20%改善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＋20%改善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＋20%改善</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8162620"/>
                  </a:ext>
                </a:extLst>
              </a:tr>
              <a:tr h="136679">
                <a:tc vMerge="1">
                  <a:txBody>
                    <a:bodyPr/>
                    <a:lstStyle/>
                    <a:p>
                      <a:endParaRPr kumimoji="1" lang="ja-JP" altLang="en-US"/>
                    </a:p>
                  </a:txBody>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7478336"/>
                  </a:ext>
                </a:extLst>
              </a:tr>
              <a:tr h="136679">
                <a:tc gridSpan="2">
                  <a:txBody>
                    <a:bodyPr/>
                    <a:lstStyle/>
                    <a:p>
                      <a:pPr algn="ct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合計CV</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0</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225</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242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258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247</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262</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278</a:t>
                      </a:r>
                    </a:p>
                  </a:txBody>
                  <a:tcPr marL="5681" marR="5681" marT="56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7823141"/>
                  </a:ext>
                </a:extLst>
              </a:tr>
              <a:tr h="136679">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CVR</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0.00%</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3.18%</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3.22%</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3.25%</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3.27%</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3.29%</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3.30%</a:t>
                      </a:r>
                    </a:p>
                  </a:txBody>
                  <a:tcPr marL="5681" marR="5681" marT="5681"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70704574"/>
                  </a:ext>
                </a:extLst>
              </a:tr>
              <a:tr h="136679">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5681" marR="5681" marT="5681" marB="0" anchor="ctr">
                    <a:lnL>
                      <a:noFill/>
                    </a:lnL>
                    <a:lnR>
                      <a:noFill/>
                    </a:lnR>
                    <a:lnT>
                      <a:noFill/>
                    </a:lnT>
                    <a:lnB>
                      <a:noFill/>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反応率</a:t>
                      </a:r>
                    </a:p>
                  </a:txBody>
                  <a:tcPr marL="5681" marR="5681" marT="5681" marB="0" anchor="ctr">
                    <a:lnL>
                      <a:noFill/>
                    </a:lnL>
                    <a:lnR>
                      <a:noFill/>
                    </a:lnR>
                    <a:lnT>
                      <a:noFill/>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5681" marR="5681" marT="5681" marB="0" anchor="ctr">
                    <a:lnL>
                      <a:noFill/>
                    </a:lnL>
                    <a:lnR>
                      <a:noFill/>
                    </a:lnR>
                    <a:lnT>
                      <a:noFill/>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6.85%</a:t>
                      </a:r>
                    </a:p>
                  </a:txBody>
                  <a:tcPr marL="5681" marR="5681" marT="5681" marB="0" anchor="ctr">
                    <a:lnL>
                      <a:noFill/>
                    </a:lnL>
                    <a:lnR>
                      <a:noFill/>
                    </a:lnR>
                    <a:lnT>
                      <a:noFill/>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6.85%</a:t>
                      </a:r>
                    </a:p>
                  </a:txBody>
                  <a:tcPr marL="5681" marR="5681" marT="5681" marB="0" anchor="ctr">
                    <a:lnL>
                      <a:noFill/>
                    </a:lnL>
                    <a:lnR>
                      <a:noFill/>
                    </a:lnR>
                    <a:lnT>
                      <a:noFill/>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6.85%</a:t>
                      </a:r>
                    </a:p>
                  </a:txBody>
                  <a:tcPr marL="5681" marR="5681" marT="5681" marB="0" anchor="ctr">
                    <a:lnL>
                      <a:noFill/>
                    </a:lnL>
                    <a:lnR>
                      <a:noFill/>
                    </a:lnR>
                    <a:lnT>
                      <a:noFill/>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6.85%</a:t>
                      </a:r>
                    </a:p>
                  </a:txBody>
                  <a:tcPr marL="5681" marR="5681" marT="5681" marB="0" anchor="ctr">
                    <a:lnL>
                      <a:noFill/>
                    </a:lnL>
                    <a:lnR>
                      <a:noFill/>
                    </a:lnR>
                    <a:lnT>
                      <a:noFill/>
                    </a:lnT>
                    <a:lnB>
                      <a:noFill/>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6.85%</a:t>
                      </a:r>
                    </a:p>
                  </a:txBody>
                  <a:tcPr marL="5681" marR="5681" marT="5681" marB="0" anchor="ctr">
                    <a:lnL>
                      <a:noFill/>
                    </a:lnL>
                    <a:lnR>
                      <a:noFill/>
                    </a:lnR>
                    <a:lnT>
                      <a:noFill/>
                    </a:lnT>
                    <a:lnB>
                      <a:noFill/>
                    </a:lnB>
                    <a:noFill/>
                  </a:tcPr>
                </a:tc>
                <a:tc>
                  <a:txBody>
                    <a:bodyPr/>
                    <a:lstStyle/>
                    <a:p>
                      <a:pPr algn="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6.85%</a:t>
                      </a:r>
                    </a:p>
                  </a:txBody>
                  <a:tcPr marL="5681" marR="5681" marT="5681" marB="0" anchor="ctr">
                    <a:lnL>
                      <a:noFill/>
                    </a:lnL>
                    <a:lnR>
                      <a:noFill/>
                    </a:lnR>
                    <a:lnT>
                      <a:noFill/>
                    </a:lnT>
                    <a:lnB>
                      <a:noFill/>
                    </a:lnB>
                    <a:noFill/>
                  </a:tcPr>
                </a:tc>
                <a:extLst>
                  <a:ext uri="{0D108BD9-81ED-4DB2-BD59-A6C34878D82A}">
                    <a16:rowId xmlns:a16="http://schemas.microsoft.com/office/drawing/2014/main" val="985109418"/>
                  </a:ext>
                </a:extLst>
              </a:tr>
            </a:tbl>
          </a:graphicData>
        </a:graphic>
      </p:graphicFrame>
      <p:sp>
        <p:nvSpPr>
          <p:cNvPr id="8" name="正方形/長方形 7">
            <a:extLst>
              <a:ext uri="{FF2B5EF4-FFF2-40B4-BE49-F238E27FC236}">
                <a16:creationId xmlns:a16="http://schemas.microsoft.com/office/drawing/2014/main" id="{7B83C87F-2B34-A482-E446-C1A90A217289}"/>
              </a:ext>
            </a:extLst>
          </p:cNvPr>
          <p:cNvSpPr/>
          <p:nvPr/>
        </p:nvSpPr>
        <p:spPr>
          <a:xfrm>
            <a:off x="3716" y="587778"/>
            <a:ext cx="9919682" cy="5914977"/>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0000"/>
                </a:solidFill>
              </a:rPr>
              <a:t>※</a:t>
            </a:r>
            <a:r>
              <a:rPr kumimoji="1" lang="ja-JP" altLang="en-US" dirty="0">
                <a:solidFill>
                  <a:srgbClr val="FF0000"/>
                </a:solidFill>
              </a:rPr>
              <a:t>あくまでもオプションのプランとなります。</a:t>
            </a:r>
          </a:p>
        </p:txBody>
      </p:sp>
    </p:spTree>
    <p:extLst>
      <p:ext uri="{BB962C8B-B14F-4D97-AF65-F5344CB8AC3E}">
        <p14:creationId xmlns:p14="http://schemas.microsoft.com/office/powerpoint/2010/main" val="9905624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D4762-08CE-7DAA-F57A-D9A168C7057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960A2E24-4BA4-D0EA-4AAD-FC074A3CB7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FC1D985-3FD3-DF23-EDE2-CC0C9AA04921}"/>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D65BFAE-6B7E-F5B0-C1F2-0E8C8E8D9C46}"/>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73823F6B-00EF-281A-5A2E-66D7CF3E1673}"/>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いずれもツール、運用、企画＋</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CR</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制作、レポーティングを含む費用です。</a:t>
            </a:r>
            <a:endParaRPr lang="ja-JP" altLang="en-US" sz="1000" dirty="0"/>
          </a:p>
        </p:txBody>
      </p:sp>
      <p:sp>
        <p:nvSpPr>
          <p:cNvPr id="9" name="テキスト ボックス 8">
            <a:extLst>
              <a:ext uri="{FF2B5EF4-FFF2-40B4-BE49-F238E27FC236}">
                <a16:creationId xmlns:a16="http://schemas.microsoft.com/office/drawing/2014/main" id="{23977BB3-4962-F917-4292-7270B35726AF}"/>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施策方針</a:t>
            </a:r>
            <a:endParaRPr lang="ja-JP" altLang="en-US" sz="1100" dirty="0"/>
          </a:p>
        </p:txBody>
      </p:sp>
      <p:sp>
        <p:nvSpPr>
          <p:cNvPr id="4" name="テキスト ボックス 3">
            <a:extLst>
              <a:ext uri="{FF2B5EF4-FFF2-40B4-BE49-F238E27FC236}">
                <a16:creationId xmlns:a16="http://schemas.microsoft.com/office/drawing/2014/main" id="{860A49A8-F5FD-D8CE-BEC1-3B97C9F88183}"/>
              </a:ext>
            </a:extLst>
          </p:cNvPr>
          <p:cNvSpPr txBox="1"/>
          <p:nvPr/>
        </p:nvSpPr>
        <p:spPr>
          <a:xfrm>
            <a:off x="340483" y="1841871"/>
            <a:ext cx="7512113" cy="369332"/>
          </a:xfrm>
          <a:prstGeom prst="rect">
            <a:avLst/>
          </a:prstGeom>
          <a:noFill/>
        </p:spPr>
        <p:txBody>
          <a:bodyPr wrap="square">
            <a:spAutoFit/>
          </a:bodyPr>
          <a:lstStyle/>
          <a:p>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α )) </a:t>
            </a:r>
            <a:r>
              <a:rPr lang="ja-JP" altLang="en-US" b="1" dirty="0">
                <a:latin typeface="メイリオ" panose="020B0604030504040204" pitchFamily="50" charset="-128"/>
                <a:ea typeface="メイリオ" panose="020B0604030504040204" pitchFamily="50" charset="-128"/>
              </a:rPr>
              <a:t>サンクス</a:t>
            </a:r>
            <a:r>
              <a:rPr lang="en-US" altLang="ja-JP" b="1" dirty="0">
                <a:latin typeface="メイリオ" panose="020B0604030504040204" pitchFamily="50" charset="-128"/>
                <a:ea typeface="メイリオ" panose="020B0604030504040204" pitchFamily="50" charset="-128"/>
              </a:rPr>
              <a:t>LINE</a:t>
            </a:r>
            <a:r>
              <a:rPr lang="ja-JP" altLang="en-US" b="1" dirty="0">
                <a:latin typeface="メイリオ" panose="020B0604030504040204" pitchFamily="50" charset="-128"/>
                <a:ea typeface="メイリオ" panose="020B0604030504040204" pitchFamily="50" charset="-128"/>
              </a:rPr>
              <a:t>誘導の導入</a:t>
            </a:r>
            <a:endParaRPr lang="en-US" altLang="ja-JP"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F96F22FD-B672-6D74-E9A2-D1CD7BADBF42}"/>
              </a:ext>
            </a:extLst>
          </p:cNvPr>
          <p:cNvSpPr/>
          <p:nvPr/>
        </p:nvSpPr>
        <p:spPr>
          <a:xfrm>
            <a:off x="321116" y="2007664"/>
            <a:ext cx="5878206" cy="215545"/>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E45B90FE-11BB-CDA1-7EB8-763C22D02A9D}"/>
              </a:ext>
            </a:extLst>
          </p:cNvPr>
          <p:cNvSpPr txBox="1"/>
          <p:nvPr/>
        </p:nvSpPr>
        <p:spPr>
          <a:xfrm>
            <a:off x="7882144" y="726432"/>
            <a:ext cx="2023856" cy="369332"/>
          </a:xfrm>
          <a:prstGeom prst="rect">
            <a:avLst/>
          </a:prstGeom>
          <a:solidFill>
            <a:srgbClr val="00B050"/>
          </a:solidFill>
        </p:spPr>
        <p:txBody>
          <a:bodyPr wrap="square">
            <a:spAutoFit/>
          </a:bodyPr>
          <a:lstStyle/>
          <a:p>
            <a:pPr algn="ctr"/>
            <a:r>
              <a:rPr lang="ja-JP" altLang="en-US" sz="1800" b="1" dirty="0">
                <a:solidFill>
                  <a:schemeClr val="bg1"/>
                </a:solidFill>
                <a:latin typeface="メイリオ" panose="020B0604030504040204" pitchFamily="50" charset="-128"/>
                <a:ea typeface="メイリオ" panose="020B0604030504040204" pitchFamily="50" charset="-128"/>
              </a:rPr>
              <a:t>６ブランド</a:t>
            </a:r>
            <a:endParaRPr lang="ja-JP" altLang="en-US" dirty="0">
              <a:solidFill>
                <a:schemeClr val="bg1"/>
              </a:solidFill>
            </a:endParaRPr>
          </a:p>
        </p:txBody>
      </p:sp>
      <p:sp>
        <p:nvSpPr>
          <p:cNvPr id="14" name="テキスト ボックス 13">
            <a:extLst>
              <a:ext uri="{FF2B5EF4-FFF2-40B4-BE49-F238E27FC236}">
                <a16:creationId xmlns:a16="http://schemas.microsoft.com/office/drawing/2014/main" id="{CD1DC539-4A62-2538-E004-59D1AB774C01}"/>
              </a:ext>
            </a:extLst>
          </p:cNvPr>
          <p:cNvSpPr txBox="1"/>
          <p:nvPr/>
        </p:nvSpPr>
        <p:spPr>
          <a:xfrm>
            <a:off x="7882144" y="1172012"/>
            <a:ext cx="2023856" cy="369332"/>
          </a:xfrm>
          <a:prstGeom prst="rect">
            <a:avLst/>
          </a:prstGeom>
          <a:solidFill>
            <a:srgbClr val="FFC000"/>
          </a:solidFill>
        </p:spPr>
        <p:txBody>
          <a:bodyPr wrap="square">
            <a:spAutoFit/>
          </a:bodyPr>
          <a:lstStyle/>
          <a:p>
            <a:pPr algn="ctr"/>
            <a:r>
              <a:rPr lang="ja-JP" altLang="ja-JP" sz="1800" b="1" dirty="0">
                <a:solidFill>
                  <a:schemeClr val="bg1"/>
                </a:solidFill>
                <a:latin typeface="メイリオ" panose="020B0604030504040204" pitchFamily="50" charset="-128"/>
                <a:ea typeface="メイリオ" panose="020B0604030504040204" pitchFamily="50" charset="-128"/>
              </a:rPr>
              <a:t>IKS</a:t>
            </a:r>
            <a:endParaRPr lang="ja-JP" altLang="en-US" dirty="0">
              <a:solidFill>
                <a:schemeClr val="bg1"/>
              </a:solidFill>
            </a:endParaRPr>
          </a:p>
        </p:txBody>
      </p:sp>
      <p:graphicFrame>
        <p:nvGraphicFramePr>
          <p:cNvPr id="11" name="表 10">
            <a:extLst>
              <a:ext uri="{FF2B5EF4-FFF2-40B4-BE49-F238E27FC236}">
                <a16:creationId xmlns:a16="http://schemas.microsoft.com/office/drawing/2014/main" id="{71D420A2-90D3-9D82-7530-EDBCD5C850B0}"/>
              </a:ext>
            </a:extLst>
          </p:cNvPr>
          <p:cNvGraphicFramePr>
            <a:graphicFrameLocks noGrp="1"/>
          </p:cNvGraphicFramePr>
          <p:nvPr>
            <p:extLst>
              <p:ext uri="{D42A27DB-BD31-4B8C-83A1-F6EECF244321}">
                <p14:modId xmlns:p14="http://schemas.microsoft.com/office/powerpoint/2010/main" val="4207961274"/>
              </p:ext>
            </p:extLst>
          </p:nvPr>
        </p:nvGraphicFramePr>
        <p:xfrm>
          <a:off x="340483" y="2748165"/>
          <a:ext cx="9194131" cy="3315942"/>
        </p:xfrm>
        <a:graphic>
          <a:graphicData uri="http://schemas.openxmlformats.org/drawingml/2006/table">
            <a:tbl>
              <a:tblPr/>
              <a:tblGrid>
                <a:gridCol w="1012857">
                  <a:extLst>
                    <a:ext uri="{9D8B030D-6E8A-4147-A177-3AD203B41FA5}">
                      <a16:colId xmlns:a16="http://schemas.microsoft.com/office/drawing/2014/main" val="946754366"/>
                    </a:ext>
                  </a:extLst>
                </a:gridCol>
                <a:gridCol w="1533444">
                  <a:extLst>
                    <a:ext uri="{9D8B030D-6E8A-4147-A177-3AD203B41FA5}">
                      <a16:colId xmlns:a16="http://schemas.microsoft.com/office/drawing/2014/main" val="2795493848"/>
                    </a:ext>
                  </a:extLst>
                </a:gridCol>
                <a:gridCol w="949690">
                  <a:extLst>
                    <a:ext uri="{9D8B030D-6E8A-4147-A177-3AD203B41FA5}">
                      <a16:colId xmlns:a16="http://schemas.microsoft.com/office/drawing/2014/main" val="2215973100"/>
                    </a:ext>
                  </a:extLst>
                </a:gridCol>
                <a:gridCol w="949690">
                  <a:extLst>
                    <a:ext uri="{9D8B030D-6E8A-4147-A177-3AD203B41FA5}">
                      <a16:colId xmlns:a16="http://schemas.microsoft.com/office/drawing/2014/main" val="85002445"/>
                    </a:ext>
                  </a:extLst>
                </a:gridCol>
                <a:gridCol w="949690">
                  <a:extLst>
                    <a:ext uri="{9D8B030D-6E8A-4147-A177-3AD203B41FA5}">
                      <a16:colId xmlns:a16="http://schemas.microsoft.com/office/drawing/2014/main" val="399864550"/>
                    </a:ext>
                  </a:extLst>
                </a:gridCol>
                <a:gridCol w="949690">
                  <a:extLst>
                    <a:ext uri="{9D8B030D-6E8A-4147-A177-3AD203B41FA5}">
                      <a16:colId xmlns:a16="http://schemas.microsoft.com/office/drawing/2014/main" val="1497459452"/>
                    </a:ext>
                  </a:extLst>
                </a:gridCol>
                <a:gridCol w="949690">
                  <a:extLst>
                    <a:ext uri="{9D8B030D-6E8A-4147-A177-3AD203B41FA5}">
                      <a16:colId xmlns:a16="http://schemas.microsoft.com/office/drawing/2014/main" val="2774368551"/>
                    </a:ext>
                  </a:extLst>
                </a:gridCol>
                <a:gridCol w="949690">
                  <a:extLst>
                    <a:ext uri="{9D8B030D-6E8A-4147-A177-3AD203B41FA5}">
                      <a16:colId xmlns:a16="http://schemas.microsoft.com/office/drawing/2014/main" val="1983964366"/>
                    </a:ext>
                  </a:extLst>
                </a:gridCol>
                <a:gridCol w="949690">
                  <a:extLst>
                    <a:ext uri="{9D8B030D-6E8A-4147-A177-3AD203B41FA5}">
                      <a16:colId xmlns:a16="http://schemas.microsoft.com/office/drawing/2014/main" val="640421042"/>
                    </a:ext>
                  </a:extLst>
                </a:gridCol>
              </a:tblGrid>
              <a:tr h="184219">
                <a:tc>
                  <a:txBody>
                    <a:bodyPr/>
                    <a:lstStyle/>
                    <a:p>
                      <a:pPr algn="l"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■コンサル運営</a:t>
                      </a: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094616"/>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¥101,021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¥219,421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¥238,338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¥257,728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¥240,828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¥259,119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¥277,824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9118487"/>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¥714,421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¥733,338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¥752,728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¥735,828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¥754,119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¥772,824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0871565"/>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3986385"/>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¥102</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¥96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¥91</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¥95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¥90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¥86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717787"/>
                  </a:ext>
                </a:extLst>
              </a:tr>
              <a:tr h="184219">
                <a:tc gridSpan="2">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6.16%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6.24%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6.28%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6.33%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6.36%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6.39%</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9956280"/>
                  </a:ext>
                </a:extLst>
              </a:tr>
              <a:tr h="184219">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¥3,175</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¥3,034</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¥2,918</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¥2,976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¥2,876</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¥2,783</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7757563"/>
                  </a:ext>
                </a:extLst>
              </a:tr>
              <a:tr h="184219">
                <a:tc gridSpan="2">
                  <a:txBody>
                    <a:bodyPr/>
                    <a:lstStyle/>
                    <a:p>
                      <a:pPr algn="ctr" fontAlgn="ctr">
                        <a:buNone/>
                      </a:pPr>
                      <a:r>
                        <a:rPr lang="ja-JP" sz="7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1113213"/>
                  </a:ext>
                </a:extLst>
              </a:tr>
              <a:tr h="184219">
                <a:tc gridSpan="2">
                  <a:txBody>
                    <a:bodyPr/>
                    <a:lstStyle/>
                    <a:p>
                      <a:pPr algn="ctr" fontAlgn="ctr">
                        <a:buNone/>
                      </a:pPr>
                      <a:r>
                        <a:rPr lang="ja-JP" sz="700" b="1" i="0" u="none" strike="noStrike">
                          <a:solidFill>
                            <a:srgbClr val="FFFFFF"/>
                          </a:solidFill>
                          <a:effectLst/>
                          <a:latin typeface="メイリオ" panose="020B0604030504040204" pitchFamily="50" charset="-128"/>
                          <a:ea typeface="メイリオ" panose="020B0604030504040204" pitchFamily="50" charset="-128"/>
                        </a:rPr>
                        <a:t>総計コスト</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r" fontAlgn="ctr">
                        <a:buNone/>
                      </a:pPr>
                      <a:r>
                        <a:rPr lang="ja-JP" sz="700" b="1" i="0" u="none" strike="noStrike" dirty="0">
                          <a:solidFill>
                            <a:srgbClr val="FF0000"/>
                          </a:solidFill>
                          <a:effectLst/>
                          <a:latin typeface="メイリオ" panose="020B0604030504040204" pitchFamily="50" charset="-128"/>
                          <a:ea typeface="メイリオ" panose="020B0604030504040204" pitchFamily="50" charset="-128"/>
                        </a:rPr>
                        <a:t>¥550,000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¥720,000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¥720,000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¥720,000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¥720,000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a:solidFill>
                            <a:srgbClr val="FF0000"/>
                          </a:solidFill>
                          <a:effectLst/>
                          <a:latin typeface="メイリオ" panose="020B0604030504040204" pitchFamily="50" charset="-128"/>
                          <a:ea typeface="メイリオ" panose="020B0604030504040204" pitchFamily="50" charset="-128"/>
                        </a:rPr>
                        <a:t>¥720,000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1" i="0" u="none" strike="noStrike" dirty="0">
                          <a:solidFill>
                            <a:srgbClr val="FF0000"/>
                          </a:solidFill>
                          <a:effectLst/>
                          <a:latin typeface="メイリオ" panose="020B0604030504040204" pitchFamily="50" charset="-128"/>
                          <a:ea typeface="メイリオ" panose="020B0604030504040204" pitchFamily="50" charset="-128"/>
                        </a:rPr>
                        <a:t>¥720,000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2798670"/>
                  </a:ext>
                </a:extLst>
              </a:tr>
              <a:tr h="184219">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7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1791121"/>
                  </a:ext>
                </a:extLst>
              </a:tr>
              <a:tr h="184219">
                <a:tc>
                  <a:txBody>
                    <a:bodyPr/>
                    <a:lstStyle/>
                    <a:p>
                      <a:pPr algn="ctr" fontAlgn="ctr">
                        <a:buNone/>
                      </a:pPr>
                      <a:r>
                        <a:rPr lang="ja-JP" sz="600" b="0" i="0" u="none" strike="noStrike">
                          <a:solidFill>
                            <a:srgbClr val="000000"/>
                          </a:solidFill>
                          <a:effectLst/>
                          <a:latin typeface="メイリオ" panose="020B0604030504040204" pitchFamily="50" charset="-128"/>
                          <a:ea typeface="メイリオ" panose="020B0604030504040204" pitchFamily="50" charset="-128"/>
                        </a:rPr>
                        <a:t>コスト備考</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CPF</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7219174"/>
                  </a:ext>
                </a:extLst>
              </a:tr>
              <a:tr h="184219">
                <a:tc>
                  <a:txBody>
                    <a:bodyPr/>
                    <a:lstStyle/>
                    <a:p>
                      <a:pPr algn="ctr" fontAlgn="ctr">
                        <a:buNone/>
                      </a:pPr>
                      <a:r>
                        <a:rPr lang="ja-JP" sz="600" b="1" i="0" u="none" strike="noStrike">
                          <a:solidFill>
                            <a:srgbClr val="000000"/>
                          </a:solidFill>
                          <a:effectLst/>
                          <a:latin typeface="メイリオ" panose="020B0604030504040204" pitchFamily="50" charset="-128"/>
                          <a:ea typeface="メイリオ" panose="020B0604030504040204" pitchFamily="50" charset="-128"/>
                        </a:rPr>
                        <a:t>※コンサル</a:t>
                      </a: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9944176"/>
                  </a:ext>
                </a:extLst>
              </a:tr>
              <a:tr h="184219">
                <a:tc>
                  <a:txBody>
                    <a:bodyPr/>
                    <a:lstStyle/>
                    <a:p>
                      <a:pPr algn="l" fontAlgn="ctr">
                        <a:buNone/>
                      </a:pPr>
                      <a:endParaRPr lang="ja-JP" sz="7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サンクス誘導</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¥120,000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3980549"/>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アカウント費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¥15,000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938850"/>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コンサル費①</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259524"/>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コンサル費②</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¥300,000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7811869"/>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機能拡張</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　</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9972566"/>
                  </a:ext>
                </a:extLst>
              </a:tr>
              <a:tr h="184219">
                <a:tc>
                  <a:txBody>
                    <a:bodyPr/>
                    <a:lstStyle/>
                    <a:p>
                      <a:pPr algn="l" fontAlgn="ctr">
                        <a:buNone/>
                      </a:pPr>
                      <a:endParaRPr lang="ja-JP" sz="600" b="0" i="0" u="none" strike="noStrike">
                        <a:solidFill>
                          <a:srgbClr val="000000"/>
                        </a:solidFill>
                        <a:effectLst/>
                        <a:latin typeface="メイリオ" panose="020B0604030504040204" pitchFamily="50" charset="-128"/>
                        <a:ea typeface="メイリオ" panose="020B0604030504040204" pitchFamily="50" charset="-128"/>
                      </a:endParaRPr>
                    </a:p>
                  </a:txBody>
                  <a:tcPr marL="6074" marR="6074" marT="6074"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APIツール費</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¥100,000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7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6074" marR="6074" marT="60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279451508"/>
                  </a:ext>
                </a:extLst>
              </a:tr>
            </a:tbl>
          </a:graphicData>
        </a:graphic>
      </p:graphicFrame>
      <p:sp>
        <p:nvSpPr>
          <p:cNvPr id="15" name="四角形: 角を丸くする 14">
            <a:extLst>
              <a:ext uri="{FF2B5EF4-FFF2-40B4-BE49-F238E27FC236}">
                <a16:creationId xmlns:a16="http://schemas.microsoft.com/office/drawing/2014/main" id="{BFADF0C2-B46F-F69A-AD0A-B1FE483F3418}"/>
              </a:ext>
            </a:extLst>
          </p:cNvPr>
          <p:cNvSpPr/>
          <p:nvPr/>
        </p:nvSpPr>
        <p:spPr>
          <a:xfrm>
            <a:off x="2888836" y="2512910"/>
            <a:ext cx="924862" cy="280657"/>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初期</a:t>
            </a:r>
            <a:endParaRPr kumimoji="1" lang="ja-JP" altLang="en-US" sz="1100" b="1" dirty="0">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212ADD3D-35C6-1F85-3F5B-0EBF95E87A47}"/>
              </a:ext>
            </a:extLst>
          </p:cNvPr>
          <p:cNvSpPr/>
          <p:nvPr/>
        </p:nvSpPr>
        <p:spPr>
          <a:xfrm>
            <a:off x="3877266" y="2512910"/>
            <a:ext cx="5611534" cy="28065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latin typeface="メイリオ" panose="020B0604030504040204" pitchFamily="50" charset="-128"/>
                <a:ea typeface="メイリオ" panose="020B0604030504040204" pitchFamily="50" charset="-128"/>
              </a:rPr>
              <a:t>月額</a:t>
            </a:r>
            <a:endParaRPr kumimoji="1" lang="ja-JP" altLang="en-US" sz="11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45F7E11D-DB4A-AED4-139A-0FE8E648A0F0}"/>
              </a:ext>
            </a:extLst>
          </p:cNvPr>
          <p:cNvSpPr/>
          <p:nvPr/>
        </p:nvSpPr>
        <p:spPr>
          <a:xfrm>
            <a:off x="3716" y="587778"/>
            <a:ext cx="9919682" cy="5914977"/>
          </a:xfrm>
          <a:prstGeom prst="rect">
            <a:avLst/>
          </a:prstGeom>
          <a:solidFill>
            <a:schemeClr val="bg1">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0000"/>
                </a:solidFill>
              </a:rPr>
              <a:t>※</a:t>
            </a:r>
            <a:r>
              <a:rPr kumimoji="1" lang="ja-JP" altLang="en-US" dirty="0">
                <a:solidFill>
                  <a:srgbClr val="FF0000"/>
                </a:solidFill>
              </a:rPr>
              <a:t>あくまでもオプションのプランとなります。</a:t>
            </a:r>
          </a:p>
        </p:txBody>
      </p:sp>
    </p:spTree>
    <p:extLst>
      <p:ext uri="{BB962C8B-B14F-4D97-AF65-F5344CB8AC3E}">
        <p14:creationId xmlns:p14="http://schemas.microsoft.com/office/powerpoint/2010/main" val="11965683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貴社作業・確認にかかる時間により前後する可能性あり</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1207561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latin typeface="メイリオ" panose="020B0604030504040204" pitchFamily="50" charset="-128"/>
                <a:ea typeface="メイリオ" panose="020B0604030504040204" pitchFamily="50" charset="-128"/>
              </a:rPr>
              <a:t>習い事は「3〜5歳」で始める家庭が最も多く、</a:t>
            </a:r>
          </a:p>
          <a:p>
            <a:pPr algn="ctr"/>
            <a:r>
              <a:rPr lang="en-US" altLang="ja-JP" sz="1700" dirty="0">
                <a:solidFill>
                  <a:schemeClr val="tx1"/>
                </a:solidFill>
                <a:latin typeface="メイリオ" panose="020B0604030504040204" pitchFamily="50" charset="-128"/>
                <a:ea typeface="メイリオ" panose="020B0604030504040204" pitchFamily="50" charset="-128"/>
              </a:rPr>
              <a:t>未就学児の保護者の87.5%が「させたい」と考え</a:t>
            </a:r>
            <a:r>
              <a:rPr lang="ja-JP" altLang="en-US" sz="1700" dirty="0">
                <a:solidFill>
                  <a:schemeClr val="tx1"/>
                </a:solidFill>
                <a:latin typeface="メイリオ" panose="020B0604030504040204" pitchFamily="50" charset="-128"/>
                <a:ea typeface="メイリオ" panose="020B0604030504040204" pitchFamily="50" charset="-128"/>
              </a:rPr>
              <a:t>る</a:t>
            </a:r>
            <a:endParaRPr lang="en-US" altLang="ja-JP" sz="1700" dirty="0">
              <a:solidFill>
                <a:schemeClr val="tx1"/>
              </a:solidFill>
              <a:latin typeface="メイリオ" panose="020B0604030504040204" pitchFamily="50" charset="-128"/>
              <a:ea typeface="メイリオ" panose="020B0604030504040204" pitchFamily="50" charset="-128"/>
            </a:endParaRP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5861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2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200" b="0" dirty="0" err="1">
                <a:solidFill>
                  <a:srgbClr val="5A6378"/>
                </a:solidFill>
                <a:latin typeface="メイリオ" panose="020B0604030504040204" pitchFamily="50" charset="-128"/>
                <a:ea typeface="メイリオ" panose="020B0604030504040204" pitchFamily="50" charset="-128"/>
              </a:rPr>
              <a:t>が中心だが</a:t>
            </a:r>
            <a:r>
              <a:rPr sz="1200" b="0" dirty="0">
                <a:solidFill>
                  <a:srgbClr val="5A6378"/>
                </a:solidFill>
                <a:latin typeface="メイリオ" panose="020B0604030504040204" pitchFamily="50" charset="-128"/>
                <a:ea typeface="メイリオ" panose="020B0604030504040204" pitchFamily="50" charset="-128"/>
              </a:rPr>
              <a:t>、</a:t>
            </a:r>
            <a:endParaRPr lang="en-US" sz="12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200" dirty="0">
                <a:solidFill>
                  <a:srgbClr val="5A6378"/>
                </a:solidFill>
                <a:latin typeface="メイリオ" panose="020B0604030504040204" pitchFamily="50" charset="-128"/>
                <a:ea typeface="メイリオ" panose="020B0604030504040204" pitchFamily="50" charset="-128"/>
              </a:rPr>
              <a:t>　</a:t>
            </a:r>
            <a:r>
              <a:rPr sz="12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dirty="0" err="1">
                <a:solidFill>
                  <a:srgbClr val="9AA1AE"/>
                </a:solidFill>
                <a:latin typeface="メイリオ" panose="020B0604030504040204" pitchFamily="50" charset="-128"/>
                <a:ea typeface="メイリオ" panose="020B0604030504040204" pitchFamily="50" charset="-128"/>
              </a:rPr>
              <a:t>出典</a:t>
            </a:r>
            <a:r>
              <a:rPr sz="850" b="0" dirty="0">
                <a:solidFill>
                  <a:srgbClr val="9AA1AE"/>
                </a:solidFill>
                <a:latin typeface="メイリオ" panose="020B0604030504040204" pitchFamily="50" charset="-128"/>
                <a:ea typeface="メイリオ" panose="020B0604030504040204" pitchFamily="50" charset="-128"/>
              </a:rPr>
              <a:t>：①np-labo.com（2023年10月, N=300）　②統計データ（4〜6歳 回答者数103）　③マイナビウーマン（2022年8月, N=300）</a:t>
            </a:r>
          </a:p>
          <a:p>
            <a:pPr algn="l">
              <a:lnSpc>
                <a:spcPct val="120000"/>
              </a:lnSpc>
            </a:pPr>
            <a:r>
              <a:rPr sz="850" b="0" dirty="0">
                <a:solidFill>
                  <a:srgbClr val="9AA1AE"/>
                </a:solidFill>
                <a:latin typeface="メイリオ" panose="020B0604030504040204" pitchFamily="50" charset="-128"/>
                <a:ea typeface="メイリオ" panose="020B0604030504040204" pitchFamily="50" charset="-128"/>
              </a:rPr>
              <a:t>④babytech.jp「未就学児の習い事事情2025」（N=1,436）　⑤PR </a:t>
            </a:r>
            <a:r>
              <a:rPr sz="850" b="0" dirty="0" err="1">
                <a:solidFill>
                  <a:srgbClr val="9AA1AE"/>
                </a:solidFill>
                <a:latin typeface="メイリオ" panose="020B0604030504040204" pitchFamily="50" charset="-128"/>
                <a:ea typeface="メイリオ" panose="020B0604030504040204" pitchFamily="50" charset="-128"/>
              </a:rPr>
              <a:t>TIMES（学年別</a:t>
            </a:r>
            <a:r>
              <a:rPr sz="850" b="0" dirty="0">
                <a:solidFill>
                  <a:srgbClr val="9AA1AE"/>
                </a:solidFill>
                <a:latin typeface="メイリオ" panose="020B0604030504040204" pitchFamily="50" charset="-128"/>
                <a:ea typeface="メイリオ" panose="020B0604030504040204" pitchFamily="50" charset="-128"/>
              </a:rPr>
              <a:t> </a:t>
            </a:r>
            <a:r>
              <a:rPr sz="850" b="0" dirty="0" err="1">
                <a:solidFill>
                  <a:srgbClr val="9AA1AE"/>
                </a:solidFill>
                <a:latin typeface="メイリオ" panose="020B0604030504040204" pitchFamily="50" charset="-128"/>
                <a:ea typeface="メイリオ" panose="020B0604030504040204" pitchFamily="50" charset="-128"/>
              </a:rPr>
              <a:t>週あたり実施日数</a:t>
            </a:r>
            <a:r>
              <a:rPr sz="850" b="0" dirty="0">
                <a:solidFill>
                  <a:srgbClr val="9AA1AE"/>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8657639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前後検索「子ども 習い事」</a:t>
            </a:r>
          </a:p>
        </p:txBody>
      </p:sp>
      <p:sp>
        <p:nvSpPr>
          <p:cNvPr id="5" name="Text 7">
            <a:extLst>
              <a:ext uri="{FF2B5EF4-FFF2-40B4-BE49-F238E27FC236}">
                <a16:creationId xmlns:a16="http://schemas.microsoft.com/office/drawing/2014/main" id="{2CA316B7-4505-4337-6433-44B8AC8C958C}"/>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400" dirty="0">
                <a:solidFill>
                  <a:schemeClr val="tx1"/>
                </a:solidFill>
                <a:latin typeface="メイリオ" panose="020B0604030504040204" pitchFamily="50" charset="-128"/>
                <a:ea typeface="メイリオ" panose="020B0604030504040204" pitchFamily="50" charset="-128"/>
              </a:rPr>
              <a:t>「子ども 習い事」の検索前後15日間。友だち追加の機会は、比較が集中する検索当日〜翌日</a:t>
            </a:r>
          </a:p>
        </p:txBody>
      </p:sp>
      <p:pic>
        <p:nvPicPr>
          <p:cNvPr id="46" name="Picture 45" descr="image.png"/>
          <p:cNvPicPr>
            <a:picLocks noChangeAspect="1"/>
          </p:cNvPicPr>
          <p:nvPr/>
        </p:nvPicPr>
        <p:blipFill>
          <a:blip r:embed="rId3"/>
          <a:stretch>
            <a:fillRect/>
          </a:stretch>
        </p:blipFill>
        <p:spPr>
          <a:xfrm>
            <a:off x="432000" y="1458000"/>
            <a:ext cx="5112000" cy="2981524"/>
          </a:xfrm>
          <a:prstGeom prst="rect">
            <a:avLst/>
          </a:prstGeom>
        </p:spPr>
      </p:pic>
      <p:sp>
        <p:nvSpPr>
          <p:cNvPr id="47" name="Rectangle 46"/>
          <p:cNvSpPr/>
          <p:nvPr/>
        </p:nvSpPr>
        <p:spPr>
          <a:xfrm>
            <a:off x="3050829" y="1458000"/>
            <a:ext cx="611155" cy="2945524"/>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888406" y="4457524"/>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00873C"/>
                </a:solidFill>
                <a:latin typeface="メイリオ"/>
                <a:ea typeface="メイリオ"/>
                <a:cs typeface="メイリオ"/>
              </a:rPr>
              <a:t>LINE追加</a:t>
            </a:r>
          </a:p>
        </p:txBody>
      </p:sp>
      <p:sp>
        <p:nvSpPr>
          <p:cNvPr id="49" name="Rounded Rectangle 48"/>
          <p:cNvSpPr/>
          <p:nvPr/>
        </p:nvSpPr>
        <p:spPr>
          <a:xfrm>
            <a:off x="5724000" y="1458000"/>
            <a:ext cx="18576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2B5797"/>
                </a:solidFill>
                <a:latin typeface="メイリオ"/>
                <a:ea typeface="メイリオ"/>
                <a:cs typeface="メイリオ"/>
              </a:rPr>
              <a:t>習い事の比較・検討</a:t>
            </a:r>
          </a:p>
        </p:txBody>
      </p:sp>
      <p:sp>
        <p:nvSpPr>
          <p:cNvPr id="50" name="Rounded Rectangle 49"/>
          <p:cNvSpPr/>
          <p:nvPr/>
        </p:nvSpPr>
        <p:spPr>
          <a:xfrm>
            <a:off x="7617600" y="1458000"/>
            <a:ext cx="18576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C0561A"/>
                </a:solidFill>
                <a:latin typeface="メイリオ"/>
                <a:ea typeface="メイリオ"/>
                <a:cs typeface="メイリオ"/>
              </a:rPr>
              <a:t>子育て・学び</a:t>
            </a:r>
          </a:p>
        </p:txBody>
      </p:sp>
      <p:sp>
        <p:nvSpPr>
          <p:cNvPr id="51" name="Rounded Rectangle 50"/>
          <p:cNvSpPr/>
          <p:nvPr/>
        </p:nvSpPr>
        <p:spPr>
          <a:xfrm>
            <a:off x="5724000" y="1717199"/>
            <a:ext cx="18576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7440A8"/>
                </a:solidFill>
                <a:latin typeface="メイリオ"/>
                <a:ea typeface="メイリオ"/>
                <a:cs typeface="メイリオ"/>
              </a:rPr>
              <a:t>家族のお出かけ・楽しみ</a:t>
            </a:r>
          </a:p>
        </p:txBody>
      </p:sp>
      <p:sp>
        <p:nvSpPr>
          <p:cNvPr id="52" name="TextBox 51"/>
          <p:cNvSpPr txBox="1"/>
          <p:nvPr/>
        </p:nvSpPr>
        <p:spPr>
          <a:xfrm>
            <a:off x="7653599" y="1717199"/>
            <a:ext cx="1821599" cy="223200"/>
          </a:xfrm>
          <a:prstGeom prst="rect">
            <a:avLst/>
          </a:prstGeom>
          <a:noFill/>
        </p:spPr>
        <p:txBody>
          <a:bodyPr wrap="square" lIns="0" tIns="21600" rIns="0" bIns="21600" anchor="ctr">
            <a:spAutoFit/>
          </a:bodyPr>
          <a:lstStyle/>
          <a:p>
            <a:pPr algn="l"/>
            <a:r>
              <a:rPr sz="900">
                <a:solidFill>
                  <a:srgbClr val="7F7F7F"/>
                </a:solidFill>
                <a:latin typeface="メイリオ"/>
                <a:ea typeface="メイリオ"/>
                <a:cs typeface="メイリオ"/>
              </a:rPr>
              <a:t>色なし：その他</a:t>
            </a:r>
          </a:p>
        </p:txBody>
      </p:sp>
      <p:sp>
        <p:nvSpPr>
          <p:cNvPr id="53" name="Rounded Rectangle 52"/>
          <p:cNvSpPr/>
          <p:nvPr/>
        </p:nvSpPr>
        <p:spPr>
          <a:xfrm>
            <a:off x="5724000" y="2052000"/>
            <a:ext cx="3751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50" b="1">
                <a:solidFill>
                  <a:srgbClr val="333333"/>
                </a:solidFill>
                <a:latin typeface="メイリオ"/>
                <a:ea typeface="メイリオ"/>
                <a:cs typeface="メイリオ"/>
              </a:rPr>
              <a:t>LINE追加率を上げるコンテンツ（検索当日〜翌日）</a:t>
            </a:r>
          </a:p>
        </p:txBody>
      </p:sp>
      <p:sp>
        <p:nvSpPr>
          <p:cNvPr id="54" name="Rounded Rectangle 53"/>
          <p:cNvSpPr/>
          <p:nvPr/>
        </p:nvSpPr>
        <p:spPr>
          <a:xfrm>
            <a:off x="57240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0">
                <a:solidFill>
                  <a:srgbClr val="FFFFFF"/>
                </a:solidFill>
                <a:latin typeface="メイリオ"/>
                <a:ea typeface="メイリオ"/>
                <a:cs typeface="メイリオ"/>
              </a:rPr>
              <a:t>離脱防止で…</a:t>
            </a:r>
          </a:p>
          <a:p>
            <a:pPr algn="ctr">
              <a:lnSpc>
                <a:spcPct val="115000"/>
              </a:lnSpc>
            </a:pPr>
            <a:r>
              <a:rPr sz="1100" b="1">
                <a:solidFill>
                  <a:srgbClr val="FFFFFF"/>
                </a:solidFill>
                <a:latin typeface="メイリオ"/>
                <a:ea typeface="メイリオ"/>
                <a:cs typeface="メイリオ"/>
              </a:rPr>
              <a:t>「習い事ランキング」</a:t>
            </a:r>
          </a:p>
          <a:p>
            <a:pPr algn="ctr">
              <a:lnSpc>
                <a:spcPct val="115000"/>
              </a:lnSpc>
            </a:pPr>
            <a:r>
              <a:rPr sz="1050" b="1">
                <a:solidFill>
                  <a:srgbClr val="FFFFFF"/>
                </a:solidFill>
                <a:latin typeface="メイリオ"/>
                <a:ea typeface="メイリオ"/>
                <a:cs typeface="メイリオ"/>
              </a:rPr>
              <a:t>をLINEで見られます</a:t>
            </a:r>
          </a:p>
        </p:txBody>
      </p:sp>
      <p:sp>
        <p:nvSpPr>
          <p:cNvPr id="55" name="Rounded Rectangle 54"/>
          <p:cNvSpPr/>
          <p:nvPr/>
        </p:nvSpPr>
        <p:spPr>
          <a:xfrm>
            <a:off x="76356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0">
                <a:solidFill>
                  <a:srgbClr val="FFFFFF"/>
                </a:solidFill>
                <a:latin typeface="メイリオ"/>
                <a:ea typeface="メイリオ"/>
                <a:cs typeface="メイリオ"/>
              </a:rPr>
              <a:t>この機会に</a:t>
            </a:r>
          </a:p>
          <a:p>
            <a:pPr algn="ctr">
              <a:lnSpc>
                <a:spcPct val="115000"/>
              </a:lnSpc>
            </a:pPr>
            <a:r>
              <a:rPr sz="1100" b="1">
                <a:solidFill>
                  <a:srgbClr val="FFFFFF"/>
                </a:solidFill>
                <a:latin typeface="メイリオ"/>
                <a:ea typeface="メイリオ"/>
                <a:cs typeface="メイリオ"/>
              </a:rPr>
              <a:t>LINEで30秒</a:t>
            </a:r>
          </a:p>
          <a:p>
            <a:pPr algn="ctr">
              <a:lnSpc>
                <a:spcPct val="115000"/>
              </a:lnSpc>
            </a:pPr>
            <a:r>
              <a:rPr sz="1050" b="1">
                <a:solidFill>
                  <a:srgbClr val="FFFFFF"/>
                </a:solidFill>
                <a:latin typeface="メイリオ"/>
                <a:ea typeface="メイリオ"/>
                <a:cs typeface="メイリオ"/>
              </a:rPr>
              <a:t>適性診断しませんか？</a:t>
            </a:r>
          </a:p>
        </p:txBody>
      </p:sp>
      <p:sp>
        <p:nvSpPr>
          <p:cNvPr id="56" name="Rounded Rectangle 55"/>
          <p:cNvSpPr/>
          <p:nvPr/>
        </p:nvSpPr>
        <p:spPr>
          <a:xfrm>
            <a:off x="57240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1F285A"/>
                </a:solidFill>
                <a:latin typeface="メイリオ"/>
                <a:ea typeface="メイリオ"/>
                <a:cs typeface="メイリオ"/>
              </a:rPr>
              <a:t>当日の検索は「ランキング」</a:t>
            </a:r>
          </a:p>
          <a:p>
            <a:pPr algn="ctr">
              <a:lnSpc>
                <a:spcPct val="115000"/>
              </a:lnSpc>
            </a:pPr>
            <a:r>
              <a:rPr sz="1000" b="0">
                <a:solidFill>
                  <a:srgbClr val="1F285A"/>
                </a:solidFill>
                <a:latin typeface="メイリオ"/>
                <a:ea typeface="メイリオ"/>
                <a:cs typeface="メイリオ"/>
              </a:rPr>
              <a:t>その場で比べる材料を示す</a:t>
            </a:r>
          </a:p>
        </p:txBody>
      </p:sp>
      <p:sp>
        <p:nvSpPr>
          <p:cNvPr id="57" name="Rounded Rectangle 56"/>
          <p:cNvSpPr/>
          <p:nvPr/>
        </p:nvSpPr>
        <p:spPr>
          <a:xfrm>
            <a:off x="76356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1F285A"/>
                </a:solidFill>
                <a:latin typeface="メイリオ"/>
                <a:ea typeface="メイリオ"/>
                <a:cs typeface="メイリオ"/>
              </a:rPr>
              <a:t>電話なし・すぐ結果がわかる</a:t>
            </a:r>
          </a:p>
          <a:p>
            <a:pPr algn="ctr">
              <a:lnSpc>
                <a:spcPct val="115000"/>
              </a:lnSpc>
            </a:pPr>
            <a:r>
              <a:rPr sz="1000" b="0">
                <a:solidFill>
                  <a:srgbClr val="1F285A"/>
                </a:solidFill>
                <a:latin typeface="メイリオ"/>
                <a:ea typeface="メイリオ"/>
                <a:cs typeface="メイリオ"/>
              </a:rPr>
              <a:t>保護者の方も気軽に登録</a:t>
            </a:r>
          </a:p>
        </p:txBody>
      </p:sp>
      <p:cxnSp>
        <p:nvCxnSpPr>
          <p:cNvPr id="58" name="Connector 57"/>
          <p:cNvCxnSpPr/>
          <p:nvPr/>
        </p:nvCxnSpPr>
        <p:spPr>
          <a:xfrm flipV="1">
            <a:off x="3356406" y="2772000"/>
            <a:ext cx="2331594" cy="685106"/>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432000" y="4745524"/>
            <a:ext cx="9043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50" b="1">
                <a:solidFill>
                  <a:srgbClr val="333333"/>
                </a:solidFill>
                <a:latin typeface="メイリオ"/>
                <a:ea typeface="メイリオ"/>
                <a:cs typeface="メイリオ"/>
              </a:rPr>
              <a:t>登録後に体験予約へつなげるコンテンツ（翌日〜14日・「習い事」の検索後に多い「評判」「月謝」の確認に合わせる）</a:t>
            </a:r>
          </a:p>
        </p:txBody>
      </p:sp>
      <p:sp>
        <p:nvSpPr>
          <p:cNvPr id="60" name="Rounded Rectangle 59"/>
          <p:cNvSpPr/>
          <p:nvPr/>
        </p:nvSpPr>
        <p:spPr>
          <a:xfrm>
            <a:off x="432000"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1日目</a:t>
            </a:r>
          </a:p>
          <a:p>
            <a:pPr algn="ctr">
              <a:lnSpc>
                <a:spcPct val="115000"/>
              </a:lnSpc>
            </a:pPr>
            <a:r>
              <a:rPr sz="1050" b="1">
                <a:solidFill>
                  <a:srgbClr val="FFFFFF"/>
                </a:solidFill>
                <a:latin typeface="メイリオ"/>
                <a:ea typeface="メイリオ"/>
                <a:cs typeface="メイリオ"/>
              </a:rPr>
              <a:t>診断リマインド</a:t>
            </a:r>
          </a:p>
          <a:p>
            <a:pPr algn="ctr">
              <a:lnSpc>
                <a:spcPct val="115000"/>
              </a:lnSpc>
            </a:pPr>
            <a:r>
              <a:rPr sz="950" b="0">
                <a:solidFill>
                  <a:srgbClr val="FFFFFF"/>
                </a:solidFill>
                <a:latin typeface="メイリオ"/>
                <a:ea typeface="メイリオ"/>
                <a:cs typeface="メイリオ"/>
              </a:rPr>
              <a:t>まだの方へ</a:t>
            </a:r>
          </a:p>
        </p:txBody>
      </p:sp>
      <p:sp>
        <p:nvSpPr>
          <p:cNvPr id="61" name="Rounded Rectangle 60"/>
          <p:cNvSpPr/>
          <p:nvPr/>
        </p:nvSpPr>
        <p:spPr>
          <a:xfrm>
            <a:off x="1734171"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2日目</a:t>
            </a:r>
          </a:p>
          <a:p>
            <a:pPr algn="ctr">
              <a:lnSpc>
                <a:spcPct val="115000"/>
              </a:lnSpc>
            </a:pPr>
            <a:r>
              <a:rPr sz="1050" b="1">
                <a:solidFill>
                  <a:srgbClr val="FFFFFF"/>
                </a:solidFill>
                <a:latin typeface="メイリオ"/>
                <a:ea typeface="メイリオ"/>
                <a:cs typeface="メイリオ"/>
              </a:rPr>
              <a:t>診断結果</a:t>
            </a:r>
          </a:p>
          <a:p>
            <a:pPr algn="ctr">
              <a:lnSpc>
                <a:spcPct val="115000"/>
              </a:lnSpc>
            </a:pPr>
            <a:r>
              <a:rPr sz="950" b="0">
                <a:solidFill>
                  <a:srgbClr val="FFFFFF"/>
                </a:solidFill>
                <a:latin typeface="メイリオ"/>
                <a:ea typeface="メイリオ"/>
                <a:cs typeface="メイリオ"/>
              </a:rPr>
              <a:t>タイプ別おすすめ</a:t>
            </a:r>
          </a:p>
        </p:txBody>
      </p:sp>
      <p:sp>
        <p:nvSpPr>
          <p:cNvPr id="62" name="Rounded Rectangle 61"/>
          <p:cNvSpPr/>
          <p:nvPr/>
        </p:nvSpPr>
        <p:spPr>
          <a:xfrm>
            <a:off x="3036342"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4日目</a:t>
            </a:r>
          </a:p>
          <a:p>
            <a:pPr algn="ctr">
              <a:lnSpc>
                <a:spcPct val="115000"/>
              </a:lnSpc>
            </a:pPr>
            <a:r>
              <a:rPr sz="1050" b="1">
                <a:solidFill>
                  <a:srgbClr val="FFFFFF"/>
                </a:solidFill>
                <a:latin typeface="メイリオ"/>
                <a:ea typeface="メイリオ"/>
                <a:cs typeface="メイリオ"/>
              </a:rPr>
              <a:t>在籍生の声</a:t>
            </a:r>
          </a:p>
          <a:p>
            <a:pPr algn="ctr">
              <a:lnSpc>
                <a:spcPct val="115000"/>
              </a:lnSpc>
            </a:pPr>
            <a:r>
              <a:rPr sz="950" b="0">
                <a:solidFill>
                  <a:srgbClr val="FFFFFF"/>
                </a:solidFill>
                <a:latin typeface="メイリオ"/>
                <a:ea typeface="メイリオ"/>
                <a:cs typeface="メイリオ"/>
              </a:rPr>
              <a:t>成長エピソード</a:t>
            </a:r>
          </a:p>
        </p:txBody>
      </p:sp>
      <p:sp>
        <p:nvSpPr>
          <p:cNvPr id="63" name="Rounded Rectangle 62"/>
          <p:cNvSpPr/>
          <p:nvPr/>
        </p:nvSpPr>
        <p:spPr>
          <a:xfrm>
            <a:off x="4338514" y="5015524"/>
            <a:ext cx="1230171" cy="1176475"/>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6日目</a:t>
            </a:r>
          </a:p>
          <a:p>
            <a:pPr algn="ctr">
              <a:lnSpc>
                <a:spcPct val="115000"/>
              </a:lnSpc>
            </a:pPr>
            <a:r>
              <a:rPr sz="1050" b="1">
                <a:solidFill>
                  <a:srgbClr val="FFFFFF"/>
                </a:solidFill>
                <a:latin typeface="メイリオ"/>
                <a:ea typeface="メイリオ"/>
                <a:cs typeface="メイリオ"/>
              </a:rPr>
              <a:t>体験のご案内①</a:t>
            </a:r>
          </a:p>
          <a:p>
            <a:pPr algn="ctr">
              <a:lnSpc>
                <a:spcPct val="115000"/>
              </a:lnSpc>
            </a:pPr>
            <a:r>
              <a:rPr sz="950" b="0">
                <a:solidFill>
                  <a:srgbClr val="FFFFFF"/>
                </a:solidFill>
                <a:latin typeface="メイリオ"/>
                <a:ea typeface="メイリオ"/>
                <a:cs typeface="メイリオ"/>
              </a:rPr>
              <a:t>（CV）</a:t>
            </a:r>
          </a:p>
        </p:txBody>
      </p:sp>
      <p:sp>
        <p:nvSpPr>
          <p:cNvPr id="64" name="Rounded Rectangle 63"/>
          <p:cNvSpPr/>
          <p:nvPr/>
        </p:nvSpPr>
        <p:spPr>
          <a:xfrm>
            <a:off x="5640685"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9日目</a:t>
            </a:r>
          </a:p>
          <a:p>
            <a:pPr algn="ctr">
              <a:lnSpc>
                <a:spcPct val="115000"/>
              </a:lnSpc>
            </a:pPr>
            <a:r>
              <a:rPr sz="1050" b="1">
                <a:solidFill>
                  <a:srgbClr val="FFFFFF"/>
                </a:solidFill>
                <a:latin typeface="メイリオ"/>
                <a:ea typeface="メイリオ"/>
                <a:cs typeface="メイリオ"/>
              </a:rPr>
              <a:t>伸びる力</a:t>
            </a:r>
          </a:p>
          <a:p>
            <a:pPr algn="ctr">
              <a:lnSpc>
                <a:spcPct val="115000"/>
              </a:lnSpc>
            </a:pPr>
            <a:r>
              <a:rPr sz="950" b="0">
                <a:solidFill>
                  <a:srgbClr val="FFFFFF"/>
                </a:solidFill>
                <a:latin typeface="メイリオ"/>
                <a:ea typeface="メイリオ"/>
                <a:cs typeface="メイリオ"/>
              </a:rPr>
              <a:t>非認知能力・知育</a:t>
            </a:r>
          </a:p>
        </p:txBody>
      </p:sp>
      <p:sp>
        <p:nvSpPr>
          <p:cNvPr id="65" name="Rounded Rectangle 64"/>
          <p:cNvSpPr/>
          <p:nvPr/>
        </p:nvSpPr>
        <p:spPr>
          <a:xfrm>
            <a:off x="6942857"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12日目</a:t>
            </a:r>
          </a:p>
          <a:p>
            <a:pPr algn="ctr">
              <a:lnSpc>
                <a:spcPct val="115000"/>
              </a:lnSpc>
            </a:pPr>
            <a:r>
              <a:rPr sz="1050" b="1">
                <a:solidFill>
                  <a:srgbClr val="FFFFFF"/>
                </a:solidFill>
                <a:latin typeface="メイリオ"/>
                <a:ea typeface="メイリオ"/>
                <a:cs typeface="メイリオ"/>
              </a:rPr>
              <a:t>よくある疑問</a:t>
            </a:r>
          </a:p>
          <a:p>
            <a:pPr algn="ctr">
              <a:lnSpc>
                <a:spcPct val="115000"/>
              </a:lnSpc>
            </a:pPr>
            <a:r>
              <a:rPr sz="950" b="0">
                <a:solidFill>
                  <a:srgbClr val="FFFFFF"/>
                </a:solidFill>
                <a:latin typeface="メイリオ"/>
                <a:ea typeface="メイリオ"/>
                <a:cs typeface="メイリオ"/>
              </a:rPr>
              <a:t>月謝・送迎・振替</a:t>
            </a:r>
          </a:p>
        </p:txBody>
      </p:sp>
      <p:sp>
        <p:nvSpPr>
          <p:cNvPr id="66" name="Rounded Rectangle 65"/>
          <p:cNvSpPr/>
          <p:nvPr/>
        </p:nvSpPr>
        <p:spPr>
          <a:xfrm>
            <a:off x="8245028" y="5015524"/>
            <a:ext cx="1230171" cy="1176475"/>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14日目</a:t>
            </a:r>
          </a:p>
          <a:p>
            <a:pPr algn="ctr">
              <a:lnSpc>
                <a:spcPct val="115000"/>
              </a:lnSpc>
            </a:pPr>
            <a:r>
              <a:rPr sz="1050" b="1">
                <a:solidFill>
                  <a:srgbClr val="FFFFFF"/>
                </a:solidFill>
                <a:latin typeface="メイリオ"/>
                <a:ea typeface="メイリオ"/>
                <a:cs typeface="メイリオ"/>
              </a:rPr>
              <a:t>体験のご案内②</a:t>
            </a:r>
          </a:p>
          <a:p>
            <a:pPr algn="ctr">
              <a:lnSpc>
                <a:spcPct val="115000"/>
              </a:lnSpc>
            </a:pPr>
            <a:r>
              <a:rPr sz="950" b="0">
                <a:solidFill>
                  <a:srgbClr val="FFFFFF"/>
                </a:solidFill>
                <a:latin typeface="メイリオ"/>
                <a:ea typeface="メイリオ"/>
                <a:cs typeface="メイリオ"/>
              </a:rPr>
              <a:t>（CV）</a:t>
            </a:r>
          </a:p>
        </p:txBody>
      </p:sp>
      <p:cxnSp>
        <p:nvCxnSpPr>
          <p:cNvPr id="67" name="Connector 66"/>
          <p:cNvCxnSpPr/>
          <p:nvPr/>
        </p:nvCxnSpPr>
        <p:spPr>
          <a:xfrm>
            <a:off x="4573005" y="4313865"/>
            <a:ext cx="314145" cy="413659"/>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32000" y="6282000"/>
            <a:ext cx="72000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a:t>
            </a:r>
          </a:p>
        </p:txBody>
      </p:sp>
    </p:spTree>
    <p:extLst>
      <p:ext uri="{BB962C8B-B14F-4D97-AF65-F5344CB8AC3E}">
        <p14:creationId xmlns:p14="http://schemas.microsoft.com/office/powerpoint/2010/main" val="39955816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前後検索「習い事」</a:t>
            </a:r>
          </a:p>
        </p:txBody>
      </p:sp>
      <p:sp>
        <p:nvSpPr>
          <p:cNvPr id="5" name="Text 7">
            <a:extLst>
              <a:ext uri="{FF2B5EF4-FFF2-40B4-BE49-F238E27FC236}">
                <a16:creationId xmlns:a16="http://schemas.microsoft.com/office/drawing/2014/main" id="{BD6FF840-BD2A-C9D2-6742-4C0E533AE4B4}"/>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400" dirty="0">
                <a:solidFill>
                  <a:schemeClr val="tx1"/>
                </a:solidFill>
                <a:latin typeface="メイリオ" panose="020B0604030504040204" pitchFamily="50" charset="-128"/>
                <a:ea typeface="メイリオ" panose="020B0604030504040204" pitchFamily="50" charset="-128"/>
              </a:rPr>
              <a:t>「</a:t>
            </a:r>
            <a:r>
              <a:rPr lang="en-US" altLang="ja-JP" sz="1400" dirty="0" err="1">
                <a:solidFill>
                  <a:schemeClr val="tx1"/>
                </a:solidFill>
                <a:latin typeface="メイリオ" panose="020B0604030504040204" pitchFamily="50" charset="-128"/>
                <a:ea typeface="メイリオ" panose="020B0604030504040204" pitchFamily="50" charset="-128"/>
              </a:rPr>
              <a:t>習い事」で探す保護者の動き方には、一定の型が</a:t>
            </a:r>
            <a:r>
              <a:rPr lang="ja-JP" altLang="en-US" sz="1400" dirty="0">
                <a:solidFill>
                  <a:schemeClr val="tx1"/>
                </a:solidFill>
                <a:latin typeface="メイリオ" panose="020B0604030504040204" pitchFamily="50" charset="-128"/>
                <a:ea typeface="メイリオ" panose="020B0604030504040204" pitchFamily="50" charset="-128"/>
              </a:rPr>
              <a:t>存在</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46" name="Rounded Rectangle 45"/>
          <p:cNvSpPr/>
          <p:nvPr/>
        </p:nvSpPr>
        <p:spPr>
          <a:xfrm>
            <a:off x="432000" y="1584000"/>
            <a:ext cx="18480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2B5797"/>
                </a:solidFill>
                <a:latin typeface="メイリオ"/>
                <a:ea typeface="メイリオ"/>
                <a:cs typeface="メイリオ"/>
              </a:rPr>
              <a:t>習い事の比較・検討</a:t>
            </a:r>
          </a:p>
        </p:txBody>
      </p:sp>
      <p:sp>
        <p:nvSpPr>
          <p:cNvPr id="47" name="Rounded Rectangle 46"/>
          <p:cNvSpPr/>
          <p:nvPr/>
        </p:nvSpPr>
        <p:spPr>
          <a:xfrm>
            <a:off x="2352000" y="1584000"/>
            <a:ext cx="18480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C0561A"/>
                </a:solidFill>
                <a:latin typeface="メイリオ"/>
                <a:ea typeface="メイリオ"/>
                <a:cs typeface="メイリオ"/>
              </a:rPr>
              <a:t>子育て・学び</a:t>
            </a:r>
          </a:p>
        </p:txBody>
      </p:sp>
      <p:sp>
        <p:nvSpPr>
          <p:cNvPr id="48" name="Rounded Rectangle 47"/>
          <p:cNvSpPr/>
          <p:nvPr/>
        </p:nvSpPr>
        <p:spPr>
          <a:xfrm>
            <a:off x="4272000" y="1584000"/>
            <a:ext cx="18480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7440A8"/>
                </a:solidFill>
                <a:latin typeface="メイリオ"/>
                <a:ea typeface="メイリオ"/>
                <a:cs typeface="メイリオ"/>
              </a:rPr>
              <a:t>家族のお出かけ・楽しみ</a:t>
            </a:r>
          </a:p>
        </p:txBody>
      </p:sp>
      <p:pic>
        <p:nvPicPr>
          <p:cNvPr id="49" name="Picture 48" descr="image.png"/>
          <p:cNvPicPr>
            <a:picLocks noChangeAspect="1"/>
          </p:cNvPicPr>
          <p:nvPr/>
        </p:nvPicPr>
        <p:blipFill>
          <a:blip r:embed="rId3"/>
          <a:stretch>
            <a:fillRect/>
          </a:stretch>
        </p:blipFill>
        <p:spPr>
          <a:xfrm>
            <a:off x="432000" y="1861200"/>
            <a:ext cx="5688000" cy="3317470"/>
          </a:xfrm>
          <a:prstGeom prst="rect">
            <a:avLst/>
          </a:prstGeom>
        </p:spPr>
      </p:pic>
      <p:sp>
        <p:nvSpPr>
          <p:cNvPr id="50" name="Rectangle 49"/>
          <p:cNvSpPr/>
          <p:nvPr/>
        </p:nvSpPr>
        <p:spPr>
          <a:xfrm>
            <a:off x="3358618" y="1861200"/>
            <a:ext cx="676840" cy="3281470"/>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229039" y="5196670"/>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00873C"/>
                </a:solidFill>
                <a:latin typeface="メイリオ"/>
                <a:ea typeface="メイリオ"/>
                <a:cs typeface="メイリオ"/>
              </a:rPr>
              <a:t>LINE追加</a:t>
            </a:r>
          </a:p>
        </p:txBody>
      </p:sp>
      <p:sp>
        <p:nvSpPr>
          <p:cNvPr id="52" name="TextBox 51"/>
          <p:cNvSpPr txBox="1"/>
          <p:nvPr/>
        </p:nvSpPr>
        <p:spPr>
          <a:xfrm>
            <a:off x="4140000" y="5214670"/>
            <a:ext cx="1980000" cy="180000"/>
          </a:xfrm>
          <a:prstGeom prst="rect">
            <a:avLst/>
          </a:prstGeom>
          <a:noFill/>
        </p:spPr>
        <p:txBody>
          <a:bodyPr wrap="square" lIns="0" tIns="21600" rIns="0" bIns="21600" anchor="ctr">
            <a:spAutoFit/>
          </a:bodyPr>
          <a:lstStyle/>
          <a:p>
            <a:pPr algn="r"/>
            <a:r>
              <a:rPr sz="850">
                <a:solidFill>
                  <a:srgbClr val="7F7F7F"/>
                </a:solidFill>
                <a:latin typeface="メイリオ"/>
                <a:ea typeface="メイリオ"/>
                <a:cs typeface="メイリオ"/>
              </a:rPr>
              <a:t>色なし：大人の習い事・趣味、その他</a:t>
            </a:r>
          </a:p>
        </p:txBody>
      </p:sp>
      <p:sp>
        <p:nvSpPr>
          <p:cNvPr id="53" name="Rounded Rectangle 52"/>
          <p:cNvSpPr/>
          <p:nvPr/>
        </p:nvSpPr>
        <p:spPr>
          <a:xfrm>
            <a:off x="6228000" y="1584000"/>
            <a:ext cx="32472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1F285A"/>
                </a:solidFill>
                <a:latin typeface="メイリオ"/>
                <a:ea typeface="メイリオ"/>
                <a:cs typeface="メイリオ"/>
              </a:rPr>
              <a:t>検索前（〜前日）：子どもの悩み・習い事の効果</a:t>
            </a:r>
          </a:p>
          <a:p>
            <a:pPr algn="l">
              <a:lnSpc>
                <a:spcPct val="125000"/>
              </a:lnSpc>
              <a:spcAft>
                <a:spcPts val="200"/>
              </a:spcAft>
            </a:pPr>
            <a:r>
              <a:rPr sz="1050">
                <a:solidFill>
                  <a:srgbClr val="333333"/>
                </a:solidFill>
                <a:latin typeface="メイリオ"/>
                <a:ea typeface="メイリオ"/>
                <a:cs typeface="メイリオ"/>
              </a:rPr>
              <a:t>療育／集団行動が苦手な子供／子供 イライラする／9歳の壁／そろばん 効果</a:t>
            </a:r>
          </a:p>
        </p:txBody>
      </p:sp>
      <p:sp>
        <p:nvSpPr>
          <p:cNvPr id="54" name="Rounded Rectangle 53"/>
          <p:cNvSpPr/>
          <p:nvPr/>
        </p:nvSpPr>
        <p:spPr>
          <a:xfrm>
            <a:off x="6228000" y="2808000"/>
            <a:ext cx="3247200" cy="115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ED7D31"/>
                </a:solidFill>
                <a:latin typeface="メイリオ"/>
                <a:ea typeface="メイリオ"/>
                <a:cs typeface="メイリオ"/>
              </a:rPr>
              <a:t>検索当日：習い事の種類・ランキング</a:t>
            </a:r>
          </a:p>
          <a:p>
            <a:pPr algn="l">
              <a:lnSpc>
                <a:spcPct val="125000"/>
              </a:lnSpc>
              <a:spcAft>
                <a:spcPts val="200"/>
              </a:spcAft>
            </a:pPr>
            <a:r>
              <a:rPr sz="1050">
                <a:solidFill>
                  <a:srgbClr val="333333"/>
                </a:solidFill>
                <a:latin typeface="メイリオ"/>
                <a:ea typeface="メイリオ"/>
                <a:cs typeface="メイリオ"/>
              </a:rPr>
              <a:t>習い事 ランキング／子供の習い事／体操教室／そろばん／スポーツ 習い事</a:t>
            </a:r>
          </a:p>
        </p:txBody>
      </p:sp>
      <p:sp>
        <p:nvSpPr>
          <p:cNvPr id="55" name="Rounded Rectangle 54"/>
          <p:cNvSpPr/>
          <p:nvPr/>
        </p:nvSpPr>
        <p:spPr>
          <a:xfrm>
            <a:off x="6228000" y="4031999"/>
            <a:ext cx="32472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1F285A"/>
                </a:solidFill>
                <a:latin typeface="メイリオ"/>
                <a:ea typeface="メイリオ"/>
                <a:cs typeface="メイリオ"/>
              </a:rPr>
              <a:t>検索後（翌日〜15日）：教室名・評判・月謝の確認</a:t>
            </a:r>
          </a:p>
          <a:p>
            <a:pPr algn="l">
              <a:lnSpc>
                <a:spcPct val="125000"/>
              </a:lnSpc>
              <a:spcAft>
                <a:spcPts val="200"/>
              </a:spcAft>
            </a:pPr>
            <a:r>
              <a:rPr sz="1050">
                <a:solidFill>
                  <a:srgbClr val="333333"/>
                </a:solidFill>
                <a:latin typeface="メイリオ"/>
                <a:ea typeface="メイリオ"/>
                <a:cs typeface="メイリオ"/>
              </a:rPr>
              <a:t>忍者ナイン 評判／くもん 月謝／小学生 習い事 いくつ／幼児教室／小学校一年生</a:t>
            </a:r>
          </a:p>
        </p:txBody>
      </p:sp>
      <p:sp>
        <p:nvSpPr>
          <p:cNvPr id="56" name="Rounded Rectangle 55"/>
          <p:cNvSpPr/>
          <p:nvPr/>
        </p:nvSpPr>
        <p:spPr>
          <a:xfrm>
            <a:off x="432000" y="5526000"/>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dirty="0" err="1">
                <a:solidFill>
                  <a:srgbClr val="FFFFFF"/>
                </a:solidFill>
                <a:latin typeface="メイリオ"/>
                <a:ea typeface="メイリオ"/>
                <a:cs typeface="メイリオ"/>
              </a:rPr>
              <a:t>登録した後の配信</a:t>
            </a:r>
            <a:r>
              <a:rPr lang="ja-JP" altLang="en-US" sz="1400" b="1" dirty="0">
                <a:solidFill>
                  <a:srgbClr val="FFFFFF"/>
                </a:solidFill>
                <a:latin typeface="メイリオ"/>
                <a:ea typeface="メイリオ"/>
                <a:cs typeface="メイリオ"/>
              </a:rPr>
              <a:t>に</a:t>
            </a:r>
            <a:r>
              <a:rPr sz="1400" b="1" dirty="0" err="1">
                <a:solidFill>
                  <a:srgbClr val="FFFFFF"/>
                </a:solidFill>
                <a:latin typeface="メイリオ"/>
                <a:ea typeface="メイリオ"/>
                <a:cs typeface="メイリオ"/>
              </a:rPr>
              <a:t>は「子どもの悩み</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習い事の比べ方</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評判・月謝」の順番が最適</a:t>
            </a:r>
            <a:endParaRPr sz="1400" b="1" dirty="0">
              <a:solidFill>
                <a:srgbClr val="FFFFFF"/>
              </a:solidFill>
              <a:latin typeface="メイリオ"/>
              <a:ea typeface="メイリオ"/>
              <a:cs typeface="メイリオ"/>
            </a:endParaRPr>
          </a:p>
        </p:txBody>
      </p:sp>
      <p:sp>
        <p:nvSpPr>
          <p:cNvPr id="57" name="TextBox 56"/>
          <p:cNvSpPr txBox="1"/>
          <p:nvPr/>
        </p:nvSpPr>
        <p:spPr>
          <a:xfrm>
            <a:off x="432000" y="6282000"/>
            <a:ext cx="72000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出典：LINEヤフー社提供の前後検索データ（検索起点：「習い事」）</a:t>
            </a:r>
          </a:p>
        </p:txBody>
      </p:sp>
    </p:spTree>
    <p:extLst>
      <p:ext uri="{BB962C8B-B14F-4D97-AF65-F5344CB8AC3E}">
        <p14:creationId xmlns:p14="http://schemas.microsoft.com/office/powerpoint/2010/main" val="3637339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前後検索のまとめ（項目別）</a:t>
            </a: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400" b="1" dirty="0">
                <a:solidFill>
                  <a:schemeClr val="tx1"/>
                </a:solidFill>
                <a:latin typeface="Meiryo" pitchFamily="34" charset="0"/>
                <a:ea typeface="Meiryo" pitchFamily="34" charset="-122"/>
                <a:cs typeface="Meiryo" pitchFamily="34" charset="-120"/>
              </a:rPr>
              <a:t>習い事の比較は検索の当日から後まで続き、その前後に子育て・家族のお出かけへの関心</a:t>
            </a:r>
          </a:p>
          <a:p>
            <a:pPr marL="0" indent="0" algn="ctr">
              <a:buNone/>
            </a:pPr>
            <a:r>
              <a:rPr lang="ja-JP" altLang="en-US" sz="1400" b="1" dirty="0">
                <a:solidFill>
                  <a:schemeClr val="tx1"/>
                </a:solidFill>
                <a:latin typeface="Meiryo" pitchFamily="34" charset="0"/>
                <a:ea typeface="Meiryo" pitchFamily="34" charset="-122"/>
                <a:cs typeface="Meiryo" pitchFamily="34" charset="-120"/>
              </a:rPr>
              <a:t>項目ごとに、LINEでの打ち手を用意</a:t>
            </a:r>
            <a:r>
              <a:rPr lang="ja-JP" altLang="en-US" b="1" dirty="0">
                <a:solidFill>
                  <a:schemeClr val="tx1"/>
                </a:solidFill>
                <a:latin typeface="Meiryo" pitchFamily="34" charset="0"/>
                <a:ea typeface="Meiryo" pitchFamily="34" charset="-122"/>
                <a:cs typeface="Meiryo" pitchFamily="34" charset="-120"/>
              </a:rPr>
              <a:t>する</a:t>
            </a:r>
            <a:endParaRPr lang="ja-JP" altLang="en-US" sz="1400" b="1" dirty="0">
              <a:solidFill>
                <a:schemeClr val="tx1"/>
              </a:solidFill>
              <a:latin typeface="Meiryo" pitchFamily="34" charset="0"/>
              <a:ea typeface="Meiryo" pitchFamily="34" charset="-122"/>
              <a:cs typeface="Meiryo" pitchFamily="34" charset="-120"/>
            </a:endParaRPr>
          </a:p>
        </p:txBody>
      </p:sp>
      <p:sp>
        <p:nvSpPr>
          <p:cNvPr id="46" name="Rounded Rectangle 45"/>
          <p:cNvSpPr/>
          <p:nvPr/>
        </p:nvSpPr>
        <p:spPr>
          <a:xfrm>
            <a:off x="1763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検索前（-15〜-1日）</a:t>
            </a:r>
          </a:p>
        </p:txBody>
      </p:sp>
      <p:sp>
        <p:nvSpPr>
          <p:cNvPr id="47" name="Rounded Rectangle 46"/>
          <p:cNvSpPr/>
          <p:nvPr/>
        </p:nvSpPr>
        <p:spPr>
          <a:xfrm>
            <a:off x="3761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検索当日</a:t>
            </a:r>
          </a:p>
        </p:txBody>
      </p:sp>
      <p:sp>
        <p:nvSpPr>
          <p:cNvPr id="48" name="Rounded Rectangle 47"/>
          <p:cNvSpPr/>
          <p:nvPr/>
        </p:nvSpPr>
        <p:spPr>
          <a:xfrm>
            <a:off x="5759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検索後（+1〜15日）</a:t>
            </a:r>
          </a:p>
        </p:txBody>
      </p:sp>
      <p:sp>
        <p:nvSpPr>
          <p:cNvPr id="49" name="Rounded Rectangle 48"/>
          <p:cNvSpPr/>
          <p:nvPr/>
        </p:nvSpPr>
        <p:spPr>
          <a:xfrm>
            <a:off x="7758000" y="1530000"/>
            <a:ext cx="1807199"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LINEでの打ち手</a:t>
            </a:r>
          </a:p>
        </p:txBody>
      </p:sp>
      <p:sp>
        <p:nvSpPr>
          <p:cNvPr id="50" name="Rounded Rectangle 49"/>
          <p:cNvSpPr/>
          <p:nvPr/>
        </p:nvSpPr>
        <p:spPr>
          <a:xfrm>
            <a:off x="432000" y="1908000"/>
            <a:ext cx="1296000" cy="1242000"/>
          </a:xfrm>
          <a:prstGeom prst="roundRect">
            <a:avLst>
              <a:gd name="adj" fmla="val 6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習い事の</a:t>
            </a:r>
          </a:p>
          <a:p>
            <a:pPr algn="ctr">
              <a:lnSpc>
                <a:spcPct val="115000"/>
              </a:lnSpc>
            </a:pPr>
            <a:r>
              <a:rPr sz="1450" b="1">
                <a:solidFill>
                  <a:srgbClr val="FFFFFF"/>
                </a:solidFill>
                <a:latin typeface="メイリオ"/>
                <a:ea typeface="メイリオ"/>
                <a:cs typeface="メイリオ"/>
              </a:rPr>
              <a:t>比較・検討</a:t>
            </a:r>
          </a:p>
        </p:txBody>
      </p:sp>
      <p:sp>
        <p:nvSpPr>
          <p:cNvPr id="51" name="Rounded Rectangle 50"/>
          <p:cNvSpPr/>
          <p:nvPr/>
        </p:nvSpPr>
        <p:spPr>
          <a:xfrm>
            <a:off x="1763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「公文式教室」</a:t>
            </a:r>
          </a:p>
          <a:p>
            <a:pPr algn="ctr">
              <a:spcAft>
                <a:spcPts val="100"/>
              </a:spcAft>
            </a:pPr>
            <a:r>
              <a:rPr sz="1250">
                <a:solidFill>
                  <a:srgbClr val="333333"/>
                </a:solidFill>
                <a:latin typeface="メイリオ"/>
                <a:ea typeface="メイリオ"/>
                <a:cs typeface="メイリオ"/>
              </a:rPr>
              <a:t>「ピアノ 習い事」</a:t>
            </a:r>
          </a:p>
          <a:p>
            <a:pPr algn="ctr">
              <a:spcAft>
                <a:spcPts val="100"/>
              </a:spcAft>
            </a:pPr>
            <a:r>
              <a:rPr sz="1250">
                <a:solidFill>
                  <a:srgbClr val="333333"/>
                </a:solidFill>
                <a:latin typeface="メイリオ"/>
                <a:ea typeface="メイリオ"/>
                <a:cs typeface="メイリオ"/>
              </a:rPr>
              <a:t>「そろばん 効果」</a:t>
            </a:r>
          </a:p>
          <a:p>
            <a:pPr algn="ctr">
              <a:spcAft>
                <a:spcPts val="100"/>
              </a:spcAft>
            </a:pPr>
            <a:r>
              <a:rPr sz="1250">
                <a:solidFill>
                  <a:srgbClr val="333333"/>
                </a:solidFill>
                <a:latin typeface="メイリオ"/>
                <a:ea typeface="メイリオ"/>
                <a:cs typeface="メイリオ"/>
              </a:rPr>
              <a:t>「くもん 英語」</a:t>
            </a:r>
          </a:p>
        </p:txBody>
      </p:sp>
      <p:sp>
        <p:nvSpPr>
          <p:cNvPr id="52" name="Rounded Rectangle 51"/>
          <p:cNvSpPr/>
          <p:nvPr/>
        </p:nvSpPr>
        <p:spPr>
          <a:xfrm>
            <a:off x="3761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「習い事 ランキング」</a:t>
            </a:r>
          </a:p>
          <a:p>
            <a:pPr algn="ctr">
              <a:spcAft>
                <a:spcPts val="100"/>
              </a:spcAft>
            </a:pPr>
            <a:r>
              <a:rPr sz="1250">
                <a:solidFill>
                  <a:srgbClr val="333333"/>
                </a:solidFill>
                <a:latin typeface="メイリオ"/>
                <a:ea typeface="メイリオ"/>
                <a:cs typeface="メイリオ"/>
              </a:rPr>
              <a:t>「ヤマハ音楽教室」</a:t>
            </a:r>
          </a:p>
          <a:p>
            <a:pPr algn="ctr">
              <a:spcAft>
                <a:spcPts val="100"/>
              </a:spcAft>
            </a:pPr>
            <a:r>
              <a:rPr sz="1250">
                <a:solidFill>
                  <a:srgbClr val="333333"/>
                </a:solidFill>
                <a:latin typeface="メイリオ"/>
                <a:ea typeface="メイリオ"/>
                <a:cs typeface="メイリオ"/>
              </a:rPr>
              <a:t>「そろばん」</a:t>
            </a:r>
          </a:p>
          <a:p>
            <a:pPr algn="ctr">
              <a:spcAft>
                <a:spcPts val="100"/>
              </a:spcAft>
            </a:pPr>
            <a:r>
              <a:rPr sz="1250">
                <a:solidFill>
                  <a:srgbClr val="333333"/>
                </a:solidFill>
                <a:latin typeface="メイリオ"/>
                <a:ea typeface="メイリオ"/>
                <a:cs typeface="メイリオ"/>
              </a:rPr>
              <a:t>「体操教室」</a:t>
            </a:r>
          </a:p>
        </p:txBody>
      </p:sp>
      <p:sp>
        <p:nvSpPr>
          <p:cNvPr id="53" name="Rounded Rectangle 52"/>
          <p:cNvSpPr/>
          <p:nvPr/>
        </p:nvSpPr>
        <p:spPr>
          <a:xfrm>
            <a:off x="5759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「忍者ナイン 評判」</a:t>
            </a:r>
          </a:p>
          <a:p>
            <a:pPr algn="ctr">
              <a:spcAft>
                <a:spcPts val="100"/>
              </a:spcAft>
            </a:pPr>
            <a:r>
              <a:rPr sz="1250">
                <a:solidFill>
                  <a:srgbClr val="333333"/>
                </a:solidFill>
                <a:latin typeface="メイリオ"/>
                <a:ea typeface="メイリオ"/>
                <a:cs typeface="メイリオ"/>
              </a:rPr>
              <a:t>「くもん 月謝」</a:t>
            </a:r>
          </a:p>
          <a:p>
            <a:pPr algn="ctr">
              <a:spcAft>
                <a:spcPts val="100"/>
              </a:spcAft>
            </a:pPr>
            <a:r>
              <a:rPr sz="1250">
                <a:solidFill>
                  <a:srgbClr val="333333"/>
                </a:solidFill>
                <a:latin typeface="メイリオ"/>
                <a:ea typeface="メイリオ"/>
                <a:cs typeface="メイリオ"/>
              </a:rPr>
              <a:t>「小学生 習い事 いくつ」</a:t>
            </a:r>
          </a:p>
          <a:p>
            <a:pPr algn="ctr">
              <a:spcAft>
                <a:spcPts val="100"/>
              </a:spcAft>
            </a:pPr>
            <a:r>
              <a:rPr sz="1250">
                <a:solidFill>
                  <a:srgbClr val="333333"/>
                </a:solidFill>
                <a:latin typeface="メイリオ"/>
                <a:ea typeface="メイリオ"/>
                <a:cs typeface="メイリオ"/>
              </a:rPr>
              <a:t>「幼児教室」</a:t>
            </a:r>
          </a:p>
        </p:txBody>
      </p:sp>
      <p:sp>
        <p:nvSpPr>
          <p:cNvPr id="54" name="Rounded Rectangle 53"/>
          <p:cNvSpPr/>
          <p:nvPr/>
        </p:nvSpPr>
        <p:spPr>
          <a:xfrm>
            <a:off x="7758000" y="19080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比較の最中に友だち追加。評判・月謝の疑問にお答えし、体験予約へ</a:t>
            </a:r>
          </a:p>
        </p:txBody>
      </p:sp>
      <p:sp>
        <p:nvSpPr>
          <p:cNvPr id="55" name="Rounded Rectangle 54"/>
          <p:cNvSpPr/>
          <p:nvPr/>
        </p:nvSpPr>
        <p:spPr>
          <a:xfrm>
            <a:off x="432000" y="3193200"/>
            <a:ext cx="1296000" cy="1242000"/>
          </a:xfrm>
          <a:prstGeom prst="roundRect">
            <a:avLst>
              <a:gd name="adj" fmla="val 6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子育て・</a:t>
            </a:r>
          </a:p>
          <a:p>
            <a:pPr algn="ctr">
              <a:lnSpc>
                <a:spcPct val="115000"/>
              </a:lnSpc>
            </a:pPr>
            <a:r>
              <a:rPr sz="1450" b="1">
                <a:solidFill>
                  <a:srgbClr val="FFFFFF"/>
                </a:solidFill>
                <a:latin typeface="メイリオ"/>
                <a:ea typeface="メイリオ"/>
                <a:cs typeface="メイリオ"/>
              </a:rPr>
              <a:t>学び</a:t>
            </a:r>
          </a:p>
        </p:txBody>
      </p:sp>
      <p:sp>
        <p:nvSpPr>
          <p:cNvPr id="56" name="Rounded Rectangle 55"/>
          <p:cNvSpPr/>
          <p:nvPr/>
        </p:nvSpPr>
        <p:spPr>
          <a:xfrm>
            <a:off x="1763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「こどもちゃれんじ」</a:t>
            </a:r>
          </a:p>
          <a:p>
            <a:pPr algn="ctr">
              <a:spcAft>
                <a:spcPts val="100"/>
              </a:spcAft>
            </a:pPr>
            <a:r>
              <a:rPr sz="1250">
                <a:solidFill>
                  <a:srgbClr val="333333"/>
                </a:solidFill>
                <a:latin typeface="メイリオ"/>
                <a:ea typeface="メイリオ"/>
                <a:cs typeface="メイリオ"/>
              </a:rPr>
              <a:t>「スマイルゼミ」</a:t>
            </a:r>
          </a:p>
          <a:p>
            <a:pPr algn="ctr">
              <a:spcAft>
                <a:spcPts val="100"/>
              </a:spcAft>
            </a:pPr>
            <a:r>
              <a:rPr sz="1250">
                <a:solidFill>
                  <a:srgbClr val="333333"/>
                </a:solidFill>
                <a:latin typeface="メイリオ"/>
                <a:ea typeface="メイリオ"/>
                <a:cs typeface="メイリオ"/>
              </a:rPr>
              <a:t>「子供 イライラする」</a:t>
            </a:r>
          </a:p>
          <a:p>
            <a:pPr algn="ctr">
              <a:spcAft>
                <a:spcPts val="100"/>
              </a:spcAft>
            </a:pPr>
            <a:r>
              <a:rPr sz="1250">
                <a:solidFill>
                  <a:srgbClr val="333333"/>
                </a:solidFill>
                <a:latin typeface="メイリオ"/>
                <a:ea typeface="メイリオ"/>
                <a:cs typeface="メイリオ"/>
              </a:rPr>
              <a:t>「9歳の壁」</a:t>
            </a:r>
          </a:p>
        </p:txBody>
      </p:sp>
      <p:sp>
        <p:nvSpPr>
          <p:cNvPr id="57" name="Rounded Rectangle 56"/>
          <p:cNvSpPr/>
          <p:nvPr/>
        </p:nvSpPr>
        <p:spPr>
          <a:xfrm>
            <a:off x="3761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「rsウイルス」</a:t>
            </a:r>
          </a:p>
        </p:txBody>
      </p:sp>
      <p:sp>
        <p:nvSpPr>
          <p:cNvPr id="58" name="Rounded Rectangle 57"/>
          <p:cNvSpPr/>
          <p:nvPr/>
        </p:nvSpPr>
        <p:spPr>
          <a:xfrm>
            <a:off x="5759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「小学校受験」</a:t>
            </a:r>
          </a:p>
          <a:p>
            <a:pPr algn="ctr">
              <a:spcAft>
                <a:spcPts val="100"/>
              </a:spcAft>
            </a:pPr>
            <a:r>
              <a:rPr sz="1250">
                <a:solidFill>
                  <a:srgbClr val="333333"/>
                </a:solidFill>
                <a:latin typeface="メイリオ"/>
                <a:ea typeface="メイリオ"/>
                <a:cs typeface="メイリオ"/>
              </a:rPr>
              <a:t>「小学校一年生」</a:t>
            </a:r>
          </a:p>
          <a:p>
            <a:pPr algn="ctr">
              <a:spcAft>
                <a:spcPts val="100"/>
              </a:spcAft>
            </a:pPr>
            <a:r>
              <a:rPr sz="1250">
                <a:solidFill>
                  <a:srgbClr val="333333"/>
                </a:solidFill>
                <a:latin typeface="メイリオ"/>
                <a:ea typeface="メイリオ"/>
                <a:cs typeface="メイリオ"/>
              </a:rPr>
              <a:t>「ポピー 教材」</a:t>
            </a:r>
          </a:p>
          <a:p>
            <a:pPr algn="ctr">
              <a:spcAft>
                <a:spcPts val="100"/>
              </a:spcAft>
            </a:pPr>
            <a:r>
              <a:rPr sz="1250">
                <a:solidFill>
                  <a:srgbClr val="333333"/>
                </a:solidFill>
                <a:latin typeface="メイリオ"/>
                <a:ea typeface="メイリオ"/>
                <a:cs typeface="メイリオ"/>
              </a:rPr>
              <a:t>「児童手当」</a:t>
            </a:r>
          </a:p>
        </p:txBody>
      </p:sp>
      <p:sp>
        <p:nvSpPr>
          <p:cNvPr id="59" name="Rounded Rectangle 58"/>
          <p:cNvSpPr/>
          <p:nvPr/>
        </p:nvSpPr>
        <p:spPr>
          <a:xfrm>
            <a:off x="7758000" y="31932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子どもの成長・悩みに寄り添う情報をお届けし、接点を保つ</a:t>
            </a:r>
          </a:p>
        </p:txBody>
      </p:sp>
      <p:sp>
        <p:nvSpPr>
          <p:cNvPr id="60" name="Rounded Rectangle 59"/>
          <p:cNvSpPr/>
          <p:nvPr/>
        </p:nvSpPr>
        <p:spPr>
          <a:xfrm>
            <a:off x="432000" y="4478400"/>
            <a:ext cx="1296000" cy="1242000"/>
          </a:xfrm>
          <a:prstGeom prst="roundRect">
            <a:avLst>
              <a:gd name="adj" fmla="val 6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家族の</a:t>
            </a:r>
          </a:p>
          <a:p>
            <a:pPr algn="ctr">
              <a:lnSpc>
                <a:spcPct val="115000"/>
              </a:lnSpc>
            </a:pPr>
            <a:r>
              <a:rPr sz="1450" b="1">
                <a:solidFill>
                  <a:srgbClr val="FFFFFF"/>
                </a:solidFill>
                <a:latin typeface="メイリオ"/>
                <a:ea typeface="メイリオ"/>
                <a:cs typeface="メイリオ"/>
              </a:rPr>
              <a:t>お出かけ・</a:t>
            </a:r>
          </a:p>
          <a:p>
            <a:pPr algn="ctr">
              <a:lnSpc>
                <a:spcPct val="115000"/>
              </a:lnSpc>
            </a:pPr>
            <a:r>
              <a:rPr sz="1450" b="1">
                <a:solidFill>
                  <a:srgbClr val="FFFFFF"/>
                </a:solidFill>
                <a:latin typeface="メイリオ"/>
                <a:ea typeface="メイリオ"/>
                <a:cs typeface="メイリオ"/>
              </a:rPr>
              <a:t>楽しみ</a:t>
            </a:r>
          </a:p>
        </p:txBody>
      </p:sp>
      <p:sp>
        <p:nvSpPr>
          <p:cNvPr id="61" name="Rounded Rectangle 60"/>
          <p:cNvSpPr/>
          <p:nvPr/>
        </p:nvSpPr>
        <p:spPr>
          <a:xfrm>
            <a:off x="1763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「キッザニア」</a:t>
            </a:r>
          </a:p>
          <a:p>
            <a:pPr algn="ctr">
              <a:spcAft>
                <a:spcPts val="100"/>
              </a:spcAft>
            </a:pPr>
            <a:r>
              <a:rPr sz="1250">
                <a:solidFill>
                  <a:srgbClr val="333333"/>
                </a:solidFill>
                <a:latin typeface="メイリオ"/>
                <a:ea typeface="メイリオ"/>
                <a:cs typeface="メイリオ"/>
              </a:rPr>
              <a:t>「スタジオアリス」</a:t>
            </a:r>
          </a:p>
          <a:p>
            <a:pPr algn="ctr">
              <a:spcAft>
                <a:spcPts val="100"/>
              </a:spcAft>
            </a:pPr>
            <a:r>
              <a:rPr sz="1250">
                <a:solidFill>
                  <a:srgbClr val="333333"/>
                </a:solidFill>
                <a:latin typeface="メイリオ"/>
                <a:ea typeface="メイリオ"/>
                <a:cs typeface="メイリオ"/>
              </a:rPr>
              <a:t>「夏休み 子供 過ごし方」</a:t>
            </a:r>
          </a:p>
        </p:txBody>
      </p:sp>
      <p:sp>
        <p:nvSpPr>
          <p:cNvPr id="62" name="Rounded Rectangle 61"/>
          <p:cNvSpPr/>
          <p:nvPr/>
        </p:nvSpPr>
        <p:spPr>
          <a:xfrm>
            <a:off x="3761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a:t>
            </a:r>
          </a:p>
        </p:txBody>
      </p:sp>
      <p:sp>
        <p:nvSpPr>
          <p:cNvPr id="63" name="Rounded Rectangle 62"/>
          <p:cNvSpPr/>
          <p:nvPr/>
        </p:nvSpPr>
        <p:spPr>
          <a:xfrm>
            <a:off x="5759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「ポケモンセンター」</a:t>
            </a:r>
          </a:p>
          <a:p>
            <a:pPr algn="ctr">
              <a:spcAft>
                <a:spcPts val="100"/>
              </a:spcAft>
            </a:pPr>
            <a:r>
              <a:rPr sz="1250">
                <a:solidFill>
                  <a:srgbClr val="333333"/>
                </a:solidFill>
                <a:latin typeface="メイリオ"/>
                <a:ea typeface="メイリオ"/>
                <a:cs typeface="メイリオ"/>
              </a:rPr>
              <a:t>「七五三」</a:t>
            </a:r>
          </a:p>
          <a:p>
            <a:pPr algn="ctr">
              <a:spcAft>
                <a:spcPts val="100"/>
              </a:spcAft>
            </a:pPr>
            <a:r>
              <a:rPr sz="1250">
                <a:solidFill>
                  <a:srgbClr val="333333"/>
                </a:solidFill>
                <a:latin typeface="メイリオ"/>
                <a:ea typeface="メイリオ"/>
                <a:cs typeface="メイリオ"/>
              </a:rPr>
              <a:t>「ハーモニーランド」</a:t>
            </a:r>
          </a:p>
        </p:txBody>
      </p:sp>
      <p:sp>
        <p:nvSpPr>
          <p:cNvPr id="64" name="Rounded Rectangle 63"/>
          <p:cNvSpPr/>
          <p:nvPr/>
        </p:nvSpPr>
        <p:spPr>
          <a:xfrm>
            <a:off x="7758000" y="44784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季節の行事（七五三・夏休みなど）に合わせた企画配信</a:t>
            </a:r>
          </a:p>
        </p:txBody>
      </p:sp>
      <p:sp>
        <p:nvSpPr>
          <p:cNvPr id="65" name="TextBox 64"/>
          <p:cNvSpPr txBox="1"/>
          <p:nvPr/>
        </p:nvSpPr>
        <p:spPr>
          <a:xfrm>
            <a:off x="432000" y="5806800"/>
            <a:ext cx="1296000" cy="342000"/>
          </a:xfrm>
          <a:prstGeom prst="rect">
            <a:avLst/>
          </a:prstGeom>
          <a:noFill/>
        </p:spPr>
        <p:txBody>
          <a:bodyPr wrap="square" lIns="0" tIns="21600" rIns="0" bIns="21600" anchor="ctr">
            <a:spAutoFit/>
          </a:bodyPr>
          <a:lstStyle/>
          <a:p>
            <a:pPr algn="ctr"/>
            <a:r>
              <a:rPr sz="1200" b="1">
                <a:solidFill>
                  <a:srgbClr val="1F285A"/>
                </a:solidFill>
                <a:latin typeface="メイリオ"/>
                <a:ea typeface="メイリオ"/>
                <a:cs typeface="メイリオ"/>
              </a:rPr>
              <a:t>LINEへの動線</a:t>
            </a:r>
          </a:p>
        </p:txBody>
      </p:sp>
      <p:sp>
        <p:nvSpPr>
          <p:cNvPr id="66" name="Rounded Rectangle 65"/>
          <p:cNvSpPr/>
          <p:nvPr/>
        </p:nvSpPr>
        <p:spPr>
          <a:xfrm>
            <a:off x="1763999" y="58068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離脱防止バナーの掲載</a:t>
            </a:r>
          </a:p>
        </p:txBody>
      </p:sp>
      <p:sp>
        <p:nvSpPr>
          <p:cNvPr id="67" name="Rounded Rectangle 66"/>
          <p:cNvSpPr/>
          <p:nvPr/>
        </p:nvSpPr>
        <p:spPr>
          <a:xfrm>
            <a:off x="3761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LINE友だち追加</a:t>
            </a:r>
          </a:p>
        </p:txBody>
      </p:sp>
      <p:sp>
        <p:nvSpPr>
          <p:cNvPr id="68" name="Rounded Rectangle 67"/>
          <p:cNvSpPr/>
          <p:nvPr/>
        </p:nvSpPr>
        <p:spPr>
          <a:xfrm>
            <a:off x="5759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LINE施策（投稿）</a:t>
            </a:r>
          </a:p>
        </p:txBody>
      </p:sp>
      <p:sp>
        <p:nvSpPr>
          <p:cNvPr id="69" name="TextBox 68"/>
          <p:cNvSpPr txBox="1"/>
          <p:nvPr/>
        </p:nvSpPr>
        <p:spPr>
          <a:xfrm>
            <a:off x="432000" y="6202800"/>
            <a:ext cx="90432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習い事」「習い事」）</a:t>
            </a:r>
          </a:p>
        </p:txBody>
      </p:sp>
    </p:spTree>
    <p:extLst>
      <p:ext uri="{BB962C8B-B14F-4D97-AF65-F5344CB8AC3E}">
        <p14:creationId xmlns:p14="http://schemas.microsoft.com/office/powerpoint/2010/main" val="7788830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145847</TotalTime>
  <Words>7722</Words>
  <Application>Microsoft Office PowerPoint</Application>
  <PresentationFormat>A4 210 x 297 mm</PresentationFormat>
  <Paragraphs>2416</Paragraphs>
  <Slides>61</Slides>
  <Notes>9</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61</vt:i4>
      </vt:variant>
    </vt:vector>
  </HeadingPairs>
  <TitlesOfParts>
    <vt:vector size="69" baseType="lpstr">
      <vt:lpstr>Noto Sans JP</vt: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2005</cp:revision>
  <cp:lastPrinted>2022-11-01T11:38:14Z</cp:lastPrinted>
  <dcterms:created xsi:type="dcterms:W3CDTF">2015-09-04T09:21:15Z</dcterms:created>
  <dcterms:modified xsi:type="dcterms:W3CDTF">2026-10-21T04:15:00Z</dcterms:modified>
</cp:coreProperties>
</file>