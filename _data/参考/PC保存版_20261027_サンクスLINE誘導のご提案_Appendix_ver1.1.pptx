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19"/>
  </p:notesMasterIdLst>
  <p:handoutMasterIdLst>
    <p:handoutMasterId r:id="rId20"/>
  </p:handoutMasterIdLst>
  <p:sldIdLst>
    <p:sldId id="2363" r:id="rId3"/>
    <p:sldId id="2211" r:id="rId4"/>
    <p:sldId id="2213" r:id="rId5"/>
    <p:sldId id="2215" r:id="rId6"/>
    <p:sldId id="398" r:id="rId7"/>
    <p:sldId id="2714" r:id="rId8"/>
    <p:sldId id="2721" r:id="rId9"/>
    <p:sldId id="2723" r:id="rId10"/>
    <p:sldId id="2761" r:id="rId11"/>
    <p:sldId id="257" r:id="rId12"/>
    <p:sldId id="256" r:id="rId13"/>
    <p:sldId id="259" r:id="rId14"/>
    <p:sldId id="260" r:id="rId15"/>
    <p:sldId id="262" r:id="rId16"/>
    <p:sldId id="258" r:id="rId17"/>
    <p:sldId id="261" r:id="rId1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5.jpeg"/><Relationship Id="rId7" Type="http://schemas.openxmlformats.org/officeDocument/2006/relationships/image" Target="../media/image29.jp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hyperlink" Target="https://youtube.com/shorts/0qI4QgrOppQ" TargetMode="External"/><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2281443" y="3038203"/>
            <a:ext cx="53431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サンクス</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誘導のご提案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47">
            <a:extLst>
              <a:ext uri="{FF2B5EF4-FFF2-40B4-BE49-F238E27FC236}">
                <a16:creationId xmlns:a16="http://schemas.microsoft.com/office/drawing/2014/main" id="{469F1EA2-F7EC-45D5-9315-EA64B9787050}"/>
              </a:ext>
            </a:extLst>
          </p:cNvPr>
          <p:cNvSpPr txBox="1">
            <a:spLocks noChangeArrowheads="1"/>
          </p:cNvSpPr>
          <p:nvPr/>
        </p:nvSpPr>
        <p:spPr>
          <a:xfrm>
            <a:off x="552193" y="135686"/>
            <a:ext cx="627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spc="300" dirty="0">
                <a:solidFill>
                  <a:srgbClr val="002060"/>
                </a:solidFill>
                <a:latin typeface="メイリオ" panose="020B0604030504040204" pitchFamily="50" charset="-128"/>
                <a:ea typeface="メイリオ" panose="020B0604030504040204" pitchFamily="50" charset="-128"/>
                <a:cs typeface="メイリオ" charset="0"/>
              </a:rPr>
              <a:t>会社概要</a:t>
            </a:r>
            <a:endParaRPr lang="ja-JP" altLang="ja-JP" sz="1600" b="1" spc="300" dirty="0">
              <a:solidFill>
                <a:srgbClr val="002060"/>
              </a:solidFill>
              <a:latin typeface="メイリオ" panose="020B0604030504040204" pitchFamily="50" charset="-128"/>
              <a:ea typeface="メイリオ" panose="020B0604030504040204" pitchFamily="50" charset="-128"/>
              <a:cs typeface="メイリオ" charset="0"/>
            </a:endParaRPr>
          </a:p>
        </p:txBody>
      </p:sp>
      <p:pic>
        <p:nvPicPr>
          <p:cNvPr id="3" name="図 2">
            <a:extLst>
              <a:ext uri="{FF2B5EF4-FFF2-40B4-BE49-F238E27FC236}">
                <a16:creationId xmlns:a16="http://schemas.microsoft.com/office/drawing/2014/main" id="{86A10E6A-0017-DD8A-6450-FFA42665D5D1}"/>
              </a:ext>
            </a:extLst>
          </p:cNvPr>
          <p:cNvPicPr>
            <a:picLocks noChangeAspect="1"/>
          </p:cNvPicPr>
          <p:nvPr/>
        </p:nvPicPr>
        <p:blipFill>
          <a:blip r:embed="rId2"/>
          <a:stretch>
            <a:fillRect/>
          </a:stretch>
        </p:blipFill>
        <p:spPr>
          <a:xfrm>
            <a:off x="0" y="726221"/>
            <a:ext cx="9906000" cy="5728287"/>
          </a:xfrm>
          <a:prstGeom prst="rect">
            <a:avLst/>
          </a:prstGeom>
        </p:spPr>
      </p:pic>
    </p:spTree>
    <p:extLst>
      <p:ext uri="{BB962C8B-B14F-4D97-AF65-F5344CB8AC3E}">
        <p14:creationId xmlns:p14="http://schemas.microsoft.com/office/powerpoint/2010/main" val="443302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テキスト&#10;&#10;自動的に生成された説明">
            <a:extLst>
              <a:ext uri="{FF2B5EF4-FFF2-40B4-BE49-F238E27FC236}">
                <a16:creationId xmlns:a16="http://schemas.microsoft.com/office/drawing/2014/main" id="{481E5471-9293-47E8-AD46-DDA0BB99FBD1}"/>
              </a:ext>
            </a:extLst>
          </p:cNvPr>
          <p:cNvPicPr>
            <a:picLocks noChangeAspect="1"/>
          </p:cNvPicPr>
          <p:nvPr/>
        </p:nvPicPr>
        <p:blipFill>
          <a:blip r:embed="rId2"/>
          <a:stretch>
            <a:fillRect/>
          </a:stretch>
        </p:blipFill>
        <p:spPr>
          <a:xfrm>
            <a:off x="0" y="624442"/>
            <a:ext cx="2407640" cy="614266"/>
          </a:xfrm>
          <a:prstGeom prst="rect">
            <a:avLst/>
          </a:prstGeom>
        </p:spPr>
      </p:pic>
      <p:sp>
        <p:nvSpPr>
          <p:cNvPr id="5" name="テキスト ボックス 47">
            <a:extLst>
              <a:ext uri="{FF2B5EF4-FFF2-40B4-BE49-F238E27FC236}">
                <a16:creationId xmlns:a16="http://schemas.microsoft.com/office/drawing/2014/main" id="{469F1EA2-F7EC-45D5-9315-EA64B9787050}"/>
              </a:ext>
            </a:extLst>
          </p:cNvPr>
          <p:cNvSpPr txBox="1">
            <a:spLocks noChangeArrowheads="1"/>
          </p:cNvSpPr>
          <p:nvPr/>
        </p:nvSpPr>
        <p:spPr>
          <a:xfrm>
            <a:off x="552193" y="135686"/>
            <a:ext cx="627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spc="300" dirty="0">
                <a:solidFill>
                  <a:srgbClr val="002060"/>
                </a:solidFill>
                <a:latin typeface="メイリオ" panose="020B0604030504040204" pitchFamily="50" charset="-128"/>
                <a:ea typeface="メイリオ" panose="020B0604030504040204" pitchFamily="50" charset="-128"/>
                <a:cs typeface="メイリオ" charset="0"/>
              </a:rPr>
              <a:t>弊社の強み</a:t>
            </a:r>
            <a:endParaRPr lang="ja-JP" altLang="ja-JP" sz="1600" b="1" spc="300" dirty="0">
              <a:solidFill>
                <a:srgbClr val="002060"/>
              </a:solidFill>
              <a:latin typeface="メイリオ" panose="020B0604030504040204" pitchFamily="50" charset="-128"/>
              <a:ea typeface="メイリオ" panose="020B0604030504040204" pitchFamily="50" charset="-128"/>
              <a:cs typeface="メイリオ" charset="0"/>
            </a:endParaRPr>
          </a:p>
        </p:txBody>
      </p:sp>
      <p:pic>
        <p:nvPicPr>
          <p:cNvPr id="4" name="図 3">
            <a:extLst>
              <a:ext uri="{FF2B5EF4-FFF2-40B4-BE49-F238E27FC236}">
                <a16:creationId xmlns:a16="http://schemas.microsoft.com/office/drawing/2014/main" id="{B21B73EE-2FA5-FD56-3F7B-C022EFAF7581}"/>
              </a:ext>
            </a:extLst>
          </p:cNvPr>
          <p:cNvPicPr>
            <a:picLocks noChangeAspect="1"/>
          </p:cNvPicPr>
          <p:nvPr/>
        </p:nvPicPr>
        <p:blipFill>
          <a:blip r:embed="rId3"/>
          <a:stretch>
            <a:fillRect/>
          </a:stretch>
        </p:blipFill>
        <p:spPr>
          <a:xfrm>
            <a:off x="0" y="1238708"/>
            <a:ext cx="9906000" cy="5225495"/>
          </a:xfrm>
          <a:prstGeom prst="rect">
            <a:avLst/>
          </a:prstGeom>
        </p:spPr>
      </p:pic>
    </p:spTree>
    <p:extLst>
      <p:ext uri="{BB962C8B-B14F-4D97-AF65-F5344CB8AC3E}">
        <p14:creationId xmlns:p14="http://schemas.microsoft.com/office/powerpoint/2010/main" val="592906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テキスト&#10;&#10;自動的に生成された説明">
            <a:extLst>
              <a:ext uri="{FF2B5EF4-FFF2-40B4-BE49-F238E27FC236}">
                <a16:creationId xmlns:a16="http://schemas.microsoft.com/office/drawing/2014/main" id="{B5FFB41A-7F1A-4C15-BDD8-599521631600}"/>
              </a:ext>
            </a:extLst>
          </p:cNvPr>
          <p:cNvPicPr>
            <a:picLocks noChangeAspect="1"/>
          </p:cNvPicPr>
          <p:nvPr/>
        </p:nvPicPr>
        <p:blipFill>
          <a:blip r:embed="rId2"/>
          <a:stretch>
            <a:fillRect/>
          </a:stretch>
        </p:blipFill>
        <p:spPr>
          <a:xfrm>
            <a:off x="0" y="675967"/>
            <a:ext cx="2348917" cy="524311"/>
          </a:xfrm>
          <a:prstGeom prst="rect">
            <a:avLst/>
          </a:prstGeom>
        </p:spPr>
      </p:pic>
      <p:pic>
        <p:nvPicPr>
          <p:cNvPr id="5" name="図 4" descr="グラフィカル ユーザー インターフェイス, アプリケーション&#10;&#10;自動的に生成された説明">
            <a:extLst>
              <a:ext uri="{FF2B5EF4-FFF2-40B4-BE49-F238E27FC236}">
                <a16:creationId xmlns:a16="http://schemas.microsoft.com/office/drawing/2014/main" id="{3EC2E04F-6D64-47B8-91F6-F5449BBED739}"/>
              </a:ext>
            </a:extLst>
          </p:cNvPr>
          <p:cNvPicPr>
            <a:picLocks noChangeAspect="1"/>
          </p:cNvPicPr>
          <p:nvPr/>
        </p:nvPicPr>
        <p:blipFill>
          <a:blip r:embed="rId3"/>
          <a:stretch>
            <a:fillRect/>
          </a:stretch>
        </p:blipFill>
        <p:spPr>
          <a:xfrm>
            <a:off x="284526" y="1283204"/>
            <a:ext cx="9336947" cy="4923996"/>
          </a:xfrm>
          <a:prstGeom prst="rect">
            <a:avLst/>
          </a:prstGeom>
        </p:spPr>
      </p:pic>
      <p:sp>
        <p:nvSpPr>
          <p:cNvPr id="6" name="テキスト ボックス 47">
            <a:extLst>
              <a:ext uri="{FF2B5EF4-FFF2-40B4-BE49-F238E27FC236}">
                <a16:creationId xmlns:a16="http://schemas.microsoft.com/office/drawing/2014/main" id="{469F1EA2-F7EC-45D5-9315-EA64B9787050}"/>
              </a:ext>
            </a:extLst>
          </p:cNvPr>
          <p:cNvSpPr txBox="1">
            <a:spLocks noChangeArrowheads="1"/>
          </p:cNvSpPr>
          <p:nvPr/>
        </p:nvSpPr>
        <p:spPr>
          <a:xfrm>
            <a:off x="552193" y="135686"/>
            <a:ext cx="627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spc="300" dirty="0">
                <a:solidFill>
                  <a:srgbClr val="002060"/>
                </a:solidFill>
                <a:latin typeface="メイリオ" panose="020B0604030504040204" pitchFamily="50" charset="-128"/>
                <a:ea typeface="メイリオ" panose="020B0604030504040204" pitchFamily="50" charset="-128"/>
                <a:cs typeface="メイリオ" charset="0"/>
              </a:rPr>
              <a:t>弊社の強み</a:t>
            </a:r>
            <a:endParaRPr lang="ja-JP" altLang="ja-JP" sz="1600" b="1" spc="300" dirty="0">
              <a:solidFill>
                <a:srgbClr val="002060"/>
              </a:solidFill>
              <a:latin typeface="メイリオ" panose="020B0604030504040204" pitchFamily="50" charset="-128"/>
              <a:ea typeface="メイリオ" panose="020B0604030504040204" pitchFamily="50" charset="-128"/>
              <a:cs typeface="メイリオ" charset="0"/>
            </a:endParaRPr>
          </a:p>
        </p:txBody>
      </p:sp>
    </p:spTree>
    <p:extLst>
      <p:ext uri="{BB962C8B-B14F-4D97-AF65-F5344CB8AC3E}">
        <p14:creationId xmlns:p14="http://schemas.microsoft.com/office/powerpoint/2010/main" val="2477323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b="87099"/>
          <a:stretch/>
        </p:blipFill>
        <p:spPr>
          <a:xfrm>
            <a:off x="1" y="621928"/>
            <a:ext cx="8615494" cy="678619"/>
          </a:xfrm>
          <a:prstGeom prst="rect">
            <a:avLst/>
          </a:prstGeom>
        </p:spPr>
      </p:pic>
      <p:pic>
        <p:nvPicPr>
          <p:cNvPr id="5" name="図 4" descr="グラフィカル ユーザー インターフェイス&#10;&#10;自動的に生成された説明">
            <a:extLst>
              <a:ext uri="{FF2B5EF4-FFF2-40B4-BE49-F238E27FC236}">
                <a16:creationId xmlns:a16="http://schemas.microsoft.com/office/drawing/2014/main" id="{E0683ADA-70FF-48DC-A744-F6F5E5760A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360" y="1346035"/>
            <a:ext cx="8688940" cy="5130939"/>
          </a:xfrm>
          <a:prstGeom prst="rect">
            <a:avLst/>
          </a:prstGeom>
        </p:spPr>
      </p:pic>
      <p:sp>
        <p:nvSpPr>
          <p:cNvPr id="9" name="テキスト ボックス 47">
            <a:extLst>
              <a:ext uri="{FF2B5EF4-FFF2-40B4-BE49-F238E27FC236}">
                <a16:creationId xmlns:a16="http://schemas.microsoft.com/office/drawing/2014/main" id="{469F1EA2-F7EC-45D5-9315-EA64B9787050}"/>
              </a:ext>
            </a:extLst>
          </p:cNvPr>
          <p:cNvSpPr txBox="1">
            <a:spLocks noChangeArrowheads="1"/>
          </p:cNvSpPr>
          <p:nvPr/>
        </p:nvSpPr>
        <p:spPr>
          <a:xfrm>
            <a:off x="552193" y="135686"/>
            <a:ext cx="6276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spc="300" dirty="0">
                <a:solidFill>
                  <a:srgbClr val="002060"/>
                </a:solidFill>
                <a:latin typeface="メイリオ" panose="020B0604030504040204" pitchFamily="50" charset="-128"/>
                <a:ea typeface="メイリオ" panose="020B0604030504040204" pitchFamily="50" charset="-128"/>
                <a:cs typeface="メイリオ" charset="0"/>
              </a:rPr>
              <a:t>弊社の強み</a:t>
            </a:r>
            <a:endParaRPr lang="ja-JP" altLang="ja-JP" sz="1600" b="1" spc="300" dirty="0">
              <a:solidFill>
                <a:srgbClr val="002060"/>
              </a:solidFill>
              <a:latin typeface="メイリオ" panose="020B0604030504040204" pitchFamily="50" charset="-128"/>
              <a:ea typeface="メイリオ" panose="020B0604030504040204" pitchFamily="50" charset="-128"/>
              <a:cs typeface="メイリオ" charset="0"/>
            </a:endParaRPr>
          </a:p>
        </p:txBody>
      </p:sp>
    </p:spTree>
    <p:extLst>
      <p:ext uri="{BB962C8B-B14F-4D97-AF65-F5344CB8AC3E}">
        <p14:creationId xmlns:p14="http://schemas.microsoft.com/office/powerpoint/2010/main" val="1471059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t="756" b="22252"/>
          <a:stretch>
            <a:fillRect/>
          </a:stretch>
        </p:blipFill>
        <p:spPr>
          <a:xfrm>
            <a:off x="295975" y="1723516"/>
            <a:ext cx="9387073" cy="3876095"/>
          </a:xfrm>
          <a:prstGeom prst="rect">
            <a:avLst/>
          </a:prstGeom>
        </p:spPr>
      </p:pic>
      <p:sp>
        <p:nvSpPr>
          <p:cNvPr id="4" name="Google Shape;752;p28">
            <a:extLst>
              <a:ext uri="{FF2B5EF4-FFF2-40B4-BE49-F238E27FC236}">
                <a16:creationId xmlns:a16="http://schemas.microsoft.com/office/drawing/2014/main" id="{FDC206AF-704B-C667-AC7C-8A98250C47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弊社の強み</a:t>
            </a:r>
          </a:p>
        </p:txBody>
      </p:sp>
      <p:sp>
        <p:nvSpPr>
          <p:cNvPr id="7" name="正方形/長方形 6">
            <a:extLst>
              <a:ext uri="{FF2B5EF4-FFF2-40B4-BE49-F238E27FC236}">
                <a16:creationId xmlns:a16="http://schemas.microsoft.com/office/drawing/2014/main" id="{5B599DE5-990B-7CA4-B34C-8BC9D9739CAB}"/>
              </a:ext>
            </a:extLst>
          </p:cNvPr>
          <p:cNvSpPr/>
          <p:nvPr/>
        </p:nvSpPr>
        <p:spPr>
          <a:xfrm>
            <a:off x="486784" y="613850"/>
            <a:ext cx="9005456" cy="6777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プランニング</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運用・クリエイティブを一気通貫で行うことで、成果にコミットしやすい体制。</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貴社としても窓口・依頼の工数を大きく削減しながらの施策スタートが可能です。</a:t>
            </a:r>
          </a:p>
        </p:txBody>
      </p:sp>
    </p:spTree>
    <p:extLst>
      <p:ext uri="{BB962C8B-B14F-4D97-AF65-F5344CB8AC3E}">
        <p14:creationId xmlns:p14="http://schemas.microsoft.com/office/powerpoint/2010/main" val="1645704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公式アカウントの取扱社数は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5078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p:txBody>
      </p:sp>
      <p:pic>
        <p:nvPicPr>
          <p:cNvPr id="5" name="図 4">
            <a:extLst>
              <a:ext uri="{FF2B5EF4-FFF2-40B4-BE49-F238E27FC236}">
                <a16:creationId xmlns:a16="http://schemas.microsoft.com/office/drawing/2014/main" id="{60ACD608-62E1-EDDE-99C7-355D55B75F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014222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他</a:t>
            </a:r>
            <a:r>
              <a:rPr kumimoji="1" lang="en-US" altLang="ja-JP" sz="1000" b="1" dirty="0">
                <a:solidFill>
                  <a:schemeClr val="tx1"/>
                </a:solidFill>
                <a:latin typeface="メイリオ" panose="020B0604030504040204" pitchFamily="50" charset="-128"/>
                <a:ea typeface="メイリオ" panose="020B0604030504040204" pitchFamily="50" charset="-128"/>
              </a:rPr>
              <a:t>CRM</a:t>
            </a:r>
            <a:r>
              <a:rPr kumimoji="1" lang="ja-JP" altLang="en-US" sz="1000" b="1"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73664"/>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84166"/>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659089"/>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15948"/>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694453"/>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73664"/>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79400"/>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694711"/>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09164"/>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646331"/>
          </a:xfrm>
          <a:prstGeom prst="rect">
            <a:avLst/>
          </a:prstGeom>
          <a:noFill/>
        </p:spPr>
        <p:txBody>
          <a:bodyPr wrap="square">
            <a:spAutoFit/>
          </a:bodyPr>
          <a:lstStyle/>
          <a:p>
            <a:pPr algn="ct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285978"/>
            <a:ext cx="4311647" cy="461665"/>
          </a:xfrm>
          <a:prstGeom prst="rect">
            <a:avLst/>
          </a:prstGeom>
          <a:noFill/>
        </p:spPr>
        <p:txBody>
          <a:bodyPr wrap="square" anchor="ctr">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683522"/>
            <a:ext cx="9005456" cy="8694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600" b="1" dirty="0">
                <a:solidFill>
                  <a:schemeClr val="tx1"/>
                </a:solidFill>
                <a:latin typeface="メイリオ" panose="020B0604030504040204" pitchFamily="50" charset="-128"/>
                <a:ea typeface="メイリオ" panose="020B0604030504040204" pitchFamily="50" charset="-128"/>
              </a:rPr>
              <a:t>LINEOA</a:t>
            </a:r>
            <a:r>
              <a:rPr lang="ja-JP" altLang="en-US" sz="1600" b="1"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貴社社内運用部隊と連携して、一部業務の委託についてもご相談いただけます。</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rgbClr val="FF0000"/>
                </a:solidFill>
                <a:latin typeface="メイリオ" panose="020B0604030504040204" pitchFamily="50" charset="-128"/>
                <a:ea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600" b="1" dirty="0">
              <a:solidFill>
                <a:srgbClr val="FF0000"/>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93261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871083" y="3038203"/>
            <a:ext cx="616386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サンクス</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誘導導入のご提案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5329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サンクスLINE｜機能・費用</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180597" y="1172815"/>
            <a:ext cx="3833883" cy="230832"/>
          </a:xfrm>
          <a:prstGeom prst="rect">
            <a:avLst/>
          </a:prstGeom>
          <a:noFill/>
        </p:spPr>
        <p:txBody>
          <a:bodyPr wrap="square" lIns="74295" rIns="74295">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FF0000"/>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dirty="0" err="1">
                <a:solidFill>
                  <a:srgbClr val="002060"/>
                </a:solidFill>
                <a:latin typeface="メイリオ"/>
                <a:ea typeface="メイリオ"/>
                <a:cs typeface="メイリオ"/>
              </a:rPr>
              <a:t>広告と一緒にサンクスLINEを実施する理由</a:t>
            </a:r>
            <a:endParaRPr sz="1600" b="1" dirty="0">
              <a:solidFill>
                <a:srgbClr val="002060"/>
              </a:solidFill>
              <a:latin typeface="メイリオ"/>
              <a:ea typeface="メイリオ"/>
              <a:cs typeface="メイリオ"/>
            </a:endParaRPr>
          </a:p>
        </p:txBody>
      </p:sp>
      <p:sp>
        <p:nvSpPr>
          <p:cNvPr id="4" name="Rounded Rectangle 3"/>
          <p:cNvSpPr/>
          <p:nvPr/>
        </p:nvSpPr>
        <p:spPr>
          <a:xfrm>
            <a:off x="643500" y="792000"/>
            <a:ext cx="4212000" cy="3564000"/>
          </a:xfrm>
          <a:prstGeom prst="roundRect">
            <a:avLst>
              <a:gd name="adj" fmla="val 4000"/>
            </a:avLst>
          </a:prstGeom>
          <a:solidFill>
            <a:srgbClr val="F2F5FB"/>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 name="Rounded Rectangle 4"/>
          <p:cNvSpPr/>
          <p:nvPr/>
        </p:nvSpPr>
        <p:spPr>
          <a:xfrm>
            <a:off x="877500" y="990000"/>
            <a:ext cx="1053000" cy="324000"/>
          </a:xfrm>
          <a:prstGeom prst="roundRect">
            <a:avLst>
              <a:gd name="adj" fmla="val 5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000" b="1" dirty="0" err="1">
                <a:solidFill>
                  <a:srgbClr val="FFFFFF"/>
                </a:solidFill>
                <a:latin typeface="メイリオ"/>
                <a:ea typeface="メイリオ"/>
                <a:cs typeface="メイリオ"/>
              </a:rPr>
              <a:t>CV獲得まで</a:t>
            </a:r>
            <a:endParaRPr sz="1000" b="1" dirty="0">
              <a:solidFill>
                <a:srgbClr val="FFFFFF"/>
              </a:solidFill>
              <a:latin typeface="メイリオ"/>
              <a:ea typeface="メイリオ"/>
              <a:cs typeface="メイリオ"/>
            </a:endParaRPr>
          </a:p>
        </p:txBody>
      </p:sp>
      <p:sp>
        <p:nvSpPr>
          <p:cNvPr id="6" name="TextBox 5"/>
          <p:cNvSpPr txBox="1"/>
          <p:nvPr/>
        </p:nvSpPr>
        <p:spPr>
          <a:xfrm>
            <a:off x="1989000" y="864000"/>
            <a:ext cx="2749500" cy="576000"/>
          </a:xfrm>
          <a:prstGeom prst="rect">
            <a:avLst/>
          </a:prstGeom>
          <a:noFill/>
        </p:spPr>
        <p:txBody>
          <a:bodyPr wrap="square" lIns="29250" tIns="10800" rIns="29250" bIns="10800" anchor="ctr">
            <a:spAutoFit/>
          </a:bodyPr>
          <a:lstStyle/>
          <a:p>
            <a:pPr algn="l">
              <a:lnSpc>
                <a:spcPct val="105000"/>
              </a:lnSpc>
              <a:spcAft>
                <a:spcPts val="200"/>
              </a:spcAft>
            </a:pPr>
            <a:r>
              <a:rPr sz="1200" b="1">
                <a:solidFill>
                  <a:srgbClr val="1F285A"/>
                </a:solidFill>
                <a:latin typeface="メイリオ"/>
                <a:ea typeface="メイリオ"/>
                <a:cs typeface="メイリオ"/>
              </a:rPr>
              <a:t>施策全体の </a:t>
            </a:r>
            <a:r>
              <a:rPr sz="2400" b="1">
                <a:solidFill>
                  <a:srgbClr val="1F285A"/>
                </a:solidFill>
                <a:latin typeface="メイリオ"/>
                <a:ea typeface="メイリオ"/>
                <a:cs typeface="メイリオ"/>
              </a:rPr>
              <a:t>CPA</a:t>
            </a:r>
            <a:r>
              <a:rPr sz="1500" b="1">
                <a:solidFill>
                  <a:srgbClr val="1F285A"/>
                </a:solidFill>
                <a:latin typeface="メイリオ"/>
                <a:ea typeface="メイリオ"/>
                <a:cs typeface="メイリオ"/>
              </a:rPr>
              <a:t> 改善</a:t>
            </a:r>
          </a:p>
        </p:txBody>
      </p:sp>
      <p:sp>
        <p:nvSpPr>
          <p:cNvPr id="7" name="Rectangle 6"/>
          <p:cNvSpPr/>
          <p:nvPr/>
        </p:nvSpPr>
        <p:spPr>
          <a:xfrm>
            <a:off x="1023750" y="1548000"/>
            <a:ext cx="3451500" cy="413999"/>
          </a:xfrm>
          <a:prstGeom prst="rect">
            <a:avLst/>
          </a:prstGeom>
          <a:solidFill>
            <a:srgbClr val="DDE3F2"/>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200" b="1">
                <a:solidFill>
                  <a:srgbClr val="333333"/>
                </a:solidFill>
                <a:latin typeface="メイリオ"/>
                <a:ea typeface="メイリオ"/>
                <a:cs typeface="メイリオ"/>
              </a:rPr>
              <a:t>広告</a:t>
            </a:r>
          </a:p>
        </p:txBody>
      </p:sp>
      <p:sp>
        <p:nvSpPr>
          <p:cNvPr id="8" name="Isosceles Triangle 7"/>
          <p:cNvSpPr/>
          <p:nvPr/>
        </p:nvSpPr>
        <p:spPr>
          <a:xfrm rot="10800000">
            <a:off x="2685150" y="1998000"/>
            <a:ext cx="128700" cy="10800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lIns="74295" rIns="74295" rtlCol="0" anchor="ctr"/>
          <a:lstStyle/>
          <a:p>
            <a:pPr algn="ctr"/>
            <a:endParaRPr sz="2400"/>
          </a:p>
        </p:txBody>
      </p:sp>
      <p:sp>
        <p:nvSpPr>
          <p:cNvPr id="9" name="Rectangle 8"/>
          <p:cNvSpPr/>
          <p:nvPr/>
        </p:nvSpPr>
        <p:spPr>
          <a:xfrm>
            <a:off x="1023750" y="2142000"/>
            <a:ext cx="3451500" cy="413999"/>
          </a:xfrm>
          <a:prstGeom prst="rect">
            <a:avLst/>
          </a:prstGeom>
          <a:solidFill>
            <a:srgbClr val="DDE3F2"/>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200" b="1">
                <a:solidFill>
                  <a:srgbClr val="333333"/>
                </a:solidFill>
                <a:latin typeface="メイリオ"/>
                <a:ea typeface="メイリオ"/>
                <a:cs typeface="メイリオ"/>
              </a:rPr>
              <a:t>LP</a:t>
            </a:r>
          </a:p>
        </p:txBody>
      </p:sp>
      <p:sp>
        <p:nvSpPr>
          <p:cNvPr id="10" name="Isosceles Triangle 9"/>
          <p:cNvSpPr/>
          <p:nvPr/>
        </p:nvSpPr>
        <p:spPr>
          <a:xfrm rot="10800000">
            <a:off x="2685150" y="2592000"/>
            <a:ext cx="128700" cy="10800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lIns="74295" rIns="74295" rtlCol="0" anchor="ctr"/>
          <a:lstStyle/>
          <a:p>
            <a:pPr algn="ctr"/>
            <a:endParaRPr sz="2400"/>
          </a:p>
        </p:txBody>
      </p:sp>
      <p:sp>
        <p:nvSpPr>
          <p:cNvPr id="11" name="Rectangle 10"/>
          <p:cNvSpPr/>
          <p:nvPr/>
        </p:nvSpPr>
        <p:spPr>
          <a:xfrm>
            <a:off x="1023750" y="2736000"/>
            <a:ext cx="3451500" cy="413999"/>
          </a:xfrm>
          <a:prstGeom prst="rect">
            <a:avLst/>
          </a:prstGeom>
          <a:solidFill>
            <a:srgbClr val="DDE3F2"/>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200" b="1">
                <a:solidFill>
                  <a:srgbClr val="333333"/>
                </a:solidFill>
                <a:latin typeface="メイリオ"/>
                <a:ea typeface="メイリオ"/>
                <a:cs typeface="メイリオ"/>
              </a:rPr>
              <a:t>離脱防止 × 成果報酬施策</a:t>
            </a:r>
          </a:p>
        </p:txBody>
      </p:sp>
      <p:sp>
        <p:nvSpPr>
          <p:cNvPr id="12" name="Isosceles Triangle 11"/>
          <p:cNvSpPr/>
          <p:nvPr/>
        </p:nvSpPr>
        <p:spPr>
          <a:xfrm rot="10800000">
            <a:off x="2685150" y="3186000"/>
            <a:ext cx="128700" cy="10800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lIns="74295" rIns="74295" rtlCol="0" anchor="ctr"/>
          <a:lstStyle/>
          <a:p>
            <a:pPr algn="ctr"/>
            <a:endParaRPr sz="2400"/>
          </a:p>
        </p:txBody>
      </p:sp>
      <p:sp>
        <p:nvSpPr>
          <p:cNvPr id="13" name="Rectangle 12"/>
          <p:cNvSpPr/>
          <p:nvPr/>
        </p:nvSpPr>
        <p:spPr>
          <a:xfrm>
            <a:off x="1023750" y="3330000"/>
            <a:ext cx="3451500" cy="413999"/>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200" b="1">
                <a:solidFill>
                  <a:srgbClr val="FFFFFF"/>
                </a:solidFill>
                <a:latin typeface="メイリオ"/>
                <a:ea typeface="メイリオ"/>
                <a:cs typeface="メイリオ"/>
              </a:rPr>
              <a:t>CV</a:t>
            </a:r>
          </a:p>
        </p:txBody>
      </p:sp>
      <p:sp>
        <p:nvSpPr>
          <p:cNvPr id="14" name="TextBox 13"/>
          <p:cNvSpPr txBox="1"/>
          <p:nvPr/>
        </p:nvSpPr>
        <p:spPr>
          <a:xfrm>
            <a:off x="819000" y="3950095"/>
            <a:ext cx="3861000" cy="205629"/>
          </a:xfrm>
          <a:prstGeom prst="rect">
            <a:avLst/>
          </a:prstGeom>
          <a:noFill/>
        </p:spPr>
        <p:txBody>
          <a:bodyPr wrap="square" lIns="29250" tIns="18000" rIns="29250" bIns="18000" anchor="ctr">
            <a:spAutoFit/>
          </a:bodyPr>
          <a:lstStyle/>
          <a:p>
            <a:pPr algn="ctr">
              <a:lnSpc>
                <a:spcPct val="110000"/>
              </a:lnSpc>
              <a:spcAft>
                <a:spcPts val="0"/>
              </a:spcAft>
            </a:pPr>
            <a:r>
              <a:rPr sz="1000" b="1" dirty="0" err="1">
                <a:solidFill>
                  <a:srgbClr val="333333"/>
                </a:solidFill>
                <a:latin typeface="メイリオ"/>
                <a:ea typeface="メイリオ"/>
                <a:cs typeface="メイリオ"/>
              </a:rPr>
              <a:t>CVの取りこぼしを減らし施策全体のCPAを改善</a:t>
            </a:r>
            <a:endParaRPr sz="1000" b="1" dirty="0">
              <a:solidFill>
                <a:srgbClr val="333333"/>
              </a:solidFill>
              <a:latin typeface="メイリオ"/>
              <a:ea typeface="メイリオ"/>
              <a:cs typeface="メイリオ"/>
            </a:endParaRPr>
          </a:p>
        </p:txBody>
      </p:sp>
      <p:sp>
        <p:nvSpPr>
          <p:cNvPr id="15" name="Rounded Rectangle 14"/>
          <p:cNvSpPr/>
          <p:nvPr/>
        </p:nvSpPr>
        <p:spPr>
          <a:xfrm>
            <a:off x="5060250" y="792000"/>
            <a:ext cx="4212000" cy="3564000"/>
          </a:xfrm>
          <a:prstGeom prst="roundRect">
            <a:avLst>
              <a:gd name="adj" fmla="val 4000"/>
            </a:avLst>
          </a:prstGeom>
          <a:solidFill>
            <a:srgbClr val="EEF7F1"/>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16" name="Rounded Rectangle 15"/>
          <p:cNvSpPr/>
          <p:nvPr/>
        </p:nvSpPr>
        <p:spPr>
          <a:xfrm>
            <a:off x="5294250" y="990000"/>
            <a:ext cx="1053000" cy="324000"/>
          </a:xfrm>
          <a:prstGeom prst="roundRect">
            <a:avLst>
              <a:gd name="adj" fmla="val 50000"/>
            </a:avLst>
          </a:prstGeom>
          <a:solidFill>
            <a:srgbClr val="0E8A3F"/>
          </a:solidFill>
          <a:ln>
            <a:no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000" b="1">
                <a:solidFill>
                  <a:srgbClr val="FFFFFF"/>
                </a:solidFill>
                <a:latin typeface="メイリオ"/>
                <a:ea typeface="メイリオ"/>
                <a:cs typeface="メイリオ"/>
              </a:rPr>
              <a:t>CV獲得後</a:t>
            </a:r>
          </a:p>
        </p:txBody>
      </p:sp>
      <p:sp>
        <p:nvSpPr>
          <p:cNvPr id="17" name="TextBox 16"/>
          <p:cNvSpPr txBox="1"/>
          <p:nvPr/>
        </p:nvSpPr>
        <p:spPr>
          <a:xfrm>
            <a:off x="6405749" y="864000"/>
            <a:ext cx="2749500" cy="576000"/>
          </a:xfrm>
          <a:prstGeom prst="rect">
            <a:avLst/>
          </a:prstGeom>
          <a:noFill/>
        </p:spPr>
        <p:txBody>
          <a:bodyPr wrap="square" lIns="29250" tIns="10800" rIns="29250" bIns="10800" anchor="ctr">
            <a:spAutoFit/>
          </a:bodyPr>
          <a:lstStyle/>
          <a:p>
            <a:pPr algn="l">
              <a:lnSpc>
                <a:spcPct val="105000"/>
              </a:lnSpc>
              <a:spcAft>
                <a:spcPts val="200"/>
              </a:spcAft>
            </a:pPr>
            <a:r>
              <a:rPr sz="2400" b="1">
                <a:solidFill>
                  <a:srgbClr val="0E8A3F"/>
                </a:solidFill>
                <a:latin typeface="メイリオ"/>
                <a:ea typeface="メイリオ"/>
                <a:cs typeface="メイリオ"/>
              </a:rPr>
              <a:t>CPO</a:t>
            </a:r>
            <a:r>
              <a:rPr sz="1500" b="1">
                <a:solidFill>
                  <a:srgbClr val="0E8A3F"/>
                </a:solidFill>
                <a:latin typeface="メイリオ"/>
                <a:ea typeface="メイリオ"/>
                <a:cs typeface="メイリオ"/>
              </a:rPr>
              <a:t> の改善</a:t>
            </a:r>
          </a:p>
        </p:txBody>
      </p:sp>
      <p:sp>
        <p:nvSpPr>
          <p:cNvPr id="18" name="Rectangle 17"/>
          <p:cNvSpPr/>
          <p:nvPr/>
        </p:nvSpPr>
        <p:spPr>
          <a:xfrm>
            <a:off x="5440500" y="1548000"/>
            <a:ext cx="3451500" cy="413999"/>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200" b="1">
                <a:solidFill>
                  <a:srgbClr val="333333"/>
                </a:solidFill>
                <a:latin typeface="メイリオ"/>
                <a:ea typeface="メイリオ"/>
                <a:cs typeface="メイリオ"/>
              </a:rPr>
              <a:t>CV</a:t>
            </a:r>
          </a:p>
        </p:txBody>
      </p:sp>
      <p:sp>
        <p:nvSpPr>
          <p:cNvPr id="19" name="Isosceles Triangle 18"/>
          <p:cNvSpPr/>
          <p:nvPr/>
        </p:nvSpPr>
        <p:spPr>
          <a:xfrm rot="10800000">
            <a:off x="7101900" y="1998000"/>
            <a:ext cx="128700" cy="108000"/>
          </a:xfrm>
          <a:prstGeom prst="triangle">
            <a:avLst/>
          </a:prstGeom>
          <a:solidFill>
            <a:srgbClr val="0E8A3F"/>
          </a:solidFill>
          <a:ln>
            <a:noFill/>
          </a:ln>
          <a:effectLst/>
        </p:spPr>
        <p:style>
          <a:lnRef idx="1">
            <a:schemeClr val="accent1"/>
          </a:lnRef>
          <a:fillRef idx="3">
            <a:schemeClr val="accent1"/>
          </a:fillRef>
          <a:effectRef idx="0">
            <a:schemeClr val="accent1"/>
          </a:effectRef>
          <a:fontRef idx="minor">
            <a:schemeClr val="lt1"/>
          </a:fontRef>
        </p:style>
        <p:txBody>
          <a:bodyPr lIns="74295" rIns="74295" rtlCol="0" anchor="ctr"/>
          <a:lstStyle/>
          <a:p>
            <a:pPr algn="ctr"/>
            <a:endParaRPr sz="2400"/>
          </a:p>
        </p:txBody>
      </p:sp>
      <p:sp>
        <p:nvSpPr>
          <p:cNvPr id="20" name="Rectangle 19"/>
          <p:cNvSpPr/>
          <p:nvPr/>
        </p:nvSpPr>
        <p:spPr>
          <a:xfrm>
            <a:off x="5440500" y="2142000"/>
            <a:ext cx="3451500" cy="413999"/>
          </a:xfrm>
          <a:prstGeom prst="rect">
            <a:avLst/>
          </a:prstGeom>
          <a:solidFill>
            <a:srgbClr val="E8F8EE"/>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200" b="1">
                <a:solidFill>
                  <a:srgbClr val="0B7A3B"/>
                </a:solidFill>
                <a:latin typeface="メイリオ"/>
                <a:ea typeface="メイリオ"/>
                <a:cs typeface="メイリオ"/>
              </a:rPr>
              <a:t>サンクスLINE誘導</a:t>
            </a:r>
          </a:p>
        </p:txBody>
      </p:sp>
      <p:sp>
        <p:nvSpPr>
          <p:cNvPr id="21" name="Isosceles Triangle 20"/>
          <p:cNvSpPr/>
          <p:nvPr/>
        </p:nvSpPr>
        <p:spPr>
          <a:xfrm rot="10800000">
            <a:off x="7101900" y="2592000"/>
            <a:ext cx="128700" cy="108000"/>
          </a:xfrm>
          <a:prstGeom prst="triangle">
            <a:avLst/>
          </a:prstGeom>
          <a:solidFill>
            <a:srgbClr val="0B7A3B"/>
          </a:solidFill>
          <a:ln>
            <a:noFill/>
          </a:ln>
          <a:effectLst/>
        </p:spPr>
        <p:style>
          <a:lnRef idx="1">
            <a:schemeClr val="accent1"/>
          </a:lnRef>
          <a:fillRef idx="3">
            <a:schemeClr val="accent1"/>
          </a:fillRef>
          <a:effectRef idx="0">
            <a:schemeClr val="accent1"/>
          </a:effectRef>
          <a:fontRef idx="minor">
            <a:schemeClr val="lt1"/>
          </a:fontRef>
        </p:style>
        <p:txBody>
          <a:bodyPr lIns="74295" rIns="74295" rtlCol="0" anchor="ctr"/>
          <a:lstStyle/>
          <a:p>
            <a:pPr algn="ctr"/>
            <a:endParaRPr sz="2400"/>
          </a:p>
        </p:txBody>
      </p:sp>
      <p:sp>
        <p:nvSpPr>
          <p:cNvPr id="22" name="Rectangle 21"/>
          <p:cNvSpPr/>
          <p:nvPr/>
        </p:nvSpPr>
        <p:spPr>
          <a:xfrm>
            <a:off x="5440500" y="2736000"/>
            <a:ext cx="3451500" cy="413999"/>
          </a:xfrm>
          <a:prstGeom prst="rect">
            <a:avLst/>
          </a:prstGeom>
          <a:solidFill>
            <a:srgbClr val="E8F8EE"/>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200" b="1">
                <a:solidFill>
                  <a:srgbClr val="0B7A3B"/>
                </a:solidFill>
                <a:latin typeface="メイリオ"/>
                <a:ea typeface="メイリオ"/>
                <a:cs typeface="メイリオ"/>
              </a:rPr>
              <a:t>LINEでナーチャリング</a:t>
            </a:r>
          </a:p>
        </p:txBody>
      </p:sp>
      <p:sp>
        <p:nvSpPr>
          <p:cNvPr id="23" name="Isosceles Triangle 22"/>
          <p:cNvSpPr/>
          <p:nvPr/>
        </p:nvSpPr>
        <p:spPr>
          <a:xfrm rot="10800000">
            <a:off x="7101900" y="3186000"/>
            <a:ext cx="128700" cy="108000"/>
          </a:xfrm>
          <a:prstGeom prst="triangle">
            <a:avLst/>
          </a:prstGeom>
          <a:solidFill>
            <a:srgbClr val="0B7A3B"/>
          </a:solidFill>
          <a:ln>
            <a:noFill/>
          </a:ln>
          <a:effectLst/>
        </p:spPr>
        <p:style>
          <a:lnRef idx="1">
            <a:schemeClr val="accent1"/>
          </a:lnRef>
          <a:fillRef idx="3">
            <a:schemeClr val="accent1"/>
          </a:fillRef>
          <a:effectRef idx="0">
            <a:schemeClr val="accent1"/>
          </a:effectRef>
          <a:fontRef idx="minor">
            <a:schemeClr val="lt1"/>
          </a:fontRef>
        </p:style>
        <p:txBody>
          <a:bodyPr lIns="74295" rIns="74295" rtlCol="0" anchor="ctr"/>
          <a:lstStyle/>
          <a:p>
            <a:pPr algn="ctr"/>
            <a:endParaRPr sz="2400"/>
          </a:p>
        </p:txBody>
      </p:sp>
      <p:sp>
        <p:nvSpPr>
          <p:cNvPr id="24" name="Rectangle 23"/>
          <p:cNvSpPr/>
          <p:nvPr/>
        </p:nvSpPr>
        <p:spPr>
          <a:xfrm>
            <a:off x="5440500" y="3330000"/>
            <a:ext cx="3451500" cy="413999"/>
          </a:xfrm>
          <a:prstGeom prst="rect">
            <a:avLst/>
          </a:prstGeom>
          <a:solidFill>
            <a:srgbClr val="0E8A3F"/>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200" b="1" dirty="0" err="1">
                <a:solidFill>
                  <a:srgbClr val="FFFFFF"/>
                </a:solidFill>
                <a:latin typeface="メイリオ"/>
                <a:ea typeface="メイリオ"/>
                <a:cs typeface="メイリオ"/>
              </a:rPr>
              <a:t>購入・契約など</a:t>
            </a:r>
            <a:endParaRPr sz="1200" b="1" dirty="0">
              <a:solidFill>
                <a:srgbClr val="FFFFFF"/>
              </a:solidFill>
              <a:latin typeface="メイリオ"/>
              <a:ea typeface="メイリオ"/>
              <a:cs typeface="メイリオ"/>
            </a:endParaRPr>
          </a:p>
        </p:txBody>
      </p:sp>
      <p:sp>
        <p:nvSpPr>
          <p:cNvPr id="25" name="TextBox 24"/>
          <p:cNvSpPr txBox="1"/>
          <p:nvPr/>
        </p:nvSpPr>
        <p:spPr>
          <a:xfrm>
            <a:off x="5235750" y="3950096"/>
            <a:ext cx="3861000" cy="205629"/>
          </a:xfrm>
          <a:prstGeom prst="rect">
            <a:avLst/>
          </a:prstGeom>
          <a:noFill/>
        </p:spPr>
        <p:txBody>
          <a:bodyPr wrap="square" lIns="29250" tIns="18000" rIns="29250" bIns="18000" anchor="ctr">
            <a:spAutoFit/>
          </a:bodyPr>
          <a:lstStyle/>
          <a:p>
            <a:pPr algn="ctr">
              <a:lnSpc>
                <a:spcPct val="110000"/>
              </a:lnSpc>
              <a:spcAft>
                <a:spcPts val="0"/>
              </a:spcAft>
            </a:pPr>
            <a:r>
              <a:rPr sz="1000" b="1">
                <a:solidFill>
                  <a:srgbClr val="333333"/>
                </a:solidFill>
                <a:latin typeface="メイリオ"/>
                <a:ea typeface="メイリオ"/>
                <a:cs typeface="メイリオ"/>
              </a:rPr>
              <a:t>CV後の歩留まりを改善し、CPOを改善</a:t>
            </a:r>
          </a:p>
        </p:txBody>
      </p:sp>
      <p:sp>
        <p:nvSpPr>
          <p:cNvPr id="26" name="Pentagon 25"/>
          <p:cNvSpPr/>
          <p:nvPr/>
        </p:nvSpPr>
        <p:spPr>
          <a:xfrm>
            <a:off x="643500" y="4536000"/>
            <a:ext cx="2934750" cy="684000"/>
          </a:xfrm>
          <a:prstGeom prst="homePlate">
            <a:avLst>
              <a:gd name="adj" fmla="val 22000"/>
            </a:avLst>
          </a:prstGeom>
          <a:solidFill>
            <a:srgbClr val="E8F8EE"/>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27" name="TextBox 26"/>
          <p:cNvSpPr txBox="1"/>
          <p:nvPr/>
        </p:nvSpPr>
        <p:spPr>
          <a:xfrm>
            <a:off x="760500" y="4741330"/>
            <a:ext cx="2583749" cy="273340"/>
          </a:xfrm>
          <a:prstGeom prst="rect">
            <a:avLst/>
          </a:prstGeom>
          <a:noFill/>
        </p:spPr>
        <p:txBody>
          <a:bodyPr wrap="square" lIns="29250" tIns="18000" rIns="29250" bIns="18000" anchor="ctr">
            <a:spAutoFit/>
          </a:bodyPr>
          <a:lstStyle/>
          <a:p>
            <a:pPr algn="ctr">
              <a:lnSpc>
                <a:spcPct val="110000"/>
              </a:lnSpc>
              <a:spcAft>
                <a:spcPts val="200"/>
              </a:spcAft>
            </a:pPr>
            <a:r>
              <a:rPr sz="1400" b="1" dirty="0" err="1">
                <a:solidFill>
                  <a:srgbClr val="0B7A3B"/>
                </a:solidFill>
                <a:latin typeface="メイリオ"/>
                <a:ea typeface="メイリオ"/>
                <a:cs typeface="メイリオ"/>
              </a:rPr>
              <a:t>CPOの改善</a:t>
            </a:r>
            <a:endParaRPr sz="1400" b="1" dirty="0">
              <a:solidFill>
                <a:srgbClr val="0B7A3B"/>
              </a:solidFill>
              <a:latin typeface="メイリオ"/>
              <a:ea typeface="メイリオ"/>
              <a:cs typeface="メイリオ"/>
            </a:endParaRPr>
          </a:p>
        </p:txBody>
      </p:sp>
      <p:sp>
        <p:nvSpPr>
          <p:cNvPr id="28" name="Chevron 27"/>
          <p:cNvSpPr/>
          <p:nvPr/>
        </p:nvSpPr>
        <p:spPr>
          <a:xfrm>
            <a:off x="3490500" y="4536000"/>
            <a:ext cx="2934750" cy="684000"/>
          </a:xfrm>
          <a:prstGeom prst="chevron">
            <a:avLst>
              <a:gd name="adj" fmla="val 22000"/>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29" name="TextBox 28"/>
          <p:cNvSpPr txBox="1"/>
          <p:nvPr/>
        </p:nvSpPr>
        <p:spPr>
          <a:xfrm>
            <a:off x="3753750" y="4741330"/>
            <a:ext cx="2437499" cy="273340"/>
          </a:xfrm>
          <a:prstGeom prst="rect">
            <a:avLst/>
          </a:prstGeom>
          <a:noFill/>
        </p:spPr>
        <p:txBody>
          <a:bodyPr wrap="square" lIns="29250" tIns="18000" rIns="29250" bIns="18000" anchor="ctr">
            <a:spAutoFit/>
          </a:bodyPr>
          <a:lstStyle/>
          <a:p>
            <a:pPr algn="ctr">
              <a:lnSpc>
                <a:spcPct val="110000"/>
              </a:lnSpc>
              <a:spcAft>
                <a:spcPts val="200"/>
              </a:spcAft>
            </a:pPr>
            <a:r>
              <a:rPr sz="1400" b="1" dirty="0" err="1">
                <a:solidFill>
                  <a:srgbClr val="1F285A"/>
                </a:solidFill>
                <a:latin typeface="メイリオ"/>
                <a:ea typeface="メイリオ"/>
                <a:cs typeface="メイリオ"/>
              </a:rPr>
              <a:t>許容CPAの引き上げ</a:t>
            </a:r>
            <a:endParaRPr sz="1400" b="1" dirty="0">
              <a:solidFill>
                <a:srgbClr val="1F285A"/>
              </a:solidFill>
              <a:latin typeface="メイリオ"/>
              <a:ea typeface="メイリオ"/>
              <a:cs typeface="メイリオ"/>
            </a:endParaRPr>
          </a:p>
        </p:txBody>
      </p:sp>
      <p:sp>
        <p:nvSpPr>
          <p:cNvPr id="30" name="Chevron 29"/>
          <p:cNvSpPr/>
          <p:nvPr/>
        </p:nvSpPr>
        <p:spPr>
          <a:xfrm>
            <a:off x="6337499" y="4536000"/>
            <a:ext cx="2934750" cy="684000"/>
          </a:xfrm>
          <a:prstGeom prst="chevron">
            <a:avLst>
              <a:gd name="adj" fmla="val 22000"/>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31" name="TextBox 30"/>
          <p:cNvSpPr txBox="1"/>
          <p:nvPr/>
        </p:nvSpPr>
        <p:spPr>
          <a:xfrm>
            <a:off x="6600749" y="4741330"/>
            <a:ext cx="2437499" cy="273340"/>
          </a:xfrm>
          <a:prstGeom prst="rect">
            <a:avLst/>
          </a:prstGeom>
          <a:noFill/>
        </p:spPr>
        <p:txBody>
          <a:bodyPr wrap="square" lIns="29250" tIns="18000" rIns="29250" bIns="18000" anchor="ctr">
            <a:spAutoFit/>
          </a:bodyPr>
          <a:lstStyle/>
          <a:p>
            <a:pPr algn="ctr">
              <a:lnSpc>
                <a:spcPct val="110000"/>
              </a:lnSpc>
              <a:spcAft>
                <a:spcPts val="200"/>
              </a:spcAft>
            </a:pPr>
            <a:r>
              <a:rPr sz="1400" b="1" dirty="0" err="1">
                <a:solidFill>
                  <a:srgbClr val="1F285A"/>
                </a:solidFill>
                <a:latin typeface="メイリオ"/>
                <a:ea typeface="メイリオ"/>
                <a:cs typeface="メイリオ"/>
              </a:rPr>
              <a:t>広告配信の拡大</a:t>
            </a:r>
            <a:endParaRPr sz="1400" b="1" dirty="0">
              <a:solidFill>
                <a:srgbClr val="1F285A"/>
              </a:solidFill>
              <a:latin typeface="メイリオ"/>
              <a:ea typeface="メイリオ"/>
              <a:cs typeface="メイリオ"/>
            </a:endParaRPr>
          </a:p>
        </p:txBody>
      </p:sp>
      <p:cxnSp>
        <p:nvCxnSpPr>
          <p:cNvPr id="32" name="Connector 31"/>
          <p:cNvCxnSpPr/>
          <p:nvPr/>
        </p:nvCxnSpPr>
        <p:spPr>
          <a:xfrm>
            <a:off x="9126000" y="5256000"/>
            <a:ext cx="0" cy="162000"/>
          </a:xfrm>
          <a:prstGeom prst="line">
            <a:avLst/>
          </a:prstGeom>
          <a:ln w="19050">
            <a:solidFill>
              <a:srgbClr val="1F285A"/>
            </a:solidFill>
          </a:ln>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a:off x="789750" y="5418000"/>
            <a:ext cx="8336250" cy="0"/>
          </a:xfrm>
          <a:prstGeom prst="line">
            <a:avLst/>
          </a:prstGeom>
          <a:ln w="19050">
            <a:solidFill>
              <a:srgbClr val="1F285A"/>
            </a:solidFill>
          </a:ln>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V="1">
            <a:off x="789750" y="5263200"/>
            <a:ext cx="0" cy="154800"/>
          </a:xfrm>
          <a:prstGeom prst="line">
            <a:avLst/>
          </a:prstGeom>
          <a:ln w="19050">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35" name="Rectangle 34"/>
          <p:cNvSpPr/>
          <p:nvPr/>
        </p:nvSpPr>
        <p:spPr>
          <a:xfrm>
            <a:off x="3349124" y="5292000"/>
            <a:ext cx="3217500" cy="251999"/>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lnSpc>
                <a:spcPct val="110000"/>
              </a:lnSpc>
              <a:spcAft>
                <a:spcPts val="0"/>
              </a:spcAft>
            </a:pPr>
            <a:r>
              <a:rPr sz="1000" b="1">
                <a:solidFill>
                  <a:srgbClr val="333333"/>
                </a:solidFill>
                <a:latin typeface="メイリオ"/>
                <a:ea typeface="メイリオ"/>
                <a:cs typeface="メイリオ"/>
              </a:rPr>
              <a:t>さらに成果が増えれば、再投資して継続的に拡大</a:t>
            </a:r>
          </a:p>
        </p:txBody>
      </p:sp>
      <p:sp>
        <p:nvSpPr>
          <p:cNvPr id="36" name="Rectangle 35"/>
          <p:cNvSpPr/>
          <p:nvPr/>
        </p:nvSpPr>
        <p:spPr>
          <a:xfrm>
            <a:off x="643500" y="5652000"/>
            <a:ext cx="8628750" cy="61200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37" name="TextBox 36"/>
          <p:cNvSpPr txBox="1"/>
          <p:nvPr/>
        </p:nvSpPr>
        <p:spPr>
          <a:xfrm>
            <a:off x="643500" y="5652000"/>
            <a:ext cx="8628750" cy="612000"/>
          </a:xfrm>
          <a:prstGeom prst="rect">
            <a:avLst/>
          </a:prstGeom>
          <a:noFill/>
        </p:spPr>
        <p:txBody>
          <a:bodyPr wrap="square" lIns="29250" tIns="10800" rIns="29250" bIns="10800" anchor="ctr">
            <a:spAutoFit/>
          </a:bodyPr>
          <a:lstStyle/>
          <a:p>
            <a:pPr algn="ctr">
              <a:lnSpc>
                <a:spcPct val="105000"/>
              </a:lnSpc>
              <a:spcAft>
                <a:spcPts val="200"/>
              </a:spcAft>
            </a:pPr>
            <a:r>
              <a:rPr sz="1600" b="1">
                <a:solidFill>
                  <a:srgbClr val="FFFFFF"/>
                </a:solidFill>
                <a:latin typeface="メイリオ"/>
                <a:ea typeface="メイリオ"/>
                <a:cs typeface="メイリオ"/>
              </a:rPr>
              <a:t>広告とあわせて実施することで、</a:t>
            </a:r>
            <a:r>
              <a:rPr sz="1600" b="1">
                <a:solidFill>
                  <a:srgbClr val="FFE400"/>
                </a:solidFill>
                <a:latin typeface="メイリオ"/>
                <a:ea typeface="メイリオ"/>
                <a:cs typeface="メイリオ"/>
              </a:rPr>
              <a:t>事業全体の効率化</a:t>
            </a:r>
            <a:r>
              <a:rPr sz="1600" b="1">
                <a:solidFill>
                  <a:srgbClr val="FFFFFF"/>
                </a:solidFill>
                <a:latin typeface="メイリオ"/>
                <a:ea typeface="メイリオ"/>
                <a:cs typeface="メイリオ"/>
              </a:rPr>
              <a:t>を図る。</a:t>
            </a:r>
          </a:p>
        </p:txBody>
      </p:sp>
      <p:sp>
        <p:nvSpPr>
          <p:cNvPr id="39" name="Rounded Rectangle 15">
            <a:extLst>
              <a:ext uri="{FF2B5EF4-FFF2-40B4-BE49-F238E27FC236}">
                <a16:creationId xmlns:a16="http://schemas.microsoft.com/office/drawing/2014/main" id="{E32FF46F-8EC5-84E2-0196-27AFC801F6CB}"/>
              </a:ext>
            </a:extLst>
          </p:cNvPr>
          <p:cNvSpPr/>
          <p:nvPr/>
        </p:nvSpPr>
        <p:spPr>
          <a:xfrm>
            <a:off x="8065876" y="985508"/>
            <a:ext cx="1274130" cy="324000"/>
          </a:xfrm>
          <a:prstGeom prst="roundRect">
            <a:avLst>
              <a:gd name="adj" fmla="val 39249"/>
            </a:avLst>
          </a:prstGeom>
          <a:solidFill>
            <a:srgbClr val="FF0000"/>
          </a:solidFill>
          <a:ln>
            <a:no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lang="ja-JP" altLang="en-US" sz="1000" b="1" dirty="0">
                <a:solidFill>
                  <a:srgbClr val="FFFFFF"/>
                </a:solidFill>
                <a:latin typeface="メイリオ"/>
                <a:ea typeface="メイリオ"/>
                <a:cs typeface="メイリオ"/>
              </a:rPr>
              <a:t>重要性 </a:t>
            </a:r>
            <a:r>
              <a:rPr lang="en-US" altLang="ja-JP" sz="1000" b="1" dirty="0">
                <a:solidFill>
                  <a:srgbClr val="FFFFFF"/>
                </a:solidFill>
                <a:latin typeface="メイリオ"/>
                <a:ea typeface="メイリオ"/>
                <a:cs typeface="メイリオ"/>
              </a:rPr>
              <a:t>UP</a:t>
            </a:r>
            <a:endParaRPr sz="1000" b="1" dirty="0">
              <a:solidFill>
                <a:srgbClr val="FFFFFF"/>
              </a:solidFill>
              <a:latin typeface="メイリオ"/>
              <a:ea typeface="メイリオ"/>
              <a:cs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dirty="0" err="1">
                <a:solidFill>
                  <a:srgbClr val="002060"/>
                </a:solidFill>
                <a:latin typeface="メイリオ"/>
                <a:ea typeface="メイリオ"/>
                <a:cs typeface="メイリオ"/>
              </a:rPr>
              <a:t>サンクスLINE｜導入・活用実績</a:t>
            </a:r>
            <a:endParaRPr sz="1600" b="1" dirty="0">
              <a:solidFill>
                <a:srgbClr val="002060"/>
              </a:solidFill>
              <a:latin typeface="メイリオ"/>
              <a:ea typeface="メイリオ"/>
              <a:cs typeface="メイリオ"/>
            </a:endParaRP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LINE活用の参考事例と、サンクスLINE誘導ツールの導入実績</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44400" y="1548000"/>
            <a:ext cx="8629200" cy="1386000"/>
          </a:xfrm>
          <a:prstGeom prst="rect">
            <a:avLst/>
          </a:prstGeom>
          <a:solidFill>
            <a:srgbClr val="FFFFFF"/>
          </a:solidFill>
          <a:ln w="12700">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7" name="TextBox 6"/>
          <p:cNvSpPr txBox="1"/>
          <p:nvPr/>
        </p:nvSpPr>
        <p:spPr>
          <a:xfrm>
            <a:off x="770400" y="1980000"/>
            <a:ext cx="3131999" cy="251999"/>
          </a:xfrm>
          <a:prstGeom prst="rect">
            <a:avLst/>
          </a:prstGeom>
          <a:noFill/>
        </p:spPr>
        <p:txBody>
          <a:bodyPr wrap="square" lIns="36000" tIns="18000" rIns="36000" bIns="18000" anchor="ctr">
            <a:spAutoFit/>
          </a:bodyPr>
          <a:lstStyle/>
          <a:p>
            <a:pPr algn="l">
              <a:lnSpc>
                <a:spcPct val="110000"/>
              </a:lnSpc>
              <a:spcAft>
                <a:spcPts val="0"/>
              </a:spcAft>
            </a:pPr>
            <a:r>
              <a:rPr sz="1200" b="1" dirty="0" err="1">
                <a:solidFill>
                  <a:srgbClr val="1F285A"/>
                </a:solidFill>
                <a:latin typeface="メイリオ"/>
                <a:ea typeface="メイリオ"/>
                <a:cs typeface="メイリオ"/>
              </a:rPr>
              <a:t>クリニック｜LINE活用による来院率改善</a:t>
            </a:r>
            <a:endParaRPr sz="1200" b="1" dirty="0">
              <a:solidFill>
                <a:srgbClr val="1F285A"/>
              </a:solidFill>
              <a:latin typeface="メイリオ"/>
              <a:ea typeface="メイリオ"/>
              <a:cs typeface="メイリオ"/>
            </a:endParaRPr>
          </a:p>
        </p:txBody>
      </p:sp>
      <p:sp>
        <p:nvSpPr>
          <p:cNvPr id="8" name="Rounded Rectangle 7"/>
          <p:cNvSpPr/>
          <p:nvPr/>
        </p:nvSpPr>
        <p:spPr>
          <a:xfrm>
            <a:off x="806400" y="2250000"/>
            <a:ext cx="1548000" cy="19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850" b="1">
                <a:solidFill>
                  <a:srgbClr val="7F7F7F"/>
                </a:solidFill>
                <a:latin typeface="メイリオ"/>
                <a:ea typeface="メイリオ"/>
                <a:cs typeface="メイリオ"/>
              </a:rPr>
              <a:t>LINEヤフーの参考事例</a:t>
            </a:r>
          </a:p>
        </p:txBody>
      </p:sp>
      <p:sp>
        <p:nvSpPr>
          <p:cNvPr id="9" name="Rectangle 8"/>
          <p:cNvSpPr/>
          <p:nvPr/>
        </p:nvSpPr>
        <p:spPr>
          <a:xfrm>
            <a:off x="3851999" y="2034000"/>
            <a:ext cx="990000" cy="413999"/>
          </a:xfrm>
          <a:prstGeom prst="rect">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10800" tIns="7200" rIns="10800" bIns="7200" rtlCol="0" anchor="ctr"/>
          <a:lstStyle/>
          <a:p>
            <a:pPr algn="ctr">
              <a:lnSpc>
                <a:spcPct val="110000"/>
              </a:lnSpc>
              <a:spcAft>
                <a:spcPts val="0"/>
              </a:spcAft>
            </a:pPr>
            <a:r>
              <a:rPr sz="1000" b="1">
                <a:solidFill>
                  <a:srgbClr val="1F285A"/>
                </a:solidFill>
                <a:latin typeface="メイリオ"/>
                <a:ea typeface="メイリオ"/>
                <a:cs typeface="メイリオ"/>
              </a:rPr>
              <a:t>予約完了</a:t>
            </a:r>
          </a:p>
        </p:txBody>
      </p:sp>
      <p:cxnSp>
        <p:nvCxnSpPr>
          <p:cNvPr id="10" name="Connector 9"/>
          <p:cNvCxnSpPr/>
          <p:nvPr/>
        </p:nvCxnSpPr>
        <p:spPr>
          <a:xfrm>
            <a:off x="4863600" y="2241000"/>
            <a:ext cx="100800" cy="0"/>
          </a:xfrm>
          <a:prstGeom prst="line">
            <a:avLst/>
          </a:prstGeom>
          <a:ln w="19050">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1" name="Rectangle 10"/>
          <p:cNvSpPr/>
          <p:nvPr/>
        </p:nvSpPr>
        <p:spPr>
          <a:xfrm>
            <a:off x="4986000" y="2034000"/>
            <a:ext cx="990000" cy="413999"/>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10800" tIns="7200" rIns="10800" bIns="7200" rtlCol="0" anchor="ctr"/>
          <a:lstStyle/>
          <a:p>
            <a:pPr algn="ctr">
              <a:lnSpc>
                <a:spcPct val="110000"/>
              </a:lnSpc>
              <a:spcAft>
                <a:spcPts val="0"/>
              </a:spcAft>
            </a:pPr>
            <a:r>
              <a:rPr sz="1000" b="1">
                <a:solidFill>
                  <a:srgbClr val="FFFFFF"/>
                </a:solidFill>
                <a:latin typeface="メイリオ"/>
                <a:ea typeface="メイリオ"/>
                <a:cs typeface="メイリオ"/>
              </a:rPr>
              <a:t>LINE</a:t>
            </a:r>
          </a:p>
          <a:p>
            <a:pPr algn="ctr">
              <a:lnSpc>
                <a:spcPct val="110000"/>
              </a:lnSpc>
              <a:spcAft>
                <a:spcPts val="0"/>
              </a:spcAft>
            </a:pPr>
            <a:r>
              <a:rPr sz="1000" b="1">
                <a:solidFill>
                  <a:srgbClr val="FFFFFF"/>
                </a:solidFill>
                <a:latin typeface="メイリオ"/>
                <a:ea typeface="メイリオ"/>
                <a:cs typeface="メイリオ"/>
              </a:rPr>
              <a:t>友だち追加</a:t>
            </a:r>
          </a:p>
        </p:txBody>
      </p:sp>
      <p:cxnSp>
        <p:nvCxnSpPr>
          <p:cNvPr id="12" name="Connector 11"/>
          <p:cNvCxnSpPr/>
          <p:nvPr/>
        </p:nvCxnSpPr>
        <p:spPr>
          <a:xfrm>
            <a:off x="5997600" y="2241000"/>
            <a:ext cx="100800" cy="0"/>
          </a:xfrm>
          <a:prstGeom prst="line">
            <a:avLst/>
          </a:prstGeom>
          <a:ln w="19050">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3" name="Rectangle 12"/>
          <p:cNvSpPr/>
          <p:nvPr/>
        </p:nvSpPr>
        <p:spPr>
          <a:xfrm>
            <a:off x="6120000" y="2034000"/>
            <a:ext cx="990000" cy="413999"/>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10800" tIns="7200" rIns="10800" bIns="7200" rtlCol="0" anchor="ctr"/>
          <a:lstStyle/>
          <a:p>
            <a:pPr algn="ctr">
              <a:lnSpc>
                <a:spcPct val="110000"/>
              </a:lnSpc>
              <a:spcAft>
                <a:spcPts val="0"/>
              </a:spcAft>
            </a:pPr>
            <a:r>
              <a:rPr sz="1000" b="1">
                <a:solidFill>
                  <a:srgbClr val="FFFFFF"/>
                </a:solidFill>
                <a:latin typeface="メイリオ"/>
                <a:ea typeface="メイリオ"/>
                <a:cs typeface="メイリオ"/>
              </a:rPr>
              <a:t>予約確認・</a:t>
            </a:r>
          </a:p>
          <a:p>
            <a:pPr algn="ctr">
              <a:lnSpc>
                <a:spcPct val="110000"/>
              </a:lnSpc>
              <a:spcAft>
                <a:spcPts val="0"/>
              </a:spcAft>
            </a:pPr>
            <a:r>
              <a:rPr sz="1000" b="1">
                <a:solidFill>
                  <a:srgbClr val="FFFFFF"/>
                </a:solidFill>
                <a:latin typeface="メイリオ"/>
                <a:ea typeface="メイリオ"/>
                <a:cs typeface="メイリオ"/>
              </a:rPr>
              <a:t>前日のお知らせ</a:t>
            </a:r>
          </a:p>
        </p:txBody>
      </p:sp>
      <p:sp>
        <p:nvSpPr>
          <p:cNvPr id="14" name="TextBox 13"/>
          <p:cNvSpPr txBox="1"/>
          <p:nvPr/>
        </p:nvSpPr>
        <p:spPr>
          <a:xfrm>
            <a:off x="7182000" y="1853999"/>
            <a:ext cx="2034000" cy="180000"/>
          </a:xfrm>
          <a:prstGeom prst="rect">
            <a:avLst/>
          </a:prstGeom>
          <a:noFill/>
        </p:spPr>
        <p:txBody>
          <a:bodyPr wrap="square" lIns="36000" tIns="18000" rIns="36000" bIns="18000" anchor="ctr">
            <a:spAutoFit/>
          </a:bodyPr>
          <a:lstStyle/>
          <a:p>
            <a:pPr algn="ctr">
              <a:lnSpc>
                <a:spcPct val="110000"/>
              </a:lnSpc>
              <a:spcAft>
                <a:spcPts val="0"/>
              </a:spcAft>
            </a:pPr>
            <a:r>
              <a:rPr sz="1000" b="1">
                <a:solidFill>
                  <a:srgbClr val="333333"/>
                </a:solidFill>
                <a:latin typeface="メイリオ"/>
                <a:ea typeface="メイリオ"/>
                <a:cs typeface="メイリオ"/>
              </a:rPr>
              <a:t>予約後の来院率</a:t>
            </a:r>
          </a:p>
        </p:txBody>
      </p:sp>
      <p:sp>
        <p:nvSpPr>
          <p:cNvPr id="15" name="TextBox 14"/>
          <p:cNvSpPr txBox="1"/>
          <p:nvPr/>
        </p:nvSpPr>
        <p:spPr>
          <a:xfrm>
            <a:off x="7182000" y="2051999"/>
            <a:ext cx="2034000" cy="503999"/>
          </a:xfrm>
          <a:prstGeom prst="rect">
            <a:avLst/>
          </a:prstGeom>
          <a:noFill/>
        </p:spPr>
        <p:txBody>
          <a:bodyPr wrap="none" lIns="36000" tIns="10800" rIns="36000" bIns="10800" anchor="ctr">
            <a:spAutoFit/>
          </a:bodyPr>
          <a:lstStyle/>
          <a:p>
            <a:pPr algn="ctr">
              <a:lnSpc>
                <a:spcPct val="105000"/>
              </a:lnSpc>
              <a:spcAft>
                <a:spcPts val="200"/>
              </a:spcAft>
            </a:pPr>
            <a:r>
              <a:rPr sz="2200" b="1">
                <a:solidFill>
                  <a:srgbClr val="1F285A"/>
                </a:solidFill>
                <a:latin typeface="メイリオ"/>
                <a:ea typeface="メイリオ"/>
                <a:cs typeface="メイリオ"/>
              </a:rPr>
              <a:t>40〜50%</a:t>
            </a:r>
            <a:r>
              <a:rPr sz="1200" b="1">
                <a:solidFill>
                  <a:srgbClr val="1F285A"/>
                </a:solidFill>
                <a:latin typeface="メイリオ"/>
                <a:ea typeface="メイリオ"/>
                <a:cs typeface="メイリオ"/>
              </a:rPr>
              <a:t>改善</a:t>
            </a:r>
          </a:p>
        </p:txBody>
      </p:sp>
      <p:sp>
        <p:nvSpPr>
          <p:cNvPr id="16" name="TextBox 15"/>
          <p:cNvSpPr txBox="1"/>
          <p:nvPr/>
        </p:nvSpPr>
        <p:spPr>
          <a:xfrm>
            <a:off x="644400" y="3078000"/>
            <a:ext cx="3780000" cy="270000"/>
          </a:xfrm>
          <a:prstGeom prst="rect">
            <a:avLst/>
          </a:prstGeom>
          <a:noFill/>
        </p:spPr>
        <p:txBody>
          <a:bodyPr wrap="square" lIns="36000" tIns="18000" rIns="36000" bIns="18000" anchor="ctr">
            <a:spAutoFit/>
          </a:bodyPr>
          <a:lstStyle/>
          <a:p>
            <a:pPr algn="l">
              <a:lnSpc>
                <a:spcPct val="110000"/>
              </a:lnSpc>
              <a:spcAft>
                <a:spcPts val="0"/>
              </a:spcAft>
            </a:pPr>
            <a:r>
              <a:rPr sz="1300" b="1">
                <a:solidFill>
                  <a:srgbClr val="1F285A"/>
                </a:solidFill>
                <a:latin typeface="メイリオ"/>
                <a:ea typeface="メイリオ"/>
                <a:cs typeface="メイリオ"/>
              </a:rPr>
              <a:t>人材業界｜サンクスLINE誘導ツール導入実績</a:t>
            </a:r>
          </a:p>
        </p:txBody>
      </p:sp>
      <p:sp>
        <p:nvSpPr>
          <p:cNvPr id="17" name="Rounded Rectangle 16"/>
          <p:cNvSpPr/>
          <p:nvPr/>
        </p:nvSpPr>
        <p:spPr>
          <a:xfrm>
            <a:off x="4496399" y="3114000"/>
            <a:ext cx="1152000" cy="198000"/>
          </a:xfrm>
          <a:prstGeom prst="roundRect">
            <a:avLst>
              <a:gd name="adj" fmla="val 5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850" b="1">
                <a:solidFill>
                  <a:srgbClr val="FFFFFF"/>
                </a:solidFill>
                <a:latin typeface="メイリオ"/>
                <a:ea typeface="メイリオ"/>
                <a:cs typeface="メイリオ"/>
              </a:rPr>
              <a:t>DYMの導入実績</a:t>
            </a:r>
          </a:p>
        </p:txBody>
      </p:sp>
      <p:sp>
        <p:nvSpPr>
          <p:cNvPr id="18" name="Rectangle 17"/>
          <p:cNvSpPr/>
          <p:nvPr/>
        </p:nvSpPr>
        <p:spPr>
          <a:xfrm>
            <a:off x="644400" y="3401999"/>
            <a:ext cx="2880000" cy="2070000"/>
          </a:xfrm>
          <a:prstGeom prst="rect">
            <a:avLst/>
          </a:prstGeom>
          <a:solidFill>
            <a:srgbClr val="FFFFFF"/>
          </a:solidFill>
          <a:ln w="12700">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19" name="Rectangle 18"/>
          <p:cNvSpPr/>
          <p:nvPr/>
        </p:nvSpPr>
        <p:spPr>
          <a:xfrm>
            <a:off x="644400" y="3401999"/>
            <a:ext cx="2880000" cy="270000"/>
          </a:xfrm>
          <a:prstGeom prst="rect">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50" b="1">
                <a:solidFill>
                  <a:srgbClr val="1F285A"/>
                </a:solidFill>
                <a:latin typeface="メイリオ"/>
                <a:ea typeface="メイリオ"/>
                <a:cs typeface="メイリオ"/>
              </a:rPr>
              <a:t>① 導入前後3か月比較</a:t>
            </a:r>
          </a:p>
        </p:txBody>
      </p:sp>
      <p:sp>
        <p:nvSpPr>
          <p:cNvPr id="20" name="TextBox 19"/>
          <p:cNvSpPr txBox="1"/>
          <p:nvPr/>
        </p:nvSpPr>
        <p:spPr>
          <a:xfrm>
            <a:off x="752400" y="3761999"/>
            <a:ext cx="1188000" cy="162000"/>
          </a:xfrm>
          <a:prstGeom prst="rect">
            <a:avLst/>
          </a:prstGeom>
          <a:noFill/>
        </p:spPr>
        <p:txBody>
          <a:bodyPr wrap="square" lIns="36000" tIns="18000" rIns="36000" bIns="18000" anchor="t">
            <a:spAutoFit/>
          </a:bodyPr>
          <a:lstStyle/>
          <a:p>
            <a:pPr algn="ctr">
              <a:lnSpc>
                <a:spcPct val="110000"/>
              </a:lnSpc>
              <a:spcAft>
                <a:spcPts val="0"/>
              </a:spcAft>
            </a:pPr>
            <a:r>
              <a:rPr sz="950" b="0">
                <a:solidFill>
                  <a:srgbClr val="7F7F7F"/>
                </a:solidFill>
                <a:latin typeface="メイリオ"/>
                <a:ea typeface="メイリオ"/>
                <a:cs typeface="メイリオ"/>
              </a:rPr>
              <a:t>導入前</a:t>
            </a:r>
          </a:p>
        </p:txBody>
      </p:sp>
      <p:sp>
        <p:nvSpPr>
          <p:cNvPr id="21" name="TextBox 20"/>
          <p:cNvSpPr txBox="1"/>
          <p:nvPr/>
        </p:nvSpPr>
        <p:spPr>
          <a:xfrm>
            <a:off x="752400" y="3923999"/>
            <a:ext cx="1188000" cy="306000"/>
          </a:xfrm>
          <a:prstGeom prst="rect">
            <a:avLst/>
          </a:prstGeom>
          <a:noFill/>
        </p:spPr>
        <p:txBody>
          <a:bodyPr wrap="square" lIns="36000" tIns="18000" rIns="36000" bIns="18000" anchor="ctr">
            <a:spAutoFit/>
          </a:bodyPr>
          <a:lstStyle/>
          <a:p>
            <a:pPr algn="ctr">
              <a:lnSpc>
                <a:spcPct val="110000"/>
              </a:lnSpc>
              <a:spcAft>
                <a:spcPts val="0"/>
              </a:spcAft>
            </a:pPr>
            <a:r>
              <a:rPr sz="1700" b="1">
                <a:solidFill>
                  <a:srgbClr val="333333"/>
                </a:solidFill>
                <a:latin typeface="メイリオ"/>
                <a:ea typeface="メイリオ"/>
                <a:cs typeface="メイリオ"/>
              </a:rPr>
              <a:t>1,532人</a:t>
            </a:r>
          </a:p>
        </p:txBody>
      </p:sp>
      <p:sp>
        <p:nvSpPr>
          <p:cNvPr id="22" name="Right Arrow 21"/>
          <p:cNvSpPr/>
          <p:nvPr/>
        </p:nvSpPr>
        <p:spPr>
          <a:xfrm>
            <a:off x="1958400" y="3977999"/>
            <a:ext cx="251999" cy="198000"/>
          </a:xfrm>
          <a:prstGeom prst="rightArrow">
            <a:avLst>
              <a:gd name="adj1" fmla="val 40000"/>
              <a:gd name="adj2" fmla="val 5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23" name="TextBox 22"/>
          <p:cNvSpPr txBox="1"/>
          <p:nvPr/>
        </p:nvSpPr>
        <p:spPr>
          <a:xfrm>
            <a:off x="2228399" y="3761999"/>
            <a:ext cx="1188000" cy="162000"/>
          </a:xfrm>
          <a:prstGeom prst="rect">
            <a:avLst/>
          </a:prstGeom>
          <a:noFill/>
        </p:spPr>
        <p:txBody>
          <a:bodyPr wrap="square" lIns="36000" tIns="18000" rIns="36000" bIns="18000" anchor="t">
            <a:spAutoFit/>
          </a:bodyPr>
          <a:lstStyle/>
          <a:p>
            <a:pPr algn="ctr">
              <a:lnSpc>
                <a:spcPct val="110000"/>
              </a:lnSpc>
              <a:spcAft>
                <a:spcPts val="0"/>
              </a:spcAft>
            </a:pPr>
            <a:r>
              <a:rPr sz="950" b="0">
                <a:solidFill>
                  <a:srgbClr val="7F7F7F"/>
                </a:solidFill>
                <a:latin typeface="メイリオ"/>
                <a:ea typeface="メイリオ"/>
                <a:cs typeface="メイリオ"/>
              </a:rPr>
              <a:t>導入後</a:t>
            </a:r>
          </a:p>
        </p:txBody>
      </p:sp>
      <p:sp>
        <p:nvSpPr>
          <p:cNvPr id="24" name="TextBox 23"/>
          <p:cNvSpPr txBox="1"/>
          <p:nvPr/>
        </p:nvSpPr>
        <p:spPr>
          <a:xfrm>
            <a:off x="2228399" y="3923999"/>
            <a:ext cx="1188000" cy="306000"/>
          </a:xfrm>
          <a:prstGeom prst="rect">
            <a:avLst/>
          </a:prstGeom>
          <a:noFill/>
        </p:spPr>
        <p:txBody>
          <a:bodyPr wrap="square" lIns="36000" tIns="18000" rIns="36000" bIns="18000" anchor="ctr">
            <a:spAutoFit/>
          </a:bodyPr>
          <a:lstStyle/>
          <a:p>
            <a:pPr algn="ctr">
              <a:lnSpc>
                <a:spcPct val="110000"/>
              </a:lnSpc>
              <a:spcAft>
                <a:spcPts val="0"/>
              </a:spcAft>
            </a:pPr>
            <a:r>
              <a:rPr sz="1700" b="1">
                <a:solidFill>
                  <a:srgbClr val="1F285A"/>
                </a:solidFill>
                <a:latin typeface="メイリオ"/>
                <a:ea typeface="メイリオ"/>
                <a:cs typeface="メイリオ"/>
              </a:rPr>
              <a:t>2,103人</a:t>
            </a:r>
          </a:p>
        </p:txBody>
      </p:sp>
      <p:cxnSp>
        <p:nvCxnSpPr>
          <p:cNvPr id="25" name="Connector 24"/>
          <p:cNvCxnSpPr/>
          <p:nvPr/>
        </p:nvCxnSpPr>
        <p:spPr>
          <a:xfrm>
            <a:off x="788400" y="4320000"/>
            <a:ext cx="2591999"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16400" y="4373999"/>
            <a:ext cx="2736000" cy="576000"/>
          </a:xfrm>
          <a:prstGeom prst="rect">
            <a:avLst/>
          </a:prstGeom>
          <a:noFill/>
        </p:spPr>
        <p:txBody>
          <a:bodyPr wrap="square" lIns="36000" tIns="10800" rIns="36000" bIns="10800" anchor="ctr">
            <a:spAutoFit/>
          </a:bodyPr>
          <a:lstStyle/>
          <a:p>
            <a:pPr algn="ctr">
              <a:lnSpc>
                <a:spcPct val="105000"/>
              </a:lnSpc>
              <a:spcAft>
                <a:spcPts val="200"/>
              </a:spcAft>
            </a:pPr>
            <a:r>
              <a:rPr sz="1100" b="1">
                <a:solidFill>
                  <a:srgbClr val="333333"/>
                </a:solidFill>
                <a:latin typeface="メイリオ"/>
                <a:ea typeface="メイリオ"/>
                <a:cs typeface="メイリオ"/>
              </a:rPr>
              <a:t>導入前比 </a:t>
            </a:r>
            <a:r>
              <a:rPr sz="3000" b="1">
                <a:solidFill>
                  <a:srgbClr val="1F285A"/>
                </a:solidFill>
                <a:latin typeface="メイリオ"/>
                <a:ea typeface="メイリオ"/>
                <a:cs typeface="メイリオ"/>
              </a:rPr>
              <a:t>137.3%</a:t>
            </a:r>
          </a:p>
        </p:txBody>
      </p:sp>
      <p:sp>
        <p:nvSpPr>
          <p:cNvPr id="27" name="TextBox 26"/>
          <p:cNvSpPr txBox="1"/>
          <p:nvPr/>
        </p:nvSpPr>
        <p:spPr>
          <a:xfrm>
            <a:off x="716400" y="4986000"/>
            <a:ext cx="2736000" cy="288000"/>
          </a:xfrm>
          <a:prstGeom prst="rect">
            <a:avLst/>
          </a:prstGeom>
          <a:noFill/>
        </p:spPr>
        <p:txBody>
          <a:bodyPr wrap="square" lIns="36000" tIns="10800" rIns="36000" bIns="10800" anchor="ctr">
            <a:spAutoFit/>
          </a:bodyPr>
          <a:lstStyle/>
          <a:p>
            <a:pPr algn="ctr">
              <a:lnSpc>
                <a:spcPct val="105000"/>
              </a:lnSpc>
              <a:spcAft>
                <a:spcPts val="200"/>
              </a:spcAft>
            </a:pPr>
            <a:r>
              <a:rPr sz="950" b="0">
                <a:solidFill>
                  <a:srgbClr val="7F7F7F"/>
                </a:solidFill>
                <a:latin typeface="メイリオ"/>
                <a:ea typeface="メイリオ"/>
                <a:cs typeface="メイリオ"/>
              </a:rPr>
              <a:t>増加数 </a:t>
            </a:r>
            <a:r>
              <a:rPr sz="1500" b="1">
                <a:solidFill>
                  <a:srgbClr val="0B7A3B"/>
                </a:solidFill>
                <a:latin typeface="メイリオ"/>
                <a:ea typeface="メイリオ"/>
                <a:cs typeface="メイリオ"/>
              </a:rPr>
              <a:t>+571人</a:t>
            </a:r>
          </a:p>
        </p:txBody>
      </p:sp>
      <p:sp>
        <p:nvSpPr>
          <p:cNvPr id="28" name="Rectangle 27"/>
          <p:cNvSpPr/>
          <p:nvPr/>
        </p:nvSpPr>
        <p:spPr>
          <a:xfrm>
            <a:off x="3632400" y="3401999"/>
            <a:ext cx="2880000" cy="2070000"/>
          </a:xfrm>
          <a:prstGeom prst="rect">
            <a:avLst/>
          </a:prstGeom>
          <a:solidFill>
            <a:srgbClr val="FFFFFF"/>
          </a:solidFill>
          <a:ln w="12700">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29" name="Rectangle 28"/>
          <p:cNvSpPr/>
          <p:nvPr/>
        </p:nvSpPr>
        <p:spPr>
          <a:xfrm>
            <a:off x="3632400" y="3401999"/>
            <a:ext cx="2880000" cy="270000"/>
          </a:xfrm>
          <a:prstGeom prst="rect">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50" b="1">
                <a:solidFill>
                  <a:srgbClr val="1F285A"/>
                </a:solidFill>
                <a:latin typeface="メイリオ"/>
                <a:ea typeface="メイリオ"/>
                <a:cs typeface="メイリオ"/>
              </a:rPr>
              <a:t>② 前年同期間比較</a:t>
            </a:r>
          </a:p>
        </p:txBody>
      </p:sp>
      <p:sp>
        <p:nvSpPr>
          <p:cNvPr id="30" name="TextBox 29"/>
          <p:cNvSpPr txBox="1"/>
          <p:nvPr/>
        </p:nvSpPr>
        <p:spPr>
          <a:xfrm>
            <a:off x="3740400" y="3761999"/>
            <a:ext cx="1188000" cy="162000"/>
          </a:xfrm>
          <a:prstGeom prst="rect">
            <a:avLst/>
          </a:prstGeom>
          <a:noFill/>
        </p:spPr>
        <p:txBody>
          <a:bodyPr wrap="square" lIns="36000" tIns="18000" rIns="36000" bIns="18000" anchor="t">
            <a:spAutoFit/>
          </a:bodyPr>
          <a:lstStyle/>
          <a:p>
            <a:pPr algn="ctr">
              <a:lnSpc>
                <a:spcPct val="110000"/>
              </a:lnSpc>
              <a:spcAft>
                <a:spcPts val="0"/>
              </a:spcAft>
            </a:pPr>
            <a:r>
              <a:rPr sz="950" b="0">
                <a:solidFill>
                  <a:srgbClr val="7F7F7F"/>
                </a:solidFill>
                <a:latin typeface="メイリオ"/>
                <a:ea typeface="メイリオ"/>
                <a:cs typeface="メイリオ"/>
              </a:rPr>
              <a:t>2025年7〜9月</a:t>
            </a:r>
          </a:p>
        </p:txBody>
      </p:sp>
      <p:sp>
        <p:nvSpPr>
          <p:cNvPr id="31" name="TextBox 30"/>
          <p:cNvSpPr txBox="1"/>
          <p:nvPr/>
        </p:nvSpPr>
        <p:spPr>
          <a:xfrm>
            <a:off x="3740400" y="3923999"/>
            <a:ext cx="1188000" cy="306000"/>
          </a:xfrm>
          <a:prstGeom prst="rect">
            <a:avLst/>
          </a:prstGeom>
          <a:noFill/>
        </p:spPr>
        <p:txBody>
          <a:bodyPr wrap="square" lIns="36000" tIns="18000" rIns="36000" bIns="18000" anchor="ctr">
            <a:spAutoFit/>
          </a:bodyPr>
          <a:lstStyle/>
          <a:p>
            <a:pPr algn="ctr">
              <a:lnSpc>
                <a:spcPct val="110000"/>
              </a:lnSpc>
              <a:spcAft>
                <a:spcPts val="0"/>
              </a:spcAft>
            </a:pPr>
            <a:r>
              <a:rPr sz="1700" b="1">
                <a:solidFill>
                  <a:srgbClr val="333333"/>
                </a:solidFill>
                <a:latin typeface="メイリオ"/>
                <a:ea typeface="メイリオ"/>
                <a:cs typeface="メイリオ"/>
              </a:rPr>
              <a:t>1,650人</a:t>
            </a:r>
          </a:p>
        </p:txBody>
      </p:sp>
      <p:sp>
        <p:nvSpPr>
          <p:cNvPr id="32" name="Right Arrow 31"/>
          <p:cNvSpPr/>
          <p:nvPr/>
        </p:nvSpPr>
        <p:spPr>
          <a:xfrm>
            <a:off x="4946400" y="3977999"/>
            <a:ext cx="251999" cy="198000"/>
          </a:xfrm>
          <a:prstGeom prst="rightArrow">
            <a:avLst>
              <a:gd name="adj1" fmla="val 40000"/>
              <a:gd name="adj2" fmla="val 5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33" name="TextBox 32"/>
          <p:cNvSpPr txBox="1"/>
          <p:nvPr/>
        </p:nvSpPr>
        <p:spPr>
          <a:xfrm>
            <a:off x="5216399" y="3761999"/>
            <a:ext cx="1188000" cy="162000"/>
          </a:xfrm>
          <a:prstGeom prst="rect">
            <a:avLst/>
          </a:prstGeom>
          <a:noFill/>
        </p:spPr>
        <p:txBody>
          <a:bodyPr wrap="square" lIns="36000" tIns="18000" rIns="36000" bIns="18000" anchor="t">
            <a:spAutoFit/>
          </a:bodyPr>
          <a:lstStyle/>
          <a:p>
            <a:pPr algn="ctr">
              <a:lnSpc>
                <a:spcPct val="110000"/>
              </a:lnSpc>
              <a:spcAft>
                <a:spcPts val="0"/>
              </a:spcAft>
            </a:pPr>
            <a:r>
              <a:rPr sz="950" b="0">
                <a:solidFill>
                  <a:srgbClr val="7F7F7F"/>
                </a:solidFill>
                <a:latin typeface="メイリオ"/>
                <a:ea typeface="メイリオ"/>
                <a:cs typeface="メイリオ"/>
              </a:rPr>
              <a:t>2026年7〜9月</a:t>
            </a:r>
          </a:p>
        </p:txBody>
      </p:sp>
      <p:sp>
        <p:nvSpPr>
          <p:cNvPr id="34" name="TextBox 33"/>
          <p:cNvSpPr txBox="1"/>
          <p:nvPr/>
        </p:nvSpPr>
        <p:spPr>
          <a:xfrm>
            <a:off x="5216399" y="3923999"/>
            <a:ext cx="1188000" cy="306000"/>
          </a:xfrm>
          <a:prstGeom prst="rect">
            <a:avLst/>
          </a:prstGeom>
          <a:noFill/>
        </p:spPr>
        <p:txBody>
          <a:bodyPr wrap="square" lIns="36000" tIns="18000" rIns="36000" bIns="18000" anchor="ctr">
            <a:spAutoFit/>
          </a:bodyPr>
          <a:lstStyle/>
          <a:p>
            <a:pPr algn="ctr">
              <a:lnSpc>
                <a:spcPct val="110000"/>
              </a:lnSpc>
              <a:spcAft>
                <a:spcPts val="0"/>
              </a:spcAft>
            </a:pPr>
            <a:r>
              <a:rPr sz="1700" b="1">
                <a:solidFill>
                  <a:srgbClr val="1F285A"/>
                </a:solidFill>
                <a:latin typeface="メイリオ"/>
                <a:ea typeface="メイリオ"/>
                <a:cs typeface="メイリオ"/>
              </a:rPr>
              <a:t>2,103人</a:t>
            </a:r>
          </a:p>
        </p:txBody>
      </p:sp>
      <p:cxnSp>
        <p:nvCxnSpPr>
          <p:cNvPr id="35" name="Connector 34"/>
          <p:cNvCxnSpPr/>
          <p:nvPr/>
        </p:nvCxnSpPr>
        <p:spPr>
          <a:xfrm>
            <a:off x="3776400" y="4320000"/>
            <a:ext cx="259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3704399" y="4373999"/>
            <a:ext cx="2736000" cy="576000"/>
          </a:xfrm>
          <a:prstGeom prst="rect">
            <a:avLst/>
          </a:prstGeom>
          <a:noFill/>
        </p:spPr>
        <p:txBody>
          <a:bodyPr wrap="square" lIns="36000" tIns="10800" rIns="36000" bIns="10800" anchor="ctr">
            <a:spAutoFit/>
          </a:bodyPr>
          <a:lstStyle/>
          <a:p>
            <a:pPr algn="ctr">
              <a:lnSpc>
                <a:spcPct val="105000"/>
              </a:lnSpc>
              <a:spcAft>
                <a:spcPts val="200"/>
              </a:spcAft>
            </a:pPr>
            <a:r>
              <a:rPr sz="1100" b="1">
                <a:solidFill>
                  <a:srgbClr val="333333"/>
                </a:solidFill>
                <a:latin typeface="メイリオ"/>
                <a:ea typeface="メイリオ"/>
                <a:cs typeface="メイリオ"/>
              </a:rPr>
              <a:t>前年比 </a:t>
            </a:r>
            <a:r>
              <a:rPr sz="3000" b="1">
                <a:solidFill>
                  <a:srgbClr val="1F285A"/>
                </a:solidFill>
                <a:latin typeface="メイリオ"/>
                <a:ea typeface="メイリオ"/>
                <a:cs typeface="メイリオ"/>
              </a:rPr>
              <a:t>127.5%</a:t>
            </a:r>
          </a:p>
        </p:txBody>
      </p:sp>
      <p:sp>
        <p:nvSpPr>
          <p:cNvPr id="37" name="TextBox 36"/>
          <p:cNvSpPr txBox="1"/>
          <p:nvPr/>
        </p:nvSpPr>
        <p:spPr>
          <a:xfrm>
            <a:off x="3704399" y="4986000"/>
            <a:ext cx="2736000" cy="288000"/>
          </a:xfrm>
          <a:prstGeom prst="rect">
            <a:avLst/>
          </a:prstGeom>
          <a:noFill/>
        </p:spPr>
        <p:txBody>
          <a:bodyPr wrap="square" lIns="36000" tIns="10800" rIns="36000" bIns="10800" anchor="ctr">
            <a:spAutoFit/>
          </a:bodyPr>
          <a:lstStyle/>
          <a:p>
            <a:pPr algn="ctr">
              <a:lnSpc>
                <a:spcPct val="105000"/>
              </a:lnSpc>
              <a:spcAft>
                <a:spcPts val="200"/>
              </a:spcAft>
            </a:pPr>
            <a:r>
              <a:rPr sz="950" b="0">
                <a:solidFill>
                  <a:srgbClr val="7F7F7F"/>
                </a:solidFill>
                <a:latin typeface="メイリオ"/>
                <a:ea typeface="メイリオ"/>
                <a:cs typeface="メイリオ"/>
              </a:rPr>
              <a:t>増加数 </a:t>
            </a:r>
            <a:r>
              <a:rPr sz="1500" b="1">
                <a:solidFill>
                  <a:srgbClr val="0B7A3B"/>
                </a:solidFill>
                <a:latin typeface="メイリオ"/>
                <a:ea typeface="メイリオ"/>
                <a:cs typeface="メイリオ"/>
              </a:rPr>
              <a:t>+453人</a:t>
            </a:r>
          </a:p>
        </p:txBody>
      </p:sp>
      <p:sp>
        <p:nvSpPr>
          <p:cNvPr id="38" name="TextBox 37"/>
          <p:cNvSpPr txBox="1"/>
          <p:nvPr/>
        </p:nvSpPr>
        <p:spPr>
          <a:xfrm>
            <a:off x="6656399" y="3420000"/>
            <a:ext cx="2617200" cy="162000"/>
          </a:xfrm>
          <a:prstGeom prst="rect">
            <a:avLst/>
          </a:prstGeom>
          <a:noFill/>
        </p:spPr>
        <p:txBody>
          <a:bodyPr wrap="square" lIns="36000" tIns="18000" rIns="36000" bIns="18000" anchor="t">
            <a:spAutoFit/>
          </a:bodyPr>
          <a:lstStyle/>
          <a:p>
            <a:pPr algn="l">
              <a:lnSpc>
                <a:spcPct val="110000"/>
              </a:lnSpc>
              <a:spcAft>
                <a:spcPts val="0"/>
              </a:spcAft>
            </a:pPr>
            <a:r>
              <a:rPr sz="900" b="1">
                <a:solidFill>
                  <a:srgbClr val="7F7F7F"/>
                </a:solidFill>
                <a:latin typeface="メイリオ"/>
                <a:ea typeface="メイリオ"/>
                <a:cs typeface="メイリオ"/>
              </a:rPr>
              <a:t>月別比較（友だち増加数・人）</a:t>
            </a:r>
          </a:p>
        </p:txBody>
      </p:sp>
      <p:sp>
        <p:nvSpPr>
          <p:cNvPr id="39" name="Rectangle 38"/>
          <p:cNvSpPr/>
          <p:nvPr/>
        </p:nvSpPr>
        <p:spPr>
          <a:xfrm>
            <a:off x="6692400" y="3625199"/>
            <a:ext cx="108000" cy="108000"/>
          </a:xfrm>
          <a:prstGeom prst="rect">
            <a:avLst/>
          </a:prstGeom>
          <a:solidFill>
            <a:srgbClr val="8E9BC4"/>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40" name="TextBox 39"/>
          <p:cNvSpPr txBox="1"/>
          <p:nvPr/>
        </p:nvSpPr>
        <p:spPr>
          <a:xfrm>
            <a:off x="6818399" y="3571200"/>
            <a:ext cx="684000" cy="216000"/>
          </a:xfrm>
          <a:prstGeom prst="rect">
            <a:avLst/>
          </a:prstGeom>
          <a:noFill/>
        </p:spPr>
        <p:txBody>
          <a:bodyPr wrap="square" lIns="36000" tIns="18000" rIns="36000" bIns="18000" anchor="ctr">
            <a:spAutoFit/>
          </a:bodyPr>
          <a:lstStyle/>
          <a:p>
            <a:pPr algn="l">
              <a:lnSpc>
                <a:spcPct val="110000"/>
              </a:lnSpc>
              <a:spcAft>
                <a:spcPts val="0"/>
              </a:spcAft>
            </a:pPr>
            <a:r>
              <a:rPr sz="800" b="0">
                <a:solidFill>
                  <a:srgbClr val="7F7F7F"/>
                </a:solidFill>
                <a:latin typeface="メイリオ"/>
                <a:ea typeface="メイリオ"/>
                <a:cs typeface="メイリオ"/>
              </a:rPr>
              <a:t>2025年</a:t>
            </a:r>
          </a:p>
        </p:txBody>
      </p:sp>
      <p:sp>
        <p:nvSpPr>
          <p:cNvPr id="41" name="Rectangle 40"/>
          <p:cNvSpPr/>
          <p:nvPr/>
        </p:nvSpPr>
        <p:spPr>
          <a:xfrm>
            <a:off x="7520400" y="3625199"/>
            <a:ext cx="108000" cy="10800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42" name="TextBox 41"/>
          <p:cNvSpPr txBox="1"/>
          <p:nvPr/>
        </p:nvSpPr>
        <p:spPr>
          <a:xfrm>
            <a:off x="7646399" y="3571200"/>
            <a:ext cx="684000" cy="216000"/>
          </a:xfrm>
          <a:prstGeom prst="rect">
            <a:avLst/>
          </a:prstGeom>
          <a:noFill/>
        </p:spPr>
        <p:txBody>
          <a:bodyPr wrap="square" lIns="36000" tIns="18000" rIns="36000" bIns="18000" anchor="ctr">
            <a:spAutoFit/>
          </a:bodyPr>
          <a:lstStyle/>
          <a:p>
            <a:pPr algn="l">
              <a:lnSpc>
                <a:spcPct val="110000"/>
              </a:lnSpc>
              <a:spcAft>
                <a:spcPts val="0"/>
              </a:spcAft>
            </a:pPr>
            <a:r>
              <a:rPr sz="800" b="0">
                <a:solidFill>
                  <a:srgbClr val="7F7F7F"/>
                </a:solidFill>
                <a:latin typeface="メイリオ"/>
                <a:ea typeface="メイリオ"/>
                <a:cs typeface="メイリオ"/>
              </a:rPr>
              <a:t>2026年</a:t>
            </a:r>
          </a:p>
        </p:txBody>
      </p:sp>
      <p:sp>
        <p:nvSpPr>
          <p:cNvPr id="43" name="Rectangle 42"/>
          <p:cNvSpPr/>
          <p:nvPr/>
        </p:nvSpPr>
        <p:spPr>
          <a:xfrm>
            <a:off x="6688799" y="4259114"/>
            <a:ext cx="288000" cy="690885"/>
          </a:xfrm>
          <a:prstGeom prst="rect">
            <a:avLst/>
          </a:prstGeom>
          <a:solidFill>
            <a:srgbClr val="8E9BC4"/>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44" name="TextBox 43"/>
          <p:cNvSpPr txBox="1"/>
          <p:nvPr/>
        </p:nvSpPr>
        <p:spPr>
          <a:xfrm>
            <a:off x="6580799" y="4079114"/>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575</a:t>
            </a:r>
          </a:p>
        </p:txBody>
      </p:sp>
      <p:sp>
        <p:nvSpPr>
          <p:cNvPr id="45" name="Rectangle 44"/>
          <p:cNvSpPr/>
          <p:nvPr/>
        </p:nvSpPr>
        <p:spPr>
          <a:xfrm>
            <a:off x="7019999" y="4211052"/>
            <a:ext cx="288000" cy="738947"/>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46" name="TextBox 45"/>
          <p:cNvSpPr txBox="1"/>
          <p:nvPr/>
        </p:nvSpPr>
        <p:spPr>
          <a:xfrm>
            <a:off x="6911999" y="4031052"/>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615</a:t>
            </a:r>
          </a:p>
        </p:txBody>
      </p:sp>
      <p:sp>
        <p:nvSpPr>
          <p:cNvPr id="47" name="TextBox 46"/>
          <p:cNvSpPr txBox="1"/>
          <p:nvPr/>
        </p:nvSpPr>
        <p:spPr>
          <a:xfrm>
            <a:off x="6620399" y="4968000"/>
            <a:ext cx="756000" cy="151200"/>
          </a:xfrm>
          <a:prstGeom prst="rect">
            <a:avLst/>
          </a:prstGeom>
          <a:noFill/>
        </p:spPr>
        <p:txBody>
          <a:bodyPr wrap="square" lIns="36000" tIns="18000" rIns="36000" bIns="18000" anchor="t">
            <a:spAutoFit/>
          </a:bodyPr>
          <a:lstStyle/>
          <a:p>
            <a:pPr algn="ctr">
              <a:lnSpc>
                <a:spcPct val="110000"/>
              </a:lnSpc>
              <a:spcAft>
                <a:spcPts val="0"/>
              </a:spcAft>
            </a:pPr>
            <a:r>
              <a:rPr sz="900" b="1">
                <a:solidFill>
                  <a:srgbClr val="333333"/>
                </a:solidFill>
                <a:latin typeface="メイリオ"/>
                <a:ea typeface="メイリオ"/>
                <a:cs typeface="メイリオ"/>
              </a:rPr>
              <a:t>7月</a:t>
            </a:r>
          </a:p>
        </p:txBody>
      </p:sp>
      <p:sp>
        <p:nvSpPr>
          <p:cNvPr id="48" name="TextBox 47"/>
          <p:cNvSpPr txBox="1"/>
          <p:nvPr/>
        </p:nvSpPr>
        <p:spPr>
          <a:xfrm>
            <a:off x="6620399" y="5112000"/>
            <a:ext cx="756000" cy="180000"/>
          </a:xfrm>
          <a:prstGeom prst="rect">
            <a:avLst/>
          </a:prstGeom>
          <a:noFill/>
        </p:spPr>
        <p:txBody>
          <a:bodyPr wrap="none" lIns="36000" tIns="10800" rIns="36000" bIns="10800" anchor="ctr">
            <a:spAutoFit/>
          </a:bodyPr>
          <a:lstStyle/>
          <a:p>
            <a:pPr algn="ctr">
              <a:lnSpc>
                <a:spcPct val="105000"/>
              </a:lnSpc>
              <a:spcAft>
                <a:spcPts val="200"/>
              </a:spcAft>
            </a:pPr>
            <a:r>
              <a:rPr sz="750" b="0">
                <a:solidFill>
                  <a:srgbClr val="7F7F7F"/>
                </a:solidFill>
                <a:latin typeface="メイリオ"/>
                <a:ea typeface="メイリオ"/>
                <a:cs typeface="メイリオ"/>
              </a:rPr>
              <a:t>前年比 </a:t>
            </a:r>
            <a:r>
              <a:rPr sz="1000" b="1">
                <a:solidFill>
                  <a:srgbClr val="0B7A3B"/>
                </a:solidFill>
                <a:latin typeface="メイリオ"/>
                <a:ea typeface="メイリオ"/>
                <a:cs typeface="メイリオ"/>
              </a:rPr>
              <a:t>107%</a:t>
            </a:r>
          </a:p>
        </p:txBody>
      </p:sp>
      <p:sp>
        <p:nvSpPr>
          <p:cNvPr id="49" name="Rectangle 48"/>
          <p:cNvSpPr/>
          <p:nvPr/>
        </p:nvSpPr>
        <p:spPr>
          <a:xfrm>
            <a:off x="7516800" y="4330005"/>
            <a:ext cx="288000" cy="619994"/>
          </a:xfrm>
          <a:prstGeom prst="rect">
            <a:avLst/>
          </a:prstGeom>
          <a:solidFill>
            <a:srgbClr val="8E9BC4"/>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0" name="TextBox 49"/>
          <p:cNvSpPr txBox="1"/>
          <p:nvPr/>
        </p:nvSpPr>
        <p:spPr>
          <a:xfrm>
            <a:off x="7408799" y="4150005"/>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516</a:t>
            </a:r>
          </a:p>
        </p:txBody>
      </p:sp>
      <p:sp>
        <p:nvSpPr>
          <p:cNvPr id="51" name="Rectangle 50"/>
          <p:cNvSpPr/>
          <p:nvPr/>
        </p:nvSpPr>
        <p:spPr>
          <a:xfrm>
            <a:off x="7847999" y="4014000"/>
            <a:ext cx="288000" cy="93600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2" name="TextBox 51"/>
          <p:cNvSpPr txBox="1"/>
          <p:nvPr/>
        </p:nvSpPr>
        <p:spPr>
          <a:xfrm>
            <a:off x="7739999" y="3834000"/>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779</a:t>
            </a:r>
          </a:p>
        </p:txBody>
      </p:sp>
      <p:sp>
        <p:nvSpPr>
          <p:cNvPr id="53" name="TextBox 52"/>
          <p:cNvSpPr txBox="1"/>
          <p:nvPr/>
        </p:nvSpPr>
        <p:spPr>
          <a:xfrm>
            <a:off x="7448399" y="4968000"/>
            <a:ext cx="756000" cy="151200"/>
          </a:xfrm>
          <a:prstGeom prst="rect">
            <a:avLst/>
          </a:prstGeom>
          <a:noFill/>
        </p:spPr>
        <p:txBody>
          <a:bodyPr wrap="square" lIns="36000" tIns="18000" rIns="36000" bIns="18000" anchor="t">
            <a:spAutoFit/>
          </a:bodyPr>
          <a:lstStyle/>
          <a:p>
            <a:pPr algn="ctr">
              <a:lnSpc>
                <a:spcPct val="110000"/>
              </a:lnSpc>
              <a:spcAft>
                <a:spcPts val="0"/>
              </a:spcAft>
            </a:pPr>
            <a:r>
              <a:rPr sz="900" b="1">
                <a:solidFill>
                  <a:srgbClr val="333333"/>
                </a:solidFill>
                <a:latin typeface="メイリオ"/>
                <a:ea typeface="メイリオ"/>
                <a:cs typeface="メイリオ"/>
              </a:rPr>
              <a:t>8月</a:t>
            </a:r>
          </a:p>
        </p:txBody>
      </p:sp>
      <p:sp>
        <p:nvSpPr>
          <p:cNvPr id="54" name="TextBox 53"/>
          <p:cNvSpPr txBox="1"/>
          <p:nvPr/>
        </p:nvSpPr>
        <p:spPr>
          <a:xfrm>
            <a:off x="7448399" y="5112000"/>
            <a:ext cx="756000" cy="180000"/>
          </a:xfrm>
          <a:prstGeom prst="rect">
            <a:avLst/>
          </a:prstGeom>
          <a:noFill/>
        </p:spPr>
        <p:txBody>
          <a:bodyPr wrap="none" lIns="36000" tIns="10800" rIns="36000" bIns="10800" anchor="ctr">
            <a:spAutoFit/>
          </a:bodyPr>
          <a:lstStyle/>
          <a:p>
            <a:pPr algn="ctr">
              <a:lnSpc>
                <a:spcPct val="105000"/>
              </a:lnSpc>
              <a:spcAft>
                <a:spcPts val="200"/>
              </a:spcAft>
            </a:pPr>
            <a:r>
              <a:rPr sz="750" b="0">
                <a:solidFill>
                  <a:srgbClr val="7F7F7F"/>
                </a:solidFill>
                <a:latin typeface="メイリオ"/>
                <a:ea typeface="メイリオ"/>
                <a:cs typeface="メイリオ"/>
              </a:rPr>
              <a:t>前年比 </a:t>
            </a:r>
            <a:r>
              <a:rPr sz="1000" b="1">
                <a:solidFill>
                  <a:srgbClr val="0B7A3B"/>
                </a:solidFill>
                <a:latin typeface="メイリオ"/>
                <a:ea typeface="メイリオ"/>
                <a:cs typeface="メイリオ"/>
              </a:rPr>
              <a:t>151%</a:t>
            </a:r>
          </a:p>
        </p:txBody>
      </p:sp>
      <p:sp>
        <p:nvSpPr>
          <p:cNvPr id="55" name="Rectangle 54"/>
          <p:cNvSpPr/>
          <p:nvPr/>
        </p:nvSpPr>
        <p:spPr>
          <a:xfrm>
            <a:off x="8344800" y="4278338"/>
            <a:ext cx="288000" cy="671661"/>
          </a:xfrm>
          <a:prstGeom prst="rect">
            <a:avLst/>
          </a:prstGeom>
          <a:solidFill>
            <a:srgbClr val="8E9BC4"/>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TextBox 55"/>
          <p:cNvSpPr txBox="1"/>
          <p:nvPr/>
        </p:nvSpPr>
        <p:spPr>
          <a:xfrm>
            <a:off x="8236800" y="4098338"/>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559</a:t>
            </a:r>
          </a:p>
        </p:txBody>
      </p:sp>
      <p:sp>
        <p:nvSpPr>
          <p:cNvPr id="57" name="Rectangle 56"/>
          <p:cNvSpPr/>
          <p:nvPr/>
        </p:nvSpPr>
        <p:spPr>
          <a:xfrm>
            <a:off x="8676000" y="4098107"/>
            <a:ext cx="288000" cy="851892"/>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8" name="TextBox 57"/>
          <p:cNvSpPr txBox="1"/>
          <p:nvPr/>
        </p:nvSpPr>
        <p:spPr>
          <a:xfrm>
            <a:off x="8567999" y="3918107"/>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709</a:t>
            </a:r>
          </a:p>
        </p:txBody>
      </p:sp>
      <p:sp>
        <p:nvSpPr>
          <p:cNvPr id="59" name="TextBox 58"/>
          <p:cNvSpPr txBox="1"/>
          <p:nvPr/>
        </p:nvSpPr>
        <p:spPr>
          <a:xfrm>
            <a:off x="8276399" y="4968000"/>
            <a:ext cx="756000" cy="151200"/>
          </a:xfrm>
          <a:prstGeom prst="rect">
            <a:avLst/>
          </a:prstGeom>
          <a:noFill/>
        </p:spPr>
        <p:txBody>
          <a:bodyPr wrap="square" lIns="36000" tIns="18000" rIns="36000" bIns="18000" anchor="t">
            <a:spAutoFit/>
          </a:bodyPr>
          <a:lstStyle/>
          <a:p>
            <a:pPr algn="ctr">
              <a:lnSpc>
                <a:spcPct val="110000"/>
              </a:lnSpc>
              <a:spcAft>
                <a:spcPts val="0"/>
              </a:spcAft>
            </a:pPr>
            <a:r>
              <a:rPr sz="900" b="1">
                <a:solidFill>
                  <a:srgbClr val="333333"/>
                </a:solidFill>
                <a:latin typeface="メイリオ"/>
                <a:ea typeface="メイリオ"/>
                <a:cs typeface="メイリオ"/>
              </a:rPr>
              <a:t>9月</a:t>
            </a:r>
          </a:p>
        </p:txBody>
      </p:sp>
      <p:sp>
        <p:nvSpPr>
          <p:cNvPr id="60" name="TextBox 59"/>
          <p:cNvSpPr txBox="1"/>
          <p:nvPr/>
        </p:nvSpPr>
        <p:spPr>
          <a:xfrm>
            <a:off x="8276399" y="5112000"/>
            <a:ext cx="756000" cy="180000"/>
          </a:xfrm>
          <a:prstGeom prst="rect">
            <a:avLst/>
          </a:prstGeom>
          <a:noFill/>
        </p:spPr>
        <p:txBody>
          <a:bodyPr wrap="none" lIns="36000" tIns="10800" rIns="36000" bIns="10800" anchor="ctr">
            <a:spAutoFit/>
          </a:bodyPr>
          <a:lstStyle/>
          <a:p>
            <a:pPr algn="ctr">
              <a:lnSpc>
                <a:spcPct val="105000"/>
              </a:lnSpc>
              <a:spcAft>
                <a:spcPts val="200"/>
              </a:spcAft>
            </a:pPr>
            <a:r>
              <a:rPr sz="750" b="0">
                <a:solidFill>
                  <a:srgbClr val="7F7F7F"/>
                </a:solidFill>
                <a:latin typeface="メイリオ"/>
                <a:ea typeface="メイリオ"/>
                <a:cs typeface="メイリオ"/>
              </a:rPr>
              <a:t>前年比 </a:t>
            </a:r>
            <a:r>
              <a:rPr sz="1000" b="1">
                <a:solidFill>
                  <a:srgbClr val="0B7A3B"/>
                </a:solidFill>
                <a:latin typeface="メイリオ"/>
                <a:ea typeface="メイリオ"/>
                <a:cs typeface="メイリオ"/>
              </a:rPr>
              <a:t>127%</a:t>
            </a:r>
          </a:p>
        </p:txBody>
      </p:sp>
      <p:cxnSp>
        <p:nvCxnSpPr>
          <p:cNvPr id="61" name="Connector 60"/>
          <p:cNvCxnSpPr/>
          <p:nvPr/>
        </p:nvCxnSpPr>
        <p:spPr>
          <a:xfrm>
            <a:off x="6728399" y="4950000"/>
            <a:ext cx="2509201" cy="0"/>
          </a:xfrm>
          <a:prstGeom prst="line">
            <a:avLst/>
          </a:prstGeom>
          <a:ln w="9525">
            <a:solidFill>
              <a:srgbClr val="7F7F7F"/>
            </a:solidFill>
          </a:ln>
        </p:spPr>
        <p:style>
          <a:lnRef idx="2">
            <a:schemeClr val="accent1"/>
          </a:lnRef>
          <a:fillRef idx="0">
            <a:schemeClr val="accent1"/>
          </a:fillRef>
          <a:effectRef idx="0">
            <a:schemeClr val="accent1"/>
          </a:effectRef>
          <a:fontRef idx="minor">
            <a:schemeClr val="tx1"/>
          </a:fontRef>
        </p:style>
      </p:cxnSp>
      <p:sp>
        <p:nvSpPr>
          <p:cNvPr id="62" name="Rectangle 61"/>
          <p:cNvSpPr/>
          <p:nvPr/>
        </p:nvSpPr>
        <p:spPr>
          <a:xfrm>
            <a:off x="644400" y="5598000"/>
            <a:ext cx="8629200" cy="34200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サンクスLINE誘導ツールの導入後、友だち増加数が導入前比137.3%、前年比127.5%に改善。</a:t>
            </a:r>
          </a:p>
        </p:txBody>
      </p:sp>
      <p:sp>
        <p:nvSpPr>
          <p:cNvPr id="2" name="テキスト ボックス 1">
            <a:extLst>
              <a:ext uri="{FF2B5EF4-FFF2-40B4-BE49-F238E27FC236}">
                <a16:creationId xmlns:a16="http://schemas.microsoft.com/office/drawing/2014/main" id="{EE821B20-3372-85EB-4334-5055D2443F85}"/>
              </a:ext>
            </a:extLst>
          </p:cNvPr>
          <p:cNvSpPr txBox="1"/>
          <p:nvPr/>
        </p:nvSpPr>
        <p:spPr>
          <a:xfrm>
            <a:off x="241266" y="6287499"/>
            <a:ext cx="4705134" cy="276999"/>
          </a:xfrm>
          <a:prstGeom prst="rect">
            <a:avLst/>
          </a:prstGeom>
          <a:noFill/>
        </p:spPr>
        <p:txBody>
          <a:bodyPr wrap="none" rtlCol="0">
            <a:spAutoFit/>
          </a:bodyPr>
          <a:lstStyle/>
          <a:p>
            <a:r>
              <a:rPr lang="en-US" altLang="ja-JP" sz="600" dirty="0">
                <a:latin typeface="メイリオ" panose="020B0604030504040204" pitchFamily="50" charset="-128"/>
                <a:ea typeface="メイリオ" panose="020B0604030504040204" pitchFamily="50" charset="-128"/>
              </a:rPr>
              <a:t>※</a:t>
            </a:r>
            <a:r>
              <a:rPr lang="ja-JP" altLang="en-US" sz="600" dirty="0">
                <a:latin typeface="メイリオ" panose="020B0604030504040204" pitchFamily="50" charset="-128"/>
                <a:ea typeface="メイリオ" panose="020B0604030504040204" pitchFamily="50" charset="-128"/>
              </a:rPr>
              <a:t>出典：株式会社</a:t>
            </a:r>
            <a:r>
              <a:rPr lang="en-US" altLang="ja-JP" sz="600" dirty="0">
                <a:latin typeface="メイリオ" panose="020B0604030504040204" pitchFamily="50" charset="-128"/>
                <a:ea typeface="メイリオ" panose="020B0604030504040204" pitchFamily="50" charset="-128"/>
              </a:rPr>
              <a:t>DYM</a:t>
            </a:r>
            <a:r>
              <a:rPr lang="ja-JP" altLang="en-US" sz="600" dirty="0">
                <a:latin typeface="メイリオ" panose="020B0604030504040204" pitchFamily="50" charset="-128"/>
                <a:ea typeface="メイリオ" panose="020B0604030504040204" pitchFamily="50" charset="-128"/>
              </a:rPr>
              <a:t>運用実績（当社調べ）</a:t>
            </a:r>
            <a:r>
              <a:rPr lang="en-US" altLang="ja-JP" sz="600" dirty="0">
                <a:latin typeface="メイリオ" panose="020B0604030504040204" pitchFamily="50" charset="-128"/>
                <a:ea typeface="メイリオ" panose="020B0604030504040204" pitchFamily="50" charset="-128"/>
              </a:rPr>
              <a:t>※</a:t>
            </a:r>
            <a:r>
              <a:rPr lang="ja-JP" altLang="en-US" sz="600" dirty="0">
                <a:latin typeface="メイリオ" panose="020B0604030504040204" pitchFamily="50" charset="-128"/>
                <a:ea typeface="メイリオ" panose="020B0604030504040204" pitchFamily="50" charset="-128"/>
              </a:rPr>
              <a:t>美容クリニック：予約後来院率の改善実績</a:t>
            </a:r>
            <a:endParaRPr lang="en-US" altLang="ja-JP" sz="600" dirty="0">
              <a:latin typeface="メイリオ" panose="020B0604030504040204" pitchFamily="50" charset="-128"/>
              <a:ea typeface="メイリオ" panose="020B0604030504040204" pitchFamily="50" charset="-128"/>
            </a:endParaRPr>
          </a:p>
          <a:p>
            <a:r>
              <a:rPr lang="en-US" altLang="ja-JP" sz="600" dirty="0">
                <a:latin typeface="メイリオ" panose="020B0604030504040204" pitchFamily="50" charset="-128"/>
                <a:ea typeface="メイリオ" panose="020B0604030504040204" pitchFamily="50" charset="-128"/>
              </a:rPr>
              <a:t>※</a:t>
            </a:r>
            <a:r>
              <a:rPr lang="ja-JP" altLang="en-US" sz="600" dirty="0">
                <a:latin typeface="メイリオ" panose="020B0604030504040204" pitchFamily="50" charset="-128"/>
                <a:ea typeface="メイリオ" panose="020B0604030504040204" pitchFamily="50" charset="-128"/>
              </a:rPr>
              <a:t>出典：人材業界｜株式会社</a:t>
            </a:r>
            <a:r>
              <a:rPr lang="en-US" altLang="ja-JP" sz="600" dirty="0">
                <a:latin typeface="メイリオ" panose="020B0604030504040204" pitchFamily="50" charset="-128"/>
                <a:ea typeface="メイリオ" panose="020B0604030504040204" pitchFamily="50" charset="-128"/>
              </a:rPr>
              <a:t>DYM </a:t>
            </a:r>
            <a:r>
              <a:rPr lang="ja-JP" altLang="en-US" sz="600" dirty="0">
                <a:latin typeface="メイリオ" panose="020B0604030504040204" pitchFamily="50" charset="-128"/>
                <a:ea typeface="メイリオ" panose="020B0604030504040204" pitchFamily="50" charset="-128"/>
              </a:rPr>
              <a:t>社内集計（サンクス</a:t>
            </a:r>
            <a:r>
              <a:rPr lang="en-US" altLang="ja-JP" sz="600" dirty="0">
                <a:latin typeface="メイリオ" panose="020B0604030504040204" pitchFamily="50" charset="-128"/>
                <a:ea typeface="メイリオ" panose="020B0604030504040204" pitchFamily="50" charset="-128"/>
              </a:rPr>
              <a:t>LINE</a:t>
            </a:r>
            <a:r>
              <a:rPr lang="ja-JP" altLang="en-US" sz="600" dirty="0">
                <a:latin typeface="メイリオ" panose="020B0604030504040204" pitchFamily="50" charset="-128"/>
                <a:ea typeface="メイリオ" panose="020B0604030504040204" pitchFamily="50" charset="-128"/>
              </a:rPr>
              <a:t>誘導ツール導入前後</a:t>
            </a:r>
            <a:r>
              <a:rPr lang="en-US" altLang="ja-JP" sz="600" dirty="0">
                <a:latin typeface="メイリオ" panose="020B0604030504040204" pitchFamily="50" charset="-128"/>
                <a:ea typeface="メイリオ" panose="020B0604030504040204" pitchFamily="50" charset="-128"/>
              </a:rPr>
              <a:t>3</a:t>
            </a:r>
            <a:r>
              <a:rPr lang="ja-JP" altLang="en-US" sz="600" dirty="0">
                <a:latin typeface="メイリオ" panose="020B0604030504040204" pitchFamily="50" charset="-128"/>
                <a:ea typeface="メイリオ" panose="020B0604030504040204" pitchFamily="50" charset="-128"/>
              </a:rPr>
              <a:t>か月、</a:t>
            </a:r>
            <a:r>
              <a:rPr lang="en-US" altLang="ja-JP" sz="600" dirty="0">
                <a:latin typeface="メイリオ" panose="020B0604030504040204" pitchFamily="50" charset="-128"/>
                <a:ea typeface="メイリオ" panose="020B0604030504040204" pitchFamily="50" charset="-128"/>
              </a:rPr>
              <a:t>2025</a:t>
            </a:r>
            <a:r>
              <a:rPr lang="ja-JP" altLang="en-US" sz="600" dirty="0">
                <a:latin typeface="メイリオ" panose="020B0604030504040204" pitchFamily="50" charset="-128"/>
                <a:ea typeface="メイリオ" panose="020B0604030504040204" pitchFamily="50" charset="-128"/>
              </a:rPr>
              <a:t>年・</a:t>
            </a:r>
            <a:r>
              <a:rPr lang="en-US" altLang="ja-JP" sz="600" dirty="0">
                <a:latin typeface="メイリオ" panose="020B0604030504040204" pitchFamily="50" charset="-128"/>
                <a:ea typeface="メイリオ" panose="020B0604030504040204" pitchFamily="50" charset="-128"/>
              </a:rPr>
              <a:t>2026</a:t>
            </a:r>
            <a:r>
              <a:rPr lang="ja-JP" altLang="en-US" sz="600" dirty="0">
                <a:latin typeface="メイリオ" panose="020B0604030504040204" pitchFamily="50" charset="-128"/>
                <a:ea typeface="メイリオ" panose="020B0604030504040204" pitchFamily="50" charset="-128"/>
              </a:rPr>
              <a:t>年</a:t>
            </a:r>
            <a:r>
              <a:rPr lang="en-US" altLang="ja-JP" sz="600" dirty="0">
                <a:latin typeface="メイリオ" panose="020B0604030504040204" pitchFamily="50" charset="-128"/>
                <a:ea typeface="メイリオ" panose="020B0604030504040204" pitchFamily="50" charset="-128"/>
              </a:rPr>
              <a:t>7〜9</a:t>
            </a:r>
            <a:r>
              <a:rPr lang="ja-JP" altLang="en-US" sz="600" dirty="0">
                <a:latin typeface="メイリオ" panose="020B0604030504040204" pitchFamily="50" charset="-128"/>
                <a:ea typeface="メイリオ" panose="020B0604030504040204" pitchFamily="50" charset="-128"/>
              </a:rPr>
              <a:t>月の友だち増加数）</a:t>
            </a:r>
            <a:endParaRPr kumimoji="1" lang="ja-JP" altLang="en-US" sz="6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ターゲット業界別｜サンクスLINE活用イメージ</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CVの後にLINEで送る内容は、業界ごとに変わる</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953000" y="1728000"/>
            <a:ext cx="0" cy="450000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cxnSp>
        <p:nvCxnSpPr>
          <p:cNvPr id="7" name="Connector 6"/>
          <p:cNvCxnSpPr/>
          <p:nvPr/>
        </p:nvCxnSpPr>
        <p:spPr>
          <a:xfrm>
            <a:off x="643500" y="3978000"/>
            <a:ext cx="8619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pic>
        <p:nvPicPr>
          <p:cNvPr id="8" name="Picture 7" descr="thanks_scene_1.png"/>
          <p:cNvPicPr>
            <a:picLocks noChangeAspect="1"/>
          </p:cNvPicPr>
          <p:nvPr/>
        </p:nvPicPr>
        <p:blipFill>
          <a:blip r:embed="rId2"/>
          <a:stretch>
            <a:fillRect/>
          </a:stretch>
        </p:blipFill>
        <p:spPr>
          <a:xfrm>
            <a:off x="3337886" y="1899562"/>
            <a:ext cx="1439613" cy="1798875"/>
          </a:xfrm>
          <a:prstGeom prst="rect">
            <a:avLst/>
          </a:prstGeom>
        </p:spPr>
      </p:pic>
      <p:sp>
        <p:nvSpPr>
          <p:cNvPr id="9" name="Oval 8"/>
          <p:cNvSpPr/>
          <p:nvPr/>
        </p:nvSpPr>
        <p:spPr>
          <a:xfrm>
            <a:off x="611438" y="1782000"/>
            <a:ext cx="342000" cy="342000"/>
          </a:xfrm>
          <a:prstGeom prst="ellips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1050" b="1">
                <a:solidFill>
                  <a:srgbClr val="FFFFFF"/>
                </a:solidFill>
                <a:latin typeface="メイリオ"/>
                <a:ea typeface="メイリオ"/>
                <a:cs typeface="メイリオ"/>
              </a:rPr>
              <a:t>1</a:t>
            </a:r>
          </a:p>
        </p:txBody>
      </p:sp>
      <p:sp>
        <p:nvSpPr>
          <p:cNvPr id="10" name="TextBox 9"/>
          <p:cNvSpPr txBox="1"/>
          <p:nvPr/>
        </p:nvSpPr>
        <p:spPr>
          <a:xfrm>
            <a:off x="994500" y="1799402"/>
            <a:ext cx="2047500" cy="307195"/>
          </a:xfrm>
          <a:prstGeom prst="rect">
            <a:avLst/>
          </a:prstGeom>
          <a:noFill/>
        </p:spPr>
        <p:txBody>
          <a:bodyPr wrap="square" lIns="29250" tIns="18000" rIns="29250" bIns="18000" anchor="ctr">
            <a:spAutoFit/>
          </a:bodyPr>
          <a:lstStyle/>
          <a:p>
            <a:pPr algn="l">
              <a:lnSpc>
                <a:spcPct val="110000"/>
              </a:lnSpc>
              <a:spcAft>
                <a:spcPts val="0"/>
              </a:spcAft>
            </a:pPr>
            <a:r>
              <a:rPr sz="1600" b="1">
                <a:solidFill>
                  <a:srgbClr val="1F285A"/>
                </a:solidFill>
                <a:latin typeface="メイリオ"/>
                <a:ea typeface="メイリオ"/>
                <a:cs typeface="メイリオ"/>
              </a:rPr>
              <a:t>人材</a:t>
            </a:r>
          </a:p>
        </p:txBody>
      </p:sp>
      <p:sp>
        <p:nvSpPr>
          <p:cNvPr id="11" name="Rounded Rectangle 10"/>
          <p:cNvSpPr/>
          <p:nvPr/>
        </p:nvSpPr>
        <p:spPr>
          <a:xfrm>
            <a:off x="643500" y="2322000"/>
            <a:ext cx="994500" cy="756000"/>
          </a:xfrm>
          <a:prstGeom prst="roundRect">
            <a:avLst>
              <a:gd name="adj" fmla="val 15000"/>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050" b="1" dirty="0" err="1">
                <a:solidFill>
                  <a:srgbClr val="1F285A"/>
                </a:solidFill>
                <a:latin typeface="メイリオ"/>
                <a:ea typeface="メイリオ"/>
                <a:cs typeface="メイリオ"/>
              </a:rPr>
              <a:t>応募</a:t>
            </a:r>
            <a:endParaRPr lang="en-US" sz="1050" b="1" dirty="0">
              <a:solidFill>
                <a:srgbClr val="1F285A"/>
              </a:solidFill>
              <a:latin typeface="メイリオ"/>
              <a:ea typeface="メイリオ"/>
              <a:cs typeface="メイリオ"/>
            </a:endParaRPr>
          </a:p>
          <a:p>
            <a:pPr algn="ctr">
              <a:lnSpc>
                <a:spcPct val="110000"/>
              </a:lnSpc>
              <a:spcAft>
                <a:spcPts val="0"/>
              </a:spcAft>
            </a:pPr>
            <a:r>
              <a:rPr lang="en-US" sz="1050" b="1" dirty="0">
                <a:solidFill>
                  <a:srgbClr val="1F285A"/>
                </a:solidFill>
                <a:latin typeface="メイリオ"/>
                <a:ea typeface="メイリオ"/>
                <a:cs typeface="メイリオ"/>
              </a:rPr>
              <a:t>----</a:t>
            </a:r>
            <a:endParaRPr sz="1050" b="1" dirty="0">
              <a:solidFill>
                <a:srgbClr val="1F285A"/>
              </a:solidFill>
              <a:latin typeface="メイリオ"/>
              <a:ea typeface="メイリオ"/>
              <a:cs typeface="メイリオ"/>
            </a:endParaRPr>
          </a:p>
          <a:p>
            <a:pPr algn="ctr">
              <a:lnSpc>
                <a:spcPct val="110000"/>
              </a:lnSpc>
              <a:spcAft>
                <a:spcPts val="0"/>
              </a:spcAft>
            </a:pPr>
            <a:r>
              <a:rPr sz="1050" b="1" dirty="0" err="1">
                <a:solidFill>
                  <a:srgbClr val="1F285A"/>
                </a:solidFill>
                <a:latin typeface="メイリオ"/>
                <a:ea typeface="メイリオ"/>
                <a:cs typeface="メイリオ"/>
              </a:rPr>
              <a:t>会員登録</a:t>
            </a:r>
            <a:endParaRPr sz="1050" b="1" dirty="0">
              <a:solidFill>
                <a:srgbClr val="1F285A"/>
              </a:solidFill>
              <a:latin typeface="メイリオ"/>
              <a:ea typeface="メイリオ"/>
              <a:cs typeface="メイリオ"/>
            </a:endParaRPr>
          </a:p>
        </p:txBody>
      </p:sp>
      <p:cxnSp>
        <p:nvCxnSpPr>
          <p:cNvPr id="12" name="Connector 11"/>
          <p:cNvCxnSpPr/>
          <p:nvPr/>
        </p:nvCxnSpPr>
        <p:spPr>
          <a:xfrm>
            <a:off x="1681875" y="2700000"/>
            <a:ext cx="26325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3" name="Oval 12"/>
          <p:cNvSpPr/>
          <p:nvPr/>
        </p:nvSpPr>
        <p:spPr>
          <a:xfrm>
            <a:off x="1921500" y="2340000"/>
            <a:ext cx="720000" cy="720000"/>
          </a:xfrm>
          <a:prstGeom prst="ellipse">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1050" b="1">
                <a:solidFill>
                  <a:srgbClr val="FFFFFF"/>
                </a:solidFill>
                <a:latin typeface="メイリオ"/>
                <a:ea typeface="メイリオ"/>
                <a:cs typeface="メイリオ"/>
              </a:rPr>
              <a:t>LINE</a:t>
            </a:r>
          </a:p>
        </p:txBody>
      </p:sp>
      <p:cxnSp>
        <p:nvCxnSpPr>
          <p:cNvPr id="14" name="Connector 13"/>
          <p:cNvCxnSpPr/>
          <p:nvPr/>
        </p:nvCxnSpPr>
        <p:spPr>
          <a:xfrm>
            <a:off x="2617874" y="2700000"/>
            <a:ext cx="676137"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3500" y="3221999"/>
            <a:ext cx="2635886" cy="188701"/>
          </a:xfrm>
          <a:prstGeom prst="rect">
            <a:avLst/>
          </a:prstGeom>
          <a:noFill/>
        </p:spPr>
        <p:txBody>
          <a:bodyPr wrap="square" lIns="29250" tIns="18000" rIns="29250" bIns="18000" anchor="t">
            <a:spAutoFit/>
          </a:bodyPr>
          <a:lstStyle/>
          <a:p>
            <a:pPr algn="l">
              <a:lnSpc>
                <a:spcPct val="110000"/>
              </a:lnSpc>
              <a:spcAft>
                <a:spcPts val="0"/>
              </a:spcAft>
            </a:pPr>
            <a:r>
              <a:rPr sz="900" b="0">
                <a:solidFill>
                  <a:srgbClr val="7F7F7F"/>
                </a:solidFill>
                <a:latin typeface="メイリオ"/>
                <a:ea typeface="メイリオ"/>
                <a:cs typeface="メイリオ"/>
              </a:rPr>
              <a:t>その後の配信</a:t>
            </a:r>
          </a:p>
        </p:txBody>
      </p:sp>
      <p:sp>
        <p:nvSpPr>
          <p:cNvPr id="16" name="TextBox 15"/>
          <p:cNvSpPr txBox="1"/>
          <p:nvPr/>
        </p:nvSpPr>
        <p:spPr>
          <a:xfrm>
            <a:off x="643500" y="3420000"/>
            <a:ext cx="2635886" cy="205629"/>
          </a:xfrm>
          <a:prstGeom prst="rect">
            <a:avLst/>
          </a:prstGeom>
          <a:noFill/>
        </p:spPr>
        <p:txBody>
          <a:bodyPr wrap="square" lIns="29250" tIns="18000" rIns="29250" bIns="18000" anchor="t">
            <a:spAutoFit/>
          </a:bodyPr>
          <a:lstStyle/>
          <a:p>
            <a:pPr algn="l">
              <a:lnSpc>
                <a:spcPct val="110000"/>
              </a:lnSpc>
              <a:spcAft>
                <a:spcPts val="0"/>
              </a:spcAft>
            </a:pPr>
            <a:r>
              <a:rPr sz="1000" b="1" dirty="0" err="1">
                <a:solidFill>
                  <a:srgbClr val="1F285A"/>
                </a:solidFill>
                <a:latin typeface="メイリオ"/>
                <a:ea typeface="メイリオ"/>
                <a:cs typeface="メイリオ"/>
              </a:rPr>
              <a:t>前日リマインド／求人紹介／選考のご案内</a:t>
            </a:r>
            <a:endParaRPr sz="1000" b="1" dirty="0">
              <a:solidFill>
                <a:srgbClr val="1F285A"/>
              </a:solidFill>
              <a:latin typeface="メイリオ"/>
              <a:ea typeface="メイリオ"/>
              <a:cs typeface="メイリオ"/>
            </a:endParaRPr>
          </a:p>
        </p:txBody>
      </p:sp>
      <p:pic>
        <p:nvPicPr>
          <p:cNvPr id="17" name="Picture 16" descr="thanks_scene_2.png"/>
          <p:cNvPicPr>
            <a:picLocks noChangeAspect="1"/>
          </p:cNvPicPr>
          <p:nvPr/>
        </p:nvPicPr>
        <p:blipFill>
          <a:blip r:embed="rId3"/>
          <a:stretch>
            <a:fillRect/>
          </a:stretch>
        </p:blipFill>
        <p:spPr>
          <a:xfrm>
            <a:off x="7822886" y="1899562"/>
            <a:ext cx="1439613" cy="1798875"/>
          </a:xfrm>
          <a:prstGeom prst="rect">
            <a:avLst/>
          </a:prstGeom>
        </p:spPr>
      </p:pic>
      <p:sp>
        <p:nvSpPr>
          <p:cNvPr id="18" name="Oval 17"/>
          <p:cNvSpPr/>
          <p:nvPr/>
        </p:nvSpPr>
        <p:spPr>
          <a:xfrm>
            <a:off x="5096438" y="1782000"/>
            <a:ext cx="342000" cy="342000"/>
          </a:xfrm>
          <a:prstGeom prst="ellips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1050" b="1">
                <a:solidFill>
                  <a:srgbClr val="FFFFFF"/>
                </a:solidFill>
                <a:latin typeface="メイリオ"/>
                <a:ea typeface="メイリオ"/>
                <a:cs typeface="メイリオ"/>
              </a:rPr>
              <a:t>2</a:t>
            </a:r>
          </a:p>
        </p:txBody>
      </p:sp>
      <p:sp>
        <p:nvSpPr>
          <p:cNvPr id="19" name="TextBox 18"/>
          <p:cNvSpPr txBox="1"/>
          <p:nvPr/>
        </p:nvSpPr>
        <p:spPr>
          <a:xfrm>
            <a:off x="5479500" y="1799402"/>
            <a:ext cx="2047500" cy="307195"/>
          </a:xfrm>
          <a:prstGeom prst="rect">
            <a:avLst/>
          </a:prstGeom>
          <a:noFill/>
        </p:spPr>
        <p:txBody>
          <a:bodyPr wrap="square" lIns="29250" tIns="18000" rIns="29250" bIns="18000" anchor="ctr">
            <a:spAutoFit/>
          </a:bodyPr>
          <a:lstStyle/>
          <a:p>
            <a:pPr algn="l">
              <a:lnSpc>
                <a:spcPct val="110000"/>
              </a:lnSpc>
              <a:spcAft>
                <a:spcPts val="0"/>
              </a:spcAft>
            </a:pPr>
            <a:r>
              <a:rPr sz="1600" b="1">
                <a:solidFill>
                  <a:srgbClr val="1F285A"/>
                </a:solidFill>
                <a:latin typeface="メイリオ"/>
                <a:ea typeface="メイリオ"/>
                <a:cs typeface="メイリオ"/>
              </a:rPr>
              <a:t>不動産投資</a:t>
            </a:r>
          </a:p>
        </p:txBody>
      </p:sp>
      <p:sp>
        <p:nvSpPr>
          <p:cNvPr id="20" name="Rounded Rectangle 19"/>
          <p:cNvSpPr/>
          <p:nvPr/>
        </p:nvSpPr>
        <p:spPr>
          <a:xfrm>
            <a:off x="5128500" y="2322000"/>
            <a:ext cx="994500" cy="756000"/>
          </a:xfrm>
          <a:prstGeom prst="roundRect">
            <a:avLst>
              <a:gd name="adj" fmla="val 15000"/>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050" b="1" dirty="0" err="1">
                <a:solidFill>
                  <a:srgbClr val="1F285A"/>
                </a:solidFill>
                <a:latin typeface="メイリオ"/>
                <a:ea typeface="メイリオ"/>
                <a:cs typeface="メイリオ"/>
              </a:rPr>
              <a:t>資料請求</a:t>
            </a:r>
            <a:endParaRPr lang="en-US" sz="1050" b="1" dirty="0">
              <a:solidFill>
                <a:srgbClr val="1F285A"/>
              </a:solidFill>
              <a:latin typeface="メイリオ"/>
              <a:ea typeface="メイリオ"/>
              <a:cs typeface="メイリオ"/>
            </a:endParaRPr>
          </a:p>
          <a:p>
            <a:pPr algn="ctr">
              <a:lnSpc>
                <a:spcPct val="110000"/>
              </a:lnSpc>
              <a:spcAft>
                <a:spcPts val="0"/>
              </a:spcAft>
            </a:pPr>
            <a:r>
              <a:rPr lang="en-US" altLang="ja-JP" sz="1050" b="1" dirty="0">
                <a:solidFill>
                  <a:srgbClr val="1F285A"/>
                </a:solidFill>
                <a:latin typeface="メイリオ"/>
                <a:ea typeface="メイリオ"/>
                <a:cs typeface="メイリオ"/>
              </a:rPr>
              <a:t>----</a:t>
            </a:r>
            <a:endParaRPr lang="ja-JP" altLang="en-US" sz="1050" b="1" dirty="0">
              <a:solidFill>
                <a:srgbClr val="1F285A"/>
              </a:solidFill>
              <a:latin typeface="メイリオ"/>
              <a:ea typeface="メイリオ"/>
              <a:cs typeface="メイリオ"/>
            </a:endParaRPr>
          </a:p>
          <a:p>
            <a:pPr algn="ctr">
              <a:lnSpc>
                <a:spcPct val="110000"/>
              </a:lnSpc>
              <a:spcAft>
                <a:spcPts val="0"/>
              </a:spcAft>
            </a:pPr>
            <a:r>
              <a:rPr lang="ja-JP" altLang="en-US" sz="1050" b="1" dirty="0">
                <a:solidFill>
                  <a:srgbClr val="1F285A"/>
                </a:solidFill>
                <a:latin typeface="メイリオ"/>
                <a:ea typeface="メイリオ"/>
                <a:cs typeface="メイリオ"/>
              </a:rPr>
              <a:t>相談予約</a:t>
            </a:r>
          </a:p>
        </p:txBody>
      </p:sp>
      <p:cxnSp>
        <p:nvCxnSpPr>
          <p:cNvPr id="21" name="Connector 20"/>
          <p:cNvCxnSpPr/>
          <p:nvPr/>
        </p:nvCxnSpPr>
        <p:spPr>
          <a:xfrm>
            <a:off x="6166875" y="2700000"/>
            <a:ext cx="26325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22" name="Oval 21"/>
          <p:cNvSpPr/>
          <p:nvPr/>
        </p:nvSpPr>
        <p:spPr>
          <a:xfrm>
            <a:off x="6406500" y="2340000"/>
            <a:ext cx="720000" cy="720000"/>
          </a:xfrm>
          <a:prstGeom prst="ellipse">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1050" b="1">
                <a:solidFill>
                  <a:srgbClr val="FFFFFF"/>
                </a:solidFill>
                <a:latin typeface="メイリオ"/>
                <a:ea typeface="メイリオ"/>
                <a:cs typeface="メイリオ"/>
              </a:rPr>
              <a:t>LINE</a:t>
            </a:r>
          </a:p>
        </p:txBody>
      </p:sp>
      <p:cxnSp>
        <p:nvCxnSpPr>
          <p:cNvPr id="23" name="Connector 22"/>
          <p:cNvCxnSpPr/>
          <p:nvPr/>
        </p:nvCxnSpPr>
        <p:spPr>
          <a:xfrm>
            <a:off x="7102875" y="2700000"/>
            <a:ext cx="676136"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5128500" y="3221999"/>
            <a:ext cx="2635886" cy="188701"/>
          </a:xfrm>
          <a:prstGeom prst="rect">
            <a:avLst/>
          </a:prstGeom>
          <a:noFill/>
        </p:spPr>
        <p:txBody>
          <a:bodyPr wrap="square" lIns="29250" tIns="18000" rIns="29250" bIns="18000" anchor="t">
            <a:spAutoFit/>
          </a:bodyPr>
          <a:lstStyle/>
          <a:p>
            <a:pPr algn="l">
              <a:lnSpc>
                <a:spcPct val="110000"/>
              </a:lnSpc>
              <a:spcAft>
                <a:spcPts val="0"/>
              </a:spcAft>
            </a:pPr>
            <a:r>
              <a:rPr sz="900" b="0">
                <a:solidFill>
                  <a:srgbClr val="7F7F7F"/>
                </a:solidFill>
                <a:latin typeface="メイリオ"/>
                <a:ea typeface="メイリオ"/>
                <a:cs typeface="メイリオ"/>
              </a:rPr>
              <a:t>その後の配信</a:t>
            </a:r>
          </a:p>
        </p:txBody>
      </p:sp>
      <p:sp>
        <p:nvSpPr>
          <p:cNvPr id="25" name="TextBox 24"/>
          <p:cNvSpPr txBox="1"/>
          <p:nvPr/>
        </p:nvSpPr>
        <p:spPr>
          <a:xfrm>
            <a:off x="5128500" y="3420000"/>
            <a:ext cx="2635886" cy="205629"/>
          </a:xfrm>
          <a:prstGeom prst="rect">
            <a:avLst/>
          </a:prstGeom>
          <a:noFill/>
        </p:spPr>
        <p:txBody>
          <a:bodyPr wrap="square" lIns="29250" tIns="18000" rIns="29250" bIns="18000" anchor="t">
            <a:spAutoFit/>
          </a:bodyPr>
          <a:lstStyle/>
          <a:p>
            <a:pPr algn="l">
              <a:lnSpc>
                <a:spcPct val="110000"/>
              </a:lnSpc>
              <a:spcAft>
                <a:spcPts val="0"/>
              </a:spcAft>
            </a:pPr>
            <a:r>
              <a:rPr sz="1000" b="1">
                <a:solidFill>
                  <a:srgbClr val="1F285A"/>
                </a:solidFill>
                <a:latin typeface="メイリオ"/>
                <a:ea typeface="メイリオ"/>
                <a:cs typeface="メイリオ"/>
              </a:rPr>
              <a:t>面談リマインド／セミナー案内／物件情報</a:t>
            </a:r>
          </a:p>
        </p:txBody>
      </p:sp>
      <p:pic>
        <p:nvPicPr>
          <p:cNvPr id="26" name="Picture 25" descr="thanks_scene_3.png"/>
          <p:cNvPicPr>
            <a:picLocks noChangeAspect="1"/>
          </p:cNvPicPr>
          <p:nvPr/>
        </p:nvPicPr>
        <p:blipFill>
          <a:blip r:embed="rId4"/>
          <a:stretch>
            <a:fillRect/>
          </a:stretch>
        </p:blipFill>
        <p:spPr>
          <a:xfrm>
            <a:off x="3337886" y="4257562"/>
            <a:ext cx="1439613" cy="1798875"/>
          </a:xfrm>
          <a:prstGeom prst="rect">
            <a:avLst/>
          </a:prstGeom>
        </p:spPr>
      </p:pic>
      <p:sp>
        <p:nvSpPr>
          <p:cNvPr id="27" name="Oval 26"/>
          <p:cNvSpPr/>
          <p:nvPr/>
        </p:nvSpPr>
        <p:spPr>
          <a:xfrm>
            <a:off x="611438" y="4140000"/>
            <a:ext cx="342000" cy="342000"/>
          </a:xfrm>
          <a:prstGeom prst="ellips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1050" b="1">
                <a:solidFill>
                  <a:srgbClr val="FFFFFF"/>
                </a:solidFill>
                <a:latin typeface="メイリオ"/>
                <a:ea typeface="メイリオ"/>
                <a:cs typeface="メイリオ"/>
              </a:rPr>
              <a:t>3</a:t>
            </a:r>
          </a:p>
        </p:txBody>
      </p:sp>
      <p:sp>
        <p:nvSpPr>
          <p:cNvPr id="28" name="TextBox 27"/>
          <p:cNvSpPr txBox="1"/>
          <p:nvPr/>
        </p:nvSpPr>
        <p:spPr>
          <a:xfrm>
            <a:off x="994500" y="4157402"/>
            <a:ext cx="2047500" cy="307195"/>
          </a:xfrm>
          <a:prstGeom prst="rect">
            <a:avLst/>
          </a:prstGeom>
          <a:noFill/>
        </p:spPr>
        <p:txBody>
          <a:bodyPr wrap="square" lIns="29250" tIns="18000" rIns="29250" bIns="18000" anchor="ctr">
            <a:spAutoFit/>
          </a:bodyPr>
          <a:lstStyle/>
          <a:p>
            <a:pPr algn="l">
              <a:lnSpc>
                <a:spcPct val="110000"/>
              </a:lnSpc>
              <a:spcAft>
                <a:spcPts val="0"/>
              </a:spcAft>
            </a:pPr>
            <a:r>
              <a:rPr lang="en-US" altLang="ja-JP" sz="1600" b="1" dirty="0">
                <a:solidFill>
                  <a:srgbClr val="1F285A"/>
                </a:solidFill>
                <a:latin typeface="メイリオ"/>
                <a:ea typeface="メイリオ"/>
                <a:cs typeface="メイリオ"/>
              </a:rPr>
              <a:t>EC</a:t>
            </a:r>
          </a:p>
        </p:txBody>
      </p:sp>
      <p:sp>
        <p:nvSpPr>
          <p:cNvPr id="29" name="Rounded Rectangle 28"/>
          <p:cNvSpPr/>
          <p:nvPr/>
        </p:nvSpPr>
        <p:spPr>
          <a:xfrm>
            <a:off x="643500" y="4680000"/>
            <a:ext cx="994500" cy="756000"/>
          </a:xfrm>
          <a:prstGeom prst="roundRect">
            <a:avLst>
              <a:gd name="adj" fmla="val 15000"/>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050" b="1" dirty="0" err="1">
                <a:solidFill>
                  <a:srgbClr val="1F285A"/>
                </a:solidFill>
                <a:latin typeface="メイリオ"/>
                <a:ea typeface="メイリオ"/>
                <a:cs typeface="メイリオ"/>
              </a:rPr>
              <a:t>購入</a:t>
            </a:r>
            <a:endParaRPr lang="en-US" sz="1050" b="1" dirty="0">
              <a:solidFill>
                <a:srgbClr val="1F285A"/>
              </a:solidFill>
              <a:latin typeface="メイリオ"/>
              <a:ea typeface="メイリオ"/>
              <a:cs typeface="メイリオ"/>
            </a:endParaRPr>
          </a:p>
          <a:p>
            <a:pPr algn="ctr">
              <a:lnSpc>
                <a:spcPct val="110000"/>
              </a:lnSpc>
              <a:spcAft>
                <a:spcPts val="0"/>
              </a:spcAft>
            </a:pPr>
            <a:r>
              <a:rPr lang="en-US" sz="1050" b="1" dirty="0">
                <a:solidFill>
                  <a:srgbClr val="1F285A"/>
                </a:solidFill>
                <a:latin typeface="メイリオ"/>
                <a:ea typeface="メイリオ"/>
                <a:cs typeface="メイリオ"/>
              </a:rPr>
              <a:t>----</a:t>
            </a:r>
            <a:endParaRPr sz="1050" b="1" dirty="0">
              <a:solidFill>
                <a:srgbClr val="1F285A"/>
              </a:solidFill>
              <a:latin typeface="メイリオ"/>
              <a:ea typeface="メイリオ"/>
              <a:cs typeface="メイリオ"/>
            </a:endParaRPr>
          </a:p>
          <a:p>
            <a:pPr algn="ctr">
              <a:lnSpc>
                <a:spcPct val="110000"/>
              </a:lnSpc>
              <a:spcAft>
                <a:spcPts val="0"/>
              </a:spcAft>
            </a:pPr>
            <a:r>
              <a:rPr sz="1050" b="1" dirty="0" err="1">
                <a:solidFill>
                  <a:srgbClr val="1F285A"/>
                </a:solidFill>
                <a:latin typeface="メイリオ"/>
                <a:ea typeface="メイリオ"/>
                <a:cs typeface="メイリオ"/>
              </a:rPr>
              <a:t>会員登録</a:t>
            </a:r>
            <a:endParaRPr sz="1050" b="1" dirty="0">
              <a:solidFill>
                <a:srgbClr val="1F285A"/>
              </a:solidFill>
              <a:latin typeface="メイリオ"/>
              <a:ea typeface="メイリオ"/>
              <a:cs typeface="メイリオ"/>
            </a:endParaRPr>
          </a:p>
        </p:txBody>
      </p:sp>
      <p:cxnSp>
        <p:nvCxnSpPr>
          <p:cNvPr id="30" name="Connector 29"/>
          <p:cNvCxnSpPr/>
          <p:nvPr/>
        </p:nvCxnSpPr>
        <p:spPr>
          <a:xfrm>
            <a:off x="1681875" y="5058000"/>
            <a:ext cx="26325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31" name="Oval 30"/>
          <p:cNvSpPr/>
          <p:nvPr/>
        </p:nvSpPr>
        <p:spPr>
          <a:xfrm>
            <a:off x="1921500" y="4698000"/>
            <a:ext cx="720000" cy="720000"/>
          </a:xfrm>
          <a:prstGeom prst="ellipse">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1050" b="1">
                <a:solidFill>
                  <a:srgbClr val="FFFFFF"/>
                </a:solidFill>
                <a:latin typeface="メイリオ"/>
                <a:ea typeface="メイリオ"/>
                <a:cs typeface="メイリオ"/>
              </a:rPr>
              <a:t>LINE</a:t>
            </a:r>
          </a:p>
        </p:txBody>
      </p:sp>
      <p:cxnSp>
        <p:nvCxnSpPr>
          <p:cNvPr id="32" name="Connector 31"/>
          <p:cNvCxnSpPr/>
          <p:nvPr/>
        </p:nvCxnSpPr>
        <p:spPr>
          <a:xfrm>
            <a:off x="2617874" y="5058000"/>
            <a:ext cx="676137"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643500" y="5580000"/>
            <a:ext cx="2635886" cy="188701"/>
          </a:xfrm>
          <a:prstGeom prst="rect">
            <a:avLst/>
          </a:prstGeom>
          <a:noFill/>
        </p:spPr>
        <p:txBody>
          <a:bodyPr wrap="square" lIns="29250" tIns="18000" rIns="29250" bIns="18000" anchor="t">
            <a:spAutoFit/>
          </a:bodyPr>
          <a:lstStyle/>
          <a:p>
            <a:pPr algn="l">
              <a:lnSpc>
                <a:spcPct val="110000"/>
              </a:lnSpc>
              <a:spcAft>
                <a:spcPts val="0"/>
              </a:spcAft>
            </a:pPr>
            <a:r>
              <a:rPr sz="900" b="0">
                <a:solidFill>
                  <a:srgbClr val="7F7F7F"/>
                </a:solidFill>
                <a:latin typeface="メイリオ"/>
                <a:ea typeface="メイリオ"/>
                <a:cs typeface="メイリオ"/>
              </a:rPr>
              <a:t>その後の配信</a:t>
            </a:r>
          </a:p>
        </p:txBody>
      </p:sp>
      <p:sp>
        <p:nvSpPr>
          <p:cNvPr id="34" name="TextBox 33"/>
          <p:cNvSpPr txBox="1"/>
          <p:nvPr/>
        </p:nvSpPr>
        <p:spPr>
          <a:xfrm>
            <a:off x="643500" y="5778000"/>
            <a:ext cx="2635886" cy="205629"/>
          </a:xfrm>
          <a:prstGeom prst="rect">
            <a:avLst/>
          </a:prstGeom>
          <a:noFill/>
        </p:spPr>
        <p:txBody>
          <a:bodyPr wrap="square" lIns="29250" tIns="18000" rIns="29250" bIns="18000" anchor="t">
            <a:spAutoFit/>
          </a:bodyPr>
          <a:lstStyle/>
          <a:p>
            <a:pPr algn="l">
              <a:lnSpc>
                <a:spcPct val="110000"/>
              </a:lnSpc>
              <a:spcAft>
                <a:spcPts val="0"/>
              </a:spcAft>
            </a:pPr>
            <a:r>
              <a:rPr sz="1000" b="1">
                <a:solidFill>
                  <a:srgbClr val="1F285A"/>
                </a:solidFill>
                <a:latin typeface="メイリオ"/>
                <a:ea typeface="メイリオ"/>
                <a:cs typeface="メイリオ"/>
              </a:rPr>
              <a:t>限定商品の案内／キャンペーン・クーポン</a:t>
            </a:r>
          </a:p>
        </p:txBody>
      </p:sp>
      <p:pic>
        <p:nvPicPr>
          <p:cNvPr id="35" name="Picture 34" descr="thanks_scene_4.png"/>
          <p:cNvPicPr>
            <a:picLocks noChangeAspect="1"/>
          </p:cNvPicPr>
          <p:nvPr/>
        </p:nvPicPr>
        <p:blipFill>
          <a:blip r:embed="rId5"/>
          <a:stretch>
            <a:fillRect/>
          </a:stretch>
        </p:blipFill>
        <p:spPr>
          <a:xfrm>
            <a:off x="7822886" y="4257562"/>
            <a:ext cx="1439613" cy="1798875"/>
          </a:xfrm>
          <a:prstGeom prst="rect">
            <a:avLst/>
          </a:prstGeom>
        </p:spPr>
      </p:pic>
      <p:sp>
        <p:nvSpPr>
          <p:cNvPr id="36" name="Oval 35"/>
          <p:cNvSpPr/>
          <p:nvPr/>
        </p:nvSpPr>
        <p:spPr>
          <a:xfrm>
            <a:off x="5096438" y="4140000"/>
            <a:ext cx="342000" cy="342000"/>
          </a:xfrm>
          <a:prstGeom prst="ellips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1050" b="1">
                <a:solidFill>
                  <a:srgbClr val="FFFFFF"/>
                </a:solidFill>
                <a:latin typeface="メイリオ"/>
                <a:ea typeface="メイリオ"/>
                <a:cs typeface="メイリオ"/>
              </a:rPr>
              <a:t>4</a:t>
            </a:r>
          </a:p>
        </p:txBody>
      </p:sp>
      <p:sp>
        <p:nvSpPr>
          <p:cNvPr id="37" name="TextBox 36"/>
          <p:cNvSpPr txBox="1"/>
          <p:nvPr/>
        </p:nvSpPr>
        <p:spPr>
          <a:xfrm>
            <a:off x="5479500" y="4157402"/>
            <a:ext cx="2047500" cy="307195"/>
          </a:xfrm>
          <a:prstGeom prst="rect">
            <a:avLst/>
          </a:prstGeom>
          <a:noFill/>
        </p:spPr>
        <p:txBody>
          <a:bodyPr wrap="square" lIns="29250" tIns="18000" rIns="29250" bIns="18000" anchor="ctr">
            <a:spAutoFit/>
          </a:bodyPr>
          <a:lstStyle/>
          <a:p>
            <a:pPr algn="l">
              <a:lnSpc>
                <a:spcPct val="110000"/>
              </a:lnSpc>
              <a:spcAft>
                <a:spcPts val="0"/>
              </a:spcAft>
            </a:pPr>
            <a:r>
              <a:rPr sz="1600" b="1">
                <a:solidFill>
                  <a:srgbClr val="1F285A"/>
                </a:solidFill>
                <a:latin typeface="メイリオ"/>
                <a:ea typeface="メイリオ"/>
                <a:cs typeface="メイリオ"/>
              </a:rPr>
              <a:t>ハウスメーカー</a:t>
            </a:r>
          </a:p>
        </p:txBody>
      </p:sp>
      <p:sp>
        <p:nvSpPr>
          <p:cNvPr id="38" name="Rounded Rectangle 37"/>
          <p:cNvSpPr/>
          <p:nvPr/>
        </p:nvSpPr>
        <p:spPr>
          <a:xfrm>
            <a:off x="5128500" y="4680000"/>
            <a:ext cx="994500" cy="756000"/>
          </a:xfrm>
          <a:prstGeom prst="roundRect">
            <a:avLst>
              <a:gd name="adj" fmla="val 15000"/>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29250" tIns="0" rIns="29250" bIns="0" rtlCol="0" anchor="ctr"/>
          <a:lstStyle/>
          <a:p>
            <a:pPr algn="ctr">
              <a:lnSpc>
                <a:spcPct val="110000"/>
              </a:lnSpc>
              <a:spcAft>
                <a:spcPts val="0"/>
              </a:spcAft>
            </a:pPr>
            <a:r>
              <a:rPr sz="1050" b="1" dirty="0" err="1">
                <a:solidFill>
                  <a:srgbClr val="1F285A"/>
                </a:solidFill>
                <a:latin typeface="メイリオ"/>
                <a:ea typeface="メイリオ"/>
                <a:cs typeface="メイリオ"/>
              </a:rPr>
              <a:t>資料請求</a:t>
            </a:r>
            <a:endParaRPr lang="en-US" sz="1050" b="1" dirty="0">
              <a:solidFill>
                <a:srgbClr val="1F285A"/>
              </a:solidFill>
              <a:latin typeface="メイリオ"/>
              <a:ea typeface="メイリオ"/>
              <a:cs typeface="メイリオ"/>
            </a:endParaRPr>
          </a:p>
          <a:p>
            <a:pPr algn="ctr">
              <a:lnSpc>
                <a:spcPct val="110000"/>
              </a:lnSpc>
              <a:spcAft>
                <a:spcPts val="0"/>
              </a:spcAft>
            </a:pPr>
            <a:r>
              <a:rPr lang="en-US" sz="1050" b="1" dirty="0">
                <a:solidFill>
                  <a:srgbClr val="1F285A"/>
                </a:solidFill>
                <a:latin typeface="メイリオ"/>
                <a:ea typeface="メイリオ"/>
                <a:cs typeface="メイリオ"/>
              </a:rPr>
              <a:t>----</a:t>
            </a:r>
          </a:p>
          <a:p>
            <a:pPr algn="ctr">
              <a:lnSpc>
                <a:spcPct val="110000"/>
              </a:lnSpc>
              <a:spcAft>
                <a:spcPts val="0"/>
              </a:spcAft>
            </a:pPr>
            <a:r>
              <a:rPr lang="ja-JP" altLang="en-US" sz="1050" b="1" dirty="0">
                <a:solidFill>
                  <a:srgbClr val="1F285A"/>
                </a:solidFill>
                <a:latin typeface="メイリオ"/>
                <a:ea typeface="メイリオ"/>
                <a:cs typeface="メイリオ"/>
              </a:rPr>
              <a:t>来場予約</a:t>
            </a:r>
            <a:endParaRPr lang="en-US" sz="1050" b="1" dirty="0">
              <a:solidFill>
                <a:srgbClr val="1F285A"/>
              </a:solidFill>
              <a:latin typeface="メイリオ"/>
              <a:ea typeface="メイリオ"/>
              <a:cs typeface="メイリオ"/>
            </a:endParaRPr>
          </a:p>
        </p:txBody>
      </p:sp>
      <p:cxnSp>
        <p:nvCxnSpPr>
          <p:cNvPr id="39" name="Connector 38"/>
          <p:cNvCxnSpPr/>
          <p:nvPr/>
        </p:nvCxnSpPr>
        <p:spPr>
          <a:xfrm>
            <a:off x="6166875" y="5058000"/>
            <a:ext cx="26325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40" name="Oval 39"/>
          <p:cNvSpPr/>
          <p:nvPr/>
        </p:nvSpPr>
        <p:spPr>
          <a:xfrm>
            <a:off x="6406500" y="4698000"/>
            <a:ext cx="720000" cy="720000"/>
          </a:xfrm>
          <a:prstGeom prst="ellipse">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1050" b="1">
                <a:solidFill>
                  <a:srgbClr val="FFFFFF"/>
                </a:solidFill>
                <a:latin typeface="メイリオ"/>
                <a:ea typeface="メイリオ"/>
                <a:cs typeface="メイリオ"/>
              </a:rPr>
              <a:t>LINE</a:t>
            </a:r>
          </a:p>
        </p:txBody>
      </p:sp>
      <p:cxnSp>
        <p:nvCxnSpPr>
          <p:cNvPr id="41" name="Connector 40"/>
          <p:cNvCxnSpPr/>
          <p:nvPr/>
        </p:nvCxnSpPr>
        <p:spPr>
          <a:xfrm>
            <a:off x="7102875" y="5058000"/>
            <a:ext cx="676136"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5128500" y="5580000"/>
            <a:ext cx="2635886" cy="188701"/>
          </a:xfrm>
          <a:prstGeom prst="rect">
            <a:avLst/>
          </a:prstGeom>
          <a:noFill/>
        </p:spPr>
        <p:txBody>
          <a:bodyPr wrap="square" lIns="29250" tIns="18000" rIns="29250" bIns="18000" anchor="t">
            <a:spAutoFit/>
          </a:bodyPr>
          <a:lstStyle/>
          <a:p>
            <a:pPr algn="l">
              <a:lnSpc>
                <a:spcPct val="110000"/>
              </a:lnSpc>
              <a:spcAft>
                <a:spcPts val="0"/>
              </a:spcAft>
            </a:pPr>
            <a:r>
              <a:rPr sz="900" b="0">
                <a:solidFill>
                  <a:srgbClr val="7F7F7F"/>
                </a:solidFill>
                <a:latin typeface="メイリオ"/>
                <a:ea typeface="メイリオ"/>
                <a:cs typeface="メイリオ"/>
              </a:rPr>
              <a:t>その後の配信</a:t>
            </a:r>
          </a:p>
        </p:txBody>
      </p:sp>
      <p:sp>
        <p:nvSpPr>
          <p:cNvPr id="43" name="TextBox 42"/>
          <p:cNvSpPr txBox="1"/>
          <p:nvPr/>
        </p:nvSpPr>
        <p:spPr>
          <a:xfrm>
            <a:off x="5128500" y="5778000"/>
            <a:ext cx="2635886" cy="205629"/>
          </a:xfrm>
          <a:prstGeom prst="rect">
            <a:avLst/>
          </a:prstGeom>
          <a:noFill/>
        </p:spPr>
        <p:txBody>
          <a:bodyPr wrap="square" lIns="29250" tIns="18000" rIns="29250" bIns="18000" anchor="t">
            <a:spAutoFit/>
          </a:bodyPr>
          <a:lstStyle/>
          <a:p>
            <a:pPr algn="l">
              <a:lnSpc>
                <a:spcPct val="110000"/>
              </a:lnSpc>
              <a:spcAft>
                <a:spcPts val="0"/>
              </a:spcAft>
            </a:pPr>
            <a:r>
              <a:rPr sz="1000" b="1">
                <a:solidFill>
                  <a:srgbClr val="1F285A"/>
                </a:solidFill>
                <a:latin typeface="メイリオ"/>
                <a:ea typeface="メイリオ"/>
                <a:cs typeface="メイリオ"/>
              </a:rPr>
              <a:t>見学会の案内／土地情報／個別相談</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7200" y="161078"/>
            <a:ext cx="6516000" cy="289843"/>
          </a:xfrm>
          <a:prstGeom prst="rect">
            <a:avLst/>
          </a:prstGeom>
          <a:noFill/>
        </p:spPr>
        <p:txBody>
          <a:bodyPr wrap="square" lIns="0" tIns="21600" rIns="0" bIns="21600" anchor="ctr">
            <a:spAutoFit/>
          </a:bodyPr>
          <a:lstStyle/>
          <a:p>
            <a:pPr algn="l"/>
            <a:r>
              <a:rPr sz="1600" b="1" dirty="0" err="1">
                <a:solidFill>
                  <a:srgbClr val="002060"/>
                </a:solidFill>
                <a:latin typeface="メイリオ"/>
                <a:ea typeface="メイリオ"/>
                <a:cs typeface="メイリオ"/>
              </a:rPr>
              <a:t>ハードルの低いCVからLINEにつなぎ</a:t>
            </a:r>
            <a:r>
              <a:rPr sz="1600" b="1" dirty="0">
                <a:solidFill>
                  <a:srgbClr val="002060"/>
                </a:solidFill>
                <a:latin typeface="メイリオ"/>
                <a:ea typeface="メイリオ"/>
                <a:cs typeface="メイリオ"/>
              </a:rPr>
              <a:t>、</a:t>
            </a:r>
            <a:r>
              <a:rPr lang="ja-JP" altLang="en-US" sz="1600" b="1" dirty="0">
                <a:solidFill>
                  <a:srgbClr val="002060"/>
                </a:solidFill>
                <a:latin typeface="メイリオ"/>
                <a:ea typeface="メイリオ"/>
                <a:cs typeface="メイリオ"/>
              </a:rPr>
              <a:t>契約・購入</a:t>
            </a:r>
            <a:r>
              <a:rPr sz="1600" b="1" dirty="0">
                <a:solidFill>
                  <a:srgbClr val="002060"/>
                </a:solidFill>
                <a:latin typeface="メイリオ"/>
                <a:ea typeface="メイリオ"/>
                <a:cs typeface="メイリオ"/>
              </a:rPr>
              <a:t>へ</a:t>
            </a:r>
          </a:p>
        </p:txBody>
      </p:sp>
      <p:sp>
        <p:nvSpPr>
          <p:cNvPr id="4" name="TextBox 2"/>
          <p:cNvSpPr txBox="1"/>
          <p:nvPr/>
        </p:nvSpPr>
        <p:spPr>
          <a:xfrm>
            <a:off x="644865" y="831517"/>
            <a:ext cx="9111472" cy="316966"/>
          </a:xfrm>
          <a:prstGeom prst="rect">
            <a:avLst/>
          </a:prstGeom>
          <a:noFill/>
        </p:spPr>
        <p:txBody>
          <a:bodyPr wrap="square" lIns="0" tIns="21600" rIns="0" bIns="21600" anchor="ctr">
            <a:spAutoFit/>
          </a:bodyPr>
          <a:lstStyle/>
          <a:p>
            <a:pPr algn="l">
              <a:lnSpc>
                <a:spcPct val="130000"/>
              </a:lnSpc>
            </a:pPr>
            <a:r>
              <a:rPr sz="1450" dirty="0" err="1">
                <a:solidFill>
                  <a:srgbClr val="333333"/>
                </a:solidFill>
                <a:latin typeface="メイリオ"/>
                <a:ea typeface="メイリオ"/>
                <a:cs typeface="メイリオ"/>
              </a:rPr>
              <a:t>ハードル</a:t>
            </a:r>
            <a:r>
              <a:rPr lang="ja-JP" altLang="en-US" sz="1450" dirty="0">
                <a:solidFill>
                  <a:srgbClr val="333333"/>
                </a:solidFill>
                <a:latin typeface="メイリオ"/>
                <a:ea typeface="メイリオ"/>
                <a:cs typeface="メイリオ"/>
              </a:rPr>
              <a:t>が低い</a:t>
            </a:r>
            <a:r>
              <a:rPr sz="1450" dirty="0">
                <a:solidFill>
                  <a:srgbClr val="333333"/>
                </a:solidFill>
                <a:latin typeface="メイリオ"/>
                <a:ea typeface="メイリオ"/>
                <a:cs typeface="メイリオ"/>
              </a:rPr>
              <a:t>CV</a:t>
            </a:r>
            <a:r>
              <a:rPr lang="ja-JP" altLang="en-US" sz="1450" dirty="0">
                <a:solidFill>
                  <a:srgbClr val="333333"/>
                </a:solidFill>
                <a:latin typeface="メイリオ"/>
                <a:ea typeface="メイリオ"/>
                <a:cs typeface="メイリオ"/>
              </a:rPr>
              <a:t>を入り口とし</a:t>
            </a:r>
            <a:r>
              <a:rPr sz="1450" dirty="0">
                <a:solidFill>
                  <a:srgbClr val="333333"/>
                </a:solidFill>
                <a:latin typeface="メイリオ"/>
                <a:ea typeface="メイリオ"/>
                <a:cs typeface="メイリオ"/>
              </a:rPr>
              <a:t>、</a:t>
            </a:r>
            <a:r>
              <a:rPr lang="ja-JP" altLang="en-US" sz="1450" dirty="0">
                <a:solidFill>
                  <a:srgbClr val="333333"/>
                </a:solidFill>
                <a:latin typeface="メイリオ"/>
                <a:ea typeface="メイリオ"/>
                <a:cs typeface="メイリオ"/>
              </a:rPr>
              <a:t>サンクス</a:t>
            </a:r>
            <a:r>
              <a:rPr lang="en-US" altLang="ja-JP" sz="1450" dirty="0">
                <a:solidFill>
                  <a:srgbClr val="333333"/>
                </a:solidFill>
                <a:latin typeface="メイリオ"/>
                <a:ea typeface="メイリオ"/>
                <a:cs typeface="メイリオ"/>
              </a:rPr>
              <a:t>LINE</a:t>
            </a:r>
            <a:r>
              <a:rPr lang="ja-JP" altLang="en-US" sz="1450" dirty="0">
                <a:solidFill>
                  <a:srgbClr val="333333"/>
                </a:solidFill>
                <a:latin typeface="メイリオ"/>
                <a:ea typeface="メイリオ"/>
                <a:cs typeface="メイリオ"/>
              </a:rPr>
              <a:t>でナーチャリングを経て、契約・購入につなげる。</a:t>
            </a:r>
            <a:endParaRPr sz="100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Pentagon 5"/>
          <p:cNvSpPr/>
          <p:nvPr/>
        </p:nvSpPr>
        <p:spPr>
          <a:xfrm>
            <a:off x="643500" y="2592000"/>
            <a:ext cx="969545" cy="1188000"/>
          </a:xfrm>
          <a:prstGeom prst="homePlate">
            <a:avLst>
              <a:gd name="adj" fmla="val 22000"/>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7" name="TextBox 6"/>
          <p:cNvSpPr txBox="1"/>
          <p:nvPr/>
        </p:nvSpPr>
        <p:spPr>
          <a:xfrm>
            <a:off x="731250" y="3066258"/>
            <a:ext cx="706295" cy="239484"/>
          </a:xfrm>
          <a:prstGeom prst="rect">
            <a:avLst/>
          </a:prstGeom>
          <a:noFill/>
        </p:spPr>
        <p:txBody>
          <a:bodyPr wrap="square" lIns="29250" tIns="18000" rIns="29250" bIns="18000" anchor="ctr">
            <a:spAutoFit/>
          </a:bodyPr>
          <a:lstStyle/>
          <a:p>
            <a:pPr algn="ctr">
              <a:lnSpc>
                <a:spcPct val="110000"/>
              </a:lnSpc>
              <a:spcAft>
                <a:spcPts val="0"/>
              </a:spcAft>
            </a:pPr>
            <a:r>
              <a:rPr sz="1200" b="1">
                <a:solidFill>
                  <a:srgbClr val="1F285A"/>
                </a:solidFill>
                <a:latin typeface="メイリオ"/>
                <a:ea typeface="メイリオ"/>
                <a:cs typeface="メイリオ"/>
              </a:rPr>
              <a:t>広告</a:t>
            </a:r>
          </a:p>
        </p:txBody>
      </p:sp>
      <p:sp>
        <p:nvSpPr>
          <p:cNvPr id="8" name="Chevron 7"/>
          <p:cNvSpPr/>
          <p:nvPr/>
        </p:nvSpPr>
        <p:spPr>
          <a:xfrm>
            <a:off x="1510670" y="2592000"/>
            <a:ext cx="1228090" cy="1188000"/>
          </a:xfrm>
          <a:prstGeom prst="chevron">
            <a:avLst>
              <a:gd name="adj" fmla="val 22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 name="TextBox 8"/>
          <p:cNvSpPr txBox="1"/>
          <p:nvPr/>
        </p:nvSpPr>
        <p:spPr>
          <a:xfrm>
            <a:off x="1778881" y="3066258"/>
            <a:ext cx="847840" cy="239484"/>
          </a:xfrm>
          <a:prstGeom prst="rect">
            <a:avLst/>
          </a:prstGeom>
          <a:noFill/>
        </p:spPr>
        <p:txBody>
          <a:bodyPr wrap="square" lIns="29250" tIns="18000" rIns="29250" bIns="18000" anchor="ctr">
            <a:spAutoFit/>
          </a:bodyPr>
          <a:lstStyle/>
          <a:p>
            <a:pPr algn="ctr">
              <a:lnSpc>
                <a:spcPct val="110000"/>
              </a:lnSpc>
              <a:spcAft>
                <a:spcPts val="0"/>
              </a:spcAft>
            </a:pPr>
            <a:r>
              <a:rPr sz="1200" b="1" dirty="0" err="1">
                <a:solidFill>
                  <a:srgbClr val="FFFFFF"/>
                </a:solidFill>
                <a:latin typeface="メイリオ"/>
                <a:ea typeface="メイリオ"/>
                <a:cs typeface="メイリオ"/>
              </a:rPr>
              <a:t>簡易ページ</a:t>
            </a:r>
            <a:endParaRPr sz="1200" b="1" dirty="0">
              <a:solidFill>
                <a:srgbClr val="FFFFFF"/>
              </a:solidFill>
              <a:latin typeface="メイリオ"/>
              <a:ea typeface="メイリオ"/>
              <a:cs typeface="メイリオ"/>
            </a:endParaRPr>
          </a:p>
        </p:txBody>
      </p:sp>
      <p:sp>
        <p:nvSpPr>
          <p:cNvPr id="10" name="Chevron 9"/>
          <p:cNvSpPr/>
          <p:nvPr/>
        </p:nvSpPr>
        <p:spPr>
          <a:xfrm>
            <a:off x="2636386" y="2592000"/>
            <a:ext cx="1228090" cy="1188000"/>
          </a:xfrm>
          <a:prstGeom prst="chevron">
            <a:avLst>
              <a:gd name="adj" fmla="val 22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 name="TextBox 10"/>
          <p:cNvSpPr txBox="1"/>
          <p:nvPr/>
        </p:nvSpPr>
        <p:spPr>
          <a:xfrm>
            <a:off x="2841136" y="2964691"/>
            <a:ext cx="847840" cy="442617"/>
          </a:xfrm>
          <a:prstGeom prst="rect">
            <a:avLst/>
          </a:prstGeom>
          <a:noFill/>
        </p:spPr>
        <p:txBody>
          <a:bodyPr wrap="square" lIns="29250" tIns="18000" rIns="29250" bIns="18000" anchor="ctr">
            <a:spAutoFit/>
          </a:bodyPr>
          <a:lstStyle/>
          <a:p>
            <a:pPr algn="ctr">
              <a:lnSpc>
                <a:spcPct val="110000"/>
              </a:lnSpc>
              <a:spcAft>
                <a:spcPts val="0"/>
              </a:spcAft>
            </a:pPr>
            <a:r>
              <a:rPr sz="1200" b="1" dirty="0" err="1">
                <a:solidFill>
                  <a:srgbClr val="FFFFFF"/>
                </a:solidFill>
                <a:latin typeface="メイリオ"/>
                <a:ea typeface="メイリオ"/>
                <a:cs typeface="メイリオ"/>
              </a:rPr>
              <a:t>ハードル</a:t>
            </a:r>
            <a:r>
              <a:rPr lang="ja-JP" altLang="en-US" sz="1200" b="1" dirty="0">
                <a:solidFill>
                  <a:srgbClr val="FFFFFF"/>
                </a:solidFill>
                <a:latin typeface="メイリオ"/>
                <a:ea typeface="メイリオ"/>
                <a:cs typeface="メイリオ"/>
              </a:rPr>
              <a:t>が</a:t>
            </a:r>
            <a:endParaRPr sz="1200" b="1" dirty="0">
              <a:solidFill>
                <a:srgbClr val="FFFFFF"/>
              </a:solidFill>
              <a:latin typeface="メイリオ"/>
              <a:ea typeface="メイリオ"/>
              <a:cs typeface="メイリオ"/>
            </a:endParaRPr>
          </a:p>
          <a:p>
            <a:pPr algn="ctr">
              <a:lnSpc>
                <a:spcPct val="110000"/>
              </a:lnSpc>
              <a:spcAft>
                <a:spcPts val="0"/>
              </a:spcAft>
            </a:pPr>
            <a:r>
              <a:rPr sz="1200" b="1" dirty="0" err="1">
                <a:solidFill>
                  <a:srgbClr val="FFFFFF"/>
                </a:solidFill>
                <a:latin typeface="メイリオ"/>
                <a:ea typeface="メイリオ"/>
                <a:cs typeface="メイリオ"/>
              </a:rPr>
              <a:t>低いCV</a:t>
            </a:r>
            <a:endParaRPr sz="1200" b="1" dirty="0">
              <a:solidFill>
                <a:srgbClr val="FFFFFF"/>
              </a:solidFill>
              <a:latin typeface="メイリオ"/>
              <a:ea typeface="メイリオ"/>
              <a:cs typeface="メイリオ"/>
            </a:endParaRPr>
          </a:p>
        </p:txBody>
      </p:sp>
      <p:sp>
        <p:nvSpPr>
          <p:cNvPr id="12" name="Chevron 11"/>
          <p:cNvSpPr/>
          <p:nvPr/>
        </p:nvSpPr>
        <p:spPr>
          <a:xfrm>
            <a:off x="3762102" y="2592000"/>
            <a:ext cx="1228090" cy="1188000"/>
          </a:xfrm>
          <a:prstGeom prst="chevron">
            <a:avLst>
              <a:gd name="adj" fmla="val 22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3" name="TextBox 12"/>
          <p:cNvSpPr txBox="1"/>
          <p:nvPr/>
        </p:nvSpPr>
        <p:spPr>
          <a:xfrm>
            <a:off x="3966852" y="2964691"/>
            <a:ext cx="847840" cy="442617"/>
          </a:xfrm>
          <a:prstGeom prst="rect">
            <a:avLst/>
          </a:prstGeom>
          <a:noFill/>
        </p:spPr>
        <p:txBody>
          <a:bodyPr wrap="square" lIns="29250" tIns="18000" rIns="29250" bIns="18000" anchor="ctr">
            <a:spAutoFit/>
          </a:bodyPr>
          <a:lstStyle/>
          <a:p>
            <a:pPr algn="ctr">
              <a:lnSpc>
                <a:spcPct val="110000"/>
              </a:lnSpc>
              <a:spcAft>
                <a:spcPts val="0"/>
              </a:spcAft>
            </a:pPr>
            <a:r>
              <a:rPr sz="1200" b="1">
                <a:solidFill>
                  <a:srgbClr val="FFFFFF"/>
                </a:solidFill>
                <a:latin typeface="メイリオ"/>
                <a:ea typeface="メイリオ"/>
                <a:cs typeface="メイリオ"/>
              </a:rPr>
              <a:t>サンクス</a:t>
            </a:r>
          </a:p>
          <a:p>
            <a:pPr algn="ctr">
              <a:lnSpc>
                <a:spcPct val="110000"/>
              </a:lnSpc>
              <a:spcAft>
                <a:spcPts val="0"/>
              </a:spcAft>
            </a:pPr>
            <a:r>
              <a:rPr sz="1200" b="1">
                <a:solidFill>
                  <a:srgbClr val="FFFFFF"/>
                </a:solidFill>
                <a:latin typeface="メイリオ"/>
                <a:ea typeface="メイリオ"/>
                <a:cs typeface="メイリオ"/>
              </a:rPr>
              <a:t>LINE誘導</a:t>
            </a:r>
          </a:p>
        </p:txBody>
      </p:sp>
      <p:sp>
        <p:nvSpPr>
          <p:cNvPr id="14" name="Chevron 13"/>
          <p:cNvSpPr/>
          <p:nvPr/>
        </p:nvSpPr>
        <p:spPr>
          <a:xfrm>
            <a:off x="4887818" y="2592000"/>
            <a:ext cx="1228090" cy="1188000"/>
          </a:xfrm>
          <a:prstGeom prst="chevron">
            <a:avLst>
              <a:gd name="adj" fmla="val 22000"/>
            </a:avLst>
          </a:prstGeom>
          <a:solidFill>
            <a:srgbClr val="E8F8EE"/>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5" name="TextBox 14"/>
          <p:cNvSpPr txBox="1"/>
          <p:nvPr/>
        </p:nvSpPr>
        <p:spPr>
          <a:xfrm>
            <a:off x="5092568" y="2964691"/>
            <a:ext cx="847840" cy="442617"/>
          </a:xfrm>
          <a:prstGeom prst="rect">
            <a:avLst/>
          </a:prstGeom>
          <a:noFill/>
        </p:spPr>
        <p:txBody>
          <a:bodyPr wrap="square" lIns="29250" tIns="18000" rIns="29250" bIns="18000" anchor="ctr">
            <a:spAutoFit/>
          </a:bodyPr>
          <a:lstStyle/>
          <a:p>
            <a:pPr algn="ctr">
              <a:lnSpc>
                <a:spcPct val="110000"/>
              </a:lnSpc>
              <a:spcAft>
                <a:spcPts val="0"/>
              </a:spcAft>
            </a:pPr>
            <a:r>
              <a:rPr sz="1200" b="1">
                <a:solidFill>
                  <a:srgbClr val="0B7A3B"/>
                </a:solidFill>
                <a:latin typeface="メイリオ"/>
                <a:ea typeface="メイリオ"/>
                <a:cs typeface="メイリオ"/>
              </a:rPr>
              <a:t>LINE</a:t>
            </a:r>
          </a:p>
          <a:p>
            <a:pPr algn="ctr">
              <a:lnSpc>
                <a:spcPct val="110000"/>
              </a:lnSpc>
              <a:spcAft>
                <a:spcPts val="0"/>
              </a:spcAft>
            </a:pPr>
            <a:r>
              <a:rPr sz="1200" b="1">
                <a:solidFill>
                  <a:srgbClr val="0B7A3B"/>
                </a:solidFill>
                <a:latin typeface="メイリオ"/>
                <a:ea typeface="メイリオ"/>
                <a:cs typeface="メイリオ"/>
              </a:rPr>
              <a:t>友だち追加</a:t>
            </a:r>
          </a:p>
        </p:txBody>
      </p:sp>
      <p:sp>
        <p:nvSpPr>
          <p:cNvPr id="16" name="Chevron 15"/>
          <p:cNvSpPr/>
          <p:nvPr/>
        </p:nvSpPr>
        <p:spPr>
          <a:xfrm>
            <a:off x="6013534" y="2592000"/>
            <a:ext cx="1583590" cy="1188000"/>
          </a:xfrm>
          <a:prstGeom prst="chevron">
            <a:avLst>
              <a:gd name="adj" fmla="val 22000"/>
            </a:avLst>
          </a:prstGeom>
          <a:solidFill>
            <a:srgbClr val="E8F8EE"/>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7" name="TextBox 16"/>
          <p:cNvSpPr txBox="1"/>
          <p:nvPr/>
        </p:nvSpPr>
        <p:spPr>
          <a:xfrm>
            <a:off x="6218284" y="2964691"/>
            <a:ext cx="1203340" cy="442617"/>
          </a:xfrm>
          <a:prstGeom prst="rect">
            <a:avLst/>
          </a:prstGeom>
          <a:noFill/>
        </p:spPr>
        <p:txBody>
          <a:bodyPr wrap="square" lIns="29250" tIns="18000" rIns="29250" bIns="18000" anchor="ctr">
            <a:spAutoFit/>
          </a:bodyPr>
          <a:lstStyle/>
          <a:p>
            <a:pPr algn="ctr">
              <a:lnSpc>
                <a:spcPct val="110000"/>
              </a:lnSpc>
              <a:spcAft>
                <a:spcPts val="0"/>
              </a:spcAft>
            </a:pPr>
            <a:r>
              <a:rPr sz="1200" b="1">
                <a:solidFill>
                  <a:srgbClr val="0B7A3B"/>
                </a:solidFill>
                <a:latin typeface="メイリオ"/>
                <a:ea typeface="メイリオ"/>
                <a:cs typeface="メイリオ"/>
              </a:rPr>
              <a:t>LINEで</a:t>
            </a:r>
          </a:p>
          <a:p>
            <a:pPr algn="ctr">
              <a:lnSpc>
                <a:spcPct val="110000"/>
              </a:lnSpc>
              <a:spcAft>
                <a:spcPts val="0"/>
              </a:spcAft>
            </a:pPr>
            <a:r>
              <a:rPr sz="1200" b="1">
                <a:solidFill>
                  <a:srgbClr val="0B7A3B"/>
                </a:solidFill>
                <a:latin typeface="メイリオ"/>
                <a:ea typeface="メイリオ"/>
                <a:cs typeface="メイリオ"/>
              </a:rPr>
              <a:t>ナーチャリング</a:t>
            </a:r>
          </a:p>
        </p:txBody>
      </p:sp>
      <p:sp>
        <p:nvSpPr>
          <p:cNvPr id="18" name="Chevron 17"/>
          <p:cNvSpPr/>
          <p:nvPr/>
        </p:nvSpPr>
        <p:spPr>
          <a:xfrm>
            <a:off x="7494749" y="2592000"/>
            <a:ext cx="1777500" cy="1188000"/>
          </a:xfrm>
          <a:prstGeom prst="chevron">
            <a:avLst>
              <a:gd name="adj" fmla="val 22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9" name="TextBox 18"/>
          <p:cNvSpPr txBox="1"/>
          <p:nvPr/>
        </p:nvSpPr>
        <p:spPr>
          <a:xfrm>
            <a:off x="7699499" y="3066257"/>
            <a:ext cx="1397250" cy="239484"/>
          </a:xfrm>
          <a:prstGeom prst="rect">
            <a:avLst/>
          </a:prstGeom>
          <a:noFill/>
        </p:spPr>
        <p:txBody>
          <a:bodyPr wrap="square" lIns="29250" tIns="18000" rIns="29250" bIns="18000" anchor="ctr">
            <a:spAutoFit/>
          </a:bodyPr>
          <a:lstStyle/>
          <a:p>
            <a:pPr algn="ctr">
              <a:lnSpc>
                <a:spcPct val="110000"/>
              </a:lnSpc>
              <a:spcAft>
                <a:spcPts val="0"/>
              </a:spcAft>
            </a:pPr>
            <a:r>
              <a:rPr sz="1200" b="1" dirty="0" err="1">
                <a:solidFill>
                  <a:srgbClr val="FFFFFF"/>
                </a:solidFill>
                <a:latin typeface="メイリオ"/>
                <a:ea typeface="メイリオ"/>
                <a:cs typeface="メイリオ"/>
              </a:rPr>
              <a:t>購入・契約</a:t>
            </a:r>
            <a:r>
              <a:rPr lang="ja-JP" altLang="en-US" sz="1200" b="1" dirty="0">
                <a:solidFill>
                  <a:srgbClr val="FFFFFF"/>
                </a:solidFill>
                <a:latin typeface="メイリオ"/>
                <a:ea typeface="メイリオ"/>
                <a:cs typeface="メイリオ"/>
              </a:rPr>
              <a:t>など</a:t>
            </a:r>
            <a:endParaRPr sz="1200" b="1" dirty="0">
              <a:solidFill>
                <a:srgbClr val="FFFFFF"/>
              </a:solidFill>
              <a:latin typeface="メイリオ"/>
              <a:ea typeface="メイリオ"/>
              <a:cs typeface="メイリオ"/>
            </a:endParaRPr>
          </a:p>
        </p:txBody>
      </p:sp>
      <p:sp>
        <p:nvSpPr>
          <p:cNvPr id="20" name="Rectangle 19"/>
          <p:cNvSpPr/>
          <p:nvPr/>
        </p:nvSpPr>
        <p:spPr>
          <a:xfrm>
            <a:off x="643500" y="2160000"/>
            <a:ext cx="3177102" cy="5040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21" name="TextBox 20"/>
          <p:cNvSpPr txBox="1"/>
          <p:nvPr/>
        </p:nvSpPr>
        <p:spPr>
          <a:xfrm>
            <a:off x="643500" y="1890000"/>
            <a:ext cx="2340000" cy="270000"/>
          </a:xfrm>
          <a:prstGeom prst="rect">
            <a:avLst/>
          </a:prstGeom>
          <a:noFill/>
        </p:spPr>
        <p:txBody>
          <a:bodyPr wrap="square" lIns="29250" tIns="18000" rIns="29250" bIns="18000" anchor="ctr">
            <a:spAutoFit/>
          </a:bodyPr>
          <a:lstStyle/>
          <a:p>
            <a:pPr algn="l">
              <a:lnSpc>
                <a:spcPct val="110000"/>
              </a:lnSpc>
              <a:spcAft>
                <a:spcPts val="0"/>
              </a:spcAft>
            </a:pPr>
            <a:r>
              <a:rPr sz="1050" b="1">
                <a:solidFill>
                  <a:srgbClr val="1F285A"/>
                </a:solidFill>
                <a:latin typeface="メイリオ"/>
                <a:ea typeface="メイリオ"/>
                <a:cs typeface="メイリオ"/>
              </a:rPr>
              <a:t>AD・獲得領域</a:t>
            </a:r>
          </a:p>
        </p:txBody>
      </p:sp>
      <p:sp>
        <p:nvSpPr>
          <p:cNvPr id="22" name="Rectangle 21"/>
          <p:cNvSpPr/>
          <p:nvPr/>
        </p:nvSpPr>
        <p:spPr>
          <a:xfrm>
            <a:off x="3835227" y="2160000"/>
            <a:ext cx="5437022" cy="5040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23" name="TextBox 22"/>
          <p:cNvSpPr txBox="1"/>
          <p:nvPr/>
        </p:nvSpPr>
        <p:spPr>
          <a:xfrm>
            <a:off x="3835227" y="1890000"/>
            <a:ext cx="2340000" cy="270000"/>
          </a:xfrm>
          <a:prstGeom prst="rect">
            <a:avLst/>
          </a:prstGeom>
          <a:noFill/>
        </p:spPr>
        <p:txBody>
          <a:bodyPr wrap="square" lIns="29250" tIns="18000" rIns="29250" bIns="18000" anchor="ctr">
            <a:spAutoFit/>
          </a:bodyPr>
          <a:lstStyle/>
          <a:p>
            <a:pPr algn="l">
              <a:lnSpc>
                <a:spcPct val="110000"/>
              </a:lnSpc>
              <a:spcAft>
                <a:spcPts val="0"/>
              </a:spcAft>
            </a:pPr>
            <a:r>
              <a:rPr sz="1050" b="1">
                <a:solidFill>
                  <a:srgbClr val="0B7A3B"/>
                </a:solidFill>
                <a:latin typeface="メイリオ"/>
                <a:ea typeface="メイリオ"/>
                <a:cs typeface="メイリオ"/>
              </a:rPr>
              <a:t>LINE領域</a:t>
            </a:r>
          </a:p>
        </p:txBody>
      </p:sp>
      <p:cxnSp>
        <p:nvCxnSpPr>
          <p:cNvPr id="24" name="Connector 23"/>
          <p:cNvCxnSpPr/>
          <p:nvPr/>
        </p:nvCxnSpPr>
        <p:spPr>
          <a:xfrm>
            <a:off x="3827914" y="1908000"/>
            <a:ext cx="0" cy="3348000"/>
          </a:xfrm>
          <a:prstGeom prst="line">
            <a:avLst/>
          </a:prstGeom>
          <a:ln w="15875">
            <a:solidFill>
              <a:srgbClr val="D9D9D9"/>
            </a:solidFill>
            <a:prstDash val="dash"/>
          </a:ln>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2358102" y="3996000"/>
            <a:ext cx="1404000" cy="244800"/>
          </a:xfrm>
          <a:prstGeom prst="roundRect">
            <a:avLst>
              <a:gd name="adj" fmla="val 50000"/>
            </a:avLst>
          </a:prstGeom>
          <a:solidFill>
            <a:srgbClr val="FFFF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000" b="1">
                <a:solidFill>
                  <a:srgbClr val="1F285A"/>
                </a:solidFill>
                <a:latin typeface="メイリオ"/>
                <a:ea typeface="メイリオ"/>
                <a:cs typeface="メイリオ"/>
              </a:rPr>
              <a:t>簡易診断</a:t>
            </a:r>
          </a:p>
        </p:txBody>
      </p:sp>
      <p:sp>
        <p:nvSpPr>
          <p:cNvPr id="26" name="Rounded Rectangle 25"/>
          <p:cNvSpPr/>
          <p:nvPr/>
        </p:nvSpPr>
        <p:spPr>
          <a:xfrm>
            <a:off x="2358102" y="4302000"/>
            <a:ext cx="1404000" cy="244800"/>
          </a:xfrm>
          <a:prstGeom prst="roundRect">
            <a:avLst>
              <a:gd name="adj" fmla="val 50000"/>
            </a:avLst>
          </a:prstGeom>
          <a:solidFill>
            <a:srgbClr val="FFFF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000" b="1">
                <a:solidFill>
                  <a:srgbClr val="1F285A"/>
                </a:solidFill>
                <a:latin typeface="メイリオ"/>
                <a:ea typeface="メイリオ"/>
                <a:cs typeface="メイリオ"/>
              </a:rPr>
              <a:t>チェックコンテンツ</a:t>
            </a:r>
          </a:p>
        </p:txBody>
      </p:sp>
      <p:sp>
        <p:nvSpPr>
          <p:cNvPr id="27" name="Rounded Rectangle 26"/>
          <p:cNvSpPr/>
          <p:nvPr/>
        </p:nvSpPr>
        <p:spPr>
          <a:xfrm>
            <a:off x="2358102" y="4608000"/>
            <a:ext cx="1404000" cy="244800"/>
          </a:xfrm>
          <a:prstGeom prst="roundRect">
            <a:avLst>
              <a:gd name="adj" fmla="val 50000"/>
            </a:avLst>
          </a:prstGeom>
          <a:solidFill>
            <a:srgbClr val="FFFF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000" b="1">
                <a:solidFill>
                  <a:srgbClr val="1F285A"/>
                </a:solidFill>
                <a:latin typeface="メイリオ"/>
                <a:ea typeface="メイリオ"/>
                <a:cs typeface="メイリオ"/>
              </a:rPr>
              <a:t>資料DL</a:t>
            </a:r>
          </a:p>
        </p:txBody>
      </p:sp>
      <p:sp>
        <p:nvSpPr>
          <p:cNvPr id="28" name="Rounded Rectangle 27"/>
          <p:cNvSpPr/>
          <p:nvPr/>
        </p:nvSpPr>
        <p:spPr>
          <a:xfrm>
            <a:off x="5704115" y="3996000"/>
            <a:ext cx="2351311" cy="244800"/>
          </a:xfrm>
          <a:prstGeom prst="roundRect">
            <a:avLst>
              <a:gd name="adj" fmla="val 50000"/>
            </a:avLst>
          </a:prstGeom>
          <a:solidFill>
            <a:srgbClr val="FFFFFF"/>
          </a:solidFill>
          <a:ln w="9525">
            <a:solidFill>
              <a:srgbClr val="06C755"/>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000" b="1">
                <a:solidFill>
                  <a:srgbClr val="0B7A3B"/>
                </a:solidFill>
                <a:latin typeface="メイリオ"/>
                <a:ea typeface="メイリオ"/>
                <a:cs typeface="メイリオ"/>
              </a:rPr>
              <a:t>情報提供</a:t>
            </a:r>
          </a:p>
        </p:txBody>
      </p:sp>
      <p:sp>
        <p:nvSpPr>
          <p:cNvPr id="29" name="Rounded Rectangle 28"/>
          <p:cNvSpPr/>
          <p:nvPr/>
        </p:nvSpPr>
        <p:spPr>
          <a:xfrm>
            <a:off x="5704115" y="4302000"/>
            <a:ext cx="2351311" cy="244800"/>
          </a:xfrm>
          <a:prstGeom prst="roundRect">
            <a:avLst>
              <a:gd name="adj" fmla="val 50000"/>
            </a:avLst>
          </a:prstGeom>
          <a:solidFill>
            <a:srgbClr val="FFFFFF"/>
          </a:solidFill>
          <a:ln w="9525">
            <a:solidFill>
              <a:srgbClr val="06C755"/>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000" b="1">
                <a:solidFill>
                  <a:srgbClr val="0B7A3B"/>
                </a:solidFill>
                <a:latin typeface="メイリオ"/>
                <a:ea typeface="メイリオ"/>
                <a:cs typeface="メイリオ"/>
              </a:rPr>
              <a:t>リマインド</a:t>
            </a:r>
          </a:p>
        </p:txBody>
      </p:sp>
      <p:sp>
        <p:nvSpPr>
          <p:cNvPr id="30" name="Rounded Rectangle 29"/>
          <p:cNvSpPr/>
          <p:nvPr/>
        </p:nvSpPr>
        <p:spPr>
          <a:xfrm>
            <a:off x="5704115" y="4608000"/>
            <a:ext cx="2351311" cy="244800"/>
          </a:xfrm>
          <a:prstGeom prst="roundRect">
            <a:avLst>
              <a:gd name="adj" fmla="val 50000"/>
            </a:avLst>
          </a:prstGeom>
          <a:solidFill>
            <a:srgbClr val="FFFFFF"/>
          </a:solidFill>
          <a:ln w="9525">
            <a:solidFill>
              <a:srgbClr val="06C755"/>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000" b="1">
                <a:solidFill>
                  <a:srgbClr val="0B7A3B"/>
                </a:solidFill>
                <a:latin typeface="メイリオ"/>
                <a:ea typeface="メイリオ"/>
                <a:cs typeface="メイリオ"/>
              </a:rPr>
              <a:t>セグメント配信</a:t>
            </a:r>
          </a:p>
        </p:txBody>
      </p:sp>
      <p:sp>
        <p:nvSpPr>
          <p:cNvPr id="31" name="Rounded Rectangle 30"/>
          <p:cNvSpPr/>
          <p:nvPr/>
        </p:nvSpPr>
        <p:spPr>
          <a:xfrm>
            <a:off x="5704115" y="4913999"/>
            <a:ext cx="2351311" cy="244800"/>
          </a:xfrm>
          <a:prstGeom prst="roundRect">
            <a:avLst>
              <a:gd name="adj" fmla="val 50000"/>
            </a:avLst>
          </a:prstGeom>
          <a:solidFill>
            <a:srgbClr val="FFFFFF"/>
          </a:solidFill>
          <a:ln w="9525">
            <a:solidFill>
              <a:srgbClr val="06C755"/>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000" b="1">
                <a:solidFill>
                  <a:srgbClr val="0B7A3B"/>
                </a:solidFill>
                <a:latin typeface="メイリオ"/>
                <a:ea typeface="メイリオ"/>
                <a:cs typeface="メイリオ"/>
              </a:rPr>
              <a:t>個別フォロー</a:t>
            </a:r>
          </a:p>
        </p:txBody>
      </p:sp>
      <p:sp>
        <p:nvSpPr>
          <p:cNvPr id="32" name="TextBox 31"/>
          <p:cNvSpPr txBox="1"/>
          <p:nvPr/>
        </p:nvSpPr>
        <p:spPr>
          <a:xfrm>
            <a:off x="643500" y="5578981"/>
            <a:ext cx="8628750" cy="578038"/>
          </a:xfrm>
          <a:prstGeom prst="rect">
            <a:avLst/>
          </a:prstGeom>
          <a:noFill/>
        </p:spPr>
        <p:txBody>
          <a:bodyPr wrap="square" lIns="29250" tIns="18000" rIns="29250" bIns="18000" anchor="ctr">
            <a:spAutoFit/>
          </a:bodyPr>
          <a:lstStyle/>
          <a:p>
            <a:pPr algn="ctr">
              <a:lnSpc>
                <a:spcPct val="110000"/>
              </a:lnSpc>
              <a:spcAft>
                <a:spcPts val="0"/>
              </a:spcAft>
            </a:pPr>
            <a:r>
              <a:rPr lang="ja-JP" altLang="en-US" sz="1600" b="1" dirty="0">
                <a:solidFill>
                  <a:srgbClr val="1F285A"/>
                </a:solidFill>
                <a:latin typeface="メイリオ"/>
                <a:ea typeface="メイリオ"/>
                <a:cs typeface="メイリオ"/>
              </a:rPr>
              <a:t>ハードルが低い</a:t>
            </a:r>
            <a:r>
              <a:rPr lang="en-US" altLang="ja-JP" sz="1600" b="1" dirty="0">
                <a:solidFill>
                  <a:srgbClr val="1F285A"/>
                </a:solidFill>
                <a:latin typeface="メイリオ"/>
                <a:ea typeface="メイリオ"/>
                <a:cs typeface="メイリオ"/>
              </a:rPr>
              <a:t>CV</a:t>
            </a:r>
            <a:r>
              <a:rPr lang="ja-JP" altLang="en-US" sz="1600" b="1" dirty="0">
                <a:solidFill>
                  <a:srgbClr val="1F285A"/>
                </a:solidFill>
                <a:latin typeface="メイリオ"/>
                <a:ea typeface="メイリオ"/>
                <a:cs typeface="メイリオ"/>
              </a:rPr>
              <a:t>を獲得するため該当のページ制作から、</a:t>
            </a:r>
            <a:endParaRPr lang="en-US" altLang="ja-JP" sz="1600" b="1" dirty="0">
              <a:solidFill>
                <a:srgbClr val="1F285A"/>
              </a:solidFill>
              <a:latin typeface="メイリオ"/>
              <a:ea typeface="メイリオ"/>
              <a:cs typeface="メイリオ"/>
            </a:endParaRPr>
          </a:p>
          <a:p>
            <a:pPr algn="ctr">
              <a:lnSpc>
                <a:spcPct val="110000"/>
              </a:lnSpc>
              <a:spcAft>
                <a:spcPts val="0"/>
              </a:spcAft>
            </a:pPr>
            <a:r>
              <a:rPr lang="ja-JP" altLang="en-US" sz="1600" b="1" dirty="0">
                <a:solidFill>
                  <a:srgbClr val="1F285A"/>
                </a:solidFill>
                <a:latin typeface="メイリオ"/>
                <a:ea typeface="メイリオ"/>
                <a:cs typeface="メイリオ"/>
              </a:rPr>
              <a:t>サンクス</a:t>
            </a:r>
            <a:r>
              <a:rPr lang="en-US" altLang="ja-JP" sz="1600" b="1" dirty="0">
                <a:solidFill>
                  <a:srgbClr val="1F285A"/>
                </a:solidFill>
                <a:latin typeface="メイリオ"/>
                <a:ea typeface="メイリオ"/>
                <a:cs typeface="メイリオ"/>
              </a:rPr>
              <a:t>LINE</a:t>
            </a:r>
            <a:r>
              <a:rPr lang="ja-JP" altLang="en-US" sz="1600" b="1" dirty="0">
                <a:solidFill>
                  <a:srgbClr val="1F285A"/>
                </a:solidFill>
                <a:latin typeface="メイリオ"/>
                <a:ea typeface="メイリオ"/>
                <a:cs typeface="メイリオ"/>
              </a:rPr>
              <a:t>誘導・ナーチャリングを一気通貫で対応可能</a:t>
            </a:r>
            <a:endParaRPr sz="1600" b="1" dirty="0">
              <a:solidFill>
                <a:srgbClr val="1F285A"/>
              </a:solidFill>
              <a:latin typeface="メイリオ"/>
              <a:ea typeface="メイリオ"/>
              <a:cs typeface="メイリオ"/>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前後検索データを活用したステップ配信設計</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lang="ja-JP" altLang="en-US" sz="1600" dirty="0">
                <a:solidFill>
                  <a:srgbClr val="333333"/>
                </a:solidFill>
                <a:latin typeface="メイリオ"/>
                <a:ea typeface="メイリオ"/>
                <a:cs typeface="メイリオ"/>
              </a:rPr>
              <a:t>友だち追加直後で</a:t>
            </a:r>
            <a:r>
              <a:rPr sz="1600" dirty="0" err="1">
                <a:solidFill>
                  <a:srgbClr val="333333"/>
                </a:solidFill>
                <a:latin typeface="メイリオ"/>
                <a:ea typeface="メイリオ"/>
                <a:cs typeface="メイリオ"/>
              </a:rPr>
              <a:t>アクション</a:t>
            </a:r>
            <a:r>
              <a:rPr lang="ja-JP" altLang="en-US" sz="1600" dirty="0">
                <a:solidFill>
                  <a:srgbClr val="333333"/>
                </a:solidFill>
                <a:latin typeface="メイリオ"/>
                <a:ea typeface="メイリオ"/>
                <a:cs typeface="メイリオ"/>
              </a:rPr>
              <a:t>率が高い時に</a:t>
            </a:r>
            <a:r>
              <a:rPr sz="1600" dirty="0">
                <a:solidFill>
                  <a:srgbClr val="333333"/>
                </a:solidFill>
                <a:latin typeface="メイリオ"/>
                <a:ea typeface="メイリオ"/>
                <a:cs typeface="メイリオ"/>
              </a:rPr>
              <a:t>、</a:t>
            </a:r>
            <a:r>
              <a:rPr sz="1600" dirty="0" err="1">
                <a:solidFill>
                  <a:srgbClr val="333333"/>
                </a:solidFill>
                <a:latin typeface="メイリオ"/>
                <a:ea typeface="メイリオ"/>
                <a:cs typeface="メイリオ"/>
              </a:rPr>
              <a:t>ユーザーの検討行動に合わせた配信を設計</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614812" y="1620000"/>
            <a:ext cx="306000" cy="306000"/>
          </a:xfrm>
          <a:prstGeom prst="ellips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850" b="1">
                <a:solidFill>
                  <a:srgbClr val="FFFFFF"/>
                </a:solidFill>
                <a:latin typeface="メイリオ"/>
                <a:ea typeface="メイリオ"/>
                <a:cs typeface="メイリオ"/>
              </a:rPr>
              <a:t>1</a:t>
            </a:r>
          </a:p>
        </p:txBody>
      </p:sp>
      <p:sp>
        <p:nvSpPr>
          <p:cNvPr id="8" name="TextBox 7"/>
          <p:cNvSpPr txBox="1"/>
          <p:nvPr/>
        </p:nvSpPr>
        <p:spPr>
          <a:xfrm>
            <a:off x="784525" y="1842343"/>
            <a:ext cx="2515500" cy="510327"/>
          </a:xfrm>
          <a:prstGeom prst="rect">
            <a:avLst/>
          </a:prstGeom>
          <a:noFill/>
        </p:spPr>
        <p:txBody>
          <a:bodyPr wrap="square" lIns="29250" tIns="18000" rIns="29250" bIns="18000" anchor="ctr">
            <a:spAutoFit/>
          </a:bodyPr>
          <a:lstStyle/>
          <a:p>
            <a:pPr algn="l">
              <a:lnSpc>
                <a:spcPct val="110000"/>
              </a:lnSpc>
              <a:spcAft>
                <a:spcPts val="0"/>
              </a:spcAft>
            </a:pPr>
            <a:r>
              <a:rPr lang="ja-JP" altLang="en-US" sz="1400" b="1" dirty="0">
                <a:solidFill>
                  <a:srgbClr val="1F285A"/>
                </a:solidFill>
                <a:latin typeface="メイリオ"/>
                <a:ea typeface="メイリオ"/>
                <a:cs typeface="メイリオ"/>
              </a:rPr>
              <a:t>前後検</a:t>
            </a:r>
            <a:r>
              <a:rPr sz="1400" b="1" dirty="0">
                <a:solidFill>
                  <a:srgbClr val="1F285A"/>
                </a:solidFill>
                <a:latin typeface="メイリオ"/>
                <a:ea typeface="メイリオ"/>
                <a:cs typeface="メイリオ"/>
              </a:rPr>
              <a:t>索</a:t>
            </a:r>
            <a:r>
              <a:rPr lang="ja-JP" altLang="en-US" sz="1400" b="1" dirty="0">
                <a:solidFill>
                  <a:srgbClr val="1F285A"/>
                </a:solidFill>
                <a:latin typeface="メイリオ"/>
                <a:ea typeface="メイリオ"/>
                <a:cs typeface="メイリオ"/>
              </a:rPr>
              <a:t>（</a:t>
            </a:r>
            <a:r>
              <a:rPr lang="en-US" altLang="ja-JP" sz="1400" b="1" dirty="0">
                <a:solidFill>
                  <a:srgbClr val="1F285A"/>
                </a:solidFill>
                <a:latin typeface="メイリオ"/>
                <a:ea typeface="メイリオ"/>
                <a:cs typeface="メイリオ"/>
              </a:rPr>
              <a:t>LY</a:t>
            </a:r>
            <a:r>
              <a:rPr lang="ja-JP" altLang="en-US" sz="1400" b="1" dirty="0">
                <a:solidFill>
                  <a:srgbClr val="1F285A"/>
                </a:solidFill>
                <a:latin typeface="メイリオ"/>
                <a:ea typeface="メイリオ"/>
                <a:cs typeface="メイリオ"/>
              </a:rPr>
              <a:t>生データ）</a:t>
            </a:r>
            <a:endParaRPr lang="en-US" sz="1400" b="1" dirty="0">
              <a:solidFill>
                <a:srgbClr val="1F285A"/>
              </a:solidFill>
              <a:latin typeface="メイリオ"/>
              <a:ea typeface="メイリオ"/>
              <a:cs typeface="メイリオ"/>
            </a:endParaRPr>
          </a:p>
          <a:p>
            <a:pPr algn="l">
              <a:lnSpc>
                <a:spcPct val="110000"/>
              </a:lnSpc>
              <a:spcAft>
                <a:spcPts val="0"/>
              </a:spcAft>
            </a:pPr>
            <a:r>
              <a:rPr lang="ja-JP" altLang="en-US" sz="1400" b="1" dirty="0">
                <a:solidFill>
                  <a:srgbClr val="1F285A"/>
                </a:solidFill>
                <a:latin typeface="メイリオ"/>
                <a:ea typeface="メイリオ"/>
                <a:cs typeface="メイリオ"/>
              </a:rPr>
              <a:t>⇒ユーザーの</a:t>
            </a:r>
            <a:r>
              <a:rPr sz="1400" b="1" dirty="0" err="1">
                <a:solidFill>
                  <a:srgbClr val="1F285A"/>
                </a:solidFill>
                <a:latin typeface="メイリオ"/>
                <a:ea typeface="メイリオ"/>
                <a:cs typeface="メイリオ"/>
              </a:rPr>
              <a:t>ニーズを把握</a:t>
            </a:r>
            <a:endParaRPr sz="1400" b="1" dirty="0">
              <a:solidFill>
                <a:srgbClr val="1F285A"/>
              </a:solidFill>
              <a:latin typeface="メイリオ"/>
              <a:ea typeface="メイリオ"/>
              <a:cs typeface="メイリオ"/>
            </a:endParaRPr>
          </a:p>
        </p:txBody>
      </p:sp>
      <p:cxnSp>
        <p:nvCxnSpPr>
          <p:cNvPr id="9" name="Connector 8"/>
          <p:cNvCxnSpPr/>
          <p:nvPr/>
        </p:nvCxnSpPr>
        <p:spPr>
          <a:xfrm>
            <a:off x="643500" y="2443339"/>
            <a:ext cx="2515500" cy="0"/>
          </a:xfrm>
          <a:prstGeom prst="line">
            <a:avLst/>
          </a:prstGeom>
          <a:ln w="19050">
            <a:solidFill>
              <a:srgbClr val="1F285A"/>
            </a:solidFill>
          </a:ln>
        </p:spPr>
        <p:style>
          <a:lnRef idx="2">
            <a:schemeClr val="accent1"/>
          </a:lnRef>
          <a:fillRef idx="0">
            <a:schemeClr val="accent1"/>
          </a:fillRef>
          <a:effectRef idx="0">
            <a:schemeClr val="accent1"/>
          </a:effectRef>
          <a:fontRef idx="minor">
            <a:schemeClr val="tx1"/>
          </a:fontRef>
        </p:style>
      </p:cxnSp>
      <p:sp>
        <p:nvSpPr>
          <p:cNvPr id="10" name="Oval 9"/>
          <p:cNvSpPr/>
          <p:nvPr/>
        </p:nvSpPr>
        <p:spPr>
          <a:xfrm>
            <a:off x="3452062" y="1620000"/>
            <a:ext cx="306000" cy="306000"/>
          </a:xfrm>
          <a:prstGeom prst="ellips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850" b="1">
                <a:solidFill>
                  <a:srgbClr val="FFFFFF"/>
                </a:solidFill>
                <a:latin typeface="メイリオ"/>
                <a:ea typeface="メイリオ"/>
                <a:cs typeface="メイリオ"/>
              </a:rPr>
              <a:t>2</a:t>
            </a:r>
          </a:p>
        </p:txBody>
      </p:sp>
      <p:sp>
        <p:nvSpPr>
          <p:cNvPr id="12" name="TextBox 11"/>
          <p:cNvSpPr txBox="1"/>
          <p:nvPr/>
        </p:nvSpPr>
        <p:spPr>
          <a:xfrm>
            <a:off x="3480750" y="1987330"/>
            <a:ext cx="2515500" cy="273340"/>
          </a:xfrm>
          <a:prstGeom prst="rect">
            <a:avLst/>
          </a:prstGeom>
          <a:noFill/>
        </p:spPr>
        <p:txBody>
          <a:bodyPr wrap="square" lIns="29250" tIns="18000" rIns="29250" bIns="18000" anchor="ctr">
            <a:spAutoFit/>
          </a:bodyPr>
          <a:lstStyle/>
          <a:p>
            <a:pPr algn="l">
              <a:lnSpc>
                <a:spcPct val="110000"/>
              </a:lnSpc>
              <a:spcAft>
                <a:spcPts val="0"/>
              </a:spcAft>
            </a:pPr>
            <a:r>
              <a:rPr sz="1400" b="1">
                <a:solidFill>
                  <a:srgbClr val="1F285A"/>
                </a:solidFill>
                <a:latin typeface="メイリオ"/>
                <a:ea typeface="メイリオ"/>
                <a:cs typeface="メイリオ"/>
              </a:rPr>
              <a:t>配信内容・順番を設計</a:t>
            </a:r>
          </a:p>
        </p:txBody>
      </p:sp>
      <p:cxnSp>
        <p:nvCxnSpPr>
          <p:cNvPr id="13" name="Connector 12"/>
          <p:cNvCxnSpPr/>
          <p:nvPr/>
        </p:nvCxnSpPr>
        <p:spPr>
          <a:xfrm>
            <a:off x="3480750" y="2443339"/>
            <a:ext cx="2515500" cy="0"/>
          </a:xfrm>
          <a:prstGeom prst="line">
            <a:avLst/>
          </a:prstGeom>
          <a:ln w="19050">
            <a:solidFill>
              <a:srgbClr val="1F285A"/>
            </a:solidFill>
          </a:ln>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6289312" y="1620000"/>
            <a:ext cx="306000" cy="306000"/>
          </a:xfrm>
          <a:prstGeom prst="ellipse">
            <a:avLst/>
          </a:prstGeom>
          <a:solidFill>
            <a:srgbClr val="0B7A3B"/>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lstStyle/>
          <a:p>
            <a:pPr algn="ctr">
              <a:lnSpc>
                <a:spcPct val="110000"/>
              </a:lnSpc>
              <a:spcAft>
                <a:spcPts val="0"/>
              </a:spcAft>
            </a:pPr>
            <a:r>
              <a:rPr sz="850" b="1">
                <a:solidFill>
                  <a:srgbClr val="FFFFFF"/>
                </a:solidFill>
                <a:latin typeface="メイリオ"/>
                <a:ea typeface="メイリオ"/>
                <a:cs typeface="メイリオ"/>
              </a:rPr>
              <a:t>3</a:t>
            </a:r>
          </a:p>
        </p:txBody>
      </p:sp>
      <p:sp>
        <p:nvSpPr>
          <p:cNvPr id="16" name="TextBox 15"/>
          <p:cNvSpPr txBox="1"/>
          <p:nvPr/>
        </p:nvSpPr>
        <p:spPr>
          <a:xfrm>
            <a:off x="6317999" y="1987330"/>
            <a:ext cx="2954250" cy="273340"/>
          </a:xfrm>
          <a:prstGeom prst="rect">
            <a:avLst/>
          </a:prstGeom>
          <a:noFill/>
        </p:spPr>
        <p:txBody>
          <a:bodyPr wrap="square" lIns="29250" tIns="18000" rIns="29250" bIns="18000" anchor="ctr">
            <a:spAutoFit/>
          </a:bodyPr>
          <a:lstStyle/>
          <a:p>
            <a:pPr algn="l">
              <a:lnSpc>
                <a:spcPct val="110000"/>
              </a:lnSpc>
              <a:spcAft>
                <a:spcPts val="0"/>
              </a:spcAft>
            </a:pPr>
            <a:r>
              <a:rPr lang="ja-JP" altLang="en-US" sz="1400" b="1" dirty="0">
                <a:solidFill>
                  <a:srgbClr val="1F285A"/>
                </a:solidFill>
                <a:latin typeface="メイリオ"/>
                <a:ea typeface="メイリオ"/>
                <a:cs typeface="メイリオ"/>
              </a:rPr>
              <a:t>追加直後で</a:t>
            </a:r>
            <a:r>
              <a:rPr sz="1400" b="1" dirty="0" err="1">
                <a:solidFill>
                  <a:srgbClr val="1F285A"/>
                </a:solidFill>
                <a:latin typeface="メイリオ"/>
                <a:ea typeface="メイリオ"/>
                <a:cs typeface="メイリオ"/>
              </a:rPr>
              <a:t>アクション</a:t>
            </a:r>
            <a:r>
              <a:rPr lang="ja-JP" altLang="en-US" sz="1400" b="1" dirty="0">
                <a:solidFill>
                  <a:srgbClr val="1F285A"/>
                </a:solidFill>
                <a:latin typeface="メイリオ"/>
                <a:ea typeface="メイリオ"/>
                <a:cs typeface="メイリオ"/>
              </a:rPr>
              <a:t>が起きやすい</a:t>
            </a:r>
            <a:endParaRPr sz="1400" b="1" dirty="0">
              <a:solidFill>
                <a:srgbClr val="1F285A"/>
              </a:solidFill>
              <a:latin typeface="メイリオ"/>
              <a:ea typeface="メイリオ"/>
              <a:cs typeface="メイリオ"/>
            </a:endParaRPr>
          </a:p>
        </p:txBody>
      </p:sp>
      <p:cxnSp>
        <p:nvCxnSpPr>
          <p:cNvPr id="17" name="Connector 16"/>
          <p:cNvCxnSpPr/>
          <p:nvPr/>
        </p:nvCxnSpPr>
        <p:spPr>
          <a:xfrm>
            <a:off x="6317999" y="2443339"/>
            <a:ext cx="2954251" cy="0"/>
          </a:xfrm>
          <a:prstGeom prst="line">
            <a:avLst/>
          </a:prstGeom>
          <a:ln w="19050">
            <a:solidFill>
              <a:srgbClr val="0B7A3B"/>
            </a:solidFill>
          </a:ln>
        </p:spPr>
        <p:style>
          <a:lnRef idx="2">
            <a:schemeClr val="accent1"/>
          </a:lnRef>
          <a:fillRef idx="0">
            <a:schemeClr val="accent1"/>
          </a:fillRef>
          <a:effectRef idx="0">
            <a:schemeClr val="accent1"/>
          </a:effectRef>
          <a:fontRef idx="minor">
            <a:schemeClr val="tx1"/>
          </a:fontRef>
        </p:style>
      </p:cxnSp>
      <p:sp>
        <p:nvSpPr>
          <p:cNvPr id="18" name="Right Arrow 17"/>
          <p:cNvSpPr/>
          <p:nvPr/>
        </p:nvSpPr>
        <p:spPr>
          <a:xfrm>
            <a:off x="3202875" y="3595339"/>
            <a:ext cx="234000" cy="468000"/>
          </a:xfrm>
          <a:prstGeom prst="rightArrow">
            <a:avLst>
              <a:gd name="adj1" fmla="val 45000"/>
              <a:gd name="adj2" fmla="val 5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9" name="Right Arrow 18"/>
          <p:cNvSpPr/>
          <p:nvPr/>
        </p:nvSpPr>
        <p:spPr>
          <a:xfrm>
            <a:off x="6040124" y="3595339"/>
            <a:ext cx="234000" cy="468000"/>
          </a:xfrm>
          <a:prstGeom prst="rightArrow">
            <a:avLst>
              <a:gd name="adj1" fmla="val 45000"/>
              <a:gd name="adj2" fmla="val 5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cxnSp>
        <p:nvCxnSpPr>
          <p:cNvPr id="20" name="Connector 19"/>
          <p:cNvCxnSpPr/>
          <p:nvPr/>
        </p:nvCxnSpPr>
        <p:spPr>
          <a:xfrm>
            <a:off x="848250" y="4171339"/>
            <a:ext cx="2281500" cy="0"/>
          </a:xfrm>
          <a:prstGeom prst="line">
            <a:avLst/>
          </a:prstGeom>
          <a:ln w="9525">
            <a:solidFill>
              <a:srgbClr val="7F7F7F"/>
            </a:solidFill>
          </a:ln>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848250" y="2659339"/>
            <a:ext cx="0" cy="1512000"/>
          </a:xfrm>
          <a:prstGeom prst="line">
            <a:avLst/>
          </a:prstGeom>
          <a:ln w="9525">
            <a:solidFill>
              <a:srgbClr val="7F7F7F"/>
            </a:solidFill>
          </a:ln>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1989000" y="2659339"/>
            <a:ext cx="0" cy="1512000"/>
          </a:xfrm>
          <a:prstGeom prst="line">
            <a:avLst/>
          </a:prstGeom>
          <a:ln w="9525">
            <a:solidFill>
              <a:srgbClr val="7F7F7F"/>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614250" y="2839339"/>
            <a:ext cx="234000" cy="180000"/>
          </a:xfrm>
          <a:prstGeom prst="rect">
            <a:avLst/>
          </a:prstGeom>
          <a:noFill/>
        </p:spPr>
        <p:txBody>
          <a:bodyPr wrap="square" lIns="29250" tIns="18000" rIns="29250" bIns="18000" anchor="t">
            <a:spAutoFit/>
          </a:bodyPr>
          <a:lstStyle/>
          <a:p>
            <a:pPr algn="ctr">
              <a:lnSpc>
                <a:spcPct val="110000"/>
              </a:lnSpc>
              <a:spcAft>
                <a:spcPts val="0"/>
              </a:spcAft>
            </a:pPr>
            <a:r>
              <a:rPr sz="700" b="0">
                <a:solidFill>
                  <a:srgbClr val="7F7F7F"/>
                </a:solidFill>
                <a:latin typeface="メイリオ"/>
                <a:ea typeface="メイリオ"/>
                <a:cs typeface="メイリオ"/>
              </a:rPr>
              <a:t>UU</a:t>
            </a:r>
          </a:p>
        </p:txBody>
      </p:sp>
      <p:sp>
        <p:nvSpPr>
          <p:cNvPr id="24" name="TextBox 23"/>
          <p:cNvSpPr txBox="1"/>
          <p:nvPr/>
        </p:nvSpPr>
        <p:spPr>
          <a:xfrm>
            <a:off x="680856" y="4178539"/>
            <a:ext cx="334788" cy="171773"/>
          </a:xfrm>
          <a:prstGeom prst="rect">
            <a:avLst/>
          </a:prstGeom>
          <a:noFill/>
        </p:spPr>
        <p:txBody>
          <a:bodyPr wrap="none" lIns="29250" tIns="18000" rIns="29250" bIns="18000" anchor="t">
            <a:spAutoFit/>
          </a:bodyPr>
          <a:lstStyle/>
          <a:p>
            <a:pPr algn="ctr">
              <a:lnSpc>
                <a:spcPct val="110000"/>
              </a:lnSpc>
              <a:spcAft>
                <a:spcPts val="0"/>
              </a:spcAft>
            </a:pPr>
            <a:r>
              <a:rPr sz="800" b="0">
                <a:solidFill>
                  <a:srgbClr val="7F7F7F"/>
                </a:solidFill>
                <a:latin typeface="メイリオ"/>
                <a:ea typeface="メイリオ"/>
                <a:cs typeface="メイリオ"/>
              </a:rPr>
              <a:t>-15日</a:t>
            </a:r>
          </a:p>
        </p:txBody>
      </p:sp>
      <p:sp>
        <p:nvSpPr>
          <p:cNvPr id="25" name="TextBox 24"/>
          <p:cNvSpPr txBox="1"/>
          <p:nvPr/>
        </p:nvSpPr>
        <p:spPr>
          <a:xfrm>
            <a:off x="1100771" y="4178539"/>
            <a:ext cx="270669" cy="171773"/>
          </a:xfrm>
          <a:prstGeom prst="rect">
            <a:avLst/>
          </a:prstGeom>
          <a:noFill/>
        </p:spPr>
        <p:txBody>
          <a:bodyPr wrap="none" lIns="29250" tIns="18000" rIns="29250" bIns="18000" anchor="t">
            <a:spAutoFit/>
          </a:bodyPr>
          <a:lstStyle/>
          <a:p>
            <a:pPr algn="ctr">
              <a:lnSpc>
                <a:spcPct val="110000"/>
              </a:lnSpc>
              <a:spcAft>
                <a:spcPts val="0"/>
              </a:spcAft>
            </a:pPr>
            <a:r>
              <a:rPr sz="800" b="0">
                <a:solidFill>
                  <a:srgbClr val="7F7F7F"/>
                </a:solidFill>
                <a:latin typeface="メイリオ"/>
                <a:ea typeface="メイリオ"/>
                <a:cs typeface="メイリオ"/>
              </a:rPr>
              <a:t>-7日</a:t>
            </a:r>
          </a:p>
        </p:txBody>
      </p:sp>
      <p:sp>
        <p:nvSpPr>
          <p:cNvPr id="26" name="TextBox 25"/>
          <p:cNvSpPr txBox="1"/>
          <p:nvPr/>
        </p:nvSpPr>
        <p:spPr>
          <a:xfrm>
            <a:off x="1465811" y="4178539"/>
            <a:ext cx="270669" cy="171773"/>
          </a:xfrm>
          <a:prstGeom prst="rect">
            <a:avLst/>
          </a:prstGeom>
          <a:noFill/>
        </p:spPr>
        <p:txBody>
          <a:bodyPr wrap="none" lIns="29250" tIns="18000" rIns="29250" bIns="18000" anchor="t">
            <a:spAutoFit/>
          </a:bodyPr>
          <a:lstStyle/>
          <a:p>
            <a:pPr algn="ctr">
              <a:lnSpc>
                <a:spcPct val="110000"/>
              </a:lnSpc>
              <a:spcAft>
                <a:spcPts val="0"/>
              </a:spcAft>
            </a:pPr>
            <a:r>
              <a:rPr sz="800" b="0">
                <a:solidFill>
                  <a:srgbClr val="7F7F7F"/>
                </a:solidFill>
                <a:latin typeface="メイリオ"/>
                <a:ea typeface="メイリオ"/>
                <a:cs typeface="メイリオ"/>
              </a:rPr>
              <a:t>-3日</a:t>
            </a:r>
          </a:p>
        </p:txBody>
      </p:sp>
      <p:sp>
        <p:nvSpPr>
          <p:cNvPr id="27" name="TextBox 26"/>
          <p:cNvSpPr txBox="1"/>
          <p:nvPr/>
        </p:nvSpPr>
        <p:spPr>
          <a:xfrm>
            <a:off x="1709396" y="4178539"/>
            <a:ext cx="559209" cy="307195"/>
          </a:xfrm>
          <a:prstGeom prst="rect">
            <a:avLst/>
          </a:prstGeom>
          <a:noFill/>
        </p:spPr>
        <p:txBody>
          <a:bodyPr wrap="none" lIns="29250" tIns="18000" rIns="29250" bIns="18000" anchor="t">
            <a:spAutoFit/>
          </a:bodyPr>
          <a:lstStyle/>
          <a:p>
            <a:pPr algn="ctr">
              <a:lnSpc>
                <a:spcPct val="110000"/>
              </a:lnSpc>
              <a:spcAft>
                <a:spcPts val="0"/>
              </a:spcAft>
            </a:pPr>
            <a:r>
              <a:rPr sz="800" b="0">
                <a:solidFill>
                  <a:srgbClr val="7F7F7F"/>
                </a:solidFill>
                <a:latin typeface="メイリオ"/>
                <a:ea typeface="メイリオ"/>
                <a:cs typeface="メイリオ"/>
              </a:rPr>
              <a:t>0日</a:t>
            </a:r>
          </a:p>
          <a:p>
            <a:pPr algn="ctr">
              <a:lnSpc>
                <a:spcPct val="110000"/>
              </a:lnSpc>
              <a:spcAft>
                <a:spcPts val="0"/>
              </a:spcAft>
            </a:pPr>
            <a:r>
              <a:rPr sz="800" b="0">
                <a:solidFill>
                  <a:srgbClr val="7F7F7F"/>
                </a:solidFill>
                <a:latin typeface="メイリオ"/>
                <a:ea typeface="メイリオ"/>
                <a:cs typeface="メイリオ"/>
              </a:rPr>
              <a:t>(検索起点)</a:t>
            </a:r>
          </a:p>
        </p:txBody>
      </p:sp>
      <p:sp>
        <p:nvSpPr>
          <p:cNvPr id="28" name="TextBox 27"/>
          <p:cNvSpPr txBox="1"/>
          <p:nvPr/>
        </p:nvSpPr>
        <p:spPr>
          <a:xfrm>
            <a:off x="2263963" y="4178539"/>
            <a:ext cx="225784" cy="171773"/>
          </a:xfrm>
          <a:prstGeom prst="rect">
            <a:avLst/>
          </a:prstGeom>
          <a:noFill/>
        </p:spPr>
        <p:txBody>
          <a:bodyPr wrap="none" lIns="29250" tIns="18000" rIns="29250" bIns="18000" anchor="t">
            <a:spAutoFit/>
          </a:bodyPr>
          <a:lstStyle/>
          <a:p>
            <a:pPr algn="ctr">
              <a:lnSpc>
                <a:spcPct val="110000"/>
              </a:lnSpc>
              <a:spcAft>
                <a:spcPts val="0"/>
              </a:spcAft>
            </a:pPr>
            <a:r>
              <a:rPr sz="800" b="0">
                <a:solidFill>
                  <a:srgbClr val="7F7F7F"/>
                </a:solidFill>
                <a:latin typeface="メイリオ"/>
                <a:ea typeface="メイリオ"/>
                <a:cs typeface="メイリオ"/>
              </a:rPr>
              <a:t>3日</a:t>
            </a:r>
          </a:p>
        </p:txBody>
      </p:sp>
      <p:sp>
        <p:nvSpPr>
          <p:cNvPr id="29" name="TextBox 28"/>
          <p:cNvSpPr txBox="1"/>
          <p:nvPr/>
        </p:nvSpPr>
        <p:spPr>
          <a:xfrm>
            <a:off x="2629003" y="4178539"/>
            <a:ext cx="225784" cy="171773"/>
          </a:xfrm>
          <a:prstGeom prst="rect">
            <a:avLst/>
          </a:prstGeom>
          <a:noFill/>
        </p:spPr>
        <p:txBody>
          <a:bodyPr wrap="none" lIns="29250" tIns="18000" rIns="29250" bIns="18000" anchor="t">
            <a:spAutoFit/>
          </a:bodyPr>
          <a:lstStyle/>
          <a:p>
            <a:pPr algn="ctr">
              <a:lnSpc>
                <a:spcPct val="110000"/>
              </a:lnSpc>
              <a:spcAft>
                <a:spcPts val="0"/>
              </a:spcAft>
            </a:pPr>
            <a:r>
              <a:rPr sz="800" b="0">
                <a:solidFill>
                  <a:srgbClr val="7F7F7F"/>
                </a:solidFill>
                <a:latin typeface="メイリオ"/>
                <a:ea typeface="メイリオ"/>
                <a:cs typeface="メイリオ"/>
              </a:rPr>
              <a:t>7日</a:t>
            </a:r>
          </a:p>
        </p:txBody>
      </p:sp>
      <p:sp>
        <p:nvSpPr>
          <p:cNvPr id="30" name="TextBox 29"/>
          <p:cNvSpPr txBox="1"/>
          <p:nvPr/>
        </p:nvSpPr>
        <p:spPr>
          <a:xfrm>
            <a:off x="2984798" y="4178539"/>
            <a:ext cx="289904" cy="171773"/>
          </a:xfrm>
          <a:prstGeom prst="rect">
            <a:avLst/>
          </a:prstGeom>
          <a:noFill/>
        </p:spPr>
        <p:txBody>
          <a:bodyPr wrap="none" lIns="29250" tIns="18000" rIns="29250" bIns="18000" anchor="t">
            <a:spAutoFit/>
          </a:bodyPr>
          <a:lstStyle/>
          <a:p>
            <a:pPr algn="ctr">
              <a:lnSpc>
                <a:spcPct val="110000"/>
              </a:lnSpc>
              <a:spcAft>
                <a:spcPts val="0"/>
              </a:spcAft>
            </a:pPr>
            <a:r>
              <a:rPr sz="800" b="0">
                <a:solidFill>
                  <a:srgbClr val="7F7F7F"/>
                </a:solidFill>
                <a:latin typeface="メイリオ"/>
                <a:ea typeface="メイリオ"/>
                <a:cs typeface="メイリオ"/>
              </a:rPr>
              <a:t>15日</a:t>
            </a:r>
          </a:p>
        </p:txBody>
      </p:sp>
      <p:sp>
        <p:nvSpPr>
          <p:cNvPr id="31" name="Oval 30"/>
          <p:cNvSpPr/>
          <p:nvPr/>
        </p:nvSpPr>
        <p:spPr>
          <a:xfrm>
            <a:off x="2174974" y="274483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32" name="Rounded Rectangle 31"/>
          <p:cNvSpPr/>
          <p:nvPr/>
        </p:nvSpPr>
        <p:spPr>
          <a:xfrm>
            <a:off x="2235274" y="2744831"/>
            <a:ext cx="218467"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33" name="Oval 32"/>
          <p:cNvSpPr/>
          <p:nvPr/>
        </p:nvSpPr>
        <p:spPr>
          <a:xfrm>
            <a:off x="1973582" y="2800767"/>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34" name="Oval 33"/>
          <p:cNvSpPr/>
          <p:nvPr/>
        </p:nvSpPr>
        <p:spPr>
          <a:xfrm>
            <a:off x="2335968" y="3048646"/>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35" name="Oval 34"/>
          <p:cNvSpPr/>
          <p:nvPr/>
        </p:nvSpPr>
        <p:spPr>
          <a:xfrm>
            <a:off x="2007339" y="3071139"/>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36" name="Oval 35"/>
          <p:cNvSpPr/>
          <p:nvPr/>
        </p:nvSpPr>
        <p:spPr>
          <a:xfrm>
            <a:off x="1566087" y="3072012"/>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37" name="Rounded Rectangle 36"/>
          <p:cNvSpPr/>
          <p:nvPr/>
        </p:nvSpPr>
        <p:spPr>
          <a:xfrm>
            <a:off x="1626387" y="3072012"/>
            <a:ext cx="149086"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38" name="Oval 37"/>
          <p:cNvSpPr/>
          <p:nvPr/>
        </p:nvSpPr>
        <p:spPr>
          <a:xfrm>
            <a:off x="2224222" y="3073613"/>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39" name="Oval 38"/>
          <p:cNvSpPr/>
          <p:nvPr/>
        </p:nvSpPr>
        <p:spPr>
          <a:xfrm>
            <a:off x="1732481" y="3100395"/>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40" name="Oval 39"/>
          <p:cNvSpPr/>
          <p:nvPr/>
        </p:nvSpPr>
        <p:spPr>
          <a:xfrm>
            <a:off x="2075299" y="3114272"/>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41" name="Oval 40"/>
          <p:cNvSpPr/>
          <p:nvPr/>
        </p:nvSpPr>
        <p:spPr>
          <a:xfrm>
            <a:off x="2248154" y="3137999"/>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42" name="Rounded Rectangle 41"/>
          <p:cNvSpPr/>
          <p:nvPr/>
        </p:nvSpPr>
        <p:spPr>
          <a:xfrm>
            <a:off x="2308454" y="3137999"/>
            <a:ext cx="151435"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43" name="Oval 42"/>
          <p:cNvSpPr/>
          <p:nvPr/>
        </p:nvSpPr>
        <p:spPr>
          <a:xfrm>
            <a:off x="1243256" y="3209796"/>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44" name="Oval 43"/>
          <p:cNvSpPr/>
          <p:nvPr/>
        </p:nvSpPr>
        <p:spPr>
          <a:xfrm>
            <a:off x="2195314" y="321725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45" name="Oval 44"/>
          <p:cNvSpPr/>
          <p:nvPr/>
        </p:nvSpPr>
        <p:spPr>
          <a:xfrm>
            <a:off x="2701768" y="3300263"/>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46" name="Oval 45"/>
          <p:cNvSpPr/>
          <p:nvPr/>
        </p:nvSpPr>
        <p:spPr>
          <a:xfrm>
            <a:off x="1762965" y="3408746"/>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47" name="Rounded Rectangle 46"/>
          <p:cNvSpPr/>
          <p:nvPr/>
        </p:nvSpPr>
        <p:spPr>
          <a:xfrm>
            <a:off x="1823265" y="3408746"/>
            <a:ext cx="99054"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48" name="Oval 47"/>
          <p:cNvSpPr/>
          <p:nvPr/>
        </p:nvSpPr>
        <p:spPr>
          <a:xfrm>
            <a:off x="1764070" y="346994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49" name="Oval 48"/>
          <p:cNvSpPr/>
          <p:nvPr/>
        </p:nvSpPr>
        <p:spPr>
          <a:xfrm>
            <a:off x="2012988" y="3505774"/>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0" name="Oval 49"/>
          <p:cNvSpPr/>
          <p:nvPr/>
        </p:nvSpPr>
        <p:spPr>
          <a:xfrm>
            <a:off x="1554709" y="3513707"/>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1" name="Oval 50"/>
          <p:cNvSpPr/>
          <p:nvPr/>
        </p:nvSpPr>
        <p:spPr>
          <a:xfrm>
            <a:off x="1695035" y="3527816"/>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2" name="Rounded Rectangle 51"/>
          <p:cNvSpPr/>
          <p:nvPr/>
        </p:nvSpPr>
        <p:spPr>
          <a:xfrm>
            <a:off x="1755335" y="3527816"/>
            <a:ext cx="101200"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3" name="Oval 52"/>
          <p:cNvSpPr/>
          <p:nvPr/>
        </p:nvSpPr>
        <p:spPr>
          <a:xfrm>
            <a:off x="1754402" y="3528627"/>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4" name="Oval 53"/>
          <p:cNvSpPr/>
          <p:nvPr/>
        </p:nvSpPr>
        <p:spPr>
          <a:xfrm>
            <a:off x="1222114" y="3536138"/>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5" name="Oval 54"/>
          <p:cNvSpPr/>
          <p:nvPr/>
        </p:nvSpPr>
        <p:spPr>
          <a:xfrm>
            <a:off x="1870393" y="3560192"/>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6" name="Oval 55"/>
          <p:cNvSpPr/>
          <p:nvPr/>
        </p:nvSpPr>
        <p:spPr>
          <a:xfrm>
            <a:off x="2490680" y="3567010"/>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7" name="Rounded Rectangle 56"/>
          <p:cNvSpPr/>
          <p:nvPr/>
        </p:nvSpPr>
        <p:spPr>
          <a:xfrm>
            <a:off x="2550980" y="3567010"/>
            <a:ext cx="132849"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8" name="Oval 57"/>
          <p:cNvSpPr/>
          <p:nvPr/>
        </p:nvSpPr>
        <p:spPr>
          <a:xfrm>
            <a:off x="1803295" y="3618299"/>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59" name="Oval 58"/>
          <p:cNvSpPr/>
          <p:nvPr/>
        </p:nvSpPr>
        <p:spPr>
          <a:xfrm>
            <a:off x="2007748" y="3665028"/>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60" name="Oval 59"/>
          <p:cNvSpPr/>
          <p:nvPr/>
        </p:nvSpPr>
        <p:spPr>
          <a:xfrm>
            <a:off x="1679031" y="3670688"/>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61" name="Oval 60"/>
          <p:cNvSpPr/>
          <p:nvPr/>
        </p:nvSpPr>
        <p:spPr>
          <a:xfrm>
            <a:off x="1798546" y="3679609"/>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62" name="Rounded Rectangle 61"/>
          <p:cNvSpPr/>
          <p:nvPr/>
        </p:nvSpPr>
        <p:spPr>
          <a:xfrm>
            <a:off x="1858846" y="3679609"/>
            <a:ext cx="122598"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63" name="Oval 62"/>
          <p:cNvSpPr/>
          <p:nvPr/>
        </p:nvSpPr>
        <p:spPr>
          <a:xfrm>
            <a:off x="1346384" y="3683966"/>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64" name="Oval 63"/>
          <p:cNvSpPr/>
          <p:nvPr/>
        </p:nvSpPr>
        <p:spPr>
          <a:xfrm>
            <a:off x="1708212" y="3728259"/>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65" name="Oval 64"/>
          <p:cNvSpPr/>
          <p:nvPr/>
        </p:nvSpPr>
        <p:spPr>
          <a:xfrm>
            <a:off x="1885936" y="3784582"/>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66" name="Oval 65"/>
          <p:cNvSpPr/>
          <p:nvPr/>
        </p:nvSpPr>
        <p:spPr>
          <a:xfrm>
            <a:off x="1973201" y="3808677"/>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67" name="Rounded Rectangle 66"/>
          <p:cNvSpPr/>
          <p:nvPr/>
        </p:nvSpPr>
        <p:spPr>
          <a:xfrm>
            <a:off x="2033501" y="3808677"/>
            <a:ext cx="196848"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68" name="Oval 67"/>
          <p:cNvSpPr/>
          <p:nvPr/>
        </p:nvSpPr>
        <p:spPr>
          <a:xfrm>
            <a:off x="2434276" y="382729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69" name="Oval 68"/>
          <p:cNvSpPr/>
          <p:nvPr/>
        </p:nvSpPr>
        <p:spPr>
          <a:xfrm>
            <a:off x="1502102" y="3848784"/>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70" name="Oval 69"/>
          <p:cNvSpPr/>
          <p:nvPr/>
        </p:nvSpPr>
        <p:spPr>
          <a:xfrm>
            <a:off x="2103102" y="3852315"/>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71" name="Oval 70"/>
          <p:cNvSpPr/>
          <p:nvPr/>
        </p:nvSpPr>
        <p:spPr>
          <a:xfrm>
            <a:off x="2431684" y="3856944"/>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72" name="Rounded Rectangle 71"/>
          <p:cNvSpPr/>
          <p:nvPr/>
        </p:nvSpPr>
        <p:spPr>
          <a:xfrm>
            <a:off x="2491984" y="3856944"/>
            <a:ext cx="108999"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73" name="Oval 72"/>
          <p:cNvSpPr/>
          <p:nvPr/>
        </p:nvSpPr>
        <p:spPr>
          <a:xfrm>
            <a:off x="2957112" y="3891250"/>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74" name="Oval 73"/>
          <p:cNvSpPr/>
          <p:nvPr/>
        </p:nvSpPr>
        <p:spPr>
          <a:xfrm>
            <a:off x="2071759" y="391093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75" name="Oval 74"/>
          <p:cNvSpPr/>
          <p:nvPr/>
        </p:nvSpPr>
        <p:spPr>
          <a:xfrm>
            <a:off x="1327210" y="3913220"/>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76" name="Oval 75"/>
          <p:cNvSpPr/>
          <p:nvPr/>
        </p:nvSpPr>
        <p:spPr>
          <a:xfrm>
            <a:off x="2094264" y="3923847"/>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77" name="Rounded Rectangle 76"/>
          <p:cNvSpPr/>
          <p:nvPr/>
        </p:nvSpPr>
        <p:spPr>
          <a:xfrm>
            <a:off x="2154564" y="3923847"/>
            <a:ext cx="90790"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78" name="Oval 77"/>
          <p:cNvSpPr/>
          <p:nvPr/>
        </p:nvSpPr>
        <p:spPr>
          <a:xfrm>
            <a:off x="1509761" y="3936434"/>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79" name="Oval 78"/>
          <p:cNvSpPr/>
          <p:nvPr/>
        </p:nvSpPr>
        <p:spPr>
          <a:xfrm>
            <a:off x="2344056" y="393931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80" name="Oval 79"/>
          <p:cNvSpPr/>
          <p:nvPr/>
        </p:nvSpPr>
        <p:spPr>
          <a:xfrm>
            <a:off x="2061964" y="3944403"/>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81" name="Oval 80"/>
          <p:cNvSpPr/>
          <p:nvPr/>
        </p:nvSpPr>
        <p:spPr>
          <a:xfrm>
            <a:off x="1896624" y="3948694"/>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82" name="Rounded Rectangle 81"/>
          <p:cNvSpPr/>
          <p:nvPr/>
        </p:nvSpPr>
        <p:spPr>
          <a:xfrm>
            <a:off x="1956924" y="3948694"/>
            <a:ext cx="212923"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83" name="Oval 82"/>
          <p:cNvSpPr/>
          <p:nvPr/>
        </p:nvSpPr>
        <p:spPr>
          <a:xfrm>
            <a:off x="1947040" y="3958157"/>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84" name="Oval 83"/>
          <p:cNvSpPr/>
          <p:nvPr/>
        </p:nvSpPr>
        <p:spPr>
          <a:xfrm>
            <a:off x="1489551" y="398534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a:p>
        </p:txBody>
      </p:sp>
      <p:sp>
        <p:nvSpPr>
          <p:cNvPr id="85" name="Oval 84"/>
          <p:cNvSpPr/>
          <p:nvPr/>
        </p:nvSpPr>
        <p:spPr>
          <a:xfrm>
            <a:off x="2382012" y="4019850"/>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86" name="Oval 85"/>
          <p:cNvSpPr/>
          <p:nvPr/>
        </p:nvSpPr>
        <p:spPr>
          <a:xfrm>
            <a:off x="1606119" y="4026047"/>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87" name="Rounded Rectangle 86"/>
          <p:cNvSpPr/>
          <p:nvPr/>
        </p:nvSpPr>
        <p:spPr>
          <a:xfrm>
            <a:off x="1666419" y="4026047"/>
            <a:ext cx="157281"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88" name="Oval 87"/>
          <p:cNvSpPr/>
          <p:nvPr/>
        </p:nvSpPr>
        <p:spPr>
          <a:xfrm>
            <a:off x="2189770" y="4028694"/>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89" name="Oval 88"/>
          <p:cNvSpPr/>
          <p:nvPr/>
        </p:nvSpPr>
        <p:spPr>
          <a:xfrm>
            <a:off x="2581579" y="4030660"/>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0" name="Oval 89"/>
          <p:cNvSpPr/>
          <p:nvPr/>
        </p:nvSpPr>
        <p:spPr>
          <a:xfrm>
            <a:off x="1908993" y="4037187"/>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1" name="Oval 90"/>
          <p:cNvSpPr/>
          <p:nvPr/>
        </p:nvSpPr>
        <p:spPr>
          <a:xfrm>
            <a:off x="2276001" y="4041628"/>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2" name="Rounded Rectangle 91"/>
          <p:cNvSpPr/>
          <p:nvPr/>
        </p:nvSpPr>
        <p:spPr>
          <a:xfrm>
            <a:off x="2336301" y="4041628"/>
            <a:ext cx="107046"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3" name="Oval 92"/>
          <p:cNvSpPr/>
          <p:nvPr/>
        </p:nvSpPr>
        <p:spPr>
          <a:xfrm>
            <a:off x="1866016" y="4048555"/>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4" name="Oval 93"/>
          <p:cNvSpPr/>
          <p:nvPr/>
        </p:nvSpPr>
        <p:spPr>
          <a:xfrm>
            <a:off x="2081942" y="4049832"/>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5" name="Oval 94"/>
          <p:cNvSpPr/>
          <p:nvPr/>
        </p:nvSpPr>
        <p:spPr>
          <a:xfrm>
            <a:off x="2175240" y="4060404"/>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6" name="Oval 95"/>
          <p:cNvSpPr/>
          <p:nvPr/>
        </p:nvSpPr>
        <p:spPr>
          <a:xfrm>
            <a:off x="2165289" y="4062120"/>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7" name="Rounded Rectangle 96"/>
          <p:cNvSpPr/>
          <p:nvPr/>
        </p:nvSpPr>
        <p:spPr>
          <a:xfrm>
            <a:off x="2225589" y="4062120"/>
            <a:ext cx="159244"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8" name="Oval 97"/>
          <p:cNvSpPr/>
          <p:nvPr/>
        </p:nvSpPr>
        <p:spPr>
          <a:xfrm>
            <a:off x="2365996" y="4065096"/>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9" name="Oval 98"/>
          <p:cNvSpPr/>
          <p:nvPr/>
        </p:nvSpPr>
        <p:spPr>
          <a:xfrm>
            <a:off x="2318492" y="4071522"/>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00" name="Oval 99"/>
          <p:cNvSpPr/>
          <p:nvPr/>
        </p:nvSpPr>
        <p:spPr>
          <a:xfrm>
            <a:off x="2545675" y="4076937"/>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01" name="Oval 100"/>
          <p:cNvSpPr/>
          <p:nvPr/>
        </p:nvSpPr>
        <p:spPr>
          <a:xfrm>
            <a:off x="1355620" y="4078332"/>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02" name="Rounded Rectangle 101"/>
          <p:cNvSpPr/>
          <p:nvPr/>
        </p:nvSpPr>
        <p:spPr>
          <a:xfrm>
            <a:off x="1415920" y="4078332"/>
            <a:ext cx="91309"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03" name="Oval 102"/>
          <p:cNvSpPr/>
          <p:nvPr/>
        </p:nvSpPr>
        <p:spPr>
          <a:xfrm>
            <a:off x="1764247" y="4078566"/>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04" name="Oval 103"/>
          <p:cNvSpPr/>
          <p:nvPr/>
        </p:nvSpPr>
        <p:spPr>
          <a:xfrm>
            <a:off x="1722435" y="4079700"/>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05" name="Oval 104"/>
          <p:cNvSpPr/>
          <p:nvPr/>
        </p:nvSpPr>
        <p:spPr>
          <a:xfrm>
            <a:off x="2021203" y="4079924"/>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06" name="Oval 105"/>
          <p:cNvSpPr/>
          <p:nvPr/>
        </p:nvSpPr>
        <p:spPr>
          <a:xfrm>
            <a:off x="1615776" y="408282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07" name="Rounded Rectangle 106"/>
          <p:cNvSpPr/>
          <p:nvPr/>
        </p:nvSpPr>
        <p:spPr>
          <a:xfrm>
            <a:off x="1676076" y="4082821"/>
            <a:ext cx="157262"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08" name="Oval 107"/>
          <p:cNvSpPr/>
          <p:nvPr/>
        </p:nvSpPr>
        <p:spPr>
          <a:xfrm>
            <a:off x="2054659" y="4085173"/>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09" name="Oval 108"/>
          <p:cNvSpPr/>
          <p:nvPr/>
        </p:nvSpPr>
        <p:spPr>
          <a:xfrm>
            <a:off x="1391304" y="408677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0" name="Oval 109"/>
          <p:cNvSpPr/>
          <p:nvPr/>
        </p:nvSpPr>
        <p:spPr>
          <a:xfrm>
            <a:off x="2150492" y="4087892"/>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1" name="Oval 110"/>
          <p:cNvSpPr/>
          <p:nvPr/>
        </p:nvSpPr>
        <p:spPr>
          <a:xfrm>
            <a:off x="2342302" y="4088218"/>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2" name="Rounded Rectangle 111"/>
          <p:cNvSpPr/>
          <p:nvPr/>
        </p:nvSpPr>
        <p:spPr>
          <a:xfrm>
            <a:off x="2402602" y="4088218"/>
            <a:ext cx="216545"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3" name="Oval 112"/>
          <p:cNvSpPr/>
          <p:nvPr/>
        </p:nvSpPr>
        <p:spPr>
          <a:xfrm>
            <a:off x="1876813" y="408852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4" name="Oval 113"/>
          <p:cNvSpPr/>
          <p:nvPr/>
        </p:nvSpPr>
        <p:spPr>
          <a:xfrm>
            <a:off x="1624306" y="4089535"/>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5" name="Oval 114"/>
          <p:cNvSpPr/>
          <p:nvPr/>
        </p:nvSpPr>
        <p:spPr>
          <a:xfrm>
            <a:off x="2138041" y="4090040"/>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6" name="Oval 115"/>
          <p:cNvSpPr/>
          <p:nvPr/>
        </p:nvSpPr>
        <p:spPr>
          <a:xfrm>
            <a:off x="2101194" y="4091711"/>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7" name="Rounded Rectangle 116"/>
          <p:cNvSpPr/>
          <p:nvPr/>
        </p:nvSpPr>
        <p:spPr>
          <a:xfrm>
            <a:off x="2161494" y="4091711"/>
            <a:ext cx="201385" cy="50400"/>
          </a:xfrm>
          <a:prstGeom prst="roundRect">
            <a:avLst>
              <a:gd name="adj" fmla="val 50000"/>
            </a:avLst>
          </a:prstGeom>
          <a:solidFill>
            <a:srgbClr val="C9CED9"/>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8" name="Oval 117"/>
          <p:cNvSpPr/>
          <p:nvPr/>
        </p:nvSpPr>
        <p:spPr>
          <a:xfrm>
            <a:off x="2247349" y="4092138"/>
            <a:ext cx="50400" cy="50400"/>
          </a:xfrm>
          <a:prstGeom prst="ellipse">
            <a:avLst/>
          </a:prstGeom>
          <a:solidFill>
            <a:srgbClr val="2EC4B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21" name="Rectangle 120"/>
          <p:cNvSpPr/>
          <p:nvPr/>
        </p:nvSpPr>
        <p:spPr>
          <a:xfrm>
            <a:off x="3480750" y="2515339"/>
            <a:ext cx="1023750" cy="270000"/>
          </a:xfrm>
          <a:prstGeom prst="rect">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lnSpc>
                <a:spcPct val="110000"/>
              </a:lnSpc>
              <a:spcAft>
                <a:spcPts val="0"/>
              </a:spcAft>
            </a:pPr>
            <a:r>
              <a:rPr sz="1000" b="1">
                <a:solidFill>
                  <a:srgbClr val="1F285A"/>
                </a:solidFill>
                <a:latin typeface="メイリオ"/>
                <a:ea typeface="メイリオ"/>
                <a:cs typeface="メイリオ"/>
              </a:rPr>
              <a:t>検索データ</a:t>
            </a:r>
          </a:p>
        </p:txBody>
      </p:sp>
      <p:sp>
        <p:nvSpPr>
          <p:cNvPr id="122" name="Rectangle 121"/>
          <p:cNvSpPr/>
          <p:nvPr/>
        </p:nvSpPr>
        <p:spPr>
          <a:xfrm>
            <a:off x="4972500" y="2515339"/>
            <a:ext cx="1023750" cy="270000"/>
          </a:xfrm>
          <a:prstGeom prst="rect">
            <a:avLst/>
          </a:prstGeom>
          <a:solidFill>
            <a:srgbClr val="E8F8EE"/>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lnSpc>
                <a:spcPct val="110000"/>
              </a:lnSpc>
              <a:spcAft>
                <a:spcPts val="0"/>
              </a:spcAft>
            </a:pPr>
            <a:r>
              <a:rPr sz="1000" b="1">
                <a:solidFill>
                  <a:srgbClr val="0B7A3B"/>
                </a:solidFill>
                <a:latin typeface="メイリオ"/>
                <a:ea typeface="メイリオ"/>
                <a:cs typeface="メイリオ"/>
              </a:rPr>
              <a:t>LINE配信</a:t>
            </a:r>
          </a:p>
        </p:txBody>
      </p:sp>
      <p:sp>
        <p:nvSpPr>
          <p:cNvPr id="123" name="Rectangle 122"/>
          <p:cNvSpPr/>
          <p:nvPr/>
        </p:nvSpPr>
        <p:spPr>
          <a:xfrm>
            <a:off x="3480750" y="2947339"/>
            <a:ext cx="1023750" cy="396000"/>
          </a:xfrm>
          <a:prstGeom prst="rect">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lnSpc>
                <a:spcPct val="110000"/>
              </a:lnSpc>
              <a:spcAft>
                <a:spcPts val="0"/>
              </a:spcAft>
            </a:pPr>
            <a:r>
              <a:rPr sz="1050" b="1">
                <a:solidFill>
                  <a:srgbClr val="1F285A"/>
                </a:solidFill>
                <a:latin typeface="メイリオ"/>
                <a:ea typeface="メイリオ"/>
                <a:cs typeface="メイリオ"/>
              </a:rPr>
              <a:t>不安</a:t>
            </a:r>
          </a:p>
        </p:txBody>
      </p:sp>
      <p:cxnSp>
        <p:nvCxnSpPr>
          <p:cNvPr id="124" name="Connector 123"/>
          <p:cNvCxnSpPr/>
          <p:nvPr/>
        </p:nvCxnSpPr>
        <p:spPr>
          <a:xfrm>
            <a:off x="4563000" y="3145339"/>
            <a:ext cx="351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25" name="Rounded Rectangle 124"/>
          <p:cNvSpPr/>
          <p:nvPr/>
        </p:nvSpPr>
        <p:spPr>
          <a:xfrm>
            <a:off x="4972500" y="2947339"/>
            <a:ext cx="1023750" cy="396000"/>
          </a:xfrm>
          <a:prstGeom prst="roundRect">
            <a:avLst>
              <a:gd name="adj" fmla="val 30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lnSpc>
                <a:spcPct val="110000"/>
              </a:lnSpc>
              <a:spcAft>
                <a:spcPts val="0"/>
              </a:spcAft>
            </a:pPr>
            <a:r>
              <a:rPr sz="900" b="1">
                <a:solidFill>
                  <a:srgbClr val="FFFFFF"/>
                </a:solidFill>
                <a:latin typeface="メイリオ"/>
                <a:ea typeface="メイリオ"/>
                <a:cs typeface="メイリオ"/>
              </a:rPr>
              <a:t>どの情報を</a:t>
            </a:r>
          </a:p>
        </p:txBody>
      </p:sp>
      <p:sp>
        <p:nvSpPr>
          <p:cNvPr id="126" name="Rectangle 125"/>
          <p:cNvSpPr/>
          <p:nvPr/>
        </p:nvSpPr>
        <p:spPr>
          <a:xfrm>
            <a:off x="3480750" y="3541338"/>
            <a:ext cx="1023750" cy="396000"/>
          </a:xfrm>
          <a:prstGeom prst="rect">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lnSpc>
                <a:spcPct val="110000"/>
              </a:lnSpc>
              <a:spcAft>
                <a:spcPts val="0"/>
              </a:spcAft>
            </a:pPr>
            <a:r>
              <a:rPr sz="1050" b="1">
                <a:solidFill>
                  <a:srgbClr val="1F285A"/>
                </a:solidFill>
                <a:latin typeface="メイリオ"/>
                <a:ea typeface="メイリオ"/>
                <a:cs typeface="メイリオ"/>
              </a:rPr>
              <a:t>比較軸</a:t>
            </a:r>
          </a:p>
        </p:txBody>
      </p:sp>
      <p:cxnSp>
        <p:nvCxnSpPr>
          <p:cNvPr id="127" name="Connector 126"/>
          <p:cNvCxnSpPr/>
          <p:nvPr/>
        </p:nvCxnSpPr>
        <p:spPr>
          <a:xfrm>
            <a:off x="4563000" y="3739339"/>
            <a:ext cx="351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28" name="Rounded Rectangle 127"/>
          <p:cNvSpPr/>
          <p:nvPr/>
        </p:nvSpPr>
        <p:spPr>
          <a:xfrm>
            <a:off x="4972500" y="3541338"/>
            <a:ext cx="1023750" cy="396000"/>
          </a:xfrm>
          <a:prstGeom prst="roundRect">
            <a:avLst>
              <a:gd name="adj" fmla="val 30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lnSpc>
                <a:spcPct val="110000"/>
              </a:lnSpc>
              <a:spcAft>
                <a:spcPts val="0"/>
              </a:spcAft>
            </a:pPr>
            <a:r>
              <a:rPr sz="900" b="1">
                <a:solidFill>
                  <a:srgbClr val="FFFFFF"/>
                </a:solidFill>
                <a:latin typeface="メイリオ"/>
                <a:ea typeface="メイリオ"/>
                <a:cs typeface="メイリオ"/>
              </a:rPr>
              <a:t>どの順番で</a:t>
            </a:r>
          </a:p>
        </p:txBody>
      </p:sp>
      <p:sp>
        <p:nvSpPr>
          <p:cNvPr id="129" name="Rectangle 128"/>
          <p:cNvSpPr/>
          <p:nvPr/>
        </p:nvSpPr>
        <p:spPr>
          <a:xfrm>
            <a:off x="3480750" y="4135339"/>
            <a:ext cx="1023750" cy="396000"/>
          </a:xfrm>
          <a:prstGeom prst="rect">
            <a:avLst/>
          </a:prstGeom>
          <a:solidFill>
            <a:srgbClr val="FFFFFF"/>
          </a:solidFill>
          <a:ln w="12700">
            <a:solidFill>
              <a:srgbClr val="1F285A"/>
            </a:solid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lnSpc>
                <a:spcPct val="110000"/>
              </a:lnSpc>
              <a:spcAft>
                <a:spcPts val="0"/>
              </a:spcAft>
            </a:pPr>
            <a:r>
              <a:rPr sz="1200" b="1">
                <a:solidFill>
                  <a:srgbClr val="1F285A"/>
                </a:solidFill>
                <a:latin typeface="メイリオ"/>
                <a:ea typeface="メイリオ"/>
                <a:cs typeface="メイリオ"/>
              </a:rPr>
              <a:t>関心テーマ</a:t>
            </a:r>
          </a:p>
        </p:txBody>
      </p:sp>
      <p:cxnSp>
        <p:nvCxnSpPr>
          <p:cNvPr id="130" name="Connector 129"/>
          <p:cNvCxnSpPr/>
          <p:nvPr/>
        </p:nvCxnSpPr>
        <p:spPr>
          <a:xfrm>
            <a:off x="4563000" y="4333339"/>
            <a:ext cx="351000" cy="0"/>
          </a:xfrm>
          <a:prstGeom prst="line">
            <a:avLst/>
          </a:prstGeom>
          <a:ln w="22225">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131" name="Rounded Rectangle 130"/>
          <p:cNvSpPr/>
          <p:nvPr/>
        </p:nvSpPr>
        <p:spPr>
          <a:xfrm>
            <a:off x="4972500" y="4135339"/>
            <a:ext cx="1023750" cy="396000"/>
          </a:xfrm>
          <a:prstGeom prst="roundRect">
            <a:avLst>
              <a:gd name="adj" fmla="val 30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lnSpc>
                <a:spcPct val="110000"/>
              </a:lnSpc>
              <a:spcAft>
                <a:spcPts val="0"/>
              </a:spcAft>
            </a:pPr>
            <a:r>
              <a:rPr sz="900" b="1" dirty="0" err="1">
                <a:solidFill>
                  <a:srgbClr val="FFFFFF"/>
                </a:solidFill>
                <a:latin typeface="メイリオ"/>
                <a:ea typeface="メイリオ"/>
                <a:cs typeface="メイリオ"/>
              </a:rPr>
              <a:t>いつ配信するか</a:t>
            </a:r>
            <a:endParaRPr sz="900" b="1" dirty="0">
              <a:solidFill>
                <a:srgbClr val="FFFFFF"/>
              </a:solidFill>
              <a:latin typeface="メイリオ"/>
              <a:ea typeface="メイリオ"/>
              <a:cs typeface="メイリオ"/>
            </a:endParaRPr>
          </a:p>
        </p:txBody>
      </p:sp>
      <p:sp>
        <p:nvSpPr>
          <p:cNvPr id="132" name="TextBox 131"/>
          <p:cNvSpPr txBox="1"/>
          <p:nvPr/>
        </p:nvSpPr>
        <p:spPr>
          <a:xfrm>
            <a:off x="3673313" y="4770998"/>
            <a:ext cx="2322937" cy="620871"/>
          </a:xfrm>
          <a:prstGeom prst="rect">
            <a:avLst/>
          </a:prstGeom>
          <a:solidFill>
            <a:schemeClr val="bg1">
              <a:lumMod val="95000"/>
            </a:schemeClr>
          </a:solidFill>
        </p:spPr>
        <p:txBody>
          <a:bodyPr wrap="square" lIns="29250" tIns="18000" rIns="29250" bIns="18000" anchor="t">
            <a:spAutoFit/>
          </a:bodyPr>
          <a:lstStyle/>
          <a:p>
            <a:pPr>
              <a:lnSpc>
                <a:spcPct val="110000"/>
              </a:lnSpc>
              <a:spcAft>
                <a:spcPts val="200"/>
              </a:spcAft>
            </a:pPr>
            <a:r>
              <a:rPr lang="ja-JP" altLang="en-US" sz="1050" b="0" dirty="0">
                <a:solidFill>
                  <a:srgbClr val="333333"/>
                </a:solidFill>
                <a:latin typeface="メイリオ"/>
                <a:ea typeface="メイリオ"/>
                <a:cs typeface="メイリオ"/>
              </a:rPr>
              <a:t>　</a:t>
            </a:r>
            <a:r>
              <a:rPr sz="1050" b="0" dirty="0" err="1">
                <a:solidFill>
                  <a:srgbClr val="333333"/>
                </a:solidFill>
                <a:latin typeface="メイリオ"/>
                <a:ea typeface="メイリオ"/>
                <a:cs typeface="メイリオ"/>
              </a:rPr>
              <a:t>ニーズをもとに</a:t>
            </a:r>
            <a:r>
              <a:rPr sz="1050" b="0" dirty="0">
                <a:solidFill>
                  <a:srgbClr val="333333"/>
                </a:solidFill>
                <a:latin typeface="メイリオ"/>
                <a:ea typeface="メイリオ"/>
                <a:cs typeface="メイリオ"/>
              </a:rPr>
              <a:t>、</a:t>
            </a:r>
            <a:endParaRPr lang="en-US" sz="1050" b="0" dirty="0">
              <a:solidFill>
                <a:srgbClr val="333333"/>
              </a:solidFill>
              <a:latin typeface="メイリオ"/>
              <a:ea typeface="メイリオ"/>
              <a:cs typeface="メイリオ"/>
            </a:endParaRPr>
          </a:p>
          <a:p>
            <a:pPr>
              <a:lnSpc>
                <a:spcPct val="110000"/>
              </a:lnSpc>
              <a:spcAft>
                <a:spcPts val="200"/>
              </a:spcAft>
            </a:pPr>
            <a:r>
              <a:rPr lang="ja-JP" altLang="en-US" sz="1050" b="0" dirty="0">
                <a:solidFill>
                  <a:srgbClr val="333333"/>
                </a:solidFill>
                <a:latin typeface="メイリオ"/>
                <a:ea typeface="メイリオ"/>
                <a:cs typeface="メイリオ"/>
              </a:rPr>
              <a:t>　</a:t>
            </a:r>
            <a:r>
              <a:rPr sz="1050" b="0" dirty="0" err="1">
                <a:solidFill>
                  <a:srgbClr val="333333"/>
                </a:solidFill>
                <a:latin typeface="メイリオ"/>
                <a:ea typeface="メイリオ"/>
                <a:cs typeface="メイリオ"/>
              </a:rPr>
              <a:t>配信内容・順番・タイミングを</a:t>
            </a:r>
            <a:endParaRPr sz="1050" b="0" dirty="0">
              <a:solidFill>
                <a:srgbClr val="333333"/>
              </a:solidFill>
              <a:latin typeface="メイリオ"/>
              <a:ea typeface="メイリオ"/>
              <a:cs typeface="メイリオ"/>
            </a:endParaRPr>
          </a:p>
          <a:p>
            <a:pPr>
              <a:lnSpc>
                <a:spcPct val="110000"/>
              </a:lnSpc>
              <a:spcAft>
                <a:spcPts val="0"/>
              </a:spcAft>
            </a:pPr>
            <a:r>
              <a:rPr lang="ja-JP" altLang="en-US" sz="1050" b="0" dirty="0">
                <a:solidFill>
                  <a:srgbClr val="333333"/>
                </a:solidFill>
                <a:latin typeface="メイリオ"/>
                <a:ea typeface="メイリオ"/>
                <a:cs typeface="メイリオ"/>
              </a:rPr>
              <a:t>　</a:t>
            </a:r>
            <a:r>
              <a:rPr sz="1050" b="0" dirty="0" err="1">
                <a:solidFill>
                  <a:srgbClr val="333333"/>
                </a:solidFill>
                <a:latin typeface="メイリオ"/>
                <a:ea typeface="メイリオ"/>
                <a:cs typeface="メイリオ"/>
              </a:rPr>
              <a:t>業界・商材ごとに設計</a:t>
            </a:r>
            <a:endParaRPr sz="1050" b="0" dirty="0">
              <a:solidFill>
                <a:srgbClr val="333333"/>
              </a:solidFill>
              <a:latin typeface="メイリオ"/>
              <a:ea typeface="メイリオ"/>
              <a:cs typeface="メイリオ"/>
            </a:endParaRPr>
          </a:p>
        </p:txBody>
      </p:sp>
      <p:cxnSp>
        <p:nvCxnSpPr>
          <p:cNvPr id="133" name="Connector 132"/>
          <p:cNvCxnSpPr/>
          <p:nvPr/>
        </p:nvCxnSpPr>
        <p:spPr>
          <a:xfrm>
            <a:off x="7166249" y="2623339"/>
            <a:ext cx="0" cy="2556000"/>
          </a:xfrm>
          <a:prstGeom prst="line">
            <a:avLst/>
          </a:prstGeom>
          <a:ln w="25400">
            <a:solidFill>
              <a:srgbClr val="06C755"/>
            </a:solidFill>
          </a:ln>
        </p:spPr>
        <p:style>
          <a:lnRef idx="2">
            <a:schemeClr val="accent1"/>
          </a:lnRef>
          <a:fillRef idx="0">
            <a:schemeClr val="accent1"/>
          </a:fillRef>
          <a:effectRef idx="0">
            <a:schemeClr val="accent1"/>
          </a:effectRef>
          <a:fontRef idx="minor">
            <a:schemeClr val="tx1"/>
          </a:fontRef>
        </p:style>
      </p:cxnSp>
      <p:sp>
        <p:nvSpPr>
          <p:cNvPr id="134" name="Oval 133"/>
          <p:cNvSpPr/>
          <p:nvPr/>
        </p:nvSpPr>
        <p:spPr>
          <a:xfrm>
            <a:off x="7058249" y="2515339"/>
            <a:ext cx="216000" cy="216000"/>
          </a:xfrm>
          <a:prstGeom prst="ellipse">
            <a:avLst/>
          </a:prstGeom>
          <a:solidFill>
            <a:srgbClr val="06C755"/>
          </a:solidFill>
          <a:ln w="25400">
            <a:solidFill>
              <a:srgbClr val="06C755"/>
            </a:solid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000"/>
          </a:p>
        </p:txBody>
      </p:sp>
      <p:sp>
        <p:nvSpPr>
          <p:cNvPr id="135" name="TextBox 134"/>
          <p:cNvSpPr txBox="1"/>
          <p:nvPr/>
        </p:nvSpPr>
        <p:spPr>
          <a:xfrm>
            <a:off x="6317999" y="2520524"/>
            <a:ext cx="731250" cy="205629"/>
          </a:xfrm>
          <a:prstGeom prst="rect">
            <a:avLst/>
          </a:prstGeom>
          <a:noFill/>
        </p:spPr>
        <p:txBody>
          <a:bodyPr wrap="square" lIns="29250" tIns="18000" rIns="29250" bIns="18000" anchor="ctr">
            <a:spAutoFit/>
          </a:bodyPr>
          <a:lstStyle/>
          <a:p>
            <a:pPr algn="r">
              <a:lnSpc>
                <a:spcPct val="110000"/>
              </a:lnSpc>
              <a:spcAft>
                <a:spcPts val="0"/>
              </a:spcAft>
            </a:pPr>
            <a:r>
              <a:rPr sz="1000" b="1">
                <a:solidFill>
                  <a:srgbClr val="0B7A3B"/>
                </a:solidFill>
                <a:latin typeface="メイリオ"/>
                <a:ea typeface="メイリオ"/>
                <a:cs typeface="メイリオ"/>
              </a:rPr>
              <a:t>友だち追加</a:t>
            </a:r>
          </a:p>
        </p:txBody>
      </p:sp>
      <p:sp>
        <p:nvSpPr>
          <p:cNvPr id="137" name="Oval 136"/>
          <p:cNvSpPr/>
          <p:nvPr/>
        </p:nvSpPr>
        <p:spPr>
          <a:xfrm>
            <a:off x="7058249" y="2923167"/>
            <a:ext cx="216000" cy="216000"/>
          </a:xfrm>
          <a:prstGeom prst="ellipse">
            <a:avLst/>
          </a:prstGeom>
          <a:solidFill>
            <a:srgbClr val="FFFFFF"/>
          </a:solidFill>
          <a:ln w="25400">
            <a:solidFill>
              <a:srgbClr val="06C755"/>
            </a:solid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000"/>
          </a:p>
        </p:txBody>
      </p:sp>
      <p:sp>
        <p:nvSpPr>
          <p:cNvPr id="138" name="TextBox 137"/>
          <p:cNvSpPr txBox="1"/>
          <p:nvPr/>
        </p:nvSpPr>
        <p:spPr>
          <a:xfrm>
            <a:off x="6317999" y="2936816"/>
            <a:ext cx="731250" cy="188701"/>
          </a:xfrm>
          <a:prstGeom prst="rect">
            <a:avLst/>
          </a:prstGeom>
          <a:noFill/>
        </p:spPr>
        <p:txBody>
          <a:bodyPr wrap="square" lIns="29250" tIns="18000" rIns="29250" bIns="18000" anchor="ctr">
            <a:spAutoFit/>
          </a:bodyPr>
          <a:lstStyle/>
          <a:p>
            <a:pPr algn="r">
              <a:lnSpc>
                <a:spcPct val="110000"/>
              </a:lnSpc>
              <a:spcAft>
                <a:spcPts val="0"/>
              </a:spcAft>
            </a:pPr>
            <a:r>
              <a:rPr sz="900" b="1">
                <a:solidFill>
                  <a:srgbClr val="333333"/>
                </a:solidFill>
                <a:latin typeface="メイリオ"/>
                <a:ea typeface="メイリオ"/>
                <a:cs typeface="メイリオ"/>
              </a:rPr>
              <a:t>初回配信</a:t>
            </a:r>
          </a:p>
        </p:txBody>
      </p:sp>
      <p:sp>
        <p:nvSpPr>
          <p:cNvPr id="139" name="Rounded Rectangle 138"/>
          <p:cNvSpPr/>
          <p:nvPr/>
        </p:nvSpPr>
        <p:spPr>
          <a:xfrm>
            <a:off x="7370999" y="2868646"/>
            <a:ext cx="1901250" cy="360000"/>
          </a:xfrm>
          <a:prstGeom prst="roundRect">
            <a:avLst>
              <a:gd name="adj" fmla="val 30000"/>
            </a:avLst>
          </a:prstGeom>
          <a:solidFill>
            <a:srgbClr val="E8F8EE"/>
          </a:solidFill>
          <a:ln>
            <a:noFill/>
          </a:ln>
          <a:effectLst/>
        </p:spPr>
        <p:style>
          <a:lnRef idx="1">
            <a:schemeClr val="accent1"/>
          </a:lnRef>
          <a:fillRef idx="3">
            <a:schemeClr val="accent1"/>
          </a:fillRef>
          <a:effectRef idx="0">
            <a:schemeClr val="accent1"/>
          </a:effectRef>
          <a:fontRef idx="minor">
            <a:schemeClr val="lt1"/>
          </a:fontRef>
        </p:style>
        <p:txBody>
          <a:bodyPr wrap="square" lIns="43875" tIns="0" rIns="43875" bIns="0" rtlCol="0" anchor="ctr"/>
          <a:lstStyle/>
          <a:p>
            <a:pPr algn="ctr">
              <a:lnSpc>
                <a:spcPct val="110000"/>
              </a:lnSpc>
              <a:spcAft>
                <a:spcPts val="0"/>
              </a:spcAft>
            </a:pPr>
            <a:r>
              <a:rPr sz="1050" b="1">
                <a:solidFill>
                  <a:srgbClr val="0B7A3B"/>
                </a:solidFill>
                <a:latin typeface="メイリオ"/>
                <a:ea typeface="メイリオ"/>
                <a:cs typeface="メイリオ"/>
              </a:rPr>
              <a:t>興味喚起</a:t>
            </a:r>
          </a:p>
        </p:txBody>
      </p:sp>
      <p:sp>
        <p:nvSpPr>
          <p:cNvPr id="140" name="Oval 139"/>
          <p:cNvSpPr/>
          <p:nvPr/>
        </p:nvSpPr>
        <p:spPr>
          <a:xfrm>
            <a:off x="7058249" y="3561721"/>
            <a:ext cx="216000" cy="216000"/>
          </a:xfrm>
          <a:prstGeom prst="ellipse">
            <a:avLst/>
          </a:prstGeom>
          <a:solidFill>
            <a:srgbClr val="FFFFFF"/>
          </a:solidFill>
          <a:ln w="25400">
            <a:solidFill>
              <a:srgbClr val="06C755"/>
            </a:solid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000"/>
          </a:p>
        </p:txBody>
      </p:sp>
      <p:sp>
        <p:nvSpPr>
          <p:cNvPr id="141" name="TextBox 140"/>
          <p:cNvSpPr txBox="1"/>
          <p:nvPr/>
        </p:nvSpPr>
        <p:spPr>
          <a:xfrm>
            <a:off x="6317999" y="3575371"/>
            <a:ext cx="731250" cy="188701"/>
          </a:xfrm>
          <a:prstGeom prst="rect">
            <a:avLst/>
          </a:prstGeom>
          <a:noFill/>
        </p:spPr>
        <p:txBody>
          <a:bodyPr wrap="square" lIns="29250" tIns="18000" rIns="29250" bIns="18000" anchor="ctr">
            <a:spAutoFit/>
          </a:bodyPr>
          <a:lstStyle/>
          <a:p>
            <a:pPr algn="r">
              <a:lnSpc>
                <a:spcPct val="110000"/>
              </a:lnSpc>
              <a:spcAft>
                <a:spcPts val="0"/>
              </a:spcAft>
            </a:pPr>
            <a:r>
              <a:rPr sz="900" b="1">
                <a:solidFill>
                  <a:srgbClr val="333333"/>
                </a:solidFill>
                <a:latin typeface="メイリオ"/>
                <a:ea typeface="メイリオ"/>
                <a:cs typeface="メイリオ"/>
              </a:rPr>
              <a:t>数日後</a:t>
            </a:r>
          </a:p>
        </p:txBody>
      </p:sp>
      <p:sp>
        <p:nvSpPr>
          <p:cNvPr id="142" name="Rounded Rectangle 141"/>
          <p:cNvSpPr/>
          <p:nvPr/>
        </p:nvSpPr>
        <p:spPr>
          <a:xfrm>
            <a:off x="7370999" y="3507201"/>
            <a:ext cx="1901250" cy="360000"/>
          </a:xfrm>
          <a:prstGeom prst="roundRect">
            <a:avLst>
              <a:gd name="adj" fmla="val 30000"/>
            </a:avLst>
          </a:prstGeom>
          <a:solidFill>
            <a:srgbClr val="E8F8EE"/>
          </a:solidFill>
          <a:ln>
            <a:noFill/>
          </a:ln>
          <a:effectLst/>
        </p:spPr>
        <p:style>
          <a:lnRef idx="1">
            <a:schemeClr val="accent1"/>
          </a:lnRef>
          <a:fillRef idx="3">
            <a:schemeClr val="accent1"/>
          </a:fillRef>
          <a:effectRef idx="0">
            <a:schemeClr val="accent1"/>
          </a:effectRef>
          <a:fontRef idx="minor">
            <a:schemeClr val="lt1"/>
          </a:fontRef>
        </p:style>
        <p:txBody>
          <a:bodyPr wrap="square" lIns="43875" tIns="0" rIns="43875" bIns="0" rtlCol="0" anchor="ctr"/>
          <a:lstStyle/>
          <a:p>
            <a:pPr algn="ctr">
              <a:lnSpc>
                <a:spcPct val="110000"/>
              </a:lnSpc>
              <a:spcAft>
                <a:spcPts val="0"/>
              </a:spcAft>
            </a:pPr>
            <a:r>
              <a:rPr sz="1050" b="1" dirty="0" err="1">
                <a:solidFill>
                  <a:srgbClr val="0B7A3B"/>
                </a:solidFill>
                <a:latin typeface="メイリオ"/>
                <a:ea typeface="メイリオ"/>
                <a:cs typeface="メイリオ"/>
              </a:rPr>
              <a:t>比較検討情報・不安解消</a:t>
            </a:r>
            <a:endParaRPr sz="1050" b="1" dirty="0">
              <a:solidFill>
                <a:srgbClr val="0B7A3B"/>
              </a:solidFill>
              <a:latin typeface="メイリオ"/>
              <a:ea typeface="メイリオ"/>
              <a:cs typeface="メイリオ"/>
            </a:endParaRPr>
          </a:p>
        </p:txBody>
      </p:sp>
      <p:sp>
        <p:nvSpPr>
          <p:cNvPr id="143" name="Oval 142"/>
          <p:cNvSpPr/>
          <p:nvPr/>
        </p:nvSpPr>
        <p:spPr>
          <a:xfrm>
            <a:off x="7058249" y="4250539"/>
            <a:ext cx="216000" cy="216000"/>
          </a:xfrm>
          <a:prstGeom prst="ellipse">
            <a:avLst/>
          </a:prstGeom>
          <a:solidFill>
            <a:srgbClr val="FFFFFF"/>
          </a:solidFill>
          <a:ln w="25400">
            <a:solidFill>
              <a:srgbClr val="06C755"/>
            </a:solid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000"/>
          </a:p>
        </p:txBody>
      </p:sp>
      <p:sp>
        <p:nvSpPr>
          <p:cNvPr id="144" name="TextBox 143"/>
          <p:cNvSpPr txBox="1"/>
          <p:nvPr/>
        </p:nvSpPr>
        <p:spPr>
          <a:xfrm>
            <a:off x="6317999" y="4264188"/>
            <a:ext cx="731250" cy="188701"/>
          </a:xfrm>
          <a:prstGeom prst="rect">
            <a:avLst/>
          </a:prstGeom>
          <a:noFill/>
        </p:spPr>
        <p:txBody>
          <a:bodyPr wrap="square" lIns="29250" tIns="18000" rIns="29250" bIns="18000" anchor="ctr">
            <a:spAutoFit/>
          </a:bodyPr>
          <a:lstStyle/>
          <a:p>
            <a:pPr algn="r">
              <a:lnSpc>
                <a:spcPct val="110000"/>
              </a:lnSpc>
              <a:spcAft>
                <a:spcPts val="0"/>
              </a:spcAft>
            </a:pPr>
            <a:r>
              <a:rPr sz="900" b="1" dirty="0">
                <a:solidFill>
                  <a:srgbClr val="333333"/>
                </a:solidFill>
                <a:latin typeface="メイリオ"/>
                <a:ea typeface="メイリオ"/>
                <a:cs typeface="メイリオ"/>
              </a:rPr>
              <a:t>1〜2週間</a:t>
            </a:r>
          </a:p>
        </p:txBody>
      </p:sp>
      <p:sp>
        <p:nvSpPr>
          <p:cNvPr id="145" name="Rounded Rectangle 144"/>
          <p:cNvSpPr/>
          <p:nvPr/>
        </p:nvSpPr>
        <p:spPr>
          <a:xfrm>
            <a:off x="7370999" y="4196018"/>
            <a:ext cx="1901250" cy="360000"/>
          </a:xfrm>
          <a:prstGeom prst="roundRect">
            <a:avLst>
              <a:gd name="adj" fmla="val 30000"/>
            </a:avLst>
          </a:prstGeom>
          <a:solidFill>
            <a:srgbClr val="E8F8EE"/>
          </a:solidFill>
          <a:ln>
            <a:noFill/>
          </a:ln>
          <a:effectLst/>
        </p:spPr>
        <p:style>
          <a:lnRef idx="1">
            <a:schemeClr val="accent1"/>
          </a:lnRef>
          <a:fillRef idx="3">
            <a:schemeClr val="accent1"/>
          </a:fillRef>
          <a:effectRef idx="0">
            <a:schemeClr val="accent1"/>
          </a:effectRef>
          <a:fontRef idx="minor">
            <a:schemeClr val="lt1"/>
          </a:fontRef>
        </p:style>
        <p:txBody>
          <a:bodyPr wrap="square" lIns="43875" tIns="0" rIns="43875" bIns="0" rtlCol="0" anchor="ctr"/>
          <a:lstStyle/>
          <a:p>
            <a:pPr algn="ctr">
              <a:lnSpc>
                <a:spcPct val="110000"/>
              </a:lnSpc>
              <a:spcAft>
                <a:spcPts val="0"/>
              </a:spcAft>
            </a:pPr>
            <a:r>
              <a:rPr lang="ja-JP" altLang="en-US" sz="1050" b="1" dirty="0">
                <a:solidFill>
                  <a:srgbClr val="0B7A3B"/>
                </a:solidFill>
                <a:latin typeface="メイリオ"/>
                <a:ea typeface="メイリオ"/>
                <a:cs typeface="メイリオ"/>
              </a:rPr>
              <a:t>契約・利用</a:t>
            </a:r>
            <a:r>
              <a:rPr sz="1050" b="1" dirty="0" err="1">
                <a:solidFill>
                  <a:srgbClr val="0B7A3B"/>
                </a:solidFill>
                <a:latin typeface="メイリオ"/>
                <a:ea typeface="メイリオ"/>
                <a:cs typeface="メイリオ"/>
              </a:rPr>
              <a:t>オファ</a:t>
            </a:r>
            <a:r>
              <a:rPr sz="1050" b="1" dirty="0">
                <a:solidFill>
                  <a:srgbClr val="0B7A3B"/>
                </a:solidFill>
                <a:latin typeface="メイリオ"/>
                <a:ea typeface="メイリオ"/>
                <a:cs typeface="メイリオ"/>
              </a:rPr>
              <a:t>ー</a:t>
            </a:r>
          </a:p>
        </p:txBody>
      </p:sp>
      <p:sp>
        <p:nvSpPr>
          <p:cNvPr id="147" name="TextBox 146"/>
          <p:cNvSpPr txBox="1"/>
          <p:nvPr/>
        </p:nvSpPr>
        <p:spPr>
          <a:xfrm>
            <a:off x="643500" y="5841474"/>
            <a:ext cx="8628750" cy="341050"/>
          </a:xfrm>
          <a:prstGeom prst="rect">
            <a:avLst/>
          </a:prstGeom>
          <a:noFill/>
        </p:spPr>
        <p:txBody>
          <a:bodyPr wrap="square" lIns="29250" tIns="18000" rIns="29250" bIns="18000" anchor="ctr">
            <a:spAutoFit/>
          </a:bodyPr>
          <a:lstStyle/>
          <a:p>
            <a:pPr algn="ctr">
              <a:lnSpc>
                <a:spcPct val="110000"/>
              </a:lnSpc>
              <a:spcAft>
                <a:spcPts val="0"/>
              </a:spcAft>
            </a:pPr>
            <a:r>
              <a:rPr b="1" dirty="0" err="1">
                <a:solidFill>
                  <a:srgbClr val="1F285A"/>
                </a:solidFill>
                <a:latin typeface="メイリオ"/>
                <a:ea typeface="メイリオ"/>
                <a:cs typeface="メイリオ"/>
              </a:rPr>
              <a:t>前後検索でユーザーニーズを捉え、友だち追加直後のステップ配信に反映</a:t>
            </a:r>
            <a:endParaRPr sz="2400" b="1" dirty="0">
              <a:solidFill>
                <a:srgbClr val="1F285A"/>
              </a:solidFill>
              <a:latin typeface="メイリオ"/>
              <a:ea typeface="メイリオ"/>
              <a:cs typeface="メイリオ"/>
            </a:endParaRPr>
          </a:p>
        </p:txBody>
      </p:sp>
      <p:sp>
        <p:nvSpPr>
          <p:cNvPr id="150" name="二等辺三角形 149">
            <a:extLst>
              <a:ext uri="{FF2B5EF4-FFF2-40B4-BE49-F238E27FC236}">
                <a16:creationId xmlns:a16="http://schemas.microsoft.com/office/drawing/2014/main" id="{45749858-75C5-B795-5AA4-35BD51777768}"/>
              </a:ext>
            </a:extLst>
          </p:cNvPr>
          <p:cNvSpPr/>
          <p:nvPr/>
        </p:nvSpPr>
        <p:spPr>
          <a:xfrm rot="10800000">
            <a:off x="7082247" y="5077100"/>
            <a:ext cx="171834" cy="290396"/>
          </a:xfrm>
          <a:prstGeom prst="triangle">
            <a:avLst/>
          </a:prstGeom>
          <a:solidFill>
            <a:srgbClr val="00B050">
              <a:alpha val="8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kumimoji="1" lang="ja-JP" altLang="en-US" sz="2000"/>
          </a:p>
        </p:txBody>
      </p:sp>
      <p:sp>
        <p:nvSpPr>
          <p:cNvPr id="152" name="Rounded Rectangle 144">
            <a:extLst>
              <a:ext uri="{FF2B5EF4-FFF2-40B4-BE49-F238E27FC236}">
                <a16:creationId xmlns:a16="http://schemas.microsoft.com/office/drawing/2014/main" id="{9271364C-3269-6287-1367-C96CC9B7B278}"/>
              </a:ext>
            </a:extLst>
          </p:cNvPr>
          <p:cNvSpPr/>
          <p:nvPr/>
        </p:nvSpPr>
        <p:spPr>
          <a:xfrm>
            <a:off x="7370999" y="5025751"/>
            <a:ext cx="1901250" cy="360000"/>
          </a:xfrm>
          <a:prstGeom prst="roundRect">
            <a:avLst>
              <a:gd name="adj" fmla="val 30000"/>
            </a:avLst>
          </a:prstGeom>
          <a:solidFill>
            <a:srgbClr val="E8F8EE"/>
          </a:solidFill>
          <a:ln>
            <a:noFill/>
          </a:ln>
          <a:effectLst/>
        </p:spPr>
        <p:style>
          <a:lnRef idx="1">
            <a:schemeClr val="accent1"/>
          </a:lnRef>
          <a:fillRef idx="3">
            <a:schemeClr val="accent1"/>
          </a:fillRef>
          <a:effectRef idx="0">
            <a:schemeClr val="accent1"/>
          </a:effectRef>
          <a:fontRef idx="minor">
            <a:schemeClr val="lt1"/>
          </a:fontRef>
        </p:style>
        <p:txBody>
          <a:bodyPr wrap="square" lIns="43875" tIns="0" rIns="43875" bIns="0" rtlCol="0" anchor="ctr"/>
          <a:lstStyle/>
          <a:p>
            <a:pPr algn="ctr">
              <a:lnSpc>
                <a:spcPct val="110000"/>
              </a:lnSpc>
              <a:spcAft>
                <a:spcPts val="0"/>
              </a:spcAft>
            </a:pPr>
            <a:r>
              <a:rPr lang="ja-JP" altLang="en-US" sz="1050" b="1" dirty="0">
                <a:solidFill>
                  <a:srgbClr val="0B7A3B"/>
                </a:solidFill>
                <a:latin typeface="メイリオ"/>
                <a:ea typeface="メイリオ"/>
                <a:cs typeface="メイリオ"/>
              </a:rPr>
              <a:t>以降もナーチャリング対象</a:t>
            </a:r>
            <a:endParaRPr sz="1050" b="1" dirty="0">
              <a:solidFill>
                <a:srgbClr val="0B7A3B"/>
              </a:solidFill>
              <a:latin typeface="メイリオ"/>
              <a:ea typeface="メイリオ"/>
              <a:cs typeface="メイリオ"/>
            </a:endParaRPr>
          </a:p>
        </p:txBody>
      </p:sp>
      <p:sp>
        <p:nvSpPr>
          <p:cNvPr id="7" name="TextBox 131">
            <a:extLst>
              <a:ext uri="{FF2B5EF4-FFF2-40B4-BE49-F238E27FC236}">
                <a16:creationId xmlns:a16="http://schemas.microsoft.com/office/drawing/2014/main" id="{23F6D43A-CEDB-036F-68BB-B6F0EF86E65C}"/>
              </a:ext>
            </a:extLst>
          </p:cNvPr>
          <p:cNvSpPr txBox="1"/>
          <p:nvPr/>
        </p:nvSpPr>
        <p:spPr>
          <a:xfrm>
            <a:off x="643500" y="4768226"/>
            <a:ext cx="2486250" cy="620871"/>
          </a:xfrm>
          <a:prstGeom prst="rect">
            <a:avLst/>
          </a:prstGeom>
          <a:solidFill>
            <a:schemeClr val="bg1">
              <a:lumMod val="95000"/>
            </a:schemeClr>
          </a:solidFill>
        </p:spPr>
        <p:txBody>
          <a:bodyPr wrap="square" lIns="29250" tIns="18000" rIns="29250" bIns="18000" anchor="t">
            <a:spAutoFit/>
          </a:bodyPr>
          <a:lstStyle/>
          <a:p>
            <a:pPr>
              <a:lnSpc>
                <a:spcPct val="110000"/>
              </a:lnSpc>
              <a:spcAft>
                <a:spcPts val="200"/>
              </a:spcAft>
            </a:pPr>
            <a:r>
              <a:rPr lang="ja-JP" altLang="en-US" sz="1050" b="0" dirty="0">
                <a:solidFill>
                  <a:srgbClr val="333333"/>
                </a:solidFill>
                <a:latin typeface="メイリオ"/>
                <a:ea typeface="メイリオ"/>
                <a:cs typeface="メイリオ"/>
              </a:rPr>
              <a:t>　検討後に何を検索しているか</a:t>
            </a:r>
          </a:p>
          <a:p>
            <a:pPr>
              <a:lnSpc>
                <a:spcPct val="110000"/>
              </a:lnSpc>
              <a:spcAft>
                <a:spcPts val="200"/>
              </a:spcAft>
            </a:pPr>
            <a:r>
              <a:rPr lang="ja-JP" altLang="en-US" sz="1050" b="0" dirty="0">
                <a:solidFill>
                  <a:srgbClr val="333333"/>
                </a:solidFill>
                <a:latin typeface="メイリオ"/>
                <a:ea typeface="メイリオ"/>
                <a:cs typeface="メイリオ"/>
              </a:rPr>
              <a:t>　ユーザーの不安・比較軸</a:t>
            </a:r>
            <a:endParaRPr lang="en-US" altLang="ja-JP" sz="1050" b="0" dirty="0">
              <a:solidFill>
                <a:srgbClr val="333333"/>
              </a:solidFill>
              <a:latin typeface="メイリオ"/>
              <a:ea typeface="メイリオ"/>
              <a:cs typeface="メイリオ"/>
            </a:endParaRPr>
          </a:p>
          <a:p>
            <a:pPr>
              <a:lnSpc>
                <a:spcPct val="110000"/>
              </a:lnSpc>
              <a:spcAft>
                <a:spcPts val="200"/>
              </a:spcAft>
            </a:pPr>
            <a:r>
              <a:rPr lang="ja-JP" altLang="en-US" sz="1050" b="0" dirty="0">
                <a:solidFill>
                  <a:srgbClr val="333333"/>
                </a:solidFill>
                <a:latin typeface="メイリオ"/>
                <a:ea typeface="メイリオ"/>
                <a:cs typeface="メイリオ"/>
              </a:rPr>
              <a:t>　・関心テーマを把握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DYMのコンサル支援内容・費用</a:t>
            </a: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ツール導入だけではなく、CPO改善に向けたLINE運用まで支援</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Pentagon 5"/>
          <p:cNvSpPr/>
          <p:nvPr/>
        </p:nvSpPr>
        <p:spPr>
          <a:xfrm>
            <a:off x="643500" y="1800000"/>
            <a:ext cx="2233969" cy="864000"/>
          </a:xfrm>
          <a:prstGeom prst="homePlate">
            <a:avLst>
              <a:gd name="adj" fmla="val 22000"/>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7" name="TextBox 6"/>
          <p:cNvSpPr txBox="1"/>
          <p:nvPr/>
        </p:nvSpPr>
        <p:spPr>
          <a:xfrm>
            <a:off x="731250" y="2112258"/>
            <a:ext cx="1985344" cy="239484"/>
          </a:xfrm>
          <a:prstGeom prst="rect">
            <a:avLst/>
          </a:prstGeom>
          <a:noFill/>
        </p:spPr>
        <p:txBody>
          <a:bodyPr wrap="square" lIns="29250" tIns="18000" rIns="29250" bIns="18000" anchor="ctr">
            <a:spAutoFit/>
          </a:bodyPr>
          <a:lstStyle/>
          <a:p>
            <a:pPr algn="ctr">
              <a:lnSpc>
                <a:spcPct val="110000"/>
              </a:lnSpc>
              <a:spcAft>
                <a:spcPts val="0"/>
              </a:spcAft>
            </a:pPr>
            <a:r>
              <a:rPr sz="1200" b="1">
                <a:solidFill>
                  <a:srgbClr val="FFFFFF"/>
                </a:solidFill>
                <a:latin typeface="メイリオ"/>
                <a:ea typeface="メイリオ"/>
                <a:cs typeface="メイリオ"/>
              </a:rPr>
              <a:t>① サンクスLINE導入</a:t>
            </a:r>
          </a:p>
        </p:txBody>
      </p:sp>
      <p:sp>
        <p:nvSpPr>
          <p:cNvPr id="8" name="Chevron 7"/>
          <p:cNvSpPr/>
          <p:nvPr/>
        </p:nvSpPr>
        <p:spPr>
          <a:xfrm>
            <a:off x="2775094" y="1800000"/>
            <a:ext cx="2233969" cy="864000"/>
          </a:xfrm>
          <a:prstGeom prst="chevron">
            <a:avLst>
              <a:gd name="adj" fmla="val 22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9" name="TextBox 8"/>
          <p:cNvSpPr txBox="1"/>
          <p:nvPr/>
        </p:nvSpPr>
        <p:spPr>
          <a:xfrm>
            <a:off x="2965219" y="2112258"/>
            <a:ext cx="1882969" cy="239484"/>
          </a:xfrm>
          <a:prstGeom prst="rect">
            <a:avLst/>
          </a:prstGeom>
          <a:noFill/>
        </p:spPr>
        <p:txBody>
          <a:bodyPr wrap="square" lIns="29250" tIns="18000" rIns="29250" bIns="18000" anchor="ctr">
            <a:spAutoFit/>
          </a:bodyPr>
          <a:lstStyle/>
          <a:p>
            <a:pPr algn="ctr">
              <a:lnSpc>
                <a:spcPct val="110000"/>
              </a:lnSpc>
              <a:spcAft>
                <a:spcPts val="0"/>
              </a:spcAft>
            </a:pPr>
            <a:r>
              <a:rPr sz="1200" b="1">
                <a:solidFill>
                  <a:srgbClr val="FFFFFF"/>
                </a:solidFill>
                <a:latin typeface="メイリオ"/>
                <a:ea typeface="メイリオ"/>
                <a:cs typeface="メイリオ"/>
              </a:rPr>
              <a:t>② LINE配信設計</a:t>
            </a:r>
          </a:p>
        </p:txBody>
      </p:sp>
      <p:sp>
        <p:nvSpPr>
          <p:cNvPr id="10" name="Chevron 9"/>
          <p:cNvSpPr/>
          <p:nvPr/>
        </p:nvSpPr>
        <p:spPr>
          <a:xfrm>
            <a:off x="4906688" y="1800000"/>
            <a:ext cx="2233969" cy="864000"/>
          </a:xfrm>
          <a:prstGeom prst="chevron">
            <a:avLst>
              <a:gd name="adj" fmla="val 22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1" name="TextBox 10"/>
          <p:cNvSpPr txBox="1"/>
          <p:nvPr/>
        </p:nvSpPr>
        <p:spPr>
          <a:xfrm>
            <a:off x="5096812" y="2112258"/>
            <a:ext cx="1882969" cy="239484"/>
          </a:xfrm>
          <a:prstGeom prst="rect">
            <a:avLst/>
          </a:prstGeom>
          <a:noFill/>
        </p:spPr>
        <p:txBody>
          <a:bodyPr wrap="square" lIns="29250" tIns="18000" rIns="29250" bIns="18000" anchor="ctr">
            <a:spAutoFit/>
          </a:bodyPr>
          <a:lstStyle/>
          <a:p>
            <a:pPr algn="ctr">
              <a:lnSpc>
                <a:spcPct val="110000"/>
              </a:lnSpc>
              <a:spcAft>
                <a:spcPts val="0"/>
              </a:spcAft>
            </a:pPr>
            <a:r>
              <a:rPr sz="1200" b="1">
                <a:solidFill>
                  <a:srgbClr val="FFFFFF"/>
                </a:solidFill>
                <a:latin typeface="メイリオ"/>
                <a:ea typeface="メイリオ"/>
                <a:cs typeface="メイリオ"/>
              </a:rPr>
              <a:t>③ 効果計測</a:t>
            </a:r>
          </a:p>
        </p:txBody>
      </p:sp>
      <p:sp>
        <p:nvSpPr>
          <p:cNvPr id="12" name="Chevron 11"/>
          <p:cNvSpPr/>
          <p:nvPr/>
        </p:nvSpPr>
        <p:spPr>
          <a:xfrm>
            <a:off x="7038281" y="1800000"/>
            <a:ext cx="2233969" cy="864000"/>
          </a:xfrm>
          <a:prstGeom prst="chevron">
            <a:avLst>
              <a:gd name="adj" fmla="val 22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400"/>
          </a:p>
        </p:txBody>
      </p:sp>
      <p:sp>
        <p:nvSpPr>
          <p:cNvPr id="13" name="TextBox 12"/>
          <p:cNvSpPr txBox="1"/>
          <p:nvPr/>
        </p:nvSpPr>
        <p:spPr>
          <a:xfrm>
            <a:off x="7228406" y="2112258"/>
            <a:ext cx="1882969" cy="239484"/>
          </a:xfrm>
          <a:prstGeom prst="rect">
            <a:avLst/>
          </a:prstGeom>
          <a:noFill/>
        </p:spPr>
        <p:txBody>
          <a:bodyPr wrap="square" lIns="29250" tIns="18000" rIns="29250" bIns="18000" anchor="ctr">
            <a:spAutoFit/>
          </a:bodyPr>
          <a:lstStyle/>
          <a:p>
            <a:pPr algn="ctr">
              <a:lnSpc>
                <a:spcPct val="110000"/>
              </a:lnSpc>
              <a:spcAft>
                <a:spcPts val="0"/>
              </a:spcAft>
            </a:pPr>
            <a:r>
              <a:rPr sz="1200" b="1">
                <a:solidFill>
                  <a:srgbClr val="FFFFFF"/>
                </a:solidFill>
                <a:latin typeface="メイリオ"/>
                <a:ea typeface="メイリオ"/>
                <a:cs typeface="メイリオ"/>
              </a:rPr>
              <a:t>④ 改善</a:t>
            </a:r>
          </a:p>
        </p:txBody>
      </p:sp>
      <p:sp>
        <p:nvSpPr>
          <p:cNvPr id="14" name="Rounded Rectangle 13"/>
          <p:cNvSpPr/>
          <p:nvPr/>
        </p:nvSpPr>
        <p:spPr>
          <a:xfrm>
            <a:off x="760500" y="2844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導線設計</a:t>
            </a:r>
          </a:p>
        </p:txBody>
      </p:sp>
      <p:sp>
        <p:nvSpPr>
          <p:cNvPr id="15" name="Rounded Rectangle 14"/>
          <p:cNvSpPr/>
          <p:nvPr/>
        </p:nvSpPr>
        <p:spPr>
          <a:xfrm>
            <a:off x="760500" y="3186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設定支援</a:t>
            </a:r>
          </a:p>
        </p:txBody>
      </p:sp>
      <p:sp>
        <p:nvSpPr>
          <p:cNvPr id="16" name="Rounded Rectangle 15"/>
          <p:cNvSpPr/>
          <p:nvPr/>
        </p:nvSpPr>
        <p:spPr>
          <a:xfrm>
            <a:off x="2892094" y="2844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あいさつメッセージ</a:t>
            </a:r>
          </a:p>
        </p:txBody>
      </p:sp>
      <p:sp>
        <p:nvSpPr>
          <p:cNvPr id="17" name="Rounded Rectangle 16"/>
          <p:cNvSpPr/>
          <p:nvPr/>
        </p:nvSpPr>
        <p:spPr>
          <a:xfrm>
            <a:off x="2892094" y="3186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ステップ配信</a:t>
            </a:r>
          </a:p>
        </p:txBody>
      </p:sp>
      <p:sp>
        <p:nvSpPr>
          <p:cNvPr id="18" name="Rounded Rectangle 17"/>
          <p:cNvSpPr/>
          <p:nvPr/>
        </p:nvSpPr>
        <p:spPr>
          <a:xfrm>
            <a:off x="2892094" y="3528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リマインド</a:t>
            </a:r>
          </a:p>
        </p:txBody>
      </p:sp>
      <p:sp>
        <p:nvSpPr>
          <p:cNvPr id="19" name="Rounded Rectangle 18"/>
          <p:cNvSpPr/>
          <p:nvPr/>
        </p:nvSpPr>
        <p:spPr>
          <a:xfrm>
            <a:off x="2892094" y="3870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セグメント配信</a:t>
            </a:r>
          </a:p>
        </p:txBody>
      </p:sp>
      <p:sp>
        <p:nvSpPr>
          <p:cNvPr id="20" name="Rounded Rectangle 19"/>
          <p:cNvSpPr/>
          <p:nvPr/>
        </p:nvSpPr>
        <p:spPr>
          <a:xfrm>
            <a:off x="5023688" y="2844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友だち追加数</a:t>
            </a:r>
          </a:p>
        </p:txBody>
      </p:sp>
      <p:sp>
        <p:nvSpPr>
          <p:cNvPr id="21" name="Rounded Rectangle 20"/>
          <p:cNvSpPr/>
          <p:nvPr/>
        </p:nvSpPr>
        <p:spPr>
          <a:xfrm>
            <a:off x="5023688" y="3186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LINE経由CV</a:t>
            </a:r>
          </a:p>
        </p:txBody>
      </p:sp>
      <p:sp>
        <p:nvSpPr>
          <p:cNvPr id="22" name="Rounded Rectangle 21"/>
          <p:cNvSpPr/>
          <p:nvPr/>
        </p:nvSpPr>
        <p:spPr>
          <a:xfrm>
            <a:off x="5023688" y="3528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来店・面談・購入</a:t>
            </a:r>
          </a:p>
        </p:txBody>
      </p:sp>
      <p:sp>
        <p:nvSpPr>
          <p:cNvPr id="23" name="Rounded Rectangle 22"/>
          <p:cNvSpPr/>
          <p:nvPr/>
        </p:nvSpPr>
        <p:spPr>
          <a:xfrm>
            <a:off x="7155281" y="2844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配信内容</a:t>
            </a:r>
          </a:p>
        </p:txBody>
      </p:sp>
      <p:sp>
        <p:nvSpPr>
          <p:cNvPr id="24" name="Rounded Rectangle 23"/>
          <p:cNvSpPr/>
          <p:nvPr/>
        </p:nvSpPr>
        <p:spPr>
          <a:xfrm>
            <a:off x="7155281" y="3186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配信タイミング</a:t>
            </a:r>
          </a:p>
        </p:txBody>
      </p:sp>
      <p:sp>
        <p:nvSpPr>
          <p:cNvPr id="25" name="Rounded Rectangle 24"/>
          <p:cNvSpPr/>
          <p:nvPr/>
        </p:nvSpPr>
        <p:spPr>
          <a:xfrm>
            <a:off x="7155281" y="3528000"/>
            <a:ext cx="1941469" cy="288000"/>
          </a:xfrm>
          <a:prstGeom prst="roundRect">
            <a:avLst>
              <a:gd name="adj" fmla="val 50000"/>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14625" tIns="0" rIns="14625" bIns="0" rtlCol="0" anchor="ctr"/>
          <a:lstStyle/>
          <a:p>
            <a:pPr algn="ctr">
              <a:lnSpc>
                <a:spcPct val="110000"/>
              </a:lnSpc>
              <a:spcAft>
                <a:spcPts val="0"/>
              </a:spcAft>
            </a:pPr>
            <a:r>
              <a:rPr sz="1100" b="1">
                <a:solidFill>
                  <a:srgbClr val="333333"/>
                </a:solidFill>
                <a:latin typeface="メイリオ"/>
                <a:ea typeface="メイリオ"/>
                <a:cs typeface="メイリオ"/>
              </a:rPr>
              <a:t>導線</a:t>
            </a:r>
          </a:p>
        </p:txBody>
      </p:sp>
      <p:sp>
        <p:nvSpPr>
          <p:cNvPr id="26" name="TextBox 25"/>
          <p:cNvSpPr txBox="1"/>
          <p:nvPr/>
        </p:nvSpPr>
        <p:spPr>
          <a:xfrm>
            <a:off x="7155281" y="3911185"/>
            <a:ext cx="1941469" cy="205629"/>
          </a:xfrm>
          <a:prstGeom prst="rect">
            <a:avLst/>
          </a:prstGeom>
          <a:noFill/>
        </p:spPr>
        <p:txBody>
          <a:bodyPr wrap="square" lIns="29250" tIns="18000" rIns="29250" bIns="18000" anchor="ctr">
            <a:spAutoFit/>
          </a:bodyPr>
          <a:lstStyle/>
          <a:p>
            <a:pPr algn="ctr">
              <a:lnSpc>
                <a:spcPct val="110000"/>
              </a:lnSpc>
              <a:spcAft>
                <a:spcPts val="0"/>
              </a:spcAft>
            </a:pPr>
            <a:r>
              <a:rPr sz="1000" b="0" dirty="0" err="1">
                <a:solidFill>
                  <a:srgbClr val="7F7F7F"/>
                </a:solidFill>
                <a:latin typeface="メイリオ"/>
                <a:ea typeface="メイリオ"/>
                <a:cs typeface="メイリオ"/>
              </a:rPr>
              <a:t>を継続改善</a:t>
            </a:r>
            <a:endParaRPr sz="1000" b="0" dirty="0">
              <a:solidFill>
                <a:srgbClr val="7F7F7F"/>
              </a:solidFill>
              <a:latin typeface="メイリオ"/>
              <a:ea typeface="メイリオ"/>
              <a:cs typeface="メイリオ"/>
            </a:endParaRPr>
          </a:p>
        </p:txBody>
      </p:sp>
      <p:cxnSp>
        <p:nvCxnSpPr>
          <p:cNvPr id="27" name="Connector 26"/>
          <p:cNvCxnSpPr/>
          <p:nvPr/>
        </p:nvCxnSpPr>
        <p:spPr>
          <a:xfrm>
            <a:off x="8126016" y="4212000"/>
            <a:ext cx="0" cy="251999"/>
          </a:xfrm>
          <a:prstGeom prst="line">
            <a:avLst/>
          </a:prstGeom>
          <a:ln w="19050">
            <a:solidFill>
              <a:srgbClr val="1F285A"/>
            </a:solidFill>
          </a:ln>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3862828" y="4463999"/>
            <a:ext cx="4263188" cy="0"/>
          </a:xfrm>
          <a:prstGeom prst="line">
            <a:avLst/>
          </a:prstGeom>
          <a:ln w="19050">
            <a:solidFill>
              <a:srgbClr val="1F285A"/>
            </a:solidFill>
          </a:ln>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V="1">
            <a:off x="3862828" y="4230000"/>
            <a:ext cx="0" cy="233999"/>
          </a:xfrm>
          <a:prstGeom prst="line">
            <a:avLst/>
          </a:prstGeom>
          <a:ln w="19050">
            <a:solidFill>
              <a:srgbClr val="1F285A"/>
            </a:solidFill>
            <a:tailEnd type="triangle" w="med" len="med"/>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3950578" y="4487185"/>
            <a:ext cx="2925000" cy="205629"/>
          </a:xfrm>
          <a:prstGeom prst="rect">
            <a:avLst/>
          </a:prstGeom>
          <a:noFill/>
        </p:spPr>
        <p:txBody>
          <a:bodyPr wrap="square" lIns="29250" tIns="18000" rIns="29250" bIns="18000" anchor="ctr">
            <a:spAutoFit/>
          </a:bodyPr>
          <a:lstStyle/>
          <a:p>
            <a:pPr algn="l">
              <a:lnSpc>
                <a:spcPct val="110000"/>
              </a:lnSpc>
              <a:spcAft>
                <a:spcPts val="0"/>
              </a:spcAft>
            </a:pPr>
            <a:r>
              <a:rPr sz="1000" b="0">
                <a:solidFill>
                  <a:srgbClr val="7F7F7F"/>
                </a:solidFill>
                <a:latin typeface="メイリオ"/>
                <a:ea typeface="メイリオ"/>
                <a:cs typeface="メイリオ"/>
              </a:rPr>
              <a:t>計測結果をもとに、配信・導線を見直す</a:t>
            </a:r>
          </a:p>
        </p:txBody>
      </p:sp>
      <p:cxnSp>
        <p:nvCxnSpPr>
          <p:cNvPr id="31" name="Connector 30"/>
          <p:cNvCxnSpPr/>
          <p:nvPr/>
        </p:nvCxnSpPr>
        <p:spPr>
          <a:xfrm>
            <a:off x="643500" y="5043465"/>
            <a:ext cx="862875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2" name="Rectangle 31"/>
          <p:cNvSpPr/>
          <p:nvPr/>
        </p:nvSpPr>
        <p:spPr>
          <a:xfrm>
            <a:off x="643500" y="5194665"/>
            <a:ext cx="48502" cy="179999"/>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800"/>
          </a:p>
        </p:txBody>
      </p:sp>
      <p:sp>
        <p:nvSpPr>
          <p:cNvPr id="33" name="TextBox 32"/>
          <p:cNvSpPr txBox="1"/>
          <p:nvPr/>
        </p:nvSpPr>
        <p:spPr>
          <a:xfrm>
            <a:off x="745875" y="5175187"/>
            <a:ext cx="3772348" cy="222556"/>
          </a:xfrm>
          <a:prstGeom prst="rect">
            <a:avLst/>
          </a:prstGeom>
          <a:noFill/>
        </p:spPr>
        <p:txBody>
          <a:bodyPr wrap="square" lIns="29250" tIns="18000" rIns="29250" bIns="18000" anchor="ctr">
            <a:spAutoFit/>
          </a:bodyPr>
          <a:lstStyle/>
          <a:p>
            <a:pPr algn="l">
              <a:lnSpc>
                <a:spcPct val="110000"/>
              </a:lnSpc>
              <a:spcAft>
                <a:spcPts val="0"/>
              </a:spcAft>
            </a:pPr>
            <a:r>
              <a:rPr sz="1100" b="1">
                <a:solidFill>
                  <a:srgbClr val="1F285A"/>
                </a:solidFill>
                <a:latin typeface="メイリオ"/>
                <a:ea typeface="メイリオ"/>
                <a:cs typeface="メイリオ"/>
              </a:rPr>
              <a:t>① サンクスLINE誘導ツール｜費用目安</a:t>
            </a:r>
          </a:p>
        </p:txBody>
      </p:sp>
      <p:sp>
        <p:nvSpPr>
          <p:cNvPr id="34" name="TextBox 33"/>
          <p:cNvSpPr txBox="1"/>
          <p:nvPr/>
        </p:nvSpPr>
        <p:spPr>
          <a:xfrm>
            <a:off x="643500" y="5544136"/>
            <a:ext cx="1933329" cy="312660"/>
          </a:xfrm>
          <a:prstGeom prst="rect">
            <a:avLst/>
          </a:prstGeom>
          <a:noFill/>
        </p:spPr>
        <p:txBody>
          <a:bodyPr wrap="square" lIns="29250" tIns="10800" rIns="29250" bIns="10800" anchor="ctr">
            <a:spAutoFit/>
          </a:bodyPr>
          <a:lstStyle/>
          <a:p>
            <a:pPr algn="ctr">
              <a:lnSpc>
                <a:spcPct val="105000"/>
              </a:lnSpc>
              <a:spcAft>
                <a:spcPts val="200"/>
              </a:spcAft>
            </a:pPr>
            <a:r>
              <a:rPr sz="1000" b="0">
                <a:solidFill>
                  <a:srgbClr val="7F7F7F"/>
                </a:solidFill>
                <a:latin typeface="メイリオ"/>
                <a:ea typeface="メイリオ"/>
                <a:cs typeface="メイリオ"/>
              </a:rPr>
              <a:t>初期　</a:t>
            </a:r>
            <a:r>
              <a:rPr b="1">
                <a:solidFill>
                  <a:srgbClr val="1F285A"/>
                </a:solidFill>
                <a:latin typeface="メイリオ"/>
                <a:ea typeface="メイリオ"/>
                <a:cs typeface="メイリオ"/>
              </a:rPr>
              <a:t>15万円</a:t>
            </a:r>
          </a:p>
        </p:txBody>
      </p:sp>
      <p:cxnSp>
        <p:nvCxnSpPr>
          <p:cNvPr id="35" name="Connector 34"/>
          <p:cNvCxnSpPr>
            <a:cxnSpLocks/>
          </p:cNvCxnSpPr>
          <p:nvPr/>
        </p:nvCxnSpPr>
        <p:spPr>
          <a:xfrm>
            <a:off x="2742188" y="5529465"/>
            <a:ext cx="0" cy="341999"/>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2742188" y="5544136"/>
            <a:ext cx="1933329" cy="312660"/>
          </a:xfrm>
          <a:prstGeom prst="rect">
            <a:avLst/>
          </a:prstGeom>
          <a:noFill/>
        </p:spPr>
        <p:txBody>
          <a:bodyPr wrap="square" lIns="29250" tIns="10800" rIns="29250" bIns="10800" anchor="ctr">
            <a:spAutoFit/>
          </a:bodyPr>
          <a:lstStyle/>
          <a:p>
            <a:pPr algn="ctr">
              <a:lnSpc>
                <a:spcPct val="105000"/>
              </a:lnSpc>
              <a:spcAft>
                <a:spcPts val="200"/>
              </a:spcAft>
            </a:pPr>
            <a:r>
              <a:rPr sz="1000" b="0">
                <a:solidFill>
                  <a:srgbClr val="7F7F7F"/>
                </a:solidFill>
                <a:latin typeface="メイリオ"/>
                <a:ea typeface="メイリオ"/>
                <a:cs typeface="メイリオ"/>
              </a:rPr>
              <a:t>月額　</a:t>
            </a:r>
            <a:r>
              <a:rPr b="1">
                <a:solidFill>
                  <a:srgbClr val="1F285A"/>
                </a:solidFill>
                <a:latin typeface="メイリオ"/>
                <a:ea typeface="メイリオ"/>
                <a:cs typeface="メイリオ"/>
              </a:rPr>
              <a:t>3万円〜</a:t>
            </a:r>
          </a:p>
        </p:txBody>
      </p:sp>
      <p:sp>
        <p:nvSpPr>
          <p:cNvPr id="37" name="Rectangle 36"/>
          <p:cNvSpPr/>
          <p:nvPr/>
        </p:nvSpPr>
        <p:spPr>
          <a:xfrm>
            <a:off x="4914000" y="5194665"/>
            <a:ext cx="58704" cy="179999"/>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58500" tIns="18000" rIns="58500" bIns="18000" rtlCol="0" anchor="ctr"/>
          <a:lstStyle/>
          <a:p>
            <a:pPr algn="ctr"/>
            <a:endParaRPr sz="2800"/>
          </a:p>
        </p:txBody>
      </p:sp>
      <p:sp>
        <p:nvSpPr>
          <p:cNvPr id="38" name="TextBox 37"/>
          <p:cNvSpPr txBox="1"/>
          <p:nvPr/>
        </p:nvSpPr>
        <p:spPr>
          <a:xfrm>
            <a:off x="5016375" y="5175187"/>
            <a:ext cx="4565854" cy="222556"/>
          </a:xfrm>
          <a:prstGeom prst="rect">
            <a:avLst/>
          </a:prstGeom>
          <a:noFill/>
        </p:spPr>
        <p:txBody>
          <a:bodyPr wrap="square" lIns="29250" tIns="18000" rIns="29250" bIns="18000" anchor="ctr">
            <a:spAutoFit/>
          </a:bodyPr>
          <a:lstStyle/>
          <a:p>
            <a:pPr algn="l">
              <a:lnSpc>
                <a:spcPct val="110000"/>
              </a:lnSpc>
              <a:spcAft>
                <a:spcPts val="0"/>
              </a:spcAft>
            </a:pPr>
            <a:r>
              <a:rPr sz="1100" b="1">
                <a:solidFill>
                  <a:srgbClr val="1F285A"/>
                </a:solidFill>
                <a:latin typeface="メイリオ"/>
                <a:ea typeface="メイリオ"/>
                <a:cs typeface="メイリオ"/>
              </a:rPr>
              <a:t>② LINE運用コンサル｜費用目安</a:t>
            </a:r>
          </a:p>
        </p:txBody>
      </p:sp>
      <p:sp>
        <p:nvSpPr>
          <p:cNvPr id="39" name="TextBox 38"/>
          <p:cNvSpPr txBox="1"/>
          <p:nvPr/>
        </p:nvSpPr>
        <p:spPr>
          <a:xfrm>
            <a:off x="4906688" y="5544136"/>
            <a:ext cx="1560000" cy="312660"/>
          </a:xfrm>
          <a:prstGeom prst="rect">
            <a:avLst/>
          </a:prstGeom>
          <a:noFill/>
        </p:spPr>
        <p:txBody>
          <a:bodyPr wrap="square" lIns="29250" tIns="10800" rIns="29250" bIns="10800" anchor="ctr">
            <a:spAutoFit/>
          </a:bodyPr>
          <a:lstStyle/>
          <a:p>
            <a:pPr algn="ctr">
              <a:lnSpc>
                <a:spcPct val="105000"/>
              </a:lnSpc>
              <a:spcAft>
                <a:spcPts val="200"/>
              </a:spcAft>
            </a:pPr>
            <a:r>
              <a:rPr sz="1000" b="0" dirty="0" err="1">
                <a:solidFill>
                  <a:srgbClr val="7F7F7F"/>
                </a:solidFill>
                <a:latin typeface="メイリオ"/>
                <a:ea typeface="メイリオ"/>
                <a:cs typeface="メイリオ"/>
              </a:rPr>
              <a:t>初期</a:t>
            </a:r>
            <a:r>
              <a:rPr lang="ja-JP" altLang="en-US" sz="1000" b="0" dirty="0">
                <a:solidFill>
                  <a:srgbClr val="7F7F7F"/>
                </a:solidFill>
                <a:latin typeface="メイリオ"/>
                <a:ea typeface="メイリオ"/>
                <a:cs typeface="メイリオ"/>
              </a:rPr>
              <a:t> </a:t>
            </a:r>
            <a:r>
              <a:rPr b="1" dirty="0">
                <a:solidFill>
                  <a:srgbClr val="1F285A"/>
                </a:solidFill>
                <a:latin typeface="メイリオ"/>
                <a:ea typeface="メイリオ"/>
                <a:cs typeface="メイリオ"/>
              </a:rPr>
              <a:t>10万円〜</a:t>
            </a:r>
          </a:p>
        </p:txBody>
      </p:sp>
      <p:sp>
        <p:nvSpPr>
          <p:cNvPr id="41" name="TextBox 40"/>
          <p:cNvSpPr txBox="1"/>
          <p:nvPr/>
        </p:nvSpPr>
        <p:spPr>
          <a:xfrm>
            <a:off x="6313126" y="5544136"/>
            <a:ext cx="1560000" cy="312660"/>
          </a:xfrm>
          <a:prstGeom prst="rect">
            <a:avLst/>
          </a:prstGeom>
          <a:noFill/>
        </p:spPr>
        <p:txBody>
          <a:bodyPr wrap="square" lIns="29250" tIns="10800" rIns="29250" bIns="10800" anchor="ctr">
            <a:spAutoFit/>
          </a:bodyPr>
          <a:lstStyle/>
          <a:p>
            <a:pPr algn="ctr">
              <a:lnSpc>
                <a:spcPct val="105000"/>
              </a:lnSpc>
              <a:spcAft>
                <a:spcPts val="200"/>
              </a:spcAft>
            </a:pPr>
            <a:r>
              <a:rPr sz="1000" b="0" dirty="0" err="1">
                <a:solidFill>
                  <a:srgbClr val="7F7F7F"/>
                </a:solidFill>
                <a:latin typeface="メイリオ"/>
                <a:ea typeface="メイリオ"/>
                <a:cs typeface="メイリオ"/>
              </a:rPr>
              <a:t>月額</a:t>
            </a:r>
            <a:r>
              <a:rPr lang="en-US" sz="1000" dirty="0">
                <a:solidFill>
                  <a:srgbClr val="7F7F7F"/>
                </a:solidFill>
                <a:latin typeface="メイリオ"/>
                <a:ea typeface="メイリオ"/>
                <a:cs typeface="メイリオ"/>
              </a:rPr>
              <a:t> </a:t>
            </a:r>
            <a:r>
              <a:rPr b="1" dirty="0">
                <a:solidFill>
                  <a:srgbClr val="1F285A"/>
                </a:solidFill>
                <a:latin typeface="メイリオ"/>
                <a:ea typeface="メイリオ"/>
                <a:cs typeface="メイリオ"/>
              </a:rPr>
              <a:t>20万円〜</a:t>
            </a:r>
          </a:p>
        </p:txBody>
      </p:sp>
      <p:sp>
        <p:nvSpPr>
          <p:cNvPr id="43" name="TextBox 42"/>
          <p:cNvSpPr txBox="1"/>
          <p:nvPr/>
        </p:nvSpPr>
        <p:spPr>
          <a:xfrm>
            <a:off x="7719563" y="5545867"/>
            <a:ext cx="1560000" cy="312660"/>
          </a:xfrm>
          <a:prstGeom prst="rect">
            <a:avLst/>
          </a:prstGeom>
          <a:noFill/>
        </p:spPr>
        <p:txBody>
          <a:bodyPr wrap="square" lIns="29250" tIns="10800" rIns="29250" bIns="10800" anchor="ctr">
            <a:spAutoFit/>
          </a:bodyPr>
          <a:lstStyle/>
          <a:p>
            <a:pPr algn="ctr">
              <a:lnSpc>
                <a:spcPct val="105000"/>
              </a:lnSpc>
              <a:spcAft>
                <a:spcPts val="200"/>
              </a:spcAft>
            </a:pPr>
            <a:r>
              <a:rPr sz="1000" b="0" dirty="0" err="1">
                <a:solidFill>
                  <a:srgbClr val="7F7F7F"/>
                </a:solidFill>
                <a:latin typeface="メイリオ"/>
                <a:ea typeface="メイリオ"/>
                <a:cs typeface="メイリオ"/>
              </a:rPr>
              <a:t>期間</a:t>
            </a:r>
            <a:r>
              <a:rPr lang="en-US" sz="1000" dirty="0">
                <a:solidFill>
                  <a:srgbClr val="7F7F7F"/>
                </a:solidFill>
                <a:latin typeface="メイリオ"/>
                <a:ea typeface="メイリオ"/>
                <a:cs typeface="メイリオ"/>
              </a:rPr>
              <a:t> </a:t>
            </a:r>
            <a:r>
              <a:rPr b="1" dirty="0">
                <a:solidFill>
                  <a:srgbClr val="1F285A"/>
                </a:solidFill>
                <a:latin typeface="メイリオ"/>
                <a:ea typeface="メイリオ"/>
                <a:cs typeface="メイリオ"/>
              </a:rPr>
              <a:t>6か月〜</a:t>
            </a:r>
          </a:p>
        </p:txBody>
      </p:sp>
      <p:cxnSp>
        <p:nvCxnSpPr>
          <p:cNvPr id="44" name="Connector 43"/>
          <p:cNvCxnSpPr>
            <a:cxnSpLocks/>
          </p:cNvCxnSpPr>
          <p:nvPr/>
        </p:nvCxnSpPr>
        <p:spPr>
          <a:xfrm>
            <a:off x="4797000" y="5151465"/>
            <a:ext cx="0" cy="791997"/>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650813" y="6016994"/>
            <a:ext cx="8628750" cy="188701"/>
          </a:xfrm>
          <a:prstGeom prst="rect">
            <a:avLst/>
          </a:prstGeom>
          <a:noFill/>
        </p:spPr>
        <p:txBody>
          <a:bodyPr wrap="square" lIns="29250" tIns="18000" rIns="29250" bIns="18000" anchor="t">
            <a:spAutoFit/>
          </a:bodyPr>
          <a:lstStyle/>
          <a:p>
            <a:pPr algn="l">
              <a:lnSpc>
                <a:spcPct val="110000"/>
              </a:lnSpc>
              <a:spcAft>
                <a:spcPts val="0"/>
              </a:spcAft>
            </a:pPr>
            <a:r>
              <a:rPr sz="900" b="0">
                <a:solidFill>
                  <a:srgbClr val="7F7F7F"/>
                </a:solidFill>
                <a:latin typeface="メイリオ"/>
                <a:ea typeface="メイリオ"/>
                <a:cs typeface="メイリオ"/>
              </a:rPr>
              <a:t>※施策内容・配信本数・連携範囲等により、費用は個別にお見積もりいたします。</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143382</TotalTime>
  <Words>1357</Words>
  <Application>Microsoft Office PowerPoint</Application>
  <PresentationFormat>A4 210 x 297 mm</PresentationFormat>
  <Paragraphs>288</Paragraphs>
  <Slides>16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16</vt:i4>
      </vt:variant>
    </vt:vector>
  </HeadingPairs>
  <TitlesOfParts>
    <vt:vector size="23"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1972</cp:revision>
  <cp:lastPrinted>2022-11-01T11:38:14Z</cp:lastPrinted>
  <dcterms:created xsi:type="dcterms:W3CDTF">2015-09-04T09:21:15Z</dcterms:created>
  <dcterms:modified xsi:type="dcterms:W3CDTF">2026-10-13T08:36:49Z</dcterms:modified>
</cp:coreProperties>
</file>