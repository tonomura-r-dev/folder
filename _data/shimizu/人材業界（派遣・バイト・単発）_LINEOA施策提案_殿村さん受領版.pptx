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9"/>
  </p:notesMasterIdLst>
  <p:handoutMasterIdLst>
    <p:handoutMasterId r:id="rId40"/>
  </p:handoutMasterIdLst>
  <p:sldIdLst>
    <p:sldId id="2363" r:id="rId3"/>
    <p:sldId id="2736" r:id="rId4"/>
    <p:sldId id="2935" r:id="rId5"/>
    <p:sldId id="2989" r:id="rId6"/>
    <p:sldId id="2991" r:id="rId7"/>
    <p:sldId id="2956" r:id="rId8"/>
    <p:sldId id="2992" r:id="rId9"/>
    <p:sldId id="2993" r:id="rId10"/>
    <p:sldId id="2996" r:id="rId11"/>
    <p:sldId id="2997" r:id="rId12"/>
    <p:sldId id="2954" r:id="rId13"/>
    <p:sldId id="2998" r:id="rId14"/>
    <p:sldId id="2999" r:id="rId15"/>
    <p:sldId id="3000" r:id="rId16"/>
    <p:sldId id="3001" r:id="rId17"/>
    <p:sldId id="2953" r:id="rId18"/>
    <p:sldId id="3002" r:id="rId19"/>
    <p:sldId id="3003" r:id="rId20"/>
    <p:sldId id="3004" r:id="rId21"/>
    <p:sldId id="2908" r:id="rId22"/>
    <p:sldId id="3006" r:id="rId23"/>
    <p:sldId id="3008" r:id="rId24"/>
    <p:sldId id="1169" r:id="rId25"/>
    <p:sldId id="2990" r:id="rId26"/>
    <p:sldId id="2762" r:id="rId27"/>
    <p:sldId id="2962" r:id="rId28"/>
    <p:sldId id="2937" r:id="rId29"/>
    <p:sldId id="2966" r:id="rId30"/>
    <p:sldId id="3005" r:id="rId31"/>
    <p:sldId id="2994" r:id="rId32"/>
    <p:sldId id="2995" r:id="rId33"/>
    <p:sldId id="2988" r:id="rId34"/>
    <p:sldId id="2955" r:id="rId35"/>
    <p:sldId id="2967" r:id="rId36"/>
    <p:sldId id="2939" r:id="rId37"/>
    <p:sldId id="2942" r:id="rId38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23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B1800-D47D-9623-88C4-F3F1B11E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B704ED9-0313-110E-A57A-A9A15550F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01CA249-8084-E89C-5484-AD2CD6CA5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B72AE6-8350-35EF-B366-1B6DD9FAA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630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3.emf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最上位パートナーの知見を活用し、獲得に強い動線を構築する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370923" y="3787151"/>
            <a:ext cx="3164151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3370923" y="4259665"/>
            <a:ext cx="3164151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業界：人材（派遣・バイト・単発）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D3533E4-0377-76E5-495C-9BA89161C5A7}"/>
              </a:ext>
            </a:extLst>
          </p:cNvPr>
          <p:cNvSpPr txBox="1"/>
          <p:nvPr/>
        </p:nvSpPr>
        <p:spPr>
          <a:xfrm>
            <a:off x="677829" y="118686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資料アジェンダ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87600"/>
            <a:ext cx="9043200" cy="684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派遣・バイトの応募は数日で決まり、次の仕事探しでまた始まる。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一度来た人に、応募のたびに戻ってきてもらう提案です。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5444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2000" y="16020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16020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15444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dirty="0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第1章｜背景と強み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17048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応募のたびに接点が切れている実態と、LINEでできること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21852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2000" y="22428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000" y="22428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21852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第2章｜全体戦略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23456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ja-JP" altLang="en-US" sz="1400" b="1" dirty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メイン</a:t>
            </a:r>
            <a:r>
              <a:rPr sz="1400" b="1" dirty="0" err="1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は契約満了からの再応募。データの裏付け</a:t>
            </a:r>
            <a:endParaRPr sz="1400" b="1" dirty="0">
              <a:solidFill>
                <a:srgbClr val="333333"/>
              </a:solidFill>
              <a:latin typeface="Meiryo"/>
              <a:ea typeface="メイリオ"/>
              <a:cs typeface="Meiryo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2000" y="2826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2000" y="2883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000" y="2883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000" y="2826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第3章｜新規獲得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8000" y="29864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友だち追加の動線・初動（あいさつ＋条件5問）・リッチメニュー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4668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2000" y="35244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2000" y="35244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000" y="34668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第4章｜配信設計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8000" y="36272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★</a:t>
            </a:r>
            <a:r>
              <a:rPr lang="ja-JP" altLang="en-US" sz="1400" b="1" dirty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メイン施策</a:t>
            </a:r>
            <a:r>
              <a:rPr sz="1400" b="1" dirty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｜7日ステップ・実文面・満了フォロー・</a:t>
            </a:r>
            <a:r>
              <a:rPr sz="1400" b="1" dirty="0" err="1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通知メッセージ</a:t>
            </a:r>
            <a:endParaRPr sz="1400" b="1" dirty="0">
              <a:solidFill>
                <a:srgbClr val="333333"/>
              </a:solidFill>
              <a:latin typeface="Meiryo"/>
              <a:ea typeface="メイリオ"/>
              <a:cs typeface="Meiryo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32000" y="41076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2000" y="41652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2000" y="41652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6000" y="41076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Meiryo"/>
                <a:ea typeface="メイリオ"/>
                <a:cs typeface="Meiryo"/>
              </a:rPr>
              <a:t>第5章｜体制実績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8000" y="42680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運用サポート体制・LINEOA実績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000" y="47484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22000" y="48060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2000" y="48060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6000" y="47484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D7D31"/>
                </a:solidFill>
                <a:latin typeface="Meiryo"/>
                <a:ea typeface="メイリオ"/>
                <a:cs typeface="Meiryo"/>
              </a:rPr>
              <a:t>第6章｜費用試算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8000" y="49088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 err="1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費用プラン</a:t>
            </a:r>
            <a:endParaRPr sz="1400" b="1" dirty="0">
              <a:solidFill>
                <a:srgbClr val="333333"/>
              </a:solidFill>
              <a:latin typeface="Meiryo"/>
              <a:ea typeface="メイリオ"/>
              <a:cs typeface="Meiryo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32000" y="6112461"/>
            <a:ext cx="9043200" cy="403878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ED7D31"/>
                </a:solidFill>
                <a:latin typeface="Meiryo"/>
                <a:ea typeface="メイリオ"/>
                <a:cs typeface="Meiryo"/>
              </a:rPr>
              <a:t>★ 本丸は「第4章 </a:t>
            </a:r>
            <a:r>
              <a:rPr sz="1100" b="1" dirty="0" err="1">
                <a:solidFill>
                  <a:srgbClr val="ED7D31"/>
                </a:solidFill>
                <a:latin typeface="Meiryo"/>
                <a:ea typeface="メイリオ"/>
                <a:cs typeface="Meiryo"/>
              </a:rPr>
              <a:t>育成・効率化</a:t>
            </a:r>
            <a:r>
              <a:rPr sz="1100" b="1" dirty="0">
                <a:solidFill>
                  <a:srgbClr val="ED7D31"/>
                </a:solidFill>
                <a:latin typeface="Meiryo"/>
                <a:ea typeface="メイリオ"/>
                <a:cs typeface="Meiryo"/>
              </a:rPr>
              <a:t>」。</a:t>
            </a:r>
            <a:r>
              <a:rPr sz="1100" b="1" dirty="0" err="1">
                <a:solidFill>
                  <a:srgbClr val="ED7D31"/>
                </a:solidFill>
                <a:latin typeface="Meiryo"/>
                <a:ea typeface="メイリオ"/>
                <a:cs typeface="Meiryo"/>
              </a:rPr>
              <a:t>広告費を増やさずに、同じ人に何度も応募してもらいます</a:t>
            </a:r>
            <a:r>
              <a:rPr sz="1100" b="1" dirty="0">
                <a:solidFill>
                  <a:srgbClr val="ED7D31"/>
                </a:solidFill>
                <a:latin typeface="Meiryo"/>
                <a:ea typeface="メイリオ"/>
                <a:cs typeface="Meiryo"/>
              </a:rPr>
              <a:t>。</a:t>
            </a:r>
            <a:endParaRPr lang="en-US" sz="1100" b="1" dirty="0">
              <a:solidFill>
                <a:srgbClr val="ED7D31"/>
              </a:solidFill>
              <a:latin typeface="Meiryo"/>
              <a:ea typeface="メイリオ"/>
              <a:cs typeface="Meiryo"/>
            </a:endParaRPr>
          </a:p>
          <a:p>
            <a:pPr algn="l">
              <a:lnSpc>
                <a:spcPct val="115000"/>
              </a:lnSpc>
            </a:pPr>
            <a:r>
              <a:rPr sz="1100" b="1" dirty="0" err="1">
                <a:solidFill>
                  <a:srgbClr val="ED7D31"/>
                </a:solidFill>
                <a:latin typeface="Meiryo"/>
                <a:ea typeface="メイリオ"/>
                <a:cs typeface="Meiryo"/>
              </a:rPr>
              <a:t>派遣を中心に設計し、バイト・単発は共通する範囲で扱います</a:t>
            </a:r>
            <a:endParaRPr sz="1100" b="1" dirty="0">
              <a:solidFill>
                <a:srgbClr val="ED7D31"/>
              </a:solidFill>
              <a:latin typeface="Meiryo"/>
              <a:ea typeface="メイリオ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5303208C-F2F3-3716-B706-B8EDA63E9750}"/>
              </a:ext>
            </a:extLst>
          </p:cNvPr>
          <p:cNvSpPr txBox="1"/>
          <p:nvPr/>
        </p:nvSpPr>
        <p:spPr>
          <a:xfrm>
            <a:off x="547200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altLang="ja-JP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［第1章］検討背景｜応募は「決断」ではなく「とりあえず」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09600" y="686383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派遣・バイトの応募は数日で決まり、数か月でまた探し始めます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それなのに応募が終わると接点が切れ、次はまた広告で買い直しています</a:t>
            </a: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1512000"/>
            <a:ext cx="4392000" cy="3168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2000" y="1512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2000" y="151200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いま起きていること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00" y="1962000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・応募は取れている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・同じ日に何社も並べて応募している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・連絡がつかず、面接に来ない人がいる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・契約満了や閑散期に、また探し始める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次の仕事探しも、また広告</a:t>
            </a:r>
            <a:r>
              <a:rPr lang="ja-JP" altLang="en-US"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・検索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から始まる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083200" y="1512000"/>
            <a:ext cx="4392000" cy="3168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83200" y="1512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83200" y="151200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LINEに置き換えると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7200" y="1962000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・希望条件に合う新着だけが届く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・当日中に約8割が開封される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選択式なら移動中でも答えられる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・面接・職場見学の前日にリマインドできる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・契約満了の前に、こちらから声をかけられる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4878000"/>
            <a:ext cx="9043200" cy="684000"/>
          </a:xfrm>
          <a:prstGeom prst="rect">
            <a:avLst/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00" y="4959583"/>
            <a:ext cx="8755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★ 新しい応募を増やす提案ではありません。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　 一度来た人が、次の仕事探しで戻ってくる仕組みをつくる提案です。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000" y="567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32000" y="5710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応募のたびに、ゼロから買い直している</a:t>
            </a:r>
            <a:endParaRPr sz="16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出典｜開封率はLINEヤフー公式値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44384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［第1章］派遣・バイト求人のWebマーケ構造｜3つの壁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応募の単価は下げられない。求人の量と質も変えられない。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触れるのは、応募したあとと、次に探すときの2か所。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3016800" cy="23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3016800" cy="331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応募単価の高騰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400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触れない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・求人広告の単価は市況で決まる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・求人の仕入れには手を入れない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7200" y="1548000"/>
            <a:ext cx="3016800" cy="23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3517200" y="1548000"/>
            <a:ext cx="3016800" cy="331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5172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応募後の音信不通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2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95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6252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触れる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2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・同じ日に何社も並べて応募している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・電話がつながらず、面接に来ない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・職場見学の前に、不安で止まる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2400" y="1548000"/>
            <a:ext cx="3016800" cy="237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6602400" y="1548000"/>
            <a:ext cx="3016800" cy="331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6024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流入の使い捨て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0400" y="1951200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710400" y="1949347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★ここが本丸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0400" y="2268000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契約満了・閑散期にまた探し始める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そのとき、接点が残っていない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次の応募も広告から</a:t>
            </a:r>
            <a:r>
              <a:rPr lang="ja-JP" altLang="en-US"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選び</a:t>
            </a:r>
            <a:r>
              <a:rPr sz="12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直す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2000" y="4104000"/>
            <a:ext cx="9043200" cy="1302586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②③</a:t>
            </a:r>
            <a:r>
              <a:rPr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を潰すと、広告費は据え置きのまま、同じ人が繰り返し応募</a:t>
            </a:r>
            <a:endParaRPr lang="en-US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60000"/>
              </a:lnSpc>
            </a:pPr>
            <a:r>
              <a:rPr lang="ja-JP" altLang="en-US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就業・再就業につながる機会</a:t>
            </a:r>
            <a:r>
              <a:rPr lang="ja-JP" altLang="en-US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の増加</a:t>
            </a:r>
            <a:endParaRPr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60000"/>
              </a:lnSpc>
            </a:pPr>
            <a:r>
              <a:rPr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応募CPAの改善は、就業率が今と変わらないことを前提にした試算です。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触れるのは「応募したあと」と「次に探すとき」だけ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応募→面接実施率・リピート応募率は公開データが存在せず、貴社の実測が必要です／LINEは当日中に約8割が開封される（LINEヤフー公式値）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32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［第1章］Webマーケで「できること」と「できないこと」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32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先に線を引きます。変えられないことを明らかにしたうえで、変えられる場所に絞ります。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384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できないこと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84581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・求人の質と量（仕入れ）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・時給・給与などの条件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・雇用情勢そのものの動き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384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23197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・応募した直後に、希望条件だけを聞く（5問）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・条件に合う新着だけを届ける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・面接・職場見学の前日にリマインドする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・契約満了の前に、次の仕事を案内する</a:t>
            </a:r>
          </a:p>
          <a:p>
            <a:pPr algn="l">
              <a:lnSpc>
                <a:spcPct val="2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・閑散期に友だちを貯め、繁忙期の応募につなぐ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32000" y="5170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求人と条件は変えられない。変えられるのは、戻ってきてもらう仕組みだけ</a:t>
            </a:r>
            <a:endParaRPr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C912E4CC-70AD-5529-2A5A-4FA0D1C97A2B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［第2章］全体設計｜カスタマージャーニー8フェーズ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AF6C2475-3BD5-7DF2-52BD-C0F30E8072CF}"/>
              </a:ext>
            </a:extLst>
          </p:cNvPr>
          <p:cNvSpPr txBox="1"/>
          <p:nvPr/>
        </p:nvSpPr>
        <p:spPr>
          <a:xfrm>
            <a:off x="1988819" y="687600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働きたい人のカスタマージャーニーにあわせて、LINEの施策を配置します。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山は④応募ではなく⑧契約満了からの再応募。ここが本提案の主戦場です。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0721AE-E7E5-698E-E773-F2614C0DBB07}"/>
              </a:ext>
            </a:extLst>
          </p:cNvPr>
          <p:cNvCxnSpPr>
            <a:cxnSpLocks/>
          </p:cNvCxnSpPr>
          <p:nvPr/>
        </p:nvCxnSpPr>
        <p:spPr>
          <a:xfrm>
            <a:off x="315939" y="2178817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BFFC88E-A589-D631-D366-94F280EFF67D}"/>
              </a:ext>
            </a:extLst>
          </p:cNvPr>
          <p:cNvCxnSpPr>
            <a:cxnSpLocks/>
          </p:cNvCxnSpPr>
          <p:nvPr/>
        </p:nvCxnSpPr>
        <p:spPr>
          <a:xfrm>
            <a:off x="1265077" y="2190680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0E23BB-3076-5B7D-82F3-8433A2B09D1F}"/>
              </a:ext>
            </a:extLst>
          </p:cNvPr>
          <p:cNvCxnSpPr>
            <a:cxnSpLocks/>
          </p:cNvCxnSpPr>
          <p:nvPr/>
        </p:nvCxnSpPr>
        <p:spPr>
          <a:xfrm>
            <a:off x="2202413" y="2188038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A68BF14-4E95-B76C-1300-FF13B29BADF0}"/>
              </a:ext>
            </a:extLst>
          </p:cNvPr>
          <p:cNvCxnSpPr>
            <a:cxnSpLocks/>
          </p:cNvCxnSpPr>
          <p:nvPr/>
        </p:nvCxnSpPr>
        <p:spPr>
          <a:xfrm>
            <a:off x="3136468" y="2207356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558815C-4A36-8DFA-3258-ADAC642B44B6}"/>
              </a:ext>
            </a:extLst>
          </p:cNvPr>
          <p:cNvCxnSpPr>
            <a:cxnSpLocks/>
          </p:cNvCxnSpPr>
          <p:nvPr/>
        </p:nvCxnSpPr>
        <p:spPr>
          <a:xfrm>
            <a:off x="3541980" y="2217939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24DBF0-6A3A-0783-C6E3-74B28D837D9E}"/>
              </a:ext>
            </a:extLst>
          </p:cNvPr>
          <p:cNvCxnSpPr>
            <a:cxnSpLocks/>
          </p:cNvCxnSpPr>
          <p:nvPr/>
        </p:nvCxnSpPr>
        <p:spPr>
          <a:xfrm>
            <a:off x="4833781" y="2229802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9F92929-7F37-647E-2D3E-0EB84FFB20D1}"/>
              </a:ext>
            </a:extLst>
          </p:cNvPr>
          <p:cNvCxnSpPr>
            <a:cxnSpLocks/>
          </p:cNvCxnSpPr>
          <p:nvPr/>
        </p:nvCxnSpPr>
        <p:spPr>
          <a:xfrm>
            <a:off x="6125582" y="2227160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53FD7B1-4120-4E04-0DDF-B4B54EDB9BFD}"/>
              </a:ext>
            </a:extLst>
          </p:cNvPr>
          <p:cNvCxnSpPr>
            <a:cxnSpLocks/>
          </p:cNvCxnSpPr>
          <p:nvPr/>
        </p:nvCxnSpPr>
        <p:spPr>
          <a:xfrm>
            <a:off x="7417384" y="2217938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DE72C7-C765-8BB2-E494-8277E0D528BC}"/>
              </a:ext>
            </a:extLst>
          </p:cNvPr>
          <p:cNvSpPr txBox="1"/>
          <p:nvPr/>
        </p:nvSpPr>
        <p:spPr>
          <a:xfrm>
            <a:off x="3542139" y="2124167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BDDC66-06A4-F147-F6D6-595BB801B1D3}"/>
              </a:ext>
            </a:extLst>
          </p:cNvPr>
          <p:cNvSpPr txBox="1"/>
          <p:nvPr/>
        </p:nvSpPr>
        <p:spPr>
          <a:xfrm>
            <a:off x="6119413" y="2533325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5707FE-6207-A0AF-61A0-E9AABECDAC37}"/>
              </a:ext>
            </a:extLst>
          </p:cNvPr>
          <p:cNvSpPr txBox="1"/>
          <p:nvPr/>
        </p:nvSpPr>
        <p:spPr>
          <a:xfrm>
            <a:off x="4830776" y="2328746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9AFAACD-69A5-DAB7-2AB7-5204509E5CCB}"/>
              </a:ext>
            </a:extLst>
          </p:cNvPr>
          <p:cNvSpPr txBox="1"/>
          <p:nvPr/>
        </p:nvSpPr>
        <p:spPr>
          <a:xfrm>
            <a:off x="7408050" y="2737904"/>
            <a:ext cx="2352196" cy="415498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260C5F-25D5-8ED9-9E9C-2E4B97F7FE0C}"/>
              </a:ext>
            </a:extLst>
          </p:cNvPr>
          <p:cNvSpPr txBox="1"/>
          <p:nvPr/>
        </p:nvSpPr>
        <p:spPr>
          <a:xfrm>
            <a:off x="334303" y="2130251"/>
            <a:ext cx="1868111" cy="276999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6A6924-9615-4D2D-207A-2C463DAF53AF}"/>
              </a:ext>
            </a:extLst>
          </p:cNvPr>
          <p:cNvSpPr txBox="1"/>
          <p:nvPr/>
        </p:nvSpPr>
        <p:spPr>
          <a:xfrm>
            <a:off x="1268358" y="2340913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64E429-AF18-081D-2A8E-EDCE056C0C0B}"/>
              </a:ext>
            </a:extLst>
          </p:cNvPr>
          <p:cNvSpPr txBox="1"/>
          <p:nvPr/>
        </p:nvSpPr>
        <p:spPr>
          <a:xfrm>
            <a:off x="2202413" y="2535023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B99F819-3A4C-8D01-87D3-59398A0C3663}"/>
              </a:ext>
            </a:extLst>
          </p:cNvPr>
          <p:cNvSpPr txBox="1"/>
          <p:nvPr/>
        </p:nvSpPr>
        <p:spPr>
          <a:xfrm>
            <a:off x="3136468" y="2731376"/>
            <a:ext cx="1868111" cy="261610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応募・友だち追加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9810CF4-19DD-8F80-464F-FE8E1D250689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rot="5400000" flipH="1" flipV="1">
            <a:off x="4221581" y="2234721"/>
            <a:ext cx="345599" cy="6477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F2ACC73-0643-27D8-F1B3-1B871FCEF141}"/>
              </a:ext>
            </a:extLst>
          </p:cNvPr>
          <p:cNvCxnSpPr>
            <a:cxnSpLocks/>
          </p:cNvCxnSpPr>
          <p:nvPr/>
        </p:nvCxnSpPr>
        <p:spPr>
          <a:xfrm>
            <a:off x="334303" y="3515795"/>
            <a:ext cx="3207836" cy="0"/>
          </a:xfrm>
          <a:prstGeom prst="straightConnector1">
            <a:avLst/>
          </a:prstGeom>
          <a:ln w="28575">
            <a:solidFill>
              <a:srgbClr val="04FA0A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9C05BA8-18F6-F344-3C54-A5E03AFE2368}"/>
              </a:ext>
            </a:extLst>
          </p:cNvPr>
          <p:cNvCxnSpPr>
            <a:cxnSpLocks/>
          </p:cNvCxnSpPr>
          <p:nvPr/>
        </p:nvCxnSpPr>
        <p:spPr>
          <a:xfrm>
            <a:off x="3122098" y="4928015"/>
            <a:ext cx="661912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77786FC-857A-BA29-36E6-9A41C2E99F31}"/>
              </a:ext>
            </a:extLst>
          </p:cNvPr>
          <p:cNvSpPr txBox="1"/>
          <p:nvPr/>
        </p:nvSpPr>
        <p:spPr>
          <a:xfrm>
            <a:off x="1268358" y="3383509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→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1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B6D9466-EC9E-4057-AB18-8974D147F3E8}"/>
              </a:ext>
            </a:extLst>
          </p:cNvPr>
          <p:cNvSpPr txBox="1"/>
          <p:nvPr/>
        </p:nvSpPr>
        <p:spPr>
          <a:xfrm>
            <a:off x="5558554" y="4804166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➙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05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2DCC080-98CE-945F-96A2-C42DE7E0C936}"/>
              </a:ext>
            </a:extLst>
          </p:cNvPr>
          <p:cNvCxnSpPr>
            <a:cxnSpLocks/>
          </p:cNvCxnSpPr>
          <p:nvPr/>
        </p:nvCxnSpPr>
        <p:spPr>
          <a:xfrm>
            <a:off x="3609975" y="3504789"/>
            <a:ext cx="2482432" cy="0"/>
          </a:xfrm>
          <a:prstGeom prst="straightConnector1">
            <a:avLst/>
          </a:prstGeom>
          <a:ln w="28575">
            <a:solidFill>
              <a:srgbClr val="04FA0A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A293A6D-CB27-A495-B2B6-10D3182B0B70}"/>
              </a:ext>
            </a:extLst>
          </p:cNvPr>
          <p:cNvSpPr txBox="1"/>
          <p:nvPr/>
        </p:nvSpPr>
        <p:spPr>
          <a:xfrm>
            <a:off x="3908480" y="3397243"/>
            <a:ext cx="191326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既存接点→LINEOA領域</a:t>
            </a:r>
            <a:endParaRPr lang="ja-JP" altLang="en-US" sz="12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AFCBDA6-2140-B4C1-A45D-7A34BC218997}"/>
              </a:ext>
            </a:extLst>
          </p:cNvPr>
          <p:cNvSpPr/>
          <p:nvPr/>
        </p:nvSpPr>
        <p:spPr>
          <a:xfrm>
            <a:off x="334303" y="1552575"/>
            <a:ext cx="9425943" cy="448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52097C2-692E-64D7-A5ED-5C35A2EFC975}"/>
              </a:ext>
            </a:extLst>
          </p:cNvPr>
          <p:cNvCxnSpPr>
            <a:cxnSpLocks/>
          </p:cNvCxnSpPr>
          <p:nvPr/>
        </p:nvCxnSpPr>
        <p:spPr>
          <a:xfrm>
            <a:off x="417642" y="1782459"/>
            <a:ext cx="9240215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F2742C3-41F6-3CC5-6355-EC9495CFE608}"/>
              </a:ext>
            </a:extLst>
          </p:cNvPr>
          <p:cNvSpPr txBox="1"/>
          <p:nvPr/>
        </p:nvSpPr>
        <p:spPr>
          <a:xfrm>
            <a:off x="4066503" y="1654589"/>
            <a:ext cx="2315056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カスタマージャーニーマップ</a:t>
            </a:r>
            <a:endParaRPr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F6CFDE9-CDE8-1133-47F9-90F22773AF32}"/>
              </a:ext>
            </a:extLst>
          </p:cNvPr>
          <p:cNvSpPr/>
          <p:nvPr/>
        </p:nvSpPr>
        <p:spPr>
          <a:xfrm>
            <a:off x="315939" y="3613966"/>
            <a:ext cx="577646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友だち追加させるか？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</a:t>
            </a:r>
            <a:r>
              <a:rPr kumimoji="1" lang="en-US" altLang="ja-JP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</a:t>
            </a:r>
            <a:r>
              <a:rPr kumimoji="1" lang="en-US" altLang="ja-JP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DCB4B6-9411-CC10-0D34-9F40EC11AD82}"/>
              </a:ext>
            </a:extLst>
          </p:cNvPr>
          <p:cNvSpPr/>
          <p:nvPr/>
        </p:nvSpPr>
        <p:spPr>
          <a:xfrm>
            <a:off x="3122098" y="5051222"/>
            <a:ext cx="661912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どう友だちを応募に結びつけるか？（LINE→応募）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94F8848-87A6-4A24-C2DE-D4A5BD2787D7}"/>
              </a:ext>
            </a:extLst>
          </p:cNvPr>
          <p:cNvCxnSpPr>
            <a:cxnSpLocks/>
          </p:cNvCxnSpPr>
          <p:nvPr/>
        </p:nvCxnSpPr>
        <p:spPr>
          <a:xfrm>
            <a:off x="484665" y="3964795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A35DD7-3CE1-ABA2-45A4-29A5F6D013E2}"/>
              </a:ext>
            </a:extLst>
          </p:cNvPr>
          <p:cNvSpPr txBox="1"/>
          <p:nvPr/>
        </p:nvSpPr>
        <p:spPr>
          <a:xfrm>
            <a:off x="853704" y="3860734"/>
            <a:ext cx="82274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CPF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広告</a:t>
            </a:r>
            <a:endParaRPr lang="ja-JP" altLang="en-US" sz="1200" b="1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DD36FC2-6468-F5B5-EFB8-BBFB2CF7F452}"/>
              </a:ext>
            </a:extLst>
          </p:cNvPr>
          <p:cNvCxnSpPr>
            <a:cxnSpLocks/>
          </p:cNvCxnSpPr>
          <p:nvPr/>
        </p:nvCxnSpPr>
        <p:spPr>
          <a:xfrm>
            <a:off x="3442595" y="43324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2205788-B1CC-5FF9-ED78-B6DD32267E17}"/>
              </a:ext>
            </a:extLst>
          </p:cNvPr>
          <p:cNvSpPr txBox="1"/>
          <p:nvPr/>
        </p:nvSpPr>
        <p:spPr>
          <a:xfrm>
            <a:off x="3811634" y="41986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000" b="1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923E43E2-8157-8C38-4A7C-C186793E6650}"/>
              </a:ext>
            </a:extLst>
          </p:cNvPr>
          <p:cNvCxnSpPr>
            <a:cxnSpLocks/>
          </p:cNvCxnSpPr>
          <p:nvPr/>
        </p:nvCxnSpPr>
        <p:spPr>
          <a:xfrm>
            <a:off x="3442595" y="458569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B46B511-7630-9D21-552D-BAD1DCEC8387}"/>
              </a:ext>
            </a:extLst>
          </p:cNvPr>
          <p:cNvSpPr txBox="1"/>
          <p:nvPr/>
        </p:nvSpPr>
        <p:spPr>
          <a:xfrm>
            <a:off x="3811634" y="4451915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4D8562C-014D-DFB4-2D01-7479448659D1}"/>
              </a:ext>
            </a:extLst>
          </p:cNvPr>
          <p:cNvCxnSpPr>
            <a:cxnSpLocks/>
          </p:cNvCxnSpPr>
          <p:nvPr/>
        </p:nvCxnSpPr>
        <p:spPr>
          <a:xfrm>
            <a:off x="1351697" y="415316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40E1D19-5457-9319-2789-430F63EC5A42}"/>
              </a:ext>
            </a:extLst>
          </p:cNvPr>
          <p:cNvSpPr txBox="1"/>
          <p:nvPr/>
        </p:nvSpPr>
        <p:spPr>
          <a:xfrm>
            <a:off x="1720736" y="4019384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90155E9-25FB-3090-382A-CA0B7F87F965}"/>
              </a:ext>
            </a:extLst>
          </p:cNvPr>
          <p:cNvCxnSpPr>
            <a:cxnSpLocks/>
          </p:cNvCxnSpPr>
          <p:nvPr/>
        </p:nvCxnSpPr>
        <p:spPr>
          <a:xfrm>
            <a:off x="1351697" y="438431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8D35021-E114-E4DF-FF22-BF7BE0CDF4D8}"/>
              </a:ext>
            </a:extLst>
          </p:cNvPr>
          <p:cNvSpPr txBox="1"/>
          <p:nvPr/>
        </p:nvSpPr>
        <p:spPr>
          <a:xfrm>
            <a:off x="1720736" y="4250529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サイト動線の整備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6840C346-E790-A413-26C5-79129D6F5FB7}"/>
              </a:ext>
            </a:extLst>
          </p:cNvPr>
          <p:cNvCxnSpPr>
            <a:cxnSpLocks/>
          </p:cNvCxnSpPr>
          <p:nvPr/>
        </p:nvCxnSpPr>
        <p:spPr>
          <a:xfrm>
            <a:off x="3900757" y="402215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15CC99E-9A08-159E-0120-31020FC33D0F}"/>
              </a:ext>
            </a:extLst>
          </p:cNvPr>
          <p:cNvSpPr txBox="1"/>
          <p:nvPr/>
        </p:nvSpPr>
        <p:spPr>
          <a:xfrm>
            <a:off x="4269796" y="388836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既存リストの活用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26FDFF8-ECDB-0D20-5A53-4F74EF6D93F8}"/>
              </a:ext>
            </a:extLst>
          </p:cNvPr>
          <p:cNvCxnSpPr>
            <a:cxnSpLocks/>
          </p:cNvCxnSpPr>
          <p:nvPr/>
        </p:nvCxnSpPr>
        <p:spPr>
          <a:xfrm>
            <a:off x="5494489" y="432853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3517788-8A00-3CE9-B8A0-DC9904CB9E29}"/>
              </a:ext>
            </a:extLst>
          </p:cNvPr>
          <p:cNvSpPr txBox="1"/>
          <p:nvPr/>
        </p:nvSpPr>
        <p:spPr>
          <a:xfrm>
            <a:off x="5863528" y="4194746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A08B47D-236B-D58F-E880-0E520352BC81}"/>
              </a:ext>
            </a:extLst>
          </p:cNvPr>
          <p:cNvCxnSpPr>
            <a:cxnSpLocks/>
          </p:cNvCxnSpPr>
          <p:nvPr/>
        </p:nvCxnSpPr>
        <p:spPr>
          <a:xfrm>
            <a:off x="5494489" y="45913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376E216-AB77-BC34-74BE-9C14746155C3}"/>
              </a:ext>
            </a:extLst>
          </p:cNvPr>
          <p:cNvSpPr txBox="1"/>
          <p:nvPr/>
        </p:nvSpPr>
        <p:spPr>
          <a:xfrm>
            <a:off x="5863528" y="44575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6F7AD1E-A403-6C2E-4207-BA25C2D7BCC6}"/>
              </a:ext>
            </a:extLst>
          </p:cNvPr>
          <p:cNvCxnSpPr>
            <a:cxnSpLocks/>
          </p:cNvCxnSpPr>
          <p:nvPr/>
        </p:nvCxnSpPr>
        <p:spPr>
          <a:xfrm>
            <a:off x="751071" y="4630661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D798DBD-5393-6131-8034-EC789105D05B}"/>
              </a:ext>
            </a:extLst>
          </p:cNvPr>
          <p:cNvSpPr txBox="1"/>
          <p:nvPr/>
        </p:nvSpPr>
        <p:spPr>
          <a:xfrm>
            <a:off x="983946" y="4526600"/>
            <a:ext cx="1095075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SNS/</a:t>
            </a:r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メルマガ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27AED14-C910-4D3E-987F-EA62ABD18D90}"/>
              </a:ext>
            </a:extLst>
          </p:cNvPr>
          <p:cNvCxnSpPr>
            <a:cxnSpLocks/>
          </p:cNvCxnSpPr>
          <p:nvPr/>
        </p:nvCxnSpPr>
        <p:spPr>
          <a:xfrm>
            <a:off x="747965" y="4897406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644DD32-D05B-DE83-7791-37895274BDE9}"/>
              </a:ext>
            </a:extLst>
          </p:cNvPr>
          <p:cNvSpPr txBox="1"/>
          <p:nvPr/>
        </p:nvSpPr>
        <p:spPr>
          <a:xfrm>
            <a:off x="969834" y="4806108"/>
            <a:ext cx="1117086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求人誌・店頭のQR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3D532EE-6712-DE63-E452-E8BEAA167260}"/>
              </a:ext>
            </a:extLst>
          </p:cNvPr>
          <p:cNvCxnSpPr>
            <a:cxnSpLocks/>
          </p:cNvCxnSpPr>
          <p:nvPr/>
        </p:nvCxnSpPr>
        <p:spPr>
          <a:xfrm>
            <a:off x="7259810" y="444458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DD6E46-B8C3-8536-41F9-F39EB73CBD24}"/>
              </a:ext>
            </a:extLst>
          </p:cNvPr>
          <p:cNvSpPr txBox="1"/>
          <p:nvPr/>
        </p:nvSpPr>
        <p:spPr>
          <a:xfrm>
            <a:off x="7740673" y="4310804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ID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・</a:t>
            </a:r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CRM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連携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B9C84515-E6C9-A256-421E-9C3EFEBBFF17}"/>
              </a:ext>
            </a:extLst>
          </p:cNvPr>
          <p:cNvCxnSpPr>
            <a:cxnSpLocks/>
          </p:cNvCxnSpPr>
          <p:nvPr/>
        </p:nvCxnSpPr>
        <p:spPr>
          <a:xfrm>
            <a:off x="7697737" y="549519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E002B77-EFC0-55F3-D3E6-100837F9B195}"/>
              </a:ext>
            </a:extLst>
          </p:cNvPr>
          <p:cNvSpPr txBox="1"/>
          <p:nvPr/>
        </p:nvSpPr>
        <p:spPr>
          <a:xfrm>
            <a:off x="8178600" y="536140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フォロー体制</a:t>
            </a:r>
            <a:endParaRPr lang="ja-JP" altLang="en-U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03BD82C1-8BEC-3E49-C1DA-A1C214DB1C8C}"/>
              </a:ext>
            </a:extLst>
          </p:cNvPr>
          <p:cNvCxnSpPr>
            <a:cxnSpLocks/>
          </p:cNvCxnSpPr>
          <p:nvPr/>
        </p:nvCxnSpPr>
        <p:spPr>
          <a:xfrm>
            <a:off x="4519454" y="5493723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19F797F-1B6A-876C-B468-E147B3D97E8A}"/>
              </a:ext>
            </a:extLst>
          </p:cNvPr>
          <p:cNvSpPr txBox="1"/>
          <p:nvPr/>
        </p:nvSpPr>
        <p:spPr>
          <a:xfrm>
            <a:off x="5267281" y="535993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ステップ配信</a:t>
            </a:r>
            <a:endParaRPr lang="ja-JP" altLang="en-US" sz="1100" b="1" dirty="0"/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C96E67E6-B364-7DED-CDB8-DDCEEFB96AD2}"/>
              </a:ext>
            </a:extLst>
          </p:cNvPr>
          <p:cNvCxnSpPr>
            <a:cxnSpLocks/>
          </p:cNvCxnSpPr>
          <p:nvPr/>
        </p:nvCxnSpPr>
        <p:spPr>
          <a:xfrm>
            <a:off x="4519295" y="5766839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35DB4AB-DEFA-E356-751F-7106100F929E}"/>
              </a:ext>
            </a:extLst>
          </p:cNvPr>
          <p:cNvSpPr txBox="1"/>
          <p:nvPr/>
        </p:nvSpPr>
        <p:spPr>
          <a:xfrm>
            <a:off x="5267122" y="5633055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</a:t>
            </a:r>
            <a:endParaRPr lang="ja-JP" altLang="en-US" sz="1100" b="1" dirty="0"/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884810E-3E89-4CCB-C00C-B386A34717E4}"/>
              </a:ext>
            </a:extLst>
          </p:cNvPr>
          <p:cNvCxnSpPr>
            <a:cxnSpLocks/>
          </p:cNvCxnSpPr>
          <p:nvPr/>
        </p:nvCxnSpPr>
        <p:spPr>
          <a:xfrm>
            <a:off x="3798688" y="5981626"/>
            <a:ext cx="246486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6FD45AC0-2372-776F-6D16-846C0FB7AC64}"/>
              </a:ext>
            </a:extLst>
          </p:cNvPr>
          <p:cNvSpPr txBox="1"/>
          <p:nvPr/>
        </p:nvSpPr>
        <p:spPr>
          <a:xfrm>
            <a:off x="4258152" y="5863519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希望条件の回収</a:t>
            </a:r>
            <a:endParaRPr lang="ja-JP" altLang="en-US" sz="1200" b="1" dirty="0"/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5BF3558A-EBED-81EE-B158-28A7CA5D6693}"/>
              </a:ext>
            </a:extLst>
          </p:cNvPr>
          <p:cNvCxnSpPr>
            <a:cxnSpLocks/>
          </p:cNvCxnSpPr>
          <p:nvPr/>
        </p:nvCxnSpPr>
        <p:spPr>
          <a:xfrm>
            <a:off x="3797428" y="6223951"/>
            <a:ext cx="2452867" cy="611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001266CB-AC56-8914-0ACE-8B554DB19B76}"/>
              </a:ext>
            </a:extLst>
          </p:cNvPr>
          <p:cNvSpPr txBox="1"/>
          <p:nvPr/>
        </p:nvSpPr>
        <p:spPr>
          <a:xfrm>
            <a:off x="4273398" y="613356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スコアリング等</a:t>
            </a:r>
            <a:endParaRPr lang="ja-JP" altLang="en-US" sz="1000" b="1" dirty="0"/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1B403718-ABF2-11BC-1A05-A9E208B7C0F7}"/>
              </a:ext>
            </a:extLst>
          </p:cNvPr>
          <p:cNvCxnSpPr>
            <a:cxnSpLocks/>
          </p:cNvCxnSpPr>
          <p:nvPr/>
        </p:nvCxnSpPr>
        <p:spPr>
          <a:xfrm>
            <a:off x="7118366" y="5985542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B9061E8E-8F76-24D8-6F4C-BBBCDEB37FE0}"/>
              </a:ext>
            </a:extLst>
          </p:cNvPr>
          <p:cNvSpPr txBox="1"/>
          <p:nvPr/>
        </p:nvSpPr>
        <p:spPr>
          <a:xfrm>
            <a:off x="7397140" y="587111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満了時期の回収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31EBA12-BB45-627B-A1FD-F44E077537B1}"/>
              </a:ext>
            </a:extLst>
          </p:cNvPr>
          <p:cNvCxnSpPr>
            <a:cxnSpLocks/>
          </p:cNvCxnSpPr>
          <p:nvPr/>
        </p:nvCxnSpPr>
        <p:spPr>
          <a:xfrm>
            <a:off x="7048606" y="624305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B0C05E5D-44B4-DA5D-7C04-0BDC8A4602CE}"/>
              </a:ext>
            </a:extLst>
          </p:cNvPr>
          <p:cNvSpPr txBox="1"/>
          <p:nvPr/>
        </p:nvSpPr>
        <p:spPr>
          <a:xfrm>
            <a:off x="7336089" y="6137342"/>
            <a:ext cx="1288637" cy="2484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前日リマインド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9" name="図 118">
            <a:extLst>
              <a:ext uri="{FF2B5EF4-FFF2-40B4-BE49-F238E27FC236}">
                <a16:creationId xmlns:a16="http://schemas.microsoft.com/office/drawing/2014/main" id="{2F4B65BB-B8AA-5045-2074-C574F9423E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" b="4075"/>
          <a:stretch>
            <a:fillRect/>
          </a:stretch>
        </p:blipFill>
        <p:spPr>
          <a:xfrm>
            <a:off x="3005614" y="5048188"/>
            <a:ext cx="703970" cy="1385346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22C9FBF-7B93-079A-E87E-A4C967CD0194}"/>
              </a:ext>
            </a:extLst>
          </p:cNvPr>
          <p:cNvSpPr/>
          <p:nvPr/>
        </p:nvSpPr>
        <p:spPr>
          <a:xfrm>
            <a:off x="3908480" y="5336376"/>
            <a:ext cx="2944325" cy="1076098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9B35388-9C44-6C01-ACAA-2E691617E119}"/>
              </a:ext>
            </a:extLst>
          </p:cNvPr>
          <p:cNvSpPr txBox="1"/>
          <p:nvPr/>
        </p:nvSpPr>
        <p:spPr>
          <a:xfrm>
            <a:off x="5723341" y="6303033"/>
            <a:ext cx="1207049" cy="200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en-US" sz="7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短期7日／満了前に再開</a:t>
            </a:r>
            <a:endParaRPr lang="ja-JP" altLang="ja-JP" sz="7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［第2章］ニーズ調査｜シーズナリティ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派遣は毎年3月がピーク。バイトはその1か月後、4月がピーク。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両方とも12月が最も低い。仕込みは12月、派遣とバイトで配信を1か月ずらす。</a:t>
            </a:r>
          </a:p>
        </p:txBody>
      </p:sp>
      <p:pic>
        <p:nvPicPr>
          <p:cNvPr id="4" name="Picture 3" descr="人材_シーズナリティ_転職と退職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8748000" cy="262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000" y="4284000"/>
            <a:ext cx="9043200" cy="107560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派遣のピークは3月（指数110.8）、バイトは4月（117.5）。年度替わりに集中する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両方とも12月が最も少ない（派遣88.4／バイト88.0）。友だちを安く貯められると考えられます（仮説）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バイトは8月にも谷がある（89.1）。夏は短期・単発の出番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山の直前に動くのでは遅い。谷で貯めて、山で刈る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Googleトレンド「派遣」「バイト」（日本・過去5年・月次／年平均＝100で指数化、12か月そろう4年分の平均）／前後検索でも同様の傾向（0日に派遣会社名が並ぶ、+5日に「更新しない」と検索）が見えます（仮説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［第2章］ニーズ調査｜前後検索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「派遣 求人」を検索した人が、その前後15日に何を調べているか。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0日に派遣会社名が縦に並ぶ。同じ日に何社も比べている。</a:t>
            </a:r>
          </a:p>
        </p:txBody>
      </p:sp>
      <p:pic>
        <p:nvPicPr>
          <p:cNvPr id="4" name="Picture 3" descr="人材A_前後検索_色分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12000"/>
            <a:ext cx="6294857" cy="3671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06857" y="1602000"/>
            <a:ext cx="198000" cy="198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76857" y="1587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仕事を探し始める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6857" y="1944000"/>
            <a:ext cx="198000" cy="198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6857" y="1929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派遣会社を並べて比較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6857" y="2286000"/>
            <a:ext cx="198000" cy="19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6857" y="2271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条件を詰める（単発・短期）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6857" y="2628000"/>
            <a:ext cx="198000" cy="19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6857" y="2613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続けられるか・辞めどき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6857" y="3131999"/>
            <a:ext cx="2568342" cy="136106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0日「派遣 3年ルール」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検索と同時に先の不安も見える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次の仕事を考え始める（仮説）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求人を探し始めた時点で、もう次の不安が見え始めている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媒体データ（検索の前後行動）。起点KW「派遣 求人」・直近1年間（2025年3月17日〜2026年3月22日）。色分けは弊社。★検索行動のデータであり、応募者本人の行動と同一ではありません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［第3章］構築｜友だち追加の動線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908002"/>
            <a:ext cx="9331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広告を増やさずに、いま取れている応募者をLINEに載せる</a:t>
            </a:r>
            <a:r>
              <a:rPr sz="16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719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応募完了画面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1999" y="1719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応募した直後に友だち追加を案内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6000" y="1736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最も確実。既に取れている人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250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250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421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離脱防止ポップアップ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1999" y="2421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LPを離れようとした人にLINEを提示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000" y="2438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フォームより軽い入口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51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2951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123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LINE広告（CPF）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1999" y="3123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タップだけで友だち追加が完了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6000" y="3140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フォーム入力ゼロ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653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3653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3825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求人誌・店頭のQRコード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1999" y="3825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求人誌・店頭ポスター・メールから直接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000" y="3842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既存の接点を使う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356000"/>
            <a:ext cx="9043200" cy="604800"/>
          </a:xfrm>
          <a:prstGeom prst="rect">
            <a:avLst/>
          </a:prstGeom>
          <a:solidFill>
            <a:srgbClr val="FDF1E9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2000" y="4356000"/>
            <a:ext cx="2448000" cy="6048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000" y="4536097"/>
            <a:ext cx="244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 既存リストへ通知メッセージ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1999" y="4397983"/>
            <a:ext cx="4031999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友だち追加のご案内を、電話番号あてに送る</a:t>
            </a:r>
            <a:endParaRPr lang="en-US"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用途は要確認</a:t>
            </a: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6000" y="4544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★眠っているリストを起こす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新しく集めるのではなく、いま取れている人をLINEに載せ替える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⑤の通知メッセージは、友だち追加していない相手にも電話番号ベースで届きます（別途費用）。用途は審査制のため、求人案内での利用可否は事前確認が必要です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［第3章］構築｜あいさつメッセージ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1行目に「営業のお電話はいたしません」と書く。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そのうえで希望条件を5問だけ聞き、条件に合う新着を届けると約束する。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なぜ電話をしないと先に書くのか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知らない番号からの着信は負担です</a:t>
            </a: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  <a:endParaRPr lang="en-US"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50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先に消すと、返信率が上がります</a:t>
            </a: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なぜ「新着の受け取り」を先に出すのか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応募が終わっても、また仕事を探す日が来ます。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新着が届く理由があれば、友だちのまま残ります。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なぜ5問なのか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エリア・職種・時給・曜日・働き方の5つだけ。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選択式で30秒。その場で答えてもらえます。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画面はイメージです。文面・ボタン名は貴社のサービスに合わせて調整します</a:t>
            </a:r>
          </a:p>
        </p:txBody>
      </p:sp>
      <p:pic>
        <p:nvPicPr>
          <p:cNvPr id="16" name="Picture 15" descr="人材A_トーク_あいさ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5E6F5D8-69FF-EC49-F89A-79FBF097914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［第3章］希望条件（5問）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8DA9D746-57D8-A7F9-7048-09DA5704460D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応募直後の30秒で、エリア・職種・時給・曜日・働き方を取ります。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経歴は聞かない。答えやすい5問が、その後に届く求人を決めます。</a:t>
            </a: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72992F6A-FF2A-7ECF-0D33-F6529A528B57}"/>
              </a:ext>
            </a:extLst>
          </p:cNvPr>
          <p:cNvSpPr/>
          <p:nvPr/>
        </p:nvSpPr>
        <p:spPr>
          <a:xfrm>
            <a:off x="775063" y="1722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190E6A1A-C1DD-4C8E-3197-5AD6F8426871}"/>
              </a:ext>
            </a:extLst>
          </p:cNvPr>
          <p:cNvSpPr/>
          <p:nvPr/>
        </p:nvSpPr>
        <p:spPr>
          <a:xfrm>
            <a:off x="957943" y="1722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目的：希望条件をつかみ、条件に合う新着だけを届ける（全員に同じ求人を送らない）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D015C19B-5468-998D-251F-6B1B6959CE07}"/>
              </a:ext>
            </a:extLst>
          </p:cNvPr>
          <p:cNvSpPr/>
          <p:nvPr/>
        </p:nvSpPr>
        <p:spPr>
          <a:xfrm>
            <a:off x="775063" y="23167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414FEA14-8392-6B62-876D-80318C415543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F75BBB7C-7CE8-CD05-76B4-8EAB532092DA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1A4AA2AA-6FF8-3D30-B16C-44EC5F2961CD}"/>
              </a:ext>
            </a:extLst>
          </p:cNvPr>
          <p:cNvSpPr/>
          <p:nvPr/>
        </p:nvSpPr>
        <p:spPr>
          <a:xfrm>
            <a:off x="1250551" y="23624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Q1. 働きたいエリアは？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7A1F59F1-0B49-73D0-38BD-9948F9A63985}"/>
              </a:ext>
            </a:extLst>
          </p:cNvPr>
          <p:cNvSpPr/>
          <p:nvPr/>
        </p:nvSpPr>
        <p:spPr>
          <a:xfrm>
            <a:off x="1250551" y="2627629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20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最寄り駅から選ぶ　B) 市区町村から選ぶ　C) 在宅がいい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03F3B165-CA3D-3804-AA50-7C78C7C7EB79}"/>
              </a:ext>
            </a:extLst>
          </p:cNvPr>
          <p:cNvSpPr/>
          <p:nvPr/>
        </p:nvSpPr>
        <p:spPr>
          <a:xfrm>
            <a:off x="6444343" y="23898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DF68B239-8CBC-8341-BA16-8510179A4777}"/>
              </a:ext>
            </a:extLst>
          </p:cNvPr>
          <p:cNvSpPr/>
          <p:nvPr/>
        </p:nvSpPr>
        <p:spPr>
          <a:xfrm>
            <a:off x="6490063" y="23898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最寄り駅・市区町村で出し分ける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CEC57A7B-58B4-1F60-CC69-2D9C22413BEF}"/>
              </a:ext>
            </a:extLst>
          </p:cNvPr>
          <p:cNvSpPr/>
          <p:nvPr/>
        </p:nvSpPr>
        <p:spPr>
          <a:xfrm>
            <a:off x="775063" y="3002532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0FF9816E-5F43-9459-6349-51431111FD45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BF8E88C-4FC5-B1C2-A8E8-D33029A55D78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4AB095EB-AFFB-C1EB-53C1-4C882C450F66}"/>
              </a:ext>
            </a:extLst>
          </p:cNvPr>
          <p:cNvSpPr/>
          <p:nvPr/>
        </p:nvSpPr>
        <p:spPr>
          <a:xfrm>
            <a:off x="1250551" y="30482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Q2. 希望の職種は？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C6FBF75D-9A2C-AB9C-797C-A65992057C82}"/>
              </a:ext>
            </a:extLst>
          </p:cNvPr>
          <p:cNvSpPr/>
          <p:nvPr/>
        </p:nvSpPr>
        <p:spPr>
          <a:xfrm>
            <a:off x="1250551" y="33134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事務　B) 軽作業・倉庫　C) 販売・飲食　D) その他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8B4031C1-8F8E-5381-AAC9-77A14A56B7F6}"/>
              </a:ext>
            </a:extLst>
          </p:cNvPr>
          <p:cNvSpPr/>
          <p:nvPr/>
        </p:nvSpPr>
        <p:spPr>
          <a:xfrm>
            <a:off x="6444343" y="30756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35FE734F-4C1A-3B7B-8AA4-C2546973E56B}"/>
              </a:ext>
            </a:extLst>
          </p:cNvPr>
          <p:cNvSpPr/>
          <p:nvPr/>
        </p:nvSpPr>
        <p:spPr>
          <a:xfrm>
            <a:off x="6490063" y="30756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200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新着の出し分けの軸になる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77F0529F-1B78-5C45-07C3-2B6DD4A77258}"/>
              </a:ext>
            </a:extLst>
          </p:cNvPr>
          <p:cNvSpPr/>
          <p:nvPr/>
        </p:nvSpPr>
        <p:spPr>
          <a:xfrm>
            <a:off x="775063" y="36883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5CB9124D-3C60-302E-AD9D-68ADA9CED3C8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D06F576-0404-24E3-3484-9A5F77A77D7A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362B56FE-0308-5ACA-794F-33A473A74E16}"/>
              </a:ext>
            </a:extLst>
          </p:cNvPr>
          <p:cNvSpPr/>
          <p:nvPr/>
        </p:nvSpPr>
        <p:spPr>
          <a:xfrm>
            <a:off x="1250551" y="37340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Q3. 希望の時給は？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CECF4E63-76E9-FEA5-7805-491752940936}"/>
              </a:ext>
            </a:extLst>
          </p:cNvPr>
          <p:cNvSpPr/>
          <p:nvPr/>
        </p:nvSpPr>
        <p:spPr>
          <a:xfrm>
            <a:off x="1250551" y="3999229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1,200円未満　B) 1,200〜1,499円　C) 1,500〜1,799円　D) 1,800円以上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DBA9622A-FDA2-1DDD-FBA3-73C50D3AB695}"/>
              </a:ext>
            </a:extLst>
          </p:cNvPr>
          <p:cNvSpPr/>
          <p:nvPr/>
        </p:nvSpPr>
        <p:spPr>
          <a:xfrm>
            <a:off x="6444343" y="37614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60B9780-970F-8551-EE91-8044786C7B7C}"/>
              </a:ext>
            </a:extLst>
          </p:cNvPr>
          <p:cNvSpPr/>
          <p:nvPr/>
        </p:nvSpPr>
        <p:spPr>
          <a:xfrm>
            <a:off x="6490063" y="37614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Day1「時給の相場」の軸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E6646D0D-AC17-9974-8BF6-E0C26901E16D}"/>
              </a:ext>
            </a:extLst>
          </p:cNvPr>
          <p:cNvSpPr/>
          <p:nvPr/>
        </p:nvSpPr>
        <p:spPr>
          <a:xfrm>
            <a:off x="775063" y="43741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86330F7C-C512-505C-521A-A5D1453510E6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8A40057C-798D-FCB7-8B6B-C2507589C664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FB185C3E-B3C3-8368-764A-0E889BE9E1DC}"/>
              </a:ext>
            </a:extLst>
          </p:cNvPr>
          <p:cNvSpPr/>
          <p:nvPr/>
        </p:nvSpPr>
        <p:spPr>
          <a:xfrm>
            <a:off x="1250551" y="44198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Q4. 働ける曜日・時間帯は？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83A0111B-6C16-924D-2F24-F3322312058F}"/>
              </a:ext>
            </a:extLst>
          </p:cNvPr>
          <p:cNvSpPr/>
          <p:nvPr/>
        </p:nvSpPr>
        <p:spPr>
          <a:xfrm>
            <a:off x="1250551" y="4685029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20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平日の日中　B) 平日の夜　C) 土日　D) 曜日は問わない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B12A9147-2862-DE3E-8AA5-154403D7E2E5}"/>
              </a:ext>
            </a:extLst>
          </p:cNvPr>
          <p:cNvSpPr/>
          <p:nvPr/>
        </p:nvSpPr>
        <p:spPr>
          <a:xfrm>
            <a:off x="6444343" y="44472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B1610132-9C94-4121-0174-5C4B56C1E9C4}"/>
              </a:ext>
            </a:extLst>
          </p:cNvPr>
          <p:cNvSpPr/>
          <p:nvPr/>
        </p:nvSpPr>
        <p:spPr>
          <a:xfrm>
            <a:off x="6490063" y="44472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「今日から働ける」求人の対象を決める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Shape 32">
            <a:extLst>
              <a:ext uri="{FF2B5EF4-FFF2-40B4-BE49-F238E27FC236}">
                <a16:creationId xmlns:a16="http://schemas.microsoft.com/office/drawing/2014/main" id="{5E0CF565-2E70-3594-94E3-B92DBA09CE1D}"/>
              </a:ext>
            </a:extLst>
          </p:cNvPr>
          <p:cNvSpPr/>
          <p:nvPr/>
        </p:nvSpPr>
        <p:spPr>
          <a:xfrm>
            <a:off x="775063" y="50599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C3888C1F-7E31-5CB5-DB8C-6376B4A23075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59588FF7-10F6-8141-4359-836B851E5424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C5CFC561-6A8F-BACD-E02C-A277E8A3063E}"/>
              </a:ext>
            </a:extLst>
          </p:cNvPr>
          <p:cNvSpPr/>
          <p:nvPr/>
        </p:nvSpPr>
        <p:spPr>
          <a:xfrm>
            <a:off x="1250551" y="51056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Q5. 希望の働き方は？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BE1F2F6E-238F-21D4-40A5-BD1CB63C8953}"/>
              </a:ext>
            </a:extLst>
          </p:cNvPr>
          <p:cNvSpPr/>
          <p:nvPr/>
        </p:nvSpPr>
        <p:spPr>
          <a:xfrm>
            <a:off x="1250551" y="5370829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20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派遣　B) バイト・パート　C) 単発・日払い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E835EF93-AE65-C080-A583-076B9485CC6B}"/>
              </a:ext>
            </a:extLst>
          </p:cNvPr>
          <p:cNvSpPr/>
          <p:nvPr/>
        </p:nvSpPr>
        <p:spPr>
          <a:xfrm>
            <a:off x="6444343" y="51330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4E76941A-97E1-A80A-F7B6-9B05D68E1AA2}"/>
              </a:ext>
            </a:extLst>
          </p:cNvPr>
          <p:cNvSpPr/>
          <p:nvPr/>
        </p:nvSpPr>
        <p:spPr>
          <a:xfrm>
            <a:off x="6490063" y="51330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200">
                <a:solidFill>
                  <a:srgbClr val="7A52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「単発」は新着配信のみ（★派遣を基準に設計）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0DFA3-5E6A-7CB9-A83C-9D87074C7C62}"/>
              </a:ext>
            </a:extLst>
          </p:cNvPr>
          <p:cNvSpPr/>
          <p:nvPr/>
        </p:nvSpPr>
        <p:spPr>
          <a:xfrm>
            <a:off x="167640" y="1572768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DC81EE9-FE25-DEA2-3BE6-5D4BC6729956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［第3章］構築｜リッチメニュー（3タブ × 6枠）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「条件を変える」「通知を止める」を、隠さずに置く。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出口を塞ぐと、二度と戻ってこない。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53577" y="10800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61577" y="10784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今すぐ探す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1577" y="13301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最重要CTA。常に左上に置く</a:t>
            </a:r>
            <a:endParaRPr sz="1200" b="0" dirty="0">
              <a:solidFill>
                <a:srgbClr val="64748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53577" y="16632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61577" y="16616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条件に合う新着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1577" y="19133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希望条件から一覧へ送る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3577" y="22464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1577" y="22448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希望条件を変える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1577" y="24965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条件が合わず他社へ流れるのを防ぐ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3577" y="28296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1577" y="28280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よくある質問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577" y="30797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職場見学・持ち物に先回り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3577" y="34128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1577" y="34112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通知を止める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577" y="36629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ブロックの代わりになる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3577" y="3996001"/>
            <a:ext cx="2988000" cy="503999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1577" y="39944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今は働いている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1577" y="42461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★ 就業中は止め、満了前に再開する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84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224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「今は働いている」を置くから、次の仕事探しで戻ってこられる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画面はイメージです。タブ構成とボタン名は運用しながら調整します</a:t>
            </a:r>
          </a:p>
        </p:txBody>
      </p:sp>
      <p:pic>
        <p:nvPicPr>
          <p:cNvPr id="27" name="Picture 26" descr="人材A_リッチメニュ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84" y="1512000"/>
            <a:ext cx="4292830" cy="28618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［第4章］配信設計｜7日ステップの全体像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応募は数日で決まるので7日で組む。求人を出すのはDay0とDay7だけ。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前後検索で見えた「比較 → 相場 → 続けられるか」の順に答える。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2400" y="1600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400" y="1600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根拠（前後検索）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78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6400" y="1978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比較の最中に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2400" y="1978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あいさつ＋条件5問 → 合う求人を3件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46400" y="1978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0日に派遣会社名が並ぶ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02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6400" y="2402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相場を示す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2400" y="2402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希望エリア・職種の時給の相場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400" y="2402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+2日「派遣 時給 相場」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277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6400" y="2827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逃げ道を置く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400" y="28277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合わなかったときの相談窓口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6400" y="28277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「派遣 契約期間内 辞める」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1536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2525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400" y="3252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不安を消す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2400" y="32525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職場見学・面接の流れと持ち物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6400" y="32525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+15日「派遣 職場見学」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6773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400" y="3677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新着の案内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2400" y="36773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今週の新着まとめ＋「条件を変える」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6400" y="36773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条件が合わないと他社へ流れる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4003199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4102146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6400" y="41021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1ヶ月前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400" y="4102146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次のご希望は？（条件5問を再送）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6400" y="4102146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526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6400" y="4526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2週間前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2400" y="4526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条件に合う新着を3件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6400" y="4526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次を探す人に、他社より先に届く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5112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2000" y="5152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Day3は求人を出さない。出さない回があるから、Day7が効く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Q5（働き方）の回答で走らせ方を変えます。「単発・日払い」はステップに入れず新着のみ。★面接予約・就業開始など状況が変わったら、その時点で配信を切り替えます。契約満了の声かけは、満了予定日を基準に自動で送りま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Day0・Day3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Day0は5問の回答直後に、条件に合う3件だけを出す。Day3は求人を出さない。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「合わなかったら相談できる」と先に伝える回が、信頼をつくる。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Day0｜3件だけ出す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何十件も並べない。条件に合う3件だけを出す。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何社も比べている人に、選ぶ手間をかけさせない。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Day3｜求人を出さない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「合わなかったときの相談先」だけを伝える。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「契約期間内 辞める」は前後検索で確実に立っている。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この回の狙い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「ここなら続けられそう」に変わること。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ここでDay7の新着が開かれるようになる。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画面はイメージです。絵文字・改行・通知プレビューの冒頭15字まで設計します</a:t>
            </a:r>
          </a:p>
        </p:txBody>
      </p:sp>
      <p:pic>
        <p:nvPicPr>
          <p:cNvPr id="16" name="Picture 15" descr="人材A_トーク_Day0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Day7・契約満了前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Day7は新着のまとめと「条件を変える」。満了1ヶ月前は、こちらから声をかける。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次に探し始める日が読めるのは、就業中の人だけ。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Day7｜条件を変える逃げ道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「応募してください」ではなく、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合わなければ条件を変えられると伝える。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満了1ヶ月前｜先に声をかける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契約満了予定日を基準に自動で送る。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他社より先に、次の希望を聞ける。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更新する人はどうなるか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「更新する」を選んだ人は、次の満了まで通知を止める。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派遣は1回で終わらない。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画面はイメージです。絵文字・改行・通知プレビューの冒頭15字まで設計します</a:t>
            </a:r>
          </a:p>
        </p:txBody>
      </p:sp>
      <p:pic>
        <p:nvPicPr>
          <p:cNvPr id="16" name="Picture 15" descr="人材A_トーク_Day7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CD327D4-877A-97BF-5A3D-BA2BFF89C5D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［第4章］年間の企画投稿カレンダー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344F9C81-17B8-CD75-7943-C74785EA9326}"/>
              </a:ext>
            </a:extLst>
          </p:cNvPr>
          <p:cNvSpPr txBox="1"/>
          <p:nvPr/>
        </p:nvSpPr>
        <p:spPr>
          <a:xfrm>
            <a:off x="309397" y="687600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派遣は毎年3月、バイトは4月がピーク。最も少ないのは両方とも12月です。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競合が動かない12月に友だちを貯め、3月は派遣、4月はバイトの応募へつなぎます。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60A8489-6BE4-3B93-2131-E11F42129098}"/>
              </a:ext>
            </a:extLst>
          </p:cNvPr>
          <p:cNvSpPr/>
          <p:nvPr/>
        </p:nvSpPr>
        <p:spPr>
          <a:xfrm>
            <a:off x="68362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46CD2D-A79C-A7B7-15A1-A1837415507A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03F4F1-34EC-318B-44DB-813F9A260ADC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2-3月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56B7E-2C3F-30E8-B262-184104348BC9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4711DF-BA77-8F0A-2104-C18090ED3CC4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派遣の山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6CECB1-59BF-1E7A-094C-226743CD5D1F}"/>
              </a:ext>
            </a:extLst>
          </p:cNvPr>
          <p:cNvSpPr/>
          <p:nvPr/>
        </p:nvSpPr>
        <p:spPr>
          <a:xfrm>
            <a:off x="79335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「4月からの就業先さがし」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330544-7DE3-4156-FDB0-0068C25C7D92}"/>
              </a:ext>
            </a:extLst>
          </p:cNvPr>
          <p:cNvSpPr/>
          <p:nvPr/>
        </p:nvSpPr>
        <p:spPr>
          <a:xfrm>
            <a:off x="79335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派遣は3月がピーク（指数110.8）。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年度替わりで、契約満了と就業先さがしが重なる。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施策：12月に貯めた友だちへ、条件別の新着を一斉に案内。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89C044-CC81-F526-4C28-8C8818A84AC8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B9FD63-B2E1-8ED6-289B-17E75D53D0CF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KPI：応募数／面接・職場見学の実施率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8FE43C-F46C-BAA4-F102-48BC91B9077E}"/>
              </a:ext>
            </a:extLst>
          </p:cNvPr>
          <p:cNvSpPr/>
          <p:nvPr/>
        </p:nvSpPr>
        <p:spPr>
          <a:xfrm>
            <a:off x="511846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CFAF28F-3A41-62B7-ED14-2C88314DE69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36307B-10AB-ADC3-1727-AB8FC583114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D4B9A45-FCB5-6DB2-B02F-57FFE5D56691}"/>
              </a:ext>
            </a:extLst>
          </p:cNvPr>
          <p:cNvSpPr/>
          <p:nvPr/>
        </p:nvSpPr>
        <p:spPr>
          <a:xfrm>
            <a:off x="594142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B9A477-5190-5925-BA00-7C28E41E2AE9}"/>
              </a:ext>
            </a:extLst>
          </p:cNvPr>
          <p:cNvSpPr/>
          <p:nvPr/>
        </p:nvSpPr>
        <p:spPr>
          <a:xfrm>
            <a:off x="5941423" y="22601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バイトの山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DF4241-0F34-404F-9C8A-0C5C0B3F7B0B}"/>
              </a:ext>
            </a:extLst>
          </p:cNvPr>
          <p:cNvSpPr/>
          <p:nvPr/>
        </p:nvSpPr>
        <p:spPr>
          <a:xfrm>
            <a:off x="522819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「新生活のシフトさがし」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5CBA0E-C68D-2D85-8F64-5D9ED46DE52D}"/>
              </a:ext>
            </a:extLst>
          </p:cNvPr>
          <p:cNvSpPr/>
          <p:nvPr/>
        </p:nvSpPr>
        <p:spPr>
          <a:xfrm>
            <a:off x="522819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バイトは4月がピーク（指数117.5）。派遣より1か月遅い。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新生活が始まり、シフトを組める時期に探し始める。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施策：3月の派遣の配信とずらし、4月にバイトの新着を案内。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F6A367-39C2-356A-9B47-3D3671D8D918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E166AEE-8473-61AD-BC51-7204C60ECFE2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KPI：応募数／希望条件の回答率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87B2061-6B88-0A18-0E57-12185B834CCF}"/>
              </a:ext>
            </a:extLst>
          </p:cNvPr>
          <p:cNvSpPr/>
          <p:nvPr/>
        </p:nvSpPr>
        <p:spPr>
          <a:xfrm>
            <a:off x="68362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0051DD-55DD-DDC4-1C20-FA43FB837AEB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66D040C-5E3C-D384-1752-F340D729E508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9-10月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1D75AA6-DC2D-C974-1F8F-EA3764B5E2B1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81E4D3-7404-C45A-3360-2888B2C16CEC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秋の戻り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74753E2-5389-A4C0-99DF-F1EBD9F21486}"/>
              </a:ext>
            </a:extLst>
          </p:cNvPr>
          <p:cNvSpPr/>
          <p:nvPr/>
        </p:nvSpPr>
        <p:spPr>
          <a:xfrm>
            <a:off x="79335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「下半期からの新しい仕事」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5421AF9-EA34-4D6D-A17B-353040384108}"/>
              </a:ext>
            </a:extLst>
          </p:cNvPr>
          <p:cNvSpPr/>
          <p:nvPr/>
        </p:nvSpPr>
        <p:spPr>
          <a:xfrm>
            <a:off x="79335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派遣は10月に指数が戻る（102.4）。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8月の谷のあと、下半期の入れ替えで動く。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施策：契約満了に合わせて声をかけ、12月へつなぐ。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BE67E13-AD4F-4228-9F1A-8B4E0CCBEBBE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E653D90-A148-4540-DAAB-BDE1AE7D11F9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KPI：再応募数（満了後に戻った人）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A903725-E0FA-B7ED-BE7F-3E870C011999}"/>
              </a:ext>
            </a:extLst>
          </p:cNvPr>
          <p:cNvSpPr/>
          <p:nvPr/>
        </p:nvSpPr>
        <p:spPr>
          <a:xfrm>
            <a:off x="511846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560804C-2AD2-34CF-80F2-47723D89B9EE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tx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D3AA494-1CCC-455B-FD0B-69A03482B0B2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12月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CE7A172-10BE-1E65-8E12-21F725E375E4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FF1A96D-D52E-0E30-532A-ECE831BE9605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仕込み期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B191EBD-ED99-BB14-8C62-5B0BA0590745}"/>
              </a:ext>
            </a:extLst>
          </p:cNvPr>
          <p:cNvSpPr/>
          <p:nvPr/>
        </p:nvSpPr>
        <p:spPr>
          <a:xfrm>
            <a:off x="522819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「年明けから働きたい人の先行受付」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3B90534-5D2F-7E51-02AE-C33CF568ED2E}"/>
              </a:ext>
            </a:extLst>
          </p:cNvPr>
          <p:cNvSpPr/>
          <p:nvPr/>
        </p:nvSpPr>
        <p:spPr>
          <a:xfrm>
            <a:off x="522819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★ 1年で最も少ない月（派遣88.4／バイト88.0）。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競合が動かないので、友だちを最も安く貯められる。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施策：希望条件の再送と新着の先行案内。3〜4月の母数に。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85D5473-A6B2-6E6C-69A6-536638C669C1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65AB6CB-040B-F5AE-5EDC-FD4A6C6C841A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KPI：友だち追加数（この月はオファーを出さない）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22BE1ADA-BF01-A520-0D77-972E7821FCE2}"/>
              </a:ext>
            </a:extLst>
          </p:cNvPr>
          <p:cNvSpPr/>
          <p:nvPr/>
        </p:nvSpPr>
        <p:spPr>
          <a:xfrm>
            <a:off x="683623" y="1612213"/>
            <a:ext cx="864616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90B8BB4-8425-50C4-639B-16BEF90627DF}"/>
              </a:ext>
            </a:extLst>
          </p:cNvPr>
          <p:cNvSpPr/>
          <p:nvPr/>
        </p:nvSpPr>
        <p:spPr>
          <a:xfrm>
            <a:off x="866503" y="1612213"/>
            <a:ext cx="8458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★ 派遣とバイトで配信を1か月ずらす。3月に派遣、4月にバイト。同じ月に同じ配信をしない。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17C2D8-2B96-60F6-B4C8-41F2D3663705}"/>
              </a:ext>
            </a:extLst>
          </p:cNvPr>
          <p:cNvSpPr/>
          <p:nvPr/>
        </p:nvSpPr>
        <p:spPr>
          <a:xfrm>
            <a:off x="139337" y="1445006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12EE9E2-9122-74C3-0A3B-F81EEC972BBE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［第4章］配信設計｜通知メッセージ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友だち追加していない相手にも、電話番号あてに届く。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面接・職場見学の前日リマインドは、実施率にそのまま効く。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① 面接・職場見学の前日リマインド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日時・場所・道順・持ち物・服装を前日に送る。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来ない人が減ると、派遣先・掲載企業との関係が続く。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② 休眠リストへの友だち追加案内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過去に応募して連絡が切れた人へ、友だち追加をご案内する。求人案内は、追加後に通常配信で届けます</a:t>
            </a: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③ 契約満了の1ヶ月前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更新意思の確認として、次の希望をうかがう。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次に探し始める日が読める、唯一の層。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通知メッセージは別途費用（初期10万円／月額8万円〜＋通数単価7円）。用途は審査制で、配送・予約確認等の個別通知が前提です。求人案内目的での利用は事前確認が必要です</a:t>
            </a:r>
          </a:p>
        </p:txBody>
      </p:sp>
      <p:pic>
        <p:nvPicPr>
          <p:cNvPr id="16" name="Picture 15" descr="人材A_通知メッセ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35" y="1526603"/>
            <a:ext cx="3076528" cy="46147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［第4章］歩留まり｜面接・職場見学の実施率をどう上げるか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応募数も広告費も増やさずに、面接・職場見学に来る人を増やす。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前日にリマインド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803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803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無断欠席が減る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不安に先回り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685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職場見学の流れを事前に送る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685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「落ちる確率」の不安を消す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日程をその場で確定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567848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LINEで候補日を選んでもらう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3567848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電話の往復で冷めるのを防ぐ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合わなければ次を出す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449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不採用・辞退の翌日に別の求人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458697"/>
            <a:ext cx="298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温度が高いうちに次の応募へ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目指すのは応募を増やすことではなく、戻ってきた人が就業・再就業することです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応募→面接実施率の業界水準は公開データが存在しません。貴社の実測値で試算いたします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［第4章］歩留まり｜手が止まるのは、忙しい時間帯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課題は人手の多さではなく、時間帯のずれです。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求職者が探す夜間・土日に、こちらの手が空いていない。そこをLINEで埋めます。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096000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いま起きていること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・応募直後に架電しても、出てもらえない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・折り返しが夕方以降に集中する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・面接・職場見学の日程調整が電話で往復する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・同じ質問に何度も答えている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096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LINEに逃がせるもの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・よくある質問（自動応答）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・前日リマインド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・希望条件の変更の受付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489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000" y="493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増員では解けない。電話のやり取りが構造的に噛み合っていない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増員しても、求職者が動ける時間帯とのずれは解消しません。LINEで非同期にやり取りできる部分を切り出します／目指すのは応募を増やすことではなく、戻ってきた人が就業・再就業することです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52;p28">
            <a:extLst>
              <a:ext uri="{FF2B5EF4-FFF2-40B4-BE49-F238E27FC236}">
                <a16:creationId xmlns:a16="http://schemas.microsoft.com/office/drawing/2014/main" id="{0308A94D-067F-5D10-BF02-6777DD32E821}"/>
              </a:ext>
            </a:extLst>
          </p:cNvPr>
          <p:cNvSpPr txBox="1"/>
          <p:nvPr/>
        </p:nvSpPr>
        <p:spPr>
          <a:xfrm>
            <a:off x="547200" y="138137"/>
            <a:ext cx="70275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Meiryo"/>
                <a:ea typeface="Meiryo"/>
                <a:cs typeface="Meiryo"/>
                <a:sym typeface="Meiryo"/>
              </a:rPr>
              <a:t>［第5章］運用サポート体制</a:t>
            </a:r>
            <a:endParaRPr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489518-639C-6F8B-3CC2-E3A3D82066B2}"/>
              </a:ext>
            </a:extLst>
          </p:cNvPr>
          <p:cNvSpPr/>
          <p:nvPr/>
        </p:nvSpPr>
        <p:spPr>
          <a:xfrm>
            <a:off x="275003" y="1728082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月1回の定例会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GAレポート連携で、応募率・面接実施率を毎月確認します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339252-F691-EA9D-983C-6241C7AABA77}"/>
              </a:ext>
            </a:extLst>
          </p:cNvPr>
          <p:cNvSpPr/>
          <p:nvPr/>
        </p:nvSpPr>
        <p:spPr>
          <a:xfrm>
            <a:off x="275003" y="3221875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企画配信の制作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年間カレンダーに沿った配信を、貴社に代わって作成します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1A329C6-D6CA-D19E-C8A2-D6D234F2FA53}"/>
              </a:ext>
            </a:extLst>
          </p:cNvPr>
          <p:cNvCxnSpPr/>
          <p:nvPr/>
        </p:nvCxnSpPr>
        <p:spPr>
          <a:xfrm>
            <a:off x="1519747" y="1452035"/>
            <a:ext cx="657899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18487F9-9129-0E91-A220-B2EF077840F3}"/>
              </a:ext>
            </a:extLst>
          </p:cNvPr>
          <p:cNvSpPr/>
          <p:nvPr/>
        </p:nvSpPr>
        <p:spPr>
          <a:xfrm>
            <a:off x="3756183" y="751045"/>
            <a:ext cx="2022158" cy="589765"/>
          </a:xfrm>
          <a:prstGeom prst="ellipse">
            <a:avLst/>
          </a:prstGeom>
          <a:solidFill>
            <a:schemeClr val="accent1">
              <a:lumMod val="40000"/>
              <a:lumOff val="6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2F1E1CA-9D65-A02D-917C-CB72A01459A6}"/>
              </a:ext>
            </a:extLst>
          </p:cNvPr>
          <p:cNvSpPr/>
          <p:nvPr/>
        </p:nvSpPr>
        <p:spPr>
          <a:xfrm>
            <a:off x="1502508" y="687600"/>
            <a:ext cx="664797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構築だけでなく、運用しながら改善する体制です。</a:t>
            </a:r>
          </a:p>
        </p:txBody>
      </p:sp>
      <p:sp>
        <p:nvSpPr>
          <p:cNvPr id="15" name="下矢印 1">
            <a:extLst>
              <a:ext uri="{FF2B5EF4-FFF2-40B4-BE49-F238E27FC236}">
                <a16:creationId xmlns:a16="http://schemas.microsoft.com/office/drawing/2014/main" id="{453026E5-FC32-AC14-0437-B9F8A5DB717B}"/>
              </a:ext>
            </a:extLst>
          </p:cNvPr>
          <p:cNvSpPr/>
          <p:nvPr/>
        </p:nvSpPr>
        <p:spPr>
          <a:xfrm>
            <a:off x="3379742" y="4715668"/>
            <a:ext cx="3196046" cy="421640"/>
          </a:xfrm>
          <a:prstGeom prst="downArrow">
            <a:avLst>
              <a:gd name="adj1" fmla="val 50000"/>
              <a:gd name="adj2" fmla="val 5275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0D0284-90AC-92C0-335B-D83B919080B0}"/>
              </a:ext>
            </a:extLst>
          </p:cNvPr>
          <p:cNvSpPr/>
          <p:nvPr/>
        </p:nvSpPr>
        <p:spPr>
          <a:xfrm>
            <a:off x="275003" y="5239812"/>
            <a:ext cx="9355994" cy="8671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チャット対応（自動応答の範囲。有人対応（Chat Plus／Call Plus）は別途）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［第5章］LINEOA実績・信頼性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LINEヤフー公式データと、業界の導入事例を示す。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84000"/>
            <a:ext cx="9043200" cy="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000" y="1857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LINE国内MAU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6000" y="1857849"/>
            <a:ext cx="34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2025年12月末時点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3999" y="1584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1億人突破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520000"/>
            <a:ext cx="9043200" cy="8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000" y="2793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メッセージ開封率（当日中）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6000" y="2793849"/>
            <a:ext cx="34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受信直後 約2割／3〜6時間で約5割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3999" y="2520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約8割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3456000"/>
            <a:ext cx="9043200" cy="810000"/>
          </a:xfrm>
          <a:prstGeom prst="rect">
            <a:avLst/>
          </a:prstGeom>
          <a:solidFill>
            <a:srgbClr val="FDF1E9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000" y="3729849"/>
            <a:ext cx="237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同業種の導入事例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6000" y="3729849"/>
            <a:ext cx="3420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★差込枠｜lycbiz.com公式で確認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3999" y="3456000"/>
            <a:ext cx="2736000" cy="81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未取得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428000"/>
            <a:ext cx="9043200" cy="827999"/>
          </a:xfrm>
          <a:prstGeom prst="rect">
            <a:avLst/>
          </a:prstGeom>
          <a:solidFill>
            <a:srgbClr val="EEF2F9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000" y="4400764"/>
            <a:ext cx="9043200" cy="88247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数字はLINEヤフー公式値</a:t>
            </a:r>
            <a:r>
              <a:rPr sz="24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。</a:t>
            </a:r>
            <a:endParaRPr lang="en-US" sz="24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20000"/>
              </a:lnSpc>
            </a:pPr>
            <a:r>
              <a:rPr sz="24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同業種の事例は提案までに確認します</a:t>
            </a:r>
            <a:endParaRPr sz="24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2000" y="6329941"/>
            <a:ext cx="9043200" cy="15611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出典｜LINE国内MAU・開封率はLINEヤフー公式値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［第6章］費用プラン（6ヶ月〜／税抜）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貴社の課題と予算に合わせて、4つのプランからお選びいただけます。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初期費用は初月のみ。2ヶ月目以降は月額のみが継続してかかります。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564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0400" y="1564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400" y="1564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00" y="1564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60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コンサル基本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400" y="1960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2400" y="1960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 / 30 / 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6400" y="1960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投稿。設計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〜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209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成果報酬型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400" y="24209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00" y="24209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単価 × 成果数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400" y="24209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アカウント費・ツール費は別途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817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初動設計のみ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0400" y="28817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400" y="28817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0万円〜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28817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GA計測とステップ配信を構築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2256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3425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運用代行・効率改善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0400" y="33425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2400" y="33425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6400" y="33425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既存運用の改善。月3投稿〜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無償で付帯するもの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4266000"/>
            <a:ext cx="4104000" cy="109945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プロフィール／リッチメニュー／あいさつメッセージ／初期アンケート／キーワード自動応答／ステップ配信／セグメント配信／チャットタグ管理／チャット対応（自動応答の範囲）／GAレポート連携／クリエイティブ／定例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32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72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別途費用がかかるもの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200" y="4266000"/>
            <a:ext cx="4104000" cy="116870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★通知メッセージ　初期10万＋月8万〜＋通数7円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ポップアップ（離脱防止）初期1.5万＋月3万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 初期10万＋月3万〜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 初期1万〜／ID連携 初期20万〜＋月5万〜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まずは初動設計のみ（初期10万円・月額0円〜）から始めることもできます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すべて税抜・6ヶ月〜の契約。成果地点と単価は個別に調整します。開発やツール導入の場合は別途費用が発生します。目安：コンサル基本＋通知メッセージで月38万円〜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求職者の心理｜不安は、応募したあとに出てくる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3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前後検索で見ると、「派遣 求人」「単発バイト」を検索した人は、前は「探す」、後は「続けられるか」「バレないか」を調べている。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★これは検索行動の事実。応募後も同じ不安があるという仮説で、配信を設計しています。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E4E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1872000" cy="1062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47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-7 〜 -1日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000" y="1620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スキマ時間で、すぐ稼ぎたい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000" y="1961999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在宅 スキマ時間／在宅ワーク 求人／バイト 求人（単発バイト）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失業保険 計算／ハローワーク 求人（派遣 求人）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754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432000" y="2754000"/>
            <a:ext cx="1872000" cy="1062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32000" y="3153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 〜 +2日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0000" y="2826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同じ日に、何社も並べている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000" y="3168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派遣会社／エン派遣／アデコ／パソナ（派遣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タイミー／バイトル／短期バイト／単発バイト アプリ（単発バイト）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960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8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432000" y="3960000"/>
            <a:ext cx="1872000" cy="1062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32000" y="4359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+1 〜 +15日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0000" y="4031999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続けられるか・バレないか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0000" y="4374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 更新しない／派遣 職場見学（派遣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確定申告 20万円以下／ダブルワーク 扶養内 いくらまで（単発バイト）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22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242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検索は終点ではない。探し始めた人は、その後も「続けられるか」を調べ続けている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媒体データ（検索の前後行動）。起点KW「派遣 求人」「単発バイト」・直近1年間（2025年3月17日〜2026年3月22日）。★検索行動のデータであり、応募後の行動そのものではありません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2ECE7535-75B5-FD71-5DE8-AB1B855FFED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全体設計｜LINEで対策できる領域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1D529F5-1969-8F22-8508-5967D82F7783}"/>
              </a:ext>
            </a:extLst>
          </p:cNvPr>
          <p:cNvSpPr/>
          <p:nvPr/>
        </p:nvSpPr>
        <p:spPr>
          <a:xfrm>
            <a:off x="379908" y="1835393"/>
            <a:ext cx="9190811" cy="21625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32EA92-3996-F5BA-08AE-72B08F79535C}"/>
              </a:ext>
            </a:extLst>
          </p:cNvPr>
          <p:cNvSpPr/>
          <p:nvPr/>
        </p:nvSpPr>
        <p:spPr>
          <a:xfrm>
            <a:off x="379908" y="4397170"/>
            <a:ext cx="9190811" cy="202249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E38EC2-DE76-A5FE-A6B8-3B48F7BD7B46}"/>
              </a:ext>
            </a:extLst>
          </p:cNvPr>
          <p:cNvSpPr txBox="1"/>
          <p:nvPr/>
        </p:nvSpPr>
        <p:spPr>
          <a:xfrm>
            <a:off x="379908" y="1527022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&lt;応募前のユーザー領域&gt;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5E4FD7-BF96-305B-4DFF-0204D305BAAE}"/>
              </a:ext>
            </a:extLst>
          </p:cNvPr>
          <p:cNvSpPr txBox="1"/>
          <p:nvPr/>
        </p:nvSpPr>
        <p:spPr>
          <a:xfrm>
            <a:off x="379908" y="4089393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&lt;応募済みユーザー領域&gt;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2450FBF-2EA8-4582-869E-9B2A7C4946D7}"/>
              </a:ext>
            </a:extLst>
          </p:cNvPr>
          <p:cNvSpPr/>
          <p:nvPr/>
        </p:nvSpPr>
        <p:spPr>
          <a:xfrm>
            <a:off x="548883" y="2060461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91C2D7-8AEF-98E4-337B-283DC4374AFC}"/>
              </a:ext>
            </a:extLst>
          </p:cNvPr>
          <p:cNvSpPr/>
          <p:nvPr/>
        </p:nvSpPr>
        <p:spPr>
          <a:xfrm>
            <a:off x="548883" y="2322497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670DE23-5EB2-C1E6-9ED3-6176C87DDEA9}"/>
              </a:ext>
            </a:extLst>
          </p:cNvPr>
          <p:cNvSpPr/>
          <p:nvPr/>
        </p:nvSpPr>
        <p:spPr>
          <a:xfrm>
            <a:off x="548883" y="2659935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C708B2-F546-DE85-AA3B-2C7B33013111}"/>
              </a:ext>
            </a:extLst>
          </p:cNvPr>
          <p:cNvSpPr/>
          <p:nvPr/>
        </p:nvSpPr>
        <p:spPr>
          <a:xfrm>
            <a:off x="548883" y="2997373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過去の応募者リスト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12C768D-D601-2E13-45FD-BFE5BA587BC6}"/>
              </a:ext>
            </a:extLst>
          </p:cNvPr>
          <p:cNvSpPr/>
          <p:nvPr/>
        </p:nvSpPr>
        <p:spPr>
          <a:xfrm>
            <a:off x="548883" y="3672249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LINE_CPF</a:t>
            </a:r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やその他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3127993-BF51-568A-20FB-A9FB1DB6C913}"/>
              </a:ext>
            </a:extLst>
          </p:cNvPr>
          <p:cNvSpPr/>
          <p:nvPr/>
        </p:nvSpPr>
        <p:spPr>
          <a:xfrm>
            <a:off x="8170812" y="2408570"/>
            <a:ext cx="1355280" cy="243944"/>
          </a:xfrm>
          <a:prstGeom prst="rect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E81D74A-E79F-C90A-80AF-4F6BDF853777}"/>
              </a:ext>
            </a:extLst>
          </p:cNvPr>
          <p:cNvSpPr/>
          <p:nvPr/>
        </p:nvSpPr>
        <p:spPr>
          <a:xfrm>
            <a:off x="548883" y="3334811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求人誌・店頭・メールのQR ※デザイン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46217DB-3E59-DD17-6353-BB21863AB6A4}"/>
              </a:ext>
            </a:extLst>
          </p:cNvPr>
          <p:cNvSpPr/>
          <p:nvPr/>
        </p:nvSpPr>
        <p:spPr>
          <a:xfrm>
            <a:off x="1950234" y="2999032"/>
            <a:ext cx="1543806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メルマガ </a:t>
            </a:r>
            <a:r>
              <a:rPr lang="en-US" altLang="ja-JP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デザイン</a:t>
            </a:r>
            <a:endParaRPr kumimoji="1" lang="ja-JP" altLang="en-US" sz="11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B73343-1515-8075-50D7-828D2C7D0482}"/>
              </a:ext>
            </a:extLst>
          </p:cNvPr>
          <p:cNvSpPr/>
          <p:nvPr/>
        </p:nvSpPr>
        <p:spPr>
          <a:xfrm>
            <a:off x="1939622" y="2149679"/>
            <a:ext cx="1543806" cy="295172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離脱防止バナー</a:t>
            </a: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0A164B9-404C-F131-0FB7-4A7EC00628C8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904163" y="2540793"/>
            <a:ext cx="1898060" cy="241114"/>
          </a:xfrm>
          <a:prstGeom prst="bentConnector3">
            <a:avLst>
              <a:gd name="adj1" fmla="val 8813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B39E10C-FA5C-42F3-51FF-A98C96D3A9FE}"/>
              </a:ext>
            </a:extLst>
          </p:cNvPr>
          <p:cNvSpPr/>
          <p:nvPr/>
        </p:nvSpPr>
        <p:spPr>
          <a:xfrm>
            <a:off x="8170812" y="2124073"/>
            <a:ext cx="1355280" cy="24394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新着求人の配信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68999E51-25BF-ABC0-E768-EB439414D6AA}"/>
              </a:ext>
            </a:extLst>
          </p:cNvPr>
          <p:cNvSpPr/>
          <p:nvPr/>
        </p:nvSpPr>
        <p:spPr>
          <a:xfrm>
            <a:off x="486784" y="713253"/>
            <a:ext cx="9005456" cy="65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応募前の離脱者→友だちとして残す、応募者→次の仕事探しで戻す 等、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公式アカウントで対策できるポイントが非常に多く、課題に応じた施策展開が可能。</a:t>
            </a:r>
            <a:endParaRPr lang="ja-JP" altLang="en-US" sz="14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EF3EB03D-B886-80C5-4DDF-AD318BB1E8CB}"/>
              </a:ext>
            </a:extLst>
          </p:cNvPr>
          <p:cNvSpPr/>
          <p:nvPr/>
        </p:nvSpPr>
        <p:spPr>
          <a:xfrm>
            <a:off x="6444618" y="4938641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</a:t>
            </a:r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レポーティング対応</a:t>
            </a: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185B158-D6FD-FC9A-D842-E0184FC04A2F}"/>
              </a:ext>
            </a:extLst>
          </p:cNvPr>
          <p:cNvSpPr/>
          <p:nvPr/>
        </p:nvSpPr>
        <p:spPr>
          <a:xfrm>
            <a:off x="6444618" y="5207075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投稿スケジュール確認</a:t>
            </a:r>
            <a:endParaRPr kumimoji="1" lang="en-US" altLang="ja-JP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CAF16DCF-7CE0-97CD-A1FD-09B08149FF7B}"/>
              </a:ext>
            </a:extLst>
          </p:cNvPr>
          <p:cNvSpPr/>
          <p:nvPr/>
        </p:nvSpPr>
        <p:spPr>
          <a:xfrm>
            <a:off x="6444617" y="5743943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Call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DE164E19-C9CA-ADE8-FE9B-4A4096DD13BE}"/>
              </a:ext>
            </a:extLst>
          </p:cNvPr>
          <p:cNvSpPr/>
          <p:nvPr/>
        </p:nvSpPr>
        <p:spPr>
          <a:xfrm>
            <a:off x="6444617" y="5475509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Chat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FF9A810E-B53B-2631-3BD5-00395512E9C0}"/>
              </a:ext>
            </a:extLst>
          </p:cNvPr>
          <p:cNvSpPr/>
          <p:nvPr/>
        </p:nvSpPr>
        <p:spPr>
          <a:xfrm>
            <a:off x="6444617" y="6012377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en-US" altLang="ja-JP" sz="1200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OptionAPI</a:t>
            </a:r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1DF80BB2-F1C3-A39C-D441-B75E4795CC5B}"/>
              </a:ext>
            </a:extLst>
          </p:cNvPr>
          <p:cNvSpPr/>
          <p:nvPr/>
        </p:nvSpPr>
        <p:spPr>
          <a:xfrm>
            <a:off x="6444617" y="4746848"/>
            <a:ext cx="1424263" cy="1637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定期対応項目</a:t>
            </a:r>
            <a:r>
              <a:rPr kumimoji="1" lang="en-US" altLang="ja-JP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一部抽出</a:t>
            </a:r>
            <a:r>
              <a:rPr kumimoji="1" lang="en-US" altLang="ja-JP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ABD8985-CFB7-BFB4-C5CA-334F6DD3C337}"/>
              </a:ext>
            </a:extLst>
          </p:cNvPr>
          <p:cNvSpPr/>
          <p:nvPr/>
        </p:nvSpPr>
        <p:spPr>
          <a:xfrm>
            <a:off x="3634802" y="1986633"/>
            <a:ext cx="4080010" cy="2098921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498D1E1C-883A-4348-5898-29B2849E59E6}"/>
              </a:ext>
            </a:extLst>
          </p:cNvPr>
          <p:cNvSpPr/>
          <p:nvPr/>
        </p:nvSpPr>
        <p:spPr>
          <a:xfrm>
            <a:off x="3802223" y="2418821"/>
            <a:ext cx="1355280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2981AEA5-C263-1A76-AF6F-7D4F94F3AC3F}"/>
              </a:ext>
            </a:extLst>
          </p:cNvPr>
          <p:cNvCxnSpPr>
            <a:cxnSpLocks/>
          </p:cNvCxnSpPr>
          <p:nvPr/>
        </p:nvCxnSpPr>
        <p:spPr>
          <a:xfrm flipV="1">
            <a:off x="3492137" y="2540793"/>
            <a:ext cx="310086" cy="915990"/>
          </a:xfrm>
          <a:prstGeom prst="bentConnector3">
            <a:avLst>
              <a:gd name="adj1" fmla="val 27532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6898DA80-B20A-0E45-B382-62A8490927C1}"/>
              </a:ext>
            </a:extLst>
          </p:cNvPr>
          <p:cNvCxnSpPr>
            <a:cxnSpLocks/>
          </p:cNvCxnSpPr>
          <p:nvPr/>
        </p:nvCxnSpPr>
        <p:spPr>
          <a:xfrm flipV="1">
            <a:off x="3483428" y="2540793"/>
            <a:ext cx="310086" cy="1253428"/>
          </a:xfrm>
          <a:prstGeom prst="bentConnector3">
            <a:avLst>
              <a:gd name="adj1" fmla="val 3034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4194983F-AFC0-FB2F-1207-1AF108AFDA19}"/>
              </a:ext>
            </a:extLst>
          </p:cNvPr>
          <p:cNvCxnSpPr>
            <a:cxnSpLocks/>
          </p:cNvCxnSpPr>
          <p:nvPr/>
        </p:nvCxnSpPr>
        <p:spPr>
          <a:xfrm>
            <a:off x="3483428" y="2297265"/>
            <a:ext cx="318795" cy="243528"/>
          </a:xfrm>
          <a:prstGeom prst="bentConnector3">
            <a:avLst>
              <a:gd name="adj1" fmla="val 28488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20DB094-045E-2E0D-7026-B0BFFA8F2374}"/>
              </a:ext>
            </a:extLst>
          </p:cNvPr>
          <p:cNvSpPr/>
          <p:nvPr/>
        </p:nvSpPr>
        <p:spPr>
          <a:xfrm>
            <a:off x="5319694" y="212207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企画配信（セグメント配信）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60DE889-CA21-9C03-FD30-9F8BA1C11BE0}"/>
              </a:ext>
            </a:extLst>
          </p:cNvPr>
          <p:cNvSpPr/>
          <p:nvPr/>
        </p:nvSpPr>
        <p:spPr>
          <a:xfrm>
            <a:off x="5319694" y="238767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B0198902-7C67-1321-611C-A528F8B056D6}"/>
              </a:ext>
            </a:extLst>
          </p:cNvPr>
          <p:cNvSpPr/>
          <p:nvPr/>
        </p:nvSpPr>
        <p:spPr>
          <a:xfrm>
            <a:off x="5319694" y="265326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条件5問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C9DC48F-C12B-8A2A-8E49-C82DF8C2398F}"/>
              </a:ext>
            </a:extLst>
          </p:cNvPr>
          <p:cNvSpPr/>
          <p:nvPr/>
        </p:nvSpPr>
        <p:spPr>
          <a:xfrm>
            <a:off x="3883318" y="2695245"/>
            <a:ext cx="1274185" cy="16661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初期設計項目↓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FD4C92A-1BF4-DC29-74E5-5DDCAEC47D74}"/>
              </a:ext>
            </a:extLst>
          </p:cNvPr>
          <p:cNvSpPr txBox="1"/>
          <p:nvPr/>
        </p:nvSpPr>
        <p:spPr>
          <a:xfrm>
            <a:off x="3894226" y="2879422"/>
            <a:ext cx="12741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プロフィール画面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・応答メッセージ設定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・チャットタグ設定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・計測タグ設定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 </a:t>
            </a:r>
            <a:r>
              <a:rPr lang="en-US" altLang="ja-JP" sz="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6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 </a:t>
            </a:r>
            <a:r>
              <a:rPr lang="en-US" altLang="ja-JP" sz="7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7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7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3C7CD555-05D0-53EC-B6D5-ED734EBA27DF}"/>
              </a:ext>
            </a:extLst>
          </p:cNvPr>
          <p:cNvSpPr/>
          <p:nvPr/>
        </p:nvSpPr>
        <p:spPr>
          <a:xfrm>
            <a:off x="5326708" y="291886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タグ・セグメントの管理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64296BD6-7E19-AF65-3C1F-3AA68F3DB296}"/>
              </a:ext>
            </a:extLst>
          </p:cNvPr>
          <p:cNvSpPr/>
          <p:nvPr/>
        </p:nvSpPr>
        <p:spPr>
          <a:xfrm>
            <a:off x="5326708" y="3450051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各種初期設計の調整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2B391CFB-A763-8F28-0B80-C4699C620787}"/>
              </a:ext>
            </a:extLst>
          </p:cNvPr>
          <p:cNvSpPr/>
          <p:nvPr/>
        </p:nvSpPr>
        <p:spPr>
          <a:xfrm>
            <a:off x="5326708" y="318445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lang="ja-JP" altLang="en-US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解消（自動応答）</a:t>
            </a:r>
            <a:endParaRPr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BE8892-FE50-BF73-B15E-567C1CFD9A8A}"/>
              </a:ext>
            </a:extLst>
          </p:cNvPr>
          <p:cNvSpPr/>
          <p:nvPr/>
        </p:nvSpPr>
        <p:spPr>
          <a:xfrm>
            <a:off x="6487455" y="265530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タグ配信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5FB8C9E8-13C6-54AE-CC6C-E66EB44BEE66}"/>
              </a:ext>
            </a:extLst>
          </p:cNvPr>
          <p:cNvSpPr/>
          <p:nvPr/>
        </p:nvSpPr>
        <p:spPr>
          <a:xfrm>
            <a:off x="5319693" y="3715648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条件変更の受付</a:t>
            </a:r>
          </a:p>
        </p:txBody>
      </p: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A0B29E3B-5447-4104-E77E-C26EB1CB0F8A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7612378" y="2246045"/>
            <a:ext cx="558434" cy="1580487"/>
          </a:xfrm>
          <a:prstGeom prst="bentConnector3">
            <a:avLst>
              <a:gd name="adj1" fmla="val 7651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コネクタ: カギ線 78">
            <a:extLst>
              <a:ext uri="{FF2B5EF4-FFF2-40B4-BE49-F238E27FC236}">
                <a16:creationId xmlns:a16="http://schemas.microsoft.com/office/drawing/2014/main" id="{6F60DF78-AC16-9662-17BD-3EBCD4677BB3}"/>
              </a:ext>
            </a:extLst>
          </p:cNvPr>
          <p:cNvCxnSpPr>
            <a:cxnSpLocks/>
            <a:stCxn id="74" idx="3"/>
          </p:cNvCxnSpPr>
          <p:nvPr/>
        </p:nvCxnSpPr>
        <p:spPr>
          <a:xfrm flipV="1">
            <a:off x="7619393" y="2530542"/>
            <a:ext cx="551419" cy="10303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9ACE7516-910E-229D-8D61-02389EE1209F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7619393" y="2530542"/>
            <a:ext cx="551419" cy="7647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CFEF0AA5-73C6-3E02-7EDB-57BE374DCDBF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7619393" y="2530542"/>
            <a:ext cx="551419" cy="4992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994CBAF5-3A55-5F8D-2FE3-7E89A4D5C622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7612379" y="2530542"/>
            <a:ext cx="558433" cy="2356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95AFF09E-E9EC-B83D-758F-AB3E03B91C26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7612379" y="2498555"/>
            <a:ext cx="558433" cy="319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81E043B6-4E27-2700-F284-741B1F2B6E9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7612379" y="2232960"/>
            <a:ext cx="558433" cy="2975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左中かっこ 87">
            <a:extLst>
              <a:ext uri="{FF2B5EF4-FFF2-40B4-BE49-F238E27FC236}">
                <a16:creationId xmlns:a16="http://schemas.microsoft.com/office/drawing/2014/main" id="{3EB6A587-08D7-7B0D-8BB4-704F3A9413A8}"/>
              </a:ext>
            </a:extLst>
          </p:cNvPr>
          <p:cNvSpPr/>
          <p:nvPr/>
        </p:nvSpPr>
        <p:spPr>
          <a:xfrm>
            <a:off x="5156221" y="2086266"/>
            <a:ext cx="181099" cy="1866748"/>
          </a:xfrm>
          <a:prstGeom prst="leftBrace">
            <a:avLst>
              <a:gd name="adj1" fmla="val 8333"/>
              <a:gd name="adj2" fmla="val 2319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3F6801A-CC8C-370B-47CD-0E9A8F78DA92}"/>
              </a:ext>
            </a:extLst>
          </p:cNvPr>
          <p:cNvSpPr/>
          <p:nvPr/>
        </p:nvSpPr>
        <p:spPr>
          <a:xfrm>
            <a:off x="468899" y="4586771"/>
            <a:ext cx="5679352" cy="1887988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EBF6537D-D75B-DA5C-78EC-88D8F874BA82}"/>
              </a:ext>
            </a:extLst>
          </p:cNvPr>
          <p:cNvSpPr/>
          <p:nvPr/>
        </p:nvSpPr>
        <p:spPr>
          <a:xfrm>
            <a:off x="2207057" y="6002525"/>
            <a:ext cx="848549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友だち化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1A52527A-0CF0-029E-8E86-430BD9DEAAA1}"/>
              </a:ext>
            </a:extLst>
          </p:cNvPr>
          <p:cNvSpPr/>
          <p:nvPr/>
        </p:nvSpPr>
        <p:spPr>
          <a:xfrm>
            <a:off x="548883" y="4704947"/>
            <a:ext cx="731277" cy="24394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0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898B747D-663D-3118-8C11-74EB0324AD5C}"/>
              </a:ext>
            </a:extLst>
          </p:cNvPr>
          <p:cNvCxnSpPr>
            <a:stCxn id="93" idx="0"/>
          </p:cNvCxnSpPr>
          <p:nvPr/>
        </p:nvCxnSpPr>
        <p:spPr>
          <a:xfrm rot="5400000" flipH="1" flipV="1">
            <a:off x="3855271" y="-288234"/>
            <a:ext cx="2052433" cy="7933930"/>
          </a:xfrm>
          <a:prstGeom prst="bentConnector3">
            <a:avLst>
              <a:gd name="adj1" fmla="val 8842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CA244CA5-B309-FA6E-284D-7CBC7CC2508F}"/>
              </a:ext>
            </a:extLst>
          </p:cNvPr>
          <p:cNvCxnSpPr>
            <a:cxnSpLocks/>
            <a:stCxn id="93" idx="2"/>
            <a:endCxn id="92" idx="1"/>
          </p:cNvCxnSpPr>
          <p:nvPr/>
        </p:nvCxnSpPr>
        <p:spPr>
          <a:xfrm rot="16200000" flipH="1">
            <a:off x="972986" y="4890426"/>
            <a:ext cx="1175606" cy="1292535"/>
          </a:xfrm>
          <a:prstGeom prst="bentConnector2">
            <a:avLst/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B6490177-CFF0-A875-7C56-F0FC8CA2C530}"/>
              </a:ext>
            </a:extLst>
          </p:cNvPr>
          <p:cNvSpPr/>
          <p:nvPr/>
        </p:nvSpPr>
        <p:spPr>
          <a:xfrm>
            <a:off x="562021" y="5819567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OptionAPI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6D76C720-225A-6A92-8A49-A13770789615}"/>
              </a:ext>
            </a:extLst>
          </p:cNvPr>
          <p:cNvSpPr/>
          <p:nvPr/>
        </p:nvSpPr>
        <p:spPr>
          <a:xfrm>
            <a:off x="562021" y="6084246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</a:t>
            </a: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9927067B-793F-D21C-B90A-7C7E46812D7F}"/>
              </a:ext>
            </a:extLst>
          </p:cNvPr>
          <p:cNvSpPr/>
          <p:nvPr/>
        </p:nvSpPr>
        <p:spPr>
          <a:xfrm>
            <a:off x="3713703" y="473132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面接・見学の前日リマインド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BD2E83D5-3372-C439-208D-783F428C9D84}"/>
              </a:ext>
            </a:extLst>
          </p:cNvPr>
          <p:cNvSpPr/>
          <p:nvPr/>
        </p:nvSpPr>
        <p:spPr>
          <a:xfrm>
            <a:off x="3713703" y="499691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契約満了前の再案内</a:t>
            </a: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87D59E0-E0CE-3934-C1B4-0EF4D82E0B2E}"/>
              </a:ext>
            </a:extLst>
          </p:cNvPr>
          <p:cNvSpPr/>
          <p:nvPr/>
        </p:nvSpPr>
        <p:spPr>
          <a:xfrm>
            <a:off x="3713703" y="526251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就業開始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78BB80E0-2482-846A-E4FE-C1770384E88E}"/>
              </a:ext>
            </a:extLst>
          </p:cNvPr>
          <p:cNvSpPr/>
          <p:nvPr/>
        </p:nvSpPr>
        <p:spPr>
          <a:xfrm>
            <a:off x="3720717" y="552810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満了時期タグの設定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885333E-56CE-B011-72B9-07B332849355}"/>
              </a:ext>
            </a:extLst>
          </p:cNvPr>
          <p:cNvSpPr/>
          <p:nvPr/>
        </p:nvSpPr>
        <p:spPr>
          <a:xfrm>
            <a:off x="4881464" y="526455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就業後フォロー</a:t>
            </a:r>
          </a:p>
        </p:txBody>
      </p: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BDA83037-5C06-C2D0-EF8B-90AE0F4336B5}"/>
              </a:ext>
            </a:extLst>
          </p:cNvPr>
          <p:cNvCxnSpPr>
            <a:cxnSpLocks/>
            <a:stCxn id="93" idx="3"/>
            <a:endCxn id="101" idx="1"/>
          </p:cNvCxnSpPr>
          <p:nvPr/>
        </p:nvCxnSpPr>
        <p:spPr>
          <a:xfrm>
            <a:off x="1280160" y="4826919"/>
            <a:ext cx="2433543" cy="152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コネクタ: カギ線 114">
            <a:extLst>
              <a:ext uri="{FF2B5EF4-FFF2-40B4-BE49-F238E27FC236}">
                <a16:creationId xmlns:a16="http://schemas.microsoft.com/office/drawing/2014/main" id="{BA23D5BC-C7EC-06D4-215C-2852A68F0F9B}"/>
              </a:ext>
            </a:extLst>
          </p:cNvPr>
          <p:cNvCxnSpPr>
            <a:cxnSpLocks/>
            <a:stCxn id="93" idx="3"/>
            <a:endCxn id="102" idx="1"/>
          </p:cNvCxnSpPr>
          <p:nvPr/>
        </p:nvCxnSpPr>
        <p:spPr>
          <a:xfrm>
            <a:off x="1280160" y="4826919"/>
            <a:ext cx="2433543" cy="28088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F8AA6994-29BC-2C26-DE5F-C0C21F502236}"/>
              </a:ext>
            </a:extLst>
          </p:cNvPr>
          <p:cNvCxnSpPr>
            <a:cxnSpLocks/>
            <a:stCxn id="93" idx="3"/>
            <a:endCxn id="104" idx="1"/>
          </p:cNvCxnSpPr>
          <p:nvPr/>
        </p:nvCxnSpPr>
        <p:spPr>
          <a:xfrm>
            <a:off x="1280160" y="4826919"/>
            <a:ext cx="2433543" cy="5464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3AE4A3D0-6C1F-7BCD-3ED2-5F066684CE21}"/>
              </a:ext>
            </a:extLst>
          </p:cNvPr>
          <p:cNvCxnSpPr>
            <a:cxnSpLocks/>
            <a:stCxn id="93" idx="3"/>
            <a:endCxn id="105" idx="1"/>
          </p:cNvCxnSpPr>
          <p:nvPr/>
        </p:nvCxnSpPr>
        <p:spPr>
          <a:xfrm>
            <a:off x="1280160" y="4826919"/>
            <a:ext cx="2440557" cy="812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F922E2DE-5C74-6CAA-736C-BAC94D2952DF}"/>
              </a:ext>
            </a:extLst>
          </p:cNvPr>
          <p:cNvSpPr/>
          <p:nvPr/>
        </p:nvSpPr>
        <p:spPr>
          <a:xfrm>
            <a:off x="3713703" y="5792944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不採用・辞退後の次の求人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03175683-57AB-6FFA-0F27-7E81645CA47B}"/>
              </a:ext>
            </a:extLst>
          </p:cNvPr>
          <p:cNvSpPr/>
          <p:nvPr/>
        </p:nvSpPr>
        <p:spPr>
          <a:xfrm>
            <a:off x="3720717" y="6061629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自動応答（FAQ）</a:t>
            </a:r>
          </a:p>
        </p:txBody>
      </p: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30FE3CED-649C-7946-1117-B1E2FD2D7F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05206" y="3681433"/>
            <a:ext cx="3347219" cy="1294966"/>
          </a:xfrm>
          <a:prstGeom prst="bentConnector3">
            <a:avLst>
              <a:gd name="adj1" fmla="val 46358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5EB01514-8877-C931-E7AA-81B28EB77681}"/>
              </a:ext>
            </a:extLst>
          </p:cNvPr>
          <p:cNvSpPr/>
          <p:nvPr/>
        </p:nvSpPr>
        <p:spPr>
          <a:xfrm>
            <a:off x="6986937" y="1517116"/>
            <a:ext cx="2583782" cy="252610"/>
          </a:xfrm>
          <a:prstGeom prst="rect">
            <a:avLst/>
          </a:prstGeom>
          <a:solidFill>
            <a:srgbClr val="04FA0A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自動化</a:t>
            </a:r>
            <a:r>
              <a:rPr lang="en-US" altLang="ja-JP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ツール導入により</a:t>
            </a:r>
            <a:r>
              <a:rPr lang="en-US" altLang="ja-JP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100" b="1" dirty="0">
                <a:solidFill>
                  <a:srgbClr val="00B05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可能領域</a:t>
            </a:r>
            <a:endParaRPr kumimoji="1" lang="ja-JP" altLang="en-US" sz="1100" b="1" dirty="0">
              <a:solidFill>
                <a:srgbClr val="00B05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6758DBC2-018A-378B-99F0-43DAFE20DF5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全体設計｜施策の考え方（どこでLINEに繋ぐか）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4458F3-B182-EFAE-9BE8-8E76712736E7}"/>
              </a:ext>
            </a:extLst>
          </p:cNvPr>
          <p:cNvSpPr/>
          <p:nvPr/>
        </p:nvSpPr>
        <p:spPr>
          <a:xfrm>
            <a:off x="175475" y="1823735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B57FCC-E034-81EB-B2ED-2EB62032A504}"/>
              </a:ext>
            </a:extLst>
          </p:cNvPr>
          <p:cNvSpPr/>
          <p:nvPr/>
        </p:nvSpPr>
        <p:spPr>
          <a:xfrm>
            <a:off x="4994298" y="1823734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363108-225C-23EE-472E-1E1A14DA49E4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0" name="Google Shape;752;p28">
            <a:extLst>
              <a:ext uri="{FF2B5EF4-FFF2-40B4-BE49-F238E27FC236}">
                <a16:creationId xmlns:a16="http://schemas.microsoft.com/office/drawing/2014/main" id="{9A39965E-24C8-AD90-0D9E-A9BC47D02016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応募した人だけをLINEに繋ぐか、応募前に離脱した人も拾うか。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同じ流入でも、その後に追える人数が大きく変わります。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D1533E-1582-9E17-EE6F-EA2F4BE96D58}"/>
              </a:ext>
            </a:extLst>
          </p:cNvPr>
          <p:cNvSpPr txBox="1"/>
          <p:nvPr/>
        </p:nvSpPr>
        <p:spPr>
          <a:xfrm>
            <a:off x="422130" y="1861195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C43BB1A-3D6A-04B9-F8ED-26CB7DCA3735}"/>
              </a:ext>
            </a:extLst>
          </p:cNvPr>
          <p:cNvSpPr txBox="1"/>
          <p:nvPr/>
        </p:nvSpPr>
        <p:spPr>
          <a:xfrm>
            <a:off x="422130" y="2931847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B10DC8-82CD-0C69-034B-7642E1296837}"/>
              </a:ext>
            </a:extLst>
          </p:cNvPr>
          <p:cNvSpPr txBox="1"/>
          <p:nvPr/>
        </p:nvSpPr>
        <p:spPr>
          <a:xfrm>
            <a:off x="422130" y="2396521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15AFA19-CD5F-9379-AE26-44B78C354860}"/>
              </a:ext>
            </a:extLst>
          </p:cNvPr>
          <p:cNvSpPr txBox="1"/>
          <p:nvPr/>
        </p:nvSpPr>
        <p:spPr>
          <a:xfrm>
            <a:off x="422130" y="3467172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応募後のみ追加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2062743-7DD1-C474-56DE-C86161967F49}"/>
              </a:ext>
            </a:extLst>
          </p:cNvPr>
          <p:cNvSpPr txBox="1"/>
          <p:nvPr/>
        </p:nvSpPr>
        <p:spPr>
          <a:xfrm>
            <a:off x="422130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3F98235-7ECD-D5F4-08BE-76857355ABFA}"/>
              </a:ext>
            </a:extLst>
          </p:cNvPr>
          <p:cNvSpPr txBox="1"/>
          <p:nvPr/>
        </p:nvSpPr>
        <p:spPr>
          <a:xfrm>
            <a:off x="422130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9F747F-6C0D-0BDB-B5B7-8266514B8949}"/>
              </a:ext>
            </a:extLst>
          </p:cNvPr>
          <p:cNvSpPr txBox="1"/>
          <p:nvPr/>
        </p:nvSpPr>
        <p:spPr>
          <a:xfrm>
            <a:off x="422130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2277771-01BE-2A4E-C621-929D69C54177}"/>
              </a:ext>
            </a:extLst>
          </p:cNvPr>
          <p:cNvSpPr txBox="1"/>
          <p:nvPr/>
        </p:nvSpPr>
        <p:spPr>
          <a:xfrm>
            <a:off x="422130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9CD79024-49B9-DF89-8EE9-633017761437}"/>
              </a:ext>
            </a:extLst>
          </p:cNvPr>
          <p:cNvCxnSpPr>
            <a:cxnSpLocks/>
          </p:cNvCxnSpPr>
          <p:nvPr/>
        </p:nvCxnSpPr>
        <p:spPr>
          <a:xfrm>
            <a:off x="725974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707324A-CA31-10C7-B6B8-E3A9A53CC3A2}"/>
              </a:ext>
            </a:extLst>
          </p:cNvPr>
          <p:cNvSpPr txBox="1"/>
          <p:nvPr/>
        </p:nvSpPr>
        <p:spPr>
          <a:xfrm>
            <a:off x="5143202" y="1861195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DFDD2E-A723-2916-4648-0F5E903278F3}"/>
              </a:ext>
            </a:extLst>
          </p:cNvPr>
          <p:cNvSpPr txBox="1"/>
          <p:nvPr/>
        </p:nvSpPr>
        <p:spPr>
          <a:xfrm>
            <a:off x="5143202" y="2931847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895B974-A656-2669-0CE1-C27F2B4B20BE}"/>
              </a:ext>
            </a:extLst>
          </p:cNvPr>
          <p:cNvSpPr txBox="1"/>
          <p:nvPr/>
        </p:nvSpPr>
        <p:spPr>
          <a:xfrm>
            <a:off x="5143202" y="2396521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07117C9-502D-4C6F-AA2E-1C1E7CF7B4C6}"/>
              </a:ext>
            </a:extLst>
          </p:cNvPr>
          <p:cNvSpPr txBox="1"/>
          <p:nvPr/>
        </p:nvSpPr>
        <p:spPr>
          <a:xfrm>
            <a:off x="5143202" y="3467173"/>
            <a:ext cx="2352196" cy="307777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離脱時も追加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6761199-CD70-153F-E94B-20E5E833D7A7}"/>
              </a:ext>
            </a:extLst>
          </p:cNvPr>
          <p:cNvSpPr txBox="1"/>
          <p:nvPr/>
        </p:nvSpPr>
        <p:spPr>
          <a:xfrm>
            <a:off x="5143202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2CCB353-50A1-FF17-E933-B1158BEE91E4}"/>
              </a:ext>
            </a:extLst>
          </p:cNvPr>
          <p:cNvSpPr txBox="1"/>
          <p:nvPr/>
        </p:nvSpPr>
        <p:spPr>
          <a:xfrm>
            <a:off x="5143202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A347FC-9BE7-316C-5F13-B7762E412092}"/>
              </a:ext>
            </a:extLst>
          </p:cNvPr>
          <p:cNvSpPr txBox="1"/>
          <p:nvPr/>
        </p:nvSpPr>
        <p:spPr>
          <a:xfrm>
            <a:off x="5143202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1750602-2370-CB79-F23B-20E4B2FC9A45}"/>
              </a:ext>
            </a:extLst>
          </p:cNvPr>
          <p:cNvSpPr txBox="1"/>
          <p:nvPr/>
        </p:nvSpPr>
        <p:spPr>
          <a:xfrm>
            <a:off x="5143202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398214A-9BC3-94A2-1B44-ABFB6EF10A95}"/>
              </a:ext>
            </a:extLst>
          </p:cNvPr>
          <p:cNvCxnSpPr>
            <a:cxnSpLocks/>
          </p:cNvCxnSpPr>
          <p:nvPr/>
        </p:nvCxnSpPr>
        <p:spPr>
          <a:xfrm>
            <a:off x="5447046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BC82B682-A1BD-AF78-6196-B1E02CC1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117" y="3452400"/>
            <a:ext cx="481489" cy="448956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13BFB52F-AE2C-2214-E223-63E053D9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89" y="3453958"/>
            <a:ext cx="481489" cy="448956"/>
          </a:xfrm>
          <a:prstGeom prst="rect">
            <a:avLst/>
          </a:prstGeom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DC00F02-3FEF-F2A7-D36C-00239CB92DE5}"/>
              </a:ext>
            </a:extLst>
          </p:cNvPr>
          <p:cNvSpPr/>
          <p:nvPr/>
        </p:nvSpPr>
        <p:spPr>
          <a:xfrm>
            <a:off x="175475" y="1503248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パターン① 応募した人だけLINEへ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3B6038D6-0E00-CDB9-8318-C7D05A37E8F2}"/>
              </a:ext>
            </a:extLst>
          </p:cNvPr>
          <p:cNvSpPr/>
          <p:nvPr/>
        </p:nvSpPr>
        <p:spPr>
          <a:xfrm>
            <a:off x="4994298" y="1503247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パターン② 応募前の離脱者も拾う</a:t>
            </a:r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B5C916EA-56BA-12E3-B0EE-D83A8EC9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045" y="3298969"/>
            <a:ext cx="1792611" cy="2688917"/>
          </a:xfrm>
          <a:prstGeom prst="rect">
            <a:avLst/>
          </a:prstGeom>
        </p:spPr>
      </p:pic>
      <p:pic>
        <p:nvPicPr>
          <p:cNvPr id="826" name="図 825">
            <a:extLst>
              <a:ext uri="{FF2B5EF4-FFF2-40B4-BE49-F238E27FC236}">
                <a16:creationId xmlns:a16="http://schemas.microsoft.com/office/drawing/2014/main" id="{2D4E7AC1-305D-07DC-9608-BFD7502EF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321" y="3297600"/>
            <a:ext cx="1586218" cy="237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25B1FD88-3B25-D76E-99D7-CDD7E800E78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構築｜施策展開図（初期・月次）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9B81B2-1251-DE55-B4B3-220553E132F8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E8D898A-0AF4-2505-8EE3-9F12824F6A59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施策においては、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と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動線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が重要。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1C5FFF-B61A-EB8E-326E-072A0E269233}"/>
              </a:ext>
            </a:extLst>
          </p:cNvPr>
          <p:cNvSpPr/>
          <p:nvPr/>
        </p:nvSpPr>
        <p:spPr>
          <a:xfrm>
            <a:off x="3587358" y="1747110"/>
            <a:ext cx="860817" cy="1432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初期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（初動）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F32D58-29FF-60A6-17B5-A41ACCBE9449}"/>
              </a:ext>
            </a:extLst>
          </p:cNvPr>
          <p:cNvSpPr/>
          <p:nvPr/>
        </p:nvSpPr>
        <p:spPr>
          <a:xfrm>
            <a:off x="3587358" y="3321847"/>
            <a:ext cx="860817" cy="29212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（定例）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2EC6943-AA14-49EA-30CF-5D813BA45BFD}"/>
              </a:ext>
            </a:extLst>
          </p:cNvPr>
          <p:cNvSpPr/>
          <p:nvPr/>
        </p:nvSpPr>
        <p:spPr>
          <a:xfrm>
            <a:off x="336942" y="172938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離脱防止・ポップアップ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HP/LP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滞在時に、条件を満たすと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ポップアップバナーを表示する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36AF3F-C2E7-3494-0B01-4BC00578C5FF}"/>
              </a:ext>
            </a:extLst>
          </p:cNvPr>
          <p:cNvSpPr/>
          <p:nvPr/>
        </p:nvSpPr>
        <p:spPr>
          <a:xfrm>
            <a:off x="336942" y="2642195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ユーザーアクション時に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連携で</a:t>
            </a:r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にメッセ送付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B8D9E5A-638C-EACC-4E99-235D769FBAB5}"/>
              </a:ext>
            </a:extLst>
          </p:cNvPr>
          <p:cNvSpPr/>
          <p:nvPr/>
        </p:nvSpPr>
        <p:spPr>
          <a:xfrm>
            <a:off x="336942" y="3555007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誘導ツール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サイトの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ページから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入力情報を引き継ぎ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40447B4-FBD9-E81D-7902-7B3BF84ED83A}"/>
              </a:ext>
            </a:extLst>
          </p:cNvPr>
          <p:cNvSpPr/>
          <p:nvPr/>
        </p:nvSpPr>
        <p:spPr>
          <a:xfrm>
            <a:off x="336942" y="445829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ログイン・</a:t>
            </a:r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連携等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ログインに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を使用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サイトユーザー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を連携</a:t>
            </a:r>
            <a:endParaRPr kumimoji="1" lang="ja-JP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D6C1FC9-285C-AE02-A175-C7061E1A753F}"/>
              </a:ext>
            </a:extLst>
          </p:cNvPr>
          <p:cNvSpPr/>
          <p:nvPr/>
        </p:nvSpPr>
        <p:spPr>
          <a:xfrm>
            <a:off x="336942" y="5361315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 CPF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</a:t>
            </a:r>
            <a:endParaRPr kumimoji="1" lang="ja-JP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F6F515-C9A5-F22C-3E1C-CF4380DB9991}"/>
              </a:ext>
            </a:extLst>
          </p:cNvPr>
          <p:cNvSpPr/>
          <p:nvPr/>
        </p:nvSpPr>
        <p:spPr>
          <a:xfrm>
            <a:off x="336942" y="5829843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スタンプ・</a:t>
            </a:r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Pt</a:t>
            </a:r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56D598-0831-CD8B-6A89-EE3DAF51A5E9}"/>
              </a:ext>
            </a:extLst>
          </p:cNvPr>
          <p:cNvSpPr/>
          <p:nvPr/>
        </p:nvSpPr>
        <p:spPr>
          <a:xfrm>
            <a:off x="4482711" y="1756635"/>
            <a:ext cx="3233084" cy="14329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・プロフ動線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MSG</a:t>
            </a: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KW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自動応答設定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・友だち登録直後アンケート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・再引上げ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  <a:r>
              <a:rPr lang="ja-JP" altLang="en-US" sz="9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：特定アクション後◯日での自動配信</a:t>
            </a:r>
            <a:endParaRPr kumimoji="1" lang="ja-JP" altLang="en-US" sz="9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4F01906-5193-F098-3B58-BDCC26D568EA}"/>
              </a:ext>
            </a:extLst>
          </p:cNvPr>
          <p:cNvSpPr/>
          <p:nvPr/>
        </p:nvSpPr>
        <p:spPr>
          <a:xfrm>
            <a:off x="4482711" y="3331372"/>
            <a:ext cx="3233084" cy="2921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新規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 </a:t>
            </a:r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月間投稿数</a:t>
            </a:r>
            <a:endParaRPr lang="en-US" altLang="ja-JP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・イベント配信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・新着求人の案内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・企画配信（特定ターゲット）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・希望条件の再確認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・お役立ちコラム・コンテンツ配信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・季節／時事ネタ配信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︙</a:t>
            </a:r>
          </a:p>
          <a:p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調整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・アンケート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・自動応答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集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</a:p>
        </p:txBody>
      </p:sp>
      <p:sp>
        <p:nvSpPr>
          <p:cNvPr id="19" name="左大かっこ 18">
            <a:extLst>
              <a:ext uri="{FF2B5EF4-FFF2-40B4-BE49-F238E27FC236}">
                <a16:creationId xmlns:a16="http://schemas.microsoft.com/office/drawing/2014/main" id="{B9FF3DCE-9B05-09FE-7C2F-B104CD0105BE}"/>
              </a:ext>
            </a:extLst>
          </p:cNvPr>
          <p:cNvSpPr/>
          <p:nvPr/>
        </p:nvSpPr>
        <p:spPr>
          <a:xfrm>
            <a:off x="3210542" y="1800836"/>
            <a:ext cx="215932" cy="4398089"/>
          </a:xfrm>
          <a:prstGeom prst="leftBracket">
            <a:avLst/>
          </a:prstGeom>
          <a:ln>
            <a:solidFill>
              <a:srgbClr val="04FA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61357E78-5BD2-BBD8-1F18-B1985600E22B}"/>
              </a:ext>
            </a:extLst>
          </p:cNvPr>
          <p:cNvSpPr/>
          <p:nvPr/>
        </p:nvSpPr>
        <p:spPr>
          <a:xfrm flipH="1">
            <a:off x="2892035" y="1756635"/>
            <a:ext cx="215932" cy="4486491"/>
          </a:xfrm>
          <a:prstGeom prst="leftBracket">
            <a:avLst/>
          </a:prstGeom>
          <a:ln>
            <a:solidFill>
              <a:srgbClr val="04FA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6E6CFC0-FB45-E508-C7ED-E0F29C95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90" y="2173993"/>
            <a:ext cx="582602" cy="543237"/>
          </a:xfrm>
          <a:prstGeom prst="rect">
            <a:avLst/>
          </a:prstGeom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8D782E3-91EF-D26A-1906-21A51865A939}"/>
              </a:ext>
            </a:extLst>
          </p:cNvPr>
          <p:cNvCxnSpPr>
            <a:cxnSpLocks/>
          </p:cNvCxnSpPr>
          <p:nvPr/>
        </p:nvCxnSpPr>
        <p:spPr>
          <a:xfrm>
            <a:off x="231756" y="1521490"/>
            <a:ext cx="2654192" cy="0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9D8C8E0-0854-5217-A7F3-DBD2104BDFAF}"/>
              </a:ext>
            </a:extLst>
          </p:cNvPr>
          <p:cNvSpPr txBox="1"/>
          <p:nvPr/>
        </p:nvSpPr>
        <p:spPr>
          <a:xfrm>
            <a:off x="857833" y="1390138"/>
            <a:ext cx="1306788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endParaRPr lang="ja-JP" altLang="en-US" sz="1100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5F1B07-4D2C-4794-DAEA-D76D3E0CA8CF}"/>
              </a:ext>
            </a:extLst>
          </p:cNvPr>
          <p:cNvCxnSpPr>
            <a:cxnSpLocks/>
          </p:cNvCxnSpPr>
          <p:nvPr/>
        </p:nvCxnSpPr>
        <p:spPr>
          <a:xfrm>
            <a:off x="3248447" y="1521490"/>
            <a:ext cx="6173147" cy="0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5E48196-7DAD-4F3E-ADDE-E36FAC475508}"/>
              </a:ext>
            </a:extLst>
          </p:cNvPr>
          <p:cNvSpPr txBox="1"/>
          <p:nvPr/>
        </p:nvSpPr>
        <p:spPr>
          <a:xfrm>
            <a:off x="5411256" y="1390138"/>
            <a:ext cx="1913269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化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EA6E8F1-E33D-1FB9-E4AA-6AD1A2F6B651}"/>
              </a:ext>
            </a:extLst>
          </p:cNvPr>
          <p:cNvSpPr/>
          <p:nvPr/>
        </p:nvSpPr>
        <p:spPr>
          <a:xfrm>
            <a:off x="7750331" y="1748432"/>
            <a:ext cx="1818728" cy="44946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ターゲット設定</a:t>
            </a:r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オーガニック</a:t>
            </a:r>
            <a:endParaRPr kumimoji="1" lang="en-US" altLang="ja-JP" sz="13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年齢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性別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地域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(MSG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lang="en-US" altLang="ja-JP" sz="1100" dirty="0" err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Imp,Click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LINE_API</a:t>
            </a:r>
            <a:r>
              <a:rPr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</a:t>
            </a:r>
            <a:r>
              <a:rPr lang="ja-JP" altLang="en-US" sz="9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en-US" altLang="ja-JP" sz="11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アンケート結果）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サイトアクション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リマインド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再通知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連携した情報ベース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ユーザー一覧を取得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アップロード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地点別スコアリング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※MA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CRM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との連携</a:t>
            </a:r>
            <a:endParaRPr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(応募・就業データ)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ユーザー情報</a:t>
            </a:r>
            <a:r>
              <a:rPr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詳細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47CAADD-ECBD-1DCC-19D6-6433C921622E}"/>
              </a:ext>
            </a:extLst>
          </p:cNvPr>
          <p:cNvSpPr txBox="1"/>
          <p:nvPr/>
        </p:nvSpPr>
        <p:spPr>
          <a:xfrm>
            <a:off x="2178040" y="2694449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0802062-F552-1DFA-430A-41800E76A220}"/>
              </a:ext>
            </a:extLst>
          </p:cNvPr>
          <p:cNvSpPr txBox="1"/>
          <p:nvPr/>
        </p:nvSpPr>
        <p:spPr>
          <a:xfrm>
            <a:off x="2370382" y="177323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DCAB868-C79D-2212-70C3-9EF559F32C21}"/>
              </a:ext>
            </a:extLst>
          </p:cNvPr>
          <p:cNvSpPr txBox="1"/>
          <p:nvPr/>
        </p:nvSpPr>
        <p:spPr>
          <a:xfrm>
            <a:off x="2456844" y="3619396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2ECFC3F-A285-F105-30CE-9144EBB24A11}"/>
              </a:ext>
            </a:extLst>
          </p:cNvPr>
          <p:cNvSpPr txBox="1"/>
          <p:nvPr/>
        </p:nvSpPr>
        <p:spPr>
          <a:xfrm>
            <a:off x="2518621" y="457656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9AB193A-8274-ABE1-CD3D-54790C3264F6}"/>
              </a:ext>
            </a:extLst>
          </p:cNvPr>
          <p:cNvSpPr txBox="1"/>
          <p:nvPr/>
        </p:nvSpPr>
        <p:spPr>
          <a:xfrm>
            <a:off x="2210158" y="5478733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96A37B9-CA3D-92C9-1405-86C6FFCD8C5A}"/>
              </a:ext>
            </a:extLst>
          </p:cNvPr>
          <p:cNvSpPr txBox="1"/>
          <p:nvPr/>
        </p:nvSpPr>
        <p:spPr>
          <a:xfrm>
            <a:off x="2214724" y="5963211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A71FB07-E583-8196-5077-2EAA10A61A0F}"/>
              </a:ext>
            </a:extLst>
          </p:cNvPr>
          <p:cNvSpPr txBox="1"/>
          <p:nvPr/>
        </p:nvSpPr>
        <p:spPr>
          <a:xfrm>
            <a:off x="285223" y="6291679"/>
            <a:ext cx="2547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サイト動線整備、プレスリリース等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3BE3835-FB68-0C7D-7CED-C40A02A19AB2}"/>
              </a:ext>
            </a:extLst>
          </p:cNvPr>
          <p:cNvSpPr txBox="1"/>
          <p:nvPr/>
        </p:nvSpPr>
        <p:spPr>
          <a:xfrm>
            <a:off x="6149585" y="3424747"/>
            <a:ext cx="11749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数量により変動</a:t>
            </a:r>
            <a:endParaRPr lang="ja-JP" altLang="en-US" sz="9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7E1216-C9D3-60D3-B3E8-43E38B5791F4}"/>
              </a:ext>
            </a:extLst>
          </p:cNvPr>
          <p:cNvSpPr txBox="1"/>
          <p:nvPr/>
        </p:nvSpPr>
        <p:spPr>
          <a:xfrm>
            <a:off x="3587357" y="6286698"/>
            <a:ext cx="41284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クリエイティブ費用は基本的に内包、開発費用は別途見積もりとなります。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56C170-205B-2224-D69D-D964BF991C26}"/>
              </a:ext>
            </a:extLst>
          </p:cNvPr>
          <p:cNvSpPr/>
          <p:nvPr/>
        </p:nvSpPr>
        <p:spPr>
          <a:xfrm>
            <a:off x="7664076" y="1733928"/>
            <a:ext cx="1904982" cy="4562295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D55786A2-F100-6AA6-4BA2-C612ABD2107D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構築｜友だち追加後15日でアクティブ率が落ちる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062440-B6A0-85EE-461D-E9A5F53310B0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CEADF0C-2806-160C-2545-0CBF2DE16851}"/>
              </a:ext>
            </a:extLst>
          </p:cNvPr>
          <p:cNvSpPr txBox="1"/>
          <p:nvPr/>
        </p:nvSpPr>
        <p:spPr>
          <a:xfrm>
            <a:off x="1988819" y="736332"/>
            <a:ext cx="791718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友だち追加～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日を境に大きくアクティブ率が下がる（ブロック率が上がる）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ため、応募が決まる7日間のステップ配信を先に整えます。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99FD372-1931-8AF9-6FBE-007F188CE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10" y="1746287"/>
            <a:ext cx="582602" cy="54323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0DDBD12-962F-75E1-F777-2A8CB1A1A43C}"/>
              </a:ext>
            </a:extLst>
          </p:cNvPr>
          <p:cNvSpPr/>
          <p:nvPr/>
        </p:nvSpPr>
        <p:spPr>
          <a:xfrm>
            <a:off x="2232491" y="1817608"/>
            <a:ext cx="5694068" cy="400594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公式アカウントを友だち追加！</a:t>
            </a: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96A68A56-39E1-8BAC-2C49-CC19FBEC68F7}"/>
              </a:ext>
            </a:extLst>
          </p:cNvPr>
          <p:cNvSpPr/>
          <p:nvPr/>
        </p:nvSpPr>
        <p:spPr>
          <a:xfrm>
            <a:off x="6666282" y="2317059"/>
            <a:ext cx="470263" cy="1837509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99B7760-FDC6-B260-9507-F94BFB256854}"/>
              </a:ext>
            </a:extLst>
          </p:cNvPr>
          <p:cNvCxnSpPr>
            <a:cxnSpLocks/>
          </p:cNvCxnSpPr>
          <p:nvPr/>
        </p:nvCxnSpPr>
        <p:spPr>
          <a:xfrm>
            <a:off x="1603884" y="4293068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矢印: 下 21">
            <a:extLst>
              <a:ext uri="{FF2B5EF4-FFF2-40B4-BE49-F238E27FC236}">
                <a16:creationId xmlns:a16="http://schemas.microsoft.com/office/drawing/2014/main" id="{57EAA642-99EB-D59A-CA2D-CF128F520650}"/>
              </a:ext>
            </a:extLst>
          </p:cNvPr>
          <p:cNvSpPr/>
          <p:nvPr/>
        </p:nvSpPr>
        <p:spPr>
          <a:xfrm>
            <a:off x="6666281" y="4376126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C84D888-2F3B-56B2-6D8B-43495766B724}"/>
              </a:ext>
            </a:extLst>
          </p:cNvPr>
          <p:cNvCxnSpPr>
            <a:cxnSpLocks/>
          </p:cNvCxnSpPr>
          <p:nvPr/>
        </p:nvCxnSpPr>
        <p:spPr>
          <a:xfrm>
            <a:off x="1603884" y="5394656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DDEE958-B9A4-B3B7-0AB5-40E083E922F6}"/>
              </a:ext>
            </a:extLst>
          </p:cNvPr>
          <p:cNvSpPr txBox="1"/>
          <p:nvPr/>
        </p:nvSpPr>
        <p:spPr>
          <a:xfrm>
            <a:off x="887729" y="4154568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9B2BE93-6AC1-B592-319F-2D44EB64DCDF}"/>
              </a:ext>
            </a:extLst>
          </p:cNvPr>
          <p:cNvSpPr txBox="1"/>
          <p:nvPr/>
        </p:nvSpPr>
        <p:spPr>
          <a:xfrm>
            <a:off x="887729" y="5258075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30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F0BAD90B-19DF-C716-880C-57948735A10E}"/>
              </a:ext>
            </a:extLst>
          </p:cNvPr>
          <p:cNvSpPr/>
          <p:nvPr/>
        </p:nvSpPr>
        <p:spPr>
          <a:xfrm>
            <a:off x="6666281" y="5477713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04FA0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>
            <a:extLst>
              <a:ext uri="{FF2B5EF4-FFF2-40B4-BE49-F238E27FC236}">
                <a16:creationId xmlns:a16="http://schemas.microsoft.com/office/drawing/2014/main" id="{21D9755D-523C-2A6A-B045-29C102846ABF}"/>
              </a:ext>
            </a:extLst>
          </p:cNvPr>
          <p:cNvSpPr/>
          <p:nvPr/>
        </p:nvSpPr>
        <p:spPr>
          <a:xfrm flipV="1">
            <a:off x="7837714" y="2289524"/>
            <a:ext cx="1244098" cy="3105132"/>
          </a:xfrm>
          <a:prstGeom prst="rtTriangle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6796F30-9C92-1751-9461-7D96ED3FD472}"/>
              </a:ext>
            </a:extLst>
          </p:cNvPr>
          <p:cNvSpPr txBox="1"/>
          <p:nvPr/>
        </p:nvSpPr>
        <p:spPr>
          <a:xfrm>
            <a:off x="7376370" y="2507385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アクティブ率：高</a:t>
            </a:r>
          </a:p>
        </p:txBody>
      </p: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70153691-BF19-7E23-69C7-A1735ED95D0B}"/>
              </a:ext>
            </a:extLst>
          </p:cNvPr>
          <p:cNvSpPr/>
          <p:nvPr/>
        </p:nvSpPr>
        <p:spPr>
          <a:xfrm flipV="1">
            <a:off x="7837713" y="5403361"/>
            <a:ext cx="399367" cy="946289"/>
          </a:xfrm>
          <a:prstGeom prst="rtTriangle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FF0000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9E95A0F-F089-7BBE-05C6-60749997D8B5}"/>
              </a:ext>
            </a:extLst>
          </p:cNvPr>
          <p:cNvSpPr txBox="1"/>
          <p:nvPr/>
        </p:nvSpPr>
        <p:spPr>
          <a:xfrm>
            <a:off x="7376370" y="4777647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アクティブ率：低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E8EECEE-A26C-FE65-851C-D89DA2943DDA}"/>
              </a:ext>
            </a:extLst>
          </p:cNvPr>
          <p:cNvSpPr/>
          <p:nvPr/>
        </p:nvSpPr>
        <p:spPr>
          <a:xfrm>
            <a:off x="4822207" y="3086837"/>
            <a:ext cx="1653346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1454DD3-4503-BFE5-0C14-038581D067FE}"/>
              </a:ext>
            </a:extLst>
          </p:cNvPr>
          <p:cNvSpPr/>
          <p:nvPr/>
        </p:nvSpPr>
        <p:spPr>
          <a:xfrm>
            <a:off x="2232491" y="2685169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希望条件（5問）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0620861-661B-61FD-CF03-A1B419A375AE}"/>
              </a:ext>
            </a:extLst>
          </p:cNvPr>
          <p:cNvSpPr/>
          <p:nvPr/>
        </p:nvSpPr>
        <p:spPr>
          <a:xfrm>
            <a:off x="2326221" y="3086838"/>
            <a:ext cx="2411242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459A76C-C890-8CC0-17D9-2EF08525C001}"/>
              </a:ext>
            </a:extLst>
          </p:cNvPr>
          <p:cNvSpPr/>
          <p:nvPr/>
        </p:nvSpPr>
        <p:spPr>
          <a:xfrm>
            <a:off x="2232491" y="5442735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モーメント配信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8F1D398-BD32-DDD8-1642-E52C2B235BA4}"/>
              </a:ext>
            </a:extLst>
          </p:cNvPr>
          <p:cNvSpPr/>
          <p:nvPr/>
        </p:nvSpPr>
        <p:spPr>
          <a:xfrm>
            <a:off x="2232491" y="2302562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挨拶メッセージ・リッチメニュー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991B595-167D-EE44-3530-4DCE8C7B208F}"/>
              </a:ext>
            </a:extLst>
          </p:cNvPr>
          <p:cNvSpPr/>
          <p:nvPr/>
        </p:nvSpPr>
        <p:spPr>
          <a:xfrm>
            <a:off x="4822207" y="5838470"/>
            <a:ext cx="1653346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6B28472-CB01-9D89-509B-26D59B4BA089}"/>
              </a:ext>
            </a:extLst>
          </p:cNvPr>
          <p:cNvSpPr/>
          <p:nvPr/>
        </p:nvSpPr>
        <p:spPr>
          <a:xfrm>
            <a:off x="2326221" y="5838471"/>
            <a:ext cx="2411242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5ED7B27-E5A3-1AD6-2F12-1265E4591B60}"/>
              </a:ext>
            </a:extLst>
          </p:cNvPr>
          <p:cNvSpPr/>
          <p:nvPr/>
        </p:nvSpPr>
        <p:spPr>
          <a:xfrm>
            <a:off x="115726" y="6285606"/>
            <a:ext cx="7578805" cy="99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目安の日数です。一般的なLINE公式アカウント運用の知見に基づく傾向で、貴社の実測とは異なる場合があります</a:t>
            </a: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成果｜効果測定の設計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握る指標と、その先の指標を分ける。リピート応募は契約満了を待つので約束しない。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896000"/>
            <a:ext cx="9043200" cy="67164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本資料には具体的な数値シミュレーションを載せていません。応募CPAの改善は、就業・再就業率が現状と変わらないことを前提にした試算です。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貴社の実績値（月の応募数・面接実施数・広告費）をいただければ、貴社専用の試算をお出しします。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応募CPA ＝（広告費 ＋ LINE運用費）÷ 応募数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30000"/>
            <a:ext cx="90432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199" y="1530000"/>
            <a:ext cx="1209600" cy="342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71200" y="1569849"/>
            <a:ext cx="3297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5199" y="1569849"/>
            <a:ext cx="1713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測れる時期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5200" y="1569849"/>
            <a:ext cx="24768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メイリオ"/>
                <a:cs typeface="Meiryo"/>
              </a:rPr>
              <a:t>扱い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199" y="1957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Meiryo"/>
                <a:ea typeface="メイリオ"/>
                <a:cs typeface="Meiryo"/>
              </a:rPr>
              <a:t>握る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200" y="1872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応募率（友だち → 応募）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5199" y="1872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1週間〜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5200" y="1872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340000"/>
            <a:ext cx="9043200" cy="468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199" y="2425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Meiryo"/>
                <a:ea typeface="メイリオ"/>
                <a:cs typeface="Meiryo"/>
              </a:rPr>
              <a:t>握る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1200" y="2340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面接・職場見学の実施率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5199" y="2340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1ヶ月〜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5200" y="2340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199" y="2893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D7D31"/>
                </a:solidFill>
                <a:latin typeface="Meiryo"/>
                <a:ea typeface="メイリオ"/>
                <a:cs typeface="Meiryo"/>
              </a:rPr>
              <a:t>その先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1200" y="2808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就業・再就業／応募CPA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5199" y="2808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3〜6ヶ月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200" y="2808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就業率が今と同水準という前提の試算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3456000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FDF2F2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8000" y="3595152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0000"/>
                </a:solidFill>
                <a:latin typeface="Meiryo"/>
                <a:ea typeface="メイリオ"/>
                <a:cs typeface="Meiryo"/>
              </a:rPr>
              <a:t>これまで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0" y="3456000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応募 → 架電 → 出られない → 面接に来ない → 契約満了で接点が切れる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4121999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8000" y="4261151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Meiryo"/>
                <a:ea typeface="メイリオ"/>
                <a:cs typeface="Meiryo"/>
              </a:rPr>
              <a:t>LINE併用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0000" y="4121999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Meiryo"/>
                <a:ea typeface="メイリオ"/>
                <a:cs typeface="Meiryo"/>
              </a:rPr>
              <a:t>応募 → LINEで条件5問 → 合う求人3件 → 前日リマインド → 満了前に再応募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他社分析①｜主要エージェントのLINE運用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大手はすでに全社が運用している。開設の提案ではない。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見るべきは友だち数ではなく、追加した直後に何をさせているか。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000" y="1600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0400" y="1600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追加直後にやらせること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38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リクルートエージェント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400" y="1938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1,468,273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000" y="1938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400" y="1938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アカウント連携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2248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284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400" y="2284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1,338,559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4000" y="2284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2件（相談／チャレンジ）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400" y="2284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あいさつ1行のみ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6297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マイナビ転職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400" y="2629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751,112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4000" y="26297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400" y="26297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情報配信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9160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29753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type[転職]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400" y="2975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292,109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4000" y="29753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サイト・エージェント別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0400" y="29753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求人カルーセル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320946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type転職エージェント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400" y="33209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68,051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4000" y="3320946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0400" y="3320946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登録フォームへ誘導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36072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3666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UZUZ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400" y="3666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26,532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4000" y="3666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2件（サポート／CS）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0400" y="3666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選択式アンケート4問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012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マイナビ保育士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8400" y="4012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4000" y="4012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職種特化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0400" y="4012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3問診断＋非公開求人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" y="4464000"/>
            <a:ext cx="9043200" cy="709346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★ 大手ほど「連携」「登録フォーム」から始めている。LINEの外に出している。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 LINE内で完結させているのは、第二新卒特化のUZUZと、職種特化のマイナビ保育士だけ。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空いているのではない。総合大手がやっていないだけ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 page.line.me（公式）。2026年9月12日に実機で確認。友だち数は表示値。マイナビ保育士は友だち数非公開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他社分析②｜運用の型は3つに分かれる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同じLINEでも、追加直後の設計がまったく違う。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3016800" cy="33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467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3016800" cy="3312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外部登録型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962000"/>
            <a:ext cx="2800800" cy="612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0000" y="1979306"/>
            <a:ext cx="2800800" cy="577387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リクルートエージェント</a:t>
            </a:r>
          </a:p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type転職エージェント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連携・会員登録フォームへ誘導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会員基盤があるから成立する。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規模が前提の型。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17200" y="1548000"/>
            <a:ext cx="3016800" cy="33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17200" y="1548000"/>
            <a:ext cx="3016800" cy="33120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72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分岐提示型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25200" y="1962000"/>
            <a:ext cx="2800800" cy="612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25200" y="2124731"/>
            <a:ext cx="2800800" cy="28653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doda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2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カウンセリング前／済みで2択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2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状態で分けるのは上手いが、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あいさつで何も起こしていない。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2400" y="1548000"/>
            <a:ext cx="3016800" cy="334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02400" y="1548000"/>
            <a:ext cx="3016800" cy="3312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2400" y="1582449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LINE内完結型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10400" y="1962000"/>
            <a:ext cx="2800800" cy="612000"/>
          </a:xfrm>
          <a:prstGeom prst="rect">
            <a:avLst/>
          </a:prstGeom>
          <a:solidFill>
            <a:srgbClr val="FD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10400" y="1979306"/>
            <a:ext cx="2800800" cy="577387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UZUZ</a:t>
            </a:r>
          </a:p>
          <a:p>
            <a:pPr algn="ctr">
              <a:lnSpc>
                <a:spcPct val="135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マイナビ保育士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0400" y="2682000"/>
            <a:ext cx="2800800" cy="26230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その場で質問に答えさせる</a:t>
            </a:r>
            <a:endParaRPr sz="1400" b="1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10400" y="3384000"/>
            <a:ext cx="2800800" cy="54545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★ 属性が取れる。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出し分けの前提がここで作られる。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507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000" y="511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規模で勝てなくても、設計で差がつく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出典｜各社のLINE公式アカウントに実際に友だち追加して確認（2026年9月12日）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373B14C-0AEA-B93E-0808-EE37D50F6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A5BF9CF-DABE-18D1-6B28-2A955BBABF7C}"/>
              </a:ext>
            </a:extLst>
          </p:cNvPr>
          <p:cNvSpPr/>
          <p:nvPr/>
        </p:nvSpPr>
        <p:spPr>
          <a:xfrm>
            <a:off x="0" y="577940"/>
            <a:ext cx="9906000" cy="81273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521066C-FFDA-B384-2E51-56A4C461EF38}"/>
              </a:ext>
            </a:extLst>
          </p:cNvPr>
          <p:cNvSpPr/>
          <p:nvPr/>
        </p:nvSpPr>
        <p:spPr>
          <a:xfrm>
            <a:off x="379976" y="635062"/>
            <a:ext cx="9160881" cy="698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lnSpc>
                <a:spcPts val="2455"/>
              </a:lnSpc>
            </a:pPr>
            <a:endParaRPr lang="en-US" altLang="ja-JP" sz="140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43B9AF0-6B1E-A342-438B-2E30C285E29D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F4F417D4-4BDF-E609-F703-DA8A26BF0E5F}"/>
              </a:ext>
            </a:extLst>
          </p:cNvPr>
          <p:cNvSpPr txBox="1"/>
          <p:nvPr/>
        </p:nvSpPr>
        <p:spPr>
          <a:xfrm>
            <a:off x="547200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具体企画のブレスト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80C44F8-D6E0-1CF5-E49B-2A3195EB74D7}"/>
              </a:ext>
            </a:extLst>
          </p:cNvPr>
          <p:cNvSpPr txBox="1"/>
          <p:nvPr/>
        </p:nvSpPr>
        <p:spPr>
          <a:xfrm>
            <a:off x="1010194" y="1886552"/>
            <a:ext cx="4963884" cy="10618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・ステップ配信案（前後クエリと連動）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・企画投稿案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・通知メッセ利用シーン想定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---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・飛び道具提案（奇抜な企画軸で）</a:t>
            </a:r>
            <a:br>
              <a:rPr lang="ja-JP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ja-JP" sz="1050" b="1" i="0" dirty="0">
                <a:solidFill>
                  <a:srgbClr val="52586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・LINEOA実績（LY公式ならOK）</a:t>
            </a:r>
            <a:endParaRPr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9324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3AE1A8-B06F-74B4-1E2A-7416EDA4E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8B77D6B5-FA2F-ED51-FB47-E8DC14B8ADE5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配信設計｜すぐ動かない人の診断と追客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A8DDF192-E20B-6A12-DAA4-2904850388D2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14日で動かなかった人は、売り込まずに診断でつなぎます。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結果の4タイプで、その後の配信の強さを変えます。</a:t>
            </a:r>
          </a:p>
        </p:txBody>
      </p:sp>
      <p:sp>
        <p:nvSpPr>
          <p:cNvPr id="80" name="Text 3">
            <a:extLst>
              <a:ext uri="{FF2B5EF4-FFF2-40B4-BE49-F238E27FC236}">
                <a16:creationId xmlns:a16="http://schemas.microsoft.com/office/drawing/2014/main" id="{2F1CF158-D3B8-740E-7BB9-7BA2711D5A86}"/>
              </a:ext>
            </a:extLst>
          </p:cNvPr>
          <p:cNvSpPr/>
          <p:nvPr/>
        </p:nvSpPr>
        <p:spPr>
          <a:xfrm>
            <a:off x="430467" y="2806337"/>
            <a:ext cx="399784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診断設問（4問・各5択）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Shape 4">
            <a:extLst>
              <a:ext uri="{FF2B5EF4-FFF2-40B4-BE49-F238E27FC236}">
                <a16:creationId xmlns:a16="http://schemas.microsoft.com/office/drawing/2014/main" id="{D0D52073-224A-0961-D46B-A0D0A35577C1}"/>
              </a:ext>
            </a:extLst>
          </p:cNvPr>
          <p:cNvSpPr/>
          <p:nvPr/>
        </p:nvSpPr>
        <p:spPr>
          <a:xfrm>
            <a:off x="404949" y="314466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2" name="Text 5">
            <a:extLst>
              <a:ext uri="{FF2B5EF4-FFF2-40B4-BE49-F238E27FC236}">
                <a16:creationId xmlns:a16="http://schemas.microsoft.com/office/drawing/2014/main" id="{45D645B7-F48E-7853-EBC0-8E0C5EF81708}"/>
              </a:ext>
            </a:extLst>
          </p:cNvPr>
          <p:cNvSpPr/>
          <p:nvPr/>
        </p:nvSpPr>
        <p:spPr>
          <a:xfrm>
            <a:off x="559121" y="314466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  「仕事のことを考えると、日曜の夜に憂鬱になりますか？」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3" name="Shape 6">
            <a:extLst>
              <a:ext uri="{FF2B5EF4-FFF2-40B4-BE49-F238E27FC236}">
                <a16:creationId xmlns:a16="http://schemas.microsoft.com/office/drawing/2014/main" id="{6791C392-1A7B-7AE0-A33F-16F51A18C75D}"/>
              </a:ext>
            </a:extLst>
          </p:cNvPr>
          <p:cNvSpPr/>
          <p:nvPr/>
        </p:nvSpPr>
        <p:spPr>
          <a:xfrm>
            <a:off x="404949" y="351042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4" name="Text 7">
            <a:extLst>
              <a:ext uri="{FF2B5EF4-FFF2-40B4-BE49-F238E27FC236}">
                <a16:creationId xmlns:a16="http://schemas.microsoft.com/office/drawing/2014/main" id="{E67E7D97-92DF-6373-F0A3-CF953F46FBAE}"/>
              </a:ext>
            </a:extLst>
          </p:cNvPr>
          <p:cNvSpPr/>
          <p:nvPr/>
        </p:nvSpPr>
        <p:spPr>
          <a:xfrm>
            <a:off x="559121" y="351042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  「給与明細を見て『こんなものか』と思ったことがありますか？」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5" name="Shape 8">
            <a:extLst>
              <a:ext uri="{FF2B5EF4-FFF2-40B4-BE49-F238E27FC236}">
                <a16:creationId xmlns:a16="http://schemas.microsoft.com/office/drawing/2014/main" id="{1EEAB261-7048-6C4C-10D7-6CA60C396F31}"/>
              </a:ext>
            </a:extLst>
          </p:cNvPr>
          <p:cNvSpPr/>
          <p:nvPr/>
        </p:nvSpPr>
        <p:spPr>
          <a:xfrm>
            <a:off x="404949" y="387618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Text 9">
            <a:extLst>
              <a:ext uri="{FF2B5EF4-FFF2-40B4-BE49-F238E27FC236}">
                <a16:creationId xmlns:a16="http://schemas.microsoft.com/office/drawing/2014/main" id="{D0B754F8-CEA6-0F61-4B75-EC0D7AB0BBDC}"/>
              </a:ext>
            </a:extLst>
          </p:cNvPr>
          <p:cNvSpPr/>
          <p:nvPr/>
        </p:nvSpPr>
        <p:spPr>
          <a:xfrm>
            <a:off x="559121" y="387618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  「5年後、今の会社にいる自分の姿が想像できますか？」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7" name="Shape 10">
            <a:extLst>
              <a:ext uri="{FF2B5EF4-FFF2-40B4-BE49-F238E27FC236}">
                <a16:creationId xmlns:a16="http://schemas.microsoft.com/office/drawing/2014/main" id="{FF427501-423E-6CDF-014B-ED232F961BFB}"/>
              </a:ext>
            </a:extLst>
          </p:cNvPr>
          <p:cNvSpPr/>
          <p:nvPr/>
        </p:nvSpPr>
        <p:spPr>
          <a:xfrm>
            <a:off x="404949" y="4241945"/>
            <a:ext cx="4297679" cy="301752"/>
          </a:xfrm>
          <a:prstGeom prst="roundRect">
            <a:avLst>
              <a:gd name="adj" fmla="val 15152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8" name="Text 11">
            <a:extLst>
              <a:ext uri="{FF2B5EF4-FFF2-40B4-BE49-F238E27FC236}">
                <a16:creationId xmlns:a16="http://schemas.microsoft.com/office/drawing/2014/main" id="{DB910A08-DF58-32FA-2432-5C0AF3C83C53}"/>
              </a:ext>
            </a:extLst>
          </p:cNvPr>
          <p:cNvSpPr/>
          <p:nvPr/>
        </p:nvSpPr>
        <p:spPr>
          <a:xfrm>
            <a:off x="559121" y="4241945"/>
            <a:ext cx="4097787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  「上司・同僚と話す際に本音を言えていると感じますか？」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9" name="Text 12">
            <a:extLst>
              <a:ext uri="{FF2B5EF4-FFF2-40B4-BE49-F238E27FC236}">
                <a16:creationId xmlns:a16="http://schemas.microsoft.com/office/drawing/2014/main" id="{49C9DDEC-B91F-B9F3-D8EE-6DA3BF2758CE}"/>
              </a:ext>
            </a:extLst>
          </p:cNvPr>
          <p:cNvSpPr/>
          <p:nvPr/>
        </p:nvSpPr>
        <p:spPr>
          <a:xfrm>
            <a:off x="5177853" y="281080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診断結果 4パターン＋追客方針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0" name="Shape 13">
            <a:extLst>
              <a:ext uri="{FF2B5EF4-FFF2-40B4-BE49-F238E27FC236}">
                <a16:creationId xmlns:a16="http://schemas.microsoft.com/office/drawing/2014/main" id="{7D9279AB-DA4C-865E-1BFC-B99D3C6C3C3F}"/>
              </a:ext>
            </a:extLst>
          </p:cNvPr>
          <p:cNvSpPr/>
          <p:nvPr/>
        </p:nvSpPr>
        <p:spPr>
          <a:xfrm>
            <a:off x="5177853" y="31491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1" name="Shape 14">
            <a:extLst>
              <a:ext uri="{FF2B5EF4-FFF2-40B4-BE49-F238E27FC236}">
                <a16:creationId xmlns:a16="http://schemas.microsoft.com/office/drawing/2014/main" id="{FE25EE99-D7D8-85CF-09FC-6465111BFB2C}"/>
              </a:ext>
            </a:extLst>
          </p:cNvPr>
          <p:cNvSpPr/>
          <p:nvPr/>
        </p:nvSpPr>
        <p:spPr>
          <a:xfrm>
            <a:off x="5251005" y="32222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75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Text 15">
            <a:extLst>
              <a:ext uri="{FF2B5EF4-FFF2-40B4-BE49-F238E27FC236}">
                <a16:creationId xmlns:a16="http://schemas.microsoft.com/office/drawing/2014/main" id="{F2BB4149-C773-D448-ED22-0664FCDF9177}"/>
              </a:ext>
            </a:extLst>
          </p:cNvPr>
          <p:cNvSpPr/>
          <p:nvPr/>
        </p:nvSpPr>
        <p:spPr>
          <a:xfrm>
            <a:off x="5251005" y="32222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即転職型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3" name="Shape 16">
            <a:extLst>
              <a:ext uri="{FF2B5EF4-FFF2-40B4-BE49-F238E27FC236}">
                <a16:creationId xmlns:a16="http://schemas.microsoft.com/office/drawing/2014/main" id="{95E60EE8-0A0B-1609-55AE-E84B1C214243}"/>
              </a:ext>
            </a:extLst>
          </p:cNvPr>
          <p:cNvSpPr/>
          <p:nvPr/>
        </p:nvSpPr>
        <p:spPr>
          <a:xfrm>
            <a:off x="6320853" y="32405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4" name="Text 17">
            <a:extLst>
              <a:ext uri="{FF2B5EF4-FFF2-40B4-BE49-F238E27FC236}">
                <a16:creationId xmlns:a16="http://schemas.microsoft.com/office/drawing/2014/main" id="{72D5F163-FCBF-2136-41BC-77594BF1877E}"/>
              </a:ext>
            </a:extLst>
          </p:cNvPr>
          <p:cNvSpPr/>
          <p:nvPr/>
        </p:nvSpPr>
        <p:spPr>
          <a:xfrm>
            <a:off x="6320853" y="32405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高スコア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5" name="Text 18">
            <a:extLst>
              <a:ext uri="{FF2B5EF4-FFF2-40B4-BE49-F238E27FC236}">
                <a16:creationId xmlns:a16="http://schemas.microsoft.com/office/drawing/2014/main" id="{10AA3820-1E64-09EE-B24B-B91B9B0E3954}"/>
              </a:ext>
            </a:extLst>
          </p:cNvPr>
          <p:cNvSpPr/>
          <p:nvPr/>
        </p:nvSpPr>
        <p:spPr>
          <a:xfrm>
            <a:off x="7207821" y="32405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E05A5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ホットリスト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6" name="Text 19">
            <a:extLst>
              <a:ext uri="{FF2B5EF4-FFF2-40B4-BE49-F238E27FC236}">
                <a16:creationId xmlns:a16="http://schemas.microsoft.com/office/drawing/2014/main" id="{3DDA72DF-D996-0751-2316-45B75A6606C6}"/>
              </a:ext>
            </a:extLst>
          </p:cNvPr>
          <p:cNvSpPr/>
          <p:nvPr/>
        </p:nvSpPr>
        <p:spPr>
          <a:xfrm>
            <a:off x="5251005" y="34966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夜間・土日の面談枠をすぐに案内。急かす言葉は使わない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7" name="Shape 20">
            <a:extLst>
              <a:ext uri="{FF2B5EF4-FFF2-40B4-BE49-F238E27FC236}">
                <a16:creationId xmlns:a16="http://schemas.microsoft.com/office/drawing/2014/main" id="{011CB3D1-C7A5-7956-3BAA-69C2CB905B6A}"/>
              </a:ext>
            </a:extLst>
          </p:cNvPr>
          <p:cNvSpPr/>
          <p:nvPr/>
        </p:nvSpPr>
        <p:spPr>
          <a:xfrm>
            <a:off x="5177853" y="38349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8" name="Shape 21">
            <a:extLst>
              <a:ext uri="{FF2B5EF4-FFF2-40B4-BE49-F238E27FC236}">
                <a16:creationId xmlns:a16="http://schemas.microsoft.com/office/drawing/2014/main" id="{4C69AF05-15A8-3F8C-8F51-AD3439C14622}"/>
              </a:ext>
            </a:extLst>
          </p:cNvPr>
          <p:cNvSpPr/>
          <p:nvPr/>
        </p:nvSpPr>
        <p:spPr>
          <a:xfrm>
            <a:off x="5251005" y="39080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Text 22">
            <a:extLst>
              <a:ext uri="{FF2B5EF4-FFF2-40B4-BE49-F238E27FC236}">
                <a16:creationId xmlns:a16="http://schemas.microsoft.com/office/drawing/2014/main" id="{FF31A922-59CE-9653-E310-5F8646A1A6DD}"/>
              </a:ext>
            </a:extLst>
          </p:cNvPr>
          <p:cNvSpPr/>
          <p:nvPr/>
        </p:nvSpPr>
        <p:spPr>
          <a:xfrm>
            <a:off x="5251005" y="39080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慎重検討型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0" name="Shape 23">
            <a:extLst>
              <a:ext uri="{FF2B5EF4-FFF2-40B4-BE49-F238E27FC236}">
                <a16:creationId xmlns:a16="http://schemas.microsoft.com/office/drawing/2014/main" id="{BF532CBE-24FC-8551-A3EA-4F3D1688FA51}"/>
              </a:ext>
            </a:extLst>
          </p:cNvPr>
          <p:cNvSpPr/>
          <p:nvPr/>
        </p:nvSpPr>
        <p:spPr>
          <a:xfrm>
            <a:off x="6320853" y="39263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1" name="Text 24">
            <a:extLst>
              <a:ext uri="{FF2B5EF4-FFF2-40B4-BE49-F238E27FC236}">
                <a16:creationId xmlns:a16="http://schemas.microsoft.com/office/drawing/2014/main" id="{6B81A3BF-2D14-0A6E-58E2-41F6C95FFF9D}"/>
              </a:ext>
            </a:extLst>
          </p:cNvPr>
          <p:cNvSpPr/>
          <p:nvPr/>
        </p:nvSpPr>
        <p:spPr>
          <a:xfrm>
            <a:off x="6320853" y="39263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中高スコア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2" name="Text 25">
            <a:extLst>
              <a:ext uri="{FF2B5EF4-FFF2-40B4-BE49-F238E27FC236}">
                <a16:creationId xmlns:a16="http://schemas.microsoft.com/office/drawing/2014/main" id="{A7F23C91-1AC9-92C8-0444-0C2A7B7900FB}"/>
              </a:ext>
            </a:extLst>
          </p:cNvPr>
          <p:cNvSpPr/>
          <p:nvPr/>
        </p:nvSpPr>
        <p:spPr>
          <a:xfrm>
            <a:off x="7207821" y="39263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E8A838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ウォームリスト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" name="Text 26">
            <a:extLst>
              <a:ext uri="{FF2B5EF4-FFF2-40B4-BE49-F238E27FC236}">
                <a16:creationId xmlns:a16="http://schemas.microsoft.com/office/drawing/2014/main" id="{4901DF11-6A92-B335-2D97-90FF2A2F3B7E}"/>
              </a:ext>
            </a:extLst>
          </p:cNvPr>
          <p:cNvSpPr/>
          <p:nvPr/>
        </p:nvSpPr>
        <p:spPr>
          <a:xfrm>
            <a:off x="5251005" y="41824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転職成功事例・年収比較データを週1配信。3〜4週間かけて温める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4" name="Shape 27">
            <a:extLst>
              <a:ext uri="{FF2B5EF4-FFF2-40B4-BE49-F238E27FC236}">
                <a16:creationId xmlns:a16="http://schemas.microsoft.com/office/drawing/2014/main" id="{20D444BB-26DB-74C1-2095-C4CECE5DD870}"/>
              </a:ext>
            </a:extLst>
          </p:cNvPr>
          <p:cNvSpPr/>
          <p:nvPr/>
        </p:nvSpPr>
        <p:spPr>
          <a:xfrm>
            <a:off x="5177853" y="45207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5" name="Shape 28">
            <a:extLst>
              <a:ext uri="{FF2B5EF4-FFF2-40B4-BE49-F238E27FC236}">
                <a16:creationId xmlns:a16="http://schemas.microsoft.com/office/drawing/2014/main" id="{B7739C89-3CB4-FFD4-5878-8E37F4F17031}"/>
              </a:ext>
            </a:extLst>
          </p:cNvPr>
          <p:cNvSpPr/>
          <p:nvPr/>
        </p:nvSpPr>
        <p:spPr>
          <a:xfrm>
            <a:off x="5251005" y="45938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6" name="Text 29">
            <a:extLst>
              <a:ext uri="{FF2B5EF4-FFF2-40B4-BE49-F238E27FC236}">
                <a16:creationId xmlns:a16="http://schemas.microsoft.com/office/drawing/2014/main" id="{86C5CCD4-DADF-8B0D-5331-4D81B5C903BC}"/>
              </a:ext>
            </a:extLst>
          </p:cNvPr>
          <p:cNvSpPr/>
          <p:nvPr/>
        </p:nvSpPr>
        <p:spPr>
          <a:xfrm>
            <a:off x="5251005" y="45938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情報収集型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7" name="Shape 30">
            <a:extLst>
              <a:ext uri="{FF2B5EF4-FFF2-40B4-BE49-F238E27FC236}">
                <a16:creationId xmlns:a16="http://schemas.microsoft.com/office/drawing/2014/main" id="{4F2323BE-47BE-D53C-98B3-4B403E562891}"/>
              </a:ext>
            </a:extLst>
          </p:cNvPr>
          <p:cNvSpPr/>
          <p:nvPr/>
        </p:nvSpPr>
        <p:spPr>
          <a:xfrm>
            <a:off x="6320853" y="46121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8" name="Text 31">
            <a:extLst>
              <a:ext uri="{FF2B5EF4-FFF2-40B4-BE49-F238E27FC236}">
                <a16:creationId xmlns:a16="http://schemas.microsoft.com/office/drawing/2014/main" id="{5812A64F-2CCF-7FF6-0B3F-E39A36A21562}"/>
              </a:ext>
            </a:extLst>
          </p:cNvPr>
          <p:cNvSpPr/>
          <p:nvPr/>
        </p:nvSpPr>
        <p:spPr>
          <a:xfrm>
            <a:off x="6320853" y="46121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中スコア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9" name="Text 32">
            <a:extLst>
              <a:ext uri="{FF2B5EF4-FFF2-40B4-BE49-F238E27FC236}">
                <a16:creationId xmlns:a16="http://schemas.microsoft.com/office/drawing/2014/main" id="{E0F8F83C-84BB-D4BE-225A-E9D41ECDEA76}"/>
              </a:ext>
            </a:extLst>
          </p:cNvPr>
          <p:cNvSpPr/>
          <p:nvPr/>
        </p:nvSpPr>
        <p:spPr>
          <a:xfrm>
            <a:off x="7207821" y="46121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D9488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ミドルリスト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0" name="Text 33">
            <a:extLst>
              <a:ext uri="{FF2B5EF4-FFF2-40B4-BE49-F238E27FC236}">
                <a16:creationId xmlns:a16="http://schemas.microsoft.com/office/drawing/2014/main" id="{88DC7D4E-3340-9B35-991E-96ED00531893}"/>
              </a:ext>
            </a:extLst>
          </p:cNvPr>
          <p:cNvSpPr/>
          <p:nvPr/>
        </p:nvSpPr>
        <p:spPr>
          <a:xfrm>
            <a:off x="5251005" y="48682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業界動向・スキルアップ情報を提供。半年スパンで関係構築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1" name="Shape 34">
            <a:extLst>
              <a:ext uri="{FF2B5EF4-FFF2-40B4-BE49-F238E27FC236}">
                <a16:creationId xmlns:a16="http://schemas.microsoft.com/office/drawing/2014/main" id="{966CBC37-CF13-58B0-5CD8-1E77836F7F29}"/>
              </a:ext>
            </a:extLst>
          </p:cNvPr>
          <p:cNvSpPr/>
          <p:nvPr/>
        </p:nvSpPr>
        <p:spPr>
          <a:xfrm>
            <a:off x="5177853" y="520653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2" name="Shape 35">
            <a:extLst>
              <a:ext uri="{FF2B5EF4-FFF2-40B4-BE49-F238E27FC236}">
                <a16:creationId xmlns:a16="http://schemas.microsoft.com/office/drawing/2014/main" id="{100CDE3F-E390-202C-287F-515D436D1ADB}"/>
              </a:ext>
            </a:extLst>
          </p:cNvPr>
          <p:cNvSpPr/>
          <p:nvPr/>
        </p:nvSpPr>
        <p:spPr>
          <a:xfrm>
            <a:off x="5251005" y="5279686"/>
            <a:ext cx="1005840" cy="256032"/>
          </a:xfrm>
          <a:prstGeom prst="roundRect">
            <a:avLst>
              <a:gd name="adj" fmla="val 14286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3" name="Text 36">
            <a:extLst>
              <a:ext uri="{FF2B5EF4-FFF2-40B4-BE49-F238E27FC236}">
                <a16:creationId xmlns:a16="http://schemas.microsoft.com/office/drawing/2014/main" id="{0D886FBA-D1FA-1F1D-4774-F731872AEE33}"/>
              </a:ext>
            </a:extLst>
          </p:cNvPr>
          <p:cNvSpPr/>
          <p:nvPr/>
        </p:nvSpPr>
        <p:spPr>
          <a:xfrm>
            <a:off x="5251005" y="527968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現状維持型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4" name="Shape 37">
            <a:extLst>
              <a:ext uri="{FF2B5EF4-FFF2-40B4-BE49-F238E27FC236}">
                <a16:creationId xmlns:a16="http://schemas.microsoft.com/office/drawing/2014/main" id="{0A8BE876-C3E9-5C00-CA0A-659FF0188ECF}"/>
              </a:ext>
            </a:extLst>
          </p:cNvPr>
          <p:cNvSpPr/>
          <p:nvPr/>
        </p:nvSpPr>
        <p:spPr>
          <a:xfrm>
            <a:off x="6320853" y="5297974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4F7FF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5" name="Text 38">
            <a:extLst>
              <a:ext uri="{FF2B5EF4-FFF2-40B4-BE49-F238E27FC236}">
                <a16:creationId xmlns:a16="http://schemas.microsoft.com/office/drawing/2014/main" id="{BB5CADDA-DE23-AF11-67EE-438A0E4F573B}"/>
              </a:ext>
            </a:extLst>
          </p:cNvPr>
          <p:cNvSpPr/>
          <p:nvPr/>
        </p:nvSpPr>
        <p:spPr>
          <a:xfrm>
            <a:off x="6320853" y="5297974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低スコア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6" name="Text 39">
            <a:extLst>
              <a:ext uri="{FF2B5EF4-FFF2-40B4-BE49-F238E27FC236}">
                <a16:creationId xmlns:a16="http://schemas.microsoft.com/office/drawing/2014/main" id="{CDEDD963-E8C1-C16E-2022-546114A75A76}"/>
              </a:ext>
            </a:extLst>
          </p:cNvPr>
          <p:cNvSpPr/>
          <p:nvPr/>
        </p:nvSpPr>
        <p:spPr>
          <a:xfrm>
            <a:off x="7207821" y="529797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→ コールドリスト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7" name="Text 40">
            <a:extLst>
              <a:ext uri="{FF2B5EF4-FFF2-40B4-BE49-F238E27FC236}">
                <a16:creationId xmlns:a16="http://schemas.microsoft.com/office/drawing/2014/main" id="{00198631-8657-65B3-0A0A-7C5220C5C5A7}"/>
              </a:ext>
            </a:extLst>
          </p:cNvPr>
          <p:cNvSpPr/>
          <p:nvPr/>
        </p:nvSpPr>
        <p:spPr>
          <a:xfrm>
            <a:off x="5251005" y="555400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無理にアプローチせず月1配信。「環境変化」で再燃を待つ長期戦略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8" name="Shape 2">
            <a:extLst>
              <a:ext uri="{FF2B5EF4-FFF2-40B4-BE49-F238E27FC236}">
                <a16:creationId xmlns:a16="http://schemas.microsoft.com/office/drawing/2014/main" id="{EED969DB-6090-3801-B39E-93C24360A11A}"/>
              </a:ext>
            </a:extLst>
          </p:cNvPr>
          <p:cNvSpPr/>
          <p:nvPr/>
        </p:nvSpPr>
        <p:spPr>
          <a:xfrm>
            <a:off x="775063" y="2010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9" name="Text 3">
            <a:extLst>
              <a:ext uri="{FF2B5EF4-FFF2-40B4-BE49-F238E27FC236}">
                <a16:creationId xmlns:a16="http://schemas.microsoft.com/office/drawing/2014/main" id="{4BD93F70-A1A4-6B20-298D-BE3F4D258BE9}"/>
              </a:ext>
            </a:extLst>
          </p:cNvPr>
          <p:cNvSpPr/>
          <p:nvPr/>
        </p:nvSpPr>
        <p:spPr>
          <a:xfrm>
            <a:off x="957943" y="2010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目的：14日ステップで動かなかった人に、答えやすい診断を送り、配信の強さを決める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C8374B-5F7F-A61F-169C-C54DCD7D51C0}"/>
              </a:ext>
            </a:extLst>
          </p:cNvPr>
          <p:cNvSpPr/>
          <p:nvPr/>
        </p:nvSpPr>
        <p:spPr>
          <a:xfrm>
            <a:off x="195943" y="1649952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EEE7D10-E257-A9D8-F6D6-AF0A9A41DDC4}"/>
              </a:ext>
            </a:extLst>
          </p:cNvPr>
          <p:cNvSpPr txBox="1"/>
          <p:nvPr/>
        </p:nvSpPr>
        <p:spPr>
          <a:xfrm>
            <a:off x="3872439" y="1317985"/>
            <a:ext cx="57679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売り込みを嫌う人でも、診断なら答えてもらえる</a:t>
            </a:r>
            <a:endParaRPr lang="ja-JP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31E96465-A2D8-BAD2-908E-13EA6B2BA2F0}"/>
              </a:ext>
            </a:extLst>
          </p:cNvPr>
          <p:cNvSpPr/>
          <p:nvPr/>
        </p:nvSpPr>
        <p:spPr>
          <a:xfrm>
            <a:off x="4769313" y="3151795"/>
            <a:ext cx="375557" cy="530249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2173E9D-47C1-7D4E-1D0D-EC3756179319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326644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F4B6A2-11F2-64AD-4DDE-1248419C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811AA335-9B44-6B58-2534-BB048200CAD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具体施策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72627B2D-8393-455B-0855-0EB48BEF4480}"/>
              </a:ext>
            </a:extLst>
          </p:cNvPr>
          <p:cNvSpPr txBox="1"/>
          <p:nvPr/>
        </p:nvSpPr>
        <p:spPr>
          <a:xfrm>
            <a:off x="309397" y="778217"/>
            <a:ext cx="933099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想定：リピート、クロスセルを計画的に実施</a:t>
            </a:r>
          </a:p>
        </p:txBody>
      </p:sp>
      <p:sp>
        <p:nvSpPr>
          <p:cNvPr id="243" name="Shape 8">
            <a:extLst>
              <a:ext uri="{FF2B5EF4-FFF2-40B4-BE49-F238E27FC236}">
                <a16:creationId xmlns:a16="http://schemas.microsoft.com/office/drawing/2014/main" id="{25BEC70F-1CF8-F07A-EA93-FC6E8D940E95}"/>
              </a:ext>
            </a:extLst>
          </p:cNvPr>
          <p:cNvSpPr/>
          <p:nvPr/>
        </p:nvSpPr>
        <p:spPr>
          <a:xfrm>
            <a:off x="622035" y="2195627"/>
            <a:ext cx="4279392" cy="295241"/>
          </a:xfrm>
          <a:prstGeom prst="roundRect">
            <a:avLst>
              <a:gd name="adj" fmla="val 13462"/>
            </a:avLst>
          </a:prstGeom>
          <a:solidFill>
            <a:srgbClr val="1F2B5C"/>
          </a:solidFill>
          <a:ln w="12700">
            <a:solidFill>
              <a:srgbClr val="1F2B5C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5" name="Text 9">
            <a:extLst>
              <a:ext uri="{FF2B5EF4-FFF2-40B4-BE49-F238E27FC236}">
                <a16:creationId xmlns:a16="http://schemas.microsoft.com/office/drawing/2014/main" id="{15FC7E1F-9877-CB06-F5F1-37331233B89F}"/>
              </a:ext>
            </a:extLst>
          </p:cNvPr>
          <p:cNvSpPr/>
          <p:nvPr/>
        </p:nvSpPr>
        <p:spPr>
          <a:xfrm>
            <a:off x="750051" y="21786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リピート施策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7" name="Text 10">
            <a:extLst>
              <a:ext uri="{FF2B5EF4-FFF2-40B4-BE49-F238E27FC236}">
                <a16:creationId xmlns:a16="http://schemas.microsoft.com/office/drawing/2014/main" id="{04713F76-50FA-FA3F-D4BD-08DC408EA176}"/>
              </a:ext>
            </a:extLst>
          </p:cNvPr>
          <p:cNvSpPr/>
          <p:nvPr/>
        </p:nvSpPr>
        <p:spPr>
          <a:xfrm>
            <a:off x="2541313" y="2189103"/>
            <a:ext cx="2177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ADCF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既存顧客を繰り返しCVさせる設計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9" name="Shape 11">
            <a:extLst>
              <a:ext uri="{FF2B5EF4-FFF2-40B4-BE49-F238E27FC236}">
                <a16:creationId xmlns:a16="http://schemas.microsoft.com/office/drawing/2014/main" id="{8636F3C8-63E7-CBB8-3872-E6B2584513F2}"/>
              </a:ext>
            </a:extLst>
          </p:cNvPr>
          <p:cNvSpPr/>
          <p:nvPr/>
        </p:nvSpPr>
        <p:spPr>
          <a:xfrm>
            <a:off x="5066019" y="2195627"/>
            <a:ext cx="4279392" cy="295241"/>
          </a:xfrm>
          <a:prstGeom prst="roundRect">
            <a:avLst>
              <a:gd name="adj" fmla="val 13462"/>
            </a:avLst>
          </a:prstGeom>
          <a:solidFill>
            <a:srgbClr val="1F2B5C"/>
          </a:solidFill>
          <a:ln w="12700">
            <a:solidFill>
              <a:srgbClr val="1F2B5C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1" name="Text 12">
            <a:extLst>
              <a:ext uri="{FF2B5EF4-FFF2-40B4-BE49-F238E27FC236}">
                <a16:creationId xmlns:a16="http://schemas.microsoft.com/office/drawing/2014/main" id="{6615CF57-D24E-7288-7AB0-1DF692D04526}"/>
              </a:ext>
            </a:extLst>
          </p:cNvPr>
          <p:cNvSpPr/>
          <p:nvPr/>
        </p:nvSpPr>
        <p:spPr>
          <a:xfrm>
            <a:off x="5194035" y="21786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クロスセル施策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3" name="Text 13">
            <a:extLst>
              <a:ext uri="{FF2B5EF4-FFF2-40B4-BE49-F238E27FC236}">
                <a16:creationId xmlns:a16="http://schemas.microsoft.com/office/drawing/2014/main" id="{7C345B51-6053-1E03-9823-0F386006D466}"/>
              </a:ext>
            </a:extLst>
          </p:cNvPr>
          <p:cNvSpPr/>
          <p:nvPr/>
        </p:nvSpPr>
        <p:spPr>
          <a:xfrm>
            <a:off x="6985297" y="2189103"/>
            <a:ext cx="2177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CADCF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関連サービス・上位プランへの誘導設計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5" name="Shape 15">
            <a:extLst>
              <a:ext uri="{FF2B5EF4-FFF2-40B4-BE49-F238E27FC236}">
                <a16:creationId xmlns:a16="http://schemas.microsoft.com/office/drawing/2014/main" id="{2BEE7A23-A38F-24B6-8785-FB455AC73808}"/>
              </a:ext>
            </a:extLst>
          </p:cNvPr>
          <p:cNvSpPr/>
          <p:nvPr/>
        </p:nvSpPr>
        <p:spPr>
          <a:xfrm>
            <a:off x="622035" y="2613109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9" name="Shape 17">
            <a:extLst>
              <a:ext uri="{FF2B5EF4-FFF2-40B4-BE49-F238E27FC236}">
                <a16:creationId xmlns:a16="http://schemas.microsoft.com/office/drawing/2014/main" id="{6EA2FE60-CA64-D4E8-A942-9C618AC68B86}"/>
              </a:ext>
            </a:extLst>
          </p:cNvPr>
          <p:cNvSpPr/>
          <p:nvPr/>
        </p:nvSpPr>
        <p:spPr>
          <a:xfrm>
            <a:off x="731763" y="270454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1" name="Text 18">
            <a:extLst>
              <a:ext uri="{FF2B5EF4-FFF2-40B4-BE49-F238E27FC236}">
                <a16:creationId xmlns:a16="http://schemas.microsoft.com/office/drawing/2014/main" id="{E856EF37-698D-F191-3067-928FC0AFC456}"/>
              </a:ext>
            </a:extLst>
          </p:cNvPr>
          <p:cNvSpPr/>
          <p:nvPr/>
        </p:nvSpPr>
        <p:spPr>
          <a:xfrm>
            <a:off x="731763" y="270454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3" name="Shape 19">
            <a:extLst>
              <a:ext uri="{FF2B5EF4-FFF2-40B4-BE49-F238E27FC236}">
                <a16:creationId xmlns:a16="http://schemas.microsoft.com/office/drawing/2014/main" id="{C3D7846E-19C7-41FD-05BA-E1F3CF32FFFD}"/>
              </a:ext>
            </a:extLst>
          </p:cNvPr>
          <p:cNvSpPr/>
          <p:nvPr/>
        </p:nvSpPr>
        <p:spPr>
          <a:xfrm>
            <a:off x="1079235" y="2731981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5" name="Text 20">
            <a:extLst>
              <a:ext uri="{FF2B5EF4-FFF2-40B4-BE49-F238E27FC236}">
                <a16:creationId xmlns:a16="http://schemas.microsoft.com/office/drawing/2014/main" id="{B823E9DA-260C-1603-CA04-ED130644314C}"/>
              </a:ext>
            </a:extLst>
          </p:cNvPr>
          <p:cNvSpPr/>
          <p:nvPr/>
        </p:nvSpPr>
        <p:spPr>
          <a:xfrm>
            <a:off x="1079235" y="2731981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アフターフォロー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7" name="Text 21">
            <a:extLst>
              <a:ext uri="{FF2B5EF4-FFF2-40B4-BE49-F238E27FC236}">
                <a16:creationId xmlns:a16="http://schemas.microsoft.com/office/drawing/2014/main" id="{FCE3B029-FE9D-7576-7B05-2585AB5A66B1}"/>
              </a:ext>
            </a:extLst>
          </p:cNvPr>
          <p:cNvSpPr/>
          <p:nvPr/>
        </p:nvSpPr>
        <p:spPr>
          <a:xfrm>
            <a:off x="1993635" y="2704549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購入・利用完了後の自動フォローアップ配信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9" name="Text 22">
            <a:extLst>
              <a:ext uri="{FF2B5EF4-FFF2-40B4-BE49-F238E27FC236}">
                <a16:creationId xmlns:a16="http://schemas.microsoft.com/office/drawing/2014/main" id="{C1ECFC15-9129-ED3B-D3EF-84A237B9E067}"/>
              </a:ext>
            </a:extLst>
          </p:cNvPr>
          <p:cNvSpPr/>
          <p:nvPr/>
        </p:nvSpPr>
        <p:spPr>
          <a:xfrm>
            <a:off x="731763" y="3033733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サービス利用後30日・3ヶ月・6ヶ月のタイミングで自動配信。「その後いかがですか？」「定期メンテナンスのご案内」など適切なタイミングで次回利用を自然に促す。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1" name="Shape 23">
            <a:extLst>
              <a:ext uri="{FF2B5EF4-FFF2-40B4-BE49-F238E27FC236}">
                <a16:creationId xmlns:a16="http://schemas.microsoft.com/office/drawing/2014/main" id="{02AAD0EA-81DD-0BAE-0FBC-DF75C0098CFF}"/>
              </a:ext>
            </a:extLst>
          </p:cNvPr>
          <p:cNvSpPr/>
          <p:nvPr/>
        </p:nvSpPr>
        <p:spPr>
          <a:xfrm>
            <a:off x="713475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購入完了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5" name="Shape 25">
            <a:extLst>
              <a:ext uri="{FF2B5EF4-FFF2-40B4-BE49-F238E27FC236}">
                <a16:creationId xmlns:a16="http://schemas.microsoft.com/office/drawing/2014/main" id="{597E6017-68DF-6125-D04E-EBE42E4AC1C8}"/>
              </a:ext>
            </a:extLst>
          </p:cNvPr>
          <p:cNvSpPr/>
          <p:nvPr/>
        </p:nvSpPr>
        <p:spPr>
          <a:xfrm>
            <a:off x="1987539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7" name="Text 26">
            <a:extLst>
              <a:ext uri="{FF2B5EF4-FFF2-40B4-BE49-F238E27FC236}">
                <a16:creationId xmlns:a16="http://schemas.microsoft.com/office/drawing/2014/main" id="{A0AA9CE1-6CB6-6DB8-F485-AA5FC31BD9AB}"/>
              </a:ext>
            </a:extLst>
          </p:cNvPr>
          <p:cNvSpPr/>
          <p:nvPr/>
        </p:nvSpPr>
        <p:spPr>
          <a:xfrm>
            <a:off x="1987539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9" name="Shape 27">
            <a:extLst>
              <a:ext uri="{FF2B5EF4-FFF2-40B4-BE49-F238E27FC236}">
                <a16:creationId xmlns:a16="http://schemas.microsoft.com/office/drawing/2014/main" id="{0033C6EE-6DB2-CF55-B4C7-D25DA14E4D93}"/>
              </a:ext>
            </a:extLst>
          </p:cNvPr>
          <p:cNvSpPr/>
          <p:nvPr/>
        </p:nvSpPr>
        <p:spPr>
          <a:xfrm>
            <a:off x="2078979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1" name="Text 28">
            <a:extLst>
              <a:ext uri="{FF2B5EF4-FFF2-40B4-BE49-F238E27FC236}">
                <a16:creationId xmlns:a16="http://schemas.microsoft.com/office/drawing/2014/main" id="{7A443300-A185-ED88-10AA-DFD63178035A}"/>
              </a:ext>
            </a:extLst>
          </p:cNvPr>
          <p:cNvSpPr/>
          <p:nvPr/>
        </p:nvSpPr>
        <p:spPr>
          <a:xfrm>
            <a:off x="2078979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30日/3ヶ月/6ヶ月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3" name="Shape 29">
            <a:extLst>
              <a:ext uri="{FF2B5EF4-FFF2-40B4-BE49-F238E27FC236}">
                <a16:creationId xmlns:a16="http://schemas.microsoft.com/office/drawing/2014/main" id="{A8CDF565-4E56-34DE-F4B7-83C324AB1111}"/>
              </a:ext>
            </a:extLst>
          </p:cNvPr>
          <p:cNvSpPr/>
          <p:nvPr/>
        </p:nvSpPr>
        <p:spPr>
          <a:xfrm>
            <a:off x="3353043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5" name="Text 30">
            <a:extLst>
              <a:ext uri="{FF2B5EF4-FFF2-40B4-BE49-F238E27FC236}">
                <a16:creationId xmlns:a16="http://schemas.microsoft.com/office/drawing/2014/main" id="{C7552AF9-D505-7C0D-70BF-ACE641907EEA}"/>
              </a:ext>
            </a:extLst>
          </p:cNvPr>
          <p:cNvSpPr/>
          <p:nvPr/>
        </p:nvSpPr>
        <p:spPr>
          <a:xfrm>
            <a:off x="3353043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7" name="Shape 31">
            <a:extLst>
              <a:ext uri="{FF2B5EF4-FFF2-40B4-BE49-F238E27FC236}">
                <a16:creationId xmlns:a16="http://schemas.microsoft.com/office/drawing/2014/main" id="{41993352-6267-4FE7-B0F8-37A18FC55C5D}"/>
              </a:ext>
            </a:extLst>
          </p:cNvPr>
          <p:cNvSpPr/>
          <p:nvPr/>
        </p:nvSpPr>
        <p:spPr>
          <a:xfrm>
            <a:off x="3444483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9" name="Text 32">
            <a:extLst>
              <a:ext uri="{FF2B5EF4-FFF2-40B4-BE49-F238E27FC236}">
                <a16:creationId xmlns:a16="http://schemas.microsoft.com/office/drawing/2014/main" id="{56896933-7E6D-6A12-EEAF-C1E0A07B9A27}"/>
              </a:ext>
            </a:extLst>
          </p:cNvPr>
          <p:cNvSpPr/>
          <p:nvPr/>
        </p:nvSpPr>
        <p:spPr>
          <a:xfrm>
            <a:off x="3444483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自動リマインド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1" name="Shape 33">
            <a:extLst>
              <a:ext uri="{FF2B5EF4-FFF2-40B4-BE49-F238E27FC236}">
                <a16:creationId xmlns:a16="http://schemas.microsoft.com/office/drawing/2014/main" id="{F55E1F0E-CE1E-4788-56E8-EEC6BC428B40}"/>
              </a:ext>
            </a:extLst>
          </p:cNvPr>
          <p:cNvSpPr/>
          <p:nvPr/>
        </p:nvSpPr>
        <p:spPr>
          <a:xfrm>
            <a:off x="622035" y="3875743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5" name="Shape 35">
            <a:extLst>
              <a:ext uri="{FF2B5EF4-FFF2-40B4-BE49-F238E27FC236}">
                <a16:creationId xmlns:a16="http://schemas.microsoft.com/office/drawing/2014/main" id="{A12EE24B-120D-6CFC-50B3-086F27872223}"/>
              </a:ext>
            </a:extLst>
          </p:cNvPr>
          <p:cNvSpPr/>
          <p:nvPr/>
        </p:nvSpPr>
        <p:spPr>
          <a:xfrm>
            <a:off x="731763" y="396718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7" name="Text 36">
            <a:extLst>
              <a:ext uri="{FF2B5EF4-FFF2-40B4-BE49-F238E27FC236}">
                <a16:creationId xmlns:a16="http://schemas.microsoft.com/office/drawing/2014/main" id="{751A7A54-3F2B-726E-0209-EC76E1460C60}"/>
              </a:ext>
            </a:extLst>
          </p:cNvPr>
          <p:cNvSpPr/>
          <p:nvPr/>
        </p:nvSpPr>
        <p:spPr>
          <a:xfrm>
            <a:off x="731763" y="39671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9" name="Shape 37">
            <a:extLst>
              <a:ext uri="{FF2B5EF4-FFF2-40B4-BE49-F238E27FC236}">
                <a16:creationId xmlns:a16="http://schemas.microsoft.com/office/drawing/2014/main" id="{8370F2F6-B57B-6CE2-C1D8-99B62C8BD5CA}"/>
              </a:ext>
            </a:extLst>
          </p:cNvPr>
          <p:cNvSpPr/>
          <p:nvPr/>
        </p:nvSpPr>
        <p:spPr>
          <a:xfrm>
            <a:off x="1079235" y="3994615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1" name="Text 38">
            <a:extLst>
              <a:ext uri="{FF2B5EF4-FFF2-40B4-BE49-F238E27FC236}">
                <a16:creationId xmlns:a16="http://schemas.microsoft.com/office/drawing/2014/main" id="{38E18943-F8B5-9629-4062-419A919A3557}"/>
              </a:ext>
            </a:extLst>
          </p:cNvPr>
          <p:cNvSpPr/>
          <p:nvPr/>
        </p:nvSpPr>
        <p:spPr>
          <a:xfrm>
            <a:off x="1079235" y="3994615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記念日配信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3" name="Text 39">
            <a:extLst>
              <a:ext uri="{FF2B5EF4-FFF2-40B4-BE49-F238E27FC236}">
                <a16:creationId xmlns:a16="http://schemas.microsoft.com/office/drawing/2014/main" id="{3E303003-51EC-7FC3-DE76-F0E6D2EAB3EE}"/>
              </a:ext>
            </a:extLst>
          </p:cNvPr>
          <p:cNvSpPr/>
          <p:nvPr/>
        </p:nvSpPr>
        <p:spPr>
          <a:xfrm>
            <a:off x="1993635" y="3967183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誕生日・契約記念日に特別オファーを自動配信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5" name="Text 40">
            <a:extLst>
              <a:ext uri="{FF2B5EF4-FFF2-40B4-BE49-F238E27FC236}">
                <a16:creationId xmlns:a16="http://schemas.microsoft.com/office/drawing/2014/main" id="{30181338-1CDB-632A-4D21-1980958DAE90}"/>
              </a:ext>
            </a:extLst>
          </p:cNvPr>
          <p:cNvSpPr/>
          <p:nvPr/>
        </p:nvSpPr>
        <p:spPr>
          <a:xfrm>
            <a:off x="731763" y="4296367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誕生日や初回購入日を記念日として登録し、該当日に特別クーポン・優待を自動配信。「あなただけへの特別オファー」感が再購入率を高める。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7" name="Shape 41">
            <a:extLst>
              <a:ext uri="{FF2B5EF4-FFF2-40B4-BE49-F238E27FC236}">
                <a16:creationId xmlns:a16="http://schemas.microsoft.com/office/drawing/2014/main" id="{9C3ADD4D-62FF-6E75-0C94-EBA797742E61}"/>
              </a:ext>
            </a:extLst>
          </p:cNvPr>
          <p:cNvSpPr/>
          <p:nvPr/>
        </p:nvSpPr>
        <p:spPr>
          <a:xfrm>
            <a:off x="713475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9" name="Text 42">
            <a:extLst>
              <a:ext uri="{FF2B5EF4-FFF2-40B4-BE49-F238E27FC236}">
                <a16:creationId xmlns:a16="http://schemas.microsoft.com/office/drawing/2014/main" id="{A3F87B85-6E13-9A64-8ED1-AC226457C436}"/>
              </a:ext>
            </a:extLst>
          </p:cNvPr>
          <p:cNvSpPr/>
          <p:nvPr/>
        </p:nvSpPr>
        <p:spPr>
          <a:xfrm>
            <a:off x="713475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記念日タグ設定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1" name="Shape 43">
            <a:extLst>
              <a:ext uri="{FF2B5EF4-FFF2-40B4-BE49-F238E27FC236}">
                <a16:creationId xmlns:a16="http://schemas.microsoft.com/office/drawing/2014/main" id="{0A895F50-3F88-98A2-89D0-3ACC9E308C89}"/>
              </a:ext>
            </a:extLst>
          </p:cNvPr>
          <p:cNvSpPr/>
          <p:nvPr/>
        </p:nvSpPr>
        <p:spPr>
          <a:xfrm>
            <a:off x="1987539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3" name="Text 44">
            <a:extLst>
              <a:ext uri="{FF2B5EF4-FFF2-40B4-BE49-F238E27FC236}">
                <a16:creationId xmlns:a16="http://schemas.microsoft.com/office/drawing/2014/main" id="{84141BF0-6600-94F4-8298-8914165AE119}"/>
              </a:ext>
            </a:extLst>
          </p:cNvPr>
          <p:cNvSpPr/>
          <p:nvPr/>
        </p:nvSpPr>
        <p:spPr>
          <a:xfrm>
            <a:off x="1987539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5" name="Shape 45">
            <a:extLst>
              <a:ext uri="{FF2B5EF4-FFF2-40B4-BE49-F238E27FC236}">
                <a16:creationId xmlns:a16="http://schemas.microsoft.com/office/drawing/2014/main" id="{D6D24DD8-6D7D-257C-F532-6ED722A69206}"/>
              </a:ext>
            </a:extLst>
          </p:cNvPr>
          <p:cNvSpPr/>
          <p:nvPr/>
        </p:nvSpPr>
        <p:spPr>
          <a:xfrm>
            <a:off x="2078979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7" name="Text 46">
            <a:extLst>
              <a:ext uri="{FF2B5EF4-FFF2-40B4-BE49-F238E27FC236}">
                <a16:creationId xmlns:a16="http://schemas.microsoft.com/office/drawing/2014/main" id="{7BD3B483-4A49-A931-5EB8-12119ED715C2}"/>
              </a:ext>
            </a:extLst>
          </p:cNvPr>
          <p:cNvSpPr/>
          <p:nvPr/>
        </p:nvSpPr>
        <p:spPr>
          <a:xfrm>
            <a:off x="2078979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特別オファー配信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9" name="Shape 47">
            <a:extLst>
              <a:ext uri="{FF2B5EF4-FFF2-40B4-BE49-F238E27FC236}">
                <a16:creationId xmlns:a16="http://schemas.microsoft.com/office/drawing/2014/main" id="{1A3ED534-DB25-D7E2-0DDC-342462B34810}"/>
              </a:ext>
            </a:extLst>
          </p:cNvPr>
          <p:cNvSpPr/>
          <p:nvPr/>
        </p:nvSpPr>
        <p:spPr>
          <a:xfrm>
            <a:off x="3353043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1" name="Text 48">
            <a:extLst>
              <a:ext uri="{FF2B5EF4-FFF2-40B4-BE49-F238E27FC236}">
                <a16:creationId xmlns:a16="http://schemas.microsoft.com/office/drawing/2014/main" id="{0A78ED48-FFFC-A962-F364-19738CBAA8ED}"/>
              </a:ext>
            </a:extLst>
          </p:cNvPr>
          <p:cNvSpPr/>
          <p:nvPr/>
        </p:nvSpPr>
        <p:spPr>
          <a:xfrm>
            <a:off x="3353043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3" name="Shape 49">
            <a:extLst>
              <a:ext uri="{FF2B5EF4-FFF2-40B4-BE49-F238E27FC236}">
                <a16:creationId xmlns:a16="http://schemas.microsoft.com/office/drawing/2014/main" id="{A71799E1-6D37-9019-F683-E28EDFCD59C9}"/>
              </a:ext>
            </a:extLst>
          </p:cNvPr>
          <p:cNvSpPr/>
          <p:nvPr/>
        </p:nvSpPr>
        <p:spPr>
          <a:xfrm>
            <a:off x="3444483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5" name="Text 50">
            <a:extLst>
              <a:ext uri="{FF2B5EF4-FFF2-40B4-BE49-F238E27FC236}">
                <a16:creationId xmlns:a16="http://schemas.microsoft.com/office/drawing/2014/main" id="{95527DCC-1F43-8A3D-2A58-DC34D3444C39}"/>
              </a:ext>
            </a:extLst>
          </p:cNvPr>
          <p:cNvSpPr/>
          <p:nvPr/>
        </p:nvSpPr>
        <p:spPr>
          <a:xfrm>
            <a:off x="3444483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再購入CV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7" name="Shape 51">
            <a:extLst>
              <a:ext uri="{FF2B5EF4-FFF2-40B4-BE49-F238E27FC236}">
                <a16:creationId xmlns:a16="http://schemas.microsoft.com/office/drawing/2014/main" id="{BB7FE265-C435-3F11-D327-2005EB3B7D4C}"/>
              </a:ext>
            </a:extLst>
          </p:cNvPr>
          <p:cNvSpPr/>
          <p:nvPr/>
        </p:nvSpPr>
        <p:spPr>
          <a:xfrm>
            <a:off x="622035" y="5138377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1" name="Shape 53">
            <a:extLst>
              <a:ext uri="{FF2B5EF4-FFF2-40B4-BE49-F238E27FC236}">
                <a16:creationId xmlns:a16="http://schemas.microsoft.com/office/drawing/2014/main" id="{F32B0A21-54EF-8445-6E6B-BBF9705C30E4}"/>
              </a:ext>
            </a:extLst>
          </p:cNvPr>
          <p:cNvSpPr/>
          <p:nvPr/>
        </p:nvSpPr>
        <p:spPr>
          <a:xfrm>
            <a:off x="731763" y="522981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3" name="Text 54">
            <a:extLst>
              <a:ext uri="{FF2B5EF4-FFF2-40B4-BE49-F238E27FC236}">
                <a16:creationId xmlns:a16="http://schemas.microsoft.com/office/drawing/2014/main" id="{4F222B19-A9AA-8B90-A278-F2067EC7FD8D}"/>
              </a:ext>
            </a:extLst>
          </p:cNvPr>
          <p:cNvSpPr/>
          <p:nvPr/>
        </p:nvSpPr>
        <p:spPr>
          <a:xfrm>
            <a:off x="731763" y="52298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5" name="Shape 55">
            <a:extLst>
              <a:ext uri="{FF2B5EF4-FFF2-40B4-BE49-F238E27FC236}">
                <a16:creationId xmlns:a16="http://schemas.microsoft.com/office/drawing/2014/main" id="{ABF7DB2E-403A-46F2-A837-399B3FE97C5E}"/>
              </a:ext>
            </a:extLst>
          </p:cNvPr>
          <p:cNvSpPr/>
          <p:nvPr/>
        </p:nvSpPr>
        <p:spPr>
          <a:xfrm>
            <a:off x="1079235" y="5257249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7" name="Text 56">
            <a:extLst>
              <a:ext uri="{FF2B5EF4-FFF2-40B4-BE49-F238E27FC236}">
                <a16:creationId xmlns:a16="http://schemas.microsoft.com/office/drawing/2014/main" id="{8DC1BB15-70BD-88F4-1430-70391985EBFC}"/>
              </a:ext>
            </a:extLst>
          </p:cNvPr>
          <p:cNvSpPr/>
          <p:nvPr/>
        </p:nvSpPr>
        <p:spPr>
          <a:xfrm>
            <a:off x="1079235" y="5257249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紹介キャンペーン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9" name="Text 57">
            <a:extLst>
              <a:ext uri="{FF2B5EF4-FFF2-40B4-BE49-F238E27FC236}">
                <a16:creationId xmlns:a16="http://schemas.microsoft.com/office/drawing/2014/main" id="{863EF515-E441-C008-46FD-E8772A47BE9A}"/>
              </a:ext>
            </a:extLst>
          </p:cNvPr>
          <p:cNvSpPr/>
          <p:nvPr/>
        </p:nvSpPr>
        <p:spPr>
          <a:xfrm>
            <a:off x="1993635" y="5229817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友人紹介制度をLINEで完結させる仕組みを設計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1" name="Text 58">
            <a:extLst>
              <a:ext uri="{FF2B5EF4-FFF2-40B4-BE49-F238E27FC236}">
                <a16:creationId xmlns:a16="http://schemas.microsoft.com/office/drawing/2014/main" id="{8F06CA0B-814F-E8C0-33FE-0B48BBED0532}"/>
              </a:ext>
            </a:extLst>
          </p:cNvPr>
          <p:cNvSpPr/>
          <p:nvPr/>
        </p:nvSpPr>
        <p:spPr>
          <a:xfrm>
            <a:off x="731763" y="5559001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「友人を紹介してくれたらXXXをプレゼント」をLINEで告知・管理。満足度が高い時期（利用直後・成果確認後）に訴求することで紹介件数が最大化する。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3" name="Shape 59">
            <a:extLst>
              <a:ext uri="{FF2B5EF4-FFF2-40B4-BE49-F238E27FC236}">
                <a16:creationId xmlns:a16="http://schemas.microsoft.com/office/drawing/2014/main" id="{F9FC2AD5-120F-E447-D301-5476F135AF0B}"/>
              </a:ext>
            </a:extLst>
          </p:cNvPr>
          <p:cNvSpPr/>
          <p:nvPr/>
        </p:nvSpPr>
        <p:spPr>
          <a:xfrm>
            <a:off x="713475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5" name="Text 60">
            <a:extLst>
              <a:ext uri="{FF2B5EF4-FFF2-40B4-BE49-F238E27FC236}">
                <a16:creationId xmlns:a16="http://schemas.microsoft.com/office/drawing/2014/main" id="{FB0832F3-E1A0-CA4E-156B-CE6E264BF982}"/>
              </a:ext>
            </a:extLst>
          </p:cNvPr>
          <p:cNvSpPr/>
          <p:nvPr/>
        </p:nvSpPr>
        <p:spPr>
          <a:xfrm>
            <a:off x="713475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利用後3ヶ月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7" name="Shape 61">
            <a:extLst>
              <a:ext uri="{FF2B5EF4-FFF2-40B4-BE49-F238E27FC236}">
                <a16:creationId xmlns:a16="http://schemas.microsoft.com/office/drawing/2014/main" id="{E24615D6-1A79-B0F4-BB14-14E2183880AC}"/>
              </a:ext>
            </a:extLst>
          </p:cNvPr>
          <p:cNvSpPr/>
          <p:nvPr/>
        </p:nvSpPr>
        <p:spPr>
          <a:xfrm>
            <a:off x="1987539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9" name="Text 62">
            <a:extLst>
              <a:ext uri="{FF2B5EF4-FFF2-40B4-BE49-F238E27FC236}">
                <a16:creationId xmlns:a16="http://schemas.microsoft.com/office/drawing/2014/main" id="{64603FC2-C317-4C97-5288-F270620ED7B9}"/>
              </a:ext>
            </a:extLst>
          </p:cNvPr>
          <p:cNvSpPr/>
          <p:nvPr/>
        </p:nvSpPr>
        <p:spPr>
          <a:xfrm>
            <a:off x="1987539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1" name="Shape 63">
            <a:extLst>
              <a:ext uri="{FF2B5EF4-FFF2-40B4-BE49-F238E27FC236}">
                <a16:creationId xmlns:a16="http://schemas.microsoft.com/office/drawing/2014/main" id="{C477B16C-33E8-F120-9A1F-AFC395AE6E3D}"/>
              </a:ext>
            </a:extLst>
          </p:cNvPr>
          <p:cNvSpPr/>
          <p:nvPr/>
        </p:nvSpPr>
        <p:spPr>
          <a:xfrm>
            <a:off x="2078979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3" name="Text 64">
            <a:extLst>
              <a:ext uri="{FF2B5EF4-FFF2-40B4-BE49-F238E27FC236}">
                <a16:creationId xmlns:a16="http://schemas.microsoft.com/office/drawing/2014/main" id="{2A73DA5C-F06B-A590-9987-5306E6C59DCE}"/>
              </a:ext>
            </a:extLst>
          </p:cNvPr>
          <p:cNvSpPr/>
          <p:nvPr/>
        </p:nvSpPr>
        <p:spPr>
          <a:xfrm>
            <a:off x="2078979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紹介特典訴求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5" name="Shape 65">
            <a:extLst>
              <a:ext uri="{FF2B5EF4-FFF2-40B4-BE49-F238E27FC236}">
                <a16:creationId xmlns:a16="http://schemas.microsoft.com/office/drawing/2014/main" id="{4B5406BB-D5C2-0D61-B213-493260EC338A}"/>
              </a:ext>
            </a:extLst>
          </p:cNvPr>
          <p:cNvSpPr/>
          <p:nvPr/>
        </p:nvSpPr>
        <p:spPr>
          <a:xfrm>
            <a:off x="3353043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7" name="Text 66">
            <a:extLst>
              <a:ext uri="{FF2B5EF4-FFF2-40B4-BE49-F238E27FC236}">
                <a16:creationId xmlns:a16="http://schemas.microsoft.com/office/drawing/2014/main" id="{E443F4FD-BC95-5CA8-315B-21521441E367}"/>
              </a:ext>
            </a:extLst>
          </p:cNvPr>
          <p:cNvSpPr/>
          <p:nvPr/>
        </p:nvSpPr>
        <p:spPr>
          <a:xfrm>
            <a:off x="3353043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9" name="Shape 67">
            <a:extLst>
              <a:ext uri="{FF2B5EF4-FFF2-40B4-BE49-F238E27FC236}">
                <a16:creationId xmlns:a16="http://schemas.microsoft.com/office/drawing/2014/main" id="{DA4B236A-3702-649B-9446-3AB64493F09A}"/>
              </a:ext>
            </a:extLst>
          </p:cNvPr>
          <p:cNvSpPr/>
          <p:nvPr/>
        </p:nvSpPr>
        <p:spPr>
          <a:xfrm>
            <a:off x="3444483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 dirty="0" err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紹介→新規CV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3" name="Shape 69">
            <a:extLst>
              <a:ext uri="{FF2B5EF4-FFF2-40B4-BE49-F238E27FC236}">
                <a16:creationId xmlns:a16="http://schemas.microsoft.com/office/drawing/2014/main" id="{11D208CF-F0AA-77FB-68F5-7FA3663557BE}"/>
              </a:ext>
            </a:extLst>
          </p:cNvPr>
          <p:cNvSpPr/>
          <p:nvPr/>
        </p:nvSpPr>
        <p:spPr>
          <a:xfrm>
            <a:off x="5066019" y="2613109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7" name="Shape 71">
            <a:extLst>
              <a:ext uri="{FF2B5EF4-FFF2-40B4-BE49-F238E27FC236}">
                <a16:creationId xmlns:a16="http://schemas.microsoft.com/office/drawing/2014/main" id="{BA65DAD3-3E2D-0363-0ABA-819311B17A9B}"/>
              </a:ext>
            </a:extLst>
          </p:cNvPr>
          <p:cNvSpPr/>
          <p:nvPr/>
        </p:nvSpPr>
        <p:spPr>
          <a:xfrm>
            <a:off x="5175747" y="2704549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9" name="Text 72">
            <a:extLst>
              <a:ext uri="{FF2B5EF4-FFF2-40B4-BE49-F238E27FC236}">
                <a16:creationId xmlns:a16="http://schemas.microsoft.com/office/drawing/2014/main" id="{772DDEC2-C488-7293-86EB-F96BAAD7EA90}"/>
              </a:ext>
            </a:extLst>
          </p:cNvPr>
          <p:cNvSpPr/>
          <p:nvPr/>
        </p:nvSpPr>
        <p:spPr>
          <a:xfrm>
            <a:off x="5175747" y="27045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1" name="Shape 73">
            <a:extLst>
              <a:ext uri="{FF2B5EF4-FFF2-40B4-BE49-F238E27FC236}">
                <a16:creationId xmlns:a16="http://schemas.microsoft.com/office/drawing/2014/main" id="{595BE68E-4F81-E693-447A-8BD486204CD6}"/>
              </a:ext>
            </a:extLst>
          </p:cNvPr>
          <p:cNvSpPr/>
          <p:nvPr/>
        </p:nvSpPr>
        <p:spPr>
          <a:xfrm>
            <a:off x="5523219" y="2731981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3" name="Text 74">
            <a:extLst>
              <a:ext uri="{FF2B5EF4-FFF2-40B4-BE49-F238E27FC236}">
                <a16:creationId xmlns:a16="http://schemas.microsoft.com/office/drawing/2014/main" id="{DE0C1BD7-D498-BF93-A12E-93FC8F3EFEEB}"/>
              </a:ext>
            </a:extLst>
          </p:cNvPr>
          <p:cNvSpPr/>
          <p:nvPr/>
        </p:nvSpPr>
        <p:spPr>
          <a:xfrm>
            <a:off x="5523219" y="2731981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利用状況連動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5" name="Text 75">
            <a:extLst>
              <a:ext uri="{FF2B5EF4-FFF2-40B4-BE49-F238E27FC236}">
                <a16:creationId xmlns:a16="http://schemas.microsoft.com/office/drawing/2014/main" id="{828F19F3-3156-29E9-3072-E1DED5F92BA0}"/>
              </a:ext>
            </a:extLst>
          </p:cNvPr>
          <p:cNvSpPr/>
          <p:nvPr/>
        </p:nvSpPr>
        <p:spPr>
          <a:xfrm>
            <a:off x="6437619" y="2704549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利用量・頻度に応じたアップグレード提案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7" name="Text 76">
            <a:extLst>
              <a:ext uri="{FF2B5EF4-FFF2-40B4-BE49-F238E27FC236}">
                <a16:creationId xmlns:a16="http://schemas.microsoft.com/office/drawing/2014/main" id="{74CEEBF9-FB5E-B42A-5BBB-7613F874DD22}"/>
              </a:ext>
            </a:extLst>
          </p:cNvPr>
          <p:cNvSpPr/>
          <p:nvPr/>
        </p:nvSpPr>
        <p:spPr>
          <a:xfrm>
            <a:off x="5175747" y="3033733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利用状況タグを活用して「よく使っている層」に上位プランの提案を自動配信。「今のプランより月1,000円で〇〇が使い放題に」という具体的メリット提示がCVRを高める。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9" name="Shape 77">
            <a:extLst>
              <a:ext uri="{FF2B5EF4-FFF2-40B4-BE49-F238E27FC236}">
                <a16:creationId xmlns:a16="http://schemas.microsoft.com/office/drawing/2014/main" id="{EB3AEAB9-3091-B770-5C73-60F2CC509D9D}"/>
              </a:ext>
            </a:extLst>
          </p:cNvPr>
          <p:cNvSpPr/>
          <p:nvPr/>
        </p:nvSpPr>
        <p:spPr>
          <a:xfrm>
            <a:off x="5157459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1" name="Text 78">
            <a:extLst>
              <a:ext uri="{FF2B5EF4-FFF2-40B4-BE49-F238E27FC236}">
                <a16:creationId xmlns:a16="http://schemas.microsoft.com/office/drawing/2014/main" id="{16B65D6F-FEB1-6B8D-4243-6E6A8950251C}"/>
              </a:ext>
            </a:extLst>
          </p:cNvPr>
          <p:cNvSpPr/>
          <p:nvPr/>
        </p:nvSpPr>
        <p:spPr>
          <a:xfrm>
            <a:off x="5157459" y="3381205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利用量タグ付与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3" name="Shape 79">
            <a:extLst>
              <a:ext uri="{FF2B5EF4-FFF2-40B4-BE49-F238E27FC236}">
                <a16:creationId xmlns:a16="http://schemas.microsoft.com/office/drawing/2014/main" id="{ACEF9838-1EE3-1464-24F9-5960C72ACE63}"/>
              </a:ext>
            </a:extLst>
          </p:cNvPr>
          <p:cNvSpPr/>
          <p:nvPr/>
        </p:nvSpPr>
        <p:spPr>
          <a:xfrm>
            <a:off x="6431523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5" name="Text 80">
            <a:extLst>
              <a:ext uri="{FF2B5EF4-FFF2-40B4-BE49-F238E27FC236}">
                <a16:creationId xmlns:a16="http://schemas.microsoft.com/office/drawing/2014/main" id="{69501D59-8F67-4ADD-2B3A-62D69E08E6AD}"/>
              </a:ext>
            </a:extLst>
          </p:cNvPr>
          <p:cNvSpPr/>
          <p:nvPr/>
        </p:nvSpPr>
        <p:spPr>
          <a:xfrm>
            <a:off x="6431523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7" name="Shape 81">
            <a:extLst>
              <a:ext uri="{FF2B5EF4-FFF2-40B4-BE49-F238E27FC236}">
                <a16:creationId xmlns:a16="http://schemas.microsoft.com/office/drawing/2014/main" id="{24E5901A-0626-345C-7E4E-690DFA9947EE}"/>
              </a:ext>
            </a:extLst>
          </p:cNvPr>
          <p:cNvSpPr/>
          <p:nvPr/>
        </p:nvSpPr>
        <p:spPr>
          <a:xfrm>
            <a:off x="6522963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アップグレード提案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1" name="Shape 83">
            <a:extLst>
              <a:ext uri="{FF2B5EF4-FFF2-40B4-BE49-F238E27FC236}">
                <a16:creationId xmlns:a16="http://schemas.microsoft.com/office/drawing/2014/main" id="{DBA87A6B-3A5A-5BB5-800C-AD29E3A38E51}"/>
              </a:ext>
            </a:extLst>
          </p:cNvPr>
          <p:cNvSpPr/>
          <p:nvPr/>
        </p:nvSpPr>
        <p:spPr>
          <a:xfrm>
            <a:off x="7797027" y="3472645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3" name="Text 84">
            <a:extLst>
              <a:ext uri="{FF2B5EF4-FFF2-40B4-BE49-F238E27FC236}">
                <a16:creationId xmlns:a16="http://schemas.microsoft.com/office/drawing/2014/main" id="{5F05F5BA-6ADB-F29A-796A-6AE1FAE69215}"/>
              </a:ext>
            </a:extLst>
          </p:cNvPr>
          <p:cNvSpPr/>
          <p:nvPr/>
        </p:nvSpPr>
        <p:spPr>
          <a:xfrm>
            <a:off x="7797027" y="3472645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5" name="Shape 85">
            <a:extLst>
              <a:ext uri="{FF2B5EF4-FFF2-40B4-BE49-F238E27FC236}">
                <a16:creationId xmlns:a16="http://schemas.microsoft.com/office/drawing/2014/main" id="{B5E69B07-FB02-4F49-A566-CE157E614F49}"/>
              </a:ext>
            </a:extLst>
          </p:cNvPr>
          <p:cNvSpPr/>
          <p:nvPr/>
        </p:nvSpPr>
        <p:spPr>
          <a:xfrm>
            <a:off x="7888467" y="3381205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プラン変更CV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9" name="Shape 87">
            <a:extLst>
              <a:ext uri="{FF2B5EF4-FFF2-40B4-BE49-F238E27FC236}">
                <a16:creationId xmlns:a16="http://schemas.microsoft.com/office/drawing/2014/main" id="{BF4F34D9-E34A-88AA-21A2-8773568F5586}"/>
              </a:ext>
            </a:extLst>
          </p:cNvPr>
          <p:cNvSpPr/>
          <p:nvPr/>
        </p:nvSpPr>
        <p:spPr>
          <a:xfrm>
            <a:off x="5066019" y="3875743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3" name="Shape 89">
            <a:extLst>
              <a:ext uri="{FF2B5EF4-FFF2-40B4-BE49-F238E27FC236}">
                <a16:creationId xmlns:a16="http://schemas.microsoft.com/office/drawing/2014/main" id="{EFE5E9D0-3F2E-411E-681C-D9CBD3BA1795}"/>
              </a:ext>
            </a:extLst>
          </p:cNvPr>
          <p:cNvSpPr/>
          <p:nvPr/>
        </p:nvSpPr>
        <p:spPr>
          <a:xfrm>
            <a:off x="5175747" y="3967183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5" name="Text 90">
            <a:extLst>
              <a:ext uri="{FF2B5EF4-FFF2-40B4-BE49-F238E27FC236}">
                <a16:creationId xmlns:a16="http://schemas.microsoft.com/office/drawing/2014/main" id="{5A2E3029-A975-C95C-7E57-D4269143AA55}"/>
              </a:ext>
            </a:extLst>
          </p:cNvPr>
          <p:cNvSpPr/>
          <p:nvPr/>
        </p:nvSpPr>
        <p:spPr>
          <a:xfrm>
            <a:off x="5175747" y="39671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7" name="Shape 91">
            <a:extLst>
              <a:ext uri="{FF2B5EF4-FFF2-40B4-BE49-F238E27FC236}">
                <a16:creationId xmlns:a16="http://schemas.microsoft.com/office/drawing/2014/main" id="{0B44982A-093D-F4A4-8627-DD2BEB875FCE}"/>
              </a:ext>
            </a:extLst>
          </p:cNvPr>
          <p:cNvSpPr/>
          <p:nvPr/>
        </p:nvSpPr>
        <p:spPr>
          <a:xfrm>
            <a:off x="5523219" y="3994615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9" name="Text 92">
            <a:extLst>
              <a:ext uri="{FF2B5EF4-FFF2-40B4-BE49-F238E27FC236}">
                <a16:creationId xmlns:a16="http://schemas.microsoft.com/office/drawing/2014/main" id="{8E58A804-D262-6223-9739-795C7490802F}"/>
              </a:ext>
            </a:extLst>
          </p:cNvPr>
          <p:cNvSpPr/>
          <p:nvPr/>
        </p:nvSpPr>
        <p:spPr>
          <a:xfrm>
            <a:off x="5523219" y="3994615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関連商材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1" name="Text 93">
            <a:extLst>
              <a:ext uri="{FF2B5EF4-FFF2-40B4-BE49-F238E27FC236}">
                <a16:creationId xmlns:a16="http://schemas.microsoft.com/office/drawing/2014/main" id="{2820774A-8461-0C15-3354-D17D2A38ACE9}"/>
              </a:ext>
            </a:extLst>
          </p:cNvPr>
          <p:cNvSpPr/>
          <p:nvPr/>
        </p:nvSpPr>
        <p:spPr>
          <a:xfrm>
            <a:off x="6437619" y="3967183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購入・利用カテゴリに紐づくクロスセル配信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3" name="Text 94">
            <a:extLst>
              <a:ext uri="{FF2B5EF4-FFF2-40B4-BE49-F238E27FC236}">
                <a16:creationId xmlns:a16="http://schemas.microsoft.com/office/drawing/2014/main" id="{66C6D264-EC5E-9BD7-A6C4-38CC9629CE29}"/>
              </a:ext>
            </a:extLst>
          </p:cNvPr>
          <p:cNvSpPr/>
          <p:nvPr/>
        </p:nvSpPr>
        <p:spPr>
          <a:xfrm>
            <a:off x="5175747" y="4296367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「Aサービスをご利用中の方向け：Bサービスとの組み合わせで効果UP」という形で関連商材を案内。タグセグメントで対象を絞ることで過剰アプローチを防ぐ。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5" name="Shape 95">
            <a:extLst>
              <a:ext uri="{FF2B5EF4-FFF2-40B4-BE49-F238E27FC236}">
                <a16:creationId xmlns:a16="http://schemas.microsoft.com/office/drawing/2014/main" id="{3620767E-5C81-82F3-ACE8-BEF5B040FA3C}"/>
              </a:ext>
            </a:extLst>
          </p:cNvPr>
          <p:cNvSpPr/>
          <p:nvPr/>
        </p:nvSpPr>
        <p:spPr>
          <a:xfrm>
            <a:off x="5157459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7" name="Text 96">
            <a:extLst>
              <a:ext uri="{FF2B5EF4-FFF2-40B4-BE49-F238E27FC236}">
                <a16:creationId xmlns:a16="http://schemas.microsoft.com/office/drawing/2014/main" id="{9AA7117C-343C-4068-D766-8BFDA27C8DE4}"/>
              </a:ext>
            </a:extLst>
          </p:cNvPr>
          <p:cNvSpPr/>
          <p:nvPr/>
        </p:nvSpPr>
        <p:spPr>
          <a:xfrm>
            <a:off x="5157459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購入カテゴリ特定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9" name="Shape 97">
            <a:extLst>
              <a:ext uri="{FF2B5EF4-FFF2-40B4-BE49-F238E27FC236}">
                <a16:creationId xmlns:a16="http://schemas.microsoft.com/office/drawing/2014/main" id="{0EBCC7F5-0E29-C4A8-94D8-A7D7ECC5F89A}"/>
              </a:ext>
            </a:extLst>
          </p:cNvPr>
          <p:cNvSpPr/>
          <p:nvPr/>
        </p:nvSpPr>
        <p:spPr>
          <a:xfrm>
            <a:off x="6431523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1" name="Text 98">
            <a:extLst>
              <a:ext uri="{FF2B5EF4-FFF2-40B4-BE49-F238E27FC236}">
                <a16:creationId xmlns:a16="http://schemas.microsoft.com/office/drawing/2014/main" id="{BD96E4BA-ADE4-8898-880F-1EAA79A8DF2D}"/>
              </a:ext>
            </a:extLst>
          </p:cNvPr>
          <p:cNvSpPr/>
          <p:nvPr/>
        </p:nvSpPr>
        <p:spPr>
          <a:xfrm>
            <a:off x="6431523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3" name="Shape 99">
            <a:extLst>
              <a:ext uri="{FF2B5EF4-FFF2-40B4-BE49-F238E27FC236}">
                <a16:creationId xmlns:a16="http://schemas.microsoft.com/office/drawing/2014/main" id="{E126C166-BD13-9190-0FE0-63914F4AD447}"/>
              </a:ext>
            </a:extLst>
          </p:cNvPr>
          <p:cNvSpPr/>
          <p:nvPr/>
        </p:nvSpPr>
        <p:spPr>
          <a:xfrm>
            <a:off x="6522963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</a:pPr>
            <a:r>
              <a:rPr lang="en-US" altLang="ja-JP" sz="700" b="1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関連商材案内</a:t>
            </a:r>
            <a:endParaRPr lang="en-US" altLang="ja-JP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7" name="Shape 101">
            <a:extLst>
              <a:ext uri="{FF2B5EF4-FFF2-40B4-BE49-F238E27FC236}">
                <a16:creationId xmlns:a16="http://schemas.microsoft.com/office/drawing/2014/main" id="{EE014BEF-08EA-D95F-B260-566E9689AFE2}"/>
              </a:ext>
            </a:extLst>
          </p:cNvPr>
          <p:cNvSpPr/>
          <p:nvPr/>
        </p:nvSpPr>
        <p:spPr>
          <a:xfrm>
            <a:off x="7797027" y="4735279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9" name="Text 102">
            <a:extLst>
              <a:ext uri="{FF2B5EF4-FFF2-40B4-BE49-F238E27FC236}">
                <a16:creationId xmlns:a16="http://schemas.microsoft.com/office/drawing/2014/main" id="{6D8C6BF2-428E-B744-84F1-70D22F6EC306}"/>
              </a:ext>
            </a:extLst>
          </p:cNvPr>
          <p:cNvSpPr/>
          <p:nvPr/>
        </p:nvSpPr>
        <p:spPr>
          <a:xfrm>
            <a:off x="7797027" y="4735279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1" name="Shape 103">
            <a:extLst>
              <a:ext uri="{FF2B5EF4-FFF2-40B4-BE49-F238E27FC236}">
                <a16:creationId xmlns:a16="http://schemas.microsoft.com/office/drawing/2014/main" id="{EB1CED23-229B-155C-8DA1-725B58167B0D}"/>
              </a:ext>
            </a:extLst>
          </p:cNvPr>
          <p:cNvSpPr/>
          <p:nvPr/>
        </p:nvSpPr>
        <p:spPr>
          <a:xfrm>
            <a:off x="7888467" y="4643839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3" name="Text 104">
            <a:extLst>
              <a:ext uri="{FF2B5EF4-FFF2-40B4-BE49-F238E27FC236}">
                <a16:creationId xmlns:a16="http://schemas.microsoft.com/office/drawing/2014/main" id="{B0BD8085-260F-767B-600D-29C4EFE91EF6}"/>
              </a:ext>
            </a:extLst>
          </p:cNvPr>
          <p:cNvSpPr/>
          <p:nvPr/>
        </p:nvSpPr>
        <p:spPr>
          <a:xfrm>
            <a:off x="7888467" y="4643839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クロスセルCV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5" name="Shape 105">
            <a:extLst>
              <a:ext uri="{FF2B5EF4-FFF2-40B4-BE49-F238E27FC236}">
                <a16:creationId xmlns:a16="http://schemas.microsoft.com/office/drawing/2014/main" id="{2B58AD02-89B6-782E-1247-733846A3BEB6}"/>
              </a:ext>
            </a:extLst>
          </p:cNvPr>
          <p:cNvSpPr/>
          <p:nvPr/>
        </p:nvSpPr>
        <p:spPr>
          <a:xfrm>
            <a:off x="5066019" y="5138377"/>
            <a:ext cx="4279392" cy="1170432"/>
          </a:xfrm>
          <a:prstGeom prst="roundRect">
            <a:avLst>
              <a:gd name="adj" fmla="val 7031"/>
            </a:avLst>
          </a:prstGeom>
          <a:solidFill>
            <a:srgbClr val="EEEFF4"/>
          </a:solidFill>
          <a:ln w="12700">
            <a:solidFill>
              <a:srgbClr val="D8D8E2"/>
            </a:solidFill>
            <a:prstDash val="solid"/>
          </a:ln>
          <a:effectLst>
            <a:outerShdw blurRad="50800" dist="12700" dir="8100000" algn="bl" rotWithShape="0">
              <a:srgbClr val="C8C8D8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9" name="Shape 107">
            <a:extLst>
              <a:ext uri="{FF2B5EF4-FFF2-40B4-BE49-F238E27FC236}">
                <a16:creationId xmlns:a16="http://schemas.microsoft.com/office/drawing/2014/main" id="{A1CF4B93-1F7F-95B1-9748-9AE48BB0A67D}"/>
              </a:ext>
            </a:extLst>
          </p:cNvPr>
          <p:cNvSpPr/>
          <p:nvPr/>
        </p:nvSpPr>
        <p:spPr>
          <a:xfrm>
            <a:off x="5175747" y="5229817"/>
            <a:ext cx="274320" cy="274320"/>
          </a:xfrm>
          <a:prstGeom prst="ellipse">
            <a:avLst/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1" name="Text 108">
            <a:extLst>
              <a:ext uri="{FF2B5EF4-FFF2-40B4-BE49-F238E27FC236}">
                <a16:creationId xmlns:a16="http://schemas.microsoft.com/office/drawing/2014/main" id="{699242CC-C724-22FB-181E-24FA20BE103C}"/>
              </a:ext>
            </a:extLst>
          </p:cNvPr>
          <p:cNvSpPr/>
          <p:nvPr/>
        </p:nvSpPr>
        <p:spPr>
          <a:xfrm>
            <a:off x="5175747" y="52298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3" name="Shape 109">
            <a:extLst>
              <a:ext uri="{FF2B5EF4-FFF2-40B4-BE49-F238E27FC236}">
                <a16:creationId xmlns:a16="http://schemas.microsoft.com/office/drawing/2014/main" id="{5C0B9632-0D33-3A4F-852D-28C99ACB77A6}"/>
              </a:ext>
            </a:extLst>
          </p:cNvPr>
          <p:cNvSpPr/>
          <p:nvPr/>
        </p:nvSpPr>
        <p:spPr>
          <a:xfrm>
            <a:off x="5523219" y="5257249"/>
            <a:ext cx="859536" cy="201168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70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5" name="Text 110">
            <a:extLst>
              <a:ext uri="{FF2B5EF4-FFF2-40B4-BE49-F238E27FC236}">
                <a16:creationId xmlns:a16="http://schemas.microsoft.com/office/drawing/2014/main" id="{B910E2C6-1CCA-1DB7-F916-05CAB4560F12}"/>
              </a:ext>
            </a:extLst>
          </p:cNvPr>
          <p:cNvSpPr/>
          <p:nvPr/>
        </p:nvSpPr>
        <p:spPr>
          <a:xfrm>
            <a:off x="5523219" y="5257249"/>
            <a:ext cx="859536" cy="20116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DFDFD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季節連動</a:t>
            </a:r>
            <a:endParaRPr lang="en-US" sz="700" dirty="0">
              <a:solidFill>
                <a:srgbClr val="FDFDFD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7" name="Text 111">
            <a:extLst>
              <a:ext uri="{FF2B5EF4-FFF2-40B4-BE49-F238E27FC236}">
                <a16:creationId xmlns:a16="http://schemas.microsoft.com/office/drawing/2014/main" id="{418968BF-D240-4525-61FD-34A2CD92F77A}"/>
              </a:ext>
            </a:extLst>
          </p:cNvPr>
          <p:cNvSpPr/>
          <p:nvPr/>
        </p:nvSpPr>
        <p:spPr>
          <a:xfrm>
            <a:off x="6437619" y="5229817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季節・繁忙期に合わせた関連サービス案内</a:t>
            </a:r>
            <a:endParaRPr lang="en-US" sz="10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9" name="Text 112">
            <a:extLst>
              <a:ext uri="{FF2B5EF4-FFF2-40B4-BE49-F238E27FC236}">
                <a16:creationId xmlns:a16="http://schemas.microsoft.com/office/drawing/2014/main" id="{DB9225A3-0B40-6631-04BA-B036BA78DD18}"/>
              </a:ext>
            </a:extLst>
          </p:cNvPr>
          <p:cNvSpPr/>
          <p:nvPr/>
        </p:nvSpPr>
        <p:spPr>
          <a:xfrm>
            <a:off x="5175747" y="5559001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ユーザーが次のニーズを感じる前に関連サービスを先出しする。「春のXXXに向けて、ご準備はお済みですか？」という形でシーズン2〜3週前に配信するとCVRが高い。</a:t>
            </a:r>
            <a:endParaRPr lang="en-US" sz="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1" name="Shape 113">
            <a:extLst>
              <a:ext uri="{FF2B5EF4-FFF2-40B4-BE49-F238E27FC236}">
                <a16:creationId xmlns:a16="http://schemas.microsoft.com/office/drawing/2014/main" id="{2E10B183-2361-FE23-322F-7D503F80197A}"/>
              </a:ext>
            </a:extLst>
          </p:cNvPr>
          <p:cNvSpPr/>
          <p:nvPr/>
        </p:nvSpPr>
        <p:spPr>
          <a:xfrm>
            <a:off x="5157459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3" name="Text 114">
            <a:extLst>
              <a:ext uri="{FF2B5EF4-FFF2-40B4-BE49-F238E27FC236}">
                <a16:creationId xmlns:a16="http://schemas.microsoft.com/office/drawing/2014/main" id="{E3F71D55-3A7F-7216-A68B-E9D41C4251F7}"/>
              </a:ext>
            </a:extLst>
          </p:cNvPr>
          <p:cNvSpPr/>
          <p:nvPr/>
        </p:nvSpPr>
        <p:spPr>
          <a:xfrm>
            <a:off x="5157459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シーズン2〜3週前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5" name="Shape 115">
            <a:extLst>
              <a:ext uri="{FF2B5EF4-FFF2-40B4-BE49-F238E27FC236}">
                <a16:creationId xmlns:a16="http://schemas.microsoft.com/office/drawing/2014/main" id="{4DD46369-30C8-F75A-A124-3FEDB935C4A0}"/>
              </a:ext>
            </a:extLst>
          </p:cNvPr>
          <p:cNvSpPr/>
          <p:nvPr/>
        </p:nvSpPr>
        <p:spPr>
          <a:xfrm>
            <a:off x="6431523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7" name="Text 116">
            <a:extLst>
              <a:ext uri="{FF2B5EF4-FFF2-40B4-BE49-F238E27FC236}">
                <a16:creationId xmlns:a16="http://schemas.microsoft.com/office/drawing/2014/main" id="{4A907B15-7708-47C9-7642-BA0B05630DEF}"/>
              </a:ext>
            </a:extLst>
          </p:cNvPr>
          <p:cNvSpPr/>
          <p:nvPr/>
        </p:nvSpPr>
        <p:spPr>
          <a:xfrm>
            <a:off x="6431523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9" name="Shape 117">
            <a:extLst>
              <a:ext uri="{FF2B5EF4-FFF2-40B4-BE49-F238E27FC236}">
                <a16:creationId xmlns:a16="http://schemas.microsoft.com/office/drawing/2014/main" id="{33185618-A887-525D-081A-03DCDB2AC769}"/>
              </a:ext>
            </a:extLst>
          </p:cNvPr>
          <p:cNvSpPr/>
          <p:nvPr/>
        </p:nvSpPr>
        <p:spPr>
          <a:xfrm>
            <a:off x="6522963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1" name="Text 118">
            <a:extLst>
              <a:ext uri="{FF2B5EF4-FFF2-40B4-BE49-F238E27FC236}">
                <a16:creationId xmlns:a16="http://schemas.microsoft.com/office/drawing/2014/main" id="{A758DBE7-E957-396E-311E-D9582502DB4F}"/>
              </a:ext>
            </a:extLst>
          </p:cNvPr>
          <p:cNvSpPr/>
          <p:nvPr/>
        </p:nvSpPr>
        <p:spPr>
          <a:xfrm>
            <a:off x="6522963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関連サービス先出し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3" name="Shape 119">
            <a:extLst>
              <a:ext uri="{FF2B5EF4-FFF2-40B4-BE49-F238E27FC236}">
                <a16:creationId xmlns:a16="http://schemas.microsoft.com/office/drawing/2014/main" id="{BF462C74-804E-9C1C-C821-FF72072655B2}"/>
              </a:ext>
            </a:extLst>
          </p:cNvPr>
          <p:cNvSpPr/>
          <p:nvPr/>
        </p:nvSpPr>
        <p:spPr>
          <a:xfrm>
            <a:off x="7797027" y="5997913"/>
            <a:ext cx="91440" cy="146304"/>
          </a:xfrm>
          <a:prstGeom prst="roundRect">
            <a:avLst>
              <a:gd name="adj" fmla="val 40000"/>
            </a:avLst>
          </a:prstGeom>
          <a:solidFill>
            <a:srgbClr val="D8D8E2"/>
          </a:solidFill>
          <a:ln w="12700">
            <a:solidFill>
              <a:srgbClr val="D8D8E2"/>
            </a:solidFill>
            <a:prstDash val="solid"/>
          </a:ln>
        </p:spPr>
        <p:txBody>
          <a:bodyPr/>
          <a:lstStyle/>
          <a:p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5" name="Text 120">
            <a:extLst>
              <a:ext uri="{FF2B5EF4-FFF2-40B4-BE49-F238E27FC236}">
                <a16:creationId xmlns:a16="http://schemas.microsoft.com/office/drawing/2014/main" id="{BB683829-0CAA-9EF6-F72B-0FA8AE6169AD}"/>
              </a:ext>
            </a:extLst>
          </p:cNvPr>
          <p:cNvSpPr/>
          <p:nvPr/>
        </p:nvSpPr>
        <p:spPr>
          <a:xfrm>
            <a:off x="7797027" y="5997913"/>
            <a:ext cx="9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5A5A7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lang="en-US" sz="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7" name="Shape 121">
            <a:extLst>
              <a:ext uri="{FF2B5EF4-FFF2-40B4-BE49-F238E27FC236}">
                <a16:creationId xmlns:a16="http://schemas.microsoft.com/office/drawing/2014/main" id="{EE617E52-3088-925B-672C-E8F15869002F}"/>
              </a:ext>
            </a:extLst>
          </p:cNvPr>
          <p:cNvSpPr/>
          <p:nvPr/>
        </p:nvSpPr>
        <p:spPr>
          <a:xfrm>
            <a:off x="7888467" y="5906473"/>
            <a:ext cx="1274064" cy="329184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 sz="7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9" name="Text 122">
            <a:extLst>
              <a:ext uri="{FF2B5EF4-FFF2-40B4-BE49-F238E27FC236}">
                <a16:creationId xmlns:a16="http://schemas.microsoft.com/office/drawing/2014/main" id="{571C1378-34E0-DF83-9B00-2BE63986DA83}"/>
              </a:ext>
            </a:extLst>
          </p:cNvPr>
          <p:cNvSpPr/>
          <p:nvPr/>
        </p:nvSpPr>
        <p:spPr>
          <a:xfrm>
            <a:off x="7888467" y="5906473"/>
            <a:ext cx="127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CV獲得</a:t>
            </a:r>
            <a:endParaRPr lang="en-US" sz="7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55432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A8856EBE-32D8-42F5-9D61-C53BF60EFB33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施策展開図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340BD7-9269-59A1-EA69-7426F07778B6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7C701305-F75E-4087-21C2-FA3CCCA8FB67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施策は、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と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友だちの育成・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CV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着地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の動線が重要。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企画投稿（毎月）とステップ配信（定常的に運営）を組み合わせて最適動線に。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A40E6EC-1B5E-5E46-EF89-1167C08649BA}"/>
              </a:ext>
            </a:extLst>
          </p:cNvPr>
          <p:cNvSpPr/>
          <p:nvPr/>
        </p:nvSpPr>
        <p:spPr>
          <a:xfrm>
            <a:off x="963202" y="3662763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友だち追加後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2FE26F6B-D35B-6A6B-42D2-79443745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3566663"/>
            <a:ext cx="582602" cy="543237"/>
          </a:xfrm>
          <a:prstGeom prst="rect">
            <a:avLst/>
          </a:prstGeom>
        </p:spPr>
      </p:pic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403F1B-B20A-C75C-8FCB-74AAD1581A2F}"/>
              </a:ext>
            </a:extLst>
          </p:cNvPr>
          <p:cNvSpPr/>
          <p:nvPr/>
        </p:nvSpPr>
        <p:spPr>
          <a:xfrm>
            <a:off x="686977" y="2019915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5" name="図 34" descr="lpデザインイラスト｜無料イラスト・フリー素材なら「イラストAC」">
            <a:extLst>
              <a:ext uri="{FF2B5EF4-FFF2-40B4-BE49-F238E27FC236}">
                <a16:creationId xmlns:a16="http://schemas.microsoft.com/office/drawing/2014/main" id="{EA2CF7EC-851A-10FF-17B6-E422C43B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58" y="1875286"/>
            <a:ext cx="853665" cy="640720"/>
          </a:xfrm>
          <a:prstGeom prst="rect">
            <a:avLst/>
          </a:prstGeom>
        </p:spPr>
      </p:pic>
      <p:sp>
        <p:nvSpPr>
          <p:cNvPr id="40" name="矢印: 下 39">
            <a:extLst>
              <a:ext uri="{FF2B5EF4-FFF2-40B4-BE49-F238E27FC236}">
                <a16:creationId xmlns:a16="http://schemas.microsoft.com/office/drawing/2014/main" id="{0D54B1A9-3944-66DE-F219-BB4192EDE144}"/>
              </a:ext>
            </a:extLst>
          </p:cNvPr>
          <p:cNvSpPr/>
          <p:nvPr/>
        </p:nvSpPr>
        <p:spPr>
          <a:xfrm>
            <a:off x="3290805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下 40">
            <a:extLst>
              <a:ext uri="{FF2B5EF4-FFF2-40B4-BE49-F238E27FC236}">
                <a16:creationId xmlns:a16="http://schemas.microsoft.com/office/drawing/2014/main" id="{781A5984-3599-DC05-2E88-6BB61F188EB3}"/>
              </a:ext>
            </a:extLst>
          </p:cNvPr>
          <p:cNvSpPr/>
          <p:nvPr/>
        </p:nvSpPr>
        <p:spPr>
          <a:xfrm>
            <a:off x="5657443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1C76D7C3-BFEE-8DA3-57FA-033BD7E35285}"/>
              </a:ext>
            </a:extLst>
          </p:cNvPr>
          <p:cNvSpPr/>
          <p:nvPr/>
        </p:nvSpPr>
        <p:spPr>
          <a:xfrm>
            <a:off x="5657443" y="201991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矢印: 下 42">
            <a:extLst>
              <a:ext uri="{FF2B5EF4-FFF2-40B4-BE49-F238E27FC236}">
                <a16:creationId xmlns:a16="http://schemas.microsoft.com/office/drawing/2014/main" id="{4E9F9DC2-BA49-A440-DA89-D45BC9E52C3A}"/>
              </a:ext>
            </a:extLst>
          </p:cNvPr>
          <p:cNvSpPr/>
          <p:nvPr/>
        </p:nvSpPr>
        <p:spPr>
          <a:xfrm>
            <a:off x="3290805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矢印: 下 43">
            <a:extLst>
              <a:ext uri="{FF2B5EF4-FFF2-40B4-BE49-F238E27FC236}">
                <a16:creationId xmlns:a16="http://schemas.microsoft.com/office/drawing/2014/main" id="{6915D3B6-2B4C-5707-CB40-2696B722BA40}"/>
              </a:ext>
            </a:extLst>
          </p:cNvPr>
          <p:cNvSpPr/>
          <p:nvPr/>
        </p:nvSpPr>
        <p:spPr>
          <a:xfrm>
            <a:off x="5657443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988BB36-5119-99B1-DF59-D4B80D30745C}"/>
              </a:ext>
            </a:extLst>
          </p:cNvPr>
          <p:cNvSpPr/>
          <p:nvPr/>
        </p:nvSpPr>
        <p:spPr>
          <a:xfrm>
            <a:off x="963202" y="5305611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具体アクション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FE05BA15-FE69-7259-F5B1-7935A92D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5203250"/>
            <a:ext cx="582602" cy="543237"/>
          </a:xfrm>
          <a:prstGeom prst="rect">
            <a:avLst/>
          </a:prstGeom>
        </p:spPr>
      </p:pic>
      <p:sp>
        <p:nvSpPr>
          <p:cNvPr id="68" name="矢印: 下 67">
            <a:extLst>
              <a:ext uri="{FF2B5EF4-FFF2-40B4-BE49-F238E27FC236}">
                <a16:creationId xmlns:a16="http://schemas.microsoft.com/office/drawing/2014/main" id="{552BBE13-4EF3-7D14-9401-EE47B669E0A1}"/>
              </a:ext>
            </a:extLst>
          </p:cNvPr>
          <p:cNvSpPr/>
          <p:nvPr/>
        </p:nvSpPr>
        <p:spPr>
          <a:xfrm>
            <a:off x="8023941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矢印: 下 68">
            <a:extLst>
              <a:ext uri="{FF2B5EF4-FFF2-40B4-BE49-F238E27FC236}">
                <a16:creationId xmlns:a16="http://schemas.microsoft.com/office/drawing/2014/main" id="{1CE2AD45-B81D-8C9E-9BEA-EE8F41408D09}"/>
              </a:ext>
            </a:extLst>
          </p:cNvPr>
          <p:cNvSpPr/>
          <p:nvPr/>
        </p:nvSpPr>
        <p:spPr>
          <a:xfrm>
            <a:off x="8023941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矢印: 下 69">
            <a:extLst>
              <a:ext uri="{FF2B5EF4-FFF2-40B4-BE49-F238E27FC236}">
                <a16:creationId xmlns:a16="http://schemas.microsoft.com/office/drawing/2014/main" id="{841F38E6-682B-0593-E7F1-B970924D2312}"/>
              </a:ext>
            </a:extLst>
          </p:cNvPr>
          <p:cNvSpPr/>
          <p:nvPr/>
        </p:nvSpPr>
        <p:spPr>
          <a:xfrm>
            <a:off x="8007886" y="202849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B9A5047-E824-A278-1DE7-38BCB5F653E4}"/>
              </a:ext>
            </a:extLst>
          </p:cNvPr>
          <p:cNvSpPr/>
          <p:nvPr/>
        </p:nvSpPr>
        <p:spPr>
          <a:xfrm>
            <a:off x="2835604" y="2013850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その他動線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0BB931D-9C48-0F74-78B7-B39FB7567FB3}"/>
              </a:ext>
            </a:extLst>
          </p:cNvPr>
          <p:cNvGrpSpPr/>
          <p:nvPr/>
        </p:nvGrpSpPr>
        <p:grpSpPr>
          <a:xfrm>
            <a:off x="2497445" y="1791214"/>
            <a:ext cx="885030" cy="827297"/>
            <a:chOff x="2497445" y="1791214"/>
            <a:chExt cx="885030" cy="827297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95316F7A-1FC1-3A66-5456-79F5F6363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7445" y="1791214"/>
              <a:ext cx="420559" cy="556499"/>
            </a:xfrm>
            <a:prstGeom prst="rect">
              <a:avLst/>
            </a:prstGeom>
          </p:spPr>
        </p:pic>
        <p:pic>
          <p:nvPicPr>
            <p:cNvPr id="74" name="図 73" descr="生活・その他】SNSとスマホのかわいいフリーイラスト | フタバのフリーイラスト">
              <a:extLst>
                <a:ext uri="{FF2B5EF4-FFF2-40B4-BE49-F238E27FC236}">
                  <a16:creationId xmlns:a16="http://schemas.microsoft.com/office/drawing/2014/main" id="{425A3C52-3D63-0CC5-2649-471F74876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0493" y="1846529"/>
              <a:ext cx="771982" cy="771982"/>
            </a:xfrm>
            <a:prstGeom prst="rect">
              <a:avLst/>
            </a:prstGeom>
          </p:spPr>
        </p:pic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26D9D0D-8E50-52D9-7E65-8B19393671D2}"/>
              </a:ext>
            </a:extLst>
          </p:cNvPr>
          <p:cNvSpPr txBox="1"/>
          <p:nvPr/>
        </p:nvSpPr>
        <p:spPr>
          <a:xfrm>
            <a:off x="4820619" y="2013850"/>
            <a:ext cx="2466126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友だち追加によるメリット提示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✓限定クーポン　✓限定特典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上でのコミュニケーション誘導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で査定　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で相談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FFD44FF-E632-A42A-AFD2-C978D5EB4382}"/>
              </a:ext>
            </a:extLst>
          </p:cNvPr>
          <p:cNvSpPr txBox="1"/>
          <p:nvPr/>
        </p:nvSpPr>
        <p:spPr>
          <a:xfrm>
            <a:off x="7498219" y="2013850"/>
            <a:ext cx="1852837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でのナーチャリング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✓アンケート回答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で診断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✓おすすめプランの提示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2A92B9D2-AE81-B8F1-2775-9BABDBB2FB72}"/>
              </a:ext>
            </a:extLst>
          </p:cNvPr>
          <p:cNvSpPr txBox="1"/>
          <p:nvPr/>
        </p:nvSpPr>
        <p:spPr>
          <a:xfrm>
            <a:off x="4820619" y="3575596"/>
            <a:ext cx="2466126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◯企画投稿</a:t>
            </a:r>
            <a:r>
              <a:rPr lang="ja-JP" altLang="en-US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（月間投稿数）</a:t>
            </a:r>
            <a:endParaRPr lang="en-US" altLang="ja-JP" sz="1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✓〇〇の季節、〇〇の日にちなんだ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…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。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年齢→ライフイベント、よくある悩み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アンケ回答例→学習コンテンツ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F5D2439-D550-34BB-53D6-091E9B32BF3C}"/>
              </a:ext>
            </a:extLst>
          </p:cNvPr>
          <p:cNvSpPr txBox="1"/>
          <p:nvPr/>
        </p:nvSpPr>
        <p:spPr>
          <a:xfrm>
            <a:off x="7303671" y="3575596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◯ステップ配信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✓友だち追加後◯日で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…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。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（前後検索ニーズを調査）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✓学習が進行する導線設計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(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特典等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興味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共感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信頼</a:t>
            </a:r>
            <a:r>
              <a:rPr lang="en-US" altLang="ja-JP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&gt;</a:t>
            </a:r>
            <a:r>
              <a:rPr lang="ja-JP" altLang="en-US" sz="9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オファー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)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966D387-7E84-4F68-9C81-89F870210C79}"/>
              </a:ext>
            </a:extLst>
          </p:cNvPr>
          <p:cNvSpPr txBox="1"/>
          <p:nvPr/>
        </p:nvSpPr>
        <p:spPr>
          <a:xfrm>
            <a:off x="2772451" y="3575596"/>
            <a:ext cx="1852837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◯あいさつメッセージ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情報収集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配信セグメントに活用</a:t>
            </a:r>
            <a:endParaRPr lang="en-US" altLang="ja-JP" sz="1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◯プロフ・リッチメニュー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CCA9A41-7AF8-A7E5-C05D-3CCE4D53D056}"/>
              </a:ext>
            </a:extLst>
          </p:cNvPr>
          <p:cNvSpPr txBox="1"/>
          <p:nvPr/>
        </p:nvSpPr>
        <p:spPr>
          <a:xfrm>
            <a:off x="7493762" y="5192489"/>
            <a:ext cx="1852837" cy="969496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アフター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)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✓よくある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QA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集の自動化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✓チャット定型文の作成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7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◯友だち紹介斡旋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✓紹介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CP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などに誘導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1666C25-34AB-775A-D360-970178A01029}"/>
              </a:ext>
            </a:extLst>
          </p:cNvPr>
          <p:cNvSpPr txBox="1"/>
          <p:nvPr/>
        </p:nvSpPr>
        <p:spPr>
          <a:xfrm>
            <a:off x="5015076" y="5197869"/>
            <a:ext cx="2038121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◯アクション済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✓応答メッセージ等で満足度↑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◯再購入・クロスセル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✓再購入時期、併売商品を設定</a:t>
            </a:r>
            <a:endParaRPr lang="en-US" altLang="ja-JP" sz="10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E36E01A8-5E8D-6868-5242-258854A6C11E}"/>
              </a:ext>
            </a:extLst>
          </p:cNvPr>
          <p:cNvSpPr txBox="1"/>
          <p:nvPr/>
        </p:nvSpPr>
        <p:spPr>
          <a:xfrm>
            <a:off x="2577903" y="5197869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◯再・簡易アンケート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診断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)</a:t>
            </a: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✓休眠層に対して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サービス軸と異なる診断軸を用意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◯商品訴求を再押し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✓再度サービス訴求を実施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BE6FB710-6D0D-A062-5DC4-E7437CE5BDE1}"/>
              </a:ext>
            </a:extLst>
          </p:cNvPr>
          <p:cNvSpPr/>
          <p:nvPr/>
        </p:nvSpPr>
        <p:spPr>
          <a:xfrm>
            <a:off x="8045609" y="1409403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92FDFDEB-CB5F-8A45-29AB-C10FC6580A7C}"/>
              </a:ext>
            </a:extLst>
          </p:cNvPr>
          <p:cNvSpPr/>
          <p:nvPr/>
        </p:nvSpPr>
        <p:spPr>
          <a:xfrm>
            <a:off x="8919666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218212FE-3645-DB9F-3397-0748130F1AF8}"/>
              </a:ext>
            </a:extLst>
          </p:cNvPr>
          <p:cNvSpPr/>
          <p:nvPr/>
        </p:nvSpPr>
        <p:spPr>
          <a:xfrm>
            <a:off x="7180483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2D0860-25E1-93CE-4600-A1274BD77509}"/>
              </a:ext>
            </a:extLst>
          </p:cNvPr>
          <p:cNvSpPr txBox="1"/>
          <p:nvPr/>
        </p:nvSpPr>
        <p:spPr>
          <a:xfrm>
            <a:off x="7180483" y="1445284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投稿</a:t>
            </a:r>
            <a:endParaRPr lang="ja-JP" altLang="en-US" sz="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7B802C-245D-9C6E-1C33-7190F3073124}"/>
              </a:ext>
            </a:extLst>
          </p:cNvPr>
          <p:cNvSpPr txBox="1"/>
          <p:nvPr/>
        </p:nvSpPr>
        <p:spPr>
          <a:xfrm>
            <a:off x="8050075" y="1452197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ステップ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75BACA-B985-5029-1E70-8D28879E88EC}"/>
              </a:ext>
            </a:extLst>
          </p:cNvPr>
          <p:cNvSpPr txBox="1"/>
          <p:nvPr/>
        </p:nvSpPr>
        <p:spPr>
          <a:xfrm>
            <a:off x="8910735" y="1438122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貴社対応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軽減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439D32-FABC-CA34-F07C-587F509AEF1D}"/>
              </a:ext>
            </a:extLst>
          </p:cNvPr>
          <p:cNvSpPr/>
          <p:nvPr/>
        </p:nvSpPr>
        <p:spPr>
          <a:xfrm>
            <a:off x="7116723" y="1367434"/>
            <a:ext cx="2725750" cy="48325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6880BFB-9CE8-682D-5E73-400E7A9D4984}"/>
              </a:ext>
            </a:extLst>
          </p:cNvPr>
          <p:cNvCxnSpPr>
            <a:cxnSpLocks/>
            <a:stCxn id="74" idx="2"/>
            <a:endCxn id="25" idx="0"/>
          </p:cNvCxnSpPr>
          <p:nvPr/>
        </p:nvCxnSpPr>
        <p:spPr>
          <a:xfrm rot="5400000">
            <a:off x="1884437" y="2550716"/>
            <a:ext cx="1044252" cy="117984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F07FDA7-6FC7-C204-99A4-DB47A6724969}"/>
              </a:ext>
            </a:extLst>
          </p:cNvPr>
          <p:cNvCxnSpPr>
            <a:cxnSpLocks/>
            <a:endCxn id="25" idx="0"/>
          </p:cNvCxnSpPr>
          <p:nvPr/>
        </p:nvCxnSpPr>
        <p:spPr>
          <a:xfrm rot="16200000" flipH="1">
            <a:off x="693395" y="2539516"/>
            <a:ext cx="1138050" cy="1108444"/>
          </a:xfrm>
          <a:prstGeom prst="bentConnector3">
            <a:avLst>
              <a:gd name="adj1" fmla="val 54185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B79B5748-0A9B-B2A8-36EE-9B6743393A50}"/>
              </a:ext>
            </a:extLst>
          </p:cNvPr>
          <p:cNvCxnSpPr>
            <a:stCxn id="25" idx="2"/>
            <a:endCxn id="46" idx="0"/>
          </p:cNvCxnSpPr>
          <p:nvPr/>
        </p:nvCxnSpPr>
        <p:spPr>
          <a:xfrm>
            <a:off x="1816642" y="4001277"/>
            <a:ext cx="0" cy="1304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D1AF94-39A6-ED70-5918-C4DFB093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AA7E1F7-0824-AE94-5B85-AB7CDE6A394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改善モデル①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0FCF3C4-80C9-827F-1385-EBD6AE02077C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施策内容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5064B01-7057-EF97-C2C2-7EA1400AE068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施策を通じて貴社に送ることが出来る個人情報を最大化する。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AB9A59D-5D83-F4A0-8E07-0F2D6665420A}"/>
              </a:ext>
            </a:extLst>
          </p:cNvPr>
          <p:cNvSpPr txBox="1"/>
          <p:nvPr/>
        </p:nvSpPr>
        <p:spPr>
          <a:xfrm>
            <a:off x="334303" y="1425401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接触（認知・流入）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7440BBB-52A3-1900-D18A-8AF25E970934}"/>
              </a:ext>
            </a:extLst>
          </p:cNvPr>
          <p:cNvSpPr txBox="1"/>
          <p:nvPr/>
        </p:nvSpPr>
        <p:spPr>
          <a:xfrm>
            <a:off x="1268358" y="1636063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サイト離脱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（対策）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A50DC53-429F-39BB-C171-6F57EE64F0C2}"/>
              </a:ext>
            </a:extLst>
          </p:cNvPr>
          <p:cNvSpPr txBox="1"/>
          <p:nvPr/>
        </p:nvSpPr>
        <p:spPr>
          <a:xfrm>
            <a:off x="2202413" y="1830173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育成（興味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喚起</a:t>
            </a: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A2FE37DB-7FF9-8AA6-3138-A9AA0818706B}"/>
              </a:ext>
            </a:extLst>
          </p:cNvPr>
          <p:cNvCxnSpPr>
            <a:cxnSpLocks/>
            <a:endCxn id="6" idx="2"/>
          </p:cNvCxnSpPr>
          <p:nvPr/>
        </p:nvCxnSpPr>
        <p:spPr>
          <a:xfrm rot="5400000" flipH="1" flipV="1">
            <a:off x="4284885" y="1729027"/>
            <a:ext cx="218990" cy="3656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0AD3EC5-397C-F2E1-06DA-B35AA3F6DA3B}"/>
              </a:ext>
            </a:extLst>
          </p:cNvPr>
          <p:cNvSpPr txBox="1"/>
          <p:nvPr/>
        </p:nvSpPr>
        <p:spPr>
          <a:xfrm>
            <a:off x="3542139" y="1419317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リード有効化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16BF7B-2A5E-9585-D6BF-4545B58F8CDA}"/>
              </a:ext>
            </a:extLst>
          </p:cNvPr>
          <p:cNvSpPr txBox="1"/>
          <p:nvPr/>
        </p:nvSpPr>
        <p:spPr>
          <a:xfrm>
            <a:off x="6119413" y="1828475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⑦マネタイズ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成約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購入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CF33E8B-8A1D-B1FB-4244-9F0AFB92429B}"/>
              </a:ext>
            </a:extLst>
          </p:cNvPr>
          <p:cNvSpPr txBox="1"/>
          <p:nvPr/>
        </p:nvSpPr>
        <p:spPr>
          <a:xfrm>
            <a:off x="4830776" y="1623896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有効リードの再育成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6C11C4-F5B8-BBD3-EE11-4BBAC85EFEF6}"/>
              </a:ext>
            </a:extLst>
          </p:cNvPr>
          <p:cNvSpPr txBox="1"/>
          <p:nvPr/>
        </p:nvSpPr>
        <p:spPr>
          <a:xfrm>
            <a:off x="7408050" y="2033054"/>
            <a:ext cx="2352196" cy="4001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LTV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最大化・紹介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900F58B-9BD8-36E8-2837-7D435FEE306F}"/>
              </a:ext>
            </a:extLst>
          </p:cNvPr>
          <p:cNvSpPr/>
          <p:nvPr/>
        </p:nvSpPr>
        <p:spPr>
          <a:xfrm>
            <a:off x="175475" y="2510144"/>
            <a:ext cx="4721072" cy="391781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4AA99B3-016F-5352-F0F9-97BF2EF9495B}"/>
              </a:ext>
            </a:extLst>
          </p:cNvPr>
          <p:cNvSpPr/>
          <p:nvPr/>
        </p:nvSpPr>
        <p:spPr>
          <a:xfrm>
            <a:off x="4994298" y="2510143"/>
            <a:ext cx="4721072" cy="391781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045185E-6C2C-A6FD-00A8-0A9C05295D96}"/>
              </a:ext>
            </a:extLst>
          </p:cNvPr>
          <p:cNvSpPr/>
          <p:nvPr/>
        </p:nvSpPr>
        <p:spPr>
          <a:xfrm>
            <a:off x="8382000" y="898654"/>
            <a:ext cx="1223554" cy="2600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成果報酬：可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DFACFC7-1B18-419B-64DD-5EB407E04E3D}"/>
              </a:ext>
            </a:extLst>
          </p:cNvPr>
          <p:cNvSpPr/>
          <p:nvPr/>
        </p:nvSpPr>
        <p:spPr>
          <a:xfrm>
            <a:off x="196606" y="1304119"/>
            <a:ext cx="9709394" cy="1206024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808170B-2E7D-DA91-C855-5B0F96687E57}"/>
              </a:ext>
            </a:extLst>
          </p:cNvPr>
          <p:cNvSpPr txBox="1"/>
          <p:nvPr/>
        </p:nvSpPr>
        <p:spPr>
          <a:xfrm>
            <a:off x="3136468" y="2021330"/>
            <a:ext cx="1868111" cy="348203"/>
          </a:xfrm>
          <a:prstGeom prst="rect">
            <a:avLst/>
          </a:prstGeom>
          <a:solidFill>
            <a:srgbClr val="2080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④リード獲得 </a:t>
            </a:r>
            <a:r>
              <a:rPr lang="en-US" altLang="ja-JP" sz="9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(web/LINE)</a:t>
            </a:r>
            <a:endParaRPr lang="ja-JP" altLang="ja-JP" sz="105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0D93F268-2976-E24C-FFDF-A52C518BD95E}"/>
              </a:ext>
            </a:extLst>
          </p:cNvPr>
          <p:cNvSpPr/>
          <p:nvPr/>
        </p:nvSpPr>
        <p:spPr>
          <a:xfrm>
            <a:off x="272142" y="2590761"/>
            <a:ext cx="4541216" cy="26009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広告・集客の成果地点として</a:t>
            </a:r>
            <a:r>
              <a:rPr kumimoji="1"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を追加する</a:t>
            </a: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EFE9DDC0-6FAF-EE1E-D2F6-1599D9760DFE}"/>
              </a:ext>
            </a:extLst>
          </p:cNvPr>
          <p:cNvSpPr/>
          <p:nvPr/>
        </p:nvSpPr>
        <p:spPr>
          <a:xfrm>
            <a:off x="5084226" y="2584677"/>
            <a:ext cx="4541216" cy="26009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の特典・メリットを適切なタイミングで提示し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</a:t>
            </a:r>
          </a:p>
        </p:txBody>
      </p:sp>
      <p:sp>
        <p:nvSpPr>
          <p:cNvPr id="265" name="Shape 59">
            <a:extLst>
              <a:ext uri="{FF2B5EF4-FFF2-40B4-BE49-F238E27FC236}">
                <a16:creationId xmlns:a16="http://schemas.microsoft.com/office/drawing/2014/main" id="{2B92E1A5-40B4-D866-C1EB-8ACEB8EE470D}"/>
              </a:ext>
            </a:extLst>
          </p:cNvPr>
          <p:cNvSpPr/>
          <p:nvPr/>
        </p:nvSpPr>
        <p:spPr>
          <a:xfrm>
            <a:off x="265419" y="4842285"/>
            <a:ext cx="4541216" cy="1600804"/>
          </a:xfrm>
          <a:prstGeom prst="roundRect">
            <a:avLst>
              <a:gd name="adj" fmla="val 5263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7" name="Shape 63">
            <a:extLst>
              <a:ext uri="{FF2B5EF4-FFF2-40B4-BE49-F238E27FC236}">
                <a16:creationId xmlns:a16="http://schemas.microsoft.com/office/drawing/2014/main" id="{986279D3-31B7-AFE5-0997-A2CDC716E6CD}"/>
              </a:ext>
            </a:extLst>
          </p:cNvPr>
          <p:cNvSpPr/>
          <p:nvPr/>
        </p:nvSpPr>
        <p:spPr>
          <a:xfrm>
            <a:off x="686043" y="4952013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9" name="Text 64">
            <a:extLst>
              <a:ext uri="{FF2B5EF4-FFF2-40B4-BE49-F238E27FC236}">
                <a16:creationId xmlns:a16="http://schemas.microsoft.com/office/drawing/2014/main" id="{314E4055-2D3D-DC19-BD60-79D095DBA6D9}"/>
              </a:ext>
            </a:extLst>
          </p:cNvPr>
          <p:cNvSpPr/>
          <p:nvPr/>
        </p:nvSpPr>
        <p:spPr>
          <a:xfrm>
            <a:off x="686043" y="4952013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LINE広告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1" name="Text 65">
            <a:extLst>
              <a:ext uri="{FF2B5EF4-FFF2-40B4-BE49-F238E27FC236}">
                <a16:creationId xmlns:a16="http://schemas.microsoft.com/office/drawing/2014/main" id="{2259F17B-A9B0-7F43-8907-87383FCBF6CE}"/>
              </a:ext>
            </a:extLst>
          </p:cNvPr>
          <p:cNvSpPr/>
          <p:nvPr/>
        </p:nvSpPr>
        <p:spPr>
          <a:xfrm>
            <a:off x="1545579" y="4924581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LINE広告（CPF）完結型 × LINE内チャットボット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3" name="Text 66">
            <a:extLst>
              <a:ext uri="{FF2B5EF4-FFF2-40B4-BE49-F238E27FC236}">
                <a16:creationId xmlns:a16="http://schemas.microsoft.com/office/drawing/2014/main" id="{98D6C858-0A51-D469-C857-32114CFA96FE}"/>
              </a:ext>
            </a:extLst>
          </p:cNvPr>
          <p:cNvSpPr/>
          <p:nvPr/>
        </p:nvSpPr>
        <p:spPr>
          <a:xfrm>
            <a:off x="356859" y="5226333"/>
            <a:ext cx="44497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広告の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を利用して、興味関心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×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商圏でのリード保有数を最大化。</a:t>
            </a:r>
            <a:endParaRPr kumimoji="0" lang="en-US" altLang="ja-JP" sz="850" b="0" i="0" u="none" strike="noStrike" kern="0" cap="none" spc="0" normalizeH="0" baseline="0" noProof="0" dirty="0">
              <a:ln>
                <a:noFill/>
              </a:ln>
              <a:solidFill>
                <a:srgbClr val="4A4A6A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Calibri" pitchFamily="34" charset="-120"/>
            </a:endParaRPr>
          </a:p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LINE完結で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、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WEBに遷移させないため離脱ゼロ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でのステップ配信・有効リードの育成へ。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5" name="Shape 68">
            <a:extLst>
              <a:ext uri="{FF2B5EF4-FFF2-40B4-BE49-F238E27FC236}">
                <a16:creationId xmlns:a16="http://schemas.microsoft.com/office/drawing/2014/main" id="{CFA7D9BB-A1E1-31FD-946A-B75B944AADA7}"/>
              </a:ext>
            </a:extLst>
          </p:cNvPr>
          <p:cNvSpPr/>
          <p:nvPr/>
        </p:nvSpPr>
        <p:spPr>
          <a:xfrm>
            <a:off x="430011" y="6011955"/>
            <a:ext cx="420624" cy="219456"/>
          </a:xfrm>
          <a:prstGeom prst="roundRect">
            <a:avLst>
              <a:gd name="adj" fmla="val 16667"/>
            </a:avLst>
          </a:prstGeom>
          <a:solidFill>
            <a:srgbClr val="E6A020"/>
          </a:solidFill>
          <a:ln w="12700">
            <a:solidFill>
              <a:srgbClr val="E6A02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7" name="Text 69">
            <a:extLst>
              <a:ext uri="{FF2B5EF4-FFF2-40B4-BE49-F238E27FC236}">
                <a16:creationId xmlns:a16="http://schemas.microsoft.com/office/drawing/2014/main" id="{94B27B5E-13D7-A4CA-7352-4BBEA8C99224}"/>
              </a:ext>
            </a:extLst>
          </p:cNvPr>
          <p:cNvSpPr/>
          <p:nvPr/>
        </p:nvSpPr>
        <p:spPr>
          <a:xfrm>
            <a:off x="430011" y="6011955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現場注意</a:t>
            </a:r>
            <a:endParaRPr kumimoji="0" lang="en-US" sz="7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9" name="Text 70">
            <a:extLst>
              <a:ext uri="{FF2B5EF4-FFF2-40B4-BE49-F238E27FC236}">
                <a16:creationId xmlns:a16="http://schemas.microsoft.com/office/drawing/2014/main" id="{02B4B046-1456-2549-8D2A-03FE8B9434D4}"/>
              </a:ext>
            </a:extLst>
          </p:cNvPr>
          <p:cNvSpPr/>
          <p:nvPr/>
        </p:nvSpPr>
        <p:spPr>
          <a:xfrm>
            <a:off x="363197" y="5687343"/>
            <a:ext cx="405359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 err="1">
                <a:ln>
                  <a:noFill/>
                </a:ln>
                <a:solidFill>
                  <a:srgbClr val="B84B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CPFの強みを活かすならLINE内完結設計が正解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B84B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1" name="Shape 71">
            <a:extLst>
              <a:ext uri="{FF2B5EF4-FFF2-40B4-BE49-F238E27FC236}">
                <a16:creationId xmlns:a16="http://schemas.microsoft.com/office/drawing/2014/main" id="{69A5DB50-D061-75F2-9683-580DA89DA5BD}"/>
              </a:ext>
            </a:extLst>
          </p:cNvPr>
          <p:cNvSpPr/>
          <p:nvPr/>
        </p:nvSpPr>
        <p:spPr>
          <a:xfrm>
            <a:off x="356859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3" name="Shape 72">
            <a:extLst>
              <a:ext uri="{FF2B5EF4-FFF2-40B4-BE49-F238E27FC236}">
                <a16:creationId xmlns:a16="http://schemas.microsoft.com/office/drawing/2014/main" id="{1E18DB25-A307-005D-2220-B5D1CB74EDBF}"/>
              </a:ext>
            </a:extLst>
          </p:cNvPr>
          <p:cNvSpPr/>
          <p:nvPr/>
        </p:nvSpPr>
        <p:spPr>
          <a:xfrm>
            <a:off x="411723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5" name="Text 73">
            <a:extLst>
              <a:ext uri="{FF2B5EF4-FFF2-40B4-BE49-F238E27FC236}">
                <a16:creationId xmlns:a16="http://schemas.microsoft.com/office/drawing/2014/main" id="{453E45E2-53B3-3123-A567-3CDA891BBEEF}"/>
              </a:ext>
            </a:extLst>
          </p:cNvPr>
          <p:cNvSpPr/>
          <p:nvPr/>
        </p:nvSpPr>
        <p:spPr>
          <a:xfrm>
            <a:off x="411723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7" name="Text 74">
            <a:extLst>
              <a:ext uri="{FF2B5EF4-FFF2-40B4-BE49-F238E27FC236}">
                <a16:creationId xmlns:a16="http://schemas.microsoft.com/office/drawing/2014/main" id="{35068314-9221-6665-F236-3F5B1A8773D8}"/>
              </a:ext>
            </a:extLst>
          </p:cNvPr>
          <p:cNvSpPr/>
          <p:nvPr/>
        </p:nvSpPr>
        <p:spPr>
          <a:xfrm>
            <a:off x="631179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CPF広告タップ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9" name="Text 75">
            <a:extLst>
              <a:ext uri="{FF2B5EF4-FFF2-40B4-BE49-F238E27FC236}">
                <a16:creationId xmlns:a16="http://schemas.microsoft.com/office/drawing/2014/main" id="{9E831384-FBA1-9ABC-D5C4-E9D07BF92DC1}"/>
              </a:ext>
            </a:extLst>
          </p:cNvPr>
          <p:cNvSpPr/>
          <p:nvPr/>
        </p:nvSpPr>
        <p:spPr>
          <a:xfrm>
            <a:off x="411723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即・友だち追加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1" name="Text 76">
            <a:extLst>
              <a:ext uri="{FF2B5EF4-FFF2-40B4-BE49-F238E27FC236}">
                <a16:creationId xmlns:a16="http://schemas.microsoft.com/office/drawing/2014/main" id="{B609F64E-3A86-7ABF-C056-68CBD7347946}"/>
              </a:ext>
            </a:extLst>
          </p:cNvPr>
          <p:cNvSpPr/>
          <p:nvPr/>
        </p:nvSpPr>
        <p:spPr>
          <a:xfrm>
            <a:off x="1637019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3" name="Shape 77">
            <a:extLst>
              <a:ext uri="{FF2B5EF4-FFF2-40B4-BE49-F238E27FC236}">
                <a16:creationId xmlns:a16="http://schemas.microsoft.com/office/drawing/2014/main" id="{A42E7FC8-693A-903C-101F-881077D3912E}"/>
              </a:ext>
            </a:extLst>
          </p:cNvPr>
          <p:cNvSpPr/>
          <p:nvPr/>
        </p:nvSpPr>
        <p:spPr>
          <a:xfrm>
            <a:off x="1765035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5" name="Shape 78">
            <a:extLst>
              <a:ext uri="{FF2B5EF4-FFF2-40B4-BE49-F238E27FC236}">
                <a16:creationId xmlns:a16="http://schemas.microsoft.com/office/drawing/2014/main" id="{5D77DB8F-3255-B8FA-09A1-BA76AB1E30EC}"/>
              </a:ext>
            </a:extLst>
          </p:cNvPr>
          <p:cNvSpPr/>
          <p:nvPr/>
        </p:nvSpPr>
        <p:spPr>
          <a:xfrm>
            <a:off x="1819899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7" name="Text 79">
            <a:extLst>
              <a:ext uri="{FF2B5EF4-FFF2-40B4-BE49-F238E27FC236}">
                <a16:creationId xmlns:a16="http://schemas.microsoft.com/office/drawing/2014/main" id="{AE657B72-3339-BAE3-9DA8-C9C378371C9D}"/>
              </a:ext>
            </a:extLst>
          </p:cNvPr>
          <p:cNvSpPr/>
          <p:nvPr/>
        </p:nvSpPr>
        <p:spPr>
          <a:xfrm>
            <a:off x="1819899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9" name="Text 80">
            <a:extLst>
              <a:ext uri="{FF2B5EF4-FFF2-40B4-BE49-F238E27FC236}">
                <a16:creationId xmlns:a16="http://schemas.microsoft.com/office/drawing/2014/main" id="{582D1F5A-1093-8B0B-EC93-6F3E17DF1674}"/>
              </a:ext>
            </a:extLst>
          </p:cNvPr>
          <p:cNvSpPr/>
          <p:nvPr/>
        </p:nvSpPr>
        <p:spPr>
          <a:xfrm>
            <a:off x="2041211" y="5957091"/>
            <a:ext cx="9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応答、ステップ起動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1" name="Text 81">
            <a:extLst>
              <a:ext uri="{FF2B5EF4-FFF2-40B4-BE49-F238E27FC236}">
                <a16:creationId xmlns:a16="http://schemas.microsoft.com/office/drawing/2014/main" id="{267A8E72-34E2-AC1E-E783-02748F2A3058}"/>
              </a:ext>
            </a:extLst>
          </p:cNvPr>
          <p:cNvSpPr/>
          <p:nvPr/>
        </p:nvSpPr>
        <p:spPr>
          <a:xfrm>
            <a:off x="1819899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ステップ配信が</a:t>
            </a:r>
            <a:r>
              <a:rPr kumimoji="0" lang="en-US" sz="7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起動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3" name="Text 82">
            <a:extLst>
              <a:ext uri="{FF2B5EF4-FFF2-40B4-BE49-F238E27FC236}">
                <a16:creationId xmlns:a16="http://schemas.microsoft.com/office/drawing/2014/main" id="{9B65E420-0374-979E-BAA2-48722980545C}"/>
              </a:ext>
            </a:extLst>
          </p:cNvPr>
          <p:cNvSpPr/>
          <p:nvPr/>
        </p:nvSpPr>
        <p:spPr>
          <a:xfrm>
            <a:off x="3045195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5" name="Shape 83">
            <a:extLst>
              <a:ext uri="{FF2B5EF4-FFF2-40B4-BE49-F238E27FC236}">
                <a16:creationId xmlns:a16="http://schemas.microsoft.com/office/drawing/2014/main" id="{7C0C6D93-01E9-C895-1E2E-400951DA4B8E}"/>
              </a:ext>
            </a:extLst>
          </p:cNvPr>
          <p:cNvSpPr/>
          <p:nvPr/>
        </p:nvSpPr>
        <p:spPr>
          <a:xfrm>
            <a:off x="3173211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7" name="Shape 84">
            <a:extLst>
              <a:ext uri="{FF2B5EF4-FFF2-40B4-BE49-F238E27FC236}">
                <a16:creationId xmlns:a16="http://schemas.microsoft.com/office/drawing/2014/main" id="{6B131D82-5FD9-9308-3AF2-032B378170E3}"/>
              </a:ext>
            </a:extLst>
          </p:cNvPr>
          <p:cNvSpPr/>
          <p:nvPr/>
        </p:nvSpPr>
        <p:spPr>
          <a:xfrm>
            <a:off x="3228075" y="5975379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9" name="Text 85">
            <a:extLst>
              <a:ext uri="{FF2B5EF4-FFF2-40B4-BE49-F238E27FC236}">
                <a16:creationId xmlns:a16="http://schemas.microsoft.com/office/drawing/2014/main" id="{A04EEFDD-332F-12BD-7677-D9DE3938B356}"/>
              </a:ext>
            </a:extLst>
          </p:cNvPr>
          <p:cNvSpPr/>
          <p:nvPr/>
        </p:nvSpPr>
        <p:spPr>
          <a:xfrm>
            <a:off x="3228075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1" name="Text 86">
            <a:extLst>
              <a:ext uri="{FF2B5EF4-FFF2-40B4-BE49-F238E27FC236}">
                <a16:creationId xmlns:a16="http://schemas.microsoft.com/office/drawing/2014/main" id="{32928D0D-3150-AD73-9242-387FEEFEB4E7}"/>
              </a:ext>
            </a:extLst>
          </p:cNvPr>
          <p:cNvSpPr/>
          <p:nvPr/>
        </p:nvSpPr>
        <p:spPr>
          <a:xfrm>
            <a:off x="3447531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リードデータ取得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3" name="Text 87">
            <a:extLst>
              <a:ext uri="{FF2B5EF4-FFF2-40B4-BE49-F238E27FC236}">
                <a16:creationId xmlns:a16="http://schemas.microsoft.com/office/drawing/2014/main" id="{155A8DAC-6178-45E5-B78E-ED5968433C87}"/>
              </a:ext>
            </a:extLst>
          </p:cNvPr>
          <p:cNvSpPr/>
          <p:nvPr/>
        </p:nvSpPr>
        <p:spPr>
          <a:xfrm>
            <a:off x="3228075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LINE内で完結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5" name="Shape 88">
            <a:extLst>
              <a:ext uri="{FF2B5EF4-FFF2-40B4-BE49-F238E27FC236}">
                <a16:creationId xmlns:a16="http://schemas.microsoft.com/office/drawing/2014/main" id="{65FD4E02-C70C-2DC3-6107-3854D0C99B17}"/>
              </a:ext>
            </a:extLst>
          </p:cNvPr>
          <p:cNvSpPr/>
          <p:nvPr/>
        </p:nvSpPr>
        <p:spPr>
          <a:xfrm>
            <a:off x="5099366" y="2999769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9" name="Shape 113">
            <a:extLst>
              <a:ext uri="{FF2B5EF4-FFF2-40B4-BE49-F238E27FC236}">
                <a16:creationId xmlns:a16="http://schemas.microsoft.com/office/drawing/2014/main" id="{11234610-A1AC-AA19-B005-775FD3F8A3B3}"/>
              </a:ext>
            </a:extLst>
          </p:cNvPr>
          <p:cNvSpPr/>
          <p:nvPr/>
        </p:nvSpPr>
        <p:spPr>
          <a:xfrm>
            <a:off x="5099366" y="4842285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1" name="Shape 117">
            <a:extLst>
              <a:ext uri="{FF2B5EF4-FFF2-40B4-BE49-F238E27FC236}">
                <a16:creationId xmlns:a16="http://schemas.microsoft.com/office/drawing/2014/main" id="{53B1A122-71EF-1F9B-0702-A1A1393823D4}"/>
              </a:ext>
            </a:extLst>
          </p:cNvPr>
          <p:cNvSpPr/>
          <p:nvPr/>
        </p:nvSpPr>
        <p:spPr>
          <a:xfrm>
            <a:off x="5519991" y="4952013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3" name="Text 118">
            <a:extLst>
              <a:ext uri="{FF2B5EF4-FFF2-40B4-BE49-F238E27FC236}">
                <a16:creationId xmlns:a16="http://schemas.microsoft.com/office/drawing/2014/main" id="{841897D7-C412-EE47-0B0D-746DD32E330E}"/>
              </a:ext>
            </a:extLst>
          </p:cNvPr>
          <p:cNvSpPr/>
          <p:nvPr/>
        </p:nvSpPr>
        <p:spPr>
          <a:xfrm>
            <a:off x="5519991" y="4952013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KW自動応答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5" name="Text 119">
            <a:extLst>
              <a:ext uri="{FF2B5EF4-FFF2-40B4-BE49-F238E27FC236}">
                <a16:creationId xmlns:a16="http://schemas.microsoft.com/office/drawing/2014/main" id="{EBE6ADAD-9C3A-4E30-E6A7-BF0CDE4B5719}"/>
              </a:ext>
            </a:extLst>
          </p:cNvPr>
          <p:cNvSpPr/>
          <p:nvPr/>
        </p:nvSpPr>
        <p:spPr>
          <a:xfrm>
            <a:off x="6379527" y="4924581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短期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）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KW自動応答でFAQ即解消→</a:t>
            </a:r>
            <a:r>
              <a:rPr kumimoji="0" lang="en-US" altLang="ja-JP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へ誘導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7" name="Text 120">
            <a:extLst>
              <a:ext uri="{FF2B5EF4-FFF2-40B4-BE49-F238E27FC236}">
                <a16:creationId xmlns:a16="http://schemas.microsoft.com/office/drawing/2014/main" id="{9BC9F586-F4C8-69D1-0AB3-84BC5D46528A}"/>
              </a:ext>
            </a:extLst>
          </p:cNvPr>
          <p:cNvSpPr/>
          <p:nvPr/>
        </p:nvSpPr>
        <p:spPr>
          <a:xfrm>
            <a:off x="5190807" y="5226333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ステップ配信と並行して、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にて代表的な</a:t>
            </a:r>
            <a:r>
              <a:rPr kumimoji="0" lang="en-US" altLang="ja-JP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に自動返答＋CV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動線へ誘導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</a:p>
          <a:p>
            <a:pPr marL="0" marR="0" lvl="0" indent="0" defTabSz="91440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24時間対応で「試しに聞いてみた」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層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をそのまま申込フォームへ転換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9" name="Shape 121">
            <a:extLst>
              <a:ext uri="{FF2B5EF4-FFF2-40B4-BE49-F238E27FC236}">
                <a16:creationId xmlns:a16="http://schemas.microsoft.com/office/drawing/2014/main" id="{879C697E-7DA8-CA7E-D00D-C9CADF55302E}"/>
              </a:ext>
            </a:extLst>
          </p:cNvPr>
          <p:cNvSpPr/>
          <p:nvPr/>
        </p:nvSpPr>
        <p:spPr>
          <a:xfrm>
            <a:off x="5190807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1" name="Shape 122">
            <a:extLst>
              <a:ext uri="{FF2B5EF4-FFF2-40B4-BE49-F238E27FC236}">
                <a16:creationId xmlns:a16="http://schemas.microsoft.com/office/drawing/2014/main" id="{E0FE3AAB-EEAF-8F74-4288-38540089361D}"/>
              </a:ext>
            </a:extLst>
          </p:cNvPr>
          <p:cNvSpPr/>
          <p:nvPr/>
        </p:nvSpPr>
        <p:spPr>
          <a:xfrm>
            <a:off x="5245671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3" name="Text 123">
            <a:extLst>
              <a:ext uri="{FF2B5EF4-FFF2-40B4-BE49-F238E27FC236}">
                <a16:creationId xmlns:a16="http://schemas.microsoft.com/office/drawing/2014/main" id="{31A73E53-E872-D735-0EE5-02CFC5ED076F}"/>
              </a:ext>
            </a:extLst>
          </p:cNvPr>
          <p:cNvSpPr/>
          <p:nvPr/>
        </p:nvSpPr>
        <p:spPr>
          <a:xfrm>
            <a:off x="5245671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5" name="Text 124">
            <a:extLst>
              <a:ext uri="{FF2B5EF4-FFF2-40B4-BE49-F238E27FC236}">
                <a16:creationId xmlns:a16="http://schemas.microsoft.com/office/drawing/2014/main" id="{014A61FB-ACC2-FA78-238A-10F112F08313}"/>
              </a:ext>
            </a:extLst>
          </p:cNvPr>
          <p:cNvSpPr/>
          <p:nvPr/>
        </p:nvSpPr>
        <p:spPr>
          <a:xfrm>
            <a:off x="5447079" y="5957091"/>
            <a:ext cx="1020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ステップ配信・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QA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7" name="Text 125">
            <a:extLst>
              <a:ext uri="{FF2B5EF4-FFF2-40B4-BE49-F238E27FC236}">
                <a16:creationId xmlns:a16="http://schemas.microsoft.com/office/drawing/2014/main" id="{61B557F9-9683-D913-1D65-DD25D26B2695}"/>
              </a:ext>
            </a:extLst>
          </p:cNvPr>
          <p:cNvSpPr/>
          <p:nvPr/>
        </p:nvSpPr>
        <p:spPr>
          <a:xfrm>
            <a:off x="5245671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追加～</a:t>
            </a: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日で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9" name="Text 126">
            <a:extLst>
              <a:ext uri="{FF2B5EF4-FFF2-40B4-BE49-F238E27FC236}">
                <a16:creationId xmlns:a16="http://schemas.microsoft.com/office/drawing/2014/main" id="{F117171D-C47B-261C-85AC-F680EF28CB19}"/>
              </a:ext>
            </a:extLst>
          </p:cNvPr>
          <p:cNvSpPr/>
          <p:nvPr/>
        </p:nvSpPr>
        <p:spPr>
          <a:xfrm>
            <a:off x="6470967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1" name="Shape 127">
            <a:extLst>
              <a:ext uri="{FF2B5EF4-FFF2-40B4-BE49-F238E27FC236}">
                <a16:creationId xmlns:a16="http://schemas.microsoft.com/office/drawing/2014/main" id="{4BEE9167-F8E5-7442-64A8-E9F7D39F09D7}"/>
              </a:ext>
            </a:extLst>
          </p:cNvPr>
          <p:cNvSpPr/>
          <p:nvPr/>
        </p:nvSpPr>
        <p:spPr>
          <a:xfrm>
            <a:off x="6598983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3" name="Shape 128">
            <a:extLst>
              <a:ext uri="{FF2B5EF4-FFF2-40B4-BE49-F238E27FC236}">
                <a16:creationId xmlns:a16="http://schemas.microsoft.com/office/drawing/2014/main" id="{9C2642A1-2BDB-C49F-7691-85BD71CF126B}"/>
              </a:ext>
            </a:extLst>
          </p:cNvPr>
          <p:cNvSpPr/>
          <p:nvPr/>
        </p:nvSpPr>
        <p:spPr>
          <a:xfrm>
            <a:off x="6653847" y="5975379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5" name="Text 129">
            <a:extLst>
              <a:ext uri="{FF2B5EF4-FFF2-40B4-BE49-F238E27FC236}">
                <a16:creationId xmlns:a16="http://schemas.microsoft.com/office/drawing/2014/main" id="{B9E7F4F1-E140-0A15-9900-349580A383C4}"/>
              </a:ext>
            </a:extLst>
          </p:cNvPr>
          <p:cNvSpPr/>
          <p:nvPr/>
        </p:nvSpPr>
        <p:spPr>
          <a:xfrm>
            <a:off x="6653847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7" name="Text 130">
            <a:extLst>
              <a:ext uri="{FF2B5EF4-FFF2-40B4-BE49-F238E27FC236}">
                <a16:creationId xmlns:a16="http://schemas.microsoft.com/office/drawing/2014/main" id="{538141D0-5353-E1AE-4CCC-4B7FBADE0E74}"/>
              </a:ext>
            </a:extLst>
          </p:cNvPr>
          <p:cNvSpPr/>
          <p:nvPr/>
        </p:nvSpPr>
        <p:spPr>
          <a:xfrm>
            <a:off x="6873303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自動即返答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9" name="Text 131">
            <a:extLst>
              <a:ext uri="{FF2B5EF4-FFF2-40B4-BE49-F238E27FC236}">
                <a16:creationId xmlns:a16="http://schemas.microsoft.com/office/drawing/2014/main" id="{507C3FBA-63F5-86D8-66C6-6318F2F8EDA2}"/>
              </a:ext>
            </a:extLst>
          </p:cNvPr>
          <p:cNvSpPr/>
          <p:nvPr/>
        </p:nvSpPr>
        <p:spPr>
          <a:xfrm>
            <a:off x="6653847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FAQ解消＋LP URL送付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1" name="Text 132">
            <a:extLst>
              <a:ext uri="{FF2B5EF4-FFF2-40B4-BE49-F238E27FC236}">
                <a16:creationId xmlns:a16="http://schemas.microsoft.com/office/drawing/2014/main" id="{6C6ED810-1D06-F9BD-D3C9-03D6BF6C14DA}"/>
              </a:ext>
            </a:extLst>
          </p:cNvPr>
          <p:cNvSpPr/>
          <p:nvPr/>
        </p:nvSpPr>
        <p:spPr>
          <a:xfrm>
            <a:off x="7879143" y="607596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3" name="Shape 133">
            <a:extLst>
              <a:ext uri="{FF2B5EF4-FFF2-40B4-BE49-F238E27FC236}">
                <a16:creationId xmlns:a16="http://schemas.microsoft.com/office/drawing/2014/main" id="{032FF15A-215D-CE84-EF89-D93E09191819}"/>
              </a:ext>
            </a:extLst>
          </p:cNvPr>
          <p:cNvSpPr/>
          <p:nvPr/>
        </p:nvSpPr>
        <p:spPr>
          <a:xfrm>
            <a:off x="8007159" y="5920515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5" name="Shape 134">
            <a:extLst>
              <a:ext uri="{FF2B5EF4-FFF2-40B4-BE49-F238E27FC236}">
                <a16:creationId xmlns:a16="http://schemas.microsoft.com/office/drawing/2014/main" id="{4111E6D0-ABE0-6AC4-2D12-6FEF3F3EFA73}"/>
              </a:ext>
            </a:extLst>
          </p:cNvPr>
          <p:cNvSpPr/>
          <p:nvPr/>
        </p:nvSpPr>
        <p:spPr>
          <a:xfrm>
            <a:off x="8062023" y="5975379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7" name="Text 135">
            <a:extLst>
              <a:ext uri="{FF2B5EF4-FFF2-40B4-BE49-F238E27FC236}">
                <a16:creationId xmlns:a16="http://schemas.microsoft.com/office/drawing/2014/main" id="{CF3AE303-2971-F53C-A610-F98F99E31897}"/>
              </a:ext>
            </a:extLst>
          </p:cNvPr>
          <p:cNvSpPr/>
          <p:nvPr/>
        </p:nvSpPr>
        <p:spPr>
          <a:xfrm>
            <a:off x="8062023" y="59753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9" name="Text 136">
            <a:extLst>
              <a:ext uri="{FF2B5EF4-FFF2-40B4-BE49-F238E27FC236}">
                <a16:creationId xmlns:a16="http://schemas.microsoft.com/office/drawing/2014/main" id="{F73C430F-E961-93C3-213B-0963BAC20CD3}"/>
              </a:ext>
            </a:extLst>
          </p:cNvPr>
          <p:cNvSpPr/>
          <p:nvPr/>
        </p:nvSpPr>
        <p:spPr>
          <a:xfrm>
            <a:off x="8281479" y="595709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申込フォームCV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1" name="Text 137">
            <a:extLst>
              <a:ext uri="{FF2B5EF4-FFF2-40B4-BE49-F238E27FC236}">
                <a16:creationId xmlns:a16="http://schemas.microsoft.com/office/drawing/2014/main" id="{88FD7181-FD44-C0BF-B9A5-5C5C104EC047}"/>
              </a:ext>
            </a:extLst>
          </p:cNvPr>
          <p:cNvSpPr/>
          <p:nvPr/>
        </p:nvSpPr>
        <p:spPr>
          <a:xfrm>
            <a:off x="8062023" y="6167403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24時間・スタッフ不要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3" name="Shape 36">
            <a:extLst>
              <a:ext uri="{FF2B5EF4-FFF2-40B4-BE49-F238E27FC236}">
                <a16:creationId xmlns:a16="http://schemas.microsoft.com/office/drawing/2014/main" id="{D62EC5F5-FA90-2741-4644-800F1639B9D6}"/>
              </a:ext>
            </a:extLst>
          </p:cNvPr>
          <p:cNvSpPr/>
          <p:nvPr/>
        </p:nvSpPr>
        <p:spPr>
          <a:xfrm>
            <a:off x="356859" y="4908735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7" name="Shape 36">
            <a:extLst>
              <a:ext uri="{FF2B5EF4-FFF2-40B4-BE49-F238E27FC236}">
                <a16:creationId xmlns:a16="http://schemas.microsoft.com/office/drawing/2014/main" id="{3ABA6325-0C4D-ADBB-5C93-9AB0A04C8F15}"/>
              </a:ext>
            </a:extLst>
          </p:cNvPr>
          <p:cNvSpPr/>
          <p:nvPr/>
        </p:nvSpPr>
        <p:spPr>
          <a:xfrm>
            <a:off x="5208259" y="4908735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3" name="Shape 36">
            <a:extLst>
              <a:ext uri="{FF2B5EF4-FFF2-40B4-BE49-F238E27FC236}">
                <a16:creationId xmlns:a16="http://schemas.microsoft.com/office/drawing/2014/main" id="{0BB2AEB8-7FA8-EBC7-04FD-AD5A5B8538F8}"/>
              </a:ext>
            </a:extLst>
          </p:cNvPr>
          <p:cNvSpPr/>
          <p:nvPr/>
        </p:nvSpPr>
        <p:spPr>
          <a:xfrm>
            <a:off x="5207551" y="3082504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5" name="Shape 38">
            <a:extLst>
              <a:ext uri="{FF2B5EF4-FFF2-40B4-BE49-F238E27FC236}">
                <a16:creationId xmlns:a16="http://schemas.microsoft.com/office/drawing/2014/main" id="{3976CA87-D608-B478-0B7F-76C239579767}"/>
              </a:ext>
            </a:extLst>
          </p:cNvPr>
          <p:cNvSpPr/>
          <p:nvPr/>
        </p:nvSpPr>
        <p:spPr>
          <a:xfrm>
            <a:off x="5536735" y="3100792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7" name="Text 39">
            <a:extLst>
              <a:ext uri="{FF2B5EF4-FFF2-40B4-BE49-F238E27FC236}">
                <a16:creationId xmlns:a16="http://schemas.microsoft.com/office/drawing/2014/main" id="{00B73596-25FE-7BEA-B356-6BA40FA3B1A1}"/>
              </a:ext>
            </a:extLst>
          </p:cNvPr>
          <p:cNvSpPr/>
          <p:nvPr/>
        </p:nvSpPr>
        <p:spPr>
          <a:xfrm>
            <a:off x="5536735" y="31007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1" kern="0" dirty="0">
                <a:solidFill>
                  <a:srgbClr val="1565C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低ハードル</a:t>
            </a:r>
            <a:r>
              <a:rPr kumimoji="0" lang="en-US" altLang="ja-JP" sz="750" b="1" kern="0" dirty="0">
                <a:solidFill>
                  <a:srgbClr val="1565C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9" name="Text 40">
            <a:extLst>
              <a:ext uri="{FF2B5EF4-FFF2-40B4-BE49-F238E27FC236}">
                <a16:creationId xmlns:a16="http://schemas.microsoft.com/office/drawing/2014/main" id="{8E8E8572-E4BF-C131-AD4E-7DE59476C19F}"/>
              </a:ext>
            </a:extLst>
          </p:cNvPr>
          <p:cNvSpPr/>
          <p:nvPr/>
        </p:nvSpPr>
        <p:spPr>
          <a:xfrm>
            <a:off x="6396271" y="3073360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簡易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 × 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リード＋</a:t>
            </a:r>
            <a:r>
              <a:rPr kumimoji="0" lang="en-US" sz="1100" b="1" i="0" u="none" strike="noStrike" kern="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LINE登録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（サンクス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1" name="Text 41">
            <a:extLst>
              <a:ext uri="{FF2B5EF4-FFF2-40B4-BE49-F238E27FC236}">
                <a16:creationId xmlns:a16="http://schemas.microsoft.com/office/drawing/2014/main" id="{A02D25CE-9C9B-6858-9645-3D054403B80F}"/>
              </a:ext>
            </a:extLst>
          </p:cNvPr>
          <p:cNvSpPr/>
          <p:nvPr/>
        </p:nvSpPr>
        <p:spPr>
          <a:xfrm>
            <a:off x="5207551" y="3375112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35000"/>
              </a:lnSpc>
              <a:defRPr/>
            </a:pP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シミュレーター、簡易診断を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受け取る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」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簡易的な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を作成し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r>
              <a:rPr kumimoji="0" lang="en-US" altLang="ja-JP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リード＋</a:t>
            </a:r>
            <a:r>
              <a:rPr kumimoji="0" lang="en-US" sz="850" b="0" i="0" u="none" strike="noStrike" kern="0" cap="none" spc="0" normalizeH="0" baseline="0" noProof="0" dirty="0" err="1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友だち追加そのままステップ配信へ移行</a:t>
            </a:r>
            <a:r>
              <a:rPr kumimoji="0" 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。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CVR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％前後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」を「</a:t>
            </a:r>
            <a:r>
              <a:rPr kumimoji="0" lang="en-US" altLang="ja-JP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－</a:t>
            </a:r>
            <a:r>
              <a:rPr kumimoji="0" lang="en-US" altLang="ja-JP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10</a:t>
            </a:r>
            <a:r>
              <a:rPr kumimoji="0" lang="ja-JP" altLang="en-US" sz="850" b="1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％」に引上げてリード最大化。</a:t>
            </a:r>
            <a:endParaRPr kumimoji="0" lang="en-US" sz="8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3" name="Shape 42">
            <a:extLst>
              <a:ext uri="{FF2B5EF4-FFF2-40B4-BE49-F238E27FC236}">
                <a16:creationId xmlns:a16="http://schemas.microsoft.com/office/drawing/2014/main" id="{A9C5DE92-D696-84FB-0338-A45B2163E84E}"/>
              </a:ext>
            </a:extLst>
          </p:cNvPr>
          <p:cNvSpPr/>
          <p:nvPr/>
        </p:nvSpPr>
        <p:spPr>
          <a:xfrm>
            <a:off x="5207551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5" name="Shape 43">
            <a:extLst>
              <a:ext uri="{FF2B5EF4-FFF2-40B4-BE49-F238E27FC236}">
                <a16:creationId xmlns:a16="http://schemas.microsoft.com/office/drawing/2014/main" id="{7A414BE8-8C56-464D-5646-C8428426E154}"/>
              </a:ext>
            </a:extLst>
          </p:cNvPr>
          <p:cNvSpPr/>
          <p:nvPr/>
        </p:nvSpPr>
        <p:spPr>
          <a:xfrm>
            <a:off x="5262415" y="4124158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7" name="Text 44">
            <a:extLst>
              <a:ext uri="{FF2B5EF4-FFF2-40B4-BE49-F238E27FC236}">
                <a16:creationId xmlns:a16="http://schemas.microsoft.com/office/drawing/2014/main" id="{71F14BEE-D634-88A2-56B2-296177E648B8}"/>
              </a:ext>
            </a:extLst>
          </p:cNvPr>
          <p:cNvSpPr/>
          <p:nvPr/>
        </p:nvSpPr>
        <p:spPr>
          <a:xfrm>
            <a:off x="5262415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9" name="Text 45">
            <a:extLst>
              <a:ext uri="{FF2B5EF4-FFF2-40B4-BE49-F238E27FC236}">
                <a16:creationId xmlns:a16="http://schemas.microsoft.com/office/drawing/2014/main" id="{38EAA9FF-3D6F-9893-A6AC-492E1F8D9ED2}"/>
              </a:ext>
            </a:extLst>
          </p:cNvPr>
          <p:cNvSpPr/>
          <p:nvPr/>
        </p:nvSpPr>
        <p:spPr>
          <a:xfrm>
            <a:off x="5481871" y="410587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超簡易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1" name="Text 46">
            <a:extLst>
              <a:ext uri="{FF2B5EF4-FFF2-40B4-BE49-F238E27FC236}">
                <a16:creationId xmlns:a16="http://schemas.microsoft.com/office/drawing/2014/main" id="{76F9D806-0316-8040-BBC1-059EC4037026}"/>
              </a:ext>
            </a:extLst>
          </p:cNvPr>
          <p:cNvSpPr/>
          <p:nvPr/>
        </p:nvSpPr>
        <p:spPr>
          <a:xfrm>
            <a:off x="5262415" y="431618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WEB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リード獲得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3" name="Text 47">
            <a:extLst>
              <a:ext uri="{FF2B5EF4-FFF2-40B4-BE49-F238E27FC236}">
                <a16:creationId xmlns:a16="http://schemas.microsoft.com/office/drawing/2014/main" id="{A91D1983-BD63-6B03-7992-4EBA1D20A7ED}"/>
              </a:ext>
            </a:extLst>
          </p:cNvPr>
          <p:cNvSpPr/>
          <p:nvPr/>
        </p:nvSpPr>
        <p:spPr>
          <a:xfrm>
            <a:off x="6487711" y="422474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5" name="Shape 48">
            <a:extLst>
              <a:ext uri="{FF2B5EF4-FFF2-40B4-BE49-F238E27FC236}">
                <a16:creationId xmlns:a16="http://schemas.microsoft.com/office/drawing/2014/main" id="{1B608CB6-10B1-7849-F676-C778EAF32793}"/>
              </a:ext>
            </a:extLst>
          </p:cNvPr>
          <p:cNvSpPr/>
          <p:nvPr/>
        </p:nvSpPr>
        <p:spPr>
          <a:xfrm>
            <a:off x="6615727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7" name="Shape 49">
            <a:extLst>
              <a:ext uri="{FF2B5EF4-FFF2-40B4-BE49-F238E27FC236}">
                <a16:creationId xmlns:a16="http://schemas.microsoft.com/office/drawing/2014/main" id="{C6FD4C21-79ED-9901-73BB-36FADC629074}"/>
              </a:ext>
            </a:extLst>
          </p:cNvPr>
          <p:cNvSpPr/>
          <p:nvPr/>
        </p:nvSpPr>
        <p:spPr>
          <a:xfrm>
            <a:off x="6670591" y="4124158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9" name="Text 50">
            <a:extLst>
              <a:ext uri="{FF2B5EF4-FFF2-40B4-BE49-F238E27FC236}">
                <a16:creationId xmlns:a16="http://schemas.microsoft.com/office/drawing/2014/main" id="{3AF7109C-EDE8-F8BE-01DA-9C306F9D4491}"/>
              </a:ext>
            </a:extLst>
          </p:cNvPr>
          <p:cNvSpPr/>
          <p:nvPr/>
        </p:nvSpPr>
        <p:spPr>
          <a:xfrm>
            <a:off x="6670591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1" name="Text 51">
            <a:extLst>
              <a:ext uri="{FF2B5EF4-FFF2-40B4-BE49-F238E27FC236}">
                <a16:creationId xmlns:a16="http://schemas.microsoft.com/office/drawing/2014/main" id="{6A7C6314-C31C-2B4B-7A8D-E8DECD286DE8}"/>
              </a:ext>
            </a:extLst>
          </p:cNvPr>
          <p:cNvSpPr/>
          <p:nvPr/>
        </p:nvSpPr>
        <p:spPr>
          <a:xfrm>
            <a:off x="6887872" y="410587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サンクス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誘導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3" name="Text 52">
            <a:extLst>
              <a:ext uri="{FF2B5EF4-FFF2-40B4-BE49-F238E27FC236}">
                <a16:creationId xmlns:a16="http://schemas.microsoft.com/office/drawing/2014/main" id="{0C3AD28D-E803-BC04-74B7-651CDCD70000}"/>
              </a:ext>
            </a:extLst>
          </p:cNvPr>
          <p:cNvSpPr/>
          <p:nvPr/>
        </p:nvSpPr>
        <p:spPr>
          <a:xfrm>
            <a:off x="6621208" y="4316182"/>
            <a:ext cx="13719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上で受取</a:t>
            </a:r>
            <a:r>
              <a:rPr kumimoji="0" lang="ja-JP" altLang="en-US" sz="7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として友だちに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5" name="Text 53">
            <a:extLst>
              <a:ext uri="{FF2B5EF4-FFF2-40B4-BE49-F238E27FC236}">
                <a16:creationId xmlns:a16="http://schemas.microsoft.com/office/drawing/2014/main" id="{2FB8B884-DB13-49DB-D682-50EB7789C9A4}"/>
              </a:ext>
            </a:extLst>
          </p:cNvPr>
          <p:cNvSpPr/>
          <p:nvPr/>
        </p:nvSpPr>
        <p:spPr>
          <a:xfrm>
            <a:off x="7895887" y="422474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7" name="Shape 54">
            <a:extLst>
              <a:ext uri="{FF2B5EF4-FFF2-40B4-BE49-F238E27FC236}">
                <a16:creationId xmlns:a16="http://schemas.microsoft.com/office/drawing/2014/main" id="{710A2000-BA3B-1AFB-FCE0-644E6898DD03}"/>
              </a:ext>
            </a:extLst>
          </p:cNvPr>
          <p:cNvSpPr/>
          <p:nvPr/>
        </p:nvSpPr>
        <p:spPr>
          <a:xfrm>
            <a:off x="8023903" y="4069294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9" name="Shape 55">
            <a:extLst>
              <a:ext uri="{FF2B5EF4-FFF2-40B4-BE49-F238E27FC236}">
                <a16:creationId xmlns:a16="http://schemas.microsoft.com/office/drawing/2014/main" id="{1037F87F-5E4D-E3F5-E197-701DC444F492}"/>
              </a:ext>
            </a:extLst>
          </p:cNvPr>
          <p:cNvSpPr/>
          <p:nvPr/>
        </p:nvSpPr>
        <p:spPr>
          <a:xfrm>
            <a:off x="8078767" y="412415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1" name="Text 56">
            <a:extLst>
              <a:ext uri="{FF2B5EF4-FFF2-40B4-BE49-F238E27FC236}">
                <a16:creationId xmlns:a16="http://schemas.microsoft.com/office/drawing/2014/main" id="{B168640B-7EB6-045C-32D4-9F60E9C4069A}"/>
              </a:ext>
            </a:extLst>
          </p:cNvPr>
          <p:cNvSpPr/>
          <p:nvPr/>
        </p:nvSpPr>
        <p:spPr>
          <a:xfrm>
            <a:off x="8078767" y="41241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3" name="Text 57">
            <a:extLst>
              <a:ext uri="{FF2B5EF4-FFF2-40B4-BE49-F238E27FC236}">
                <a16:creationId xmlns:a16="http://schemas.microsoft.com/office/drawing/2014/main" id="{E14BC7E9-3708-9505-AC4A-060665171BCD}"/>
              </a:ext>
            </a:extLst>
          </p:cNvPr>
          <p:cNvSpPr/>
          <p:nvPr/>
        </p:nvSpPr>
        <p:spPr>
          <a:xfrm>
            <a:off x="8298223" y="410587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友だち追加完了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5" name="Text 58">
            <a:extLst>
              <a:ext uri="{FF2B5EF4-FFF2-40B4-BE49-F238E27FC236}">
                <a16:creationId xmlns:a16="http://schemas.microsoft.com/office/drawing/2014/main" id="{5677227D-7522-18E3-CFF0-A01DE3054B96}"/>
              </a:ext>
            </a:extLst>
          </p:cNvPr>
          <p:cNvSpPr/>
          <p:nvPr/>
        </p:nvSpPr>
        <p:spPr>
          <a:xfrm>
            <a:off x="8078767" y="431618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 err="1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ステップ配信</a:t>
            </a:r>
            <a:r>
              <a:rPr kumimoji="0" lang="ja-JP" altLang="en-US" sz="750" kern="0" dirty="0">
                <a:solidFill>
                  <a:srgbClr val="D0E8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対象に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3" name="Shape 88">
            <a:extLst>
              <a:ext uri="{FF2B5EF4-FFF2-40B4-BE49-F238E27FC236}">
                <a16:creationId xmlns:a16="http://schemas.microsoft.com/office/drawing/2014/main" id="{E0F73C02-327E-D244-0ABD-F19F91EB24DD}"/>
              </a:ext>
            </a:extLst>
          </p:cNvPr>
          <p:cNvSpPr/>
          <p:nvPr/>
        </p:nvSpPr>
        <p:spPr>
          <a:xfrm>
            <a:off x="261702" y="2995754"/>
            <a:ext cx="4526075" cy="1600806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5" name="Shape 36">
            <a:extLst>
              <a:ext uri="{FF2B5EF4-FFF2-40B4-BE49-F238E27FC236}">
                <a16:creationId xmlns:a16="http://schemas.microsoft.com/office/drawing/2014/main" id="{845DFC42-70E6-B496-30C2-C44315D85C79}"/>
              </a:ext>
            </a:extLst>
          </p:cNvPr>
          <p:cNvSpPr/>
          <p:nvPr/>
        </p:nvSpPr>
        <p:spPr>
          <a:xfrm>
            <a:off x="369887" y="3078489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 anchor="ctr"/>
          <a:lstStyle/>
          <a:p>
            <a:pPr algn="ctr"/>
            <a:r>
              <a:rPr kumimoji="0" lang="en-US" altLang="ja-JP" sz="9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endParaRPr kumimoji="0" lang="ja-JP" altLang="en-US" sz="9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7" name="Shape 38">
            <a:extLst>
              <a:ext uri="{FF2B5EF4-FFF2-40B4-BE49-F238E27FC236}">
                <a16:creationId xmlns:a16="http://schemas.microsoft.com/office/drawing/2014/main" id="{2DBF8816-E4F7-4E6B-6AB6-19DEA2101114}"/>
              </a:ext>
            </a:extLst>
          </p:cNvPr>
          <p:cNvSpPr/>
          <p:nvPr/>
        </p:nvSpPr>
        <p:spPr>
          <a:xfrm>
            <a:off x="699071" y="3096777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0D3E4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9" name="Text 39">
            <a:extLst>
              <a:ext uri="{FF2B5EF4-FFF2-40B4-BE49-F238E27FC236}">
                <a16:creationId xmlns:a16="http://schemas.microsoft.com/office/drawing/2014/main" id="{27DB11BF-957B-1CEF-3AC8-18BF5DCF40D9}"/>
              </a:ext>
            </a:extLst>
          </p:cNvPr>
          <p:cNvSpPr/>
          <p:nvPr/>
        </p:nvSpPr>
        <p:spPr>
          <a:xfrm>
            <a:off x="699071" y="3096777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kumimoji="0" lang="ja-JP" altLang="en-US" sz="75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地点追加</a:t>
            </a:r>
            <a:endParaRPr kumimoji="0" lang="en-US" sz="75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1" name="Text 40">
            <a:extLst>
              <a:ext uri="{FF2B5EF4-FFF2-40B4-BE49-F238E27FC236}">
                <a16:creationId xmlns:a16="http://schemas.microsoft.com/office/drawing/2014/main" id="{C23E771B-F34E-1D51-1F7F-E37507CCE586}"/>
              </a:ext>
            </a:extLst>
          </p:cNvPr>
          <p:cNvSpPr/>
          <p:nvPr/>
        </p:nvSpPr>
        <p:spPr>
          <a:xfrm>
            <a:off x="1558607" y="3069345"/>
            <a:ext cx="3319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追加をそもそも集客成果の</a:t>
            </a:r>
            <a:r>
              <a:rPr kumimoji="0" lang="en-US" altLang="ja-JP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r>
              <a:rPr kumimoji="0" lang="ja-JP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地点に追加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3" name="Text 41">
            <a:extLst>
              <a:ext uri="{FF2B5EF4-FFF2-40B4-BE49-F238E27FC236}">
                <a16:creationId xmlns:a16="http://schemas.microsoft.com/office/drawing/2014/main" id="{2C88C715-1A68-D7F9-6C3C-2E4E657F87BC}"/>
              </a:ext>
            </a:extLst>
          </p:cNvPr>
          <p:cNvSpPr/>
          <p:nvPr/>
        </p:nvSpPr>
        <p:spPr>
          <a:xfrm>
            <a:off x="369887" y="3371097"/>
            <a:ext cx="444977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lnSpc>
                <a:spcPct val="135000"/>
              </a:lnSpc>
              <a:defRPr/>
            </a:pPr>
            <a:r>
              <a:rPr kumimoji="0" lang="ja-JP" altLang="en-US" sz="8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メール、電話を中心とした集客動線では、個人情報としてのハードルが高いため、</a:t>
            </a:r>
            <a:endParaRPr kumimoji="0" lang="en-US" altLang="ja-JP" sz="850" b="0" i="0" u="none" strike="noStrike" kern="0" cap="none" spc="0" normalizeH="0" baseline="0" noProof="0" dirty="0">
              <a:ln>
                <a:noFill/>
              </a:ln>
              <a:solidFill>
                <a:srgbClr val="4A4A6A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Calibri" pitchFamily="34" charset="-120"/>
            </a:endParaRPr>
          </a:p>
          <a:p>
            <a:pPr lvl="0">
              <a:lnSpc>
                <a:spcPct val="135000"/>
              </a:lnSpc>
              <a:defRPr/>
            </a:pP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集客実施内でのリード獲得単価を抑制できる上、反応率が高い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LINE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を動線の</a:t>
            </a:r>
            <a:r>
              <a:rPr kumimoji="0" lang="en-US" altLang="ja-JP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r>
              <a:rPr kumimoji="0" lang="ja-JP" altLang="en-US" sz="850" kern="0" dirty="0">
                <a:solidFill>
                  <a:srgbClr val="4A4A6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つに。</a:t>
            </a:r>
            <a:endParaRPr kumimoji="0" lang="en-US" sz="8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5" name="Shape 42">
            <a:extLst>
              <a:ext uri="{FF2B5EF4-FFF2-40B4-BE49-F238E27FC236}">
                <a16:creationId xmlns:a16="http://schemas.microsoft.com/office/drawing/2014/main" id="{113510A9-9BDD-9FAD-90F6-0D1EC0BCB699}"/>
              </a:ext>
            </a:extLst>
          </p:cNvPr>
          <p:cNvSpPr/>
          <p:nvPr/>
        </p:nvSpPr>
        <p:spPr>
          <a:xfrm>
            <a:off x="369887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7" name="Shape 43">
            <a:extLst>
              <a:ext uri="{FF2B5EF4-FFF2-40B4-BE49-F238E27FC236}">
                <a16:creationId xmlns:a16="http://schemas.microsoft.com/office/drawing/2014/main" id="{4E4A9CB8-BC81-64F6-260F-5F493122A66C}"/>
              </a:ext>
            </a:extLst>
          </p:cNvPr>
          <p:cNvSpPr/>
          <p:nvPr/>
        </p:nvSpPr>
        <p:spPr>
          <a:xfrm>
            <a:off x="424751" y="4120143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9" name="Text 44">
            <a:extLst>
              <a:ext uri="{FF2B5EF4-FFF2-40B4-BE49-F238E27FC236}">
                <a16:creationId xmlns:a16="http://schemas.microsoft.com/office/drawing/2014/main" id="{1140FDA8-6C5C-AE0C-F98C-11C8C0A073FE}"/>
              </a:ext>
            </a:extLst>
          </p:cNvPr>
          <p:cNvSpPr/>
          <p:nvPr/>
        </p:nvSpPr>
        <p:spPr>
          <a:xfrm>
            <a:off x="424751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1" name="Text 45">
            <a:extLst>
              <a:ext uri="{FF2B5EF4-FFF2-40B4-BE49-F238E27FC236}">
                <a16:creationId xmlns:a16="http://schemas.microsoft.com/office/drawing/2014/main" id="{A22E630F-5396-9B90-711A-C5DCE95E1469}"/>
              </a:ext>
            </a:extLst>
          </p:cNvPr>
          <p:cNvSpPr/>
          <p:nvPr/>
        </p:nvSpPr>
        <p:spPr>
          <a:xfrm>
            <a:off x="644207" y="410185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広告・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SEO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・</a:t>
            </a: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SNS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3" name="Text 46">
            <a:extLst>
              <a:ext uri="{FF2B5EF4-FFF2-40B4-BE49-F238E27FC236}">
                <a16:creationId xmlns:a16="http://schemas.microsoft.com/office/drawing/2014/main" id="{963027FB-D92E-2D7B-6655-63BA79599E4C}"/>
              </a:ext>
            </a:extLst>
          </p:cNvPr>
          <p:cNvSpPr/>
          <p:nvPr/>
        </p:nvSpPr>
        <p:spPr>
          <a:xfrm>
            <a:off x="424751" y="4312167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流入チャネル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5" name="Text 47">
            <a:extLst>
              <a:ext uri="{FF2B5EF4-FFF2-40B4-BE49-F238E27FC236}">
                <a16:creationId xmlns:a16="http://schemas.microsoft.com/office/drawing/2014/main" id="{74B99422-CBF5-9B4D-0494-5C4443B23CDC}"/>
              </a:ext>
            </a:extLst>
          </p:cNvPr>
          <p:cNvSpPr/>
          <p:nvPr/>
        </p:nvSpPr>
        <p:spPr>
          <a:xfrm>
            <a:off x="1650047" y="4220727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7" name="Shape 48">
            <a:extLst>
              <a:ext uri="{FF2B5EF4-FFF2-40B4-BE49-F238E27FC236}">
                <a16:creationId xmlns:a16="http://schemas.microsoft.com/office/drawing/2014/main" id="{8B8CFEAA-9314-449D-1074-EF75AFDAC19A}"/>
              </a:ext>
            </a:extLst>
          </p:cNvPr>
          <p:cNvSpPr/>
          <p:nvPr/>
        </p:nvSpPr>
        <p:spPr>
          <a:xfrm>
            <a:off x="1778063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ECEDF3"/>
          </a:solidFill>
          <a:ln w="12700">
            <a:solidFill>
              <a:srgbClr val="D0D3E4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9" name="Shape 49">
            <a:extLst>
              <a:ext uri="{FF2B5EF4-FFF2-40B4-BE49-F238E27FC236}">
                <a16:creationId xmlns:a16="http://schemas.microsoft.com/office/drawing/2014/main" id="{C950146B-431E-366D-1457-E0150725DAB8}"/>
              </a:ext>
            </a:extLst>
          </p:cNvPr>
          <p:cNvSpPr/>
          <p:nvPr/>
        </p:nvSpPr>
        <p:spPr>
          <a:xfrm>
            <a:off x="1832927" y="4120143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1" name="Text 50">
            <a:extLst>
              <a:ext uri="{FF2B5EF4-FFF2-40B4-BE49-F238E27FC236}">
                <a16:creationId xmlns:a16="http://schemas.microsoft.com/office/drawing/2014/main" id="{2812D2BF-5313-2DA8-B2ED-115987FDA314}"/>
              </a:ext>
            </a:extLst>
          </p:cNvPr>
          <p:cNvSpPr/>
          <p:nvPr/>
        </p:nvSpPr>
        <p:spPr>
          <a:xfrm>
            <a:off x="1832927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3" name="Text 51">
            <a:extLst>
              <a:ext uri="{FF2B5EF4-FFF2-40B4-BE49-F238E27FC236}">
                <a16:creationId xmlns:a16="http://schemas.microsoft.com/office/drawing/2014/main" id="{61B9DBCC-02E6-6237-0DAD-ED9142171120}"/>
              </a:ext>
            </a:extLst>
          </p:cNvPr>
          <p:cNvSpPr/>
          <p:nvPr/>
        </p:nvSpPr>
        <p:spPr>
          <a:xfrm>
            <a:off x="2050208" y="410185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・ポップアップ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5" name="Text 52">
            <a:extLst>
              <a:ext uri="{FF2B5EF4-FFF2-40B4-BE49-F238E27FC236}">
                <a16:creationId xmlns:a16="http://schemas.microsoft.com/office/drawing/2014/main" id="{1CF9536A-5A56-D77B-3F08-8BACCB3B4827}"/>
              </a:ext>
            </a:extLst>
          </p:cNvPr>
          <p:cNvSpPr/>
          <p:nvPr/>
        </p:nvSpPr>
        <p:spPr>
          <a:xfrm>
            <a:off x="1783544" y="4312167"/>
            <a:ext cx="13719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LP</a:t>
            </a:r>
            <a:r>
              <a:rPr kumimoji="0" lang="ja-JP" alt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4A4A6A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やポップアップでの動線に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7" name="Text 53">
            <a:extLst>
              <a:ext uri="{FF2B5EF4-FFF2-40B4-BE49-F238E27FC236}">
                <a16:creationId xmlns:a16="http://schemas.microsoft.com/office/drawing/2014/main" id="{6C4945AC-3CDA-2080-CEF1-36A24E6529F2}"/>
              </a:ext>
            </a:extLst>
          </p:cNvPr>
          <p:cNvSpPr/>
          <p:nvPr/>
        </p:nvSpPr>
        <p:spPr>
          <a:xfrm>
            <a:off x="3058223" y="4220727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8888A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▶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9" name="Shape 54">
            <a:extLst>
              <a:ext uri="{FF2B5EF4-FFF2-40B4-BE49-F238E27FC236}">
                <a16:creationId xmlns:a16="http://schemas.microsoft.com/office/drawing/2014/main" id="{FB4A19A3-2EF9-47D2-F075-70F2D5D6B076}"/>
              </a:ext>
            </a:extLst>
          </p:cNvPr>
          <p:cNvSpPr/>
          <p:nvPr/>
        </p:nvSpPr>
        <p:spPr>
          <a:xfrm>
            <a:off x="3186239" y="4065279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50800" dist="12700" dir="8100000" algn="bl" rotWithShape="0">
              <a:srgbClr val="B0B4CC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1" name="Shape 55">
            <a:extLst>
              <a:ext uri="{FF2B5EF4-FFF2-40B4-BE49-F238E27FC236}">
                <a16:creationId xmlns:a16="http://schemas.microsoft.com/office/drawing/2014/main" id="{6B43E1E4-2A7D-AD40-67F5-6B516A71860E}"/>
              </a:ext>
            </a:extLst>
          </p:cNvPr>
          <p:cNvSpPr/>
          <p:nvPr/>
        </p:nvSpPr>
        <p:spPr>
          <a:xfrm>
            <a:off x="3241103" y="4120143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3" name="Text 56">
            <a:extLst>
              <a:ext uri="{FF2B5EF4-FFF2-40B4-BE49-F238E27FC236}">
                <a16:creationId xmlns:a16="http://schemas.microsoft.com/office/drawing/2014/main" id="{2E67F49B-16BE-07E6-9262-E50D4D3A8F60}"/>
              </a:ext>
            </a:extLst>
          </p:cNvPr>
          <p:cNvSpPr/>
          <p:nvPr/>
        </p:nvSpPr>
        <p:spPr>
          <a:xfrm>
            <a:off x="3241103" y="412014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5" name="Text 57">
            <a:extLst>
              <a:ext uri="{FF2B5EF4-FFF2-40B4-BE49-F238E27FC236}">
                <a16:creationId xmlns:a16="http://schemas.microsoft.com/office/drawing/2014/main" id="{AA931AD0-7A16-05D2-D8C7-AB50301B6C53}"/>
              </a:ext>
            </a:extLst>
          </p:cNvPr>
          <p:cNvSpPr/>
          <p:nvPr/>
        </p:nvSpPr>
        <p:spPr>
          <a:xfrm>
            <a:off x="3460559" y="410185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友だち追加完了</a:t>
            </a:r>
            <a:endParaRPr kumimoji="0" lang="en-US" sz="8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7" name="Text 58">
            <a:extLst>
              <a:ext uri="{FF2B5EF4-FFF2-40B4-BE49-F238E27FC236}">
                <a16:creationId xmlns:a16="http://schemas.microsoft.com/office/drawing/2014/main" id="{54B49D2D-4FC3-300F-AAB4-B1D6ACEDA33A}"/>
              </a:ext>
            </a:extLst>
          </p:cNvPr>
          <p:cNvSpPr/>
          <p:nvPr/>
        </p:nvSpPr>
        <p:spPr>
          <a:xfrm>
            <a:off x="3241103" y="4312167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D0E8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--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7158776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141784</TotalTime>
  <Words>4425</Words>
  <Application>Microsoft Office PowerPoint</Application>
  <PresentationFormat>A4 210 x 297 mm</PresentationFormat>
  <Paragraphs>906</Paragraphs>
  <Slides>36</Slides>
  <Notes>3</Notes>
  <HiddenSlides>17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1927</cp:revision>
  <cp:lastPrinted>2022-11-01T11:38:14Z</cp:lastPrinted>
  <dcterms:created xsi:type="dcterms:W3CDTF">2015-09-04T09:21:15Z</dcterms:created>
  <dcterms:modified xsi:type="dcterms:W3CDTF">2026-10-07T06:05:07Z</dcterms:modified>
</cp:coreProperties>
</file>