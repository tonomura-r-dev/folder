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21"/>
  </p:notesMasterIdLst>
  <p:handoutMasterIdLst>
    <p:handoutMasterId r:id="rId22"/>
  </p:handoutMasterIdLst>
  <p:sldIdLst>
    <p:sldId id="2363" r:id="rId3"/>
    <p:sldId id="2364" r:id="rId4"/>
    <p:sldId id="2365" r:id="rId5"/>
    <p:sldId id="2366" r:id="rId6"/>
    <p:sldId id="2367" r:id="rId7"/>
    <p:sldId id="2368" r:id="rId8"/>
    <p:sldId id="2369" r:id="rId9"/>
    <p:sldId id="257" r:id="rId10"/>
    <p:sldId id="2371" r:id="rId11"/>
    <p:sldId id="2372" r:id="rId12"/>
    <p:sldId id="2373" r:id="rId13"/>
    <p:sldId id="2381" r:id="rId14"/>
    <p:sldId id="2374" r:id="rId15"/>
    <p:sldId id="2378" r:id="rId16"/>
    <p:sldId id="2379" r:id="rId17"/>
    <p:sldId id="2380" r:id="rId18"/>
    <p:sldId id="2377" r:id="rId19"/>
    <p:sldId id="1169" r:id="rId20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DFD"/>
    <a:srgbClr val="173559"/>
    <a:srgbClr val="04FA0A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74" d="100"/>
          <a:sy n="74" d="100"/>
        </p:scale>
        <p:origin x="784" y="44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2026/10/21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956886">
              <a:defRPr/>
            </a:pPr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956886">
              <a:defRPr/>
            </a:pPr>
            <a:fld id="{929202D6-C1F5-472A-A72F-285F233F82C2}" type="slidenum">
              <a:rPr lang="ja-JP" altLang="en-US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pPr defTabSz="956886">
                <a:defRPr/>
              </a:pPr>
              <a:t>18</a:t>
            </a:fld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920873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0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image" Target="../media/image12.jpeg"/><Relationship Id="rId7" Type="http://schemas.openxmlformats.org/officeDocument/2006/relationships/image" Target="../media/image16.jp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hyperlink" Target="https://youtube.com/shorts/0qI4QgrOppQ" TargetMode="External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eg"/><Relationship Id="rId3" Type="http://schemas.openxmlformats.org/officeDocument/2006/relationships/image" Target="../media/image3.emf"/><Relationship Id="rId7" Type="http://schemas.openxmlformats.org/officeDocument/2006/relationships/image" Target="../media/image2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9A0322D-BA5F-9122-1E12-FB7AC2AF15A5}"/>
              </a:ext>
            </a:extLst>
          </p:cNvPr>
          <p:cNvSpPr/>
          <p:nvPr/>
        </p:nvSpPr>
        <p:spPr>
          <a:xfrm>
            <a:off x="1665887" y="3038203"/>
            <a:ext cx="65742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ja-I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LINE公式アカウント運用のご提案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CC59398-53B4-E01E-A60C-6C13628FCBFB}"/>
              </a:ext>
            </a:extLst>
          </p:cNvPr>
          <p:cNvSpPr/>
          <p:nvPr/>
        </p:nvSpPr>
        <p:spPr>
          <a:xfrm>
            <a:off x="1613481" y="2729823"/>
            <a:ext cx="66266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ja-JP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/>
                <a:ea typeface="メイリオ"/>
              </a:rPr>
              <a:t>応募から勤務連絡、次回への再応募までをLINEでつなぐ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B532C1C8-7FE6-8830-B27C-27941421F5F9}"/>
              </a:ext>
            </a:extLst>
          </p:cNvPr>
          <p:cNvCxnSpPr>
            <a:cxnSpLocks/>
          </p:cNvCxnSpPr>
          <p:nvPr/>
        </p:nvCxnSpPr>
        <p:spPr>
          <a:xfrm>
            <a:off x="1337175" y="3705064"/>
            <a:ext cx="723166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図 8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FFE022E1-8FF6-B4B4-B955-17E7CFA96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8159931" cy="766354"/>
          </a:xfrm>
          <a:prstGeom prst="rect">
            <a:avLst/>
          </a:prstGeom>
        </p:spPr>
      </p:pic>
      <p:pic>
        <p:nvPicPr>
          <p:cNvPr id="10" name="図 9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0F2999B3-5873-C495-70F5-12487911C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94114"/>
            <a:ext cx="2042161" cy="272239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92608" y="265176"/>
            <a:ext cx="4965192" cy="338328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l">
              <a:buNone/>
            </a:pPr>
            <a:r>
              <a:rPr lang="ja-JP" altLang="en-US" sz="1600" b="1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株式会社横浜シミズ 御中</a:t>
            </a:r>
            <a:endParaRPr lang="ja-JP" altLang="en-US" sz="1600" dirty="0"/>
          </a:p>
        </p:txBody>
      </p:sp>
      <p:sp>
        <p:nvSpPr>
          <p:cNvPr id="12" name="Rectangle 11"/>
          <p:cNvSpPr/>
          <p:nvPr/>
        </p:nvSpPr>
        <p:spPr>
          <a:xfrm>
            <a:off x="1335024" y="3931920"/>
            <a:ext cx="7232904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ja-JP" altLang="en-US" sz="120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2026年10月　株式会社DYM</a:t>
            </a:r>
            <a:endParaRPr lang="ja-JP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944598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現状把握｜横浜シミズの事業と、想定している課題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0860" y="862696"/>
            <a:ext cx="9331200" cy="58521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登録制のアルバイトスタッフとともに、神奈川・静岡全域のイベント会場の運営・警備・設営を担う会社です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イベントごとに人を集める事業だからこそ、勤務後の接点が次の人員確保につながると考えます</a:t>
            </a:r>
            <a:r>
              <a:rPr sz="1400" b="1" dirty="0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0860" y="4826699"/>
            <a:ext cx="8773451" cy="37490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2000" y="6089904"/>
            <a:ext cx="9043200" cy="4572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出典｜株式会社横浜シミズ 公式サイト（事業内容・会社情報・アルバイト募集）・採用サイト（shimizuocto-saiyou.net）　2026年10月20日 弊社確認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0860" y="4826699"/>
            <a:ext cx="9043416" cy="374904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一度働いた方に、次のイベントでも戻ってきていただく仕組みをつくる</a:t>
            </a:r>
            <a:endParaRPr lang="ja-JP" altLang="en-US" sz="1300" dirty="0"/>
          </a:p>
        </p:txBody>
      </p:sp>
      <p:sp>
        <p:nvSpPr>
          <p:cNvPr id="22" name="Rounded Rectangle 21"/>
          <p:cNvSpPr/>
          <p:nvPr/>
        </p:nvSpPr>
        <p:spPr>
          <a:xfrm>
            <a:off x="431292" y="1650519"/>
            <a:ext cx="4636881" cy="2973573"/>
          </a:xfrm>
          <a:prstGeom prst="roundRect">
            <a:avLst>
              <a:gd name="adj" fmla="val 5000"/>
            </a:avLst>
          </a:prstGeom>
          <a:solidFill>
            <a:srgbClr val="F5F6FA"/>
          </a:solidFill>
          <a:ln w="9525">
            <a:solidFill>
              <a:srgbClr val="D9D9D9"/>
            </a:solidFill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buNone/>
            </a:pPr>
            <a:endParaRPr lang="ja-JP" altLang="en-US" sz="1100" dirty="0"/>
          </a:p>
        </p:txBody>
      </p:sp>
      <p:sp>
        <p:nvSpPr>
          <p:cNvPr id="23" name="Rounded Rectangle 22"/>
          <p:cNvSpPr/>
          <p:nvPr/>
        </p:nvSpPr>
        <p:spPr>
          <a:xfrm>
            <a:off x="568452" y="1760247"/>
            <a:ext cx="3017520" cy="292608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事業の特徴（公式サイト・採用サイトより）</a:t>
            </a:r>
            <a:endParaRPr lang="ja-JP" altLang="en-US" sz="1050" dirty="0"/>
          </a:p>
        </p:txBody>
      </p:sp>
      <p:sp>
        <p:nvSpPr>
          <p:cNvPr id="24" name="Rectangle 23"/>
          <p:cNvSpPr/>
          <p:nvPr/>
        </p:nvSpPr>
        <p:spPr>
          <a:xfrm>
            <a:off x="541236" y="2157997"/>
            <a:ext cx="4526937" cy="2329138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pPr marL="155448" indent="-155448" algn="l">
              <a:lnSpc>
                <a:spcPct val="105000"/>
              </a:lnSpc>
              <a:spcAft>
                <a:spcPts val="800"/>
              </a:spcAft>
              <a:buNone/>
            </a:pPr>
            <a: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・神奈川県・静岡県全域で、舞台設営・美術施工・</a:t>
            </a:r>
            <a:b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運営管理・警備をワンストップで提供</a:t>
            </a:r>
            <a:endParaRPr lang="ja-JP" altLang="en-US" sz="1200" dirty="0"/>
          </a:p>
          <a:p>
            <a:pPr marL="155448" indent="-155448" algn="l">
              <a:lnSpc>
                <a:spcPct val="105000"/>
              </a:lnSpc>
              <a:spcAft>
                <a:spcPts val="800"/>
              </a:spcAft>
              <a:buNone/>
            </a:pPr>
            <a: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・運営管理は、少人数から1日1,000人以上の規模まで動員</a:t>
            </a:r>
            <a:endParaRPr lang="ja-JP" altLang="en-US" sz="1200" dirty="0"/>
          </a:p>
          <a:p>
            <a:pPr marL="155448" indent="-155448" algn="l">
              <a:lnSpc>
                <a:spcPct val="105000"/>
              </a:lnSpc>
              <a:spcAft>
                <a:spcPts val="800"/>
              </a:spcAft>
              <a:buNone/>
            </a:pPr>
            <a: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・アルバイトは登録制。都合の良い日に勤務できる</a:t>
            </a:r>
            <a:b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（シフトは自己申告制）</a:t>
            </a:r>
            <a:endParaRPr lang="ja-JP" altLang="en-US" sz="1200" dirty="0"/>
          </a:p>
          <a:p>
            <a:pPr marL="155448" indent="-155448" algn="l">
              <a:lnSpc>
                <a:spcPct val="105000"/>
              </a:lnSpc>
              <a:spcAft>
                <a:spcPts val="800"/>
              </a:spcAft>
              <a:buNone/>
            </a:pPr>
            <a: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・一度採用されると、ほかの業務にも勤務できる（面接は1回）</a:t>
            </a:r>
            <a:endParaRPr lang="ja-JP" altLang="en-US" sz="1200" dirty="0"/>
          </a:p>
          <a:p>
            <a:pPr marL="155448" indent="-155448" algn="l">
              <a:lnSpc>
                <a:spcPct val="105000"/>
              </a:lnSpc>
              <a:spcAft>
                <a:spcPts val="800"/>
              </a:spcAft>
              <a:buNone/>
            </a:pPr>
            <a: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・勤務地は日産スタジアム・横浜アリーナ・横浜スタジアム・</a:t>
            </a:r>
            <a:b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Kアリーナ横浜など多数</a:t>
            </a:r>
            <a:endParaRPr lang="ja-JP" altLang="en-US" sz="1200" dirty="0"/>
          </a:p>
          <a:p>
            <a:pPr marL="155448" indent="-155448" algn="l">
              <a:lnSpc>
                <a:spcPct val="105000"/>
              </a:lnSpc>
              <a:spcAft>
                <a:spcPts val="800"/>
              </a:spcAft>
              <a:buNone/>
            </a:pPr>
            <a: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・応募は採用サイトから。面接予約の完了はメールで届く</a:t>
            </a:r>
            <a:endParaRPr lang="ja-JP" altLang="en-US" sz="1200" dirty="0"/>
          </a:p>
        </p:txBody>
      </p:sp>
      <p:sp>
        <p:nvSpPr>
          <p:cNvPr id="26" name="Rounded Rectangle 25"/>
          <p:cNvSpPr/>
          <p:nvPr/>
        </p:nvSpPr>
        <p:spPr>
          <a:xfrm>
            <a:off x="5446127" y="1650519"/>
            <a:ext cx="3758184" cy="167065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1E2761"/>
            </a:solidFill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ja-JP" altLang="en-US" sz="14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想定している課題（仮説）</a:t>
            </a:r>
            <a:endParaRPr lang="ja-JP" altLang="en-US" sz="1400" dirty="0"/>
          </a:p>
          <a:p>
            <a:pPr algn="l">
              <a:spcAft>
                <a:spcPts val="300"/>
              </a:spcAft>
              <a:buNone/>
            </a:pPr>
            <a:r>
              <a:rPr lang="ja-JP" altLang="en-US" sz="14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イベントの勤務が終わると、スタッフの方との連絡が途切れやすい。</a:t>
            </a:r>
            <a:endParaRPr lang="ja-JP" altLang="en-US" sz="1400" dirty="0"/>
          </a:p>
          <a:p>
            <a:pPr algn="l">
              <a:spcAft>
                <a:spcPts val="300"/>
              </a:spcAft>
              <a:buNone/>
            </a:pPr>
            <a:r>
              <a:rPr lang="ja-JP" altLang="en-US" sz="14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次のイベントでも働いていただける接点を残すことが、継続的な人員確保の鍵と考えます。</a:t>
            </a:r>
            <a:endParaRPr lang="ja-JP" alt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業界課題①｜イベント・単発の仕事は、毎回の人員確保が前提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8521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単発・短期の仕事は、イベントのたびに必要な人数を集め直す必要があります。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新規の応募だけに頼ると、募集・採用の負担がイベントごとにくり返されます。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" y="5330952"/>
            <a:ext cx="8906255" cy="37490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2000" y="6089904"/>
            <a:ext cx="9043200" cy="4572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出典｜LINEヤフー 媒体データ（検索の前後行動）。起点キーワード「単発バイト」・期間2025年3月17日〜2026年3月22日。分類は弊社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" y="5330952"/>
            <a:ext cx="9043416" cy="374904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比べて選ばれる仕事だからこそ、一度つながった方との接点が次の人員確保を左右する</a:t>
            </a:r>
            <a:endParaRPr lang="ja-JP" altLang="en-US" sz="1300" dirty="0"/>
          </a:p>
        </p:txBody>
      </p:sp>
      <p:sp>
        <p:nvSpPr>
          <p:cNvPr id="22" name="Rounded Rectangle 21"/>
          <p:cNvSpPr/>
          <p:nvPr/>
        </p:nvSpPr>
        <p:spPr>
          <a:xfrm>
            <a:off x="429768" y="1371600"/>
            <a:ext cx="416052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1E2761"/>
            </a:solidFill>
          </a:ln>
        </p:spPr>
        <p:txBody>
          <a:bodyPr wrap="square" lIns="109728" tIns="73152" rIns="91440" bIns="54864" rtlCol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ja-JP" altLang="en-US" sz="12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① イベントのたびに、必要な人数を集め直す</a:t>
            </a:r>
            <a:endParaRPr lang="ja-JP" altLang="en-US" sz="1150" dirty="0"/>
          </a:p>
          <a:p>
            <a:pPr algn="l">
              <a:spcAft>
                <a:spcPts val="400"/>
              </a:spcAft>
              <a:buNone/>
            </a:pPr>
            <a:r>
              <a:rPr lang="ja-JP" altLang="en-US" sz="11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開催日・会場・規模によって、必要な人数と業務が変わります</a:t>
            </a:r>
            <a:endParaRPr lang="ja-JP" altLang="en-US" sz="1150" dirty="0"/>
          </a:p>
        </p:txBody>
      </p:sp>
      <p:sp>
        <p:nvSpPr>
          <p:cNvPr id="23" name="Rounded Rectangle 22"/>
          <p:cNvSpPr/>
          <p:nvPr/>
        </p:nvSpPr>
        <p:spPr>
          <a:xfrm>
            <a:off x="429768" y="2743200"/>
            <a:ext cx="416052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1E2761"/>
            </a:solidFill>
          </a:ln>
        </p:spPr>
        <p:txBody>
          <a:bodyPr wrap="square" lIns="109728" tIns="73152" rIns="91440" bIns="54864" rtlCol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ja-JP" altLang="en-US" sz="12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② 新規の応募だけに頼ると、負担がくり返される</a:t>
            </a:r>
            <a:endParaRPr lang="ja-JP" altLang="en-US" sz="1150" dirty="0"/>
          </a:p>
          <a:p>
            <a:pPr algn="l">
              <a:spcAft>
                <a:spcPts val="400"/>
              </a:spcAft>
              <a:buNone/>
            </a:pPr>
            <a:r>
              <a:rPr lang="ja-JP" altLang="en-US" sz="11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募集・面接・登録の手間が、イベントごとにかかります</a:t>
            </a:r>
            <a:endParaRPr lang="ja-JP" altLang="en-US" sz="1150" dirty="0"/>
          </a:p>
        </p:txBody>
      </p:sp>
      <p:sp>
        <p:nvSpPr>
          <p:cNvPr id="24" name="Rounded Rectangle 23"/>
          <p:cNvSpPr/>
          <p:nvPr/>
        </p:nvSpPr>
        <p:spPr>
          <a:xfrm>
            <a:off x="429768" y="4114800"/>
            <a:ext cx="416052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1E2761"/>
            </a:solidFill>
          </a:ln>
        </p:spPr>
        <p:txBody>
          <a:bodyPr wrap="square" lIns="109728" tIns="73152" rIns="91440" bIns="54864" rtlCol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ja-JP" altLang="en-US" sz="12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③ 勤務が終わると、接点が薄れる</a:t>
            </a:r>
            <a:endParaRPr lang="ja-JP" altLang="en-US" sz="1150" dirty="0"/>
          </a:p>
          <a:p>
            <a:pPr algn="l">
              <a:spcAft>
                <a:spcPts val="400"/>
              </a:spcAft>
              <a:buNone/>
            </a:pPr>
            <a:r>
              <a:rPr lang="ja-JP" altLang="en-US" sz="11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次の募集を届ける手段が残らず、また新規で集めることになります</a:t>
            </a:r>
            <a:endParaRPr lang="ja-JP" altLang="en-US" sz="1150" dirty="0"/>
          </a:p>
        </p:txBody>
      </p:sp>
      <p:sp>
        <p:nvSpPr>
          <p:cNvPr id="25" name="Rounded Rectangle 24"/>
          <p:cNvSpPr/>
          <p:nvPr/>
        </p:nvSpPr>
        <p:spPr>
          <a:xfrm>
            <a:off x="4773168" y="1391689"/>
            <a:ext cx="4562855" cy="3683232"/>
          </a:xfrm>
          <a:prstGeom prst="roundRect">
            <a:avLst>
              <a:gd name="adj" fmla="val 5000"/>
            </a:avLst>
          </a:prstGeom>
          <a:solidFill>
            <a:srgbClr val="F5F6FA"/>
          </a:solidFill>
          <a:ln w="9525">
            <a:solidFill>
              <a:srgbClr val="D9D9D9"/>
            </a:solidFill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buNone/>
            </a:pPr>
            <a:endParaRPr lang="ja-JP" altLang="en-US" sz="1100" dirty="0"/>
          </a:p>
        </p:txBody>
      </p:sp>
      <p:sp>
        <p:nvSpPr>
          <p:cNvPr id="26" name="Rectangle 25"/>
          <p:cNvSpPr/>
          <p:nvPr/>
        </p:nvSpPr>
        <p:spPr>
          <a:xfrm>
            <a:off x="4910328" y="1444752"/>
            <a:ext cx="4425696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ja-JP" altLang="en-US" sz="12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「単発バイト」を検索した方は、前後に何を調べているか</a:t>
            </a:r>
            <a:endParaRPr lang="ja-JP" altLang="en-US" sz="1200" dirty="0"/>
          </a:p>
        </p:txBody>
      </p:sp>
      <p:sp>
        <p:nvSpPr>
          <p:cNvPr id="27" name="Rounded Rectangle 26"/>
          <p:cNvSpPr/>
          <p:nvPr/>
        </p:nvSpPr>
        <p:spPr>
          <a:xfrm>
            <a:off x="4910328" y="2057400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-7〜-1日</a:t>
            </a:r>
            <a:endParaRPr lang="ja-JP" altLang="en-US" sz="1050" dirty="0"/>
          </a:p>
        </p:txBody>
      </p:sp>
      <p:sp>
        <p:nvSpPr>
          <p:cNvPr id="28" name="Rectangle 27"/>
          <p:cNvSpPr/>
          <p:nvPr/>
        </p:nvSpPr>
        <p:spPr>
          <a:xfrm>
            <a:off x="5961888" y="2011680"/>
            <a:ext cx="3374135" cy="8686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ja-JP" altLang="en-US" sz="12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スキマ時間で、すぐ稼ぎたい</a:t>
            </a:r>
            <a:endParaRPr lang="ja-JP" altLang="en-US" sz="1200" dirty="0"/>
          </a:p>
          <a:p>
            <a:pPr algn="l">
              <a:spcAft>
                <a:spcPts val="200"/>
              </a:spcAft>
              <a:buNone/>
            </a:pPr>
            <a:r>
              <a:rPr lang="ja-JP" altLang="en-US" sz="105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副業 在宅 スキマ時間／在宅ワーク 求人／バイト 求人</a:t>
            </a:r>
            <a:endParaRPr lang="ja-JP" altLang="en-US" sz="1200" dirty="0"/>
          </a:p>
        </p:txBody>
      </p:sp>
      <p:sp>
        <p:nvSpPr>
          <p:cNvPr id="29" name="Rounded Rectangle 28"/>
          <p:cNvSpPr/>
          <p:nvPr/>
        </p:nvSpPr>
        <p:spPr>
          <a:xfrm>
            <a:off x="4910328" y="3044952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0〜+2日</a:t>
            </a:r>
            <a:endParaRPr lang="ja-JP" altLang="en-US" sz="1050" dirty="0"/>
          </a:p>
        </p:txBody>
      </p:sp>
      <p:sp>
        <p:nvSpPr>
          <p:cNvPr id="30" name="Rectangle 29"/>
          <p:cNvSpPr/>
          <p:nvPr/>
        </p:nvSpPr>
        <p:spPr>
          <a:xfrm>
            <a:off x="5961888" y="2999232"/>
            <a:ext cx="3374135" cy="8686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ja-JP" altLang="en-US" sz="12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同じ日に、複数のサービスを並べて比べる</a:t>
            </a:r>
            <a:endParaRPr lang="ja-JP" altLang="en-US" sz="1200" dirty="0"/>
          </a:p>
          <a:p>
            <a:pPr algn="l">
              <a:spcAft>
                <a:spcPts val="200"/>
              </a:spcAft>
              <a:buNone/>
            </a:pPr>
            <a:r>
              <a:rPr lang="ja-JP" altLang="en-US" sz="105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タイミー／バイトル／短期バイト／単発バイト アプリ</a:t>
            </a:r>
            <a:endParaRPr lang="ja-JP" altLang="en-US" sz="1200" dirty="0"/>
          </a:p>
        </p:txBody>
      </p:sp>
      <p:sp>
        <p:nvSpPr>
          <p:cNvPr id="31" name="Rounded Rectangle 30"/>
          <p:cNvSpPr/>
          <p:nvPr/>
        </p:nvSpPr>
        <p:spPr>
          <a:xfrm>
            <a:off x="4910328" y="4032504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+1〜+15日</a:t>
            </a:r>
            <a:endParaRPr lang="ja-JP" altLang="en-US" sz="1050" dirty="0"/>
          </a:p>
        </p:txBody>
      </p:sp>
      <p:sp>
        <p:nvSpPr>
          <p:cNvPr id="32" name="Rectangle 31"/>
          <p:cNvSpPr/>
          <p:nvPr/>
        </p:nvSpPr>
        <p:spPr>
          <a:xfrm>
            <a:off x="5961888" y="3986784"/>
            <a:ext cx="3374135" cy="8686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ja-JP" altLang="en-US" sz="12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続けられるか・扶養や税金は大丈夫か</a:t>
            </a:r>
            <a:endParaRPr lang="ja-JP" altLang="en-US" sz="1200" dirty="0"/>
          </a:p>
          <a:p>
            <a:pPr algn="l">
              <a:spcAft>
                <a:spcPts val="200"/>
              </a:spcAft>
              <a:buNone/>
            </a:pPr>
            <a:r>
              <a:rPr lang="ja-JP" altLang="en-US" sz="105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副業 確定申告 20万円以下／ダブルワーク 扶養内 いくらまで</a:t>
            </a:r>
            <a:endParaRPr lang="ja-JP" alt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業界課題②｜応募後の連絡・勤務前の案内・次の募集に手間がかかる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96249"/>
            <a:ext cx="9331200" cy="58521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応募から勤務までの連絡、勤務前の案内、次の募集。どれも人数が増えるほど手間が増えます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連絡をLINEに集めることで、届きやすく、次の募集にもつなげやすくなります</a:t>
            </a:r>
            <a:r>
              <a:rPr sz="1400" b="1" dirty="0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1292" y="5002638"/>
            <a:ext cx="9043416" cy="37490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2000" y="6089904"/>
            <a:ext cx="9043200" cy="4572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出典｜LINEの月間利用者数・メッセージ開封率：LINEヤフー公式値。※応募から勤務までの実施率・再応募率は公開データがなく、貴社での計測が必要です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1292" y="5002638"/>
            <a:ext cx="9043416" cy="374904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連絡の手間を減らしながら、次の募集が届く状態をつくる</a:t>
            </a:r>
            <a:endParaRPr lang="ja-JP" altLang="en-US" sz="1300" dirty="0"/>
          </a:p>
        </p:txBody>
      </p:sp>
      <p:sp>
        <p:nvSpPr>
          <p:cNvPr id="22" name="Rounded Rectangle 21"/>
          <p:cNvSpPr/>
          <p:nvPr/>
        </p:nvSpPr>
        <p:spPr>
          <a:xfrm>
            <a:off x="429768" y="1653758"/>
            <a:ext cx="2880360" cy="310896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応募のあと</a:t>
            </a:r>
            <a:endParaRPr lang="ja-JP" altLang="en-US" sz="1400" dirty="0"/>
          </a:p>
        </p:txBody>
      </p:sp>
      <p:sp>
        <p:nvSpPr>
          <p:cNvPr id="23" name="Rounded Rectangle 22"/>
          <p:cNvSpPr/>
          <p:nvPr/>
        </p:nvSpPr>
        <p:spPr>
          <a:xfrm>
            <a:off x="429768" y="2065238"/>
            <a:ext cx="2880360" cy="759823"/>
          </a:xfrm>
          <a:prstGeom prst="roundRect">
            <a:avLst>
              <a:gd name="adj" fmla="val 5000"/>
            </a:avLst>
          </a:prstGeom>
          <a:solidFill>
            <a:srgbClr val="F5F6FA"/>
          </a:solidFill>
          <a:ln w="9525">
            <a:solidFill>
              <a:srgbClr val="D9D9D9"/>
            </a:solidFill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ja-JP" altLang="en-US" sz="1050" b="1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起きやすいこと（想定）</a:t>
            </a:r>
            <a:endParaRPr lang="ja-JP" altLang="en-US" sz="1200" dirty="0"/>
          </a:p>
          <a:p>
            <a:pPr algn="l">
              <a:spcAft>
                <a:spcPts val="300"/>
              </a:spcAft>
              <a:buNone/>
            </a:pPr>
            <a: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メールや電話がつながらず、面接・登録の案内が届きにくい</a:t>
            </a:r>
            <a:endParaRPr lang="ja-JP" altLang="en-US" sz="1200" dirty="0"/>
          </a:p>
        </p:txBody>
      </p:sp>
      <p:sp>
        <p:nvSpPr>
          <p:cNvPr id="24" name="Rectangle 23"/>
          <p:cNvSpPr/>
          <p:nvPr/>
        </p:nvSpPr>
        <p:spPr>
          <a:xfrm>
            <a:off x="1641348" y="28620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ja-JP" altLang="en-US" sz="1600" b="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▼</a:t>
            </a:r>
            <a:endParaRPr lang="ja-JP" altLang="en-US" sz="1600" dirty="0"/>
          </a:p>
        </p:txBody>
      </p:sp>
      <p:sp>
        <p:nvSpPr>
          <p:cNvPr id="25" name="Rounded Rectangle 24"/>
          <p:cNvSpPr/>
          <p:nvPr/>
        </p:nvSpPr>
        <p:spPr>
          <a:xfrm>
            <a:off x="429768" y="3154680"/>
            <a:ext cx="2880360" cy="658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1E2761"/>
            </a:solidFill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ja-JP" altLang="en-US" sz="105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LINEでできること</a:t>
            </a:r>
            <a:endParaRPr lang="ja-JP" altLang="en-US" sz="1200" dirty="0"/>
          </a:p>
          <a:p>
            <a:pPr algn="l">
              <a:spcAft>
                <a:spcPts val="300"/>
              </a:spcAft>
              <a:buNone/>
            </a:pPr>
            <a: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応募の直後に友だちになっていただき、面接・登録の案内をLINEで届ける</a:t>
            </a:r>
            <a:endParaRPr lang="ja-JP" altLang="en-US" sz="1200" dirty="0"/>
          </a:p>
        </p:txBody>
      </p:sp>
      <p:sp>
        <p:nvSpPr>
          <p:cNvPr id="26" name="Rounded Rectangle 25"/>
          <p:cNvSpPr/>
          <p:nvPr/>
        </p:nvSpPr>
        <p:spPr>
          <a:xfrm>
            <a:off x="3511296" y="1653758"/>
            <a:ext cx="2880360" cy="310896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勤務の前</a:t>
            </a:r>
            <a:endParaRPr lang="ja-JP" altLang="en-US" sz="1400" dirty="0"/>
          </a:p>
        </p:txBody>
      </p:sp>
      <p:sp>
        <p:nvSpPr>
          <p:cNvPr id="27" name="Rounded Rectangle 26"/>
          <p:cNvSpPr/>
          <p:nvPr/>
        </p:nvSpPr>
        <p:spPr>
          <a:xfrm>
            <a:off x="3511296" y="2065238"/>
            <a:ext cx="2880360" cy="759823"/>
          </a:xfrm>
          <a:prstGeom prst="roundRect">
            <a:avLst>
              <a:gd name="adj" fmla="val 5000"/>
            </a:avLst>
          </a:prstGeom>
          <a:solidFill>
            <a:srgbClr val="F5F6FA"/>
          </a:solidFill>
          <a:ln w="9525">
            <a:solidFill>
              <a:srgbClr val="D9D9D9"/>
            </a:solidFill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ja-JP" altLang="en-US" sz="1050" b="1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起きやすいこと（想定）</a:t>
            </a:r>
            <a:endParaRPr lang="ja-JP" altLang="en-US" sz="1200" dirty="0"/>
          </a:p>
          <a:p>
            <a:pPr algn="l">
              <a:spcAft>
                <a:spcPts val="300"/>
              </a:spcAft>
              <a:buNone/>
            </a:pPr>
            <a: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集合場所・時間・持ち物・服装の案内を、人数分くり返し送る</a:t>
            </a:r>
            <a:endParaRPr lang="ja-JP" altLang="en-US" sz="1200" dirty="0"/>
          </a:p>
        </p:txBody>
      </p:sp>
      <p:sp>
        <p:nvSpPr>
          <p:cNvPr id="28" name="Rectangle 27"/>
          <p:cNvSpPr/>
          <p:nvPr/>
        </p:nvSpPr>
        <p:spPr>
          <a:xfrm>
            <a:off x="4722876" y="28620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ja-JP" altLang="en-US" sz="1600" b="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▼</a:t>
            </a:r>
            <a:endParaRPr lang="ja-JP" altLang="en-US" sz="1600" dirty="0"/>
          </a:p>
        </p:txBody>
      </p:sp>
      <p:sp>
        <p:nvSpPr>
          <p:cNvPr id="29" name="Rounded Rectangle 28"/>
          <p:cNvSpPr/>
          <p:nvPr/>
        </p:nvSpPr>
        <p:spPr>
          <a:xfrm>
            <a:off x="3511296" y="3154681"/>
            <a:ext cx="2880360" cy="658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1E2761"/>
            </a:solidFill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ja-JP" altLang="en-US" sz="105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LINEでできること</a:t>
            </a:r>
            <a:endParaRPr lang="ja-JP" altLang="en-US" sz="1200" dirty="0"/>
          </a:p>
          <a:p>
            <a:pPr algn="l">
              <a:spcAft>
                <a:spcPts val="300"/>
              </a:spcAft>
              <a:buNone/>
            </a:pPr>
            <a: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同じイベントの方へ一斉に、会場・業務ごとに絞って案内する</a:t>
            </a:r>
            <a:endParaRPr lang="ja-JP" altLang="en-US" sz="1200" dirty="0"/>
          </a:p>
        </p:txBody>
      </p:sp>
      <p:sp>
        <p:nvSpPr>
          <p:cNvPr id="30" name="Rounded Rectangle 29"/>
          <p:cNvSpPr/>
          <p:nvPr/>
        </p:nvSpPr>
        <p:spPr>
          <a:xfrm>
            <a:off x="6592824" y="1653758"/>
            <a:ext cx="2880360" cy="310896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勤務のあと</a:t>
            </a:r>
            <a:endParaRPr lang="ja-JP" altLang="en-US" sz="1400" dirty="0"/>
          </a:p>
        </p:txBody>
      </p:sp>
      <p:sp>
        <p:nvSpPr>
          <p:cNvPr id="31" name="Rounded Rectangle 30"/>
          <p:cNvSpPr/>
          <p:nvPr/>
        </p:nvSpPr>
        <p:spPr>
          <a:xfrm>
            <a:off x="6592824" y="2065238"/>
            <a:ext cx="2880360" cy="759823"/>
          </a:xfrm>
          <a:prstGeom prst="roundRect">
            <a:avLst>
              <a:gd name="adj" fmla="val 5000"/>
            </a:avLst>
          </a:prstGeom>
          <a:solidFill>
            <a:srgbClr val="F5F6FA"/>
          </a:solidFill>
          <a:ln w="9525">
            <a:solidFill>
              <a:srgbClr val="D9D9D9"/>
            </a:solidFill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ja-JP" altLang="en-US" sz="1050" b="1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起きやすいこと（想定）</a:t>
            </a:r>
            <a:endParaRPr lang="ja-JP" altLang="en-US" sz="1200" dirty="0"/>
          </a:p>
          <a:p>
            <a:pPr algn="l">
              <a:spcAft>
                <a:spcPts val="300"/>
              </a:spcAft>
              <a:buNone/>
            </a:pPr>
            <a: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次の募集を届ける手段が残らず、新規の募集に頼りがち</a:t>
            </a:r>
            <a:endParaRPr lang="ja-JP" altLang="en-US" sz="1200" dirty="0"/>
          </a:p>
        </p:txBody>
      </p:sp>
      <p:sp>
        <p:nvSpPr>
          <p:cNvPr id="32" name="Rectangle 31"/>
          <p:cNvSpPr/>
          <p:nvPr/>
        </p:nvSpPr>
        <p:spPr>
          <a:xfrm>
            <a:off x="7804404" y="28620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ja-JP" altLang="en-US" sz="1600" b="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▼</a:t>
            </a:r>
            <a:endParaRPr lang="ja-JP" altLang="en-US" sz="1600" dirty="0"/>
          </a:p>
        </p:txBody>
      </p:sp>
      <p:sp>
        <p:nvSpPr>
          <p:cNvPr id="33" name="Rounded Rectangle 32"/>
          <p:cNvSpPr/>
          <p:nvPr/>
        </p:nvSpPr>
        <p:spPr>
          <a:xfrm>
            <a:off x="6592824" y="3154680"/>
            <a:ext cx="2880360" cy="658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1E2761"/>
            </a:solidFill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ja-JP" altLang="en-US" sz="105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LINEでできること</a:t>
            </a:r>
            <a:endParaRPr lang="ja-JP" altLang="en-US" sz="1200" dirty="0"/>
          </a:p>
          <a:p>
            <a:pPr algn="l">
              <a:spcAft>
                <a:spcPts val="300"/>
              </a:spcAft>
              <a:buNone/>
            </a:pPr>
            <a: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希望に合う次回イベントの募集を届け、再応募につなげる</a:t>
            </a:r>
            <a:endParaRPr lang="ja-JP" altLang="en-US" sz="1200" dirty="0"/>
          </a:p>
        </p:txBody>
      </p:sp>
      <p:sp>
        <p:nvSpPr>
          <p:cNvPr id="34" name="Rounded Rectangle 33"/>
          <p:cNvSpPr/>
          <p:nvPr/>
        </p:nvSpPr>
        <p:spPr>
          <a:xfrm>
            <a:off x="429768" y="4114365"/>
            <a:ext cx="4421124" cy="658368"/>
          </a:xfrm>
          <a:prstGeom prst="roundRect">
            <a:avLst>
              <a:gd name="adj" fmla="val 5000"/>
            </a:avLst>
          </a:prstGeom>
          <a:solidFill>
            <a:srgbClr val="EEF2F9"/>
          </a:solidFill>
          <a:ln w="9525">
            <a:solidFill>
              <a:srgbClr val="D9D9D9"/>
            </a:solidFill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buNone/>
            </a:pPr>
            <a:endParaRPr lang="ja-JP" altLang="en-US" sz="1200" dirty="0"/>
          </a:p>
        </p:txBody>
      </p:sp>
      <p:sp>
        <p:nvSpPr>
          <p:cNvPr id="35" name="Rectangle 34"/>
          <p:cNvSpPr/>
          <p:nvPr/>
        </p:nvSpPr>
        <p:spPr>
          <a:xfrm>
            <a:off x="566928" y="4114363"/>
            <a:ext cx="2431618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ja-JP" altLang="en-US" sz="12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メッセージ開封率（当日中）</a:t>
            </a:r>
            <a:endParaRPr lang="ja-JP" altLang="en-US" sz="1200" dirty="0"/>
          </a:p>
          <a:p>
            <a:pPr algn="l">
              <a:spcAft>
                <a:spcPts val="200"/>
              </a:spcAft>
              <a:buNone/>
            </a:pPr>
            <a:r>
              <a:rPr lang="ja-JP" altLang="en-US" sz="105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受信直後 約2割／3〜6時間で約5割</a:t>
            </a:r>
            <a:endParaRPr lang="ja-JP" altLang="en-US" sz="1200" dirty="0"/>
          </a:p>
        </p:txBody>
      </p:sp>
      <p:sp>
        <p:nvSpPr>
          <p:cNvPr id="36" name="Rectangle 35"/>
          <p:cNvSpPr/>
          <p:nvPr/>
        </p:nvSpPr>
        <p:spPr>
          <a:xfrm>
            <a:off x="2861386" y="4114364"/>
            <a:ext cx="1852345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buNone/>
            </a:pPr>
            <a:r>
              <a:rPr lang="ja-JP" altLang="en-US" sz="28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約8割</a:t>
            </a:r>
            <a:endParaRPr lang="ja-JP" altLang="en-US" sz="2800" dirty="0"/>
          </a:p>
        </p:txBody>
      </p:sp>
      <p:sp>
        <p:nvSpPr>
          <p:cNvPr id="37" name="Rounded Rectangle 36"/>
          <p:cNvSpPr/>
          <p:nvPr/>
        </p:nvSpPr>
        <p:spPr>
          <a:xfrm>
            <a:off x="5052059" y="4114365"/>
            <a:ext cx="4421124" cy="658368"/>
          </a:xfrm>
          <a:prstGeom prst="roundRect">
            <a:avLst>
              <a:gd name="adj" fmla="val 5000"/>
            </a:avLst>
          </a:prstGeom>
          <a:solidFill>
            <a:srgbClr val="EEF2F9"/>
          </a:solidFill>
          <a:ln w="9525">
            <a:solidFill>
              <a:srgbClr val="D9D9D9"/>
            </a:solidFill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buNone/>
            </a:pPr>
            <a:endParaRPr lang="ja-JP" altLang="en-US" sz="1200" dirty="0"/>
          </a:p>
        </p:txBody>
      </p:sp>
      <p:sp>
        <p:nvSpPr>
          <p:cNvPr id="38" name="Rectangle 37"/>
          <p:cNvSpPr/>
          <p:nvPr/>
        </p:nvSpPr>
        <p:spPr>
          <a:xfrm>
            <a:off x="5189220" y="4114364"/>
            <a:ext cx="2431618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ja-JP" altLang="en-US" sz="12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LINEの国内の月間利用者数</a:t>
            </a:r>
            <a:endParaRPr lang="ja-JP" altLang="en-US" sz="1200" dirty="0"/>
          </a:p>
          <a:p>
            <a:pPr algn="l">
              <a:spcAft>
                <a:spcPts val="200"/>
              </a:spcAft>
              <a:buNone/>
            </a:pPr>
            <a:r>
              <a:rPr lang="ja-JP" altLang="en-US" sz="105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2025年12月末時点</a:t>
            </a:r>
            <a:endParaRPr lang="ja-JP" altLang="en-US" sz="1200" dirty="0"/>
          </a:p>
        </p:txBody>
      </p:sp>
      <p:sp>
        <p:nvSpPr>
          <p:cNvPr id="39" name="Rectangle 38"/>
          <p:cNvSpPr/>
          <p:nvPr/>
        </p:nvSpPr>
        <p:spPr>
          <a:xfrm>
            <a:off x="7483678" y="4114364"/>
            <a:ext cx="1852345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buNone/>
            </a:pPr>
            <a:r>
              <a:rPr lang="ja-JP" altLang="en-US" sz="28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1億人突破</a:t>
            </a:r>
            <a:endParaRPr lang="ja-JP" alt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競合分析①｜イベント・単発の人材会社のLINE運用（実際の画面）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8521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登録（ムーヴ）・選考（ワントゥワン）・勤務（ステッドワン）のやり取りに、それぞれLINEを使っています。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画面から確認できたことだけを記載しています（2026年10月 弊社確認）。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000" y="6089904"/>
            <a:ext cx="9043200" cy="4572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画面：各社のLINE公式アカウント（2026年10月 弊社確認）。個人名は消しています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" y="1371600"/>
            <a:ext cx="2880360" cy="310896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ムーヴ｜登録の入口をLINEに</a:t>
            </a:r>
            <a:endParaRPr lang="ja-JP" altLang="en-US" sz="1100" dirty="0"/>
          </a:p>
        </p:txBody>
      </p:sp>
      <p:pic>
        <p:nvPicPr>
          <p:cNvPr id="22" name="競合LINE_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3" y="1783080"/>
            <a:ext cx="1325880" cy="2871942"/>
          </a:xfrm>
          <a:prstGeom prst="rect">
            <a:avLst/>
          </a:prstGeom>
          <a:ln w="9525">
            <a:solidFill>
              <a:srgbClr val="C6CADD"/>
            </a:solidFill>
          </a:ln>
        </p:spPr>
      </p:pic>
      <p:pic>
        <p:nvPicPr>
          <p:cNvPr id="23" name="競合LINE_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4811" y="1783080"/>
            <a:ext cx="1325880" cy="2871942"/>
          </a:xfrm>
          <a:prstGeom prst="rect">
            <a:avLst/>
          </a:prstGeom>
          <a:ln w="9525">
            <a:solidFill>
              <a:srgbClr val="C6CADD"/>
            </a:solidFill>
          </a:ln>
        </p:spPr>
      </p:pic>
      <p:sp>
        <p:nvSpPr>
          <p:cNvPr id="24" name="Rectangle 23"/>
          <p:cNvSpPr/>
          <p:nvPr/>
        </p:nvSpPr>
        <p:spPr>
          <a:xfrm>
            <a:off x="429768" y="4728174"/>
            <a:ext cx="2880360" cy="739937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18288" bIns="18288" rtlCol="0" anchor="t">
            <a:noAutofit/>
          </a:bodyPr>
          <a:lstStyle/>
          <a:p>
            <a:pPr algn="l">
              <a:spcAft>
                <a:spcPts val="100"/>
              </a:spcAft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・お仕事開始までの手順を4つで案内</a:t>
            </a:r>
            <a:endParaRPr lang="ja-JP" altLang="en-US" sz="1050" dirty="0"/>
          </a:p>
          <a:p>
            <a:pPr algn="l">
              <a:spcAft>
                <a:spcPts val="100"/>
              </a:spcAft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・登録／ID連携のボタンを表示</a:t>
            </a:r>
            <a:endParaRPr lang="ja-JP" altLang="en-US" sz="1050" dirty="0"/>
          </a:p>
          <a:p>
            <a:pPr algn="l">
              <a:spcAft>
                <a:spcPts val="100"/>
              </a:spcAft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・メニュー：仕事情報・Q&amp;A・問い合わせ</a:t>
            </a:r>
            <a:endParaRPr lang="ja-JP" altLang="en-US" sz="1050" dirty="0"/>
          </a:p>
        </p:txBody>
      </p:sp>
      <p:sp>
        <p:nvSpPr>
          <p:cNvPr id="25" name="Rounded Rectangle 24"/>
          <p:cNvSpPr/>
          <p:nvPr/>
        </p:nvSpPr>
        <p:spPr>
          <a:xfrm>
            <a:off x="3511296" y="1371600"/>
            <a:ext cx="2880360" cy="310896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ワントゥワン｜選考の案内をLINEで</a:t>
            </a:r>
            <a:endParaRPr lang="ja-JP" altLang="en-US" sz="1100" dirty="0"/>
          </a:p>
        </p:txBody>
      </p:sp>
      <p:pic>
        <p:nvPicPr>
          <p:cNvPr id="26" name="競合LINE_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0732" y="1783080"/>
            <a:ext cx="1325880" cy="2871942"/>
          </a:xfrm>
          <a:prstGeom prst="rect">
            <a:avLst/>
          </a:prstGeom>
          <a:ln w="9525">
            <a:solidFill>
              <a:srgbClr val="C6CADD"/>
            </a:solidFill>
          </a:ln>
        </p:spPr>
      </p:pic>
      <p:pic>
        <p:nvPicPr>
          <p:cNvPr id="27" name="競合LINE_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6340" y="1783080"/>
            <a:ext cx="1325880" cy="2871942"/>
          </a:xfrm>
          <a:prstGeom prst="rect">
            <a:avLst/>
          </a:prstGeom>
          <a:ln w="9525">
            <a:solidFill>
              <a:srgbClr val="C6CADD"/>
            </a:solidFill>
          </a:ln>
        </p:spPr>
      </p:pic>
      <p:sp>
        <p:nvSpPr>
          <p:cNvPr id="28" name="Rectangle 27"/>
          <p:cNvSpPr/>
          <p:nvPr/>
        </p:nvSpPr>
        <p:spPr>
          <a:xfrm>
            <a:off x="3511296" y="4728174"/>
            <a:ext cx="2880360" cy="739937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18288" bIns="18288" rtlCol="0" anchor="t">
            <a:noAutofit/>
          </a:bodyPr>
          <a:lstStyle/>
          <a:p>
            <a:pPr algn="l">
              <a:spcAft>
                <a:spcPts val="100"/>
              </a:spcAft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・追加の直後に、氏名をLINEで送ってもらう</a:t>
            </a:r>
            <a:endParaRPr lang="ja-JP" altLang="en-US" sz="1050" dirty="0"/>
          </a:p>
          <a:p>
            <a:pPr algn="l">
              <a:spcAft>
                <a:spcPts val="100"/>
              </a:spcAft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・録画面接のURLを案内</a:t>
            </a:r>
            <a:endParaRPr lang="ja-JP" altLang="en-US" sz="1050" dirty="0"/>
          </a:p>
          <a:p>
            <a:pPr algn="l">
              <a:spcAft>
                <a:spcPts val="100"/>
              </a:spcAft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・合否はメール、質問はLINEで受付</a:t>
            </a:r>
            <a:endParaRPr lang="ja-JP" altLang="en-US" sz="1050" dirty="0"/>
          </a:p>
        </p:txBody>
      </p:sp>
      <p:sp>
        <p:nvSpPr>
          <p:cNvPr id="29" name="Rounded Rectangle 28"/>
          <p:cNvSpPr/>
          <p:nvPr/>
        </p:nvSpPr>
        <p:spPr>
          <a:xfrm>
            <a:off x="6592824" y="1371600"/>
            <a:ext cx="2880360" cy="310896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ステッドワン｜勤務のやり取りをLINEで</a:t>
            </a:r>
            <a:endParaRPr lang="ja-JP" altLang="en-US" sz="1100" dirty="0"/>
          </a:p>
        </p:txBody>
      </p:sp>
      <p:pic>
        <p:nvPicPr>
          <p:cNvPr id="30" name="競合LINE_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2260" y="1783080"/>
            <a:ext cx="1325880" cy="2871942"/>
          </a:xfrm>
          <a:prstGeom prst="rect">
            <a:avLst/>
          </a:prstGeom>
          <a:ln w="9525">
            <a:solidFill>
              <a:srgbClr val="C6CADD"/>
            </a:solidFill>
          </a:ln>
        </p:spPr>
      </p:pic>
      <p:pic>
        <p:nvPicPr>
          <p:cNvPr id="31" name="競合LINE_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7868" y="1783080"/>
            <a:ext cx="1325880" cy="2871942"/>
          </a:xfrm>
          <a:prstGeom prst="rect">
            <a:avLst/>
          </a:prstGeom>
          <a:ln w="9525">
            <a:solidFill>
              <a:srgbClr val="C6CADD"/>
            </a:solidFill>
          </a:ln>
        </p:spPr>
      </p:pic>
      <p:sp>
        <p:nvSpPr>
          <p:cNvPr id="32" name="Rectangle 31"/>
          <p:cNvSpPr/>
          <p:nvPr/>
        </p:nvSpPr>
        <p:spPr>
          <a:xfrm>
            <a:off x="6592824" y="4728174"/>
            <a:ext cx="2880360" cy="739937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18288" bIns="18288" rtlCol="0" anchor="t">
            <a:noAutofit/>
          </a:bodyPr>
          <a:lstStyle/>
          <a:p>
            <a:pPr algn="l">
              <a:spcAft>
                <a:spcPts val="100"/>
              </a:spcAft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・このLINEで仕事をやり取りすると宣言</a:t>
            </a:r>
            <a:endParaRPr lang="ja-JP" altLang="en-US" sz="1050" dirty="0"/>
          </a:p>
          <a:p>
            <a:pPr algn="l">
              <a:spcAft>
                <a:spcPts val="100"/>
              </a:spcAft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・新規案件・勤務の可否・集合詳細を送る</a:t>
            </a:r>
            <a:endParaRPr lang="ja-JP" altLang="en-US" sz="1050" dirty="0"/>
          </a:p>
          <a:p>
            <a:pPr algn="l">
              <a:spcAft>
                <a:spcPts val="100"/>
              </a:spcAft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・スタッフからは起床連絡・勤怠報告</a:t>
            </a:r>
            <a:endParaRPr lang="ja-JP" alt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競合分析②｜LINEの使い方の比較と、横浜シミズで目指す形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8521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応募の受付だけでなく、勤務の連絡や次の募集まで、スタッフとの継続的な接点にLINEを活用できます。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3社の画面で、勤務の連絡と次の案件までLINEで扱っていたのは、ステッドワンでした。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" y="5596128"/>
            <a:ext cx="9043416" cy="37490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2000" y="6089904"/>
            <a:ext cx="9043200" cy="4572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画面：各社のLINE公式アカウント（2026年10月 弊社確認）／タウンワーク：LINEヤフー for Business 導入事例「バイト応募件数約80％増！リッチメニューを生かしたタウンワークのLINE活用事例」（2019年1月公開）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" y="5596128"/>
            <a:ext cx="9043416" cy="374904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応募の受付から、勤務の連絡・次の募集までをLINEでつなぐ</a:t>
            </a:r>
            <a:endParaRPr lang="ja-JP" altLang="en-US" sz="1300" dirty="0"/>
          </a:p>
        </p:txBody>
      </p:sp>
      <p:graphicFrame>
        <p:nvGraphicFramePr>
          <p:cNvPr id="22" name="表 21"/>
          <p:cNvGraphicFramePr>
            <a:graphicFrameLocks noGrp="1"/>
          </p:cNvGraphicFramePr>
          <p:nvPr/>
        </p:nvGraphicFramePr>
        <p:xfrm>
          <a:off x="429768" y="1371600"/>
          <a:ext cx="9043416" cy="3401568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225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評価項目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ムーヴ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ワントゥワン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ステッドワン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横浜シミズで目指す形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50" b="1" dirty="0">
                          <a:solidFill>
                            <a:srgbClr val="323366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友だち追加後の案内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お仕事開始までの手順を4つで案内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氏名（漢字・ふりがな）の送信を依頼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このLINEでのやり取りを説明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00" b="1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勤務に必要な情報が届くことを最初に伝える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50" b="1" dirty="0">
                          <a:solidFill>
                            <a:srgbClr val="323366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応募・登録の導線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LINEからスタッフ登録・ID連携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録画面接のURLを案内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採用手続きフォーム（外部）へ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00" b="1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応募完了からそのままLINEへ（サンクスLINE誘導）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50" b="1" dirty="0">
                          <a:solidFill>
                            <a:srgbClr val="323366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勤務連絡への活用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00" b="0" dirty="0">
                          <a:solidFill>
                            <a:srgbClr val="595959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画面では未確認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00" b="0" dirty="0">
                          <a:solidFill>
                            <a:srgbClr val="595959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画面では未確認（合否はメール）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集合詳細・起床連絡・勤怠報告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00" b="1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集合・持ち物・前日のリマインド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50" b="1" dirty="0">
                          <a:solidFill>
                            <a:srgbClr val="323366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募集情報の配信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登録後に「条件に合う仕事も案内」と記載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00" b="0" dirty="0">
                          <a:solidFill>
                            <a:srgbClr val="595959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画面では未確認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新規案件をLINEで送る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00" b="1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エリア・会場・希望で絞って届ける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50" b="1" dirty="0">
                          <a:solidFill>
                            <a:srgbClr val="323366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再応募への導線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「お仕事一覧から申込み」と記載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00" b="0" dirty="0">
                          <a:solidFill>
                            <a:srgbClr val="595959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画面では未確認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案件へのエントリーをLINEで送る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00" b="1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次回イベントの募集から再応募へ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50" b="1" dirty="0">
                          <a:solidFill>
                            <a:srgbClr val="323366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リッチメニュー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仕事情報・Q&amp;A・問い合わせ＋登録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00" b="0" dirty="0">
                          <a:solidFill>
                            <a:srgbClr val="595959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画面では未確認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「案件一覧」あり（ほかは未確認）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00" b="1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仕事を探す・勤務の案内・よくある質問など</a:t>
                      </a:r>
                      <a:endParaRPr lang="ja-JP" altLang="en-US" sz="1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429768" y="4864608"/>
            <a:ext cx="9043416" cy="603504"/>
          </a:xfrm>
          <a:prstGeom prst="roundRect">
            <a:avLst>
              <a:gd name="adj" fmla="val 5000"/>
            </a:avLst>
          </a:prstGeom>
          <a:solidFill>
            <a:srgbClr val="F5F6FA"/>
          </a:solidFill>
          <a:ln w="9525">
            <a:solidFill>
              <a:srgbClr val="D9D9D9"/>
            </a:solidFill>
          </a:ln>
        </p:spPr>
        <p:txBody>
          <a:bodyPr wrap="square" lIns="109728" tIns="36576" rIns="109728" bIns="36576" rtlCol="0" anchor="ctr">
            <a:noAutofit/>
          </a:bodyPr>
          <a:lstStyle/>
          <a:p>
            <a:pPr algn="l">
              <a:buNone/>
            </a:pPr>
            <a:r>
              <a:rPr lang="ja-JP" altLang="en-US" sz="10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参考｜タウンワーク（求人メディア）は、LINEを求人検索の入口に活用して、リッチメニュー経由の応募数が79%増えました（2019年公開の導入事例）。直接の競合ではなく、LINEを応募の入口にした参考事例です。</a:t>
            </a:r>
            <a:endParaRPr lang="ja-JP" alt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提案の全体像｜応募から再応募までを、LINEで循環させる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8521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応募の時点で友だちになっていただき、勤務の連絡と次の募集をLINEでお届けします。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イベントが終わっても接点が切れず、次のイベントの人員確保につながる仕組みです。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" y="5596128"/>
            <a:ext cx="9043416" cy="37490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29768" y="5596128"/>
            <a:ext cx="9043416" cy="374904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単発の勤務を、イベントごとに途切れない関係に変える</a:t>
            </a:r>
            <a:endParaRPr lang="ja-JP" altLang="en-US" sz="1300" dirty="0"/>
          </a:p>
        </p:txBody>
      </p:sp>
      <p:sp>
        <p:nvSpPr>
          <p:cNvPr id="22" name="Rounded Rectangle 21"/>
          <p:cNvSpPr/>
          <p:nvPr/>
        </p:nvSpPr>
        <p:spPr>
          <a:xfrm>
            <a:off x="429768" y="1508760"/>
            <a:ext cx="1874519" cy="960120"/>
          </a:xfrm>
          <a:prstGeom prst="roundRect">
            <a:avLst>
              <a:gd name="adj" fmla="val 5000"/>
            </a:avLst>
          </a:prstGeom>
          <a:solidFill>
            <a:srgbClr val="F5F6FA"/>
          </a:solidFill>
          <a:ln w="15875">
            <a:solidFill>
              <a:srgbClr val="1E2761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spcAft>
                <a:spcPts val="100"/>
              </a:spcAft>
              <a:buNone/>
            </a:pPr>
            <a:r>
              <a:rPr lang="ja-JP" altLang="en-US" sz="14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新規応募</a:t>
            </a:r>
            <a:endParaRPr lang="ja-JP" altLang="en-US" sz="1100" dirty="0"/>
          </a:p>
          <a:p>
            <a:pPr algn="ctr">
              <a:spcAft>
                <a:spcPts val="100"/>
              </a:spcAft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採用サイトから応募</a:t>
            </a:r>
            <a:endParaRPr lang="ja-JP" altLang="en-US" sz="1100" dirty="0"/>
          </a:p>
        </p:txBody>
      </p:sp>
      <p:cxnSp>
        <p:nvCxnSpPr>
          <p:cNvPr id="23" name="Connector 22"/>
          <p:cNvCxnSpPr/>
          <p:nvPr/>
        </p:nvCxnSpPr>
        <p:spPr>
          <a:xfrm>
            <a:off x="1367028" y="2487168"/>
            <a:ext cx="0" cy="557784"/>
          </a:xfrm>
          <a:prstGeom prst="line">
            <a:avLst/>
          </a:prstGeom>
          <a:ln w="25400">
            <a:solidFill>
              <a:srgbClr val="1E2761"/>
            </a:solidFill>
            <a:tailEnd type="triangle" w="med" len="med"/>
          </a:ln>
        </p:spPr>
      </p:cxnSp>
      <p:sp>
        <p:nvSpPr>
          <p:cNvPr id="24" name="Rounded Rectangle 23"/>
          <p:cNvSpPr/>
          <p:nvPr/>
        </p:nvSpPr>
        <p:spPr>
          <a:xfrm>
            <a:off x="429768" y="3063240"/>
            <a:ext cx="1874519" cy="1143000"/>
          </a:xfrm>
          <a:prstGeom prst="roundRect">
            <a:avLst>
              <a:gd name="adj" fmla="val 5000"/>
            </a:avLst>
          </a:prstGeom>
          <a:solidFill>
            <a:srgbClr val="E9F8EF"/>
          </a:solidFill>
          <a:ln w="15875">
            <a:solidFill>
              <a:srgbClr val="06C755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spcAft>
                <a:spcPts val="100"/>
              </a:spcAft>
              <a:buNone/>
            </a:pPr>
            <a:r>
              <a:rPr lang="ja-JP" altLang="en-US" sz="1000" b="1" dirty="0">
                <a:solidFill>
                  <a:srgbClr val="06C755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施策① 友だち獲得</a:t>
            </a:r>
            <a:endParaRPr lang="ja-JP" altLang="en-US" sz="1100" dirty="0"/>
          </a:p>
          <a:p>
            <a:pPr algn="ctr">
              <a:spcAft>
                <a:spcPts val="100"/>
              </a:spcAft>
              <a:buNone/>
            </a:pPr>
            <a:r>
              <a:rPr lang="ja-JP" altLang="en-US" sz="14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LINE友だち追加</a:t>
            </a:r>
            <a:endParaRPr lang="ja-JP" altLang="en-US" sz="1100" dirty="0"/>
          </a:p>
          <a:p>
            <a:pPr algn="ctr">
              <a:spcAft>
                <a:spcPts val="100"/>
              </a:spcAft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応募完了からLINEへ</a:t>
            </a:r>
            <a:endParaRPr lang="ja-JP" altLang="en-US" sz="1100" dirty="0"/>
          </a:p>
        </p:txBody>
      </p:sp>
      <p:cxnSp>
        <p:nvCxnSpPr>
          <p:cNvPr id="25" name="Connector 24"/>
          <p:cNvCxnSpPr/>
          <p:nvPr/>
        </p:nvCxnSpPr>
        <p:spPr>
          <a:xfrm flipV="1">
            <a:off x="2322576" y="2148840"/>
            <a:ext cx="630936" cy="1481328"/>
          </a:xfrm>
          <a:prstGeom prst="line">
            <a:avLst/>
          </a:prstGeom>
          <a:ln w="25400">
            <a:solidFill>
              <a:srgbClr val="1E2761"/>
            </a:solidFill>
            <a:tailEnd type="triangle" w="med" len="med"/>
          </a:ln>
        </p:spPr>
      </p:cxnSp>
      <p:sp>
        <p:nvSpPr>
          <p:cNvPr id="26" name="Rounded Rectangle 25"/>
          <p:cNvSpPr/>
          <p:nvPr/>
        </p:nvSpPr>
        <p:spPr>
          <a:xfrm>
            <a:off x="2971800" y="1463040"/>
            <a:ext cx="2432304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1E2761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spcAft>
                <a:spcPts val="100"/>
              </a:spcAft>
              <a:buNone/>
            </a:pPr>
            <a:r>
              <a:rPr lang="ja-JP" altLang="en-US" sz="10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施策② 勤務連絡・管理</a:t>
            </a:r>
            <a:endParaRPr lang="ja-JP" altLang="en-US" sz="1100" dirty="0"/>
          </a:p>
          <a:p>
            <a:pPr algn="ctr">
              <a:spcAft>
                <a:spcPts val="100"/>
              </a:spcAft>
              <a:buNone/>
            </a:pPr>
            <a:r>
              <a:rPr lang="ja-JP" altLang="en-US" sz="14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勤務連絡</a:t>
            </a:r>
            <a:endParaRPr lang="ja-JP" altLang="en-US" sz="1100" dirty="0"/>
          </a:p>
          <a:p>
            <a:pPr algn="ctr">
              <a:spcAft>
                <a:spcPts val="100"/>
              </a:spcAft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集合・持ち物・前日のリマインド</a:t>
            </a:r>
            <a:endParaRPr lang="ja-JP" altLang="en-US" sz="1100" dirty="0"/>
          </a:p>
        </p:txBody>
      </p:sp>
      <p:sp>
        <p:nvSpPr>
          <p:cNvPr id="27" name="Rounded Rectangle 26"/>
          <p:cNvSpPr/>
          <p:nvPr/>
        </p:nvSpPr>
        <p:spPr>
          <a:xfrm>
            <a:off x="7040880" y="1463040"/>
            <a:ext cx="2432304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1E2761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spcAft>
                <a:spcPts val="100"/>
              </a:spcAft>
              <a:buNone/>
            </a:pPr>
            <a:r>
              <a:rPr lang="ja-JP" altLang="en-US" sz="14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イベント勤務</a:t>
            </a:r>
            <a:endParaRPr lang="ja-JP" altLang="en-US" sz="1100" dirty="0"/>
          </a:p>
          <a:p>
            <a:pPr algn="ctr">
              <a:spcAft>
                <a:spcPts val="100"/>
              </a:spcAft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現場で勤務</a:t>
            </a:r>
            <a:endParaRPr lang="ja-JP" altLang="en-US" sz="1100" dirty="0"/>
          </a:p>
        </p:txBody>
      </p:sp>
      <p:sp>
        <p:nvSpPr>
          <p:cNvPr id="28" name="Rounded Rectangle 27"/>
          <p:cNvSpPr/>
          <p:nvPr/>
        </p:nvSpPr>
        <p:spPr>
          <a:xfrm>
            <a:off x="7040880" y="3657600"/>
            <a:ext cx="2432304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1E2761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spcAft>
                <a:spcPts val="100"/>
              </a:spcAft>
              <a:buNone/>
            </a:pPr>
            <a:r>
              <a:rPr lang="ja-JP" altLang="en-US" sz="10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施策③ 再応募・再稼働</a:t>
            </a:r>
            <a:endParaRPr lang="ja-JP" altLang="en-US" sz="1100" dirty="0"/>
          </a:p>
          <a:p>
            <a:pPr algn="ctr">
              <a:spcAft>
                <a:spcPts val="100"/>
              </a:spcAft>
              <a:buNone/>
            </a:pPr>
            <a:r>
              <a:rPr lang="ja-JP" altLang="en-US" sz="14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次回募集</a:t>
            </a:r>
            <a:endParaRPr lang="ja-JP" altLang="en-US" sz="1100" dirty="0"/>
          </a:p>
          <a:p>
            <a:pPr algn="ctr">
              <a:spcAft>
                <a:spcPts val="100"/>
              </a:spcAft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エリア・会場・希望で絞って案内</a:t>
            </a:r>
            <a:endParaRPr lang="ja-JP" altLang="en-US" sz="1100" dirty="0"/>
          </a:p>
        </p:txBody>
      </p:sp>
      <p:sp>
        <p:nvSpPr>
          <p:cNvPr id="29" name="Rounded Rectangle 28"/>
          <p:cNvSpPr/>
          <p:nvPr/>
        </p:nvSpPr>
        <p:spPr>
          <a:xfrm>
            <a:off x="2971800" y="3657600"/>
            <a:ext cx="2432304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1E2761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spcAft>
                <a:spcPts val="100"/>
              </a:spcAft>
              <a:buNone/>
            </a:pPr>
            <a:r>
              <a:rPr lang="ja-JP" altLang="en-US" sz="10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施策③ 再応募・再稼働</a:t>
            </a:r>
            <a:endParaRPr lang="ja-JP" altLang="en-US" sz="1100" dirty="0"/>
          </a:p>
          <a:p>
            <a:pPr algn="ctr">
              <a:spcAft>
                <a:spcPts val="100"/>
              </a:spcAft>
              <a:buNone/>
            </a:pPr>
            <a:r>
              <a:rPr lang="ja-JP" altLang="en-US" sz="14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再応募・継続</a:t>
            </a:r>
            <a:endParaRPr lang="ja-JP" altLang="en-US" sz="1100" dirty="0"/>
          </a:p>
          <a:p>
            <a:pPr algn="ctr">
              <a:spcAft>
                <a:spcPts val="100"/>
              </a:spcAft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次のイベントにも勤務</a:t>
            </a:r>
            <a:endParaRPr lang="ja-JP" altLang="en-US" sz="1100" dirty="0"/>
          </a:p>
        </p:txBody>
      </p:sp>
      <p:cxnSp>
        <p:nvCxnSpPr>
          <p:cNvPr id="30" name="Connector 29"/>
          <p:cNvCxnSpPr/>
          <p:nvPr/>
        </p:nvCxnSpPr>
        <p:spPr>
          <a:xfrm>
            <a:off x="5449824" y="1988819"/>
            <a:ext cx="1545336" cy="0"/>
          </a:xfrm>
          <a:prstGeom prst="line">
            <a:avLst/>
          </a:prstGeom>
          <a:ln w="25400">
            <a:solidFill>
              <a:srgbClr val="1E2761"/>
            </a:solidFill>
            <a:tailEnd type="triangle" w="med" len="med"/>
          </a:ln>
        </p:spPr>
      </p:cxnSp>
      <p:cxnSp>
        <p:nvCxnSpPr>
          <p:cNvPr id="31" name="Connector 30"/>
          <p:cNvCxnSpPr/>
          <p:nvPr/>
        </p:nvCxnSpPr>
        <p:spPr>
          <a:xfrm>
            <a:off x="8257032" y="2560320"/>
            <a:ext cx="0" cy="1051560"/>
          </a:xfrm>
          <a:prstGeom prst="line">
            <a:avLst/>
          </a:prstGeom>
          <a:ln w="25400">
            <a:solidFill>
              <a:srgbClr val="1E2761"/>
            </a:solidFill>
            <a:tailEnd type="triangle" w="med" len="med"/>
          </a:ln>
        </p:spPr>
      </p:cxnSp>
      <p:cxnSp>
        <p:nvCxnSpPr>
          <p:cNvPr id="32" name="Connector 31"/>
          <p:cNvCxnSpPr/>
          <p:nvPr/>
        </p:nvCxnSpPr>
        <p:spPr>
          <a:xfrm flipH="1">
            <a:off x="5449824" y="4183380"/>
            <a:ext cx="1545336" cy="0"/>
          </a:xfrm>
          <a:prstGeom prst="line">
            <a:avLst/>
          </a:prstGeom>
          <a:ln w="25400">
            <a:solidFill>
              <a:srgbClr val="1E2761"/>
            </a:solidFill>
            <a:tailEnd type="triangle" w="med" len="med"/>
          </a:ln>
        </p:spPr>
      </p:cxnSp>
      <p:cxnSp>
        <p:nvCxnSpPr>
          <p:cNvPr id="33" name="Connector 32"/>
          <p:cNvCxnSpPr/>
          <p:nvPr/>
        </p:nvCxnSpPr>
        <p:spPr>
          <a:xfrm flipV="1">
            <a:off x="4187952" y="2560320"/>
            <a:ext cx="0" cy="1051560"/>
          </a:xfrm>
          <a:prstGeom prst="line">
            <a:avLst/>
          </a:prstGeom>
          <a:ln w="25400">
            <a:solidFill>
              <a:srgbClr val="1E2761"/>
            </a:solidFill>
            <a:tailEnd type="triangle" w="med" len="med"/>
          </a:ln>
        </p:spPr>
      </p:cxnSp>
      <p:sp>
        <p:nvSpPr>
          <p:cNvPr id="34" name="Rectangle 33"/>
          <p:cNvSpPr/>
          <p:nvPr/>
        </p:nvSpPr>
        <p:spPr>
          <a:xfrm>
            <a:off x="4370832" y="2788920"/>
            <a:ext cx="370332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ja-JP" altLang="en-US" sz="1200" b="1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イベントのたびに</a:t>
            </a:r>
            <a:endParaRPr lang="ja-JP" altLang="en-US" sz="1200" dirty="0"/>
          </a:p>
          <a:p>
            <a:pPr algn="ctr">
              <a:buNone/>
            </a:pPr>
            <a:r>
              <a:rPr lang="ja-JP" altLang="en-US" sz="1200" b="1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くり返す</a:t>
            </a:r>
            <a:endParaRPr lang="ja-JP" altLang="en-US" sz="1200" dirty="0"/>
          </a:p>
        </p:txBody>
      </p:sp>
      <p:sp>
        <p:nvSpPr>
          <p:cNvPr id="35" name="Rectangle 34"/>
          <p:cNvSpPr/>
          <p:nvPr/>
        </p:nvSpPr>
        <p:spPr>
          <a:xfrm>
            <a:off x="2971800" y="4846320"/>
            <a:ext cx="6501383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応募の時点で友だちになるので、イベントが終わっても次の募集が届きます。</a:t>
            </a:r>
            <a:endParaRPr lang="ja-JP" alt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752;p28">
            <a:extLst>
              <a:ext uri="{FF2B5EF4-FFF2-40B4-BE49-F238E27FC236}">
                <a16:creationId xmlns:a16="http://schemas.microsoft.com/office/drawing/2014/main" id="{AA80CD04-9456-70DB-2E44-D3EDB1461933}"/>
              </a:ext>
            </a:extLst>
          </p:cNvPr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  <a:sym typeface="Meiryo"/>
              </a:rPr>
              <a:t>施策①｜友だち獲得：応募完了から、そのままLINEへ</a:t>
            </a:r>
            <a:endParaRPr lang="en-US" altLang="ja-JP"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  <a:sym typeface="Meiryo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32BBF438-B1EF-A61A-EE3D-69CD39766C7E}"/>
              </a:ext>
            </a:extLst>
          </p:cNvPr>
          <p:cNvSpPr/>
          <p:nvPr/>
        </p:nvSpPr>
        <p:spPr>
          <a:xfrm>
            <a:off x="6123840" y="2144236"/>
            <a:ext cx="2487570" cy="182120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1A1E4128-77DC-C871-EE20-5BD43326E078}"/>
              </a:ext>
            </a:extLst>
          </p:cNvPr>
          <p:cNvSpPr/>
          <p:nvPr/>
        </p:nvSpPr>
        <p:spPr>
          <a:xfrm>
            <a:off x="6123841" y="4317370"/>
            <a:ext cx="2487569" cy="182120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F37BB268-660A-FEE4-BB39-0E338F1DDC23}"/>
              </a:ext>
            </a:extLst>
          </p:cNvPr>
          <p:cNvSpPr/>
          <p:nvPr/>
        </p:nvSpPr>
        <p:spPr>
          <a:xfrm>
            <a:off x="6161261" y="1989652"/>
            <a:ext cx="1315634" cy="2441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en-US" altLang="ja-JP" sz="8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8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未追加の場合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C9FF4626-FD17-CA1C-8064-F46606D0BCCE}"/>
              </a:ext>
            </a:extLst>
          </p:cNvPr>
          <p:cNvSpPr/>
          <p:nvPr/>
        </p:nvSpPr>
        <p:spPr>
          <a:xfrm>
            <a:off x="6161261" y="4195296"/>
            <a:ext cx="1315634" cy="2441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en-US" altLang="ja-JP" sz="8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8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追加済みの場合</a:t>
            </a:r>
          </a:p>
        </p:txBody>
      </p: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8F202453-7FF9-8AE7-D10D-66F74A74A2F4}"/>
              </a:ext>
            </a:extLst>
          </p:cNvPr>
          <p:cNvCxnSpPr>
            <a:cxnSpLocks/>
          </p:cNvCxnSpPr>
          <p:nvPr/>
        </p:nvCxnSpPr>
        <p:spPr>
          <a:xfrm flipV="1">
            <a:off x="5819550" y="2932418"/>
            <a:ext cx="318138" cy="421706"/>
          </a:xfrm>
          <a:prstGeom prst="straightConnector1">
            <a:avLst/>
          </a:prstGeom>
          <a:ln w="19050">
            <a:solidFill>
              <a:srgbClr val="00B050">
                <a:alpha val="80000"/>
              </a:srgb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C92F6E28-BBFF-1A56-AC22-CA16D2F1B1EA}"/>
              </a:ext>
            </a:extLst>
          </p:cNvPr>
          <p:cNvCxnSpPr>
            <a:cxnSpLocks/>
          </p:cNvCxnSpPr>
          <p:nvPr/>
        </p:nvCxnSpPr>
        <p:spPr>
          <a:xfrm>
            <a:off x="5819550" y="3354124"/>
            <a:ext cx="280718" cy="1392760"/>
          </a:xfrm>
          <a:prstGeom prst="straightConnector1">
            <a:avLst/>
          </a:prstGeom>
          <a:ln w="19050">
            <a:solidFill>
              <a:srgbClr val="00B050">
                <a:alpha val="80000"/>
              </a:srgb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図 44" descr="グラフィカル ユーザー インターフェイス, アプリケーション, Teams&#10;&#10;AI 生成コンテンツは誤りを含む可能性があります。">
            <a:extLst>
              <a:ext uri="{FF2B5EF4-FFF2-40B4-BE49-F238E27FC236}">
                <a16:creationId xmlns:a16="http://schemas.microsoft.com/office/drawing/2014/main" id="{E91CA7A5-62B3-F1F8-38C3-DDCE33E1CC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80"/>
          <a:stretch>
            <a:fillRect/>
          </a:stretch>
        </p:blipFill>
        <p:spPr>
          <a:xfrm>
            <a:off x="7518319" y="2173082"/>
            <a:ext cx="1000253" cy="1694141"/>
          </a:xfrm>
          <a:prstGeom prst="rect">
            <a:avLst/>
          </a:prstGeom>
        </p:spPr>
      </p:pic>
      <p:pic>
        <p:nvPicPr>
          <p:cNvPr id="46" name="図 45" descr="電卓の写真のスマートフォンのスクリーンショット&#10;&#10;AI 生成コンテンツは誤りを含む可能性があります。">
            <a:extLst>
              <a:ext uri="{FF2B5EF4-FFF2-40B4-BE49-F238E27FC236}">
                <a16:creationId xmlns:a16="http://schemas.microsoft.com/office/drawing/2014/main" id="{31EEAD2C-3BE8-0210-FD8E-46D52B30A0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80"/>
          <a:stretch>
            <a:fillRect/>
          </a:stretch>
        </p:blipFill>
        <p:spPr>
          <a:xfrm>
            <a:off x="7527889" y="4316771"/>
            <a:ext cx="1000253" cy="1694142"/>
          </a:xfrm>
          <a:prstGeom prst="rect">
            <a:avLst/>
          </a:prstGeom>
        </p:spPr>
      </p:pic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E989AEB3-EF0E-8885-B426-8B6A5E01F40A}"/>
              </a:ext>
            </a:extLst>
          </p:cNvPr>
          <p:cNvSpPr txBox="1"/>
          <p:nvPr/>
        </p:nvSpPr>
        <p:spPr>
          <a:xfrm>
            <a:off x="6161261" y="2335961"/>
            <a:ext cx="1227667" cy="400110"/>
          </a:xfrm>
          <a:prstGeom prst="rect">
            <a:avLst/>
          </a:prstGeom>
          <a:noFill/>
        </p:spPr>
        <p:txBody>
          <a:bodyPr wrap="square" lIns="74295" rIns="74295">
            <a:spAutoFit/>
          </a:bodyPr>
          <a:lstStyle/>
          <a:p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友だち登録ページ</a:t>
            </a:r>
            <a:r>
              <a:rPr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へ遷移する。</a:t>
            </a: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4E6D08E3-E0B3-1DF4-0533-E4EE67240415}"/>
              </a:ext>
            </a:extLst>
          </p:cNvPr>
          <p:cNvSpPr txBox="1"/>
          <p:nvPr/>
        </p:nvSpPr>
        <p:spPr>
          <a:xfrm>
            <a:off x="6157879" y="4570201"/>
            <a:ext cx="1338278" cy="400110"/>
          </a:xfrm>
          <a:prstGeom prst="rect">
            <a:avLst/>
          </a:prstGeom>
          <a:noFill/>
        </p:spPr>
        <p:txBody>
          <a:bodyPr wrap="square" lIns="74295" rIns="74295">
            <a:spAutoFit/>
          </a:bodyPr>
          <a:lstStyle/>
          <a:p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トーク画面</a:t>
            </a:r>
            <a:r>
              <a:rPr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へ</a:t>
            </a:r>
            <a:endParaRPr lang="en-US" altLang="ja-JP" sz="1000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r>
              <a:rPr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遷移する。</a:t>
            </a:r>
            <a:endParaRPr lang="en-US" altLang="ja-JP" sz="1000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pic>
        <p:nvPicPr>
          <p:cNvPr id="56" name="図 55">
            <a:extLst>
              <a:ext uri="{FF2B5EF4-FFF2-40B4-BE49-F238E27FC236}">
                <a16:creationId xmlns:a16="http://schemas.microsoft.com/office/drawing/2014/main" id="{0B7B313D-7D5F-4357-9B38-DFC3DBC5FC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7873" y="2950101"/>
            <a:ext cx="921141" cy="89556"/>
          </a:xfrm>
          <a:prstGeom prst="rect">
            <a:avLst/>
          </a:prstGeom>
        </p:spPr>
      </p:pic>
      <p:pic>
        <p:nvPicPr>
          <p:cNvPr id="57" name="図 56">
            <a:extLst>
              <a:ext uri="{FF2B5EF4-FFF2-40B4-BE49-F238E27FC236}">
                <a16:creationId xmlns:a16="http://schemas.microsoft.com/office/drawing/2014/main" id="{A8EA42C4-338F-850B-B276-B83DC2A731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5776" y="2949394"/>
            <a:ext cx="389971" cy="86660"/>
          </a:xfrm>
          <a:prstGeom prst="rect">
            <a:avLst/>
          </a:prstGeom>
        </p:spPr>
      </p:pic>
      <p:pic>
        <p:nvPicPr>
          <p:cNvPr id="58" name="図 57">
            <a:extLst>
              <a:ext uri="{FF2B5EF4-FFF2-40B4-BE49-F238E27FC236}">
                <a16:creationId xmlns:a16="http://schemas.microsoft.com/office/drawing/2014/main" id="{CCB04072-A708-EEE7-1345-D4C9E9FA9C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9883" y="4314411"/>
            <a:ext cx="271710" cy="60381"/>
          </a:xfrm>
          <a:prstGeom prst="rect">
            <a:avLst/>
          </a:prstGeom>
        </p:spPr>
      </p:pic>
      <p:pic>
        <p:nvPicPr>
          <p:cNvPr id="59" name="図 58">
            <a:extLst>
              <a:ext uri="{FF2B5EF4-FFF2-40B4-BE49-F238E27FC236}">
                <a16:creationId xmlns:a16="http://schemas.microsoft.com/office/drawing/2014/main" id="{EDED354B-362F-AAF7-76A6-52D8547EDC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3708" y="4438236"/>
            <a:ext cx="271710" cy="60381"/>
          </a:xfrm>
          <a:prstGeom prst="rect">
            <a:avLst/>
          </a:prstGeom>
        </p:spPr>
      </p:pic>
      <p:sp>
        <p:nvSpPr>
          <p:cNvPr id="1030" name="楕円 1029">
            <a:extLst>
              <a:ext uri="{FF2B5EF4-FFF2-40B4-BE49-F238E27FC236}">
                <a16:creationId xmlns:a16="http://schemas.microsoft.com/office/drawing/2014/main" id="{A0934BB8-8F8D-D4F0-8D59-8F32A6A6E03A}"/>
              </a:ext>
            </a:extLst>
          </p:cNvPr>
          <p:cNvSpPr/>
          <p:nvPr/>
        </p:nvSpPr>
        <p:spPr>
          <a:xfrm>
            <a:off x="7855110" y="2591706"/>
            <a:ext cx="321750" cy="321750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ja-JP" altLang="en-US" sz="7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ロゴ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A593FC72-954C-48DC-E845-1A5FCE4C9E00}"/>
              </a:ext>
            </a:extLst>
          </p:cNvPr>
          <p:cNvSpPr/>
          <p:nvPr/>
        </p:nvSpPr>
        <p:spPr>
          <a:xfrm>
            <a:off x="693249" y="1644209"/>
            <a:ext cx="1142154" cy="2841034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36" name="二等辺三角形 35">
            <a:extLst>
              <a:ext uri="{FF2B5EF4-FFF2-40B4-BE49-F238E27FC236}">
                <a16:creationId xmlns:a16="http://schemas.microsoft.com/office/drawing/2014/main" id="{626832A8-575E-5E2B-73F4-BE5567514E57}"/>
              </a:ext>
            </a:extLst>
          </p:cNvPr>
          <p:cNvSpPr/>
          <p:nvPr/>
        </p:nvSpPr>
        <p:spPr>
          <a:xfrm rot="5400000">
            <a:off x="1869100" y="2879016"/>
            <a:ext cx="205320" cy="182781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28671F13-F479-AFF6-9832-C7C00D2D05EE}"/>
              </a:ext>
            </a:extLst>
          </p:cNvPr>
          <p:cNvSpPr/>
          <p:nvPr/>
        </p:nvSpPr>
        <p:spPr>
          <a:xfrm>
            <a:off x="693249" y="4241092"/>
            <a:ext cx="1142154" cy="24415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ja-JP" altLang="en-US" sz="8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フォーム入力</a:t>
            </a:r>
          </a:p>
        </p:txBody>
      </p:sp>
      <p:pic>
        <p:nvPicPr>
          <p:cNvPr id="55" name="図 54">
            <a:extLst>
              <a:ext uri="{FF2B5EF4-FFF2-40B4-BE49-F238E27FC236}">
                <a16:creationId xmlns:a16="http://schemas.microsoft.com/office/drawing/2014/main" id="{8AF12F67-4C9A-867F-4608-8FE9DA8116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471" y="2042343"/>
            <a:ext cx="1015294" cy="1834505"/>
          </a:xfrm>
          <a:prstGeom prst="rect">
            <a:avLst/>
          </a:prstGeom>
        </p:spPr>
      </p:pic>
      <p:sp>
        <p:nvSpPr>
          <p:cNvPr id="1032" name="正方形/長方形 1031">
            <a:extLst>
              <a:ext uri="{FF2B5EF4-FFF2-40B4-BE49-F238E27FC236}">
                <a16:creationId xmlns:a16="http://schemas.microsoft.com/office/drawing/2014/main" id="{D1D96D42-255C-636E-49E5-2CDA95DD6764}"/>
              </a:ext>
            </a:extLst>
          </p:cNvPr>
          <p:cNvSpPr/>
          <p:nvPr/>
        </p:nvSpPr>
        <p:spPr>
          <a:xfrm>
            <a:off x="2102458" y="1617265"/>
            <a:ext cx="1225682" cy="2841034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034" name="正方形/長方形 1033">
            <a:extLst>
              <a:ext uri="{FF2B5EF4-FFF2-40B4-BE49-F238E27FC236}">
                <a16:creationId xmlns:a16="http://schemas.microsoft.com/office/drawing/2014/main" id="{8693E451-BCB1-207B-6B73-131F2A8588BF}"/>
              </a:ext>
            </a:extLst>
          </p:cNvPr>
          <p:cNvSpPr/>
          <p:nvPr/>
        </p:nvSpPr>
        <p:spPr>
          <a:xfrm>
            <a:off x="2100228" y="4219785"/>
            <a:ext cx="1225683" cy="24415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ja-JP" altLang="en-US" sz="85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サンクス画面へ</a:t>
            </a:r>
            <a:endParaRPr lang="en-US" altLang="ja-JP" sz="85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pic>
        <p:nvPicPr>
          <p:cNvPr id="1038" name="図 1037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85260668-6C66-A032-FFE0-0276021F943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80"/>
          <a:stretch>
            <a:fillRect/>
          </a:stretch>
        </p:blipFill>
        <p:spPr>
          <a:xfrm>
            <a:off x="2195552" y="2083381"/>
            <a:ext cx="1066362" cy="1789421"/>
          </a:xfrm>
          <a:prstGeom prst="rect">
            <a:avLst/>
          </a:prstGeom>
        </p:spPr>
      </p:pic>
      <p:pic>
        <p:nvPicPr>
          <p:cNvPr id="1039" name="Picture 2" descr="買い物完了！イラスト｜無料イラスト・フリー素材なら「イラストAC」">
            <a:extLst>
              <a:ext uri="{FF2B5EF4-FFF2-40B4-BE49-F238E27FC236}">
                <a16:creationId xmlns:a16="http://schemas.microsoft.com/office/drawing/2014/main" id="{23D05307-D6FE-6284-27D3-3433EE0122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70" r="23682"/>
          <a:stretch>
            <a:fillRect/>
          </a:stretch>
        </p:blipFill>
        <p:spPr bwMode="auto">
          <a:xfrm>
            <a:off x="3292898" y="1459246"/>
            <a:ext cx="250223" cy="335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E76D8F54-2926-2D56-7238-F66ACCBC4F20}"/>
              </a:ext>
            </a:extLst>
          </p:cNvPr>
          <p:cNvGrpSpPr/>
          <p:nvPr/>
        </p:nvGrpSpPr>
        <p:grpSpPr>
          <a:xfrm>
            <a:off x="1261302" y="837894"/>
            <a:ext cx="2523077" cy="485102"/>
            <a:chOff x="507969" y="928495"/>
            <a:chExt cx="3105325" cy="485102"/>
          </a:xfrm>
        </p:grpSpPr>
        <p:sp>
          <p:nvSpPr>
            <p:cNvPr id="4" name="Google Shape;51;p19">
              <a:extLst>
                <a:ext uri="{FF2B5EF4-FFF2-40B4-BE49-F238E27FC236}">
                  <a16:creationId xmlns:a16="http://schemas.microsoft.com/office/drawing/2014/main" id="{98F6BB16-EFC6-9846-2A11-E624E876E64B}"/>
                </a:ext>
              </a:extLst>
            </p:cNvPr>
            <p:cNvSpPr/>
            <p:nvPr/>
          </p:nvSpPr>
          <p:spPr>
            <a:xfrm>
              <a:off x="507969" y="928495"/>
              <a:ext cx="3105325" cy="485102"/>
            </a:xfrm>
            <a:prstGeom prst="roundRect">
              <a:avLst>
                <a:gd name="adj" fmla="val 16667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74282" tIns="45700" rIns="74282" bIns="457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9pPr>
            </a:lstStyle>
            <a:p>
              <a:pPr algn="ctr">
                <a:buSzPts val="1400"/>
              </a:pPr>
              <a:endParaRPr b="1" dirty="0">
                <a:solidFill>
                  <a:schemeClr val="lt1"/>
                </a:solidFill>
                <a:sym typeface="Meiryo"/>
              </a:endParaRPr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560EDF30-5F09-B70A-2993-8CD4F9E40EFA}"/>
                </a:ext>
              </a:extLst>
            </p:cNvPr>
            <p:cNvSpPr txBox="1"/>
            <p:nvPr/>
          </p:nvSpPr>
          <p:spPr>
            <a:xfrm>
              <a:off x="1140096" y="988192"/>
              <a:ext cx="1832553" cy="357790"/>
            </a:xfrm>
            <a:prstGeom prst="rect">
              <a:avLst/>
            </a:prstGeom>
            <a:noFill/>
          </p:spPr>
          <p:txBody>
            <a:bodyPr wrap="none" lIns="74295" rIns="74295" rtlCol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ja-JP" altLang="en-US" sz="1200" b="1" dirty="0">
                  <a:solidFill>
                    <a:schemeClr val="bg1"/>
                  </a:solidFill>
                  <a:latin typeface="メイリオ" panose="020B0604030504040204" pitchFamily="34" charset="-128"/>
                  <a:ea typeface="メイリオ" panose="020B0604030504040204" pitchFamily="34" charset="-128"/>
                </a:rPr>
                <a:t>サンクス</a:t>
              </a:r>
              <a:r>
                <a:rPr lang="en-US" altLang="ja-JP" sz="1200" b="1" dirty="0">
                  <a:solidFill>
                    <a:schemeClr val="bg1"/>
                  </a:solidFill>
                  <a:latin typeface="メイリオ" panose="020B0604030504040204" pitchFamily="34" charset="-128"/>
                  <a:ea typeface="メイリオ" panose="020B0604030504040204" pitchFamily="34" charset="-128"/>
                </a:rPr>
                <a:t>LINE</a:t>
              </a:r>
              <a:r>
                <a:rPr lang="ja-JP" altLang="en-US" sz="1200" b="1" dirty="0">
                  <a:solidFill>
                    <a:schemeClr val="bg1"/>
                  </a:solidFill>
                  <a:latin typeface="メイリオ" panose="020B0604030504040204" pitchFamily="34" charset="-128"/>
                  <a:ea typeface="メイリオ" panose="020B0604030504040204" pitchFamily="34" charset="-128"/>
                </a:rPr>
                <a:t>誘導</a:t>
              </a:r>
            </a:p>
          </p:txBody>
        </p:sp>
      </p:grp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B20BFF3-9D3E-A4D7-FF5A-70927F78FC9D}"/>
              </a:ext>
            </a:extLst>
          </p:cNvPr>
          <p:cNvSpPr/>
          <p:nvPr/>
        </p:nvSpPr>
        <p:spPr>
          <a:xfrm>
            <a:off x="7729169" y="4623314"/>
            <a:ext cx="730843" cy="6496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C4FF56C-47EE-47DB-92F1-3F0EF57613D9}"/>
              </a:ext>
            </a:extLst>
          </p:cNvPr>
          <p:cNvSpPr/>
          <p:nvPr/>
        </p:nvSpPr>
        <p:spPr>
          <a:xfrm>
            <a:off x="4180596" y="846996"/>
            <a:ext cx="4575836" cy="307777"/>
          </a:xfrm>
          <a:prstGeom prst="rect">
            <a:avLst/>
          </a:prstGeom>
        </p:spPr>
        <p:txBody>
          <a:bodyPr wrap="square" lIns="74295" rIns="74295">
            <a:spAutoFit/>
          </a:bodyPr>
          <a:lstStyle/>
          <a:p>
            <a:pPr lvl="0">
              <a:buClr>
                <a:schemeClr val="dk1"/>
              </a:buClr>
              <a:buSzPts val="1500"/>
            </a:pPr>
            <a:r>
              <a:rPr lang="ja-JP" altLang="en-US" sz="1400" dirty="0">
                <a:latin typeface="メイリオ"/>
                <a:ea typeface="メイリオ"/>
                <a:cs typeface="メイリオ"/>
                <a:sym typeface="Meiryo"/>
              </a:rPr>
              <a:t>フォーム送信後の</a:t>
            </a:r>
            <a:r>
              <a:rPr lang="en-US" altLang="ja-JP" sz="1400" dirty="0">
                <a:latin typeface="メイリオ"/>
                <a:ea typeface="メイリオ"/>
                <a:cs typeface="メイリオ"/>
                <a:sym typeface="Meiryo"/>
              </a:rPr>
              <a:t>LINE</a:t>
            </a:r>
            <a:r>
              <a:rPr lang="ja-JP" altLang="en-US" sz="1400" dirty="0">
                <a:latin typeface="メイリオ"/>
                <a:ea typeface="メイリオ"/>
                <a:cs typeface="メイリオ"/>
                <a:sym typeface="Meiryo"/>
              </a:rPr>
              <a:t>誘導を自動化するツール</a:t>
            </a:r>
            <a:endParaRPr lang="en-US" altLang="ja-JP" sz="1400" dirty="0">
              <a:latin typeface="メイリオ"/>
              <a:ea typeface="メイリオ"/>
              <a:cs typeface="メイリオ"/>
              <a:sym typeface="Meiryo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ED6F7D2-546D-BF9F-9805-58455D7E2831}"/>
              </a:ext>
            </a:extLst>
          </p:cNvPr>
          <p:cNvSpPr txBox="1"/>
          <p:nvPr/>
        </p:nvSpPr>
        <p:spPr>
          <a:xfrm>
            <a:off x="4180597" y="1172815"/>
            <a:ext cx="3833883" cy="230832"/>
          </a:xfrm>
          <a:prstGeom prst="rect">
            <a:avLst/>
          </a:prstGeom>
          <a:noFill/>
        </p:spPr>
        <p:txBody>
          <a:bodyPr wrap="square" lIns="74295" rIns="74295">
            <a:spAutoFit/>
          </a:bodyPr>
          <a:lstStyle/>
          <a:p>
            <a:r>
              <a:rPr lang="en-US" altLang="ja-JP" sz="9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※</a:t>
            </a:r>
            <a:r>
              <a:rPr lang="ja-JP" altLang="en-US" sz="9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既存</a:t>
            </a:r>
            <a:r>
              <a:rPr lang="en-US" altLang="ja-JP" sz="9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API</a:t>
            </a:r>
            <a:r>
              <a:rPr lang="ja-JP" altLang="en-US" sz="9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ツールとの併用についても、問題なく稼働が可能。</a:t>
            </a:r>
            <a:endParaRPr lang="ja-JP" altLang="en-US" sz="900" dirty="0">
              <a:solidFill>
                <a:srgbClr val="FF000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5B8C83A-7191-D772-EF88-AE268D007E63}"/>
              </a:ext>
            </a:extLst>
          </p:cNvPr>
          <p:cNvSpPr/>
          <p:nvPr/>
        </p:nvSpPr>
        <p:spPr>
          <a:xfrm>
            <a:off x="6097538" y="1666571"/>
            <a:ext cx="2513872" cy="28474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ja-JP" altLang="en-US" sz="11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動作イメージ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189A6A4C-E34E-E7CF-D6DD-C175E600A94D}"/>
              </a:ext>
            </a:extLst>
          </p:cNvPr>
          <p:cNvSpPr/>
          <p:nvPr/>
        </p:nvSpPr>
        <p:spPr>
          <a:xfrm>
            <a:off x="1209560" y="1525688"/>
            <a:ext cx="1510467" cy="24415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en-US" altLang="ja-JP" sz="9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WEB</a:t>
            </a:r>
            <a:r>
              <a:rPr lang="ja-JP" altLang="en-US" sz="9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サイト</a:t>
            </a:r>
          </a:p>
        </p:txBody>
      </p:sp>
      <p:pic>
        <p:nvPicPr>
          <p:cNvPr id="18" name="図 17">
            <a:extLst>
              <a:ext uri="{FF2B5EF4-FFF2-40B4-BE49-F238E27FC236}">
                <a16:creationId xmlns:a16="http://schemas.microsoft.com/office/drawing/2014/main" id="{122BEACA-AA0E-EFF8-CDF2-B0A5B58840D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12518" y="3590272"/>
            <a:ext cx="379108" cy="69986"/>
          </a:xfrm>
          <a:prstGeom prst="rect">
            <a:avLst/>
          </a:prstGeom>
        </p:spPr>
      </p:pic>
      <p:pic>
        <p:nvPicPr>
          <p:cNvPr id="27" name="図 26">
            <a:extLst>
              <a:ext uri="{FF2B5EF4-FFF2-40B4-BE49-F238E27FC236}">
                <a16:creationId xmlns:a16="http://schemas.microsoft.com/office/drawing/2014/main" id="{D971BE53-7CD8-C375-2A00-B224602AC25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34699" y="2111288"/>
            <a:ext cx="379108" cy="69986"/>
          </a:xfrm>
          <a:prstGeom prst="rect">
            <a:avLst/>
          </a:prstGeom>
        </p:spPr>
      </p:pic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B7D71D80-6086-B1B4-3E2C-EE891B12909E}"/>
              </a:ext>
            </a:extLst>
          </p:cNvPr>
          <p:cNvSpPr/>
          <p:nvPr/>
        </p:nvSpPr>
        <p:spPr>
          <a:xfrm>
            <a:off x="1511868" y="4640731"/>
            <a:ext cx="3960179" cy="659955"/>
          </a:xfrm>
          <a:prstGeom prst="roundRect">
            <a:avLst>
              <a:gd name="adj" fmla="val 25327"/>
            </a:avLst>
          </a:prstGeom>
          <a:solidFill>
            <a:srgbClr val="04FA0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ja-JP" altLang="en-US" sz="1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フォーム入力内容を</a:t>
            </a:r>
            <a:br>
              <a:rPr lang="en-US" altLang="ja-JP" sz="1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en-US" altLang="ja-JP" sz="1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トーク入力画面へ引き継ぎ可能</a:t>
            </a:r>
          </a:p>
        </p:txBody>
      </p:sp>
      <p:cxnSp>
        <p:nvCxnSpPr>
          <p:cNvPr id="44" name="直線矢印コネクタ 43">
            <a:extLst>
              <a:ext uri="{FF2B5EF4-FFF2-40B4-BE49-F238E27FC236}">
                <a16:creationId xmlns:a16="http://schemas.microsoft.com/office/drawing/2014/main" id="{666CF79B-D322-06BC-F342-DE710BE7473B}"/>
              </a:ext>
            </a:extLst>
          </p:cNvPr>
          <p:cNvCxnSpPr>
            <a:cxnSpLocks/>
          </p:cNvCxnSpPr>
          <p:nvPr/>
        </p:nvCxnSpPr>
        <p:spPr>
          <a:xfrm flipH="1" flipV="1">
            <a:off x="1145256" y="4485242"/>
            <a:ext cx="515326" cy="485466"/>
          </a:xfrm>
          <a:prstGeom prst="straightConnector1">
            <a:avLst/>
          </a:prstGeom>
          <a:ln w="19050">
            <a:solidFill>
              <a:srgbClr val="00B050">
                <a:alpha val="80000"/>
              </a:srgb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1D29A9C3-A3E8-0780-A758-0C8E7E376668}"/>
              </a:ext>
            </a:extLst>
          </p:cNvPr>
          <p:cNvSpPr/>
          <p:nvPr/>
        </p:nvSpPr>
        <p:spPr>
          <a:xfrm>
            <a:off x="5284944" y="2415812"/>
            <a:ext cx="530810" cy="1821208"/>
          </a:xfrm>
          <a:prstGeom prst="rect">
            <a:avLst/>
          </a:prstGeom>
          <a:solidFill>
            <a:srgbClr val="04FA0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en-US" altLang="ja-JP" sz="9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DYM</a:t>
            </a:r>
          </a:p>
          <a:p>
            <a:pPr algn="ctr"/>
            <a:r>
              <a:rPr lang="ja-JP" altLang="en-US" sz="9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開発</a:t>
            </a:r>
            <a:endParaRPr lang="en-US" altLang="ja-JP" sz="95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ctr"/>
            <a:r>
              <a:rPr lang="ja-JP" altLang="en-US" sz="9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ツール</a:t>
            </a:r>
            <a:endParaRPr lang="en-US" altLang="ja-JP" sz="95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1048" name="矢印: 右 1047">
            <a:extLst>
              <a:ext uri="{FF2B5EF4-FFF2-40B4-BE49-F238E27FC236}">
                <a16:creationId xmlns:a16="http://schemas.microsoft.com/office/drawing/2014/main" id="{6A5BBE8E-2B42-49E0-686B-A6584B59E72F}"/>
              </a:ext>
            </a:extLst>
          </p:cNvPr>
          <p:cNvSpPr/>
          <p:nvPr/>
        </p:nvSpPr>
        <p:spPr>
          <a:xfrm>
            <a:off x="3398999" y="3203047"/>
            <a:ext cx="1843892" cy="392774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ja-JP" altLang="en-US"/>
          </a:p>
        </p:txBody>
      </p:sp>
      <p:sp>
        <p:nvSpPr>
          <p:cNvPr id="1050" name="吹き出し: 角を丸めた四角形 1049">
            <a:extLst>
              <a:ext uri="{FF2B5EF4-FFF2-40B4-BE49-F238E27FC236}">
                <a16:creationId xmlns:a16="http://schemas.microsoft.com/office/drawing/2014/main" id="{0D7606B7-7AEE-445F-FB97-74913C4A4F60}"/>
              </a:ext>
            </a:extLst>
          </p:cNvPr>
          <p:cNvSpPr/>
          <p:nvPr/>
        </p:nvSpPr>
        <p:spPr>
          <a:xfrm>
            <a:off x="3492025" y="2641849"/>
            <a:ext cx="1624523" cy="476757"/>
          </a:xfrm>
          <a:prstGeom prst="wedgeRoundRectCallout">
            <a:avLst/>
          </a:prstGeom>
          <a:solidFill>
            <a:srgbClr val="FDFDFD"/>
          </a:solidFill>
          <a:ln w="19050">
            <a:solidFill>
              <a:schemeClr val="tx2">
                <a:alpha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CV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完了後約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2~3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秒で</a:t>
            </a:r>
            <a:b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へ自動遷移</a:t>
            </a:r>
            <a:endParaRPr lang="en-US" altLang="ja-JP" sz="11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1052" name="直線矢印コネクタ 1051">
            <a:extLst>
              <a:ext uri="{FF2B5EF4-FFF2-40B4-BE49-F238E27FC236}">
                <a16:creationId xmlns:a16="http://schemas.microsoft.com/office/drawing/2014/main" id="{5B4E7079-E54A-2282-BDB8-487FFE5E8981}"/>
              </a:ext>
            </a:extLst>
          </p:cNvPr>
          <p:cNvCxnSpPr>
            <a:cxnSpLocks/>
          </p:cNvCxnSpPr>
          <p:nvPr/>
        </p:nvCxnSpPr>
        <p:spPr>
          <a:xfrm>
            <a:off x="5242891" y="4971540"/>
            <a:ext cx="2486278" cy="256434"/>
          </a:xfrm>
          <a:prstGeom prst="straightConnector1">
            <a:avLst/>
          </a:prstGeom>
          <a:ln w="19050">
            <a:solidFill>
              <a:srgbClr val="00B050">
                <a:alpha val="80000"/>
              </a:srgb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矢印: 右 6">
            <a:extLst>
              <a:ext uri="{FF2B5EF4-FFF2-40B4-BE49-F238E27FC236}">
                <a16:creationId xmlns:a16="http://schemas.microsoft.com/office/drawing/2014/main" id="{9EC51A72-DCD0-B1E9-7CCE-6674E65DC641}"/>
              </a:ext>
            </a:extLst>
          </p:cNvPr>
          <p:cNvSpPr/>
          <p:nvPr/>
        </p:nvSpPr>
        <p:spPr>
          <a:xfrm rot="5400000">
            <a:off x="6436767" y="3831408"/>
            <a:ext cx="349205" cy="392774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ja-JP" altLang="en-US"/>
          </a:p>
        </p:txBody>
      </p:sp>
      <p:sp>
        <p:nvSpPr>
          <p:cNvPr id="41" name="四角形: 角を丸くする 40">
            <a:extLst>
              <a:ext uri="{FF2B5EF4-FFF2-40B4-BE49-F238E27FC236}">
                <a16:creationId xmlns:a16="http://schemas.microsoft.com/office/drawing/2014/main" id="{3DEB8AF5-27EB-F2A5-5738-9D4876D62932}"/>
              </a:ext>
            </a:extLst>
          </p:cNvPr>
          <p:cNvSpPr/>
          <p:nvPr/>
        </p:nvSpPr>
        <p:spPr>
          <a:xfrm>
            <a:off x="1331634" y="5386674"/>
            <a:ext cx="3965148" cy="1126724"/>
          </a:xfrm>
          <a:prstGeom prst="roundRect">
            <a:avLst>
              <a:gd name="adj" fmla="val 8129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3" name="図 42">
            <a:extLst>
              <a:ext uri="{FF2B5EF4-FFF2-40B4-BE49-F238E27FC236}">
                <a16:creationId xmlns:a16="http://schemas.microsoft.com/office/drawing/2014/main" id="{F4AEE4F6-B4F2-3B63-B340-970573C6BC9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362" y="5422614"/>
            <a:ext cx="1068810" cy="1060107"/>
          </a:xfrm>
          <a:prstGeom prst="rect">
            <a:avLst/>
          </a:prstGeom>
        </p:spPr>
      </p:pic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9E529396-156F-55A0-24A1-E3F30C8D079F}"/>
              </a:ext>
            </a:extLst>
          </p:cNvPr>
          <p:cNvSpPr txBox="1"/>
          <p:nvPr/>
        </p:nvSpPr>
        <p:spPr>
          <a:xfrm>
            <a:off x="2607260" y="6011736"/>
            <a:ext cx="174022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ja-JP" sz="105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QRコードを読み取って</a:t>
            </a:r>
            <a:endParaRPr lang="en-US" altLang="ja-JP" sz="105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ja-JP" sz="105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動画を見る（約22秒）</a:t>
            </a:r>
            <a:endParaRPr lang="en-US" altLang="ja-JP" sz="105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FA39FB9E-0354-C79E-71A4-67DB6A28B75A}"/>
              </a:ext>
            </a:extLst>
          </p:cNvPr>
          <p:cNvSpPr txBox="1"/>
          <p:nvPr/>
        </p:nvSpPr>
        <p:spPr>
          <a:xfrm>
            <a:off x="4032248" y="5546685"/>
            <a:ext cx="869321" cy="276999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再生</a:t>
            </a:r>
            <a:r>
              <a:rPr lang="ja-JP" altLang="en-US" sz="1200" dirty="0">
                <a:solidFill>
                  <a:srgbClr val="0000FF"/>
                </a:solidFill>
                <a:latin typeface="メイリオ" panose="020B0604030504040204" pitchFamily="50" charset="-128"/>
                <a:ea typeface="メイリオ" panose="020B0604030504040204" pitchFamily="50" charset="-128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altLang="ja-JP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[▷]</a:t>
            </a:r>
            <a:endParaRPr lang="ja-JP" altLang="en-US" sz="12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C2099EF7-D4DC-D52C-E0A5-F84C559A9E47}"/>
              </a:ext>
            </a:extLst>
          </p:cNvPr>
          <p:cNvSpPr txBox="1"/>
          <p:nvPr/>
        </p:nvSpPr>
        <p:spPr>
          <a:xfrm>
            <a:off x="2648894" y="5570417"/>
            <a:ext cx="174022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5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クリックして再生</a:t>
            </a:r>
            <a:endParaRPr lang="en-US" altLang="ja-JP" sz="105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施策①｜サンクスLINE誘導の導入実績（人材業界）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644865" y="817378"/>
            <a:ext cx="9111472" cy="3452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人材業界での導入実績（DYM）と、横浜シミズでの活用イメージ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6097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44400" y="1548000"/>
            <a:ext cx="8629200" cy="13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400" y="3078000"/>
            <a:ext cx="3780000" cy="27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人材業界｜サンクスLINE誘導ツール導入実績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96399" y="3114000"/>
            <a:ext cx="1152000" cy="198000"/>
          </a:xfrm>
          <a:prstGeom prst="roundRect">
            <a:avLst>
              <a:gd name="adj" fmla="val 5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DYMの導入実績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4400" y="3401999"/>
            <a:ext cx="2880000" cy="20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4400" y="3401999"/>
            <a:ext cx="2880000" cy="270000"/>
          </a:xfrm>
          <a:prstGeom prst="rect">
            <a:avLst/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導入前後3か月比較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2400" y="3761999"/>
            <a:ext cx="1188000" cy="16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導入前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400" y="3923999"/>
            <a:ext cx="1188000" cy="30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1,532人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958400" y="3977999"/>
            <a:ext cx="251999" cy="198000"/>
          </a:xfrm>
          <a:prstGeom prst="rightArrow">
            <a:avLst>
              <a:gd name="adj1" fmla="val 40000"/>
              <a:gd name="adj2" fmla="val 5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228399" y="3761999"/>
            <a:ext cx="1188000" cy="16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導入後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28399" y="3923999"/>
            <a:ext cx="1188000" cy="30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2,103人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88400" y="4320000"/>
            <a:ext cx="259199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16400" y="4373999"/>
            <a:ext cx="2736000" cy="5760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導入前比 </a:t>
            </a: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137.3%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6400" y="4986000"/>
            <a:ext cx="2736000" cy="2880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増加数 </a:t>
            </a:r>
            <a:r>
              <a:rPr sz="15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+571人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32400" y="3401999"/>
            <a:ext cx="2880000" cy="20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632400" y="3401999"/>
            <a:ext cx="2880000" cy="270000"/>
          </a:xfrm>
          <a:prstGeom prst="rect">
            <a:avLst/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前年同期間比較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0400" y="3761999"/>
            <a:ext cx="1188000" cy="16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2025年7〜9月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0400" y="3923999"/>
            <a:ext cx="1188000" cy="30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1,650人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4946400" y="3977999"/>
            <a:ext cx="251999" cy="198000"/>
          </a:xfrm>
          <a:prstGeom prst="rightArrow">
            <a:avLst>
              <a:gd name="adj1" fmla="val 40000"/>
              <a:gd name="adj2" fmla="val 5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216399" y="3761999"/>
            <a:ext cx="1188000" cy="16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2026年7〜9月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6399" y="3923999"/>
            <a:ext cx="1188000" cy="30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2,103人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776400" y="4320000"/>
            <a:ext cx="2592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704399" y="4373999"/>
            <a:ext cx="2736000" cy="5760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前年比 </a:t>
            </a: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127.5%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04399" y="4986000"/>
            <a:ext cx="2736000" cy="2880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増加数 </a:t>
            </a:r>
            <a:r>
              <a:rPr sz="15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+453人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56399" y="3420000"/>
            <a:ext cx="2617200" cy="16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月別比較（友だち増加数・人）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92400" y="3625199"/>
            <a:ext cx="108000" cy="108000"/>
          </a:xfrm>
          <a:prstGeom prst="rect">
            <a:avLst/>
          </a:prstGeom>
          <a:solidFill>
            <a:srgbClr val="8E9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818399" y="3571200"/>
            <a:ext cx="684000" cy="21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2025年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520400" y="3625199"/>
            <a:ext cx="108000" cy="108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646399" y="3571200"/>
            <a:ext cx="684000" cy="21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2026年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88799" y="4259114"/>
            <a:ext cx="288000" cy="690885"/>
          </a:xfrm>
          <a:prstGeom prst="rect">
            <a:avLst/>
          </a:prstGeom>
          <a:solidFill>
            <a:srgbClr val="8E9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580799" y="4079114"/>
            <a:ext cx="503999" cy="162000"/>
          </a:xfrm>
          <a:prstGeom prst="rect">
            <a:avLst/>
          </a:prstGeom>
          <a:noFill/>
        </p:spPr>
        <p:txBody>
          <a:bodyPr wrap="none" lIns="36000" tIns="18000" rIns="36000" bIns="18000" anchor="b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7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575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019999" y="4211052"/>
            <a:ext cx="288000" cy="738947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911999" y="4031052"/>
            <a:ext cx="503999" cy="162000"/>
          </a:xfrm>
          <a:prstGeom prst="rect">
            <a:avLst/>
          </a:prstGeom>
          <a:noFill/>
        </p:spPr>
        <p:txBody>
          <a:bodyPr wrap="none" lIns="36000" tIns="18000" rIns="36000" bIns="18000" anchor="b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7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615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0399" y="4968000"/>
            <a:ext cx="756000" cy="1512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7月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20399" y="5112000"/>
            <a:ext cx="756000" cy="180000"/>
          </a:xfrm>
          <a:prstGeom prst="rect">
            <a:avLst/>
          </a:prstGeom>
          <a:noFill/>
        </p:spPr>
        <p:txBody>
          <a:bodyPr wrap="non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前年比 </a:t>
            </a:r>
            <a:r>
              <a:rPr sz="10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107%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516800" y="4330005"/>
            <a:ext cx="288000" cy="619994"/>
          </a:xfrm>
          <a:prstGeom prst="rect">
            <a:avLst/>
          </a:prstGeom>
          <a:solidFill>
            <a:srgbClr val="8E9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408799" y="4150005"/>
            <a:ext cx="503999" cy="162000"/>
          </a:xfrm>
          <a:prstGeom prst="rect">
            <a:avLst/>
          </a:prstGeom>
          <a:noFill/>
        </p:spPr>
        <p:txBody>
          <a:bodyPr wrap="none" lIns="36000" tIns="18000" rIns="36000" bIns="18000" anchor="b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7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516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47999" y="4014000"/>
            <a:ext cx="288000" cy="936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739999" y="3834000"/>
            <a:ext cx="503999" cy="162000"/>
          </a:xfrm>
          <a:prstGeom prst="rect">
            <a:avLst/>
          </a:prstGeom>
          <a:noFill/>
        </p:spPr>
        <p:txBody>
          <a:bodyPr wrap="none" lIns="36000" tIns="18000" rIns="36000" bIns="18000" anchor="b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7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779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48399" y="4968000"/>
            <a:ext cx="756000" cy="1512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8月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48399" y="5112000"/>
            <a:ext cx="756000" cy="180000"/>
          </a:xfrm>
          <a:prstGeom prst="rect">
            <a:avLst/>
          </a:prstGeom>
          <a:noFill/>
        </p:spPr>
        <p:txBody>
          <a:bodyPr wrap="non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前年比 </a:t>
            </a:r>
            <a:r>
              <a:rPr sz="10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151%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344800" y="4278338"/>
            <a:ext cx="288000" cy="671661"/>
          </a:xfrm>
          <a:prstGeom prst="rect">
            <a:avLst/>
          </a:prstGeom>
          <a:solidFill>
            <a:srgbClr val="8E9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236800" y="4098338"/>
            <a:ext cx="503999" cy="162000"/>
          </a:xfrm>
          <a:prstGeom prst="rect">
            <a:avLst/>
          </a:prstGeom>
          <a:noFill/>
        </p:spPr>
        <p:txBody>
          <a:bodyPr wrap="none" lIns="36000" tIns="18000" rIns="36000" bIns="18000" anchor="b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7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559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676000" y="4098107"/>
            <a:ext cx="288000" cy="851892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567999" y="3918107"/>
            <a:ext cx="503999" cy="162000"/>
          </a:xfrm>
          <a:prstGeom prst="rect">
            <a:avLst/>
          </a:prstGeom>
          <a:noFill/>
        </p:spPr>
        <p:txBody>
          <a:bodyPr wrap="none" lIns="36000" tIns="18000" rIns="36000" bIns="18000" anchor="b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7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709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76399" y="4968000"/>
            <a:ext cx="756000" cy="1512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9月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76399" y="5112000"/>
            <a:ext cx="756000" cy="180000"/>
          </a:xfrm>
          <a:prstGeom prst="rect">
            <a:avLst/>
          </a:prstGeom>
          <a:noFill/>
        </p:spPr>
        <p:txBody>
          <a:bodyPr wrap="non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前年比 </a:t>
            </a:r>
            <a:r>
              <a:rPr sz="10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127%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6728399" y="4950000"/>
            <a:ext cx="2509201" cy="0"/>
          </a:xfrm>
          <a:prstGeom prst="line">
            <a:avLst/>
          </a:prstGeom>
          <a:ln w="952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644400" y="5598000"/>
            <a:ext cx="8629200" cy="342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サンクスLINE誘導ツールの導入後、友だち増加数が導入前比137.3%、前年比127.5%に改善。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E821B20-3372-85EB-4334-5055D2443F85}"/>
              </a:ext>
            </a:extLst>
          </p:cNvPr>
          <p:cNvSpPr txBox="1"/>
          <p:nvPr/>
        </p:nvSpPr>
        <p:spPr>
          <a:xfrm>
            <a:off x="429768" y="6053328"/>
            <a:ext cx="8778240" cy="4572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※出典：人材業界｜株式会社DYM 社内集計（サンクスLINE誘導ツール導入前後3か月、2025年・2026年7〜9月の友だち増加数）</a:t>
            </a:r>
            <a:endParaRPr lang="en-US" altLang="ja-JP" sz="6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※他社での実績であり、横浜シミズ様での効果を示すものではありません。</a:t>
            </a:r>
            <a:endParaRPr lang="en-US" altLang="ja-JP" sz="6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768096" y="162763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ja-JP" altLang="en-US" sz="12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横浜シミズでの活用イメージ</a:t>
            </a:r>
            <a:endParaRPr lang="ja-JP" altLang="en-US" sz="1200" dirty="0"/>
          </a:p>
        </p:txBody>
      </p:sp>
      <p:sp>
        <p:nvSpPr>
          <p:cNvPr id="64" name="Rectangle 63"/>
          <p:cNvSpPr/>
          <p:nvPr/>
        </p:nvSpPr>
        <p:spPr>
          <a:xfrm>
            <a:off x="868680" y="1965960"/>
            <a:ext cx="1389888" cy="512064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wrap="square" lIns="27432" tIns="0" rIns="27432" bIns="0" rtlCol="0" anchor="ctr">
            <a:noAutofit/>
          </a:bodyPr>
          <a:lstStyle/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応募完了</a:t>
            </a:r>
            <a:endParaRPr lang="ja-JP" altLang="en-US" sz="1050" dirty="0"/>
          </a:p>
        </p:txBody>
      </p:sp>
      <p:sp>
        <p:nvSpPr>
          <p:cNvPr id="65" name="Rectangle 64"/>
          <p:cNvSpPr/>
          <p:nvPr/>
        </p:nvSpPr>
        <p:spPr>
          <a:xfrm>
            <a:off x="2560320" y="1965960"/>
            <a:ext cx="1389888" cy="512064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txBody>
          <a:bodyPr wrap="square" lIns="27432" tIns="0" rIns="27432" bIns="0" rtlCol="0" anchor="ctr">
            <a:noAutofit/>
          </a:bodyPr>
          <a:lstStyle/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endParaRPr lang="ja-JP" altLang="en-US" sz="1050" dirty="0"/>
          </a:p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友だち追加</a:t>
            </a:r>
            <a:endParaRPr lang="ja-JP" altLang="en-US" sz="1050" dirty="0"/>
          </a:p>
        </p:txBody>
      </p:sp>
      <p:cxnSp>
        <p:nvCxnSpPr>
          <p:cNvPr id="66" name="Connector 65"/>
          <p:cNvCxnSpPr/>
          <p:nvPr/>
        </p:nvCxnSpPr>
        <p:spPr>
          <a:xfrm>
            <a:off x="2295144" y="2221992"/>
            <a:ext cx="228600" cy="0"/>
          </a:xfrm>
          <a:prstGeom prst="line">
            <a:avLst/>
          </a:prstGeom>
          <a:ln w="19050">
            <a:solidFill>
              <a:srgbClr val="1E2761"/>
            </a:solidFill>
            <a:tailEnd type="triangle" w="med" len="med"/>
          </a:ln>
        </p:spPr>
      </p:cxnSp>
      <p:sp>
        <p:nvSpPr>
          <p:cNvPr id="67" name="Rectangle 66"/>
          <p:cNvSpPr/>
          <p:nvPr/>
        </p:nvSpPr>
        <p:spPr>
          <a:xfrm>
            <a:off x="4251960" y="1965960"/>
            <a:ext cx="1389888" cy="512064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wrap="square" lIns="27432" tIns="0" rIns="27432" bIns="0" rtlCol="0" anchor="ctr">
            <a:noAutofit/>
          </a:bodyPr>
          <a:lstStyle/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面接・登録の</a:t>
            </a:r>
            <a:endParaRPr lang="ja-JP" altLang="en-US" sz="1050" dirty="0"/>
          </a:p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案内</a:t>
            </a:r>
            <a:endParaRPr lang="ja-JP" altLang="en-US" sz="1050" dirty="0"/>
          </a:p>
        </p:txBody>
      </p:sp>
      <p:cxnSp>
        <p:nvCxnSpPr>
          <p:cNvPr id="68" name="Connector 67"/>
          <p:cNvCxnSpPr/>
          <p:nvPr/>
        </p:nvCxnSpPr>
        <p:spPr>
          <a:xfrm>
            <a:off x="3986784" y="2221992"/>
            <a:ext cx="228600" cy="0"/>
          </a:xfrm>
          <a:prstGeom prst="line">
            <a:avLst/>
          </a:prstGeom>
          <a:ln w="19050">
            <a:solidFill>
              <a:srgbClr val="1E2761"/>
            </a:solidFill>
            <a:tailEnd type="triangle" w="med" len="med"/>
          </a:ln>
        </p:spPr>
      </p:cxnSp>
      <p:sp>
        <p:nvSpPr>
          <p:cNvPr id="69" name="Rectangle 68"/>
          <p:cNvSpPr/>
          <p:nvPr/>
        </p:nvSpPr>
        <p:spPr>
          <a:xfrm>
            <a:off x="5943600" y="1965960"/>
            <a:ext cx="1389888" cy="512064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wrap="square" lIns="27432" tIns="0" rIns="27432" bIns="0" rtlCol="0" anchor="ctr">
            <a:noAutofit/>
          </a:bodyPr>
          <a:lstStyle/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勤務前の</a:t>
            </a:r>
            <a:endParaRPr lang="ja-JP" altLang="en-US" sz="1050" dirty="0"/>
          </a:p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案内</a:t>
            </a:r>
            <a:endParaRPr lang="ja-JP" altLang="en-US" sz="1050" dirty="0"/>
          </a:p>
        </p:txBody>
      </p:sp>
      <p:cxnSp>
        <p:nvCxnSpPr>
          <p:cNvPr id="70" name="Connector 69"/>
          <p:cNvCxnSpPr/>
          <p:nvPr/>
        </p:nvCxnSpPr>
        <p:spPr>
          <a:xfrm>
            <a:off x="5678424" y="2221992"/>
            <a:ext cx="228600" cy="0"/>
          </a:xfrm>
          <a:prstGeom prst="line">
            <a:avLst/>
          </a:prstGeom>
          <a:ln w="19050">
            <a:solidFill>
              <a:srgbClr val="1E2761"/>
            </a:solidFill>
            <a:tailEnd type="triangle" w="med" len="med"/>
          </a:ln>
        </p:spPr>
      </p:cxnSp>
      <p:sp>
        <p:nvSpPr>
          <p:cNvPr id="71" name="Rectangle 70"/>
          <p:cNvSpPr/>
          <p:nvPr/>
        </p:nvSpPr>
        <p:spPr>
          <a:xfrm>
            <a:off x="7635240" y="1965960"/>
            <a:ext cx="1389888" cy="512064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wrap="square" lIns="27432" tIns="0" rIns="27432" bIns="0" rtlCol="0" anchor="ctr">
            <a:noAutofit/>
          </a:bodyPr>
          <a:lstStyle/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次回イベントの</a:t>
            </a:r>
            <a:endParaRPr lang="ja-JP" altLang="en-US" sz="1050" dirty="0"/>
          </a:p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募集</a:t>
            </a:r>
            <a:endParaRPr lang="ja-JP" altLang="en-US" sz="1050" dirty="0"/>
          </a:p>
        </p:txBody>
      </p:sp>
      <p:cxnSp>
        <p:nvCxnSpPr>
          <p:cNvPr id="72" name="Connector 71"/>
          <p:cNvCxnSpPr/>
          <p:nvPr/>
        </p:nvCxnSpPr>
        <p:spPr>
          <a:xfrm>
            <a:off x="7370063" y="2221992"/>
            <a:ext cx="228601" cy="0"/>
          </a:xfrm>
          <a:prstGeom prst="line">
            <a:avLst/>
          </a:prstGeom>
          <a:ln w="19050">
            <a:solidFill>
              <a:srgbClr val="1E2761"/>
            </a:solidFill>
            <a:tailEnd type="triangle" w="med" len="med"/>
          </a:ln>
        </p:spPr>
      </p:cxnSp>
      <p:sp>
        <p:nvSpPr>
          <p:cNvPr id="73" name="Rectangle 72"/>
          <p:cNvSpPr/>
          <p:nvPr/>
        </p:nvSpPr>
        <p:spPr>
          <a:xfrm>
            <a:off x="868680" y="2542032"/>
            <a:ext cx="82296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応募の直後から、面接・勤務の案内と次の募集を同じLINEでお届けします。</a:t>
            </a:r>
            <a:endParaRPr lang="ja-JP" alt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施策②｜勤務連絡・管理：勤務に必要な情報をLINEで届ける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8521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集合場所・時間・持ち物・服装・注意事項を、勤務の前にLINEでお届けします。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「LINEを追加すると、勤務に必要な情報が届く」ことが、友だちでいる理由になります。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" y="5596128"/>
            <a:ext cx="9043416" cy="37490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29768" y="5596128"/>
            <a:ext cx="9043416" cy="374904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届く理由があるから友だちが残り、残るから次の募集が届く</a:t>
            </a:r>
            <a:endParaRPr lang="ja-JP" altLang="en-US" sz="1300" dirty="0"/>
          </a:p>
        </p:txBody>
      </p:sp>
      <p:sp>
        <p:nvSpPr>
          <p:cNvPr id="22" name="Rounded Rectangle 21"/>
          <p:cNvSpPr/>
          <p:nvPr/>
        </p:nvSpPr>
        <p:spPr>
          <a:xfrm>
            <a:off x="429768" y="1371600"/>
            <a:ext cx="2880360" cy="329184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勤務の前にお届けする情報</a:t>
            </a:r>
            <a:endParaRPr lang="ja-JP" altLang="en-US" sz="1200" dirty="0"/>
          </a:p>
        </p:txBody>
      </p:sp>
      <p:sp>
        <p:nvSpPr>
          <p:cNvPr id="23" name="Rounded Rectangle 22"/>
          <p:cNvSpPr/>
          <p:nvPr/>
        </p:nvSpPr>
        <p:spPr>
          <a:xfrm>
            <a:off x="429768" y="1810512"/>
            <a:ext cx="2880360" cy="914400"/>
          </a:xfrm>
          <a:prstGeom prst="roundRect">
            <a:avLst>
              <a:gd name="adj" fmla="val 5000"/>
            </a:avLst>
          </a:prstGeom>
          <a:solidFill>
            <a:srgbClr val="F5F6FA"/>
          </a:solidFill>
          <a:ln w="9525">
            <a:solidFill>
              <a:srgbClr val="D9D9D9"/>
            </a:solidFill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ja-JP" altLang="en-US" sz="12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勤務が決まったら</a:t>
            </a:r>
            <a:endParaRPr lang="ja-JP" altLang="en-US" sz="1200" dirty="0"/>
          </a:p>
          <a:p>
            <a:pPr algn="l">
              <a:spcAft>
                <a:spcPts val="200"/>
              </a:spcAft>
              <a:buNone/>
            </a:pPr>
            <a: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会場・集合場所と時間・持ち物・服装</a:t>
            </a:r>
            <a:endParaRPr lang="ja-JP" altLang="en-US" sz="1200" dirty="0"/>
          </a:p>
        </p:txBody>
      </p:sp>
      <p:sp>
        <p:nvSpPr>
          <p:cNvPr id="24" name="Rounded Rectangle 23"/>
          <p:cNvSpPr/>
          <p:nvPr/>
        </p:nvSpPr>
        <p:spPr>
          <a:xfrm>
            <a:off x="429768" y="2834640"/>
            <a:ext cx="2880360" cy="914400"/>
          </a:xfrm>
          <a:prstGeom prst="roundRect">
            <a:avLst>
              <a:gd name="adj" fmla="val 5000"/>
            </a:avLst>
          </a:prstGeom>
          <a:solidFill>
            <a:srgbClr val="F5F6FA"/>
          </a:solidFill>
          <a:ln w="9525">
            <a:solidFill>
              <a:srgbClr val="D9D9D9"/>
            </a:solidFill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ja-JP" altLang="en-US" sz="12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勤務の前日</a:t>
            </a:r>
            <a:endParaRPr lang="ja-JP" altLang="en-US" sz="1200" dirty="0"/>
          </a:p>
          <a:p>
            <a:pPr algn="l">
              <a:spcAft>
                <a:spcPts val="200"/>
              </a:spcAft>
              <a:buNone/>
            </a:pPr>
            <a: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リマインド（集合時間・持ち物・天候による変更など）</a:t>
            </a:r>
            <a:endParaRPr lang="ja-JP" altLang="en-US" sz="1200" dirty="0"/>
          </a:p>
        </p:txBody>
      </p:sp>
      <p:sp>
        <p:nvSpPr>
          <p:cNvPr id="25" name="Rounded Rectangle 24"/>
          <p:cNvSpPr/>
          <p:nvPr/>
        </p:nvSpPr>
        <p:spPr>
          <a:xfrm>
            <a:off x="429768" y="3858768"/>
            <a:ext cx="2880360" cy="914400"/>
          </a:xfrm>
          <a:prstGeom prst="roundRect">
            <a:avLst>
              <a:gd name="adj" fmla="val 5000"/>
            </a:avLst>
          </a:prstGeom>
          <a:solidFill>
            <a:srgbClr val="F5F6FA"/>
          </a:solidFill>
          <a:ln w="9525">
            <a:solidFill>
              <a:srgbClr val="D9D9D9"/>
            </a:solidFill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ja-JP" altLang="en-US" sz="12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勤務の当日</a:t>
            </a:r>
            <a:endParaRPr lang="ja-JP" altLang="en-US" sz="1200" dirty="0"/>
          </a:p>
          <a:p>
            <a:pPr algn="l">
              <a:spcAft>
                <a:spcPts val="200"/>
              </a:spcAft>
              <a:buNone/>
            </a:pPr>
            <a: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注意事項・当日の連絡先</a:t>
            </a:r>
            <a:endParaRPr lang="ja-JP" altLang="en-US" sz="1200" dirty="0"/>
          </a:p>
        </p:txBody>
      </p:sp>
      <p:sp>
        <p:nvSpPr>
          <p:cNvPr id="26" name="Rounded Rectangle 25"/>
          <p:cNvSpPr/>
          <p:nvPr/>
        </p:nvSpPr>
        <p:spPr>
          <a:xfrm>
            <a:off x="3511296" y="1371600"/>
            <a:ext cx="2880360" cy="329184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届け方（運用に合わせて選びます）</a:t>
            </a:r>
            <a:endParaRPr lang="ja-JP" altLang="en-US" sz="1200" dirty="0"/>
          </a:p>
        </p:txBody>
      </p:sp>
      <p:sp>
        <p:nvSpPr>
          <p:cNvPr id="27" name="Rounded Rectangle 26"/>
          <p:cNvSpPr/>
          <p:nvPr/>
        </p:nvSpPr>
        <p:spPr>
          <a:xfrm>
            <a:off x="3511296" y="1810512"/>
            <a:ext cx="2880360" cy="914400"/>
          </a:xfrm>
          <a:prstGeom prst="roundRect">
            <a:avLst>
              <a:gd name="adj" fmla="val 5000"/>
            </a:avLst>
          </a:prstGeom>
          <a:solidFill>
            <a:srgbClr val="F5F6FA"/>
          </a:solidFill>
          <a:ln w="9525">
            <a:solidFill>
              <a:srgbClr val="D9D9D9"/>
            </a:solidFill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ja-JP" altLang="en-US" sz="12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一斉案内</a:t>
            </a:r>
            <a:endParaRPr lang="ja-JP" altLang="en-US" sz="1200" dirty="0"/>
          </a:p>
          <a:p>
            <a:pPr algn="l">
              <a:spcAft>
                <a:spcPts val="200"/>
              </a:spcAft>
              <a:buNone/>
            </a:pPr>
            <a: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同じイベントに勤務する方へ、</a:t>
            </a:r>
            <a:endParaRPr lang="en-US" altLang="ja-JP" sz="1200" b="0" dirty="0">
              <a:solidFill>
                <a:srgbClr val="333333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>
              <a:spcAft>
                <a:spcPts val="200"/>
              </a:spcAft>
              <a:buNone/>
            </a:pPr>
            <a: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まとめて案内</a:t>
            </a:r>
            <a:endParaRPr lang="ja-JP" altLang="en-US" sz="1200" dirty="0"/>
          </a:p>
        </p:txBody>
      </p:sp>
      <p:sp>
        <p:nvSpPr>
          <p:cNvPr id="28" name="Rounded Rectangle 27"/>
          <p:cNvSpPr/>
          <p:nvPr/>
        </p:nvSpPr>
        <p:spPr>
          <a:xfrm>
            <a:off x="3511296" y="2834640"/>
            <a:ext cx="2880360" cy="914400"/>
          </a:xfrm>
          <a:prstGeom prst="roundRect">
            <a:avLst>
              <a:gd name="adj" fmla="val 5000"/>
            </a:avLst>
          </a:prstGeom>
          <a:solidFill>
            <a:srgbClr val="F5F6FA"/>
          </a:solidFill>
          <a:ln w="9525">
            <a:solidFill>
              <a:srgbClr val="D9D9D9"/>
            </a:solidFill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ja-JP" altLang="en-US" sz="12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タグで対象者別</a:t>
            </a:r>
            <a:endParaRPr lang="ja-JP" altLang="en-US" sz="1200" dirty="0"/>
          </a:p>
          <a:p>
            <a:pPr algn="l">
              <a:spcAft>
                <a:spcPts val="200"/>
              </a:spcAft>
              <a:buNone/>
            </a:pPr>
            <a: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会場・業務ごとに、対象の方だけに</a:t>
            </a:r>
            <a:endParaRPr lang="en-US" altLang="ja-JP" sz="1200" b="0" dirty="0">
              <a:solidFill>
                <a:srgbClr val="333333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>
              <a:spcAft>
                <a:spcPts val="200"/>
              </a:spcAft>
              <a:buNone/>
            </a:pPr>
            <a: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案内</a:t>
            </a:r>
            <a:endParaRPr lang="ja-JP" altLang="en-US" sz="1200" dirty="0"/>
          </a:p>
        </p:txBody>
      </p:sp>
      <p:sp>
        <p:nvSpPr>
          <p:cNvPr id="29" name="Rounded Rectangle 28"/>
          <p:cNvSpPr/>
          <p:nvPr/>
        </p:nvSpPr>
        <p:spPr>
          <a:xfrm>
            <a:off x="3511296" y="3858768"/>
            <a:ext cx="2880360" cy="914400"/>
          </a:xfrm>
          <a:prstGeom prst="roundRect">
            <a:avLst>
              <a:gd name="adj" fmla="val 5000"/>
            </a:avLst>
          </a:prstGeom>
          <a:solidFill>
            <a:srgbClr val="F5F6FA"/>
          </a:solidFill>
          <a:ln w="9525">
            <a:solidFill>
              <a:srgbClr val="D9D9D9"/>
            </a:solidFill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ja-JP" altLang="en-US" sz="12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個別連絡（チャット）</a:t>
            </a:r>
            <a:endParaRPr lang="ja-JP" altLang="en-US" sz="1200" dirty="0"/>
          </a:p>
          <a:p>
            <a:pPr algn="l">
              <a:spcAft>
                <a:spcPts val="200"/>
              </a:spcAft>
              <a:buNone/>
            </a:pPr>
            <a: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勤務の変更・欠席・質問など、</a:t>
            </a:r>
            <a:endParaRPr lang="en-US" altLang="ja-JP" sz="1200" b="0" dirty="0">
              <a:solidFill>
                <a:srgbClr val="333333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>
              <a:spcAft>
                <a:spcPts val="200"/>
              </a:spcAft>
              <a:buNone/>
            </a:pPr>
            <a: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1対1のやり取り</a:t>
            </a:r>
            <a:endParaRPr lang="ja-JP" altLang="en-US" sz="1200" dirty="0"/>
          </a:p>
        </p:txBody>
      </p:sp>
      <p:sp>
        <p:nvSpPr>
          <p:cNvPr id="30" name="Rounded Rectangle 29"/>
          <p:cNvSpPr/>
          <p:nvPr/>
        </p:nvSpPr>
        <p:spPr>
          <a:xfrm>
            <a:off x="6592824" y="1371600"/>
            <a:ext cx="2880360" cy="329184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期待できること</a:t>
            </a:r>
            <a:endParaRPr lang="ja-JP" altLang="en-US" sz="1200" dirty="0"/>
          </a:p>
        </p:txBody>
      </p:sp>
      <p:sp>
        <p:nvSpPr>
          <p:cNvPr id="31" name="Rounded Rectangle 30"/>
          <p:cNvSpPr/>
          <p:nvPr/>
        </p:nvSpPr>
        <p:spPr>
          <a:xfrm>
            <a:off x="6592824" y="1810512"/>
            <a:ext cx="28803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1E2761"/>
            </a:solidFill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ja-JP" altLang="en-US" sz="12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スタッフの皆さま</a:t>
            </a:r>
            <a:endParaRPr lang="ja-JP" altLang="en-US" sz="1200" dirty="0"/>
          </a:p>
          <a:p>
            <a:pPr algn="l">
              <a:spcAft>
                <a:spcPts val="200"/>
              </a:spcAft>
              <a:buNone/>
            </a:pPr>
            <a: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必要な情報をLINEで見返せる。</a:t>
            </a:r>
            <a:endParaRPr lang="en-US" altLang="ja-JP" sz="1200" b="0" dirty="0">
              <a:solidFill>
                <a:srgbClr val="333333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>
              <a:spcAft>
                <a:spcPts val="200"/>
              </a:spcAft>
              <a:buNone/>
            </a:pPr>
            <a: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通知で気づける。質問しやすい</a:t>
            </a:r>
            <a:endParaRPr lang="ja-JP" altLang="en-US" sz="1200" dirty="0"/>
          </a:p>
        </p:txBody>
      </p:sp>
      <p:sp>
        <p:nvSpPr>
          <p:cNvPr id="32" name="Rounded Rectangle 31"/>
          <p:cNvSpPr/>
          <p:nvPr/>
        </p:nvSpPr>
        <p:spPr>
          <a:xfrm>
            <a:off x="6592824" y="2834640"/>
            <a:ext cx="28803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1E2761"/>
            </a:solidFill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ja-JP" altLang="en-US" sz="12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横浜シミズ様（管理側）</a:t>
            </a:r>
            <a:endParaRPr lang="ja-JP" altLang="en-US" sz="1200" dirty="0"/>
          </a:p>
          <a:p>
            <a:pPr algn="l">
              <a:spcAft>
                <a:spcPts val="200"/>
              </a:spcAft>
              <a:buNone/>
            </a:pPr>
            <a: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一斉に送れる。案内の型をつくり、</a:t>
            </a:r>
            <a:endParaRPr lang="en-US" altLang="ja-JP" sz="1200" b="0" dirty="0">
              <a:solidFill>
                <a:srgbClr val="333333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>
              <a:spcAft>
                <a:spcPts val="200"/>
              </a:spcAft>
              <a:buNone/>
            </a:pPr>
            <a: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毎回の作成の手間を減らす</a:t>
            </a:r>
            <a:endParaRPr lang="ja-JP" altLang="en-US" sz="1200" dirty="0"/>
          </a:p>
        </p:txBody>
      </p:sp>
      <p:sp>
        <p:nvSpPr>
          <p:cNvPr id="33" name="Rounded Rectangle 32"/>
          <p:cNvSpPr/>
          <p:nvPr/>
        </p:nvSpPr>
        <p:spPr>
          <a:xfrm>
            <a:off x="6592824" y="3858768"/>
            <a:ext cx="28803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1E2761"/>
            </a:solidFill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ja-JP" altLang="en-US" sz="12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横浜シミズ様（管理側）</a:t>
            </a:r>
            <a:endParaRPr lang="ja-JP" altLang="en-US" sz="1200" dirty="0"/>
          </a:p>
          <a:p>
            <a:pPr algn="l">
              <a:spcAft>
                <a:spcPts val="200"/>
              </a:spcAft>
              <a:buNone/>
            </a:pPr>
            <a: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電話・メールでの個別の確認を減らせる（期待効果）</a:t>
            </a:r>
            <a:endParaRPr lang="ja-JP" altLang="en-US" sz="1200" dirty="0"/>
          </a:p>
        </p:txBody>
      </p:sp>
      <p:sp>
        <p:nvSpPr>
          <p:cNvPr id="34" name="Rectangle 33"/>
          <p:cNvSpPr/>
          <p:nvPr/>
        </p:nvSpPr>
        <p:spPr>
          <a:xfrm>
            <a:off x="429768" y="4919472"/>
            <a:ext cx="9043416" cy="54864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l">
              <a:buNone/>
            </a:pPr>
            <a:r>
              <a:rPr lang="ja-JP" altLang="en-US" sz="100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※勤務の予定とLINEの自動連携は前提にしていません。一斉案内・タグ・個別連絡の組み合わせで始め、自動連携が必要な場合は別途確認します。</a:t>
            </a:r>
            <a:endParaRPr lang="ja-JP" alt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施策③｜再応募・再稼働：希望に合う募集だけを届ける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8521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エリア・会場・業務・曜日などをタグで管理し、対象を絞ってイベントの募集をお届けします。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合わない募集が届かないので、ブロックを抑えることが期待できます。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" y="5596128"/>
            <a:ext cx="9043416" cy="37490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29768" y="5596128"/>
            <a:ext cx="9043416" cy="374904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取れる情報から始めて、配信のたびに絞り込みの精度を上げる</a:t>
            </a:r>
            <a:endParaRPr lang="ja-JP" altLang="en-US" sz="1300" dirty="0"/>
          </a:p>
        </p:txBody>
      </p:sp>
      <p:graphicFrame>
        <p:nvGraphicFramePr>
          <p:cNvPr id="22" name="表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2775021"/>
              </p:ext>
            </p:extLst>
          </p:nvPr>
        </p:nvGraphicFramePr>
        <p:xfrm>
          <a:off x="429767" y="1371600"/>
          <a:ext cx="5039379" cy="2889504"/>
        </p:xfrm>
        <a:graphic>
          <a:graphicData uri="http://schemas.openxmlformats.org/drawingml/2006/table">
            <a:tbl>
              <a:tblPr/>
              <a:tblGrid>
                <a:gridCol w="11665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3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64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タグ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例</a:t>
                      </a:r>
                      <a:endParaRPr lang="ja-JP" alt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取り方</a:t>
                      </a:r>
                      <a:endParaRPr lang="ja-JP" alt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50" b="1" dirty="0">
                          <a:solidFill>
                            <a:srgbClr val="323366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エリア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神奈川（横浜・川崎・湘南など）／静岡</a:t>
                      </a:r>
                      <a:endParaRPr lang="ja-JP" alt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追加後の質問</a:t>
                      </a:r>
                      <a:endParaRPr lang="en-US" altLang="ja-JP" sz="1050" b="0" dirty="0">
                        <a:solidFill>
                          <a:srgbClr val="333333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algn="l">
                        <a:buNone/>
                      </a:pP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（選択式）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50" b="1" dirty="0">
                          <a:solidFill>
                            <a:srgbClr val="323366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会場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日産スタジアム・横浜アリーナ・横浜スタジアムなど</a:t>
                      </a:r>
                      <a:endParaRPr lang="ja-JP" alt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追加後の質問・勤務の案内時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50" b="1" dirty="0">
                          <a:solidFill>
                            <a:srgbClr val="323366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業務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案内・誘導／販売／警備／</a:t>
                      </a:r>
                      <a:endParaRPr lang="en-US" altLang="ja-JP" sz="1100" b="0" dirty="0">
                        <a:solidFill>
                          <a:srgbClr val="333333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algn="l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設営・撤去</a:t>
                      </a:r>
                      <a:endParaRPr lang="ja-JP" alt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追加後の質問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50" b="1" dirty="0">
                          <a:solidFill>
                            <a:srgbClr val="323366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曜日・時間帯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土日祝／平日／夜</a:t>
                      </a:r>
                      <a:endParaRPr lang="ja-JP" alt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追加後の質問・</a:t>
                      </a:r>
                      <a:endParaRPr lang="en-US" altLang="ja-JP" sz="1050" b="0" dirty="0">
                        <a:solidFill>
                          <a:srgbClr val="333333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algn="l">
                        <a:buNone/>
                      </a:pP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メニューで変更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50" b="1" dirty="0">
                          <a:solidFill>
                            <a:srgbClr val="323366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勤務の有無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勤務あり／まだ勤務なし</a:t>
                      </a:r>
                      <a:endParaRPr lang="ja-JP" alt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勤務の案内を送った方に付ける</a:t>
                      </a:r>
                      <a:endParaRPr lang="ja-JP" altLang="en-US" sz="10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Rectangle 22"/>
          <p:cNvSpPr/>
          <p:nvPr/>
        </p:nvSpPr>
        <p:spPr>
          <a:xfrm>
            <a:off x="429768" y="4315968"/>
            <a:ext cx="4937760" cy="11887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0" rtlCol="0" anchor="t">
            <a:noAutofit/>
          </a:bodyPr>
          <a:lstStyle/>
          <a:p>
            <a:pPr algn="l">
              <a:spcAft>
                <a:spcPts val="100"/>
              </a:spcAft>
              <a:buNone/>
            </a:pPr>
            <a:r>
              <a:rPr lang="ja-JP" altLang="en-US" sz="95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※再応募＝登録済みの方からの、次回イベントへの勤務希望（シフトの申告）も含みます。</a:t>
            </a:r>
            <a:endParaRPr lang="ja-JP" altLang="en-US" sz="950" dirty="0"/>
          </a:p>
          <a:p>
            <a:pPr algn="l">
              <a:spcAft>
                <a:spcPts val="100"/>
              </a:spcAft>
              <a:buNone/>
            </a:pPr>
            <a:r>
              <a:rPr lang="ja-JP" altLang="en-US" sz="95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※取れる情報から、段階的にタグを付けます。最初から高度なシステム連携は前提にしません。</a:t>
            </a:r>
            <a:endParaRPr lang="ja-JP" altLang="en-US" sz="950" dirty="0"/>
          </a:p>
          <a:p>
            <a:pPr algn="l">
              <a:spcAft>
                <a:spcPts val="100"/>
              </a:spcAft>
              <a:buNone/>
            </a:pPr>
            <a:r>
              <a:rPr lang="ja-JP" altLang="en-US" sz="95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※勤務の履歴・希望条件をいまどこで管理しているかは確認事項です。</a:t>
            </a:r>
            <a:endParaRPr lang="ja-JP" altLang="en-US" sz="950" dirty="0"/>
          </a:p>
        </p:txBody>
      </p:sp>
      <p:sp>
        <p:nvSpPr>
          <p:cNvPr id="24" name="Rounded Rectangle 23"/>
          <p:cNvSpPr/>
          <p:nvPr/>
        </p:nvSpPr>
        <p:spPr>
          <a:xfrm>
            <a:off x="5596128" y="1371600"/>
            <a:ext cx="3877056" cy="329184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1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配信の出し分けの例</a:t>
            </a:r>
            <a:endParaRPr lang="ja-JP" altLang="en-US" sz="1150" dirty="0"/>
          </a:p>
        </p:txBody>
      </p:sp>
      <p:sp>
        <p:nvSpPr>
          <p:cNvPr id="25" name="Rectangle 24"/>
          <p:cNvSpPr/>
          <p:nvPr/>
        </p:nvSpPr>
        <p:spPr>
          <a:xfrm>
            <a:off x="5596128" y="1828800"/>
            <a:ext cx="1600200" cy="603504"/>
          </a:xfrm>
          <a:prstGeom prst="rect">
            <a:avLst/>
          </a:prstGeom>
          <a:solidFill>
            <a:srgbClr val="EEF2F9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1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横浜エリアを希望</a:t>
            </a:r>
            <a:endParaRPr lang="ja-JP" altLang="en-US" sz="1100" dirty="0"/>
          </a:p>
        </p:txBody>
      </p:sp>
      <p:cxnSp>
        <p:nvCxnSpPr>
          <p:cNvPr id="26" name="Connector 25"/>
          <p:cNvCxnSpPr/>
          <p:nvPr/>
        </p:nvCxnSpPr>
        <p:spPr>
          <a:xfrm>
            <a:off x="7242048" y="2130552"/>
            <a:ext cx="292608" cy="0"/>
          </a:xfrm>
          <a:prstGeom prst="line">
            <a:avLst/>
          </a:prstGeom>
          <a:ln w="22225">
            <a:solidFill>
              <a:srgbClr val="1E2761"/>
            </a:solidFill>
            <a:tailEnd type="triangle" w="med" len="med"/>
          </a:ln>
        </p:spPr>
      </p:cxnSp>
      <p:sp>
        <p:nvSpPr>
          <p:cNvPr id="27" name="Rounded Rectangle 26"/>
          <p:cNvSpPr/>
          <p:nvPr/>
        </p:nvSpPr>
        <p:spPr>
          <a:xfrm>
            <a:off x="7580375" y="1828800"/>
            <a:ext cx="1892808" cy="6035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1E2761"/>
            </a:solidFill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横浜周辺のイベントの募集</a:t>
            </a:r>
            <a:endParaRPr lang="ja-JP" altLang="en-US" sz="1100" dirty="0"/>
          </a:p>
        </p:txBody>
      </p:sp>
      <p:sp>
        <p:nvSpPr>
          <p:cNvPr id="28" name="Rectangle 27"/>
          <p:cNvSpPr/>
          <p:nvPr/>
        </p:nvSpPr>
        <p:spPr>
          <a:xfrm>
            <a:off x="5596128" y="2615184"/>
            <a:ext cx="1600200" cy="603504"/>
          </a:xfrm>
          <a:prstGeom prst="rect">
            <a:avLst/>
          </a:prstGeom>
          <a:solidFill>
            <a:srgbClr val="EEF2F9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1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特定の会場に関心</a:t>
            </a:r>
            <a:endParaRPr lang="ja-JP" altLang="en-US" sz="1100" dirty="0"/>
          </a:p>
        </p:txBody>
      </p:sp>
      <p:cxnSp>
        <p:nvCxnSpPr>
          <p:cNvPr id="29" name="Connector 28"/>
          <p:cNvCxnSpPr/>
          <p:nvPr/>
        </p:nvCxnSpPr>
        <p:spPr>
          <a:xfrm>
            <a:off x="7242048" y="2916936"/>
            <a:ext cx="292608" cy="0"/>
          </a:xfrm>
          <a:prstGeom prst="line">
            <a:avLst/>
          </a:prstGeom>
          <a:ln w="22225">
            <a:solidFill>
              <a:srgbClr val="1E2761"/>
            </a:solidFill>
            <a:tailEnd type="triangle" w="med" len="med"/>
          </a:ln>
        </p:spPr>
      </p:cxnSp>
      <p:sp>
        <p:nvSpPr>
          <p:cNvPr id="30" name="Rounded Rectangle 29"/>
          <p:cNvSpPr/>
          <p:nvPr/>
        </p:nvSpPr>
        <p:spPr>
          <a:xfrm>
            <a:off x="7580375" y="2615184"/>
            <a:ext cx="1892808" cy="6035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1E2761"/>
            </a:solidFill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その会場のイベントの募集</a:t>
            </a:r>
            <a:endParaRPr lang="ja-JP" altLang="en-US" sz="1100" dirty="0"/>
          </a:p>
        </p:txBody>
      </p:sp>
      <p:sp>
        <p:nvSpPr>
          <p:cNvPr id="31" name="Rectangle 30"/>
          <p:cNvSpPr/>
          <p:nvPr/>
        </p:nvSpPr>
        <p:spPr>
          <a:xfrm>
            <a:off x="5596128" y="3401568"/>
            <a:ext cx="1600200" cy="603504"/>
          </a:xfrm>
          <a:prstGeom prst="rect">
            <a:avLst/>
          </a:prstGeom>
          <a:solidFill>
            <a:srgbClr val="EEF2F9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1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土日に勤務したい</a:t>
            </a:r>
            <a:endParaRPr lang="ja-JP" altLang="en-US" sz="1100" dirty="0"/>
          </a:p>
        </p:txBody>
      </p:sp>
      <p:cxnSp>
        <p:nvCxnSpPr>
          <p:cNvPr id="32" name="Connector 31"/>
          <p:cNvCxnSpPr/>
          <p:nvPr/>
        </p:nvCxnSpPr>
        <p:spPr>
          <a:xfrm>
            <a:off x="7242048" y="3703320"/>
            <a:ext cx="292608" cy="0"/>
          </a:xfrm>
          <a:prstGeom prst="line">
            <a:avLst/>
          </a:prstGeom>
          <a:ln w="22225">
            <a:solidFill>
              <a:srgbClr val="1E2761"/>
            </a:solidFill>
            <a:tailEnd type="triangle" w="med" len="med"/>
          </a:ln>
        </p:spPr>
      </p:cxnSp>
      <p:sp>
        <p:nvSpPr>
          <p:cNvPr id="33" name="Rounded Rectangle 32"/>
          <p:cNvSpPr/>
          <p:nvPr/>
        </p:nvSpPr>
        <p:spPr>
          <a:xfrm>
            <a:off x="7580375" y="3401568"/>
            <a:ext cx="1892808" cy="6035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1E2761"/>
            </a:solidFill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休日のイベントの募集</a:t>
            </a:r>
            <a:endParaRPr lang="ja-JP" altLang="en-US" sz="1100" dirty="0"/>
          </a:p>
        </p:txBody>
      </p:sp>
      <p:sp>
        <p:nvSpPr>
          <p:cNvPr id="34" name="Rectangle 33"/>
          <p:cNvSpPr/>
          <p:nvPr/>
        </p:nvSpPr>
        <p:spPr>
          <a:xfrm>
            <a:off x="5596128" y="4187952"/>
            <a:ext cx="1600200" cy="603504"/>
          </a:xfrm>
          <a:prstGeom prst="rect">
            <a:avLst/>
          </a:prstGeom>
          <a:solidFill>
            <a:srgbClr val="EEF2F9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1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一度勤務した方</a:t>
            </a:r>
            <a:endParaRPr lang="ja-JP" altLang="en-US" sz="1100" dirty="0"/>
          </a:p>
        </p:txBody>
      </p:sp>
      <p:cxnSp>
        <p:nvCxnSpPr>
          <p:cNvPr id="35" name="Connector 34"/>
          <p:cNvCxnSpPr/>
          <p:nvPr/>
        </p:nvCxnSpPr>
        <p:spPr>
          <a:xfrm>
            <a:off x="7242048" y="4489704"/>
            <a:ext cx="292608" cy="0"/>
          </a:xfrm>
          <a:prstGeom prst="line">
            <a:avLst/>
          </a:prstGeom>
          <a:ln w="22225">
            <a:solidFill>
              <a:srgbClr val="1E2761"/>
            </a:solidFill>
            <a:tailEnd type="triangle" w="med" len="med"/>
          </a:ln>
        </p:spPr>
      </p:cxnSp>
      <p:sp>
        <p:nvSpPr>
          <p:cNvPr id="36" name="Rounded Rectangle 35"/>
          <p:cNvSpPr/>
          <p:nvPr/>
        </p:nvSpPr>
        <p:spPr>
          <a:xfrm>
            <a:off x="7580375" y="4187952"/>
            <a:ext cx="1892808" cy="6035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1E2761"/>
            </a:solidFill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次回の募集を先にご案内</a:t>
            </a:r>
            <a:endParaRPr lang="ja-JP" altLang="en-US" sz="1100" dirty="0"/>
          </a:p>
        </p:txBody>
      </p:sp>
      <p:sp>
        <p:nvSpPr>
          <p:cNvPr id="37" name="Rectangle 36"/>
          <p:cNvSpPr/>
          <p:nvPr/>
        </p:nvSpPr>
        <p:spPr>
          <a:xfrm>
            <a:off x="5596128" y="4983480"/>
            <a:ext cx="3877056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0" rtlCol="0" anchor="t">
            <a:noAutofit/>
          </a:bodyPr>
          <a:lstStyle/>
          <a:p>
            <a:pPr algn="l">
              <a:buNone/>
            </a:pPr>
            <a:r>
              <a:rPr lang="ja-JP" altLang="en-US" sz="100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※配信設計の例です。</a:t>
            </a:r>
            <a:endParaRPr lang="ja-JP" alt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52;p28"/>
          <p:cNvSpPr/>
          <p:nvPr/>
        </p:nvSpPr>
        <p:spPr>
          <a:xfrm>
            <a:off x="549000" y="138240"/>
            <a:ext cx="768096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ja-JP" sz="1600" b="1" u="none" strike="noStrike">
                <a:solidFill>
                  <a:srgbClr val="323366"/>
                </a:solidFill>
                <a:effectLst/>
                <a:uFillTx/>
                <a:latin typeface="メイリオ"/>
                <a:ea typeface="メイリオ"/>
              </a:rPr>
              <a:t>前後検索「単発バイト」｜当日に何社も比べ、その後は給与・働き方を調べる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sp>
        <p:nvSpPr>
          <p:cNvPr id="3" name="正方形/長方形 2"/>
          <p:cNvSpPr/>
          <p:nvPr/>
        </p:nvSpPr>
        <p:spPr>
          <a:xfrm>
            <a:off x="0" y="577800"/>
            <a:ext cx="9905760" cy="812520"/>
          </a:xfrm>
          <a:prstGeom prst="rect">
            <a:avLst/>
          </a:prstGeom>
          <a:noFill/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メイリオ"/>
              <a:ea typeface="メイリオ"/>
            </a:endParaRPr>
          </a:p>
        </p:txBody>
      </p:sp>
      <p:sp>
        <p:nvSpPr>
          <p:cNvPr id="4" name="正方形/長方形 3"/>
          <p:cNvSpPr/>
          <p:nvPr/>
        </p:nvSpPr>
        <p:spPr>
          <a:xfrm>
            <a:off x="379800" y="635040"/>
            <a:ext cx="9160560" cy="698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90000" rIns="90000" bIns="45000" anchor="ctr">
            <a:noAutofit/>
          </a:bodyPr>
          <a:lstStyle/>
          <a:p>
            <a:pPr algn="ctr" defTabSz="914400">
              <a:lnSpc>
                <a:spcPts val="2455"/>
              </a:lnSpc>
            </a:pPr>
            <a:endParaRPr lang="en-US" sz="1400" b="0" u="none" strike="noStrike">
              <a:solidFill>
                <a:srgbClr val="343434"/>
              </a:solidFill>
              <a:effectLst/>
              <a:uFillTx/>
              <a:latin typeface="メイリオ"/>
              <a:ea typeface="メイリオ"/>
            </a:endParaRPr>
          </a:p>
        </p:txBody>
      </p:sp>
      <p:cxnSp>
        <p:nvCxnSpPr>
          <p:cNvPr id="5" name="直線コネクタ 1"/>
          <p:cNvCxnSpPr/>
          <p:nvPr/>
        </p:nvCxnSpPr>
        <p:spPr>
          <a:xfrm>
            <a:off x="0" y="1390320"/>
            <a:ext cx="9906120" cy="360"/>
          </a:xfrm>
          <a:prstGeom prst="straightConnector1">
            <a:avLst/>
          </a:prstGeom>
          <a:ln w="19050">
            <a:solidFill>
              <a:schemeClr val="lt1">
                <a:lumMod val="85000"/>
                <a:alpha val="60000"/>
              </a:schemeClr>
            </a:solidFill>
            <a:round/>
          </a:ln>
        </p:spPr>
      </p:cxnSp>
      <p:sp>
        <p:nvSpPr>
          <p:cNvPr id="6" name="テキスト ボックス 30"/>
          <p:cNvSpPr/>
          <p:nvPr/>
        </p:nvSpPr>
        <p:spPr>
          <a:xfrm>
            <a:off x="426240" y="635400"/>
            <a:ext cx="9068760" cy="69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400" b="1" u="none" strike="noStrike" dirty="0">
                <a:effectLst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応募の前後に調べていることを、LINEで先に届ける</a:t>
            </a:r>
            <a:endParaRPr lang="en-US" sz="1400" b="1" u="none" strike="noStrike" dirty="0">
              <a:effectLst/>
              <a:uFillTx/>
              <a:latin typeface="メイリオ"/>
            </a:endParaRPr>
          </a:p>
        </p:txBody>
      </p:sp>
      <p:pic>
        <p:nvPicPr>
          <p:cNvPr id="7" name="前後検索 単発バイト（色分け）" descr="tanaka_zengo_chumon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00200"/>
            <a:ext cx="5943600" cy="3730824"/>
          </a:xfrm>
          <a:prstGeom prst="rect">
            <a:avLst/>
          </a:prstGeom>
        </p:spPr>
      </p:pic>
      <p:sp>
        <p:nvSpPr>
          <p:cNvPr id="8" name="LINE追加の時期"/>
          <p:cNvSpPr/>
          <p:nvPr/>
        </p:nvSpPr>
        <p:spPr>
          <a:xfrm>
            <a:off x="3584676" y="1644777"/>
            <a:ext cx="692429" cy="3485439"/>
          </a:xfrm>
          <a:prstGeom prst="rect">
            <a:avLst/>
          </a:prstGeom>
          <a:solidFill>
            <a:srgbClr val="06C755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LINE追加 札"/>
          <p:cNvSpPr/>
          <p:nvPr/>
        </p:nvSpPr>
        <p:spPr>
          <a:xfrm>
            <a:off x="3473690" y="5377104"/>
            <a:ext cx="914400" cy="237744"/>
          </a:xfrm>
          <a:prstGeom prst="rect">
            <a:avLst/>
          </a:prstGeom>
          <a:solidFill>
            <a:srgbClr val="C6EFC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ja-JP" altLang="en-US" sz="950" b="1" dirty="0">
                <a:solidFill>
                  <a:srgbClr val="00873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LINE追加</a:t>
            </a:r>
            <a:endParaRPr lang="ja-JP" altLang="en-US" sz="1200" dirty="0"/>
          </a:p>
        </p:txBody>
      </p:sp>
      <p:sp>
        <p:nvSpPr>
          <p:cNvPr id="10" name="凡例の色"/>
          <p:cNvSpPr/>
          <p:nvPr/>
        </p:nvSpPr>
        <p:spPr>
          <a:xfrm>
            <a:off x="6629400" y="1655064"/>
            <a:ext cx="137160" cy="137160"/>
          </a:xfrm>
          <a:prstGeom prst="rect">
            <a:avLst/>
          </a:prstGeom>
          <a:solidFill>
            <a:srgbClr val="3467B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endParaRPr lang="ja-JP" altLang="en-US" sz="1200" dirty="0"/>
          </a:p>
        </p:txBody>
      </p:sp>
      <p:sp>
        <p:nvSpPr>
          <p:cNvPr id="11" name="凡例"/>
          <p:cNvSpPr/>
          <p:nvPr/>
        </p:nvSpPr>
        <p:spPr>
          <a:xfrm>
            <a:off x="6812280" y="1600200"/>
            <a:ext cx="2587752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求人サービスを比べる</a:t>
            </a:r>
            <a:endParaRPr lang="ja-JP" altLang="en-US" sz="1200" dirty="0"/>
          </a:p>
        </p:txBody>
      </p:sp>
      <p:sp>
        <p:nvSpPr>
          <p:cNvPr id="12" name="凡例の色"/>
          <p:cNvSpPr/>
          <p:nvPr/>
        </p:nvSpPr>
        <p:spPr>
          <a:xfrm>
            <a:off x="6629400" y="1901952"/>
            <a:ext cx="137160" cy="137160"/>
          </a:xfrm>
          <a:prstGeom prst="rect">
            <a:avLst/>
          </a:prstGeom>
          <a:solidFill>
            <a:srgbClr val="8E4EC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endParaRPr lang="ja-JP" altLang="en-US" sz="1200" dirty="0"/>
          </a:p>
        </p:txBody>
      </p:sp>
      <p:sp>
        <p:nvSpPr>
          <p:cNvPr id="13" name="凡例"/>
          <p:cNvSpPr/>
          <p:nvPr/>
        </p:nvSpPr>
        <p:spPr>
          <a:xfrm>
            <a:off x="6812280" y="1847088"/>
            <a:ext cx="2587752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応募・面接の準備</a:t>
            </a:r>
            <a:endParaRPr lang="ja-JP" altLang="en-US" sz="1200" dirty="0"/>
          </a:p>
        </p:txBody>
      </p:sp>
      <p:sp>
        <p:nvSpPr>
          <p:cNvPr id="14" name="凡例の色"/>
          <p:cNvSpPr/>
          <p:nvPr/>
        </p:nvSpPr>
        <p:spPr>
          <a:xfrm>
            <a:off x="6629400" y="2148840"/>
            <a:ext cx="137160" cy="13716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endParaRPr lang="ja-JP" altLang="en-US" sz="1200" dirty="0"/>
          </a:p>
        </p:txBody>
      </p:sp>
      <p:sp>
        <p:nvSpPr>
          <p:cNvPr id="15" name="凡例"/>
          <p:cNvSpPr/>
          <p:nvPr/>
        </p:nvSpPr>
        <p:spPr>
          <a:xfrm>
            <a:off x="6812280" y="2093976"/>
            <a:ext cx="2587752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給与・働き方を調べる</a:t>
            </a:r>
            <a:endParaRPr lang="ja-JP" altLang="en-US" sz="1200" dirty="0"/>
          </a:p>
        </p:txBody>
      </p:sp>
      <p:sp>
        <p:nvSpPr>
          <p:cNvPr id="18" name="分析 当日"/>
          <p:cNvSpPr/>
          <p:nvPr/>
        </p:nvSpPr>
        <p:spPr>
          <a:xfrm>
            <a:off x="6629400" y="2404872"/>
            <a:ext cx="2770632" cy="274320"/>
          </a:xfrm>
          <a:prstGeom prst="rect">
            <a:avLst/>
          </a:prstGeom>
          <a:solidFill>
            <a:srgbClr val="1F285A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buNone/>
            </a:pPr>
            <a:r>
              <a:rPr lang="ja-JP" altLang="en-US" sz="11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検索前</a:t>
            </a:r>
            <a:endParaRPr lang="ja-JP" altLang="en-US" sz="1200" dirty="0"/>
          </a:p>
        </p:txBody>
      </p:sp>
      <p:sp>
        <p:nvSpPr>
          <p:cNvPr id="19" name="分析 当日 本文"/>
          <p:cNvSpPr/>
          <p:nvPr/>
        </p:nvSpPr>
        <p:spPr>
          <a:xfrm>
            <a:off x="6629400" y="2679191"/>
            <a:ext cx="2770632" cy="713232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lIns="73152" tIns="36576" rIns="73152" bIns="27432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ja-JP" altLang="en-US" sz="12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求人サイトで探し始める</a:t>
            </a:r>
            <a:endParaRPr lang="ja-JP" altLang="en-US" sz="1200" dirty="0"/>
          </a:p>
          <a:p>
            <a:pPr algn="l">
              <a:lnSpc>
                <a:spcPct val="110000"/>
              </a:lnSpc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バイト 求人・タウンワークなど</a:t>
            </a:r>
            <a:endParaRPr lang="ja-JP" altLang="en-US" sz="1200" dirty="0"/>
          </a:p>
        </p:txBody>
      </p:sp>
      <p:sp>
        <p:nvSpPr>
          <p:cNvPr id="20" name="分析 1〜7日後"/>
          <p:cNvSpPr/>
          <p:nvPr/>
        </p:nvSpPr>
        <p:spPr>
          <a:xfrm>
            <a:off x="6629400" y="3447288"/>
            <a:ext cx="2770632" cy="274320"/>
          </a:xfrm>
          <a:prstGeom prst="rect">
            <a:avLst/>
          </a:prstGeom>
          <a:solidFill>
            <a:srgbClr val="1F285A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buNone/>
            </a:pPr>
            <a:r>
              <a:rPr lang="ja-JP" altLang="en-US" sz="11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当日</a:t>
            </a:r>
            <a:endParaRPr lang="ja-JP" altLang="en-US" sz="1200" dirty="0"/>
          </a:p>
        </p:txBody>
      </p:sp>
      <p:sp>
        <p:nvSpPr>
          <p:cNvPr id="21" name="分析 1〜7日後 本文"/>
          <p:cNvSpPr/>
          <p:nvPr/>
        </p:nvSpPr>
        <p:spPr>
          <a:xfrm>
            <a:off x="6629400" y="3721608"/>
            <a:ext cx="2770632" cy="713232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lIns="73152" tIns="36576" rIns="73152" bIns="27432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ja-JP" altLang="en-US" sz="12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単発のサービスを比べる</a:t>
            </a:r>
            <a:endParaRPr lang="ja-JP" altLang="en-US" sz="1200" dirty="0"/>
          </a:p>
          <a:p>
            <a:pPr algn="l">
              <a:lnSpc>
                <a:spcPct val="110000"/>
              </a:lnSpc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タイミー・バイトル・短期バイトなど。履歴書の書き方も</a:t>
            </a:r>
            <a:endParaRPr lang="ja-JP" altLang="en-US" sz="1200" dirty="0"/>
          </a:p>
        </p:txBody>
      </p:sp>
      <p:sp>
        <p:nvSpPr>
          <p:cNvPr id="22" name="分析 7〜15日後"/>
          <p:cNvSpPr/>
          <p:nvPr/>
        </p:nvSpPr>
        <p:spPr>
          <a:xfrm>
            <a:off x="6629400" y="4489704"/>
            <a:ext cx="2770632" cy="274320"/>
          </a:xfrm>
          <a:prstGeom prst="rect">
            <a:avLst/>
          </a:prstGeom>
          <a:solidFill>
            <a:srgbClr val="1F285A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buNone/>
            </a:pPr>
            <a:r>
              <a:rPr lang="ja-JP" altLang="en-US" sz="11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1〜15日後</a:t>
            </a:r>
            <a:endParaRPr lang="ja-JP" altLang="en-US" sz="1200" dirty="0"/>
          </a:p>
        </p:txBody>
      </p:sp>
      <p:sp>
        <p:nvSpPr>
          <p:cNvPr id="23" name="分析 7〜15日後 本文"/>
          <p:cNvSpPr/>
          <p:nvPr/>
        </p:nvSpPr>
        <p:spPr>
          <a:xfrm>
            <a:off x="6629400" y="4764024"/>
            <a:ext cx="2770632" cy="713232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lIns="73152" tIns="36576" rIns="73152" bIns="27432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ja-JP" altLang="en-US" sz="12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給与・働き方を調べる</a:t>
            </a:r>
            <a:endParaRPr lang="ja-JP" altLang="en-US" sz="1200" dirty="0"/>
          </a:p>
          <a:p>
            <a:pPr algn="l">
              <a:lnSpc>
                <a:spcPct val="110000"/>
              </a:lnSpc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日払い・確定申告・ダブルワークの扶養。面接の服装も</a:t>
            </a:r>
            <a:endParaRPr lang="ja-JP" altLang="en-US" sz="1200" dirty="0"/>
          </a:p>
        </p:txBody>
      </p:sp>
      <p:sp>
        <p:nvSpPr>
          <p:cNvPr id="24" name="示唆"/>
          <p:cNvSpPr/>
          <p:nvPr/>
        </p:nvSpPr>
        <p:spPr>
          <a:xfrm>
            <a:off x="502920" y="5779008"/>
            <a:ext cx="8897112" cy="41148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buNone/>
            </a:pPr>
            <a:r>
              <a:rPr lang="ja-JP" altLang="en-US" sz="1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求人サービスを比べる → 応募・面接の準備 → 給与・働き方 の順に調べている</a:t>
            </a:r>
            <a:endParaRPr lang="ja-JP" altLang="en-US" sz="1200" dirty="0"/>
          </a:p>
        </p:txBody>
      </p:sp>
      <p:sp>
        <p:nvSpPr>
          <p:cNvPr id="25" name="注記"/>
          <p:cNvSpPr/>
          <p:nvPr/>
        </p:nvSpPr>
        <p:spPr>
          <a:xfrm>
            <a:off x="502920" y="6236208"/>
            <a:ext cx="889711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ja-JP" altLang="en-US" sz="850" b="0" dirty="0">
                <a:solidFill>
                  <a:srgbClr val="7F7F7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※LINEヤフー社の前後検索データより。「単発バイト」を検索した方が、前後15日間に検索した言葉（縦軸＝検索した人数）。</a:t>
            </a:r>
            <a:endParaRPr lang="ja-JP" alt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配信イメージ｜勤務前の案内・次回の募集・リッチメニュー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8521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横浜シミズ向けの配信の文面と、リッチメニューの構成案です。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文面・項目は例です。運用を始める前にすり合わせて確定します。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" y="5596128"/>
            <a:ext cx="9043416" cy="37490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29768" y="5596128"/>
            <a:ext cx="9043416" cy="374904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勤務に必要な情報と次の募集が、同じLINEに届く</a:t>
            </a:r>
            <a:endParaRPr lang="ja-JP" altLang="en-US" sz="1300" dirty="0"/>
          </a:p>
        </p:txBody>
      </p:sp>
      <p:sp>
        <p:nvSpPr>
          <p:cNvPr id="22" name="Rounded Rectangle 21"/>
          <p:cNvSpPr/>
          <p:nvPr/>
        </p:nvSpPr>
        <p:spPr>
          <a:xfrm>
            <a:off x="429768" y="1371600"/>
            <a:ext cx="2880360" cy="329184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1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勤務前の案内（前日）</a:t>
            </a:r>
            <a:endParaRPr lang="ja-JP" altLang="en-US" sz="1150" dirty="0"/>
          </a:p>
        </p:txBody>
      </p:sp>
      <p:sp>
        <p:nvSpPr>
          <p:cNvPr id="23" name="Rectangle 22"/>
          <p:cNvSpPr/>
          <p:nvPr/>
        </p:nvSpPr>
        <p:spPr>
          <a:xfrm>
            <a:off x="429768" y="1783080"/>
            <a:ext cx="2880360" cy="3246120"/>
          </a:xfrm>
          <a:prstGeom prst="rect">
            <a:avLst/>
          </a:prstGeom>
          <a:solidFill>
            <a:srgbClr val="D8E2F1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>
              <a:buNone/>
            </a:pPr>
            <a:endParaRPr lang="ja-JP" altLang="en-US" sz="1200" dirty="0"/>
          </a:p>
        </p:txBody>
      </p:sp>
      <p:sp>
        <p:nvSpPr>
          <p:cNvPr id="24" name="Rounded Rectangle 23"/>
          <p:cNvSpPr/>
          <p:nvPr/>
        </p:nvSpPr>
        <p:spPr>
          <a:xfrm>
            <a:off x="594359" y="1920240"/>
            <a:ext cx="2551176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ja-JP" altLang="en-US" sz="105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【明日の勤務のご案内】</a:t>
            </a:r>
            <a:endParaRPr lang="ja-JP" altLang="en-US" sz="1050" dirty="0"/>
          </a:p>
          <a:p>
            <a:pPr algn="l">
              <a:spcAft>
                <a:spcPts val="200"/>
              </a:spcAft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〇月〇日（〇）〇〇スタジアム</a:t>
            </a:r>
            <a:endParaRPr lang="ja-JP" altLang="en-US" sz="1050" dirty="0"/>
          </a:p>
          <a:p>
            <a:pPr algn="l">
              <a:spcAft>
                <a:spcPts val="200"/>
              </a:spcAft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集合：〇〇:〇〇　〇〇ゲート前</a:t>
            </a:r>
            <a:endParaRPr lang="ja-JP" altLang="en-US" sz="1050" dirty="0"/>
          </a:p>
          <a:p>
            <a:pPr algn="l">
              <a:spcAft>
                <a:spcPts val="200"/>
              </a:spcAft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持ち物：〇〇・〇〇</a:t>
            </a:r>
            <a:endParaRPr lang="ja-JP" altLang="en-US" sz="1050" dirty="0"/>
          </a:p>
          <a:p>
            <a:pPr algn="l">
              <a:spcAft>
                <a:spcPts val="200"/>
              </a:spcAft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服装：〇〇</a:t>
            </a:r>
            <a:endParaRPr lang="ja-JP" altLang="en-US" sz="1050" dirty="0"/>
          </a:p>
          <a:p>
            <a:pPr algn="l">
              <a:spcAft>
                <a:spcPts val="200"/>
              </a:spcAft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遅れる場合・体調がすぐれないときは、このLINEでご連絡ください。</a:t>
            </a:r>
            <a:endParaRPr lang="ja-JP" altLang="en-US" sz="1050" dirty="0"/>
          </a:p>
        </p:txBody>
      </p:sp>
      <p:sp>
        <p:nvSpPr>
          <p:cNvPr id="25" name="Rectangle 24"/>
          <p:cNvSpPr/>
          <p:nvPr/>
        </p:nvSpPr>
        <p:spPr>
          <a:xfrm>
            <a:off x="429768" y="5074920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l">
              <a:buNone/>
            </a:pPr>
            <a:r>
              <a:rPr lang="ja-JP" altLang="en-US" sz="100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対象：そのイベントに勤務する方（タグ）</a:t>
            </a:r>
            <a:endParaRPr lang="ja-JP" altLang="en-US" sz="1000" dirty="0"/>
          </a:p>
        </p:txBody>
      </p:sp>
      <p:sp>
        <p:nvSpPr>
          <p:cNvPr id="26" name="Rounded Rectangle 25"/>
          <p:cNvSpPr/>
          <p:nvPr/>
        </p:nvSpPr>
        <p:spPr>
          <a:xfrm>
            <a:off x="3511296" y="1371600"/>
            <a:ext cx="2880360" cy="329184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1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次回イベントの募集</a:t>
            </a:r>
            <a:endParaRPr lang="ja-JP" altLang="en-US" sz="1150" dirty="0"/>
          </a:p>
        </p:txBody>
      </p:sp>
      <p:sp>
        <p:nvSpPr>
          <p:cNvPr id="27" name="Rectangle 26"/>
          <p:cNvSpPr/>
          <p:nvPr/>
        </p:nvSpPr>
        <p:spPr>
          <a:xfrm>
            <a:off x="3511296" y="1783080"/>
            <a:ext cx="2880360" cy="3246120"/>
          </a:xfrm>
          <a:prstGeom prst="rect">
            <a:avLst/>
          </a:prstGeom>
          <a:solidFill>
            <a:srgbClr val="D8E2F1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>
              <a:buNone/>
            </a:pPr>
            <a:endParaRPr lang="ja-JP" altLang="en-US" sz="1200" dirty="0"/>
          </a:p>
        </p:txBody>
      </p:sp>
      <p:sp>
        <p:nvSpPr>
          <p:cNvPr id="28" name="Rounded Rectangle 27"/>
          <p:cNvSpPr/>
          <p:nvPr/>
        </p:nvSpPr>
        <p:spPr>
          <a:xfrm>
            <a:off x="3675888" y="1920240"/>
            <a:ext cx="2551176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ja-JP" altLang="en-US" sz="105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【勤務者募集｜横浜アリーナ】</a:t>
            </a:r>
            <a:endParaRPr lang="ja-JP" altLang="en-US" sz="1050" dirty="0"/>
          </a:p>
          <a:p>
            <a:pPr algn="l">
              <a:spcAft>
                <a:spcPts val="200"/>
              </a:spcAft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〇月〇日（〇）〇〇時〜〇〇時</a:t>
            </a:r>
            <a:endParaRPr lang="ja-JP" altLang="en-US" sz="1050" dirty="0"/>
          </a:p>
          <a:p>
            <a:pPr algn="l">
              <a:spcAft>
                <a:spcPts val="200"/>
              </a:spcAft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案内・誘導スタッフ　時給〇〇円〜</a:t>
            </a:r>
            <a:endParaRPr lang="ja-JP" altLang="en-US" sz="1050" dirty="0"/>
          </a:p>
          <a:p>
            <a:pPr algn="l">
              <a:spcAft>
                <a:spcPts val="200"/>
              </a:spcAft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前回のご勤務、ありがとうございました。次のイベントもお待ちしています。</a:t>
            </a:r>
            <a:endParaRPr lang="ja-JP" altLang="en-US" sz="1050" dirty="0"/>
          </a:p>
        </p:txBody>
      </p:sp>
      <p:sp>
        <p:nvSpPr>
          <p:cNvPr id="29" name="Rectangle 28"/>
          <p:cNvSpPr/>
          <p:nvPr/>
        </p:nvSpPr>
        <p:spPr>
          <a:xfrm>
            <a:off x="3831336" y="4343400"/>
            <a:ext cx="2240280" cy="41148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勤務希望を出す</a:t>
            </a:r>
            <a:endParaRPr lang="ja-JP" altLang="en-US" sz="1100" dirty="0"/>
          </a:p>
        </p:txBody>
      </p:sp>
      <p:sp>
        <p:nvSpPr>
          <p:cNvPr id="30" name="Rectangle 29"/>
          <p:cNvSpPr/>
          <p:nvPr/>
        </p:nvSpPr>
        <p:spPr>
          <a:xfrm>
            <a:off x="3511296" y="5074920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l">
              <a:buNone/>
            </a:pPr>
            <a:r>
              <a:rPr lang="ja-JP" altLang="en-US" sz="100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対象：横浜エリア・土日希望・勤務ありの方</a:t>
            </a:r>
            <a:endParaRPr lang="ja-JP" altLang="en-US" sz="1000" dirty="0"/>
          </a:p>
        </p:txBody>
      </p:sp>
      <p:sp>
        <p:nvSpPr>
          <p:cNvPr id="31" name="Rounded Rectangle 30"/>
          <p:cNvSpPr/>
          <p:nvPr/>
        </p:nvSpPr>
        <p:spPr>
          <a:xfrm>
            <a:off x="6592824" y="1371600"/>
            <a:ext cx="2880360" cy="329184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1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リッチメニュー（構成案）</a:t>
            </a:r>
            <a:endParaRPr lang="ja-JP" altLang="en-US" sz="1150" dirty="0"/>
          </a:p>
        </p:txBody>
      </p:sp>
      <p:sp>
        <p:nvSpPr>
          <p:cNvPr id="32" name="Rectangle 31"/>
          <p:cNvSpPr/>
          <p:nvPr/>
        </p:nvSpPr>
        <p:spPr>
          <a:xfrm>
            <a:off x="6592824" y="1783080"/>
            <a:ext cx="2880360" cy="3246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>
              <a:buNone/>
            </a:pPr>
            <a:endParaRPr lang="ja-JP" altLang="en-US" sz="1200" dirty="0"/>
          </a:p>
        </p:txBody>
      </p:sp>
      <p:sp>
        <p:nvSpPr>
          <p:cNvPr id="33" name="Rectangle 32"/>
          <p:cNvSpPr/>
          <p:nvPr/>
        </p:nvSpPr>
        <p:spPr>
          <a:xfrm>
            <a:off x="6647688" y="2240280"/>
            <a:ext cx="893064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ctr">
              <a:spcAft>
                <a:spcPts val="100"/>
              </a:spcAft>
              <a:buNone/>
            </a:pPr>
            <a:r>
              <a:rPr lang="ja-JP" altLang="en-US" sz="11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仕事を探す</a:t>
            </a:r>
            <a:endParaRPr lang="ja-JP" altLang="en-US" sz="1100" dirty="0"/>
          </a:p>
          <a:p>
            <a:pPr algn="ctr">
              <a:spcAft>
                <a:spcPts val="100"/>
              </a:spcAft>
              <a:buNone/>
            </a:pPr>
            <a:r>
              <a:rPr lang="ja-JP" altLang="en-US" sz="950" b="0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募集中の</a:t>
            </a:r>
            <a:br>
              <a:rPr lang="ja-JP" altLang="en-US" sz="950" b="0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sz="950" b="0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イベント</a:t>
            </a:r>
            <a:endParaRPr lang="ja-JP" altLang="en-US" sz="1100" dirty="0"/>
          </a:p>
        </p:txBody>
      </p:sp>
      <p:sp>
        <p:nvSpPr>
          <p:cNvPr id="34" name="Rectangle 33"/>
          <p:cNvSpPr/>
          <p:nvPr/>
        </p:nvSpPr>
        <p:spPr>
          <a:xfrm>
            <a:off x="7586472" y="2240280"/>
            <a:ext cx="893064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ctr">
              <a:spcAft>
                <a:spcPts val="100"/>
              </a:spcAft>
              <a:buNone/>
            </a:pPr>
            <a:r>
              <a:rPr lang="ja-JP" altLang="en-US" sz="115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勤務の案内</a:t>
            </a:r>
            <a:endParaRPr lang="ja-JP" altLang="en-US" sz="1100" dirty="0"/>
          </a:p>
          <a:p>
            <a:pPr algn="ctr">
              <a:spcAft>
                <a:spcPts val="100"/>
              </a:spcAft>
              <a:buNone/>
            </a:pPr>
            <a:r>
              <a:rPr lang="ja-JP" altLang="en-US" sz="950" b="0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集合・持ち物</a:t>
            </a:r>
            <a:endParaRPr lang="ja-JP" altLang="en-US" sz="1100" dirty="0"/>
          </a:p>
        </p:txBody>
      </p:sp>
      <p:sp>
        <p:nvSpPr>
          <p:cNvPr id="35" name="Rectangle 34"/>
          <p:cNvSpPr/>
          <p:nvPr/>
        </p:nvSpPr>
        <p:spPr>
          <a:xfrm>
            <a:off x="8525256" y="2240280"/>
            <a:ext cx="893064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ctr">
              <a:spcAft>
                <a:spcPts val="100"/>
              </a:spcAft>
              <a:buNone/>
            </a:pPr>
            <a:r>
              <a:rPr lang="ja-JP" altLang="en-US" sz="115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希望条件を</a:t>
            </a:r>
            <a:br>
              <a:rPr lang="ja-JP" altLang="en-US" sz="115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sz="115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変える</a:t>
            </a:r>
            <a:endParaRPr lang="ja-JP" altLang="en-US" sz="1100" dirty="0"/>
          </a:p>
          <a:p>
            <a:pPr algn="ctr">
              <a:spcAft>
                <a:spcPts val="100"/>
              </a:spcAft>
              <a:buNone/>
            </a:pPr>
            <a:r>
              <a:rPr lang="ja-JP" altLang="en-US" sz="950" b="0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エリア・曜日</a:t>
            </a:r>
            <a:endParaRPr lang="ja-JP" altLang="en-US" sz="1100" dirty="0"/>
          </a:p>
        </p:txBody>
      </p:sp>
      <p:sp>
        <p:nvSpPr>
          <p:cNvPr id="36" name="Rectangle 35"/>
          <p:cNvSpPr/>
          <p:nvPr/>
        </p:nvSpPr>
        <p:spPr>
          <a:xfrm>
            <a:off x="6647688" y="3200400"/>
            <a:ext cx="893064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ctr">
              <a:spcAft>
                <a:spcPts val="100"/>
              </a:spcAft>
              <a:buNone/>
            </a:pPr>
            <a:r>
              <a:rPr lang="ja-JP" altLang="en-US" sz="115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よくある</a:t>
            </a:r>
            <a:br>
              <a:rPr lang="ja-JP" altLang="en-US" sz="115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sz="115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質問</a:t>
            </a:r>
            <a:endParaRPr lang="ja-JP" altLang="en-US" sz="1100" dirty="0"/>
          </a:p>
          <a:p>
            <a:pPr algn="ctr">
              <a:spcAft>
                <a:spcPts val="100"/>
              </a:spcAft>
              <a:buNone/>
            </a:pPr>
            <a:r>
              <a:rPr lang="ja-JP" altLang="en-US" sz="950" b="0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給与・服装など</a:t>
            </a:r>
            <a:endParaRPr lang="ja-JP" altLang="en-US" sz="1100" dirty="0"/>
          </a:p>
        </p:txBody>
      </p:sp>
      <p:sp>
        <p:nvSpPr>
          <p:cNvPr id="37" name="Rectangle 36"/>
          <p:cNvSpPr/>
          <p:nvPr/>
        </p:nvSpPr>
        <p:spPr>
          <a:xfrm>
            <a:off x="7586472" y="3200400"/>
            <a:ext cx="893064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ctr">
              <a:spcAft>
                <a:spcPts val="100"/>
              </a:spcAft>
              <a:buNone/>
            </a:pPr>
            <a:r>
              <a:rPr lang="ja-JP" altLang="en-US" sz="115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お問い</a:t>
            </a:r>
            <a:br>
              <a:rPr lang="ja-JP" altLang="en-US" sz="115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sz="115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合わせ</a:t>
            </a:r>
            <a:endParaRPr lang="ja-JP" altLang="en-US" sz="1100" dirty="0"/>
          </a:p>
          <a:p>
            <a:pPr algn="ctr">
              <a:spcAft>
                <a:spcPts val="100"/>
              </a:spcAft>
              <a:buNone/>
            </a:pPr>
            <a:r>
              <a:rPr lang="ja-JP" altLang="en-US" sz="950" b="0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チャットで相談</a:t>
            </a:r>
            <a:endParaRPr lang="ja-JP" altLang="en-US" sz="1100" dirty="0"/>
          </a:p>
        </p:txBody>
      </p:sp>
      <p:sp>
        <p:nvSpPr>
          <p:cNvPr id="38" name="Rectangle 37"/>
          <p:cNvSpPr/>
          <p:nvPr/>
        </p:nvSpPr>
        <p:spPr>
          <a:xfrm>
            <a:off x="8525256" y="3200400"/>
            <a:ext cx="893064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ctr">
              <a:spcAft>
                <a:spcPts val="100"/>
              </a:spcAft>
              <a:buNone/>
            </a:pPr>
            <a:r>
              <a:rPr lang="ja-JP" altLang="en-US" sz="115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横浜シミズ</a:t>
            </a:r>
            <a:br>
              <a:rPr lang="ja-JP" altLang="en-US" sz="115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sz="115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とは</a:t>
            </a:r>
            <a:endParaRPr lang="ja-JP" altLang="en-US" sz="1100" dirty="0"/>
          </a:p>
          <a:p>
            <a:pPr algn="ctr">
              <a:spcAft>
                <a:spcPts val="100"/>
              </a:spcAft>
              <a:buNone/>
            </a:pPr>
            <a:r>
              <a:rPr lang="ja-JP" altLang="en-US" sz="950" b="0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会社・現場</a:t>
            </a:r>
            <a:br>
              <a:rPr lang="ja-JP" altLang="en-US" sz="950" b="0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sz="950" b="0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の紹介</a:t>
            </a:r>
            <a:endParaRPr lang="ja-JP" altLang="en-US" sz="1100" dirty="0"/>
          </a:p>
        </p:txBody>
      </p:sp>
      <p:sp>
        <p:nvSpPr>
          <p:cNvPr id="39" name="Rectangle 38"/>
          <p:cNvSpPr/>
          <p:nvPr/>
        </p:nvSpPr>
        <p:spPr>
          <a:xfrm>
            <a:off x="6592824" y="5074920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l">
              <a:buNone/>
            </a:pPr>
            <a:r>
              <a:rPr lang="ja-JP" altLang="en-US" sz="100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一番押してほしい「仕事を探す」を左上に</a:t>
            </a:r>
            <a:endParaRPr lang="ja-JP" alt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正方形/長方形 2"/>
          <p:cNvSpPr/>
          <p:nvPr/>
        </p:nvSpPr>
        <p:spPr>
          <a:xfrm>
            <a:off x="0" y="577800"/>
            <a:ext cx="9905760" cy="812520"/>
          </a:xfrm>
          <a:prstGeom prst="rect">
            <a:avLst/>
          </a:prstGeom>
          <a:noFill/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メイリオ"/>
              <a:ea typeface="メイリオ"/>
            </a:endParaRPr>
          </a:p>
        </p:txBody>
      </p:sp>
      <p:sp>
        <p:nvSpPr>
          <p:cNvPr id="338" name="正方形/長方形 3"/>
          <p:cNvSpPr/>
          <p:nvPr/>
        </p:nvSpPr>
        <p:spPr>
          <a:xfrm>
            <a:off x="379800" y="635040"/>
            <a:ext cx="9160560" cy="698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90000" rIns="90000" bIns="45000" anchor="ctr">
            <a:noAutofit/>
          </a:bodyPr>
          <a:lstStyle/>
          <a:p>
            <a:pPr algn="ctr" defTabSz="914400">
              <a:lnSpc>
                <a:spcPts val="2455"/>
              </a:lnSpc>
            </a:pPr>
            <a:endParaRPr lang="en-US" sz="1400" b="0" u="none" strike="noStrike">
              <a:solidFill>
                <a:srgbClr val="343434"/>
              </a:solidFill>
              <a:effectLst/>
              <a:uFillTx/>
              <a:latin typeface="メイリオ"/>
              <a:ea typeface="メイリオ"/>
            </a:endParaRPr>
          </a:p>
        </p:txBody>
      </p:sp>
      <p:sp>
        <p:nvSpPr>
          <p:cNvPr id="339" name="Google Shape;156;p7"/>
          <p:cNvSpPr/>
          <p:nvPr/>
        </p:nvSpPr>
        <p:spPr>
          <a:xfrm>
            <a:off x="549000" y="137983"/>
            <a:ext cx="7680960" cy="338554"/>
          </a:xfrm>
          <a:prstGeom prst="rect">
            <a:avLst/>
          </a:prstGeom>
          <a:noFill/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>
              <a:tabLst>
                <a:tab pos="0" algn="l"/>
              </a:tabLst>
            </a:pPr>
            <a:r>
              <a:rPr lang="ja-JP" sz="1600" b="1" u="none" strike="noStrike" dirty="0">
                <a:solidFill>
                  <a:srgbClr val="002060"/>
                </a:solidFill>
                <a:effectLst/>
                <a:uFillTx/>
                <a:latin typeface="メイリオ"/>
                <a:ea typeface="メイリオ"/>
              </a:rPr>
              <a:t>概算お見積り：月215,000円で、6か月目に新規応募 月6件・再応募 月3件</a:t>
            </a:r>
          </a:p>
        </p:txBody>
      </p:sp>
      <p:cxnSp>
        <p:nvCxnSpPr>
          <p:cNvPr id="340" name="直線コネクタ 1"/>
          <p:cNvCxnSpPr/>
          <p:nvPr/>
        </p:nvCxnSpPr>
        <p:spPr>
          <a:xfrm>
            <a:off x="0" y="1390320"/>
            <a:ext cx="9906120" cy="360"/>
          </a:xfrm>
          <a:prstGeom prst="straightConnector1">
            <a:avLst/>
          </a:prstGeom>
          <a:ln w="19050">
            <a:solidFill>
              <a:schemeClr val="lt1">
                <a:lumMod val="85000"/>
                <a:alpha val="60000"/>
              </a:schemeClr>
            </a:solidFill>
            <a:round/>
          </a:ln>
        </p:spPr>
      </p:cxnSp>
      <p:sp>
        <p:nvSpPr>
          <p:cNvPr id="341" name="正方形/長方形 4"/>
          <p:cNvSpPr/>
          <p:nvPr/>
        </p:nvSpPr>
        <p:spPr>
          <a:xfrm>
            <a:off x="261360" y="1517760"/>
            <a:ext cx="2899440" cy="38376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400" b="0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初期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メイリオ"/>
            </a:endParaRPr>
          </a:p>
        </p:txBody>
      </p:sp>
      <p:sp>
        <p:nvSpPr>
          <p:cNvPr id="342" name="正方形/長方形 6"/>
          <p:cNvSpPr/>
          <p:nvPr/>
        </p:nvSpPr>
        <p:spPr>
          <a:xfrm>
            <a:off x="3337560" y="1517760"/>
            <a:ext cx="2899440" cy="38376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400" b="0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月次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メイリオ"/>
            </a:endParaRPr>
          </a:p>
        </p:txBody>
      </p:sp>
      <p:sp>
        <p:nvSpPr>
          <p:cNvPr id="343" name="正方形/長方形 7"/>
          <p:cNvSpPr/>
          <p:nvPr/>
        </p:nvSpPr>
        <p:spPr>
          <a:xfrm>
            <a:off x="261360" y="1956960"/>
            <a:ext cx="2899440" cy="676440"/>
          </a:xfrm>
          <a:prstGeom prst="rect">
            <a:avLst/>
          </a:prstGeom>
          <a:noFill/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</a:rPr>
              <a:t>¥295,000〜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sp>
        <p:nvSpPr>
          <p:cNvPr id="344" name="正方形/長方形 9"/>
          <p:cNvSpPr/>
          <p:nvPr/>
        </p:nvSpPr>
        <p:spPr>
          <a:xfrm>
            <a:off x="3337560" y="1956960"/>
            <a:ext cx="2899440" cy="676440"/>
          </a:xfrm>
          <a:prstGeom prst="rect">
            <a:avLst/>
          </a:prstGeom>
          <a:noFill/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</a:rPr>
              <a:t>¥215,000〜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sp>
        <p:nvSpPr>
          <p:cNvPr id="345" name="矢印: 右 14"/>
          <p:cNvSpPr/>
          <p:nvPr/>
        </p:nvSpPr>
        <p:spPr>
          <a:xfrm>
            <a:off x="6379200" y="1956960"/>
            <a:ext cx="365400" cy="279756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メイリオ"/>
            </a:endParaRPr>
          </a:p>
        </p:txBody>
      </p:sp>
      <p:sp>
        <p:nvSpPr>
          <p:cNvPr id="346" name="正方形/長方形 16"/>
          <p:cNvSpPr/>
          <p:nvPr/>
        </p:nvSpPr>
        <p:spPr>
          <a:xfrm>
            <a:off x="6744960" y="1517760"/>
            <a:ext cx="2899440" cy="383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6</a:t>
            </a:r>
            <a:r>
              <a:rPr lang="ja-JP" sz="1400" b="0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か月後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メイリオ"/>
            </a:endParaRPr>
          </a:p>
        </p:txBody>
      </p:sp>
      <p:sp>
        <p:nvSpPr>
          <p:cNvPr id="347" name="テキスト ボックス 18"/>
          <p:cNvSpPr/>
          <p:nvPr/>
        </p:nvSpPr>
        <p:spPr>
          <a:xfrm>
            <a:off x="261360" y="2688480"/>
            <a:ext cx="28990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</a:rPr>
              <a:t>&lt;</a:t>
            </a:r>
            <a:r>
              <a:rPr lang="ja-JP" sz="1400" b="0" u="none" strike="noStrike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</a:rPr>
              <a:t>実施内容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</a:rPr>
              <a:t>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sp>
        <p:nvSpPr>
          <p:cNvPr id="348" name="テキスト ボックス 20"/>
          <p:cNvSpPr/>
          <p:nvPr/>
        </p:nvSpPr>
        <p:spPr>
          <a:xfrm>
            <a:off x="3337560" y="2688480"/>
            <a:ext cx="28990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</a:rPr>
              <a:t>&lt;</a:t>
            </a:r>
            <a:r>
              <a:rPr lang="ja-JP" sz="1400" b="0" u="none" strike="noStrike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</a:rPr>
              <a:t>実施内容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</a:rPr>
              <a:t>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sp>
        <p:nvSpPr>
          <p:cNvPr id="349" name="正方形/長方形 24"/>
          <p:cNvSpPr/>
          <p:nvPr/>
        </p:nvSpPr>
        <p:spPr>
          <a:xfrm>
            <a:off x="3383280" y="3090600"/>
            <a:ext cx="1425960" cy="44784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18360" rIns="45720" bIns="183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300" b="0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企画配信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メイリオ"/>
            </a:endParaRPr>
          </a:p>
        </p:txBody>
      </p:sp>
      <p:sp>
        <p:nvSpPr>
          <p:cNvPr id="350" name="正方形/長方形 28"/>
          <p:cNvSpPr/>
          <p:nvPr/>
        </p:nvSpPr>
        <p:spPr>
          <a:xfrm>
            <a:off x="4846320" y="3090600"/>
            <a:ext cx="1343880" cy="4478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18360" rIns="45720" bIns="183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zh-CN" sz="1300" b="0" u="none" strike="noStrike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</a:rPr>
              <a:t>月4回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sp>
        <p:nvSpPr>
          <p:cNvPr id="351" name="正方形/長方形 32"/>
          <p:cNvSpPr/>
          <p:nvPr/>
        </p:nvSpPr>
        <p:spPr>
          <a:xfrm>
            <a:off x="3383280" y="3579840"/>
            <a:ext cx="1425960" cy="4842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36576" tIns="0" rIns="36576" bIns="0" anchor="ctr">
            <a:noAutofit/>
          </a:bodyPr>
          <a:lstStyle/>
          <a:p>
            <a:pPr algn="ctr" defTabSz="914400">
              <a:lnSpc>
                <a:spcPct val="90000"/>
              </a:lnSpc>
            </a:pPr>
            <a:r>
              <a:rPr lang="ja-JP" sz="1200" b="0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ステップ配信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メイリオ"/>
            </a:endParaRPr>
          </a:p>
        </p:txBody>
      </p:sp>
      <p:sp>
        <p:nvSpPr>
          <p:cNvPr id="352" name="正方形/長方形 36"/>
          <p:cNvSpPr/>
          <p:nvPr/>
        </p:nvSpPr>
        <p:spPr>
          <a:xfrm>
            <a:off x="4846320" y="3579840"/>
            <a:ext cx="1343880" cy="484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36576" tIns="0" rIns="36576" bIns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200" b="0" u="none" strike="noStrike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</a:rPr>
              <a:t>4通の改善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sp>
        <p:nvSpPr>
          <p:cNvPr id="353" name="正方形/長方形 40"/>
          <p:cNvSpPr/>
          <p:nvPr/>
        </p:nvSpPr>
        <p:spPr>
          <a:xfrm>
            <a:off x="3383280" y="4069080"/>
            <a:ext cx="1425960" cy="44784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18360" rIns="45720" bIns="183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300" b="0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セグメント配信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メイリオ"/>
            </a:endParaRPr>
          </a:p>
        </p:txBody>
      </p:sp>
      <p:sp>
        <p:nvSpPr>
          <p:cNvPr id="354" name="正方形/長方形 45"/>
          <p:cNvSpPr/>
          <p:nvPr/>
        </p:nvSpPr>
        <p:spPr>
          <a:xfrm>
            <a:off x="4846320" y="4069080"/>
            <a:ext cx="1343880" cy="4478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18360" rIns="45720" bIns="183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</a:rPr>
              <a:t>設定・改善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sp>
        <p:nvSpPr>
          <p:cNvPr id="355" name="正方形/長方形 49"/>
          <p:cNvSpPr/>
          <p:nvPr/>
        </p:nvSpPr>
        <p:spPr>
          <a:xfrm>
            <a:off x="3383280" y="4558320"/>
            <a:ext cx="1425960" cy="44784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18360" rIns="45720" bIns="183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300" b="0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勤務前の案内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メイリオ"/>
            </a:endParaRPr>
          </a:p>
        </p:txBody>
      </p:sp>
      <p:sp>
        <p:nvSpPr>
          <p:cNvPr id="356" name="正方形/長方形 53"/>
          <p:cNvSpPr/>
          <p:nvPr/>
        </p:nvSpPr>
        <p:spPr>
          <a:xfrm>
            <a:off x="4846320" y="4558320"/>
            <a:ext cx="1343880" cy="4478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18360" rIns="45720" bIns="183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</a:rPr>
              <a:t>型の改善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sp>
        <p:nvSpPr>
          <p:cNvPr id="357" name="正方形/長方形 57"/>
          <p:cNvSpPr/>
          <p:nvPr/>
        </p:nvSpPr>
        <p:spPr>
          <a:xfrm>
            <a:off x="3383280" y="5047560"/>
            <a:ext cx="1425960" cy="44784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18360" rIns="45720" bIns="183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300" b="0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月次レポート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メイリオ"/>
            </a:endParaRPr>
          </a:p>
        </p:txBody>
      </p:sp>
      <p:sp>
        <p:nvSpPr>
          <p:cNvPr id="358" name="正方形/長方形 61"/>
          <p:cNvSpPr/>
          <p:nvPr/>
        </p:nvSpPr>
        <p:spPr>
          <a:xfrm>
            <a:off x="4846320" y="5047560"/>
            <a:ext cx="1343880" cy="4478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18360" rIns="45720" bIns="183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300" b="0" u="none" strike="noStrike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</a:rPr>
              <a:t>1回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sp>
        <p:nvSpPr>
          <p:cNvPr id="359" name="正方形/長方形 65"/>
          <p:cNvSpPr/>
          <p:nvPr/>
        </p:nvSpPr>
        <p:spPr>
          <a:xfrm>
            <a:off x="3383280" y="5536800"/>
            <a:ext cx="1425960" cy="44784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18360" rIns="45720" bIns="183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300" b="0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友だちの入口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メイリオ"/>
            </a:endParaRPr>
          </a:p>
        </p:txBody>
      </p:sp>
      <p:sp>
        <p:nvSpPr>
          <p:cNvPr id="360" name="正方形/長方形 69"/>
          <p:cNvSpPr/>
          <p:nvPr/>
        </p:nvSpPr>
        <p:spPr>
          <a:xfrm>
            <a:off x="4846320" y="5536800"/>
            <a:ext cx="1343880" cy="4478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18360" rIns="45720" bIns="183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</a:rPr>
              <a:t>運用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sp>
        <p:nvSpPr>
          <p:cNvPr id="361" name="正方形/長方形 79"/>
          <p:cNvSpPr/>
          <p:nvPr/>
        </p:nvSpPr>
        <p:spPr>
          <a:xfrm>
            <a:off x="6812280" y="1956960"/>
            <a:ext cx="1425960" cy="402120"/>
          </a:xfrm>
          <a:prstGeom prst="rect">
            <a:avLst/>
          </a:prstGeom>
          <a:solidFill>
            <a:srgbClr val="04FA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45000" rIns="4572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400" b="1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友だち数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sp>
        <p:nvSpPr>
          <p:cNvPr id="362" name="正方形/長方形 81"/>
          <p:cNvSpPr/>
          <p:nvPr/>
        </p:nvSpPr>
        <p:spPr>
          <a:xfrm>
            <a:off x="6812280" y="2432160"/>
            <a:ext cx="1425960" cy="402120"/>
          </a:xfrm>
          <a:prstGeom prst="rect">
            <a:avLst/>
          </a:prstGeom>
          <a:solidFill>
            <a:srgbClr val="04FA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45000" rIns="4572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400" b="1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新規応募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sp>
        <p:nvSpPr>
          <p:cNvPr id="364" name="正方形/長方形 85"/>
          <p:cNvSpPr/>
          <p:nvPr/>
        </p:nvSpPr>
        <p:spPr>
          <a:xfrm>
            <a:off x="6812280" y="2907792"/>
            <a:ext cx="1425960" cy="402120"/>
          </a:xfrm>
          <a:prstGeom prst="rect">
            <a:avLst/>
          </a:prstGeom>
          <a:solidFill>
            <a:srgbClr val="04FA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45000" rIns="4572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zh-CN" sz="1400" b="1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再応募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sp>
        <p:nvSpPr>
          <p:cNvPr id="365" name="正方形/長方形 11"/>
          <p:cNvSpPr/>
          <p:nvPr/>
        </p:nvSpPr>
        <p:spPr>
          <a:xfrm>
            <a:off x="307080" y="3090600"/>
            <a:ext cx="1425960" cy="44784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18360" rIns="45720" bIns="183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300" b="0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離脱防止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メイリオ"/>
            </a:endParaRPr>
          </a:p>
        </p:txBody>
      </p:sp>
      <p:sp>
        <p:nvSpPr>
          <p:cNvPr id="366" name="正方形/長方形 13"/>
          <p:cNvSpPr/>
          <p:nvPr/>
        </p:nvSpPr>
        <p:spPr>
          <a:xfrm>
            <a:off x="1770120" y="3090600"/>
            <a:ext cx="1343880" cy="4478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18360" rIns="45720" bIns="183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zh-CN" sz="1300" b="0" u="none" strike="noStrike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</a:rPr>
              <a:t>導入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sp>
        <p:nvSpPr>
          <p:cNvPr id="367" name="正方形/長方形 17"/>
          <p:cNvSpPr/>
          <p:nvPr/>
        </p:nvSpPr>
        <p:spPr>
          <a:xfrm>
            <a:off x="307080" y="3579840"/>
            <a:ext cx="1425960" cy="44784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18360" rIns="45720" bIns="183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300" b="0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サンクス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メイリオ"/>
            </a:endParaRPr>
          </a:p>
          <a:p>
            <a:pPr algn="ctr" defTabSz="914400">
              <a:lnSpc>
                <a:spcPct val="100000"/>
              </a:lnSpc>
            </a:pPr>
            <a:r>
              <a:rPr lang="ja-JP" sz="1300" b="0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LINE誘導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メイリオ"/>
            </a:endParaRPr>
          </a:p>
        </p:txBody>
      </p:sp>
      <p:sp>
        <p:nvSpPr>
          <p:cNvPr id="368" name="正方形/長方形 21"/>
          <p:cNvSpPr/>
          <p:nvPr/>
        </p:nvSpPr>
        <p:spPr>
          <a:xfrm>
            <a:off x="1770120" y="3579840"/>
            <a:ext cx="1343880" cy="4478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18360" rIns="45720" bIns="183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300" b="0" u="none" strike="noStrike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</a:rPr>
              <a:t>導入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sp>
        <p:nvSpPr>
          <p:cNvPr id="371" name="正方形/長方形 33"/>
          <p:cNvSpPr/>
          <p:nvPr/>
        </p:nvSpPr>
        <p:spPr>
          <a:xfrm>
            <a:off x="307080" y="4069080"/>
            <a:ext cx="1425960" cy="44784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18360" rIns="45720" bIns="183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300" b="0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ステップ配信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メイリオ"/>
            </a:endParaRPr>
          </a:p>
        </p:txBody>
      </p:sp>
      <p:sp>
        <p:nvSpPr>
          <p:cNvPr id="372" name="正方形/長方形 37"/>
          <p:cNvSpPr/>
          <p:nvPr/>
        </p:nvSpPr>
        <p:spPr>
          <a:xfrm>
            <a:off x="1770120" y="4069080"/>
            <a:ext cx="1343880" cy="4478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18360" rIns="45720" bIns="183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300" b="0" u="none" strike="noStrike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</a:rPr>
              <a:t>4通を構築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sp>
        <p:nvSpPr>
          <p:cNvPr id="373" name="正方形/長方形 41"/>
          <p:cNvSpPr/>
          <p:nvPr/>
        </p:nvSpPr>
        <p:spPr>
          <a:xfrm>
            <a:off x="307080" y="4558320"/>
            <a:ext cx="1425960" cy="44784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18360" rIns="45720" bIns="183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300" b="0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勤務前の案内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メイリオ"/>
            </a:endParaRPr>
          </a:p>
        </p:txBody>
      </p:sp>
      <p:sp>
        <p:nvSpPr>
          <p:cNvPr id="374" name="正方形/長方形 46"/>
          <p:cNvSpPr/>
          <p:nvPr/>
        </p:nvSpPr>
        <p:spPr>
          <a:xfrm>
            <a:off x="1770120" y="4558320"/>
            <a:ext cx="1343880" cy="4478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18360" rIns="45720" bIns="183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300" b="0" u="none" strike="noStrike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</a:rPr>
              <a:t>型をつくる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sp>
        <p:nvSpPr>
          <p:cNvPr id="375" name="テキスト ボックス 10"/>
          <p:cNvSpPr/>
          <p:nvPr/>
        </p:nvSpPr>
        <p:spPr>
          <a:xfrm>
            <a:off x="8256960" y="1956960"/>
            <a:ext cx="132552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zh-CN" sz="1400" b="1" u="none" strike="noStrike">
                <a:solidFill>
                  <a:srgbClr val="1F285A"/>
                </a:solidFill>
                <a:effectLst/>
                <a:uFillTx/>
                <a:latin typeface="メイリオ"/>
                <a:ea typeface="メイリオ"/>
              </a:rPr>
              <a:t>984人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sp>
        <p:nvSpPr>
          <p:cNvPr id="376" name="テキスト ボックス 15"/>
          <p:cNvSpPr/>
          <p:nvPr/>
        </p:nvSpPr>
        <p:spPr>
          <a:xfrm>
            <a:off x="8256960" y="2432160"/>
            <a:ext cx="132552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1F285A"/>
                </a:solidFill>
                <a:effectLst/>
                <a:uFillTx/>
                <a:latin typeface="メイリオ"/>
                <a:ea typeface="メイリオ"/>
              </a:rPr>
              <a:t>6件/月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sp>
        <p:nvSpPr>
          <p:cNvPr id="378" name="テキスト ボックス 26"/>
          <p:cNvSpPr/>
          <p:nvPr/>
        </p:nvSpPr>
        <p:spPr>
          <a:xfrm>
            <a:off x="8256960" y="2907792"/>
            <a:ext cx="132552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1F285A"/>
                </a:solidFill>
                <a:effectLst/>
                <a:uFillTx/>
                <a:latin typeface="メイリオ"/>
                <a:ea typeface="メイリオ"/>
              </a:rPr>
              <a:t>3件/月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sp>
        <p:nvSpPr>
          <p:cNvPr id="381" name="テキスト ボックス 30"/>
          <p:cNvSpPr/>
          <p:nvPr/>
        </p:nvSpPr>
        <p:spPr>
          <a:xfrm>
            <a:off x="426240" y="635400"/>
            <a:ext cx="9068760" cy="69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メイリオ"/>
                <a:ea typeface="メイリオ"/>
              </a:rPr>
              <a:t>プラン②｜友だちの入口を増やし、勤務の連絡と次回イベントの募集で、新規応募・再応募を増やす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752;p28"/>
          <p:cNvSpPr/>
          <p:nvPr/>
        </p:nvSpPr>
        <p:spPr>
          <a:xfrm>
            <a:off x="549000" y="138240"/>
            <a:ext cx="627588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ja-JP" sz="1600" b="1" u="none" strike="noStrike">
                <a:solidFill>
                  <a:srgbClr val="323366"/>
                </a:solidFill>
                <a:effectLst/>
                <a:uFillTx/>
                <a:latin typeface="メイリオ"/>
                <a:ea typeface="メイリオ"/>
              </a:rPr>
              <a:t>料金プラン：3つのプランの費用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sp>
        <p:nvSpPr>
          <p:cNvPr id="636" name="正方形/長方形 8"/>
          <p:cNvSpPr/>
          <p:nvPr/>
        </p:nvSpPr>
        <p:spPr>
          <a:xfrm>
            <a:off x="0" y="681480"/>
            <a:ext cx="2914200" cy="5025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400" b="0" u="none" strike="noStrike" dirty="0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料金プランの比較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メイリオ"/>
            </a:endParaRPr>
          </a:p>
        </p:txBody>
      </p:sp>
      <p:sp>
        <p:nvSpPr>
          <p:cNvPr id="637" name="Google Shape;752;p28"/>
          <p:cNvSpPr/>
          <p:nvPr/>
        </p:nvSpPr>
        <p:spPr>
          <a:xfrm>
            <a:off x="2983680" y="783000"/>
            <a:ext cx="661968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ja-JP" sz="1600" b="1" u="none" strike="noStrike" dirty="0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</a:rPr>
              <a:t>運用範囲に合わせて、3つのプランをご用意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graphicFrame>
        <p:nvGraphicFramePr>
          <p:cNvPr id="639" name="料金プラン比較表 6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2399329"/>
              </p:ext>
            </p:extLst>
          </p:nvPr>
        </p:nvGraphicFramePr>
        <p:xfrm>
          <a:off x="384048" y="1490760"/>
          <a:ext cx="9144000" cy="37490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項目</a:t>
                      </a:r>
                      <a:endParaRPr lang="ja-JP" alt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プラン①</a:t>
                      </a:r>
                      <a:endParaRPr lang="ja-JP" altLang="en-US" sz="1300" dirty="0"/>
                    </a:p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初期設計・構築のみ</a:t>
                      </a:r>
                      <a:endParaRPr lang="ja-JP" alt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プラン②</a:t>
                      </a:r>
                      <a:endParaRPr lang="ja-JP" altLang="en-US" sz="1300" dirty="0"/>
                    </a:p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運用代行・効率改善</a:t>
                      </a:r>
                      <a:endParaRPr lang="ja-JP" alt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プラン③</a:t>
                      </a:r>
                      <a:endParaRPr lang="ja-JP" altLang="en-US" sz="1300" dirty="0"/>
                    </a:p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運用代行フルサポート</a:t>
                      </a:r>
                      <a:endParaRPr lang="ja-JP" alt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初期費用</a:t>
                      </a:r>
                      <a:endParaRPr lang="ja-JP" alt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5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295,000円〜</a:t>
                      </a:r>
                      <a:endParaRPr lang="ja-JP" altLang="en-US" sz="15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5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295,000円〜</a:t>
                      </a:r>
                      <a:endParaRPr lang="ja-JP" altLang="en-US" sz="15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5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295,000円〜</a:t>
                      </a:r>
                      <a:endParaRPr lang="ja-JP" altLang="en-US" sz="15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月額運用費</a:t>
                      </a:r>
                      <a:endParaRPr lang="ja-JP" alt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5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なし</a:t>
                      </a:r>
                      <a:endParaRPr lang="ja-JP" altLang="en-US" sz="15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5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150,000円〜</a:t>
                      </a:r>
                      <a:endParaRPr lang="ja-JP" altLang="en-US" sz="15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5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250,000円〜</a:t>
                      </a:r>
                      <a:endParaRPr lang="ja-JP" altLang="en-US" sz="15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月額ツール・LINE関連費</a:t>
                      </a:r>
                      <a:endParaRPr lang="ja-JP" altLang="en-US" sz="14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5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65,000円〜</a:t>
                      </a:r>
                      <a:endParaRPr lang="ja-JP" altLang="en-US" sz="15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5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65,000円〜</a:t>
                      </a:r>
                      <a:endParaRPr lang="ja-JP" altLang="en-US" sz="15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5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65,000円〜</a:t>
                      </a:r>
                      <a:endParaRPr lang="ja-JP" altLang="en-US" sz="15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月額費用</a:t>
                      </a:r>
                      <a:endParaRPr lang="ja-JP" alt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20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65,000円〜</a:t>
                      </a:r>
                      <a:endParaRPr lang="ja-JP" altLang="en-US" sz="2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20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215,000円〜</a:t>
                      </a:r>
                      <a:endParaRPr lang="ja-JP" altLang="en-US" sz="2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20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315,000円〜</a:t>
                      </a:r>
                      <a:endParaRPr lang="ja-JP" altLang="en-US" sz="20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40" name="注記"/>
          <p:cNvSpPr/>
          <p:nvPr/>
        </p:nvSpPr>
        <p:spPr>
          <a:xfrm>
            <a:off x="384048" y="5312412"/>
            <a:ext cx="9144000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ja-JP" altLang="en-US" sz="900" b="0" dirty="0">
                <a:solidFill>
                  <a:srgbClr val="7F7F7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※初期費用＝運用設計・構築 100,000円〜＋離脱防止 15,000円＋サンクスLINE誘導 150,000円＋LINE公式アカウント開設 30,000円</a:t>
            </a:r>
            <a:endParaRPr lang="ja-JP" altLang="en-US" sz="1200" dirty="0"/>
          </a:p>
        </p:txBody>
      </p:sp>
      <p:sp>
        <p:nvSpPr>
          <p:cNvPr id="641" name="注記"/>
          <p:cNvSpPr/>
          <p:nvPr/>
        </p:nvSpPr>
        <p:spPr>
          <a:xfrm>
            <a:off x="384048" y="5559300"/>
            <a:ext cx="9144000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ja-JP" altLang="en-US" sz="900" b="0" dirty="0">
                <a:solidFill>
                  <a:srgbClr val="7F7F7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※月額ツール・LINE関連費＝離脱防止 30,000円＋サンクスLINE誘導 30,000円〜＋LINE公式アカウント利用料 5,000円〜（ライトプラン想定）</a:t>
            </a:r>
            <a:endParaRPr lang="ja-JP" altLang="en-US" sz="1200" dirty="0"/>
          </a:p>
        </p:txBody>
      </p:sp>
      <p:sp>
        <p:nvSpPr>
          <p:cNvPr id="642" name="注記"/>
          <p:cNvSpPr/>
          <p:nvPr/>
        </p:nvSpPr>
        <p:spPr>
          <a:xfrm>
            <a:off x="384048" y="5806188"/>
            <a:ext cx="9144000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ja-JP" altLang="en-US" sz="900" b="0" dirty="0">
                <a:solidFill>
                  <a:srgbClr val="7F7F7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※契約期間は6か月〜。概算お見積りのページはプラン②の場合</a:t>
            </a:r>
            <a:endParaRPr lang="ja-JP" altLang="en-US" sz="1200" dirty="0"/>
          </a:p>
        </p:txBody>
      </p:sp>
      <p:sp>
        <p:nvSpPr>
          <p:cNvPr id="643" name="注記"/>
          <p:cNvSpPr/>
          <p:nvPr/>
        </p:nvSpPr>
        <p:spPr>
          <a:xfrm>
            <a:off x="384048" y="6053076"/>
            <a:ext cx="9144000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ja-JP" altLang="en-US" sz="900" b="0" dirty="0">
                <a:solidFill>
                  <a:srgbClr val="7F7F7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※施策内容・配信本数・連携範囲等により、費用は個別にお見積もりいたします。</a:t>
            </a:r>
            <a:endParaRPr lang="ja-JP" alt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52;p28"/>
          <p:cNvSpPr/>
          <p:nvPr/>
        </p:nvSpPr>
        <p:spPr>
          <a:xfrm>
            <a:off x="549000" y="138240"/>
            <a:ext cx="627588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ja-JP" sz="1600" b="1" u="none" strike="noStrike">
                <a:solidFill>
                  <a:srgbClr val="323366"/>
                </a:solidFill>
                <a:effectLst/>
                <a:uFillTx/>
                <a:latin typeface="メイリオ"/>
                <a:ea typeface="メイリオ"/>
              </a:rPr>
              <a:t>運用内容：プランごとの対応範囲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sp>
        <p:nvSpPr>
          <p:cNvPr id="4" name="正方形/長方形 8"/>
          <p:cNvSpPr/>
          <p:nvPr/>
        </p:nvSpPr>
        <p:spPr>
          <a:xfrm>
            <a:off x="0" y="681480"/>
            <a:ext cx="2914200" cy="5025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400" b="0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運用内容の比較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メイリオ"/>
            </a:endParaRPr>
          </a:p>
        </p:txBody>
      </p:sp>
      <p:sp>
        <p:nvSpPr>
          <p:cNvPr id="5" name="Google Shape;752;p28"/>
          <p:cNvSpPr/>
          <p:nvPr/>
        </p:nvSpPr>
        <p:spPr>
          <a:xfrm>
            <a:off x="2983680" y="783000"/>
            <a:ext cx="661968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ja-JP" sz="1600" b="1" u="none" strike="noStrike" dirty="0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</a:rPr>
              <a:t>3つのプランの運用内容</a:t>
            </a:r>
            <a:r>
              <a:rPr lang="ja-JP" altLang="en-US" sz="1600" b="1" u="none" strike="noStrike" dirty="0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</a:rPr>
              <a:t>の</a:t>
            </a:r>
            <a:r>
              <a:rPr lang="ja-JP" sz="1600" b="1" u="none" strike="noStrike" dirty="0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</a:rPr>
              <a:t>比較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graphicFrame>
        <p:nvGraphicFramePr>
          <p:cNvPr id="6" name="運用内容比較表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0625100"/>
              </p:ext>
            </p:extLst>
          </p:nvPr>
        </p:nvGraphicFramePr>
        <p:xfrm>
          <a:off x="381000" y="1490760"/>
          <a:ext cx="9144000" cy="3149193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03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項目</a:t>
                      </a:r>
                      <a:endParaRPr lang="ja-JP" alt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プラン①</a:t>
                      </a:r>
                      <a:endParaRPr lang="ja-JP" altLang="en-US" sz="1300" dirty="0"/>
                    </a:p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初期設計・構築のみ</a:t>
                      </a:r>
                      <a:endParaRPr lang="ja-JP" alt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プラン②</a:t>
                      </a:r>
                      <a:endParaRPr lang="ja-JP" altLang="en-US" sz="1300" dirty="0"/>
                    </a:p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運用代行・効率改善</a:t>
                      </a:r>
                      <a:endParaRPr lang="ja-JP" alt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プラン③</a:t>
                      </a:r>
                      <a:endParaRPr lang="ja-JP" altLang="en-US" sz="1300" dirty="0"/>
                    </a:p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運用代行フルサポート</a:t>
                      </a:r>
                      <a:endParaRPr lang="ja-JP" alt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3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離脱防止・</a:t>
                      </a:r>
                      <a:endParaRPr lang="ja-JP" altLang="en-US" sz="1300" dirty="0"/>
                    </a:p>
                    <a:p>
                      <a:pPr algn="ctr">
                        <a:buNone/>
                      </a:pPr>
                      <a:r>
                        <a:rPr lang="ja-JP" altLang="en-US" sz="13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サンクスLINE誘導</a:t>
                      </a:r>
                      <a:endParaRPr lang="ja-JP" alt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3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導入・運用</a:t>
                      </a:r>
                      <a:endParaRPr lang="ja-JP" alt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3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導入・運用</a:t>
                      </a:r>
                      <a:endParaRPr lang="ja-JP" alt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3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導入・運用</a:t>
                      </a:r>
                      <a:endParaRPr lang="ja-JP" alt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3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ステップ配信</a:t>
                      </a:r>
                      <a:endParaRPr lang="ja-JP" alt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3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14日間・4通</a:t>
                      </a:r>
                      <a:endParaRPr lang="ja-JP" altLang="en-US" sz="1300" dirty="0"/>
                    </a:p>
                    <a:p>
                      <a:pPr algn="ctr">
                        <a:buNone/>
                      </a:pPr>
                      <a:r>
                        <a:rPr lang="ja-JP" altLang="en-US" sz="13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（構築のみ）</a:t>
                      </a:r>
                      <a:endParaRPr lang="ja-JP" alt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3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14日間・4通</a:t>
                      </a:r>
                      <a:endParaRPr lang="ja-JP" altLang="en-US" sz="1300" dirty="0"/>
                    </a:p>
                    <a:p>
                      <a:pPr algn="ctr">
                        <a:buNone/>
                      </a:pPr>
                      <a:r>
                        <a:rPr lang="ja-JP" altLang="en-US" sz="13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（構築・改善）</a:t>
                      </a:r>
                      <a:endParaRPr lang="ja-JP" alt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3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14日間・4通</a:t>
                      </a:r>
                      <a:endParaRPr lang="ja-JP" altLang="en-US" sz="1300" dirty="0"/>
                    </a:p>
                    <a:p>
                      <a:pPr algn="ctr">
                        <a:buNone/>
                      </a:pPr>
                      <a:r>
                        <a:rPr lang="ja-JP" altLang="en-US" sz="13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（構築・改善）</a:t>
                      </a:r>
                      <a:endParaRPr lang="ja-JP" alt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3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企画配信</a:t>
                      </a:r>
                      <a:endParaRPr lang="ja-JP" altLang="en-US" sz="1300" dirty="0"/>
                    </a:p>
                    <a:p>
                      <a:pPr algn="ctr">
                        <a:buNone/>
                      </a:pPr>
                      <a:r>
                        <a:rPr lang="ja-JP" altLang="en-US" sz="13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（次回イベントの募集）</a:t>
                      </a:r>
                      <a:endParaRPr lang="ja-JP" alt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3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なし（貴社で運用）</a:t>
                      </a:r>
                      <a:endParaRPr lang="ja-JP" alt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3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月4回</a:t>
                      </a:r>
                      <a:endParaRPr lang="ja-JP" altLang="en-US" sz="1300" dirty="0"/>
                    </a:p>
                    <a:p>
                      <a:pPr algn="ctr">
                        <a:buNone/>
                      </a:pPr>
                      <a:r>
                        <a:rPr lang="ja-JP" altLang="en-US" sz="13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（設計・作成）</a:t>
                      </a:r>
                      <a:endParaRPr lang="ja-JP" alt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3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月4回</a:t>
                      </a:r>
                      <a:endParaRPr lang="ja-JP" altLang="en-US" sz="1300" dirty="0"/>
                    </a:p>
                    <a:p>
                      <a:pPr algn="ctr">
                        <a:buNone/>
                      </a:pPr>
                      <a:r>
                        <a:rPr lang="ja-JP" altLang="en-US" sz="13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（設計・作成・画像制作）</a:t>
                      </a:r>
                      <a:endParaRPr lang="ja-JP" alt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3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勤務前の案内</a:t>
                      </a:r>
                      <a:endParaRPr lang="ja-JP" alt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3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型の作成のみ</a:t>
                      </a:r>
                      <a:endParaRPr lang="ja-JP" alt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3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型の作成・改善</a:t>
                      </a:r>
                      <a:endParaRPr lang="ja-JP" altLang="en-US" sz="1300" dirty="0"/>
                    </a:p>
                    <a:p>
                      <a:pPr algn="ctr">
                        <a:buNone/>
                      </a:pPr>
                      <a:r>
                        <a:rPr lang="ja-JP" altLang="en-US" sz="13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（送信は貴社）</a:t>
                      </a:r>
                      <a:endParaRPr lang="ja-JP" alt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3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型の作成・改善</a:t>
                      </a:r>
                      <a:endParaRPr lang="ja-JP" altLang="en-US" sz="1300" dirty="0"/>
                    </a:p>
                    <a:p>
                      <a:pPr algn="ctr">
                        <a:buNone/>
                      </a:pPr>
                      <a:r>
                        <a:rPr lang="ja-JP" altLang="en-US" sz="13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（送信は貴社）</a:t>
                      </a:r>
                      <a:endParaRPr lang="ja-JP" alt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3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結果の分析・改善</a:t>
                      </a:r>
                      <a:endParaRPr lang="ja-JP" altLang="en-US" sz="1300" dirty="0"/>
                    </a:p>
                    <a:p>
                      <a:pPr algn="ctr">
                        <a:buNone/>
                      </a:pPr>
                      <a:r>
                        <a:rPr lang="ja-JP" altLang="en-US" sz="13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（月次レポート）</a:t>
                      </a:r>
                      <a:endParaRPr lang="ja-JP" alt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3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なし</a:t>
                      </a:r>
                      <a:endParaRPr lang="ja-JP" alt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3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対応</a:t>
                      </a:r>
                      <a:endParaRPr lang="ja-JP" alt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3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対応</a:t>
                      </a:r>
                      <a:endParaRPr lang="ja-JP" alt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今後の展開｜横浜シミズで運用モデルをつくり、検証する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1292" y="824484"/>
            <a:ext cx="9331200" cy="58521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まず横浜シミズで、友だち獲得・勤務連絡・再応募の運用モデルをつくり、成果と運用の負荷を確かめます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成果をふまえ、シミズグループの他社でも使えるモデルとして整理することを目指します</a:t>
            </a:r>
            <a:r>
              <a:rPr sz="1400" b="1" dirty="0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1292" y="4876800"/>
            <a:ext cx="9043416" cy="37490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1292" y="4876800"/>
            <a:ext cx="9043416" cy="374904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応募から勤務・次の募集までをLINEでつなぎ、継続的な人員確保の仕組みに</a:t>
            </a:r>
            <a:endParaRPr lang="ja-JP" altLang="en-US" sz="1300" dirty="0"/>
          </a:p>
        </p:txBody>
      </p:sp>
      <p:sp>
        <p:nvSpPr>
          <p:cNvPr id="22" name="Rectangle 21"/>
          <p:cNvSpPr/>
          <p:nvPr/>
        </p:nvSpPr>
        <p:spPr>
          <a:xfrm>
            <a:off x="431292" y="1676400"/>
            <a:ext cx="2983992" cy="457200"/>
          </a:xfrm>
          <a:prstGeom prst="homePlate">
            <a:avLst/>
          </a:prstGeom>
          <a:solidFill>
            <a:srgbClr val="1E2761"/>
          </a:solidFill>
          <a:ln>
            <a:noFill/>
          </a:ln>
        </p:spPr>
        <p:txBody>
          <a:bodyPr wrap="square" lIns="91440" tIns="18288" rIns="18288" bIns="18288" rtlCol="0" anchor="ctr">
            <a:noAutofit/>
          </a:bodyPr>
          <a:lstStyle/>
          <a:p>
            <a:pPr algn="ctr">
              <a:buNone/>
            </a:pPr>
            <a:r>
              <a:rPr lang="ja-JP" altLang="en-US" sz="10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STEP1｜構築（運用開始の前）</a:t>
            </a:r>
            <a:endParaRPr lang="ja-JP" altLang="en-US" sz="1000" dirty="0"/>
          </a:p>
        </p:txBody>
      </p:sp>
      <p:sp>
        <p:nvSpPr>
          <p:cNvPr id="23" name="Rounded Rectangle 22"/>
          <p:cNvSpPr/>
          <p:nvPr/>
        </p:nvSpPr>
        <p:spPr>
          <a:xfrm>
            <a:off x="477012" y="2225040"/>
            <a:ext cx="2801112" cy="979714"/>
          </a:xfrm>
          <a:prstGeom prst="roundRect">
            <a:avLst>
              <a:gd name="adj" fmla="val 5000"/>
            </a:avLst>
          </a:prstGeom>
          <a:solidFill>
            <a:srgbClr val="F5F6FA"/>
          </a:solidFill>
          <a:ln w="9525">
            <a:solidFill>
              <a:srgbClr val="D9D9D9"/>
            </a:solidFill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・サンクスLINE誘導の設置</a:t>
            </a:r>
            <a:endParaRPr lang="ja-JP" altLang="en-US" sz="1100" dirty="0"/>
          </a:p>
          <a:p>
            <a:pPr algn="l">
              <a:spcAft>
                <a:spcPts val="300"/>
              </a:spcAft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・あいさつ・リッチメニューの設計</a:t>
            </a:r>
            <a:endParaRPr lang="ja-JP" altLang="en-US" sz="1100" dirty="0"/>
          </a:p>
          <a:p>
            <a:pPr algn="l">
              <a:spcAft>
                <a:spcPts val="300"/>
              </a:spcAft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・タグの設計</a:t>
            </a:r>
            <a:endParaRPr lang="ja-JP" altLang="en-US" sz="1100" dirty="0"/>
          </a:p>
          <a:p>
            <a:pPr algn="l">
              <a:spcAft>
                <a:spcPts val="300"/>
              </a:spcAft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・勤務前の案内の型づくり</a:t>
            </a:r>
            <a:endParaRPr lang="ja-JP" altLang="en-US" sz="1100" dirty="0"/>
          </a:p>
        </p:txBody>
      </p:sp>
      <p:sp>
        <p:nvSpPr>
          <p:cNvPr id="24" name="Rectangle 23"/>
          <p:cNvSpPr/>
          <p:nvPr/>
        </p:nvSpPr>
        <p:spPr>
          <a:xfrm>
            <a:off x="3461004" y="1676400"/>
            <a:ext cx="2983992" cy="457200"/>
          </a:xfrm>
          <a:prstGeom prst="chevron">
            <a:avLst/>
          </a:prstGeom>
          <a:solidFill>
            <a:srgbClr val="1E2761"/>
          </a:solidFill>
          <a:ln>
            <a:noFill/>
          </a:ln>
        </p:spPr>
        <p:txBody>
          <a:bodyPr wrap="square" lIns="91440" tIns="18288" rIns="18288" bIns="18288" rtlCol="0" anchor="ctr">
            <a:noAutofit/>
          </a:bodyPr>
          <a:lstStyle/>
          <a:p>
            <a:pPr algn="ctr">
              <a:buNone/>
            </a:pPr>
            <a:r>
              <a:rPr lang="ja-JP" altLang="en-US" sz="10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STEP2｜運用・検証（1〜6か月目）</a:t>
            </a:r>
            <a:endParaRPr lang="ja-JP" altLang="en-US" sz="1000" dirty="0"/>
          </a:p>
        </p:txBody>
      </p:sp>
      <p:sp>
        <p:nvSpPr>
          <p:cNvPr id="25" name="Rounded Rectangle 24"/>
          <p:cNvSpPr/>
          <p:nvPr/>
        </p:nvSpPr>
        <p:spPr>
          <a:xfrm>
            <a:off x="3506723" y="2225040"/>
            <a:ext cx="2801112" cy="979714"/>
          </a:xfrm>
          <a:prstGeom prst="roundRect">
            <a:avLst>
              <a:gd name="adj" fmla="val 5000"/>
            </a:avLst>
          </a:prstGeom>
          <a:solidFill>
            <a:srgbClr val="F5F6FA"/>
          </a:solidFill>
          <a:ln w="9525">
            <a:solidFill>
              <a:srgbClr val="D9D9D9"/>
            </a:solidFill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・次回募集のセグメント配信</a:t>
            </a:r>
            <a:endParaRPr lang="ja-JP" altLang="en-US" sz="1100" dirty="0"/>
          </a:p>
          <a:p>
            <a:pPr algn="l">
              <a:spcAft>
                <a:spcPts val="300"/>
              </a:spcAft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・再応募・再稼働の計測（LINEからの勤務希望の数）</a:t>
            </a:r>
            <a:endParaRPr lang="ja-JP" altLang="en-US" sz="1100" dirty="0"/>
          </a:p>
          <a:p>
            <a:pPr algn="l">
              <a:spcAft>
                <a:spcPts val="300"/>
              </a:spcAft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・運用の負荷の確認と改善</a:t>
            </a:r>
            <a:endParaRPr lang="ja-JP" altLang="en-US" sz="1100" dirty="0"/>
          </a:p>
        </p:txBody>
      </p:sp>
      <p:sp>
        <p:nvSpPr>
          <p:cNvPr id="26" name="Rectangle 25"/>
          <p:cNvSpPr/>
          <p:nvPr/>
        </p:nvSpPr>
        <p:spPr>
          <a:xfrm>
            <a:off x="6490716" y="1676400"/>
            <a:ext cx="2983992" cy="457200"/>
          </a:xfrm>
          <a:prstGeom prst="chevron">
            <a:avLst/>
          </a:prstGeom>
          <a:solidFill>
            <a:srgbClr val="595959"/>
          </a:solidFill>
          <a:ln>
            <a:noFill/>
          </a:ln>
        </p:spPr>
        <p:txBody>
          <a:bodyPr wrap="square" lIns="91440" tIns="18288" rIns="18288" bIns="18288" rtlCol="0" anchor="ctr">
            <a:noAutofit/>
          </a:bodyPr>
          <a:lstStyle/>
          <a:p>
            <a:pPr algn="ctr">
              <a:buNone/>
            </a:pPr>
            <a:r>
              <a:rPr lang="ja-JP" altLang="en-US" sz="10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STEP3｜展開の検討（7か月目〜）</a:t>
            </a:r>
            <a:endParaRPr lang="ja-JP" altLang="en-US" sz="1000" dirty="0"/>
          </a:p>
        </p:txBody>
      </p:sp>
      <p:sp>
        <p:nvSpPr>
          <p:cNvPr id="27" name="Rounded Rectangle 26"/>
          <p:cNvSpPr/>
          <p:nvPr/>
        </p:nvSpPr>
        <p:spPr>
          <a:xfrm>
            <a:off x="6536436" y="2225040"/>
            <a:ext cx="2801112" cy="97971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・成果と手順を整理</a:t>
            </a:r>
            <a:endParaRPr lang="ja-JP" altLang="en-US" sz="1100" dirty="0"/>
          </a:p>
          <a:p>
            <a:pPr algn="l">
              <a:spcAft>
                <a:spcPts val="300"/>
              </a:spcAft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・グループ他社で使えるかを検討</a:t>
            </a:r>
            <a:endParaRPr lang="ja-JP" altLang="en-US" sz="1100" dirty="0"/>
          </a:p>
          <a:p>
            <a:pPr algn="l">
              <a:spcAft>
                <a:spcPts val="300"/>
              </a:spcAft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・（展開は成果を見て判断）</a:t>
            </a:r>
            <a:endParaRPr lang="ja-JP" altLang="en-US" sz="1100" dirty="0"/>
          </a:p>
        </p:txBody>
      </p:sp>
      <p:sp>
        <p:nvSpPr>
          <p:cNvPr id="28" name="Rounded Rectangle 27"/>
          <p:cNvSpPr/>
          <p:nvPr/>
        </p:nvSpPr>
        <p:spPr>
          <a:xfrm>
            <a:off x="431292" y="3429000"/>
            <a:ext cx="5532120" cy="1264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1E2761"/>
            </a:solidFill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ja-JP" altLang="en-US" sz="12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ご提案のまとめ</a:t>
            </a:r>
            <a:endParaRPr lang="ja-JP" altLang="en-US" sz="1100" dirty="0"/>
          </a:p>
          <a:p>
            <a:pPr algn="l">
              <a:spcAft>
                <a:spcPts val="400"/>
              </a:spcAft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① 友だち獲得：応募完了から、そのままLINEへ（サンクスLINE誘導）</a:t>
            </a:r>
            <a:endParaRPr lang="ja-JP" altLang="en-US" sz="1100" dirty="0"/>
          </a:p>
          <a:p>
            <a:pPr algn="l">
              <a:spcAft>
                <a:spcPts val="400"/>
              </a:spcAft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② 勤務連絡・管理：集合・持ち物・前日のリマインドをLINEで</a:t>
            </a:r>
            <a:endParaRPr lang="ja-JP" altLang="en-US" sz="1100" dirty="0"/>
          </a:p>
          <a:p>
            <a:pPr algn="l">
              <a:spcAft>
                <a:spcPts val="400"/>
              </a:spcAft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③ 再応募・再稼働：タグで絞って、希望に合う次回の募集を届ける</a:t>
            </a:r>
            <a:endParaRPr lang="ja-JP" altLang="en-US" sz="1100" dirty="0"/>
          </a:p>
          <a:p>
            <a:pPr algn="l">
              <a:spcAft>
                <a:spcPts val="400"/>
              </a:spcAft>
              <a:buNone/>
            </a:pPr>
            <a:r>
              <a:rPr lang="ja-JP" altLang="en-US" sz="11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月額215,000円〜（ツール費込み）で始め、成果を見て調整します。</a:t>
            </a:r>
            <a:endParaRPr lang="ja-JP" altLang="en-US" sz="1100" dirty="0"/>
          </a:p>
        </p:txBody>
      </p:sp>
      <p:sp>
        <p:nvSpPr>
          <p:cNvPr id="29" name="Rounded Rectangle 28"/>
          <p:cNvSpPr/>
          <p:nvPr/>
        </p:nvSpPr>
        <p:spPr>
          <a:xfrm>
            <a:off x="6100572" y="3429000"/>
            <a:ext cx="3374136" cy="1264920"/>
          </a:xfrm>
          <a:prstGeom prst="roundRect">
            <a:avLst>
              <a:gd name="adj" fmla="val 5000"/>
            </a:avLst>
          </a:prstGeom>
          <a:solidFill>
            <a:srgbClr val="F5F6FA"/>
          </a:solidFill>
          <a:ln w="9525">
            <a:solidFill>
              <a:srgbClr val="D9D9D9"/>
            </a:solidFill>
          </a:ln>
        </p:spPr>
        <p:txBody>
          <a:bodyPr wrap="square" lIns="109728" tIns="73152" rIns="91440" bIns="54864" rtlCol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ja-JP" altLang="en-US" sz="115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追加施策（ご参考）</a:t>
            </a:r>
            <a:endParaRPr lang="ja-JP" altLang="en-US" sz="1050" dirty="0"/>
          </a:p>
          <a:p>
            <a:pPr algn="l">
              <a:spcAft>
                <a:spcPts val="300"/>
              </a:spcAft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社員採用（中途・新卒）にも、同じLINE公式アカウントを使える可能性があります。</a:t>
            </a:r>
            <a:endParaRPr lang="ja-JP" altLang="en-US" sz="1050" dirty="0"/>
          </a:p>
          <a:p>
            <a:pPr algn="l">
              <a:spcAft>
                <a:spcPts val="300"/>
              </a:spcAft>
              <a:buNone/>
            </a:pPr>
            <a:r>
              <a:rPr lang="ja-JP" altLang="en-US" sz="105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社員とアルバイトで案内を分ける設計を想定しています（今回のご提案には含めていません）。</a:t>
            </a:r>
            <a:endParaRPr lang="ja-JP" alt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18"/>
          <p:cNvSpPr>
            <a:spLocks noChangeArrowheads="1"/>
          </p:cNvSpPr>
          <p:nvPr/>
        </p:nvSpPr>
        <p:spPr bwMode="auto">
          <a:xfrm>
            <a:off x="1649030" y="5820984"/>
            <a:ext cx="6192837" cy="373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0" lvl="1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株式会社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DYM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〒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141-0032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東京都品川区大崎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1-11-2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ゲートシティ大崎イーストタワー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階</a:t>
            </a:r>
            <a:endParaRPr lang="en-US" altLang="ja-JP" sz="831" b="1" dirty="0">
              <a:solidFill>
                <a:prstClr val="black"/>
              </a:solidFill>
              <a:latin typeface="メイリオ"/>
              <a:ea typeface="メイリオ"/>
              <a:cs typeface="メイリオ"/>
            </a:endParaRPr>
          </a:p>
          <a:p>
            <a:pPr marL="0" lvl="1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TEL: 03-5745-0200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FAX: 03-3779-8720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http://dym.asia  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代表取締役　水谷佑毅</a:t>
            </a:r>
          </a:p>
        </p:txBody>
      </p:sp>
      <p:pic>
        <p:nvPicPr>
          <p:cNvPr id="24" name="図 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647" r="-11171"/>
          <a:stretch/>
        </p:blipFill>
        <p:spPr bwMode="auto">
          <a:xfrm>
            <a:off x="543897" y="5895365"/>
            <a:ext cx="1100981" cy="224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テキスト ボックス 2"/>
          <p:cNvSpPr txBox="1"/>
          <p:nvPr/>
        </p:nvSpPr>
        <p:spPr>
          <a:xfrm>
            <a:off x="5070232" y="559776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ja-JP" altLang="en-US">
              <a:solidFill>
                <a:prstClr val="black"/>
              </a:solidFill>
              <a:latin typeface="Arial" pitchFamily="34" charset="0"/>
              <a:ea typeface="ＭＳ Ｐゴシック" pitchFamily="50" charset="-128"/>
            </a:endParaRPr>
          </a:p>
        </p:txBody>
      </p:sp>
      <p:sp>
        <p:nvSpPr>
          <p:cNvPr id="18" name="正方形/長方形 17"/>
          <p:cNvSpPr/>
          <p:nvPr/>
        </p:nvSpPr>
        <p:spPr>
          <a:xfrm>
            <a:off x="2170038" y="989684"/>
            <a:ext cx="5565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b="1" dirty="0">
                <a:solidFill>
                  <a:prstClr val="black"/>
                </a:solidFill>
                <a:latin typeface="メイリオ" charset="0"/>
                <a:ea typeface="メイリオ" charset="0"/>
                <a:cs typeface="メイリオ" charset="0"/>
              </a:rPr>
              <a:t>貴社の明るい未来に必ず貢献致します。</a:t>
            </a:r>
          </a:p>
        </p:txBody>
      </p:sp>
      <p:sp>
        <p:nvSpPr>
          <p:cNvPr id="14" name="正方形/長方形 13"/>
          <p:cNvSpPr/>
          <p:nvPr/>
        </p:nvSpPr>
        <p:spPr>
          <a:xfrm>
            <a:off x="382695" y="2698377"/>
            <a:ext cx="598220" cy="2058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738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sp>
        <p:nvSpPr>
          <p:cNvPr id="15" name="正方形/長方形 14"/>
          <p:cNvSpPr/>
          <p:nvPr/>
        </p:nvSpPr>
        <p:spPr>
          <a:xfrm>
            <a:off x="368300" y="2355213"/>
            <a:ext cx="75668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800" dirty="0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05A1AABC-CDB8-5B83-4CFD-649967A361BF}"/>
              </a:ext>
            </a:extLst>
          </p:cNvPr>
          <p:cNvGrpSpPr/>
          <p:nvPr/>
        </p:nvGrpSpPr>
        <p:grpSpPr>
          <a:xfrm>
            <a:off x="381002" y="1772817"/>
            <a:ext cx="9143999" cy="3314853"/>
            <a:chOff x="1" y="1772816"/>
            <a:chExt cx="9143999" cy="3314853"/>
          </a:xfrm>
        </p:grpSpPr>
        <p:pic>
          <p:nvPicPr>
            <p:cNvPr id="21" name="図 20" descr="ポーズをとる男性グループ&#10;&#10;自動的に生成された説明">
              <a:extLst>
                <a:ext uri="{FF2B5EF4-FFF2-40B4-BE49-F238E27FC236}">
                  <a16:creationId xmlns:a16="http://schemas.microsoft.com/office/drawing/2014/main" id="{4927F40E-D146-C638-5583-C9DC298472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42" r="4076"/>
            <a:stretch/>
          </p:blipFill>
          <p:spPr>
            <a:xfrm>
              <a:off x="6973793" y="3518745"/>
              <a:ext cx="2170207" cy="1567781"/>
            </a:xfrm>
            <a:prstGeom prst="rect">
              <a:avLst/>
            </a:prstGeom>
          </p:spPr>
        </p:pic>
        <p:pic>
          <p:nvPicPr>
            <p:cNvPr id="16" name="図 15" descr="白いシャツを着ている男性&#10;&#10;中程度の精度で自動的に生成された説明">
              <a:extLst>
                <a:ext uri="{FF2B5EF4-FFF2-40B4-BE49-F238E27FC236}">
                  <a16:creationId xmlns:a16="http://schemas.microsoft.com/office/drawing/2014/main" id="{2ECDFCA7-8611-D865-F999-FDCD0EC212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83808" y="3519888"/>
              <a:ext cx="1989985" cy="1567781"/>
            </a:xfrm>
            <a:prstGeom prst="rect">
              <a:avLst/>
            </a:prstGeom>
          </p:spPr>
        </p:pic>
        <p:pic>
          <p:nvPicPr>
            <p:cNvPr id="10" name="図 9" descr="スーツを着た男性たち&#10;&#10;自動的に生成された説明">
              <a:extLst>
                <a:ext uri="{FF2B5EF4-FFF2-40B4-BE49-F238E27FC236}">
                  <a16:creationId xmlns:a16="http://schemas.microsoft.com/office/drawing/2014/main" id="{9D3AD52A-1514-4350-FFDD-09984B3666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703" r="10363"/>
            <a:stretch/>
          </p:blipFill>
          <p:spPr>
            <a:xfrm>
              <a:off x="7299681" y="1773979"/>
              <a:ext cx="1842624" cy="1745909"/>
            </a:xfrm>
            <a:prstGeom prst="rect">
              <a:avLst/>
            </a:prstGeom>
          </p:spPr>
        </p:pic>
        <p:pic>
          <p:nvPicPr>
            <p:cNvPr id="7" name="図 6" descr="講堂にいる人たち&#10;&#10;中程度の精度で自動的に生成された説明">
              <a:extLst>
                <a:ext uri="{FF2B5EF4-FFF2-40B4-BE49-F238E27FC236}">
                  <a16:creationId xmlns:a16="http://schemas.microsoft.com/office/drawing/2014/main" id="{B1CA0DFF-0DAF-D5BD-8D9F-8AFB103E26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12" t="12879" r="2477"/>
            <a:stretch/>
          </p:blipFill>
          <p:spPr>
            <a:xfrm>
              <a:off x="1" y="1772816"/>
              <a:ext cx="5089778" cy="3314853"/>
            </a:xfrm>
            <a:prstGeom prst="rect">
              <a:avLst/>
            </a:prstGeom>
          </p:spPr>
        </p:pic>
        <p:pic>
          <p:nvPicPr>
            <p:cNvPr id="11" name="図 10" descr="スーツを着た男性グループの写真&#10;&#10;低い精度で自動的に生成された説明">
              <a:extLst>
                <a:ext uri="{FF2B5EF4-FFF2-40B4-BE49-F238E27FC236}">
                  <a16:creationId xmlns:a16="http://schemas.microsoft.com/office/drawing/2014/main" id="{FEFAFF33-EFBF-C67E-586A-08D93AF295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95" r="6763"/>
            <a:stretch/>
          </p:blipFill>
          <p:spPr>
            <a:xfrm>
              <a:off x="5089779" y="1772836"/>
              <a:ext cx="2215315" cy="1745909"/>
            </a:xfrm>
            <a:prstGeom prst="rect">
              <a:avLst/>
            </a:prstGeom>
          </p:spPr>
        </p:pic>
      </p:grp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38B92EF-519D-929F-4345-5BAC445EF234}"/>
              </a:ext>
            </a:extLst>
          </p:cNvPr>
          <p:cNvSpPr/>
          <p:nvPr/>
        </p:nvSpPr>
        <p:spPr>
          <a:xfrm>
            <a:off x="128016" y="6620256"/>
            <a:ext cx="2852928" cy="237744"/>
          </a:xfrm>
          <a:prstGeom prst="rect">
            <a:avLst/>
          </a:prstGeom>
          <a:solidFill>
            <a:srgbClr val="191F54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949B271-D24D-666E-90F2-EA616E1EABC2}"/>
              </a:ext>
            </a:extLst>
          </p:cNvPr>
          <p:cNvSpPr/>
          <p:nvPr/>
        </p:nvSpPr>
        <p:spPr>
          <a:xfrm>
            <a:off x="368300" y="0"/>
            <a:ext cx="9537700" cy="5149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5355464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141743</TotalTime>
  <Words>3189</Words>
  <Application>Microsoft Office PowerPoint</Application>
  <PresentationFormat>A4 210 x 297 mm</PresentationFormat>
  <Paragraphs>475</Paragraphs>
  <Slides>18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18</vt:i4>
      </vt:variant>
    </vt:vector>
  </HeadingPairs>
  <TitlesOfParts>
    <vt:vector size="25" baseType="lpstr">
      <vt:lpstr>Meiryo</vt:lpstr>
      <vt:lpstr>Meiryo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1931</cp:revision>
  <cp:lastPrinted>2022-11-01T11:38:14Z</cp:lastPrinted>
  <dcterms:created xsi:type="dcterms:W3CDTF">2015-09-04T09:21:15Z</dcterms:created>
  <dcterms:modified xsi:type="dcterms:W3CDTF">2026-10-21T04:59:24Z</dcterms:modified>
</cp:coreProperties>
</file>