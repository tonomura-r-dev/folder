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0"/>
  </p:notesMasterIdLst>
  <p:handoutMasterIdLst>
    <p:handoutMasterId r:id="rId31"/>
  </p:handoutMasterIdLst>
  <p:sldIdLst>
    <p:sldId id="2363" r:id="rId3"/>
    <p:sldId id="2726" r:id="rId4"/>
    <p:sldId id="3150" r:id="rId5"/>
    <p:sldId id="2721" r:id="rId6"/>
    <p:sldId id="2723" r:id="rId7"/>
    <p:sldId id="2724" r:id="rId8"/>
    <p:sldId id="3151" r:id="rId9"/>
    <p:sldId id="3152" r:id="rId10"/>
    <p:sldId id="2725" r:id="rId11"/>
    <p:sldId id="2913" r:id="rId12"/>
    <p:sldId id="2364" r:id="rId13"/>
    <p:sldId id="2365" r:id="rId14"/>
    <p:sldId id="2366" r:id="rId15"/>
    <p:sldId id="2367" r:id="rId16"/>
    <p:sldId id="2368" r:id="rId17"/>
    <p:sldId id="2369" r:id="rId18"/>
    <p:sldId id="257" r:id="rId19"/>
    <p:sldId id="2371" r:id="rId20"/>
    <p:sldId id="2372" r:id="rId21"/>
    <p:sldId id="2373" r:id="rId22"/>
    <p:sldId id="2381" r:id="rId23"/>
    <p:sldId id="2374" r:id="rId24"/>
    <p:sldId id="2378" r:id="rId25"/>
    <p:sldId id="2379" r:id="rId26"/>
    <p:sldId id="2380" r:id="rId27"/>
    <p:sldId id="2377" r:id="rId28"/>
    <p:sldId id="1169" r:id="rId2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27</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9.jpeg"/><Relationship Id="rId7" Type="http://schemas.openxmlformats.org/officeDocument/2006/relationships/image" Target="../media/image33.jp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hyperlink" Target="https://youtube.com/shorts/0qI4QgrOppQ" TargetMode="External"/><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emf"/><Relationship Id="rId7" Type="http://schemas.openxmlformats.org/officeDocument/2006/relationships/image" Target="../media/image41.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LINE公式アカウント運用のご提案</a:t>
            </a: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a:ea typeface="メイリオ"/>
              </a:rPr>
              <a:t>応募から勤務連絡、次回への再応募までをLINEでつなぐ</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11" name="Rectangle 10"/>
          <p:cNvSpPr/>
          <p:nvPr/>
        </p:nvSpPr>
        <p:spPr>
          <a:xfrm>
            <a:off x="292608" y="265176"/>
            <a:ext cx="4965192" cy="338328"/>
          </a:xfrm>
          <a:prstGeom prst="rect">
            <a:avLst/>
          </a:prstGeom>
          <a:noFill/>
          <a:ln>
            <a:noFill/>
          </a:ln>
        </p:spPr>
        <p:txBody>
          <a:bodyPr wrap="square" lIns="45720" tIns="0" rIns="45720" bIns="0" rtlCol="0" anchor="ctr">
            <a:noAutofit/>
          </a:bodyPr>
          <a:lstStyle/>
          <a:p>
            <a:pPr algn="l">
              <a:buNone/>
            </a:pPr>
            <a:r>
              <a:rPr lang="ja-JP" altLang="en-US" sz="1600" b="1" dirty="0">
                <a:solidFill>
                  <a:srgbClr val="595959"/>
                </a:solidFill>
                <a:latin typeface="メイリオ" panose="020B0604030504040204" pitchFamily="50" charset="-128"/>
                <a:ea typeface="メイリオ" panose="020B0604030504040204" pitchFamily="50" charset="-128"/>
              </a:rPr>
              <a:t>株式会社横浜シミズ 御中</a:t>
            </a:r>
            <a:endParaRPr lang="ja-JP" altLang="en-US" sz="1600" dirty="0"/>
          </a:p>
        </p:txBody>
      </p:sp>
      <p:sp>
        <p:nvSpPr>
          <p:cNvPr id="12" name="Rectangle 11"/>
          <p:cNvSpPr/>
          <p:nvPr/>
        </p:nvSpPr>
        <p:spPr>
          <a:xfrm>
            <a:off x="1335024" y="3931920"/>
            <a:ext cx="7232904" cy="365760"/>
          </a:xfrm>
          <a:prstGeom prst="rect">
            <a:avLst/>
          </a:prstGeom>
          <a:noFill/>
          <a:ln>
            <a:noFill/>
          </a:ln>
        </p:spPr>
        <p:txBody>
          <a:bodyPr wrap="square" lIns="0" tIns="0" rIns="0" bIns="0" rtlCol="0" anchor="ctr">
            <a:noAutofit/>
          </a:bodyPr>
          <a:lstStyle/>
          <a:p>
            <a:pPr algn="ctr">
              <a:buNone/>
            </a:pPr>
            <a:r>
              <a:rPr lang="ja-JP" altLang="en-US" sz="1200" b="0" dirty="0">
                <a:solidFill>
                  <a:srgbClr val="595959"/>
                </a:solidFill>
                <a:latin typeface="メイリオ" panose="020B0604030504040204" pitchFamily="50" charset="-128"/>
                <a:ea typeface="メイリオ" panose="020B0604030504040204" pitchFamily="50" charset="-128"/>
              </a:rPr>
              <a:t>2026年10月　株式会社DYM</a:t>
            </a:r>
            <a:endParaRPr lang="ja-JP" altLang="en-US" sz="1200" dirty="0"/>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cxnSp>
        <p:nvCxnSpPr>
          <p:cNvPr id="23" name="直線コネクタ 4"/>
          <p:cNvCxnSpPr/>
          <p:nvPr/>
        </p:nvCxnSpPr>
        <p:spPr>
          <a:xfrm>
            <a:off x="0" y="548640"/>
            <a:ext cx="9906120" cy="360"/>
          </a:xfrm>
          <a:prstGeom prst="straightConnector1">
            <a:avLst/>
          </a:prstGeom>
          <a:ln>
            <a:solidFill>
              <a:srgbClr val="191F54"/>
            </a:solidFill>
            <a:round/>
          </a:ln>
        </p:spPr>
      </p:cxnSp>
      <p:sp>
        <p:nvSpPr>
          <p:cNvPr id="2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22" name="Google Shape;752;p28">
            <a:extLst>
              <a:ext uri="{FF2B5EF4-FFF2-40B4-BE49-F238E27FC236}">
                <a16:creationId xmlns:a16="http://schemas.microsoft.com/office/drawing/2014/main" id="{D26128CF-BCED-5375-A761-44A2026897C7}"/>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B273-7697-D76C-B709-A46B064F5735}"/>
            </a:ext>
          </a:extLst>
        </p:cNvPr>
        <p:cNvGrpSpPr/>
        <p:nvPr/>
      </p:nvGrpSpPr>
      <p:grpSpPr>
        <a:xfrm>
          <a:off x="0" y="0"/>
          <a:ext cx="0" cy="0"/>
          <a:chOff x="0" y="0"/>
          <a:chExt cx="0" cy="0"/>
        </a:xfrm>
      </p:grpSpPr>
      <p:cxnSp>
        <p:nvCxnSpPr>
          <p:cNvPr id="23" name="直線コネクタ 4"/>
          <p:cNvCxnSpPr/>
          <p:nvPr/>
        </p:nvCxnSpPr>
        <p:spPr>
          <a:xfrm>
            <a:off x="0" y="548640"/>
            <a:ext cx="9906120" cy="360"/>
          </a:xfrm>
          <a:prstGeom prst="straightConnector1">
            <a:avLst/>
          </a:prstGeom>
          <a:ln>
            <a:solidFill>
              <a:srgbClr val="191F54"/>
            </a:solidFill>
            <a:round/>
          </a:ln>
        </p:spPr>
      </p:cxnSp>
      <p:sp>
        <p:nvSpPr>
          <p:cNvPr id="2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22" name="Google Shape;752;p28">
            <a:extLst>
              <a:ext uri="{FF2B5EF4-FFF2-40B4-BE49-F238E27FC236}">
                <a16:creationId xmlns:a16="http://schemas.microsoft.com/office/drawing/2014/main" id="{E0553DA5-5DE0-BD33-70D4-FC02F33113D3}"/>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extLst>
      <p:ext uri="{BB962C8B-B14F-4D97-AF65-F5344CB8AC3E}">
        <p14:creationId xmlns:p14="http://schemas.microsoft.com/office/powerpoint/2010/main" val="13029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cxnSp>
        <p:nvCxnSpPr>
          <p:cNvPr id="2112" name="直線コネクタ 4"/>
          <p:cNvCxnSpPr/>
          <p:nvPr/>
        </p:nvCxnSpPr>
        <p:spPr>
          <a:xfrm>
            <a:off x="0" y="548640"/>
            <a:ext cx="9906120" cy="360"/>
          </a:xfrm>
          <a:prstGeom prst="straightConnector1">
            <a:avLst/>
          </a:prstGeom>
          <a:ln>
            <a:solidFill>
              <a:srgbClr val="191F54"/>
            </a:solidFill>
            <a:round/>
          </a:ln>
        </p:spPr>
      </p:cxnSp>
      <p:sp>
        <p:nvSpPr>
          <p:cNvPr id="2113"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a:t>
            </a: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cxnSp>
        <p:nvCxnSpPr>
          <p:cNvPr id="1033" name="直線コネクタ 4"/>
          <p:cNvCxnSpPr/>
          <p:nvPr/>
        </p:nvCxnSpPr>
        <p:spPr>
          <a:xfrm>
            <a:off x="0" y="548640"/>
            <a:ext cx="9906120" cy="360"/>
          </a:xfrm>
          <a:prstGeom prst="straightConnector1">
            <a:avLst/>
          </a:prstGeom>
          <a:ln>
            <a:solidFill>
              <a:srgbClr val="191F54"/>
            </a:solidFill>
            <a:round/>
          </a:ln>
        </p:spPr>
      </p:cxnSp>
      <p:sp>
        <p:nvSpPr>
          <p:cNvPr id="103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4" name="Google Shape;752;p28">
            <a:extLst>
              <a:ext uri="{FF2B5EF4-FFF2-40B4-BE49-F238E27FC236}">
                <a16:creationId xmlns:a16="http://schemas.microsoft.com/office/drawing/2014/main" id="{10815731-3923-DF64-2497-E7A37D053AD8}"/>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cxnSp>
        <p:nvCxnSpPr>
          <p:cNvPr id="59" name="直線コネクタ 4"/>
          <p:cNvCxnSpPr/>
          <p:nvPr/>
        </p:nvCxnSpPr>
        <p:spPr>
          <a:xfrm>
            <a:off x="0" y="548640"/>
            <a:ext cx="9906120" cy="360"/>
          </a:xfrm>
          <a:prstGeom prst="straightConnector1">
            <a:avLst/>
          </a:prstGeom>
          <a:ln>
            <a:solidFill>
              <a:srgbClr val="191F54"/>
            </a:solidFill>
            <a:round/>
          </a:ln>
        </p:spPr>
      </p:cxnSp>
      <p:sp>
        <p:nvSpPr>
          <p:cNvPr id="60"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549000" y="138240"/>
            <a:ext cx="4961186" cy="338040"/>
          </a:xfrm>
          <a:prstGeom prst="rect">
            <a:avLst/>
          </a:prstGeom>
          <a:noFill/>
        </p:spPr>
        <p:txBody>
          <a:bodyPr wrap="square" anchor="ctr">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前提調査</a:t>
            </a:r>
            <a:endParaRPr lang="ja-JP" altLang="en-US" sz="1050" dirty="0">
              <a:solidFill>
                <a:srgbClr val="002060"/>
              </a:solidFill>
            </a:endParaRPr>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cxnSp>
        <p:nvCxnSpPr>
          <p:cNvPr id="59" name="直線コネクタ 4"/>
          <p:cNvCxnSpPr/>
          <p:nvPr/>
        </p:nvCxnSpPr>
        <p:spPr>
          <a:xfrm>
            <a:off x="0" y="548640"/>
            <a:ext cx="9906120" cy="360"/>
          </a:xfrm>
          <a:prstGeom prst="straightConnector1">
            <a:avLst/>
          </a:prstGeom>
          <a:ln>
            <a:solidFill>
              <a:srgbClr val="191F54"/>
            </a:solidFill>
            <a:round/>
          </a:ln>
        </p:spPr>
      </p:cxnSp>
      <p:sp>
        <p:nvSpPr>
          <p:cNvPr id="60"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549000" y="138240"/>
            <a:ext cx="4961186" cy="338040"/>
          </a:xfrm>
          <a:prstGeom prst="rect">
            <a:avLst/>
          </a:prstGeom>
          <a:noFill/>
        </p:spPr>
        <p:txBody>
          <a:bodyPr wrap="square" anchor="ctr">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前提調査</a:t>
            </a:r>
            <a:endParaRPr lang="ja-JP" altLang="en-US" sz="1050" dirty="0">
              <a:solidFill>
                <a:srgbClr val="002060"/>
              </a:solidFill>
            </a:endParaRPr>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cxnSp>
        <p:nvCxnSpPr>
          <p:cNvPr id="126" name="直線コネクタ 4"/>
          <p:cNvCxnSpPr/>
          <p:nvPr/>
        </p:nvCxnSpPr>
        <p:spPr>
          <a:xfrm>
            <a:off x="0" y="548640"/>
            <a:ext cx="9906120" cy="360"/>
          </a:xfrm>
          <a:prstGeom prst="straightConnector1">
            <a:avLst/>
          </a:prstGeom>
          <a:ln>
            <a:solidFill>
              <a:srgbClr val="191F54"/>
            </a:solidFill>
            <a:round/>
          </a:ln>
        </p:spPr>
      </p:cxnSp>
      <p:sp>
        <p:nvSpPr>
          <p:cNvPr id="127"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549000" y="138240"/>
            <a:ext cx="4961186" cy="338040"/>
          </a:xfrm>
          <a:prstGeom prst="rect">
            <a:avLst/>
          </a:prstGeom>
          <a:noFill/>
        </p:spPr>
        <p:txBody>
          <a:bodyPr wrap="square" anchor="ctr">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前提調査</a:t>
            </a:r>
            <a:endParaRPr lang="ja-JP" altLang="en-US" sz="1050" dirty="0">
              <a:solidFill>
                <a:srgbClr val="002060"/>
              </a:solidFill>
            </a:endParaRPr>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BC1E3528-49FC-2F40-A6E5-CF541F7FF75D}"/>
              </a:ext>
            </a:extLst>
          </p:cNvPr>
          <p:cNvSpPr txBox="1"/>
          <p:nvPr/>
        </p:nvSpPr>
        <p:spPr>
          <a:xfrm>
            <a:off x="5218703" y="2796155"/>
            <a:ext cx="4102384" cy="523220"/>
          </a:xfrm>
          <a:prstGeom prst="rect">
            <a:avLst/>
          </a:prstGeom>
          <a:solidFill>
            <a:schemeClr val="bg1">
              <a:alpha val="60000"/>
            </a:schemeClr>
          </a:solidFill>
        </p:spPr>
        <p:txBody>
          <a:bodyPr wrap="square">
            <a:spAutoFit/>
          </a:bodyPr>
          <a:lstStyle/>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9741E7E2-8CD1-5737-D697-09B5D2B75F28}"/>
              </a:ext>
            </a:extLst>
          </p:cNvPr>
          <p:cNvSpPr txBox="1"/>
          <p:nvPr/>
        </p:nvSpPr>
        <p:spPr>
          <a:xfrm>
            <a:off x="463701" y="2801521"/>
            <a:ext cx="4102384" cy="523220"/>
          </a:xfrm>
          <a:prstGeom prst="rect">
            <a:avLst/>
          </a:prstGeom>
          <a:solidFill>
            <a:schemeClr val="bg1">
              <a:alpha val="60000"/>
            </a:schemeClr>
          </a:solidFill>
        </p:spPr>
        <p:txBody>
          <a:bodyPr wrap="square">
            <a:spAutoFit/>
          </a:bodyPr>
          <a:lstStyle/>
          <a:p>
            <a:pPr algn="ctr"/>
            <a:r>
              <a:rPr lang="ja-JP" altLang="en-US" sz="1400" b="1" dirty="0">
                <a:latin typeface="メイリオ" panose="020B0604030504040204" pitchFamily="50" charset="-128"/>
                <a:ea typeface="メイリオ" panose="020B0604030504040204" pitchFamily="50" charset="-128"/>
              </a:rPr>
              <a:t>開封率、開封時間ともに高効率</a:t>
            </a:r>
            <a:r>
              <a:rPr lang="ja-JP" altLang="en-US" sz="1400" dirty="0">
                <a:latin typeface="メイリオ" panose="020B0604030504040204" pitchFamily="50" charset="-128"/>
                <a:ea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今後のマーケティングに必須のチャネル。</a:t>
            </a:r>
            <a:endParaRPr lang="en-US" altLang="ja-JP" sz="1400"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BD081E68-EA84-585C-A316-D201FAC9649E}"/>
              </a:ext>
            </a:extLst>
          </p:cNvPr>
          <p:cNvSpPr txBox="1"/>
          <p:nvPr/>
        </p:nvSpPr>
        <p:spPr>
          <a:xfrm>
            <a:off x="463701" y="5262659"/>
            <a:ext cx="4102384" cy="523220"/>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広告離脱の</a:t>
            </a:r>
            <a:r>
              <a:rPr lang="en-US" altLang="ja-JP" sz="1400" dirty="0">
                <a:solidFill>
                  <a:srgbClr val="FF0000"/>
                </a:solidFill>
                <a:latin typeface="メイリオ" panose="020B0604030504040204" pitchFamily="50" charset="-128"/>
                <a:ea typeface="メイリオ" panose="020B0604030504040204" pitchFamily="50" charset="-128"/>
              </a:rPr>
              <a:t>98%</a:t>
            </a:r>
            <a:r>
              <a:rPr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F98D4197-216C-A3BE-091A-D32F4A6C7A17}"/>
              </a:ext>
            </a:extLst>
          </p:cNvPr>
          <p:cNvSpPr txBox="1"/>
          <p:nvPr/>
        </p:nvSpPr>
        <p:spPr>
          <a:xfrm>
            <a:off x="5218703" y="5262333"/>
            <a:ext cx="4102384" cy="738664"/>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7DA217C-F98F-2E58-74CA-39B7014CE382}"/>
              </a:ext>
            </a:extLst>
          </p:cNvPr>
          <p:cNvSpPr txBox="1"/>
          <p:nvPr/>
        </p:nvSpPr>
        <p:spPr>
          <a:xfrm>
            <a:off x="5574695" y="5724686"/>
            <a:ext cx="3390400"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p:cNvCxnSpPr/>
          <p:nvPr/>
        </p:nvCxnSpPr>
        <p:spPr>
          <a:xfrm>
            <a:off x="0" y="548640"/>
            <a:ext cx="9906120" cy="360"/>
          </a:xfrm>
          <a:prstGeom prst="straightConnector1">
            <a:avLst/>
          </a:prstGeom>
          <a:ln>
            <a:solidFill>
              <a:srgbClr val="191F54"/>
            </a:solidFill>
            <a:round/>
          </a:ln>
        </p:spPr>
      </p:cxnSp>
      <p:sp>
        <p:nvSpPr>
          <p:cNvPr id="6"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4" name="Google Shape;752;p28">
            <a:extLst>
              <a:ext uri="{FF2B5EF4-FFF2-40B4-BE49-F238E27FC236}">
                <a16:creationId xmlns:a16="http://schemas.microsoft.com/office/drawing/2014/main" id="{E371F4F6-3F93-7830-595E-799AA69EA971}"/>
              </a:ext>
            </a:extLst>
          </p:cNvPr>
          <p:cNvSpPr txBox="1"/>
          <p:nvPr/>
        </p:nvSpPr>
        <p:spPr>
          <a:xfrm>
            <a:off x="549000" y="138240"/>
            <a:ext cx="6276325" cy="33804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162416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現状把握｜横浜シミズの事業と、想定している課題</a:t>
            </a:r>
          </a:p>
        </p:txBody>
      </p:sp>
      <p:sp>
        <p:nvSpPr>
          <p:cNvPr id="3" name="TextBox 2"/>
          <p:cNvSpPr txBox="1"/>
          <p:nvPr/>
        </p:nvSpPr>
        <p:spPr>
          <a:xfrm>
            <a:off x="430860" y="862696"/>
            <a:ext cx="9331200" cy="585216"/>
          </a:xfrm>
          <a:prstGeom prst="rect">
            <a:avLst/>
          </a:prstGeom>
          <a:noFill/>
        </p:spPr>
        <p:txBody>
          <a:bodyPr wrap="square" lIns="28800" tIns="7200" rIns="28800" bIns="7200" anchor="ctr">
            <a:spAutoFit/>
          </a:bodyPr>
          <a:lstStyle/>
          <a:p>
            <a:pPr algn="l">
              <a:lnSpc>
                <a:spcPct val="120000"/>
              </a:lnSpc>
            </a:pPr>
            <a:r>
              <a:rPr sz="1400" b="1" dirty="0" err="1">
                <a:solidFill>
                  <a:srgbClr val="1E2761"/>
                </a:solidFill>
                <a:latin typeface="メイリオ"/>
                <a:ea typeface="メイリオ"/>
                <a:cs typeface="メイリオ"/>
              </a:rPr>
              <a:t>登録制のアルバイトスタッフとともに、神奈川・静岡全域のイベント会場の運営・警備・設営を担う会社です</a:t>
            </a:r>
            <a:r>
              <a:rPr sz="1400" b="1" dirty="0">
                <a:solidFill>
                  <a:srgbClr val="1E2761"/>
                </a:solidFill>
                <a:latin typeface="メイリオ"/>
                <a:ea typeface="メイリオ"/>
                <a:cs typeface="メイリオ"/>
              </a:rPr>
              <a:t>。</a:t>
            </a:r>
          </a:p>
          <a:p>
            <a:pPr algn="l">
              <a:lnSpc>
                <a:spcPct val="120000"/>
              </a:lnSpc>
            </a:pPr>
            <a:r>
              <a:rPr sz="1400" b="1" dirty="0" err="1">
                <a:solidFill>
                  <a:srgbClr val="FF0000"/>
                </a:solidFill>
                <a:latin typeface="メイリオ"/>
                <a:ea typeface="メイリオ"/>
                <a:cs typeface="メイリオ"/>
              </a:rPr>
              <a:t>イベントごとに人を集める事業だからこそ、勤務後の接点が次の人員確保につながると考えます</a:t>
            </a:r>
            <a:r>
              <a:rPr sz="1400" b="1" dirty="0">
                <a:solidFill>
                  <a:srgbClr val="FF0000"/>
                </a:solidFill>
                <a:latin typeface="メイリオ"/>
                <a:ea typeface="メイリオ"/>
                <a:cs typeface="メイリオ"/>
              </a:rPr>
              <a:t>。</a:t>
            </a:r>
          </a:p>
        </p:txBody>
      </p:sp>
      <p:sp>
        <p:nvSpPr>
          <p:cNvPr id="18" name="Rectangle 17"/>
          <p:cNvSpPr/>
          <p:nvPr/>
        </p:nvSpPr>
        <p:spPr>
          <a:xfrm>
            <a:off x="430860" y="4826699"/>
            <a:ext cx="8773451"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2000" y="6089904"/>
            <a:ext cx="9043200" cy="457200"/>
          </a:xfrm>
          <a:prstGeom prst="rect">
            <a:avLst/>
          </a:prstGeom>
          <a:noFill/>
        </p:spPr>
        <p:txBody>
          <a:bodyPr wrap="square" lIns="28800" tIns="7200" rIns="28800" bIns="7200" anchor="ctr">
            <a:spAutoFit/>
          </a:bodyPr>
          <a:lstStyle/>
          <a:p>
            <a:pPr algn="l">
              <a:lnSpc>
                <a:spcPct val="120000"/>
              </a:lnSpc>
            </a:pPr>
            <a:r>
              <a:rPr sz="900" b="0">
                <a:solidFill>
                  <a:srgbClr val="888888"/>
                </a:solidFill>
                <a:latin typeface="メイリオ"/>
                <a:ea typeface="メイリオ"/>
                <a:cs typeface="メイリオ"/>
              </a:rPr>
              <a:t>出典｜株式会社横浜シミズ 公式サイト（事業内容・会社情報・アルバイト募集）・採用サイト（shimizuocto-saiyou.net）　2026年10月20日 弊社確認</a:t>
            </a:r>
          </a:p>
        </p:txBody>
      </p:sp>
      <p:sp>
        <p:nvSpPr>
          <p:cNvPr id="21" name="Rectangle 20"/>
          <p:cNvSpPr/>
          <p:nvPr/>
        </p:nvSpPr>
        <p:spPr>
          <a:xfrm>
            <a:off x="430860" y="4826699"/>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一度働いた方に、次のイベントでも戻ってきていただく仕組みをつくる</a:t>
            </a:r>
            <a:endParaRPr lang="ja-JP" altLang="en-US" sz="1300" dirty="0"/>
          </a:p>
        </p:txBody>
      </p:sp>
      <p:sp>
        <p:nvSpPr>
          <p:cNvPr id="22" name="Rounded Rectangle 21"/>
          <p:cNvSpPr/>
          <p:nvPr/>
        </p:nvSpPr>
        <p:spPr>
          <a:xfrm>
            <a:off x="431292" y="1650519"/>
            <a:ext cx="4636881" cy="2973573"/>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buNone/>
            </a:pPr>
            <a:endParaRPr lang="ja-JP" altLang="en-US" sz="1100" dirty="0"/>
          </a:p>
        </p:txBody>
      </p:sp>
      <p:sp>
        <p:nvSpPr>
          <p:cNvPr id="23" name="Rounded Rectangle 22"/>
          <p:cNvSpPr/>
          <p:nvPr/>
        </p:nvSpPr>
        <p:spPr>
          <a:xfrm>
            <a:off x="568452" y="1760247"/>
            <a:ext cx="3017520" cy="292608"/>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事業の特徴（公式サイト・採用サイトより）</a:t>
            </a:r>
            <a:endParaRPr lang="ja-JP" altLang="en-US" sz="1050" dirty="0"/>
          </a:p>
        </p:txBody>
      </p:sp>
      <p:sp>
        <p:nvSpPr>
          <p:cNvPr id="24" name="Rectangle 23"/>
          <p:cNvSpPr/>
          <p:nvPr/>
        </p:nvSpPr>
        <p:spPr>
          <a:xfrm>
            <a:off x="541236" y="2157997"/>
            <a:ext cx="4526937" cy="2329138"/>
          </a:xfrm>
          <a:prstGeom prst="rect">
            <a:avLst/>
          </a:prstGeom>
          <a:noFill/>
          <a:ln>
            <a:noFill/>
          </a:ln>
        </p:spPr>
        <p:txBody>
          <a:bodyPr wrap="square" lIns="54864" tIns="36576" rIns="54864" bIns="36576" rtlCol="0" anchor="t">
            <a:noAutofit/>
          </a:bodyPr>
          <a:lstStyle/>
          <a:p>
            <a:pPr marL="155448" indent="-155448" algn="l">
              <a:lnSpc>
                <a:spcPct val="105000"/>
              </a:lnSpc>
              <a:spcAft>
                <a:spcPts val="800"/>
              </a:spcAft>
              <a:buNone/>
            </a:pPr>
            <a:r>
              <a:rPr lang="ja-JP" altLang="en-US" sz="1200" b="0" dirty="0">
                <a:solidFill>
                  <a:srgbClr val="333333"/>
                </a:solidFill>
                <a:latin typeface="メイリオ" panose="020B0604030504040204" pitchFamily="50" charset="-128"/>
                <a:ea typeface="メイリオ" panose="020B0604030504040204" pitchFamily="50" charset="-128"/>
              </a:rPr>
              <a:t>・神奈川県・静岡県全域で、舞台設営・美術施工・</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運営管理・警備をワンストップで提供</a:t>
            </a:r>
            <a:endParaRPr lang="ja-JP" altLang="en-US" sz="1200" dirty="0"/>
          </a:p>
          <a:p>
            <a:pPr marL="155448" indent="-155448" algn="l">
              <a:lnSpc>
                <a:spcPct val="105000"/>
              </a:lnSpc>
              <a:spcAft>
                <a:spcPts val="800"/>
              </a:spcAft>
              <a:buNone/>
            </a:pPr>
            <a:r>
              <a:rPr lang="ja-JP" altLang="en-US" sz="1200" b="0" dirty="0">
                <a:solidFill>
                  <a:srgbClr val="333333"/>
                </a:solidFill>
                <a:latin typeface="メイリオ" panose="020B0604030504040204" pitchFamily="50" charset="-128"/>
                <a:ea typeface="メイリオ" panose="020B0604030504040204" pitchFamily="50" charset="-128"/>
              </a:rPr>
              <a:t>・運営管理は、少人数から1日1,000人以上の規模まで動員</a:t>
            </a:r>
            <a:endParaRPr lang="ja-JP" altLang="en-US" sz="1200" dirty="0"/>
          </a:p>
          <a:p>
            <a:pPr marL="155448" indent="-155448" algn="l">
              <a:lnSpc>
                <a:spcPct val="105000"/>
              </a:lnSpc>
              <a:spcAft>
                <a:spcPts val="800"/>
              </a:spcAft>
              <a:buNone/>
            </a:pPr>
            <a:r>
              <a:rPr lang="ja-JP" altLang="en-US" sz="1200" b="0" dirty="0">
                <a:solidFill>
                  <a:srgbClr val="333333"/>
                </a:solidFill>
                <a:latin typeface="メイリオ" panose="020B0604030504040204" pitchFamily="50" charset="-128"/>
                <a:ea typeface="メイリオ" panose="020B0604030504040204" pitchFamily="50" charset="-128"/>
              </a:rPr>
              <a:t>・アルバイトは登録制。都合の良い日に勤務できる</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（シフトは自己申告制）</a:t>
            </a:r>
            <a:endParaRPr lang="ja-JP" altLang="en-US" sz="1200" dirty="0"/>
          </a:p>
          <a:p>
            <a:pPr marL="155448" indent="-155448" algn="l">
              <a:lnSpc>
                <a:spcPct val="105000"/>
              </a:lnSpc>
              <a:spcAft>
                <a:spcPts val="800"/>
              </a:spcAft>
              <a:buNone/>
            </a:pPr>
            <a:r>
              <a:rPr lang="ja-JP" altLang="en-US" sz="1200" b="0" dirty="0">
                <a:solidFill>
                  <a:srgbClr val="333333"/>
                </a:solidFill>
                <a:latin typeface="メイリオ" panose="020B0604030504040204" pitchFamily="50" charset="-128"/>
                <a:ea typeface="メイリオ" panose="020B0604030504040204" pitchFamily="50" charset="-128"/>
              </a:rPr>
              <a:t>・一度採用されると、ほかの業務にも勤務できる（面接は1回）</a:t>
            </a:r>
            <a:endParaRPr lang="ja-JP" altLang="en-US" sz="1200" dirty="0"/>
          </a:p>
          <a:p>
            <a:pPr marL="155448" indent="-155448" algn="l">
              <a:lnSpc>
                <a:spcPct val="105000"/>
              </a:lnSpc>
              <a:spcAft>
                <a:spcPts val="800"/>
              </a:spcAft>
              <a:buNone/>
            </a:pPr>
            <a:r>
              <a:rPr lang="ja-JP" altLang="en-US" sz="1200" b="0" dirty="0">
                <a:solidFill>
                  <a:srgbClr val="333333"/>
                </a:solidFill>
                <a:latin typeface="メイリオ" panose="020B0604030504040204" pitchFamily="50" charset="-128"/>
                <a:ea typeface="メイリオ" panose="020B0604030504040204" pitchFamily="50" charset="-128"/>
              </a:rPr>
              <a:t>・勤務地は日産スタジアム・横浜アリーナ・横浜スタジアム・</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Kアリーナ横浜など多数</a:t>
            </a:r>
            <a:endParaRPr lang="ja-JP" altLang="en-US" sz="1200" dirty="0"/>
          </a:p>
          <a:p>
            <a:pPr marL="155448" indent="-155448" algn="l">
              <a:lnSpc>
                <a:spcPct val="105000"/>
              </a:lnSpc>
              <a:spcAft>
                <a:spcPts val="800"/>
              </a:spcAft>
              <a:buNone/>
            </a:pPr>
            <a:r>
              <a:rPr lang="ja-JP" altLang="en-US" sz="1200" b="0" dirty="0">
                <a:solidFill>
                  <a:srgbClr val="333333"/>
                </a:solidFill>
                <a:latin typeface="メイリオ" panose="020B0604030504040204" pitchFamily="50" charset="-128"/>
                <a:ea typeface="メイリオ" panose="020B0604030504040204" pitchFamily="50" charset="-128"/>
              </a:rPr>
              <a:t>・応募は採用サイトから。面接予約の完了はメールで届く</a:t>
            </a:r>
            <a:endParaRPr lang="ja-JP" altLang="en-US" sz="1200" dirty="0"/>
          </a:p>
        </p:txBody>
      </p:sp>
      <p:sp>
        <p:nvSpPr>
          <p:cNvPr id="26" name="Rounded Rectangle 25"/>
          <p:cNvSpPr/>
          <p:nvPr/>
        </p:nvSpPr>
        <p:spPr>
          <a:xfrm>
            <a:off x="5446127" y="1650519"/>
            <a:ext cx="3758184" cy="1670651"/>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300"/>
              </a:spcAft>
              <a:buNone/>
            </a:pPr>
            <a:r>
              <a:rPr lang="ja-JP" altLang="en-US" sz="1400" b="1" dirty="0">
                <a:solidFill>
                  <a:srgbClr val="323366"/>
                </a:solidFill>
                <a:latin typeface="メイリオ" panose="020B0604030504040204" pitchFamily="50" charset="-128"/>
                <a:ea typeface="メイリオ" panose="020B0604030504040204" pitchFamily="50" charset="-128"/>
              </a:rPr>
              <a:t>想定している課題（仮説）</a:t>
            </a:r>
            <a:endParaRPr lang="ja-JP" altLang="en-US" sz="1400" dirty="0"/>
          </a:p>
          <a:p>
            <a:pPr algn="l">
              <a:spcAft>
                <a:spcPts val="300"/>
              </a:spcAft>
              <a:buNone/>
            </a:pPr>
            <a:r>
              <a:rPr lang="ja-JP" altLang="en-US" sz="1400" b="0" dirty="0">
                <a:solidFill>
                  <a:srgbClr val="333333"/>
                </a:solidFill>
                <a:latin typeface="メイリオ" panose="020B0604030504040204" pitchFamily="50" charset="-128"/>
                <a:ea typeface="メイリオ" panose="020B0604030504040204" pitchFamily="50" charset="-128"/>
              </a:rPr>
              <a:t>イベントの勤務が終わると、スタッフの方との連絡が途切れやすい。</a:t>
            </a:r>
            <a:endParaRPr lang="ja-JP" altLang="en-US" sz="1400" dirty="0"/>
          </a:p>
          <a:p>
            <a:pPr algn="l">
              <a:spcAft>
                <a:spcPts val="300"/>
              </a:spcAft>
              <a:buNone/>
            </a:pPr>
            <a:r>
              <a:rPr lang="ja-JP" altLang="en-US" sz="1400" b="0" dirty="0">
                <a:solidFill>
                  <a:srgbClr val="333333"/>
                </a:solidFill>
                <a:latin typeface="メイリオ" panose="020B0604030504040204" pitchFamily="50" charset="-128"/>
                <a:ea typeface="メイリオ" panose="020B0604030504040204" pitchFamily="50" charset="-128"/>
              </a:rPr>
              <a:t>次のイベントでも働いていただける接点を残すことが、継続的な人員確保の鍵と考えます。</a:t>
            </a:r>
            <a:endParaRPr lang="ja-JP" alt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業界課題①｜イベント・単発の仕事は、毎回の人員確保が前提</a:t>
            </a:r>
          </a:p>
        </p:txBody>
      </p:sp>
      <p:sp>
        <p:nvSpPr>
          <p:cNvPr id="3" name="TextBox 2"/>
          <p:cNvSpPr txBox="1"/>
          <p:nvPr/>
        </p:nvSpPr>
        <p:spPr>
          <a:xfrm>
            <a:off x="309600" y="687600"/>
            <a:ext cx="9331200" cy="585216"/>
          </a:xfrm>
          <a:prstGeom prst="rect">
            <a:avLst/>
          </a:prstGeom>
          <a:noFill/>
        </p:spPr>
        <p:txBody>
          <a:bodyPr wrap="square" lIns="28800" tIns="7200" rIns="28800" bIns="7200" anchor="ctr">
            <a:spAutoFit/>
          </a:bodyPr>
          <a:lstStyle/>
          <a:p>
            <a:pPr algn="l">
              <a:lnSpc>
                <a:spcPct val="120000"/>
              </a:lnSpc>
            </a:pPr>
            <a:r>
              <a:rPr sz="1400" b="1">
                <a:solidFill>
                  <a:srgbClr val="1E2761"/>
                </a:solidFill>
                <a:latin typeface="メイリオ"/>
                <a:ea typeface="メイリオ"/>
                <a:cs typeface="メイリオ"/>
              </a:rPr>
              <a:t>単発・短期の仕事は、イベントのたびに必要な人数を集め直す必要があります。</a:t>
            </a:r>
          </a:p>
          <a:p>
            <a:pPr algn="l">
              <a:lnSpc>
                <a:spcPct val="120000"/>
              </a:lnSpc>
            </a:pPr>
            <a:r>
              <a:rPr sz="1400" b="1">
                <a:solidFill>
                  <a:srgbClr val="FF0000"/>
                </a:solidFill>
                <a:latin typeface="メイリオ"/>
                <a:ea typeface="メイリオ"/>
                <a:cs typeface="メイリオ"/>
              </a:rPr>
              <a:t>新規の応募だけに頼ると、募集・採用の負担がイベントごとにくり返されます。</a:t>
            </a:r>
          </a:p>
        </p:txBody>
      </p:sp>
      <p:sp>
        <p:nvSpPr>
          <p:cNvPr id="18" name="Rectangle 17"/>
          <p:cNvSpPr/>
          <p:nvPr/>
        </p:nvSpPr>
        <p:spPr>
          <a:xfrm>
            <a:off x="429768" y="5330952"/>
            <a:ext cx="8906255"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2000" y="6089904"/>
            <a:ext cx="9043200" cy="457200"/>
          </a:xfrm>
          <a:prstGeom prst="rect">
            <a:avLst/>
          </a:prstGeom>
          <a:noFill/>
        </p:spPr>
        <p:txBody>
          <a:bodyPr wrap="square" lIns="28800" tIns="7200" rIns="28800" bIns="7200" anchor="ctr">
            <a:spAutoFit/>
          </a:bodyPr>
          <a:lstStyle/>
          <a:p>
            <a:pPr algn="l">
              <a:lnSpc>
                <a:spcPct val="120000"/>
              </a:lnSpc>
            </a:pPr>
            <a:r>
              <a:rPr sz="900" b="0">
                <a:solidFill>
                  <a:srgbClr val="888888"/>
                </a:solidFill>
                <a:latin typeface="メイリオ"/>
                <a:ea typeface="メイリオ"/>
                <a:cs typeface="メイリオ"/>
              </a:rPr>
              <a:t>出典｜LINEヤフー 媒体データ（検索の前後行動）。起点キーワード「単発バイト」・期間2025年3月17日〜2026年3月22日。分類は弊社</a:t>
            </a:r>
          </a:p>
        </p:txBody>
      </p:sp>
      <p:sp>
        <p:nvSpPr>
          <p:cNvPr id="21" name="Rectangle 20"/>
          <p:cNvSpPr/>
          <p:nvPr/>
        </p:nvSpPr>
        <p:spPr>
          <a:xfrm>
            <a:off x="429768" y="5330952"/>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比べて選ばれる仕事だからこそ、一度つながった方との接点が次の人員確保を左右する</a:t>
            </a:r>
            <a:endParaRPr lang="ja-JP" altLang="en-US" sz="1300" dirty="0"/>
          </a:p>
        </p:txBody>
      </p:sp>
      <p:sp>
        <p:nvSpPr>
          <p:cNvPr id="22" name="Rounded Rectangle 21"/>
          <p:cNvSpPr/>
          <p:nvPr/>
        </p:nvSpPr>
        <p:spPr>
          <a:xfrm>
            <a:off x="429768" y="1371600"/>
            <a:ext cx="4160520" cy="960120"/>
          </a:xfrm>
          <a:prstGeom prst="roundRect">
            <a:avLst>
              <a:gd name="adj" fmla="val 5000"/>
            </a:avLst>
          </a:prstGeom>
          <a:solidFill>
            <a:srgbClr val="FFFFFF"/>
          </a:solidFill>
          <a:ln w="9525">
            <a:solidFill>
              <a:srgbClr val="1E2761"/>
            </a:solidFill>
          </a:ln>
        </p:spPr>
        <p:txBody>
          <a:bodyPr wrap="square" lIns="109728" tIns="73152" rIns="91440" bIns="54864" rtlCol="0" anchor="ctr">
            <a:noAutofit/>
          </a:bodyPr>
          <a:lstStyle/>
          <a:p>
            <a:pPr algn="l">
              <a:spcAft>
                <a:spcPts val="400"/>
              </a:spcAft>
              <a:buNone/>
            </a:pPr>
            <a:r>
              <a:rPr lang="ja-JP" altLang="en-US" sz="1200" b="1" dirty="0">
                <a:solidFill>
                  <a:srgbClr val="323366"/>
                </a:solidFill>
                <a:latin typeface="メイリオ" panose="020B0604030504040204" pitchFamily="50" charset="-128"/>
                <a:ea typeface="メイリオ" panose="020B0604030504040204" pitchFamily="50" charset="-128"/>
              </a:rPr>
              <a:t>① イベントのたびに、必要な人数を集め直す</a:t>
            </a:r>
            <a:endParaRPr lang="ja-JP" altLang="en-US" sz="1150" dirty="0"/>
          </a:p>
          <a:p>
            <a:pPr algn="l">
              <a:spcAft>
                <a:spcPts val="400"/>
              </a:spcAft>
              <a:buNone/>
            </a:pPr>
            <a:r>
              <a:rPr lang="ja-JP" altLang="en-US" sz="1150" b="0" dirty="0">
                <a:solidFill>
                  <a:srgbClr val="333333"/>
                </a:solidFill>
                <a:latin typeface="メイリオ" panose="020B0604030504040204" pitchFamily="50" charset="-128"/>
                <a:ea typeface="メイリオ" panose="020B0604030504040204" pitchFamily="50" charset="-128"/>
              </a:rPr>
              <a:t>開催日・会場・規模によって、必要な人数と業務が変わります</a:t>
            </a:r>
            <a:endParaRPr lang="ja-JP" altLang="en-US" sz="1150" dirty="0"/>
          </a:p>
        </p:txBody>
      </p:sp>
      <p:sp>
        <p:nvSpPr>
          <p:cNvPr id="23" name="Rounded Rectangle 22"/>
          <p:cNvSpPr/>
          <p:nvPr/>
        </p:nvSpPr>
        <p:spPr>
          <a:xfrm>
            <a:off x="429768" y="2743200"/>
            <a:ext cx="4160520" cy="960120"/>
          </a:xfrm>
          <a:prstGeom prst="roundRect">
            <a:avLst>
              <a:gd name="adj" fmla="val 5000"/>
            </a:avLst>
          </a:prstGeom>
          <a:solidFill>
            <a:srgbClr val="FFFFFF"/>
          </a:solidFill>
          <a:ln w="9525">
            <a:solidFill>
              <a:srgbClr val="1E2761"/>
            </a:solidFill>
          </a:ln>
        </p:spPr>
        <p:txBody>
          <a:bodyPr wrap="square" lIns="109728" tIns="73152" rIns="91440" bIns="54864" rtlCol="0" anchor="ctr">
            <a:noAutofit/>
          </a:bodyPr>
          <a:lstStyle/>
          <a:p>
            <a:pPr algn="l">
              <a:spcAft>
                <a:spcPts val="400"/>
              </a:spcAft>
              <a:buNone/>
            </a:pPr>
            <a:r>
              <a:rPr lang="ja-JP" altLang="en-US" sz="1200" b="1" dirty="0">
                <a:solidFill>
                  <a:srgbClr val="323366"/>
                </a:solidFill>
                <a:latin typeface="メイリオ" panose="020B0604030504040204" pitchFamily="50" charset="-128"/>
                <a:ea typeface="メイリオ" panose="020B0604030504040204" pitchFamily="50" charset="-128"/>
              </a:rPr>
              <a:t>② 新規の応募だけに頼ると、負担がくり返される</a:t>
            </a:r>
            <a:endParaRPr lang="ja-JP" altLang="en-US" sz="1150" dirty="0"/>
          </a:p>
          <a:p>
            <a:pPr algn="l">
              <a:spcAft>
                <a:spcPts val="400"/>
              </a:spcAft>
              <a:buNone/>
            </a:pPr>
            <a:r>
              <a:rPr lang="ja-JP" altLang="en-US" sz="1150" b="0" dirty="0">
                <a:solidFill>
                  <a:srgbClr val="333333"/>
                </a:solidFill>
                <a:latin typeface="メイリオ" panose="020B0604030504040204" pitchFamily="50" charset="-128"/>
                <a:ea typeface="メイリオ" panose="020B0604030504040204" pitchFamily="50" charset="-128"/>
              </a:rPr>
              <a:t>募集・面接・登録の手間が、イベントごとにかかります</a:t>
            </a:r>
            <a:endParaRPr lang="ja-JP" altLang="en-US" sz="1150" dirty="0"/>
          </a:p>
        </p:txBody>
      </p:sp>
      <p:sp>
        <p:nvSpPr>
          <p:cNvPr id="24" name="Rounded Rectangle 23"/>
          <p:cNvSpPr/>
          <p:nvPr/>
        </p:nvSpPr>
        <p:spPr>
          <a:xfrm>
            <a:off x="429768" y="4114800"/>
            <a:ext cx="4160520" cy="960120"/>
          </a:xfrm>
          <a:prstGeom prst="roundRect">
            <a:avLst>
              <a:gd name="adj" fmla="val 5000"/>
            </a:avLst>
          </a:prstGeom>
          <a:solidFill>
            <a:srgbClr val="FFFFFF"/>
          </a:solidFill>
          <a:ln w="9525">
            <a:solidFill>
              <a:srgbClr val="1E2761"/>
            </a:solidFill>
          </a:ln>
        </p:spPr>
        <p:txBody>
          <a:bodyPr wrap="square" lIns="109728" tIns="73152" rIns="91440" bIns="54864" rtlCol="0" anchor="ctr">
            <a:noAutofit/>
          </a:bodyPr>
          <a:lstStyle/>
          <a:p>
            <a:pPr algn="l">
              <a:spcAft>
                <a:spcPts val="400"/>
              </a:spcAft>
              <a:buNone/>
            </a:pPr>
            <a:r>
              <a:rPr lang="ja-JP" altLang="en-US" sz="1200" b="1" dirty="0">
                <a:solidFill>
                  <a:srgbClr val="323366"/>
                </a:solidFill>
                <a:latin typeface="メイリオ" panose="020B0604030504040204" pitchFamily="50" charset="-128"/>
                <a:ea typeface="メイリオ" panose="020B0604030504040204" pitchFamily="50" charset="-128"/>
              </a:rPr>
              <a:t>③ 勤務が終わると、接点が薄れる</a:t>
            </a:r>
            <a:endParaRPr lang="ja-JP" altLang="en-US" sz="1150" dirty="0"/>
          </a:p>
          <a:p>
            <a:pPr algn="l">
              <a:spcAft>
                <a:spcPts val="400"/>
              </a:spcAft>
              <a:buNone/>
            </a:pPr>
            <a:r>
              <a:rPr lang="ja-JP" altLang="en-US" sz="1150" b="0" dirty="0">
                <a:solidFill>
                  <a:srgbClr val="333333"/>
                </a:solidFill>
                <a:latin typeface="メイリオ" panose="020B0604030504040204" pitchFamily="50" charset="-128"/>
                <a:ea typeface="メイリオ" panose="020B0604030504040204" pitchFamily="50" charset="-128"/>
              </a:rPr>
              <a:t>次の募集を届ける手段が残らず、また新規で集めることになります</a:t>
            </a:r>
            <a:endParaRPr lang="ja-JP" altLang="en-US" sz="1150" dirty="0"/>
          </a:p>
        </p:txBody>
      </p:sp>
      <p:sp>
        <p:nvSpPr>
          <p:cNvPr id="25" name="Rounded Rectangle 24"/>
          <p:cNvSpPr/>
          <p:nvPr/>
        </p:nvSpPr>
        <p:spPr>
          <a:xfrm>
            <a:off x="4773168" y="1391689"/>
            <a:ext cx="4562855" cy="3683232"/>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buNone/>
            </a:pPr>
            <a:endParaRPr lang="ja-JP" altLang="en-US" sz="1100" dirty="0"/>
          </a:p>
        </p:txBody>
      </p:sp>
      <p:sp>
        <p:nvSpPr>
          <p:cNvPr id="26" name="Rectangle 25"/>
          <p:cNvSpPr/>
          <p:nvPr/>
        </p:nvSpPr>
        <p:spPr>
          <a:xfrm>
            <a:off x="4910328" y="1444752"/>
            <a:ext cx="4425696" cy="502920"/>
          </a:xfrm>
          <a:prstGeom prst="rect">
            <a:avLst/>
          </a:prstGeom>
          <a:noFill/>
          <a:ln>
            <a:noFill/>
          </a:ln>
        </p:spPr>
        <p:txBody>
          <a:bodyPr wrap="square" lIns="0" tIns="0" rIns="0" bIns="0" rtlCol="0" anchor="ctr">
            <a:noAutofit/>
          </a:bodyPr>
          <a:lstStyle/>
          <a:p>
            <a:pPr algn="l">
              <a:buNone/>
            </a:pPr>
            <a:r>
              <a:rPr lang="ja-JP" altLang="en-US" sz="1200" b="1" dirty="0">
                <a:solidFill>
                  <a:srgbClr val="323366"/>
                </a:solidFill>
                <a:latin typeface="メイリオ" panose="020B0604030504040204" pitchFamily="50" charset="-128"/>
                <a:ea typeface="メイリオ" panose="020B0604030504040204" pitchFamily="50" charset="-128"/>
              </a:rPr>
              <a:t>「単発バイト」を検索した方は、前後に何を調べているか</a:t>
            </a:r>
            <a:endParaRPr lang="ja-JP" altLang="en-US" sz="1200" dirty="0"/>
          </a:p>
        </p:txBody>
      </p:sp>
      <p:sp>
        <p:nvSpPr>
          <p:cNvPr id="27" name="Rounded Rectangle 26"/>
          <p:cNvSpPr/>
          <p:nvPr/>
        </p:nvSpPr>
        <p:spPr>
          <a:xfrm>
            <a:off x="4910328" y="2057400"/>
            <a:ext cx="960120" cy="274320"/>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-7〜-1日</a:t>
            </a:r>
            <a:endParaRPr lang="ja-JP" altLang="en-US" sz="1050" dirty="0"/>
          </a:p>
        </p:txBody>
      </p:sp>
      <p:sp>
        <p:nvSpPr>
          <p:cNvPr id="28" name="Rectangle 27"/>
          <p:cNvSpPr/>
          <p:nvPr/>
        </p:nvSpPr>
        <p:spPr>
          <a:xfrm>
            <a:off x="5961888" y="2011680"/>
            <a:ext cx="3374135" cy="868680"/>
          </a:xfrm>
          <a:prstGeom prst="rect">
            <a:avLst/>
          </a:prstGeom>
          <a:noFill/>
          <a:ln>
            <a:noFill/>
          </a:ln>
        </p:spPr>
        <p:txBody>
          <a:bodyPr wrap="square" lIns="18288" tIns="18288" rIns="18288" bIns="18288"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スキマ時間で、すぐ稼ぎたい</a:t>
            </a:r>
            <a:endParaRPr lang="ja-JP" altLang="en-US" sz="1200" dirty="0"/>
          </a:p>
          <a:p>
            <a:pPr algn="l">
              <a:spcAft>
                <a:spcPts val="200"/>
              </a:spcAft>
              <a:buNone/>
            </a:pPr>
            <a:r>
              <a:rPr lang="ja-JP" altLang="en-US" sz="1050" b="0" dirty="0">
                <a:solidFill>
                  <a:srgbClr val="595959"/>
                </a:solidFill>
                <a:latin typeface="メイリオ" panose="020B0604030504040204" pitchFamily="50" charset="-128"/>
                <a:ea typeface="メイリオ" panose="020B0604030504040204" pitchFamily="50" charset="-128"/>
              </a:rPr>
              <a:t>副業 在宅 スキマ時間／在宅ワーク 求人／バイト 求人</a:t>
            </a:r>
            <a:endParaRPr lang="ja-JP" altLang="en-US" sz="1200" dirty="0"/>
          </a:p>
        </p:txBody>
      </p:sp>
      <p:sp>
        <p:nvSpPr>
          <p:cNvPr id="29" name="Rounded Rectangle 28"/>
          <p:cNvSpPr/>
          <p:nvPr/>
        </p:nvSpPr>
        <p:spPr>
          <a:xfrm>
            <a:off x="4910328" y="3044952"/>
            <a:ext cx="960120" cy="274320"/>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0〜+2日</a:t>
            </a:r>
            <a:endParaRPr lang="ja-JP" altLang="en-US" sz="1050" dirty="0"/>
          </a:p>
        </p:txBody>
      </p:sp>
      <p:sp>
        <p:nvSpPr>
          <p:cNvPr id="30" name="Rectangle 29"/>
          <p:cNvSpPr/>
          <p:nvPr/>
        </p:nvSpPr>
        <p:spPr>
          <a:xfrm>
            <a:off x="5961888" y="2999232"/>
            <a:ext cx="3374135" cy="868680"/>
          </a:xfrm>
          <a:prstGeom prst="rect">
            <a:avLst/>
          </a:prstGeom>
          <a:noFill/>
          <a:ln>
            <a:noFill/>
          </a:ln>
        </p:spPr>
        <p:txBody>
          <a:bodyPr wrap="square" lIns="18288" tIns="18288" rIns="18288" bIns="18288"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同じ日に、複数のサービスを並べて比べる</a:t>
            </a:r>
            <a:endParaRPr lang="ja-JP" altLang="en-US" sz="1200" dirty="0"/>
          </a:p>
          <a:p>
            <a:pPr algn="l">
              <a:spcAft>
                <a:spcPts val="200"/>
              </a:spcAft>
              <a:buNone/>
            </a:pPr>
            <a:r>
              <a:rPr lang="ja-JP" altLang="en-US" sz="1050" b="0" dirty="0">
                <a:solidFill>
                  <a:srgbClr val="595959"/>
                </a:solidFill>
                <a:latin typeface="メイリオ" panose="020B0604030504040204" pitchFamily="50" charset="-128"/>
                <a:ea typeface="メイリオ" panose="020B0604030504040204" pitchFamily="50" charset="-128"/>
              </a:rPr>
              <a:t>タイミー／バイトル／短期バイト／単発バイト アプリ</a:t>
            </a:r>
            <a:endParaRPr lang="ja-JP" altLang="en-US" sz="1200" dirty="0"/>
          </a:p>
        </p:txBody>
      </p:sp>
      <p:sp>
        <p:nvSpPr>
          <p:cNvPr id="31" name="Rounded Rectangle 30"/>
          <p:cNvSpPr/>
          <p:nvPr/>
        </p:nvSpPr>
        <p:spPr>
          <a:xfrm>
            <a:off x="4910328" y="4032504"/>
            <a:ext cx="960120" cy="274320"/>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+1〜+15日</a:t>
            </a:r>
            <a:endParaRPr lang="ja-JP" altLang="en-US" sz="1050" dirty="0"/>
          </a:p>
        </p:txBody>
      </p:sp>
      <p:sp>
        <p:nvSpPr>
          <p:cNvPr id="32" name="Rectangle 31"/>
          <p:cNvSpPr/>
          <p:nvPr/>
        </p:nvSpPr>
        <p:spPr>
          <a:xfrm>
            <a:off x="5961888" y="3986784"/>
            <a:ext cx="3374135" cy="868680"/>
          </a:xfrm>
          <a:prstGeom prst="rect">
            <a:avLst/>
          </a:prstGeom>
          <a:noFill/>
          <a:ln>
            <a:noFill/>
          </a:ln>
        </p:spPr>
        <p:txBody>
          <a:bodyPr wrap="square" lIns="18288" tIns="18288" rIns="18288" bIns="18288"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続けられるか・扶養や税金は大丈夫か</a:t>
            </a:r>
            <a:endParaRPr lang="ja-JP" altLang="en-US" sz="1200" dirty="0"/>
          </a:p>
          <a:p>
            <a:pPr algn="l">
              <a:spcAft>
                <a:spcPts val="200"/>
              </a:spcAft>
              <a:buNone/>
            </a:pPr>
            <a:r>
              <a:rPr lang="ja-JP" altLang="en-US" sz="1050" b="0" dirty="0">
                <a:solidFill>
                  <a:srgbClr val="595959"/>
                </a:solidFill>
                <a:latin typeface="メイリオ" panose="020B0604030504040204" pitchFamily="50" charset="-128"/>
                <a:ea typeface="メイリオ" panose="020B0604030504040204" pitchFamily="50" charset="-128"/>
              </a:rPr>
              <a:t>副業 確定申告 20万円以下／ダブルワーク 扶養内 いくらまで</a:t>
            </a:r>
            <a:endParaRPr lang="ja-JP" alt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業界課題②｜応募後の連絡・勤務前の案内・次の募集に手間がかかる</a:t>
            </a:r>
          </a:p>
        </p:txBody>
      </p:sp>
      <p:sp>
        <p:nvSpPr>
          <p:cNvPr id="3" name="TextBox 2"/>
          <p:cNvSpPr txBox="1"/>
          <p:nvPr/>
        </p:nvSpPr>
        <p:spPr>
          <a:xfrm>
            <a:off x="429768" y="696249"/>
            <a:ext cx="9331200" cy="585216"/>
          </a:xfrm>
          <a:prstGeom prst="rect">
            <a:avLst/>
          </a:prstGeom>
          <a:noFill/>
        </p:spPr>
        <p:txBody>
          <a:bodyPr wrap="square" lIns="28800" tIns="7200" rIns="28800" bIns="7200" anchor="ctr">
            <a:spAutoFit/>
          </a:bodyPr>
          <a:lstStyle/>
          <a:p>
            <a:pPr algn="l">
              <a:lnSpc>
                <a:spcPct val="120000"/>
              </a:lnSpc>
            </a:pPr>
            <a:r>
              <a:rPr sz="1400" b="1" dirty="0" err="1">
                <a:solidFill>
                  <a:srgbClr val="1E2761"/>
                </a:solidFill>
                <a:latin typeface="メイリオ"/>
                <a:ea typeface="メイリオ"/>
                <a:cs typeface="メイリオ"/>
              </a:rPr>
              <a:t>応募から勤務までの連絡、勤務前の案内、次の募集。どれも人数が増えるほど手間が増えます</a:t>
            </a:r>
            <a:r>
              <a:rPr sz="1400" b="1" dirty="0">
                <a:solidFill>
                  <a:srgbClr val="1E2761"/>
                </a:solidFill>
                <a:latin typeface="メイリオ"/>
                <a:ea typeface="メイリオ"/>
                <a:cs typeface="メイリオ"/>
              </a:rPr>
              <a:t>。</a:t>
            </a:r>
          </a:p>
          <a:p>
            <a:pPr algn="l">
              <a:lnSpc>
                <a:spcPct val="120000"/>
              </a:lnSpc>
            </a:pPr>
            <a:r>
              <a:rPr sz="1400" b="1" dirty="0" err="1">
                <a:solidFill>
                  <a:srgbClr val="FF0000"/>
                </a:solidFill>
                <a:latin typeface="メイリオ"/>
                <a:ea typeface="メイリオ"/>
                <a:cs typeface="メイリオ"/>
              </a:rPr>
              <a:t>連絡をLINEに集めることで、届きやすく、次の募集にもつなげやすくなります</a:t>
            </a:r>
            <a:r>
              <a:rPr sz="1400" b="1" dirty="0">
                <a:solidFill>
                  <a:srgbClr val="FF0000"/>
                </a:solidFill>
                <a:latin typeface="メイリオ"/>
                <a:ea typeface="メイリオ"/>
                <a:cs typeface="メイリオ"/>
              </a:rPr>
              <a:t>。</a:t>
            </a:r>
          </a:p>
        </p:txBody>
      </p:sp>
      <p:sp>
        <p:nvSpPr>
          <p:cNvPr id="18" name="Rectangle 17"/>
          <p:cNvSpPr/>
          <p:nvPr/>
        </p:nvSpPr>
        <p:spPr>
          <a:xfrm>
            <a:off x="431292" y="5002638"/>
            <a:ext cx="9043416"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2000" y="6089904"/>
            <a:ext cx="9043200" cy="457200"/>
          </a:xfrm>
          <a:prstGeom prst="rect">
            <a:avLst/>
          </a:prstGeom>
          <a:noFill/>
        </p:spPr>
        <p:txBody>
          <a:bodyPr wrap="square" lIns="28800" tIns="7200" rIns="28800" bIns="7200" anchor="ctr">
            <a:spAutoFit/>
          </a:bodyPr>
          <a:lstStyle/>
          <a:p>
            <a:pPr algn="l">
              <a:lnSpc>
                <a:spcPct val="120000"/>
              </a:lnSpc>
            </a:pPr>
            <a:r>
              <a:rPr sz="900" b="0">
                <a:solidFill>
                  <a:srgbClr val="888888"/>
                </a:solidFill>
                <a:latin typeface="メイリオ"/>
                <a:ea typeface="メイリオ"/>
                <a:cs typeface="メイリオ"/>
              </a:rPr>
              <a:t>出典｜LINEの月間利用者数・メッセージ開封率：LINEヤフー公式値。※応募から勤務までの実施率・再応募率は公開データがなく、貴社での計測が必要です</a:t>
            </a:r>
          </a:p>
        </p:txBody>
      </p:sp>
      <p:sp>
        <p:nvSpPr>
          <p:cNvPr id="21" name="Rectangle 20"/>
          <p:cNvSpPr/>
          <p:nvPr/>
        </p:nvSpPr>
        <p:spPr>
          <a:xfrm>
            <a:off x="431292" y="5002638"/>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連絡の手間を減らしながら、次の募集が届く状態をつくる</a:t>
            </a:r>
            <a:endParaRPr lang="ja-JP" altLang="en-US" sz="1300" dirty="0"/>
          </a:p>
        </p:txBody>
      </p:sp>
      <p:sp>
        <p:nvSpPr>
          <p:cNvPr id="22" name="Rounded Rectangle 21"/>
          <p:cNvSpPr/>
          <p:nvPr/>
        </p:nvSpPr>
        <p:spPr>
          <a:xfrm>
            <a:off x="429768" y="1653758"/>
            <a:ext cx="2880360" cy="310896"/>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応募のあと</a:t>
            </a:r>
            <a:endParaRPr lang="ja-JP" altLang="en-US" sz="1400" dirty="0"/>
          </a:p>
        </p:txBody>
      </p:sp>
      <p:sp>
        <p:nvSpPr>
          <p:cNvPr id="23" name="Rounded Rectangle 22"/>
          <p:cNvSpPr/>
          <p:nvPr/>
        </p:nvSpPr>
        <p:spPr>
          <a:xfrm>
            <a:off x="429768" y="2065238"/>
            <a:ext cx="2880360" cy="759823"/>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300"/>
              </a:spcAft>
              <a:buNone/>
            </a:pPr>
            <a:r>
              <a:rPr lang="ja-JP" altLang="en-US" sz="1050" b="1" dirty="0">
                <a:solidFill>
                  <a:srgbClr val="595959"/>
                </a:solidFill>
                <a:latin typeface="メイリオ" panose="020B0604030504040204" pitchFamily="50" charset="-128"/>
                <a:ea typeface="メイリオ" panose="020B0604030504040204" pitchFamily="50" charset="-128"/>
              </a:rPr>
              <a:t>起きやすいこと（想定）</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メールや電話がつながらず、面接・登録の案内が届きにくい</a:t>
            </a:r>
            <a:endParaRPr lang="ja-JP" altLang="en-US" sz="1200" dirty="0"/>
          </a:p>
        </p:txBody>
      </p:sp>
      <p:sp>
        <p:nvSpPr>
          <p:cNvPr id="24" name="Rectangle 23"/>
          <p:cNvSpPr/>
          <p:nvPr/>
        </p:nvSpPr>
        <p:spPr>
          <a:xfrm>
            <a:off x="1641348" y="2862072"/>
            <a:ext cx="457200" cy="274320"/>
          </a:xfrm>
          <a:prstGeom prst="rect">
            <a:avLst/>
          </a:prstGeom>
          <a:noFill/>
          <a:ln>
            <a:noFill/>
          </a:ln>
        </p:spPr>
        <p:txBody>
          <a:bodyPr wrap="square" lIns="0" tIns="0" rIns="0" bIns="0" rtlCol="0" anchor="ctr">
            <a:noAutofit/>
          </a:bodyPr>
          <a:lstStyle/>
          <a:p>
            <a:pPr algn="ctr">
              <a:buNone/>
            </a:pPr>
            <a:r>
              <a:rPr lang="ja-JP" altLang="en-US" sz="1600" b="0" dirty="0">
                <a:solidFill>
                  <a:srgbClr val="1E2761"/>
                </a:solidFill>
                <a:latin typeface="メイリオ" panose="020B0604030504040204" pitchFamily="50" charset="-128"/>
                <a:ea typeface="メイリオ" panose="020B0604030504040204" pitchFamily="50" charset="-128"/>
              </a:rPr>
              <a:t>▼</a:t>
            </a:r>
            <a:endParaRPr lang="ja-JP" altLang="en-US" sz="1600" dirty="0"/>
          </a:p>
        </p:txBody>
      </p:sp>
      <p:sp>
        <p:nvSpPr>
          <p:cNvPr id="25" name="Rounded Rectangle 24"/>
          <p:cNvSpPr/>
          <p:nvPr/>
        </p:nvSpPr>
        <p:spPr>
          <a:xfrm>
            <a:off x="429768" y="3154680"/>
            <a:ext cx="2880360" cy="658368"/>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300"/>
              </a:spcAft>
              <a:buNone/>
            </a:pPr>
            <a:r>
              <a:rPr lang="ja-JP" altLang="en-US" sz="1050" b="1" dirty="0">
                <a:solidFill>
                  <a:srgbClr val="323366"/>
                </a:solidFill>
                <a:latin typeface="メイリオ" panose="020B0604030504040204" pitchFamily="50" charset="-128"/>
                <a:ea typeface="メイリオ" panose="020B0604030504040204" pitchFamily="50" charset="-128"/>
              </a:rPr>
              <a:t>LINEでできること</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応募の直後に友だちになっていただき、面接・登録の案内をLINEで届ける</a:t>
            </a:r>
            <a:endParaRPr lang="ja-JP" altLang="en-US" sz="1200" dirty="0"/>
          </a:p>
        </p:txBody>
      </p:sp>
      <p:sp>
        <p:nvSpPr>
          <p:cNvPr id="26" name="Rounded Rectangle 25"/>
          <p:cNvSpPr/>
          <p:nvPr/>
        </p:nvSpPr>
        <p:spPr>
          <a:xfrm>
            <a:off x="3511296" y="1653758"/>
            <a:ext cx="2880360" cy="310896"/>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勤務の前</a:t>
            </a:r>
            <a:endParaRPr lang="ja-JP" altLang="en-US" sz="1400" dirty="0"/>
          </a:p>
        </p:txBody>
      </p:sp>
      <p:sp>
        <p:nvSpPr>
          <p:cNvPr id="27" name="Rounded Rectangle 26"/>
          <p:cNvSpPr/>
          <p:nvPr/>
        </p:nvSpPr>
        <p:spPr>
          <a:xfrm>
            <a:off x="3511296" y="2065238"/>
            <a:ext cx="2880360" cy="759823"/>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300"/>
              </a:spcAft>
              <a:buNone/>
            </a:pPr>
            <a:r>
              <a:rPr lang="ja-JP" altLang="en-US" sz="1050" b="1" dirty="0">
                <a:solidFill>
                  <a:srgbClr val="595959"/>
                </a:solidFill>
                <a:latin typeface="メイリオ" panose="020B0604030504040204" pitchFamily="50" charset="-128"/>
                <a:ea typeface="メイリオ" panose="020B0604030504040204" pitchFamily="50" charset="-128"/>
              </a:rPr>
              <a:t>起きやすいこと（想定）</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集合場所・時間・持ち物・服装の案内を、人数分くり返し送る</a:t>
            </a:r>
            <a:endParaRPr lang="ja-JP" altLang="en-US" sz="1200" dirty="0"/>
          </a:p>
        </p:txBody>
      </p:sp>
      <p:sp>
        <p:nvSpPr>
          <p:cNvPr id="28" name="Rectangle 27"/>
          <p:cNvSpPr/>
          <p:nvPr/>
        </p:nvSpPr>
        <p:spPr>
          <a:xfrm>
            <a:off x="4722876" y="2862072"/>
            <a:ext cx="457200" cy="274320"/>
          </a:xfrm>
          <a:prstGeom prst="rect">
            <a:avLst/>
          </a:prstGeom>
          <a:noFill/>
          <a:ln>
            <a:noFill/>
          </a:ln>
        </p:spPr>
        <p:txBody>
          <a:bodyPr wrap="square" lIns="0" tIns="0" rIns="0" bIns="0" rtlCol="0" anchor="ctr">
            <a:noAutofit/>
          </a:bodyPr>
          <a:lstStyle/>
          <a:p>
            <a:pPr algn="ctr">
              <a:buNone/>
            </a:pPr>
            <a:r>
              <a:rPr lang="ja-JP" altLang="en-US" sz="1600" b="0" dirty="0">
                <a:solidFill>
                  <a:srgbClr val="1E2761"/>
                </a:solidFill>
                <a:latin typeface="メイリオ" panose="020B0604030504040204" pitchFamily="50" charset="-128"/>
                <a:ea typeface="メイリオ" panose="020B0604030504040204" pitchFamily="50" charset="-128"/>
              </a:rPr>
              <a:t>▼</a:t>
            </a:r>
            <a:endParaRPr lang="ja-JP" altLang="en-US" sz="1600" dirty="0"/>
          </a:p>
        </p:txBody>
      </p:sp>
      <p:sp>
        <p:nvSpPr>
          <p:cNvPr id="29" name="Rounded Rectangle 28"/>
          <p:cNvSpPr/>
          <p:nvPr/>
        </p:nvSpPr>
        <p:spPr>
          <a:xfrm>
            <a:off x="3511296" y="3154681"/>
            <a:ext cx="2880360" cy="658368"/>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300"/>
              </a:spcAft>
              <a:buNone/>
            </a:pPr>
            <a:r>
              <a:rPr lang="ja-JP" altLang="en-US" sz="1050" b="1" dirty="0">
                <a:solidFill>
                  <a:srgbClr val="323366"/>
                </a:solidFill>
                <a:latin typeface="メイリオ" panose="020B0604030504040204" pitchFamily="50" charset="-128"/>
                <a:ea typeface="メイリオ" panose="020B0604030504040204" pitchFamily="50" charset="-128"/>
              </a:rPr>
              <a:t>LINEでできること</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同じイベントの方へ一斉に、会場・業務ごとに絞って案内する</a:t>
            </a:r>
            <a:endParaRPr lang="ja-JP" altLang="en-US" sz="1200" dirty="0"/>
          </a:p>
        </p:txBody>
      </p:sp>
      <p:sp>
        <p:nvSpPr>
          <p:cNvPr id="30" name="Rounded Rectangle 29"/>
          <p:cNvSpPr/>
          <p:nvPr/>
        </p:nvSpPr>
        <p:spPr>
          <a:xfrm>
            <a:off x="6592824" y="1653758"/>
            <a:ext cx="2880360" cy="310896"/>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勤務のあと</a:t>
            </a:r>
            <a:endParaRPr lang="ja-JP" altLang="en-US" sz="1400" dirty="0"/>
          </a:p>
        </p:txBody>
      </p:sp>
      <p:sp>
        <p:nvSpPr>
          <p:cNvPr id="31" name="Rounded Rectangle 30"/>
          <p:cNvSpPr/>
          <p:nvPr/>
        </p:nvSpPr>
        <p:spPr>
          <a:xfrm>
            <a:off x="6592824" y="2065238"/>
            <a:ext cx="2880360" cy="759823"/>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300"/>
              </a:spcAft>
              <a:buNone/>
            </a:pPr>
            <a:r>
              <a:rPr lang="ja-JP" altLang="en-US" sz="1050" b="1" dirty="0">
                <a:solidFill>
                  <a:srgbClr val="595959"/>
                </a:solidFill>
                <a:latin typeface="メイリオ" panose="020B0604030504040204" pitchFamily="50" charset="-128"/>
                <a:ea typeface="メイリオ" panose="020B0604030504040204" pitchFamily="50" charset="-128"/>
              </a:rPr>
              <a:t>起きやすいこと（想定）</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次の募集を届ける手段が残らず、新規の募集に頼りがち</a:t>
            </a:r>
            <a:endParaRPr lang="ja-JP" altLang="en-US" sz="1200" dirty="0"/>
          </a:p>
        </p:txBody>
      </p:sp>
      <p:sp>
        <p:nvSpPr>
          <p:cNvPr id="32" name="Rectangle 31"/>
          <p:cNvSpPr/>
          <p:nvPr/>
        </p:nvSpPr>
        <p:spPr>
          <a:xfrm>
            <a:off x="7804404" y="2862072"/>
            <a:ext cx="457200" cy="274320"/>
          </a:xfrm>
          <a:prstGeom prst="rect">
            <a:avLst/>
          </a:prstGeom>
          <a:noFill/>
          <a:ln>
            <a:noFill/>
          </a:ln>
        </p:spPr>
        <p:txBody>
          <a:bodyPr wrap="square" lIns="0" tIns="0" rIns="0" bIns="0" rtlCol="0" anchor="ctr">
            <a:noAutofit/>
          </a:bodyPr>
          <a:lstStyle/>
          <a:p>
            <a:pPr algn="ctr">
              <a:buNone/>
            </a:pPr>
            <a:r>
              <a:rPr lang="ja-JP" altLang="en-US" sz="1600" b="0" dirty="0">
                <a:solidFill>
                  <a:srgbClr val="1E2761"/>
                </a:solidFill>
                <a:latin typeface="メイリオ" panose="020B0604030504040204" pitchFamily="50" charset="-128"/>
                <a:ea typeface="メイリオ" panose="020B0604030504040204" pitchFamily="50" charset="-128"/>
              </a:rPr>
              <a:t>▼</a:t>
            </a:r>
            <a:endParaRPr lang="ja-JP" altLang="en-US" sz="1600" dirty="0"/>
          </a:p>
        </p:txBody>
      </p:sp>
      <p:sp>
        <p:nvSpPr>
          <p:cNvPr id="33" name="Rounded Rectangle 32"/>
          <p:cNvSpPr/>
          <p:nvPr/>
        </p:nvSpPr>
        <p:spPr>
          <a:xfrm>
            <a:off x="6592824" y="3154680"/>
            <a:ext cx="2880360" cy="658368"/>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300"/>
              </a:spcAft>
              <a:buNone/>
            </a:pPr>
            <a:r>
              <a:rPr lang="ja-JP" altLang="en-US" sz="1050" b="1" dirty="0">
                <a:solidFill>
                  <a:srgbClr val="323366"/>
                </a:solidFill>
                <a:latin typeface="メイリオ" panose="020B0604030504040204" pitchFamily="50" charset="-128"/>
                <a:ea typeface="メイリオ" panose="020B0604030504040204" pitchFamily="50" charset="-128"/>
              </a:rPr>
              <a:t>LINEでできること</a:t>
            </a:r>
            <a:endParaRPr lang="ja-JP" altLang="en-US" sz="1200" dirty="0"/>
          </a:p>
          <a:p>
            <a:pPr algn="l">
              <a:spcAft>
                <a:spcPts val="300"/>
              </a:spcAft>
              <a:buNone/>
            </a:pPr>
            <a:r>
              <a:rPr lang="ja-JP" altLang="en-US" sz="1200" b="0" dirty="0">
                <a:solidFill>
                  <a:srgbClr val="333333"/>
                </a:solidFill>
                <a:latin typeface="メイリオ" panose="020B0604030504040204" pitchFamily="50" charset="-128"/>
                <a:ea typeface="メイリオ" panose="020B0604030504040204" pitchFamily="50" charset="-128"/>
              </a:rPr>
              <a:t>希望に合う次回イベントの募集を届け、再応募につなげる</a:t>
            </a:r>
            <a:endParaRPr lang="ja-JP" altLang="en-US" sz="1200" dirty="0"/>
          </a:p>
        </p:txBody>
      </p:sp>
      <p:sp>
        <p:nvSpPr>
          <p:cNvPr id="34" name="Rounded Rectangle 33"/>
          <p:cNvSpPr/>
          <p:nvPr/>
        </p:nvSpPr>
        <p:spPr>
          <a:xfrm>
            <a:off x="429768" y="4114365"/>
            <a:ext cx="4421124" cy="658368"/>
          </a:xfrm>
          <a:prstGeom prst="roundRect">
            <a:avLst>
              <a:gd name="adj" fmla="val 5000"/>
            </a:avLst>
          </a:prstGeom>
          <a:solidFill>
            <a:srgbClr val="EEF2F9"/>
          </a:solidFill>
          <a:ln w="9525">
            <a:solidFill>
              <a:srgbClr val="D9D9D9"/>
            </a:solidFill>
          </a:ln>
        </p:spPr>
        <p:txBody>
          <a:bodyPr wrap="square" lIns="109728" tIns="73152" rIns="91440" bIns="54864" rtlCol="0" anchor="t">
            <a:noAutofit/>
          </a:bodyPr>
          <a:lstStyle/>
          <a:p>
            <a:pPr algn="l">
              <a:buNone/>
            </a:pPr>
            <a:endParaRPr lang="ja-JP" altLang="en-US" sz="1200" dirty="0"/>
          </a:p>
        </p:txBody>
      </p:sp>
      <p:sp>
        <p:nvSpPr>
          <p:cNvPr id="35" name="Rectangle 34"/>
          <p:cNvSpPr/>
          <p:nvPr/>
        </p:nvSpPr>
        <p:spPr>
          <a:xfrm>
            <a:off x="566928" y="4114363"/>
            <a:ext cx="2431618" cy="658368"/>
          </a:xfrm>
          <a:prstGeom prst="rect">
            <a:avLst/>
          </a:prstGeom>
          <a:noFill/>
          <a:ln>
            <a:noFill/>
          </a:ln>
        </p:spPr>
        <p:txBody>
          <a:bodyPr wrap="square" lIns="0" tIns="0" rIns="0" bIns="0" rtlCol="0" anchor="ctr">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メッセージ開封率（当日中）</a:t>
            </a:r>
            <a:endParaRPr lang="ja-JP" altLang="en-US" sz="1200" dirty="0"/>
          </a:p>
          <a:p>
            <a:pPr algn="l">
              <a:spcAft>
                <a:spcPts val="200"/>
              </a:spcAft>
              <a:buNone/>
            </a:pPr>
            <a:r>
              <a:rPr lang="ja-JP" altLang="en-US" sz="1050" b="0" dirty="0">
                <a:solidFill>
                  <a:srgbClr val="595959"/>
                </a:solidFill>
                <a:latin typeface="メイリオ" panose="020B0604030504040204" pitchFamily="50" charset="-128"/>
                <a:ea typeface="メイリオ" panose="020B0604030504040204" pitchFamily="50" charset="-128"/>
              </a:rPr>
              <a:t>受信直後 約2割／3〜6時間で約5割</a:t>
            </a:r>
            <a:endParaRPr lang="ja-JP" altLang="en-US" sz="1200" dirty="0"/>
          </a:p>
        </p:txBody>
      </p:sp>
      <p:sp>
        <p:nvSpPr>
          <p:cNvPr id="36" name="Rectangle 35"/>
          <p:cNvSpPr/>
          <p:nvPr/>
        </p:nvSpPr>
        <p:spPr>
          <a:xfrm>
            <a:off x="2861386" y="4114364"/>
            <a:ext cx="1852345" cy="658368"/>
          </a:xfrm>
          <a:prstGeom prst="rect">
            <a:avLst/>
          </a:prstGeom>
          <a:noFill/>
          <a:ln>
            <a:noFill/>
          </a:ln>
        </p:spPr>
        <p:txBody>
          <a:bodyPr wrap="square" lIns="0" tIns="0" rIns="0" bIns="0" rtlCol="0" anchor="ctr">
            <a:noAutofit/>
          </a:bodyPr>
          <a:lstStyle/>
          <a:p>
            <a:pPr algn="r">
              <a:buNone/>
            </a:pPr>
            <a:r>
              <a:rPr lang="ja-JP" altLang="en-US" sz="2800" b="1" dirty="0">
                <a:solidFill>
                  <a:srgbClr val="323366"/>
                </a:solidFill>
                <a:latin typeface="メイリオ" panose="020B0604030504040204" pitchFamily="50" charset="-128"/>
                <a:ea typeface="メイリオ" panose="020B0604030504040204" pitchFamily="50" charset="-128"/>
              </a:rPr>
              <a:t>約8割</a:t>
            </a:r>
            <a:endParaRPr lang="ja-JP" altLang="en-US" sz="2800" dirty="0"/>
          </a:p>
        </p:txBody>
      </p:sp>
      <p:sp>
        <p:nvSpPr>
          <p:cNvPr id="37" name="Rounded Rectangle 36"/>
          <p:cNvSpPr/>
          <p:nvPr/>
        </p:nvSpPr>
        <p:spPr>
          <a:xfrm>
            <a:off x="5052059" y="4114365"/>
            <a:ext cx="4421124" cy="658368"/>
          </a:xfrm>
          <a:prstGeom prst="roundRect">
            <a:avLst>
              <a:gd name="adj" fmla="val 5000"/>
            </a:avLst>
          </a:prstGeom>
          <a:solidFill>
            <a:srgbClr val="EEF2F9"/>
          </a:solidFill>
          <a:ln w="9525">
            <a:solidFill>
              <a:srgbClr val="D9D9D9"/>
            </a:solidFill>
          </a:ln>
        </p:spPr>
        <p:txBody>
          <a:bodyPr wrap="square" lIns="109728" tIns="73152" rIns="91440" bIns="54864" rtlCol="0" anchor="t">
            <a:noAutofit/>
          </a:bodyPr>
          <a:lstStyle/>
          <a:p>
            <a:pPr algn="l">
              <a:buNone/>
            </a:pPr>
            <a:endParaRPr lang="ja-JP" altLang="en-US" sz="1200" dirty="0"/>
          </a:p>
        </p:txBody>
      </p:sp>
      <p:sp>
        <p:nvSpPr>
          <p:cNvPr id="38" name="Rectangle 37"/>
          <p:cNvSpPr/>
          <p:nvPr/>
        </p:nvSpPr>
        <p:spPr>
          <a:xfrm>
            <a:off x="5189220" y="4114364"/>
            <a:ext cx="2431618" cy="658368"/>
          </a:xfrm>
          <a:prstGeom prst="rect">
            <a:avLst/>
          </a:prstGeom>
          <a:noFill/>
          <a:ln>
            <a:noFill/>
          </a:ln>
        </p:spPr>
        <p:txBody>
          <a:bodyPr wrap="square" lIns="0" tIns="0" rIns="0" bIns="0" rtlCol="0" anchor="ctr">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LINEの国内の月間利用者数</a:t>
            </a:r>
            <a:endParaRPr lang="ja-JP" altLang="en-US" sz="1200" dirty="0"/>
          </a:p>
          <a:p>
            <a:pPr algn="l">
              <a:spcAft>
                <a:spcPts val="200"/>
              </a:spcAft>
              <a:buNone/>
            </a:pPr>
            <a:r>
              <a:rPr lang="ja-JP" altLang="en-US" sz="1050" b="0" dirty="0">
                <a:solidFill>
                  <a:srgbClr val="595959"/>
                </a:solidFill>
                <a:latin typeface="メイリオ" panose="020B0604030504040204" pitchFamily="50" charset="-128"/>
                <a:ea typeface="メイリオ" panose="020B0604030504040204" pitchFamily="50" charset="-128"/>
              </a:rPr>
              <a:t>2025年12月末時点</a:t>
            </a:r>
            <a:endParaRPr lang="ja-JP" altLang="en-US" sz="1200" dirty="0"/>
          </a:p>
        </p:txBody>
      </p:sp>
      <p:sp>
        <p:nvSpPr>
          <p:cNvPr id="39" name="Rectangle 38"/>
          <p:cNvSpPr/>
          <p:nvPr/>
        </p:nvSpPr>
        <p:spPr>
          <a:xfrm>
            <a:off x="7483678" y="4114364"/>
            <a:ext cx="1852345" cy="658368"/>
          </a:xfrm>
          <a:prstGeom prst="rect">
            <a:avLst/>
          </a:prstGeom>
          <a:noFill/>
          <a:ln>
            <a:noFill/>
          </a:ln>
        </p:spPr>
        <p:txBody>
          <a:bodyPr wrap="square" lIns="0" tIns="0" rIns="0" bIns="0" rtlCol="0" anchor="ctr">
            <a:noAutofit/>
          </a:bodyPr>
          <a:lstStyle/>
          <a:p>
            <a:pPr algn="r">
              <a:buNone/>
            </a:pPr>
            <a:r>
              <a:rPr lang="ja-JP" altLang="en-US" sz="2800" b="1" dirty="0">
                <a:solidFill>
                  <a:srgbClr val="323366"/>
                </a:solidFill>
                <a:latin typeface="メイリオ" panose="020B0604030504040204" pitchFamily="50" charset="-128"/>
                <a:ea typeface="メイリオ" panose="020B0604030504040204" pitchFamily="50" charset="-128"/>
              </a:rPr>
              <a:t>1億人突破</a:t>
            </a:r>
            <a:endParaRPr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競合分析①｜イベント・単発の人材会社のLINE運用（実際の画面）</a:t>
            </a:r>
          </a:p>
        </p:txBody>
      </p:sp>
      <p:sp>
        <p:nvSpPr>
          <p:cNvPr id="3" name="TextBox 2"/>
          <p:cNvSpPr txBox="1"/>
          <p:nvPr/>
        </p:nvSpPr>
        <p:spPr>
          <a:xfrm>
            <a:off x="309600" y="687600"/>
            <a:ext cx="9331200" cy="585216"/>
          </a:xfrm>
          <a:prstGeom prst="rect">
            <a:avLst/>
          </a:prstGeom>
          <a:noFill/>
        </p:spPr>
        <p:txBody>
          <a:bodyPr wrap="square" lIns="28800" tIns="7200" rIns="28800" bIns="7200" anchor="ctr">
            <a:spAutoFit/>
          </a:bodyPr>
          <a:lstStyle/>
          <a:p>
            <a:pPr algn="l">
              <a:lnSpc>
                <a:spcPct val="120000"/>
              </a:lnSpc>
            </a:pPr>
            <a:r>
              <a:rPr sz="1400" b="1">
                <a:solidFill>
                  <a:srgbClr val="1E2761"/>
                </a:solidFill>
                <a:latin typeface="メイリオ"/>
                <a:ea typeface="メイリオ"/>
                <a:cs typeface="メイリオ"/>
              </a:rPr>
              <a:t>登録（ムーヴ）・選考（ワントゥワン）・勤務（ステッドワン）のやり取りに、それぞれLINEを使っています。</a:t>
            </a:r>
          </a:p>
          <a:p>
            <a:pPr algn="l">
              <a:lnSpc>
                <a:spcPct val="120000"/>
              </a:lnSpc>
            </a:pPr>
            <a:r>
              <a:rPr sz="1400" b="1">
                <a:solidFill>
                  <a:srgbClr val="FF0000"/>
                </a:solidFill>
                <a:latin typeface="メイリオ"/>
                <a:ea typeface="メイリオ"/>
                <a:cs typeface="メイリオ"/>
              </a:rPr>
              <a:t>画面から確認できたことだけを記載しています（2026年10月 弊社確認）。</a:t>
            </a:r>
          </a:p>
        </p:txBody>
      </p:sp>
      <p:sp>
        <p:nvSpPr>
          <p:cNvPr id="20" name="TextBox 19"/>
          <p:cNvSpPr txBox="1"/>
          <p:nvPr/>
        </p:nvSpPr>
        <p:spPr>
          <a:xfrm>
            <a:off x="432000" y="6089904"/>
            <a:ext cx="9043200" cy="457200"/>
          </a:xfrm>
          <a:prstGeom prst="rect">
            <a:avLst/>
          </a:prstGeom>
          <a:noFill/>
        </p:spPr>
        <p:txBody>
          <a:bodyPr wrap="square" lIns="28800" tIns="7200" rIns="28800" bIns="7200" anchor="ctr">
            <a:spAutoFit/>
          </a:bodyPr>
          <a:lstStyle/>
          <a:p>
            <a:pPr algn="l">
              <a:lnSpc>
                <a:spcPct val="120000"/>
              </a:lnSpc>
            </a:pPr>
            <a:r>
              <a:rPr sz="900" b="0">
                <a:solidFill>
                  <a:srgbClr val="888888"/>
                </a:solidFill>
                <a:latin typeface="メイリオ"/>
                <a:ea typeface="メイリオ"/>
                <a:cs typeface="メイリオ"/>
              </a:rPr>
              <a:t>画面：各社のLINE公式アカウント（2026年10月 弊社確認）。個人名は消しています</a:t>
            </a:r>
          </a:p>
        </p:txBody>
      </p:sp>
      <p:sp>
        <p:nvSpPr>
          <p:cNvPr id="21" name="Rounded Rectangle 20"/>
          <p:cNvSpPr/>
          <p:nvPr/>
        </p:nvSpPr>
        <p:spPr>
          <a:xfrm>
            <a:off x="429768" y="1371600"/>
            <a:ext cx="2880360" cy="310896"/>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ムーヴ｜登録の入口をLINEに</a:t>
            </a:r>
            <a:endParaRPr lang="ja-JP" altLang="en-US" sz="1100" dirty="0"/>
          </a:p>
        </p:txBody>
      </p:sp>
      <p:pic>
        <p:nvPicPr>
          <p:cNvPr id="22" name="競合LINE_1"/>
          <p:cNvPicPr>
            <a:picLocks noChangeAspect="1"/>
          </p:cNvPicPr>
          <p:nvPr/>
        </p:nvPicPr>
        <p:blipFill>
          <a:blip r:embed="rId2"/>
          <a:stretch>
            <a:fillRect/>
          </a:stretch>
        </p:blipFill>
        <p:spPr>
          <a:xfrm>
            <a:off x="489203" y="1783080"/>
            <a:ext cx="1325880" cy="2871942"/>
          </a:xfrm>
          <a:prstGeom prst="rect">
            <a:avLst/>
          </a:prstGeom>
          <a:ln w="9525">
            <a:solidFill>
              <a:srgbClr val="C6CADD"/>
            </a:solidFill>
          </a:ln>
        </p:spPr>
      </p:pic>
      <p:pic>
        <p:nvPicPr>
          <p:cNvPr id="23" name="競合LINE_2"/>
          <p:cNvPicPr>
            <a:picLocks noChangeAspect="1"/>
          </p:cNvPicPr>
          <p:nvPr/>
        </p:nvPicPr>
        <p:blipFill>
          <a:blip r:embed="rId3"/>
          <a:stretch>
            <a:fillRect/>
          </a:stretch>
        </p:blipFill>
        <p:spPr>
          <a:xfrm>
            <a:off x="1924811" y="1783080"/>
            <a:ext cx="1325880" cy="2871942"/>
          </a:xfrm>
          <a:prstGeom prst="rect">
            <a:avLst/>
          </a:prstGeom>
          <a:ln w="9525">
            <a:solidFill>
              <a:srgbClr val="C6CADD"/>
            </a:solidFill>
          </a:ln>
        </p:spPr>
      </p:pic>
      <p:sp>
        <p:nvSpPr>
          <p:cNvPr id="24" name="Rectangle 23"/>
          <p:cNvSpPr/>
          <p:nvPr/>
        </p:nvSpPr>
        <p:spPr>
          <a:xfrm>
            <a:off x="429768" y="4728174"/>
            <a:ext cx="2880360" cy="739937"/>
          </a:xfrm>
          <a:prstGeom prst="rect">
            <a:avLst/>
          </a:prstGeom>
          <a:noFill/>
          <a:ln>
            <a:noFill/>
          </a:ln>
        </p:spPr>
        <p:txBody>
          <a:bodyPr wrap="square" lIns="36576" tIns="18288" rIns="18288" bIns="18288" rtlCol="0" anchor="t">
            <a:noAutofit/>
          </a:bodyPr>
          <a:lstStyle/>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・お仕事開始までの手順を4つで案内</a:t>
            </a:r>
            <a:endParaRPr lang="ja-JP" altLang="en-US" sz="1050" dirty="0"/>
          </a:p>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・登録／ID連携のボタンを表示</a:t>
            </a:r>
            <a:endParaRPr lang="ja-JP" altLang="en-US" sz="1050" dirty="0"/>
          </a:p>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・メニュー：仕事情報・Q&amp;A・問い合わせ</a:t>
            </a:r>
            <a:endParaRPr lang="ja-JP" altLang="en-US" sz="1050" dirty="0"/>
          </a:p>
        </p:txBody>
      </p:sp>
      <p:sp>
        <p:nvSpPr>
          <p:cNvPr id="25" name="Rounded Rectangle 24"/>
          <p:cNvSpPr/>
          <p:nvPr/>
        </p:nvSpPr>
        <p:spPr>
          <a:xfrm>
            <a:off x="3511296" y="1371600"/>
            <a:ext cx="2880360" cy="310896"/>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ワントゥワン｜選考の案内をLINEで</a:t>
            </a:r>
            <a:endParaRPr lang="ja-JP" altLang="en-US" sz="1100" dirty="0"/>
          </a:p>
        </p:txBody>
      </p:sp>
      <p:pic>
        <p:nvPicPr>
          <p:cNvPr id="26" name="競合LINE_3"/>
          <p:cNvPicPr>
            <a:picLocks noChangeAspect="1"/>
          </p:cNvPicPr>
          <p:nvPr/>
        </p:nvPicPr>
        <p:blipFill>
          <a:blip r:embed="rId4"/>
          <a:stretch>
            <a:fillRect/>
          </a:stretch>
        </p:blipFill>
        <p:spPr>
          <a:xfrm>
            <a:off x="3570732" y="1783080"/>
            <a:ext cx="1325880" cy="2871942"/>
          </a:xfrm>
          <a:prstGeom prst="rect">
            <a:avLst/>
          </a:prstGeom>
          <a:ln w="9525">
            <a:solidFill>
              <a:srgbClr val="C6CADD"/>
            </a:solidFill>
          </a:ln>
        </p:spPr>
      </p:pic>
      <p:pic>
        <p:nvPicPr>
          <p:cNvPr id="27" name="競合LINE_4"/>
          <p:cNvPicPr>
            <a:picLocks noChangeAspect="1"/>
          </p:cNvPicPr>
          <p:nvPr/>
        </p:nvPicPr>
        <p:blipFill>
          <a:blip r:embed="rId5"/>
          <a:stretch>
            <a:fillRect/>
          </a:stretch>
        </p:blipFill>
        <p:spPr>
          <a:xfrm>
            <a:off x="5006340" y="1783080"/>
            <a:ext cx="1325880" cy="2871942"/>
          </a:xfrm>
          <a:prstGeom prst="rect">
            <a:avLst/>
          </a:prstGeom>
          <a:ln w="9525">
            <a:solidFill>
              <a:srgbClr val="C6CADD"/>
            </a:solidFill>
          </a:ln>
        </p:spPr>
      </p:pic>
      <p:sp>
        <p:nvSpPr>
          <p:cNvPr id="28" name="Rectangle 27"/>
          <p:cNvSpPr/>
          <p:nvPr/>
        </p:nvSpPr>
        <p:spPr>
          <a:xfrm>
            <a:off x="3511296" y="4728174"/>
            <a:ext cx="2880360" cy="739937"/>
          </a:xfrm>
          <a:prstGeom prst="rect">
            <a:avLst/>
          </a:prstGeom>
          <a:noFill/>
          <a:ln>
            <a:noFill/>
          </a:ln>
        </p:spPr>
        <p:txBody>
          <a:bodyPr wrap="square" lIns="36576" tIns="18288" rIns="18288" bIns="18288" rtlCol="0" anchor="t">
            <a:noAutofit/>
          </a:bodyPr>
          <a:lstStyle/>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・追加の直後に、氏名をLINEで送ってもらう</a:t>
            </a:r>
            <a:endParaRPr lang="ja-JP" altLang="en-US" sz="1050" dirty="0"/>
          </a:p>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・録画面接のURLを案内</a:t>
            </a:r>
            <a:endParaRPr lang="ja-JP" altLang="en-US" sz="1050" dirty="0"/>
          </a:p>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・合否はメール、質問はLINEで受付</a:t>
            </a:r>
            <a:endParaRPr lang="ja-JP" altLang="en-US" sz="1050" dirty="0"/>
          </a:p>
        </p:txBody>
      </p:sp>
      <p:sp>
        <p:nvSpPr>
          <p:cNvPr id="29" name="Rounded Rectangle 28"/>
          <p:cNvSpPr/>
          <p:nvPr/>
        </p:nvSpPr>
        <p:spPr>
          <a:xfrm>
            <a:off x="6592824" y="1371600"/>
            <a:ext cx="2880360" cy="310896"/>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ステッドワン｜勤務のやり取りをLINEで</a:t>
            </a:r>
            <a:endParaRPr lang="ja-JP" altLang="en-US" sz="1100" dirty="0"/>
          </a:p>
        </p:txBody>
      </p:sp>
      <p:pic>
        <p:nvPicPr>
          <p:cNvPr id="30" name="競合LINE_5"/>
          <p:cNvPicPr>
            <a:picLocks noChangeAspect="1"/>
          </p:cNvPicPr>
          <p:nvPr/>
        </p:nvPicPr>
        <p:blipFill>
          <a:blip r:embed="rId6"/>
          <a:stretch>
            <a:fillRect/>
          </a:stretch>
        </p:blipFill>
        <p:spPr>
          <a:xfrm>
            <a:off x="6652260" y="1783080"/>
            <a:ext cx="1325880" cy="2871942"/>
          </a:xfrm>
          <a:prstGeom prst="rect">
            <a:avLst/>
          </a:prstGeom>
          <a:ln w="9525">
            <a:solidFill>
              <a:srgbClr val="C6CADD"/>
            </a:solidFill>
          </a:ln>
        </p:spPr>
      </p:pic>
      <p:pic>
        <p:nvPicPr>
          <p:cNvPr id="31" name="競合LINE_6"/>
          <p:cNvPicPr>
            <a:picLocks noChangeAspect="1"/>
          </p:cNvPicPr>
          <p:nvPr/>
        </p:nvPicPr>
        <p:blipFill>
          <a:blip r:embed="rId7"/>
          <a:stretch>
            <a:fillRect/>
          </a:stretch>
        </p:blipFill>
        <p:spPr>
          <a:xfrm>
            <a:off x="8087868" y="1783080"/>
            <a:ext cx="1325880" cy="2871942"/>
          </a:xfrm>
          <a:prstGeom prst="rect">
            <a:avLst/>
          </a:prstGeom>
          <a:ln w="9525">
            <a:solidFill>
              <a:srgbClr val="C6CADD"/>
            </a:solidFill>
          </a:ln>
        </p:spPr>
      </p:pic>
      <p:sp>
        <p:nvSpPr>
          <p:cNvPr id="32" name="Rectangle 31"/>
          <p:cNvSpPr/>
          <p:nvPr/>
        </p:nvSpPr>
        <p:spPr>
          <a:xfrm>
            <a:off x="6592824" y="4728174"/>
            <a:ext cx="2880360" cy="739937"/>
          </a:xfrm>
          <a:prstGeom prst="rect">
            <a:avLst/>
          </a:prstGeom>
          <a:noFill/>
          <a:ln>
            <a:noFill/>
          </a:ln>
        </p:spPr>
        <p:txBody>
          <a:bodyPr wrap="square" lIns="36576" tIns="18288" rIns="18288" bIns="18288" rtlCol="0" anchor="t">
            <a:noAutofit/>
          </a:bodyPr>
          <a:lstStyle/>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・このLINEで仕事をやり取りすると宣言</a:t>
            </a:r>
            <a:endParaRPr lang="ja-JP" altLang="en-US" sz="1050" dirty="0"/>
          </a:p>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・新規案件・勤務の可否・集合詳細を送る</a:t>
            </a:r>
            <a:endParaRPr lang="ja-JP" altLang="en-US" sz="1050" dirty="0"/>
          </a:p>
          <a:p>
            <a:pPr algn="l">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・スタッフからは起床連絡・勤怠報告</a:t>
            </a:r>
            <a:endParaRPr lang="ja-JP" alt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競合分析②｜LINEの使い方の比較と、横浜シミズで目指す形</a:t>
            </a:r>
          </a:p>
        </p:txBody>
      </p:sp>
      <p:sp>
        <p:nvSpPr>
          <p:cNvPr id="3" name="TextBox 2"/>
          <p:cNvSpPr txBox="1"/>
          <p:nvPr/>
        </p:nvSpPr>
        <p:spPr>
          <a:xfrm>
            <a:off x="309600" y="687600"/>
            <a:ext cx="9331200" cy="585216"/>
          </a:xfrm>
          <a:prstGeom prst="rect">
            <a:avLst/>
          </a:prstGeom>
          <a:noFill/>
        </p:spPr>
        <p:txBody>
          <a:bodyPr wrap="square" lIns="28800" tIns="7200" rIns="28800" bIns="7200" anchor="ctr">
            <a:spAutoFit/>
          </a:bodyPr>
          <a:lstStyle/>
          <a:p>
            <a:pPr algn="l">
              <a:lnSpc>
                <a:spcPct val="120000"/>
              </a:lnSpc>
            </a:pPr>
            <a:r>
              <a:rPr sz="1400" b="1">
                <a:solidFill>
                  <a:srgbClr val="1E2761"/>
                </a:solidFill>
                <a:latin typeface="メイリオ"/>
                <a:ea typeface="メイリオ"/>
                <a:cs typeface="メイリオ"/>
              </a:rPr>
              <a:t>応募の受付だけでなく、勤務の連絡や次の募集まで、スタッフとの継続的な接点にLINEを活用できます。</a:t>
            </a:r>
          </a:p>
          <a:p>
            <a:pPr algn="l">
              <a:lnSpc>
                <a:spcPct val="120000"/>
              </a:lnSpc>
            </a:pPr>
            <a:r>
              <a:rPr sz="1400" b="1">
                <a:solidFill>
                  <a:srgbClr val="FF0000"/>
                </a:solidFill>
                <a:latin typeface="メイリオ"/>
                <a:ea typeface="メイリオ"/>
                <a:cs typeface="メイリオ"/>
              </a:rPr>
              <a:t>3社の画面で、勤務の連絡と次の案件までLINEで扱っていたのは、ステッドワンでした。</a:t>
            </a:r>
          </a:p>
        </p:txBody>
      </p:sp>
      <p:sp>
        <p:nvSpPr>
          <p:cNvPr id="18" name="Rectangle 17"/>
          <p:cNvSpPr/>
          <p:nvPr/>
        </p:nvSpPr>
        <p:spPr>
          <a:xfrm>
            <a:off x="429768" y="5596128"/>
            <a:ext cx="9043416"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2000" y="6089904"/>
            <a:ext cx="9043200" cy="457200"/>
          </a:xfrm>
          <a:prstGeom prst="rect">
            <a:avLst/>
          </a:prstGeom>
          <a:noFill/>
        </p:spPr>
        <p:txBody>
          <a:bodyPr wrap="square" lIns="28800" tIns="7200" rIns="28800" bIns="7200" anchor="ctr">
            <a:spAutoFit/>
          </a:bodyPr>
          <a:lstStyle/>
          <a:p>
            <a:pPr algn="l">
              <a:lnSpc>
                <a:spcPct val="120000"/>
              </a:lnSpc>
            </a:pPr>
            <a:r>
              <a:rPr sz="900" b="0">
                <a:solidFill>
                  <a:srgbClr val="888888"/>
                </a:solidFill>
                <a:latin typeface="メイリオ"/>
                <a:ea typeface="メイリオ"/>
                <a:cs typeface="メイリオ"/>
              </a:rPr>
              <a:t>画面：各社のLINE公式アカウント（2026年10月 弊社確認）／タウンワーク：LINEヤフー for Business 導入事例「バイト応募件数約80％増！リッチメニューを生かしたタウンワークのLINE活用事例」（2019年1月公開）</a:t>
            </a:r>
          </a:p>
        </p:txBody>
      </p:sp>
      <p:sp>
        <p:nvSpPr>
          <p:cNvPr id="21" name="Rectangle 20"/>
          <p:cNvSpPr/>
          <p:nvPr/>
        </p:nvSpPr>
        <p:spPr>
          <a:xfrm>
            <a:off x="429768" y="5596128"/>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応募の受付から、勤務の連絡・次の募集までをLINEでつなぐ</a:t>
            </a:r>
            <a:endParaRPr lang="ja-JP" altLang="en-US" sz="1300" dirty="0"/>
          </a:p>
        </p:txBody>
      </p:sp>
      <p:graphicFrame>
        <p:nvGraphicFramePr>
          <p:cNvPr id="22" name="表 21"/>
          <p:cNvGraphicFramePr>
            <a:graphicFrameLocks noGrp="1"/>
          </p:cNvGraphicFramePr>
          <p:nvPr/>
        </p:nvGraphicFramePr>
        <p:xfrm>
          <a:off x="429768" y="1371600"/>
          <a:ext cx="9043416" cy="3401568"/>
        </p:xfrm>
        <a:graphic>
          <a:graphicData uri="http://schemas.openxmlformats.org/drawingml/2006/table">
            <a:tbl>
              <a:tblPr/>
              <a:tblGrid>
                <a:gridCol w="14630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322576">
                  <a:extLst>
                    <a:ext uri="{9D8B030D-6E8A-4147-A177-3AD203B41FA5}">
                      <a16:colId xmlns:a16="http://schemas.microsoft.com/office/drawing/2014/main" val="20004"/>
                    </a:ext>
                  </a:extLst>
                </a:gridCol>
              </a:tblGrid>
              <a:tr h="329184">
                <a:tc>
                  <a:txBody>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評価項目</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E2761"/>
                    </a:solidFill>
                  </a:tcPr>
                </a:tc>
                <a:tc>
                  <a:txBody>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ムーヴ</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E2761"/>
                    </a:solidFill>
                  </a:tcPr>
                </a:tc>
                <a:tc>
                  <a:txBody>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ワントゥワン</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E2761"/>
                    </a:solidFill>
                  </a:tcPr>
                </a:tc>
                <a:tc>
                  <a:txBody>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ステッドワン</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E2761"/>
                    </a:solidFill>
                  </a:tcPr>
                </a:tc>
                <a:tc>
                  <a:txBody>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横浜シミズで目指す形</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323366"/>
                    </a:solidFill>
                  </a:tcPr>
                </a:tc>
                <a:extLst>
                  <a:ext uri="{0D108BD9-81ED-4DB2-BD59-A6C34878D82A}">
                    <a16:rowId xmlns:a16="http://schemas.microsoft.com/office/drawing/2014/main" val="10000"/>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友だち追加後の案内</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お仕事開始までの手順を4つで案内</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氏名（漢字・ふりがな）の送信を依頼</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このLINEでのやり取りを説明</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1" dirty="0">
                          <a:solidFill>
                            <a:srgbClr val="333333"/>
                          </a:solidFill>
                          <a:latin typeface="メイリオ" panose="020B0604030504040204" pitchFamily="50" charset="-128"/>
                          <a:ea typeface="メイリオ" panose="020B0604030504040204" pitchFamily="50" charset="-128"/>
                        </a:rPr>
                        <a:t>勤務に必要な情報が届くことを最初に伝える</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4E9F2"/>
                    </a:solidFill>
                  </a:tcPr>
                </a:tc>
                <a:extLst>
                  <a:ext uri="{0D108BD9-81ED-4DB2-BD59-A6C34878D82A}">
                    <a16:rowId xmlns:a16="http://schemas.microsoft.com/office/drawing/2014/main" val="10001"/>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応募・登録の導線</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LINEからスタッフ登録・ID連携</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録画面接のURLを案内</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採用手続きフォーム（外部）へ</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1" dirty="0">
                          <a:solidFill>
                            <a:srgbClr val="333333"/>
                          </a:solidFill>
                          <a:latin typeface="メイリオ" panose="020B0604030504040204" pitchFamily="50" charset="-128"/>
                          <a:ea typeface="メイリオ" panose="020B0604030504040204" pitchFamily="50" charset="-128"/>
                        </a:rPr>
                        <a:t>応募完了からそのままLINEへ（サンクスLINE誘導）</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4E9F2"/>
                    </a:solidFill>
                  </a:tcPr>
                </a:tc>
                <a:extLst>
                  <a:ext uri="{0D108BD9-81ED-4DB2-BD59-A6C34878D82A}">
                    <a16:rowId xmlns:a16="http://schemas.microsoft.com/office/drawing/2014/main" val="10002"/>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勤務連絡への活用</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画面では未確認</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画面では未確認（合否はメール）</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集合詳細・起床連絡・勤怠報告</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1" dirty="0">
                          <a:solidFill>
                            <a:srgbClr val="333333"/>
                          </a:solidFill>
                          <a:latin typeface="メイリオ" panose="020B0604030504040204" pitchFamily="50" charset="-128"/>
                          <a:ea typeface="メイリオ" panose="020B0604030504040204" pitchFamily="50" charset="-128"/>
                        </a:rPr>
                        <a:t>集合・持ち物・前日のリマインド</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4E9F2"/>
                    </a:solidFill>
                  </a:tcPr>
                </a:tc>
                <a:extLst>
                  <a:ext uri="{0D108BD9-81ED-4DB2-BD59-A6C34878D82A}">
                    <a16:rowId xmlns:a16="http://schemas.microsoft.com/office/drawing/2014/main" val="10003"/>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募集情報の配信</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登録後に「条件に合う仕事も案内」と記載</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画面では未確認</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新規案件をLINEで送る</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1" dirty="0">
                          <a:solidFill>
                            <a:srgbClr val="333333"/>
                          </a:solidFill>
                          <a:latin typeface="メイリオ" panose="020B0604030504040204" pitchFamily="50" charset="-128"/>
                          <a:ea typeface="メイリオ" panose="020B0604030504040204" pitchFamily="50" charset="-128"/>
                        </a:rPr>
                        <a:t>エリア・会場・希望で絞って届ける</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4E9F2"/>
                    </a:solidFill>
                  </a:tcPr>
                </a:tc>
                <a:extLst>
                  <a:ext uri="{0D108BD9-81ED-4DB2-BD59-A6C34878D82A}">
                    <a16:rowId xmlns:a16="http://schemas.microsoft.com/office/drawing/2014/main" val="10004"/>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再応募への導線</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「お仕事一覧から申込み」と記載</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画面では未確認</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案件へのエントリーをLINEで送る</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1" dirty="0">
                          <a:solidFill>
                            <a:srgbClr val="333333"/>
                          </a:solidFill>
                          <a:latin typeface="メイリオ" panose="020B0604030504040204" pitchFamily="50" charset="-128"/>
                          <a:ea typeface="メイリオ" panose="020B0604030504040204" pitchFamily="50" charset="-128"/>
                        </a:rPr>
                        <a:t>次回イベントの募集から再応募へ</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4E9F2"/>
                    </a:solidFill>
                  </a:tcPr>
                </a:tc>
                <a:extLst>
                  <a:ext uri="{0D108BD9-81ED-4DB2-BD59-A6C34878D82A}">
                    <a16:rowId xmlns:a16="http://schemas.microsoft.com/office/drawing/2014/main" val="10005"/>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リッチメニュー</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仕事情報・Q&amp;A・問い合わせ＋登録</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595959"/>
                          </a:solidFill>
                          <a:latin typeface="メイリオ" panose="020B0604030504040204" pitchFamily="50" charset="-128"/>
                          <a:ea typeface="メイリオ" panose="020B0604030504040204" pitchFamily="50" charset="-128"/>
                        </a:rPr>
                        <a:t>画面では未確認</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0" dirty="0">
                          <a:solidFill>
                            <a:srgbClr val="333333"/>
                          </a:solidFill>
                          <a:latin typeface="メイリオ" panose="020B0604030504040204" pitchFamily="50" charset="-128"/>
                          <a:ea typeface="メイリオ" panose="020B0604030504040204" pitchFamily="50" charset="-128"/>
                        </a:rPr>
                        <a:t>「案件一覧」あり（ほかは未確認）</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000" b="1" dirty="0">
                          <a:solidFill>
                            <a:srgbClr val="333333"/>
                          </a:solidFill>
                          <a:latin typeface="メイリオ" panose="020B0604030504040204" pitchFamily="50" charset="-128"/>
                          <a:ea typeface="メイリオ" panose="020B0604030504040204" pitchFamily="50" charset="-128"/>
                        </a:rPr>
                        <a:t>仕事を探す・勤務の案内・よくある質問など</a:t>
                      </a:r>
                      <a:endParaRPr lang="ja-JP" altLang="en-US" sz="1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4E9F2"/>
                    </a:solidFill>
                  </a:tcPr>
                </a:tc>
                <a:extLst>
                  <a:ext uri="{0D108BD9-81ED-4DB2-BD59-A6C34878D82A}">
                    <a16:rowId xmlns:a16="http://schemas.microsoft.com/office/drawing/2014/main" val="10006"/>
                  </a:ext>
                </a:extLst>
              </a:tr>
            </a:tbl>
          </a:graphicData>
        </a:graphic>
      </p:graphicFrame>
      <p:sp>
        <p:nvSpPr>
          <p:cNvPr id="23" name="Rounded Rectangle 22"/>
          <p:cNvSpPr/>
          <p:nvPr/>
        </p:nvSpPr>
        <p:spPr>
          <a:xfrm>
            <a:off x="429768" y="4864608"/>
            <a:ext cx="9043416" cy="603504"/>
          </a:xfrm>
          <a:prstGeom prst="roundRect">
            <a:avLst>
              <a:gd name="adj" fmla="val 5000"/>
            </a:avLst>
          </a:prstGeom>
          <a:solidFill>
            <a:srgbClr val="F5F6FA"/>
          </a:solidFill>
          <a:ln w="9525">
            <a:solidFill>
              <a:srgbClr val="D9D9D9"/>
            </a:solidFill>
          </a:ln>
        </p:spPr>
        <p:txBody>
          <a:bodyPr wrap="square" lIns="109728" tIns="36576" rIns="109728" bIns="36576" rtlCol="0" anchor="ctr">
            <a:noAutofit/>
          </a:bodyPr>
          <a:lstStyle/>
          <a:p>
            <a:pPr algn="l">
              <a:buNone/>
            </a:pPr>
            <a:r>
              <a:rPr lang="ja-JP" altLang="en-US" sz="1000" b="0" dirty="0">
                <a:solidFill>
                  <a:srgbClr val="333333"/>
                </a:solidFill>
                <a:latin typeface="メイリオ" panose="020B0604030504040204" pitchFamily="50" charset="-128"/>
                <a:ea typeface="メイリオ" panose="020B0604030504040204" pitchFamily="50" charset="-128"/>
              </a:rPr>
              <a:t>参考｜タウンワーク（求人メディア）は、LINEを求人検索の入口に活用して、リッチメニュー経由の応募数が79%増えました（2019年公開の導入事例）。直接の競合ではなく、LINEを応募の入口にした参考事例です。</a:t>
            </a:r>
            <a:endParaRPr lang="ja-JP" alt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提案の全体像｜応募から再応募までを、LINEで循環させる</a:t>
            </a:r>
          </a:p>
        </p:txBody>
      </p:sp>
      <p:sp>
        <p:nvSpPr>
          <p:cNvPr id="3" name="TextBox 2"/>
          <p:cNvSpPr txBox="1"/>
          <p:nvPr/>
        </p:nvSpPr>
        <p:spPr>
          <a:xfrm>
            <a:off x="309600" y="687600"/>
            <a:ext cx="9331200" cy="585216"/>
          </a:xfrm>
          <a:prstGeom prst="rect">
            <a:avLst/>
          </a:prstGeom>
          <a:noFill/>
        </p:spPr>
        <p:txBody>
          <a:bodyPr wrap="square" lIns="28800" tIns="7200" rIns="28800" bIns="7200" anchor="ctr">
            <a:spAutoFit/>
          </a:bodyPr>
          <a:lstStyle/>
          <a:p>
            <a:pPr algn="l">
              <a:lnSpc>
                <a:spcPct val="120000"/>
              </a:lnSpc>
            </a:pPr>
            <a:r>
              <a:rPr sz="1400" b="1">
                <a:solidFill>
                  <a:srgbClr val="1E2761"/>
                </a:solidFill>
                <a:latin typeface="メイリオ"/>
                <a:ea typeface="メイリオ"/>
                <a:cs typeface="メイリオ"/>
              </a:rPr>
              <a:t>応募の時点で友だちになっていただき、勤務の連絡と次の募集をLINEでお届けします。</a:t>
            </a:r>
          </a:p>
          <a:p>
            <a:pPr algn="l">
              <a:lnSpc>
                <a:spcPct val="120000"/>
              </a:lnSpc>
            </a:pPr>
            <a:r>
              <a:rPr sz="1400" b="1">
                <a:solidFill>
                  <a:srgbClr val="FF0000"/>
                </a:solidFill>
                <a:latin typeface="メイリオ"/>
                <a:ea typeface="メイリオ"/>
                <a:cs typeface="メイリオ"/>
              </a:rPr>
              <a:t>イベントが終わっても接点が切れず、次のイベントの人員確保につながる仕組みです。</a:t>
            </a:r>
          </a:p>
        </p:txBody>
      </p:sp>
      <p:sp>
        <p:nvSpPr>
          <p:cNvPr id="18" name="Rectangle 17"/>
          <p:cNvSpPr/>
          <p:nvPr/>
        </p:nvSpPr>
        <p:spPr>
          <a:xfrm>
            <a:off x="429768" y="5596128"/>
            <a:ext cx="9043416"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9768" y="5596128"/>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単発の勤務を、イベントごとに途切れない関係に変える</a:t>
            </a:r>
            <a:endParaRPr lang="ja-JP" altLang="en-US" sz="1300" dirty="0"/>
          </a:p>
        </p:txBody>
      </p:sp>
      <p:sp>
        <p:nvSpPr>
          <p:cNvPr id="22" name="Rounded Rectangle 21"/>
          <p:cNvSpPr/>
          <p:nvPr/>
        </p:nvSpPr>
        <p:spPr>
          <a:xfrm>
            <a:off x="429768" y="1508760"/>
            <a:ext cx="1874519" cy="960120"/>
          </a:xfrm>
          <a:prstGeom prst="roundRect">
            <a:avLst>
              <a:gd name="adj" fmla="val 5000"/>
            </a:avLst>
          </a:prstGeom>
          <a:solidFill>
            <a:srgbClr val="F5F6FA"/>
          </a:solidFill>
          <a:ln w="15875">
            <a:solidFill>
              <a:srgbClr val="1E2761"/>
            </a:solidFill>
          </a:ln>
        </p:spPr>
        <p:txBody>
          <a:bodyPr wrap="square" lIns="73152" tIns="36576" rIns="73152" bIns="36576" rtlCol="0" anchor="ctr">
            <a:noAutofit/>
          </a:bodyPr>
          <a:lstStyle/>
          <a:p>
            <a:pPr algn="ctr">
              <a:spcAft>
                <a:spcPts val="100"/>
              </a:spcAft>
              <a:buNone/>
            </a:pPr>
            <a:r>
              <a:rPr lang="ja-JP" altLang="en-US" sz="1400" b="1" dirty="0">
                <a:solidFill>
                  <a:srgbClr val="323366"/>
                </a:solidFill>
                <a:latin typeface="メイリオ" panose="020B0604030504040204" pitchFamily="50" charset="-128"/>
                <a:ea typeface="メイリオ" panose="020B0604030504040204" pitchFamily="50" charset="-128"/>
              </a:rPr>
              <a:t>新規応募</a:t>
            </a:r>
            <a:endParaRPr lang="ja-JP" altLang="en-US" sz="1100" dirty="0"/>
          </a:p>
          <a:p>
            <a:pPr algn="ctr">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採用サイトから応募</a:t>
            </a:r>
            <a:endParaRPr lang="ja-JP" altLang="en-US" sz="1100" dirty="0"/>
          </a:p>
        </p:txBody>
      </p:sp>
      <p:cxnSp>
        <p:nvCxnSpPr>
          <p:cNvPr id="23" name="Connector 22"/>
          <p:cNvCxnSpPr/>
          <p:nvPr/>
        </p:nvCxnSpPr>
        <p:spPr>
          <a:xfrm>
            <a:off x="1367028" y="2487168"/>
            <a:ext cx="0" cy="557784"/>
          </a:xfrm>
          <a:prstGeom prst="line">
            <a:avLst/>
          </a:prstGeom>
          <a:ln w="25400">
            <a:solidFill>
              <a:srgbClr val="1E2761"/>
            </a:solidFill>
            <a:tailEnd type="triangle" w="med" len="med"/>
          </a:ln>
        </p:spPr>
      </p:cxnSp>
      <p:sp>
        <p:nvSpPr>
          <p:cNvPr id="24" name="Rounded Rectangle 23"/>
          <p:cNvSpPr/>
          <p:nvPr/>
        </p:nvSpPr>
        <p:spPr>
          <a:xfrm>
            <a:off x="429768" y="3063240"/>
            <a:ext cx="1874519" cy="1143000"/>
          </a:xfrm>
          <a:prstGeom prst="roundRect">
            <a:avLst>
              <a:gd name="adj" fmla="val 5000"/>
            </a:avLst>
          </a:prstGeom>
          <a:solidFill>
            <a:srgbClr val="E9F8EF"/>
          </a:solidFill>
          <a:ln w="15875">
            <a:solidFill>
              <a:srgbClr val="06C755"/>
            </a:solidFill>
          </a:ln>
        </p:spPr>
        <p:txBody>
          <a:bodyPr wrap="square" lIns="73152" tIns="36576" rIns="73152" bIns="36576" rtlCol="0" anchor="ctr">
            <a:noAutofit/>
          </a:bodyPr>
          <a:lstStyle/>
          <a:p>
            <a:pPr algn="ctr">
              <a:spcAft>
                <a:spcPts val="100"/>
              </a:spcAft>
              <a:buNone/>
            </a:pPr>
            <a:r>
              <a:rPr lang="ja-JP" altLang="en-US" sz="1000" b="1" dirty="0">
                <a:solidFill>
                  <a:srgbClr val="06C755"/>
                </a:solidFill>
                <a:latin typeface="メイリオ" panose="020B0604030504040204" pitchFamily="50" charset="-128"/>
                <a:ea typeface="メイリオ" panose="020B0604030504040204" pitchFamily="50" charset="-128"/>
              </a:rPr>
              <a:t>施策① 友だち獲得</a:t>
            </a:r>
            <a:endParaRPr lang="ja-JP" altLang="en-US" sz="1100" dirty="0"/>
          </a:p>
          <a:p>
            <a:pPr algn="ctr">
              <a:spcAft>
                <a:spcPts val="100"/>
              </a:spcAft>
              <a:buNone/>
            </a:pPr>
            <a:r>
              <a:rPr lang="ja-JP" altLang="en-US" sz="1400" b="1" dirty="0">
                <a:solidFill>
                  <a:srgbClr val="323366"/>
                </a:solidFill>
                <a:latin typeface="メイリオ" panose="020B0604030504040204" pitchFamily="50" charset="-128"/>
                <a:ea typeface="メイリオ" panose="020B0604030504040204" pitchFamily="50" charset="-128"/>
              </a:rPr>
              <a:t>LINE友だち追加</a:t>
            </a:r>
            <a:endParaRPr lang="ja-JP" altLang="en-US" sz="1100" dirty="0"/>
          </a:p>
          <a:p>
            <a:pPr algn="ctr">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応募完了からLINEへ</a:t>
            </a:r>
            <a:endParaRPr lang="ja-JP" altLang="en-US" sz="1100" dirty="0"/>
          </a:p>
        </p:txBody>
      </p:sp>
      <p:cxnSp>
        <p:nvCxnSpPr>
          <p:cNvPr id="25" name="Connector 24"/>
          <p:cNvCxnSpPr/>
          <p:nvPr/>
        </p:nvCxnSpPr>
        <p:spPr>
          <a:xfrm flipV="1">
            <a:off x="2322576" y="2148840"/>
            <a:ext cx="630936" cy="1481328"/>
          </a:xfrm>
          <a:prstGeom prst="line">
            <a:avLst/>
          </a:prstGeom>
          <a:ln w="25400">
            <a:solidFill>
              <a:srgbClr val="1E2761"/>
            </a:solidFill>
            <a:tailEnd type="triangle" w="med" len="med"/>
          </a:ln>
        </p:spPr>
      </p:cxnSp>
      <p:sp>
        <p:nvSpPr>
          <p:cNvPr id="26" name="Rounded Rectangle 25"/>
          <p:cNvSpPr/>
          <p:nvPr/>
        </p:nvSpPr>
        <p:spPr>
          <a:xfrm>
            <a:off x="2971800" y="1463040"/>
            <a:ext cx="2432304" cy="1051560"/>
          </a:xfrm>
          <a:prstGeom prst="roundRect">
            <a:avLst>
              <a:gd name="adj" fmla="val 5000"/>
            </a:avLst>
          </a:prstGeom>
          <a:solidFill>
            <a:srgbClr val="FFFFFF"/>
          </a:solidFill>
          <a:ln w="15875">
            <a:solidFill>
              <a:srgbClr val="1E2761"/>
            </a:solidFill>
          </a:ln>
        </p:spPr>
        <p:txBody>
          <a:bodyPr wrap="square" lIns="73152" tIns="36576" rIns="73152" bIns="36576" rtlCol="0" anchor="ctr">
            <a:noAutofit/>
          </a:bodyPr>
          <a:lstStyle/>
          <a:p>
            <a:pPr algn="ctr">
              <a:spcAft>
                <a:spcPts val="100"/>
              </a:spcAft>
              <a:buNone/>
            </a:pPr>
            <a:r>
              <a:rPr lang="ja-JP" altLang="en-US" sz="1000" b="1" dirty="0">
                <a:solidFill>
                  <a:srgbClr val="323366"/>
                </a:solidFill>
                <a:latin typeface="メイリオ" panose="020B0604030504040204" pitchFamily="50" charset="-128"/>
                <a:ea typeface="メイリオ" panose="020B0604030504040204" pitchFamily="50" charset="-128"/>
              </a:rPr>
              <a:t>施策② 勤務連絡・管理</a:t>
            </a:r>
            <a:endParaRPr lang="ja-JP" altLang="en-US" sz="1100" dirty="0"/>
          </a:p>
          <a:p>
            <a:pPr algn="ctr">
              <a:spcAft>
                <a:spcPts val="100"/>
              </a:spcAft>
              <a:buNone/>
            </a:pPr>
            <a:r>
              <a:rPr lang="ja-JP" altLang="en-US" sz="1400" b="1" dirty="0">
                <a:solidFill>
                  <a:srgbClr val="323366"/>
                </a:solidFill>
                <a:latin typeface="メイリオ" panose="020B0604030504040204" pitchFamily="50" charset="-128"/>
                <a:ea typeface="メイリオ" panose="020B0604030504040204" pitchFamily="50" charset="-128"/>
              </a:rPr>
              <a:t>勤務連絡</a:t>
            </a:r>
            <a:endParaRPr lang="ja-JP" altLang="en-US" sz="1100" dirty="0"/>
          </a:p>
          <a:p>
            <a:pPr algn="ctr">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集合・持ち物・前日のリマインド</a:t>
            </a:r>
            <a:endParaRPr lang="ja-JP" altLang="en-US" sz="1100" dirty="0"/>
          </a:p>
        </p:txBody>
      </p:sp>
      <p:sp>
        <p:nvSpPr>
          <p:cNvPr id="27" name="Rounded Rectangle 26"/>
          <p:cNvSpPr/>
          <p:nvPr/>
        </p:nvSpPr>
        <p:spPr>
          <a:xfrm>
            <a:off x="7040880" y="1463040"/>
            <a:ext cx="2432304" cy="1051560"/>
          </a:xfrm>
          <a:prstGeom prst="roundRect">
            <a:avLst>
              <a:gd name="adj" fmla="val 5000"/>
            </a:avLst>
          </a:prstGeom>
          <a:solidFill>
            <a:srgbClr val="FFFFFF"/>
          </a:solidFill>
          <a:ln w="15875">
            <a:solidFill>
              <a:srgbClr val="1E2761"/>
            </a:solidFill>
          </a:ln>
        </p:spPr>
        <p:txBody>
          <a:bodyPr wrap="square" lIns="73152" tIns="36576" rIns="73152" bIns="36576" rtlCol="0" anchor="ctr">
            <a:noAutofit/>
          </a:bodyPr>
          <a:lstStyle/>
          <a:p>
            <a:pPr algn="ctr">
              <a:spcAft>
                <a:spcPts val="100"/>
              </a:spcAft>
              <a:buNone/>
            </a:pPr>
            <a:r>
              <a:rPr lang="ja-JP" altLang="en-US" sz="1400" b="1" dirty="0">
                <a:solidFill>
                  <a:srgbClr val="323366"/>
                </a:solidFill>
                <a:latin typeface="メイリオ" panose="020B0604030504040204" pitchFamily="50" charset="-128"/>
                <a:ea typeface="メイリオ" panose="020B0604030504040204" pitchFamily="50" charset="-128"/>
              </a:rPr>
              <a:t>イベント勤務</a:t>
            </a:r>
            <a:endParaRPr lang="ja-JP" altLang="en-US" sz="1100" dirty="0"/>
          </a:p>
          <a:p>
            <a:pPr algn="ctr">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現場で勤務</a:t>
            </a:r>
            <a:endParaRPr lang="ja-JP" altLang="en-US" sz="1100" dirty="0"/>
          </a:p>
        </p:txBody>
      </p:sp>
      <p:sp>
        <p:nvSpPr>
          <p:cNvPr id="28" name="Rounded Rectangle 27"/>
          <p:cNvSpPr/>
          <p:nvPr/>
        </p:nvSpPr>
        <p:spPr>
          <a:xfrm>
            <a:off x="7040880" y="3657600"/>
            <a:ext cx="2432304" cy="1051560"/>
          </a:xfrm>
          <a:prstGeom prst="roundRect">
            <a:avLst>
              <a:gd name="adj" fmla="val 5000"/>
            </a:avLst>
          </a:prstGeom>
          <a:solidFill>
            <a:srgbClr val="FFFFFF"/>
          </a:solidFill>
          <a:ln w="15875">
            <a:solidFill>
              <a:srgbClr val="1E2761"/>
            </a:solidFill>
          </a:ln>
        </p:spPr>
        <p:txBody>
          <a:bodyPr wrap="square" lIns="73152" tIns="36576" rIns="73152" bIns="36576" rtlCol="0" anchor="ctr">
            <a:noAutofit/>
          </a:bodyPr>
          <a:lstStyle/>
          <a:p>
            <a:pPr algn="ctr">
              <a:spcAft>
                <a:spcPts val="100"/>
              </a:spcAft>
              <a:buNone/>
            </a:pPr>
            <a:r>
              <a:rPr lang="ja-JP" altLang="en-US" sz="1000" b="1" dirty="0">
                <a:solidFill>
                  <a:srgbClr val="323366"/>
                </a:solidFill>
                <a:latin typeface="メイリオ" panose="020B0604030504040204" pitchFamily="50" charset="-128"/>
                <a:ea typeface="メイリオ" panose="020B0604030504040204" pitchFamily="50" charset="-128"/>
              </a:rPr>
              <a:t>施策③ 再応募・再稼働</a:t>
            </a:r>
            <a:endParaRPr lang="ja-JP" altLang="en-US" sz="1100" dirty="0"/>
          </a:p>
          <a:p>
            <a:pPr algn="ctr">
              <a:spcAft>
                <a:spcPts val="100"/>
              </a:spcAft>
              <a:buNone/>
            </a:pPr>
            <a:r>
              <a:rPr lang="ja-JP" altLang="en-US" sz="1400" b="1" dirty="0">
                <a:solidFill>
                  <a:srgbClr val="323366"/>
                </a:solidFill>
                <a:latin typeface="メイリオ" panose="020B0604030504040204" pitchFamily="50" charset="-128"/>
                <a:ea typeface="メイリオ" panose="020B0604030504040204" pitchFamily="50" charset="-128"/>
              </a:rPr>
              <a:t>次回募集</a:t>
            </a:r>
            <a:endParaRPr lang="ja-JP" altLang="en-US" sz="1100" dirty="0"/>
          </a:p>
          <a:p>
            <a:pPr algn="ctr">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エリア・会場・希望で絞って案内</a:t>
            </a:r>
            <a:endParaRPr lang="ja-JP" altLang="en-US" sz="1100" dirty="0"/>
          </a:p>
        </p:txBody>
      </p:sp>
      <p:sp>
        <p:nvSpPr>
          <p:cNvPr id="29" name="Rounded Rectangle 28"/>
          <p:cNvSpPr/>
          <p:nvPr/>
        </p:nvSpPr>
        <p:spPr>
          <a:xfrm>
            <a:off x="2971800" y="3657600"/>
            <a:ext cx="2432304" cy="1051560"/>
          </a:xfrm>
          <a:prstGeom prst="roundRect">
            <a:avLst>
              <a:gd name="adj" fmla="val 5000"/>
            </a:avLst>
          </a:prstGeom>
          <a:solidFill>
            <a:srgbClr val="FFFFFF"/>
          </a:solidFill>
          <a:ln w="15875">
            <a:solidFill>
              <a:srgbClr val="1E2761"/>
            </a:solidFill>
          </a:ln>
        </p:spPr>
        <p:txBody>
          <a:bodyPr wrap="square" lIns="73152" tIns="36576" rIns="73152" bIns="36576" rtlCol="0" anchor="ctr">
            <a:noAutofit/>
          </a:bodyPr>
          <a:lstStyle/>
          <a:p>
            <a:pPr algn="ctr">
              <a:spcAft>
                <a:spcPts val="100"/>
              </a:spcAft>
              <a:buNone/>
            </a:pPr>
            <a:r>
              <a:rPr lang="ja-JP" altLang="en-US" sz="1000" b="1" dirty="0">
                <a:solidFill>
                  <a:srgbClr val="323366"/>
                </a:solidFill>
                <a:latin typeface="メイリオ" panose="020B0604030504040204" pitchFamily="50" charset="-128"/>
                <a:ea typeface="メイリオ" panose="020B0604030504040204" pitchFamily="50" charset="-128"/>
              </a:rPr>
              <a:t>施策③ 再応募・再稼働</a:t>
            </a:r>
            <a:endParaRPr lang="ja-JP" altLang="en-US" sz="1100" dirty="0"/>
          </a:p>
          <a:p>
            <a:pPr algn="ctr">
              <a:spcAft>
                <a:spcPts val="100"/>
              </a:spcAft>
              <a:buNone/>
            </a:pPr>
            <a:r>
              <a:rPr lang="ja-JP" altLang="en-US" sz="1400" b="1" dirty="0">
                <a:solidFill>
                  <a:srgbClr val="323366"/>
                </a:solidFill>
                <a:latin typeface="メイリオ" panose="020B0604030504040204" pitchFamily="50" charset="-128"/>
                <a:ea typeface="メイリオ" panose="020B0604030504040204" pitchFamily="50" charset="-128"/>
              </a:rPr>
              <a:t>再応募・継続</a:t>
            </a:r>
            <a:endParaRPr lang="ja-JP" altLang="en-US" sz="1100" dirty="0"/>
          </a:p>
          <a:p>
            <a:pPr algn="ctr">
              <a:spcAft>
                <a:spcPts val="100"/>
              </a:spcAft>
              <a:buNone/>
            </a:pPr>
            <a:r>
              <a:rPr lang="ja-JP" altLang="en-US" sz="1050" b="0" dirty="0">
                <a:solidFill>
                  <a:srgbClr val="333333"/>
                </a:solidFill>
                <a:latin typeface="メイリオ" panose="020B0604030504040204" pitchFamily="50" charset="-128"/>
                <a:ea typeface="メイリオ" panose="020B0604030504040204" pitchFamily="50" charset="-128"/>
              </a:rPr>
              <a:t>次のイベントにも勤務</a:t>
            </a:r>
            <a:endParaRPr lang="ja-JP" altLang="en-US" sz="1100" dirty="0"/>
          </a:p>
        </p:txBody>
      </p:sp>
      <p:cxnSp>
        <p:nvCxnSpPr>
          <p:cNvPr id="30" name="Connector 29"/>
          <p:cNvCxnSpPr/>
          <p:nvPr/>
        </p:nvCxnSpPr>
        <p:spPr>
          <a:xfrm>
            <a:off x="5449824" y="1988819"/>
            <a:ext cx="1545336" cy="0"/>
          </a:xfrm>
          <a:prstGeom prst="line">
            <a:avLst/>
          </a:prstGeom>
          <a:ln w="25400">
            <a:solidFill>
              <a:srgbClr val="1E2761"/>
            </a:solidFill>
            <a:tailEnd type="triangle" w="med" len="med"/>
          </a:ln>
        </p:spPr>
      </p:cxnSp>
      <p:cxnSp>
        <p:nvCxnSpPr>
          <p:cNvPr id="31" name="Connector 30"/>
          <p:cNvCxnSpPr/>
          <p:nvPr/>
        </p:nvCxnSpPr>
        <p:spPr>
          <a:xfrm>
            <a:off x="8257032" y="2560320"/>
            <a:ext cx="0" cy="1051560"/>
          </a:xfrm>
          <a:prstGeom prst="line">
            <a:avLst/>
          </a:prstGeom>
          <a:ln w="25400">
            <a:solidFill>
              <a:srgbClr val="1E2761"/>
            </a:solidFill>
            <a:tailEnd type="triangle" w="med" len="med"/>
          </a:ln>
        </p:spPr>
      </p:cxnSp>
      <p:cxnSp>
        <p:nvCxnSpPr>
          <p:cNvPr id="32" name="Connector 31"/>
          <p:cNvCxnSpPr/>
          <p:nvPr/>
        </p:nvCxnSpPr>
        <p:spPr>
          <a:xfrm flipH="1">
            <a:off x="5449824" y="4183380"/>
            <a:ext cx="1545336" cy="0"/>
          </a:xfrm>
          <a:prstGeom prst="line">
            <a:avLst/>
          </a:prstGeom>
          <a:ln w="25400">
            <a:solidFill>
              <a:srgbClr val="1E2761"/>
            </a:solidFill>
            <a:tailEnd type="triangle" w="med" len="med"/>
          </a:ln>
        </p:spPr>
      </p:cxnSp>
      <p:cxnSp>
        <p:nvCxnSpPr>
          <p:cNvPr id="33" name="Connector 32"/>
          <p:cNvCxnSpPr/>
          <p:nvPr/>
        </p:nvCxnSpPr>
        <p:spPr>
          <a:xfrm flipV="1">
            <a:off x="4187952" y="2560320"/>
            <a:ext cx="0" cy="1051560"/>
          </a:xfrm>
          <a:prstGeom prst="line">
            <a:avLst/>
          </a:prstGeom>
          <a:ln w="25400">
            <a:solidFill>
              <a:srgbClr val="1E2761"/>
            </a:solidFill>
            <a:tailEnd type="triangle" w="med" len="med"/>
          </a:ln>
        </p:spPr>
      </p:cxnSp>
      <p:sp>
        <p:nvSpPr>
          <p:cNvPr id="34" name="Rectangle 33"/>
          <p:cNvSpPr/>
          <p:nvPr/>
        </p:nvSpPr>
        <p:spPr>
          <a:xfrm>
            <a:off x="4370832" y="2788920"/>
            <a:ext cx="3703320" cy="594360"/>
          </a:xfrm>
          <a:prstGeom prst="rect">
            <a:avLst/>
          </a:prstGeom>
          <a:noFill/>
          <a:ln>
            <a:noFill/>
          </a:ln>
        </p:spPr>
        <p:txBody>
          <a:bodyPr wrap="square" lIns="0" tIns="0" rIns="0" bIns="0" rtlCol="0" anchor="ctr">
            <a:noAutofit/>
          </a:bodyPr>
          <a:lstStyle/>
          <a:p>
            <a:pPr algn="ctr">
              <a:buNone/>
            </a:pPr>
            <a:r>
              <a:rPr lang="ja-JP" altLang="en-US" sz="1200" b="1" dirty="0">
                <a:solidFill>
                  <a:srgbClr val="595959"/>
                </a:solidFill>
                <a:latin typeface="メイリオ" panose="020B0604030504040204" pitchFamily="50" charset="-128"/>
                <a:ea typeface="メイリオ" panose="020B0604030504040204" pitchFamily="50" charset="-128"/>
              </a:rPr>
              <a:t>イベントのたびに</a:t>
            </a:r>
            <a:endParaRPr lang="ja-JP" altLang="en-US" sz="1200" dirty="0"/>
          </a:p>
          <a:p>
            <a:pPr algn="ctr">
              <a:buNone/>
            </a:pPr>
            <a:r>
              <a:rPr lang="ja-JP" altLang="en-US" sz="1200" b="1" dirty="0">
                <a:solidFill>
                  <a:srgbClr val="595959"/>
                </a:solidFill>
                <a:latin typeface="メイリオ" panose="020B0604030504040204" pitchFamily="50" charset="-128"/>
                <a:ea typeface="メイリオ" panose="020B0604030504040204" pitchFamily="50" charset="-128"/>
              </a:rPr>
              <a:t>くり返す</a:t>
            </a:r>
            <a:endParaRPr lang="ja-JP" altLang="en-US" sz="1200" dirty="0"/>
          </a:p>
        </p:txBody>
      </p:sp>
      <p:sp>
        <p:nvSpPr>
          <p:cNvPr id="35" name="Rectangle 34"/>
          <p:cNvSpPr/>
          <p:nvPr/>
        </p:nvSpPr>
        <p:spPr>
          <a:xfrm>
            <a:off x="2971800" y="4846320"/>
            <a:ext cx="6501383" cy="566928"/>
          </a:xfrm>
          <a:prstGeom prst="rect">
            <a:avLst/>
          </a:prstGeom>
          <a:noFill/>
          <a:ln>
            <a:noFill/>
          </a:ln>
        </p:spPr>
        <p:txBody>
          <a:bodyPr wrap="square" lIns="45720" tIns="0" rIns="45720" bIns="0" rtlCol="0" anchor="ctr">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応募の時点で友だちになるので、イベントが終わっても次の募集が届きます。</a:t>
            </a:r>
            <a:endParaRPr lang="ja-JP" alt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施策①｜友だち獲得：応募完了から、そのままLINEへ</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180597" y="1172815"/>
            <a:ext cx="3833883" cy="230832"/>
          </a:xfrm>
          <a:prstGeom prst="rect">
            <a:avLst/>
          </a:prstGeom>
          <a:noFill/>
        </p:spPr>
        <p:txBody>
          <a:bodyPr wrap="square" lIns="74295" rIns="74295">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7200" y="136800"/>
            <a:ext cx="6516000" cy="338400"/>
          </a:xfrm>
          <a:prstGeom prst="rect">
            <a:avLst/>
          </a:prstGeom>
          <a:noFill/>
        </p:spPr>
        <p:txBody>
          <a:bodyPr wrap="square" lIns="0" tIns="21600" rIns="0" bIns="21600" anchor="ctr">
            <a:spAutoFit/>
          </a:bodyPr>
          <a:lstStyle/>
          <a:p>
            <a:pPr algn="l"/>
            <a:r>
              <a:rPr sz="1600" b="1" dirty="0" err="1">
                <a:solidFill>
                  <a:srgbClr val="002060"/>
                </a:solidFill>
                <a:latin typeface="メイリオ"/>
                <a:ea typeface="メイリオ"/>
                <a:cs typeface="メイリオ"/>
              </a:rPr>
              <a:t>施策①｜サンクスLINE誘導の導入実績（人材業界）</a:t>
            </a:r>
            <a:endParaRPr sz="1600" b="1" dirty="0">
              <a:solidFill>
                <a:srgbClr val="002060"/>
              </a:solidFill>
              <a:latin typeface="メイリオ"/>
              <a:ea typeface="メイリオ"/>
              <a:cs typeface="メイリオ"/>
            </a:endParaRPr>
          </a:p>
        </p:txBody>
      </p:sp>
      <p:sp>
        <p:nvSpPr>
          <p:cNvPr id="4" name="TextBox 2"/>
          <p:cNvSpPr txBox="1"/>
          <p:nvPr/>
        </p:nvSpPr>
        <p:spPr>
          <a:xfrm>
            <a:off x="644865" y="817378"/>
            <a:ext cx="9111472" cy="345243"/>
          </a:xfrm>
          <a:prstGeom prst="rect">
            <a:avLst/>
          </a:prstGeom>
          <a:noFill/>
        </p:spPr>
        <p:txBody>
          <a:bodyPr wrap="square" lIns="0" tIns="21600" rIns="0" bIns="21600" anchor="ctr">
            <a:spAutoFit/>
          </a:bodyPr>
          <a:lstStyle/>
          <a:p>
            <a:pPr algn="l">
              <a:lnSpc>
                <a:spcPct val="130000"/>
              </a:lnSpc>
            </a:pPr>
            <a:r>
              <a:rPr sz="1600" dirty="0" err="1">
                <a:solidFill>
                  <a:srgbClr val="333333"/>
                </a:solidFill>
                <a:latin typeface="メイリオ"/>
                <a:ea typeface="メイリオ"/>
                <a:cs typeface="メイリオ"/>
              </a:rPr>
              <a:t>人材業界での導入実績（DYM）と、横浜シミズでの活用イメージ</a:t>
            </a:r>
            <a:endParaRPr sz="1050" dirty="0">
              <a:solidFill>
                <a:srgbClr val="333333"/>
              </a:solidFill>
              <a:latin typeface="メイリオ"/>
              <a:ea typeface="メイリオ"/>
              <a:cs typeface="メイリオ"/>
            </a:endParaRPr>
          </a:p>
        </p:txBody>
      </p:sp>
      <p:cxnSp>
        <p:nvCxnSpPr>
          <p:cNvPr id="5" name="Connector 3"/>
          <p:cNvCxnSpPr/>
          <p:nvPr/>
        </p:nvCxnSpPr>
        <p:spPr>
          <a:xfrm>
            <a:off x="0" y="1389600"/>
            <a:ext cx="9906097"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644400" y="1548000"/>
            <a:ext cx="8629200" cy="1386000"/>
          </a:xfrm>
          <a:prstGeom prst="rect">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16" name="TextBox 15"/>
          <p:cNvSpPr txBox="1"/>
          <p:nvPr/>
        </p:nvSpPr>
        <p:spPr>
          <a:xfrm>
            <a:off x="644400" y="3078000"/>
            <a:ext cx="3780000" cy="270000"/>
          </a:xfrm>
          <a:prstGeom prst="rect">
            <a:avLst/>
          </a:prstGeom>
          <a:noFill/>
        </p:spPr>
        <p:txBody>
          <a:bodyPr wrap="square" lIns="36000" tIns="18000" rIns="36000" bIns="18000" anchor="ctr">
            <a:spAutoFit/>
          </a:bodyPr>
          <a:lstStyle/>
          <a:p>
            <a:pPr algn="l">
              <a:lnSpc>
                <a:spcPct val="110000"/>
              </a:lnSpc>
              <a:spcAft>
                <a:spcPts val="0"/>
              </a:spcAft>
            </a:pPr>
            <a:r>
              <a:rPr sz="1300" b="1">
                <a:solidFill>
                  <a:srgbClr val="1F285A"/>
                </a:solidFill>
                <a:latin typeface="メイリオ"/>
                <a:ea typeface="メイリオ"/>
                <a:cs typeface="メイリオ"/>
              </a:rPr>
              <a:t>人材業界｜サンクスLINE誘導ツール導入実績</a:t>
            </a:r>
          </a:p>
        </p:txBody>
      </p:sp>
      <p:sp>
        <p:nvSpPr>
          <p:cNvPr id="17" name="Rounded Rectangle 16"/>
          <p:cNvSpPr/>
          <p:nvPr/>
        </p:nvSpPr>
        <p:spPr>
          <a:xfrm>
            <a:off x="4496399" y="3114000"/>
            <a:ext cx="1152000" cy="198000"/>
          </a:xfrm>
          <a:prstGeom prst="roundRect">
            <a:avLst>
              <a:gd name="adj"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850" b="1">
                <a:solidFill>
                  <a:srgbClr val="FFFFFF"/>
                </a:solidFill>
                <a:latin typeface="メイリオ"/>
                <a:ea typeface="メイリオ"/>
                <a:cs typeface="メイリオ"/>
              </a:rPr>
              <a:t>DYMの導入実績</a:t>
            </a:r>
          </a:p>
        </p:txBody>
      </p:sp>
      <p:sp>
        <p:nvSpPr>
          <p:cNvPr id="18" name="Rectangle 17"/>
          <p:cNvSpPr/>
          <p:nvPr/>
        </p:nvSpPr>
        <p:spPr>
          <a:xfrm>
            <a:off x="644400" y="3401999"/>
            <a:ext cx="2880000" cy="2070000"/>
          </a:xfrm>
          <a:prstGeom prst="rect">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19" name="Rectangle 18"/>
          <p:cNvSpPr/>
          <p:nvPr/>
        </p:nvSpPr>
        <p:spPr>
          <a:xfrm>
            <a:off x="644400" y="3401999"/>
            <a:ext cx="2880000" cy="270000"/>
          </a:xfrm>
          <a:prstGeom prst="rect">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50" b="1">
                <a:solidFill>
                  <a:srgbClr val="1F285A"/>
                </a:solidFill>
                <a:latin typeface="メイリオ"/>
                <a:ea typeface="メイリオ"/>
                <a:cs typeface="メイリオ"/>
              </a:rPr>
              <a:t>① 導入前後3か月比較</a:t>
            </a:r>
          </a:p>
        </p:txBody>
      </p:sp>
      <p:sp>
        <p:nvSpPr>
          <p:cNvPr id="20" name="TextBox 19"/>
          <p:cNvSpPr txBox="1"/>
          <p:nvPr/>
        </p:nvSpPr>
        <p:spPr>
          <a:xfrm>
            <a:off x="752400"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導入前</a:t>
            </a:r>
          </a:p>
        </p:txBody>
      </p:sp>
      <p:sp>
        <p:nvSpPr>
          <p:cNvPr id="21" name="TextBox 20"/>
          <p:cNvSpPr txBox="1"/>
          <p:nvPr/>
        </p:nvSpPr>
        <p:spPr>
          <a:xfrm>
            <a:off x="752400"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333333"/>
                </a:solidFill>
                <a:latin typeface="メイリオ"/>
                <a:ea typeface="メイリオ"/>
                <a:cs typeface="メイリオ"/>
              </a:rPr>
              <a:t>1,532人</a:t>
            </a:r>
          </a:p>
        </p:txBody>
      </p:sp>
      <p:sp>
        <p:nvSpPr>
          <p:cNvPr id="22" name="Right Arrow 21"/>
          <p:cNvSpPr/>
          <p:nvPr/>
        </p:nvSpPr>
        <p:spPr>
          <a:xfrm>
            <a:off x="1958400" y="3977999"/>
            <a:ext cx="251999" cy="198000"/>
          </a:xfrm>
          <a:prstGeom prst="rightArrow">
            <a:avLst>
              <a:gd name="adj1" fmla="val 40000"/>
              <a:gd name="adj2"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23" name="TextBox 22"/>
          <p:cNvSpPr txBox="1"/>
          <p:nvPr/>
        </p:nvSpPr>
        <p:spPr>
          <a:xfrm>
            <a:off x="2228399"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導入後</a:t>
            </a:r>
          </a:p>
        </p:txBody>
      </p:sp>
      <p:sp>
        <p:nvSpPr>
          <p:cNvPr id="24" name="TextBox 23"/>
          <p:cNvSpPr txBox="1"/>
          <p:nvPr/>
        </p:nvSpPr>
        <p:spPr>
          <a:xfrm>
            <a:off x="2228399"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1F285A"/>
                </a:solidFill>
                <a:latin typeface="メイリオ"/>
                <a:ea typeface="メイリオ"/>
                <a:cs typeface="メイリオ"/>
              </a:rPr>
              <a:t>2,103人</a:t>
            </a:r>
          </a:p>
        </p:txBody>
      </p:sp>
      <p:cxnSp>
        <p:nvCxnSpPr>
          <p:cNvPr id="25" name="Connector 24"/>
          <p:cNvCxnSpPr/>
          <p:nvPr/>
        </p:nvCxnSpPr>
        <p:spPr>
          <a:xfrm>
            <a:off x="788400" y="4320000"/>
            <a:ext cx="2591999"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6400" y="4373999"/>
            <a:ext cx="2736000" cy="576000"/>
          </a:xfrm>
          <a:prstGeom prst="rect">
            <a:avLst/>
          </a:prstGeom>
          <a:noFill/>
        </p:spPr>
        <p:txBody>
          <a:bodyPr wrap="square" lIns="36000" tIns="10800" rIns="36000" bIns="10800" anchor="ctr">
            <a:spAutoFit/>
          </a:bodyPr>
          <a:lstStyle/>
          <a:p>
            <a:pPr algn="ctr">
              <a:lnSpc>
                <a:spcPct val="105000"/>
              </a:lnSpc>
              <a:spcAft>
                <a:spcPts val="200"/>
              </a:spcAft>
            </a:pPr>
            <a:r>
              <a:rPr sz="1100" b="1">
                <a:solidFill>
                  <a:srgbClr val="333333"/>
                </a:solidFill>
                <a:latin typeface="メイリオ"/>
                <a:ea typeface="メイリオ"/>
                <a:cs typeface="メイリオ"/>
              </a:rPr>
              <a:t>導入前比 </a:t>
            </a:r>
            <a:r>
              <a:rPr sz="3000" b="1">
                <a:solidFill>
                  <a:srgbClr val="1F285A"/>
                </a:solidFill>
                <a:latin typeface="メイリオ"/>
                <a:ea typeface="メイリオ"/>
                <a:cs typeface="メイリオ"/>
              </a:rPr>
              <a:t>137.3%</a:t>
            </a:r>
          </a:p>
        </p:txBody>
      </p:sp>
      <p:sp>
        <p:nvSpPr>
          <p:cNvPr id="27" name="TextBox 26"/>
          <p:cNvSpPr txBox="1"/>
          <p:nvPr/>
        </p:nvSpPr>
        <p:spPr>
          <a:xfrm>
            <a:off x="716400" y="4986000"/>
            <a:ext cx="2736000" cy="288000"/>
          </a:xfrm>
          <a:prstGeom prst="rect">
            <a:avLst/>
          </a:prstGeom>
          <a:noFill/>
        </p:spPr>
        <p:txBody>
          <a:bodyPr wrap="square" lIns="36000" tIns="10800" rIns="36000" bIns="10800" anchor="ctr">
            <a:spAutoFit/>
          </a:bodyPr>
          <a:lstStyle/>
          <a:p>
            <a:pPr algn="ctr">
              <a:lnSpc>
                <a:spcPct val="105000"/>
              </a:lnSpc>
              <a:spcAft>
                <a:spcPts val="200"/>
              </a:spcAft>
            </a:pPr>
            <a:r>
              <a:rPr sz="950" b="0">
                <a:solidFill>
                  <a:srgbClr val="7F7F7F"/>
                </a:solidFill>
                <a:latin typeface="メイリオ"/>
                <a:ea typeface="メイリオ"/>
                <a:cs typeface="メイリオ"/>
              </a:rPr>
              <a:t>増加数 </a:t>
            </a:r>
            <a:r>
              <a:rPr sz="1500" b="1">
                <a:solidFill>
                  <a:srgbClr val="0B7A3B"/>
                </a:solidFill>
                <a:latin typeface="メイリオ"/>
                <a:ea typeface="メイリオ"/>
                <a:cs typeface="メイリオ"/>
              </a:rPr>
              <a:t>+571人</a:t>
            </a:r>
          </a:p>
        </p:txBody>
      </p:sp>
      <p:sp>
        <p:nvSpPr>
          <p:cNvPr id="28" name="Rectangle 27"/>
          <p:cNvSpPr/>
          <p:nvPr/>
        </p:nvSpPr>
        <p:spPr>
          <a:xfrm>
            <a:off x="3632400" y="3401999"/>
            <a:ext cx="2880000" cy="2070000"/>
          </a:xfrm>
          <a:prstGeom prst="rect">
            <a:avLst/>
          </a:prstGeom>
          <a:solidFill>
            <a:srgbClr val="FFFFFF"/>
          </a:solidFill>
          <a:ln w="12700">
            <a:solidFill>
              <a:srgbClr val="D9D9D9"/>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29" name="Rectangle 28"/>
          <p:cNvSpPr/>
          <p:nvPr/>
        </p:nvSpPr>
        <p:spPr>
          <a:xfrm>
            <a:off x="3632400" y="3401999"/>
            <a:ext cx="2880000" cy="270000"/>
          </a:xfrm>
          <a:prstGeom prst="rect">
            <a:avLst/>
          </a:prstGeom>
          <a:solidFill>
            <a:srgbClr val="E4E8F6"/>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50" b="1">
                <a:solidFill>
                  <a:srgbClr val="1F285A"/>
                </a:solidFill>
                <a:latin typeface="メイリオ"/>
                <a:ea typeface="メイリオ"/>
                <a:cs typeface="メイリオ"/>
              </a:rPr>
              <a:t>② 前年同期間比較</a:t>
            </a:r>
          </a:p>
        </p:txBody>
      </p:sp>
      <p:sp>
        <p:nvSpPr>
          <p:cNvPr id="30" name="TextBox 29"/>
          <p:cNvSpPr txBox="1"/>
          <p:nvPr/>
        </p:nvSpPr>
        <p:spPr>
          <a:xfrm>
            <a:off x="3740400"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2025年7〜9月</a:t>
            </a:r>
          </a:p>
        </p:txBody>
      </p:sp>
      <p:sp>
        <p:nvSpPr>
          <p:cNvPr id="31" name="TextBox 30"/>
          <p:cNvSpPr txBox="1"/>
          <p:nvPr/>
        </p:nvSpPr>
        <p:spPr>
          <a:xfrm>
            <a:off x="3740400"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333333"/>
                </a:solidFill>
                <a:latin typeface="メイリオ"/>
                <a:ea typeface="メイリオ"/>
                <a:cs typeface="メイリオ"/>
              </a:rPr>
              <a:t>1,650人</a:t>
            </a:r>
          </a:p>
        </p:txBody>
      </p:sp>
      <p:sp>
        <p:nvSpPr>
          <p:cNvPr id="32" name="Right Arrow 31"/>
          <p:cNvSpPr/>
          <p:nvPr/>
        </p:nvSpPr>
        <p:spPr>
          <a:xfrm>
            <a:off x="4946400" y="3977999"/>
            <a:ext cx="251999" cy="198000"/>
          </a:xfrm>
          <a:prstGeom prst="rightArrow">
            <a:avLst>
              <a:gd name="adj1" fmla="val 40000"/>
              <a:gd name="adj2" fmla="val 50000"/>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33" name="TextBox 32"/>
          <p:cNvSpPr txBox="1"/>
          <p:nvPr/>
        </p:nvSpPr>
        <p:spPr>
          <a:xfrm>
            <a:off x="5216399" y="3761999"/>
            <a:ext cx="1188000" cy="162000"/>
          </a:xfrm>
          <a:prstGeom prst="rect">
            <a:avLst/>
          </a:prstGeom>
          <a:noFill/>
        </p:spPr>
        <p:txBody>
          <a:bodyPr wrap="square" lIns="36000" tIns="18000" rIns="36000" bIns="18000" anchor="t">
            <a:spAutoFit/>
          </a:bodyPr>
          <a:lstStyle/>
          <a:p>
            <a:pPr algn="ctr">
              <a:lnSpc>
                <a:spcPct val="110000"/>
              </a:lnSpc>
              <a:spcAft>
                <a:spcPts val="0"/>
              </a:spcAft>
            </a:pPr>
            <a:r>
              <a:rPr sz="950" b="0">
                <a:solidFill>
                  <a:srgbClr val="7F7F7F"/>
                </a:solidFill>
                <a:latin typeface="メイリオ"/>
                <a:ea typeface="メイリオ"/>
                <a:cs typeface="メイリオ"/>
              </a:rPr>
              <a:t>2026年7〜9月</a:t>
            </a:r>
          </a:p>
        </p:txBody>
      </p:sp>
      <p:sp>
        <p:nvSpPr>
          <p:cNvPr id="34" name="TextBox 33"/>
          <p:cNvSpPr txBox="1"/>
          <p:nvPr/>
        </p:nvSpPr>
        <p:spPr>
          <a:xfrm>
            <a:off x="5216399" y="3923999"/>
            <a:ext cx="1188000" cy="306000"/>
          </a:xfrm>
          <a:prstGeom prst="rect">
            <a:avLst/>
          </a:prstGeom>
          <a:noFill/>
        </p:spPr>
        <p:txBody>
          <a:bodyPr wrap="square" lIns="36000" tIns="18000" rIns="36000" bIns="18000" anchor="ctr">
            <a:spAutoFit/>
          </a:bodyPr>
          <a:lstStyle/>
          <a:p>
            <a:pPr algn="ctr">
              <a:lnSpc>
                <a:spcPct val="110000"/>
              </a:lnSpc>
              <a:spcAft>
                <a:spcPts val="0"/>
              </a:spcAft>
            </a:pPr>
            <a:r>
              <a:rPr sz="1700" b="1">
                <a:solidFill>
                  <a:srgbClr val="1F285A"/>
                </a:solidFill>
                <a:latin typeface="メイリオ"/>
                <a:ea typeface="メイリオ"/>
                <a:cs typeface="メイリオ"/>
              </a:rPr>
              <a:t>2,103人</a:t>
            </a:r>
          </a:p>
        </p:txBody>
      </p:sp>
      <p:cxnSp>
        <p:nvCxnSpPr>
          <p:cNvPr id="35" name="Connector 34"/>
          <p:cNvCxnSpPr/>
          <p:nvPr/>
        </p:nvCxnSpPr>
        <p:spPr>
          <a:xfrm>
            <a:off x="3776400" y="4320000"/>
            <a:ext cx="2592000" cy="0"/>
          </a:xfrm>
          <a:prstGeom prst="line">
            <a:avLst/>
          </a:prstGeom>
          <a:ln w="9525">
            <a:solidFill>
              <a:srgbClr val="D9D9D9"/>
            </a:solidFill>
          </a:ln>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3704399" y="4373999"/>
            <a:ext cx="2736000" cy="576000"/>
          </a:xfrm>
          <a:prstGeom prst="rect">
            <a:avLst/>
          </a:prstGeom>
          <a:noFill/>
        </p:spPr>
        <p:txBody>
          <a:bodyPr wrap="square" lIns="36000" tIns="10800" rIns="36000" bIns="10800" anchor="ctr">
            <a:spAutoFit/>
          </a:bodyPr>
          <a:lstStyle/>
          <a:p>
            <a:pPr algn="ctr">
              <a:lnSpc>
                <a:spcPct val="105000"/>
              </a:lnSpc>
              <a:spcAft>
                <a:spcPts val="200"/>
              </a:spcAft>
            </a:pPr>
            <a:r>
              <a:rPr sz="1100" b="1">
                <a:solidFill>
                  <a:srgbClr val="333333"/>
                </a:solidFill>
                <a:latin typeface="メイリオ"/>
                <a:ea typeface="メイリオ"/>
                <a:cs typeface="メイリオ"/>
              </a:rPr>
              <a:t>前年比 </a:t>
            </a:r>
            <a:r>
              <a:rPr sz="3000" b="1">
                <a:solidFill>
                  <a:srgbClr val="1F285A"/>
                </a:solidFill>
                <a:latin typeface="メイリオ"/>
                <a:ea typeface="メイリオ"/>
                <a:cs typeface="メイリオ"/>
              </a:rPr>
              <a:t>127.5%</a:t>
            </a:r>
          </a:p>
        </p:txBody>
      </p:sp>
      <p:sp>
        <p:nvSpPr>
          <p:cNvPr id="37" name="TextBox 36"/>
          <p:cNvSpPr txBox="1"/>
          <p:nvPr/>
        </p:nvSpPr>
        <p:spPr>
          <a:xfrm>
            <a:off x="3704399" y="4986000"/>
            <a:ext cx="2736000" cy="288000"/>
          </a:xfrm>
          <a:prstGeom prst="rect">
            <a:avLst/>
          </a:prstGeom>
          <a:noFill/>
        </p:spPr>
        <p:txBody>
          <a:bodyPr wrap="square" lIns="36000" tIns="10800" rIns="36000" bIns="10800" anchor="ctr">
            <a:spAutoFit/>
          </a:bodyPr>
          <a:lstStyle/>
          <a:p>
            <a:pPr algn="ctr">
              <a:lnSpc>
                <a:spcPct val="105000"/>
              </a:lnSpc>
              <a:spcAft>
                <a:spcPts val="200"/>
              </a:spcAft>
            </a:pPr>
            <a:r>
              <a:rPr sz="950" b="0">
                <a:solidFill>
                  <a:srgbClr val="7F7F7F"/>
                </a:solidFill>
                <a:latin typeface="メイリオ"/>
                <a:ea typeface="メイリオ"/>
                <a:cs typeface="メイリオ"/>
              </a:rPr>
              <a:t>増加数 </a:t>
            </a:r>
            <a:r>
              <a:rPr sz="1500" b="1">
                <a:solidFill>
                  <a:srgbClr val="0B7A3B"/>
                </a:solidFill>
                <a:latin typeface="メイリオ"/>
                <a:ea typeface="メイリオ"/>
                <a:cs typeface="メイリオ"/>
              </a:rPr>
              <a:t>+453人</a:t>
            </a:r>
          </a:p>
        </p:txBody>
      </p:sp>
      <p:sp>
        <p:nvSpPr>
          <p:cNvPr id="38" name="TextBox 37"/>
          <p:cNvSpPr txBox="1"/>
          <p:nvPr/>
        </p:nvSpPr>
        <p:spPr>
          <a:xfrm>
            <a:off x="6656399" y="3420000"/>
            <a:ext cx="2617200" cy="162000"/>
          </a:xfrm>
          <a:prstGeom prst="rect">
            <a:avLst/>
          </a:prstGeom>
          <a:noFill/>
        </p:spPr>
        <p:txBody>
          <a:bodyPr wrap="square" lIns="36000" tIns="18000" rIns="36000" bIns="18000" anchor="t">
            <a:spAutoFit/>
          </a:bodyPr>
          <a:lstStyle/>
          <a:p>
            <a:pPr algn="l">
              <a:lnSpc>
                <a:spcPct val="110000"/>
              </a:lnSpc>
              <a:spcAft>
                <a:spcPts val="0"/>
              </a:spcAft>
            </a:pPr>
            <a:r>
              <a:rPr sz="900" b="1">
                <a:solidFill>
                  <a:srgbClr val="7F7F7F"/>
                </a:solidFill>
                <a:latin typeface="メイリオ"/>
                <a:ea typeface="メイリオ"/>
                <a:cs typeface="メイリオ"/>
              </a:rPr>
              <a:t>月別比較（友だち増加数・人）</a:t>
            </a:r>
          </a:p>
        </p:txBody>
      </p:sp>
      <p:sp>
        <p:nvSpPr>
          <p:cNvPr id="39" name="Rectangle 38"/>
          <p:cNvSpPr/>
          <p:nvPr/>
        </p:nvSpPr>
        <p:spPr>
          <a:xfrm>
            <a:off x="6692400" y="3625199"/>
            <a:ext cx="108000" cy="108000"/>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0" name="TextBox 39"/>
          <p:cNvSpPr txBox="1"/>
          <p:nvPr/>
        </p:nvSpPr>
        <p:spPr>
          <a:xfrm>
            <a:off x="6818399" y="3571200"/>
            <a:ext cx="684000" cy="216000"/>
          </a:xfrm>
          <a:prstGeom prst="rect">
            <a:avLst/>
          </a:prstGeom>
          <a:noFill/>
        </p:spPr>
        <p:txBody>
          <a:bodyPr wrap="square" lIns="36000" tIns="18000" rIns="36000" bIns="18000" anchor="ctr">
            <a:spAutoFit/>
          </a:bodyPr>
          <a:lstStyle/>
          <a:p>
            <a:pPr algn="l">
              <a:lnSpc>
                <a:spcPct val="110000"/>
              </a:lnSpc>
              <a:spcAft>
                <a:spcPts val="0"/>
              </a:spcAft>
            </a:pPr>
            <a:r>
              <a:rPr sz="800" b="0">
                <a:solidFill>
                  <a:srgbClr val="7F7F7F"/>
                </a:solidFill>
                <a:latin typeface="メイリオ"/>
                <a:ea typeface="メイリオ"/>
                <a:cs typeface="メイリオ"/>
              </a:rPr>
              <a:t>2025年</a:t>
            </a:r>
          </a:p>
        </p:txBody>
      </p:sp>
      <p:sp>
        <p:nvSpPr>
          <p:cNvPr id="41" name="Rectangle 40"/>
          <p:cNvSpPr/>
          <p:nvPr/>
        </p:nvSpPr>
        <p:spPr>
          <a:xfrm>
            <a:off x="7520400" y="3625199"/>
            <a:ext cx="108000" cy="1080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2" name="TextBox 41"/>
          <p:cNvSpPr txBox="1"/>
          <p:nvPr/>
        </p:nvSpPr>
        <p:spPr>
          <a:xfrm>
            <a:off x="7646399" y="3571200"/>
            <a:ext cx="684000" cy="216000"/>
          </a:xfrm>
          <a:prstGeom prst="rect">
            <a:avLst/>
          </a:prstGeom>
          <a:noFill/>
        </p:spPr>
        <p:txBody>
          <a:bodyPr wrap="square" lIns="36000" tIns="18000" rIns="36000" bIns="18000" anchor="ctr">
            <a:spAutoFit/>
          </a:bodyPr>
          <a:lstStyle/>
          <a:p>
            <a:pPr algn="l">
              <a:lnSpc>
                <a:spcPct val="110000"/>
              </a:lnSpc>
              <a:spcAft>
                <a:spcPts val="0"/>
              </a:spcAft>
            </a:pPr>
            <a:r>
              <a:rPr sz="800" b="0">
                <a:solidFill>
                  <a:srgbClr val="7F7F7F"/>
                </a:solidFill>
                <a:latin typeface="メイリオ"/>
                <a:ea typeface="メイリオ"/>
                <a:cs typeface="メイリオ"/>
              </a:rPr>
              <a:t>2026年</a:t>
            </a:r>
          </a:p>
        </p:txBody>
      </p:sp>
      <p:sp>
        <p:nvSpPr>
          <p:cNvPr id="43" name="Rectangle 42"/>
          <p:cNvSpPr/>
          <p:nvPr/>
        </p:nvSpPr>
        <p:spPr>
          <a:xfrm>
            <a:off x="6688799" y="4259114"/>
            <a:ext cx="288000" cy="690885"/>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4" name="TextBox 43"/>
          <p:cNvSpPr txBox="1"/>
          <p:nvPr/>
        </p:nvSpPr>
        <p:spPr>
          <a:xfrm>
            <a:off x="6580799" y="4079114"/>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575</a:t>
            </a:r>
          </a:p>
        </p:txBody>
      </p:sp>
      <p:sp>
        <p:nvSpPr>
          <p:cNvPr id="45" name="Rectangle 44"/>
          <p:cNvSpPr/>
          <p:nvPr/>
        </p:nvSpPr>
        <p:spPr>
          <a:xfrm>
            <a:off x="7019999" y="4211052"/>
            <a:ext cx="288000" cy="738947"/>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46" name="TextBox 45"/>
          <p:cNvSpPr txBox="1"/>
          <p:nvPr/>
        </p:nvSpPr>
        <p:spPr>
          <a:xfrm>
            <a:off x="6911999" y="4031052"/>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615</a:t>
            </a:r>
          </a:p>
        </p:txBody>
      </p:sp>
      <p:sp>
        <p:nvSpPr>
          <p:cNvPr id="47" name="TextBox 46"/>
          <p:cNvSpPr txBox="1"/>
          <p:nvPr/>
        </p:nvSpPr>
        <p:spPr>
          <a:xfrm>
            <a:off x="6620399" y="4968000"/>
            <a:ext cx="756000" cy="151200"/>
          </a:xfrm>
          <a:prstGeom prst="rect">
            <a:avLst/>
          </a:prstGeom>
          <a:noFill/>
        </p:spPr>
        <p:txBody>
          <a:bodyPr wrap="square" lIns="36000" tIns="18000" rIns="36000" bIns="18000" anchor="t">
            <a:spAutoFit/>
          </a:bodyPr>
          <a:lstStyle/>
          <a:p>
            <a:pPr algn="ctr">
              <a:lnSpc>
                <a:spcPct val="110000"/>
              </a:lnSpc>
              <a:spcAft>
                <a:spcPts val="0"/>
              </a:spcAft>
            </a:pPr>
            <a:r>
              <a:rPr sz="900" b="1">
                <a:solidFill>
                  <a:srgbClr val="333333"/>
                </a:solidFill>
                <a:latin typeface="メイリオ"/>
                <a:ea typeface="メイリオ"/>
                <a:cs typeface="メイリオ"/>
              </a:rPr>
              <a:t>7月</a:t>
            </a:r>
          </a:p>
        </p:txBody>
      </p:sp>
      <p:sp>
        <p:nvSpPr>
          <p:cNvPr id="48" name="TextBox 47"/>
          <p:cNvSpPr txBox="1"/>
          <p:nvPr/>
        </p:nvSpPr>
        <p:spPr>
          <a:xfrm>
            <a:off x="6620399" y="5112000"/>
            <a:ext cx="756000" cy="180000"/>
          </a:xfrm>
          <a:prstGeom prst="rect">
            <a:avLst/>
          </a:prstGeom>
          <a:noFill/>
        </p:spPr>
        <p:txBody>
          <a:bodyPr wrap="none" lIns="36000" tIns="10800" rIns="36000" bIns="10800" anchor="ctr">
            <a:spAutoFit/>
          </a:bodyPr>
          <a:lstStyle/>
          <a:p>
            <a:pPr algn="ctr">
              <a:lnSpc>
                <a:spcPct val="105000"/>
              </a:lnSpc>
              <a:spcAft>
                <a:spcPts val="200"/>
              </a:spcAft>
            </a:pPr>
            <a:r>
              <a:rPr sz="750" b="0">
                <a:solidFill>
                  <a:srgbClr val="7F7F7F"/>
                </a:solidFill>
                <a:latin typeface="メイリオ"/>
                <a:ea typeface="メイリオ"/>
                <a:cs typeface="メイリオ"/>
              </a:rPr>
              <a:t>前年比 </a:t>
            </a:r>
            <a:r>
              <a:rPr sz="1000" b="1">
                <a:solidFill>
                  <a:srgbClr val="0B7A3B"/>
                </a:solidFill>
                <a:latin typeface="メイリオ"/>
                <a:ea typeface="メイリオ"/>
                <a:cs typeface="メイリオ"/>
              </a:rPr>
              <a:t>107%</a:t>
            </a:r>
          </a:p>
        </p:txBody>
      </p:sp>
      <p:sp>
        <p:nvSpPr>
          <p:cNvPr id="49" name="Rectangle 48"/>
          <p:cNvSpPr/>
          <p:nvPr/>
        </p:nvSpPr>
        <p:spPr>
          <a:xfrm>
            <a:off x="7516800" y="4330005"/>
            <a:ext cx="288000" cy="619994"/>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0" name="TextBox 49"/>
          <p:cNvSpPr txBox="1"/>
          <p:nvPr/>
        </p:nvSpPr>
        <p:spPr>
          <a:xfrm>
            <a:off x="7408799" y="4150005"/>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516</a:t>
            </a:r>
          </a:p>
        </p:txBody>
      </p:sp>
      <p:sp>
        <p:nvSpPr>
          <p:cNvPr id="51" name="Rectangle 50"/>
          <p:cNvSpPr/>
          <p:nvPr/>
        </p:nvSpPr>
        <p:spPr>
          <a:xfrm>
            <a:off x="7847999" y="4014000"/>
            <a:ext cx="288000" cy="9360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2" name="TextBox 51"/>
          <p:cNvSpPr txBox="1"/>
          <p:nvPr/>
        </p:nvSpPr>
        <p:spPr>
          <a:xfrm>
            <a:off x="7739999" y="3834000"/>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779</a:t>
            </a:r>
          </a:p>
        </p:txBody>
      </p:sp>
      <p:sp>
        <p:nvSpPr>
          <p:cNvPr id="53" name="TextBox 52"/>
          <p:cNvSpPr txBox="1"/>
          <p:nvPr/>
        </p:nvSpPr>
        <p:spPr>
          <a:xfrm>
            <a:off x="7448399" y="4968000"/>
            <a:ext cx="756000" cy="151200"/>
          </a:xfrm>
          <a:prstGeom prst="rect">
            <a:avLst/>
          </a:prstGeom>
          <a:noFill/>
        </p:spPr>
        <p:txBody>
          <a:bodyPr wrap="square" lIns="36000" tIns="18000" rIns="36000" bIns="18000" anchor="t">
            <a:spAutoFit/>
          </a:bodyPr>
          <a:lstStyle/>
          <a:p>
            <a:pPr algn="ctr">
              <a:lnSpc>
                <a:spcPct val="110000"/>
              </a:lnSpc>
              <a:spcAft>
                <a:spcPts val="0"/>
              </a:spcAft>
            </a:pPr>
            <a:r>
              <a:rPr sz="900" b="1">
                <a:solidFill>
                  <a:srgbClr val="333333"/>
                </a:solidFill>
                <a:latin typeface="メイリオ"/>
                <a:ea typeface="メイリオ"/>
                <a:cs typeface="メイリオ"/>
              </a:rPr>
              <a:t>8月</a:t>
            </a:r>
          </a:p>
        </p:txBody>
      </p:sp>
      <p:sp>
        <p:nvSpPr>
          <p:cNvPr id="54" name="TextBox 53"/>
          <p:cNvSpPr txBox="1"/>
          <p:nvPr/>
        </p:nvSpPr>
        <p:spPr>
          <a:xfrm>
            <a:off x="7448399" y="5112000"/>
            <a:ext cx="756000" cy="180000"/>
          </a:xfrm>
          <a:prstGeom prst="rect">
            <a:avLst/>
          </a:prstGeom>
          <a:noFill/>
        </p:spPr>
        <p:txBody>
          <a:bodyPr wrap="none" lIns="36000" tIns="10800" rIns="36000" bIns="10800" anchor="ctr">
            <a:spAutoFit/>
          </a:bodyPr>
          <a:lstStyle/>
          <a:p>
            <a:pPr algn="ctr">
              <a:lnSpc>
                <a:spcPct val="105000"/>
              </a:lnSpc>
              <a:spcAft>
                <a:spcPts val="200"/>
              </a:spcAft>
            </a:pPr>
            <a:r>
              <a:rPr sz="750" b="0">
                <a:solidFill>
                  <a:srgbClr val="7F7F7F"/>
                </a:solidFill>
                <a:latin typeface="メイリオ"/>
                <a:ea typeface="メイリオ"/>
                <a:cs typeface="メイリオ"/>
              </a:rPr>
              <a:t>前年比 </a:t>
            </a:r>
            <a:r>
              <a:rPr sz="1000" b="1">
                <a:solidFill>
                  <a:srgbClr val="0B7A3B"/>
                </a:solidFill>
                <a:latin typeface="メイリオ"/>
                <a:ea typeface="メイリオ"/>
                <a:cs typeface="メイリオ"/>
              </a:rPr>
              <a:t>151%</a:t>
            </a:r>
          </a:p>
        </p:txBody>
      </p:sp>
      <p:sp>
        <p:nvSpPr>
          <p:cNvPr id="55" name="Rectangle 54"/>
          <p:cNvSpPr/>
          <p:nvPr/>
        </p:nvSpPr>
        <p:spPr>
          <a:xfrm>
            <a:off x="8344800" y="4278338"/>
            <a:ext cx="288000" cy="671661"/>
          </a:xfrm>
          <a:prstGeom prst="rect">
            <a:avLst/>
          </a:prstGeom>
          <a:solidFill>
            <a:srgbClr val="8E9BC4"/>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TextBox 55"/>
          <p:cNvSpPr txBox="1"/>
          <p:nvPr/>
        </p:nvSpPr>
        <p:spPr>
          <a:xfrm>
            <a:off x="8236800" y="4098338"/>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559</a:t>
            </a:r>
          </a:p>
        </p:txBody>
      </p:sp>
      <p:sp>
        <p:nvSpPr>
          <p:cNvPr id="57" name="Rectangle 56"/>
          <p:cNvSpPr/>
          <p:nvPr/>
        </p:nvSpPr>
        <p:spPr>
          <a:xfrm>
            <a:off x="8676000" y="4098107"/>
            <a:ext cx="288000" cy="851892"/>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8" name="TextBox 57"/>
          <p:cNvSpPr txBox="1"/>
          <p:nvPr/>
        </p:nvSpPr>
        <p:spPr>
          <a:xfrm>
            <a:off x="8567999" y="3918107"/>
            <a:ext cx="503999" cy="162000"/>
          </a:xfrm>
          <a:prstGeom prst="rect">
            <a:avLst/>
          </a:prstGeom>
          <a:noFill/>
        </p:spPr>
        <p:txBody>
          <a:bodyPr wrap="none" lIns="36000" tIns="18000" rIns="36000" bIns="18000" anchor="b">
            <a:spAutoFit/>
          </a:bodyPr>
          <a:lstStyle/>
          <a:p>
            <a:pPr algn="ctr">
              <a:lnSpc>
                <a:spcPct val="110000"/>
              </a:lnSpc>
              <a:spcAft>
                <a:spcPts val="0"/>
              </a:spcAft>
            </a:pPr>
            <a:r>
              <a:rPr sz="750" b="1">
                <a:solidFill>
                  <a:srgbClr val="333333"/>
                </a:solidFill>
                <a:latin typeface="メイリオ"/>
                <a:ea typeface="メイリオ"/>
                <a:cs typeface="メイリオ"/>
              </a:rPr>
              <a:t>709</a:t>
            </a:r>
          </a:p>
        </p:txBody>
      </p:sp>
      <p:sp>
        <p:nvSpPr>
          <p:cNvPr id="59" name="TextBox 58"/>
          <p:cNvSpPr txBox="1"/>
          <p:nvPr/>
        </p:nvSpPr>
        <p:spPr>
          <a:xfrm>
            <a:off x="8276399" y="4968000"/>
            <a:ext cx="756000" cy="151200"/>
          </a:xfrm>
          <a:prstGeom prst="rect">
            <a:avLst/>
          </a:prstGeom>
          <a:noFill/>
        </p:spPr>
        <p:txBody>
          <a:bodyPr wrap="square" lIns="36000" tIns="18000" rIns="36000" bIns="18000" anchor="t">
            <a:spAutoFit/>
          </a:bodyPr>
          <a:lstStyle/>
          <a:p>
            <a:pPr algn="ctr">
              <a:lnSpc>
                <a:spcPct val="110000"/>
              </a:lnSpc>
              <a:spcAft>
                <a:spcPts val="0"/>
              </a:spcAft>
            </a:pPr>
            <a:r>
              <a:rPr sz="900" b="1">
                <a:solidFill>
                  <a:srgbClr val="333333"/>
                </a:solidFill>
                <a:latin typeface="メイリオ"/>
                <a:ea typeface="メイリオ"/>
                <a:cs typeface="メイリオ"/>
              </a:rPr>
              <a:t>9月</a:t>
            </a:r>
          </a:p>
        </p:txBody>
      </p:sp>
      <p:sp>
        <p:nvSpPr>
          <p:cNvPr id="60" name="TextBox 59"/>
          <p:cNvSpPr txBox="1"/>
          <p:nvPr/>
        </p:nvSpPr>
        <p:spPr>
          <a:xfrm>
            <a:off x="8276399" y="5112000"/>
            <a:ext cx="756000" cy="180000"/>
          </a:xfrm>
          <a:prstGeom prst="rect">
            <a:avLst/>
          </a:prstGeom>
          <a:noFill/>
        </p:spPr>
        <p:txBody>
          <a:bodyPr wrap="none" lIns="36000" tIns="10800" rIns="36000" bIns="10800" anchor="ctr">
            <a:spAutoFit/>
          </a:bodyPr>
          <a:lstStyle/>
          <a:p>
            <a:pPr algn="ctr">
              <a:lnSpc>
                <a:spcPct val="105000"/>
              </a:lnSpc>
              <a:spcAft>
                <a:spcPts val="200"/>
              </a:spcAft>
            </a:pPr>
            <a:r>
              <a:rPr sz="750" b="0">
                <a:solidFill>
                  <a:srgbClr val="7F7F7F"/>
                </a:solidFill>
                <a:latin typeface="メイリオ"/>
                <a:ea typeface="メイリオ"/>
                <a:cs typeface="メイリオ"/>
              </a:rPr>
              <a:t>前年比 </a:t>
            </a:r>
            <a:r>
              <a:rPr sz="1000" b="1">
                <a:solidFill>
                  <a:srgbClr val="0B7A3B"/>
                </a:solidFill>
                <a:latin typeface="メイリオ"/>
                <a:ea typeface="メイリオ"/>
                <a:cs typeface="メイリオ"/>
              </a:rPr>
              <a:t>127%</a:t>
            </a:r>
          </a:p>
        </p:txBody>
      </p:sp>
      <p:cxnSp>
        <p:nvCxnSpPr>
          <p:cNvPr id="61" name="Connector 60"/>
          <p:cNvCxnSpPr/>
          <p:nvPr/>
        </p:nvCxnSpPr>
        <p:spPr>
          <a:xfrm>
            <a:off x="6728399" y="4950000"/>
            <a:ext cx="2509201" cy="0"/>
          </a:xfrm>
          <a:prstGeom prst="line">
            <a:avLst/>
          </a:prstGeom>
          <a:ln w="9525">
            <a:solidFill>
              <a:srgbClr val="7F7F7F"/>
            </a:solidFill>
          </a:ln>
        </p:spPr>
        <p:style>
          <a:lnRef idx="2">
            <a:schemeClr val="accent1"/>
          </a:lnRef>
          <a:fillRef idx="0">
            <a:schemeClr val="accent1"/>
          </a:fillRef>
          <a:effectRef idx="0">
            <a:schemeClr val="accent1"/>
          </a:effectRef>
          <a:fontRef idx="minor">
            <a:schemeClr val="tx1"/>
          </a:fontRef>
        </p:style>
      </p:cxnSp>
      <p:sp>
        <p:nvSpPr>
          <p:cNvPr id="62" name="Rectangle 61"/>
          <p:cNvSpPr/>
          <p:nvPr/>
        </p:nvSpPr>
        <p:spPr>
          <a:xfrm>
            <a:off x="644400" y="5598000"/>
            <a:ext cx="8629200" cy="34200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サンクスLINE誘導ツールの導入後、友だち増加数が導入前比137.3%、前年比127.5%に改善。</a:t>
            </a:r>
          </a:p>
        </p:txBody>
      </p:sp>
      <p:sp>
        <p:nvSpPr>
          <p:cNvPr id="2" name="テキスト ボックス 1">
            <a:extLst>
              <a:ext uri="{FF2B5EF4-FFF2-40B4-BE49-F238E27FC236}">
                <a16:creationId xmlns:a16="http://schemas.microsoft.com/office/drawing/2014/main" id="{EE821B20-3372-85EB-4334-5055D2443F85}"/>
              </a:ext>
            </a:extLst>
          </p:cNvPr>
          <p:cNvSpPr txBox="1"/>
          <p:nvPr/>
        </p:nvSpPr>
        <p:spPr>
          <a:xfrm>
            <a:off x="429768" y="6053328"/>
            <a:ext cx="8778240" cy="457200"/>
          </a:xfrm>
          <a:prstGeom prst="rect">
            <a:avLst/>
          </a:prstGeom>
          <a:noFill/>
        </p:spPr>
        <p:txBody>
          <a:bodyPr wrap="none" rtlCol="0">
            <a:spAutoFit/>
          </a:bodyPr>
          <a:lstStyle/>
          <a:p>
            <a:r>
              <a:rPr lang="en-US" altLang="ja-JP" sz="900" dirty="0">
                <a:latin typeface="メイリオ" panose="020B0604030504040204" pitchFamily="50" charset="-128"/>
                <a:ea typeface="メイリオ" panose="020B0604030504040204" pitchFamily="50" charset="-128"/>
              </a:rPr>
              <a:t>※出典：人材業界｜株式会社DYM 社内集計（サンクスLINE誘導ツール導入前後3か月、2025年・2026年7〜9月の友だち増加数）</a:t>
            </a:r>
            <a:endParaRPr lang="en-US" altLang="ja-JP" sz="600" dirty="0">
              <a:latin typeface="メイリオ" panose="020B0604030504040204" pitchFamily="50" charset="-128"/>
              <a:ea typeface="メイリオ" panose="020B0604030504040204" pitchFamily="50" charset="-128"/>
            </a:endParaRPr>
          </a:p>
          <a:p>
            <a:r>
              <a:rPr lang="en-US" altLang="ja-JP" sz="900" dirty="0">
                <a:latin typeface="メイリオ" panose="020B0604030504040204" pitchFamily="50" charset="-128"/>
                <a:ea typeface="メイリオ" panose="020B0604030504040204" pitchFamily="50" charset="-128"/>
              </a:rPr>
              <a:t>※他社での実績であり、横浜シミズ様での効果を示すものではありません。</a:t>
            </a:r>
            <a:endParaRPr lang="en-US" altLang="ja-JP" sz="600" dirty="0">
              <a:latin typeface="メイリオ" panose="020B0604030504040204" pitchFamily="50" charset="-128"/>
              <a:ea typeface="メイリオ" panose="020B0604030504040204" pitchFamily="50" charset="-128"/>
            </a:endParaRPr>
          </a:p>
        </p:txBody>
      </p:sp>
      <p:sp>
        <p:nvSpPr>
          <p:cNvPr id="63" name="Rectangle 62"/>
          <p:cNvSpPr/>
          <p:nvPr/>
        </p:nvSpPr>
        <p:spPr>
          <a:xfrm>
            <a:off x="768096" y="1627632"/>
            <a:ext cx="3657600" cy="274320"/>
          </a:xfrm>
          <a:prstGeom prst="rect">
            <a:avLst/>
          </a:prstGeom>
          <a:noFill/>
          <a:ln>
            <a:noFill/>
          </a:ln>
        </p:spPr>
        <p:txBody>
          <a:bodyPr wrap="square" lIns="0" tIns="0" rIns="0" bIns="0" rtlCol="0" anchor="ctr">
            <a:noAutofit/>
          </a:bodyPr>
          <a:lstStyle/>
          <a:p>
            <a:pPr algn="l">
              <a:buNone/>
            </a:pPr>
            <a:r>
              <a:rPr lang="ja-JP" altLang="en-US" sz="1200" b="1" dirty="0">
                <a:solidFill>
                  <a:srgbClr val="323366"/>
                </a:solidFill>
                <a:latin typeface="メイリオ" panose="020B0604030504040204" pitchFamily="50" charset="-128"/>
                <a:ea typeface="メイリオ" panose="020B0604030504040204" pitchFamily="50" charset="-128"/>
              </a:rPr>
              <a:t>横浜シミズでの活用イメージ</a:t>
            </a:r>
            <a:endParaRPr lang="ja-JP" altLang="en-US" sz="1200" dirty="0"/>
          </a:p>
        </p:txBody>
      </p:sp>
      <p:sp>
        <p:nvSpPr>
          <p:cNvPr id="64" name="Rectangle 63"/>
          <p:cNvSpPr/>
          <p:nvPr/>
        </p:nvSpPr>
        <p:spPr>
          <a:xfrm>
            <a:off x="868680" y="1965960"/>
            <a:ext cx="1389888" cy="512064"/>
          </a:xfrm>
          <a:prstGeom prst="rect">
            <a:avLst/>
          </a:prstGeom>
          <a:solidFill>
            <a:srgbClr val="1E2761"/>
          </a:solidFill>
          <a:ln>
            <a:noFill/>
          </a:ln>
        </p:spPr>
        <p:txBody>
          <a:bodyPr wrap="square" lIns="27432" tIns="0" rIns="27432"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応募完了</a:t>
            </a:r>
            <a:endParaRPr lang="ja-JP" altLang="en-US" sz="1050" dirty="0"/>
          </a:p>
        </p:txBody>
      </p:sp>
      <p:sp>
        <p:nvSpPr>
          <p:cNvPr id="65" name="Rectangle 64"/>
          <p:cNvSpPr/>
          <p:nvPr/>
        </p:nvSpPr>
        <p:spPr>
          <a:xfrm>
            <a:off x="2560320" y="1965960"/>
            <a:ext cx="1389888" cy="512064"/>
          </a:xfrm>
          <a:prstGeom prst="rect">
            <a:avLst/>
          </a:prstGeom>
          <a:solidFill>
            <a:srgbClr val="06C755"/>
          </a:solidFill>
          <a:ln>
            <a:noFill/>
          </a:ln>
        </p:spPr>
        <p:txBody>
          <a:bodyPr wrap="square" lIns="27432" tIns="0" rIns="27432"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LINE</a:t>
            </a:r>
            <a:endParaRPr lang="ja-JP" altLang="en-US" sz="1050" dirty="0"/>
          </a:p>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友だち追加</a:t>
            </a:r>
            <a:endParaRPr lang="ja-JP" altLang="en-US" sz="1050" dirty="0"/>
          </a:p>
        </p:txBody>
      </p:sp>
      <p:cxnSp>
        <p:nvCxnSpPr>
          <p:cNvPr id="66" name="Connector 65"/>
          <p:cNvCxnSpPr/>
          <p:nvPr/>
        </p:nvCxnSpPr>
        <p:spPr>
          <a:xfrm>
            <a:off x="2295144" y="2221992"/>
            <a:ext cx="228600" cy="0"/>
          </a:xfrm>
          <a:prstGeom prst="line">
            <a:avLst/>
          </a:prstGeom>
          <a:ln w="19050">
            <a:solidFill>
              <a:srgbClr val="1E2761"/>
            </a:solidFill>
            <a:tailEnd type="triangle" w="med" len="med"/>
          </a:ln>
        </p:spPr>
      </p:cxnSp>
      <p:sp>
        <p:nvSpPr>
          <p:cNvPr id="67" name="Rectangle 66"/>
          <p:cNvSpPr/>
          <p:nvPr/>
        </p:nvSpPr>
        <p:spPr>
          <a:xfrm>
            <a:off x="4251960" y="1965960"/>
            <a:ext cx="1389888" cy="512064"/>
          </a:xfrm>
          <a:prstGeom prst="rect">
            <a:avLst/>
          </a:prstGeom>
          <a:solidFill>
            <a:srgbClr val="1E2761"/>
          </a:solidFill>
          <a:ln>
            <a:noFill/>
          </a:ln>
        </p:spPr>
        <p:txBody>
          <a:bodyPr wrap="square" lIns="27432" tIns="0" rIns="27432"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面接・登録の</a:t>
            </a:r>
            <a:endParaRPr lang="ja-JP" altLang="en-US" sz="1050" dirty="0"/>
          </a:p>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案内</a:t>
            </a:r>
            <a:endParaRPr lang="ja-JP" altLang="en-US" sz="1050" dirty="0"/>
          </a:p>
        </p:txBody>
      </p:sp>
      <p:cxnSp>
        <p:nvCxnSpPr>
          <p:cNvPr id="68" name="Connector 67"/>
          <p:cNvCxnSpPr/>
          <p:nvPr/>
        </p:nvCxnSpPr>
        <p:spPr>
          <a:xfrm>
            <a:off x="3986784" y="2221992"/>
            <a:ext cx="228600" cy="0"/>
          </a:xfrm>
          <a:prstGeom prst="line">
            <a:avLst/>
          </a:prstGeom>
          <a:ln w="19050">
            <a:solidFill>
              <a:srgbClr val="1E2761"/>
            </a:solidFill>
            <a:tailEnd type="triangle" w="med" len="med"/>
          </a:ln>
        </p:spPr>
      </p:cxnSp>
      <p:sp>
        <p:nvSpPr>
          <p:cNvPr id="69" name="Rectangle 68"/>
          <p:cNvSpPr/>
          <p:nvPr/>
        </p:nvSpPr>
        <p:spPr>
          <a:xfrm>
            <a:off x="5943600" y="1965960"/>
            <a:ext cx="1389888" cy="512064"/>
          </a:xfrm>
          <a:prstGeom prst="rect">
            <a:avLst/>
          </a:prstGeom>
          <a:solidFill>
            <a:srgbClr val="1E2761"/>
          </a:solidFill>
          <a:ln>
            <a:noFill/>
          </a:ln>
        </p:spPr>
        <p:txBody>
          <a:bodyPr wrap="square" lIns="27432" tIns="0" rIns="27432"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勤務前の</a:t>
            </a:r>
            <a:endParaRPr lang="ja-JP" altLang="en-US" sz="1050" dirty="0"/>
          </a:p>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案内</a:t>
            </a:r>
            <a:endParaRPr lang="ja-JP" altLang="en-US" sz="1050" dirty="0"/>
          </a:p>
        </p:txBody>
      </p:sp>
      <p:cxnSp>
        <p:nvCxnSpPr>
          <p:cNvPr id="70" name="Connector 69"/>
          <p:cNvCxnSpPr/>
          <p:nvPr/>
        </p:nvCxnSpPr>
        <p:spPr>
          <a:xfrm>
            <a:off x="5678424" y="2221992"/>
            <a:ext cx="228600" cy="0"/>
          </a:xfrm>
          <a:prstGeom prst="line">
            <a:avLst/>
          </a:prstGeom>
          <a:ln w="19050">
            <a:solidFill>
              <a:srgbClr val="1E2761"/>
            </a:solidFill>
            <a:tailEnd type="triangle" w="med" len="med"/>
          </a:ln>
        </p:spPr>
      </p:cxnSp>
      <p:sp>
        <p:nvSpPr>
          <p:cNvPr id="71" name="Rectangle 70"/>
          <p:cNvSpPr/>
          <p:nvPr/>
        </p:nvSpPr>
        <p:spPr>
          <a:xfrm>
            <a:off x="7635240" y="1965960"/>
            <a:ext cx="1389888" cy="512064"/>
          </a:xfrm>
          <a:prstGeom prst="rect">
            <a:avLst/>
          </a:prstGeom>
          <a:solidFill>
            <a:srgbClr val="1E2761"/>
          </a:solidFill>
          <a:ln>
            <a:noFill/>
          </a:ln>
        </p:spPr>
        <p:txBody>
          <a:bodyPr wrap="square" lIns="27432" tIns="0" rIns="27432" bIns="0" rtlCol="0" anchor="ctr">
            <a:noAutofit/>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次回イベントの</a:t>
            </a:r>
            <a:endParaRPr lang="ja-JP" altLang="en-US" sz="1050" dirty="0"/>
          </a:p>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募集</a:t>
            </a:r>
            <a:endParaRPr lang="ja-JP" altLang="en-US" sz="1050" dirty="0"/>
          </a:p>
        </p:txBody>
      </p:sp>
      <p:cxnSp>
        <p:nvCxnSpPr>
          <p:cNvPr id="72" name="Connector 71"/>
          <p:cNvCxnSpPr/>
          <p:nvPr/>
        </p:nvCxnSpPr>
        <p:spPr>
          <a:xfrm>
            <a:off x="7370063" y="2221992"/>
            <a:ext cx="228601" cy="0"/>
          </a:xfrm>
          <a:prstGeom prst="line">
            <a:avLst/>
          </a:prstGeom>
          <a:ln w="19050">
            <a:solidFill>
              <a:srgbClr val="1E2761"/>
            </a:solidFill>
            <a:tailEnd type="triangle" w="med" len="med"/>
          </a:ln>
        </p:spPr>
      </p:cxnSp>
      <p:sp>
        <p:nvSpPr>
          <p:cNvPr id="73" name="Rectangle 72"/>
          <p:cNvSpPr/>
          <p:nvPr/>
        </p:nvSpPr>
        <p:spPr>
          <a:xfrm>
            <a:off x="868680" y="2542032"/>
            <a:ext cx="8229600" cy="329184"/>
          </a:xfrm>
          <a:prstGeom prst="rect">
            <a:avLst/>
          </a:prstGeom>
          <a:noFill/>
          <a:ln>
            <a:noFill/>
          </a:ln>
        </p:spPr>
        <p:txBody>
          <a:bodyPr wrap="square" lIns="0" tIns="0" rIns="0" bIns="0" rtlCol="0" anchor="ctr">
            <a:noAutofit/>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応募の直後から、面接・勤務の案内と次の募集を同じLINEでお届けします。</a:t>
            </a:r>
            <a:endParaRPr lang="ja-JP" alt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施策②｜勤務連絡・管理：勤務に必要な情報をLINEで届ける</a:t>
            </a:r>
          </a:p>
        </p:txBody>
      </p:sp>
      <p:sp>
        <p:nvSpPr>
          <p:cNvPr id="3" name="TextBox 2"/>
          <p:cNvSpPr txBox="1"/>
          <p:nvPr/>
        </p:nvSpPr>
        <p:spPr>
          <a:xfrm>
            <a:off x="309600" y="687600"/>
            <a:ext cx="9331200" cy="585216"/>
          </a:xfrm>
          <a:prstGeom prst="rect">
            <a:avLst/>
          </a:prstGeom>
          <a:noFill/>
        </p:spPr>
        <p:txBody>
          <a:bodyPr wrap="square" lIns="28800" tIns="7200" rIns="28800" bIns="7200" anchor="ctr">
            <a:spAutoFit/>
          </a:bodyPr>
          <a:lstStyle/>
          <a:p>
            <a:pPr algn="l">
              <a:lnSpc>
                <a:spcPct val="120000"/>
              </a:lnSpc>
            </a:pPr>
            <a:r>
              <a:rPr sz="1400" b="1">
                <a:solidFill>
                  <a:srgbClr val="1E2761"/>
                </a:solidFill>
                <a:latin typeface="メイリオ"/>
                <a:ea typeface="メイリオ"/>
                <a:cs typeface="メイリオ"/>
              </a:rPr>
              <a:t>集合場所・時間・持ち物・服装・注意事項を、勤務の前にLINEでお届けします。</a:t>
            </a:r>
          </a:p>
          <a:p>
            <a:pPr algn="l">
              <a:lnSpc>
                <a:spcPct val="120000"/>
              </a:lnSpc>
            </a:pPr>
            <a:r>
              <a:rPr sz="1400" b="1">
                <a:solidFill>
                  <a:srgbClr val="FF0000"/>
                </a:solidFill>
                <a:latin typeface="メイリオ"/>
                <a:ea typeface="メイリオ"/>
                <a:cs typeface="メイリオ"/>
              </a:rPr>
              <a:t>「LINEを追加すると、勤務に必要な情報が届く」ことが、友だちでいる理由になります。</a:t>
            </a:r>
          </a:p>
        </p:txBody>
      </p:sp>
      <p:sp>
        <p:nvSpPr>
          <p:cNvPr id="18" name="Rectangle 17"/>
          <p:cNvSpPr/>
          <p:nvPr/>
        </p:nvSpPr>
        <p:spPr>
          <a:xfrm>
            <a:off x="429768" y="5596128"/>
            <a:ext cx="9043416"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9768" y="5596128"/>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届く理由があるから友だちが残り、残るから次の募集が届く</a:t>
            </a:r>
            <a:endParaRPr lang="ja-JP" altLang="en-US" sz="1300" dirty="0"/>
          </a:p>
        </p:txBody>
      </p:sp>
      <p:sp>
        <p:nvSpPr>
          <p:cNvPr id="22" name="Rounded Rectangle 21"/>
          <p:cNvSpPr/>
          <p:nvPr/>
        </p:nvSpPr>
        <p:spPr>
          <a:xfrm>
            <a:off x="429768" y="1371600"/>
            <a:ext cx="2880360" cy="329184"/>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勤務の前にお届けする情報</a:t>
            </a:r>
            <a:endParaRPr lang="ja-JP" altLang="en-US" sz="1200" dirty="0"/>
          </a:p>
        </p:txBody>
      </p:sp>
      <p:sp>
        <p:nvSpPr>
          <p:cNvPr id="23" name="Rounded Rectangle 22"/>
          <p:cNvSpPr/>
          <p:nvPr/>
        </p:nvSpPr>
        <p:spPr>
          <a:xfrm>
            <a:off x="429768" y="1810512"/>
            <a:ext cx="2880360" cy="914400"/>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勤務が決まったら</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会場・集合場所と時間・持ち物・服装</a:t>
            </a:r>
            <a:endParaRPr lang="ja-JP" altLang="en-US" sz="1200" dirty="0"/>
          </a:p>
        </p:txBody>
      </p:sp>
      <p:sp>
        <p:nvSpPr>
          <p:cNvPr id="24" name="Rounded Rectangle 23"/>
          <p:cNvSpPr/>
          <p:nvPr/>
        </p:nvSpPr>
        <p:spPr>
          <a:xfrm>
            <a:off x="429768" y="2834640"/>
            <a:ext cx="2880360" cy="914400"/>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勤務の前日</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リマインド（集合時間・持ち物・天候による変更など）</a:t>
            </a:r>
            <a:endParaRPr lang="ja-JP" altLang="en-US" sz="1200" dirty="0"/>
          </a:p>
        </p:txBody>
      </p:sp>
      <p:sp>
        <p:nvSpPr>
          <p:cNvPr id="25" name="Rounded Rectangle 24"/>
          <p:cNvSpPr/>
          <p:nvPr/>
        </p:nvSpPr>
        <p:spPr>
          <a:xfrm>
            <a:off x="429768" y="3858768"/>
            <a:ext cx="2880360" cy="914400"/>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勤務の当日</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注意事項・当日の連絡先</a:t>
            </a:r>
            <a:endParaRPr lang="ja-JP" altLang="en-US" sz="1200" dirty="0"/>
          </a:p>
        </p:txBody>
      </p:sp>
      <p:sp>
        <p:nvSpPr>
          <p:cNvPr id="26" name="Rounded Rectangle 25"/>
          <p:cNvSpPr/>
          <p:nvPr/>
        </p:nvSpPr>
        <p:spPr>
          <a:xfrm>
            <a:off x="3511296" y="1371600"/>
            <a:ext cx="2880360" cy="329184"/>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届け方（運用に合わせて選びます）</a:t>
            </a:r>
            <a:endParaRPr lang="ja-JP" altLang="en-US" sz="1200" dirty="0"/>
          </a:p>
        </p:txBody>
      </p:sp>
      <p:sp>
        <p:nvSpPr>
          <p:cNvPr id="27" name="Rounded Rectangle 26"/>
          <p:cNvSpPr/>
          <p:nvPr/>
        </p:nvSpPr>
        <p:spPr>
          <a:xfrm>
            <a:off x="3511296" y="1810512"/>
            <a:ext cx="2880360" cy="914400"/>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一斉案内</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同じイベントに勤務する方へ、</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まとめて案内</a:t>
            </a:r>
            <a:endParaRPr lang="ja-JP" altLang="en-US" sz="1200" dirty="0"/>
          </a:p>
        </p:txBody>
      </p:sp>
      <p:sp>
        <p:nvSpPr>
          <p:cNvPr id="28" name="Rounded Rectangle 27"/>
          <p:cNvSpPr/>
          <p:nvPr/>
        </p:nvSpPr>
        <p:spPr>
          <a:xfrm>
            <a:off x="3511296" y="2834640"/>
            <a:ext cx="2880360" cy="914400"/>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タグで対象者別</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会場・業務ごとに、対象の方だけに</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案内</a:t>
            </a:r>
            <a:endParaRPr lang="ja-JP" altLang="en-US" sz="1200" dirty="0"/>
          </a:p>
        </p:txBody>
      </p:sp>
      <p:sp>
        <p:nvSpPr>
          <p:cNvPr id="29" name="Rounded Rectangle 28"/>
          <p:cNvSpPr/>
          <p:nvPr/>
        </p:nvSpPr>
        <p:spPr>
          <a:xfrm>
            <a:off x="3511296" y="3858768"/>
            <a:ext cx="2880360" cy="914400"/>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個別連絡（チャット）</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勤務の変更・欠席・質問など、</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1対1のやり取り</a:t>
            </a:r>
            <a:endParaRPr lang="ja-JP" altLang="en-US" sz="1200" dirty="0"/>
          </a:p>
        </p:txBody>
      </p:sp>
      <p:sp>
        <p:nvSpPr>
          <p:cNvPr id="30" name="Rounded Rectangle 29"/>
          <p:cNvSpPr/>
          <p:nvPr/>
        </p:nvSpPr>
        <p:spPr>
          <a:xfrm>
            <a:off x="6592824" y="1371600"/>
            <a:ext cx="2880360" cy="329184"/>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期待できること</a:t>
            </a:r>
            <a:endParaRPr lang="ja-JP" altLang="en-US" sz="1200" dirty="0"/>
          </a:p>
        </p:txBody>
      </p:sp>
      <p:sp>
        <p:nvSpPr>
          <p:cNvPr id="31" name="Rounded Rectangle 30"/>
          <p:cNvSpPr/>
          <p:nvPr/>
        </p:nvSpPr>
        <p:spPr>
          <a:xfrm>
            <a:off x="6592824" y="1810512"/>
            <a:ext cx="2880360" cy="914400"/>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スタッフの皆さま</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必要な情報をLINEで見返せる。</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通知で気づける。質問しやすい</a:t>
            </a:r>
            <a:endParaRPr lang="ja-JP" altLang="en-US" sz="1200" dirty="0"/>
          </a:p>
        </p:txBody>
      </p:sp>
      <p:sp>
        <p:nvSpPr>
          <p:cNvPr id="32" name="Rounded Rectangle 31"/>
          <p:cNvSpPr/>
          <p:nvPr/>
        </p:nvSpPr>
        <p:spPr>
          <a:xfrm>
            <a:off x="6592824" y="2834640"/>
            <a:ext cx="2880360" cy="914400"/>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横浜シミズ様（管理側）</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一斉に送れる。案内の型をつくり、</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毎回の作成の手間を減らす</a:t>
            </a:r>
            <a:endParaRPr lang="ja-JP" altLang="en-US" sz="1200" dirty="0"/>
          </a:p>
        </p:txBody>
      </p:sp>
      <p:sp>
        <p:nvSpPr>
          <p:cNvPr id="33" name="Rounded Rectangle 32"/>
          <p:cNvSpPr/>
          <p:nvPr/>
        </p:nvSpPr>
        <p:spPr>
          <a:xfrm>
            <a:off x="6592824" y="3858768"/>
            <a:ext cx="2880360" cy="914400"/>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200"/>
              </a:spcAft>
              <a:buNone/>
            </a:pPr>
            <a:r>
              <a:rPr lang="ja-JP" altLang="en-US" sz="1200" b="1" dirty="0">
                <a:solidFill>
                  <a:srgbClr val="323366"/>
                </a:solidFill>
                <a:latin typeface="メイリオ" panose="020B0604030504040204" pitchFamily="50" charset="-128"/>
                <a:ea typeface="メイリオ" panose="020B0604030504040204" pitchFamily="50" charset="-128"/>
              </a:rPr>
              <a:t>横浜シミズ様（管理側）</a:t>
            </a:r>
            <a:endParaRPr lang="ja-JP" altLang="en-US" sz="1200" dirty="0"/>
          </a:p>
          <a:p>
            <a:pPr algn="l">
              <a:spcAft>
                <a:spcPts val="200"/>
              </a:spcAft>
              <a:buNone/>
            </a:pPr>
            <a:r>
              <a:rPr lang="ja-JP" altLang="en-US" sz="1200" b="0" dirty="0">
                <a:solidFill>
                  <a:srgbClr val="333333"/>
                </a:solidFill>
                <a:latin typeface="メイリオ" panose="020B0604030504040204" pitchFamily="50" charset="-128"/>
                <a:ea typeface="メイリオ" panose="020B0604030504040204" pitchFamily="50" charset="-128"/>
              </a:rPr>
              <a:t>電話・メールでの個別の確認を減らせる（期待効果）</a:t>
            </a:r>
            <a:endParaRPr lang="ja-JP" altLang="en-US" sz="1200" dirty="0"/>
          </a:p>
        </p:txBody>
      </p:sp>
      <p:sp>
        <p:nvSpPr>
          <p:cNvPr id="34" name="Rectangle 33"/>
          <p:cNvSpPr/>
          <p:nvPr/>
        </p:nvSpPr>
        <p:spPr>
          <a:xfrm>
            <a:off x="429768" y="4919472"/>
            <a:ext cx="9043416" cy="548640"/>
          </a:xfrm>
          <a:prstGeom prst="rect">
            <a:avLst/>
          </a:prstGeom>
          <a:noFill/>
          <a:ln>
            <a:noFill/>
          </a:ln>
        </p:spPr>
        <p:txBody>
          <a:bodyPr wrap="square" lIns="18288" tIns="0" rIns="18288" bIns="0" rtlCol="0" anchor="ctr">
            <a:noAutofit/>
          </a:bodyPr>
          <a:lstStyle/>
          <a:p>
            <a:pPr algn="l">
              <a:buNone/>
            </a:pPr>
            <a:r>
              <a:rPr lang="ja-JP" altLang="en-US" sz="1000" b="0" dirty="0">
                <a:solidFill>
                  <a:srgbClr val="595959"/>
                </a:solidFill>
                <a:latin typeface="メイリオ" panose="020B0604030504040204" pitchFamily="50" charset="-128"/>
                <a:ea typeface="メイリオ" panose="020B0604030504040204" pitchFamily="50" charset="-128"/>
              </a:rPr>
              <a:t>※勤務の予定とLINEの自動連携は前提にしていません。一斉案内・タグ・個別連絡の組み合わせで始め、自動連携が必要な場合は別途確認します。</a:t>
            </a:r>
            <a:endParaRPr lang="ja-JP" alt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施策③｜再応募・再稼働：希望に合う募集だけを届ける</a:t>
            </a:r>
          </a:p>
        </p:txBody>
      </p:sp>
      <p:sp>
        <p:nvSpPr>
          <p:cNvPr id="3" name="TextBox 2"/>
          <p:cNvSpPr txBox="1"/>
          <p:nvPr/>
        </p:nvSpPr>
        <p:spPr>
          <a:xfrm>
            <a:off x="309600" y="687600"/>
            <a:ext cx="9331200" cy="585216"/>
          </a:xfrm>
          <a:prstGeom prst="rect">
            <a:avLst/>
          </a:prstGeom>
          <a:noFill/>
        </p:spPr>
        <p:txBody>
          <a:bodyPr wrap="square" lIns="28800" tIns="7200" rIns="28800" bIns="7200" anchor="ctr">
            <a:spAutoFit/>
          </a:bodyPr>
          <a:lstStyle/>
          <a:p>
            <a:pPr algn="l">
              <a:lnSpc>
                <a:spcPct val="120000"/>
              </a:lnSpc>
            </a:pPr>
            <a:r>
              <a:rPr sz="1400" b="1">
                <a:solidFill>
                  <a:srgbClr val="1E2761"/>
                </a:solidFill>
                <a:latin typeface="メイリオ"/>
                <a:ea typeface="メイリオ"/>
                <a:cs typeface="メイリオ"/>
              </a:rPr>
              <a:t>エリア・会場・業務・曜日などをタグで管理し、対象を絞ってイベントの募集をお届けします。</a:t>
            </a:r>
          </a:p>
          <a:p>
            <a:pPr algn="l">
              <a:lnSpc>
                <a:spcPct val="120000"/>
              </a:lnSpc>
            </a:pPr>
            <a:r>
              <a:rPr sz="1400" b="1">
                <a:solidFill>
                  <a:srgbClr val="FF0000"/>
                </a:solidFill>
                <a:latin typeface="メイリオ"/>
                <a:ea typeface="メイリオ"/>
                <a:cs typeface="メイリオ"/>
              </a:rPr>
              <a:t>合わない募集が届かないので、ブロックを抑えることが期待できます。</a:t>
            </a:r>
          </a:p>
        </p:txBody>
      </p:sp>
      <p:sp>
        <p:nvSpPr>
          <p:cNvPr id="18" name="Rectangle 17"/>
          <p:cNvSpPr/>
          <p:nvPr/>
        </p:nvSpPr>
        <p:spPr>
          <a:xfrm>
            <a:off x="429768" y="5596128"/>
            <a:ext cx="9043416"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9768" y="5596128"/>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取れる情報から始めて、配信のたびに絞り込みの精度を上げる</a:t>
            </a:r>
            <a:endParaRPr lang="ja-JP" altLang="en-US" sz="1300" dirty="0"/>
          </a:p>
        </p:txBody>
      </p:sp>
      <p:graphicFrame>
        <p:nvGraphicFramePr>
          <p:cNvPr id="22" name="表 21"/>
          <p:cNvGraphicFramePr>
            <a:graphicFrameLocks noGrp="1"/>
          </p:cNvGraphicFramePr>
          <p:nvPr>
            <p:extLst>
              <p:ext uri="{D42A27DB-BD31-4B8C-83A1-F6EECF244321}">
                <p14:modId xmlns:p14="http://schemas.microsoft.com/office/powerpoint/2010/main" val="1362775021"/>
              </p:ext>
            </p:extLst>
          </p:nvPr>
        </p:nvGraphicFramePr>
        <p:xfrm>
          <a:off x="429767" y="1371600"/>
          <a:ext cx="5039379" cy="2889504"/>
        </p:xfrm>
        <a:graphic>
          <a:graphicData uri="http://schemas.openxmlformats.org/drawingml/2006/table">
            <a:tbl>
              <a:tblPr/>
              <a:tblGrid>
                <a:gridCol w="1166523">
                  <a:extLst>
                    <a:ext uri="{9D8B030D-6E8A-4147-A177-3AD203B41FA5}">
                      <a16:colId xmlns:a16="http://schemas.microsoft.com/office/drawing/2014/main" val="20000"/>
                    </a:ext>
                  </a:extLst>
                </a:gridCol>
                <a:gridCol w="2286385">
                  <a:extLst>
                    <a:ext uri="{9D8B030D-6E8A-4147-A177-3AD203B41FA5}">
                      <a16:colId xmlns:a16="http://schemas.microsoft.com/office/drawing/2014/main" val="20001"/>
                    </a:ext>
                  </a:extLst>
                </a:gridCol>
                <a:gridCol w="1586471">
                  <a:extLst>
                    <a:ext uri="{9D8B030D-6E8A-4147-A177-3AD203B41FA5}">
                      <a16:colId xmlns:a16="http://schemas.microsoft.com/office/drawing/2014/main" val="20002"/>
                    </a:ext>
                  </a:extLst>
                </a:gridCol>
              </a:tblGrid>
              <a:tr h="329184">
                <a:tc>
                  <a:txBody>
                    <a:bodyPr/>
                    <a:lstStyle/>
                    <a:p>
                      <a:pPr algn="ctr">
                        <a:buNone/>
                      </a:pPr>
                      <a:r>
                        <a:rPr lang="ja-JP" altLang="en-US" sz="1050" b="1" dirty="0">
                          <a:solidFill>
                            <a:srgbClr val="FFFFFF"/>
                          </a:solidFill>
                          <a:latin typeface="メイリオ" panose="020B0604030504040204" pitchFamily="50" charset="-128"/>
                          <a:ea typeface="メイリオ" panose="020B0604030504040204" pitchFamily="50" charset="-128"/>
                        </a:rPr>
                        <a:t>タグ</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E2761"/>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例</a:t>
                      </a:r>
                      <a:endParaRPr lang="ja-JP" altLang="en-US" sz="11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E2761"/>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取り方</a:t>
                      </a:r>
                      <a:endParaRPr lang="ja-JP" altLang="en-US" sz="11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エリア</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神奈川（横浜・川崎・湘南など）／静岡</a:t>
                      </a:r>
                      <a:endParaRPr lang="ja-JP" altLang="en-US" sz="11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追加後の質問</a:t>
                      </a:r>
                      <a:endParaRPr lang="en-US" altLang="ja-JP" sz="10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（選択式）</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会場</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日産スタジアム・横浜アリーナ・横浜スタジアムなど</a:t>
                      </a:r>
                      <a:endParaRPr lang="ja-JP" altLang="en-US" sz="11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追加後の質問・勤務の案内時</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業務</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案内・誘導／販売／警備／</a:t>
                      </a:r>
                      <a:endParaRPr lang="en-US" altLang="ja-JP" sz="11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設営・撤去</a:t>
                      </a:r>
                      <a:endParaRPr lang="ja-JP" altLang="en-US" sz="11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追加後の質問</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曜日・時間帯</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土日祝／平日／夜</a:t>
                      </a:r>
                      <a:endParaRPr lang="ja-JP" altLang="en-US" sz="11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追加後の質問・</a:t>
                      </a:r>
                      <a:endParaRPr lang="en-US" altLang="ja-JP" sz="10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メニューで変更</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algn="ctr">
                        <a:buNone/>
                      </a:pPr>
                      <a:r>
                        <a:rPr lang="ja-JP" altLang="en-US" sz="1050" b="1" dirty="0">
                          <a:solidFill>
                            <a:srgbClr val="323366"/>
                          </a:solidFill>
                          <a:latin typeface="メイリオ" panose="020B0604030504040204" pitchFamily="50" charset="-128"/>
                          <a:ea typeface="メイリオ" panose="020B0604030504040204" pitchFamily="50" charset="-128"/>
                        </a:rPr>
                        <a:t>勤務の有無</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EF2F9"/>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勤務あり／まだ勤務なし</a:t>
                      </a:r>
                      <a:endParaRPr lang="ja-JP" altLang="en-US" sz="11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勤務の案内を送った方に付ける</a:t>
                      </a:r>
                      <a:endParaRPr lang="ja-JP" altLang="en-US" sz="105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Rectangle 22"/>
          <p:cNvSpPr/>
          <p:nvPr/>
        </p:nvSpPr>
        <p:spPr>
          <a:xfrm>
            <a:off x="429768" y="4315968"/>
            <a:ext cx="4937760" cy="1188720"/>
          </a:xfrm>
          <a:prstGeom prst="rect">
            <a:avLst/>
          </a:prstGeom>
          <a:noFill/>
          <a:ln>
            <a:noFill/>
          </a:ln>
        </p:spPr>
        <p:txBody>
          <a:bodyPr wrap="square" lIns="18288" tIns="18288" rIns="18288" bIns="0" rtlCol="0" anchor="t">
            <a:noAutofit/>
          </a:bodyPr>
          <a:lstStyle/>
          <a:p>
            <a:pPr algn="l">
              <a:spcAft>
                <a:spcPts val="100"/>
              </a:spcAft>
              <a:buNone/>
            </a:pPr>
            <a:r>
              <a:rPr lang="ja-JP" altLang="en-US" sz="950" b="0" dirty="0">
                <a:solidFill>
                  <a:srgbClr val="595959"/>
                </a:solidFill>
                <a:latin typeface="メイリオ" panose="020B0604030504040204" pitchFamily="50" charset="-128"/>
                <a:ea typeface="メイリオ" panose="020B0604030504040204" pitchFamily="50" charset="-128"/>
              </a:rPr>
              <a:t>※再応募＝登録済みの方からの、次回イベントへの勤務希望（シフトの申告）も含みます。</a:t>
            </a:r>
            <a:endParaRPr lang="ja-JP" altLang="en-US" sz="950" dirty="0"/>
          </a:p>
          <a:p>
            <a:pPr algn="l">
              <a:spcAft>
                <a:spcPts val="100"/>
              </a:spcAft>
              <a:buNone/>
            </a:pPr>
            <a:r>
              <a:rPr lang="ja-JP" altLang="en-US" sz="950" b="0" dirty="0">
                <a:solidFill>
                  <a:srgbClr val="595959"/>
                </a:solidFill>
                <a:latin typeface="メイリオ" panose="020B0604030504040204" pitchFamily="50" charset="-128"/>
                <a:ea typeface="メイリオ" panose="020B0604030504040204" pitchFamily="50" charset="-128"/>
              </a:rPr>
              <a:t>※取れる情報から、段階的にタグを付けます。最初から高度なシステム連携は前提にしません。</a:t>
            </a:r>
            <a:endParaRPr lang="ja-JP" altLang="en-US" sz="950" dirty="0"/>
          </a:p>
          <a:p>
            <a:pPr algn="l">
              <a:spcAft>
                <a:spcPts val="100"/>
              </a:spcAft>
              <a:buNone/>
            </a:pPr>
            <a:r>
              <a:rPr lang="ja-JP" altLang="en-US" sz="950" b="0" dirty="0">
                <a:solidFill>
                  <a:srgbClr val="595959"/>
                </a:solidFill>
                <a:latin typeface="メイリオ" panose="020B0604030504040204" pitchFamily="50" charset="-128"/>
                <a:ea typeface="メイリオ" panose="020B0604030504040204" pitchFamily="50" charset="-128"/>
              </a:rPr>
              <a:t>※勤務の履歴・希望条件をいまどこで管理しているかは確認事項です。</a:t>
            </a:r>
            <a:endParaRPr lang="ja-JP" altLang="en-US" sz="950" dirty="0"/>
          </a:p>
        </p:txBody>
      </p:sp>
      <p:sp>
        <p:nvSpPr>
          <p:cNvPr id="24" name="Rounded Rectangle 23"/>
          <p:cNvSpPr/>
          <p:nvPr/>
        </p:nvSpPr>
        <p:spPr>
          <a:xfrm>
            <a:off x="5596128" y="1371600"/>
            <a:ext cx="3877056" cy="329184"/>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配信の出し分けの例</a:t>
            </a:r>
            <a:endParaRPr lang="ja-JP" altLang="en-US" sz="1150" dirty="0"/>
          </a:p>
        </p:txBody>
      </p:sp>
      <p:sp>
        <p:nvSpPr>
          <p:cNvPr id="25" name="Rectangle 24"/>
          <p:cNvSpPr/>
          <p:nvPr/>
        </p:nvSpPr>
        <p:spPr>
          <a:xfrm>
            <a:off x="5596128" y="1828800"/>
            <a:ext cx="1600200" cy="603504"/>
          </a:xfrm>
          <a:prstGeom prst="rect">
            <a:avLst/>
          </a:prstGeom>
          <a:solidFill>
            <a:srgbClr val="EEF2F9"/>
          </a:solidFill>
          <a:ln>
            <a:noFill/>
          </a:ln>
        </p:spPr>
        <p:txBody>
          <a:bodyPr wrap="square" lIns="36576" tIns="0" rIns="36576" bIns="0" rtlCol="0" anchor="ctr">
            <a:noAutofit/>
          </a:bodyPr>
          <a:lstStyle/>
          <a:p>
            <a:pPr algn="ctr">
              <a:buNone/>
            </a:pPr>
            <a:r>
              <a:rPr lang="ja-JP" altLang="en-US" sz="1100" b="1" dirty="0">
                <a:solidFill>
                  <a:srgbClr val="323366"/>
                </a:solidFill>
                <a:latin typeface="メイリオ" panose="020B0604030504040204" pitchFamily="50" charset="-128"/>
                <a:ea typeface="メイリオ" panose="020B0604030504040204" pitchFamily="50" charset="-128"/>
              </a:rPr>
              <a:t>横浜エリアを希望</a:t>
            </a:r>
            <a:endParaRPr lang="ja-JP" altLang="en-US" sz="1100" dirty="0"/>
          </a:p>
        </p:txBody>
      </p:sp>
      <p:cxnSp>
        <p:nvCxnSpPr>
          <p:cNvPr id="26" name="Connector 25"/>
          <p:cNvCxnSpPr/>
          <p:nvPr/>
        </p:nvCxnSpPr>
        <p:spPr>
          <a:xfrm>
            <a:off x="7242048" y="2130552"/>
            <a:ext cx="292608" cy="0"/>
          </a:xfrm>
          <a:prstGeom prst="line">
            <a:avLst/>
          </a:prstGeom>
          <a:ln w="22225">
            <a:solidFill>
              <a:srgbClr val="1E2761"/>
            </a:solidFill>
            <a:tailEnd type="triangle" w="med" len="med"/>
          </a:ln>
        </p:spPr>
      </p:cxnSp>
      <p:sp>
        <p:nvSpPr>
          <p:cNvPr id="27" name="Rounded Rectangle 26"/>
          <p:cNvSpPr/>
          <p:nvPr/>
        </p:nvSpPr>
        <p:spPr>
          <a:xfrm>
            <a:off x="7580375" y="1828800"/>
            <a:ext cx="1892808" cy="603504"/>
          </a:xfrm>
          <a:prstGeom prst="roundRect">
            <a:avLst>
              <a:gd name="adj" fmla="val 5000"/>
            </a:avLst>
          </a:prstGeom>
          <a:solidFill>
            <a:srgbClr val="FFFFFF"/>
          </a:solidFill>
          <a:ln w="9525">
            <a:solidFill>
              <a:srgbClr val="1E2761"/>
            </a:solidFill>
          </a:ln>
        </p:spPr>
        <p:txBody>
          <a:bodyPr wrap="square" lIns="36576" tIns="0" rIns="36576" bIns="0" rtlCol="0" anchor="ctr">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横浜周辺のイベントの募集</a:t>
            </a:r>
            <a:endParaRPr lang="ja-JP" altLang="en-US" sz="1100" dirty="0"/>
          </a:p>
        </p:txBody>
      </p:sp>
      <p:sp>
        <p:nvSpPr>
          <p:cNvPr id="28" name="Rectangle 27"/>
          <p:cNvSpPr/>
          <p:nvPr/>
        </p:nvSpPr>
        <p:spPr>
          <a:xfrm>
            <a:off x="5596128" y="2615184"/>
            <a:ext cx="1600200" cy="603504"/>
          </a:xfrm>
          <a:prstGeom prst="rect">
            <a:avLst/>
          </a:prstGeom>
          <a:solidFill>
            <a:srgbClr val="EEF2F9"/>
          </a:solidFill>
          <a:ln>
            <a:noFill/>
          </a:ln>
        </p:spPr>
        <p:txBody>
          <a:bodyPr wrap="square" lIns="36576" tIns="0" rIns="36576" bIns="0" rtlCol="0" anchor="ctr">
            <a:noAutofit/>
          </a:bodyPr>
          <a:lstStyle/>
          <a:p>
            <a:pPr algn="ctr">
              <a:buNone/>
            </a:pPr>
            <a:r>
              <a:rPr lang="ja-JP" altLang="en-US" sz="1100" b="1" dirty="0">
                <a:solidFill>
                  <a:srgbClr val="323366"/>
                </a:solidFill>
                <a:latin typeface="メイリオ" panose="020B0604030504040204" pitchFamily="50" charset="-128"/>
                <a:ea typeface="メイリオ" panose="020B0604030504040204" pitchFamily="50" charset="-128"/>
              </a:rPr>
              <a:t>特定の会場に関心</a:t>
            </a:r>
            <a:endParaRPr lang="ja-JP" altLang="en-US" sz="1100" dirty="0"/>
          </a:p>
        </p:txBody>
      </p:sp>
      <p:cxnSp>
        <p:nvCxnSpPr>
          <p:cNvPr id="29" name="Connector 28"/>
          <p:cNvCxnSpPr/>
          <p:nvPr/>
        </p:nvCxnSpPr>
        <p:spPr>
          <a:xfrm>
            <a:off x="7242048" y="2916936"/>
            <a:ext cx="292608" cy="0"/>
          </a:xfrm>
          <a:prstGeom prst="line">
            <a:avLst/>
          </a:prstGeom>
          <a:ln w="22225">
            <a:solidFill>
              <a:srgbClr val="1E2761"/>
            </a:solidFill>
            <a:tailEnd type="triangle" w="med" len="med"/>
          </a:ln>
        </p:spPr>
      </p:cxnSp>
      <p:sp>
        <p:nvSpPr>
          <p:cNvPr id="30" name="Rounded Rectangle 29"/>
          <p:cNvSpPr/>
          <p:nvPr/>
        </p:nvSpPr>
        <p:spPr>
          <a:xfrm>
            <a:off x="7580375" y="2615184"/>
            <a:ext cx="1892808" cy="603504"/>
          </a:xfrm>
          <a:prstGeom prst="roundRect">
            <a:avLst>
              <a:gd name="adj" fmla="val 5000"/>
            </a:avLst>
          </a:prstGeom>
          <a:solidFill>
            <a:srgbClr val="FFFFFF"/>
          </a:solidFill>
          <a:ln w="9525">
            <a:solidFill>
              <a:srgbClr val="1E2761"/>
            </a:solidFill>
          </a:ln>
        </p:spPr>
        <p:txBody>
          <a:bodyPr wrap="square" lIns="36576" tIns="0" rIns="36576" bIns="0" rtlCol="0" anchor="ctr">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その会場のイベントの募集</a:t>
            </a:r>
            <a:endParaRPr lang="ja-JP" altLang="en-US" sz="1100" dirty="0"/>
          </a:p>
        </p:txBody>
      </p:sp>
      <p:sp>
        <p:nvSpPr>
          <p:cNvPr id="31" name="Rectangle 30"/>
          <p:cNvSpPr/>
          <p:nvPr/>
        </p:nvSpPr>
        <p:spPr>
          <a:xfrm>
            <a:off x="5596128" y="3401568"/>
            <a:ext cx="1600200" cy="603504"/>
          </a:xfrm>
          <a:prstGeom prst="rect">
            <a:avLst/>
          </a:prstGeom>
          <a:solidFill>
            <a:srgbClr val="EEF2F9"/>
          </a:solidFill>
          <a:ln>
            <a:noFill/>
          </a:ln>
        </p:spPr>
        <p:txBody>
          <a:bodyPr wrap="square" lIns="36576" tIns="0" rIns="36576" bIns="0" rtlCol="0" anchor="ctr">
            <a:noAutofit/>
          </a:bodyPr>
          <a:lstStyle/>
          <a:p>
            <a:pPr algn="ctr">
              <a:buNone/>
            </a:pPr>
            <a:r>
              <a:rPr lang="ja-JP" altLang="en-US" sz="1100" b="1" dirty="0">
                <a:solidFill>
                  <a:srgbClr val="323366"/>
                </a:solidFill>
                <a:latin typeface="メイリオ" panose="020B0604030504040204" pitchFamily="50" charset="-128"/>
                <a:ea typeface="メイリオ" panose="020B0604030504040204" pitchFamily="50" charset="-128"/>
              </a:rPr>
              <a:t>土日に勤務したい</a:t>
            </a:r>
            <a:endParaRPr lang="ja-JP" altLang="en-US" sz="1100" dirty="0"/>
          </a:p>
        </p:txBody>
      </p:sp>
      <p:cxnSp>
        <p:nvCxnSpPr>
          <p:cNvPr id="32" name="Connector 31"/>
          <p:cNvCxnSpPr/>
          <p:nvPr/>
        </p:nvCxnSpPr>
        <p:spPr>
          <a:xfrm>
            <a:off x="7242048" y="3703320"/>
            <a:ext cx="292608" cy="0"/>
          </a:xfrm>
          <a:prstGeom prst="line">
            <a:avLst/>
          </a:prstGeom>
          <a:ln w="22225">
            <a:solidFill>
              <a:srgbClr val="1E2761"/>
            </a:solidFill>
            <a:tailEnd type="triangle" w="med" len="med"/>
          </a:ln>
        </p:spPr>
      </p:cxnSp>
      <p:sp>
        <p:nvSpPr>
          <p:cNvPr id="33" name="Rounded Rectangle 32"/>
          <p:cNvSpPr/>
          <p:nvPr/>
        </p:nvSpPr>
        <p:spPr>
          <a:xfrm>
            <a:off x="7580375" y="3401568"/>
            <a:ext cx="1892808" cy="603504"/>
          </a:xfrm>
          <a:prstGeom prst="roundRect">
            <a:avLst>
              <a:gd name="adj" fmla="val 5000"/>
            </a:avLst>
          </a:prstGeom>
          <a:solidFill>
            <a:srgbClr val="FFFFFF"/>
          </a:solidFill>
          <a:ln w="9525">
            <a:solidFill>
              <a:srgbClr val="1E2761"/>
            </a:solidFill>
          </a:ln>
        </p:spPr>
        <p:txBody>
          <a:bodyPr wrap="square" lIns="36576" tIns="0" rIns="36576" bIns="0" rtlCol="0" anchor="ctr">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休日のイベントの募集</a:t>
            </a:r>
            <a:endParaRPr lang="ja-JP" altLang="en-US" sz="1100" dirty="0"/>
          </a:p>
        </p:txBody>
      </p:sp>
      <p:sp>
        <p:nvSpPr>
          <p:cNvPr id="34" name="Rectangle 33"/>
          <p:cNvSpPr/>
          <p:nvPr/>
        </p:nvSpPr>
        <p:spPr>
          <a:xfrm>
            <a:off x="5596128" y="4187952"/>
            <a:ext cx="1600200" cy="603504"/>
          </a:xfrm>
          <a:prstGeom prst="rect">
            <a:avLst/>
          </a:prstGeom>
          <a:solidFill>
            <a:srgbClr val="EEF2F9"/>
          </a:solidFill>
          <a:ln>
            <a:noFill/>
          </a:ln>
        </p:spPr>
        <p:txBody>
          <a:bodyPr wrap="square" lIns="36576" tIns="0" rIns="36576" bIns="0" rtlCol="0" anchor="ctr">
            <a:noAutofit/>
          </a:bodyPr>
          <a:lstStyle/>
          <a:p>
            <a:pPr algn="ctr">
              <a:buNone/>
            </a:pPr>
            <a:r>
              <a:rPr lang="ja-JP" altLang="en-US" sz="1100" b="1" dirty="0">
                <a:solidFill>
                  <a:srgbClr val="323366"/>
                </a:solidFill>
                <a:latin typeface="メイリオ" panose="020B0604030504040204" pitchFamily="50" charset="-128"/>
                <a:ea typeface="メイリオ" panose="020B0604030504040204" pitchFamily="50" charset="-128"/>
              </a:rPr>
              <a:t>一度勤務した方</a:t>
            </a:r>
            <a:endParaRPr lang="ja-JP" altLang="en-US" sz="1100" dirty="0"/>
          </a:p>
        </p:txBody>
      </p:sp>
      <p:cxnSp>
        <p:nvCxnSpPr>
          <p:cNvPr id="35" name="Connector 34"/>
          <p:cNvCxnSpPr/>
          <p:nvPr/>
        </p:nvCxnSpPr>
        <p:spPr>
          <a:xfrm>
            <a:off x="7242048" y="4489704"/>
            <a:ext cx="292608" cy="0"/>
          </a:xfrm>
          <a:prstGeom prst="line">
            <a:avLst/>
          </a:prstGeom>
          <a:ln w="22225">
            <a:solidFill>
              <a:srgbClr val="1E2761"/>
            </a:solidFill>
            <a:tailEnd type="triangle" w="med" len="med"/>
          </a:ln>
        </p:spPr>
      </p:cxnSp>
      <p:sp>
        <p:nvSpPr>
          <p:cNvPr id="36" name="Rounded Rectangle 35"/>
          <p:cNvSpPr/>
          <p:nvPr/>
        </p:nvSpPr>
        <p:spPr>
          <a:xfrm>
            <a:off x="7580375" y="4187952"/>
            <a:ext cx="1892808" cy="603504"/>
          </a:xfrm>
          <a:prstGeom prst="roundRect">
            <a:avLst>
              <a:gd name="adj" fmla="val 5000"/>
            </a:avLst>
          </a:prstGeom>
          <a:solidFill>
            <a:srgbClr val="FFFFFF"/>
          </a:solidFill>
          <a:ln w="9525">
            <a:solidFill>
              <a:srgbClr val="1E2761"/>
            </a:solidFill>
          </a:ln>
        </p:spPr>
        <p:txBody>
          <a:bodyPr wrap="square" lIns="36576" tIns="0" rIns="36576" bIns="0" rtlCol="0" anchor="ctr">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次回の募集を先にご案内</a:t>
            </a:r>
            <a:endParaRPr lang="ja-JP" altLang="en-US" sz="1100" dirty="0"/>
          </a:p>
        </p:txBody>
      </p:sp>
      <p:sp>
        <p:nvSpPr>
          <p:cNvPr id="37" name="Rectangle 36"/>
          <p:cNvSpPr/>
          <p:nvPr/>
        </p:nvSpPr>
        <p:spPr>
          <a:xfrm>
            <a:off x="5596128" y="4983480"/>
            <a:ext cx="3877056" cy="457200"/>
          </a:xfrm>
          <a:prstGeom prst="rect">
            <a:avLst/>
          </a:prstGeom>
          <a:noFill/>
          <a:ln>
            <a:noFill/>
          </a:ln>
        </p:spPr>
        <p:txBody>
          <a:bodyPr wrap="square" lIns="18288" tIns="18288" rIns="18288" bIns="0" rtlCol="0" anchor="t">
            <a:noAutofit/>
          </a:bodyPr>
          <a:lstStyle/>
          <a:p>
            <a:pPr algn="l">
              <a:buNone/>
            </a:pPr>
            <a:r>
              <a:rPr lang="ja-JP" altLang="en-US" sz="1000" b="0" dirty="0">
                <a:solidFill>
                  <a:srgbClr val="595959"/>
                </a:solidFill>
                <a:latin typeface="メイリオ" panose="020B0604030504040204" pitchFamily="50" charset="-128"/>
                <a:ea typeface="メイリオ" panose="020B0604030504040204" pitchFamily="50" charset="-128"/>
              </a:rPr>
              <a:t>※配信設計の例です。</a:t>
            </a:r>
            <a:endParaRPr lang="ja-JP" alt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前後検索「単発バイト」｜当日に何社も比べ、その後は給与・働き方を調べる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応募の前後に調べていることを、LINEで先に届ける</a:t>
            </a:r>
            <a:endParaRPr lang="en-US" sz="1400" b="1" u="none" strike="noStrike" dirty="0">
              <a:effectLst/>
              <a:uFillTx/>
              <a:latin typeface="メイリオ"/>
            </a:endParaRPr>
          </a:p>
        </p:txBody>
      </p:sp>
      <p:pic>
        <p:nvPicPr>
          <p:cNvPr id="7" name="前後検索 単発バイト（色分け）" descr="tanaka_zengo_chumon_color.png"/>
          <p:cNvPicPr>
            <a:picLocks noChangeAspect="1"/>
          </p:cNvPicPr>
          <p:nvPr/>
        </p:nvPicPr>
        <p:blipFill>
          <a:blip r:embed="rId2"/>
          <a:stretch>
            <a:fillRect/>
          </a:stretch>
        </p:blipFill>
        <p:spPr>
          <a:xfrm>
            <a:off x="502920" y="1600200"/>
            <a:ext cx="5943600" cy="3730824"/>
          </a:xfrm>
          <a:prstGeom prst="rect">
            <a:avLst/>
          </a:prstGeom>
        </p:spPr>
      </p:pic>
      <p:sp>
        <p:nvSpPr>
          <p:cNvPr id="8" name="LINE追加の時期"/>
          <p:cNvSpPr/>
          <p:nvPr/>
        </p:nvSpPr>
        <p:spPr>
          <a:xfrm>
            <a:off x="3584676" y="1644777"/>
            <a:ext cx="692429" cy="3485439"/>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73690" y="5377104"/>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求人サービスを比べる</a:t>
            </a:r>
            <a:endParaRPr lang="ja-JP" altLang="en-US" sz="1200" dirty="0"/>
          </a:p>
        </p:txBody>
      </p:sp>
      <p:sp>
        <p:nvSpPr>
          <p:cNvPr id="12" name="凡例の色"/>
          <p:cNvSpPr/>
          <p:nvPr/>
        </p:nvSpPr>
        <p:spPr>
          <a:xfrm>
            <a:off x="6629400" y="1901952"/>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応募・面接の準備</a:t>
            </a:r>
            <a:endParaRPr lang="ja-JP" altLang="en-US" sz="1200" dirty="0"/>
          </a:p>
        </p:txBody>
      </p:sp>
      <p:sp>
        <p:nvSpPr>
          <p:cNvPr id="14" name="凡例の色"/>
          <p:cNvSpPr/>
          <p:nvPr/>
        </p:nvSpPr>
        <p:spPr>
          <a:xfrm>
            <a:off x="6629400" y="2148840"/>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給与・働き方を調べる</a:t>
            </a:r>
            <a:endParaRPr lang="ja-JP" altLang="en-US" sz="1200" dirty="0"/>
          </a:p>
        </p:txBody>
      </p:sp>
      <p:sp>
        <p:nvSpPr>
          <p:cNvPr id="18" name="分析 当日"/>
          <p:cNvSpPr/>
          <p:nvPr/>
        </p:nvSpPr>
        <p:spPr>
          <a:xfrm>
            <a:off x="6629400" y="240487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検索前</a:t>
            </a:r>
            <a:endParaRPr lang="ja-JP" altLang="en-US" sz="1200" dirty="0"/>
          </a:p>
        </p:txBody>
      </p:sp>
      <p:sp>
        <p:nvSpPr>
          <p:cNvPr id="19" name="分析 当日 本文"/>
          <p:cNvSpPr/>
          <p:nvPr/>
        </p:nvSpPr>
        <p:spPr>
          <a:xfrm>
            <a:off x="6629400" y="2679191"/>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求人サイトで探し始める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バイト 求人・タウンワークなど</a:t>
            </a:r>
            <a:endParaRPr lang="ja-JP" altLang="en-US" sz="1200" dirty="0"/>
          </a:p>
        </p:txBody>
      </p:sp>
      <p:sp>
        <p:nvSpPr>
          <p:cNvPr id="20" name="分析 1〜7日後"/>
          <p:cNvSpPr/>
          <p:nvPr/>
        </p:nvSpPr>
        <p:spPr>
          <a:xfrm>
            <a:off x="6629400" y="3447288"/>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21" name="分析 1〜7日後 本文"/>
          <p:cNvSpPr/>
          <p:nvPr/>
        </p:nvSpPr>
        <p:spPr>
          <a:xfrm>
            <a:off x="6629400" y="3721608"/>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単発のサービスを比べる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タイミー・バイトル・短期バイトなど。履歴書の書き方も</a:t>
            </a:r>
            <a:endParaRPr lang="ja-JP" altLang="en-US" sz="1200" dirty="0"/>
          </a:p>
        </p:txBody>
      </p:sp>
      <p:sp>
        <p:nvSpPr>
          <p:cNvPr id="22" name="分析 7〜15日後"/>
          <p:cNvSpPr/>
          <p:nvPr/>
        </p:nvSpPr>
        <p:spPr>
          <a:xfrm>
            <a:off x="6629400" y="4489704"/>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1〜15日後</a:t>
            </a:r>
            <a:endParaRPr lang="ja-JP" altLang="en-US" sz="1200" dirty="0"/>
          </a:p>
        </p:txBody>
      </p:sp>
      <p:sp>
        <p:nvSpPr>
          <p:cNvPr id="23" name="分析 7〜15日後 本文"/>
          <p:cNvSpPr/>
          <p:nvPr/>
        </p:nvSpPr>
        <p:spPr>
          <a:xfrm>
            <a:off x="6629400" y="4764024"/>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給与・働き方を調べる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日払い・確定申告・ダブルワークの扶養。面接の服装も</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求人サービスを比べる → 応募・面接の準備 → 給与・働き方 の順に調べている</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※LINEヤフー社の前後検索データより。「単発バイト」を検索した方が、前後15日間に検索した言葉（縦軸＝検索した人数）。</a:t>
            </a:r>
            <a:endParaRPr lang="ja-JP" alt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配信イメージ｜勤務前の案内・次回の募集・リッチメニュー</a:t>
            </a:r>
          </a:p>
        </p:txBody>
      </p:sp>
      <p:sp>
        <p:nvSpPr>
          <p:cNvPr id="3" name="TextBox 2"/>
          <p:cNvSpPr txBox="1"/>
          <p:nvPr/>
        </p:nvSpPr>
        <p:spPr>
          <a:xfrm>
            <a:off x="309600" y="687600"/>
            <a:ext cx="9331200" cy="585216"/>
          </a:xfrm>
          <a:prstGeom prst="rect">
            <a:avLst/>
          </a:prstGeom>
          <a:noFill/>
        </p:spPr>
        <p:txBody>
          <a:bodyPr wrap="square" lIns="28800" tIns="7200" rIns="28800" bIns="7200" anchor="ctr">
            <a:spAutoFit/>
          </a:bodyPr>
          <a:lstStyle/>
          <a:p>
            <a:pPr algn="l">
              <a:lnSpc>
                <a:spcPct val="120000"/>
              </a:lnSpc>
            </a:pPr>
            <a:r>
              <a:rPr sz="1400" b="1">
                <a:solidFill>
                  <a:srgbClr val="1E2761"/>
                </a:solidFill>
                <a:latin typeface="メイリオ"/>
                <a:ea typeface="メイリオ"/>
                <a:cs typeface="メイリオ"/>
              </a:rPr>
              <a:t>横浜シミズ向けの配信の文面と、リッチメニューの構成案です。</a:t>
            </a:r>
          </a:p>
          <a:p>
            <a:pPr algn="l">
              <a:lnSpc>
                <a:spcPct val="120000"/>
              </a:lnSpc>
            </a:pPr>
            <a:r>
              <a:rPr sz="1400" b="1">
                <a:solidFill>
                  <a:srgbClr val="FF0000"/>
                </a:solidFill>
                <a:latin typeface="メイリオ"/>
                <a:ea typeface="メイリオ"/>
                <a:cs typeface="メイリオ"/>
              </a:rPr>
              <a:t>文面・項目は例です。運用を始める前にすり合わせて確定します。</a:t>
            </a:r>
          </a:p>
        </p:txBody>
      </p:sp>
      <p:sp>
        <p:nvSpPr>
          <p:cNvPr id="18" name="Rectangle 17"/>
          <p:cNvSpPr/>
          <p:nvPr/>
        </p:nvSpPr>
        <p:spPr>
          <a:xfrm>
            <a:off x="429768" y="5596128"/>
            <a:ext cx="9043416"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9768" y="5596128"/>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勤務に必要な情報と次の募集が、同じLINEに届く</a:t>
            </a:r>
            <a:endParaRPr lang="ja-JP" altLang="en-US" sz="1300" dirty="0"/>
          </a:p>
        </p:txBody>
      </p:sp>
      <p:sp>
        <p:nvSpPr>
          <p:cNvPr id="22" name="Rounded Rectangle 21"/>
          <p:cNvSpPr/>
          <p:nvPr/>
        </p:nvSpPr>
        <p:spPr>
          <a:xfrm>
            <a:off x="429768" y="1371600"/>
            <a:ext cx="2880360" cy="329184"/>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勤務前の案内（前日）</a:t>
            </a:r>
            <a:endParaRPr lang="ja-JP" altLang="en-US" sz="1150" dirty="0"/>
          </a:p>
        </p:txBody>
      </p:sp>
      <p:sp>
        <p:nvSpPr>
          <p:cNvPr id="23" name="Rectangle 22"/>
          <p:cNvSpPr/>
          <p:nvPr/>
        </p:nvSpPr>
        <p:spPr>
          <a:xfrm>
            <a:off x="429768" y="1783080"/>
            <a:ext cx="2880360" cy="3246120"/>
          </a:xfrm>
          <a:prstGeom prst="rect">
            <a:avLst/>
          </a:prstGeom>
          <a:solidFill>
            <a:srgbClr val="D8E2F1"/>
          </a:solidFill>
          <a:ln>
            <a:noFill/>
          </a:ln>
        </p:spPr>
        <p:txBody>
          <a:bodyPr wrap="square" lIns="73152" tIns="36576" rIns="73152" bIns="36576" rtlCol="0" anchor="ctr">
            <a:noAutofit/>
          </a:bodyPr>
          <a:lstStyle/>
          <a:p>
            <a:pPr algn="l">
              <a:buNone/>
            </a:pPr>
            <a:endParaRPr lang="ja-JP" altLang="en-US" sz="1200" dirty="0"/>
          </a:p>
        </p:txBody>
      </p:sp>
      <p:sp>
        <p:nvSpPr>
          <p:cNvPr id="24" name="Rounded Rectangle 23"/>
          <p:cNvSpPr/>
          <p:nvPr/>
        </p:nvSpPr>
        <p:spPr>
          <a:xfrm>
            <a:off x="594359" y="1920240"/>
            <a:ext cx="2551176" cy="2926080"/>
          </a:xfrm>
          <a:prstGeom prst="roundRect">
            <a:avLst>
              <a:gd name="adj" fmla="val 5000"/>
            </a:avLst>
          </a:prstGeom>
          <a:solidFill>
            <a:srgbClr val="FFFFFF"/>
          </a:solidFill>
          <a:ln>
            <a:noFill/>
          </a:ln>
        </p:spPr>
        <p:txBody>
          <a:bodyPr wrap="square" lIns="109728" tIns="73152" rIns="91440" bIns="54864" rtlCol="0" anchor="t">
            <a:noAutofit/>
          </a:bodyPr>
          <a:lstStyle/>
          <a:p>
            <a:pPr algn="l">
              <a:spcAft>
                <a:spcPts val="200"/>
              </a:spcAft>
              <a:buNone/>
            </a:pPr>
            <a:r>
              <a:rPr lang="ja-JP" altLang="en-US" sz="1050" b="1" dirty="0">
                <a:solidFill>
                  <a:srgbClr val="323366"/>
                </a:solidFill>
                <a:latin typeface="メイリオ" panose="020B0604030504040204" pitchFamily="50" charset="-128"/>
                <a:ea typeface="メイリオ" panose="020B0604030504040204" pitchFamily="50" charset="-128"/>
              </a:rPr>
              <a:t>【明日の勤務のご案内】</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〇月〇日（〇）〇〇スタジアム</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集合：〇〇:〇〇　〇〇ゲート前</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持ち物：〇〇・〇〇</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服装：〇〇</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遅れる場合・体調がすぐれないときは、このLINEでご連絡ください。</a:t>
            </a:r>
            <a:endParaRPr lang="ja-JP" altLang="en-US" sz="1050" dirty="0"/>
          </a:p>
        </p:txBody>
      </p:sp>
      <p:sp>
        <p:nvSpPr>
          <p:cNvPr id="25" name="Rectangle 24"/>
          <p:cNvSpPr/>
          <p:nvPr/>
        </p:nvSpPr>
        <p:spPr>
          <a:xfrm>
            <a:off x="429768" y="5074920"/>
            <a:ext cx="2880360" cy="365760"/>
          </a:xfrm>
          <a:prstGeom prst="rect">
            <a:avLst/>
          </a:prstGeom>
          <a:noFill/>
          <a:ln>
            <a:noFill/>
          </a:ln>
        </p:spPr>
        <p:txBody>
          <a:bodyPr wrap="square" lIns="18288" tIns="0" rIns="18288" bIns="0" rtlCol="0" anchor="ctr">
            <a:noAutofit/>
          </a:bodyPr>
          <a:lstStyle/>
          <a:p>
            <a:pPr algn="l">
              <a:buNone/>
            </a:pPr>
            <a:r>
              <a:rPr lang="ja-JP" altLang="en-US" sz="1000" b="0" dirty="0">
                <a:solidFill>
                  <a:srgbClr val="595959"/>
                </a:solidFill>
                <a:latin typeface="メイリオ" panose="020B0604030504040204" pitchFamily="50" charset="-128"/>
                <a:ea typeface="メイリオ" panose="020B0604030504040204" pitchFamily="50" charset="-128"/>
              </a:rPr>
              <a:t>対象：そのイベントに勤務する方（タグ）</a:t>
            </a:r>
            <a:endParaRPr lang="ja-JP" altLang="en-US" sz="1000" dirty="0"/>
          </a:p>
        </p:txBody>
      </p:sp>
      <p:sp>
        <p:nvSpPr>
          <p:cNvPr id="26" name="Rounded Rectangle 25"/>
          <p:cNvSpPr/>
          <p:nvPr/>
        </p:nvSpPr>
        <p:spPr>
          <a:xfrm>
            <a:off x="3511296" y="1371600"/>
            <a:ext cx="2880360" cy="329184"/>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次回イベントの募集</a:t>
            </a:r>
            <a:endParaRPr lang="ja-JP" altLang="en-US" sz="1150" dirty="0"/>
          </a:p>
        </p:txBody>
      </p:sp>
      <p:sp>
        <p:nvSpPr>
          <p:cNvPr id="27" name="Rectangle 26"/>
          <p:cNvSpPr/>
          <p:nvPr/>
        </p:nvSpPr>
        <p:spPr>
          <a:xfrm>
            <a:off x="3511296" y="1783080"/>
            <a:ext cx="2880360" cy="3246120"/>
          </a:xfrm>
          <a:prstGeom prst="rect">
            <a:avLst/>
          </a:prstGeom>
          <a:solidFill>
            <a:srgbClr val="D8E2F1"/>
          </a:solidFill>
          <a:ln>
            <a:noFill/>
          </a:ln>
        </p:spPr>
        <p:txBody>
          <a:bodyPr wrap="square" lIns="73152" tIns="36576" rIns="73152" bIns="36576" rtlCol="0" anchor="ctr">
            <a:noAutofit/>
          </a:bodyPr>
          <a:lstStyle/>
          <a:p>
            <a:pPr algn="l">
              <a:buNone/>
            </a:pPr>
            <a:endParaRPr lang="ja-JP" altLang="en-US" sz="1200" dirty="0"/>
          </a:p>
        </p:txBody>
      </p:sp>
      <p:sp>
        <p:nvSpPr>
          <p:cNvPr id="28" name="Rounded Rectangle 27"/>
          <p:cNvSpPr/>
          <p:nvPr/>
        </p:nvSpPr>
        <p:spPr>
          <a:xfrm>
            <a:off x="3675888" y="1920240"/>
            <a:ext cx="2551176" cy="2331720"/>
          </a:xfrm>
          <a:prstGeom prst="roundRect">
            <a:avLst>
              <a:gd name="adj" fmla="val 5000"/>
            </a:avLst>
          </a:prstGeom>
          <a:solidFill>
            <a:srgbClr val="FFFFFF"/>
          </a:solidFill>
          <a:ln>
            <a:noFill/>
          </a:ln>
        </p:spPr>
        <p:txBody>
          <a:bodyPr wrap="square" lIns="109728" tIns="73152" rIns="91440" bIns="54864" rtlCol="0" anchor="t">
            <a:noAutofit/>
          </a:bodyPr>
          <a:lstStyle/>
          <a:p>
            <a:pPr algn="l">
              <a:spcAft>
                <a:spcPts val="200"/>
              </a:spcAft>
              <a:buNone/>
            </a:pPr>
            <a:r>
              <a:rPr lang="ja-JP" altLang="en-US" sz="1050" b="1" dirty="0">
                <a:solidFill>
                  <a:srgbClr val="323366"/>
                </a:solidFill>
                <a:latin typeface="メイリオ" panose="020B0604030504040204" pitchFamily="50" charset="-128"/>
                <a:ea typeface="メイリオ" panose="020B0604030504040204" pitchFamily="50" charset="-128"/>
              </a:rPr>
              <a:t>【勤務者募集｜横浜アリーナ】</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〇月〇日（〇）〇〇時〜〇〇時</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案内・誘導スタッフ　時給〇〇円〜</a:t>
            </a:r>
            <a:endParaRPr lang="ja-JP" altLang="en-US" sz="1050" dirty="0"/>
          </a:p>
          <a:p>
            <a:pPr algn="l">
              <a:spcAft>
                <a:spcPts val="200"/>
              </a:spcAft>
              <a:buNone/>
            </a:pPr>
            <a:r>
              <a:rPr lang="ja-JP" altLang="en-US" sz="1050" b="0" dirty="0">
                <a:solidFill>
                  <a:srgbClr val="333333"/>
                </a:solidFill>
                <a:latin typeface="メイリオ" panose="020B0604030504040204" pitchFamily="50" charset="-128"/>
                <a:ea typeface="メイリオ" panose="020B0604030504040204" pitchFamily="50" charset="-128"/>
              </a:rPr>
              <a:t>前回のご勤務、ありがとうございました。次のイベントもお待ちしています。</a:t>
            </a:r>
            <a:endParaRPr lang="ja-JP" altLang="en-US" sz="1050" dirty="0"/>
          </a:p>
        </p:txBody>
      </p:sp>
      <p:sp>
        <p:nvSpPr>
          <p:cNvPr id="29" name="Rectangle 28"/>
          <p:cNvSpPr/>
          <p:nvPr/>
        </p:nvSpPr>
        <p:spPr>
          <a:xfrm>
            <a:off x="3831336" y="4343400"/>
            <a:ext cx="2240280" cy="411480"/>
          </a:xfrm>
          <a:prstGeom prst="rect">
            <a:avLst/>
          </a:prstGeom>
          <a:solidFill>
            <a:srgbClr val="06C755"/>
          </a:solidFill>
          <a:ln>
            <a:noFill/>
          </a:ln>
        </p:spPr>
        <p:txBody>
          <a:bodyPr wrap="square" lIns="0" tIns="0" rIns="0"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勤務希望を出す</a:t>
            </a:r>
            <a:endParaRPr lang="ja-JP" altLang="en-US" sz="1100" dirty="0"/>
          </a:p>
        </p:txBody>
      </p:sp>
      <p:sp>
        <p:nvSpPr>
          <p:cNvPr id="30" name="Rectangle 29"/>
          <p:cNvSpPr/>
          <p:nvPr/>
        </p:nvSpPr>
        <p:spPr>
          <a:xfrm>
            <a:off x="3511296" y="5074920"/>
            <a:ext cx="2880360" cy="365760"/>
          </a:xfrm>
          <a:prstGeom prst="rect">
            <a:avLst/>
          </a:prstGeom>
          <a:noFill/>
          <a:ln>
            <a:noFill/>
          </a:ln>
        </p:spPr>
        <p:txBody>
          <a:bodyPr wrap="square" lIns="18288" tIns="0" rIns="18288" bIns="0" rtlCol="0" anchor="ctr">
            <a:noAutofit/>
          </a:bodyPr>
          <a:lstStyle/>
          <a:p>
            <a:pPr algn="l">
              <a:buNone/>
            </a:pPr>
            <a:r>
              <a:rPr lang="ja-JP" altLang="en-US" sz="1000" b="0" dirty="0">
                <a:solidFill>
                  <a:srgbClr val="595959"/>
                </a:solidFill>
                <a:latin typeface="メイリオ" panose="020B0604030504040204" pitchFamily="50" charset="-128"/>
                <a:ea typeface="メイリオ" panose="020B0604030504040204" pitchFamily="50" charset="-128"/>
              </a:rPr>
              <a:t>対象：横浜エリア・土日希望・勤務ありの方</a:t>
            </a:r>
            <a:endParaRPr lang="ja-JP" altLang="en-US" sz="1000" dirty="0"/>
          </a:p>
        </p:txBody>
      </p:sp>
      <p:sp>
        <p:nvSpPr>
          <p:cNvPr id="31" name="Rounded Rectangle 30"/>
          <p:cNvSpPr/>
          <p:nvPr/>
        </p:nvSpPr>
        <p:spPr>
          <a:xfrm>
            <a:off x="6592824" y="1371600"/>
            <a:ext cx="2880360" cy="329184"/>
          </a:xfrm>
          <a:prstGeom prst="roundRect">
            <a:avLst>
              <a:gd name="adj" fmla="val 20000"/>
            </a:avLst>
          </a:prstGeom>
          <a:solidFill>
            <a:srgbClr val="1E2761"/>
          </a:solidFill>
          <a:ln>
            <a:noFill/>
          </a:ln>
        </p:spPr>
        <p:txBody>
          <a:bodyPr wrap="square" lIns="36576" tIns="0" rIns="36576" bIns="0"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リッチメニュー（構成案）</a:t>
            </a:r>
            <a:endParaRPr lang="ja-JP" altLang="en-US" sz="1150" dirty="0"/>
          </a:p>
        </p:txBody>
      </p:sp>
      <p:sp>
        <p:nvSpPr>
          <p:cNvPr id="32" name="Rectangle 31"/>
          <p:cNvSpPr/>
          <p:nvPr/>
        </p:nvSpPr>
        <p:spPr>
          <a:xfrm>
            <a:off x="6592824" y="1783080"/>
            <a:ext cx="2880360" cy="3246120"/>
          </a:xfrm>
          <a:prstGeom prst="rect">
            <a:avLst/>
          </a:prstGeom>
          <a:solidFill>
            <a:srgbClr val="F2F2F2"/>
          </a:solidFill>
          <a:ln>
            <a:noFill/>
          </a:ln>
        </p:spPr>
        <p:txBody>
          <a:bodyPr wrap="square" lIns="73152" tIns="36576" rIns="73152" bIns="36576" rtlCol="0" anchor="ctr">
            <a:noAutofit/>
          </a:bodyPr>
          <a:lstStyle/>
          <a:p>
            <a:pPr algn="l">
              <a:buNone/>
            </a:pPr>
            <a:endParaRPr lang="ja-JP" altLang="en-US" sz="1200" dirty="0"/>
          </a:p>
        </p:txBody>
      </p:sp>
      <p:sp>
        <p:nvSpPr>
          <p:cNvPr id="33" name="Rectangle 32"/>
          <p:cNvSpPr/>
          <p:nvPr/>
        </p:nvSpPr>
        <p:spPr>
          <a:xfrm>
            <a:off x="6647688" y="2240280"/>
            <a:ext cx="893064" cy="914400"/>
          </a:xfrm>
          <a:prstGeom prst="rect">
            <a:avLst/>
          </a:prstGeom>
          <a:solidFill>
            <a:srgbClr val="1E2761"/>
          </a:solidFill>
          <a:ln>
            <a:noFill/>
          </a:ln>
        </p:spPr>
        <p:txBody>
          <a:bodyPr wrap="square" lIns="18288" tIns="18288" rIns="18288" bIns="18288" rtlCol="0" anchor="ctr">
            <a:noAutofit/>
          </a:bodyPr>
          <a:lstStyle/>
          <a:p>
            <a:pPr algn="ctr">
              <a:spcAft>
                <a:spcPts val="100"/>
              </a:spcAft>
              <a:buNone/>
            </a:pPr>
            <a:r>
              <a:rPr lang="ja-JP" altLang="en-US" sz="1150" b="1" dirty="0">
                <a:solidFill>
                  <a:srgbClr val="FFFFFF"/>
                </a:solidFill>
                <a:latin typeface="メイリオ" panose="020B0604030504040204" pitchFamily="50" charset="-128"/>
                <a:ea typeface="メイリオ" panose="020B0604030504040204" pitchFamily="50" charset="-128"/>
              </a:rPr>
              <a:t>仕事を探す</a:t>
            </a:r>
            <a:endParaRPr lang="ja-JP" altLang="en-US" sz="1100" dirty="0"/>
          </a:p>
          <a:p>
            <a:pPr algn="ctr">
              <a:spcAft>
                <a:spcPts val="100"/>
              </a:spcAft>
              <a:buNone/>
            </a:pPr>
            <a:r>
              <a:rPr lang="ja-JP" altLang="en-US" sz="950" b="0" dirty="0">
                <a:solidFill>
                  <a:srgbClr val="FFFFFF"/>
                </a:solidFill>
                <a:latin typeface="メイリオ" panose="020B0604030504040204" pitchFamily="50" charset="-128"/>
                <a:ea typeface="メイリオ" panose="020B0604030504040204" pitchFamily="50" charset="-128"/>
              </a:rPr>
              <a:t>募集中の</a:t>
            </a:r>
            <a:br>
              <a:rPr lang="ja-JP" altLang="en-US" sz="950" b="0" dirty="0">
                <a:solidFill>
                  <a:srgbClr val="FFFFFF"/>
                </a:solidFill>
                <a:latin typeface="メイリオ" panose="020B0604030504040204" pitchFamily="50" charset="-128"/>
                <a:ea typeface="メイリオ" panose="020B0604030504040204" pitchFamily="50" charset="-128"/>
              </a:rPr>
            </a:br>
            <a:r>
              <a:rPr lang="ja-JP" altLang="en-US" sz="950" b="0" dirty="0">
                <a:solidFill>
                  <a:srgbClr val="FFFFFF"/>
                </a:solidFill>
                <a:latin typeface="メイリオ" panose="020B0604030504040204" pitchFamily="50" charset="-128"/>
                <a:ea typeface="メイリオ" panose="020B0604030504040204" pitchFamily="50" charset="-128"/>
              </a:rPr>
              <a:t>イベント</a:t>
            </a:r>
            <a:endParaRPr lang="ja-JP" altLang="en-US" sz="1100" dirty="0"/>
          </a:p>
        </p:txBody>
      </p:sp>
      <p:sp>
        <p:nvSpPr>
          <p:cNvPr id="34" name="Rectangle 33"/>
          <p:cNvSpPr/>
          <p:nvPr/>
        </p:nvSpPr>
        <p:spPr>
          <a:xfrm>
            <a:off x="7586472" y="2240280"/>
            <a:ext cx="893064" cy="914400"/>
          </a:xfrm>
          <a:prstGeom prst="rect">
            <a:avLst/>
          </a:prstGeom>
          <a:solidFill>
            <a:srgbClr val="FFFFFF"/>
          </a:solidFill>
          <a:ln w="9525">
            <a:solidFill>
              <a:srgbClr val="D9D9D9"/>
            </a:solidFill>
          </a:ln>
        </p:spPr>
        <p:txBody>
          <a:bodyPr wrap="square" lIns="18288" tIns="18288" rIns="18288" bIns="18288" rtlCol="0" anchor="ctr">
            <a:noAutofit/>
          </a:bodyPr>
          <a:lstStyle/>
          <a:p>
            <a:pPr algn="ctr">
              <a:spcAft>
                <a:spcPts val="100"/>
              </a:spcAft>
              <a:buNone/>
            </a:pPr>
            <a:r>
              <a:rPr lang="ja-JP" altLang="en-US" sz="1150" b="1" dirty="0">
                <a:solidFill>
                  <a:srgbClr val="323366"/>
                </a:solidFill>
                <a:latin typeface="メイリオ" panose="020B0604030504040204" pitchFamily="50" charset="-128"/>
                <a:ea typeface="メイリオ" panose="020B0604030504040204" pitchFamily="50" charset="-128"/>
              </a:rPr>
              <a:t>勤務の案内</a:t>
            </a:r>
            <a:endParaRPr lang="ja-JP" altLang="en-US" sz="1100" dirty="0"/>
          </a:p>
          <a:p>
            <a:pPr algn="ctr">
              <a:spcAft>
                <a:spcPts val="100"/>
              </a:spcAft>
              <a:buNone/>
            </a:pPr>
            <a:r>
              <a:rPr lang="ja-JP" altLang="en-US" sz="950" b="0" dirty="0">
                <a:solidFill>
                  <a:srgbClr val="323366"/>
                </a:solidFill>
                <a:latin typeface="メイリオ" panose="020B0604030504040204" pitchFamily="50" charset="-128"/>
                <a:ea typeface="メイリオ" panose="020B0604030504040204" pitchFamily="50" charset="-128"/>
              </a:rPr>
              <a:t>集合・持ち物</a:t>
            </a:r>
            <a:endParaRPr lang="ja-JP" altLang="en-US" sz="1100" dirty="0"/>
          </a:p>
        </p:txBody>
      </p:sp>
      <p:sp>
        <p:nvSpPr>
          <p:cNvPr id="35" name="Rectangle 34"/>
          <p:cNvSpPr/>
          <p:nvPr/>
        </p:nvSpPr>
        <p:spPr>
          <a:xfrm>
            <a:off x="8525256" y="2240280"/>
            <a:ext cx="893064" cy="914400"/>
          </a:xfrm>
          <a:prstGeom prst="rect">
            <a:avLst/>
          </a:prstGeom>
          <a:solidFill>
            <a:srgbClr val="FFFFFF"/>
          </a:solidFill>
          <a:ln w="9525">
            <a:solidFill>
              <a:srgbClr val="D9D9D9"/>
            </a:solidFill>
          </a:ln>
        </p:spPr>
        <p:txBody>
          <a:bodyPr wrap="square" lIns="18288" tIns="18288" rIns="18288" bIns="18288" rtlCol="0" anchor="ctr">
            <a:noAutofit/>
          </a:bodyPr>
          <a:lstStyle/>
          <a:p>
            <a:pPr algn="ctr">
              <a:spcAft>
                <a:spcPts val="100"/>
              </a:spcAft>
              <a:buNone/>
            </a:pPr>
            <a:r>
              <a:rPr lang="ja-JP" altLang="en-US" sz="1150" b="1" dirty="0">
                <a:solidFill>
                  <a:srgbClr val="323366"/>
                </a:solidFill>
                <a:latin typeface="メイリオ" panose="020B0604030504040204" pitchFamily="50" charset="-128"/>
                <a:ea typeface="メイリオ" panose="020B0604030504040204" pitchFamily="50" charset="-128"/>
              </a:rPr>
              <a:t>希望条件を</a:t>
            </a:r>
            <a:br>
              <a:rPr lang="ja-JP" altLang="en-US" sz="1150" b="1" dirty="0">
                <a:solidFill>
                  <a:srgbClr val="323366"/>
                </a:solidFill>
                <a:latin typeface="メイリオ" panose="020B0604030504040204" pitchFamily="50" charset="-128"/>
                <a:ea typeface="メイリオ" panose="020B0604030504040204" pitchFamily="50" charset="-128"/>
              </a:rPr>
            </a:br>
            <a:r>
              <a:rPr lang="ja-JP" altLang="en-US" sz="1150" b="1" dirty="0">
                <a:solidFill>
                  <a:srgbClr val="323366"/>
                </a:solidFill>
                <a:latin typeface="メイリオ" panose="020B0604030504040204" pitchFamily="50" charset="-128"/>
                <a:ea typeface="メイリオ" panose="020B0604030504040204" pitchFamily="50" charset="-128"/>
              </a:rPr>
              <a:t>変える</a:t>
            </a:r>
            <a:endParaRPr lang="ja-JP" altLang="en-US" sz="1100" dirty="0"/>
          </a:p>
          <a:p>
            <a:pPr algn="ctr">
              <a:spcAft>
                <a:spcPts val="100"/>
              </a:spcAft>
              <a:buNone/>
            </a:pPr>
            <a:r>
              <a:rPr lang="ja-JP" altLang="en-US" sz="950" b="0" dirty="0">
                <a:solidFill>
                  <a:srgbClr val="323366"/>
                </a:solidFill>
                <a:latin typeface="メイリオ" panose="020B0604030504040204" pitchFamily="50" charset="-128"/>
                <a:ea typeface="メイリオ" panose="020B0604030504040204" pitchFamily="50" charset="-128"/>
              </a:rPr>
              <a:t>エリア・曜日</a:t>
            </a:r>
            <a:endParaRPr lang="ja-JP" altLang="en-US" sz="1100" dirty="0"/>
          </a:p>
        </p:txBody>
      </p:sp>
      <p:sp>
        <p:nvSpPr>
          <p:cNvPr id="36" name="Rectangle 35"/>
          <p:cNvSpPr/>
          <p:nvPr/>
        </p:nvSpPr>
        <p:spPr>
          <a:xfrm>
            <a:off x="6647688" y="3200400"/>
            <a:ext cx="893064" cy="914400"/>
          </a:xfrm>
          <a:prstGeom prst="rect">
            <a:avLst/>
          </a:prstGeom>
          <a:solidFill>
            <a:srgbClr val="FFFFFF"/>
          </a:solidFill>
          <a:ln w="9525">
            <a:solidFill>
              <a:srgbClr val="D9D9D9"/>
            </a:solidFill>
          </a:ln>
        </p:spPr>
        <p:txBody>
          <a:bodyPr wrap="square" lIns="18288" tIns="18288" rIns="18288" bIns="18288" rtlCol="0" anchor="ctr">
            <a:noAutofit/>
          </a:bodyPr>
          <a:lstStyle/>
          <a:p>
            <a:pPr algn="ctr">
              <a:spcAft>
                <a:spcPts val="100"/>
              </a:spcAft>
              <a:buNone/>
            </a:pPr>
            <a:r>
              <a:rPr lang="ja-JP" altLang="en-US" sz="1150" b="1" dirty="0">
                <a:solidFill>
                  <a:srgbClr val="323366"/>
                </a:solidFill>
                <a:latin typeface="メイリオ" panose="020B0604030504040204" pitchFamily="50" charset="-128"/>
                <a:ea typeface="メイリオ" panose="020B0604030504040204" pitchFamily="50" charset="-128"/>
              </a:rPr>
              <a:t>よくある</a:t>
            </a:r>
            <a:br>
              <a:rPr lang="ja-JP" altLang="en-US" sz="1150" b="1" dirty="0">
                <a:solidFill>
                  <a:srgbClr val="323366"/>
                </a:solidFill>
                <a:latin typeface="メイリオ" panose="020B0604030504040204" pitchFamily="50" charset="-128"/>
                <a:ea typeface="メイリオ" panose="020B0604030504040204" pitchFamily="50" charset="-128"/>
              </a:rPr>
            </a:br>
            <a:r>
              <a:rPr lang="ja-JP" altLang="en-US" sz="1150" b="1" dirty="0">
                <a:solidFill>
                  <a:srgbClr val="323366"/>
                </a:solidFill>
                <a:latin typeface="メイリオ" panose="020B0604030504040204" pitchFamily="50" charset="-128"/>
                <a:ea typeface="メイリオ" panose="020B0604030504040204" pitchFamily="50" charset="-128"/>
              </a:rPr>
              <a:t>質問</a:t>
            </a:r>
            <a:endParaRPr lang="ja-JP" altLang="en-US" sz="1100" dirty="0"/>
          </a:p>
          <a:p>
            <a:pPr algn="ctr">
              <a:spcAft>
                <a:spcPts val="100"/>
              </a:spcAft>
              <a:buNone/>
            </a:pPr>
            <a:r>
              <a:rPr lang="ja-JP" altLang="en-US" sz="950" b="0" dirty="0">
                <a:solidFill>
                  <a:srgbClr val="323366"/>
                </a:solidFill>
                <a:latin typeface="メイリオ" panose="020B0604030504040204" pitchFamily="50" charset="-128"/>
                <a:ea typeface="メイリオ" panose="020B0604030504040204" pitchFamily="50" charset="-128"/>
              </a:rPr>
              <a:t>給与・服装など</a:t>
            </a:r>
            <a:endParaRPr lang="ja-JP" altLang="en-US" sz="1100" dirty="0"/>
          </a:p>
        </p:txBody>
      </p:sp>
      <p:sp>
        <p:nvSpPr>
          <p:cNvPr id="37" name="Rectangle 36"/>
          <p:cNvSpPr/>
          <p:nvPr/>
        </p:nvSpPr>
        <p:spPr>
          <a:xfrm>
            <a:off x="7586472" y="3200400"/>
            <a:ext cx="893064" cy="914400"/>
          </a:xfrm>
          <a:prstGeom prst="rect">
            <a:avLst/>
          </a:prstGeom>
          <a:solidFill>
            <a:srgbClr val="FFFFFF"/>
          </a:solidFill>
          <a:ln w="9525">
            <a:solidFill>
              <a:srgbClr val="D9D9D9"/>
            </a:solidFill>
          </a:ln>
        </p:spPr>
        <p:txBody>
          <a:bodyPr wrap="square" lIns="18288" tIns="18288" rIns="18288" bIns="18288" rtlCol="0" anchor="ctr">
            <a:noAutofit/>
          </a:bodyPr>
          <a:lstStyle/>
          <a:p>
            <a:pPr algn="ctr">
              <a:spcAft>
                <a:spcPts val="100"/>
              </a:spcAft>
              <a:buNone/>
            </a:pPr>
            <a:r>
              <a:rPr lang="ja-JP" altLang="en-US" sz="1150" b="1" dirty="0">
                <a:solidFill>
                  <a:srgbClr val="323366"/>
                </a:solidFill>
                <a:latin typeface="メイリオ" panose="020B0604030504040204" pitchFamily="50" charset="-128"/>
                <a:ea typeface="メイリオ" panose="020B0604030504040204" pitchFamily="50" charset="-128"/>
              </a:rPr>
              <a:t>お問い</a:t>
            </a:r>
            <a:br>
              <a:rPr lang="ja-JP" altLang="en-US" sz="1150" b="1" dirty="0">
                <a:solidFill>
                  <a:srgbClr val="323366"/>
                </a:solidFill>
                <a:latin typeface="メイリオ" panose="020B0604030504040204" pitchFamily="50" charset="-128"/>
                <a:ea typeface="メイリオ" panose="020B0604030504040204" pitchFamily="50" charset="-128"/>
              </a:rPr>
            </a:br>
            <a:r>
              <a:rPr lang="ja-JP" altLang="en-US" sz="1150" b="1" dirty="0">
                <a:solidFill>
                  <a:srgbClr val="323366"/>
                </a:solidFill>
                <a:latin typeface="メイリオ" panose="020B0604030504040204" pitchFamily="50" charset="-128"/>
                <a:ea typeface="メイリオ" panose="020B0604030504040204" pitchFamily="50" charset="-128"/>
              </a:rPr>
              <a:t>合わせ</a:t>
            </a:r>
            <a:endParaRPr lang="ja-JP" altLang="en-US" sz="1100" dirty="0"/>
          </a:p>
          <a:p>
            <a:pPr algn="ctr">
              <a:spcAft>
                <a:spcPts val="100"/>
              </a:spcAft>
              <a:buNone/>
            </a:pPr>
            <a:r>
              <a:rPr lang="ja-JP" altLang="en-US" sz="950" b="0" dirty="0">
                <a:solidFill>
                  <a:srgbClr val="323366"/>
                </a:solidFill>
                <a:latin typeface="メイリオ" panose="020B0604030504040204" pitchFamily="50" charset="-128"/>
                <a:ea typeface="メイリオ" panose="020B0604030504040204" pitchFamily="50" charset="-128"/>
              </a:rPr>
              <a:t>チャットで相談</a:t>
            </a:r>
            <a:endParaRPr lang="ja-JP" altLang="en-US" sz="1100" dirty="0"/>
          </a:p>
        </p:txBody>
      </p:sp>
      <p:sp>
        <p:nvSpPr>
          <p:cNvPr id="38" name="Rectangle 37"/>
          <p:cNvSpPr/>
          <p:nvPr/>
        </p:nvSpPr>
        <p:spPr>
          <a:xfrm>
            <a:off x="8525256" y="3200400"/>
            <a:ext cx="893064" cy="914400"/>
          </a:xfrm>
          <a:prstGeom prst="rect">
            <a:avLst/>
          </a:prstGeom>
          <a:solidFill>
            <a:srgbClr val="FFFFFF"/>
          </a:solidFill>
          <a:ln w="9525">
            <a:solidFill>
              <a:srgbClr val="D9D9D9"/>
            </a:solidFill>
          </a:ln>
        </p:spPr>
        <p:txBody>
          <a:bodyPr wrap="square" lIns="18288" tIns="18288" rIns="18288" bIns="18288" rtlCol="0" anchor="ctr">
            <a:noAutofit/>
          </a:bodyPr>
          <a:lstStyle/>
          <a:p>
            <a:pPr algn="ctr">
              <a:spcAft>
                <a:spcPts val="100"/>
              </a:spcAft>
              <a:buNone/>
            </a:pPr>
            <a:r>
              <a:rPr lang="ja-JP" altLang="en-US" sz="1150" b="1" dirty="0">
                <a:solidFill>
                  <a:srgbClr val="323366"/>
                </a:solidFill>
                <a:latin typeface="メイリオ" panose="020B0604030504040204" pitchFamily="50" charset="-128"/>
                <a:ea typeface="メイリオ" panose="020B0604030504040204" pitchFamily="50" charset="-128"/>
              </a:rPr>
              <a:t>横浜シミズ</a:t>
            </a:r>
            <a:br>
              <a:rPr lang="ja-JP" altLang="en-US" sz="1150" b="1" dirty="0">
                <a:solidFill>
                  <a:srgbClr val="323366"/>
                </a:solidFill>
                <a:latin typeface="メイリオ" panose="020B0604030504040204" pitchFamily="50" charset="-128"/>
                <a:ea typeface="メイリオ" panose="020B0604030504040204" pitchFamily="50" charset="-128"/>
              </a:rPr>
            </a:br>
            <a:r>
              <a:rPr lang="ja-JP" altLang="en-US" sz="1150" b="1" dirty="0">
                <a:solidFill>
                  <a:srgbClr val="323366"/>
                </a:solidFill>
                <a:latin typeface="メイリオ" panose="020B0604030504040204" pitchFamily="50" charset="-128"/>
                <a:ea typeface="メイリオ" panose="020B0604030504040204" pitchFamily="50" charset="-128"/>
              </a:rPr>
              <a:t>とは</a:t>
            </a:r>
            <a:endParaRPr lang="ja-JP" altLang="en-US" sz="1100" dirty="0"/>
          </a:p>
          <a:p>
            <a:pPr algn="ctr">
              <a:spcAft>
                <a:spcPts val="100"/>
              </a:spcAft>
              <a:buNone/>
            </a:pPr>
            <a:r>
              <a:rPr lang="ja-JP" altLang="en-US" sz="950" b="0" dirty="0">
                <a:solidFill>
                  <a:srgbClr val="323366"/>
                </a:solidFill>
                <a:latin typeface="メイリオ" panose="020B0604030504040204" pitchFamily="50" charset="-128"/>
                <a:ea typeface="メイリオ" panose="020B0604030504040204" pitchFamily="50" charset="-128"/>
              </a:rPr>
              <a:t>会社・現場</a:t>
            </a:r>
            <a:br>
              <a:rPr lang="ja-JP" altLang="en-US" sz="950" b="0" dirty="0">
                <a:solidFill>
                  <a:srgbClr val="323366"/>
                </a:solidFill>
                <a:latin typeface="メイリオ" panose="020B0604030504040204" pitchFamily="50" charset="-128"/>
                <a:ea typeface="メイリオ" panose="020B0604030504040204" pitchFamily="50" charset="-128"/>
              </a:rPr>
            </a:br>
            <a:r>
              <a:rPr lang="ja-JP" altLang="en-US" sz="950" b="0" dirty="0">
                <a:solidFill>
                  <a:srgbClr val="323366"/>
                </a:solidFill>
                <a:latin typeface="メイリオ" panose="020B0604030504040204" pitchFamily="50" charset="-128"/>
                <a:ea typeface="メイリオ" panose="020B0604030504040204" pitchFamily="50" charset="-128"/>
              </a:rPr>
              <a:t>の紹介</a:t>
            </a:r>
            <a:endParaRPr lang="ja-JP" altLang="en-US" sz="1100" dirty="0"/>
          </a:p>
        </p:txBody>
      </p:sp>
      <p:sp>
        <p:nvSpPr>
          <p:cNvPr id="39" name="Rectangle 38"/>
          <p:cNvSpPr/>
          <p:nvPr/>
        </p:nvSpPr>
        <p:spPr>
          <a:xfrm>
            <a:off x="6592824" y="5074920"/>
            <a:ext cx="2880360" cy="365760"/>
          </a:xfrm>
          <a:prstGeom prst="rect">
            <a:avLst/>
          </a:prstGeom>
          <a:noFill/>
          <a:ln>
            <a:noFill/>
          </a:ln>
        </p:spPr>
        <p:txBody>
          <a:bodyPr wrap="square" lIns="18288" tIns="0" rIns="18288" bIns="0" rtlCol="0" anchor="ctr">
            <a:noAutofit/>
          </a:bodyPr>
          <a:lstStyle/>
          <a:p>
            <a:pPr algn="l">
              <a:buNone/>
            </a:pPr>
            <a:r>
              <a:rPr lang="ja-JP" altLang="en-US" sz="1000" b="0" dirty="0">
                <a:solidFill>
                  <a:srgbClr val="595959"/>
                </a:solidFill>
                <a:latin typeface="メイリオ" panose="020B0604030504040204" pitchFamily="50" charset="-128"/>
                <a:ea typeface="メイリオ" panose="020B0604030504040204" pitchFamily="50" charset="-128"/>
              </a:rPr>
              <a:t>一番押してほしい「仕事を探す」を左上に</a:t>
            </a:r>
            <a:endParaRPr lang="ja-JP" alt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概算お見積り：月215,000円で、6か月目に新規応募 月7件・再応募 月3件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¥295,000〜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ステップ配信</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4通の改善</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セグメント配信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設定・改善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勤務前の案内</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型の改善</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新規応募</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再応募</a:t>
            </a:r>
            <a:endParaRPr lang="en-US" sz="1400" b="0" u="none" strike="noStrike">
              <a:solidFill>
                <a:srgbClr val="000000"/>
              </a:solidFill>
              <a:effectLst/>
              <a:uFillTx/>
              <a:latin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会員登録</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4通を構築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勤務前の案内</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型をつくる</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1,102人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7件/月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3件/月</a:t>
            </a:r>
            <a:endParaRPr lang="en-US" sz="1400" b="0" u="none" strike="noStrike">
              <a:solidFill>
                <a:srgbClr val="000000"/>
              </a:solidFill>
              <a:effectLst/>
              <a:uFillTx/>
              <a:latin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10件/月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プラン②｜友だちの入口を増やし、勤務の連絡と次回イベントの募集で、新規応募・再応募を増やす</a:t>
            </a:r>
            <a:endParaRPr lang="en-US" sz="1400" b="0" u="none" strike="noStrike">
              <a:solidFill>
                <a:srgbClr val="000000"/>
              </a:solidFill>
              <a:effectLst/>
              <a:uFillTx/>
              <a:latin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料金プラン：4つのプランの費用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運用範囲と料金の形に合わせて、4つのプランをご用意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4252399329"/>
              </p:ext>
            </p:extLst>
          </p:nvPr>
        </p:nvGraphicFramePr>
        <p:xfrm>
          <a:off x="384048" y="1490760"/>
          <a:ext cx="9144000" cy="3749040"/>
        </p:xfrm>
        <a:graphic>
          <a:graphicData uri="http://schemas.openxmlformats.org/drawingml/2006/table">
            <a:tbl>
              <a:tblPr/>
              <a:tblGrid>
                <a:gridCol w="164592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1874519">
                  <a:extLst>
                    <a:ext uri="{9D8B030D-6E8A-4147-A177-3AD203B41FA5}">
                      <a16:colId xmlns:a16="http://schemas.microsoft.com/office/drawing/2014/main" val="20003"/>
                    </a:ext>
                  </a:extLst>
                </a:gridCol>
                <a:gridCol w="1874519">
                  <a:extLst>
                    <a:ext uri="{9D8B030D-6E8A-4147-A177-3AD203B41FA5}">
                      <a16:colId xmlns:a16="http://schemas.microsoft.com/office/drawing/2014/main" val="20004"/>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初期設計・構築のみ</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運用代行・効率改善</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運用代行</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フルサポート</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プラン④</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成果報酬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295,000円〜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295,000円〜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295,000円〜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295,000円〜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月額運用費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成果報酬</a:t>
                      </a:r>
                      <a:endParaRPr lang="ja-JP" altLang="en-US" sz="15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応募 8,000円/件</a:t>
                      </a:r>
                      <a:endParaRPr lang="ja-JP" altLang="en-US" sz="15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会員登録 2,500円/件</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a:t>
                      </a:r>
                      <a:endParaRPr lang="ja-JP" altLang="en-US" sz="1400" dirty="0"/>
                    </a:p>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215,000円〜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315,000円〜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65,000円〜</a:t>
                      </a:r>
                      <a:endParaRPr lang="ja-JP" altLang="en-US" sz="2000" dirty="0"/>
                    </a:p>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＋成果報酬</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3126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150,000円＋LINE公式アカウント開設 30,000円</a:t>
            </a:r>
            <a:endParaRPr lang="ja-JP" altLang="en-US" sz="1200" dirty="0"/>
          </a:p>
        </p:txBody>
      </p:sp>
      <p:sp>
        <p:nvSpPr>
          <p:cNvPr id="641" name="注記"/>
          <p:cNvSpPr/>
          <p:nvPr/>
        </p:nvSpPr>
        <p:spPr>
          <a:xfrm>
            <a:off x="384048" y="55412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 5,000円〜（ライトプラン想定）</a:t>
            </a:r>
            <a:endParaRPr lang="ja-JP" altLang="en-US" sz="1200" dirty="0"/>
          </a:p>
        </p:txBody>
      </p:sp>
      <p:sp>
        <p:nvSpPr>
          <p:cNvPr id="642" name="注記"/>
          <p:cNvSpPr/>
          <p:nvPr/>
        </p:nvSpPr>
        <p:spPr>
          <a:xfrm>
            <a:off x="384048" y="57698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※成果報酬の対象＝LINEからの新規応募・再応募・会員登録（再応募は、勤務希望をLINEで受け付ける場合）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4" name="注記"/>
          <p:cNvSpPr/>
          <p:nvPr/>
        </p:nvSpPr>
        <p:spPr>
          <a:xfrm>
            <a:off x="384048" y="62270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4つのプランの運用内容の比較（プラン②と④は同じ）</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950625100"/>
              </p:ext>
            </p:extLst>
          </p:nvPr>
        </p:nvGraphicFramePr>
        <p:xfrm>
          <a:off x="381000" y="1490760"/>
          <a:ext cx="9144000" cy="3255264"/>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86384">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初期設計・構築のみ</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プラン②・プラン④</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運用代行・効率改善</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／成果報酬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運用代行フルサポート</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14日間・4通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14日間・4通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14日間・4通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（次回イベントの募集）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（設計・作成）</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（設計・作成・画像制作）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勤務前の案内</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36800"/>
            <a:ext cx="7920000" cy="338400"/>
          </a:xfrm>
          <a:prstGeom prst="rect">
            <a:avLst/>
          </a:prstGeom>
          <a:noFill/>
        </p:spPr>
        <p:txBody>
          <a:bodyPr wrap="square" lIns="28800" tIns="7200" rIns="28800" bIns="7200" anchor="ctr">
            <a:spAutoFit/>
          </a:bodyPr>
          <a:lstStyle/>
          <a:p>
            <a:pPr algn="l">
              <a:lnSpc>
                <a:spcPct val="120000"/>
              </a:lnSpc>
            </a:pPr>
            <a:r>
              <a:rPr sz="1600" b="1">
                <a:solidFill>
                  <a:srgbClr val="323366"/>
                </a:solidFill>
                <a:latin typeface="メイリオ"/>
                <a:ea typeface="メイリオ"/>
                <a:cs typeface="メイリオ"/>
              </a:rPr>
              <a:t>今後の展開｜横浜シミズで運用モデルをつくり、検証する</a:t>
            </a:r>
          </a:p>
        </p:txBody>
      </p:sp>
      <p:sp>
        <p:nvSpPr>
          <p:cNvPr id="3" name="TextBox 2"/>
          <p:cNvSpPr txBox="1"/>
          <p:nvPr/>
        </p:nvSpPr>
        <p:spPr>
          <a:xfrm>
            <a:off x="431292" y="824484"/>
            <a:ext cx="9331200" cy="585216"/>
          </a:xfrm>
          <a:prstGeom prst="rect">
            <a:avLst/>
          </a:prstGeom>
          <a:noFill/>
        </p:spPr>
        <p:txBody>
          <a:bodyPr wrap="square" lIns="28800" tIns="7200" rIns="28800" bIns="7200" anchor="ctr">
            <a:spAutoFit/>
          </a:bodyPr>
          <a:lstStyle/>
          <a:p>
            <a:pPr algn="l">
              <a:lnSpc>
                <a:spcPct val="120000"/>
              </a:lnSpc>
            </a:pPr>
            <a:r>
              <a:rPr sz="1400" b="1" dirty="0" err="1">
                <a:solidFill>
                  <a:srgbClr val="1E2761"/>
                </a:solidFill>
                <a:latin typeface="メイリオ"/>
                <a:ea typeface="メイリオ"/>
                <a:cs typeface="メイリオ"/>
              </a:rPr>
              <a:t>まず横浜シミズで、友だち獲得・勤務連絡・再応募の運用モデルをつくり、成果と運用の負荷を確かめます</a:t>
            </a:r>
            <a:r>
              <a:rPr sz="1400" b="1" dirty="0">
                <a:solidFill>
                  <a:srgbClr val="1E2761"/>
                </a:solidFill>
                <a:latin typeface="メイリオ"/>
                <a:ea typeface="メイリオ"/>
                <a:cs typeface="メイリオ"/>
              </a:rPr>
              <a:t>。</a:t>
            </a:r>
          </a:p>
          <a:p>
            <a:pPr algn="l">
              <a:lnSpc>
                <a:spcPct val="120000"/>
              </a:lnSpc>
            </a:pPr>
            <a:r>
              <a:rPr sz="1400" b="1" dirty="0" err="1">
                <a:solidFill>
                  <a:srgbClr val="FF0000"/>
                </a:solidFill>
                <a:latin typeface="メイリオ"/>
                <a:ea typeface="メイリオ"/>
                <a:cs typeface="メイリオ"/>
              </a:rPr>
              <a:t>成果をふまえ、シミズグループの他社でも使えるモデルとして整理することを目指します</a:t>
            </a:r>
            <a:r>
              <a:rPr sz="1400" b="1" dirty="0">
                <a:solidFill>
                  <a:srgbClr val="FF0000"/>
                </a:solidFill>
                <a:latin typeface="メイリオ"/>
                <a:ea typeface="メイリオ"/>
                <a:cs typeface="メイリオ"/>
              </a:rPr>
              <a:t>。</a:t>
            </a:r>
          </a:p>
        </p:txBody>
      </p:sp>
      <p:sp>
        <p:nvSpPr>
          <p:cNvPr id="18" name="Rectangle 17"/>
          <p:cNvSpPr/>
          <p:nvPr/>
        </p:nvSpPr>
        <p:spPr>
          <a:xfrm>
            <a:off x="431292" y="4876800"/>
            <a:ext cx="9043416" cy="374904"/>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1292" y="4876800"/>
            <a:ext cx="9043416" cy="374904"/>
          </a:xfrm>
          <a:prstGeom prst="rect">
            <a:avLst/>
          </a:prstGeom>
          <a:noFill/>
          <a:ln>
            <a:noFill/>
          </a:ln>
        </p:spPr>
        <p:txBody>
          <a:bodyPr wrap="square" lIns="45720" tIns="0" rIns="45720" bIns="0"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応募から勤務・次の募集までをLINEでつなぎ、継続的な人員確保の仕組みに</a:t>
            </a:r>
            <a:endParaRPr lang="ja-JP" altLang="en-US" sz="1300" dirty="0"/>
          </a:p>
        </p:txBody>
      </p:sp>
      <p:sp>
        <p:nvSpPr>
          <p:cNvPr id="22" name="Rectangle 21"/>
          <p:cNvSpPr/>
          <p:nvPr/>
        </p:nvSpPr>
        <p:spPr>
          <a:xfrm>
            <a:off x="431292" y="1676400"/>
            <a:ext cx="2983992" cy="457200"/>
          </a:xfrm>
          <a:prstGeom prst="homePlate">
            <a:avLst/>
          </a:prstGeom>
          <a:solidFill>
            <a:srgbClr val="1E2761"/>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STEP1｜構築（運用開始の前）</a:t>
            </a:r>
            <a:endParaRPr lang="ja-JP" altLang="en-US" sz="1000" dirty="0"/>
          </a:p>
        </p:txBody>
      </p:sp>
      <p:sp>
        <p:nvSpPr>
          <p:cNvPr id="23" name="Rounded Rectangle 22"/>
          <p:cNvSpPr/>
          <p:nvPr/>
        </p:nvSpPr>
        <p:spPr>
          <a:xfrm>
            <a:off x="477012" y="2225040"/>
            <a:ext cx="2801112" cy="979714"/>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・サンクスLINE誘導の設置</a:t>
            </a:r>
            <a:endParaRPr lang="ja-JP" altLang="en-US" sz="1100" dirty="0"/>
          </a:p>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・あいさつ・リッチメニューの設計</a:t>
            </a:r>
            <a:endParaRPr lang="ja-JP" altLang="en-US" sz="1100" dirty="0"/>
          </a:p>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・タグの設計</a:t>
            </a:r>
            <a:endParaRPr lang="ja-JP" altLang="en-US" sz="1100" dirty="0"/>
          </a:p>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・勤務前の案内の型づくり</a:t>
            </a:r>
            <a:endParaRPr lang="ja-JP" altLang="en-US" sz="1100" dirty="0"/>
          </a:p>
        </p:txBody>
      </p:sp>
      <p:sp>
        <p:nvSpPr>
          <p:cNvPr id="24" name="Rectangle 23"/>
          <p:cNvSpPr/>
          <p:nvPr/>
        </p:nvSpPr>
        <p:spPr>
          <a:xfrm>
            <a:off x="3461004" y="1676400"/>
            <a:ext cx="2983992" cy="457200"/>
          </a:xfrm>
          <a:prstGeom prst="chevron">
            <a:avLst/>
          </a:prstGeom>
          <a:solidFill>
            <a:srgbClr val="1E2761"/>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STEP2｜運用・検証（1〜6か月目）</a:t>
            </a:r>
            <a:endParaRPr lang="ja-JP" altLang="en-US" sz="1000" dirty="0"/>
          </a:p>
        </p:txBody>
      </p:sp>
      <p:sp>
        <p:nvSpPr>
          <p:cNvPr id="25" name="Rounded Rectangle 24"/>
          <p:cNvSpPr/>
          <p:nvPr/>
        </p:nvSpPr>
        <p:spPr>
          <a:xfrm>
            <a:off x="3506723" y="2225040"/>
            <a:ext cx="2801112" cy="979714"/>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・次回募集のセグメント配信</a:t>
            </a:r>
            <a:endParaRPr lang="ja-JP" altLang="en-US" sz="1100" dirty="0"/>
          </a:p>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・再応募・再稼働の計測（LINEからの勤務希望の数）</a:t>
            </a:r>
            <a:endParaRPr lang="ja-JP" altLang="en-US" sz="1100" dirty="0"/>
          </a:p>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・運用の負荷の確認と改善</a:t>
            </a:r>
            <a:endParaRPr lang="ja-JP" altLang="en-US" sz="1100" dirty="0"/>
          </a:p>
        </p:txBody>
      </p:sp>
      <p:sp>
        <p:nvSpPr>
          <p:cNvPr id="26" name="Rectangle 25"/>
          <p:cNvSpPr/>
          <p:nvPr/>
        </p:nvSpPr>
        <p:spPr>
          <a:xfrm>
            <a:off x="6490716" y="1676400"/>
            <a:ext cx="2983992" cy="457200"/>
          </a:xfrm>
          <a:prstGeom prst="chevron">
            <a:avLst/>
          </a:prstGeom>
          <a:solidFill>
            <a:srgbClr val="595959"/>
          </a:solidFill>
          <a:ln>
            <a:noFill/>
          </a:ln>
        </p:spPr>
        <p:txBody>
          <a:bodyPr wrap="square" lIns="91440" tIns="18288" rIns="18288" bIns="18288" rtlCol="0" anchor="ctr">
            <a:noAutofit/>
          </a:bodyPr>
          <a:lstStyle/>
          <a:p>
            <a:pPr algn="ctr">
              <a:buNone/>
            </a:pPr>
            <a:r>
              <a:rPr lang="ja-JP" altLang="en-US" sz="1000" b="1" dirty="0">
                <a:solidFill>
                  <a:srgbClr val="FFFFFF"/>
                </a:solidFill>
                <a:latin typeface="メイリオ" panose="020B0604030504040204" pitchFamily="50" charset="-128"/>
                <a:ea typeface="メイリオ" panose="020B0604030504040204" pitchFamily="50" charset="-128"/>
              </a:rPr>
              <a:t>STEP3｜展開の検討（7か月目〜）</a:t>
            </a:r>
            <a:endParaRPr lang="ja-JP" altLang="en-US" sz="1000" dirty="0"/>
          </a:p>
        </p:txBody>
      </p:sp>
      <p:sp>
        <p:nvSpPr>
          <p:cNvPr id="27" name="Rounded Rectangle 26"/>
          <p:cNvSpPr/>
          <p:nvPr/>
        </p:nvSpPr>
        <p:spPr>
          <a:xfrm>
            <a:off x="6536436" y="2225040"/>
            <a:ext cx="2801112" cy="979714"/>
          </a:xfrm>
          <a:prstGeom prst="roundRect">
            <a:avLst>
              <a:gd name="adj" fmla="val 5000"/>
            </a:avLst>
          </a:prstGeom>
          <a:solidFill>
            <a:srgbClr val="FFFFFF"/>
          </a:solidFill>
          <a:ln w="9525">
            <a:solidFill>
              <a:srgbClr val="D9D9D9"/>
            </a:solidFill>
          </a:ln>
        </p:spPr>
        <p:txBody>
          <a:bodyPr wrap="square" lIns="109728" tIns="73152" rIns="91440" bIns="54864" rtlCol="0" anchor="t">
            <a:noAutofit/>
          </a:bodyPr>
          <a:lstStyle/>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・成果と手順を整理</a:t>
            </a:r>
            <a:endParaRPr lang="ja-JP" altLang="en-US" sz="1100" dirty="0"/>
          </a:p>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・グループ他社で使えるかを検討</a:t>
            </a:r>
            <a:endParaRPr lang="ja-JP" altLang="en-US" sz="1100" dirty="0"/>
          </a:p>
          <a:p>
            <a:pPr algn="l">
              <a:spcAft>
                <a:spcPts val="300"/>
              </a:spcAft>
              <a:buNone/>
            </a:pPr>
            <a:r>
              <a:rPr lang="ja-JP" altLang="en-US" sz="1100" b="0" dirty="0">
                <a:solidFill>
                  <a:srgbClr val="333333"/>
                </a:solidFill>
                <a:latin typeface="メイリオ" panose="020B0604030504040204" pitchFamily="50" charset="-128"/>
                <a:ea typeface="メイリオ" panose="020B0604030504040204" pitchFamily="50" charset="-128"/>
              </a:rPr>
              <a:t>・（展開は成果を見て判断）</a:t>
            </a:r>
            <a:endParaRPr lang="ja-JP" altLang="en-US" sz="1100" dirty="0"/>
          </a:p>
        </p:txBody>
      </p:sp>
      <p:sp>
        <p:nvSpPr>
          <p:cNvPr id="28" name="Rounded Rectangle 27"/>
          <p:cNvSpPr/>
          <p:nvPr/>
        </p:nvSpPr>
        <p:spPr>
          <a:xfrm>
            <a:off x="431292" y="3429000"/>
            <a:ext cx="5532120" cy="1264920"/>
          </a:xfrm>
          <a:prstGeom prst="roundRect">
            <a:avLst>
              <a:gd name="adj" fmla="val 5000"/>
            </a:avLst>
          </a:prstGeom>
          <a:solidFill>
            <a:srgbClr val="FFFFFF"/>
          </a:solidFill>
          <a:ln w="9525">
            <a:solidFill>
              <a:srgbClr val="1E2761"/>
            </a:solidFill>
          </a:ln>
        </p:spPr>
        <p:txBody>
          <a:bodyPr wrap="square" lIns="109728" tIns="73152" rIns="91440" bIns="54864" rtlCol="0" anchor="t">
            <a:noAutofit/>
          </a:bodyPr>
          <a:lstStyle/>
          <a:p>
            <a:pPr algn="l">
              <a:spcAft>
                <a:spcPts val="400"/>
              </a:spcAft>
              <a:buNone/>
            </a:pPr>
            <a:r>
              <a:rPr lang="ja-JP" altLang="en-US" sz="1200" b="1" dirty="0">
                <a:solidFill>
                  <a:srgbClr val="323366"/>
                </a:solidFill>
                <a:latin typeface="メイリオ" panose="020B0604030504040204" pitchFamily="50" charset="-128"/>
                <a:ea typeface="メイリオ" panose="020B0604030504040204" pitchFamily="50" charset="-128"/>
              </a:rPr>
              <a:t>ご提案のまとめ</a:t>
            </a:r>
            <a:endParaRPr lang="ja-JP" altLang="en-US" sz="1100" dirty="0"/>
          </a:p>
          <a:p>
            <a:pPr algn="l">
              <a:spcAft>
                <a:spcPts val="400"/>
              </a:spcAft>
              <a:buNone/>
            </a:pPr>
            <a:r>
              <a:rPr lang="ja-JP" altLang="en-US" sz="1100" b="0" dirty="0">
                <a:solidFill>
                  <a:srgbClr val="333333"/>
                </a:solidFill>
                <a:latin typeface="メイリオ" panose="020B0604030504040204" pitchFamily="50" charset="-128"/>
                <a:ea typeface="メイリオ" panose="020B0604030504040204" pitchFamily="50" charset="-128"/>
              </a:rPr>
              <a:t>① 友だち獲得：応募完了から、そのままLINEへ（サンクスLINE誘導）</a:t>
            </a:r>
            <a:endParaRPr lang="ja-JP" altLang="en-US" sz="1100" dirty="0"/>
          </a:p>
          <a:p>
            <a:pPr algn="l">
              <a:spcAft>
                <a:spcPts val="400"/>
              </a:spcAft>
              <a:buNone/>
            </a:pPr>
            <a:r>
              <a:rPr lang="ja-JP" altLang="en-US" sz="1100" b="0" dirty="0">
                <a:solidFill>
                  <a:srgbClr val="333333"/>
                </a:solidFill>
                <a:latin typeface="メイリオ" panose="020B0604030504040204" pitchFamily="50" charset="-128"/>
                <a:ea typeface="メイリオ" panose="020B0604030504040204" pitchFamily="50" charset="-128"/>
              </a:rPr>
              <a:t>② 勤務連絡・管理：集合・持ち物・前日のリマインドをLINEで</a:t>
            </a:r>
            <a:endParaRPr lang="ja-JP" altLang="en-US" sz="1100" dirty="0"/>
          </a:p>
          <a:p>
            <a:pPr algn="l">
              <a:spcAft>
                <a:spcPts val="400"/>
              </a:spcAft>
              <a:buNone/>
            </a:pPr>
            <a:r>
              <a:rPr lang="ja-JP" altLang="en-US" sz="1100" b="0" dirty="0">
                <a:solidFill>
                  <a:srgbClr val="333333"/>
                </a:solidFill>
                <a:latin typeface="メイリオ" panose="020B0604030504040204" pitchFamily="50" charset="-128"/>
                <a:ea typeface="メイリオ" panose="020B0604030504040204" pitchFamily="50" charset="-128"/>
              </a:rPr>
              <a:t>③ 再応募・再稼働：タグで絞って、希望に合う次回の募集を届ける</a:t>
            </a:r>
            <a:endParaRPr lang="ja-JP" altLang="en-US" sz="1100" dirty="0"/>
          </a:p>
          <a:p>
            <a:pPr algn="l">
              <a:spcAft>
                <a:spcPts val="400"/>
              </a:spcAft>
              <a:buNone/>
            </a:pPr>
            <a:r>
              <a:rPr lang="ja-JP" altLang="en-US" sz="1100" b="1" dirty="0">
                <a:solidFill>
                  <a:srgbClr val="323366"/>
                </a:solidFill>
                <a:latin typeface="メイリオ" panose="020B0604030504040204" pitchFamily="50" charset="-128"/>
                <a:ea typeface="メイリオ" panose="020B0604030504040204" pitchFamily="50" charset="-128"/>
              </a:rPr>
              <a:t>コンサル・成果報酬のどちらのプランも、成果を見て調整します。</a:t>
            </a:r>
            <a:endParaRPr lang="ja-JP" altLang="en-US" sz="1100" dirty="0"/>
          </a:p>
        </p:txBody>
      </p:sp>
      <p:sp>
        <p:nvSpPr>
          <p:cNvPr id="29" name="Rounded Rectangle 28"/>
          <p:cNvSpPr/>
          <p:nvPr/>
        </p:nvSpPr>
        <p:spPr>
          <a:xfrm>
            <a:off x="6100572" y="3429000"/>
            <a:ext cx="3374136" cy="1264920"/>
          </a:xfrm>
          <a:prstGeom prst="roundRect">
            <a:avLst>
              <a:gd name="adj" fmla="val 5000"/>
            </a:avLst>
          </a:prstGeom>
          <a:solidFill>
            <a:srgbClr val="F5F6FA"/>
          </a:solidFill>
          <a:ln w="9525">
            <a:solidFill>
              <a:srgbClr val="D9D9D9"/>
            </a:solidFill>
          </a:ln>
        </p:spPr>
        <p:txBody>
          <a:bodyPr wrap="square" lIns="109728" tIns="73152" rIns="91440" bIns="54864" rtlCol="0" anchor="t">
            <a:noAutofit/>
          </a:bodyPr>
          <a:lstStyle/>
          <a:p>
            <a:pPr algn="l">
              <a:spcAft>
                <a:spcPts val="300"/>
              </a:spcAft>
              <a:buNone/>
            </a:pPr>
            <a:r>
              <a:rPr lang="ja-JP" altLang="en-US" sz="1150" b="1" dirty="0">
                <a:solidFill>
                  <a:srgbClr val="323366"/>
                </a:solidFill>
                <a:latin typeface="メイリオ" panose="020B0604030504040204" pitchFamily="50" charset="-128"/>
                <a:ea typeface="メイリオ" panose="020B0604030504040204" pitchFamily="50" charset="-128"/>
              </a:rPr>
              <a:t>追加施策（ご参考）</a:t>
            </a:r>
            <a:endParaRPr lang="ja-JP" altLang="en-US" sz="1050" dirty="0"/>
          </a:p>
          <a:p>
            <a:pPr algn="l">
              <a:spcAft>
                <a:spcPts val="300"/>
              </a:spcAft>
              <a:buNone/>
            </a:pPr>
            <a:r>
              <a:rPr lang="ja-JP" altLang="en-US" sz="1050" b="0" dirty="0">
                <a:solidFill>
                  <a:srgbClr val="333333"/>
                </a:solidFill>
                <a:latin typeface="メイリオ" panose="020B0604030504040204" pitchFamily="50" charset="-128"/>
                <a:ea typeface="メイリオ" panose="020B0604030504040204" pitchFamily="50" charset="-128"/>
              </a:rPr>
              <a:t>社員採用（中途・新卒）にも、同じLINE公式アカウントを使える可能性があります。</a:t>
            </a:r>
            <a:endParaRPr lang="ja-JP" altLang="en-US" sz="1050" dirty="0"/>
          </a:p>
          <a:p>
            <a:pPr algn="l">
              <a:spcAft>
                <a:spcPts val="300"/>
              </a:spcAft>
              <a:buNone/>
            </a:pPr>
            <a:r>
              <a:rPr lang="ja-JP" altLang="en-US" sz="1050" b="0" dirty="0">
                <a:solidFill>
                  <a:srgbClr val="595959"/>
                </a:solidFill>
                <a:latin typeface="メイリオ" panose="020B0604030504040204" pitchFamily="50" charset="-128"/>
                <a:ea typeface="メイリオ" panose="020B0604030504040204" pitchFamily="50" charset="-128"/>
              </a:rPr>
              <a:t>社員とアルバイトで案内を分ける設計を想定しています（今回のご提案には含めていません）。</a:t>
            </a:r>
            <a:endParaRPr lang="ja-JP" alt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141749</TotalTime>
  <Words>4547</Words>
  <Application>Microsoft Office PowerPoint</Application>
  <PresentationFormat>A4 210 x 297 mm</PresentationFormat>
  <Paragraphs>668</Paragraphs>
  <Slides>27</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27</vt:i4>
      </vt:variant>
    </vt:vector>
  </HeadingPairs>
  <TitlesOfParts>
    <vt:vector size="34" baseType="lpstr">
      <vt:lpstr>Arial</vt:lpstr>
      <vt:lpstr>Calibri</vt:lpstr>
      <vt:lpstr>Century Gothic</vt:lpstr>
      <vt:lpstr>メイリオ</vt:lpstr>
      <vt:lpstr>メイリオ</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1934</cp:revision>
  <cp:lastPrinted>2022-11-01T11:38:14Z</cp:lastPrinted>
  <dcterms:created xsi:type="dcterms:W3CDTF">2015-09-04T09:21:15Z</dcterms:created>
  <dcterms:modified xsi:type="dcterms:W3CDTF">2026-10-29T06:18:34Z</dcterms:modified>
</cp:coreProperties>
</file>