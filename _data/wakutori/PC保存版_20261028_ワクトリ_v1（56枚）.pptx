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9"/>
  </p:notesMasterIdLst>
  <p:handoutMasterIdLst>
    <p:handoutMasterId r:id="rId60"/>
  </p:handoutMasterIdLst>
  <p:sldIdLst>
    <p:sldId id="2363" r:id="rId3"/>
    <p:sldId id="2726" r:id="rId4"/>
    <p:sldId id="2721" r:id="rId5"/>
    <p:sldId id="2723" r:id="rId6"/>
    <p:sldId id="2724" r:id="rId7"/>
    <p:sldId id="2364" r:id="rId8"/>
    <p:sldId id="2365" r:id="rId9"/>
    <p:sldId id="2725" r:id="rId10"/>
    <p:sldId id="3152" r:id="rId11"/>
    <p:sldId id="3153" r:id="rId12"/>
    <p:sldId id="3154" r:id="rId13"/>
    <p:sldId id="3155" r:id="rId14"/>
    <p:sldId id="3156" r:id="rId15"/>
    <p:sldId id="3157" r:id="rId16"/>
    <p:sldId id="3158" r:id="rId17"/>
    <p:sldId id="3159" r:id="rId18"/>
    <p:sldId id="2727" r:id="rId19"/>
    <p:sldId id="3131" r:id="rId20"/>
    <p:sldId id="3132" r:id="rId21"/>
    <p:sldId id="3150" r:id="rId22"/>
    <p:sldId id="2732" r:id="rId23"/>
    <p:sldId id="2733" r:id="rId24"/>
    <p:sldId id="2972" r:id="rId25"/>
    <p:sldId id="2975" r:id="rId26"/>
    <p:sldId id="2974" r:id="rId27"/>
    <p:sldId id="2728" r:id="rId28"/>
    <p:sldId id="3160" r:id="rId29"/>
    <p:sldId id="3161" r:id="rId30"/>
    <p:sldId id="3162" r:id="rId31"/>
    <p:sldId id="3163" r:id="rId32"/>
    <p:sldId id="3164" r:id="rId33"/>
    <p:sldId id="3165" r:id="rId34"/>
    <p:sldId id="3166" r:id="rId35"/>
    <p:sldId id="3167" r:id="rId36"/>
    <p:sldId id="2729" r:id="rId37"/>
    <p:sldId id="3168" r:id="rId38"/>
    <p:sldId id="3169" r:id="rId39"/>
    <p:sldId id="3170" r:id="rId40"/>
    <p:sldId id="2730" r:id="rId41"/>
    <p:sldId id="2563" r:id="rId42"/>
    <p:sldId id="2959" r:id="rId43"/>
    <p:sldId id="2970" r:id="rId44"/>
    <p:sldId id="2968" r:id="rId45"/>
    <p:sldId id="2969" r:id="rId46"/>
    <p:sldId id="3151" r:id="rId47"/>
    <p:sldId id="2575" r:id="rId48"/>
    <p:sldId id="2910" r:id="rId49"/>
    <p:sldId id="3171" r:id="rId50"/>
    <p:sldId id="3172" r:id="rId51"/>
    <p:sldId id="3173" r:id="rId52"/>
    <p:sldId id="3136" r:id="rId53"/>
    <p:sldId id="3137" r:id="rId54"/>
    <p:sldId id="3138" r:id="rId55"/>
    <p:sldId id="3139" r:id="rId56"/>
    <p:sldId id="3140" r:id="rId57"/>
    <p:sldId id="1169" r:id="rId5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2026/10/26</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 Id="rId5" Type="http://schemas.openxmlformats.org/officeDocument/2006/relationships/image" Target="../media/image34.jpg"/><Relationship Id="rId4" Type="http://schemas.openxmlformats.org/officeDocument/2006/relationships/image" Target="../media/image3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jpeg"/><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58.jpg"/><Relationship Id="rId3" Type="http://schemas.openxmlformats.org/officeDocument/2006/relationships/image" Target="../media/image53.jpg"/><Relationship Id="rId7" Type="http://schemas.openxmlformats.org/officeDocument/2006/relationships/image" Target="../media/image57.jpeg"/><Relationship Id="rId2" Type="http://schemas.openxmlformats.org/officeDocument/2006/relationships/image" Target="../media/image52.jpg"/><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hyperlink" Target="https://youtube.com/shorts/0qI4QgrOppQ" TargetMode="External"/><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68.jpeg"/><Relationship Id="rId3" Type="http://schemas.openxmlformats.org/officeDocument/2006/relationships/image" Target="../media/image3.emf"/><Relationship Id="rId7" Type="http://schemas.openxmlformats.org/officeDocument/2006/relationships/image" Target="../media/image67.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image" Target="../media/image6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85762"/>
            <a:ext cx="9144000" cy="167235"/>
          </a:xfrm>
          <a:prstGeom prst="rect">
            <a:avLst/>
          </a:prstGeom>
          <a:noFill/>
        </p:spPr>
        <p:txBody>
          <a:bodyPr wrap="square" lIns="36000" tIns="10800" rIns="36000" bIns="10800" anchor="ctr">
            <a:spAutoFit/>
          </a:bodyPr>
          <a:lstStyle/>
          <a:p>
            <a:pPr algn="l">
              <a:lnSpc>
                <a:spcPct val="105000"/>
              </a:lnSpc>
              <a:spcAft>
                <a:spcPts val="200"/>
              </a:spcAft>
            </a:pPr>
            <a:r>
              <a:rPr sz="900" b="0" dirty="0">
                <a:solidFill>
                  <a:srgbClr val="777777"/>
                </a:solidFill>
                <a:latin typeface="メイリオ"/>
                <a:ea typeface="メイリオ"/>
                <a:cs typeface="メイリオ"/>
              </a:rPr>
              <a:t>出典｜各社のLINE公式アカウント（2026年10月に確認）。</a:t>
            </a:r>
            <a:r>
              <a:rPr sz="900" b="0" dirty="0" err="1">
                <a:solidFill>
                  <a:srgbClr val="777777"/>
                </a:solidFill>
                <a:latin typeface="メイリオ"/>
                <a:ea typeface="メイリオ"/>
                <a:cs typeface="メイリオ"/>
              </a:rPr>
              <a:t>友だち数はプロフィールの表示</a:t>
            </a:r>
            <a:r>
              <a:rPr sz="900" b="0" dirty="0">
                <a:solidFill>
                  <a:srgbClr val="777777"/>
                </a:solidFill>
                <a:latin typeface="メイリオ"/>
                <a:ea typeface="メイリオ"/>
                <a:cs typeface="メイリオ"/>
              </a:rPr>
              <a:t>。</a:t>
            </a:r>
            <a:endParaRPr lang="en-US" sz="900" b="0" dirty="0">
              <a:solidFill>
                <a:srgbClr val="777777"/>
              </a:solidFill>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他社は、友だち追加の直後から毎日つないでいる。リゾートバイトの集客で、LINEは必須の接点になっている。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28800"/>
            <a:ext cx="32918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60" name="Rectangle 59"/>
          <p:cNvSpPr/>
          <p:nvPr/>
        </p:nvSpPr>
        <p:spPr>
          <a:xfrm>
            <a:off x="3703320" y="1828800"/>
            <a:ext cx="582472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61" name="Rectangle 60"/>
          <p:cNvSpPr/>
          <p:nvPr/>
        </p:nvSpPr>
        <p:spPr>
          <a:xfrm>
            <a:off x="384048" y="2231136"/>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1. 追加の直後に、登録・相談へ誘導する</a:t>
            </a:r>
          </a:p>
        </p:txBody>
      </p:sp>
      <p:sp>
        <p:nvSpPr>
          <p:cNvPr id="62" name="Rectangle 61"/>
          <p:cNvSpPr/>
          <p:nvPr/>
        </p:nvSpPr>
        <p:spPr>
          <a:xfrm>
            <a:off x="3703320" y="2231136"/>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リゾートバイトダイブ／リゾバ.com／アルファリゾート</a:t>
            </a:r>
          </a:p>
        </p:txBody>
      </p:sp>
      <p:sp>
        <p:nvSpPr>
          <p:cNvPr id="63" name="Rectangle 62"/>
          <p:cNvSpPr/>
          <p:nvPr/>
        </p:nvSpPr>
        <p:spPr>
          <a:xfrm>
            <a:off x="384048" y="2907792"/>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2. 追加の後も、毎日配信する</a:t>
            </a:r>
          </a:p>
        </p:txBody>
      </p:sp>
      <p:sp>
        <p:nvSpPr>
          <p:cNvPr id="64" name="Rectangle 63"/>
          <p:cNvSpPr/>
          <p:nvPr/>
        </p:nvSpPr>
        <p:spPr>
          <a:xfrm>
            <a:off x="3703320" y="2907792"/>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リゾートバイトダイブ（毎日1通）／リゾバ.com（1日2通）</a:t>
            </a:r>
          </a:p>
        </p:txBody>
      </p:sp>
      <p:sp>
        <p:nvSpPr>
          <p:cNvPr id="65" name="Rectangle 64"/>
          <p:cNvSpPr/>
          <p:nvPr/>
        </p:nvSpPr>
        <p:spPr>
          <a:xfrm>
            <a:off x="384048" y="3584448"/>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3. 経験・タイプを聞き、合う求人を出し分ける</a:t>
            </a:r>
          </a:p>
        </p:txBody>
      </p:sp>
      <p:sp>
        <p:nvSpPr>
          <p:cNvPr id="66" name="Rectangle 65"/>
          <p:cNvSpPr/>
          <p:nvPr/>
        </p:nvSpPr>
        <p:spPr>
          <a:xfrm>
            <a:off x="3703320" y="3584448"/>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リゾバ.com（経験の有無・タイプ別）／リゾートバイト.com（アンケート）</a:t>
            </a:r>
          </a:p>
        </p:txBody>
      </p:sp>
      <p:sp>
        <p:nvSpPr>
          <p:cNvPr id="67" name="Rectangle 66"/>
          <p:cNvSpPr/>
          <p:nvPr/>
        </p:nvSpPr>
        <p:spPr>
          <a:xfrm>
            <a:off x="384048" y="4261104"/>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4. リッチメニューに、開始月別の求人を置く</a:t>
            </a:r>
          </a:p>
        </p:txBody>
      </p:sp>
      <p:sp>
        <p:nvSpPr>
          <p:cNvPr id="68" name="Rectangle 67"/>
          <p:cNvSpPr/>
          <p:nvPr/>
        </p:nvSpPr>
        <p:spPr>
          <a:xfrm>
            <a:off x="3703320" y="4261104"/>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4社とも</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878" name="Rectangle 877"/>
          <p:cNvSpPr/>
          <p:nvPr/>
        </p:nvSpPr>
        <p:spPr>
          <a:xfrm>
            <a:off x="384048" y="1600200"/>
            <a:ext cx="9116568" cy="45720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差し込み：前後検索「リゾートバイト」（LINEヤフーのデータ）</a:t>
            </a:r>
          </a:p>
        </p:txBody>
      </p:sp>
    </p:spTree>
    <p:extLst>
      <p:ext uri="{BB962C8B-B14F-4D97-AF65-F5344CB8AC3E}">
        <p14:creationId xmlns:p14="http://schemas.microsoft.com/office/powerpoint/2010/main" val="3718036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43" name="Rectangle 242"/>
          <p:cNvSpPr/>
          <p:nvPr/>
        </p:nvSpPr>
        <p:spPr>
          <a:xfrm>
            <a:off x="384048" y="1600200"/>
            <a:ext cx="9116568" cy="45720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差し込み：Day0〜15のステップ配信（前後検索をもとに作成）</a:t>
            </a:r>
          </a:p>
        </p:txBody>
      </p:sp>
    </p:spTree>
    <p:extLst>
      <p:ext uri="{BB962C8B-B14F-4D97-AF65-F5344CB8AC3E}">
        <p14:creationId xmlns:p14="http://schemas.microsoft.com/office/powerpoint/2010/main" val="2998183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19" name="Rectangle 18"/>
          <p:cNvSpPr/>
          <p:nvPr/>
        </p:nvSpPr>
        <p:spPr>
          <a:xfrm>
            <a:off x="384048" y="1600200"/>
            <a:ext cx="9116568" cy="45720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差し込み：Googleトレンド「リゾートバイト」と、時期ごとの企画配信</a:t>
            </a:r>
          </a:p>
        </p:txBody>
      </p:sp>
    </p:spTree>
    <p:extLst>
      <p:ext uri="{BB962C8B-B14F-4D97-AF65-F5344CB8AC3E}">
        <p14:creationId xmlns:p14="http://schemas.microsoft.com/office/powerpoint/2010/main" val="3302011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友だちの入口</a:t>
            </a:r>
          </a:p>
          <a:p>
            <a:pPr algn="l">
              <a:lnSpc>
                <a:spcPct val="105000"/>
              </a:lnSpc>
              <a:spcAft>
                <a:spcPts val="200"/>
              </a:spcAft>
            </a:pPr>
            <a:r>
              <a:rPr sz="1200" b="0">
                <a:solidFill>
                  <a:srgbClr val="333333"/>
                </a:solidFill>
                <a:latin typeface="メイリオ"/>
                <a:ea typeface="メイリオ"/>
                <a:cs typeface="メイリオ"/>
              </a:rPr>
              <a:t>サイトのLINEボタン・広告の受け皿</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ポップアップ</a:t>
            </a:r>
          </a:p>
          <a:p>
            <a:pPr algn="l">
              <a:lnSpc>
                <a:spcPct val="105000"/>
              </a:lnSpc>
              <a:spcAft>
                <a:spcPts val="200"/>
              </a:spcAft>
            </a:pPr>
            <a:r>
              <a:rPr sz="1200" b="0">
                <a:solidFill>
                  <a:srgbClr val="333333"/>
                </a:solidFill>
                <a:latin typeface="メイリオ"/>
                <a:ea typeface="メイリオ"/>
                <a:cs typeface="メイリオ"/>
              </a:rPr>
              <a:t>サイトを離れる方をLINEへ</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即時分類</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適正バイト診断</a:t>
            </a:r>
          </a:p>
          <a:p>
            <a:pPr algn="l">
              <a:lnSpc>
                <a:spcPct val="105000"/>
              </a:lnSpc>
              <a:spcAft>
                <a:spcPts val="200"/>
              </a:spcAft>
            </a:pPr>
            <a:r>
              <a:rPr sz="1200" b="0">
                <a:solidFill>
                  <a:srgbClr val="333333"/>
                </a:solidFill>
                <a:latin typeface="メイリオ"/>
                <a:ea typeface="メイリオ"/>
                <a:cs typeface="メイリオ"/>
              </a:rPr>
              <a:t>今のアンケートと「重視したいポイント」を発展</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ステップ配信</a:t>
            </a:r>
          </a:p>
          <a:p>
            <a:pPr algn="l">
              <a:lnSpc>
                <a:spcPct val="105000"/>
              </a:lnSpc>
              <a:spcAft>
                <a:spcPts val="200"/>
              </a:spcAft>
            </a:pPr>
            <a:r>
              <a:rPr sz="1200" b="0">
                <a:solidFill>
                  <a:srgbClr val="333333"/>
                </a:solidFill>
                <a:latin typeface="メイリオ"/>
                <a:ea typeface="メイリオ"/>
                <a:cs typeface="メイリオ"/>
              </a:rPr>
              <a:t>追加後15日で、ENTRY・カウンセリングへ</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開始時期・エリア別の配信</a:t>
            </a:r>
          </a:p>
          <a:p>
            <a:pPr algn="l">
              <a:lnSpc>
                <a:spcPct val="105000"/>
              </a:lnSpc>
              <a:spcAft>
                <a:spcPts val="200"/>
              </a:spcAft>
            </a:pPr>
            <a:r>
              <a:rPr sz="1200" b="0">
                <a:solidFill>
                  <a:srgbClr val="333333"/>
                </a:solidFill>
                <a:latin typeface="メイリオ"/>
                <a:ea typeface="メイリオ"/>
                <a:cs typeface="メイリオ"/>
              </a:rPr>
              <a:t>診断の答えで、配信を出し分ける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分岐育成</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リッチメニュー</a:t>
            </a:r>
          </a:p>
          <a:p>
            <a:pPr algn="l">
              <a:lnSpc>
                <a:spcPct val="105000"/>
              </a:lnSpc>
              <a:spcAft>
                <a:spcPts val="200"/>
              </a:spcAft>
            </a:pPr>
            <a:r>
              <a:rPr sz="1200" b="0">
                <a:solidFill>
                  <a:srgbClr val="333333"/>
                </a:solidFill>
                <a:latin typeface="メイリオ"/>
                <a:ea typeface="メイリオ"/>
                <a:cs typeface="メイリオ"/>
              </a:rPr>
              <a:t>開始月別の求人・相談・ENTRY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サンクスLINE</a:t>
            </a:r>
          </a:p>
          <a:p>
            <a:pPr algn="l">
              <a:lnSpc>
                <a:spcPct val="105000"/>
              </a:lnSpc>
              <a:spcAft>
                <a:spcPts val="200"/>
              </a:spcAft>
            </a:pPr>
            <a:r>
              <a:rPr sz="1200" b="0">
                <a:solidFill>
                  <a:srgbClr val="333333"/>
                </a:solidFill>
                <a:latin typeface="メイリオ"/>
                <a:ea typeface="メイリオ"/>
                <a:cs typeface="メイリオ"/>
              </a:rPr>
              <a:t>マイページ登録の完了画面からLINEへ、カウンセリング・応募まで</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契約満了前の次のお仕事案内</a:t>
            </a:r>
          </a:p>
          <a:p>
            <a:pPr algn="l">
              <a:lnSpc>
                <a:spcPct val="105000"/>
              </a:lnSpc>
              <a:spcAft>
                <a:spcPts val="200"/>
              </a:spcAft>
            </a:pPr>
            <a:r>
              <a:rPr sz="1200" b="0">
                <a:solidFill>
                  <a:srgbClr val="333333"/>
                </a:solidFill>
                <a:latin typeface="メイリオ"/>
                <a:ea typeface="メイリオ"/>
                <a:cs typeface="メイリオ"/>
              </a:rPr>
              <a:t>稼働中・満了前に、次のお仕事をご案内</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概算お見積り：月--万円で、6か月目に友だち --人・ENTRY 月--件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ENTRY</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プラン①（月3投稿）で、友だちの入口を増やし、検討の順番に沿った配信でENTRY・応募を増やす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成果報酬型</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成果単価 × 件数</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 100,000円〜＋ポップアップ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成果報酬型</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145396</TotalTime>
  <Words>4402</Words>
  <Application>Microsoft Office PowerPoint</Application>
  <PresentationFormat>A4 210 x 297 mm</PresentationFormat>
  <Paragraphs>1027</Paragraphs>
  <Slides>56</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56</vt:i4>
      </vt:variant>
    </vt:vector>
  </HeadingPairs>
  <TitlesOfParts>
    <vt:vector size="63"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1983</cp:revision>
  <cp:lastPrinted>2022-11-01T11:38:14Z</cp:lastPrinted>
  <dcterms:created xsi:type="dcterms:W3CDTF">2015-09-04T09:21:15Z</dcterms:created>
  <dcterms:modified xsi:type="dcterms:W3CDTF">2026-10-26T04:36:09Z</dcterms:modified>
</cp:coreProperties>
</file>